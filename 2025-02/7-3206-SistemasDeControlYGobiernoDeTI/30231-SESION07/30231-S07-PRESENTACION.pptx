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7.xml" ContentType="application/vnd.openxmlformats-officedocument.presentationml.tags+xml"/>
  <Override PartName="/ppt/notesSlides/notesSlide19.xml" ContentType="application/vnd.openxmlformats-officedocument.presentationml.notesSl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26" r:id="rId2"/>
    <p:sldId id="465" r:id="rId3"/>
    <p:sldId id="427" r:id="rId4"/>
    <p:sldId id="428" r:id="rId5"/>
    <p:sldId id="729" r:id="rId6"/>
    <p:sldId id="730" r:id="rId7"/>
    <p:sldId id="452" r:id="rId8"/>
    <p:sldId id="726" r:id="rId9"/>
    <p:sldId id="732" r:id="rId10"/>
    <p:sldId id="731" r:id="rId11"/>
    <p:sldId id="442" r:id="rId12"/>
    <p:sldId id="727" r:id="rId13"/>
    <p:sldId id="728" r:id="rId14"/>
    <p:sldId id="733" r:id="rId15"/>
    <p:sldId id="735" r:id="rId16"/>
    <p:sldId id="734" r:id="rId17"/>
    <p:sldId id="736" r:id="rId18"/>
    <p:sldId id="737" r:id="rId19"/>
    <p:sldId id="725" r:id="rId20"/>
    <p:sldId id="606" r:id="rId21"/>
  </p:sldIdLst>
  <p:sldSz cx="9144000" cy="5715000" type="screen16x10"/>
  <p:notesSz cx="6797675" cy="9926638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320" userDrawn="1">
          <p15:clr>
            <a:srgbClr val="A4A3A4"/>
          </p15:clr>
        </p15:guide>
        <p15:guide id="11" pos="317" userDrawn="1">
          <p15:clr>
            <a:srgbClr val="A4A3A4"/>
          </p15:clr>
        </p15:guide>
        <p15:guide id="12" orient="horz" pos="553" userDrawn="1">
          <p15:clr>
            <a:srgbClr val="A4A3A4"/>
          </p15:clr>
        </p15:guide>
        <p15:guide id="13" orient="horz" pos="3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76B7D"/>
    <a:srgbClr val="48C2BB"/>
    <a:srgbClr val="1F85A6"/>
    <a:srgbClr val="F1FDC3"/>
    <a:srgbClr val="9CC606"/>
    <a:srgbClr val="E2F6F1"/>
    <a:srgbClr val="F2F2F2"/>
    <a:srgbClr val="558ED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93" autoAdjust="0"/>
    <p:restoredTop sz="84795" autoAdjust="0"/>
  </p:normalViewPr>
  <p:slideViewPr>
    <p:cSldViewPr snapToGrid="0" snapToObjects="1" showGuides="1">
      <p:cViewPr varScale="1">
        <p:scale>
          <a:sx n="89" d="100"/>
          <a:sy n="89" d="100"/>
        </p:scale>
        <p:origin x="1555" y="67"/>
      </p:cViewPr>
      <p:guideLst>
        <p:guide pos="5465"/>
        <p:guide orient="horz" pos="3320"/>
        <p:guide pos="317"/>
        <p:guide orient="horz" pos="553"/>
        <p:guide orient="horz" pos="34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11/05/2022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11/05/2022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846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43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2804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8305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0" i="0" dirty="0">
                <a:solidFill>
                  <a:srgbClr val="616161"/>
                </a:solidFill>
                <a:effectLst/>
                <a:latin typeface="Verdana" panose="020B0604030504040204" pitchFamily="34" charset="0"/>
              </a:rPr>
              <a:t>El marco de COBIT 2019 propone el modelo base core de COBIT 2019  que está conformado por 40 objetivos de gobierno y gestión, de los cuales 5 son de gobierno y el resto (35) son de gestión.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3880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sz="1800" b="0" i="0" u="none" strike="noStrike" baseline="0" dirty="0">
                <a:latin typeface="TimesNewRomanPSMT"/>
              </a:rPr>
              <a:t>Los componentes pueden ser de diversos tipos. Los más comunes son los </a:t>
            </a:r>
            <a:r>
              <a:rPr lang="es-ES" sz="1800" b="0" i="0" u="none" strike="noStrike" baseline="0" dirty="0" smtClean="0">
                <a:latin typeface="TimesNewRomanPSMT"/>
              </a:rPr>
              <a:t>procesos; sin </a:t>
            </a:r>
            <a:r>
              <a:rPr lang="es-ES" sz="1800" b="0" i="0" u="none" strike="noStrike" baseline="0" dirty="0">
                <a:latin typeface="TimesNewRomanPSMT"/>
              </a:rPr>
              <a:t>embargo, los componentes de un sistema de</a:t>
            </a:r>
          </a:p>
          <a:p>
            <a:pPr algn="l"/>
            <a:r>
              <a:rPr lang="es-ES" sz="1800" b="0" i="0" u="none" strike="noStrike" baseline="0" dirty="0">
                <a:latin typeface="TimesNewRomanPSMT"/>
              </a:rPr>
              <a:t>gobierno incluyen también estructuras organizativas; políticas y procedimientos; elementos de información; cultura y comportamiento;</a:t>
            </a:r>
          </a:p>
          <a:p>
            <a:pPr algn="l"/>
            <a:r>
              <a:rPr lang="es-ES" sz="1800" b="0" i="0" u="none" strike="noStrike" baseline="0" dirty="0">
                <a:latin typeface="TimesNewRomanPSMT"/>
              </a:rPr>
              <a:t>habilidades y competencias; y servicios, infraestructura y </a:t>
            </a:r>
            <a:r>
              <a:rPr lang="es-ES" sz="1800" b="0" i="0" u="none" strike="noStrike" baseline="0" dirty="0" smtClean="0">
                <a:latin typeface="TimesNewRomanPSMT"/>
              </a:rPr>
              <a:t>aplicaciones.</a:t>
            </a:r>
            <a:endParaRPr lang="es-PE" sz="18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endParaRPr lang="es-PE" sz="18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90688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8021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6730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3092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8359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7147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2897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800" b="0" i="0" u="none" strike="noStrike" baseline="0" dirty="0">
                <a:latin typeface="TimesNewRomanPS"/>
              </a:rPr>
              <a:t>La </a:t>
            </a:r>
            <a:r>
              <a:rPr lang="es-ES" sz="1800" b="0" i="0" u="none" strike="noStrike" baseline="0" dirty="0">
                <a:latin typeface="TimesNewRomanPS-Bold"/>
              </a:rPr>
              <a:t>figura de la cobertura de COBIT </a:t>
            </a:r>
            <a:r>
              <a:rPr lang="es-ES" sz="1800" b="0" i="0" u="none" strike="noStrike" baseline="0" dirty="0">
                <a:latin typeface="TimesNewRomanPS"/>
              </a:rPr>
              <a:t>representa </a:t>
            </a:r>
            <a:r>
              <a:rPr lang="es-ES" sz="1800" b="0" i="0" u="none" strike="noStrike" baseline="0" dirty="0">
                <a:latin typeface="TimesNewRomanPS-Bold"/>
              </a:rPr>
              <a:t>los alcances</a:t>
            </a:r>
            <a:r>
              <a:rPr lang="es-ES" sz="1800" b="1" i="0" u="none" strike="noStrike" baseline="0" dirty="0">
                <a:latin typeface="TimesNewRomanPS-Bold"/>
              </a:rPr>
              <a:t> </a:t>
            </a:r>
            <a:r>
              <a:rPr lang="es-ES" sz="1800" b="0" i="0" u="none" strike="noStrike" baseline="0" dirty="0">
                <a:latin typeface="TimesNewRomanPS"/>
              </a:rPr>
              <a:t>entre COBIT 5 y los otros estándares y marcos de referencia más representativos e importantes del mundo empresarial.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7964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130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4461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6440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13604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9655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9767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47696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SISTEMAS DE CONTROL Y GOBIERNO DE TI </a:t>
              </a:r>
              <a:r>
                <a:rPr lang="en-US" sz="8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07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207627" y="5384440"/>
              <a:ext cx="1540807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2020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0" r:id="rId4"/>
    <p:sldLayoutId id="2147483657" r:id="rId5"/>
    <p:sldLayoutId id="2147483658" r:id="rId6"/>
    <p:sldLayoutId id="2147483661" r:id="rId7"/>
    <p:sldLayoutId id="2147483659" r:id="rId8"/>
    <p:sldLayoutId id="2147483662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saca.org/cobit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417646" y="398388"/>
            <a:ext cx="873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SESIÓN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380422" y="475914"/>
            <a:ext cx="964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800" dirty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493097" y="456609"/>
            <a:ext cx="6397454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3200" b="1" dirty="0" smtClean="0">
                <a:solidFill>
                  <a:srgbClr val="FFFFFF"/>
                </a:solidFill>
              </a:rPr>
              <a:t>PRINCIPIOS PARA UN MARCO DE GOBIERNO</a:t>
            </a:r>
            <a:endParaRPr lang="es-ES" sz="3200" b="1" dirty="0">
              <a:solidFill>
                <a:srgbClr val="FFFFFF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589880" y="2025818"/>
            <a:ext cx="5026425" cy="958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Basado en el modelo conceptual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Abierto y flexible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Alineado con las principales normativas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1385597" y="522202"/>
            <a:ext cx="0" cy="720031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/>
          <p:cNvSpPr/>
          <p:nvPr/>
        </p:nvSpPr>
        <p:spPr>
          <a:xfrm>
            <a:off x="417647" y="1492372"/>
            <a:ext cx="8345931" cy="3877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PE" sz="1400" b="1" dirty="0">
                <a:solidFill>
                  <a:srgbClr val="1F85A6"/>
                </a:solidFill>
                <a:cs typeface="Calibri"/>
              </a:rPr>
              <a:t>  UNIDAD DE APRENDIZAJE: COBIT 2019 Y SUS PRINCIPIOS PARA UN SISTEMA DE GOBIERNO Y UN MARCO DE GOBIERNO     </a:t>
            </a:r>
            <a:endParaRPr lang="es-PE" sz="1400" b="1" dirty="0">
              <a:solidFill>
                <a:srgbClr val="1F85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88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8472751-FD5C-4C14-A418-1AEF0A30EB50}"/>
              </a:ext>
            </a:extLst>
          </p:cNvPr>
          <p:cNvSpPr txBox="1"/>
          <p:nvPr/>
        </p:nvSpPr>
        <p:spPr>
          <a:xfrm>
            <a:off x="507697" y="954483"/>
            <a:ext cx="7747781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>
                <a:cs typeface="Source Sans Pro"/>
              </a:rPr>
              <a:t>En esta sesión </a:t>
            </a:r>
            <a:r>
              <a:rPr lang="es-PE" sz="1600" spc="-10" dirty="0" smtClean="0">
                <a:cs typeface="Source Sans Pro"/>
              </a:rPr>
              <a:t>aprenderás </a:t>
            </a:r>
            <a:r>
              <a:rPr lang="es-PE" sz="1600" spc="-10" dirty="0">
                <a:cs typeface="Source Sans Pro"/>
              </a:rPr>
              <a:t>los conceptos sobre los principios del marco de gobierno.</a:t>
            </a:r>
            <a:br>
              <a:rPr lang="es-PE" sz="1600" spc="-10" dirty="0">
                <a:cs typeface="Source Sans Pro"/>
              </a:rPr>
            </a:br>
            <a:endParaRPr lang="es-PE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 smtClean="0"/>
              <a:t>Reconocerás </a:t>
            </a:r>
            <a:r>
              <a:rPr lang="es-PE" sz="1600" spc="-10" dirty="0"/>
              <a:t>y </a:t>
            </a:r>
            <a:r>
              <a:rPr lang="es-PE" sz="1600" spc="-10" dirty="0" smtClean="0"/>
              <a:t>comprenderás </a:t>
            </a:r>
            <a:r>
              <a:rPr lang="es-PE" sz="1600" spc="-10" dirty="0"/>
              <a:t>los 3 principios propuestos por COBIT </a:t>
            </a:r>
            <a:r>
              <a:rPr lang="es-PE" sz="1600" spc="-10" dirty="0" smtClean="0"/>
              <a:t>2019, el primero, basado </a:t>
            </a:r>
            <a:r>
              <a:rPr lang="es-PE" sz="1600" spc="-10" dirty="0"/>
              <a:t>en el modelo conceptual, </a:t>
            </a:r>
            <a:r>
              <a:rPr lang="es-PE" sz="1600" spc="-10" dirty="0" smtClean="0"/>
              <a:t>el segundo abierto </a:t>
            </a:r>
            <a:r>
              <a:rPr lang="es-PE" sz="1600" spc="-10" dirty="0"/>
              <a:t>y flexible, y </a:t>
            </a:r>
            <a:r>
              <a:rPr lang="es-PE" sz="1600" spc="-10" dirty="0" smtClean="0"/>
              <a:t>finalmente el alineado </a:t>
            </a:r>
            <a:r>
              <a:rPr lang="es-PE" sz="1600" spc="-10" dirty="0"/>
              <a:t>con las principales normativas.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61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BASADO EN UN MODELO CONCEPTUAL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781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BASADO EN UN MODELO CONCEPTUAL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3603892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Un marco de gobierno se debería basar en un modelo conceptual que identifique los componentes principales y las relaciones entre componentes para maximizar la uniformidad y permitir la automatización. 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00A310D-15C6-4C92-A08A-C0EC45A7FABD}"/>
              </a:ext>
            </a:extLst>
          </p:cNvPr>
          <p:cNvGrpSpPr/>
          <p:nvPr/>
        </p:nvGrpSpPr>
        <p:grpSpPr>
          <a:xfrm>
            <a:off x="4521195" y="963038"/>
            <a:ext cx="4084583" cy="4079139"/>
            <a:chOff x="4521195" y="963038"/>
            <a:chExt cx="4084583" cy="4079139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731417B8-622E-49D4-9D9B-295399E30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1195" y="963038"/>
              <a:ext cx="4084583" cy="2277488"/>
            </a:xfrm>
            <a:prstGeom prst="rect">
              <a:avLst/>
            </a:prstGeom>
          </p:spPr>
        </p:pic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F0BB44BA-2A3D-4B90-A1BA-CEDBE962101D}"/>
                </a:ext>
              </a:extLst>
            </p:cNvPr>
            <p:cNvSpPr/>
            <p:nvPr/>
          </p:nvSpPr>
          <p:spPr>
            <a:xfrm>
              <a:off x="5294079" y="3783616"/>
              <a:ext cx="2532743" cy="125856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1. Basado en el modelo conceptual</a:t>
              </a:r>
            </a:p>
          </p:txBody>
        </p:sp>
        <p:sp>
          <p:nvSpPr>
            <p:cNvPr id="6" name="Globo: flecha hacia abajo 5">
              <a:extLst>
                <a:ext uri="{FF2B5EF4-FFF2-40B4-BE49-F238E27FC236}">
                  <a16:creationId xmlns:a16="http://schemas.microsoft.com/office/drawing/2014/main" id="{4F9128C1-6274-457E-813C-A595E193C8CD}"/>
                </a:ext>
              </a:extLst>
            </p:cNvPr>
            <p:cNvSpPr/>
            <p:nvPr/>
          </p:nvSpPr>
          <p:spPr>
            <a:xfrm>
              <a:off x="6233878" y="3240526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</p:spTree>
    <p:extLst>
      <p:ext uri="{BB962C8B-B14F-4D97-AF65-F5344CB8AC3E}">
        <p14:creationId xmlns:p14="http://schemas.microsoft.com/office/powerpoint/2010/main" val="99736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BASADO EN UN MODELO CONCEPTUAL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MODELO BASE DE COBIT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E9CF49-8697-42E4-BC1A-41A6BA3EC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105" y="1204686"/>
            <a:ext cx="5857789" cy="391568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009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BASADO EN UN MODELO CONCEPTUAL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2" y="771402"/>
            <a:ext cx="6056811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3. COMPONENTES DE COBIT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AA0D9B0-8B4C-4864-9E09-BBB905127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880" y="1129641"/>
            <a:ext cx="4268240" cy="410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1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ABIERTO Y FLEXIBLE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930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ABIERTO Y FLEXIBLE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00A310D-15C6-4C92-A08A-C0EC45A7FABD}"/>
              </a:ext>
            </a:extLst>
          </p:cNvPr>
          <p:cNvGrpSpPr/>
          <p:nvPr/>
        </p:nvGrpSpPr>
        <p:grpSpPr>
          <a:xfrm>
            <a:off x="4521195" y="963038"/>
            <a:ext cx="4084583" cy="4079139"/>
            <a:chOff x="4521195" y="963038"/>
            <a:chExt cx="4084583" cy="4079139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731417B8-622E-49D4-9D9B-295399E30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1195" y="963038"/>
              <a:ext cx="4084583" cy="2277488"/>
            </a:xfrm>
            <a:prstGeom prst="rect">
              <a:avLst/>
            </a:prstGeom>
          </p:spPr>
        </p:pic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F0BB44BA-2A3D-4B90-A1BA-CEDBE962101D}"/>
                </a:ext>
              </a:extLst>
            </p:cNvPr>
            <p:cNvSpPr/>
            <p:nvPr/>
          </p:nvSpPr>
          <p:spPr>
            <a:xfrm>
              <a:off x="5294079" y="3783616"/>
              <a:ext cx="2532743" cy="125856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2. Abierto y flexible</a:t>
              </a:r>
            </a:p>
          </p:txBody>
        </p:sp>
        <p:sp>
          <p:nvSpPr>
            <p:cNvPr id="6" name="Globo: flecha hacia abajo 5">
              <a:extLst>
                <a:ext uri="{FF2B5EF4-FFF2-40B4-BE49-F238E27FC236}">
                  <a16:creationId xmlns:a16="http://schemas.microsoft.com/office/drawing/2014/main" id="{4F9128C1-6274-457E-813C-A595E193C8CD}"/>
                </a:ext>
              </a:extLst>
            </p:cNvPr>
            <p:cNvSpPr/>
            <p:nvPr/>
          </p:nvSpPr>
          <p:spPr>
            <a:xfrm>
              <a:off x="6233878" y="3240526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sp>
        <p:nvSpPr>
          <p:cNvPr id="9" name="object 7">
            <a:extLst>
              <a:ext uri="{FF2B5EF4-FFF2-40B4-BE49-F238E27FC236}">
                <a16:creationId xmlns:a16="http://schemas.microsoft.com/office/drawing/2014/main" id="{579C1E10-3A0B-4E3D-8FDE-7C573CA1D0C0}"/>
              </a:ext>
            </a:extLst>
          </p:cNvPr>
          <p:cNvSpPr txBox="1"/>
          <p:nvPr/>
        </p:nvSpPr>
        <p:spPr>
          <a:xfrm>
            <a:off x="538222" y="1147443"/>
            <a:ext cx="3603892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Un marco de gobierno debería ser abierto y flexible. Debería permitir la incorporación de nuevo contenido y la capacidad para abordar nuevos asuntos de la forma más flexible, mientras mantiene la integridad y uniformidad. </a:t>
            </a:r>
          </a:p>
        </p:txBody>
      </p:sp>
    </p:spTree>
    <p:extLst>
      <p:ext uri="{BB962C8B-B14F-4D97-AF65-F5344CB8AC3E}">
        <p14:creationId xmlns:p14="http://schemas.microsoft.com/office/powerpoint/2010/main" val="59201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ABIERTO Y FLEXIBLE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ÁREAS PRIORITARIAS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579C1E10-3A0B-4E3D-8FDE-7C573CA1D0C0}"/>
              </a:ext>
            </a:extLst>
          </p:cNvPr>
          <p:cNvSpPr txBox="1"/>
          <p:nvPr/>
        </p:nvSpPr>
        <p:spPr>
          <a:xfrm>
            <a:off x="656044" y="1204113"/>
            <a:ext cx="4721499" cy="3739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La cantidad de áreas prioritarias es prácticamente ilimitada. Esto hace que COBIT sea abierto y flexible. </a:t>
            </a:r>
          </a:p>
          <a:p>
            <a:pPr marL="285750" indent="-285750" algn="just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Se pueden añadir nuevas áreas prioritarias conforme sea necesario o conforme los expertos y especialistas en la materia contribuyan al modelo COBIT abierto.</a:t>
            </a:r>
          </a:p>
          <a:p>
            <a:pPr marL="285750" indent="-285750" algn="just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Algunos de los ejemplos de áreas prioritarias </a:t>
            </a:r>
            <a:r>
              <a:rPr lang="es-ES" sz="1600" spc="-10" dirty="0" smtClean="0">
                <a:solidFill>
                  <a:srgbClr val="262626"/>
                </a:solidFill>
              </a:rPr>
              <a:t>incluyen </a:t>
            </a:r>
            <a:r>
              <a:rPr lang="es-ES" sz="1600" spc="-10" dirty="0">
                <a:solidFill>
                  <a:srgbClr val="262626"/>
                </a:solidFill>
              </a:rPr>
              <a:t>pequeñas y medianas empresas, ciberseguridad, transformación digital, computación en la nube, privacidad, y DevOps.</a:t>
            </a:r>
          </a:p>
          <a:p>
            <a:pPr marL="285750" indent="-285750" algn="just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Algunas de estas guías de contenido de </a:t>
            </a:r>
            <a:r>
              <a:rPr lang="es-ES" sz="1600" spc="-10" dirty="0" smtClean="0">
                <a:solidFill>
                  <a:srgbClr val="262626"/>
                </a:solidFill>
              </a:rPr>
              <a:t>áreas </a:t>
            </a:r>
            <a:r>
              <a:rPr lang="es-ES" sz="1600" spc="-10" dirty="0">
                <a:solidFill>
                  <a:srgbClr val="262626"/>
                </a:solidFill>
              </a:rPr>
              <a:t>prioritarias ya están preparándose; y otras están previstas. Para obtener la información más reciente puede visitar </a:t>
            </a:r>
            <a:r>
              <a:rPr lang="es-ES" sz="1600" spc="-10" dirty="0">
                <a:solidFill>
                  <a:srgbClr val="262626"/>
                </a:solidFill>
                <a:hlinkClick r:id="rId3"/>
              </a:rPr>
              <a:t>www.isaca.org/</a:t>
            </a:r>
            <a:r>
              <a:rPr lang="es-PE" sz="1600" spc="-10" dirty="0" err="1">
                <a:solidFill>
                  <a:srgbClr val="262626"/>
                </a:solidFill>
                <a:hlinkClick r:id="rId3"/>
              </a:rPr>
              <a:t>cobit</a:t>
            </a:r>
            <a:r>
              <a:rPr lang="es-PE" sz="1600" spc="-10" dirty="0">
                <a:solidFill>
                  <a:srgbClr val="262626"/>
                </a:solidFill>
              </a:rPr>
              <a:t>.  </a:t>
            </a:r>
            <a:endParaRPr lang="es-ES" sz="1600" spc="-10" dirty="0">
              <a:solidFill>
                <a:srgbClr val="262626"/>
              </a:solidFill>
            </a:endParaRPr>
          </a:p>
        </p:txBody>
      </p:sp>
      <p:pic>
        <p:nvPicPr>
          <p:cNvPr id="2050" name="Picture 2" descr="Redes y servicios automatizados con DevOps marcan una nueva era">
            <a:extLst>
              <a:ext uri="{FF2B5EF4-FFF2-40B4-BE49-F238E27FC236}">
                <a16:creationId xmlns:a16="http://schemas.microsoft.com/office/drawing/2014/main" id="{797CD587-9C66-4381-811E-C4BEAB746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448" y="438359"/>
            <a:ext cx="2311202" cy="118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FEE4A17-8EDC-4B14-B8F4-11DCF1587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905" y="1750057"/>
            <a:ext cx="1571257" cy="116703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214E5C9-C172-4F24-90F0-8E9499174C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635" y="3928795"/>
            <a:ext cx="1926091" cy="139235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23990AB-6051-402F-BAAD-558F7BF5A8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6162" y="2806700"/>
            <a:ext cx="1700711" cy="150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4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ABIERTO Y FLEXIBLE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3. PÚBLICO DESTINATARIO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579C1E10-3A0B-4E3D-8FDE-7C573CA1D0C0}"/>
              </a:ext>
            </a:extLst>
          </p:cNvPr>
          <p:cNvSpPr txBox="1"/>
          <p:nvPr/>
        </p:nvSpPr>
        <p:spPr>
          <a:xfrm>
            <a:off x="714103" y="1170029"/>
            <a:ext cx="3603892" cy="269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Esta guía se ha escrito para profesionales del mundo empresarial, incluidos personas del negocio, auditores, seguridad, gestión de riesgos, TI y otros profesionales.</a:t>
            </a:r>
          </a:p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Se requiere un cierto nivel de experiencia y conocimiento para adaptar COBIT a prácticas de gobierno personalizadas y prioritarias para </a:t>
            </a:r>
            <a:r>
              <a:rPr lang="es-PE" sz="1600" spc="-10" dirty="0">
                <a:solidFill>
                  <a:srgbClr val="262626"/>
                </a:solidFill>
              </a:rPr>
              <a:t>la empresa.</a:t>
            </a:r>
            <a:endParaRPr lang="es-ES" sz="1600" spc="-10" dirty="0">
              <a:solidFill>
                <a:srgbClr val="262626"/>
              </a:solidFill>
            </a:endParaRPr>
          </a:p>
        </p:txBody>
      </p:sp>
      <p:pic>
        <p:nvPicPr>
          <p:cNvPr id="1026" name="Picture 2" descr="EL ABC de la Coordinación de Actividades Empresariales | Prevencionar">
            <a:extLst>
              <a:ext uri="{FF2B5EF4-FFF2-40B4-BE49-F238E27FC236}">
                <a16:creationId xmlns:a16="http://schemas.microsoft.com/office/drawing/2014/main" id="{4E6C154E-D415-4ED6-8066-8486CDE61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33012"/>
            <a:ext cx="4095055" cy="374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47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ALINEADO CON LAS PRINCIPALES NORMATIVAS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346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ALINEADO CON LAS PRINCIPALES NORMATIVAS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00A310D-15C6-4C92-A08A-C0EC45A7FABD}"/>
              </a:ext>
            </a:extLst>
          </p:cNvPr>
          <p:cNvGrpSpPr/>
          <p:nvPr/>
        </p:nvGrpSpPr>
        <p:grpSpPr>
          <a:xfrm>
            <a:off x="4521195" y="963038"/>
            <a:ext cx="4084583" cy="4079139"/>
            <a:chOff x="4521195" y="963038"/>
            <a:chExt cx="4084583" cy="4079139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731417B8-622E-49D4-9D9B-295399E30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1195" y="963038"/>
              <a:ext cx="4084583" cy="2277488"/>
            </a:xfrm>
            <a:prstGeom prst="rect">
              <a:avLst/>
            </a:prstGeom>
          </p:spPr>
        </p:pic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F0BB44BA-2A3D-4B90-A1BA-CEDBE962101D}"/>
                </a:ext>
              </a:extLst>
            </p:cNvPr>
            <p:cNvSpPr/>
            <p:nvPr/>
          </p:nvSpPr>
          <p:spPr>
            <a:xfrm>
              <a:off x="5294079" y="3783616"/>
              <a:ext cx="2532743" cy="125856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3. Alineado con las principales normativas</a:t>
              </a:r>
            </a:p>
          </p:txBody>
        </p:sp>
        <p:sp>
          <p:nvSpPr>
            <p:cNvPr id="6" name="Globo: flecha hacia abajo 5">
              <a:extLst>
                <a:ext uri="{FF2B5EF4-FFF2-40B4-BE49-F238E27FC236}">
                  <a16:creationId xmlns:a16="http://schemas.microsoft.com/office/drawing/2014/main" id="{4F9128C1-6274-457E-813C-A595E193C8CD}"/>
                </a:ext>
              </a:extLst>
            </p:cNvPr>
            <p:cNvSpPr/>
            <p:nvPr/>
          </p:nvSpPr>
          <p:spPr>
            <a:xfrm>
              <a:off x="6233878" y="3240526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sp>
        <p:nvSpPr>
          <p:cNvPr id="9" name="object 7">
            <a:extLst>
              <a:ext uri="{FF2B5EF4-FFF2-40B4-BE49-F238E27FC236}">
                <a16:creationId xmlns:a16="http://schemas.microsoft.com/office/drawing/2014/main" id="{397666D8-BA8F-4C60-9009-F680900E8A99}"/>
              </a:ext>
            </a:extLst>
          </p:cNvPr>
          <p:cNvSpPr txBox="1"/>
          <p:nvPr/>
        </p:nvSpPr>
        <p:spPr>
          <a:xfrm>
            <a:off x="538222" y="1147443"/>
            <a:ext cx="3603892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Un marco de gobierno debería alinearse con los principales estándares, marcos y regulaciones relacionados. </a:t>
            </a:r>
          </a:p>
        </p:txBody>
      </p:sp>
    </p:spTree>
    <p:extLst>
      <p:ext uri="{BB962C8B-B14F-4D97-AF65-F5344CB8AC3E}">
        <p14:creationId xmlns:p14="http://schemas.microsoft.com/office/powerpoint/2010/main" val="142320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ALINEADO CON LAS PRINCIPALES NORMATIVAS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COBERTURA DE COBIT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F10EC2-33FD-46B1-A069-F5628CA6D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039" y="1187698"/>
            <a:ext cx="5633921" cy="397089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81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ALINEADO CON LAS PRINCIPALES NORMATIVAS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…COBERTURA DE COBIT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14370A9-6FF6-424D-A11D-67E75AE76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945" y="1431615"/>
            <a:ext cx="1488720" cy="1426474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C0EA50AC-2D63-4439-B94E-9D9E83725DFF}"/>
              </a:ext>
            </a:extLst>
          </p:cNvPr>
          <p:cNvGrpSpPr/>
          <p:nvPr/>
        </p:nvGrpSpPr>
        <p:grpSpPr>
          <a:xfrm>
            <a:off x="612503" y="1431615"/>
            <a:ext cx="5995152" cy="3105984"/>
            <a:chOff x="612503" y="1315451"/>
            <a:chExt cx="5995152" cy="3105984"/>
          </a:xfrm>
        </p:grpSpPr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FBDBA5D2-7D81-44AA-B450-46F69434E697}"/>
                </a:ext>
              </a:extLst>
            </p:cNvPr>
            <p:cNvSpPr txBox="1"/>
            <p:nvPr/>
          </p:nvSpPr>
          <p:spPr>
            <a:xfrm>
              <a:off x="612503" y="1315451"/>
              <a:ext cx="5995152" cy="13849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85750" indent="-285750" algn="just">
                <a:buSzPct val="100000"/>
                <a:buFont typeface="Wingdings" panose="05000000000000000000" pitchFamily="2" charset="2"/>
                <a:buChar char="q"/>
                <a:tabLst>
                  <a:tab pos="121285" algn="l"/>
                </a:tabLst>
              </a:pPr>
              <a:r>
                <a:rPr lang="es-PE" sz="1600" b="1" spc="-10" dirty="0">
                  <a:solidFill>
                    <a:srgbClr val="262626"/>
                  </a:solidFill>
                  <a:cs typeface="Source Sans Pro"/>
                </a:rPr>
                <a:t>ISO/IEC 38500</a:t>
              </a:r>
            </a:p>
            <a:p>
              <a:pPr algn="just">
                <a:buSzPct val="100000"/>
                <a:tabLst>
                  <a:tab pos="121285" algn="l"/>
                </a:tabLst>
              </a:pPr>
              <a:endParaRPr lang="es-PE" sz="1000" b="1" spc="-10" dirty="0">
                <a:solidFill>
                  <a:srgbClr val="262626"/>
                </a:solidFill>
              </a:endParaRPr>
            </a:p>
            <a:p>
              <a:pPr algn="just">
                <a:spcAft>
                  <a:spcPts val="1200"/>
                </a:spcAft>
                <a:buSzPct val="100000"/>
                <a:tabLst>
                  <a:tab pos="0" algn="l"/>
                </a:tabLst>
              </a:pPr>
              <a:r>
                <a:rPr lang="es-PE" sz="1600" spc="-10" dirty="0">
                  <a:solidFill>
                    <a:srgbClr val="262626"/>
                  </a:solidFill>
                </a:rPr>
                <a:t>Estándar internacional para el gobierno de TI, brinda un conjunto de principios y un modelo que se ha integrado perfectamente en el marco de referencia de COBIT, en el dominio EDM (Evaluar, Orientar y Supervisar).</a:t>
              </a:r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8F84C09A-45D5-4FCF-BE25-568EA68921C0}"/>
                </a:ext>
              </a:extLst>
            </p:cNvPr>
            <p:cNvSpPr txBox="1"/>
            <p:nvPr/>
          </p:nvSpPr>
          <p:spPr>
            <a:xfrm>
              <a:off x="612503" y="3036440"/>
              <a:ext cx="5995152" cy="13849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85750" indent="-285750" algn="just">
                <a:buSzPct val="100000"/>
                <a:buFont typeface="Wingdings" panose="05000000000000000000" pitchFamily="2" charset="2"/>
                <a:buChar char="q"/>
                <a:tabLst>
                  <a:tab pos="121285" algn="l"/>
                </a:tabLst>
              </a:pPr>
              <a:r>
                <a:rPr lang="es-PE" sz="1600" b="1" spc="-10" dirty="0">
                  <a:solidFill>
                    <a:srgbClr val="262626"/>
                  </a:solidFill>
                  <a:cs typeface="Source Sans Pro"/>
                </a:rPr>
                <a:t>ISO 31000</a:t>
              </a:r>
            </a:p>
            <a:p>
              <a:pPr algn="just">
                <a:buSzPct val="100000"/>
                <a:tabLst>
                  <a:tab pos="121285" algn="l"/>
                </a:tabLst>
              </a:pPr>
              <a:endParaRPr lang="es-PE" sz="1000" b="1" spc="-10" dirty="0">
                <a:solidFill>
                  <a:srgbClr val="262626"/>
                </a:solidFill>
              </a:endParaRPr>
            </a:p>
            <a:p>
              <a:pPr algn="just">
                <a:spcAft>
                  <a:spcPts val="1200"/>
                </a:spcAft>
                <a:buSzPct val="100000"/>
                <a:tabLst>
                  <a:tab pos="0" algn="l"/>
                </a:tabLst>
              </a:pPr>
              <a:r>
                <a:rPr lang="es-PE" sz="1600" spc="-10" dirty="0">
                  <a:solidFill>
                    <a:srgbClr val="262626"/>
                  </a:solidFill>
                </a:rPr>
                <a:t>Norma internacional para la Gestión del riesgo. Se encuentra de forma parcial y compartida entre las áreas de Gobierno y de Gestión dentro del marco de COBIT, en particular entre los dominios EDM (Evaluar, Orientar y Supervisar) y el APO (Alinear, Planificar y Organizar).</a:t>
              </a:r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9912E12C-4444-4FBA-81D6-8B5B0EBF1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178" y="3237855"/>
            <a:ext cx="1296254" cy="138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4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ALINEADO CON LAS PRINCIPALES NORMATIVAS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…COBERTURA DE COBIT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F65E565-24D7-41C7-ABE2-F2C99749898F}"/>
              </a:ext>
            </a:extLst>
          </p:cNvPr>
          <p:cNvSpPr txBox="1"/>
          <p:nvPr/>
        </p:nvSpPr>
        <p:spPr>
          <a:xfrm>
            <a:off x="585232" y="1394110"/>
            <a:ext cx="6374368" cy="1138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ISO/IEC 20000</a:t>
            </a:r>
          </a:p>
          <a:p>
            <a:pPr algn="just">
              <a:buSzPct val="100000"/>
              <a:tabLst>
                <a:tab pos="121285" algn="l"/>
              </a:tabLst>
            </a:pPr>
            <a:endParaRPr lang="es-PE" sz="1000" b="1" spc="-10" dirty="0">
              <a:solidFill>
                <a:srgbClr val="262626"/>
              </a:solidFill>
            </a:endParaRPr>
          </a:p>
          <a:p>
            <a:pPr algn="just">
              <a:spcAft>
                <a:spcPts val="1200"/>
              </a:spcAft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Conjunto de normas internacionales orientadas a la “Calidad de gestión de Servicios de TI”; se encuentra de forma compartida entre el área de Gestión dentro del marco de COBIT, en particular entre los dominios: APO – BAI – DSS 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86A9DBF0-24E9-494B-AB97-AC38C234954B}"/>
              </a:ext>
            </a:extLst>
          </p:cNvPr>
          <p:cNvSpPr txBox="1"/>
          <p:nvPr/>
        </p:nvSpPr>
        <p:spPr>
          <a:xfrm>
            <a:off x="585232" y="3005722"/>
            <a:ext cx="6258358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ISO/IEC 27000</a:t>
            </a:r>
          </a:p>
          <a:p>
            <a:pPr algn="just">
              <a:buSzPct val="100000"/>
              <a:tabLst>
                <a:tab pos="121285" algn="l"/>
              </a:tabLst>
            </a:pPr>
            <a:endParaRPr lang="es-PE" sz="1200" b="1" spc="-10" dirty="0">
              <a:solidFill>
                <a:srgbClr val="262626"/>
              </a:solidFill>
            </a:endParaRPr>
          </a:p>
          <a:p>
            <a:pPr algn="just">
              <a:spcAft>
                <a:spcPts val="1200"/>
              </a:spcAft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Conjunto de normas internacionales orientadas a la “Gestión de la seguridad de la información”; se encuentra en la intersección de los cuatro dominios del área de Gestión de COBIT 5: APO – BAI – DSS – MEA.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36C6858-1852-4D5A-9CA0-0209DC679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839" y="3165379"/>
            <a:ext cx="1455390" cy="144128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1F33B34-48BF-481C-AC01-DB89C6843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630" y="1299596"/>
            <a:ext cx="1369807" cy="14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4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ALINEADO CON LAS PRINCIPALES NORMATIVAS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…COBERTURA DE COBIT</a:t>
            </a: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5F3E2F79-DBEB-487F-9D01-CAD8FE1DEE62}"/>
              </a:ext>
            </a:extLst>
          </p:cNvPr>
          <p:cNvSpPr txBox="1"/>
          <p:nvPr/>
        </p:nvSpPr>
        <p:spPr>
          <a:xfrm>
            <a:off x="611695" y="3263311"/>
            <a:ext cx="533190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CMMI</a:t>
            </a:r>
          </a:p>
          <a:p>
            <a:pPr algn="just">
              <a:buSzPct val="100000"/>
              <a:tabLst>
                <a:tab pos="121285" algn="l"/>
              </a:tabLst>
            </a:pPr>
            <a:endParaRPr lang="es-PE" sz="1000" b="1" spc="-10" dirty="0">
              <a:solidFill>
                <a:srgbClr val="262626"/>
              </a:solidFill>
            </a:endParaRPr>
          </a:p>
          <a:p>
            <a:pPr algn="just">
              <a:spcAft>
                <a:spcPts val="1200"/>
              </a:spcAft>
              <a:buSzPct val="100000"/>
            </a:pPr>
            <a:r>
              <a:rPr lang="es-PE" sz="1600" spc="-10" dirty="0">
                <a:solidFill>
                  <a:srgbClr val="262626"/>
                </a:solidFill>
              </a:rPr>
              <a:t>Es un modelo para la mejora y evaluación de procesos para el desarrollo, mantenimiento y operaciones de sistemas de software; en COBIT aporta mayormente en el dominio BAI y en menor medida en APO.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227C7491-B944-4A7D-9298-CA1608289D33}"/>
              </a:ext>
            </a:extLst>
          </p:cNvPr>
          <p:cNvSpPr txBox="1"/>
          <p:nvPr/>
        </p:nvSpPr>
        <p:spPr>
          <a:xfrm>
            <a:off x="611695" y="1385488"/>
            <a:ext cx="533190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TOGAF</a:t>
            </a:r>
          </a:p>
          <a:p>
            <a:pPr algn="just">
              <a:buSzPct val="100000"/>
              <a:tabLst>
                <a:tab pos="121285" algn="l"/>
              </a:tabLst>
            </a:pPr>
            <a:endParaRPr lang="es-PE" sz="1000" b="1" spc="-10" dirty="0">
              <a:solidFill>
                <a:srgbClr val="262626"/>
              </a:solidFill>
            </a:endParaRPr>
          </a:p>
          <a:p>
            <a:pPr algn="just">
              <a:spcAft>
                <a:spcPts val="1200"/>
              </a:spcAft>
              <a:buSzPct val="100000"/>
            </a:pPr>
            <a:r>
              <a:rPr lang="es-PE" sz="1600" spc="-10" dirty="0">
                <a:solidFill>
                  <a:srgbClr val="262626"/>
                </a:solidFill>
              </a:rPr>
              <a:t>Es un marco de trabajo orientado a la “Arquitectura empresarial”; COBIT  brinda una disciplina como la arquitectura de empresa entre las actividades de planificación estratégica (APO) de TI y </a:t>
            </a:r>
            <a:r>
              <a:rPr lang="es-PE" sz="1600" spc="-10" dirty="0" smtClean="0">
                <a:solidFill>
                  <a:srgbClr val="262626"/>
                </a:solidFill>
              </a:rPr>
              <a:t>la </a:t>
            </a:r>
            <a:r>
              <a:rPr lang="es-PE" sz="1600" spc="-10" dirty="0">
                <a:solidFill>
                  <a:srgbClr val="262626"/>
                </a:solidFill>
              </a:rPr>
              <a:t>construcción de soluciones (BAI) digitales de aplicación al negocio.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90EFBEB-8D51-4D1F-A736-B1CFADBD4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859" y="3431838"/>
            <a:ext cx="1551782" cy="138477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3D907CE-F2E4-4A55-8F02-D88780100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53" y="1724870"/>
            <a:ext cx="2251630" cy="95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ALINEADO CON LAS PRINCIPALES NORMATIVAS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…COBERTURA DE COBIT</a:t>
            </a: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5F3E2F79-DBEB-487F-9D01-CAD8FE1DEE62}"/>
              </a:ext>
            </a:extLst>
          </p:cNvPr>
          <p:cNvSpPr txBox="1"/>
          <p:nvPr/>
        </p:nvSpPr>
        <p:spPr>
          <a:xfrm>
            <a:off x="611695" y="3238929"/>
            <a:ext cx="5201276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PRINCE2</a:t>
            </a:r>
          </a:p>
          <a:p>
            <a:pPr algn="just">
              <a:buSzPct val="100000"/>
              <a:tabLst>
                <a:tab pos="121285" algn="l"/>
              </a:tabLst>
            </a:pPr>
            <a:endParaRPr lang="es-PE" sz="1000" b="1" spc="-10" dirty="0">
              <a:solidFill>
                <a:srgbClr val="262626"/>
              </a:solidFill>
            </a:endParaRPr>
          </a:p>
          <a:p>
            <a:pPr algn="just">
              <a:spcAft>
                <a:spcPts val="1200"/>
              </a:spcAft>
              <a:buSzPct val="100000"/>
            </a:pPr>
            <a:r>
              <a:rPr lang="es-PE" sz="1600" spc="-10" dirty="0">
                <a:solidFill>
                  <a:srgbClr val="262626"/>
                </a:solidFill>
              </a:rPr>
              <a:t>Es de origen europeo y propone un método estructurado para la gestión de proyectos. </a:t>
            </a:r>
            <a:r>
              <a:rPr lang="es-PE" sz="1600" spc="-10" dirty="0" smtClean="0">
                <a:solidFill>
                  <a:srgbClr val="262626"/>
                </a:solidFill>
              </a:rPr>
              <a:t>Es considerado </a:t>
            </a:r>
            <a:r>
              <a:rPr lang="es-PE" sz="1600" spc="-10" dirty="0">
                <a:solidFill>
                  <a:srgbClr val="262626"/>
                </a:solidFill>
              </a:rPr>
              <a:t>en COBIT en el dominio </a:t>
            </a:r>
            <a:r>
              <a:rPr lang="es-PE" sz="1600" b="1" spc="-10" dirty="0">
                <a:solidFill>
                  <a:srgbClr val="262626"/>
                </a:solidFill>
              </a:rPr>
              <a:t>APO</a:t>
            </a:r>
            <a:r>
              <a:rPr lang="es-PE" sz="1600" spc="-10" dirty="0">
                <a:solidFill>
                  <a:srgbClr val="262626"/>
                </a:solidFill>
              </a:rPr>
              <a:t> orientado a la gestión de los proyectos, y en el dominio </a:t>
            </a:r>
            <a:r>
              <a:rPr lang="es-PE" sz="1600" b="1" spc="-10" dirty="0">
                <a:solidFill>
                  <a:srgbClr val="262626"/>
                </a:solidFill>
              </a:rPr>
              <a:t>BAI</a:t>
            </a:r>
            <a:r>
              <a:rPr lang="es-PE" sz="1600" spc="-10" dirty="0">
                <a:solidFill>
                  <a:srgbClr val="262626"/>
                </a:solidFill>
              </a:rPr>
              <a:t> cuando tienen que ver con la planificación de proyectos e iniciativas.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227C7491-B944-4A7D-9298-CA1608289D33}"/>
              </a:ext>
            </a:extLst>
          </p:cNvPr>
          <p:cNvSpPr txBox="1"/>
          <p:nvPr/>
        </p:nvSpPr>
        <p:spPr>
          <a:xfrm>
            <a:off x="611695" y="1339396"/>
            <a:ext cx="5201276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PMBOK</a:t>
            </a:r>
          </a:p>
          <a:p>
            <a:pPr algn="just">
              <a:buSzPct val="100000"/>
              <a:tabLst>
                <a:tab pos="121285" algn="l"/>
              </a:tabLst>
            </a:pPr>
            <a:endParaRPr lang="es-PE" sz="1000" b="1" spc="-10" dirty="0">
              <a:solidFill>
                <a:srgbClr val="262626"/>
              </a:solidFill>
            </a:endParaRPr>
          </a:p>
          <a:p>
            <a:pPr algn="just">
              <a:spcAft>
                <a:spcPts val="1200"/>
              </a:spcAft>
              <a:buSzPct val="100000"/>
            </a:pPr>
            <a:r>
              <a:rPr lang="es-PE" sz="1600" spc="-10" dirty="0">
                <a:solidFill>
                  <a:srgbClr val="262626"/>
                </a:solidFill>
              </a:rPr>
              <a:t>Es una norma norteamericana que sirve de guía para </a:t>
            </a:r>
            <a:r>
              <a:rPr lang="es-PE" sz="1600" spc="-10" dirty="0" smtClean="0">
                <a:solidFill>
                  <a:srgbClr val="262626"/>
                </a:solidFill>
              </a:rPr>
              <a:t>la gestión</a:t>
            </a:r>
            <a:r>
              <a:rPr lang="es-PE" sz="1600" spc="-10" dirty="0">
                <a:solidFill>
                  <a:srgbClr val="262626"/>
                </a:solidFill>
              </a:rPr>
              <a:t>, la administración y la dirección de proyectos. </a:t>
            </a:r>
            <a:r>
              <a:rPr lang="es-PE" sz="1600" spc="-10" dirty="0" smtClean="0">
                <a:solidFill>
                  <a:srgbClr val="262626"/>
                </a:solidFill>
              </a:rPr>
              <a:t>Es considerado </a:t>
            </a:r>
            <a:r>
              <a:rPr lang="es-PE" sz="1600" spc="-10" dirty="0">
                <a:solidFill>
                  <a:srgbClr val="262626"/>
                </a:solidFill>
              </a:rPr>
              <a:t>en COBIT en el dominio </a:t>
            </a:r>
            <a:r>
              <a:rPr lang="es-PE" sz="1600" b="1" spc="-10" dirty="0">
                <a:solidFill>
                  <a:srgbClr val="262626"/>
                </a:solidFill>
              </a:rPr>
              <a:t>APO</a:t>
            </a:r>
            <a:r>
              <a:rPr lang="es-PE" sz="1600" spc="-10" dirty="0">
                <a:solidFill>
                  <a:srgbClr val="262626"/>
                </a:solidFill>
              </a:rPr>
              <a:t> orientado a la gestión de los proyectos, y en el dominio </a:t>
            </a:r>
            <a:r>
              <a:rPr lang="es-PE" sz="1600" b="1" spc="-10" dirty="0">
                <a:solidFill>
                  <a:srgbClr val="262626"/>
                </a:solidFill>
              </a:rPr>
              <a:t>BAI</a:t>
            </a:r>
            <a:r>
              <a:rPr lang="es-PE" sz="1600" spc="-10" dirty="0">
                <a:solidFill>
                  <a:srgbClr val="262626"/>
                </a:solidFill>
              </a:rPr>
              <a:t> cuando tienen que ver con la planificación de proyectos e iniciativas.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2BDC558-2469-4F45-B022-9BEB5BB9E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365" y="3280009"/>
            <a:ext cx="1598005" cy="159800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DFA77A6-F72B-49A4-85F9-30051254A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771" y="1581546"/>
            <a:ext cx="2683317" cy="116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1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ALINEADO CON LAS PRINCIPALES NORMATIVAS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…COBERTURA DE COBIT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227C7491-B944-4A7D-9298-CA1608289D33}"/>
              </a:ext>
            </a:extLst>
          </p:cNvPr>
          <p:cNvSpPr txBox="1"/>
          <p:nvPr/>
        </p:nvSpPr>
        <p:spPr>
          <a:xfrm>
            <a:off x="611695" y="1339396"/>
            <a:ext cx="7842876" cy="892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ITIL</a:t>
            </a:r>
          </a:p>
          <a:p>
            <a:pPr algn="just">
              <a:buSzPct val="100000"/>
              <a:tabLst>
                <a:tab pos="121285" algn="l"/>
              </a:tabLst>
            </a:pPr>
            <a:endParaRPr lang="es-PE" sz="1000" b="1" spc="-10" dirty="0">
              <a:solidFill>
                <a:srgbClr val="262626"/>
              </a:solidFill>
            </a:endParaRPr>
          </a:p>
          <a:p>
            <a:pPr algn="just">
              <a:spcAft>
                <a:spcPts val="1200"/>
              </a:spcAft>
              <a:buSzPct val="100000"/>
            </a:pPr>
            <a:r>
              <a:rPr lang="es-PE" sz="1600" spc="-10" dirty="0">
                <a:solidFill>
                  <a:srgbClr val="262626"/>
                </a:solidFill>
              </a:rPr>
              <a:t>Marco de trabajo para la administración de servicios de TI (ITSM); podemos encontrarlo </a:t>
            </a:r>
            <a:r>
              <a:rPr lang="es-PE" sz="1600" spc="-10" dirty="0" smtClean="0">
                <a:solidFill>
                  <a:srgbClr val="262626"/>
                </a:solidFill>
              </a:rPr>
              <a:t>descrito</a:t>
            </a:r>
            <a:r>
              <a:rPr lang="es-PE" sz="1600" spc="-10" dirty="0" smtClean="0">
                <a:solidFill>
                  <a:srgbClr val="262626"/>
                </a:solidFill>
              </a:rPr>
              <a:t> </a:t>
            </a:r>
            <a:r>
              <a:rPr lang="es-PE" sz="1600" spc="-10" dirty="0">
                <a:solidFill>
                  <a:srgbClr val="262626"/>
                </a:solidFill>
              </a:rPr>
              <a:t>en COBIT y se extiende a </a:t>
            </a:r>
            <a:r>
              <a:rPr lang="es-PE" sz="1600" spc="-10" dirty="0" smtClean="0">
                <a:solidFill>
                  <a:srgbClr val="262626"/>
                </a:solidFill>
              </a:rPr>
              <a:t>lo </a:t>
            </a:r>
            <a:r>
              <a:rPr lang="es-PE" sz="1600" spc="-10" dirty="0">
                <a:solidFill>
                  <a:srgbClr val="262626"/>
                </a:solidFill>
              </a:rPr>
              <a:t>largo de 3 dominios del área de gestión: APO, BAI y DSS.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3D21AB9-83D6-4921-9554-A9C9AE618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462" y="2711528"/>
            <a:ext cx="402907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42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/ CONCLUSIONES</a:t>
            </a:r>
          </a:p>
        </p:txBody>
      </p:sp>
      <p:sp>
        <p:nvSpPr>
          <p:cNvPr id="8" name="Rectángulo 10">
            <a:extLst>
              <a:ext uri="{FF2B5EF4-FFF2-40B4-BE49-F238E27FC236}">
                <a16:creationId xmlns:a16="http://schemas.microsoft.com/office/drawing/2014/main" id="{2CE728F1-CA35-4741-A316-6A8802F5D948}"/>
              </a:ext>
            </a:extLst>
          </p:cNvPr>
          <p:cNvSpPr/>
          <p:nvPr/>
        </p:nvSpPr>
        <p:spPr>
          <a:xfrm>
            <a:off x="2304789" y="856697"/>
            <a:ext cx="6370899" cy="317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Basado en un modelo conceptual: Un marco de gobierno se debería basar en un modelo conceptual que identifique los componentes principales y las relaciones entre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ellos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para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maximizar la uniformidad y permitir la automatización. 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Acierto y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flexible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: Un marco de gobierno debería ser abierto y flexible. Debería permitir la incorporación de nuevo contenido y la capacidad para abordar nuevos asuntos de la forma más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adaptable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,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mientras mantiene la integridad y uniformidad. 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Alineado con las principales normativas: Un marco de gobierno debería alinearse con los principales estándares, marcos y regulaciones relacionados.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137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515764" y="965680"/>
            <a:ext cx="7979082" cy="144945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Introducción y Metodología”. </a:t>
            </a:r>
            <a:r>
              <a:rPr lang="en-U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Objetivos de Gobierno y de Gestión”.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Diseño de una solución de Gobierno de Información y Tecnología”.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Implementación y optimización de una solución de gobierno de información y tecnología”.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629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7615</TotalTime>
  <Words>1248</Words>
  <Application>Microsoft Office PowerPoint</Application>
  <PresentationFormat>Presentación en pantalla (16:10)</PresentationFormat>
  <Paragraphs>111</Paragraphs>
  <Slides>20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31" baseType="lpstr">
      <vt:lpstr>Arial</vt:lpstr>
      <vt:lpstr>Calibri</vt:lpstr>
      <vt:lpstr>JIJNO O+ Times New Roman PSMT</vt:lpstr>
      <vt:lpstr>Source Sans Pro</vt:lpstr>
      <vt:lpstr>Times New Roman</vt:lpstr>
      <vt:lpstr>TimesNewRomanPS</vt:lpstr>
      <vt:lpstr>TimesNewRomanPS-Bold</vt:lpstr>
      <vt:lpstr>TimesNewRomanPSMT</vt:lpstr>
      <vt:lpstr>Verdana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Arturo Enrique Reátegui Herrera</cp:lastModifiedBy>
  <cp:revision>579</cp:revision>
  <cp:lastPrinted>2018-01-16T21:42:59Z</cp:lastPrinted>
  <dcterms:created xsi:type="dcterms:W3CDTF">2016-10-06T14:52:02Z</dcterms:created>
  <dcterms:modified xsi:type="dcterms:W3CDTF">2022-05-11T14:26:36Z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