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8.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9.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0.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1.xml" ContentType="application/vnd.openxmlformats-officedocument.presentationml.tags+xml"/>
  <Override PartName="/ppt/notesSlides/notesSlide35.xml" ContentType="application/vnd.openxmlformats-officedocument.presentationml.notesSlide+xml"/>
  <Override PartName="/ppt/tags/tag12.xml" ContentType="application/vnd.openxmlformats-officedocument.presentationml.tags+xml"/>
  <Override PartName="/ppt/notesSlides/notesSlide36.xml" ContentType="application/vnd.openxmlformats-officedocument.presentationml.notesSlide+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handoutMasterIdLst>
    <p:handoutMasterId r:id="rId41"/>
  </p:handoutMasterIdLst>
  <p:sldIdLst>
    <p:sldId id="326" r:id="rId2"/>
    <p:sldId id="337" r:id="rId3"/>
    <p:sldId id="427" r:id="rId4"/>
    <p:sldId id="637" r:id="rId5"/>
    <p:sldId id="610" r:id="rId6"/>
    <p:sldId id="612" r:id="rId7"/>
    <p:sldId id="611" r:id="rId8"/>
    <p:sldId id="614" r:id="rId9"/>
    <p:sldId id="613" r:id="rId10"/>
    <p:sldId id="452" r:id="rId11"/>
    <p:sldId id="615" r:id="rId12"/>
    <p:sldId id="616" r:id="rId13"/>
    <p:sldId id="617" r:id="rId14"/>
    <p:sldId id="618" r:id="rId15"/>
    <p:sldId id="442" r:id="rId16"/>
    <p:sldId id="468" r:id="rId17"/>
    <p:sldId id="619" r:id="rId18"/>
    <p:sldId id="621" r:id="rId19"/>
    <p:sldId id="620" r:id="rId20"/>
    <p:sldId id="622" r:id="rId21"/>
    <p:sldId id="623" r:id="rId22"/>
    <p:sldId id="430" r:id="rId23"/>
    <p:sldId id="431" r:id="rId24"/>
    <p:sldId id="624" r:id="rId25"/>
    <p:sldId id="625" r:id="rId26"/>
    <p:sldId id="626" r:id="rId27"/>
    <p:sldId id="445" r:id="rId28"/>
    <p:sldId id="627" r:id="rId29"/>
    <p:sldId id="448" r:id="rId30"/>
    <p:sldId id="628" r:id="rId31"/>
    <p:sldId id="631" r:id="rId32"/>
    <p:sldId id="633" r:id="rId33"/>
    <p:sldId id="481" r:id="rId34"/>
    <p:sldId id="629" r:id="rId35"/>
    <p:sldId id="630" r:id="rId36"/>
    <p:sldId id="634" r:id="rId37"/>
    <p:sldId id="636" r:id="rId38"/>
    <p:sldId id="606" r:id="rId39"/>
  </p:sldIdLst>
  <p:sldSz cx="9144000" cy="5715000" type="screen16x10"/>
  <p:notesSz cx="6797675" cy="9926638"/>
  <p:custDataLst>
    <p:tags r:id="rId4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320" userDrawn="1">
          <p15:clr>
            <a:srgbClr val="A4A3A4"/>
          </p15:clr>
        </p15:guide>
        <p15:guide id="11" pos="317" userDrawn="1">
          <p15:clr>
            <a:srgbClr val="A4A3A4"/>
          </p15:clr>
        </p15:guide>
        <p15:guide id="12" orient="horz" pos="553" userDrawn="1">
          <p15:clr>
            <a:srgbClr val="A4A3A4"/>
          </p15:clr>
        </p15:guide>
        <p15:guide id="13" orient="horz" pos="3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76B7D"/>
    <a:srgbClr val="48C2BB"/>
    <a:srgbClr val="1F85A6"/>
    <a:srgbClr val="F1FDC3"/>
    <a:srgbClr val="9CC606"/>
    <a:srgbClr val="E2F6F1"/>
    <a:srgbClr val="F2F2F2"/>
    <a:srgbClr val="558ED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93" autoAdjust="0"/>
    <p:restoredTop sz="96374" autoAdjust="0"/>
  </p:normalViewPr>
  <p:slideViewPr>
    <p:cSldViewPr snapToGrid="0" snapToObjects="1" showGuides="1">
      <p:cViewPr varScale="1">
        <p:scale>
          <a:sx n="105" d="100"/>
          <a:sy n="105" d="100"/>
        </p:scale>
        <p:origin x="1075" y="62"/>
      </p:cViewPr>
      <p:guideLst>
        <p:guide pos="5465"/>
        <p:guide orient="horz" pos="3320"/>
        <p:guide pos="317"/>
        <p:guide orient="horz" pos="553"/>
        <p:guide orient="horz" pos="349"/>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09/05/2022</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9/05/2022</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11384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432804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3614688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3134140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3048039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239317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3227347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2548021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863092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1805695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2499299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207183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3737147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3320081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36522710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3687744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2743826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13856485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30418213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3448679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23099627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1131121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19086962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12237761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15141595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41657087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42109857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3125271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19434009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1586936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282977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38013063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24364327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14317707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1989630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22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69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95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1FB77D5F-F7C7-4A4E-B9CB-9B53C116ECA0}" type="datetimeFigureOut">
              <a:rPr lang="es-ES_tradnl" smtClean="0"/>
              <a:t>09/05/2022</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CCAAA411-D912-394E-A3C9-E79952CE3FED}" type="slidenum">
              <a:rPr lang="es-ES_tradnl" smtClean="0"/>
              <a:t>‹Nº›</a:t>
            </a:fld>
            <a:endParaRPr lang="es-ES_tradnl"/>
          </a:p>
        </p:txBody>
      </p:sp>
    </p:spTree>
    <p:extLst>
      <p:ext uri="{BB962C8B-B14F-4D97-AF65-F5344CB8AC3E}">
        <p14:creationId xmlns:p14="http://schemas.microsoft.com/office/powerpoint/2010/main" val="2281982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342308" cy="215444"/>
            </a:xfrm>
            <a:prstGeom prst="rect">
              <a:avLst/>
            </a:prstGeom>
            <a:noFill/>
          </p:spPr>
          <p:txBody>
            <a:bodyPr wrap="none" rtlCol="0">
              <a:spAutoFit/>
            </a:bodyPr>
            <a:lstStyle/>
            <a:p>
              <a:r>
                <a:rPr lang="en-US" sz="800" kern="1200" dirty="0" smtClean="0">
                  <a:solidFill>
                    <a:schemeClr val="bg1">
                      <a:lumMod val="50000"/>
                    </a:schemeClr>
                  </a:solidFill>
                  <a:latin typeface="Calibri"/>
                  <a:ea typeface="+mn-ea"/>
                  <a:cs typeface="Calibri"/>
                  <a:sym typeface="Wingdings"/>
                </a:rPr>
                <a:t>SISTEMAS DE CONTROL Y GOBIERNO TI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a:t>
              </a:r>
              <a:r>
                <a:rPr lang="en-US" sz="800" kern="1200" dirty="0" smtClean="0">
                  <a:solidFill>
                    <a:schemeClr val="bg1">
                      <a:lumMod val="50000"/>
                    </a:schemeClr>
                  </a:solidFill>
                  <a:latin typeface="Calibri"/>
                  <a:ea typeface="+mn-ea"/>
                  <a:cs typeface="Calibri"/>
                  <a:sym typeface="Wingdings"/>
                </a:rPr>
                <a:t>02</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2020 ISIL. Todos los derechos reservados</a:t>
              </a:r>
            </a:p>
          </p:txBody>
        </p:sp>
      </p:grpSp>
      <p:pic>
        <p:nvPicPr>
          <p:cNvPr id="3" name="Imagen 2"/>
          <p:cNvPicPr>
            <a:picLocks noChangeAspect="1"/>
          </p:cNvPicPr>
          <p:nvPr userDrawn="1"/>
        </p:nvPicPr>
        <p:blipFill>
          <a:blip r:embed="rId12">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60" r:id="rId4"/>
    <p:sldLayoutId id="2147483657" r:id="rId5"/>
    <p:sldLayoutId id="2147483658" r:id="rId6"/>
    <p:sldLayoutId id="2147483661" r:id="rId7"/>
    <p:sldLayoutId id="2147483659" r:id="rId8"/>
    <p:sldLayoutId id="2147483662" r:id="rId9"/>
    <p:sldLayoutId id="2147483663" r:id="rId10"/>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38.xml.rels><?xml version="1.0" encoding="UTF-8" standalone="yes"?>
<Relationships xmlns="http://schemas.openxmlformats.org/package/2006/relationships"><Relationship Id="rId8" Type="http://schemas.openxmlformats.org/officeDocument/2006/relationships/hyperlink" Target="https://blog.invgate.com/es/itam-101-introducci%C3%B3n-a-la-gesti%C3%B3n-de-activos-de-ti" TargetMode="External"/><Relationship Id="rId13" Type="http://schemas.openxmlformats.org/officeDocument/2006/relationships/hyperlink" Target="http://blog.masterbase.com/big-data-que-es-y-como-funciona" TargetMode="External"/><Relationship Id="rId3" Type="http://schemas.openxmlformats.org/officeDocument/2006/relationships/hyperlink" Target="https://www.ecured.cu/Arquitectura_Empresarial" TargetMode="External"/><Relationship Id="rId7" Type="http://schemas.openxmlformats.org/officeDocument/2006/relationships/hyperlink" Target="https://mentory.online/2018/02/raci-o-matriz-de-responsabilidades.html" TargetMode="External"/><Relationship Id="rId12" Type="http://schemas.openxmlformats.org/officeDocument/2006/relationships/hyperlink" Target="https://www.oracle.com/es/big-data/what-is-big-data/" TargetMode="Externa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hyperlink" Target="https://www.laboratorioti.com/2016/02/22/ticcionario-una-matriz-raci-usarla/" TargetMode="External"/><Relationship Id="rId11" Type="http://schemas.openxmlformats.org/officeDocument/2006/relationships/hyperlink" Target="https://www.grupo-novatech.com/las-10-vs-del-big-data/" TargetMode="External"/><Relationship Id="rId5" Type="http://schemas.openxmlformats.org/officeDocument/2006/relationships/hyperlink" Target="https://thedigitalprojectmanager.com/es/grafico-raci-manera-mas-simple/" TargetMode="External"/><Relationship Id="rId15" Type="http://schemas.openxmlformats.org/officeDocument/2006/relationships/hyperlink" Target="https://www.sap.com/latinamerica/insights/what-is-iot-internet-of-things.html" TargetMode="External"/><Relationship Id="rId10" Type="http://schemas.openxmlformats.org/officeDocument/2006/relationships/hyperlink" Target="https://www.axxon.com.br/blog/index.php?id=edoa0sxa" TargetMode="External"/><Relationship Id="rId4" Type="http://schemas.openxmlformats.org/officeDocument/2006/relationships/hyperlink" Target="https://colombiadigital.net/actualidad/articulos-informativos/item/8123-que-es-arquitectura-empresarial.html" TargetMode="External"/><Relationship Id="rId9" Type="http://schemas.openxmlformats.org/officeDocument/2006/relationships/hyperlink" Target="https://www.dealerworld.es/archive/la-complejidad-de-las-ti-permite-a-las-empresas-ser-mas-competitivas" TargetMode="External"/><Relationship Id="rId14" Type="http://schemas.openxmlformats.org/officeDocument/2006/relationships/hyperlink" Target="https://www.redhat.com/es/topics/internet-of-things/what-is-io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5" name="CuadroTexto 4"/>
          <p:cNvSpPr txBox="1"/>
          <p:nvPr/>
        </p:nvSpPr>
        <p:spPr>
          <a:xfrm>
            <a:off x="417646" y="398388"/>
            <a:ext cx="873152" cy="369332"/>
          </a:xfrm>
          <a:prstGeom prst="rect">
            <a:avLst/>
          </a:prstGeom>
          <a:noFill/>
        </p:spPr>
        <p:txBody>
          <a:bodyPr wrap="square" rtlCol="0">
            <a:spAutoFit/>
          </a:bodyPr>
          <a:lstStyle/>
          <a:p>
            <a:r>
              <a:rPr lang="es-ES" dirty="0">
                <a:solidFill>
                  <a:schemeClr val="bg1"/>
                </a:solidFill>
              </a:rPr>
              <a:t>SESIÓN</a:t>
            </a:r>
          </a:p>
        </p:txBody>
      </p:sp>
      <p:sp>
        <p:nvSpPr>
          <p:cNvPr id="6" name="CuadroTexto 5"/>
          <p:cNvSpPr txBox="1"/>
          <p:nvPr/>
        </p:nvSpPr>
        <p:spPr>
          <a:xfrm>
            <a:off x="380422" y="475914"/>
            <a:ext cx="964250" cy="1015663"/>
          </a:xfrm>
          <a:prstGeom prst="rect">
            <a:avLst/>
          </a:prstGeom>
          <a:noFill/>
        </p:spPr>
        <p:txBody>
          <a:bodyPr wrap="square" rtlCol="0">
            <a:spAutoFit/>
          </a:bodyPr>
          <a:lstStyle/>
          <a:p>
            <a:r>
              <a:rPr lang="es-ES" sz="5800" dirty="0">
                <a:solidFill>
                  <a:srgbClr val="FFFFFF"/>
                </a:solidFill>
              </a:rPr>
              <a:t>02</a:t>
            </a:r>
          </a:p>
        </p:txBody>
      </p:sp>
      <p:sp>
        <p:nvSpPr>
          <p:cNvPr id="14" name="CuadroTexto 13"/>
          <p:cNvSpPr txBox="1"/>
          <p:nvPr/>
        </p:nvSpPr>
        <p:spPr>
          <a:xfrm>
            <a:off x="1426523" y="500669"/>
            <a:ext cx="7233258" cy="840230"/>
          </a:xfrm>
          <a:prstGeom prst="rect">
            <a:avLst/>
          </a:prstGeom>
          <a:noFill/>
        </p:spPr>
        <p:txBody>
          <a:bodyPr wrap="square" rtlCol="0">
            <a:spAutoFit/>
          </a:bodyPr>
          <a:lstStyle/>
          <a:p>
            <a:pPr>
              <a:lnSpc>
                <a:spcPct val="80000"/>
              </a:lnSpc>
            </a:pPr>
            <a:r>
              <a:rPr lang="es-ES" sz="3000" b="1" dirty="0">
                <a:solidFill>
                  <a:srgbClr val="FFFFFF"/>
                </a:solidFill>
              </a:rPr>
              <a:t>CONCEPTOS </a:t>
            </a:r>
          </a:p>
          <a:p>
            <a:pPr>
              <a:lnSpc>
                <a:spcPct val="80000"/>
              </a:lnSpc>
            </a:pPr>
            <a:r>
              <a:rPr lang="es-ES" sz="3000" b="1" dirty="0">
                <a:solidFill>
                  <a:srgbClr val="FFFFFF"/>
                </a:solidFill>
              </a:rPr>
              <a:t>ORGANIZACIONALES II</a:t>
            </a:r>
          </a:p>
        </p:txBody>
      </p:sp>
      <p:sp>
        <p:nvSpPr>
          <p:cNvPr id="15" name="CuadroTexto 14"/>
          <p:cNvSpPr txBox="1"/>
          <p:nvPr/>
        </p:nvSpPr>
        <p:spPr>
          <a:xfrm>
            <a:off x="589880" y="1837744"/>
            <a:ext cx="5026425" cy="2140842"/>
          </a:xfrm>
          <a:prstGeom prst="rect">
            <a:avLst/>
          </a:prstGeom>
          <a:noFill/>
        </p:spPr>
        <p:txBody>
          <a:bodyPr wrap="square" rtlCol="0">
            <a:spAutoFit/>
          </a:bodyPr>
          <a:lstStyle/>
          <a:p>
            <a:pPr marL="285750" indent="-285750">
              <a:lnSpc>
                <a:spcPct val="120000"/>
              </a:lnSpc>
              <a:buSzPct val="80000"/>
              <a:buFont typeface="Wingdings" panose="05000000000000000000" pitchFamily="2" charset="2"/>
              <a:buChar char="ü"/>
            </a:pPr>
            <a:r>
              <a:rPr lang="es-ES" sz="1600" dirty="0">
                <a:solidFill>
                  <a:srgbClr val="FFFFFF"/>
                </a:solidFill>
              </a:rPr>
              <a:t>Arquitectura empresarial</a:t>
            </a:r>
          </a:p>
          <a:p>
            <a:pPr marL="285750" indent="-285750">
              <a:lnSpc>
                <a:spcPct val="120000"/>
              </a:lnSpc>
              <a:buSzPct val="80000"/>
              <a:buFont typeface="Wingdings" panose="05000000000000000000" pitchFamily="2" charset="2"/>
              <a:buChar char="ü"/>
            </a:pPr>
            <a:r>
              <a:rPr lang="es-ES" sz="1600" dirty="0">
                <a:solidFill>
                  <a:srgbClr val="FFFFFF"/>
                </a:solidFill>
              </a:rPr>
              <a:t>Matriz de carlos y roles</a:t>
            </a:r>
          </a:p>
          <a:p>
            <a:pPr marL="285750" indent="-285750">
              <a:lnSpc>
                <a:spcPct val="120000"/>
              </a:lnSpc>
              <a:buSzPct val="80000"/>
              <a:buFont typeface="Wingdings" panose="05000000000000000000" pitchFamily="2" charset="2"/>
              <a:buChar char="ü"/>
            </a:pPr>
            <a:r>
              <a:rPr lang="es-ES" sz="1600" dirty="0">
                <a:solidFill>
                  <a:srgbClr val="FFFFFF"/>
                </a:solidFill>
              </a:rPr>
              <a:t>Matriz RACI</a:t>
            </a:r>
          </a:p>
          <a:p>
            <a:pPr marL="285750" indent="-285750">
              <a:lnSpc>
                <a:spcPct val="120000"/>
              </a:lnSpc>
              <a:buSzPct val="80000"/>
              <a:buFont typeface="Wingdings" panose="05000000000000000000" pitchFamily="2" charset="2"/>
              <a:buChar char="ü"/>
            </a:pPr>
            <a:r>
              <a:rPr lang="es-ES" sz="1600" dirty="0">
                <a:solidFill>
                  <a:srgbClr val="FFFFFF"/>
                </a:solidFill>
              </a:rPr>
              <a:t>Gestión de las tecnologías de la información</a:t>
            </a:r>
          </a:p>
          <a:p>
            <a:pPr marL="285750" indent="-285750">
              <a:lnSpc>
                <a:spcPct val="120000"/>
              </a:lnSpc>
              <a:buSzPct val="80000"/>
              <a:buFont typeface="Wingdings" panose="05000000000000000000" pitchFamily="2" charset="2"/>
              <a:buChar char="ü"/>
            </a:pPr>
            <a:r>
              <a:rPr lang="es-ES" sz="1600" dirty="0">
                <a:solidFill>
                  <a:srgbClr val="FFFFFF"/>
                </a:solidFill>
              </a:rPr>
              <a:t>Complejidad de TI</a:t>
            </a:r>
          </a:p>
          <a:p>
            <a:pPr marL="285750" indent="-285750">
              <a:lnSpc>
                <a:spcPct val="120000"/>
              </a:lnSpc>
              <a:buSzPct val="80000"/>
              <a:buFont typeface="Wingdings" panose="05000000000000000000" pitchFamily="2" charset="2"/>
              <a:buChar char="ü"/>
            </a:pPr>
            <a:r>
              <a:rPr lang="es-ES" sz="1600" i="1" dirty="0">
                <a:solidFill>
                  <a:srgbClr val="FFFFFF"/>
                </a:solidFill>
              </a:rPr>
              <a:t>Big Data </a:t>
            </a:r>
          </a:p>
          <a:p>
            <a:pPr marL="285750" indent="-285750">
              <a:lnSpc>
                <a:spcPct val="120000"/>
              </a:lnSpc>
              <a:buSzPct val="80000"/>
              <a:buFont typeface="Wingdings" panose="05000000000000000000" pitchFamily="2" charset="2"/>
              <a:buChar char="ü"/>
            </a:pPr>
            <a:r>
              <a:rPr lang="es-ES" sz="1600" dirty="0">
                <a:solidFill>
                  <a:srgbClr val="FFFFFF"/>
                </a:solidFill>
              </a:rPr>
              <a:t>Internet de las cosas</a:t>
            </a:r>
          </a:p>
        </p:txBody>
      </p:sp>
      <p:cxnSp>
        <p:nvCxnSpPr>
          <p:cNvPr id="8" name="Conector recto 7"/>
          <p:cNvCxnSpPr/>
          <p:nvPr/>
        </p:nvCxnSpPr>
        <p:spPr>
          <a:xfrm>
            <a:off x="1385597" y="522202"/>
            <a:ext cx="0" cy="720031"/>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9" name="Rectángulo 8"/>
          <p:cNvSpPr/>
          <p:nvPr/>
        </p:nvSpPr>
        <p:spPr>
          <a:xfrm>
            <a:off x="417647" y="1492372"/>
            <a:ext cx="8345931" cy="193899"/>
          </a:xfrm>
          <a:prstGeom prst="rect">
            <a:avLst/>
          </a:prstGeom>
          <a:solidFill>
            <a:schemeClr val="bg1"/>
          </a:solidFill>
        </p:spPr>
        <p:txBody>
          <a:bodyPr wrap="square" lIns="0" tIns="0" rIns="0" bIns="0">
            <a:spAutoFit/>
          </a:bodyPr>
          <a:lstStyle/>
          <a:p>
            <a:pPr algn="ctr">
              <a:lnSpc>
                <a:spcPct val="90000"/>
              </a:lnSpc>
            </a:pPr>
            <a:r>
              <a:rPr lang="es-PE" sz="1400" b="1" dirty="0">
                <a:solidFill>
                  <a:srgbClr val="1F85A6"/>
                </a:solidFill>
                <a:cs typeface="Calibri"/>
              </a:rPr>
              <a:t>UNIDAD DE APRENDIZAJE: CONCEPTOS CLAVE PARA LA COMPRENSIÓN DE COBIT 2019</a:t>
            </a:r>
            <a:endParaRPr lang="es-PE" sz="1400" b="1" dirty="0">
              <a:solidFill>
                <a:srgbClr val="1F85A6"/>
              </a:solidFill>
            </a:endParaRPr>
          </a:p>
        </p:txBody>
      </p:sp>
    </p:spTree>
    <p:extLst>
      <p:ext uri="{BB962C8B-B14F-4D97-AF65-F5344CB8AC3E}">
        <p14:creationId xmlns:p14="http://schemas.microsoft.com/office/powerpoint/2010/main" val="2962688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INTRODUCCIÓN</a:t>
            </a:r>
          </a:p>
        </p:txBody>
      </p:sp>
      <p:sp>
        <p:nvSpPr>
          <p:cNvPr id="4" name="object 7">
            <a:extLst>
              <a:ext uri="{FF2B5EF4-FFF2-40B4-BE49-F238E27FC236}">
                <a16:creationId xmlns:a16="http://schemas.microsoft.com/office/drawing/2014/main" id="{566B4764-7DFE-4C25-9FA9-B9060C9CF980}"/>
              </a:ext>
            </a:extLst>
          </p:cNvPr>
          <p:cNvSpPr txBox="1"/>
          <p:nvPr/>
        </p:nvSpPr>
        <p:spPr>
          <a:xfrm>
            <a:off x="538503" y="804093"/>
            <a:ext cx="7887040" cy="2954655"/>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En esta sesión </a:t>
            </a:r>
            <a:r>
              <a:rPr lang="es-PE" sz="1600" spc="-10" dirty="0" smtClean="0">
                <a:solidFill>
                  <a:srgbClr val="262626"/>
                </a:solidFill>
                <a:cs typeface="Source Sans Pro"/>
              </a:rPr>
              <a:t>aprenderás </a:t>
            </a:r>
            <a:r>
              <a:rPr lang="es-PE" sz="1600" spc="-10" dirty="0">
                <a:solidFill>
                  <a:srgbClr val="262626"/>
                </a:solidFill>
                <a:cs typeface="Source Sans Pro"/>
              </a:rPr>
              <a:t>los conceptos sobre arquitectura empresarial, sus componentes, sus beneficios y cuáles son sus principales Frameworks.</a:t>
            </a:r>
            <a:br>
              <a:rPr lang="es-PE" sz="1600" spc="-10" dirty="0">
                <a:solidFill>
                  <a:srgbClr val="262626"/>
                </a:solidFill>
                <a:cs typeface="Source Sans Pro"/>
              </a:rPr>
            </a:b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smtClean="0">
                <a:solidFill>
                  <a:srgbClr val="262626"/>
                </a:solidFill>
                <a:cs typeface="Source Sans Pro"/>
              </a:rPr>
              <a:t>Verás </a:t>
            </a:r>
            <a:r>
              <a:rPr lang="es-PE" sz="1600" spc="-10" dirty="0">
                <a:solidFill>
                  <a:srgbClr val="262626"/>
                </a:solidFill>
                <a:cs typeface="Source Sans Pro"/>
              </a:rPr>
              <a:t>las definiciones y diferencias de la matriz de cargos y roles para el desarrollo de una matriz RACI.</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smtClean="0">
                <a:solidFill>
                  <a:srgbClr val="262626"/>
                </a:solidFill>
                <a:cs typeface="Source Sans Pro"/>
              </a:rPr>
              <a:t>Comprenderás </a:t>
            </a:r>
            <a:r>
              <a:rPr lang="es-PE" sz="1600" spc="-10" dirty="0">
                <a:solidFill>
                  <a:srgbClr val="262626"/>
                </a:solidFill>
                <a:cs typeface="Source Sans Pro"/>
              </a:rPr>
              <a:t>los roles RACI, las principales características y las variaciones RACI como RASCI y RACI-VS.</a:t>
            </a:r>
            <a:br>
              <a:rPr lang="es-PE" sz="1600" spc="-10" dirty="0">
                <a:solidFill>
                  <a:srgbClr val="262626"/>
                </a:solidFill>
                <a:cs typeface="Source Sans Pro"/>
              </a:rPr>
            </a:b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smtClean="0">
                <a:solidFill>
                  <a:srgbClr val="262626"/>
                </a:solidFill>
                <a:cs typeface="Source Sans Pro"/>
              </a:rPr>
              <a:t>Aprenderás </a:t>
            </a:r>
            <a:r>
              <a:rPr lang="es-PE" sz="1600" spc="-10" dirty="0">
                <a:solidFill>
                  <a:srgbClr val="262626"/>
                </a:solidFill>
                <a:cs typeface="Source Sans Pro"/>
              </a:rPr>
              <a:t>sobre la gestión de tecnología, la complejidad de TI y la gestión de activos de TI.</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Para terminar </a:t>
            </a:r>
            <a:r>
              <a:rPr lang="es-PE" sz="1600" spc="-10" dirty="0" smtClean="0">
                <a:solidFill>
                  <a:srgbClr val="262626"/>
                </a:solidFill>
                <a:cs typeface="Source Sans Pro"/>
              </a:rPr>
              <a:t>verás la </a:t>
            </a:r>
            <a:r>
              <a:rPr lang="es-PE" sz="1600" spc="-10" dirty="0">
                <a:solidFill>
                  <a:srgbClr val="262626"/>
                </a:solidFill>
                <a:cs typeface="Source Sans Pro"/>
              </a:rPr>
              <a:t>importancia del </a:t>
            </a:r>
            <a:r>
              <a:rPr lang="es-PE" sz="1600" i="1" spc="-10" dirty="0">
                <a:solidFill>
                  <a:srgbClr val="262626"/>
                </a:solidFill>
                <a:cs typeface="Source Sans Pro"/>
              </a:rPr>
              <a:t>Big Data </a:t>
            </a:r>
            <a:r>
              <a:rPr lang="es-PE" sz="1600" spc="-10" dirty="0">
                <a:solidFill>
                  <a:srgbClr val="262626"/>
                </a:solidFill>
                <a:cs typeface="Source Sans Pro"/>
              </a:rPr>
              <a:t>y el Internet de las cosas.</a:t>
            </a:r>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ARQUITECTURA EMPRESARIAL</a:t>
            </a:r>
          </a:p>
        </p:txBody>
      </p:sp>
    </p:spTree>
    <p:custDataLst>
      <p:tags r:id="rId1"/>
    </p:custDataLst>
    <p:extLst>
      <p:ext uri="{BB962C8B-B14F-4D97-AF65-F5344CB8AC3E}">
        <p14:creationId xmlns:p14="http://schemas.microsoft.com/office/powerpoint/2010/main" val="281781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832860" y="821423"/>
            <a:ext cx="4163219" cy="2551637"/>
          </a:xfrm>
          <a:prstGeom prst="rect">
            <a:avLst/>
          </a:prstGeom>
        </p:spPr>
        <p:txBody>
          <a:bodyPr vert="horz" wrap="square" lIns="90000" tIns="90000" rIns="90000" bIns="90000" rtlCol="0">
            <a:spAutoFit/>
          </a:bodyPr>
          <a:lstStyle/>
          <a:p>
            <a:pPr>
              <a:buClr>
                <a:srgbClr val="FA4044"/>
              </a:buClr>
              <a:buSzPct val="120000"/>
              <a:tabLst>
                <a:tab pos="75803" algn="l"/>
              </a:tabLst>
              <a:defRPr/>
            </a:pPr>
            <a:r>
              <a:rPr lang="es-419" sz="1400" spc="-6" dirty="0">
                <a:ea typeface="Arial" charset="0"/>
                <a:cs typeface="Arial" charset="0"/>
              </a:rPr>
              <a:t>La arquitectura empresarial es un modelo integrador con enfoque a la tecnología y los negocios, donde la gestión por procesos es el centro de la arquitectura empresarial.</a:t>
            </a:r>
          </a:p>
          <a:p>
            <a:pPr>
              <a:buClr>
                <a:srgbClr val="FA4044"/>
              </a:buClr>
              <a:buSzPct val="120000"/>
              <a:tabLst>
                <a:tab pos="75803" algn="l"/>
              </a:tabLst>
              <a:defRPr/>
            </a:pPr>
            <a:endParaRPr lang="es-PE" sz="1400" spc="-6" dirty="0">
              <a:ea typeface="Arial" charset="0"/>
              <a:cs typeface="Arial" charset="0"/>
            </a:endParaRPr>
          </a:p>
          <a:p>
            <a:pPr>
              <a:buClr>
                <a:srgbClr val="FA4044"/>
              </a:buClr>
              <a:buSzPct val="120000"/>
              <a:tabLst>
                <a:tab pos="75803" algn="l"/>
              </a:tabLst>
              <a:defRPr/>
            </a:pPr>
            <a:r>
              <a:rPr lang="es-419" sz="1400" spc="-6" dirty="0">
                <a:ea typeface="Arial" charset="0"/>
                <a:cs typeface="Arial" charset="0"/>
              </a:rPr>
              <a:t>Es la lógica del negocio y la infraestructura de TI que busca tener una visión integradora, ver a la empresa como un todo, sabiendo que tiene aspectos importantes como: misión-visión, objetivos, los procesos y la tecnología. Busca tener la capacidad de ver como se integran todos esos aspectos entre si.</a:t>
            </a:r>
          </a:p>
        </p:txBody>
      </p:sp>
      <p:sp>
        <p:nvSpPr>
          <p:cNvPr id="11" name="object 7"/>
          <p:cNvSpPr txBox="1"/>
          <p:nvPr/>
        </p:nvSpPr>
        <p:spPr>
          <a:xfrm>
            <a:off x="796207" y="3325530"/>
            <a:ext cx="4163219" cy="397201"/>
          </a:xfrm>
          <a:prstGeom prst="rect">
            <a:avLst/>
          </a:prstGeom>
        </p:spPr>
        <p:txBody>
          <a:bodyPr vert="horz" wrap="square" lIns="90000" tIns="90000" rIns="90000" bIns="90000" rtlCol="0">
            <a:spAutoFit/>
          </a:bodyPr>
          <a:lstStyle/>
          <a:p>
            <a:pPr>
              <a:buClr>
                <a:srgbClr val="FA4044"/>
              </a:buClr>
              <a:buSzPct val="120000"/>
              <a:tabLst>
                <a:tab pos="75803" algn="l"/>
              </a:tabLst>
              <a:defRPr/>
            </a:pPr>
            <a:r>
              <a:rPr lang="es-PE" sz="1400" b="1" spc="-6" dirty="0">
                <a:solidFill>
                  <a:srgbClr val="1476FF"/>
                </a:solidFill>
                <a:ea typeface="Arial" charset="0"/>
                <a:cs typeface="Arial" charset="0"/>
              </a:rPr>
              <a:t>Debemos considerar que </a:t>
            </a:r>
            <a:r>
              <a:rPr lang="mr-IN" sz="1400" b="1" spc="-6" dirty="0" smtClean="0">
                <a:solidFill>
                  <a:srgbClr val="1476FF"/>
                </a:solidFill>
                <a:ea typeface="Arial" charset="0"/>
                <a:cs typeface="Arial" charset="0"/>
              </a:rPr>
              <a:t>…</a:t>
            </a:r>
            <a:r>
              <a:rPr lang="es-ES" sz="1400" b="1" spc="-6" dirty="0">
                <a:solidFill>
                  <a:srgbClr val="1476FF"/>
                </a:solidFill>
                <a:ea typeface="Arial" charset="0"/>
                <a:cs typeface="Arial" charset="0"/>
              </a:rPr>
              <a:t>.</a:t>
            </a:r>
            <a:endParaRPr lang="es-PE" sz="1400" b="1" spc="-6" dirty="0">
              <a:solidFill>
                <a:srgbClr val="1476FF"/>
              </a:solidFill>
              <a:ea typeface="Arial" charset="0"/>
              <a:cs typeface="Arial" charset="0"/>
            </a:endParaRPr>
          </a:p>
        </p:txBody>
      </p:sp>
      <p:sp>
        <p:nvSpPr>
          <p:cNvPr id="12" name="Rectángulo redondeado 11"/>
          <p:cNvSpPr/>
          <p:nvPr/>
        </p:nvSpPr>
        <p:spPr>
          <a:xfrm>
            <a:off x="796207" y="3780786"/>
            <a:ext cx="4382024" cy="1194371"/>
          </a:xfrm>
          <a:prstGeom prst="roundRect">
            <a:avLst>
              <a:gd name="adj" fmla="val 8430"/>
            </a:avLst>
          </a:prstGeom>
          <a:solidFill>
            <a:srgbClr val="ADE9FF"/>
          </a:solidFill>
          <a:ln>
            <a:noFill/>
          </a:ln>
        </p:spPr>
        <p:style>
          <a:lnRef idx="2">
            <a:schemeClr val="dk1"/>
          </a:lnRef>
          <a:fillRef idx="1">
            <a:schemeClr val="lt1"/>
          </a:fillRef>
          <a:effectRef idx="0">
            <a:schemeClr val="dk1"/>
          </a:effectRef>
          <a:fontRef idx="minor">
            <a:schemeClr val="dk1"/>
          </a:fontRef>
        </p:style>
        <p:txBody>
          <a:bodyPr lIns="135000" rtlCol="0" anchor="ctr"/>
          <a:lstStyle/>
          <a:p>
            <a:pPr>
              <a:buClr>
                <a:srgbClr val="FA4044"/>
              </a:buClr>
              <a:buSzPct val="120000"/>
              <a:tabLst>
                <a:tab pos="75803" algn="l"/>
              </a:tabLst>
              <a:defRPr/>
            </a:pPr>
            <a:r>
              <a:rPr lang="es-419" sz="1400" spc="-6" dirty="0" smtClean="0">
                <a:solidFill>
                  <a:schemeClr val="tx1"/>
                </a:solidFill>
                <a:ea typeface="Arial" charset="0"/>
                <a:cs typeface="Arial" charset="0"/>
              </a:rPr>
              <a:t>La </a:t>
            </a:r>
            <a:r>
              <a:rPr lang="es-419" sz="1400" spc="-6" dirty="0">
                <a:solidFill>
                  <a:schemeClr val="tx1"/>
                </a:solidFill>
                <a:ea typeface="Arial" charset="0"/>
                <a:cs typeface="Arial" charset="0"/>
              </a:rPr>
              <a:t>tecnología cumple un rol muy importante en las empresas, porque a través de ella con el apoyo de los procesos de negocio pueden lograr cumplir con los objetivos de la empresa.</a:t>
            </a:r>
          </a:p>
        </p:txBody>
      </p:sp>
      <p:sp>
        <p:nvSpPr>
          <p:cNvPr id="17" name="Rectángulo 16"/>
          <p:cNvSpPr/>
          <p:nvPr/>
        </p:nvSpPr>
        <p:spPr>
          <a:xfrm>
            <a:off x="0" y="5296833"/>
            <a:ext cx="9144000" cy="130634"/>
          </a:xfrm>
          <a:prstGeom prst="rect">
            <a:avLst/>
          </a:prstGeom>
          <a:solidFill>
            <a:srgbClr val="FFC2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915"/>
          </a:p>
        </p:txBody>
      </p:sp>
      <p:sp>
        <p:nvSpPr>
          <p:cNvPr id="21"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ARQUITECTURA EMPRESARIAL</a:t>
            </a:r>
          </a:p>
        </p:txBody>
      </p:sp>
      <p:pic>
        <p:nvPicPr>
          <p:cNvPr id="2" name="Imagen 1"/>
          <p:cNvPicPr>
            <a:picLocks noChangeAspect="1"/>
          </p:cNvPicPr>
          <p:nvPr/>
        </p:nvPicPr>
        <p:blipFill>
          <a:blip r:embed="rId2"/>
          <a:stretch>
            <a:fillRect/>
          </a:stretch>
        </p:blipFill>
        <p:spPr>
          <a:xfrm>
            <a:off x="5861416" y="961602"/>
            <a:ext cx="2578832" cy="3548180"/>
          </a:xfrm>
          <a:prstGeom prst="rect">
            <a:avLst/>
          </a:prstGeom>
        </p:spPr>
      </p:pic>
    </p:spTree>
    <p:extLst>
      <p:ext uri="{BB962C8B-B14F-4D97-AF65-F5344CB8AC3E}">
        <p14:creationId xmlns:p14="http://schemas.microsoft.com/office/powerpoint/2010/main" val="4110387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ARQUITECTURA EMPRESARIAL</a:t>
            </a:r>
          </a:p>
        </p:txBody>
      </p:sp>
      <p:sp>
        <p:nvSpPr>
          <p:cNvPr id="7" name="object 7">
            <a:extLst>
              <a:ext uri="{FF2B5EF4-FFF2-40B4-BE49-F238E27FC236}">
                <a16:creationId xmlns:a16="http://schemas.microsoft.com/office/drawing/2014/main" id="{DB3A2C6F-AD37-4630-BA18-1AC1EA4AB30D}"/>
              </a:ext>
            </a:extLst>
          </p:cNvPr>
          <p:cNvSpPr txBox="1"/>
          <p:nvPr/>
        </p:nvSpPr>
        <p:spPr>
          <a:xfrm>
            <a:off x="491399" y="1074683"/>
            <a:ext cx="4683031" cy="861774"/>
          </a:xfrm>
          <a:prstGeom prst="rect">
            <a:avLst/>
          </a:prstGeom>
        </p:spPr>
        <p:txBody>
          <a:bodyPr vert="horz" wrap="square" lIns="0" tIns="0" rIns="0" bIns="0" rtlCol="0">
            <a:spAutoFit/>
          </a:bodyPr>
          <a:lstStyle/>
          <a:p>
            <a:pPr marL="11725" algn="ctr">
              <a:buSzPct val="100000"/>
              <a:tabLst>
                <a:tab pos="121285" algn="l"/>
              </a:tabLst>
            </a:pPr>
            <a:r>
              <a:rPr lang="es-PE" sz="2800" b="1" spc="-10" dirty="0">
                <a:solidFill>
                  <a:srgbClr val="262626"/>
                </a:solidFill>
                <a:cs typeface="Source Sans Pro"/>
              </a:rPr>
              <a:t>¿Para construir esto se necesita </a:t>
            </a:r>
            <a:r>
              <a:rPr lang="es-PE" sz="2800" b="1" spc="-10" dirty="0" smtClean="0">
                <a:solidFill>
                  <a:srgbClr val="262626"/>
                </a:solidFill>
                <a:cs typeface="Source Sans Pro"/>
              </a:rPr>
              <a:t>arquitectura</a:t>
            </a:r>
            <a:r>
              <a:rPr lang="es-PE" sz="2800" b="1" spc="-10" dirty="0">
                <a:solidFill>
                  <a:srgbClr val="262626"/>
                </a:solidFill>
                <a:cs typeface="Source Sans Pro"/>
              </a:rPr>
              <a:t>?</a:t>
            </a:r>
          </a:p>
        </p:txBody>
      </p:sp>
      <p:grpSp>
        <p:nvGrpSpPr>
          <p:cNvPr id="12" name="Grupo 11">
            <a:extLst>
              <a:ext uri="{FF2B5EF4-FFF2-40B4-BE49-F238E27FC236}">
                <a16:creationId xmlns:a16="http://schemas.microsoft.com/office/drawing/2014/main" id="{892511E4-AC54-45DF-AD6C-6D758168D105}"/>
              </a:ext>
            </a:extLst>
          </p:cNvPr>
          <p:cNvGrpSpPr/>
          <p:nvPr/>
        </p:nvGrpSpPr>
        <p:grpSpPr>
          <a:xfrm>
            <a:off x="807540" y="2593451"/>
            <a:ext cx="3358060" cy="2585544"/>
            <a:chOff x="974454" y="2662188"/>
            <a:chExt cx="3358060" cy="2585544"/>
          </a:xfrm>
        </p:grpSpPr>
        <p:pic>
          <p:nvPicPr>
            <p:cNvPr id="3" name="Imagen 2">
              <a:extLst>
                <a:ext uri="{FF2B5EF4-FFF2-40B4-BE49-F238E27FC236}">
                  <a16:creationId xmlns:a16="http://schemas.microsoft.com/office/drawing/2014/main" id="{AC8D2839-81BD-4AC7-9737-7A4FB810B6F1}"/>
                </a:ext>
              </a:extLst>
            </p:cNvPr>
            <p:cNvPicPr>
              <a:picLocks noChangeAspect="1"/>
            </p:cNvPicPr>
            <p:nvPr/>
          </p:nvPicPr>
          <p:blipFill>
            <a:blip r:embed="rId3"/>
            <a:stretch>
              <a:fillRect/>
            </a:stretch>
          </p:blipFill>
          <p:spPr>
            <a:xfrm>
              <a:off x="974454" y="2662188"/>
              <a:ext cx="3358060" cy="2181329"/>
            </a:xfrm>
            <a:prstGeom prst="rect">
              <a:avLst/>
            </a:prstGeom>
            <a:ln w="12700">
              <a:solidFill>
                <a:schemeClr val="tx1"/>
              </a:solidFill>
            </a:ln>
          </p:spPr>
        </p:pic>
        <p:sp>
          <p:nvSpPr>
            <p:cNvPr id="10" name="object 7">
              <a:extLst>
                <a:ext uri="{FF2B5EF4-FFF2-40B4-BE49-F238E27FC236}">
                  <a16:creationId xmlns:a16="http://schemas.microsoft.com/office/drawing/2014/main" id="{B6E7D894-0913-4F57-9E59-6036781D061F}"/>
                </a:ext>
              </a:extLst>
            </p:cNvPr>
            <p:cNvSpPr txBox="1"/>
            <p:nvPr/>
          </p:nvSpPr>
          <p:spPr>
            <a:xfrm>
              <a:off x="2307138" y="4970733"/>
              <a:ext cx="692691" cy="276999"/>
            </a:xfrm>
            <a:prstGeom prst="rect">
              <a:avLst/>
            </a:prstGeom>
          </p:spPr>
          <p:txBody>
            <a:bodyPr vert="horz" wrap="square" lIns="0" tIns="0" rIns="0" bIns="0" rtlCol="0">
              <a:spAutoFit/>
            </a:bodyPr>
            <a:lstStyle/>
            <a:p>
              <a:pPr marL="11725" algn="ctr">
                <a:buSzPct val="100000"/>
                <a:tabLst>
                  <a:tab pos="121285" algn="l"/>
                </a:tabLst>
              </a:pPr>
              <a:r>
                <a:rPr lang="es-PE" b="1" spc="-10" dirty="0">
                  <a:solidFill>
                    <a:srgbClr val="262626"/>
                  </a:solidFill>
                  <a:cs typeface="Source Sans Pro"/>
                </a:rPr>
                <a:t>Choza</a:t>
              </a:r>
            </a:p>
          </p:txBody>
        </p:sp>
      </p:grpSp>
      <p:grpSp>
        <p:nvGrpSpPr>
          <p:cNvPr id="13" name="Grupo 12">
            <a:extLst>
              <a:ext uri="{FF2B5EF4-FFF2-40B4-BE49-F238E27FC236}">
                <a16:creationId xmlns:a16="http://schemas.microsoft.com/office/drawing/2014/main" id="{CE0D3FA4-6D58-4BCD-A40D-305154DC51FA}"/>
              </a:ext>
            </a:extLst>
          </p:cNvPr>
          <p:cNvGrpSpPr/>
          <p:nvPr/>
        </p:nvGrpSpPr>
        <p:grpSpPr>
          <a:xfrm>
            <a:off x="5534315" y="374633"/>
            <a:ext cx="3132888" cy="4804362"/>
            <a:chOff x="5500914" y="439947"/>
            <a:chExt cx="3132888" cy="4804362"/>
          </a:xfrm>
        </p:grpSpPr>
        <p:pic>
          <p:nvPicPr>
            <p:cNvPr id="9" name="Imagen 8">
              <a:extLst>
                <a:ext uri="{FF2B5EF4-FFF2-40B4-BE49-F238E27FC236}">
                  <a16:creationId xmlns:a16="http://schemas.microsoft.com/office/drawing/2014/main" id="{F753BB51-90E6-45E9-A608-424ED3F59EDC}"/>
                </a:ext>
              </a:extLst>
            </p:cNvPr>
            <p:cNvPicPr>
              <a:picLocks noChangeAspect="1"/>
            </p:cNvPicPr>
            <p:nvPr/>
          </p:nvPicPr>
          <p:blipFill>
            <a:blip r:embed="rId4"/>
            <a:stretch>
              <a:fillRect/>
            </a:stretch>
          </p:blipFill>
          <p:spPr>
            <a:xfrm>
              <a:off x="5500914" y="439947"/>
              <a:ext cx="3132888" cy="4403570"/>
            </a:xfrm>
            <a:prstGeom prst="rect">
              <a:avLst/>
            </a:prstGeom>
            <a:ln w="12700">
              <a:solidFill>
                <a:schemeClr val="tx1"/>
              </a:solidFill>
            </a:ln>
          </p:spPr>
        </p:pic>
        <p:sp>
          <p:nvSpPr>
            <p:cNvPr id="11" name="object 7">
              <a:extLst>
                <a:ext uri="{FF2B5EF4-FFF2-40B4-BE49-F238E27FC236}">
                  <a16:creationId xmlns:a16="http://schemas.microsoft.com/office/drawing/2014/main" id="{F305D16C-AB33-4AAE-B1F2-9B95CA7191FC}"/>
                </a:ext>
              </a:extLst>
            </p:cNvPr>
            <p:cNvSpPr txBox="1"/>
            <p:nvPr/>
          </p:nvSpPr>
          <p:spPr>
            <a:xfrm>
              <a:off x="6743820" y="4967310"/>
              <a:ext cx="868548" cy="276999"/>
            </a:xfrm>
            <a:prstGeom prst="rect">
              <a:avLst/>
            </a:prstGeom>
          </p:spPr>
          <p:txBody>
            <a:bodyPr vert="horz" wrap="square" lIns="0" tIns="0" rIns="0" bIns="0" rtlCol="0">
              <a:spAutoFit/>
            </a:bodyPr>
            <a:lstStyle/>
            <a:p>
              <a:pPr marL="11725" algn="ctr">
                <a:buSzPct val="100000"/>
                <a:tabLst>
                  <a:tab pos="121285" algn="l"/>
                </a:tabLst>
              </a:pPr>
              <a:r>
                <a:rPr lang="es-PE" b="1" spc="-10" dirty="0">
                  <a:solidFill>
                    <a:srgbClr val="262626"/>
                  </a:solidFill>
                  <a:cs typeface="Source Sans Pro"/>
                </a:rPr>
                <a:t>Edificio</a:t>
              </a:r>
            </a:p>
          </p:txBody>
        </p:sp>
      </p:grpSp>
    </p:spTree>
    <p:extLst>
      <p:ext uri="{BB962C8B-B14F-4D97-AF65-F5344CB8AC3E}">
        <p14:creationId xmlns:p14="http://schemas.microsoft.com/office/powerpoint/2010/main" val="1303532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105699D-8ED4-4869-8C5C-F870689B8218}"/>
              </a:ext>
            </a:extLst>
          </p:cNvPr>
          <p:cNvPicPr>
            <a:picLocks noChangeAspect="1"/>
          </p:cNvPicPr>
          <p:nvPr/>
        </p:nvPicPr>
        <p:blipFill>
          <a:blip r:embed="rId3"/>
          <a:stretch>
            <a:fillRect/>
          </a:stretch>
        </p:blipFill>
        <p:spPr>
          <a:xfrm>
            <a:off x="2236413" y="1156867"/>
            <a:ext cx="4929176" cy="3202265"/>
          </a:xfrm>
          <a:prstGeom prst="rect">
            <a:avLst/>
          </a:prstGeom>
        </p:spPr>
      </p:pic>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ARQUITECTURA EMPRESARIAL</a:t>
            </a:r>
          </a:p>
        </p:txBody>
      </p:sp>
      <p:sp>
        <p:nvSpPr>
          <p:cNvPr id="7" name="object 7">
            <a:extLst>
              <a:ext uri="{FF2B5EF4-FFF2-40B4-BE49-F238E27FC236}">
                <a16:creationId xmlns:a16="http://schemas.microsoft.com/office/drawing/2014/main" id="{DB3A2C6F-AD37-4630-BA18-1AC1EA4AB30D}"/>
              </a:ext>
            </a:extLst>
          </p:cNvPr>
          <p:cNvSpPr txBox="1"/>
          <p:nvPr/>
        </p:nvSpPr>
        <p:spPr>
          <a:xfrm>
            <a:off x="484142" y="790111"/>
            <a:ext cx="5655401" cy="369332"/>
          </a:xfrm>
          <a:prstGeom prst="rect">
            <a:avLst/>
          </a:prstGeom>
        </p:spPr>
        <p:txBody>
          <a:bodyPr vert="horz" wrap="square" lIns="0" tIns="0" rIns="0" bIns="0" rtlCol="0">
            <a:spAutoFit/>
          </a:bodyPr>
          <a:lstStyle/>
          <a:p>
            <a:pPr marL="11725">
              <a:buSzPct val="100000"/>
              <a:tabLst>
                <a:tab pos="121285" algn="l"/>
              </a:tabLst>
            </a:pPr>
            <a:r>
              <a:rPr lang="es-PE" sz="2400" b="1" spc="-10" dirty="0">
                <a:solidFill>
                  <a:srgbClr val="262626"/>
                </a:solidFill>
                <a:cs typeface="Source Sans Pro"/>
              </a:rPr>
              <a:t>El objetivo estratégico es llegar a Marte</a:t>
            </a:r>
          </a:p>
        </p:txBody>
      </p:sp>
      <p:pic>
        <p:nvPicPr>
          <p:cNvPr id="8" name="Imagen 7">
            <a:extLst>
              <a:ext uri="{FF2B5EF4-FFF2-40B4-BE49-F238E27FC236}">
                <a16:creationId xmlns:a16="http://schemas.microsoft.com/office/drawing/2014/main" id="{5BCCDA8F-643F-4E1C-9175-5405F11663D5}"/>
              </a:ext>
            </a:extLst>
          </p:cNvPr>
          <p:cNvPicPr>
            <a:picLocks noChangeAspect="1"/>
          </p:cNvPicPr>
          <p:nvPr/>
        </p:nvPicPr>
        <p:blipFill>
          <a:blip r:embed="rId4"/>
          <a:stretch>
            <a:fillRect/>
          </a:stretch>
        </p:blipFill>
        <p:spPr>
          <a:xfrm>
            <a:off x="407875" y="3880838"/>
            <a:ext cx="1260407" cy="1266741"/>
          </a:xfrm>
          <a:prstGeom prst="rect">
            <a:avLst/>
          </a:prstGeom>
        </p:spPr>
      </p:pic>
      <p:pic>
        <p:nvPicPr>
          <p:cNvPr id="5136" name="Picture 16" descr="Tierra Vista Desde el Espacio PNG transparente - StickPNG">
            <a:extLst>
              <a:ext uri="{FF2B5EF4-FFF2-40B4-BE49-F238E27FC236}">
                <a16:creationId xmlns:a16="http://schemas.microsoft.com/office/drawing/2014/main" id="{B46B0A9B-7874-4149-A4BA-3173B7D3FC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3198" y="3880839"/>
            <a:ext cx="1282927" cy="1266741"/>
          </a:xfrm>
          <a:prstGeom prst="rect">
            <a:avLst/>
          </a:prstGeom>
          <a:noFill/>
          <a:extLst>
            <a:ext uri="{909E8E84-426E-40DD-AFC4-6F175D3DCCD1}">
              <a14:hiddenFill xmlns:a14="http://schemas.microsoft.com/office/drawing/2010/main">
                <a:solidFill>
                  <a:srgbClr val="FFFFFF"/>
                </a:solidFill>
              </a14:hiddenFill>
            </a:ext>
          </a:extLst>
        </p:spPr>
      </p:pic>
      <p:sp>
        <p:nvSpPr>
          <p:cNvPr id="14" name="Flecha: hacia la izquierda 13">
            <a:extLst>
              <a:ext uri="{FF2B5EF4-FFF2-40B4-BE49-F238E27FC236}">
                <a16:creationId xmlns:a16="http://schemas.microsoft.com/office/drawing/2014/main" id="{810C0A92-D2E6-4F6B-9E64-713DCDC89A4A}"/>
              </a:ext>
            </a:extLst>
          </p:cNvPr>
          <p:cNvSpPr/>
          <p:nvPr/>
        </p:nvSpPr>
        <p:spPr>
          <a:xfrm>
            <a:off x="2057025" y="4450411"/>
            <a:ext cx="5007429" cy="215444"/>
          </a:xfrm>
          <a:prstGeom prst="lef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solidFill>
                <a:srgbClr val="FF0000"/>
              </a:solidFill>
            </a:endParaRPr>
          </a:p>
        </p:txBody>
      </p:sp>
    </p:spTree>
    <p:extLst>
      <p:ext uri="{BB962C8B-B14F-4D97-AF65-F5344CB8AC3E}">
        <p14:creationId xmlns:p14="http://schemas.microsoft.com/office/powerpoint/2010/main" val="2166991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ARQUITECTURA EMPRESARIAL</a:t>
            </a:r>
          </a:p>
        </p:txBody>
      </p:sp>
      <p:sp>
        <p:nvSpPr>
          <p:cNvPr id="7" name="object 7">
            <a:extLst>
              <a:ext uri="{FF2B5EF4-FFF2-40B4-BE49-F238E27FC236}">
                <a16:creationId xmlns:a16="http://schemas.microsoft.com/office/drawing/2014/main" id="{C48754A3-8BA6-4495-AE29-EE0D00840805}"/>
              </a:ext>
            </a:extLst>
          </p:cNvPr>
          <p:cNvSpPr txBox="1"/>
          <p:nvPr/>
        </p:nvSpPr>
        <p:spPr>
          <a:xfrm>
            <a:off x="510908" y="832233"/>
            <a:ext cx="506315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COMPONENTES DE LA ARQUITECTURA EMPRESARIAL</a:t>
            </a:r>
          </a:p>
        </p:txBody>
      </p:sp>
      <p:pic>
        <p:nvPicPr>
          <p:cNvPr id="3" name="Imagen 2">
            <a:extLst>
              <a:ext uri="{FF2B5EF4-FFF2-40B4-BE49-F238E27FC236}">
                <a16:creationId xmlns:a16="http://schemas.microsoft.com/office/drawing/2014/main" id="{F789ED05-A00E-4DE5-B751-9833E57C0F4A}"/>
              </a:ext>
            </a:extLst>
          </p:cNvPr>
          <p:cNvPicPr>
            <a:picLocks noChangeAspect="1"/>
          </p:cNvPicPr>
          <p:nvPr/>
        </p:nvPicPr>
        <p:blipFill>
          <a:blip r:embed="rId3"/>
          <a:stretch>
            <a:fillRect/>
          </a:stretch>
        </p:blipFill>
        <p:spPr>
          <a:xfrm>
            <a:off x="1498486" y="1168400"/>
            <a:ext cx="6147027" cy="3908646"/>
          </a:xfrm>
          <a:prstGeom prst="rect">
            <a:avLst/>
          </a:prstGeom>
        </p:spPr>
      </p:pic>
    </p:spTree>
    <p:extLst>
      <p:ext uri="{BB962C8B-B14F-4D97-AF65-F5344CB8AC3E}">
        <p14:creationId xmlns:p14="http://schemas.microsoft.com/office/powerpoint/2010/main" val="1540288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ARQUITECTURA EMPRESARIAL</a:t>
            </a:r>
          </a:p>
        </p:txBody>
      </p:sp>
      <p:sp>
        <p:nvSpPr>
          <p:cNvPr id="7" name="object 7">
            <a:extLst>
              <a:ext uri="{FF2B5EF4-FFF2-40B4-BE49-F238E27FC236}">
                <a16:creationId xmlns:a16="http://schemas.microsoft.com/office/drawing/2014/main" id="{C48754A3-8BA6-4495-AE29-EE0D00840805}"/>
              </a:ext>
            </a:extLst>
          </p:cNvPr>
          <p:cNvSpPr txBox="1"/>
          <p:nvPr/>
        </p:nvSpPr>
        <p:spPr>
          <a:xfrm>
            <a:off x="510908" y="832233"/>
            <a:ext cx="155737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BENEFICIOS</a:t>
            </a:r>
          </a:p>
        </p:txBody>
      </p:sp>
      <p:sp>
        <p:nvSpPr>
          <p:cNvPr id="6" name="object 7">
            <a:extLst>
              <a:ext uri="{FF2B5EF4-FFF2-40B4-BE49-F238E27FC236}">
                <a16:creationId xmlns:a16="http://schemas.microsoft.com/office/drawing/2014/main" id="{9FAA08DF-1F56-4617-9B30-CCD955D57C63}"/>
              </a:ext>
            </a:extLst>
          </p:cNvPr>
          <p:cNvSpPr txBox="1"/>
          <p:nvPr/>
        </p:nvSpPr>
        <p:spPr>
          <a:xfrm>
            <a:off x="663307" y="1251303"/>
            <a:ext cx="4293321"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2.1. Beneficios </a:t>
            </a:r>
            <a:r>
              <a:rPr lang="es-PE" sz="1700" b="1" spc="-10" dirty="0" smtClean="0">
                <a:solidFill>
                  <a:srgbClr val="262626"/>
                </a:solidFill>
                <a:cs typeface="Source Sans Pro"/>
              </a:rPr>
              <a:t>tangibles</a:t>
            </a:r>
            <a:endParaRPr lang="es-PE" sz="1700" b="1" spc="-10" dirty="0">
              <a:solidFill>
                <a:srgbClr val="262626"/>
              </a:solidFill>
              <a:cs typeface="Source Sans Pro"/>
            </a:endParaRPr>
          </a:p>
        </p:txBody>
      </p:sp>
      <p:sp>
        <p:nvSpPr>
          <p:cNvPr id="8" name="object 7">
            <a:extLst>
              <a:ext uri="{FF2B5EF4-FFF2-40B4-BE49-F238E27FC236}">
                <a16:creationId xmlns:a16="http://schemas.microsoft.com/office/drawing/2014/main" id="{3F536529-0ACC-42BD-A781-CFA75C1EAD8D}"/>
              </a:ext>
            </a:extLst>
          </p:cNvPr>
          <p:cNvSpPr txBox="1"/>
          <p:nvPr/>
        </p:nvSpPr>
        <p:spPr>
          <a:xfrm>
            <a:off x="663307" y="1741047"/>
            <a:ext cx="7718693" cy="3036472"/>
          </a:xfrm>
          <a:prstGeom prst="rect">
            <a:avLst/>
          </a:prstGeom>
        </p:spPr>
        <p:txBody>
          <a:bodyPr vert="horz" wrap="square" lIns="0" tIns="0" rIns="0" bIns="0" rtlCol="0">
            <a:spAutoFit/>
          </a:bodyPr>
          <a:lstStyle/>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Reducción de costos.</a:t>
            </a:r>
          </a:p>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Evitar la adquisición de arquitecturas incompatibles.</a:t>
            </a:r>
          </a:p>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Reducir los riesgos, costos y tiempos de desarrollo e implementación de soluciones.</a:t>
            </a:r>
          </a:p>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Reducir costos de soporte y mantenimiento.</a:t>
            </a:r>
          </a:p>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Mejorar la eficiencia operacional del negocio.</a:t>
            </a:r>
          </a:p>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Comprender las inversiones que deben realizar, el desempeño de las inversiones y el ROI general de las mismas.</a:t>
            </a:r>
          </a:p>
        </p:txBody>
      </p:sp>
      <p:pic>
        <p:nvPicPr>
          <p:cNvPr id="9" name="Imagen 8">
            <a:extLst>
              <a:ext uri="{FF2B5EF4-FFF2-40B4-BE49-F238E27FC236}">
                <a16:creationId xmlns:a16="http://schemas.microsoft.com/office/drawing/2014/main" id="{A062C67A-0E07-47AC-8F08-570170682BBD}"/>
              </a:ext>
            </a:extLst>
          </p:cNvPr>
          <p:cNvPicPr>
            <a:picLocks noChangeAspect="1"/>
          </p:cNvPicPr>
          <p:nvPr/>
        </p:nvPicPr>
        <p:blipFill>
          <a:blip r:embed="rId3"/>
          <a:stretch>
            <a:fillRect/>
          </a:stretch>
        </p:blipFill>
        <p:spPr>
          <a:xfrm>
            <a:off x="7355578" y="320830"/>
            <a:ext cx="1357645" cy="2076970"/>
          </a:xfrm>
          <a:prstGeom prst="rect">
            <a:avLst/>
          </a:prstGeom>
        </p:spPr>
      </p:pic>
    </p:spTree>
    <p:extLst>
      <p:ext uri="{BB962C8B-B14F-4D97-AF65-F5344CB8AC3E}">
        <p14:creationId xmlns:p14="http://schemas.microsoft.com/office/powerpoint/2010/main" val="4157250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ARQUITECTURA EMPRESARIAL</a:t>
            </a:r>
          </a:p>
        </p:txBody>
      </p:sp>
      <p:sp>
        <p:nvSpPr>
          <p:cNvPr id="7" name="object 7">
            <a:extLst>
              <a:ext uri="{FF2B5EF4-FFF2-40B4-BE49-F238E27FC236}">
                <a16:creationId xmlns:a16="http://schemas.microsoft.com/office/drawing/2014/main" id="{C48754A3-8BA6-4495-AE29-EE0D00840805}"/>
              </a:ext>
            </a:extLst>
          </p:cNvPr>
          <p:cNvSpPr txBox="1"/>
          <p:nvPr/>
        </p:nvSpPr>
        <p:spPr>
          <a:xfrm>
            <a:off x="510908" y="832233"/>
            <a:ext cx="155737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…BENEFICIOS</a:t>
            </a:r>
          </a:p>
        </p:txBody>
      </p:sp>
      <p:sp>
        <p:nvSpPr>
          <p:cNvPr id="6" name="object 7">
            <a:extLst>
              <a:ext uri="{FF2B5EF4-FFF2-40B4-BE49-F238E27FC236}">
                <a16:creationId xmlns:a16="http://schemas.microsoft.com/office/drawing/2014/main" id="{9FAA08DF-1F56-4617-9B30-CCD955D57C63}"/>
              </a:ext>
            </a:extLst>
          </p:cNvPr>
          <p:cNvSpPr txBox="1"/>
          <p:nvPr/>
        </p:nvSpPr>
        <p:spPr>
          <a:xfrm>
            <a:off x="663307" y="1255520"/>
            <a:ext cx="4293321"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2.2. Beneficios </a:t>
            </a:r>
            <a:r>
              <a:rPr lang="es-PE" sz="1700" b="1" spc="-10" dirty="0" smtClean="0">
                <a:solidFill>
                  <a:srgbClr val="262626"/>
                </a:solidFill>
                <a:cs typeface="Source Sans Pro"/>
              </a:rPr>
              <a:t>intangibles</a:t>
            </a:r>
            <a:endParaRPr lang="es-PE" sz="1700" b="1" spc="-10" dirty="0">
              <a:solidFill>
                <a:srgbClr val="262626"/>
              </a:solidFill>
              <a:cs typeface="Source Sans Pro"/>
            </a:endParaRPr>
          </a:p>
        </p:txBody>
      </p:sp>
      <p:sp>
        <p:nvSpPr>
          <p:cNvPr id="8" name="object 7">
            <a:extLst>
              <a:ext uri="{FF2B5EF4-FFF2-40B4-BE49-F238E27FC236}">
                <a16:creationId xmlns:a16="http://schemas.microsoft.com/office/drawing/2014/main" id="{1CB3178F-3AAB-497F-BB30-42A48C80E9BF}"/>
              </a:ext>
            </a:extLst>
          </p:cNvPr>
          <p:cNvSpPr txBox="1"/>
          <p:nvPr/>
        </p:nvSpPr>
        <p:spPr>
          <a:xfrm>
            <a:off x="663307" y="1755561"/>
            <a:ext cx="7718693" cy="2765629"/>
          </a:xfrm>
          <a:prstGeom prst="rect">
            <a:avLst/>
          </a:prstGeom>
        </p:spPr>
        <p:txBody>
          <a:bodyPr vert="horz" wrap="square" lIns="0" tIns="0" rIns="0" bIns="0" rtlCol="0">
            <a:spAutoFit/>
          </a:bodyPr>
          <a:lstStyle/>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Visión y principios comunes entre el negocio y TI.</a:t>
            </a:r>
          </a:p>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Retención de capital intelectual dentro de la organización.</a:t>
            </a:r>
          </a:p>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Mejorar las comunicaciones dentro y afuera de las organizaciones.</a:t>
            </a:r>
          </a:p>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Establecer un lenguaje y definiciones comunes para la organización.</a:t>
            </a:r>
          </a:p>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Centralización de la información.</a:t>
            </a:r>
          </a:p>
          <a:p>
            <a:pPr marL="563563" indent="-285750" algn="just">
              <a:lnSpc>
                <a:spcPct val="110000"/>
              </a:lnSpc>
              <a:spcAft>
                <a:spcPts val="1800"/>
              </a:spcAft>
              <a:buSzPct val="100000"/>
              <a:buFont typeface="Wingdings" panose="05000000000000000000" pitchFamily="2" charset="2"/>
              <a:buChar char="Ø"/>
              <a:tabLst>
                <a:tab pos="121285" algn="l"/>
              </a:tabLst>
            </a:pPr>
            <a:r>
              <a:rPr lang="es-PE" sz="1600" spc="-10" dirty="0">
                <a:solidFill>
                  <a:srgbClr val="262626"/>
                </a:solidFill>
              </a:rPr>
              <a:t>Información de confianza y de alta calidad para una mejor toma de decisiones.</a:t>
            </a:r>
          </a:p>
        </p:txBody>
      </p:sp>
      <p:pic>
        <p:nvPicPr>
          <p:cNvPr id="4" name="Imagen 3">
            <a:extLst>
              <a:ext uri="{FF2B5EF4-FFF2-40B4-BE49-F238E27FC236}">
                <a16:creationId xmlns:a16="http://schemas.microsoft.com/office/drawing/2014/main" id="{E939C64F-8895-4A05-BADF-EFE28CCB7DE4}"/>
              </a:ext>
            </a:extLst>
          </p:cNvPr>
          <p:cNvPicPr>
            <a:picLocks noChangeAspect="1"/>
          </p:cNvPicPr>
          <p:nvPr/>
        </p:nvPicPr>
        <p:blipFill>
          <a:blip r:embed="rId3"/>
          <a:stretch>
            <a:fillRect/>
          </a:stretch>
        </p:blipFill>
        <p:spPr>
          <a:xfrm>
            <a:off x="7275447" y="347840"/>
            <a:ext cx="1357645" cy="2076970"/>
          </a:xfrm>
          <a:prstGeom prst="rect">
            <a:avLst/>
          </a:prstGeom>
        </p:spPr>
      </p:pic>
    </p:spTree>
    <p:extLst>
      <p:ext uri="{BB962C8B-B14F-4D97-AF65-F5344CB8AC3E}">
        <p14:creationId xmlns:p14="http://schemas.microsoft.com/office/powerpoint/2010/main" val="839307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MATRIZ DE CARGOS Y ROLES</a:t>
            </a:r>
          </a:p>
        </p:txBody>
      </p:sp>
    </p:spTree>
    <p:custDataLst>
      <p:tags r:id="rId1"/>
    </p:custDataLst>
    <p:extLst>
      <p:ext uri="{BB962C8B-B14F-4D97-AF65-F5344CB8AC3E}">
        <p14:creationId xmlns:p14="http://schemas.microsoft.com/office/powerpoint/2010/main" val="46930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MATRIZ DE CARGOS Y ROLES</a:t>
            </a:r>
          </a:p>
        </p:txBody>
      </p:sp>
      <p:sp>
        <p:nvSpPr>
          <p:cNvPr id="13" name="object 7">
            <a:extLst>
              <a:ext uri="{FF2B5EF4-FFF2-40B4-BE49-F238E27FC236}">
                <a16:creationId xmlns:a16="http://schemas.microsoft.com/office/drawing/2014/main" id="{36015783-58B2-4994-8AEA-2C8859881A8C}"/>
              </a:ext>
            </a:extLst>
          </p:cNvPr>
          <p:cNvSpPr txBox="1"/>
          <p:nvPr/>
        </p:nvSpPr>
        <p:spPr>
          <a:xfrm>
            <a:off x="407874" y="904359"/>
            <a:ext cx="8191839" cy="1520160"/>
          </a:xfrm>
          <a:prstGeom prst="rect">
            <a:avLst/>
          </a:prstGeom>
        </p:spPr>
        <p:txBody>
          <a:bodyPr vert="horz" wrap="square" lIns="0" tIns="0" rIns="0" bIns="0" rtlCol="0">
            <a:spAutoFit/>
          </a:bodyPr>
          <a:lstStyle/>
          <a:p>
            <a:pPr marL="563563" indent="-285750" algn="just">
              <a:lnSpc>
                <a:spcPct val="110000"/>
              </a:lnSpc>
              <a:spcAft>
                <a:spcPts val="1400"/>
              </a:spcAft>
              <a:buSzPct val="100000"/>
              <a:buFont typeface="Arial" panose="020B0604020202020204" pitchFamily="34" charset="0"/>
              <a:buChar char="•"/>
              <a:tabLst>
                <a:tab pos="121285" algn="l"/>
              </a:tabLst>
            </a:pPr>
            <a:r>
              <a:rPr lang="es-ES" sz="1600" spc="-10" dirty="0">
                <a:solidFill>
                  <a:srgbClr val="262626"/>
                </a:solidFill>
              </a:rPr>
              <a:t>En COBIT 5: “Procesos Catalizadores” y en COBIT 2019: “Objetivos de gobierno y de gestión” encontramos varios cargos, roles y estructuras. </a:t>
            </a:r>
          </a:p>
          <a:p>
            <a:pPr marL="563563" indent="-285750" algn="just">
              <a:lnSpc>
                <a:spcPct val="110000"/>
              </a:lnSpc>
              <a:spcAft>
                <a:spcPts val="1400"/>
              </a:spcAft>
              <a:buSzPct val="100000"/>
              <a:buFont typeface="Arial" panose="020B0604020202020204" pitchFamily="34" charset="0"/>
              <a:buChar char="•"/>
              <a:tabLst>
                <a:tab pos="121285" algn="l"/>
              </a:tabLst>
            </a:pPr>
            <a:r>
              <a:rPr lang="es-ES" sz="1600" spc="-10" dirty="0">
                <a:solidFill>
                  <a:srgbClr val="262626"/>
                </a:solidFill>
              </a:rPr>
              <a:t>No se tienen que corresponder necesariamente con las funciones actuales que las empresas tienen implementadas, pero sin embargo proporcionan valor en el sentido de que el propósito de la estructura o de los roles que son iguales para la mayoría de las empresas.</a:t>
            </a:r>
            <a:endParaRPr lang="es-PE" sz="1600" spc="-10" dirty="0">
              <a:solidFill>
                <a:srgbClr val="262626"/>
              </a:solidFill>
            </a:endParaRPr>
          </a:p>
        </p:txBody>
      </p:sp>
      <p:pic>
        <p:nvPicPr>
          <p:cNvPr id="7170" name="Picture 2" descr="Matriz RACI | Cómo crearla y aprovecharla en tu empresa">
            <a:extLst>
              <a:ext uri="{FF2B5EF4-FFF2-40B4-BE49-F238E27FC236}">
                <a16:creationId xmlns:a16="http://schemas.microsoft.com/office/drawing/2014/main" id="{860CFD94-48F0-4B8E-9A88-04DBAB7BC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0635" y="3071266"/>
            <a:ext cx="2962729" cy="1663449"/>
          </a:xfrm>
          <a:prstGeom prst="rect">
            <a:avLst/>
          </a:prstGeom>
          <a:noFill/>
          <a:ln w="6350">
            <a:solidFill>
              <a:schemeClr val="tx1"/>
            </a:solidFill>
          </a:ln>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860F3509-CD36-4FCF-85DB-B94B80235398}"/>
              </a:ext>
            </a:extLst>
          </p:cNvPr>
          <p:cNvPicPr>
            <a:picLocks noChangeAspect="1"/>
          </p:cNvPicPr>
          <p:nvPr/>
        </p:nvPicPr>
        <p:blipFill>
          <a:blip r:embed="rId4"/>
          <a:stretch>
            <a:fillRect/>
          </a:stretch>
        </p:blipFill>
        <p:spPr>
          <a:xfrm>
            <a:off x="6957901" y="2717038"/>
            <a:ext cx="1641813" cy="2226761"/>
          </a:xfrm>
          <a:prstGeom prst="rect">
            <a:avLst/>
          </a:prstGeom>
          <a:ln w="6350">
            <a:solidFill>
              <a:schemeClr val="tx1"/>
            </a:solidFill>
          </a:ln>
        </p:spPr>
      </p:pic>
      <p:pic>
        <p:nvPicPr>
          <p:cNvPr id="14" name="Imagen 13">
            <a:extLst>
              <a:ext uri="{FF2B5EF4-FFF2-40B4-BE49-F238E27FC236}">
                <a16:creationId xmlns:a16="http://schemas.microsoft.com/office/drawing/2014/main" id="{D469C093-C367-4F44-A442-54F62CA31ED0}"/>
              </a:ext>
            </a:extLst>
          </p:cNvPr>
          <p:cNvPicPr>
            <a:picLocks noChangeAspect="1"/>
          </p:cNvPicPr>
          <p:nvPr/>
        </p:nvPicPr>
        <p:blipFill>
          <a:blip r:embed="rId5"/>
          <a:stretch>
            <a:fillRect/>
          </a:stretch>
        </p:blipFill>
        <p:spPr>
          <a:xfrm>
            <a:off x="747486" y="2717038"/>
            <a:ext cx="1641814" cy="2226760"/>
          </a:xfrm>
          <a:prstGeom prst="rect">
            <a:avLst/>
          </a:prstGeom>
          <a:ln w="6350">
            <a:solidFill>
              <a:schemeClr val="tx1"/>
            </a:solidFill>
          </a:ln>
        </p:spPr>
      </p:pic>
    </p:spTree>
    <p:extLst>
      <p:ext uri="{BB962C8B-B14F-4D97-AF65-F5344CB8AC3E}">
        <p14:creationId xmlns:p14="http://schemas.microsoft.com/office/powerpoint/2010/main" val="3562264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MATRIZ DE CARGOS Y ROLES</a:t>
            </a:r>
          </a:p>
        </p:txBody>
      </p:sp>
      <p:pic>
        <p:nvPicPr>
          <p:cNvPr id="4" name="Imagen 3">
            <a:extLst>
              <a:ext uri="{FF2B5EF4-FFF2-40B4-BE49-F238E27FC236}">
                <a16:creationId xmlns:a16="http://schemas.microsoft.com/office/drawing/2014/main" id="{D005C68B-1514-49F6-B829-C52FCCBE3A97}"/>
              </a:ext>
            </a:extLst>
          </p:cNvPr>
          <p:cNvPicPr>
            <a:picLocks noChangeAspect="1"/>
          </p:cNvPicPr>
          <p:nvPr/>
        </p:nvPicPr>
        <p:blipFill>
          <a:blip r:embed="rId3"/>
          <a:stretch>
            <a:fillRect/>
          </a:stretch>
        </p:blipFill>
        <p:spPr>
          <a:xfrm>
            <a:off x="288933" y="832198"/>
            <a:ext cx="8566132" cy="4050603"/>
          </a:xfrm>
          <a:prstGeom prst="rect">
            <a:avLst/>
          </a:prstGeom>
        </p:spPr>
      </p:pic>
    </p:spTree>
    <p:extLst>
      <p:ext uri="{BB962C8B-B14F-4D97-AF65-F5344CB8AC3E}">
        <p14:creationId xmlns:p14="http://schemas.microsoft.com/office/powerpoint/2010/main" val="3826283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MATRIZ DE CARGOS Y ROLES</a:t>
            </a:r>
          </a:p>
        </p:txBody>
      </p:sp>
      <p:grpSp>
        <p:nvGrpSpPr>
          <p:cNvPr id="4" name="Grupo 3">
            <a:extLst>
              <a:ext uri="{FF2B5EF4-FFF2-40B4-BE49-F238E27FC236}">
                <a16:creationId xmlns:a16="http://schemas.microsoft.com/office/drawing/2014/main" id="{EC0C84B1-6C15-4B2A-A01F-F6F83D513A14}"/>
              </a:ext>
            </a:extLst>
          </p:cNvPr>
          <p:cNvGrpSpPr/>
          <p:nvPr/>
        </p:nvGrpSpPr>
        <p:grpSpPr>
          <a:xfrm>
            <a:off x="291775" y="832198"/>
            <a:ext cx="8566132" cy="4050603"/>
            <a:chOff x="511341" y="1256012"/>
            <a:chExt cx="8121319" cy="3918345"/>
          </a:xfrm>
        </p:grpSpPr>
        <p:pic>
          <p:nvPicPr>
            <p:cNvPr id="6" name="Imagen 5">
              <a:extLst>
                <a:ext uri="{FF2B5EF4-FFF2-40B4-BE49-F238E27FC236}">
                  <a16:creationId xmlns:a16="http://schemas.microsoft.com/office/drawing/2014/main" id="{96C6CCE0-7DD2-48D5-8160-E024B450D5A0}"/>
                </a:ext>
              </a:extLst>
            </p:cNvPr>
            <p:cNvPicPr>
              <a:picLocks noChangeAspect="1"/>
            </p:cNvPicPr>
            <p:nvPr/>
          </p:nvPicPr>
          <p:blipFill>
            <a:blip r:embed="rId3"/>
            <a:stretch>
              <a:fillRect/>
            </a:stretch>
          </p:blipFill>
          <p:spPr>
            <a:xfrm>
              <a:off x="511341" y="1256012"/>
              <a:ext cx="8121318" cy="3840267"/>
            </a:xfrm>
            <a:prstGeom prst="rect">
              <a:avLst/>
            </a:prstGeom>
          </p:spPr>
        </p:pic>
        <p:pic>
          <p:nvPicPr>
            <p:cNvPr id="7" name="Imagen 6">
              <a:extLst>
                <a:ext uri="{FF2B5EF4-FFF2-40B4-BE49-F238E27FC236}">
                  <a16:creationId xmlns:a16="http://schemas.microsoft.com/office/drawing/2014/main" id="{ED56C305-C614-414F-B55B-3A7040C2E255}"/>
                </a:ext>
              </a:extLst>
            </p:cNvPr>
            <p:cNvPicPr>
              <a:picLocks noChangeAspect="1"/>
            </p:cNvPicPr>
            <p:nvPr/>
          </p:nvPicPr>
          <p:blipFill>
            <a:blip r:embed="rId4"/>
            <a:stretch>
              <a:fillRect/>
            </a:stretch>
          </p:blipFill>
          <p:spPr>
            <a:xfrm>
              <a:off x="511342" y="1754219"/>
              <a:ext cx="8121318" cy="3420138"/>
            </a:xfrm>
            <a:prstGeom prst="rect">
              <a:avLst/>
            </a:prstGeom>
          </p:spPr>
        </p:pic>
      </p:grpSp>
    </p:spTree>
    <p:extLst>
      <p:ext uri="{BB962C8B-B14F-4D97-AF65-F5344CB8AC3E}">
        <p14:creationId xmlns:p14="http://schemas.microsoft.com/office/powerpoint/2010/main" val="1488305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MATRIZ DE CARGOS Y ROLES</a:t>
            </a:r>
          </a:p>
        </p:txBody>
      </p:sp>
      <p:grpSp>
        <p:nvGrpSpPr>
          <p:cNvPr id="4" name="Grupo 3">
            <a:extLst>
              <a:ext uri="{FF2B5EF4-FFF2-40B4-BE49-F238E27FC236}">
                <a16:creationId xmlns:a16="http://schemas.microsoft.com/office/drawing/2014/main" id="{AEF9CA25-C645-456F-8B51-A128F163D3A9}"/>
              </a:ext>
            </a:extLst>
          </p:cNvPr>
          <p:cNvGrpSpPr/>
          <p:nvPr/>
        </p:nvGrpSpPr>
        <p:grpSpPr>
          <a:xfrm>
            <a:off x="290232" y="753261"/>
            <a:ext cx="8566132" cy="4405787"/>
            <a:chOff x="511339" y="1256012"/>
            <a:chExt cx="8121320" cy="4138158"/>
          </a:xfrm>
        </p:grpSpPr>
        <p:pic>
          <p:nvPicPr>
            <p:cNvPr id="6" name="Imagen 5">
              <a:extLst>
                <a:ext uri="{FF2B5EF4-FFF2-40B4-BE49-F238E27FC236}">
                  <a16:creationId xmlns:a16="http://schemas.microsoft.com/office/drawing/2014/main" id="{247CE348-B864-401C-87BD-0C075F1AD05C}"/>
                </a:ext>
              </a:extLst>
            </p:cNvPr>
            <p:cNvPicPr>
              <a:picLocks noChangeAspect="1"/>
            </p:cNvPicPr>
            <p:nvPr/>
          </p:nvPicPr>
          <p:blipFill>
            <a:blip r:embed="rId3"/>
            <a:stretch>
              <a:fillRect/>
            </a:stretch>
          </p:blipFill>
          <p:spPr>
            <a:xfrm>
              <a:off x="511341" y="1256012"/>
              <a:ext cx="8121318" cy="3840267"/>
            </a:xfrm>
            <a:prstGeom prst="rect">
              <a:avLst/>
            </a:prstGeom>
          </p:spPr>
        </p:pic>
        <p:grpSp>
          <p:nvGrpSpPr>
            <p:cNvPr id="7" name="Grupo 6">
              <a:extLst>
                <a:ext uri="{FF2B5EF4-FFF2-40B4-BE49-F238E27FC236}">
                  <a16:creationId xmlns:a16="http://schemas.microsoft.com/office/drawing/2014/main" id="{C6E8ABBE-80B5-45F9-B1B6-9DE926498893}"/>
                </a:ext>
              </a:extLst>
            </p:cNvPr>
            <p:cNvGrpSpPr/>
            <p:nvPr/>
          </p:nvGrpSpPr>
          <p:grpSpPr>
            <a:xfrm>
              <a:off x="511339" y="1742813"/>
              <a:ext cx="8121320" cy="3651357"/>
              <a:chOff x="511339" y="1766169"/>
              <a:chExt cx="8121320" cy="3651357"/>
            </a:xfrm>
          </p:grpSpPr>
          <p:pic>
            <p:nvPicPr>
              <p:cNvPr id="8" name="Imagen 7">
                <a:extLst>
                  <a:ext uri="{FF2B5EF4-FFF2-40B4-BE49-F238E27FC236}">
                    <a16:creationId xmlns:a16="http://schemas.microsoft.com/office/drawing/2014/main" id="{88F2AF4B-98AB-490B-B27A-3DFC42B994BE}"/>
                  </a:ext>
                </a:extLst>
              </p:cNvPr>
              <p:cNvPicPr>
                <a:picLocks noChangeAspect="1"/>
              </p:cNvPicPr>
              <p:nvPr/>
            </p:nvPicPr>
            <p:blipFill>
              <a:blip r:embed="rId4"/>
              <a:stretch>
                <a:fillRect/>
              </a:stretch>
            </p:blipFill>
            <p:spPr>
              <a:xfrm>
                <a:off x="511339" y="1766169"/>
                <a:ext cx="8121319" cy="2288460"/>
              </a:xfrm>
              <a:prstGeom prst="rect">
                <a:avLst/>
              </a:prstGeom>
            </p:spPr>
          </p:pic>
          <p:pic>
            <p:nvPicPr>
              <p:cNvPr id="9" name="Imagen 8">
                <a:extLst>
                  <a:ext uri="{FF2B5EF4-FFF2-40B4-BE49-F238E27FC236}">
                    <a16:creationId xmlns:a16="http://schemas.microsoft.com/office/drawing/2014/main" id="{DC1F3C4E-BC81-4EF5-A210-5F877602FEE1}"/>
                  </a:ext>
                </a:extLst>
              </p:cNvPr>
              <p:cNvPicPr>
                <a:picLocks noChangeAspect="1"/>
              </p:cNvPicPr>
              <p:nvPr/>
            </p:nvPicPr>
            <p:blipFill>
              <a:blip r:embed="rId5"/>
              <a:stretch>
                <a:fillRect/>
              </a:stretch>
            </p:blipFill>
            <p:spPr>
              <a:xfrm>
                <a:off x="511342" y="4022712"/>
                <a:ext cx="8121317" cy="1394814"/>
              </a:xfrm>
              <a:prstGeom prst="rect">
                <a:avLst/>
              </a:prstGeom>
            </p:spPr>
          </p:pic>
        </p:grpSp>
      </p:grpSp>
    </p:spTree>
    <p:extLst>
      <p:ext uri="{BB962C8B-B14F-4D97-AF65-F5344CB8AC3E}">
        <p14:creationId xmlns:p14="http://schemas.microsoft.com/office/powerpoint/2010/main" val="3898644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MATRIZ RACI</a:t>
            </a:r>
          </a:p>
        </p:txBody>
      </p:sp>
    </p:spTree>
    <p:custDataLst>
      <p:tags r:id="rId1"/>
    </p:custDataLst>
    <p:extLst>
      <p:ext uri="{BB962C8B-B14F-4D97-AF65-F5344CB8AC3E}">
        <p14:creationId xmlns:p14="http://schemas.microsoft.com/office/powerpoint/2010/main" val="372346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MATRIZ RACI</a:t>
            </a:r>
          </a:p>
        </p:txBody>
      </p:sp>
      <p:pic>
        <p:nvPicPr>
          <p:cNvPr id="3" name="Imagen 2">
            <a:extLst>
              <a:ext uri="{FF2B5EF4-FFF2-40B4-BE49-F238E27FC236}">
                <a16:creationId xmlns:a16="http://schemas.microsoft.com/office/drawing/2014/main" id="{437928BE-6F74-47EF-B50F-F2336265C2F1}"/>
              </a:ext>
            </a:extLst>
          </p:cNvPr>
          <p:cNvPicPr>
            <a:picLocks noChangeAspect="1"/>
          </p:cNvPicPr>
          <p:nvPr/>
        </p:nvPicPr>
        <p:blipFill>
          <a:blip r:embed="rId3"/>
          <a:stretch>
            <a:fillRect/>
          </a:stretch>
        </p:blipFill>
        <p:spPr>
          <a:xfrm>
            <a:off x="2049019" y="2162628"/>
            <a:ext cx="4811488" cy="2634344"/>
          </a:xfrm>
          <a:prstGeom prst="rect">
            <a:avLst/>
          </a:prstGeom>
        </p:spPr>
      </p:pic>
      <p:sp>
        <p:nvSpPr>
          <p:cNvPr id="10" name="object 7">
            <a:extLst>
              <a:ext uri="{FF2B5EF4-FFF2-40B4-BE49-F238E27FC236}">
                <a16:creationId xmlns:a16="http://schemas.microsoft.com/office/drawing/2014/main" id="{B16E9277-1E87-4EC2-9079-DBA01F08A6A6}"/>
              </a:ext>
            </a:extLst>
          </p:cNvPr>
          <p:cNvSpPr txBox="1"/>
          <p:nvPr/>
        </p:nvSpPr>
        <p:spPr>
          <a:xfrm>
            <a:off x="407875" y="822849"/>
            <a:ext cx="8093776" cy="984885"/>
          </a:xfrm>
          <a:prstGeom prst="rect">
            <a:avLst/>
          </a:prstGeom>
        </p:spPr>
        <p:txBody>
          <a:bodyPr vert="horz" wrap="square" lIns="0" tIns="0" rIns="0" bIns="0" rtlCol="0">
            <a:spAutoFit/>
          </a:bodyPr>
          <a:lstStyle/>
          <a:p>
            <a:pPr algn="just"/>
            <a:r>
              <a:rPr lang="es-MX" sz="1600" dirty="0"/>
              <a:t>La matriz de asignación de responsabilidades (RACI por las iniciales de los tipos de responsabilidad) se utiliza generalmente en la gestión de proyectos para relacionar actividades con recursos (individuos o equipos de trabajo). De esta manera se logra asegurar que cada uno de los componentes del alcance esté asignado a una persona o a un equipo. </a:t>
            </a:r>
          </a:p>
        </p:txBody>
      </p:sp>
    </p:spTree>
    <p:extLst>
      <p:ext uri="{BB962C8B-B14F-4D97-AF65-F5344CB8AC3E}">
        <p14:creationId xmlns:p14="http://schemas.microsoft.com/office/powerpoint/2010/main" val="1360696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MATRIZ RACI</a:t>
            </a:r>
          </a:p>
        </p:txBody>
      </p:sp>
      <p:graphicFrame>
        <p:nvGraphicFramePr>
          <p:cNvPr id="6" name="Tabla 5">
            <a:extLst>
              <a:ext uri="{FF2B5EF4-FFF2-40B4-BE49-F238E27FC236}">
                <a16:creationId xmlns:a16="http://schemas.microsoft.com/office/drawing/2014/main" id="{23084D73-3008-4AE8-9E81-8D75BD3EF5D9}"/>
              </a:ext>
            </a:extLst>
          </p:cNvPr>
          <p:cNvGraphicFramePr>
            <a:graphicFrameLocks noGrp="1"/>
          </p:cNvGraphicFramePr>
          <p:nvPr>
            <p:extLst>
              <p:ext uri="{D42A27DB-BD31-4B8C-83A1-F6EECF244321}">
                <p14:modId xmlns:p14="http://schemas.microsoft.com/office/powerpoint/2010/main" val="1641234778"/>
              </p:ext>
            </p:extLst>
          </p:nvPr>
        </p:nvGraphicFramePr>
        <p:xfrm>
          <a:off x="511987" y="1272580"/>
          <a:ext cx="8120026" cy="3605068"/>
        </p:xfrm>
        <a:graphic>
          <a:graphicData uri="http://schemas.openxmlformats.org/drawingml/2006/table">
            <a:tbl>
              <a:tblPr/>
              <a:tblGrid>
                <a:gridCol w="589023">
                  <a:extLst>
                    <a:ext uri="{9D8B030D-6E8A-4147-A177-3AD203B41FA5}">
                      <a16:colId xmlns:a16="http://schemas.microsoft.com/office/drawing/2014/main" val="1890612241"/>
                    </a:ext>
                  </a:extLst>
                </a:gridCol>
                <a:gridCol w="1224583">
                  <a:extLst>
                    <a:ext uri="{9D8B030D-6E8A-4147-A177-3AD203B41FA5}">
                      <a16:colId xmlns:a16="http://schemas.microsoft.com/office/drawing/2014/main" val="1346250243"/>
                    </a:ext>
                  </a:extLst>
                </a:gridCol>
                <a:gridCol w="1196544">
                  <a:extLst>
                    <a:ext uri="{9D8B030D-6E8A-4147-A177-3AD203B41FA5}">
                      <a16:colId xmlns:a16="http://schemas.microsoft.com/office/drawing/2014/main" val="2686873376"/>
                    </a:ext>
                  </a:extLst>
                </a:gridCol>
                <a:gridCol w="5109876">
                  <a:extLst>
                    <a:ext uri="{9D8B030D-6E8A-4147-A177-3AD203B41FA5}">
                      <a16:colId xmlns:a16="http://schemas.microsoft.com/office/drawing/2014/main" val="1648637619"/>
                    </a:ext>
                  </a:extLst>
                </a:gridCol>
              </a:tblGrid>
              <a:tr h="105885">
                <a:tc gridSpan="3">
                  <a:txBody>
                    <a:bodyPr/>
                    <a:lstStyle/>
                    <a:p>
                      <a:pPr algn="ctr"/>
                      <a:r>
                        <a:rPr lang="es-PE" sz="900" b="1" dirty="0">
                          <a:effectLst/>
                        </a:rPr>
                        <a:t>Rol</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tx2">
                        <a:lumMod val="40000"/>
                        <a:lumOff val="60000"/>
                      </a:schemeClr>
                    </a:solidFill>
                  </a:tcPr>
                </a:tc>
                <a:tc hMerge="1">
                  <a:txBody>
                    <a:bodyPr/>
                    <a:lstStyle/>
                    <a:p>
                      <a:endParaRPr lang="es-PE"/>
                    </a:p>
                  </a:txBody>
                  <a:tcPr/>
                </a:tc>
                <a:tc hMerge="1">
                  <a:txBody>
                    <a:bodyPr/>
                    <a:lstStyle/>
                    <a:p>
                      <a:endParaRPr lang="es-PE"/>
                    </a:p>
                  </a:txBody>
                  <a:tcPr/>
                </a:tc>
                <a:tc>
                  <a:txBody>
                    <a:bodyPr/>
                    <a:lstStyle/>
                    <a:p>
                      <a:pPr algn="ctr"/>
                      <a:r>
                        <a:rPr lang="es-PE" sz="900" b="1" dirty="0">
                          <a:effectLst/>
                        </a:rPr>
                        <a:t>Descripción</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917641651"/>
                  </a:ext>
                </a:extLst>
              </a:tr>
              <a:tr h="895388">
                <a:tc>
                  <a:txBody>
                    <a:bodyPr/>
                    <a:lstStyle/>
                    <a:p>
                      <a:pPr algn="ctr"/>
                      <a:r>
                        <a:rPr lang="es-PE" sz="1350" b="1" dirty="0">
                          <a:effectLst/>
                        </a:rPr>
                        <a:t>R</a:t>
                      </a:r>
                      <a:endParaRPr lang="es-PE" sz="135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tx2">
                        <a:lumMod val="40000"/>
                        <a:lumOff val="60000"/>
                      </a:schemeClr>
                    </a:solidFill>
                  </a:tcPr>
                </a:tc>
                <a:tc>
                  <a:txBody>
                    <a:bodyPr/>
                    <a:lstStyle/>
                    <a:p>
                      <a:pPr algn="ctr"/>
                      <a:r>
                        <a:rPr lang="es-PE" sz="1350" i="1" dirty="0">
                          <a:effectLst/>
                        </a:rPr>
                        <a:t>Responsible (R)</a:t>
                      </a:r>
                      <a:endParaRPr lang="es-PE" sz="135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s-PE" sz="1350" b="1" dirty="0">
                          <a:effectLst/>
                        </a:rPr>
                        <a:t>Responsable</a:t>
                      </a:r>
                      <a:r>
                        <a:rPr lang="es-PE" sz="1350" dirty="0">
                          <a:effectLst/>
                        </a:rPr>
                        <a:t> Ejecutor Comprometido</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s-MX" sz="1350" b="1" dirty="0">
                          <a:effectLst/>
                        </a:rPr>
                        <a:t>Hace la tarea</a:t>
                      </a:r>
                      <a:r>
                        <a:rPr lang="es-MX" sz="1350" dirty="0">
                          <a:effectLst/>
                        </a:rPr>
                        <a:t>. Este rol corresponde a quien efectivamente es encargado o encargados de realizar la tarea o actividad, puede haber varios (R) para una actividad (se recomienda que trate de minimizar la cantidad de involucrados de tipo “R”)</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817613377"/>
                  </a:ext>
                </a:extLst>
              </a:tr>
              <a:tr h="730929">
                <a:tc>
                  <a:txBody>
                    <a:bodyPr/>
                    <a:lstStyle/>
                    <a:p>
                      <a:pPr algn="ctr"/>
                      <a:r>
                        <a:rPr lang="es-PE" sz="1350" b="1" dirty="0">
                          <a:effectLst/>
                        </a:rPr>
                        <a:t>A</a:t>
                      </a:r>
                      <a:endParaRPr lang="es-PE" sz="135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tx2">
                        <a:lumMod val="40000"/>
                        <a:lumOff val="60000"/>
                      </a:schemeClr>
                    </a:solidFill>
                  </a:tcPr>
                </a:tc>
                <a:tc>
                  <a:txBody>
                    <a:bodyPr/>
                    <a:lstStyle/>
                    <a:p>
                      <a:pPr algn="ctr"/>
                      <a:r>
                        <a:rPr lang="es-PE" sz="1350" i="1" dirty="0">
                          <a:effectLst/>
                        </a:rPr>
                        <a:t>Accountable (A)</a:t>
                      </a:r>
                      <a:endParaRPr lang="es-PE" sz="135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s-PE" sz="1350" b="1" dirty="0">
                          <a:effectLst/>
                        </a:rPr>
                        <a:t>Autoridad</a:t>
                      </a:r>
                    </a:p>
                    <a:p>
                      <a:pPr algn="ctr"/>
                      <a:r>
                        <a:rPr lang="es-PE" sz="1350" dirty="0">
                          <a:effectLst/>
                        </a:rPr>
                        <a:t>Persona a cargo Aprobador </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s-MX" sz="1350" dirty="0">
                          <a:effectLst/>
                        </a:rPr>
                        <a:t>Propietario de la tarea. Esta persona o rol tiene la responsabilidad de que las tareas se realicen correctamente, </a:t>
                      </a:r>
                      <a:r>
                        <a:rPr lang="es-MX" sz="1350" b="1" dirty="0">
                          <a:effectLst/>
                        </a:rPr>
                        <a:t>no hace el trabajo</a:t>
                      </a:r>
                      <a:r>
                        <a:rPr lang="es-MX" sz="1350" dirty="0">
                          <a:effectLst/>
                        </a:rPr>
                        <a:t>, pero es quién debe asegurarse o certificar que la tarea sea finalizada, es el que debe rendir cuentas sobre su ejecución.</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4174913109"/>
                  </a:ext>
                </a:extLst>
              </a:tr>
              <a:tr h="347192">
                <a:tc>
                  <a:txBody>
                    <a:bodyPr/>
                    <a:lstStyle/>
                    <a:p>
                      <a:pPr algn="ctr"/>
                      <a:r>
                        <a:rPr lang="es-PE" sz="1350" b="1" dirty="0">
                          <a:effectLst/>
                        </a:rPr>
                        <a:t>C</a:t>
                      </a:r>
                      <a:endParaRPr lang="es-PE" sz="135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tx2">
                        <a:lumMod val="40000"/>
                        <a:lumOff val="60000"/>
                      </a:schemeClr>
                    </a:solidFill>
                  </a:tcPr>
                </a:tc>
                <a:tc>
                  <a:txBody>
                    <a:bodyPr/>
                    <a:lstStyle/>
                    <a:p>
                      <a:pPr algn="ctr"/>
                      <a:r>
                        <a:rPr lang="es-PE" sz="1350" i="1" dirty="0">
                          <a:effectLst/>
                        </a:rPr>
                        <a:t>Consulted (C)</a:t>
                      </a:r>
                      <a:endParaRPr lang="es-PE" sz="135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s-PE" sz="1350" b="1" dirty="0">
                          <a:effectLst/>
                        </a:rPr>
                        <a:t>Consultado</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s-MX" sz="1350" dirty="0">
                          <a:effectLst/>
                        </a:rPr>
                        <a:t>Esta persona o grupo proporcionará información útil para completar la tarea o entrega. Debe haber comunicación bidireccional entre los Responsables (R) y los Consultados (C).</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06104599"/>
                  </a:ext>
                </a:extLst>
              </a:tr>
              <a:tr h="511650">
                <a:tc>
                  <a:txBody>
                    <a:bodyPr/>
                    <a:lstStyle/>
                    <a:p>
                      <a:pPr algn="ctr"/>
                      <a:r>
                        <a:rPr lang="es-PE" sz="1350" b="1" dirty="0">
                          <a:effectLst/>
                        </a:rPr>
                        <a:t>I</a:t>
                      </a:r>
                      <a:endParaRPr lang="es-PE" sz="135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tx2">
                        <a:lumMod val="40000"/>
                        <a:lumOff val="60000"/>
                      </a:schemeClr>
                    </a:solidFill>
                  </a:tcPr>
                </a:tc>
                <a:tc>
                  <a:txBody>
                    <a:bodyPr/>
                    <a:lstStyle/>
                    <a:p>
                      <a:pPr algn="ctr"/>
                      <a:r>
                        <a:rPr lang="es-PE" sz="1350" i="1" dirty="0">
                          <a:effectLst/>
                        </a:rPr>
                        <a:t>Informed (I) </a:t>
                      </a:r>
                      <a:endParaRPr lang="es-PE" sz="135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s-PE" sz="1350" b="1" dirty="0">
                          <a:effectLst/>
                        </a:rPr>
                        <a:t>Informado</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s-MX" sz="1350" b="1" dirty="0">
                          <a:effectLst/>
                        </a:rPr>
                        <a:t>Se mantiene al tanto</a:t>
                      </a:r>
                      <a:r>
                        <a:rPr lang="es-MX" sz="1350" dirty="0">
                          <a:effectLst/>
                        </a:rPr>
                        <a:t>. Este rol debe ser informado sobre el avance y los resultados de la ejecución de la tarea, no se les pide comentarios o revisiones pero </a:t>
                      </a:r>
                      <a:r>
                        <a:rPr lang="es-MX" sz="1350" b="1" dirty="0">
                          <a:effectLst/>
                        </a:rPr>
                        <a:t>pueden verse afectados por los resultados</a:t>
                      </a:r>
                      <a:r>
                        <a:rPr lang="es-MX" sz="1350" dirty="0">
                          <a:effectLst/>
                        </a:rPr>
                        <a:t>. A diferencia del consultado (C), la comunicación con los Informados (I) es unidireccional.</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20066981"/>
                  </a:ext>
                </a:extLst>
              </a:tr>
            </a:tbl>
          </a:graphicData>
        </a:graphic>
      </p:graphicFrame>
      <p:sp>
        <p:nvSpPr>
          <p:cNvPr id="7" name="object 7">
            <a:extLst>
              <a:ext uri="{FF2B5EF4-FFF2-40B4-BE49-F238E27FC236}">
                <a16:creationId xmlns:a16="http://schemas.microsoft.com/office/drawing/2014/main" id="{74E98839-43FD-4F5B-8B41-2165161C6D0D}"/>
              </a:ext>
            </a:extLst>
          </p:cNvPr>
          <p:cNvSpPr txBox="1"/>
          <p:nvPr/>
        </p:nvSpPr>
        <p:spPr>
          <a:xfrm>
            <a:off x="355222" y="840032"/>
            <a:ext cx="2031139"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1. ROLES RACI:</a:t>
            </a:r>
          </a:p>
        </p:txBody>
      </p:sp>
    </p:spTree>
    <p:extLst>
      <p:ext uri="{BB962C8B-B14F-4D97-AF65-F5344CB8AC3E}">
        <p14:creationId xmlns:p14="http://schemas.microsoft.com/office/powerpoint/2010/main" val="3424203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MATRIZ RACI</a:t>
            </a:r>
          </a:p>
        </p:txBody>
      </p:sp>
      <p:sp>
        <p:nvSpPr>
          <p:cNvPr id="3" name="object 7">
            <a:extLst>
              <a:ext uri="{FF2B5EF4-FFF2-40B4-BE49-F238E27FC236}">
                <a16:creationId xmlns:a16="http://schemas.microsoft.com/office/drawing/2014/main" id="{E6D759B4-D4A8-41AC-B372-3AD7F3BC8B9E}"/>
              </a:ext>
            </a:extLst>
          </p:cNvPr>
          <p:cNvSpPr txBox="1"/>
          <p:nvPr/>
        </p:nvSpPr>
        <p:spPr>
          <a:xfrm>
            <a:off x="407875" y="843726"/>
            <a:ext cx="6812982" cy="3655103"/>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2. REGLAS A TENER EN CUENTA EN LA MATRIZ RACI:</a:t>
            </a:r>
          </a:p>
          <a:p>
            <a:pPr marL="180975">
              <a:buSzPct val="100000"/>
              <a:tabLst>
                <a:tab pos="121285" algn="l"/>
              </a:tabLst>
            </a:pPr>
            <a:endParaRPr lang="es-PE" sz="1400" b="1" spc="-10" dirty="0">
              <a:solidFill>
                <a:srgbClr val="262626"/>
              </a:solidFill>
              <a:cs typeface="Source Sans Pro"/>
            </a:endParaRPr>
          </a:p>
          <a:p>
            <a:pPr marL="720725" indent="-285750" algn="just">
              <a:lnSpc>
                <a:spcPct val="110000"/>
              </a:lnSpc>
              <a:spcAft>
                <a:spcPts val="2000"/>
              </a:spcAft>
              <a:buFont typeface="Wingdings" panose="05000000000000000000" pitchFamily="2" charset="2"/>
              <a:buChar char="§"/>
            </a:pPr>
            <a:r>
              <a:rPr lang="es-PE" sz="1600" dirty="0"/>
              <a:t>Al menos debe haber un Responsable (R) dentro de una matriz RACI.  </a:t>
            </a:r>
          </a:p>
          <a:p>
            <a:pPr marL="720725" indent="-285750" algn="just">
              <a:lnSpc>
                <a:spcPct val="110000"/>
              </a:lnSpc>
              <a:spcAft>
                <a:spcPts val="2000"/>
              </a:spcAft>
              <a:buFont typeface="Wingdings" panose="05000000000000000000" pitchFamily="2" charset="2"/>
              <a:buChar char="§"/>
            </a:pPr>
            <a:r>
              <a:rPr lang="es-PE" sz="1600" dirty="0" smtClean="0"/>
              <a:t>Sólo </a:t>
            </a:r>
            <a:r>
              <a:rPr lang="es-PE" sz="1600" dirty="0"/>
              <a:t>puede haber una (A) Autoridad (Aprobador) por cada tarea dentro de una matriz RACI.</a:t>
            </a:r>
          </a:p>
          <a:p>
            <a:pPr marL="720725" indent="-285750" algn="just">
              <a:lnSpc>
                <a:spcPct val="110000"/>
              </a:lnSpc>
              <a:spcAft>
                <a:spcPts val="2000"/>
              </a:spcAft>
              <a:buFont typeface="Wingdings" panose="05000000000000000000" pitchFamily="2" charset="2"/>
              <a:buChar char="§"/>
            </a:pPr>
            <a:r>
              <a:rPr lang="es-PE" sz="1600" dirty="0"/>
              <a:t>Un mismo recurso puede tener más de un rol para una tarea, por ejemplo puede ser el encargado (A) y responsable (R) del mismo, en cuyo caso se anotará A/R. </a:t>
            </a:r>
          </a:p>
          <a:p>
            <a:pPr marL="720725" indent="-285750" algn="just">
              <a:lnSpc>
                <a:spcPct val="110000"/>
              </a:lnSpc>
              <a:spcAft>
                <a:spcPts val="2000"/>
              </a:spcAft>
              <a:buFont typeface="Wingdings" panose="05000000000000000000" pitchFamily="2" charset="2"/>
              <a:buChar char="§"/>
            </a:pPr>
            <a:r>
              <a:rPr lang="es-PE" sz="1600" dirty="0"/>
              <a:t>Puedes incluir tantos Consultados (C) como necesites en una matriz RACI, con referencia al Informado (I) puede haber uno y varios dependiendo del caso.</a:t>
            </a:r>
          </a:p>
        </p:txBody>
      </p:sp>
      <p:pic>
        <p:nvPicPr>
          <p:cNvPr id="4" name="Imagen 3">
            <a:extLst>
              <a:ext uri="{FF2B5EF4-FFF2-40B4-BE49-F238E27FC236}">
                <a16:creationId xmlns:a16="http://schemas.microsoft.com/office/drawing/2014/main" id="{BA8319FE-7861-48C4-BA81-AA92C356F4FA}"/>
              </a:ext>
            </a:extLst>
          </p:cNvPr>
          <p:cNvPicPr>
            <a:picLocks noChangeAspect="1"/>
          </p:cNvPicPr>
          <p:nvPr/>
        </p:nvPicPr>
        <p:blipFill>
          <a:blip r:embed="rId3"/>
          <a:stretch>
            <a:fillRect/>
          </a:stretch>
        </p:blipFill>
        <p:spPr>
          <a:xfrm>
            <a:off x="7677683" y="1131887"/>
            <a:ext cx="933450" cy="3552825"/>
          </a:xfrm>
          <a:prstGeom prst="rect">
            <a:avLst/>
          </a:prstGeom>
        </p:spPr>
      </p:pic>
    </p:spTree>
    <p:extLst>
      <p:ext uri="{BB962C8B-B14F-4D97-AF65-F5344CB8AC3E}">
        <p14:creationId xmlns:p14="http://schemas.microsoft.com/office/powerpoint/2010/main" val="2316260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MATRIZ RACI</a:t>
            </a:r>
          </a:p>
        </p:txBody>
      </p:sp>
      <p:sp>
        <p:nvSpPr>
          <p:cNvPr id="3" name="object 7">
            <a:extLst>
              <a:ext uri="{FF2B5EF4-FFF2-40B4-BE49-F238E27FC236}">
                <a16:creationId xmlns:a16="http://schemas.microsoft.com/office/drawing/2014/main" id="{770A68D0-B063-4340-A894-9BC9344D420A}"/>
              </a:ext>
            </a:extLst>
          </p:cNvPr>
          <p:cNvSpPr txBox="1"/>
          <p:nvPr/>
        </p:nvSpPr>
        <p:spPr>
          <a:xfrm>
            <a:off x="355222" y="840032"/>
            <a:ext cx="3157235"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3. EJEMPLO DE MATRIZ RACI:</a:t>
            </a:r>
          </a:p>
        </p:txBody>
      </p:sp>
      <p:pic>
        <p:nvPicPr>
          <p:cNvPr id="4" name="Imagen 3">
            <a:extLst>
              <a:ext uri="{FF2B5EF4-FFF2-40B4-BE49-F238E27FC236}">
                <a16:creationId xmlns:a16="http://schemas.microsoft.com/office/drawing/2014/main" id="{C229FEA9-EAC6-4E5F-B847-64210C423236}"/>
              </a:ext>
            </a:extLst>
          </p:cNvPr>
          <p:cNvPicPr>
            <a:picLocks noChangeAspect="1"/>
          </p:cNvPicPr>
          <p:nvPr/>
        </p:nvPicPr>
        <p:blipFill>
          <a:blip r:embed="rId3"/>
          <a:stretch>
            <a:fillRect/>
          </a:stretch>
        </p:blipFill>
        <p:spPr>
          <a:xfrm>
            <a:off x="717655" y="1251512"/>
            <a:ext cx="7708690" cy="3838110"/>
          </a:xfrm>
          <a:prstGeom prst="rect">
            <a:avLst/>
          </a:prstGeom>
        </p:spPr>
      </p:pic>
    </p:spTree>
    <p:extLst>
      <p:ext uri="{BB962C8B-B14F-4D97-AF65-F5344CB8AC3E}">
        <p14:creationId xmlns:p14="http://schemas.microsoft.com/office/powerpoint/2010/main" val="2867535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MATRIZ RACI</a:t>
            </a:r>
          </a:p>
        </p:txBody>
      </p:sp>
      <p:sp>
        <p:nvSpPr>
          <p:cNvPr id="3" name="object 7">
            <a:extLst>
              <a:ext uri="{FF2B5EF4-FFF2-40B4-BE49-F238E27FC236}">
                <a16:creationId xmlns:a16="http://schemas.microsoft.com/office/drawing/2014/main" id="{83945716-A232-46E1-BAAD-BFE50CA338B2}"/>
              </a:ext>
            </a:extLst>
          </p:cNvPr>
          <p:cNvSpPr txBox="1"/>
          <p:nvPr/>
        </p:nvSpPr>
        <p:spPr>
          <a:xfrm>
            <a:off x="355222" y="840032"/>
            <a:ext cx="3157235"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4. MATRIZ RASCI:</a:t>
            </a:r>
          </a:p>
        </p:txBody>
      </p:sp>
      <p:sp>
        <p:nvSpPr>
          <p:cNvPr id="4" name="object 7">
            <a:extLst>
              <a:ext uri="{FF2B5EF4-FFF2-40B4-BE49-F238E27FC236}">
                <a16:creationId xmlns:a16="http://schemas.microsoft.com/office/drawing/2014/main" id="{3792CA14-8D46-490F-B0D6-D39215B7ADC6}"/>
              </a:ext>
            </a:extLst>
          </p:cNvPr>
          <p:cNvSpPr txBox="1"/>
          <p:nvPr/>
        </p:nvSpPr>
        <p:spPr>
          <a:xfrm>
            <a:off x="370092" y="1191748"/>
            <a:ext cx="7968982" cy="492443"/>
          </a:xfrm>
          <a:prstGeom prst="rect">
            <a:avLst/>
          </a:prstGeom>
        </p:spPr>
        <p:txBody>
          <a:bodyPr vert="horz" wrap="square" lIns="0" tIns="0" rIns="0" bIns="0" rtlCol="0">
            <a:spAutoFit/>
          </a:bodyPr>
          <a:lstStyle/>
          <a:p>
            <a:pPr marL="176213" algn="just"/>
            <a:r>
              <a:rPr lang="es-MX" sz="1600" dirty="0"/>
              <a:t>La matriz RASCI es una variación de la RACI, la única diferencia es la adición de un nuevo rol: el de apoyo (S).</a:t>
            </a:r>
          </a:p>
        </p:txBody>
      </p:sp>
      <p:graphicFrame>
        <p:nvGraphicFramePr>
          <p:cNvPr id="6" name="Tabla 5">
            <a:extLst>
              <a:ext uri="{FF2B5EF4-FFF2-40B4-BE49-F238E27FC236}">
                <a16:creationId xmlns:a16="http://schemas.microsoft.com/office/drawing/2014/main" id="{6FAB83D7-FBAC-4571-BDA3-E3FDCD77E560}"/>
              </a:ext>
            </a:extLst>
          </p:cNvPr>
          <p:cNvGraphicFramePr>
            <a:graphicFrameLocks noGrp="1"/>
          </p:cNvGraphicFramePr>
          <p:nvPr>
            <p:extLst>
              <p:ext uri="{D42A27DB-BD31-4B8C-83A1-F6EECF244321}">
                <p14:modId xmlns:p14="http://schemas.microsoft.com/office/powerpoint/2010/main" val="4224657919"/>
              </p:ext>
            </p:extLst>
          </p:nvPr>
        </p:nvGraphicFramePr>
        <p:xfrm>
          <a:off x="568937" y="1888576"/>
          <a:ext cx="7822176" cy="1463040"/>
        </p:xfrm>
        <a:graphic>
          <a:graphicData uri="http://schemas.openxmlformats.org/drawingml/2006/table">
            <a:tbl>
              <a:tblPr/>
              <a:tblGrid>
                <a:gridCol w="1082731">
                  <a:extLst>
                    <a:ext uri="{9D8B030D-6E8A-4147-A177-3AD203B41FA5}">
                      <a16:colId xmlns:a16="http://schemas.microsoft.com/office/drawing/2014/main" val="2192235586"/>
                    </a:ext>
                  </a:extLst>
                </a:gridCol>
                <a:gridCol w="1275835">
                  <a:extLst>
                    <a:ext uri="{9D8B030D-6E8A-4147-A177-3AD203B41FA5}">
                      <a16:colId xmlns:a16="http://schemas.microsoft.com/office/drawing/2014/main" val="4281188800"/>
                    </a:ext>
                  </a:extLst>
                </a:gridCol>
                <a:gridCol w="1437236">
                  <a:extLst>
                    <a:ext uri="{9D8B030D-6E8A-4147-A177-3AD203B41FA5}">
                      <a16:colId xmlns:a16="http://schemas.microsoft.com/office/drawing/2014/main" val="1666373068"/>
                    </a:ext>
                  </a:extLst>
                </a:gridCol>
                <a:gridCol w="4026374">
                  <a:extLst>
                    <a:ext uri="{9D8B030D-6E8A-4147-A177-3AD203B41FA5}">
                      <a16:colId xmlns:a16="http://schemas.microsoft.com/office/drawing/2014/main" val="692191849"/>
                    </a:ext>
                  </a:extLst>
                </a:gridCol>
              </a:tblGrid>
              <a:tr h="0">
                <a:tc gridSpan="3">
                  <a:txBody>
                    <a:bodyPr/>
                    <a:lstStyle/>
                    <a:p>
                      <a:pPr algn="ctr"/>
                      <a:r>
                        <a:rPr lang="es-PE" sz="1400" b="1" dirty="0">
                          <a:effectLst/>
                        </a:rPr>
                        <a:t>Rol</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60000"/>
                        <a:lumOff val="40000"/>
                      </a:schemeClr>
                    </a:solidFill>
                  </a:tcPr>
                </a:tc>
                <a:tc hMerge="1">
                  <a:txBody>
                    <a:bodyPr/>
                    <a:lstStyle/>
                    <a:p>
                      <a:endParaRPr lang="es-PE"/>
                    </a:p>
                  </a:txBody>
                  <a:tcPr/>
                </a:tc>
                <a:tc hMerge="1">
                  <a:txBody>
                    <a:bodyPr/>
                    <a:lstStyle/>
                    <a:p>
                      <a:endParaRPr lang="es-PE"/>
                    </a:p>
                  </a:txBody>
                  <a:tcPr/>
                </a:tc>
                <a:tc>
                  <a:txBody>
                    <a:bodyPr/>
                    <a:lstStyle/>
                    <a:p>
                      <a:pPr algn="ctr"/>
                      <a:r>
                        <a:rPr lang="es-PE" sz="1400" b="1" dirty="0">
                          <a:effectLst/>
                        </a:rPr>
                        <a:t>Descripción</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4100492681"/>
                  </a:ext>
                </a:extLst>
              </a:tr>
              <a:tr h="0">
                <a:tc>
                  <a:txBody>
                    <a:bodyPr/>
                    <a:lstStyle/>
                    <a:p>
                      <a:pPr algn="ctr"/>
                      <a:r>
                        <a:rPr lang="es-PE" sz="1400" b="1" dirty="0">
                          <a:effectLst/>
                        </a:rPr>
                        <a:t>S</a:t>
                      </a:r>
                      <a:endParaRPr lang="es-PE" sz="1400" dirty="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accent4">
                        <a:lumMod val="60000"/>
                        <a:lumOff val="40000"/>
                      </a:schemeClr>
                    </a:solidFill>
                  </a:tcPr>
                </a:tc>
                <a:tc>
                  <a:txBody>
                    <a:bodyPr/>
                    <a:lstStyle/>
                    <a:p>
                      <a:pPr algn="ctr"/>
                      <a:r>
                        <a:rPr lang="es-PE" sz="1400" i="1" dirty="0">
                          <a:effectLst/>
                        </a:rPr>
                        <a:t>Support</a:t>
                      </a:r>
                      <a:endParaRPr lang="es-PE" sz="1400" dirty="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s-PE" sz="1400" dirty="0">
                          <a:effectLst/>
                        </a:rPr>
                        <a:t>Apoyo</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marL="285750" indent="-285750">
                        <a:buFont typeface="Arial" panose="020B0604020202020204" pitchFamily="34" charset="0"/>
                        <a:buChar char="•"/>
                      </a:pPr>
                      <a:r>
                        <a:rPr lang="es-MX" sz="1400" dirty="0">
                          <a:effectLst/>
                        </a:rPr>
                        <a:t>Son recursos asignados al Responsable (R) para la consecución de la tarea. </a:t>
                      </a:r>
                    </a:p>
                    <a:p>
                      <a:pPr marL="285750" indent="-285750">
                        <a:buFont typeface="Arial" panose="020B0604020202020204" pitchFamily="34" charset="0"/>
                        <a:buChar char="•"/>
                      </a:pPr>
                      <a:endParaRPr lang="es-MX" sz="1400" dirty="0">
                        <a:effectLst/>
                      </a:endParaRPr>
                    </a:p>
                    <a:p>
                      <a:pPr marL="285750" indent="-285750">
                        <a:buFont typeface="Arial" panose="020B0604020202020204" pitchFamily="34" charset="0"/>
                        <a:buChar char="•"/>
                      </a:pPr>
                      <a:r>
                        <a:rPr lang="es-MX" sz="1400" dirty="0">
                          <a:effectLst/>
                        </a:rPr>
                        <a:t>A diferencia del Consultado (C), el rol de apoyo (S) trabaja en la tarea.</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884021736"/>
                  </a:ext>
                </a:extLst>
              </a:tr>
            </a:tbl>
          </a:graphicData>
        </a:graphic>
      </p:graphicFrame>
      <p:pic>
        <p:nvPicPr>
          <p:cNvPr id="7" name="Imagen 6">
            <a:extLst>
              <a:ext uri="{FF2B5EF4-FFF2-40B4-BE49-F238E27FC236}">
                <a16:creationId xmlns:a16="http://schemas.microsoft.com/office/drawing/2014/main" id="{A318F34D-D6F3-4153-8813-F5AEEA0219A5}"/>
              </a:ext>
            </a:extLst>
          </p:cNvPr>
          <p:cNvPicPr>
            <a:picLocks noChangeAspect="1"/>
          </p:cNvPicPr>
          <p:nvPr/>
        </p:nvPicPr>
        <p:blipFill>
          <a:blip r:embed="rId3"/>
          <a:stretch>
            <a:fillRect/>
          </a:stretch>
        </p:blipFill>
        <p:spPr>
          <a:xfrm>
            <a:off x="2145947" y="3851702"/>
            <a:ext cx="4854695" cy="766531"/>
          </a:xfrm>
          <a:prstGeom prst="rect">
            <a:avLst/>
          </a:prstGeom>
        </p:spPr>
      </p:pic>
    </p:spTree>
    <p:extLst>
      <p:ext uri="{BB962C8B-B14F-4D97-AF65-F5344CB8AC3E}">
        <p14:creationId xmlns:p14="http://schemas.microsoft.com/office/powerpoint/2010/main" val="995389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MATRIZ RACI</a:t>
            </a:r>
          </a:p>
        </p:txBody>
      </p:sp>
      <p:sp>
        <p:nvSpPr>
          <p:cNvPr id="3" name="object 7">
            <a:extLst>
              <a:ext uri="{FF2B5EF4-FFF2-40B4-BE49-F238E27FC236}">
                <a16:creationId xmlns:a16="http://schemas.microsoft.com/office/drawing/2014/main" id="{A29AEAC1-FD1A-47EE-A350-435761D90BFE}"/>
              </a:ext>
            </a:extLst>
          </p:cNvPr>
          <p:cNvSpPr txBox="1"/>
          <p:nvPr/>
        </p:nvSpPr>
        <p:spPr>
          <a:xfrm>
            <a:off x="355222" y="840032"/>
            <a:ext cx="3157235" cy="246221"/>
          </a:xfrm>
          <a:prstGeom prst="rect">
            <a:avLst/>
          </a:prstGeom>
        </p:spPr>
        <p:txBody>
          <a:bodyPr vert="horz" wrap="square" lIns="0" tIns="0" rIns="0" bIns="0" rtlCol="0">
            <a:spAutoFit/>
          </a:bodyPr>
          <a:lstStyle/>
          <a:p>
            <a:pPr marL="180975">
              <a:buSzPct val="100000"/>
              <a:tabLst>
                <a:tab pos="121285" algn="l"/>
              </a:tabLst>
            </a:pPr>
            <a:r>
              <a:rPr lang="es-PE" sz="1600" b="1" spc="-10" dirty="0">
                <a:solidFill>
                  <a:srgbClr val="262626"/>
                </a:solidFill>
                <a:cs typeface="Source Sans Pro"/>
              </a:rPr>
              <a:t>5. MATRIZ RACI-VS:</a:t>
            </a:r>
          </a:p>
        </p:txBody>
      </p:sp>
      <p:sp>
        <p:nvSpPr>
          <p:cNvPr id="4" name="object 7">
            <a:extLst>
              <a:ext uri="{FF2B5EF4-FFF2-40B4-BE49-F238E27FC236}">
                <a16:creationId xmlns:a16="http://schemas.microsoft.com/office/drawing/2014/main" id="{B6B98780-0325-429F-95C0-B2264BE2BA1A}"/>
              </a:ext>
            </a:extLst>
          </p:cNvPr>
          <p:cNvSpPr txBox="1"/>
          <p:nvPr/>
        </p:nvSpPr>
        <p:spPr>
          <a:xfrm>
            <a:off x="355222" y="1251512"/>
            <a:ext cx="7968982" cy="246221"/>
          </a:xfrm>
          <a:prstGeom prst="rect">
            <a:avLst/>
          </a:prstGeom>
        </p:spPr>
        <p:txBody>
          <a:bodyPr vert="horz" wrap="square" lIns="0" tIns="0" rIns="0" bIns="0" rtlCol="0">
            <a:spAutoFit/>
          </a:bodyPr>
          <a:lstStyle/>
          <a:p>
            <a:pPr marL="176213" algn="just"/>
            <a:r>
              <a:rPr lang="es-MX" sz="1600" dirty="0"/>
              <a:t>Al igual del RASCI es una variación del RACI, los roles adicionales son:</a:t>
            </a:r>
          </a:p>
        </p:txBody>
      </p:sp>
      <p:graphicFrame>
        <p:nvGraphicFramePr>
          <p:cNvPr id="6" name="Tabla 5">
            <a:extLst>
              <a:ext uri="{FF2B5EF4-FFF2-40B4-BE49-F238E27FC236}">
                <a16:creationId xmlns:a16="http://schemas.microsoft.com/office/drawing/2014/main" id="{9BCDB75E-9BBC-49D1-A30A-70B245F4EAB6}"/>
              </a:ext>
            </a:extLst>
          </p:cNvPr>
          <p:cNvGraphicFramePr>
            <a:graphicFrameLocks noGrp="1"/>
          </p:cNvGraphicFramePr>
          <p:nvPr>
            <p:extLst>
              <p:ext uri="{D42A27DB-BD31-4B8C-83A1-F6EECF244321}">
                <p14:modId xmlns:p14="http://schemas.microsoft.com/office/powerpoint/2010/main" val="3909479857"/>
              </p:ext>
            </p:extLst>
          </p:nvPr>
        </p:nvGraphicFramePr>
        <p:xfrm>
          <a:off x="533289" y="1683745"/>
          <a:ext cx="7968981" cy="2131570"/>
        </p:xfrm>
        <a:graphic>
          <a:graphicData uri="http://schemas.openxmlformats.org/drawingml/2006/table">
            <a:tbl>
              <a:tblPr/>
              <a:tblGrid>
                <a:gridCol w="1381165">
                  <a:extLst>
                    <a:ext uri="{9D8B030D-6E8A-4147-A177-3AD203B41FA5}">
                      <a16:colId xmlns:a16="http://schemas.microsoft.com/office/drawing/2014/main" val="484492108"/>
                    </a:ext>
                  </a:extLst>
                </a:gridCol>
                <a:gridCol w="1500116">
                  <a:extLst>
                    <a:ext uri="{9D8B030D-6E8A-4147-A177-3AD203B41FA5}">
                      <a16:colId xmlns:a16="http://schemas.microsoft.com/office/drawing/2014/main" val="58902854"/>
                    </a:ext>
                  </a:extLst>
                </a:gridCol>
                <a:gridCol w="1635049">
                  <a:extLst>
                    <a:ext uri="{9D8B030D-6E8A-4147-A177-3AD203B41FA5}">
                      <a16:colId xmlns:a16="http://schemas.microsoft.com/office/drawing/2014/main" val="298943645"/>
                    </a:ext>
                  </a:extLst>
                </a:gridCol>
                <a:gridCol w="3452651">
                  <a:extLst>
                    <a:ext uri="{9D8B030D-6E8A-4147-A177-3AD203B41FA5}">
                      <a16:colId xmlns:a16="http://schemas.microsoft.com/office/drawing/2014/main" val="1419202894"/>
                    </a:ext>
                  </a:extLst>
                </a:gridCol>
              </a:tblGrid>
              <a:tr h="240843">
                <a:tc gridSpan="3">
                  <a:txBody>
                    <a:bodyPr/>
                    <a:lstStyle/>
                    <a:p>
                      <a:pPr algn="ctr"/>
                      <a:r>
                        <a:rPr lang="es-PE" sz="1400" b="1" dirty="0">
                          <a:effectLst/>
                        </a:rPr>
                        <a:t>Rol</a:t>
                      </a:r>
                    </a:p>
                  </a:txBody>
                  <a:tcPr marL="63639" marR="63639" marT="31820" marB="31820"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FC000"/>
                    </a:solidFill>
                  </a:tcPr>
                </a:tc>
                <a:tc hMerge="1">
                  <a:txBody>
                    <a:bodyPr/>
                    <a:lstStyle/>
                    <a:p>
                      <a:endParaRPr lang="es-PE"/>
                    </a:p>
                  </a:txBody>
                  <a:tcPr/>
                </a:tc>
                <a:tc hMerge="1">
                  <a:txBody>
                    <a:bodyPr/>
                    <a:lstStyle/>
                    <a:p>
                      <a:endParaRPr lang="es-PE"/>
                    </a:p>
                  </a:txBody>
                  <a:tcPr/>
                </a:tc>
                <a:tc>
                  <a:txBody>
                    <a:bodyPr/>
                    <a:lstStyle/>
                    <a:p>
                      <a:pPr algn="ctr"/>
                      <a:r>
                        <a:rPr lang="es-PE" sz="1400" b="1" dirty="0">
                          <a:effectLst/>
                        </a:rPr>
                        <a:t>Descripción</a:t>
                      </a:r>
                    </a:p>
                  </a:txBody>
                  <a:tcPr marL="63639" marR="63639" marT="31820" marB="31820"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FC000"/>
                    </a:solidFill>
                  </a:tcPr>
                </a:tc>
                <a:extLst>
                  <a:ext uri="{0D108BD9-81ED-4DB2-BD59-A6C34878D82A}">
                    <a16:rowId xmlns:a16="http://schemas.microsoft.com/office/drawing/2014/main" val="3182639041"/>
                  </a:ext>
                </a:extLst>
              </a:tr>
              <a:tr h="937490">
                <a:tc>
                  <a:txBody>
                    <a:bodyPr/>
                    <a:lstStyle/>
                    <a:p>
                      <a:pPr algn="ctr"/>
                      <a:r>
                        <a:rPr lang="es-PE" sz="1400" b="1" dirty="0">
                          <a:effectLst/>
                        </a:rPr>
                        <a:t>V</a:t>
                      </a:r>
                      <a:endParaRPr lang="es-PE" sz="1400" dirty="0">
                        <a:effectLst/>
                      </a:endParaRPr>
                    </a:p>
                  </a:txBody>
                  <a:tcPr marL="63639" marR="63639" marT="31820" marB="31820"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FC000"/>
                    </a:solidFill>
                  </a:tcPr>
                </a:tc>
                <a:tc>
                  <a:txBody>
                    <a:bodyPr/>
                    <a:lstStyle/>
                    <a:p>
                      <a:pPr algn="ctr"/>
                      <a:r>
                        <a:rPr lang="es-PE" sz="1400" i="1" dirty="0">
                          <a:effectLst/>
                        </a:rPr>
                        <a:t>Verify</a:t>
                      </a:r>
                      <a:endParaRPr lang="es-PE" sz="1400" dirty="0">
                        <a:effectLst/>
                      </a:endParaRPr>
                    </a:p>
                  </a:txBody>
                  <a:tcPr marL="63639" marR="63639" marT="31820" marB="31820"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s-PE" sz="1400" dirty="0">
                          <a:effectLst/>
                        </a:rPr>
                        <a:t>Verificador (V)</a:t>
                      </a:r>
                    </a:p>
                  </a:txBody>
                  <a:tcPr marL="63639" marR="63639" marT="31820" marB="31820"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s-MX" sz="1400" dirty="0">
                          <a:effectLst/>
                        </a:rPr>
                        <a:t>Este rol se encarga de </a:t>
                      </a:r>
                      <a:r>
                        <a:rPr lang="es-MX" sz="1400" b="1" dirty="0">
                          <a:effectLst/>
                        </a:rPr>
                        <a:t>comprobar si el producto concuerda con los criterios de aceptación </a:t>
                      </a:r>
                      <a:r>
                        <a:rPr lang="es-MX" sz="1400" dirty="0">
                          <a:effectLst/>
                        </a:rPr>
                        <a:t>establecidos en la descripción del producto.</a:t>
                      </a:r>
                    </a:p>
                  </a:txBody>
                  <a:tcPr marL="63639" marR="63639" marT="31820" marB="31820"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37932182"/>
                  </a:ext>
                </a:extLst>
              </a:tr>
              <a:tr h="846659">
                <a:tc>
                  <a:txBody>
                    <a:bodyPr/>
                    <a:lstStyle/>
                    <a:p>
                      <a:pPr algn="ctr"/>
                      <a:r>
                        <a:rPr lang="es-PE" sz="1400" b="1" dirty="0">
                          <a:effectLst/>
                        </a:rPr>
                        <a:t>S</a:t>
                      </a:r>
                      <a:endParaRPr lang="es-PE" sz="1400" dirty="0">
                        <a:effectLst/>
                      </a:endParaRPr>
                    </a:p>
                  </a:txBody>
                  <a:tcPr marL="63639" marR="63639" marT="31820" marB="31820"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FC000"/>
                    </a:solidFill>
                  </a:tcPr>
                </a:tc>
                <a:tc>
                  <a:txBody>
                    <a:bodyPr/>
                    <a:lstStyle/>
                    <a:p>
                      <a:pPr algn="ctr"/>
                      <a:r>
                        <a:rPr lang="es-PE" sz="1400" i="1" dirty="0">
                          <a:effectLst/>
                        </a:rPr>
                        <a:t>Sign</a:t>
                      </a:r>
                      <a:endParaRPr lang="es-PE" sz="1400" dirty="0">
                        <a:effectLst/>
                      </a:endParaRPr>
                    </a:p>
                  </a:txBody>
                  <a:tcPr marL="63639" marR="63639" marT="31820" marB="31820"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gn="ctr"/>
                      <a:r>
                        <a:rPr lang="es-PE" sz="1400" dirty="0">
                          <a:effectLst/>
                        </a:rPr>
                        <a:t>Signatario (S) </a:t>
                      </a:r>
                    </a:p>
                  </a:txBody>
                  <a:tcPr marL="63639" marR="63639" marT="31820" marB="31820"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es-MX" sz="1400" dirty="0">
                          <a:effectLst/>
                        </a:rPr>
                        <a:t>Este rol aprueba las decisiones de (V) y autoriza la salida del producto. Lo lógico es que el trabajo de un (S) preceda siempre al de un (A).</a:t>
                      </a:r>
                    </a:p>
                  </a:txBody>
                  <a:tcPr marL="63639" marR="63639" marT="31820" marB="31820"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889479056"/>
                  </a:ext>
                </a:extLst>
              </a:tr>
            </a:tbl>
          </a:graphicData>
        </a:graphic>
      </p:graphicFrame>
      <p:pic>
        <p:nvPicPr>
          <p:cNvPr id="7" name="Imagen 6">
            <a:extLst>
              <a:ext uri="{FF2B5EF4-FFF2-40B4-BE49-F238E27FC236}">
                <a16:creationId xmlns:a16="http://schemas.microsoft.com/office/drawing/2014/main" id="{AA10C6B2-1D49-4742-B8F2-3BF045F063CA}"/>
              </a:ext>
            </a:extLst>
          </p:cNvPr>
          <p:cNvPicPr>
            <a:picLocks noChangeAspect="1"/>
          </p:cNvPicPr>
          <p:nvPr/>
        </p:nvPicPr>
        <p:blipFill>
          <a:blip r:embed="rId3"/>
          <a:stretch>
            <a:fillRect/>
          </a:stretch>
        </p:blipFill>
        <p:spPr>
          <a:xfrm>
            <a:off x="2477474" y="4119495"/>
            <a:ext cx="4290535" cy="687986"/>
          </a:xfrm>
          <a:prstGeom prst="rect">
            <a:avLst/>
          </a:prstGeom>
        </p:spPr>
      </p:pic>
    </p:spTree>
    <p:extLst>
      <p:ext uri="{BB962C8B-B14F-4D97-AF65-F5344CB8AC3E}">
        <p14:creationId xmlns:p14="http://schemas.microsoft.com/office/powerpoint/2010/main" val="3079282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8262548"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GESTIÓN DE LAS TECNOLOGÍAS DE LA INFORMACIÓN</a:t>
            </a:r>
          </a:p>
        </p:txBody>
      </p:sp>
    </p:spTree>
    <p:custDataLst>
      <p:tags r:id="rId1"/>
    </p:custDataLst>
    <p:extLst>
      <p:ext uri="{BB962C8B-B14F-4D97-AF65-F5344CB8AC3E}">
        <p14:creationId xmlns:p14="http://schemas.microsoft.com/office/powerpoint/2010/main" val="418155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GESTIÓN DE LAS TECNOLOGÍAS DE LA INFORMACIÓN</a:t>
            </a:r>
          </a:p>
        </p:txBody>
      </p:sp>
      <p:sp>
        <p:nvSpPr>
          <p:cNvPr id="8" name="object 7">
            <a:extLst>
              <a:ext uri="{FF2B5EF4-FFF2-40B4-BE49-F238E27FC236}">
                <a16:creationId xmlns:a16="http://schemas.microsoft.com/office/drawing/2014/main" id="{D7F1327E-48E4-44E4-B5E6-DD0D6B5C4842}"/>
              </a:ext>
            </a:extLst>
          </p:cNvPr>
          <p:cNvSpPr txBox="1"/>
          <p:nvPr/>
        </p:nvSpPr>
        <p:spPr>
          <a:xfrm>
            <a:off x="510908" y="832233"/>
            <a:ext cx="506315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GESTIÓN DE TECNOLOGÍA</a:t>
            </a:r>
          </a:p>
        </p:txBody>
      </p:sp>
      <p:sp>
        <p:nvSpPr>
          <p:cNvPr id="9" name="object 7">
            <a:extLst>
              <a:ext uri="{FF2B5EF4-FFF2-40B4-BE49-F238E27FC236}">
                <a16:creationId xmlns:a16="http://schemas.microsoft.com/office/drawing/2014/main" id="{6D912997-55E9-4774-B766-E24BAC3DC2A7}"/>
              </a:ext>
            </a:extLst>
          </p:cNvPr>
          <p:cNvSpPr txBox="1"/>
          <p:nvPr/>
        </p:nvSpPr>
        <p:spPr>
          <a:xfrm>
            <a:off x="617034" y="1288796"/>
            <a:ext cx="5174166" cy="2668423"/>
          </a:xfrm>
          <a:prstGeom prst="rect">
            <a:avLst/>
          </a:prstGeom>
        </p:spPr>
        <p:txBody>
          <a:bodyPr vert="horz" wrap="square" lIns="0" tIns="0" rIns="0" bIns="0" rtlCol="0">
            <a:spAutoFit/>
          </a:bodyPr>
          <a:lstStyle/>
          <a:p>
            <a:pPr marL="180975" indent="-168275" algn="just">
              <a:lnSpc>
                <a:spcPct val="110000"/>
              </a:lnSpc>
              <a:spcAft>
                <a:spcPts val="1800"/>
              </a:spcAft>
              <a:buSzPct val="100000"/>
              <a:buFont typeface="Arial"/>
              <a:buChar char="•"/>
              <a:tabLst>
                <a:tab pos="121285" algn="l"/>
              </a:tabLst>
            </a:pPr>
            <a:r>
              <a:rPr lang="es-PE" sz="1600" dirty="0"/>
              <a:t>La </a:t>
            </a:r>
            <a:r>
              <a:rPr lang="es-PE" sz="1600" dirty="0" smtClean="0"/>
              <a:t>gestión </a:t>
            </a:r>
            <a:r>
              <a:rPr lang="es-PE" sz="1600" dirty="0" smtClean="0"/>
              <a:t>t</a:t>
            </a:r>
            <a:r>
              <a:rPr lang="es-PE" sz="1600" dirty="0" smtClean="0"/>
              <a:t>ecnológica</a:t>
            </a:r>
            <a:r>
              <a:rPr lang="es-PE" sz="1600" dirty="0"/>
              <a:t> </a:t>
            </a:r>
            <a:r>
              <a:rPr lang="es-PE" sz="1600" dirty="0" smtClean="0"/>
              <a:t>es </a:t>
            </a:r>
            <a:r>
              <a:rPr lang="es-PE" sz="1600" dirty="0" smtClean="0"/>
              <a:t>el </a:t>
            </a:r>
            <a:r>
              <a:rPr lang="es-PE" sz="1600" dirty="0"/>
              <a:t>proceso de administrar el desarrollo de la tecnología, su implementación y difusión en los sectores industrial, público y privado.</a:t>
            </a:r>
          </a:p>
          <a:p>
            <a:pPr marL="180975" indent="-168275" algn="just">
              <a:lnSpc>
                <a:spcPct val="110000"/>
              </a:lnSpc>
              <a:spcAft>
                <a:spcPts val="1800"/>
              </a:spcAft>
              <a:buSzPct val="100000"/>
              <a:buFont typeface="Arial"/>
              <a:buChar char="•"/>
              <a:tabLst>
                <a:tab pos="121285" algn="l"/>
              </a:tabLst>
            </a:pPr>
            <a:r>
              <a:rPr lang="es-PE" sz="1600" dirty="0"/>
              <a:t>La gestión </a:t>
            </a:r>
            <a:r>
              <a:rPr lang="es-PE" sz="1600" dirty="0" smtClean="0"/>
              <a:t>tecnológica integra </a:t>
            </a:r>
            <a:r>
              <a:rPr lang="es-PE" sz="1600" dirty="0"/>
              <a:t>el proceso de cambio tecnológico con los aspectos estratégicos y operativos del </a:t>
            </a:r>
            <a:r>
              <a:rPr lang="es-PE" sz="1600" dirty="0" smtClean="0"/>
              <a:t>control, además de </a:t>
            </a:r>
            <a:r>
              <a:rPr lang="es-PE" sz="1600" dirty="0"/>
              <a:t>la toma de decisiones de la empresa. De esa forma se concibe la tecnología como </a:t>
            </a:r>
            <a:r>
              <a:rPr lang="es-PE" sz="1600" dirty="0" smtClean="0"/>
              <a:t>una herramienta competitiva, por eso es aspecto importante del </a:t>
            </a:r>
            <a:r>
              <a:rPr lang="es-PE" sz="1600" dirty="0"/>
              <a:t>planteamiento estratégico a largo plazo.</a:t>
            </a:r>
            <a:endParaRPr lang="es-PE" sz="1600" dirty="0">
              <a:sym typeface="Wingdings" pitchFamily="2" charset="2"/>
            </a:endParaRPr>
          </a:p>
        </p:txBody>
      </p:sp>
      <p:pic>
        <p:nvPicPr>
          <p:cNvPr id="8194" name="Picture 2" descr="Gestión en TI - Home | Facebook">
            <a:extLst>
              <a:ext uri="{FF2B5EF4-FFF2-40B4-BE49-F238E27FC236}">
                <a16:creationId xmlns:a16="http://schemas.microsoft.com/office/drawing/2014/main" id="{B716D40A-5B4A-4E21-961E-EB0F3068BA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0723" y="1785937"/>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736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GESTIÓN DE LAS TECNOLOGÍAS DE LA INFORMACIÓN</a:t>
            </a:r>
          </a:p>
        </p:txBody>
      </p:sp>
      <p:sp>
        <p:nvSpPr>
          <p:cNvPr id="8" name="object 7">
            <a:extLst>
              <a:ext uri="{FF2B5EF4-FFF2-40B4-BE49-F238E27FC236}">
                <a16:creationId xmlns:a16="http://schemas.microsoft.com/office/drawing/2014/main" id="{D7F1327E-48E4-44E4-B5E6-DD0D6B5C4842}"/>
              </a:ext>
            </a:extLst>
          </p:cNvPr>
          <p:cNvSpPr txBox="1"/>
          <p:nvPr/>
        </p:nvSpPr>
        <p:spPr>
          <a:xfrm>
            <a:off x="510908" y="832233"/>
            <a:ext cx="506315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…GESTIÓN DE TECNOLOGÍA</a:t>
            </a:r>
          </a:p>
        </p:txBody>
      </p:sp>
      <p:sp>
        <p:nvSpPr>
          <p:cNvPr id="6" name="object 7">
            <a:extLst>
              <a:ext uri="{FF2B5EF4-FFF2-40B4-BE49-F238E27FC236}">
                <a16:creationId xmlns:a16="http://schemas.microsoft.com/office/drawing/2014/main" id="{A3CD90AD-DFB4-4298-93E7-3BB4508004BA}"/>
              </a:ext>
            </a:extLst>
          </p:cNvPr>
          <p:cNvSpPr txBox="1"/>
          <p:nvPr/>
        </p:nvSpPr>
        <p:spPr>
          <a:xfrm>
            <a:off x="407875" y="1251303"/>
            <a:ext cx="6187435" cy="246221"/>
          </a:xfrm>
          <a:prstGeom prst="rect">
            <a:avLst/>
          </a:prstGeom>
        </p:spPr>
        <p:txBody>
          <a:bodyPr vert="horz" wrap="square" lIns="0" tIns="0" rIns="0" bIns="0" rtlCol="0">
            <a:spAutoFit/>
          </a:bodyPr>
          <a:lstStyle/>
          <a:p>
            <a:pPr marL="11725">
              <a:buSzPct val="100000"/>
              <a:tabLst>
                <a:tab pos="121285" algn="l"/>
              </a:tabLst>
            </a:pPr>
            <a:r>
              <a:rPr lang="es-PE" sz="1600" b="1" spc="-10" dirty="0">
                <a:solidFill>
                  <a:srgbClr val="262626"/>
                </a:solidFill>
                <a:cs typeface="Source Sans Pro"/>
              </a:rPr>
              <a:t>	1.1. FUNCIONES BÁSICAS PARA GESTIÓNAR RECURSOS TECNOLÓGICOS:</a:t>
            </a:r>
          </a:p>
        </p:txBody>
      </p:sp>
      <p:graphicFrame>
        <p:nvGraphicFramePr>
          <p:cNvPr id="7" name="Tabla 6">
            <a:extLst>
              <a:ext uri="{FF2B5EF4-FFF2-40B4-BE49-F238E27FC236}">
                <a16:creationId xmlns:a16="http://schemas.microsoft.com/office/drawing/2014/main" id="{B60CC1A8-67BF-4416-A3D2-DDDB5BE17D22}"/>
              </a:ext>
            </a:extLst>
          </p:cNvPr>
          <p:cNvGraphicFramePr>
            <a:graphicFrameLocks noGrp="1"/>
          </p:cNvGraphicFramePr>
          <p:nvPr>
            <p:extLst>
              <p:ext uri="{D42A27DB-BD31-4B8C-83A1-F6EECF244321}">
                <p14:modId xmlns:p14="http://schemas.microsoft.com/office/powerpoint/2010/main" val="1419168237"/>
              </p:ext>
            </p:extLst>
          </p:nvPr>
        </p:nvGraphicFramePr>
        <p:xfrm>
          <a:off x="510909" y="1675807"/>
          <a:ext cx="7958178" cy="3255154"/>
        </p:xfrm>
        <a:graphic>
          <a:graphicData uri="http://schemas.openxmlformats.org/drawingml/2006/table">
            <a:tbl>
              <a:tblPr/>
              <a:tblGrid>
                <a:gridCol w="1353352">
                  <a:extLst>
                    <a:ext uri="{9D8B030D-6E8A-4147-A177-3AD203B41FA5}">
                      <a16:colId xmlns:a16="http://schemas.microsoft.com/office/drawing/2014/main" val="1890612241"/>
                    </a:ext>
                  </a:extLst>
                </a:gridCol>
                <a:gridCol w="6604826">
                  <a:extLst>
                    <a:ext uri="{9D8B030D-6E8A-4147-A177-3AD203B41FA5}">
                      <a16:colId xmlns:a16="http://schemas.microsoft.com/office/drawing/2014/main" val="1648637619"/>
                    </a:ext>
                  </a:extLst>
                </a:gridCol>
              </a:tblGrid>
              <a:tr h="171606">
                <a:tc>
                  <a:txBody>
                    <a:bodyPr/>
                    <a:lstStyle/>
                    <a:p>
                      <a:pPr algn="ctr">
                        <a:spcAft>
                          <a:spcPts val="1200"/>
                        </a:spcAft>
                      </a:pPr>
                      <a:r>
                        <a:rPr lang="es-PE" sz="1400" b="1" dirty="0">
                          <a:effectLst/>
                        </a:rPr>
                        <a:t>Función</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spcAft>
                          <a:spcPts val="1200"/>
                        </a:spcAft>
                      </a:pPr>
                      <a:r>
                        <a:rPr lang="es-PE" sz="1400" b="1" dirty="0">
                          <a:effectLst/>
                        </a:rPr>
                        <a:t>Descripción</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2917641651"/>
                  </a:ext>
                </a:extLst>
              </a:tr>
              <a:tr h="769192">
                <a:tc>
                  <a:txBody>
                    <a:bodyPr/>
                    <a:lstStyle/>
                    <a:p>
                      <a:pPr algn="ctr">
                        <a:spcAft>
                          <a:spcPts val="1200"/>
                        </a:spcAft>
                      </a:pPr>
                      <a:r>
                        <a:rPr lang="es-PE" sz="1400" b="1" dirty="0">
                          <a:effectLst/>
                        </a:rPr>
                        <a:t>INVENTARIAR</a:t>
                      </a:r>
                      <a:endParaRPr lang="es-PE" sz="140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marL="171450" indent="-171450" algn="l" defTabSz="457200" rtl="0" eaLnBrk="1" latinLnBrk="0" hangingPunct="1">
                        <a:spcAft>
                          <a:spcPts val="600"/>
                        </a:spcAft>
                        <a:buFont typeface="Wingdings" panose="05000000000000000000" pitchFamily="2" charset="2"/>
                        <a:buChar char="§"/>
                      </a:pPr>
                      <a:r>
                        <a:rPr lang="es-PE" sz="1400" kern="1200" dirty="0">
                          <a:solidFill>
                            <a:schemeClr val="tx1"/>
                          </a:solidFill>
                          <a:latin typeface="+mn-lt"/>
                          <a:ea typeface="+mn-ea"/>
                          <a:cs typeface="+mn-cs"/>
                        </a:rPr>
                        <a:t>Conocer las tecnologías utilizadas y dominadas </a:t>
                      </a:r>
                      <a:r>
                        <a:rPr lang="es-PE" sz="1400" dirty="0"/>
                        <a:t>por la empresa que constituyen su patrimonio tecnológico.</a:t>
                      </a:r>
                    </a:p>
                    <a:p>
                      <a:pPr marL="171450" marR="0" lvl="0" indent="-1714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lang="es-PE" sz="1400" kern="1200" dirty="0">
                          <a:solidFill>
                            <a:schemeClr val="tx1"/>
                          </a:solidFill>
                          <a:latin typeface="+mn-lt"/>
                          <a:ea typeface="+mn-ea"/>
                          <a:cs typeface="+mn-cs"/>
                        </a:rPr>
                        <a:t>Recopilar tecnologías disponibles a nivel mundial. </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4174913109"/>
                  </a:ext>
                </a:extLst>
              </a:tr>
              <a:tr h="1278214">
                <a:tc>
                  <a:txBody>
                    <a:bodyPr/>
                    <a:lstStyle/>
                    <a:p>
                      <a:pPr algn="ctr">
                        <a:spcAft>
                          <a:spcPts val="1200"/>
                        </a:spcAft>
                      </a:pPr>
                      <a:r>
                        <a:rPr lang="es-PE" sz="1400" b="1" dirty="0">
                          <a:effectLst/>
                        </a:rPr>
                        <a:t>VIGILAR</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marL="171450" indent="-171450">
                        <a:spcAft>
                          <a:spcPts val="600"/>
                        </a:spcAft>
                        <a:buFont typeface="Wingdings" panose="05000000000000000000" pitchFamily="2" charset="2"/>
                        <a:buChar char="§"/>
                      </a:pPr>
                      <a:r>
                        <a:rPr lang="es-PE" sz="1400" dirty="0"/>
                        <a:t>Alertar sobre la evolución de nuevas tecnologías. </a:t>
                      </a:r>
                    </a:p>
                    <a:p>
                      <a:pPr marL="171450" indent="-171450">
                        <a:spcAft>
                          <a:spcPts val="600"/>
                        </a:spcAft>
                        <a:buFont typeface="Wingdings" panose="05000000000000000000" pitchFamily="2" charset="2"/>
                        <a:buChar char="§"/>
                      </a:pPr>
                      <a:r>
                        <a:rPr lang="es-PE" sz="1400" dirty="0"/>
                        <a:t>Sistematizar las fuentes de información de la empresa. </a:t>
                      </a:r>
                    </a:p>
                    <a:p>
                      <a:pPr marL="171450" indent="-171450">
                        <a:spcAft>
                          <a:spcPts val="600"/>
                        </a:spcAft>
                        <a:buFont typeface="Wingdings" panose="05000000000000000000" pitchFamily="2" charset="2"/>
                        <a:buChar char="§"/>
                      </a:pPr>
                      <a:r>
                        <a:rPr lang="es-PE" sz="1400" dirty="0"/>
                        <a:t>Vigilar la tecnología de los competidores. </a:t>
                      </a:r>
                    </a:p>
                    <a:p>
                      <a:pPr marL="171450" indent="-171450">
                        <a:spcAft>
                          <a:spcPts val="600"/>
                        </a:spcAft>
                        <a:buFont typeface="Wingdings" panose="05000000000000000000" pitchFamily="2" charset="2"/>
                        <a:buChar char="§"/>
                      </a:pPr>
                      <a:r>
                        <a:rPr lang="es-PE" sz="1400" dirty="0"/>
                        <a:t>Identificar el impacto posible de la evolución tecnológica sobre las actividades de la empresa.</a:t>
                      </a:r>
                      <a:endParaRPr lang="es-MX" sz="140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512666308"/>
                  </a:ext>
                </a:extLst>
              </a:tr>
              <a:tr h="925382">
                <a:tc>
                  <a:txBody>
                    <a:bodyPr/>
                    <a:lstStyle/>
                    <a:p>
                      <a:pPr algn="ctr">
                        <a:spcAft>
                          <a:spcPts val="1200"/>
                        </a:spcAft>
                      </a:pPr>
                      <a:r>
                        <a:rPr lang="es-PE" sz="1400" b="1" dirty="0">
                          <a:effectLst/>
                        </a:rPr>
                        <a:t>EVALUAR</a:t>
                      </a:r>
                      <a:endParaRPr lang="es-PE" sz="140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marL="171450" indent="-171450">
                        <a:spcAft>
                          <a:spcPts val="600"/>
                        </a:spcAft>
                        <a:buFont typeface="Wingdings" panose="05000000000000000000" pitchFamily="2" charset="2"/>
                        <a:buChar char="§"/>
                      </a:pPr>
                      <a:r>
                        <a:rPr lang="es-PE" sz="1400" dirty="0"/>
                        <a:t>Determinar la competitividad y el potencial tecnológico propio.</a:t>
                      </a:r>
                    </a:p>
                    <a:p>
                      <a:pPr marL="171450" indent="-171450">
                        <a:spcAft>
                          <a:spcPts val="600"/>
                        </a:spcAft>
                        <a:buFont typeface="Wingdings" panose="05000000000000000000" pitchFamily="2" charset="2"/>
                        <a:buChar char="§"/>
                      </a:pPr>
                      <a:r>
                        <a:rPr lang="es-PE" sz="1400" dirty="0"/>
                        <a:t>Estudiar posibles estrategias de innovación.</a:t>
                      </a:r>
                    </a:p>
                    <a:p>
                      <a:pPr marL="171450" indent="-171450">
                        <a:spcAft>
                          <a:spcPts val="600"/>
                        </a:spcAft>
                        <a:buFont typeface="Wingdings" panose="05000000000000000000" pitchFamily="2" charset="2"/>
                        <a:buChar char="§"/>
                      </a:pPr>
                      <a:r>
                        <a:rPr lang="es-PE" sz="1400" dirty="0"/>
                        <a:t>Identificar posibilidades de alianzas tecnológicas. </a:t>
                      </a:r>
                      <a:endParaRPr lang="es-MX" sz="140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06104599"/>
                  </a:ext>
                </a:extLst>
              </a:tr>
            </a:tbl>
          </a:graphicData>
        </a:graphic>
      </p:graphicFrame>
    </p:spTree>
    <p:extLst>
      <p:ext uri="{BB962C8B-B14F-4D97-AF65-F5344CB8AC3E}">
        <p14:creationId xmlns:p14="http://schemas.microsoft.com/office/powerpoint/2010/main" val="277607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GESTIÓN DE LAS TECNOLOGÍAS DE LA INFORMACIÓN</a:t>
            </a:r>
          </a:p>
        </p:txBody>
      </p:sp>
      <p:sp>
        <p:nvSpPr>
          <p:cNvPr id="8" name="object 7">
            <a:extLst>
              <a:ext uri="{FF2B5EF4-FFF2-40B4-BE49-F238E27FC236}">
                <a16:creationId xmlns:a16="http://schemas.microsoft.com/office/drawing/2014/main" id="{D7F1327E-48E4-44E4-B5E6-DD0D6B5C4842}"/>
              </a:ext>
            </a:extLst>
          </p:cNvPr>
          <p:cNvSpPr txBox="1"/>
          <p:nvPr/>
        </p:nvSpPr>
        <p:spPr>
          <a:xfrm>
            <a:off x="510908" y="832233"/>
            <a:ext cx="5063152"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…GESTIÓN DE TECNOLOGÍA</a:t>
            </a:r>
          </a:p>
        </p:txBody>
      </p:sp>
      <p:sp>
        <p:nvSpPr>
          <p:cNvPr id="6" name="object 7">
            <a:extLst>
              <a:ext uri="{FF2B5EF4-FFF2-40B4-BE49-F238E27FC236}">
                <a16:creationId xmlns:a16="http://schemas.microsoft.com/office/drawing/2014/main" id="{A3CD90AD-DFB4-4298-93E7-3BB4508004BA}"/>
              </a:ext>
            </a:extLst>
          </p:cNvPr>
          <p:cNvSpPr txBox="1"/>
          <p:nvPr/>
        </p:nvSpPr>
        <p:spPr>
          <a:xfrm>
            <a:off x="407875" y="1251303"/>
            <a:ext cx="6486411" cy="246221"/>
          </a:xfrm>
          <a:prstGeom prst="rect">
            <a:avLst/>
          </a:prstGeom>
        </p:spPr>
        <p:txBody>
          <a:bodyPr vert="horz" wrap="square" lIns="0" tIns="0" rIns="0" bIns="0" rtlCol="0">
            <a:spAutoFit/>
          </a:bodyPr>
          <a:lstStyle/>
          <a:p>
            <a:pPr marL="11725">
              <a:buSzPct val="100000"/>
              <a:tabLst>
                <a:tab pos="121285" algn="l"/>
              </a:tabLst>
            </a:pPr>
            <a:r>
              <a:rPr lang="es-PE" sz="1600" b="1" spc="-10" dirty="0">
                <a:solidFill>
                  <a:srgbClr val="262626"/>
                </a:solidFill>
                <a:cs typeface="Source Sans Pro"/>
              </a:rPr>
              <a:t>	1.1. …FUNCIONES BÁSICAS PARA GESTIÓNAR RECURSOS TECNOLÓGICOS:</a:t>
            </a:r>
          </a:p>
        </p:txBody>
      </p:sp>
      <p:graphicFrame>
        <p:nvGraphicFramePr>
          <p:cNvPr id="9" name="Tabla 8">
            <a:extLst>
              <a:ext uri="{FF2B5EF4-FFF2-40B4-BE49-F238E27FC236}">
                <a16:creationId xmlns:a16="http://schemas.microsoft.com/office/drawing/2014/main" id="{B7418A70-5D54-4881-9E4F-A6004030E546}"/>
              </a:ext>
            </a:extLst>
          </p:cNvPr>
          <p:cNvGraphicFramePr>
            <a:graphicFrameLocks noGrp="1"/>
          </p:cNvGraphicFramePr>
          <p:nvPr>
            <p:extLst>
              <p:ext uri="{D42A27DB-BD31-4B8C-83A1-F6EECF244321}">
                <p14:modId xmlns:p14="http://schemas.microsoft.com/office/powerpoint/2010/main" val="3885683178"/>
              </p:ext>
            </p:extLst>
          </p:nvPr>
        </p:nvGraphicFramePr>
        <p:xfrm>
          <a:off x="538761" y="1658973"/>
          <a:ext cx="7925107" cy="3448820"/>
        </p:xfrm>
        <a:graphic>
          <a:graphicData uri="http://schemas.openxmlformats.org/drawingml/2006/table">
            <a:tbl>
              <a:tblPr/>
              <a:tblGrid>
                <a:gridCol w="1347728">
                  <a:extLst>
                    <a:ext uri="{9D8B030D-6E8A-4147-A177-3AD203B41FA5}">
                      <a16:colId xmlns:a16="http://schemas.microsoft.com/office/drawing/2014/main" val="1890612241"/>
                    </a:ext>
                  </a:extLst>
                </a:gridCol>
                <a:gridCol w="6577379">
                  <a:extLst>
                    <a:ext uri="{9D8B030D-6E8A-4147-A177-3AD203B41FA5}">
                      <a16:colId xmlns:a16="http://schemas.microsoft.com/office/drawing/2014/main" val="1648637619"/>
                    </a:ext>
                  </a:extLst>
                </a:gridCol>
              </a:tblGrid>
              <a:tr h="105885">
                <a:tc>
                  <a:txBody>
                    <a:bodyPr/>
                    <a:lstStyle/>
                    <a:p>
                      <a:pPr algn="ctr">
                        <a:spcAft>
                          <a:spcPts val="1200"/>
                        </a:spcAft>
                      </a:pPr>
                      <a:r>
                        <a:rPr lang="es-PE" sz="1400" b="1" dirty="0">
                          <a:effectLst/>
                        </a:rPr>
                        <a:t>Función</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spcAft>
                          <a:spcPts val="1200"/>
                        </a:spcAft>
                      </a:pPr>
                      <a:r>
                        <a:rPr lang="es-PE" sz="1400" b="1" dirty="0">
                          <a:effectLst/>
                        </a:rPr>
                        <a:t>Descripción</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2917641651"/>
                  </a:ext>
                </a:extLst>
              </a:tr>
              <a:tr h="730929">
                <a:tc>
                  <a:txBody>
                    <a:bodyPr/>
                    <a:lstStyle/>
                    <a:p>
                      <a:pPr algn="ctr">
                        <a:spcAft>
                          <a:spcPts val="1200"/>
                        </a:spcAft>
                      </a:pPr>
                      <a:r>
                        <a:rPr lang="es-PE" sz="1400" b="1" dirty="0">
                          <a:effectLst/>
                        </a:rPr>
                        <a:t>ENRIQUECER</a:t>
                      </a:r>
                      <a:endParaRPr lang="es-PE" sz="140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marL="171450" indent="-171450" algn="l" defTabSz="457200" rtl="0" eaLnBrk="1" latinLnBrk="0" hangingPunct="1">
                        <a:spcAft>
                          <a:spcPts val="600"/>
                        </a:spcAft>
                        <a:buFont typeface="Wingdings" panose="05000000000000000000" pitchFamily="2" charset="2"/>
                        <a:buChar char="§"/>
                      </a:pPr>
                      <a:r>
                        <a:rPr lang="es-PE" sz="1400" dirty="0"/>
                        <a:t>Diseñar estrategias de investigación y desarrollo. </a:t>
                      </a:r>
                    </a:p>
                    <a:p>
                      <a:pPr marL="171450" indent="-171450" algn="l" defTabSz="457200" rtl="0" eaLnBrk="1" latinLnBrk="0" hangingPunct="1">
                        <a:spcAft>
                          <a:spcPts val="600"/>
                        </a:spcAft>
                        <a:buFont typeface="Wingdings" panose="05000000000000000000" pitchFamily="2" charset="2"/>
                        <a:buChar char="§"/>
                      </a:pPr>
                      <a:r>
                        <a:rPr lang="es-PE" sz="1400" dirty="0"/>
                        <a:t>Priorizar tecnologías emergentes, clave y periféricas. </a:t>
                      </a:r>
                    </a:p>
                    <a:p>
                      <a:pPr marL="171450" indent="-171450" algn="l" defTabSz="457200" rtl="0" eaLnBrk="1" latinLnBrk="0" hangingPunct="1">
                        <a:spcAft>
                          <a:spcPts val="600"/>
                        </a:spcAft>
                        <a:buFont typeface="Wingdings" panose="05000000000000000000" pitchFamily="2" charset="2"/>
                        <a:buChar char="§"/>
                      </a:pPr>
                      <a:r>
                        <a:rPr lang="es-PE" sz="1400" dirty="0"/>
                        <a:t>Definir una estrategia de adquisición de equipo y tecnologías externas. </a:t>
                      </a:r>
                    </a:p>
                    <a:p>
                      <a:pPr marL="171450" indent="-171450" algn="l" defTabSz="457200" rtl="0" eaLnBrk="1" latinLnBrk="0" hangingPunct="1">
                        <a:spcAft>
                          <a:spcPts val="600"/>
                        </a:spcAft>
                        <a:buFont typeface="Wingdings" panose="05000000000000000000" pitchFamily="2" charset="2"/>
                        <a:buChar char="§"/>
                      </a:pPr>
                      <a:r>
                        <a:rPr lang="es-PE" sz="1400" dirty="0"/>
                        <a:t>Definición de proyectos conjuntos o alianzas.</a:t>
                      </a:r>
                    </a:p>
                    <a:p>
                      <a:pPr marL="171450" indent="-171450" algn="l" defTabSz="457200" rtl="0" eaLnBrk="1" latinLnBrk="0" hangingPunct="1">
                        <a:spcAft>
                          <a:spcPts val="600"/>
                        </a:spcAft>
                        <a:buFont typeface="Wingdings" panose="05000000000000000000" pitchFamily="2" charset="2"/>
                        <a:buChar char="§"/>
                      </a:pPr>
                      <a:r>
                        <a:rPr lang="es-PE" sz="1400" dirty="0"/>
                        <a:t>Determinar estrategia de financiamiento a proyectos.</a:t>
                      </a:r>
                      <a:endParaRPr lang="es-MX" sz="140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4174913109"/>
                  </a:ext>
                </a:extLst>
              </a:tr>
              <a:tr h="730929">
                <a:tc>
                  <a:txBody>
                    <a:bodyPr/>
                    <a:lstStyle/>
                    <a:p>
                      <a:pPr algn="ctr">
                        <a:spcAft>
                          <a:spcPts val="1200"/>
                        </a:spcAft>
                      </a:pPr>
                      <a:r>
                        <a:rPr lang="es-PE" sz="1400" b="1" dirty="0">
                          <a:effectLst/>
                        </a:rPr>
                        <a:t>ASIMILAR</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marL="171450" indent="-171450">
                        <a:spcBef>
                          <a:spcPts val="1200"/>
                        </a:spcBef>
                        <a:spcAft>
                          <a:spcPts val="600"/>
                        </a:spcAft>
                        <a:buFont typeface="Wingdings" panose="05000000000000000000" pitchFamily="2" charset="2"/>
                        <a:buChar char="§"/>
                      </a:pPr>
                      <a:r>
                        <a:rPr lang="es-PE" sz="1400" dirty="0"/>
                        <a:t>Explotación sistemática del potencial tecnológico mediante: </a:t>
                      </a:r>
                    </a:p>
                    <a:p>
                      <a:pPr marL="538163" indent="-171450">
                        <a:spcAft>
                          <a:spcPts val="300"/>
                        </a:spcAft>
                        <a:buFont typeface="Courier New" panose="02070309020205020404" pitchFamily="49" charset="0"/>
                        <a:buChar char="o"/>
                      </a:pPr>
                      <a:r>
                        <a:rPr lang="es-PE" sz="1400" dirty="0"/>
                        <a:t>programas de capacitación</a:t>
                      </a:r>
                    </a:p>
                    <a:p>
                      <a:pPr marL="538163" indent="-171450">
                        <a:spcAft>
                          <a:spcPts val="300"/>
                        </a:spcAft>
                        <a:buFont typeface="Courier New" panose="02070309020205020404" pitchFamily="49" charset="0"/>
                        <a:buChar char="o"/>
                      </a:pPr>
                      <a:r>
                        <a:rPr lang="es-PE" sz="1400" dirty="0"/>
                        <a:t>documentación de tecnologías de la empresa </a:t>
                      </a:r>
                    </a:p>
                    <a:p>
                      <a:pPr marL="538163" indent="-171450">
                        <a:spcAft>
                          <a:spcPts val="300"/>
                        </a:spcAft>
                        <a:buFont typeface="Courier New" panose="02070309020205020404" pitchFamily="49" charset="0"/>
                        <a:buChar char="o"/>
                      </a:pPr>
                      <a:r>
                        <a:rPr lang="es-PE" sz="1400" dirty="0"/>
                        <a:t>desarrollo de aplicaciones derivadas de tecnologías genéricas </a:t>
                      </a:r>
                    </a:p>
                    <a:p>
                      <a:pPr marL="538163" indent="-171450">
                        <a:spcAft>
                          <a:spcPts val="300"/>
                        </a:spcAft>
                        <a:buFont typeface="Courier New" panose="02070309020205020404" pitchFamily="49" charset="0"/>
                        <a:buChar char="o"/>
                      </a:pPr>
                      <a:r>
                        <a:rPr lang="es-PE" sz="1400" dirty="0"/>
                        <a:t>Gestión eficiente de recursos</a:t>
                      </a:r>
                      <a:endParaRPr lang="es-MX" sz="140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512666308"/>
                  </a:ext>
                </a:extLst>
              </a:tr>
              <a:tr h="347192">
                <a:tc>
                  <a:txBody>
                    <a:bodyPr/>
                    <a:lstStyle/>
                    <a:p>
                      <a:pPr algn="ctr">
                        <a:spcAft>
                          <a:spcPts val="1200"/>
                        </a:spcAft>
                      </a:pPr>
                      <a:r>
                        <a:rPr lang="es-PE" sz="1400" b="1" dirty="0">
                          <a:effectLst/>
                        </a:rPr>
                        <a:t>PROTEGER</a:t>
                      </a:r>
                      <a:endParaRPr lang="es-PE" sz="1400" dirty="0">
                        <a:effectLst/>
                      </a:endParaRP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marL="171450" indent="-171450">
                        <a:spcAft>
                          <a:spcPts val="600"/>
                        </a:spcAft>
                        <a:buFont typeface="Wingdings" panose="05000000000000000000" pitchFamily="2" charset="2"/>
                        <a:buChar char="§"/>
                      </a:pPr>
                      <a:r>
                        <a:rPr lang="es-PE" sz="1400" dirty="0"/>
                        <a:t>Establecimiento de una política de propiedad intelectual: </a:t>
                      </a:r>
                    </a:p>
                    <a:p>
                      <a:pPr marL="538163" indent="-171450" algn="l" defTabSz="457200" rtl="0" eaLnBrk="1" latinLnBrk="0" hangingPunct="1">
                        <a:spcAft>
                          <a:spcPts val="300"/>
                        </a:spcAft>
                        <a:buFont typeface="Courier New" panose="02070309020205020404" pitchFamily="49" charset="0"/>
                        <a:buChar char="o"/>
                      </a:pPr>
                      <a:r>
                        <a:rPr lang="es-PE" sz="1400" kern="1200" dirty="0">
                          <a:solidFill>
                            <a:schemeClr val="tx1"/>
                          </a:solidFill>
                          <a:latin typeface="+mn-lt"/>
                          <a:ea typeface="+mn-ea"/>
                          <a:cs typeface="+mn-cs"/>
                        </a:rPr>
                        <a:t>patentes, derechos de autor, marcas, diseños industriales y secretos</a:t>
                      </a:r>
                    </a:p>
                  </a:txBody>
                  <a:tcPr marL="25910" marR="25910" marT="12955" marB="12955"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306104599"/>
                  </a:ext>
                </a:extLst>
              </a:tr>
            </a:tbl>
          </a:graphicData>
        </a:graphic>
      </p:graphicFrame>
    </p:spTree>
    <p:extLst>
      <p:ext uri="{BB962C8B-B14F-4D97-AF65-F5344CB8AC3E}">
        <p14:creationId xmlns:p14="http://schemas.microsoft.com/office/powerpoint/2010/main" val="4203044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GESTIÓN DE LAS TECNOLOGÍAS DE LA INFORMACIÓN</a:t>
            </a:r>
          </a:p>
        </p:txBody>
      </p:sp>
      <p:sp>
        <p:nvSpPr>
          <p:cNvPr id="8" name="object 7">
            <a:extLst>
              <a:ext uri="{FF2B5EF4-FFF2-40B4-BE49-F238E27FC236}">
                <a16:creationId xmlns:a16="http://schemas.microsoft.com/office/drawing/2014/main" id="{D7F1327E-48E4-44E4-B5E6-DD0D6B5C4842}"/>
              </a:ext>
            </a:extLst>
          </p:cNvPr>
          <p:cNvSpPr txBox="1"/>
          <p:nvPr/>
        </p:nvSpPr>
        <p:spPr>
          <a:xfrm>
            <a:off x="510908" y="832233"/>
            <a:ext cx="2914463"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GESTIÓN DE ACTIVOS DE TI</a:t>
            </a:r>
          </a:p>
        </p:txBody>
      </p:sp>
      <p:sp>
        <p:nvSpPr>
          <p:cNvPr id="7" name="object 7">
            <a:extLst>
              <a:ext uri="{FF2B5EF4-FFF2-40B4-BE49-F238E27FC236}">
                <a16:creationId xmlns:a16="http://schemas.microsoft.com/office/drawing/2014/main" id="{4E6C05B6-E721-42E4-82C9-17071522D00A}"/>
              </a:ext>
            </a:extLst>
          </p:cNvPr>
          <p:cNvSpPr txBox="1"/>
          <p:nvPr/>
        </p:nvSpPr>
        <p:spPr>
          <a:xfrm>
            <a:off x="414696" y="1251303"/>
            <a:ext cx="8359190" cy="2733056"/>
          </a:xfrm>
          <a:prstGeom prst="rect">
            <a:avLst/>
          </a:prstGeom>
        </p:spPr>
        <p:txBody>
          <a:bodyPr vert="horz" wrap="square" lIns="0" tIns="0" rIns="0" bIns="0" rtlCol="0">
            <a:spAutoFit/>
          </a:bodyPr>
          <a:lstStyle/>
          <a:p>
            <a:pPr marL="536575" indent="-285750" algn="just">
              <a:lnSpc>
                <a:spcPct val="110000"/>
              </a:lnSpc>
              <a:spcAft>
                <a:spcPts val="1200"/>
              </a:spcAft>
              <a:buSzPct val="100000"/>
              <a:buFont typeface="Arial" panose="020B0604020202020204" pitchFamily="34" charset="0"/>
              <a:buChar char="•"/>
              <a:tabLst>
                <a:tab pos="121285" algn="l"/>
              </a:tabLst>
            </a:pPr>
            <a:r>
              <a:rPr lang="es-PE" sz="1400" dirty="0">
                <a:sym typeface="Wingdings" pitchFamily="2" charset="2"/>
              </a:rPr>
              <a:t>Práctica que </a:t>
            </a:r>
            <a:r>
              <a:rPr lang="es-PE" sz="1400" dirty="0" smtClean="0">
                <a:sym typeface="Wingdings" pitchFamily="2" charset="2"/>
              </a:rPr>
              <a:t>se usa para</a:t>
            </a:r>
            <a:r>
              <a:rPr lang="es-PE" sz="1400" dirty="0" smtClean="0">
                <a:sym typeface="Wingdings" pitchFamily="2" charset="2"/>
              </a:rPr>
              <a:t> </a:t>
            </a:r>
            <a:r>
              <a:rPr lang="es-PE" sz="1400" dirty="0">
                <a:sym typeface="Wingdings" pitchFamily="2" charset="2"/>
              </a:rPr>
              <a:t>gestionar el ciclo de vida de cualquier elemento de tecnología que </a:t>
            </a:r>
            <a:r>
              <a:rPr lang="es-PE" sz="1400" dirty="0" smtClean="0">
                <a:sym typeface="Wingdings" pitchFamily="2" charset="2"/>
              </a:rPr>
              <a:t>sea importante </a:t>
            </a:r>
            <a:r>
              <a:rPr lang="es-PE" sz="1400" dirty="0">
                <a:sym typeface="Wingdings" pitchFamily="2" charset="2"/>
              </a:rPr>
              <a:t>para una organización: infraestructura, comunicaciones, recursos humanos, documentación y aplicaciones.</a:t>
            </a:r>
          </a:p>
          <a:p>
            <a:pPr marL="536575" indent="-285750" algn="just">
              <a:lnSpc>
                <a:spcPct val="120000"/>
              </a:lnSpc>
              <a:spcAft>
                <a:spcPts val="1200"/>
              </a:spcAft>
              <a:buSzPct val="100000"/>
              <a:buFont typeface="Arial" panose="020B0604020202020204" pitchFamily="34" charset="0"/>
              <a:buChar char="•"/>
              <a:tabLst>
                <a:tab pos="121285" algn="l"/>
              </a:tabLst>
            </a:pPr>
            <a:r>
              <a:rPr lang="es-PE" sz="1400" dirty="0">
                <a:sym typeface="Wingdings" pitchFamily="2" charset="2"/>
              </a:rPr>
              <a:t>Una adecuada gestión de activos de TI permitirá:</a:t>
            </a:r>
          </a:p>
          <a:p>
            <a:pPr marL="982663" indent="-285750">
              <a:spcAft>
                <a:spcPts val="1200"/>
              </a:spcAft>
              <a:buFont typeface="Courier New" panose="02070309020205020404" pitchFamily="49" charset="0"/>
              <a:buChar char="o"/>
            </a:pPr>
            <a:r>
              <a:rPr lang="es-PE" sz="1400" dirty="0"/>
              <a:t>Proceso simplificado para la adquisición y recepción de activos de TI.</a:t>
            </a:r>
          </a:p>
          <a:p>
            <a:pPr marL="982663" indent="-285750">
              <a:spcAft>
                <a:spcPts val="1200"/>
              </a:spcAft>
              <a:buFont typeface="Courier New" panose="02070309020205020404" pitchFamily="49" charset="0"/>
              <a:buChar char="o"/>
            </a:pPr>
            <a:r>
              <a:rPr lang="es-PE" sz="1400" dirty="0"/>
              <a:t>Monitoreo de todos los activos de TI, ubicaciones y cambios.</a:t>
            </a:r>
          </a:p>
          <a:p>
            <a:pPr marL="982663" indent="-285750">
              <a:spcAft>
                <a:spcPts val="1200"/>
              </a:spcAft>
              <a:buFont typeface="Courier New" panose="02070309020205020404" pitchFamily="49" charset="0"/>
              <a:buChar char="o"/>
            </a:pPr>
            <a:r>
              <a:rPr lang="es-PE" sz="1400" dirty="0"/>
              <a:t>Mejor control del coste de licencias de software. </a:t>
            </a:r>
          </a:p>
          <a:p>
            <a:pPr marL="982663" indent="-285750">
              <a:spcAft>
                <a:spcPts val="1200"/>
              </a:spcAft>
              <a:buFont typeface="Courier New" panose="02070309020205020404" pitchFamily="49" charset="0"/>
              <a:buChar char="o"/>
            </a:pPr>
            <a:r>
              <a:rPr lang="es-PE" sz="1400" dirty="0"/>
              <a:t>Registrar y gestionar todos los contratos para licencias, de arrendamiento, garantía y mantenimiento.</a:t>
            </a:r>
          </a:p>
          <a:p>
            <a:pPr marL="982663" indent="-285750">
              <a:spcAft>
                <a:spcPts val="1200"/>
              </a:spcAft>
              <a:buFont typeface="Courier New" panose="02070309020205020404" pitchFamily="49" charset="0"/>
              <a:buChar char="o"/>
            </a:pPr>
            <a:r>
              <a:rPr lang="es-PE" sz="1400" dirty="0"/>
              <a:t>Crear y hacer cumplir estándares o un marco de referencia de la tecnología.</a:t>
            </a:r>
          </a:p>
        </p:txBody>
      </p:sp>
      <p:pic>
        <p:nvPicPr>
          <p:cNvPr id="2" name="Imagen 1"/>
          <p:cNvPicPr>
            <a:picLocks noChangeAspect="1"/>
          </p:cNvPicPr>
          <p:nvPr/>
        </p:nvPicPr>
        <p:blipFill>
          <a:blip r:embed="rId3"/>
          <a:stretch>
            <a:fillRect/>
          </a:stretch>
        </p:blipFill>
        <p:spPr>
          <a:xfrm>
            <a:off x="3633665" y="4078514"/>
            <a:ext cx="2206220" cy="1331457"/>
          </a:xfrm>
          <a:prstGeom prst="rect">
            <a:avLst/>
          </a:prstGeom>
        </p:spPr>
      </p:pic>
    </p:spTree>
    <p:extLst>
      <p:ext uri="{BB962C8B-B14F-4D97-AF65-F5344CB8AC3E}">
        <p14:creationId xmlns:p14="http://schemas.microsoft.com/office/powerpoint/2010/main" val="1598677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COMPLEJIDAD DE TI</a:t>
            </a:r>
          </a:p>
        </p:txBody>
      </p:sp>
    </p:spTree>
    <p:custDataLst>
      <p:tags r:id="rId1"/>
    </p:custDataLst>
    <p:extLst>
      <p:ext uri="{BB962C8B-B14F-4D97-AF65-F5344CB8AC3E}">
        <p14:creationId xmlns:p14="http://schemas.microsoft.com/office/powerpoint/2010/main" val="836058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COMPLEJIDAD DE TI</a:t>
            </a:r>
          </a:p>
        </p:txBody>
      </p:sp>
      <p:sp>
        <p:nvSpPr>
          <p:cNvPr id="6" name="object 7">
            <a:extLst>
              <a:ext uri="{FF2B5EF4-FFF2-40B4-BE49-F238E27FC236}">
                <a16:creationId xmlns:a16="http://schemas.microsoft.com/office/drawing/2014/main" id="{09E8ECC1-8BBB-4554-B23E-E8BE1C6F74D3}"/>
              </a:ext>
            </a:extLst>
          </p:cNvPr>
          <p:cNvSpPr txBox="1"/>
          <p:nvPr/>
        </p:nvSpPr>
        <p:spPr>
          <a:xfrm>
            <a:off x="325672" y="895703"/>
            <a:ext cx="4347928" cy="2594556"/>
          </a:xfrm>
          <a:prstGeom prst="rect">
            <a:avLst/>
          </a:prstGeom>
        </p:spPr>
        <p:txBody>
          <a:bodyPr vert="horz" wrap="square" lIns="0" tIns="0" rIns="0" bIns="0" rtlCol="0">
            <a:spAutoFit/>
          </a:bodyPr>
          <a:lstStyle/>
          <a:p>
            <a:pPr marL="446088" indent="-168275" algn="just">
              <a:lnSpc>
                <a:spcPct val="120000"/>
              </a:lnSpc>
              <a:spcAft>
                <a:spcPts val="1800"/>
              </a:spcAft>
              <a:buSzPct val="100000"/>
              <a:buFont typeface="Arial"/>
              <a:buChar char="•"/>
              <a:tabLst>
                <a:tab pos="536575" algn="l"/>
              </a:tabLst>
            </a:pPr>
            <a:r>
              <a:rPr lang="es-PE" sz="1600" dirty="0">
                <a:sym typeface="Wingdings" pitchFamily="2" charset="2"/>
              </a:rPr>
              <a:t>Está referida a la </a:t>
            </a:r>
            <a:r>
              <a:rPr lang="es-PE" sz="1600" dirty="0" smtClean="0">
                <a:sym typeface="Wingdings" pitchFamily="2" charset="2"/>
              </a:rPr>
              <a:t>disparidad </a:t>
            </a:r>
            <a:r>
              <a:rPr lang="es-PE" sz="1600" dirty="0">
                <a:sym typeface="Wingdings" pitchFamily="2" charset="2"/>
              </a:rPr>
              <a:t>y heterogeneidad no controlada del conjunto de componentes tecnológicos que opera un área de TI (procesos automatizados, aplicaciones, bases de datos, servidores, switches, etc.)</a:t>
            </a:r>
          </a:p>
          <a:p>
            <a:pPr marL="446088" indent="-168275" algn="just">
              <a:lnSpc>
                <a:spcPct val="120000"/>
              </a:lnSpc>
              <a:spcAft>
                <a:spcPts val="1800"/>
              </a:spcAft>
              <a:buSzPct val="100000"/>
              <a:buFont typeface="Arial"/>
              <a:buChar char="•"/>
              <a:tabLst>
                <a:tab pos="536575" algn="l"/>
              </a:tabLst>
            </a:pPr>
            <a:r>
              <a:rPr lang="es-PE" sz="1600" dirty="0" smtClean="0">
                <a:sym typeface="Wingdings" pitchFamily="2" charset="2"/>
              </a:rPr>
              <a:t>Generalmente, </a:t>
            </a:r>
            <a:r>
              <a:rPr lang="es-PE" sz="1600" dirty="0">
                <a:sym typeface="Wingdings" pitchFamily="2" charset="2"/>
              </a:rPr>
              <a:t>la complejidad de TI se mide por medio de un indicador anual o semestral </a:t>
            </a:r>
            <a:r>
              <a:rPr lang="es-PE" sz="1600" dirty="0" smtClean="0">
                <a:sym typeface="Wingdings" pitchFamily="2" charset="2"/>
              </a:rPr>
              <a:t>con el fin de reducirlo.</a:t>
            </a:r>
            <a:endParaRPr lang="es-PE" sz="1600" dirty="0">
              <a:sym typeface="Wingdings" pitchFamily="2" charset="2"/>
            </a:endParaRPr>
          </a:p>
        </p:txBody>
      </p:sp>
      <p:pic>
        <p:nvPicPr>
          <p:cNvPr id="2" name="Imagen 1"/>
          <p:cNvPicPr>
            <a:picLocks noChangeAspect="1"/>
          </p:cNvPicPr>
          <p:nvPr/>
        </p:nvPicPr>
        <p:blipFill>
          <a:blip r:embed="rId3"/>
          <a:stretch>
            <a:fillRect/>
          </a:stretch>
        </p:blipFill>
        <p:spPr>
          <a:xfrm>
            <a:off x="4981333" y="950685"/>
            <a:ext cx="4046553" cy="2705128"/>
          </a:xfrm>
          <a:prstGeom prst="rect">
            <a:avLst/>
          </a:prstGeom>
        </p:spPr>
      </p:pic>
    </p:spTree>
    <p:extLst>
      <p:ext uri="{BB962C8B-B14F-4D97-AF65-F5344CB8AC3E}">
        <p14:creationId xmlns:p14="http://schemas.microsoft.com/office/powerpoint/2010/main" val="2850793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a:t>
            </a:r>
            <a:r>
              <a:rPr lang="es-PE" sz="2800" b="1" i="1" dirty="0">
                <a:solidFill>
                  <a:schemeClr val="bg1"/>
                </a:solidFill>
                <a:latin typeface="Calibri"/>
                <a:cs typeface="Calibri"/>
              </a:rPr>
              <a:t>BIG DATA</a:t>
            </a:r>
          </a:p>
        </p:txBody>
      </p:sp>
    </p:spTree>
    <p:custDataLst>
      <p:tags r:id="rId1"/>
    </p:custDataLst>
    <p:extLst>
      <p:ext uri="{BB962C8B-B14F-4D97-AF65-F5344CB8AC3E}">
        <p14:creationId xmlns:p14="http://schemas.microsoft.com/office/powerpoint/2010/main" val="4021726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t>
            </a:r>
            <a:r>
              <a:rPr lang="en-US" sz="1700" b="1" i="1" dirty="0">
                <a:solidFill>
                  <a:srgbClr val="438AD7"/>
                </a:solidFill>
              </a:rPr>
              <a:t>BIG DATA</a:t>
            </a:r>
          </a:p>
        </p:txBody>
      </p:sp>
      <p:sp>
        <p:nvSpPr>
          <p:cNvPr id="6" name="object 7">
            <a:extLst>
              <a:ext uri="{FF2B5EF4-FFF2-40B4-BE49-F238E27FC236}">
                <a16:creationId xmlns:a16="http://schemas.microsoft.com/office/drawing/2014/main" id="{09E8ECC1-8BBB-4554-B23E-E8BE1C6F74D3}"/>
              </a:ext>
            </a:extLst>
          </p:cNvPr>
          <p:cNvSpPr txBox="1"/>
          <p:nvPr/>
        </p:nvSpPr>
        <p:spPr>
          <a:xfrm>
            <a:off x="325672" y="927806"/>
            <a:ext cx="6082385" cy="3982629"/>
          </a:xfrm>
          <a:prstGeom prst="rect">
            <a:avLst/>
          </a:prstGeom>
        </p:spPr>
        <p:txBody>
          <a:bodyPr vert="horz" wrap="square" lIns="0" tIns="0" rIns="0" bIns="0" rtlCol="0">
            <a:spAutoFit/>
          </a:bodyPr>
          <a:lstStyle/>
          <a:p>
            <a:pPr marL="446088" indent="-168275" algn="just">
              <a:lnSpc>
                <a:spcPct val="110000"/>
              </a:lnSpc>
              <a:spcAft>
                <a:spcPts val="1800"/>
              </a:spcAft>
              <a:buSzPct val="100000"/>
              <a:buFont typeface="Arial"/>
              <a:buChar char="•"/>
              <a:tabLst>
                <a:tab pos="536575" algn="l"/>
              </a:tabLst>
            </a:pPr>
            <a:r>
              <a:rPr lang="es-PE" sz="1600" i="1" dirty="0">
                <a:sym typeface="Wingdings" pitchFamily="2" charset="2"/>
              </a:rPr>
              <a:t>Big Data </a:t>
            </a:r>
            <a:r>
              <a:rPr lang="es-PE" sz="1600" dirty="0">
                <a:sym typeface="Wingdings" pitchFamily="2" charset="2"/>
              </a:rPr>
              <a:t>es el análisis masivo de datos, una inmensa cantidad de datos tan grande que las aplicaciones de software de procesamiento de datos tradicionales no son capaces de capturar, tratar y generar valor de ellos en un tiempo razonable.</a:t>
            </a:r>
          </a:p>
          <a:p>
            <a:pPr marL="446088" indent="-168275" algn="just">
              <a:lnSpc>
                <a:spcPct val="110000"/>
              </a:lnSpc>
              <a:spcAft>
                <a:spcPts val="1800"/>
              </a:spcAft>
              <a:buSzPct val="100000"/>
              <a:buFont typeface="Arial"/>
              <a:buChar char="•"/>
              <a:tabLst>
                <a:tab pos="536575" algn="l"/>
              </a:tabLst>
            </a:pPr>
            <a:r>
              <a:rPr lang="es-PE" sz="1600" dirty="0">
                <a:sym typeface="Wingdings" pitchFamily="2" charset="2"/>
              </a:rPr>
              <a:t>El mismo término también se refiere a las nuevas tecnologías que hacen posible el almacenamiento y procesamiento de esos grandes volúmenes de datos.</a:t>
            </a:r>
          </a:p>
          <a:p>
            <a:pPr marL="446088" indent="-168275" algn="just">
              <a:lnSpc>
                <a:spcPct val="110000"/>
              </a:lnSpc>
              <a:spcAft>
                <a:spcPts val="1800"/>
              </a:spcAft>
              <a:buSzPct val="100000"/>
              <a:buFont typeface="Arial"/>
              <a:buChar char="•"/>
              <a:tabLst>
                <a:tab pos="536575" algn="l"/>
              </a:tabLst>
            </a:pPr>
            <a:r>
              <a:rPr lang="es-PE" sz="1600" dirty="0">
                <a:sym typeface="Wingdings" pitchFamily="2" charset="2"/>
              </a:rPr>
              <a:t>La gran popularidad del </a:t>
            </a:r>
            <a:r>
              <a:rPr lang="es-PE" sz="1600" i="1" dirty="0">
                <a:sym typeface="Wingdings" pitchFamily="2" charset="2"/>
              </a:rPr>
              <a:t>Big Data </a:t>
            </a:r>
            <a:r>
              <a:rPr lang="es-PE" sz="1600" dirty="0" smtClean="0">
                <a:sym typeface="Wingdings" pitchFamily="2" charset="2"/>
              </a:rPr>
              <a:t>se debe</a:t>
            </a:r>
            <a:r>
              <a:rPr lang="es-PE" sz="1600" dirty="0" smtClean="0">
                <a:sym typeface="Wingdings" pitchFamily="2" charset="2"/>
              </a:rPr>
              <a:t> </a:t>
            </a:r>
            <a:r>
              <a:rPr lang="es-PE" sz="1600" dirty="0">
                <a:sym typeface="Wingdings" pitchFamily="2" charset="2"/>
              </a:rPr>
              <a:t>principalmente a la oportunidad que ven en ella las grandes empresas de poder analizar millones de datos de distintas procedencias como redes sociales, imágenes digitales, emails, encuestas, logs, señales de móvil, etc.; </a:t>
            </a:r>
            <a:r>
              <a:rPr lang="es-PE" sz="1600" dirty="0" smtClean="0">
                <a:sym typeface="Wingdings" pitchFamily="2" charset="2"/>
              </a:rPr>
              <a:t>que permite </a:t>
            </a:r>
            <a:r>
              <a:rPr lang="es-PE" sz="1600" dirty="0">
                <a:sym typeface="Wingdings" pitchFamily="2" charset="2"/>
              </a:rPr>
              <a:t>que la toma de decisiones sea mucho más rápida, precisa y efectiva.</a:t>
            </a:r>
          </a:p>
        </p:txBody>
      </p:sp>
      <p:pic>
        <p:nvPicPr>
          <p:cNvPr id="3" name="Imagen 2">
            <a:extLst>
              <a:ext uri="{FF2B5EF4-FFF2-40B4-BE49-F238E27FC236}">
                <a16:creationId xmlns:a16="http://schemas.microsoft.com/office/drawing/2014/main" id="{5052A763-6C90-4DA4-B7A4-F4B8B65C7B9E}"/>
              </a:ext>
            </a:extLst>
          </p:cNvPr>
          <p:cNvPicPr>
            <a:picLocks noChangeAspect="1"/>
          </p:cNvPicPr>
          <p:nvPr/>
        </p:nvPicPr>
        <p:blipFill>
          <a:blip r:embed="rId3"/>
          <a:stretch>
            <a:fillRect/>
          </a:stretch>
        </p:blipFill>
        <p:spPr>
          <a:xfrm>
            <a:off x="6669550" y="1806348"/>
            <a:ext cx="2097977" cy="2102303"/>
          </a:xfrm>
          <a:prstGeom prst="rect">
            <a:avLst/>
          </a:prstGeom>
        </p:spPr>
      </p:pic>
    </p:spTree>
    <p:extLst>
      <p:ext uri="{BB962C8B-B14F-4D97-AF65-F5344CB8AC3E}">
        <p14:creationId xmlns:p14="http://schemas.microsoft.com/office/powerpoint/2010/main" val="28317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t>
            </a:r>
            <a:r>
              <a:rPr lang="en-US" sz="1700" b="1" i="1" dirty="0">
                <a:solidFill>
                  <a:srgbClr val="438AD7"/>
                </a:solidFill>
              </a:rPr>
              <a:t>BIG DATA</a:t>
            </a:r>
          </a:p>
        </p:txBody>
      </p:sp>
      <p:sp>
        <p:nvSpPr>
          <p:cNvPr id="7" name="object 7">
            <a:extLst>
              <a:ext uri="{FF2B5EF4-FFF2-40B4-BE49-F238E27FC236}">
                <a16:creationId xmlns:a16="http://schemas.microsoft.com/office/drawing/2014/main" id="{DE4FD461-753E-4E61-AB46-B24EBFEB133B}"/>
              </a:ext>
            </a:extLst>
          </p:cNvPr>
          <p:cNvSpPr txBox="1"/>
          <p:nvPr/>
        </p:nvSpPr>
        <p:spPr>
          <a:xfrm>
            <a:off x="510908" y="1250427"/>
            <a:ext cx="8110577" cy="541687"/>
          </a:xfrm>
          <a:prstGeom prst="rect">
            <a:avLst/>
          </a:prstGeom>
        </p:spPr>
        <p:txBody>
          <a:bodyPr vert="horz" wrap="square" lIns="0" tIns="0" rIns="0" bIns="0" rtlCol="0">
            <a:spAutoFit/>
          </a:bodyPr>
          <a:lstStyle/>
          <a:p>
            <a:pPr algn="just">
              <a:lnSpc>
                <a:spcPct val="110000"/>
              </a:lnSpc>
              <a:spcAft>
                <a:spcPts val="1800"/>
              </a:spcAft>
              <a:buSzPct val="100000"/>
              <a:tabLst>
                <a:tab pos="536575" algn="l"/>
              </a:tabLst>
            </a:pPr>
            <a:r>
              <a:rPr lang="es-ES" sz="1600" dirty="0"/>
              <a:t>Detrás de </a:t>
            </a:r>
            <a:r>
              <a:rPr lang="es-ES" sz="1600" i="1" dirty="0"/>
              <a:t>Big Data </a:t>
            </a:r>
            <a:r>
              <a:rPr lang="es-ES" sz="1600" dirty="0"/>
              <a:t>hay datos estructurados, semiestructurados y no estructurados. En cada tipo hay mucha información útil que </a:t>
            </a:r>
            <a:r>
              <a:rPr lang="es-ES" sz="1600" dirty="0" smtClean="0"/>
              <a:t>se puede </a:t>
            </a:r>
            <a:r>
              <a:rPr lang="es-ES" sz="1600" dirty="0"/>
              <a:t>extraer para usar en diferentes proyectos.</a:t>
            </a:r>
            <a:endParaRPr lang="es-PE" sz="1600" dirty="0">
              <a:sym typeface="Wingdings" pitchFamily="2" charset="2"/>
            </a:endParaRPr>
          </a:p>
        </p:txBody>
      </p:sp>
      <p:pic>
        <p:nvPicPr>
          <p:cNvPr id="14340" name="Picture 4" descr="What Is Big Data Analytics? - Intellipaat Blog">
            <a:extLst>
              <a:ext uri="{FF2B5EF4-FFF2-40B4-BE49-F238E27FC236}">
                <a16:creationId xmlns:a16="http://schemas.microsoft.com/office/drawing/2014/main" id="{A805BCE2-7B39-498B-ABFA-C1AC1BC373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584549"/>
            <a:ext cx="7620000" cy="2162175"/>
          </a:xfrm>
          <a:prstGeom prst="rect">
            <a:avLst/>
          </a:prstGeom>
          <a:noFill/>
          <a:extLst>
            <a:ext uri="{909E8E84-426E-40DD-AFC4-6F175D3DCCD1}">
              <a14:hiddenFill xmlns:a14="http://schemas.microsoft.com/office/drawing/2010/main">
                <a:solidFill>
                  <a:srgbClr val="FFFFFF"/>
                </a:solidFill>
              </a14:hiddenFill>
            </a:ext>
          </a:extLst>
        </p:spPr>
      </p:pic>
      <p:sp>
        <p:nvSpPr>
          <p:cNvPr id="8" name="object 7">
            <a:extLst>
              <a:ext uri="{FF2B5EF4-FFF2-40B4-BE49-F238E27FC236}">
                <a16:creationId xmlns:a16="http://schemas.microsoft.com/office/drawing/2014/main" id="{337FAEDE-A1FF-4566-98CB-A2E931F5BA51}"/>
              </a:ext>
            </a:extLst>
          </p:cNvPr>
          <p:cNvSpPr txBox="1"/>
          <p:nvPr/>
        </p:nvSpPr>
        <p:spPr>
          <a:xfrm>
            <a:off x="510908" y="832233"/>
            <a:ext cx="4235263"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TIPOS DE DATOS SEGÚN SU ESTRUCTURA</a:t>
            </a:r>
          </a:p>
        </p:txBody>
      </p:sp>
    </p:spTree>
    <p:extLst>
      <p:ext uri="{BB962C8B-B14F-4D97-AF65-F5344CB8AC3E}">
        <p14:creationId xmlns:p14="http://schemas.microsoft.com/office/powerpoint/2010/main" val="1934612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a:t>
            </a:r>
            <a:r>
              <a:rPr lang="en-US" sz="1700" b="1" i="1" dirty="0">
                <a:solidFill>
                  <a:srgbClr val="438AD7"/>
                </a:solidFill>
              </a:rPr>
              <a:t>BIG DATA</a:t>
            </a:r>
          </a:p>
        </p:txBody>
      </p:sp>
      <p:sp>
        <p:nvSpPr>
          <p:cNvPr id="7" name="object 7">
            <a:extLst>
              <a:ext uri="{FF2B5EF4-FFF2-40B4-BE49-F238E27FC236}">
                <a16:creationId xmlns:a16="http://schemas.microsoft.com/office/drawing/2014/main" id="{DE4FD461-753E-4E61-AB46-B24EBFEB133B}"/>
              </a:ext>
            </a:extLst>
          </p:cNvPr>
          <p:cNvSpPr txBox="1"/>
          <p:nvPr/>
        </p:nvSpPr>
        <p:spPr>
          <a:xfrm>
            <a:off x="510908" y="1251303"/>
            <a:ext cx="4489263" cy="1802288"/>
          </a:xfrm>
          <a:prstGeom prst="rect">
            <a:avLst/>
          </a:prstGeom>
        </p:spPr>
        <p:txBody>
          <a:bodyPr vert="horz" wrap="square" lIns="0" tIns="0" rIns="0" bIns="0" rtlCol="0">
            <a:spAutoFit/>
          </a:bodyPr>
          <a:lstStyle/>
          <a:p>
            <a:pPr marL="355600" indent="-268288" algn="just">
              <a:lnSpc>
                <a:spcPct val="110000"/>
              </a:lnSpc>
              <a:spcAft>
                <a:spcPts val="900"/>
              </a:spcAft>
              <a:buSzPct val="100000"/>
              <a:buFont typeface="+mj-lt"/>
              <a:buAutoNum type="romanUcPeriod"/>
              <a:tabLst>
                <a:tab pos="536575" algn="l"/>
              </a:tabLst>
            </a:pPr>
            <a:r>
              <a:rPr lang="es-ES" sz="1600" dirty="0">
                <a:sym typeface="Wingdings" pitchFamily="2" charset="2"/>
              </a:rPr>
              <a:t>Detección y análisis de fuentes de información.</a:t>
            </a:r>
          </a:p>
          <a:p>
            <a:pPr marL="355600" indent="-268288" algn="just">
              <a:lnSpc>
                <a:spcPct val="110000"/>
              </a:lnSpc>
              <a:spcAft>
                <a:spcPts val="900"/>
              </a:spcAft>
              <a:buSzPct val="100000"/>
              <a:buFont typeface="+mj-lt"/>
              <a:buAutoNum type="romanUcPeriod"/>
              <a:tabLst>
                <a:tab pos="536575" algn="l"/>
              </a:tabLst>
            </a:pPr>
            <a:r>
              <a:rPr lang="es-ES" sz="1600" dirty="0"/>
              <a:t>Almacenamiento y </a:t>
            </a:r>
            <a:r>
              <a:rPr lang="es-ES" sz="1600" dirty="0" smtClean="0"/>
              <a:t>organización </a:t>
            </a:r>
            <a:r>
              <a:rPr lang="es-ES" sz="1600" dirty="0"/>
              <a:t>de los </a:t>
            </a:r>
            <a:r>
              <a:rPr lang="es-ES" sz="1600" dirty="0" smtClean="0"/>
              <a:t>datos</a:t>
            </a:r>
            <a:endParaRPr lang="es-ES" sz="1600" dirty="0"/>
          </a:p>
          <a:p>
            <a:pPr marL="355600" indent="-268288" algn="just">
              <a:lnSpc>
                <a:spcPct val="110000"/>
              </a:lnSpc>
              <a:spcAft>
                <a:spcPts val="900"/>
              </a:spcAft>
              <a:buSzPct val="100000"/>
              <a:buFont typeface="+mj-lt"/>
              <a:buAutoNum type="romanUcPeriod"/>
              <a:tabLst>
                <a:tab pos="536575" algn="l"/>
              </a:tabLst>
            </a:pPr>
            <a:r>
              <a:rPr lang="es-ES" sz="1600" dirty="0"/>
              <a:t>Pre-procesado y </a:t>
            </a:r>
            <a:r>
              <a:rPr lang="es-ES" sz="1600" dirty="0" smtClean="0"/>
              <a:t>calidad </a:t>
            </a:r>
            <a:r>
              <a:rPr lang="es-ES" sz="1600" dirty="0"/>
              <a:t>del </a:t>
            </a:r>
            <a:r>
              <a:rPr lang="es-ES" sz="1600" dirty="0" smtClean="0"/>
              <a:t>dato</a:t>
            </a:r>
            <a:endParaRPr lang="es-ES" sz="1600" dirty="0"/>
          </a:p>
          <a:p>
            <a:pPr marL="355600" indent="-268288" algn="just">
              <a:lnSpc>
                <a:spcPct val="110000"/>
              </a:lnSpc>
              <a:spcAft>
                <a:spcPts val="900"/>
              </a:spcAft>
              <a:buSzPct val="100000"/>
              <a:buFont typeface="+mj-lt"/>
              <a:buAutoNum type="romanUcPeriod"/>
              <a:tabLst>
                <a:tab pos="536575" algn="l"/>
              </a:tabLst>
            </a:pPr>
            <a:r>
              <a:rPr lang="es-PE" sz="1600" dirty="0"/>
              <a:t>Analítica </a:t>
            </a:r>
            <a:r>
              <a:rPr lang="es-PE" sz="1600" dirty="0" smtClean="0"/>
              <a:t>predictiva </a:t>
            </a:r>
            <a:r>
              <a:rPr lang="es-PE" sz="1600" dirty="0"/>
              <a:t>y </a:t>
            </a:r>
            <a:r>
              <a:rPr lang="es-PE" sz="1600" dirty="0" smtClean="0"/>
              <a:t>prescriptiva</a:t>
            </a:r>
            <a:endParaRPr lang="es-PE" sz="1600" dirty="0"/>
          </a:p>
          <a:p>
            <a:pPr marL="355600" indent="-268288" algn="just">
              <a:lnSpc>
                <a:spcPct val="110000"/>
              </a:lnSpc>
              <a:spcAft>
                <a:spcPts val="900"/>
              </a:spcAft>
              <a:buSzPct val="100000"/>
              <a:buFont typeface="+mj-lt"/>
              <a:buAutoNum type="romanUcPeriod"/>
              <a:tabLst>
                <a:tab pos="536575" algn="l"/>
              </a:tabLst>
            </a:pPr>
            <a:r>
              <a:rPr lang="es-PE" sz="1600" dirty="0"/>
              <a:t>Explotación de resultados</a:t>
            </a:r>
            <a:endParaRPr lang="es-ES" sz="1600" dirty="0">
              <a:sym typeface="Wingdings" pitchFamily="2" charset="2"/>
            </a:endParaRPr>
          </a:p>
        </p:txBody>
      </p:sp>
      <p:sp>
        <p:nvSpPr>
          <p:cNvPr id="8" name="object 7">
            <a:extLst>
              <a:ext uri="{FF2B5EF4-FFF2-40B4-BE49-F238E27FC236}">
                <a16:creationId xmlns:a16="http://schemas.microsoft.com/office/drawing/2014/main" id="{337FAEDE-A1FF-4566-98CB-A2E931F5BA51}"/>
              </a:ext>
            </a:extLst>
          </p:cNvPr>
          <p:cNvSpPr txBox="1"/>
          <p:nvPr/>
        </p:nvSpPr>
        <p:spPr>
          <a:xfrm>
            <a:off x="510908" y="832233"/>
            <a:ext cx="4235263"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FASES DE UN PROYECTO DE </a:t>
            </a:r>
            <a:r>
              <a:rPr lang="es-PE" sz="1700" b="1" i="1" spc="-10" dirty="0">
                <a:solidFill>
                  <a:srgbClr val="262626"/>
                </a:solidFill>
                <a:cs typeface="Source Sans Pro"/>
              </a:rPr>
              <a:t>BIG DATA</a:t>
            </a:r>
          </a:p>
        </p:txBody>
      </p:sp>
      <p:grpSp>
        <p:nvGrpSpPr>
          <p:cNvPr id="4" name="Grupo 3">
            <a:extLst>
              <a:ext uri="{FF2B5EF4-FFF2-40B4-BE49-F238E27FC236}">
                <a16:creationId xmlns:a16="http://schemas.microsoft.com/office/drawing/2014/main" id="{7CD8DAFF-D5F3-429A-9CAC-DD91822D35D1}"/>
              </a:ext>
            </a:extLst>
          </p:cNvPr>
          <p:cNvGrpSpPr/>
          <p:nvPr/>
        </p:nvGrpSpPr>
        <p:grpSpPr>
          <a:xfrm>
            <a:off x="667113" y="3107840"/>
            <a:ext cx="7965979" cy="2037474"/>
            <a:chOff x="667113" y="3180412"/>
            <a:chExt cx="7965979" cy="2037474"/>
          </a:xfrm>
        </p:grpSpPr>
        <p:sp>
          <p:nvSpPr>
            <p:cNvPr id="2" name="Flecha: a la derecha 1">
              <a:extLst>
                <a:ext uri="{FF2B5EF4-FFF2-40B4-BE49-F238E27FC236}">
                  <a16:creationId xmlns:a16="http://schemas.microsoft.com/office/drawing/2014/main" id="{9E01C5B9-EB3F-4EA6-8EED-083E043A4367}"/>
                </a:ext>
              </a:extLst>
            </p:cNvPr>
            <p:cNvSpPr/>
            <p:nvPr/>
          </p:nvSpPr>
          <p:spPr>
            <a:xfrm>
              <a:off x="1306286" y="3180412"/>
              <a:ext cx="7326806" cy="2037474"/>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PE" dirty="0"/>
            </a:p>
          </p:txBody>
        </p:sp>
        <p:sp>
          <p:nvSpPr>
            <p:cNvPr id="3" name="Rectángulo: esquinas redondeadas 2">
              <a:extLst>
                <a:ext uri="{FF2B5EF4-FFF2-40B4-BE49-F238E27FC236}">
                  <a16:creationId xmlns:a16="http://schemas.microsoft.com/office/drawing/2014/main" id="{A7001A4D-0BA2-4140-9ABA-B3AA002029CE}"/>
                </a:ext>
              </a:extLst>
            </p:cNvPr>
            <p:cNvSpPr/>
            <p:nvPr/>
          </p:nvSpPr>
          <p:spPr>
            <a:xfrm>
              <a:off x="667113" y="3547205"/>
              <a:ext cx="1254011" cy="1304996"/>
            </a:xfrm>
            <a:prstGeom prst="roundRect">
              <a:avLst/>
            </a:prstGeom>
            <a:solidFill>
              <a:schemeClr val="accent6">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200" dirty="0">
                  <a:solidFill>
                    <a:schemeClr val="bg1"/>
                  </a:solidFill>
                  <a:sym typeface="Wingdings" pitchFamily="2" charset="2"/>
                </a:rPr>
                <a:t>Detección y análisis de fuentes de información</a:t>
              </a:r>
              <a:endParaRPr lang="es-PE" sz="1200" dirty="0">
                <a:solidFill>
                  <a:schemeClr val="bg1"/>
                </a:solidFill>
              </a:endParaRPr>
            </a:p>
          </p:txBody>
        </p:sp>
        <p:sp>
          <p:nvSpPr>
            <p:cNvPr id="9" name="Rectángulo: esquinas redondeadas 8">
              <a:extLst>
                <a:ext uri="{FF2B5EF4-FFF2-40B4-BE49-F238E27FC236}">
                  <a16:creationId xmlns:a16="http://schemas.microsoft.com/office/drawing/2014/main" id="{CCA90C94-4468-4B9D-B155-CA8135092D5E}"/>
                </a:ext>
              </a:extLst>
            </p:cNvPr>
            <p:cNvSpPr/>
            <p:nvPr/>
          </p:nvSpPr>
          <p:spPr>
            <a:xfrm>
              <a:off x="2091267" y="3576481"/>
              <a:ext cx="1463393" cy="1304996"/>
            </a:xfrm>
            <a:prstGeom prst="roundRect">
              <a:avLst/>
            </a:prstGeom>
            <a:solidFill>
              <a:schemeClr val="accent5">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87312" algn="ctr">
                <a:lnSpc>
                  <a:spcPct val="110000"/>
                </a:lnSpc>
                <a:spcAft>
                  <a:spcPts val="900"/>
                </a:spcAft>
                <a:buSzPct val="100000"/>
                <a:tabLst>
                  <a:tab pos="536575" algn="l"/>
                </a:tabLst>
              </a:pPr>
              <a:r>
                <a:rPr lang="es-ES" sz="1200" dirty="0">
                  <a:solidFill>
                    <a:schemeClr val="bg1"/>
                  </a:solidFill>
                </a:rPr>
                <a:t>Almacenamiento y Organización de los Datos</a:t>
              </a:r>
            </a:p>
          </p:txBody>
        </p:sp>
        <p:sp>
          <p:nvSpPr>
            <p:cNvPr id="10" name="Rectángulo: esquinas redondeadas 9">
              <a:extLst>
                <a:ext uri="{FF2B5EF4-FFF2-40B4-BE49-F238E27FC236}">
                  <a16:creationId xmlns:a16="http://schemas.microsoft.com/office/drawing/2014/main" id="{5BF48BF3-457F-4BBB-8150-17F97A9A6989}"/>
                </a:ext>
              </a:extLst>
            </p:cNvPr>
            <p:cNvSpPr/>
            <p:nvPr/>
          </p:nvSpPr>
          <p:spPr>
            <a:xfrm>
              <a:off x="3724803" y="3576481"/>
              <a:ext cx="1308809" cy="1304996"/>
            </a:xfrm>
            <a:prstGeom prst="round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87312" algn="ctr">
                <a:lnSpc>
                  <a:spcPct val="110000"/>
                </a:lnSpc>
                <a:spcAft>
                  <a:spcPts val="900"/>
                </a:spcAft>
                <a:buSzPct val="100000"/>
                <a:tabLst>
                  <a:tab pos="536575" algn="l"/>
                </a:tabLst>
              </a:pPr>
              <a:r>
                <a:rPr lang="es-ES" sz="1200" dirty="0">
                  <a:solidFill>
                    <a:schemeClr val="bg1"/>
                  </a:solidFill>
                </a:rPr>
                <a:t>Pre-procesado y Calidad del Dato</a:t>
              </a:r>
            </a:p>
          </p:txBody>
        </p:sp>
        <p:sp>
          <p:nvSpPr>
            <p:cNvPr id="11" name="Rectángulo: esquinas redondeadas 10">
              <a:extLst>
                <a:ext uri="{FF2B5EF4-FFF2-40B4-BE49-F238E27FC236}">
                  <a16:creationId xmlns:a16="http://schemas.microsoft.com/office/drawing/2014/main" id="{44EC2AE8-6DFD-4F28-A925-DC4DEB81C796}"/>
                </a:ext>
              </a:extLst>
            </p:cNvPr>
            <p:cNvSpPr/>
            <p:nvPr/>
          </p:nvSpPr>
          <p:spPr>
            <a:xfrm>
              <a:off x="5203755" y="3546651"/>
              <a:ext cx="1254011" cy="1304996"/>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87312" algn="ctr">
                <a:lnSpc>
                  <a:spcPct val="110000"/>
                </a:lnSpc>
                <a:spcAft>
                  <a:spcPts val="900"/>
                </a:spcAft>
                <a:buSzPct val="100000"/>
                <a:tabLst>
                  <a:tab pos="536575" algn="l"/>
                </a:tabLst>
              </a:pPr>
              <a:r>
                <a:rPr lang="es-ES" sz="1200" dirty="0">
                  <a:solidFill>
                    <a:schemeClr val="bg1"/>
                  </a:solidFill>
                </a:rPr>
                <a:t>Analítica Predictiva y descriptiva</a:t>
              </a:r>
            </a:p>
          </p:txBody>
        </p:sp>
        <p:sp>
          <p:nvSpPr>
            <p:cNvPr id="12" name="Rectángulo: esquinas redondeadas 11">
              <a:extLst>
                <a:ext uri="{FF2B5EF4-FFF2-40B4-BE49-F238E27FC236}">
                  <a16:creationId xmlns:a16="http://schemas.microsoft.com/office/drawing/2014/main" id="{1EBB1BF1-DD59-497F-8864-6D87B5766988}"/>
                </a:ext>
              </a:extLst>
            </p:cNvPr>
            <p:cNvSpPr/>
            <p:nvPr/>
          </p:nvSpPr>
          <p:spPr>
            <a:xfrm>
              <a:off x="6627909" y="3546651"/>
              <a:ext cx="1308809" cy="1304996"/>
            </a:xfrm>
            <a:prstGeom prst="roundRect">
              <a:avLst/>
            </a:prstGeom>
            <a:solidFill>
              <a:schemeClr val="tx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87312" algn="ctr">
                <a:lnSpc>
                  <a:spcPct val="110000"/>
                </a:lnSpc>
                <a:spcAft>
                  <a:spcPts val="900"/>
                </a:spcAft>
                <a:buSzPct val="100000"/>
                <a:tabLst>
                  <a:tab pos="536575" algn="l"/>
                </a:tabLst>
              </a:pPr>
              <a:r>
                <a:rPr lang="es-ES" sz="1200" dirty="0">
                  <a:solidFill>
                    <a:schemeClr val="bg1"/>
                  </a:solidFill>
                </a:rPr>
                <a:t>Analítica Predictiva y descriptiva</a:t>
              </a:r>
            </a:p>
          </p:txBody>
        </p:sp>
      </p:grpSp>
    </p:spTree>
    <p:extLst>
      <p:ext uri="{BB962C8B-B14F-4D97-AF65-F5344CB8AC3E}">
        <p14:creationId xmlns:p14="http://schemas.microsoft.com/office/powerpoint/2010/main" val="2382538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INTERNET DE LAS COSAS</a:t>
            </a:r>
          </a:p>
        </p:txBody>
      </p:sp>
    </p:spTree>
    <p:custDataLst>
      <p:tags r:id="rId1"/>
    </p:custDataLst>
    <p:extLst>
      <p:ext uri="{BB962C8B-B14F-4D97-AF65-F5344CB8AC3E}">
        <p14:creationId xmlns:p14="http://schemas.microsoft.com/office/powerpoint/2010/main" val="1998207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INTERNET DE LAS COSAS</a:t>
            </a:r>
          </a:p>
        </p:txBody>
      </p:sp>
      <p:sp>
        <p:nvSpPr>
          <p:cNvPr id="6" name="object 7">
            <a:extLst>
              <a:ext uri="{FF2B5EF4-FFF2-40B4-BE49-F238E27FC236}">
                <a16:creationId xmlns:a16="http://schemas.microsoft.com/office/drawing/2014/main" id="{09E8ECC1-8BBB-4554-B23E-E8BE1C6F74D3}"/>
              </a:ext>
            </a:extLst>
          </p:cNvPr>
          <p:cNvSpPr txBox="1"/>
          <p:nvPr/>
        </p:nvSpPr>
        <p:spPr>
          <a:xfrm>
            <a:off x="325672" y="895703"/>
            <a:ext cx="4340671" cy="2343975"/>
          </a:xfrm>
          <a:prstGeom prst="rect">
            <a:avLst/>
          </a:prstGeom>
        </p:spPr>
        <p:txBody>
          <a:bodyPr vert="horz" wrap="square" lIns="0" tIns="0" rIns="0" bIns="0" rtlCol="0">
            <a:spAutoFit/>
          </a:bodyPr>
          <a:lstStyle/>
          <a:p>
            <a:pPr marL="446088" indent="-168275" algn="just">
              <a:lnSpc>
                <a:spcPct val="120000"/>
              </a:lnSpc>
              <a:spcAft>
                <a:spcPts val="1800"/>
              </a:spcAft>
              <a:buSzPct val="100000"/>
              <a:buFont typeface="Arial"/>
              <a:buChar char="•"/>
              <a:tabLst>
                <a:tab pos="536575" algn="l"/>
              </a:tabLst>
            </a:pPr>
            <a:r>
              <a:rPr lang="es-ES" sz="1600" dirty="0"/>
              <a:t>Es el proceso que permite conectar elementos físicos cotidianos al Internet: desde objetos domésticos comunes, como las bombillas de luz, hasta recursos para la atención de la salud, como los dispositivos médicos; también abarca prendas y accesorios personales inteligentes e incluso los sistemas de las ciudades inteligentes.</a:t>
            </a:r>
          </a:p>
        </p:txBody>
      </p:sp>
      <p:pic>
        <p:nvPicPr>
          <p:cNvPr id="3" name="Imagen 2">
            <a:extLst>
              <a:ext uri="{FF2B5EF4-FFF2-40B4-BE49-F238E27FC236}">
                <a16:creationId xmlns:a16="http://schemas.microsoft.com/office/drawing/2014/main" id="{6597E618-4C56-401F-A13A-01EAC4448D35}"/>
              </a:ext>
            </a:extLst>
          </p:cNvPr>
          <p:cNvPicPr>
            <a:picLocks noChangeAspect="1"/>
          </p:cNvPicPr>
          <p:nvPr/>
        </p:nvPicPr>
        <p:blipFill>
          <a:blip r:embed="rId3"/>
          <a:stretch>
            <a:fillRect/>
          </a:stretch>
        </p:blipFill>
        <p:spPr>
          <a:xfrm>
            <a:off x="5029262" y="1129733"/>
            <a:ext cx="3523054" cy="3571648"/>
          </a:xfrm>
          <a:prstGeom prst="rect">
            <a:avLst/>
          </a:prstGeom>
        </p:spPr>
      </p:pic>
    </p:spTree>
    <p:extLst>
      <p:ext uri="{BB962C8B-B14F-4D97-AF65-F5344CB8AC3E}">
        <p14:creationId xmlns:p14="http://schemas.microsoft.com/office/powerpoint/2010/main" val="1414584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INTERNET DE LAS COSAS</a:t>
            </a:r>
          </a:p>
        </p:txBody>
      </p:sp>
      <p:sp>
        <p:nvSpPr>
          <p:cNvPr id="6" name="object 7">
            <a:extLst>
              <a:ext uri="{FF2B5EF4-FFF2-40B4-BE49-F238E27FC236}">
                <a16:creationId xmlns:a16="http://schemas.microsoft.com/office/drawing/2014/main" id="{09E8ECC1-8BBB-4554-B23E-E8BE1C6F74D3}"/>
              </a:ext>
            </a:extLst>
          </p:cNvPr>
          <p:cNvSpPr txBox="1"/>
          <p:nvPr/>
        </p:nvSpPr>
        <p:spPr>
          <a:xfrm>
            <a:off x="325671" y="895703"/>
            <a:ext cx="8252271" cy="1772793"/>
          </a:xfrm>
          <a:prstGeom prst="rect">
            <a:avLst/>
          </a:prstGeom>
        </p:spPr>
        <p:txBody>
          <a:bodyPr vert="horz" wrap="square" lIns="0" tIns="0" rIns="0" bIns="0" rtlCol="0">
            <a:spAutoFit/>
          </a:bodyPr>
          <a:lstStyle/>
          <a:p>
            <a:pPr marL="446088" indent="-168275" algn="just">
              <a:lnSpc>
                <a:spcPct val="120000"/>
              </a:lnSpc>
              <a:spcAft>
                <a:spcPts val="1800"/>
              </a:spcAft>
              <a:buSzPct val="100000"/>
              <a:buFont typeface="Arial"/>
              <a:buChar char="•"/>
              <a:tabLst>
                <a:tab pos="536575" algn="l"/>
              </a:tabLst>
            </a:pPr>
            <a:r>
              <a:rPr lang="es-ES" sz="1600" b="0" i="0" dirty="0">
                <a:solidFill>
                  <a:srgbClr val="3C3C3C"/>
                </a:solidFill>
                <a:effectLst/>
                <a:latin typeface="SAPBook"/>
              </a:rPr>
              <a:t>Pero hoy, más específicamente IoT significa cosas conectadas que están equipadas con sensores, software y otras tecnologías que les permiten transmitir y recibir datos “hacia y desde otras cosas”. Tradicionalmente, la conectividad se conseguía principalmente a través de Wi-Fi, mientras que hoy en día la 5G y otros tipos de plataformas de red son cada vez más capaces de manejar grandes </a:t>
            </a:r>
            <a:r>
              <a:rPr lang="es-ES" sz="1600" b="0" i="1" dirty="0">
                <a:solidFill>
                  <a:srgbClr val="3C3C3C"/>
                </a:solidFill>
                <a:effectLst/>
                <a:latin typeface="SAPBook"/>
              </a:rPr>
              <a:t>data sets </a:t>
            </a:r>
            <a:r>
              <a:rPr lang="es-ES" sz="1600" b="0" i="0" dirty="0">
                <a:solidFill>
                  <a:srgbClr val="3C3C3C"/>
                </a:solidFill>
                <a:effectLst/>
                <a:latin typeface="SAPBook"/>
              </a:rPr>
              <a:t>con velocidad y confiabilidad.</a:t>
            </a:r>
          </a:p>
        </p:txBody>
      </p:sp>
      <p:pic>
        <p:nvPicPr>
          <p:cNvPr id="13314" name="Picture 2" descr="5G IoT: What does 5G mean for IoT?">
            <a:extLst>
              <a:ext uri="{FF2B5EF4-FFF2-40B4-BE49-F238E27FC236}">
                <a16:creationId xmlns:a16="http://schemas.microsoft.com/office/drawing/2014/main" id="{4BFDC753-2D86-481F-B1A5-1A6A7000E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3258" y="2691487"/>
            <a:ext cx="4443865" cy="2493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9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ángulo 10"/>
          <p:cNvSpPr/>
          <p:nvPr/>
        </p:nvSpPr>
        <p:spPr>
          <a:xfrm>
            <a:off x="2304789" y="965680"/>
            <a:ext cx="6370899" cy="3939540"/>
          </a:xfrm>
          <a:prstGeom prst="rect">
            <a:avLst/>
          </a:prstGeom>
        </p:spPr>
        <p:txBody>
          <a:bodyPr wrap="square" lIns="0" tIns="0" rIns="0" bIns="0">
            <a:spAutoFit/>
          </a:bodyPr>
          <a:lstStyle/>
          <a:p>
            <a:pPr marL="180975" indent="-180975">
              <a:buFont typeface="Arial" panose="020B0604020202020204" pitchFamily="34" charset="0"/>
              <a:buChar char="•"/>
            </a:pPr>
            <a:r>
              <a:rPr lang="es-PE" sz="1600" dirty="0">
                <a:solidFill>
                  <a:srgbClr val="FFFFFF"/>
                </a:solidFill>
                <a:latin typeface="+mj-lt"/>
                <a:ea typeface="Calibri" panose="020F0502020204030204" pitchFamily="34" charset="0"/>
                <a:cs typeface="Source Sans Pro" panose="020B0604020202020204" charset="0"/>
              </a:rPr>
              <a:t>El objetivo de la arquitectura empresarial es ayudar a la organización a gestionar procesos que promuevan la implementación de estrategias de negocio impulsadas a través de las tecnologías de </a:t>
            </a:r>
            <a:r>
              <a:rPr lang="es-PE" sz="1600" dirty="0" smtClean="0">
                <a:solidFill>
                  <a:srgbClr val="FFFFFF"/>
                </a:solidFill>
                <a:latin typeface="+mj-lt"/>
                <a:ea typeface="Calibri" panose="020F0502020204030204" pitchFamily="34" charset="0"/>
                <a:cs typeface="Source Sans Pro" panose="020B0604020202020204" charset="0"/>
              </a:rPr>
              <a:t>información</a:t>
            </a:r>
            <a:r>
              <a:rPr lang="es-PE" sz="1600" dirty="0" smtClean="0">
                <a:solidFill>
                  <a:srgbClr val="FFFFFF"/>
                </a:solidFill>
                <a:latin typeface="+mj-lt"/>
                <a:ea typeface="Calibri" panose="020F0502020204030204" pitchFamily="34" charset="0"/>
                <a:cs typeface="Source Sans Pro" panose="020B0604020202020204" charset="0"/>
              </a:rPr>
              <a:t>; y sus componentes son la</a:t>
            </a:r>
            <a:r>
              <a:rPr lang="es-PE" sz="1600" dirty="0" smtClean="0">
                <a:solidFill>
                  <a:srgbClr val="FFFFFF"/>
                </a:solidFill>
                <a:latin typeface="+mj-lt"/>
                <a:ea typeface="Calibri" panose="020F0502020204030204" pitchFamily="34" charset="0"/>
                <a:cs typeface="Source Sans Pro" panose="020B0604020202020204" charset="0"/>
              </a:rPr>
              <a:t> </a:t>
            </a:r>
            <a:r>
              <a:rPr lang="es-PE" sz="1600" dirty="0">
                <a:solidFill>
                  <a:srgbClr val="FFFFFF"/>
                </a:solidFill>
                <a:latin typeface="+mj-lt"/>
                <a:ea typeface="Calibri" panose="020F0502020204030204" pitchFamily="34" charset="0"/>
                <a:cs typeface="Source Sans Pro" panose="020B0604020202020204" charset="0"/>
              </a:rPr>
              <a:t>arquitectura de información, </a:t>
            </a:r>
            <a:r>
              <a:rPr lang="es-PE" sz="1600" dirty="0" smtClean="0">
                <a:solidFill>
                  <a:srgbClr val="FFFFFF"/>
                </a:solidFill>
                <a:latin typeface="+mj-lt"/>
                <a:ea typeface="Calibri" panose="020F0502020204030204" pitchFamily="34" charset="0"/>
                <a:cs typeface="Source Sans Pro" panose="020B0604020202020204" charset="0"/>
              </a:rPr>
              <a:t>la arquitectura </a:t>
            </a:r>
            <a:r>
              <a:rPr lang="es-PE" sz="1600" dirty="0">
                <a:solidFill>
                  <a:srgbClr val="FFFFFF"/>
                </a:solidFill>
                <a:latin typeface="+mj-lt"/>
                <a:ea typeface="Calibri" panose="020F0502020204030204" pitchFamily="34" charset="0"/>
                <a:cs typeface="Source Sans Pro" panose="020B0604020202020204" charset="0"/>
              </a:rPr>
              <a:t>de negocio, </a:t>
            </a:r>
            <a:r>
              <a:rPr lang="es-PE" sz="1600" dirty="0" smtClean="0">
                <a:solidFill>
                  <a:srgbClr val="FFFFFF"/>
                </a:solidFill>
                <a:latin typeface="+mj-lt"/>
                <a:ea typeface="Calibri" panose="020F0502020204030204" pitchFamily="34" charset="0"/>
                <a:cs typeface="Source Sans Pro" panose="020B0604020202020204" charset="0"/>
              </a:rPr>
              <a:t>la arquitectura </a:t>
            </a:r>
            <a:r>
              <a:rPr lang="es-PE" sz="1600" dirty="0">
                <a:solidFill>
                  <a:srgbClr val="FFFFFF"/>
                </a:solidFill>
                <a:latin typeface="+mj-lt"/>
                <a:ea typeface="Calibri" panose="020F0502020204030204" pitchFamily="34" charset="0"/>
                <a:cs typeface="Source Sans Pro" panose="020B0604020202020204" charset="0"/>
              </a:rPr>
              <a:t>de aplicaciones y </a:t>
            </a:r>
            <a:r>
              <a:rPr lang="es-PE" sz="1600" dirty="0" smtClean="0">
                <a:solidFill>
                  <a:srgbClr val="FFFFFF"/>
                </a:solidFill>
                <a:latin typeface="+mj-lt"/>
                <a:ea typeface="Calibri" panose="020F0502020204030204" pitchFamily="34" charset="0"/>
                <a:cs typeface="Source Sans Pro" panose="020B0604020202020204" charset="0"/>
              </a:rPr>
              <a:t>la arquitectura </a:t>
            </a:r>
            <a:r>
              <a:rPr lang="es-PE" sz="1600" dirty="0">
                <a:solidFill>
                  <a:srgbClr val="FFFFFF"/>
                </a:solidFill>
                <a:latin typeface="+mj-lt"/>
                <a:ea typeface="Calibri" panose="020F0502020204030204" pitchFamily="34" charset="0"/>
                <a:cs typeface="Source Sans Pro" panose="020B0604020202020204" charset="0"/>
              </a:rPr>
              <a:t>tecnológica.</a:t>
            </a:r>
          </a:p>
          <a:p>
            <a:pPr marL="180975" indent="-180975">
              <a:buFont typeface="Arial" panose="020B0604020202020204" pitchFamily="34" charset="0"/>
              <a:buChar char="•"/>
            </a:pPr>
            <a:endParaRPr lang="es-PE" sz="1600" dirty="0">
              <a:solidFill>
                <a:srgbClr val="FFFFFF"/>
              </a:solidFill>
              <a:latin typeface="+mj-lt"/>
              <a:ea typeface="Calibri" panose="020F0502020204030204" pitchFamily="34" charset="0"/>
              <a:cs typeface="Source Sans Pro" panose="020B0604020202020204" charset="0"/>
            </a:endParaRPr>
          </a:p>
          <a:p>
            <a:pPr marL="180975" indent="-180975">
              <a:buFont typeface="Arial" panose="020B0604020202020204" pitchFamily="34" charset="0"/>
              <a:buChar char="•"/>
            </a:pPr>
            <a:r>
              <a:rPr lang="es-PE" sz="1600" dirty="0" smtClean="0">
                <a:solidFill>
                  <a:srgbClr val="FFFFFF"/>
                </a:solidFill>
                <a:latin typeface="+mj-lt"/>
                <a:ea typeface="Calibri" panose="020F0502020204030204" pitchFamily="34" charset="0"/>
                <a:cs typeface="Source Sans Pro" panose="020B0604020202020204" charset="0"/>
              </a:rPr>
              <a:t>La</a:t>
            </a:r>
            <a:r>
              <a:rPr lang="es-PE" sz="1600" dirty="0">
                <a:solidFill>
                  <a:srgbClr val="FFFFFF"/>
                </a:solidFill>
                <a:latin typeface="+mj-lt"/>
                <a:ea typeface="Calibri" panose="020F0502020204030204" pitchFamily="34" charset="0"/>
                <a:cs typeface="Source Sans Pro" panose="020B0604020202020204" charset="0"/>
              </a:rPr>
              <a:t> matriz de asignación de responsabilidades RACI se utiliza generalmente en la gestión de proyectos para relacionar actividades con recursos para asegurar que cada uno de los componentes del alcance esté asignado a una persona o a un equipo</a:t>
            </a:r>
            <a:r>
              <a:rPr lang="es-PE" sz="1600" dirty="0" smtClean="0">
                <a:solidFill>
                  <a:srgbClr val="FFFFFF"/>
                </a:solidFill>
                <a:latin typeface="+mj-lt"/>
                <a:ea typeface="Calibri" panose="020F0502020204030204" pitchFamily="34" charset="0"/>
                <a:cs typeface="Source Sans Pro" panose="020B0604020202020204" charset="0"/>
              </a:rPr>
              <a:t>.</a:t>
            </a:r>
          </a:p>
          <a:p>
            <a:pPr marL="180975" indent="-180975">
              <a:buFont typeface="Arial" panose="020B0604020202020204" pitchFamily="34" charset="0"/>
              <a:buChar char="•"/>
            </a:pPr>
            <a:endParaRPr lang="es-PE" sz="1600" dirty="0">
              <a:solidFill>
                <a:srgbClr val="FFFFFF"/>
              </a:solidFill>
              <a:latin typeface="+mj-lt"/>
              <a:ea typeface="Calibri" panose="020F0502020204030204" pitchFamily="34" charset="0"/>
              <a:cs typeface="Source Sans Pro" panose="020B0604020202020204" charset="0"/>
            </a:endParaRPr>
          </a:p>
          <a:p>
            <a:pPr marL="180975" indent="-180975">
              <a:buFont typeface="Arial" panose="020B0604020202020204" pitchFamily="34" charset="0"/>
              <a:buChar char="•"/>
            </a:pPr>
            <a:r>
              <a:rPr lang="es-PE" sz="1600" dirty="0">
                <a:solidFill>
                  <a:srgbClr val="FFFFFF"/>
                </a:solidFill>
                <a:ea typeface="Calibri" panose="020F0502020204030204" pitchFamily="34" charset="0"/>
                <a:cs typeface="Source Sans Pro" panose="020B0604020202020204" charset="0"/>
              </a:rPr>
              <a:t>La gestión tecnológica busca integrar el proceso de cambio tecnológico con los aspectos estratégicos y operativos del control y la toma de decisiones de la empresa; mientras que la gestión de activos de TI permite gestionar el ciclo de vida de cualquier elemento de tecnología que posea valor para una organización</a:t>
            </a:r>
            <a:r>
              <a:rPr lang="es-PE" sz="1600" dirty="0" smtClean="0">
                <a:solidFill>
                  <a:srgbClr val="FFFFFF"/>
                </a:solidFill>
                <a:ea typeface="Calibri" panose="020F0502020204030204" pitchFamily="34" charset="0"/>
                <a:cs typeface="Source Sans Pro" panose="020B0604020202020204" charset="0"/>
              </a:rPr>
              <a:t>.</a:t>
            </a:r>
            <a:endParaRPr lang="es-PE" sz="1600" dirty="0">
              <a:solidFill>
                <a:srgbClr val="FFFFFF"/>
              </a:solidFill>
              <a:ea typeface="Calibri" panose="020F0502020204030204" pitchFamily="34" charset="0"/>
              <a:cs typeface="Source Sans Pro" panose="020B0604020202020204" charset="0"/>
            </a:endParaRPr>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Tree>
    <p:custDataLst>
      <p:tags r:id="rId1"/>
    </p:custDataLst>
    <p:extLst>
      <p:ext uri="{BB962C8B-B14F-4D97-AF65-F5344CB8AC3E}">
        <p14:creationId xmlns:p14="http://schemas.microsoft.com/office/powerpoint/2010/main" val="718352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ángulo 10"/>
          <p:cNvSpPr/>
          <p:nvPr/>
        </p:nvSpPr>
        <p:spPr>
          <a:xfrm>
            <a:off x="2304789" y="965680"/>
            <a:ext cx="6370899" cy="2462213"/>
          </a:xfrm>
          <a:prstGeom prst="rect">
            <a:avLst/>
          </a:prstGeom>
        </p:spPr>
        <p:txBody>
          <a:bodyPr wrap="square" lIns="0" tIns="0" rIns="0" bIns="0">
            <a:spAutoFit/>
          </a:bodyPr>
          <a:lstStyle/>
          <a:p>
            <a:pPr marL="180975" indent="-180975">
              <a:buFont typeface="Arial" panose="020B0604020202020204" pitchFamily="34" charset="0"/>
              <a:buChar char="•"/>
            </a:pPr>
            <a:r>
              <a:rPr lang="es-PE" sz="1600" dirty="0">
                <a:solidFill>
                  <a:srgbClr val="FFFFFF"/>
                </a:solidFill>
                <a:latin typeface="+mj-lt"/>
                <a:sym typeface="Wingdings" pitchFamily="2" charset="2"/>
              </a:rPr>
              <a:t>Big Data es el análisis masivo de </a:t>
            </a:r>
            <a:r>
              <a:rPr lang="es-PE" sz="1600" dirty="0" smtClean="0">
                <a:solidFill>
                  <a:srgbClr val="FFFFFF"/>
                </a:solidFill>
                <a:latin typeface="+mj-lt"/>
                <a:sym typeface="Wingdings" pitchFamily="2" charset="2"/>
              </a:rPr>
              <a:t>datos que </a:t>
            </a:r>
            <a:r>
              <a:rPr lang="es-PE" sz="1600" dirty="0">
                <a:solidFill>
                  <a:srgbClr val="FFFFFF"/>
                </a:solidFill>
                <a:latin typeface="+mj-lt"/>
                <a:sym typeface="Wingdings" pitchFamily="2" charset="2"/>
              </a:rPr>
              <a:t>las aplicaciones de software de procesamiento de datos tradicionales no son capaces de </a:t>
            </a:r>
            <a:r>
              <a:rPr lang="es-PE" sz="1600" dirty="0" smtClean="0">
                <a:solidFill>
                  <a:srgbClr val="FFFFFF"/>
                </a:solidFill>
                <a:latin typeface="+mj-lt"/>
                <a:sym typeface="Wingdings" pitchFamily="2" charset="2"/>
              </a:rPr>
              <a:t>manejar. </a:t>
            </a:r>
            <a:r>
              <a:rPr lang="es-PE" sz="1600" dirty="0" smtClean="0">
                <a:solidFill>
                  <a:srgbClr val="FFFFFF"/>
                </a:solidFill>
                <a:latin typeface="+mj-lt"/>
                <a:sym typeface="Wingdings" pitchFamily="2" charset="2"/>
              </a:rPr>
              <a:t>Comúnmente, es usada por </a:t>
            </a:r>
            <a:r>
              <a:rPr lang="es-PE" sz="1600" dirty="0" smtClean="0">
                <a:solidFill>
                  <a:schemeClr val="bg1"/>
                </a:solidFill>
                <a:sym typeface="Wingdings" pitchFamily="2" charset="2"/>
              </a:rPr>
              <a:t>las </a:t>
            </a:r>
            <a:r>
              <a:rPr lang="es-PE" sz="1600" dirty="0">
                <a:solidFill>
                  <a:schemeClr val="bg1"/>
                </a:solidFill>
                <a:sym typeface="Wingdings" pitchFamily="2" charset="2"/>
              </a:rPr>
              <a:t>grandes empresas de poder analizar millones de datos para que la toma de decisiones sea mucho más rápida, precisa y efectiva.</a:t>
            </a:r>
          </a:p>
          <a:p>
            <a:pPr marL="180975" indent="-180975">
              <a:buFont typeface="Arial" panose="020B0604020202020204" pitchFamily="34" charset="0"/>
              <a:buChar char="•"/>
            </a:pPr>
            <a:endParaRPr lang="es-PE" sz="1600" dirty="0">
              <a:solidFill>
                <a:schemeClr val="bg1"/>
              </a:solidFill>
              <a:sym typeface="Wingdings" pitchFamily="2" charset="2"/>
            </a:endParaRPr>
          </a:p>
          <a:p>
            <a:pPr marL="180975" indent="-180975">
              <a:buFont typeface="Arial" panose="020B0604020202020204" pitchFamily="34" charset="0"/>
              <a:buChar char="•"/>
            </a:pPr>
            <a:r>
              <a:rPr lang="es-ES" sz="1600" dirty="0" smtClean="0">
                <a:solidFill>
                  <a:schemeClr val="bg1"/>
                </a:solidFill>
              </a:rPr>
              <a:t>El </a:t>
            </a:r>
            <a:r>
              <a:rPr lang="es-ES" sz="1600" dirty="0">
                <a:solidFill>
                  <a:schemeClr val="bg1"/>
                </a:solidFill>
              </a:rPr>
              <a:t>Internet de las cosas es el proceso que permite conectar elementos físicos cotidianos al Internet: desde objetos domésticos comunes, hasta recursos para la atención de la salud, también abarca prendas y accesorios personales inteligentes e incluso los sistemas de las ciudades inteligentes.</a:t>
            </a:r>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Tree>
    <p:custDataLst>
      <p:tags r:id="rId1"/>
    </p:custDataLst>
    <p:extLst>
      <p:ext uri="{BB962C8B-B14F-4D97-AF65-F5344CB8AC3E}">
        <p14:creationId xmlns:p14="http://schemas.microsoft.com/office/powerpoint/2010/main" val="3033072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515764" y="965679"/>
            <a:ext cx="7881937" cy="3612806"/>
          </a:xfrm>
          <a:prstGeom prst="rect">
            <a:avLst/>
          </a:prstGeom>
        </p:spPr>
        <p:txBody>
          <a:bodyPr lIns="0" tIns="0" rIns="0" bIns="0"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4625" indent="-174625">
              <a:spcBef>
                <a:spcPts val="0"/>
              </a:spcBef>
              <a:buSzPct val="100000"/>
            </a:pPr>
            <a:r>
              <a:rPr lang="es" sz="1500" dirty="0">
                <a:cs typeface="Calibri"/>
                <a:hlinkClick r:id="rId3"/>
              </a:rPr>
              <a:t>https://www.ecured.cu/Arquitectura_Empresarial</a:t>
            </a:r>
            <a:endParaRPr lang="es" sz="1500" dirty="0">
              <a:cs typeface="Calibri"/>
            </a:endParaRPr>
          </a:p>
          <a:p>
            <a:pPr marL="174625" indent="-174625">
              <a:spcBef>
                <a:spcPts val="0"/>
              </a:spcBef>
              <a:buSzPct val="100000"/>
            </a:pPr>
            <a:r>
              <a:rPr lang="es" sz="1500" dirty="0">
                <a:cs typeface="Calibri"/>
                <a:hlinkClick r:id="rId4"/>
              </a:rPr>
              <a:t>https://colombiadigital.net/actualidad/articulos-informativos/item/8123-que-es-arquitectura-empresarial.html</a:t>
            </a:r>
            <a:endParaRPr lang="es" sz="1500" dirty="0">
              <a:cs typeface="Calibri"/>
            </a:endParaRPr>
          </a:p>
          <a:p>
            <a:pPr marL="174625" indent="-174625">
              <a:spcBef>
                <a:spcPts val="0"/>
              </a:spcBef>
              <a:buSzPct val="100000"/>
            </a:pPr>
            <a:r>
              <a:rPr lang="es" sz="1500" dirty="0">
                <a:cs typeface="Calibri"/>
                <a:hlinkClick r:id="rId5"/>
              </a:rPr>
              <a:t>https://thedigitalprojectmanager.com/es/grafico-raci-manera-mas-simple/</a:t>
            </a:r>
            <a:endParaRPr lang="es" sz="1500" dirty="0">
              <a:cs typeface="Calibri"/>
            </a:endParaRPr>
          </a:p>
          <a:p>
            <a:pPr marL="174625" indent="-174625">
              <a:spcBef>
                <a:spcPts val="0"/>
              </a:spcBef>
              <a:buSzPct val="100000"/>
            </a:pPr>
            <a:r>
              <a:rPr lang="es" sz="1500" dirty="0">
                <a:cs typeface="Calibri"/>
                <a:hlinkClick r:id="rId6"/>
              </a:rPr>
              <a:t>https://www.laboratorioti.com/2016/02/22/ticcionario-una-matriz-raci-usarla/</a:t>
            </a:r>
            <a:endParaRPr lang="es" sz="1500" dirty="0">
              <a:cs typeface="Calibri"/>
            </a:endParaRPr>
          </a:p>
          <a:p>
            <a:pPr marL="174625" indent="-174625">
              <a:spcBef>
                <a:spcPts val="0"/>
              </a:spcBef>
              <a:buSzPct val="100000"/>
            </a:pPr>
            <a:r>
              <a:rPr lang="es" sz="1500" dirty="0">
                <a:cs typeface="Calibri"/>
                <a:hlinkClick r:id="rId7"/>
              </a:rPr>
              <a:t>https://mentory.online/2018/02/raci-o-matriz-de-responsabilidades.html</a:t>
            </a:r>
            <a:endParaRPr lang="es" sz="1500" dirty="0">
              <a:cs typeface="Calibri"/>
            </a:endParaRPr>
          </a:p>
          <a:p>
            <a:pPr marL="174625" indent="-174625">
              <a:spcBef>
                <a:spcPts val="0"/>
              </a:spcBef>
              <a:buSzPct val="100000"/>
            </a:pPr>
            <a:r>
              <a:rPr lang="es" sz="1500" dirty="0">
                <a:cs typeface="Calibri"/>
                <a:hlinkClick r:id="rId8"/>
              </a:rPr>
              <a:t> https://blog.invgate.com/es/itam-101-introducci%C3%B3n-a-la-gesti%C3%B3n-de-activos-de-ti</a:t>
            </a:r>
            <a:endParaRPr lang="es" sz="1500" dirty="0">
              <a:cs typeface="Calibri"/>
            </a:endParaRPr>
          </a:p>
          <a:p>
            <a:pPr marL="174625" indent="-174625">
              <a:spcBef>
                <a:spcPts val="0"/>
              </a:spcBef>
              <a:buSzPct val="100000"/>
            </a:pPr>
            <a:r>
              <a:rPr lang="es" sz="1500" dirty="0">
                <a:cs typeface="Calibri"/>
                <a:hlinkClick r:id="rId9"/>
              </a:rPr>
              <a:t>https://www.dealerworld.es/archive/la-complejidad-de-las-ti-permite-a-las-empresas-ser-mas-competitivas</a:t>
            </a:r>
            <a:endParaRPr lang="es" sz="1500" dirty="0">
              <a:cs typeface="Calibri"/>
            </a:endParaRPr>
          </a:p>
          <a:p>
            <a:pPr marL="174625" indent="-174625">
              <a:spcBef>
                <a:spcPts val="0"/>
              </a:spcBef>
              <a:buSzPct val="100000"/>
            </a:pPr>
            <a:r>
              <a:rPr lang="es" sz="1500" dirty="0">
                <a:cs typeface="Calibri"/>
                <a:hlinkClick r:id="rId10"/>
              </a:rPr>
              <a:t>https://www.axxon.com.br/blog/index.php?id=edoa0sxa</a:t>
            </a:r>
            <a:endParaRPr lang="es" sz="1500" dirty="0">
              <a:cs typeface="Calibri"/>
            </a:endParaRPr>
          </a:p>
          <a:p>
            <a:pPr marL="174625" indent="-174625">
              <a:spcBef>
                <a:spcPts val="0"/>
              </a:spcBef>
              <a:buSzPct val="100000"/>
            </a:pPr>
            <a:r>
              <a:rPr lang="es-PE" sz="1500" dirty="0">
                <a:cs typeface="Calibri"/>
                <a:hlinkClick r:id="rId11"/>
              </a:rPr>
              <a:t>https://www.grupo-novatech.com/las-10-vs-del-big-data/</a:t>
            </a:r>
            <a:r>
              <a:rPr lang="es" sz="1500" dirty="0">
                <a:cs typeface="Calibri"/>
              </a:rPr>
              <a:t> </a:t>
            </a:r>
          </a:p>
          <a:p>
            <a:pPr marL="174625" indent="-174625">
              <a:spcBef>
                <a:spcPts val="0"/>
              </a:spcBef>
              <a:buSzPct val="100000"/>
            </a:pPr>
            <a:r>
              <a:rPr lang="es-PE" sz="1500" dirty="0">
                <a:cs typeface="Calibri"/>
                <a:hlinkClick r:id="rId12"/>
              </a:rPr>
              <a:t>https://www.oracle.com/es/big-data/what-is-big-data/</a:t>
            </a:r>
            <a:r>
              <a:rPr lang="es-PE" sz="1500" dirty="0">
                <a:cs typeface="Calibri"/>
              </a:rPr>
              <a:t> </a:t>
            </a:r>
          </a:p>
          <a:p>
            <a:pPr marL="174625" indent="-174625">
              <a:spcBef>
                <a:spcPts val="0"/>
              </a:spcBef>
              <a:buSzPct val="100000"/>
            </a:pPr>
            <a:r>
              <a:rPr lang="es-PE" sz="1500" dirty="0">
                <a:cs typeface="Calibri"/>
                <a:hlinkClick r:id="rId13"/>
              </a:rPr>
              <a:t>http://blog.masterbase.com/big-data-que-es-y-como-funciona</a:t>
            </a:r>
            <a:r>
              <a:rPr lang="es-PE" sz="1500" dirty="0">
                <a:cs typeface="Calibri"/>
              </a:rPr>
              <a:t> </a:t>
            </a:r>
            <a:endParaRPr lang="es" sz="1500" dirty="0">
              <a:cs typeface="Calibri"/>
            </a:endParaRPr>
          </a:p>
          <a:p>
            <a:pPr marL="174625" indent="-174625">
              <a:spcBef>
                <a:spcPts val="0"/>
              </a:spcBef>
              <a:buSzPct val="100000"/>
            </a:pPr>
            <a:r>
              <a:rPr lang="es-PE" sz="1500" dirty="0">
                <a:cs typeface="Calibri"/>
                <a:hlinkClick r:id="rId14"/>
              </a:rPr>
              <a:t>https://www.redhat.com/es/topics/internet-of-things/what-is-iot</a:t>
            </a:r>
            <a:r>
              <a:rPr lang="es" sz="1500" dirty="0">
                <a:cs typeface="Calibri"/>
              </a:rPr>
              <a:t> </a:t>
            </a:r>
          </a:p>
          <a:p>
            <a:pPr marL="174625" indent="-174625">
              <a:spcBef>
                <a:spcPts val="0"/>
              </a:spcBef>
              <a:buSzPct val="100000"/>
            </a:pPr>
            <a:r>
              <a:rPr lang="es-PE" sz="1500" dirty="0">
                <a:cs typeface="Calibri"/>
                <a:hlinkClick r:id="rId15"/>
              </a:rPr>
              <a:t>https://www.sap.com/latinamerica/insights/what-is-iot-internet-of-things.html</a:t>
            </a:r>
            <a:r>
              <a:rPr lang="es" sz="1500" dirty="0">
                <a:cs typeface="Calibri"/>
              </a:rPr>
              <a:t> </a:t>
            </a:r>
          </a:p>
        </p:txBody>
      </p:sp>
      <p:sp>
        <p:nvSpPr>
          <p:cNvPr id="4" name="Rectangle 5"/>
          <p:cNvSpPr/>
          <p:nvPr/>
        </p:nvSpPr>
        <p:spPr>
          <a:xfrm>
            <a:off x="511154" y="331345"/>
            <a:ext cx="1945800" cy="200055"/>
          </a:xfrm>
          <a:prstGeom prst="rect">
            <a:avLst/>
          </a:prstGeom>
        </p:spPr>
        <p:txBody>
          <a:bodyPr wrap="square" lIns="0" tIns="0" rIns="0" bIns="0">
            <a:spAutoFit/>
          </a:bodyPr>
          <a:lstStyle/>
          <a:p>
            <a:r>
              <a:rPr lang="en-US" sz="1300" dirty="0">
                <a:solidFill>
                  <a:srgbClr val="438AD7"/>
                </a:solidFill>
              </a:rPr>
              <a:t>/ BIBLIOGRAFÍA</a:t>
            </a:r>
          </a:p>
        </p:txBody>
      </p:sp>
    </p:spTree>
    <p:custDataLst>
      <p:tags r:id="rId1"/>
    </p:custDataLst>
    <p:extLst>
      <p:ext uri="{BB962C8B-B14F-4D97-AF65-F5344CB8AC3E}">
        <p14:creationId xmlns:p14="http://schemas.microsoft.com/office/powerpoint/2010/main" val="121629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8810</TotalTime>
  <Words>2373</Words>
  <Application>Microsoft Office PowerPoint</Application>
  <PresentationFormat>Presentación en pantalla (16:10)</PresentationFormat>
  <Paragraphs>257</Paragraphs>
  <Slides>38</Slides>
  <Notes>36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38</vt:i4>
      </vt:variant>
    </vt:vector>
  </HeadingPairs>
  <TitlesOfParts>
    <vt:vector size="45" baseType="lpstr">
      <vt:lpstr>Arial</vt:lpstr>
      <vt:lpstr>Calibri</vt:lpstr>
      <vt:lpstr>Courier New</vt:lpstr>
      <vt:lpstr>SAPBook</vt:lpstr>
      <vt:lpstr>Source Sans Pro</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681</cp:revision>
  <cp:lastPrinted>2018-01-16T21:42:59Z</cp:lastPrinted>
  <dcterms:created xsi:type="dcterms:W3CDTF">2016-10-06T14:52:02Z</dcterms:created>
  <dcterms:modified xsi:type="dcterms:W3CDTF">2022-05-09T21:54:13Z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