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9.xml" ContentType="application/vnd.openxmlformats-officedocument.presentationml.tags+xml"/>
  <Override PartName="/ppt/notesSlides/notesSlide33.xml" ContentType="application/vnd.openxmlformats-officedocument.presentationml.notesSlide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26" r:id="rId2"/>
    <p:sldId id="465" r:id="rId3"/>
    <p:sldId id="466" r:id="rId4"/>
    <p:sldId id="467" r:id="rId5"/>
    <p:sldId id="726" r:id="rId6"/>
    <p:sldId id="727" r:id="rId7"/>
    <p:sldId id="728" r:id="rId8"/>
    <p:sldId id="729" r:id="rId9"/>
    <p:sldId id="734" r:id="rId10"/>
    <p:sldId id="735" r:id="rId11"/>
    <p:sldId id="736" r:id="rId12"/>
    <p:sldId id="737" r:id="rId13"/>
    <p:sldId id="738" r:id="rId14"/>
    <p:sldId id="730" r:id="rId15"/>
    <p:sldId id="731" r:id="rId16"/>
    <p:sldId id="739" r:id="rId17"/>
    <p:sldId id="740" r:id="rId18"/>
    <p:sldId id="741" r:id="rId19"/>
    <p:sldId id="742" r:id="rId20"/>
    <p:sldId id="743" r:id="rId21"/>
    <p:sldId id="732" r:id="rId22"/>
    <p:sldId id="733" r:id="rId23"/>
    <p:sldId id="751" r:id="rId24"/>
    <p:sldId id="750" r:id="rId25"/>
    <p:sldId id="752" r:id="rId26"/>
    <p:sldId id="753" r:id="rId27"/>
    <p:sldId id="754" r:id="rId28"/>
    <p:sldId id="755" r:id="rId29"/>
    <p:sldId id="756" r:id="rId30"/>
    <p:sldId id="757" r:id="rId31"/>
    <p:sldId id="758" r:id="rId32"/>
    <p:sldId id="759" r:id="rId33"/>
    <p:sldId id="725" r:id="rId34"/>
    <p:sldId id="606" r:id="rId35"/>
  </p:sldIdLst>
  <p:sldSz cx="9144000" cy="5715000" type="screen16x10"/>
  <p:notesSz cx="6797675" cy="9926638"/>
  <p:custDataLst>
    <p:tags r:id="rId3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320" userDrawn="1">
          <p15:clr>
            <a:srgbClr val="A4A3A4"/>
          </p15:clr>
        </p15:guide>
        <p15:guide id="11" pos="317" userDrawn="1">
          <p15:clr>
            <a:srgbClr val="A4A3A4"/>
          </p15:clr>
        </p15:guide>
        <p15:guide id="12" orient="horz" pos="553" userDrawn="1">
          <p15:clr>
            <a:srgbClr val="A4A3A4"/>
          </p15:clr>
        </p15:guide>
        <p15:guide id="13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76B7D"/>
    <a:srgbClr val="48C2BB"/>
    <a:srgbClr val="1F85A6"/>
    <a:srgbClr val="F1FDC3"/>
    <a:srgbClr val="9CC606"/>
    <a:srgbClr val="E2F6F1"/>
    <a:srgbClr val="F2F2F2"/>
    <a:srgbClr val="558ED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93" autoAdjust="0"/>
    <p:restoredTop sz="87018" autoAdjust="0"/>
  </p:normalViewPr>
  <p:slideViewPr>
    <p:cSldViewPr snapToGrid="0" snapToObjects="1" showGuides="1">
      <p:cViewPr varScale="1">
        <p:scale>
          <a:sx n="91" d="100"/>
          <a:sy n="91" d="100"/>
        </p:scale>
        <p:origin x="1483" y="67"/>
      </p:cViewPr>
      <p:guideLst>
        <p:guide pos="5465"/>
        <p:guide orient="horz" pos="3320"/>
        <p:guide pos="317"/>
        <p:guide orient="horz" pos="553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12/05/2022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12/05/2022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46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280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8305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5242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7844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7842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7295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Las necesidades de las partes interesadas tienen un efecto en las metas empresariales, en la presente tabla se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JIKLE B+ Times New Roman PSMT"/>
              </a:rPr>
              <a:t>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muestra el conjunto de 13 metas empresariales junto con una serie de métricas asociadas de ejemplo.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6221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Las necesidades de las partes interesadas tienen un efecto en las metas empresariales, en la presente tabla se</a:t>
            </a:r>
            <a:r>
              <a:rPr lang="es-ES" sz="1200" b="1" i="0" u="none" strike="noStrike" baseline="0" dirty="0">
                <a:solidFill>
                  <a:srgbClr val="000000"/>
                </a:solidFill>
                <a:latin typeface="JIKLE B+ Times New Roman PSMT"/>
              </a:rPr>
              <a:t>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muestra el conjunto de 13 metas empresariales junto con una serie de métricas asociadas de ejemplo.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5063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Las necesidades de las partes interesadas tienen un efecto en las metas empresariales, en la presente tabla se</a:t>
            </a:r>
            <a:r>
              <a:rPr lang="es-ES" sz="1200" b="1" i="0" u="none" strike="noStrike" baseline="0" dirty="0">
                <a:solidFill>
                  <a:srgbClr val="000000"/>
                </a:solidFill>
                <a:latin typeface="JIKLE B+ Times New Roman PSMT"/>
              </a:rPr>
              <a:t>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muestra el conjunto de 13 metas empresariales junto con una serie de métricas asociadas de ejemplo.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2115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Las necesidades de las partes interesadas tienen un efecto en las metas empresariales, en la presente tabla se</a:t>
            </a:r>
            <a:r>
              <a:rPr lang="es-ES" sz="1200" b="1" i="0" u="none" strike="noStrike" baseline="0" dirty="0">
                <a:solidFill>
                  <a:srgbClr val="000000"/>
                </a:solidFill>
                <a:latin typeface="JIKLE B+ Times New Roman PSMT"/>
              </a:rPr>
              <a:t>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muestra el conjunto de 13 metas empresariales junto con una serie de métricas asociadas de ejemplo.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7233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Las necesidades de las partes interesadas tienen un efecto en las metas empresariales, en la presente tabla se</a:t>
            </a:r>
            <a:r>
              <a:rPr lang="es-ES" sz="1200" b="1" i="0" u="none" strike="noStrike" baseline="0" dirty="0">
                <a:solidFill>
                  <a:srgbClr val="000000"/>
                </a:solidFill>
                <a:latin typeface="JIKLE B+ Times New Roman PSMT"/>
              </a:rPr>
              <a:t>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muestra el conjunto de 13 metas empresariales junto con una serie de métricas asociadas de ejemplo.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3243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4986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2960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JIKLE B+ Times New Roman PSMT"/>
              </a:rPr>
              <a:t>La siguiente tabla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incluye un conjunto de metas de alineamiento y métricas de ejemplo detalladamente comprensible para su aplicación.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endParaRPr lang="es-PE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endParaRPr lang="es-PE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9321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KLE B+ Times New Roman PSMT"/>
              </a:rPr>
              <a:t>La siguiente tabla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incluye un conjunto de metas de alineamiento y métricas de ejemplo detalladamente comprensible para su aplicación.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4241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KLE B+ Times New Roman PSMT"/>
              </a:rPr>
              <a:t>La siguiente tabla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incluye un conjunto de metas de alineamiento y métricas de ejemplo detalladamente comprensible para su aplicación.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83045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KLE B+ Times New Roman PSMT"/>
              </a:rPr>
              <a:t>La siguiente tabla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incluye un conjunto de metas de alineamiento y métricas de ejemplo detalladamente comprensible para su aplicación.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42700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KLE B+ Times New Roman PSMT"/>
              </a:rPr>
              <a:t>La siguiente tabla </a:t>
            </a: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incluye un conjunto de metas de alineamiento y métricas de ejemplo detalladamente comprensible para su aplicación.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" sz="12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clase desarrollará un taller en grupos basado en un caso donde aplicaremos toda la cascada de metas que ofrece COBIT en su nueva versión 2019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427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7058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14192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616161"/>
                </a:solidFill>
                <a:effectLst/>
                <a:latin typeface="Verdana" panose="020B0604030504040204" pitchFamily="34" charset="0"/>
              </a:rPr>
              <a:t>El marco de COBIT 2019 propone el modelo CORE de COBIT 2019  que está conformado por 40 objetivos de gobierno y gestión, de los cuales 5 son de gobierno y el resto (35) son de gestión.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5097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153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31478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627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34195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50458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02962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02026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3596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En la presente tabla se muestra el modelo core de COBIT, incluyendo los 40 objetivos de gobierno y gestión; adicionalmente enumera todos los objetivos de gobierno y gestión, cada uno de ellos con su declaración de propósito. La declaración de propósito es una elaboración más detallada (con un nivel de detalle mayor) de cada objetivo de gobierno y gestión. 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0595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9767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5523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SISTEMAS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CONTROL Y GOBIERNO DE TI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12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2020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417646" y="398388"/>
            <a:ext cx="87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SESIÓN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80422" y="475914"/>
            <a:ext cx="96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800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493097" y="594683"/>
            <a:ext cx="5904294" cy="647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4400" b="1" dirty="0" smtClean="0">
                <a:solidFill>
                  <a:srgbClr val="FFFFFF"/>
                </a:solidFill>
              </a:rPr>
              <a:t>CASCADA DE METAS</a:t>
            </a:r>
            <a:endParaRPr lang="es-ES" sz="4400" b="1" dirty="0">
              <a:solidFill>
                <a:srgbClr val="FFFFFF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589880" y="1766244"/>
            <a:ext cx="5235567" cy="1549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Definición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Impulsores y necesidades de las partes interesadas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Metas empresariales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Metas de alineamiento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Objetivo de gobierno y gestión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1385597" y="522202"/>
            <a:ext cx="0" cy="720031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417647" y="1460808"/>
            <a:ext cx="8345931" cy="1938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400" b="1" dirty="0">
                <a:solidFill>
                  <a:srgbClr val="1F85A6"/>
                </a:solidFill>
                <a:cs typeface="Calibri"/>
              </a:rPr>
              <a:t>  UNIDAD DE APRENDIZAJE: SISTEMA DE GOBIERNO Y COMPONENTES DE COBIT 2019     </a:t>
            </a:r>
            <a:endParaRPr lang="es-PE" sz="1400" b="1" dirty="0">
              <a:solidFill>
                <a:srgbClr val="1F8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8472751-FD5C-4C14-A418-1AEF0A30EB50}"/>
              </a:ext>
            </a:extLst>
          </p:cNvPr>
          <p:cNvSpPr txBox="1"/>
          <p:nvPr/>
        </p:nvSpPr>
        <p:spPr>
          <a:xfrm>
            <a:off x="507698" y="954483"/>
            <a:ext cx="7730291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>
                <a:cs typeface="Source Sans Pro"/>
              </a:rPr>
              <a:t>En esta sesión </a:t>
            </a:r>
            <a:r>
              <a:rPr lang="es-PE" sz="1600" spc="-10" dirty="0" smtClean="0">
                <a:cs typeface="Source Sans Pro"/>
              </a:rPr>
              <a:t>aprenderás </a:t>
            </a:r>
            <a:r>
              <a:rPr lang="es-PE" sz="1600" spc="-10" dirty="0">
                <a:cs typeface="Source Sans Pro"/>
              </a:rPr>
              <a:t>a utilizar la herramienta de la cascada de metas de COBIT 2019.</a:t>
            </a:r>
            <a:br>
              <a:rPr lang="es-PE" sz="1600" spc="-10" dirty="0">
                <a:cs typeface="Source Sans Pro"/>
              </a:rPr>
            </a:br>
            <a:endParaRPr lang="es-PE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 smtClean="0"/>
              <a:t>Comprenderás </a:t>
            </a:r>
            <a:r>
              <a:rPr lang="es-PE" sz="1600" spc="-10" dirty="0"/>
              <a:t>su definición, </a:t>
            </a:r>
            <a:r>
              <a:rPr lang="es-PE" sz="1600" spc="-10" dirty="0" smtClean="0"/>
              <a:t>los impulsores </a:t>
            </a:r>
            <a:r>
              <a:rPr lang="es-PE" sz="1600" spc="-10" dirty="0"/>
              <a:t>y necesidades de las partes interesadas, metas empresariales, metas de alineamiento y los objetivos de gobierno y gestión.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s-PE" sz="1600" spc="-10" dirty="0"/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/>
              <a:t>Finalmente plantearemos casos donde </a:t>
            </a:r>
            <a:r>
              <a:rPr lang="es-PE" sz="1600" spc="-10" dirty="0" smtClean="0"/>
              <a:t>harás </a:t>
            </a:r>
            <a:r>
              <a:rPr lang="es-PE" sz="1600" spc="-10" dirty="0"/>
              <a:t>uso de la cascada de metas y los apéndices que </a:t>
            </a:r>
            <a:r>
              <a:rPr lang="es-PE" sz="1600" spc="-10" dirty="0" smtClean="0"/>
              <a:t> </a:t>
            </a:r>
            <a:r>
              <a:rPr lang="es-PE" sz="1600" spc="-10" dirty="0"/>
              <a:t>provee el marco de COBIT 2019.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61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DEFINICIÓN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915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DEFINICIÓN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 DE LA CASCADA DE METAS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80100"/>
            <a:ext cx="3663664" cy="2939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cascada de metas de COBIT es el mecanismo para traducir las necesidades de las partes interesadas y estas recaen en metas empresariales, metas de alineamiento y objetivos de gobierno y gestión específicas, útiles y a medida.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Esta traducción permite establecer metas específicas en todos los niveles y en todas las áreas de la empresa en apoyo de los objetivos generales y requisitos de las partes interesadas</a:t>
            </a:r>
            <a:r>
              <a:rPr lang="es-PE" sz="1600" spc="-10" dirty="0" smtClean="0">
                <a:solidFill>
                  <a:srgbClr val="262626"/>
                </a:solidFill>
              </a:rPr>
              <a:t>.</a:t>
            </a:r>
            <a:endParaRPr lang="es-PE" sz="1600" spc="-10" dirty="0">
              <a:solidFill>
                <a:srgbClr val="262626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A962D0-91F5-494E-9F05-08A579F7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116" y="1147443"/>
            <a:ext cx="3579648" cy="345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IMPULSORES Y NECESIDADES DE LAS PARTES INTERESADAS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817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IMPULSORES Y NECESIDADES DE LAS PARTES INTERESADAS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660157" y="1221584"/>
            <a:ext cx="4167215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Las necesidades de las partes interesadas tienen que transformase en una estrategia factible para la empresa. </a:t>
            </a:r>
          </a:p>
          <a:p>
            <a:pPr marL="285750" indent="-285750" algn="just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Apoya la priorización de los objetivos de la dirección basada en la </a:t>
            </a:r>
            <a:r>
              <a:rPr lang="es-ES" sz="1600" spc="-10" dirty="0" smtClean="0">
                <a:solidFill>
                  <a:srgbClr val="262626"/>
                </a:solidFill>
              </a:rPr>
              <a:t>importancia</a:t>
            </a:r>
            <a:r>
              <a:rPr lang="es-ES" sz="1600" spc="-10" dirty="0" smtClean="0">
                <a:solidFill>
                  <a:srgbClr val="262626"/>
                </a:solidFill>
              </a:rPr>
              <a:t> </a:t>
            </a:r>
            <a:r>
              <a:rPr lang="es-ES" sz="1600" spc="-10" dirty="0">
                <a:solidFill>
                  <a:srgbClr val="262626"/>
                </a:solidFill>
              </a:rPr>
              <a:t>de las metas empresariales. 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F1FD926-37A8-4753-BE35-57F982FDEB68}"/>
              </a:ext>
            </a:extLst>
          </p:cNvPr>
          <p:cNvGrpSpPr/>
          <p:nvPr/>
        </p:nvGrpSpPr>
        <p:grpSpPr>
          <a:xfrm>
            <a:off x="5176511" y="1221584"/>
            <a:ext cx="3579648" cy="3455987"/>
            <a:chOff x="4670530" y="1575615"/>
            <a:chExt cx="3579648" cy="345598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FEC61AA-EC5F-4179-82D8-B77F61B8D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0530" y="1575615"/>
              <a:ext cx="3579648" cy="3455987"/>
            </a:xfrm>
            <a:prstGeom prst="rect">
              <a:avLst/>
            </a:prstGeom>
          </p:spPr>
        </p:pic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2B7E07F5-520B-4718-91DD-E2638C8BCBEB}"/>
                </a:ext>
              </a:extLst>
            </p:cNvPr>
            <p:cNvSpPr/>
            <p:nvPr/>
          </p:nvSpPr>
          <p:spPr>
            <a:xfrm>
              <a:off x="4879950" y="1984654"/>
              <a:ext cx="965200" cy="68942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57112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METAS EMPRESARIALES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919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EMPRESARIALES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4033778" cy="2431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Las necesidades de las partes interesadas tienen un efecto en las metas empresariales.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 cascada de metas soporta las metas empresariales, que es uno de los factores de diseño clave para un sistema de gobierno. </a:t>
            </a:r>
            <a:endParaRPr lang="es-PE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</a:t>
            </a:r>
            <a:r>
              <a:rPr lang="es-ES" sz="1600" spc="-10" dirty="0" smtClean="0">
                <a:solidFill>
                  <a:srgbClr val="262626"/>
                </a:solidFill>
              </a:rPr>
              <a:t>as </a:t>
            </a:r>
            <a:r>
              <a:rPr lang="es-ES" sz="1600" spc="-10" dirty="0">
                <a:solidFill>
                  <a:srgbClr val="262626"/>
                </a:solidFill>
              </a:rPr>
              <a:t>metas empresariales se han consolidado, reducido, actualizado y aclarado de forma exhaustiva en COBIT 2019.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BC012C-F8FC-4B7B-9BA6-06A96F623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130" y="1147443"/>
            <a:ext cx="3579648" cy="3455987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1260CFB-FF44-4A37-8311-175BA74A9B0B}"/>
              </a:ext>
            </a:extLst>
          </p:cNvPr>
          <p:cNvSpPr/>
          <p:nvPr/>
        </p:nvSpPr>
        <p:spPr>
          <a:xfrm>
            <a:off x="5994400" y="2256970"/>
            <a:ext cx="965200" cy="6894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835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EMPRESARIALES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DB34AA-CA7B-41CB-8169-357B53B65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14" y="1210237"/>
            <a:ext cx="7286171" cy="38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8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EMPRESARIALES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09B873-C9F6-4E75-9ECC-5410CAC18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28" y="1290857"/>
            <a:ext cx="7815943" cy="372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3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EMPRESARIALES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2AAD90-DB2E-4ED3-BE0F-122930B43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" y="1277257"/>
            <a:ext cx="7808595" cy="360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0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EMPRESARIALES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AB3F8C-58ED-4355-9610-49541AB05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01" y="1620156"/>
            <a:ext cx="7723198" cy="247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EMPRESARIALES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455F09-6A0E-4CBD-A06F-78DED4262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02" y="1467346"/>
            <a:ext cx="7844195" cy="278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5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METAS DE ALINEAMIENTO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698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DE ALINEAMIENTO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403377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Las metas empresariales tienen un efecto en cascada a las metas de alineamiento. 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99BFD87-A3C0-4AEB-A970-F17DF8874EC4}"/>
              </a:ext>
            </a:extLst>
          </p:cNvPr>
          <p:cNvGrpSpPr/>
          <p:nvPr/>
        </p:nvGrpSpPr>
        <p:grpSpPr>
          <a:xfrm>
            <a:off x="4960816" y="1147443"/>
            <a:ext cx="3579648" cy="3455987"/>
            <a:chOff x="4960816" y="1129506"/>
            <a:chExt cx="3579648" cy="345598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40AD303-9ECD-42EA-8FAE-D57DAD186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816" y="1129506"/>
              <a:ext cx="3579648" cy="3455987"/>
            </a:xfrm>
            <a:prstGeom prst="rect">
              <a:avLst/>
            </a:prstGeom>
          </p:spPr>
        </p:pic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0D992656-BCF3-4F71-8F4F-54C2732CFA65}"/>
                </a:ext>
              </a:extLst>
            </p:cNvPr>
            <p:cNvSpPr/>
            <p:nvPr/>
          </p:nvSpPr>
          <p:spPr>
            <a:xfrm>
              <a:off x="6647168" y="2946399"/>
              <a:ext cx="965200" cy="68942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194083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DE ALINEAMIENTO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A8948B-C988-4B35-ADF4-CA826C450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1299308"/>
            <a:ext cx="7833360" cy="358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0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DE ALINEAMIENTO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C3EFC9-2E66-4699-A3E8-6493D82B6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13" y="1129641"/>
            <a:ext cx="7765373" cy="395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7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DE ALINEAMIENTO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E7CFD0-6072-4F7E-BC05-FD3F30001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73" y="1303018"/>
            <a:ext cx="7812254" cy="344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7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DE ALINEAMIENTO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47113B-ECCF-4AB3-AD18-A1C58DF15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24" y="1256265"/>
            <a:ext cx="7718351" cy="359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4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METAS DE ALINEAMIENTO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F8261C-A214-409D-A8C3-60CE0D7D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71" y="1269897"/>
            <a:ext cx="7779657" cy="341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6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OBJETIVOS DE GOBIERNO Y GESTIÓN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16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604573" y="1187110"/>
            <a:ext cx="4033778" cy="3416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Para que la información y la tecnología contribuyan a los objetivos de la empresa, deben alcanzarse una serie de objetivos de gobierno y gestión.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Un objetivo de gobierno o gestión siempre está relacionado con un proceso, y una serie de componentes relacionados de otros tipos para contribuir a </a:t>
            </a:r>
            <a:r>
              <a:rPr lang="es-ES" sz="1600" spc="-10" dirty="0" smtClean="0">
                <a:solidFill>
                  <a:srgbClr val="262626"/>
                </a:solidFill>
              </a:rPr>
              <a:t>lograrlo. 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Un objetivo de gobierno está relacionado con un proceso de gobierno mientras que un objetivo de gestión está relacionado con un proceso de gestión. 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A909E4B-C1ED-4C23-8FFF-C9C5A3120CBD}"/>
              </a:ext>
            </a:extLst>
          </p:cNvPr>
          <p:cNvGrpSpPr/>
          <p:nvPr/>
        </p:nvGrpSpPr>
        <p:grpSpPr>
          <a:xfrm>
            <a:off x="5046865" y="1147443"/>
            <a:ext cx="3579648" cy="3455987"/>
            <a:chOff x="4670530" y="1575615"/>
            <a:chExt cx="3579648" cy="3455987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F030186-2CD2-4324-96C7-90319C107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0530" y="1575615"/>
              <a:ext cx="3579648" cy="3455987"/>
            </a:xfrm>
            <a:prstGeom prst="rect">
              <a:avLst/>
            </a:prstGeom>
          </p:spPr>
        </p:pic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1316D06C-2447-4797-8D65-BDCF02181658}"/>
                </a:ext>
              </a:extLst>
            </p:cNvPr>
            <p:cNvSpPr/>
            <p:nvPr/>
          </p:nvSpPr>
          <p:spPr>
            <a:xfrm>
              <a:off x="7115150" y="4096483"/>
              <a:ext cx="965200" cy="68942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" name="object 7">
            <a:extLst>
              <a:ext uri="{FF2B5EF4-FFF2-40B4-BE49-F238E27FC236}">
                <a16:creationId xmlns:a16="http://schemas.microsoft.com/office/drawing/2014/main" id="{EFF716DA-DB56-4C36-9E58-E9F8D9D21135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</p:spTree>
    <p:extLst>
      <p:ext uri="{BB962C8B-B14F-4D97-AF65-F5344CB8AC3E}">
        <p14:creationId xmlns:p14="http://schemas.microsoft.com/office/powerpoint/2010/main" val="409527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EB3E87A-4668-4393-85C4-631F361CF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907" y="1213118"/>
            <a:ext cx="5858185" cy="3881395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17DA6320-5F34-475A-9912-B2F6EC86BFF5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Modelo CORE de COBIT 2019</a:t>
            </a:r>
          </a:p>
        </p:txBody>
      </p:sp>
    </p:spTree>
    <p:extLst>
      <p:ext uri="{BB962C8B-B14F-4D97-AF65-F5344CB8AC3E}">
        <p14:creationId xmlns:p14="http://schemas.microsoft.com/office/powerpoint/2010/main" val="373376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B52EAF7-94BB-4E01-B764-A852A7466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4"/>
            <a:ext cx="8094254" cy="382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2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300D81A-D32A-479B-80FA-F7E571BA2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4"/>
            <a:ext cx="8094254" cy="376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4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29E00B4-FDBB-45BC-9DAA-AE06C7176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39" y="1194645"/>
            <a:ext cx="8086090" cy="352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6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6B6F99-F51A-414B-9E2A-CD51628D1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5"/>
            <a:ext cx="8077926" cy="37214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</p:spTree>
    <p:extLst>
      <p:ext uri="{BB962C8B-B14F-4D97-AF65-F5344CB8AC3E}">
        <p14:creationId xmlns:p14="http://schemas.microsoft.com/office/powerpoint/2010/main" val="27930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CE8156B-BADE-4C02-A7F5-AAF72691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5"/>
            <a:ext cx="8077926" cy="3555946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</p:spTree>
    <p:extLst>
      <p:ext uri="{BB962C8B-B14F-4D97-AF65-F5344CB8AC3E}">
        <p14:creationId xmlns:p14="http://schemas.microsoft.com/office/powerpoint/2010/main" val="369739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0FE453C-B8F1-4674-BE37-9403E5AD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5"/>
            <a:ext cx="8077926" cy="3760209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</p:spTree>
    <p:extLst>
      <p:ext uri="{BB962C8B-B14F-4D97-AF65-F5344CB8AC3E}">
        <p14:creationId xmlns:p14="http://schemas.microsoft.com/office/powerpoint/2010/main" val="202820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47E21E-5D2F-406F-A139-39A71894A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5"/>
            <a:ext cx="8122194" cy="34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DDC371-4E8C-4845-B948-7D4B000B5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5"/>
            <a:ext cx="8122194" cy="376292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</p:spTree>
    <p:extLst>
      <p:ext uri="{BB962C8B-B14F-4D97-AF65-F5344CB8AC3E}">
        <p14:creationId xmlns:p14="http://schemas.microsoft.com/office/powerpoint/2010/main" val="307539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GESTIÓN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50963C-48D6-46C4-A326-51EE8BEFA78A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…Modelo CORE de COBIT 2019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6B30A8-8C11-4C8D-A228-8BD36740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194645"/>
            <a:ext cx="8122194" cy="137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4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  <p:sp>
        <p:nvSpPr>
          <p:cNvPr id="8" name="Rectángulo 10">
            <a:extLst>
              <a:ext uri="{FF2B5EF4-FFF2-40B4-BE49-F238E27FC236}">
                <a16:creationId xmlns:a16="http://schemas.microsoft.com/office/drawing/2014/main" id="{2CE728F1-CA35-4741-A316-6A8802F5D948}"/>
              </a:ext>
            </a:extLst>
          </p:cNvPr>
          <p:cNvSpPr/>
          <p:nvPr/>
        </p:nvSpPr>
        <p:spPr>
          <a:xfrm>
            <a:off x="2304789" y="856697"/>
            <a:ext cx="6370899" cy="315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La cascada de metas soporta las metas empresariales, que es uno de los factores de diseño clave para un sistema de gobierno.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Las necesidades de las partes interesadas tienen que transformase en una estrategia factible para la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empresa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, pues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tienen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un efecto en las metas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empresariales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y estas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tienen un efecto en cascada a las metas de alineamiento.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apéndices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incluyen las tablas de asignación entre los objetivos de gobierno y gestión y los factores de diseño.</a:t>
            </a:r>
            <a:endParaRPr lang="es-PE" sz="1600" dirty="0">
              <a:solidFill>
                <a:srgbClr val="FFFFFF"/>
              </a:solidFill>
              <a:latin typeface="+mj-lt"/>
            </a:endParaRP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Las asignaciones expresan hasta qué grado los valores del factor de diseño influyen en la importancia de un objetivo de gobierno o gestión.  </a:t>
            </a:r>
            <a:endParaRPr lang="es-PE" sz="1600" dirty="0">
              <a:solidFill>
                <a:srgbClr val="FFFFFF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137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515764" y="965680"/>
            <a:ext cx="7979082" cy="144945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Introducción y Metodología”. </a:t>
            </a: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Objetivos de Gobierno y de Gestión”.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Diseño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Implementación y optimización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629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8443</TotalTime>
  <Words>2052</Words>
  <Application>Microsoft Office PowerPoint</Application>
  <PresentationFormat>Presentación en pantalla (16:10)</PresentationFormat>
  <Paragraphs>165</Paragraphs>
  <Slides>34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Arial</vt:lpstr>
      <vt:lpstr>Calibri</vt:lpstr>
      <vt:lpstr>JIJNO O+ Times New Roman PSMT</vt:lpstr>
      <vt:lpstr>JIKLE B+ Times New Roman PSMT</vt:lpstr>
      <vt:lpstr>Source Sans Pro</vt:lpstr>
      <vt:lpstr>Times New Roman</vt:lpstr>
      <vt:lpstr>Verdana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603</cp:revision>
  <cp:lastPrinted>2018-01-16T21:42:59Z</cp:lastPrinted>
  <dcterms:created xsi:type="dcterms:W3CDTF">2016-10-06T14:52:02Z</dcterms:created>
  <dcterms:modified xsi:type="dcterms:W3CDTF">2022-05-12T17:10:40Z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