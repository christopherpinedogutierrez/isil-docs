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8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9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0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11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12.xml" ContentType="application/vnd.openxmlformats-officedocument.presentationml.tags+xml"/>
  <Override PartName="/ppt/notesSlides/notesSlide30.xml" ContentType="application/vnd.openxmlformats-officedocument.presentationml.notesSlide+xml"/>
  <Override PartName="/ppt/tags/tag13.xml" ContentType="application/vnd.openxmlformats-officedocument.presentationml.tags+xml"/>
  <Override PartName="/ppt/notesSlides/notesSlide31.xml" ContentType="application/vnd.openxmlformats-officedocument.presentationml.notesSlide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26" r:id="rId2"/>
    <p:sldId id="465" r:id="rId3"/>
    <p:sldId id="727" r:id="rId4"/>
    <p:sldId id="738" r:id="rId5"/>
    <p:sldId id="746" r:id="rId6"/>
    <p:sldId id="747" r:id="rId7"/>
    <p:sldId id="731" r:id="rId8"/>
    <p:sldId id="739" r:id="rId9"/>
    <p:sldId id="748" r:id="rId10"/>
    <p:sldId id="732" r:id="rId11"/>
    <p:sldId id="740" r:id="rId12"/>
    <p:sldId id="749" r:id="rId13"/>
    <p:sldId id="733" r:id="rId14"/>
    <p:sldId id="741" r:id="rId15"/>
    <p:sldId id="750" r:id="rId16"/>
    <p:sldId id="757" r:id="rId17"/>
    <p:sldId id="751" r:id="rId18"/>
    <p:sldId id="734" r:id="rId19"/>
    <p:sldId id="742" r:id="rId20"/>
    <p:sldId id="752" r:id="rId21"/>
    <p:sldId id="735" r:id="rId22"/>
    <p:sldId id="743" r:id="rId23"/>
    <p:sldId id="753" r:id="rId24"/>
    <p:sldId id="758" r:id="rId25"/>
    <p:sldId id="736" r:id="rId26"/>
    <p:sldId id="744" r:id="rId27"/>
    <p:sldId id="759" r:id="rId28"/>
    <p:sldId id="737" r:id="rId29"/>
    <p:sldId id="745" r:id="rId30"/>
    <p:sldId id="755" r:id="rId31"/>
    <p:sldId id="725" r:id="rId32"/>
    <p:sldId id="756" r:id="rId33"/>
    <p:sldId id="606" r:id="rId34"/>
  </p:sldIdLst>
  <p:sldSz cx="9144000" cy="5715000" type="screen16x10"/>
  <p:notesSz cx="6797675" cy="9926638"/>
  <p:custDataLst>
    <p:tags r:id="rId3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3" orient="horz" pos="3320" userDrawn="1">
          <p15:clr>
            <a:srgbClr val="A4A3A4"/>
          </p15:clr>
        </p15:guide>
        <p15:guide id="11" pos="317" userDrawn="1">
          <p15:clr>
            <a:srgbClr val="A4A3A4"/>
          </p15:clr>
        </p15:guide>
        <p15:guide id="12" orient="horz" pos="553" userDrawn="1">
          <p15:clr>
            <a:srgbClr val="A4A3A4"/>
          </p15:clr>
        </p15:guide>
        <p15:guide id="13" orient="horz" pos="3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76B7D"/>
    <a:srgbClr val="48C2BB"/>
    <a:srgbClr val="1F85A6"/>
    <a:srgbClr val="F1FDC3"/>
    <a:srgbClr val="9CC606"/>
    <a:srgbClr val="E2F6F1"/>
    <a:srgbClr val="F2F2F2"/>
    <a:srgbClr val="558ED5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93" autoAdjust="0"/>
    <p:restoredTop sz="96730" autoAdjust="0"/>
  </p:normalViewPr>
  <p:slideViewPr>
    <p:cSldViewPr snapToGrid="0" snapToObjects="1" showGuides="1">
      <p:cViewPr varScale="1">
        <p:scale>
          <a:sx n="105" d="100"/>
          <a:sy n="105" d="100"/>
        </p:scale>
        <p:origin x="1075" y="62"/>
      </p:cViewPr>
      <p:guideLst>
        <p:guide pos="5465"/>
        <p:guide orient="horz" pos="3320"/>
        <p:guide pos="317"/>
        <p:guide orient="horz" pos="553"/>
        <p:guide orient="horz" pos="34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1FA757-4F7F-460B-98C4-D66E4EE57203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7BE740AE-8B71-438F-8BAA-FB99C02E70F3}">
      <dgm:prSet phldrT="[Texto]"/>
      <dgm:spPr/>
      <dgm:t>
        <a:bodyPr/>
        <a:lstStyle/>
        <a:p>
          <a:r>
            <a:rPr lang="es-PE" dirty="0" smtClean="0"/>
            <a:t>Comportamiento relacionado con la aceptación del riesgo por la empresa.</a:t>
          </a:r>
          <a:endParaRPr lang="es-ES" dirty="0"/>
        </a:p>
      </dgm:t>
    </dgm:pt>
    <dgm:pt modelId="{1E3E69E6-0F9A-444A-B9E2-CF4996C8AAED}" type="parTrans" cxnId="{38D2676B-4E4C-4AA1-BA49-0B9A4F4F2A8F}">
      <dgm:prSet/>
      <dgm:spPr/>
      <dgm:t>
        <a:bodyPr/>
        <a:lstStyle/>
        <a:p>
          <a:endParaRPr lang="es-ES"/>
        </a:p>
      </dgm:t>
    </dgm:pt>
    <dgm:pt modelId="{6E5C290F-2D8A-40AC-B622-E130BCB1ACAA}" type="sibTrans" cxnId="{38D2676B-4E4C-4AA1-BA49-0B9A4F4F2A8F}">
      <dgm:prSet/>
      <dgm:spPr/>
      <dgm:t>
        <a:bodyPr/>
        <a:lstStyle/>
        <a:p>
          <a:endParaRPr lang="es-ES"/>
        </a:p>
      </dgm:t>
    </dgm:pt>
    <dgm:pt modelId="{BDC1609A-2284-4AE1-B21E-B1C6E7B8C64B}">
      <dgm:prSet phldrT="[Texto]"/>
      <dgm:spPr/>
      <dgm:t>
        <a:bodyPr/>
        <a:lstStyle/>
        <a:p>
          <a:r>
            <a:rPr lang="es-PE" dirty="0" smtClean="0"/>
            <a:t>Comportamiento relacionado con el cumplimiento de las políticas.</a:t>
          </a:r>
          <a:endParaRPr lang="es-ES" dirty="0"/>
        </a:p>
      </dgm:t>
    </dgm:pt>
    <dgm:pt modelId="{53A6A831-2D83-4E21-A30A-185A1B4C4811}" type="parTrans" cxnId="{1FC37630-99D9-4A52-B664-695F47F3AD62}">
      <dgm:prSet/>
      <dgm:spPr/>
      <dgm:t>
        <a:bodyPr/>
        <a:lstStyle/>
        <a:p>
          <a:endParaRPr lang="es-ES"/>
        </a:p>
      </dgm:t>
    </dgm:pt>
    <dgm:pt modelId="{AAE020A5-A714-4033-BEE1-390B8B65AB03}" type="sibTrans" cxnId="{1FC37630-99D9-4A52-B664-695F47F3AD62}">
      <dgm:prSet/>
      <dgm:spPr/>
      <dgm:t>
        <a:bodyPr/>
        <a:lstStyle/>
        <a:p>
          <a:endParaRPr lang="es-ES"/>
        </a:p>
      </dgm:t>
    </dgm:pt>
    <dgm:pt modelId="{2DDAAFBA-311D-44D9-BD5C-941BA79A31D6}">
      <dgm:prSet phldrT="[Texto]"/>
      <dgm:spPr/>
      <dgm:t>
        <a:bodyPr/>
        <a:lstStyle/>
        <a:p>
          <a:r>
            <a:rPr lang="es-PE" dirty="0" smtClean="0"/>
            <a:t>Comportamiento relacionado con los resultados negativos, prejuicios o pérdida de oportunidades.</a:t>
          </a:r>
          <a:endParaRPr lang="es-ES" dirty="0"/>
        </a:p>
      </dgm:t>
    </dgm:pt>
    <dgm:pt modelId="{4EF27E0E-223D-41FC-86C3-FEE5CF2E63C8}" type="parTrans" cxnId="{842AC621-B85F-4BED-AA1A-460C238C5BA1}">
      <dgm:prSet/>
      <dgm:spPr/>
      <dgm:t>
        <a:bodyPr/>
        <a:lstStyle/>
        <a:p>
          <a:endParaRPr lang="es-ES"/>
        </a:p>
      </dgm:t>
    </dgm:pt>
    <dgm:pt modelId="{7719ED7B-D907-4811-9E14-3BC6064096DA}" type="sibTrans" cxnId="{842AC621-B85F-4BED-AA1A-460C238C5BA1}">
      <dgm:prSet/>
      <dgm:spPr/>
      <dgm:t>
        <a:bodyPr/>
        <a:lstStyle/>
        <a:p>
          <a:endParaRPr lang="es-ES"/>
        </a:p>
      </dgm:t>
    </dgm:pt>
    <dgm:pt modelId="{FE817685-A3F4-48F7-B05A-48A3B730562E}" type="pres">
      <dgm:prSet presAssocID="{6A1FA757-4F7F-460B-98C4-D66E4EE57203}" presName="Name0" presStyleCnt="0">
        <dgm:presLayoutVars>
          <dgm:dir/>
          <dgm:resizeHandles val="exact"/>
        </dgm:presLayoutVars>
      </dgm:prSet>
      <dgm:spPr/>
    </dgm:pt>
    <dgm:pt modelId="{13C11038-B767-40E0-A6D8-F6D08CCBAE8D}" type="pres">
      <dgm:prSet presAssocID="{7BE740AE-8B71-438F-8BAA-FB99C02E70F3}" presName="composite" presStyleCnt="0"/>
      <dgm:spPr/>
    </dgm:pt>
    <dgm:pt modelId="{8D572721-831E-4025-9617-8D2028FEF529}" type="pres">
      <dgm:prSet presAssocID="{7BE740AE-8B71-438F-8BAA-FB99C02E70F3}" presName="rect1" presStyleLbl="tr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BAAF0B8-AAD5-4067-8BE3-2EE427782728}" type="pres">
      <dgm:prSet presAssocID="{7BE740AE-8B71-438F-8BAA-FB99C02E70F3}" presName="rect2" presStyleLbl="fgImgPlace1" presStyleIdx="0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C389F3A7-A82E-4663-9ED6-7D2CD92A03F5}" type="pres">
      <dgm:prSet presAssocID="{6E5C290F-2D8A-40AC-B622-E130BCB1ACAA}" presName="sibTrans" presStyleCnt="0"/>
      <dgm:spPr/>
    </dgm:pt>
    <dgm:pt modelId="{7AC9690A-6371-4C8C-A8EB-AD5BD41BD5BD}" type="pres">
      <dgm:prSet presAssocID="{BDC1609A-2284-4AE1-B21E-B1C6E7B8C64B}" presName="composite" presStyleCnt="0"/>
      <dgm:spPr/>
    </dgm:pt>
    <dgm:pt modelId="{6790E6BB-8B64-4785-96F2-6D84311E5747}" type="pres">
      <dgm:prSet presAssocID="{BDC1609A-2284-4AE1-B21E-B1C6E7B8C64B}" presName="rect1" presStyleLbl="tr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8D2E79A-6569-482A-A533-F7B08028DF3C}" type="pres">
      <dgm:prSet presAssocID="{BDC1609A-2284-4AE1-B21E-B1C6E7B8C64B}" presName="rect2" presStyleLbl="fgImgPlace1" presStyleIdx="1" presStyleCnt="3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054002A5-B938-42A2-965E-F25F4CFCCC70}" type="pres">
      <dgm:prSet presAssocID="{AAE020A5-A714-4033-BEE1-390B8B65AB03}" presName="sibTrans" presStyleCnt="0"/>
      <dgm:spPr/>
    </dgm:pt>
    <dgm:pt modelId="{54E60683-3519-4ACD-BD3A-15892B44FA9D}" type="pres">
      <dgm:prSet presAssocID="{2DDAAFBA-311D-44D9-BD5C-941BA79A31D6}" presName="composite" presStyleCnt="0"/>
      <dgm:spPr/>
    </dgm:pt>
    <dgm:pt modelId="{70CA66FF-2402-4CDA-AB4F-9242D9FA0BD3}" type="pres">
      <dgm:prSet presAssocID="{2DDAAFBA-311D-44D9-BD5C-941BA79A31D6}" presName="rect1" presStyleLbl="tr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9196AD7-5174-4997-A4E9-953F755A0199}" type="pres">
      <dgm:prSet presAssocID="{2DDAAFBA-311D-44D9-BD5C-941BA79A31D6}" presName="rect2" presStyleLbl="fgImgPlace1" presStyleIdx="2" presStyleCnt="3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842AC621-B85F-4BED-AA1A-460C238C5BA1}" srcId="{6A1FA757-4F7F-460B-98C4-D66E4EE57203}" destId="{2DDAAFBA-311D-44D9-BD5C-941BA79A31D6}" srcOrd="2" destOrd="0" parTransId="{4EF27E0E-223D-41FC-86C3-FEE5CF2E63C8}" sibTransId="{7719ED7B-D907-4811-9E14-3BC6064096DA}"/>
    <dgm:cxn modelId="{11285BE5-9D2D-4146-A760-5DD55F8859FD}" type="presOf" srcId="{6A1FA757-4F7F-460B-98C4-D66E4EE57203}" destId="{FE817685-A3F4-48F7-B05A-48A3B730562E}" srcOrd="0" destOrd="0" presId="urn:microsoft.com/office/officeart/2008/layout/PictureStrips"/>
    <dgm:cxn modelId="{F0985771-4F69-4A39-B769-ACC7ECF0A6F8}" type="presOf" srcId="{7BE740AE-8B71-438F-8BAA-FB99C02E70F3}" destId="{8D572721-831E-4025-9617-8D2028FEF529}" srcOrd="0" destOrd="0" presId="urn:microsoft.com/office/officeart/2008/layout/PictureStrips"/>
    <dgm:cxn modelId="{78EB20FB-1780-427E-A22F-72EFE93CDD2F}" type="presOf" srcId="{2DDAAFBA-311D-44D9-BD5C-941BA79A31D6}" destId="{70CA66FF-2402-4CDA-AB4F-9242D9FA0BD3}" srcOrd="0" destOrd="0" presId="urn:microsoft.com/office/officeart/2008/layout/PictureStrips"/>
    <dgm:cxn modelId="{38D2676B-4E4C-4AA1-BA49-0B9A4F4F2A8F}" srcId="{6A1FA757-4F7F-460B-98C4-D66E4EE57203}" destId="{7BE740AE-8B71-438F-8BAA-FB99C02E70F3}" srcOrd="0" destOrd="0" parTransId="{1E3E69E6-0F9A-444A-B9E2-CF4996C8AAED}" sibTransId="{6E5C290F-2D8A-40AC-B622-E130BCB1ACAA}"/>
    <dgm:cxn modelId="{4BB4EEFD-1CC8-4100-91D7-DE77B5F12BE4}" type="presOf" srcId="{BDC1609A-2284-4AE1-B21E-B1C6E7B8C64B}" destId="{6790E6BB-8B64-4785-96F2-6D84311E5747}" srcOrd="0" destOrd="0" presId="urn:microsoft.com/office/officeart/2008/layout/PictureStrips"/>
    <dgm:cxn modelId="{1FC37630-99D9-4A52-B664-695F47F3AD62}" srcId="{6A1FA757-4F7F-460B-98C4-D66E4EE57203}" destId="{BDC1609A-2284-4AE1-B21E-B1C6E7B8C64B}" srcOrd="1" destOrd="0" parTransId="{53A6A831-2D83-4E21-A30A-185A1B4C4811}" sibTransId="{AAE020A5-A714-4033-BEE1-390B8B65AB03}"/>
    <dgm:cxn modelId="{615E905F-0313-4FAE-BF53-790E30FBC45C}" type="presParOf" srcId="{FE817685-A3F4-48F7-B05A-48A3B730562E}" destId="{13C11038-B767-40E0-A6D8-F6D08CCBAE8D}" srcOrd="0" destOrd="0" presId="urn:microsoft.com/office/officeart/2008/layout/PictureStrips"/>
    <dgm:cxn modelId="{CD51BFD4-AC5C-4A4D-AA74-66575868C634}" type="presParOf" srcId="{13C11038-B767-40E0-A6D8-F6D08CCBAE8D}" destId="{8D572721-831E-4025-9617-8D2028FEF529}" srcOrd="0" destOrd="0" presId="urn:microsoft.com/office/officeart/2008/layout/PictureStrips"/>
    <dgm:cxn modelId="{90482526-1A7C-4B03-8339-7E1F450ACDE6}" type="presParOf" srcId="{13C11038-B767-40E0-A6D8-F6D08CCBAE8D}" destId="{CBAAF0B8-AAD5-4067-8BE3-2EE427782728}" srcOrd="1" destOrd="0" presId="urn:microsoft.com/office/officeart/2008/layout/PictureStrips"/>
    <dgm:cxn modelId="{96506EE1-B6C1-4C0B-AA4F-6734B066C34E}" type="presParOf" srcId="{FE817685-A3F4-48F7-B05A-48A3B730562E}" destId="{C389F3A7-A82E-4663-9ED6-7D2CD92A03F5}" srcOrd="1" destOrd="0" presId="urn:microsoft.com/office/officeart/2008/layout/PictureStrips"/>
    <dgm:cxn modelId="{543E563A-EDB7-465B-8DB5-A0F590FE0B7F}" type="presParOf" srcId="{FE817685-A3F4-48F7-B05A-48A3B730562E}" destId="{7AC9690A-6371-4C8C-A8EB-AD5BD41BD5BD}" srcOrd="2" destOrd="0" presId="urn:microsoft.com/office/officeart/2008/layout/PictureStrips"/>
    <dgm:cxn modelId="{C5B4FD6E-4AA2-4E47-B1FC-CA345BA716EE}" type="presParOf" srcId="{7AC9690A-6371-4C8C-A8EB-AD5BD41BD5BD}" destId="{6790E6BB-8B64-4785-96F2-6D84311E5747}" srcOrd="0" destOrd="0" presId="urn:microsoft.com/office/officeart/2008/layout/PictureStrips"/>
    <dgm:cxn modelId="{A5D388D2-6777-402E-A017-B442DA64FA49}" type="presParOf" srcId="{7AC9690A-6371-4C8C-A8EB-AD5BD41BD5BD}" destId="{68D2E79A-6569-482A-A533-F7B08028DF3C}" srcOrd="1" destOrd="0" presId="urn:microsoft.com/office/officeart/2008/layout/PictureStrips"/>
    <dgm:cxn modelId="{0DD8A2E3-DB54-4E74-863A-56C727A1F927}" type="presParOf" srcId="{FE817685-A3F4-48F7-B05A-48A3B730562E}" destId="{054002A5-B938-42A2-965E-F25F4CFCCC70}" srcOrd="3" destOrd="0" presId="urn:microsoft.com/office/officeart/2008/layout/PictureStrips"/>
    <dgm:cxn modelId="{DDFC5BAC-2457-4A1B-A2FA-EC47CC9C5236}" type="presParOf" srcId="{FE817685-A3F4-48F7-B05A-48A3B730562E}" destId="{54E60683-3519-4ACD-BD3A-15892B44FA9D}" srcOrd="4" destOrd="0" presId="urn:microsoft.com/office/officeart/2008/layout/PictureStrips"/>
    <dgm:cxn modelId="{4050E8E0-1AEE-443D-98C5-BA64296ABD4C}" type="presParOf" srcId="{54E60683-3519-4ACD-BD3A-15892B44FA9D}" destId="{70CA66FF-2402-4CDA-AB4F-9242D9FA0BD3}" srcOrd="0" destOrd="0" presId="urn:microsoft.com/office/officeart/2008/layout/PictureStrips"/>
    <dgm:cxn modelId="{DF7FE04D-50BE-406C-8CCF-78A78B3ED3DB}" type="presParOf" srcId="{54E60683-3519-4ACD-BD3A-15892B44FA9D}" destId="{19196AD7-5174-4997-A4E9-953F755A0199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72721-831E-4025-9617-8D2028FEF529}">
      <dsp:nvSpPr>
        <dsp:cNvPr id="0" name=""/>
        <dsp:cNvSpPr/>
      </dsp:nvSpPr>
      <dsp:spPr>
        <a:xfrm>
          <a:off x="120911" y="332602"/>
          <a:ext cx="2835943" cy="88623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275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300" kern="1200" dirty="0" smtClean="0"/>
            <a:t>Comportamiento relacionado con la aceptación del riesgo por la empresa.</a:t>
          </a:r>
          <a:endParaRPr lang="es-ES" sz="1300" kern="1200" dirty="0"/>
        </a:p>
      </dsp:txBody>
      <dsp:txXfrm>
        <a:off x="120911" y="332602"/>
        <a:ext cx="2835943" cy="886232"/>
      </dsp:txXfrm>
    </dsp:sp>
    <dsp:sp modelId="{CBAAF0B8-AAD5-4067-8BE3-2EE427782728}">
      <dsp:nvSpPr>
        <dsp:cNvPr id="0" name=""/>
        <dsp:cNvSpPr/>
      </dsp:nvSpPr>
      <dsp:spPr>
        <a:xfrm>
          <a:off x="2747" y="204591"/>
          <a:ext cx="620362" cy="930543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90E6BB-8B64-4785-96F2-6D84311E5747}">
      <dsp:nvSpPr>
        <dsp:cNvPr id="0" name=""/>
        <dsp:cNvSpPr/>
      </dsp:nvSpPr>
      <dsp:spPr>
        <a:xfrm>
          <a:off x="3199246" y="332602"/>
          <a:ext cx="2835943" cy="88623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275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300" kern="1200" dirty="0" smtClean="0"/>
            <a:t>Comportamiento relacionado con el cumplimiento de las políticas.</a:t>
          </a:r>
          <a:endParaRPr lang="es-ES" sz="1300" kern="1200" dirty="0"/>
        </a:p>
      </dsp:txBody>
      <dsp:txXfrm>
        <a:off x="3199246" y="332602"/>
        <a:ext cx="2835943" cy="886232"/>
      </dsp:txXfrm>
    </dsp:sp>
    <dsp:sp modelId="{68D2E79A-6569-482A-A533-F7B08028DF3C}">
      <dsp:nvSpPr>
        <dsp:cNvPr id="0" name=""/>
        <dsp:cNvSpPr/>
      </dsp:nvSpPr>
      <dsp:spPr>
        <a:xfrm>
          <a:off x="3081082" y="204591"/>
          <a:ext cx="620362" cy="930543"/>
        </a:xfrm>
        <a:prstGeom prst="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A66FF-2402-4CDA-AB4F-9242D9FA0BD3}">
      <dsp:nvSpPr>
        <dsp:cNvPr id="0" name=""/>
        <dsp:cNvSpPr/>
      </dsp:nvSpPr>
      <dsp:spPr>
        <a:xfrm>
          <a:off x="1660078" y="1448271"/>
          <a:ext cx="2835943" cy="88623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275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300" kern="1200" dirty="0" smtClean="0"/>
            <a:t>Comportamiento relacionado con los resultados negativos, prejuicios o pérdida de oportunidades.</a:t>
          </a:r>
          <a:endParaRPr lang="es-ES" sz="1300" kern="1200" dirty="0"/>
        </a:p>
      </dsp:txBody>
      <dsp:txXfrm>
        <a:off x="1660078" y="1448271"/>
        <a:ext cx="2835943" cy="886232"/>
      </dsp:txXfrm>
    </dsp:sp>
    <dsp:sp modelId="{19196AD7-5174-4997-A4E9-953F755A0199}">
      <dsp:nvSpPr>
        <dsp:cNvPr id="0" name=""/>
        <dsp:cNvSpPr/>
      </dsp:nvSpPr>
      <dsp:spPr>
        <a:xfrm>
          <a:off x="1541914" y="1320259"/>
          <a:ext cx="620362" cy="930543"/>
        </a:xfrm>
        <a:prstGeom prst="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11/05/2022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11/05/2022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846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430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5418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8349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39958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4960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2089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8349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90609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7020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8349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95752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2382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83499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90925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55765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70511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9178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83499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44012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18036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83499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736843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061548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88995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83499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70126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83499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86745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97677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65235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77D5F-F7C7-4A4E-B9CB-9B53C116ECA0}" type="datetimeFigureOut">
              <a:rPr lang="es-ES_tradnl" smtClean="0"/>
              <a:t>11/05/2022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AA411-D912-394E-A3C9-E79952CE3FE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3956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49940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SISTEMAS DE CONTROL Y GOBIERNO DE TI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10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207627" y="5384440"/>
              <a:ext cx="1540807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2020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2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0" r:id="rId4"/>
    <p:sldLayoutId id="2147483657" r:id="rId5"/>
    <p:sldLayoutId id="2147483658" r:id="rId6"/>
    <p:sldLayoutId id="2147483661" r:id="rId7"/>
    <p:sldLayoutId id="2147483659" r:id="rId8"/>
    <p:sldLayoutId id="2147483662" r:id="rId9"/>
    <p:sldLayoutId id="2147483663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417646" y="398388"/>
            <a:ext cx="873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SESIÓN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380422" y="475914"/>
            <a:ext cx="964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800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493097" y="456609"/>
            <a:ext cx="5904294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3200" b="1" dirty="0" smtClean="0">
                <a:solidFill>
                  <a:srgbClr val="FFFFFF"/>
                </a:solidFill>
              </a:rPr>
              <a:t>COMPONENTES DEL SISTEMA DE GOBIERNO</a:t>
            </a:r>
            <a:endParaRPr lang="es-ES" sz="3200" b="1" dirty="0">
              <a:solidFill>
                <a:srgbClr val="FFFFFF"/>
              </a:solidFill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589880" y="1766244"/>
            <a:ext cx="5235567" cy="2436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Definición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Procesos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Estructuras organizativas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Principios, políticas y procedimientos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Información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Cultura, ética y comportamiento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Personas, habilidades y competencias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Servicios, infraestructura y aplicaciones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1385597" y="522202"/>
            <a:ext cx="0" cy="720031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/>
          <p:cNvSpPr/>
          <p:nvPr/>
        </p:nvSpPr>
        <p:spPr>
          <a:xfrm>
            <a:off x="417647" y="1460808"/>
            <a:ext cx="8345931" cy="1938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PE" sz="1400" b="1" dirty="0">
                <a:solidFill>
                  <a:srgbClr val="1F85A6"/>
                </a:solidFill>
                <a:cs typeface="Calibri"/>
              </a:rPr>
              <a:t>  UNIDAD DE APRENDIZAJE: SISTEMA DE GOBIERNO Y COMPONENTES DE COBIT 2019     </a:t>
            </a:r>
            <a:endParaRPr lang="es-PE" sz="1400" b="1" dirty="0">
              <a:solidFill>
                <a:srgbClr val="1F85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68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58472751-FD5C-4C14-A418-1AEF0A30EB50}"/>
              </a:ext>
            </a:extLst>
          </p:cNvPr>
          <p:cNvSpPr txBox="1"/>
          <p:nvPr/>
        </p:nvSpPr>
        <p:spPr>
          <a:xfrm>
            <a:off x="507698" y="954483"/>
            <a:ext cx="7888816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s-PE" sz="1600" spc="-10" dirty="0">
                <a:cs typeface="Source Sans Pro"/>
              </a:rPr>
              <a:t>En esta sesión </a:t>
            </a:r>
            <a:r>
              <a:rPr lang="es-PE" sz="1600" spc="-10" dirty="0" smtClean="0">
                <a:cs typeface="Source Sans Pro"/>
              </a:rPr>
              <a:t>aprenderás </a:t>
            </a:r>
            <a:r>
              <a:rPr lang="es-PE" sz="1600" spc="-10" dirty="0">
                <a:cs typeface="Source Sans Pro"/>
              </a:rPr>
              <a:t>sobre los componentes del sistema de gobierno.</a:t>
            </a:r>
            <a:br>
              <a:rPr lang="es-PE" sz="1600" spc="-10" dirty="0">
                <a:cs typeface="Source Sans Pro"/>
              </a:rPr>
            </a:br>
            <a:endParaRPr lang="es-PE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s-PE" sz="1600" spc="-10" dirty="0" smtClean="0"/>
              <a:t>Reconocerás </a:t>
            </a:r>
            <a:r>
              <a:rPr lang="es-PE" sz="1600" spc="-10" dirty="0"/>
              <a:t>y </a:t>
            </a:r>
            <a:r>
              <a:rPr lang="es-PE" sz="1600" spc="-10" dirty="0" smtClean="0"/>
              <a:t>comprenderás </a:t>
            </a:r>
            <a:r>
              <a:rPr lang="es-PE" sz="1600" spc="-10" dirty="0"/>
              <a:t>los 7 componentes: procesos; estructuras organizativas; principios, políticas y procedimientos; información; cultura, ética y comportamiento; personas habilidades y competencias; y finalmente servicios, infraestructura y aplicaciones.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561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DEFINICIÓN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349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DEFINICIÓN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COMPONENTES DE GOBIERNO Y GESTIÓN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1" y="1188724"/>
            <a:ext cx="3982973" cy="3754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Con el objetivo de cumplir con los objetivos de gobierno y gestión, cada empresa debe establecer, personalizar y sostener un sistema de gobierno creado a partir de una serie de componentes. </a:t>
            </a:r>
          </a:p>
          <a:p>
            <a:pPr marL="285750" indent="-285750" algn="just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Estos componentes son factores que, de forma individual y colectiva, contribuyen al buen funcionamiento del sistema de gobierno de la empresa en cuanto a I&amp;T. </a:t>
            </a:r>
          </a:p>
          <a:p>
            <a:pPr marL="285750" indent="-285750" algn="just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Los componentes interactúan entre sí, lo que da lugar a un sistema holístico de gobierno de I&amp;T. Los componentes pueden ser de diversos tipos, los más comunes son los que podemos en ver en la siguiente imagen: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A0FDF88-57C6-4856-9D40-FE81C46C3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2" y="953007"/>
            <a:ext cx="4010292" cy="400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90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DEFINICIÓN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195652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COMPONENTES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1" y="1188724"/>
            <a:ext cx="3982973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Los componentes genéricos se describen en el modelo </a:t>
            </a:r>
            <a:r>
              <a:rPr lang="es-ES" sz="1600" i="1" spc="-10" dirty="0">
                <a:solidFill>
                  <a:srgbClr val="262626"/>
                </a:solidFill>
              </a:rPr>
              <a:t>core</a:t>
            </a:r>
            <a:r>
              <a:rPr lang="es-ES" sz="1600" spc="-10" dirty="0">
                <a:solidFill>
                  <a:srgbClr val="262626"/>
                </a:solidFill>
              </a:rPr>
              <a:t> de COBIT y se aplican, en principio, a cualquier situación. </a:t>
            </a:r>
          </a:p>
          <a:p>
            <a:pPr marL="285750" indent="-285750" algn="just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Sin embargo, su naturaleza es genérica y suelen requerir una adaptación antes de que se puedan implementar en la práctica.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A0FDF88-57C6-4856-9D40-FE81C46C3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2" y="953007"/>
            <a:ext cx="4010292" cy="400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57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DEFINICIÓN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2108926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3. LAS ALTERNATIVAS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10903" y="1188724"/>
            <a:ext cx="398297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200"/>
              </a:spcAft>
              <a:buSzPct val="100000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Las alternativas se basan en componentes genéricos, pero se adaptan para un propósito o contexto específico dentro de un área prioritaria (por ejemplo: para seguridad de la información, DevOps, una regulación específica).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A0FDF88-57C6-4856-9D40-FE81C46C3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2" y="953007"/>
            <a:ext cx="4010292" cy="400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69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PROCESOS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960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PROCESOS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3603892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Los procesos describen una serie de prácticas y actividades organizadas para lograr determinados objetivos y producir una serie de resultados que contribuyan a la consecución de la totalidad de los objetivos relacionados con las TI. 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D82CD05-12EB-4E4A-A1E7-2A97A41ABEDD}"/>
              </a:ext>
            </a:extLst>
          </p:cNvPr>
          <p:cNvGrpSpPr/>
          <p:nvPr/>
        </p:nvGrpSpPr>
        <p:grpSpPr>
          <a:xfrm>
            <a:off x="5923019" y="608739"/>
            <a:ext cx="2572342" cy="4497522"/>
            <a:chOff x="5923019" y="504300"/>
            <a:chExt cx="2572342" cy="4497522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EDA4CF59-6283-482C-93F3-88C92BD24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3019" y="504300"/>
              <a:ext cx="2572342" cy="2567781"/>
            </a:xfrm>
            <a:prstGeom prst="rect">
              <a:avLst/>
            </a:prstGeom>
          </p:spPr>
        </p:pic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F1374F91-708A-4569-B339-EAB693327A37}"/>
                </a:ext>
              </a:extLst>
            </p:cNvPr>
            <p:cNvSpPr/>
            <p:nvPr/>
          </p:nvSpPr>
          <p:spPr>
            <a:xfrm>
              <a:off x="6011760" y="3558310"/>
              <a:ext cx="2394857" cy="14435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700" dirty="0">
                  <a:solidFill>
                    <a:schemeClr val="tx1"/>
                  </a:solidFill>
                </a:rPr>
                <a:t>Procesos</a:t>
              </a:r>
            </a:p>
          </p:txBody>
        </p:sp>
        <p:sp>
          <p:nvSpPr>
            <p:cNvPr id="14" name="Globo: flecha hacia abajo 13">
              <a:extLst>
                <a:ext uri="{FF2B5EF4-FFF2-40B4-BE49-F238E27FC236}">
                  <a16:creationId xmlns:a16="http://schemas.microsoft.com/office/drawing/2014/main" id="{BB4E1863-80C5-4DE2-966E-04331BC938F8}"/>
                </a:ext>
              </a:extLst>
            </p:cNvPr>
            <p:cNvSpPr/>
            <p:nvPr/>
          </p:nvSpPr>
          <p:spPr>
            <a:xfrm>
              <a:off x="6882618" y="3072081"/>
              <a:ext cx="653143" cy="486229"/>
            </a:xfrm>
            <a:prstGeom prst="downArrowCallout">
              <a:avLst/>
            </a:prstGeom>
            <a:solidFill>
              <a:srgbClr val="6600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</p:spTree>
    <p:extLst>
      <p:ext uri="{BB962C8B-B14F-4D97-AF65-F5344CB8AC3E}">
        <p14:creationId xmlns:p14="http://schemas.microsoft.com/office/powerpoint/2010/main" val="705215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PROCESOS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2081607" cy="270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Es importante tener en cuenta y recordar que “Un objetivo de gobierno o gestión siempre está relacionado con un </a:t>
            </a:r>
            <a:r>
              <a:rPr lang="es-ES" sz="1600" b="1" spc="-10" dirty="0">
                <a:solidFill>
                  <a:srgbClr val="262626"/>
                </a:solidFill>
              </a:rPr>
              <a:t>proceso</a:t>
            </a:r>
            <a:r>
              <a:rPr lang="es-ES" sz="1600" spc="-10" dirty="0">
                <a:solidFill>
                  <a:srgbClr val="262626"/>
                </a:solidFill>
              </a:rPr>
              <a:t> con un nombre idéntico o similar” para contribuir a lograr el objetivo.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1F266A-397B-4C03-A7F1-CC64AE3C5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542" y="1147443"/>
            <a:ext cx="5943910" cy="397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92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ESTRUCTURAS ORGANIZATIVAS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478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ESTRUCTURAS ORGANIZATIVAS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3603892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Las estructuras organizativas son las entidades clave de toma de decisiones en una empresa. 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5DE151C-A69E-4F7B-A063-E28751885B84}"/>
              </a:ext>
            </a:extLst>
          </p:cNvPr>
          <p:cNvGrpSpPr/>
          <p:nvPr/>
        </p:nvGrpSpPr>
        <p:grpSpPr>
          <a:xfrm>
            <a:off x="5923019" y="608739"/>
            <a:ext cx="2572342" cy="4497522"/>
            <a:chOff x="5923019" y="504300"/>
            <a:chExt cx="2572342" cy="4497522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504DA13-D699-48BF-BFE4-9C6DCEBD4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3019" y="504300"/>
              <a:ext cx="2572342" cy="2567781"/>
            </a:xfrm>
            <a:prstGeom prst="rect">
              <a:avLst/>
            </a:prstGeom>
          </p:spPr>
        </p:pic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210F729E-B225-4886-B5FE-3208B3D81BF1}"/>
                </a:ext>
              </a:extLst>
            </p:cNvPr>
            <p:cNvSpPr/>
            <p:nvPr/>
          </p:nvSpPr>
          <p:spPr>
            <a:xfrm>
              <a:off x="6011760" y="3558310"/>
              <a:ext cx="2394857" cy="14435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700" dirty="0">
                  <a:solidFill>
                    <a:schemeClr val="tx1"/>
                  </a:solidFill>
                </a:rPr>
                <a:t>Estructuras organizativas</a:t>
              </a:r>
            </a:p>
          </p:txBody>
        </p:sp>
        <p:sp>
          <p:nvSpPr>
            <p:cNvPr id="15" name="Globo: flecha hacia abajo 14">
              <a:extLst>
                <a:ext uri="{FF2B5EF4-FFF2-40B4-BE49-F238E27FC236}">
                  <a16:creationId xmlns:a16="http://schemas.microsoft.com/office/drawing/2014/main" id="{2BEE8321-CEBB-4AD2-8432-486221DE0E1A}"/>
                </a:ext>
              </a:extLst>
            </p:cNvPr>
            <p:cNvSpPr/>
            <p:nvPr/>
          </p:nvSpPr>
          <p:spPr>
            <a:xfrm>
              <a:off x="6882618" y="3072081"/>
              <a:ext cx="653143" cy="486229"/>
            </a:xfrm>
            <a:prstGeom prst="downArrowCallout">
              <a:avLst/>
            </a:prstGeom>
            <a:solidFill>
              <a:srgbClr val="6600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</p:spTree>
    <p:extLst>
      <p:ext uri="{BB962C8B-B14F-4D97-AF65-F5344CB8AC3E}">
        <p14:creationId xmlns:p14="http://schemas.microsoft.com/office/powerpoint/2010/main" val="205286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ESTRUCTURAS ORGANIZATIVAS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3758007" cy="2925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lnSpc>
                <a:spcPct val="11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PE" sz="1600" dirty="0"/>
              <a:t>La estructuras organizativas </a:t>
            </a:r>
            <a:r>
              <a:rPr lang="es-PE" sz="1600" dirty="0" smtClean="0"/>
              <a:t>representan </a:t>
            </a:r>
            <a:r>
              <a:rPr lang="es-PE" sz="1600" dirty="0"/>
              <a:t>la jerarquía de las funciones y la organización del proceso de la toma de decisiones en una organización. </a:t>
            </a:r>
          </a:p>
          <a:p>
            <a:pPr marL="285750" indent="-285750" algn="just">
              <a:lnSpc>
                <a:spcPct val="11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s-PE" sz="1600" dirty="0"/>
              <a:t>En este contexto, el modelo de referencia de COBIT 2019 “Objetivos de Gobierno y Gestión” incluyen tablas RACI, que abordan diversas funciones y estructuras para el proceso jerárquico de toma de decisiones.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F0A06B-E83E-431C-B40A-B6B928857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142" y="1143774"/>
            <a:ext cx="4100739" cy="280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8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PRINCIPIOS, POLÍTICAS Y PROCEDIMIENTOS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441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PRINCIPIOS, POLÍTICAS Y PROCEDIMIENTOS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3603892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Los principios, las políticas y los marcos convierten el comportamiento deseado en orientación práctica para la gestión del día a día. 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0C4518FC-8B6C-47BD-91C9-6689D1414AE3}"/>
              </a:ext>
            </a:extLst>
          </p:cNvPr>
          <p:cNvGrpSpPr/>
          <p:nvPr/>
        </p:nvGrpSpPr>
        <p:grpSpPr>
          <a:xfrm>
            <a:off x="5923019" y="608739"/>
            <a:ext cx="2572342" cy="4497522"/>
            <a:chOff x="5923019" y="504300"/>
            <a:chExt cx="2572342" cy="4497522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3C60B270-611E-41C1-883B-C8A2A60F7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3019" y="504300"/>
              <a:ext cx="2572342" cy="2567781"/>
            </a:xfrm>
            <a:prstGeom prst="rect">
              <a:avLst/>
            </a:prstGeom>
          </p:spPr>
        </p:pic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DC562C17-32A0-4B6F-8B52-96D19114FB82}"/>
                </a:ext>
              </a:extLst>
            </p:cNvPr>
            <p:cNvSpPr/>
            <p:nvPr/>
          </p:nvSpPr>
          <p:spPr>
            <a:xfrm>
              <a:off x="6011760" y="3558310"/>
              <a:ext cx="2394857" cy="14435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700" dirty="0">
                  <a:solidFill>
                    <a:schemeClr val="tx1"/>
                  </a:solidFill>
                </a:rPr>
                <a:t>Principios, políticas y procedimientos</a:t>
              </a:r>
            </a:p>
          </p:txBody>
        </p:sp>
        <p:sp>
          <p:nvSpPr>
            <p:cNvPr id="15" name="Globo: flecha hacia abajo 14">
              <a:extLst>
                <a:ext uri="{FF2B5EF4-FFF2-40B4-BE49-F238E27FC236}">
                  <a16:creationId xmlns:a16="http://schemas.microsoft.com/office/drawing/2014/main" id="{5BAD74DE-AD25-4D30-A10A-35F45014A29E}"/>
                </a:ext>
              </a:extLst>
            </p:cNvPr>
            <p:cNvSpPr/>
            <p:nvPr/>
          </p:nvSpPr>
          <p:spPr>
            <a:xfrm>
              <a:off x="6882618" y="3072081"/>
              <a:ext cx="653143" cy="486229"/>
            </a:xfrm>
            <a:prstGeom prst="downArrowCallout">
              <a:avLst/>
            </a:prstGeom>
            <a:solidFill>
              <a:srgbClr val="6600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</p:spTree>
    <p:extLst>
      <p:ext uri="{BB962C8B-B14F-4D97-AF65-F5344CB8AC3E}">
        <p14:creationId xmlns:p14="http://schemas.microsoft.com/office/powerpoint/2010/main" val="319645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PRINCIPIOS, POLÍTICAS Y PROCEDIMIENTOS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PRINCIPIOS Y POLÍTICAS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801069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principios y las políticas se refieren a los mecanismos de comunicación disponibles para trasmitir la dirección e instrucciones de los cuerpos de gobierno y de dirección.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C2C0A33D-B37A-4625-833A-7E4055234E00}"/>
              </a:ext>
            </a:extLst>
          </p:cNvPr>
          <p:cNvSpPr txBox="1"/>
          <p:nvPr/>
        </p:nvSpPr>
        <p:spPr>
          <a:xfrm>
            <a:off x="407875" y="1768375"/>
            <a:ext cx="8169471" cy="121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6088" indent="-285750" algn="just">
              <a:lnSpc>
                <a:spcPct val="130000"/>
              </a:lnSpc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tabLst>
                <a:tab pos="121285" algn="l"/>
              </a:tabLst>
            </a:pPr>
            <a:r>
              <a:rPr lang="es-PE" sz="1600" b="1" spc="-10" dirty="0">
                <a:solidFill>
                  <a:srgbClr val="FF0000"/>
                </a:solidFill>
              </a:rPr>
              <a:t>Los principios:</a:t>
            </a:r>
            <a:r>
              <a:rPr lang="es-PE" sz="1600" spc="-10" dirty="0">
                <a:solidFill>
                  <a:srgbClr val="262626"/>
                </a:solidFill>
              </a:rPr>
              <a:t> pueden ser:</a:t>
            </a:r>
          </a:p>
          <a:p>
            <a:pPr marL="808038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s-PE" sz="1600" spc="-10" dirty="0">
                <a:solidFill>
                  <a:srgbClr val="262626"/>
                </a:solidFill>
              </a:rPr>
              <a:t>Limitados en número.</a:t>
            </a:r>
          </a:p>
          <a:p>
            <a:pPr marL="808038" indent="-285750">
              <a:spcAft>
                <a:spcPts val="1800"/>
              </a:spcAft>
              <a:buFont typeface="Courier New" panose="02070309020205020404" pitchFamily="49" charset="0"/>
              <a:buChar char="o"/>
            </a:pPr>
            <a:r>
              <a:rPr lang="es-PE" sz="1600" spc="-10" dirty="0">
                <a:solidFill>
                  <a:srgbClr val="262626"/>
                </a:solidFill>
              </a:rPr>
              <a:t>Redactados en un lenguaje simple, expresando de la forma más clara posible, los valores fundamentales de la empresa.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274" y="3237278"/>
            <a:ext cx="4243842" cy="181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0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PRINCIPIOS, POLÍTICAS Y PROCEDIMIENTOS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PRINCIPIOS Y POLÍTICAS</a:t>
            </a: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59950D9B-D168-4161-B0F6-5B972464C535}"/>
              </a:ext>
            </a:extLst>
          </p:cNvPr>
          <p:cNvSpPr txBox="1"/>
          <p:nvPr/>
        </p:nvSpPr>
        <p:spPr>
          <a:xfrm>
            <a:off x="334561" y="1297873"/>
            <a:ext cx="8373268" cy="1820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6088" indent="-285750" algn="just">
              <a:lnSpc>
                <a:spcPct val="110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§"/>
              <a:tabLst>
                <a:tab pos="121285" algn="l"/>
              </a:tabLst>
            </a:pPr>
            <a:r>
              <a:rPr lang="es-PE" sz="1600" b="1" dirty="0">
                <a:solidFill>
                  <a:srgbClr val="FF0000"/>
                </a:solidFill>
              </a:rPr>
              <a:t>Las políticas: </a:t>
            </a:r>
            <a:r>
              <a:rPr lang="es-PE" sz="1600" dirty="0"/>
              <a:t>Proporcionan una directriz más detallada respecto a cómo llevar a la práctica los principios y su influencia respecto a cómo la toma de decisiones se alinea con dichos principios. Las buenas políticas son:</a:t>
            </a:r>
          </a:p>
          <a:p>
            <a:pPr marL="719138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s-PE" sz="1600" b="1" dirty="0"/>
              <a:t>Efectivas:</a:t>
            </a:r>
            <a:r>
              <a:rPr lang="es-PE" sz="1600" dirty="0"/>
              <a:t> Logran el propósito establecido.</a:t>
            </a:r>
          </a:p>
          <a:p>
            <a:pPr marL="719138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s-PE" sz="1600" b="1" dirty="0"/>
              <a:t>Eficientes:</a:t>
            </a:r>
            <a:r>
              <a:rPr lang="es-PE" sz="1600" dirty="0"/>
              <a:t> Garantizan que los principios se implementen de la forma más eficiente posible.</a:t>
            </a:r>
          </a:p>
          <a:p>
            <a:pPr marL="719138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s-PE" sz="1600" b="1" dirty="0"/>
              <a:t>No intrusivas: </a:t>
            </a:r>
            <a:r>
              <a:rPr lang="es-PE" sz="1600" dirty="0"/>
              <a:t>No generan resistencia, parecen lógicas para quienes han de cumplir con ellas.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090" y="3201532"/>
            <a:ext cx="3335817" cy="214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8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PRINCIPIOS, POLÍTICAS Y PROCEDIMIENTOS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1971040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3. PROCEDIMIENTOS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1" y="1147443"/>
            <a:ext cx="4295036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Un procedimiento es una secuencia definida, paso a paso, de actividades o acciones (con puntos de inicio y fin definidos) que deben seguirse en un orden establecido para realizar correctamente una tarea. Los procedimientos repetitivos se denominan rutinas.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C28667-8577-42CD-9B65-8F3CDABCA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965" y="1379991"/>
            <a:ext cx="3311658" cy="295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51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INFORMACIÓN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576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INFORMACIÓN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3603892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La información es generalizada a lo largo de cualquier organización e incluye toda la información producida y utilizada por la empresa. COBIT se centra en la información requerida para el funcionamiento eficaz del sistema de gobierno de la empresa.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A038CDC-E7C2-488F-9123-1972FE2B31E9}"/>
              </a:ext>
            </a:extLst>
          </p:cNvPr>
          <p:cNvGrpSpPr/>
          <p:nvPr/>
        </p:nvGrpSpPr>
        <p:grpSpPr>
          <a:xfrm>
            <a:off x="5923019" y="608739"/>
            <a:ext cx="2572342" cy="4497522"/>
            <a:chOff x="5923019" y="504300"/>
            <a:chExt cx="2572342" cy="4497522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DCE6890F-C36F-4A80-BFA3-A7369E315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3019" y="504300"/>
              <a:ext cx="2572342" cy="2567781"/>
            </a:xfrm>
            <a:prstGeom prst="rect">
              <a:avLst/>
            </a:prstGeom>
          </p:spPr>
        </p:pic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2D349300-40E2-4EA6-AFFE-E0B1E90882D8}"/>
                </a:ext>
              </a:extLst>
            </p:cNvPr>
            <p:cNvSpPr/>
            <p:nvPr/>
          </p:nvSpPr>
          <p:spPr>
            <a:xfrm>
              <a:off x="6011760" y="3558310"/>
              <a:ext cx="2394857" cy="14435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700" dirty="0">
                  <a:solidFill>
                    <a:schemeClr val="tx1"/>
                  </a:solidFill>
                </a:rPr>
                <a:t>Información</a:t>
              </a:r>
            </a:p>
          </p:txBody>
        </p:sp>
        <p:sp>
          <p:nvSpPr>
            <p:cNvPr id="12" name="Globo: flecha hacia abajo 11">
              <a:extLst>
                <a:ext uri="{FF2B5EF4-FFF2-40B4-BE49-F238E27FC236}">
                  <a16:creationId xmlns:a16="http://schemas.microsoft.com/office/drawing/2014/main" id="{BF65F877-1388-4DA8-B460-669957100B0A}"/>
                </a:ext>
              </a:extLst>
            </p:cNvPr>
            <p:cNvSpPr/>
            <p:nvPr/>
          </p:nvSpPr>
          <p:spPr>
            <a:xfrm>
              <a:off x="6882618" y="3072081"/>
              <a:ext cx="653143" cy="486229"/>
            </a:xfrm>
            <a:prstGeom prst="downArrowCallout">
              <a:avLst/>
            </a:prstGeom>
            <a:solidFill>
              <a:srgbClr val="6600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</p:spTree>
    <p:extLst>
      <p:ext uri="{BB962C8B-B14F-4D97-AF65-F5344CB8AC3E}">
        <p14:creationId xmlns:p14="http://schemas.microsoft.com/office/powerpoint/2010/main" val="325022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INFORMACIÓN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1" y="1191132"/>
            <a:ext cx="3917665" cy="3477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Considera toda la información relevante para la empresa, no </a:t>
            </a:r>
            <a:r>
              <a:rPr lang="es-PE" sz="1600" spc="-10" dirty="0" smtClean="0">
                <a:solidFill>
                  <a:srgbClr val="262626"/>
                </a:solidFill>
              </a:rPr>
              <a:t>sólo </a:t>
            </a:r>
            <a:r>
              <a:rPr lang="es-PE" sz="1600" spc="-10" dirty="0">
                <a:solidFill>
                  <a:srgbClr val="262626"/>
                </a:solidFill>
              </a:rPr>
              <a:t>la información automatizada.</a:t>
            </a:r>
          </a:p>
          <a:p>
            <a:pPr marL="285750" indent="-285750" algn="just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 información puede ser: </a:t>
            </a:r>
          </a:p>
          <a:p>
            <a:pPr lvl="1" indent="-285750">
              <a:spcAft>
                <a:spcPts val="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Estructurada o no estructurada (desestructurada)</a:t>
            </a:r>
          </a:p>
          <a:p>
            <a:pPr lvl="1" indent="-285750"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Formal o informal</a:t>
            </a:r>
          </a:p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 información puede ser considerada como una etapa dentro del “ciclo de la información” de una empresa, véase el siguiente diagrama: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F2AB7D-9E18-4A1F-843A-A5F01393A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116" y="1528535"/>
            <a:ext cx="3814663" cy="280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3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CULTURA, ÉTICA Y COMPORTAMIENTO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518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CULTURA, ÉTICA Y COMPORTAMIENTO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3603892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La cultura, la ética y el comportamiento de los individuos y de la empresa son, a menudo, subestimados como un factor de éxito de las actividades de gobierno y gestión. 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90E0AFE5-5492-4EFF-A03C-9548A0174D30}"/>
              </a:ext>
            </a:extLst>
          </p:cNvPr>
          <p:cNvGrpSpPr/>
          <p:nvPr/>
        </p:nvGrpSpPr>
        <p:grpSpPr>
          <a:xfrm>
            <a:off x="5923019" y="608739"/>
            <a:ext cx="2572342" cy="4497522"/>
            <a:chOff x="5923019" y="504300"/>
            <a:chExt cx="2572342" cy="4497522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3A87E049-867A-49D1-A43E-7FBF7DE40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3019" y="504300"/>
              <a:ext cx="2572342" cy="2567781"/>
            </a:xfrm>
            <a:prstGeom prst="rect">
              <a:avLst/>
            </a:prstGeom>
          </p:spPr>
        </p:pic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FC318EE6-7B5C-4E3C-A207-2C67C6B2266E}"/>
                </a:ext>
              </a:extLst>
            </p:cNvPr>
            <p:cNvSpPr/>
            <p:nvPr/>
          </p:nvSpPr>
          <p:spPr>
            <a:xfrm>
              <a:off x="6011760" y="3558310"/>
              <a:ext cx="2394857" cy="14435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700" dirty="0">
                  <a:solidFill>
                    <a:schemeClr val="tx1"/>
                  </a:solidFill>
                </a:rPr>
                <a:t>Cultura, ética y comportamiento</a:t>
              </a:r>
            </a:p>
          </p:txBody>
        </p:sp>
        <p:sp>
          <p:nvSpPr>
            <p:cNvPr id="11" name="Globo: flecha hacia abajo 10">
              <a:extLst>
                <a:ext uri="{FF2B5EF4-FFF2-40B4-BE49-F238E27FC236}">
                  <a16:creationId xmlns:a16="http://schemas.microsoft.com/office/drawing/2014/main" id="{0696171E-D5D3-4BDB-A782-56EE8860F61C}"/>
                </a:ext>
              </a:extLst>
            </p:cNvPr>
            <p:cNvSpPr/>
            <p:nvPr/>
          </p:nvSpPr>
          <p:spPr>
            <a:xfrm>
              <a:off x="6882618" y="3072081"/>
              <a:ext cx="653143" cy="486229"/>
            </a:xfrm>
            <a:prstGeom prst="downArrowCallout">
              <a:avLst/>
            </a:prstGeom>
            <a:solidFill>
              <a:srgbClr val="6600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</p:spTree>
    <p:extLst>
      <p:ext uri="{BB962C8B-B14F-4D97-AF65-F5344CB8AC3E}">
        <p14:creationId xmlns:p14="http://schemas.microsoft.com/office/powerpoint/2010/main" val="220368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CULTURA, ÉTICA Y COMPORTAMIENTO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FBD63F69-6C76-4271-B6FB-13B167661D15}"/>
              </a:ext>
            </a:extLst>
          </p:cNvPr>
          <p:cNvSpPr txBox="1"/>
          <p:nvPr/>
        </p:nvSpPr>
        <p:spPr>
          <a:xfrm>
            <a:off x="489251" y="1219467"/>
            <a:ext cx="8124978" cy="1461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6088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dirty="0"/>
              <a:t>Cultura, ética y comportamiento se refiere al conjunto de comportamientos individuales y colectivos de cada organización.</a:t>
            </a:r>
          </a:p>
          <a:p>
            <a:pPr marL="446088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dirty="0"/>
              <a:t>Este conjunto de factores: ética organizacional, ética individual, cultura organizacional, relaciones interpersonales y ambiciones personales; guía el comportamiento de las personas en las empresas</a:t>
            </a:r>
            <a:r>
              <a:rPr lang="es-PE" sz="1600" dirty="0" smtClean="0"/>
              <a:t>.</a:t>
            </a:r>
            <a:endParaRPr lang="es-PE" sz="16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893" y="2815771"/>
            <a:ext cx="3111693" cy="225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29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CULTURA, ÉTICA Y COMPORTAMIENTO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FBD63F69-6C76-4271-B6FB-13B167661D15}"/>
              </a:ext>
            </a:extLst>
          </p:cNvPr>
          <p:cNvSpPr txBox="1"/>
          <p:nvPr/>
        </p:nvSpPr>
        <p:spPr>
          <a:xfrm>
            <a:off x="489251" y="1219467"/>
            <a:ext cx="812497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6088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dirty="0" smtClean="0"/>
              <a:t>COBIT </a:t>
            </a:r>
            <a:r>
              <a:rPr lang="es-PE" sz="1600" dirty="0"/>
              <a:t>destaca 3 comportamientos que pueden ser significativos en el contexto organizacional: </a:t>
            </a: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149182525"/>
              </p:ext>
            </p:extLst>
          </p:nvPr>
        </p:nvGraphicFramePr>
        <p:xfrm>
          <a:off x="1778001" y="2018391"/>
          <a:ext cx="6037937" cy="2539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4328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PERSONAS, HABILIDADES Y COMPETENCIAS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222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450CAA0F-1FE8-4875-B78D-FD48E9C299C8}"/>
              </a:ext>
            </a:extLst>
          </p:cNvPr>
          <p:cNvGrpSpPr/>
          <p:nvPr/>
        </p:nvGrpSpPr>
        <p:grpSpPr>
          <a:xfrm>
            <a:off x="5923019" y="608739"/>
            <a:ext cx="2572342" cy="4497522"/>
            <a:chOff x="5923019" y="504300"/>
            <a:chExt cx="2572342" cy="4497522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0D147441-A4D2-4892-8E38-BAAE65BD5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3019" y="504300"/>
              <a:ext cx="2572342" cy="2567781"/>
            </a:xfrm>
            <a:prstGeom prst="rect">
              <a:avLst/>
            </a:prstGeom>
          </p:spPr>
        </p:pic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5832A6E6-2667-4EF9-A151-F8549410D2A1}"/>
                </a:ext>
              </a:extLst>
            </p:cNvPr>
            <p:cNvSpPr/>
            <p:nvPr/>
          </p:nvSpPr>
          <p:spPr>
            <a:xfrm>
              <a:off x="6011760" y="3558310"/>
              <a:ext cx="2394857" cy="14435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700" dirty="0">
                  <a:solidFill>
                    <a:schemeClr val="tx1"/>
                  </a:solidFill>
                </a:rPr>
                <a:t>Personas, habilidades y competencias</a:t>
              </a:r>
            </a:p>
          </p:txBody>
        </p:sp>
        <p:sp>
          <p:nvSpPr>
            <p:cNvPr id="15" name="Globo: flecha hacia abajo 14">
              <a:extLst>
                <a:ext uri="{FF2B5EF4-FFF2-40B4-BE49-F238E27FC236}">
                  <a16:creationId xmlns:a16="http://schemas.microsoft.com/office/drawing/2014/main" id="{4CFF10E7-98B7-47A0-B6F0-6FAB17BE2EB4}"/>
                </a:ext>
              </a:extLst>
            </p:cNvPr>
            <p:cNvSpPr/>
            <p:nvPr/>
          </p:nvSpPr>
          <p:spPr>
            <a:xfrm>
              <a:off x="6882618" y="3072081"/>
              <a:ext cx="653143" cy="486229"/>
            </a:xfrm>
            <a:prstGeom prst="downArrowCallout">
              <a:avLst/>
            </a:prstGeom>
            <a:solidFill>
              <a:srgbClr val="6600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PERSONAS, HABILIDADES Y COMPETENCIAS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4033778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Las personas, las habilidades y las competencias son necesarias para tomar buenas decisiones, ejecutar acciones correctivas y completar satisfactoriamente todas las actividades. </a:t>
            </a:r>
          </a:p>
        </p:txBody>
      </p:sp>
    </p:spTree>
    <p:extLst>
      <p:ext uri="{BB962C8B-B14F-4D97-AF65-F5344CB8AC3E}">
        <p14:creationId xmlns:p14="http://schemas.microsoft.com/office/powerpoint/2010/main" val="250771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832860" y="963468"/>
            <a:ext cx="4163219" cy="2767081"/>
          </a:xfrm>
          <a:prstGeom prst="rect">
            <a:avLst/>
          </a:prstGeom>
        </p:spPr>
        <p:txBody>
          <a:bodyPr vert="horz" wrap="square" lIns="90000" tIns="90000" rIns="90000" bIns="90000" rtlCol="0">
            <a:spAutoFit/>
          </a:bodyPr>
          <a:lstStyle/>
          <a:p>
            <a:pPr>
              <a:buClr>
                <a:srgbClr val="FA4044"/>
              </a:buClr>
              <a:buSzPct val="120000"/>
              <a:tabLst>
                <a:tab pos="75803" algn="l"/>
              </a:tabLst>
              <a:defRPr/>
            </a:pPr>
            <a:r>
              <a:rPr lang="es-419" sz="1400" spc="-6" dirty="0">
                <a:ea typeface="Arial" charset="0"/>
                <a:cs typeface="Arial" charset="0"/>
              </a:rPr>
              <a:t>Las habilidades y competencias pueden ser encontradas en las partes interesadas internas y externas a la organización, en la cual estas pueden asumir funciones de administradores de negocios, competidores, reclutadores, instructores y especialistas técnicos en TI; cada función exige un conjunto de habilidades distintas.</a:t>
            </a:r>
          </a:p>
          <a:p>
            <a:pPr>
              <a:buClr>
                <a:srgbClr val="FA4044"/>
              </a:buClr>
              <a:buSzPct val="120000"/>
              <a:tabLst>
                <a:tab pos="75803" algn="l"/>
              </a:tabLst>
              <a:defRPr/>
            </a:pPr>
            <a:endParaRPr lang="es-PE" sz="1400" spc="-6" dirty="0">
              <a:ea typeface="Arial" charset="0"/>
              <a:cs typeface="Arial" charset="0"/>
            </a:endParaRPr>
          </a:p>
          <a:p>
            <a:pPr>
              <a:buClr>
                <a:srgbClr val="FA4044"/>
              </a:buClr>
              <a:buSzPct val="120000"/>
              <a:tabLst>
                <a:tab pos="75803" algn="l"/>
              </a:tabLst>
              <a:defRPr/>
            </a:pPr>
            <a:r>
              <a:rPr lang="es-419" sz="1400" spc="-6" dirty="0">
                <a:ea typeface="Arial" charset="0"/>
                <a:cs typeface="Arial" charset="0"/>
              </a:rPr>
              <a:t>Una organización tiene que saber cuál es su base actual de habilidades y planificar o proyectar estas a futuro. Esto se ve influenciado por la estrategia y por los objetivos corporativos.</a:t>
            </a:r>
          </a:p>
        </p:txBody>
      </p:sp>
      <p:sp>
        <p:nvSpPr>
          <p:cNvPr id="11" name="object 7"/>
          <p:cNvSpPr txBox="1"/>
          <p:nvPr/>
        </p:nvSpPr>
        <p:spPr>
          <a:xfrm>
            <a:off x="832860" y="3622043"/>
            <a:ext cx="4163219" cy="397201"/>
          </a:xfrm>
          <a:prstGeom prst="rect">
            <a:avLst/>
          </a:prstGeom>
        </p:spPr>
        <p:txBody>
          <a:bodyPr vert="horz" wrap="square" lIns="90000" tIns="90000" rIns="90000" bIns="90000" rtlCol="0">
            <a:spAutoFit/>
          </a:bodyPr>
          <a:lstStyle/>
          <a:p>
            <a:pPr>
              <a:buClr>
                <a:srgbClr val="FA4044"/>
              </a:buClr>
              <a:buSzPct val="120000"/>
              <a:tabLst>
                <a:tab pos="75803" algn="l"/>
              </a:tabLst>
              <a:defRPr/>
            </a:pPr>
            <a:r>
              <a:rPr lang="es-PE" sz="1400" b="1" spc="-6" dirty="0">
                <a:solidFill>
                  <a:srgbClr val="1476FF"/>
                </a:solidFill>
                <a:ea typeface="Arial" charset="0"/>
                <a:cs typeface="Arial" charset="0"/>
              </a:rPr>
              <a:t>Debemos considerar que </a:t>
            </a:r>
            <a:r>
              <a:rPr lang="mr-IN" sz="1400" b="1" spc="-6" dirty="0" smtClean="0">
                <a:solidFill>
                  <a:srgbClr val="1476FF"/>
                </a:solidFill>
                <a:ea typeface="Arial" charset="0"/>
                <a:cs typeface="Arial" charset="0"/>
              </a:rPr>
              <a:t>…</a:t>
            </a:r>
            <a:r>
              <a:rPr lang="es-ES" sz="1400" b="1" spc="-6" dirty="0">
                <a:solidFill>
                  <a:srgbClr val="1476FF"/>
                </a:solidFill>
                <a:ea typeface="Arial" charset="0"/>
                <a:cs typeface="Arial" charset="0"/>
              </a:rPr>
              <a:t>.</a:t>
            </a:r>
            <a:endParaRPr lang="es-PE" sz="1400" b="1" spc="-6" dirty="0">
              <a:solidFill>
                <a:srgbClr val="1476FF"/>
              </a:solidFill>
              <a:ea typeface="Arial" charset="0"/>
              <a:cs typeface="Arial" charset="0"/>
            </a:endParaRPr>
          </a:p>
        </p:txBody>
      </p:sp>
      <p:sp>
        <p:nvSpPr>
          <p:cNvPr id="12" name="Rectángulo redondeado 11"/>
          <p:cNvSpPr/>
          <p:nvPr/>
        </p:nvSpPr>
        <p:spPr>
          <a:xfrm>
            <a:off x="832860" y="4019244"/>
            <a:ext cx="4382024" cy="1194371"/>
          </a:xfrm>
          <a:prstGeom prst="roundRect">
            <a:avLst>
              <a:gd name="adj" fmla="val 8430"/>
            </a:avLst>
          </a:prstGeom>
          <a:solidFill>
            <a:srgbClr val="ADE9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35000" rtlCol="0" anchor="ctr"/>
          <a:lstStyle/>
          <a:p>
            <a:pPr>
              <a:buClr>
                <a:srgbClr val="FA4044"/>
              </a:buClr>
              <a:buSzPct val="120000"/>
              <a:tabLst>
                <a:tab pos="75803" algn="l"/>
              </a:tabLst>
              <a:defRPr/>
            </a:pPr>
            <a:r>
              <a:rPr lang="es-419" sz="1400" spc="-6" dirty="0">
                <a:solidFill>
                  <a:schemeClr val="tx1"/>
                </a:solidFill>
                <a:ea typeface="Arial" charset="0"/>
                <a:cs typeface="Arial" charset="0"/>
              </a:rPr>
              <a:t>Las habilidades pueden ser desarrolladas (por ejemplo, con entrenamiento) o adquiridas (por ejemplo, a través del reclutamiento) e implantadas en las diversas funciones de la estructura organizacional.</a:t>
            </a:r>
          </a:p>
        </p:txBody>
      </p:sp>
      <p:sp>
        <p:nvSpPr>
          <p:cNvPr id="21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</a:t>
            </a:r>
            <a:r>
              <a:rPr lang="en-US" sz="1700" b="1" dirty="0">
                <a:solidFill>
                  <a:srgbClr val="438AD7"/>
                </a:solidFill>
              </a:rPr>
              <a:t>PERSONAS, HABILIDADES Y COMPETENCIAS </a:t>
            </a:r>
            <a:endParaRPr lang="en-US" sz="1700" b="1" dirty="0">
              <a:solidFill>
                <a:srgbClr val="438AD7"/>
              </a:solidFill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450CAA0F-1FE8-4875-B78D-FD48E9C299C8}"/>
              </a:ext>
            </a:extLst>
          </p:cNvPr>
          <p:cNvGrpSpPr/>
          <p:nvPr/>
        </p:nvGrpSpPr>
        <p:grpSpPr>
          <a:xfrm>
            <a:off x="5923019" y="608739"/>
            <a:ext cx="2572342" cy="4497522"/>
            <a:chOff x="5923019" y="504300"/>
            <a:chExt cx="2572342" cy="4497522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0D147441-A4D2-4892-8E38-BAAE65BD5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3019" y="504300"/>
              <a:ext cx="2572342" cy="2567781"/>
            </a:xfrm>
            <a:prstGeom prst="rect">
              <a:avLst/>
            </a:prstGeom>
          </p:spPr>
        </p:pic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5832A6E6-2667-4EF9-A151-F8549410D2A1}"/>
                </a:ext>
              </a:extLst>
            </p:cNvPr>
            <p:cNvSpPr/>
            <p:nvPr/>
          </p:nvSpPr>
          <p:spPr>
            <a:xfrm>
              <a:off x="6011760" y="3558310"/>
              <a:ext cx="2394857" cy="14435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700" dirty="0">
                  <a:solidFill>
                    <a:schemeClr val="tx1"/>
                  </a:solidFill>
                </a:rPr>
                <a:t>Personas, habilidades y competencias</a:t>
              </a:r>
            </a:p>
          </p:txBody>
        </p:sp>
        <p:sp>
          <p:nvSpPr>
            <p:cNvPr id="15" name="Globo: flecha hacia abajo 14">
              <a:extLst>
                <a:ext uri="{FF2B5EF4-FFF2-40B4-BE49-F238E27FC236}">
                  <a16:creationId xmlns:a16="http://schemas.microsoft.com/office/drawing/2014/main" id="{4CFF10E7-98B7-47A0-B6F0-6FAB17BE2EB4}"/>
                </a:ext>
              </a:extLst>
            </p:cNvPr>
            <p:cNvSpPr/>
            <p:nvPr/>
          </p:nvSpPr>
          <p:spPr>
            <a:xfrm>
              <a:off x="6882618" y="3072081"/>
              <a:ext cx="653143" cy="486229"/>
            </a:xfrm>
            <a:prstGeom prst="downArrowCallout">
              <a:avLst/>
            </a:prstGeom>
            <a:solidFill>
              <a:srgbClr val="6600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</p:spTree>
    <p:extLst>
      <p:ext uri="{BB962C8B-B14F-4D97-AF65-F5344CB8AC3E}">
        <p14:creationId xmlns:p14="http://schemas.microsoft.com/office/powerpoint/2010/main" val="610089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SERVICIOS, INFRAESTRUCTURA Y APLICACIONES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09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6C6E5F63-29E6-4122-A509-103158DDDAB6}"/>
              </a:ext>
            </a:extLst>
          </p:cNvPr>
          <p:cNvGrpSpPr/>
          <p:nvPr/>
        </p:nvGrpSpPr>
        <p:grpSpPr>
          <a:xfrm>
            <a:off x="5923017" y="608739"/>
            <a:ext cx="2572342" cy="4497522"/>
            <a:chOff x="5923019" y="504300"/>
            <a:chExt cx="2572342" cy="4497522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F7012C46-0E64-4C3B-B75C-C17A845AA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3019" y="504300"/>
              <a:ext cx="2572342" cy="2567781"/>
            </a:xfrm>
            <a:prstGeom prst="rect">
              <a:avLst/>
            </a:prstGeom>
          </p:spPr>
        </p:pic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299BEA0A-7D62-4421-8CA8-BA8398A3E8CF}"/>
                </a:ext>
              </a:extLst>
            </p:cNvPr>
            <p:cNvSpPr/>
            <p:nvPr/>
          </p:nvSpPr>
          <p:spPr>
            <a:xfrm>
              <a:off x="6011760" y="3558310"/>
              <a:ext cx="2394857" cy="14435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700" dirty="0">
                  <a:solidFill>
                    <a:schemeClr val="tx1"/>
                  </a:solidFill>
                </a:rPr>
                <a:t>Servicios, infraestructura y aplicaciones</a:t>
              </a:r>
            </a:p>
          </p:txBody>
        </p:sp>
        <p:sp>
          <p:nvSpPr>
            <p:cNvPr id="15" name="Globo: flecha hacia abajo 14">
              <a:extLst>
                <a:ext uri="{FF2B5EF4-FFF2-40B4-BE49-F238E27FC236}">
                  <a16:creationId xmlns:a16="http://schemas.microsoft.com/office/drawing/2014/main" id="{830EA3E4-9145-41DC-B84E-F50E9084D1C8}"/>
                </a:ext>
              </a:extLst>
            </p:cNvPr>
            <p:cNvSpPr/>
            <p:nvPr/>
          </p:nvSpPr>
          <p:spPr>
            <a:xfrm>
              <a:off x="6882618" y="3072081"/>
              <a:ext cx="653143" cy="486229"/>
            </a:xfrm>
            <a:prstGeom prst="downArrowCallout">
              <a:avLst/>
            </a:prstGeom>
            <a:solidFill>
              <a:srgbClr val="6600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SERVICIOS, INFRAESTRUCTURA Y APLICACIONES  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3CCFF5-6DBB-44D7-85E8-567CB4D4AC0E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38222" y="1147443"/>
            <a:ext cx="3603892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Los servicios, la infraestructura y las aplicaciones incluyen la infraestructura, la tecnología y las aplicaciones que brindan a la empresa un sistema de gobierno para el procesamiento de I&amp;T. </a:t>
            </a:r>
          </a:p>
        </p:txBody>
      </p:sp>
    </p:spTree>
    <p:extLst>
      <p:ext uri="{BB962C8B-B14F-4D97-AF65-F5344CB8AC3E}">
        <p14:creationId xmlns:p14="http://schemas.microsoft.com/office/powerpoint/2010/main" val="3713987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SERVICIOS, INFRAESTRUCTURA Y APLICACIONES  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5EA86E6-DB35-4893-8551-90B6D8DDF61A}"/>
              </a:ext>
            </a:extLst>
          </p:cNvPr>
          <p:cNvSpPr txBox="1"/>
          <p:nvPr/>
        </p:nvSpPr>
        <p:spPr>
          <a:xfrm>
            <a:off x="588426" y="1205500"/>
            <a:ext cx="4789117" cy="3170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servicios </a:t>
            </a:r>
            <a:r>
              <a:rPr lang="es-ES" sz="1600" spc="-10" dirty="0">
                <a:solidFill>
                  <a:srgbClr val="262626"/>
                </a:solidFill>
              </a:rPr>
              <a:t>pueden ser prestados por partes interesadas internas o externas. Los usuarios de los servicios también pueden ser internos (usuarios del negocio) o externos (socios, clientes y </a:t>
            </a:r>
            <a:r>
              <a:rPr lang="es-PE" sz="1600" spc="-10" dirty="0">
                <a:solidFill>
                  <a:srgbClr val="262626"/>
                </a:solidFill>
              </a:rPr>
              <a:t>proveedores).</a:t>
            </a:r>
          </a:p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Las metas se relacionan con los servicios, cómo estos son prestados y cuáles </a:t>
            </a:r>
            <a:r>
              <a:rPr lang="es-PE" sz="1600" spc="-10" dirty="0">
                <a:solidFill>
                  <a:srgbClr val="262626"/>
                </a:solidFill>
              </a:rPr>
              <a:t>resultados son identificados.</a:t>
            </a:r>
          </a:p>
          <a:p>
            <a:pPr marL="285750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spc="-10" dirty="0">
                <a:solidFill>
                  <a:srgbClr val="262626"/>
                </a:solidFill>
              </a:rPr>
              <a:t>Dependiendo del tiempo de duración de la arquitectura objetivo, una arquitectura de transición también puede ser definida, mostrando la evolución desde la </a:t>
            </a:r>
            <a:r>
              <a:rPr lang="es-PE" sz="1600" spc="-10" dirty="0">
                <a:solidFill>
                  <a:srgbClr val="262626"/>
                </a:solidFill>
              </a:rPr>
              <a:t>arquitectura inicial hasta la arquitectura objetivo.</a:t>
            </a:r>
            <a:endParaRPr lang="es-ES" sz="1600" spc="-10" dirty="0">
              <a:solidFill>
                <a:srgbClr val="262626"/>
              </a:solidFill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B40033E-5F25-4663-977C-964CFB63583B}"/>
              </a:ext>
            </a:extLst>
          </p:cNvPr>
          <p:cNvGrpSpPr/>
          <p:nvPr/>
        </p:nvGrpSpPr>
        <p:grpSpPr>
          <a:xfrm>
            <a:off x="5923017" y="608739"/>
            <a:ext cx="2572342" cy="4497522"/>
            <a:chOff x="5923019" y="504300"/>
            <a:chExt cx="2572342" cy="4497522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E4D40DBD-CA91-450E-A50C-E2DF4318C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23019" y="504300"/>
              <a:ext cx="2572342" cy="2567781"/>
            </a:xfrm>
            <a:prstGeom prst="rect">
              <a:avLst/>
            </a:prstGeom>
          </p:spPr>
        </p:pic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C70BB4A9-9B5F-4FE2-8D5F-E468AADFE73D}"/>
                </a:ext>
              </a:extLst>
            </p:cNvPr>
            <p:cNvSpPr/>
            <p:nvPr/>
          </p:nvSpPr>
          <p:spPr>
            <a:xfrm>
              <a:off x="6011760" y="3558310"/>
              <a:ext cx="2394857" cy="14435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700" dirty="0">
                  <a:solidFill>
                    <a:schemeClr val="tx1"/>
                  </a:solidFill>
                </a:rPr>
                <a:t>Servicios, infraestructura y aplicaciones</a:t>
              </a:r>
            </a:p>
          </p:txBody>
        </p:sp>
        <p:sp>
          <p:nvSpPr>
            <p:cNvPr id="16" name="Globo: flecha hacia abajo 15">
              <a:extLst>
                <a:ext uri="{FF2B5EF4-FFF2-40B4-BE49-F238E27FC236}">
                  <a16:creationId xmlns:a16="http://schemas.microsoft.com/office/drawing/2014/main" id="{9B8BFA7C-6EDD-47DC-96CF-F13FCC9AF928}"/>
                </a:ext>
              </a:extLst>
            </p:cNvPr>
            <p:cNvSpPr/>
            <p:nvPr/>
          </p:nvSpPr>
          <p:spPr>
            <a:xfrm>
              <a:off x="6882618" y="3072081"/>
              <a:ext cx="653143" cy="486229"/>
            </a:xfrm>
            <a:prstGeom prst="downArrowCallout">
              <a:avLst/>
            </a:prstGeom>
            <a:solidFill>
              <a:srgbClr val="660033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</p:grpSp>
      <p:sp>
        <p:nvSpPr>
          <p:cNvPr id="17" name="object 7">
            <a:extLst>
              <a:ext uri="{FF2B5EF4-FFF2-40B4-BE49-F238E27FC236}">
                <a16:creationId xmlns:a16="http://schemas.microsoft.com/office/drawing/2014/main" id="{9AD1B5E9-8C8B-476A-9BC9-78911C7CFB56}"/>
              </a:ext>
            </a:extLst>
          </p:cNvPr>
          <p:cNvSpPr txBox="1"/>
          <p:nvPr/>
        </p:nvSpPr>
        <p:spPr>
          <a:xfrm>
            <a:off x="510903" y="771402"/>
            <a:ext cx="401029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</p:spTree>
    <p:extLst>
      <p:ext uri="{BB962C8B-B14F-4D97-AF65-F5344CB8AC3E}">
        <p14:creationId xmlns:p14="http://schemas.microsoft.com/office/powerpoint/2010/main" val="20805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/ CONCLUSIONES</a:t>
            </a:r>
          </a:p>
        </p:txBody>
      </p:sp>
      <p:sp>
        <p:nvSpPr>
          <p:cNvPr id="8" name="Rectángulo 10">
            <a:extLst>
              <a:ext uri="{FF2B5EF4-FFF2-40B4-BE49-F238E27FC236}">
                <a16:creationId xmlns:a16="http://schemas.microsoft.com/office/drawing/2014/main" id="{2CE728F1-CA35-4741-A316-6A8802F5D948}"/>
              </a:ext>
            </a:extLst>
          </p:cNvPr>
          <p:cNvSpPr/>
          <p:nvPr/>
        </p:nvSpPr>
        <p:spPr>
          <a:xfrm>
            <a:off x="2304789" y="762355"/>
            <a:ext cx="6370899" cy="4370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Los componentes son factores que, de forma individual y colectiva, contribuyen al buen funcionamiento del sistema de gobierno de la empresa en cuanto a I&amp;T.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Los procesos describen una serie de prácticas y actividades organizadas para lograr determinados objetivos y producir una serie de resultados que contribuyan a la consecución de la totalidad de los objetivos relacionados con las TI. 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Las estructuras organizativas son las entidades clave de toma de decisiones en una empresa. 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Los principios, las políticas y los marcos convierten el comportamiento deseado en orientación práctica para la gestión del día a día. 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La información incluye toda la información producida y utilizada por la empresa, COBIT se centra en la información requerida para el funcionamiento eficaz del sistema de gobierno de la empresa.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137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/ CONCLUSIONES</a:t>
            </a:r>
          </a:p>
        </p:txBody>
      </p:sp>
      <p:sp>
        <p:nvSpPr>
          <p:cNvPr id="8" name="Rectángulo 10">
            <a:extLst>
              <a:ext uri="{FF2B5EF4-FFF2-40B4-BE49-F238E27FC236}">
                <a16:creationId xmlns:a16="http://schemas.microsoft.com/office/drawing/2014/main" id="{2CE728F1-CA35-4741-A316-6A8802F5D948}"/>
              </a:ext>
            </a:extLst>
          </p:cNvPr>
          <p:cNvSpPr/>
          <p:nvPr/>
        </p:nvSpPr>
        <p:spPr>
          <a:xfrm>
            <a:off x="2304789" y="862745"/>
            <a:ext cx="6370899" cy="2677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La cultura, la ética y el comportamiento de los individuos y de la empresa son, a menudo, subestimados como un factor de éxito de las actividades de gobierno y gestión. 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Las personas, las habilidades y las competencias son necesarias para tomar buenas decisiones, ejecutar acciones correctivas y completar satisfactoriamente todas las actividades. </a:t>
            </a:r>
          </a:p>
          <a:p>
            <a:pPr marL="180975" indent="-180975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ES" sz="1600" dirty="0">
                <a:solidFill>
                  <a:srgbClr val="FFFFFF"/>
                </a:solidFill>
                <a:latin typeface="+mj-lt"/>
              </a:rPr>
              <a:t>Los servicios, la infraestructura y las aplicaciones incluyen la infraestructura, la tecnología y las aplicaciones que brindan a la empresa un sistema de gobierno para el procesamiento de I&amp;T.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865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515764" y="965680"/>
            <a:ext cx="7979082" cy="144945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Introducción y Metodología”. </a:t>
            </a:r>
            <a:r>
              <a:rPr lang="en-U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Objetivos de Gobierno y de Gestión”.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Diseño de una solución de Gobierno de Información y Tecnología”.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l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ISACA. (2018). “COBIT 2019: Implementación y optimización de una solución de gobierno de información y tecnología”. 1ra. </a:t>
            </a:r>
            <a:r>
              <a:rPr lang="es-ES" sz="1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Edición. ISACA® </a:t>
            </a:r>
            <a:endParaRPr lang="es-PE" sz="1400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629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9526</TotalTime>
  <Words>1708</Words>
  <Application>Microsoft Office PowerPoint</Application>
  <PresentationFormat>Presentación en pantalla (16:10)</PresentationFormat>
  <Paragraphs>162</Paragraphs>
  <Slides>33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0" baseType="lpstr">
      <vt:lpstr>Arial</vt:lpstr>
      <vt:lpstr>Calibri</vt:lpstr>
      <vt:lpstr>Courier New</vt:lpstr>
      <vt:lpstr>Source Sans Pro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Arturo Enrique Reátegui Herrera</cp:lastModifiedBy>
  <cp:revision>598</cp:revision>
  <cp:lastPrinted>2018-01-16T21:42:59Z</cp:lastPrinted>
  <dcterms:created xsi:type="dcterms:W3CDTF">2016-10-06T14:52:02Z</dcterms:created>
  <dcterms:modified xsi:type="dcterms:W3CDTF">2022-05-11T21:20:39Z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