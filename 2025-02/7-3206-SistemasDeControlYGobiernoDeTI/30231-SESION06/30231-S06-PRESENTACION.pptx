
<file path=[Content_Types].xml><?xml version="1.0" encoding="utf-8"?>
<Types xmlns="http://schemas.openxmlformats.org/package/2006/content-types">
  <Default Extension="png" ContentType="image/png"/>
  <Default Extension="emf" ContentType="image/x-emf"/>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ags/tag2.xml" ContentType="application/vnd.openxmlformats-officedocument.presentationml.tags+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tags/tag3.xml" ContentType="application/vnd.openxmlformats-officedocument.presentationml.tags+xml"/>
  <Override PartName="/ppt/notesSlides/notesSlide2.xml" ContentType="application/vnd.openxmlformats-officedocument.presentationml.notesSlide+xml"/>
  <Override PartName="/ppt/tags/tag4.xml" ContentType="application/vnd.openxmlformats-officedocument.presentationml.tags+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tags/tag5.xml" ContentType="application/vnd.openxmlformats-officedocument.presentationml.tags+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tags/tag6.xml" ContentType="application/vnd.openxmlformats-officedocument.presentationml.tags+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tags/tag7.xml" ContentType="application/vnd.openxmlformats-officedocument.presentationml.tags+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tags/tag8.xml" ContentType="application/vnd.openxmlformats-officedocument.presentationml.tags+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tags/tag9.xml" ContentType="application/vnd.openxmlformats-officedocument.presentationml.tags+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tags/tag10.xml" ContentType="application/vnd.openxmlformats-officedocument.presentationml.tags+xml"/>
  <Override PartName="/ppt/notesSlides/notesSlide26.xml" ContentType="application/vnd.openxmlformats-officedocument.presentationml.notesSlide+xml"/>
  <Override PartName="/ppt/tags/tag11.xml" ContentType="application/vnd.openxmlformats-officedocument.presentationml.tags+xml"/>
  <Override PartName="/ppt/notesSlides/notesSlide27.xml" ContentType="application/vnd.openxmlformats-officedocument.presentationml.notesSlide+xml"/>
  <Override PartName="/ppt/tags/tag12.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0"/>
  </p:notesMasterIdLst>
  <p:handoutMasterIdLst>
    <p:handoutMasterId r:id="rId31"/>
  </p:handoutMasterIdLst>
  <p:sldIdLst>
    <p:sldId id="326" r:id="rId2"/>
    <p:sldId id="465" r:id="rId3"/>
    <p:sldId id="427" r:id="rId4"/>
    <p:sldId id="428" r:id="rId5"/>
    <p:sldId id="714" r:id="rId6"/>
    <p:sldId id="715" r:id="rId7"/>
    <p:sldId id="716" r:id="rId8"/>
    <p:sldId id="717" r:id="rId9"/>
    <p:sldId id="718" r:id="rId10"/>
    <p:sldId id="704" r:id="rId11"/>
    <p:sldId id="709" r:id="rId12"/>
    <p:sldId id="719" r:id="rId13"/>
    <p:sldId id="705" r:id="rId14"/>
    <p:sldId id="710" r:id="rId15"/>
    <p:sldId id="720" r:id="rId16"/>
    <p:sldId id="706" r:id="rId17"/>
    <p:sldId id="711" r:id="rId18"/>
    <p:sldId id="721" r:id="rId19"/>
    <p:sldId id="722" r:id="rId20"/>
    <p:sldId id="707" r:id="rId21"/>
    <p:sldId id="712" r:id="rId22"/>
    <p:sldId id="723" r:id="rId23"/>
    <p:sldId id="708" r:id="rId24"/>
    <p:sldId id="713" r:id="rId25"/>
    <p:sldId id="724" r:id="rId26"/>
    <p:sldId id="703" r:id="rId27"/>
    <p:sldId id="725" r:id="rId28"/>
    <p:sldId id="606" r:id="rId29"/>
  </p:sldIdLst>
  <p:sldSz cx="9144000" cy="5715000" type="screen16x10"/>
  <p:notesSz cx="6797675" cy="9926638"/>
  <p:custDataLst>
    <p:tags r:id="rId32"/>
  </p:custData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2" pos="5465" userDrawn="1">
          <p15:clr>
            <a:srgbClr val="A4A3A4"/>
          </p15:clr>
        </p15:guide>
        <p15:guide id="3" orient="horz" pos="3320" userDrawn="1">
          <p15:clr>
            <a:srgbClr val="A4A3A4"/>
          </p15:clr>
        </p15:guide>
        <p15:guide id="11" pos="317" userDrawn="1">
          <p15:clr>
            <a:srgbClr val="A4A3A4"/>
          </p15:clr>
        </p15:guide>
        <p15:guide id="12" orient="horz" pos="553" userDrawn="1">
          <p15:clr>
            <a:srgbClr val="A4A3A4"/>
          </p15:clr>
        </p15:guide>
        <p15:guide id="13" orient="horz" pos="349"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660033"/>
    <a:srgbClr val="A50021"/>
    <a:srgbClr val="800000"/>
    <a:srgbClr val="0000FF"/>
    <a:srgbClr val="276B7D"/>
    <a:srgbClr val="48C2BB"/>
    <a:srgbClr val="1F85A6"/>
    <a:srgbClr val="F1FDC3"/>
    <a:srgbClr val="9CC606"/>
    <a:srgbClr val="E2F6F1"/>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9693" autoAdjust="0"/>
    <p:restoredTop sz="84615" autoAdjust="0"/>
  </p:normalViewPr>
  <p:slideViewPr>
    <p:cSldViewPr snapToGrid="0" snapToObjects="1" showGuides="1">
      <p:cViewPr varScale="1">
        <p:scale>
          <a:sx n="89" d="100"/>
          <a:sy n="89" d="100"/>
        </p:scale>
        <p:origin x="1555" y="62"/>
      </p:cViewPr>
      <p:guideLst>
        <p:guide pos="5465"/>
        <p:guide orient="horz" pos="3320"/>
        <p:guide pos="317"/>
        <p:guide orient="horz" pos="553"/>
        <p:guide orient="horz" pos="349"/>
      </p:guideLst>
    </p:cSldViewPr>
  </p:slideViewPr>
  <p:notesTextViewPr>
    <p:cViewPr>
      <p:scale>
        <a:sx n="3" d="2"/>
        <a:sy n="3" d="2"/>
      </p:scale>
      <p:origin x="0" y="0"/>
    </p:cViewPr>
  </p:notesTextViewPr>
  <p:sorterViewPr>
    <p:cViewPr>
      <p:scale>
        <a:sx n="130" d="100"/>
        <a:sy n="130"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gs" Target="tags/tag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handoutMaster" Target="handoutMasters/handout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notesMaster" Target="notesMasters/notesMaster1.xml"/><Relationship Id="rId35" Type="http://schemas.openxmlformats.org/officeDocument/2006/relationships/theme" Target="theme/theme1.xml"/><Relationship Id="rId8" Type="http://schemas.openxmlformats.org/officeDocument/2006/relationships/slide" Target="slides/slide7.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45659" cy="496332"/>
          </a:xfrm>
          <a:prstGeom prst="rect">
            <a:avLst/>
          </a:prstGeom>
        </p:spPr>
        <p:txBody>
          <a:bodyPr vert="horz" lIns="91440" tIns="45720" rIns="91440" bIns="45720" rtlCol="0"/>
          <a:lstStyle>
            <a:lvl1pPr algn="l">
              <a:defRPr sz="1200"/>
            </a:lvl1pPr>
          </a:lstStyle>
          <a:p>
            <a:endParaRPr lang="es-ES"/>
          </a:p>
        </p:txBody>
      </p:sp>
      <p:sp>
        <p:nvSpPr>
          <p:cNvPr id="3" name="Marcador de fecha 2"/>
          <p:cNvSpPr>
            <a:spLocks noGrp="1"/>
          </p:cNvSpPr>
          <p:nvPr>
            <p:ph type="dt" sz="quarter" idx="1"/>
          </p:nvPr>
        </p:nvSpPr>
        <p:spPr>
          <a:xfrm>
            <a:off x="3850443" y="0"/>
            <a:ext cx="2945659" cy="496332"/>
          </a:xfrm>
          <a:prstGeom prst="rect">
            <a:avLst/>
          </a:prstGeom>
        </p:spPr>
        <p:txBody>
          <a:bodyPr vert="horz" lIns="91440" tIns="45720" rIns="91440" bIns="45720" rtlCol="0"/>
          <a:lstStyle>
            <a:lvl1pPr algn="r">
              <a:defRPr sz="1200"/>
            </a:lvl1pPr>
          </a:lstStyle>
          <a:p>
            <a:fld id="{11932DC7-834F-6148-86AF-F72164F7FFC1}" type="datetimeFigureOut">
              <a:rPr lang="es-ES" smtClean="0"/>
              <a:t>10/05/2022</a:t>
            </a:fld>
            <a:endParaRPr lang="es-ES"/>
          </a:p>
        </p:txBody>
      </p:sp>
      <p:sp>
        <p:nvSpPr>
          <p:cNvPr id="4" name="Marcador de pie de página 3"/>
          <p:cNvSpPr>
            <a:spLocks noGrp="1"/>
          </p:cNvSpPr>
          <p:nvPr>
            <p:ph type="ftr" sz="quarter" idx="2"/>
          </p:nvPr>
        </p:nvSpPr>
        <p:spPr>
          <a:xfrm>
            <a:off x="0" y="9428583"/>
            <a:ext cx="2945659" cy="496332"/>
          </a:xfrm>
          <a:prstGeom prst="rect">
            <a:avLst/>
          </a:prstGeom>
        </p:spPr>
        <p:txBody>
          <a:bodyPr vert="horz" lIns="91440" tIns="45720" rIns="91440" bIns="45720" rtlCol="0" anchor="b"/>
          <a:lstStyle>
            <a:lvl1pPr algn="l">
              <a:defRPr sz="1200"/>
            </a:lvl1pPr>
          </a:lstStyle>
          <a:p>
            <a:endParaRPr lang="es-ES"/>
          </a:p>
        </p:txBody>
      </p:sp>
      <p:sp>
        <p:nvSpPr>
          <p:cNvPr id="5" name="Marcador de número de diapositiva 4"/>
          <p:cNvSpPr>
            <a:spLocks noGrp="1"/>
          </p:cNvSpPr>
          <p:nvPr>
            <p:ph type="sldNum" sz="quarter" idx="3"/>
          </p:nvPr>
        </p:nvSpPr>
        <p:spPr>
          <a:xfrm>
            <a:off x="3850443" y="9428583"/>
            <a:ext cx="2945659" cy="496332"/>
          </a:xfrm>
          <a:prstGeom prst="rect">
            <a:avLst/>
          </a:prstGeom>
        </p:spPr>
        <p:txBody>
          <a:bodyPr vert="horz" lIns="91440" tIns="45720" rIns="91440" bIns="45720" rtlCol="0" anchor="b"/>
          <a:lstStyle>
            <a:lvl1pPr algn="r">
              <a:defRPr sz="1200"/>
            </a:lvl1pPr>
          </a:lstStyle>
          <a:p>
            <a:fld id="{6CEA6FD5-E31A-6D44-BE80-5A94AC694FC0}" type="slidenum">
              <a:rPr lang="es-ES" smtClean="0"/>
              <a:t>‹Nº›</a:t>
            </a:fld>
            <a:endParaRPr lang="es-ES"/>
          </a:p>
        </p:txBody>
      </p:sp>
    </p:spTree>
    <p:extLst>
      <p:ext uri="{BB962C8B-B14F-4D97-AF65-F5344CB8AC3E}">
        <p14:creationId xmlns:p14="http://schemas.microsoft.com/office/powerpoint/2010/main" val="3426518420"/>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1"/>
            <a:ext cx="2945659" cy="498056"/>
          </a:xfrm>
          <a:prstGeom prst="rect">
            <a:avLst/>
          </a:prstGeom>
        </p:spPr>
        <p:txBody>
          <a:bodyPr vert="horz" lIns="91440" tIns="45720" rIns="91440" bIns="45720" rtlCol="0"/>
          <a:lstStyle>
            <a:lvl1pPr algn="l">
              <a:defRPr sz="1200"/>
            </a:lvl1pPr>
          </a:lstStyle>
          <a:p>
            <a:endParaRPr lang="es-PE"/>
          </a:p>
        </p:txBody>
      </p:sp>
      <p:sp>
        <p:nvSpPr>
          <p:cNvPr id="3" name="Marcador de fecha 2"/>
          <p:cNvSpPr>
            <a:spLocks noGrp="1"/>
          </p:cNvSpPr>
          <p:nvPr>
            <p:ph type="dt" idx="1"/>
          </p:nvPr>
        </p:nvSpPr>
        <p:spPr>
          <a:xfrm>
            <a:off x="3850443" y="1"/>
            <a:ext cx="2945659" cy="498056"/>
          </a:xfrm>
          <a:prstGeom prst="rect">
            <a:avLst/>
          </a:prstGeom>
        </p:spPr>
        <p:txBody>
          <a:bodyPr vert="horz" lIns="91440" tIns="45720" rIns="91440" bIns="45720" rtlCol="0"/>
          <a:lstStyle>
            <a:lvl1pPr algn="r">
              <a:defRPr sz="1200"/>
            </a:lvl1pPr>
          </a:lstStyle>
          <a:p>
            <a:fld id="{FFDF1720-AE80-4069-8D89-2C76E8AFD874}" type="datetimeFigureOut">
              <a:rPr lang="es-PE" smtClean="0"/>
              <a:t>10/05/2022</a:t>
            </a:fld>
            <a:endParaRPr lang="es-PE"/>
          </a:p>
        </p:txBody>
      </p:sp>
      <p:sp>
        <p:nvSpPr>
          <p:cNvPr id="4" name="Marcador de imagen de diapositiva 3"/>
          <p:cNvSpPr>
            <a:spLocks noGrp="1" noRot="1" noChangeAspect="1"/>
          </p:cNvSpPr>
          <p:nvPr>
            <p:ph type="sldImg" idx="2"/>
          </p:nvPr>
        </p:nvSpPr>
        <p:spPr>
          <a:xfrm>
            <a:off x="719138" y="1241425"/>
            <a:ext cx="5359400" cy="3349625"/>
          </a:xfrm>
          <a:prstGeom prst="rect">
            <a:avLst/>
          </a:prstGeom>
          <a:noFill/>
          <a:ln w="12700">
            <a:solidFill>
              <a:prstClr val="black"/>
            </a:solidFill>
          </a:ln>
        </p:spPr>
        <p:txBody>
          <a:bodyPr vert="horz" lIns="91440" tIns="45720" rIns="91440" bIns="45720" rtlCol="0" anchor="ctr"/>
          <a:lstStyle/>
          <a:p>
            <a:endParaRPr lang="es-PE"/>
          </a:p>
        </p:txBody>
      </p:sp>
      <p:sp>
        <p:nvSpPr>
          <p:cNvPr id="5" name="Marcador de notas 4"/>
          <p:cNvSpPr>
            <a:spLocks noGrp="1"/>
          </p:cNvSpPr>
          <p:nvPr>
            <p:ph type="body" sz="quarter" idx="3"/>
          </p:nvPr>
        </p:nvSpPr>
        <p:spPr>
          <a:xfrm>
            <a:off x="679768" y="4777194"/>
            <a:ext cx="5438140" cy="3908615"/>
          </a:xfrm>
          <a:prstGeom prst="rect">
            <a:avLst/>
          </a:prstGeom>
        </p:spPr>
        <p:txBody>
          <a:bodyPr vert="horz" lIns="91440" tIns="45720" rIns="91440" bIns="45720" rtlCol="0"/>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s-PE"/>
          </a:p>
        </p:txBody>
      </p:sp>
      <p:sp>
        <p:nvSpPr>
          <p:cNvPr id="6" name="Marcador de pie de página 5"/>
          <p:cNvSpPr>
            <a:spLocks noGrp="1"/>
          </p:cNvSpPr>
          <p:nvPr>
            <p:ph type="ftr" sz="quarter" idx="4"/>
          </p:nvPr>
        </p:nvSpPr>
        <p:spPr>
          <a:xfrm>
            <a:off x="0" y="9428584"/>
            <a:ext cx="2945659" cy="498055"/>
          </a:xfrm>
          <a:prstGeom prst="rect">
            <a:avLst/>
          </a:prstGeom>
        </p:spPr>
        <p:txBody>
          <a:bodyPr vert="horz" lIns="91440" tIns="45720" rIns="91440" bIns="45720" rtlCol="0" anchor="b"/>
          <a:lstStyle>
            <a:lvl1pPr algn="l">
              <a:defRPr sz="1200"/>
            </a:lvl1pPr>
          </a:lstStyle>
          <a:p>
            <a:endParaRPr lang="es-PE"/>
          </a:p>
        </p:txBody>
      </p:sp>
      <p:sp>
        <p:nvSpPr>
          <p:cNvPr id="7" name="Marcador de número de diapositiva 6"/>
          <p:cNvSpPr>
            <a:spLocks noGrp="1"/>
          </p:cNvSpPr>
          <p:nvPr>
            <p:ph type="sldNum" sz="quarter" idx="5"/>
          </p:nvPr>
        </p:nvSpPr>
        <p:spPr>
          <a:xfrm>
            <a:off x="3850443" y="9428584"/>
            <a:ext cx="2945659" cy="498055"/>
          </a:xfrm>
          <a:prstGeom prst="rect">
            <a:avLst/>
          </a:prstGeom>
        </p:spPr>
        <p:txBody>
          <a:bodyPr vert="horz" lIns="91440" tIns="45720" rIns="91440" bIns="45720" rtlCol="0" anchor="b"/>
          <a:lstStyle>
            <a:lvl1pPr algn="r">
              <a:defRPr sz="1200"/>
            </a:lvl1pPr>
          </a:lstStyle>
          <a:p>
            <a:fld id="{F56700CA-E45F-416D-B659-25554F846B43}" type="slidenum">
              <a:rPr lang="es-PE" smtClean="0"/>
              <a:t>‹Nº›</a:t>
            </a:fld>
            <a:endParaRPr lang="es-PE"/>
          </a:p>
        </p:txBody>
      </p:sp>
    </p:spTree>
    <p:extLst>
      <p:ext uri="{BB962C8B-B14F-4D97-AF65-F5344CB8AC3E}">
        <p14:creationId xmlns:p14="http://schemas.microsoft.com/office/powerpoint/2010/main" val="124852709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171450" indent="-171450">
              <a:buFont typeface="Arial" panose="020B0604020202020204" pitchFamily="34" charset="0"/>
              <a:buChar char="•"/>
            </a:pPr>
            <a:endParaRPr lang="es-PE" dirty="0">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1</a:t>
            </a:fld>
            <a:endParaRPr lang="es-PE"/>
          </a:p>
        </p:txBody>
      </p:sp>
    </p:spTree>
    <p:extLst>
      <p:ext uri="{BB962C8B-B14F-4D97-AF65-F5344CB8AC3E}">
        <p14:creationId xmlns:p14="http://schemas.microsoft.com/office/powerpoint/2010/main" val="113846129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PE" dirty="0">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2</a:t>
            </a:fld>
            <a:endParaRPr lang="es-PE"/>
          </a:p>
        </p:txBody>
      </p:sp>
    </p:spTree>
    <p:extLst>
      <p:ext uri="{BB962C8B-B14F-4D97-AF65-F5344CB8AC3E}">
        <p14:creationId xmlns:p14="http://schemas.microsoft.com/office/powerpoint/2010/main" val="61430601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719138" y="1241425"/>
            <a:ext cx="5359400" cy="3349625"/>
          </a:xfrm>
        </p:spPr>
      </p:sp>
      <p:sp>
        <p:nvSpPr>
          <p:cNvPr id="3" name="Marcador de notas 2"/>
          <p:cNvSpPr>
            <a:spLocks noGrp="1"/>
          </p:cNvSpPr>
          <p:nvPr>
            <p:ph type="body" idx="1"/>
          </p:nvPr>
        </p:nvSpPr>
        <p:spPr/>
        <p:txBody>
          <a:bodyPr/>
          <a:lstStyle/>
          <a:p>
            <a:endParaRPr lang="es-PE" dirty="0">
              <a:latin typeface="Arial" panose="020B0604020202020204" pitchFamily="34" charset="0"/>
              <a:cs typeface="Arial" panose="020B0604020202020204" pitchFamily="34" charset="0"/>
            </a:endParaRPr>
          </a:p>
          <a:p>
            <a:endParaRPr lang="es-PE" dirty="0">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3</a:t>
            </a:fld>
            <a:endParaRPr lang="es-PE"/>
          </a:p>
        </p:txBody>
      </p:sp>
    </p:spTree>
    <p:extLst>
      <p:ext uri="{BB962C8B-B14F-4D97-AF65-F5344CB8AC3E}">
        <p14:creationId xmlns:p14="http://schemas.microsoft.com/office/powerpoint/2010/main" val="143280430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PE" dirty="0">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4</a:t>
            </a:fld>
            <a:endParaRPr lang="es-PE"/>
          </a:p>
        </p:txBody>
      </p:sp>
    </p:spTree>
    <p:extLst>
      <p:ext uri="{BB962C8B-B14F-4D97-AF65-F5344CB8AC3E}">
        <p14:creationId xmlns:p14="http://schemas.microsoft.com/office/powerpoint/2010/main" val="405830581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PE" dirty="0">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5</a:t>
            </a:fld>
            <a:endParaRPr lang="es-PE"/>
          </a:p>
        </p:txBody>
      </p:sp>
    </p:spTree>
    <p:extLst>
      <p:ext uri="{BB962C8B-B14F-4D97-AF65-F5344CB8AC3E}">
        <p14:creationId xmlns:p14="http://schemas.microsoft.com/office/powerpoint/2010/main" val="118277363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PE" dirty="0">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6</a:t>
            </a:fld>
            <a:endParaRPr lang="es-PE"/>
          </a:p>
        </p:txBody>
      </p:sp>
    </p:spTree>
    <p:extLst>
      <p:ext uri="{BB962C8B-B14F-4D97-AF65-F5344CB8AC3E}">
        <p14:creationId xmlns:p14="http://schemas.microsoft.com/office/powerpoint/2010/main" val="315973629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PE" dirty="0">
                <a:latin typeface="Arial" panose="020B0604020202020204" pitchFamily="34" charset="0"/>
                <a:cs typeface="Arial" panose="020B0604020202020204" pitchFamily="34" charset="0"/>
              </a:rPr>
              <a:t>En la siguiente figura se </a:t>
            </a:r>
            <a:r>
              <a:rPr lang="es-PE" dirty="0" smtClean="0">
                <a:latin typeface="Arial" panose="020B0604020202020204" pitchFamily="34" charset="0"/>
                <a:cs typeface="Arial" panose="020B0604020202020204" pitchFamily="34" charset="0"/>
              </a:rPr>
              <a:t>muestran </a:t>
            </a:r>
            <a:r>
              <a:rPr lang="es-PE" dirty="0">
                <a:latin typeface="Arial" panose="020B0604020202020204" pitchFamily="34" charset="0"/>
                <a:cs typeface="Arial" panose="020B0604020202020204" pitchFamily="34" charset="0"/>
              </a:rPr>
              <a:t>las partes interesadas internas y externas identificadas por el marco de COBIT 2019, cada una de ellas tiene un nivel de importancia clave para lograr los objetivos y se deben tomar en cuenta al momento de querer implantar un modelo de gobierno y gestión de las TI en las empresas. </a:t>
            </a: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7</a:t>
            </a:fld>
            <a:endParaRPr lang="es-PE"/>
          </a:p>
        </p:txBody>
      </p:sp>
    </p:spTree>
    <p:extLst>
      <p:ext uri="{BB962C8B-B14F-4D97-AF65-F5344CB8AC3E}">
        <p14:creationId xmlns:p14="http://schemas.microsoft.com/office/powerpoint/2010/main" val="215386302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PE" dirty="0">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8</a:t>
            </a:fld>
            <a:endParaRPr lang="es-PE"/>
          </a:p>
        </p:txBody>
      </p:sp>
    </p:spTree>
    <p:extLst>
      <p:ext uri="{BB962C8B-B14F-4D97-AF65-F5344CB8AC3E}">
        <p14:creationId xmlns:p14="http://schemas.microsoft.com/office/powerpoint/2010/main" val="251734886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PE" dirty="0">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9</a:t>
            </a:fld>
            <a:endParaRPr lang="es-PE"/>
          </a:p>
        </p:txBody>
      </p:sp>
    </p:spTree>
    <p:extLst>
      <p:ext uri="{BB962C8B-B14F-4D97-AF65-F5344CB8AC3E}">
        <p14:creationId xmlns:p14="http://schemas.microsoft.com/office/powerpoint/2010/main" val="251622739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719138" y="1241425"/>
            <a:ext cx="5359400" cy="3349625"/>
          </a:xfrm>
        </p:spPr>
      </p:sp>
      <p:sp>
        <p:nvSpPr>
          <p:cNvPr id="3" name="Marcador de notas 2"/>
          <p:cNvSpPr>
            <a:spLocks noGrp="1"/>
          </p:cNvSpPr>
          <p:nvPr>
            <p:ph type="body" idx="1"/>
          </p:nvPr>
        </p:nvSpPr>
        <p:spPr/>
        <p:txBody>
          <a:bodyPr/>
          <a:lstStyle/>
          <a:p>
            <a:endParaRPr lang="es-PE" dirty="0">
              <a:latin typeface="Arial" panose="020B0604020202020204" pitchFamily="34" charset="0"/>
              <a:cs typeface="Arial" panose="020B0604020202020204" pitchFamily="34" charset="0"/>
            </a:endParaRPr>
          </a:p>
          <a:p>
            <a:endParaRPr lang="es-PE" dirty="0">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10</a:t>
            </a:fld>
            <a:endParaRPr lang="es-PE"/>
          </a:p>
        </p:txBody>
      </p:sp>
    </p:spTree>
    <p:extLst>
      <p:ext uri="{BB962C8B-B14F-4D97-AF65-F5344CB8AC3E}">
        <p14:creationId xmlns:p14="http://schemas.microsoft.com/office/powerpoint/2010/main" val="320410584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PE" dirty="0">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11</a:t>
            </a:fld>
            <a:endParaRPr lang="es-PE"/>
          </a:p>
        </p:txBody>
      </p:sp>
    </p:spTree>
    <p:extLst>
      <p:ext uri="{BB962C8B-B14F-4D97-AF65-F5344CB8AC3E}">
        <p14:creationId xmlns:p14="http://schemas.microsoft.com/office/powerpoint/2010/main" val="355505948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PE" dirty="0">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12</a:t>
            </a:fld>
            <a:endParaRPr lang="es-PE"/>
          </a:p>
        </p:txBody>
      </p:sp>
    </p:spTree>
    <p:extLst>
      <p:ext uri="{BB962C8B-B14F-4D97-AF65-F5344CB8AC3E}">
        <p14:creationId xmlns:p14="http://schemas.microsoft.com/office/powerpoint/2010/main" val="159403984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719138" y="1241425"/>
            <a:ext cx="5359400" cy="3349625"/>
          </a:xfrm>
        </p:spPr>
      </p:sp>
      <p:sp>
        <p:nvSpPr>
          <p:cNvPr id="3" name="Marcador de notas 2"/>
          <p:cNvSpPr>
            <a:spLocks noGrp="1"/>
          </p:cNvSpPr>
          <p:nvPr>
            <p:ph type="body" idx="1"/>
          </p:nvPr>
        </p:nvSpPr>
        <p:spPr/>
        <p:txBody>
          <a:bodyPr/>
          <a:lstStyle/>
          <a:p>
            <a:endParaRPr lang="es-PE" dirty="0">
              <a:latin typeface="Arial" panose="020B0604020202020204" pitchFamily="34" charset="0"/>
              <a:cs typeface="Arial" panose="020B0604020202020204" pitchFamily="34" charset="0"/>
            </a:endParaRPr>
          </a:p>
          <a:p>
            <a:endParaRPr lang="es-PE" dirty="0">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13</a:t>
            </a:fld>
            <a:endParaRPr lang="es-PE"/>
          </a:p>
        </p:txBody>
      </p:sp>
    </p:spTree>
    <p:extLst>
      <p:ext uri="{BB962C8B-B14F-4D97-AF65-F5344CB8AC3E}">
        <p14:creationId xmlns:p14="http://schemas.microsoft.com/office/powerpoint/2010/main" val="165061527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PE" dirty="0">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14</a:t>
            </a:fld>
            <a:endParaRPr lang="es-PE"/>
          </a:p>
        </p:txBody>
      </p:sp>
    </p:spTree>
    <p:extLst>
      <p:ext uri="{BB962C8B-B14F-4D97-AF65-F5344CB8AC3E}">
        <p14:creationId xmlns:p14="http://schemas.microsoft.com/office/powerpoint/2010/main" val="160430721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PE" dirty="0">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15</a:t>
            </a:fld>
            <a:endParaRPr lang="es-PE"/>
          </a:p>
        </p:txBody>
      </p:sp>
    </p:spTree>
    <p:extLst>
      <p:ext uri="{BB962C8B-B14F-4D97-AF65-F5344CB8AC3E}">
        <p14:creationId xmlns:p14="http://schemas.microsoft.com/office/powerpoint/2010/main" val="76170765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719138" y="1241425"/>
            <a:ext cx="5359400" cy="3349625"/>
          </a:xfrm>
        </p:spPr>
      </p:sp>
      <p:sp>
        <p:nvSpPr>
          <p:cNvPr id="3" name="Marcador de notas 2"/>
          <p:cNvSpPr>
            <a:spLocks noGrp="1"/>
          </p:cNvSpPr>
          <p:nvPr>
            <p:ph type="body" idx="1"/>
          </p:nvPr>
        </p:nvSpPr>
        <p:spPr/>
        <p:txBody>
          <a:bodyPr/>
          <a:lstStyle/>
          <a:p>
            <a:endParaRPr lang="es-PE" dirty="0">
              <a:latin typeface="Arial" panose="020B0604020202020204" pitchFamily="34" charset="0"/>
              <a:cs typeface="Arial" panose="020B0604020202020204" pitchFamily="34" charset="0"/>
            </a:endParaRPr>
          </a:p>
          <a:p>
            <a:endParaRPr lang="es-PE" dirty="0">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16</a:t>
            </a:fld>
            <a:endParaRPr lang="es-PE"/>
          </a:p>
        </p:txBody>
      </p:sp>
    </p:spTree>
    <p:extLst>
      <p:ext uri="{BB962C8B-B14F-4D97-AF65-F5344CB8AC3E}">
        <p14:creationId xmlns:p14="http://schemas.microsoft.com/office/powerpoint/2010/main" val="234861901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PE" dirty="0">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17</a:t>
            </a:fld>
            <a:endParaRPr lang="es-PE"/>
          </a:p>
        </p:txBody>
      </p:sp>
    </p:spTree>
    <p:extLst>
      <p:ext uri="{BB962C8B-B14F-4D97-AF65-F5344CB8AC3E}">
        <p14:creationId xmlns:p14="http://schemas.microsoft.com/office/powerpoint/2010/main" val="163313054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PE" dirty="0">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18</a:t>
            </a:fld>
            <a:endParaRPr lang="es-PE"/>
          </a:p>
        </p:txBody>
      </p:sp>
    </p:spTree>
    <p:extLst>
      <p:ext uri="{BB962C8B-B14F-4D97-AF65-F5344CB8AC3E}">
        <p14:creationId xmlns:p14="http://schemas.microsoft.com/office/powerpoint/2010/main" val="317645517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ES" b="0" i="0" dirty="0">
                <a:solidFill>
                  <a:srgbClr val="616161"/>
                </a:solidFill>
                <a:effectLst/>
                <a:latin typeface="Verdana" panose="020B0604030504040204" pitchFamily="34" charset="0"/>
              </a:rPr>
              <a:t>El marco de COBIT 2019 propone el modelo CORE de COBIT 2019  que está conformado por 40 objetivos de gobierno y gestión, de los cuales 5 son de gobierno y el resto (35) son de gestión.</a:t>
            </a:r>
            <a:endParaRPr lang="es-PE" dirty="0">
              <a:latin typeface="Arial" panose="020B0604020202020204" pitchFamily="34" charset="0"/>
              <a:cs typeface="Arial" panose="020B0604020202020204" pitchFamily="34" charset="0"/>
            </a:endParaRPr>
          </a:p>
          <a:p>
            <a:endParaRPr lang="es-PE" dirty="0">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19</a:t>
            </a:fld>
            <a:endParaRPr lang="es-PE"/>
          </a:p>
        </p:txBody>
      </p:sp>
    </p:spTree>
    <p:extLst>
      <p:ext uri="{BB962C8B-B14F-4D97-AF65-F5344CB8AC3E}">
        <p14:creationId xmlns:p14="http://schemas.microsoft.com/office/powerpoint/2010/main" val="273993810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719138" y="1241425"/>
            <a:ext cx="5359400" cy="3349625"/>
          </a:xfrm>
        </p:spPr>
      </p:sp>
      <p:sp>
        <p:nvSpPr>
          <p:cNvPr id="3" name="Marcador de notas 2"/>
          <p:cNvSpPr>
            <a:spLocks noGrp="1"/>
          </p:cNvSpPr>
          <p:nvPr>
            <p:ph type="body" idx="1"/>
          </p:nvPr>
        </p:nvSpPr>
        <p:spPr/>
        <p:txBody>
          <a:bodyPr/>
          <a:lstStyle/>
          <a:p>
            <a:endParaRPr lang="es-PE" dirty="0">
              <a:latin typeface="Arial" panose="020B0604020202020204" pitchFamily="34" charset="0"/>
              <a:cs typeface="Arial" panose="020B0604020202020204" pitchFamily="34" charset="0"/>
            </a:endParaRPr>
          </a:p>
          <a:p>
            <a:endParaRPr lang="es-PE" dirty="0">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20</a:t>
            </a:fld>
            <a:endParaRPr lang="es-PE"/>
          </a:p>
        </p:txBody>
      </p:sp>
    </p:spTree>
    <p:extLst>
      <p:ext uri="{BB962C8B-B14F-4D97-AF65-F5344CB8AC3E}">
        <p14:creationId xmlns:p14="http://schemas.microsoft.com/office/powerpoint/2010/main" val="230960012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PE" dirty="0">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21</a:t>
            </a:fld>
            <a:endParaRPr lang="es-PE"/>
          </a:p>
        </p:txBody>
      </p:sp>
    </p:spTree>
    <p:extLst>
      <p:ext uri="{BB962C8B-B14F-4D97-AF65-F5344CB8AC3E}">
        <p14:creationId xmlns:p14="http://schemas.microsoft.com/office/powerpoint/2010/main" val="353183471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PE" dirty="0">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22</a:t>
            </a:fld>
            <a:endParaRPr lang="es-PE"/>
          </a:p>
        </p:txBody>
      </p:sp>
    </p:spTree>
    <p:extLst>
      <p:ext uri="{BB962C8B-B14F-4D97-AF65-F5344CB8AC3E}">
        <p14:creationId xmlns:p14="http://schemas.microsoft.com/office/powerpoint/2010/main" val="224315946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719138" y="1241425"/>
            <a:ext cx="5359400" cy="3349625"/>
          </a:xfrm>
        </p:spPr>
      </p:sp>
      <p:sp>
        <p:nvSpPr>
          <p:cNvPr id="3" name="Marcador de notas 2"/>
          <p:cNvSpPr>
            <a:spLocks noGrp="1"/>
          </p:cNvSpPr>
          <p:nvPr>
            <p:ph type="body" idx="1"/>
          </p:nvPr>
        </p:nvSpPr>
        <p:spPr/>
        <p:txBody>
          <a:bodyPr/>
          <a:lstStyle/>
          <a:p>
            <a:endParaRPr lang="es-PE" dirty="0">
              <a:latin typeface="Arial" panose="020B0604020202020204" pitchFamily="34" charset="0"/>
              <a:cs typeface="Arial" panose="020B0604020202020204" pitchFamily="34" charset="0"/>
            </a:endParaRPr>
          </a:p>
          <a:p>
            <a:endParaRPr lang="es-PE" dirty="0">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23</a:t>
            </a:fld>
            <a:endParaRPr lang="es-PE"/>
          </a:p>
        </p:txBody>
      </p:sp>
    </p:spTree>
    <p:extLst>
      <p:ext uri="{BB962C8B-B14F-4D97-AF65-F5344CB8AC3E}">
        <p14:creationId xmlns:p14="http://schemas.microsoft.com/office/powerpoint/2010/main" val="155776335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PE" dirty="0">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24</a:t>
            </a:fld>
            <a:endParaRPr lang="es-PE"/>
          </a:p>
        </p:txBody>
      </p:sp>
    </p:spTree>
    <p:extLst>
      <p:ext uri="{BB962C8B-B14F-4D97-AF65-F5344CB8AC3E}">
        <p14:creationId xmlns:p14="http://schemas.microsoft.com/office/powerpoint/2010/main" val="67302685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PE" dirty="0">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25</a:t>
            </a:fld>
            <a:endParaRPr lang="es-PE"/>
          </a:p>
        </p:txBody>
      </p:sp>
    </p:spTree>
    <p:extLst>
      <p:ext uri="{BB962C8B-B14F-4D97-AF65-F5344CB8AC3E}">
        <p14:creationId xmlns:p14="http://schemas.microsoft.com/office/powerpoint/2010/main" val="4180565456"/>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960438" y="1143000"/>
            <a:ext cx="4937125" cy="3086100"/>
          </a:xfrm>
        </p:spPr>
      </p:sp>
      <p:sp>
        <p:nvSpPr>
          <p:cNvPr id="3" name="Marcador de notas 2"/>
          <p:cNvSpPr>
            <a:spLocks noGrp="1"/>
          </p:cNvSpPr>
          <p:nvPr>
            <p:ph type="body" idx="1"/>
          </p:nvPr>
        </p:nvSpPr>
        <p:spPr/>
        <p:txBody>
          <a:bodyPr/>
          <a:lstStyle/>
          <a:p>
            <a:endParaRPr lang="es-PE" dirty="0"/>
          </a:p>
        </p:txBody>
      </p:sp>
      <p:sp>
        <p:nvSpPr>
          <p:cNvPr id="4" name="Marcador de número de diapositiva 3"/>
          <p:cNvSpPr>
            <a:spLocks noGrp="1"/>
          </p:cNvSpPr>
          <p:nvPr>
            <p:ph type="sldNum" sz="quarter" idx="10"/>
          </p:nvPr>
        </p:nvSpPr>
        <p:spPr/>
        <p:txBody>
          <a:bodyPr/>
          <a:lstStyle/>
          <a:p>
            <a:fld id="{F56700CA-E45F-416D-B659-25554F846B43}" type="slidenum">
              <a:rPr lang="es-PE" smtClean="0"/>
              <a:t>26</a:t>
            </a:fld>
            <a:endParaRPr lang="es-PE"/>
          </a:p>
        </p:txBody>
      </p:sp>
    </p:spTree>
    <p:extLst>
      <p:ext uri="{BB962C8B-B14F-4D97-AF65-F5344CB8AC3E}">
        <p14:creationId xmlns:p14="http://schemas.microsoft.com/office/powerpoint/2010/main" val="2200532664"/>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960438" y="1143000"/>
            <a:ext cx="4937125" cy="3086100"/>
          </a:xfrm>
        </p:spPr>
      </p:sp>
      <p:sp>
        <p:nvSpPr>
          <p:cNvPr id="3" name="Marcador de notas 2"/>
          <p:cNvSpPr>
            <a:spLocks noGrp="1"/>
          </p:cNvSpPr>
          <p:nvPr>
            <p:ph type="body" idx="1"/>
          </p:nvPr>
        </p:nvSpPr>
        <p:spPr/>
        <p:txBody>
          <a:bodyPr/>
          <a:lstStyle/>
          <a:p>
            <a:endParaRPr lang="es-PE" dirty="0"/>
          </a:p>
        </p:txBody>
      </p:sp>
      <p:sp>
        <p:nvSpPr>
          <p:cNvPr id="4" name="Marcador de número de diapositiva 3"/>
          <p:cNvSpPr>
            <a:spLocks noGrp="1"/>
          </p:cNvSpPr>
          <p:nvPr>
            <p:ph type="sldNum" sz="quarter" idx="10"/>
          </p:nvPr>
        </p:nvSpPr>
        <p:spPr/>
        <p:txBody>
          <a:bodyPr/>
          <a:lstStyle/>
          <a:p>
            <a:fld id="{F56700CA-E45F-416D-B659-25554F846B43}" type="slidenum">
              <a:rPr lang="es-PE" smtClean="0"/>
              <a:t>27</a:t>
            </a:fld>
            <a:endParaRPr lang="es-PE"/>
          </a:p>
        </p:txBody>
      </p:sp>
    </p:spTree>
    <p:extLst>
      <p:ext uri="{BB962C8B-B14F-4D97-AF65-F5344CB8AC3E}">
        <p14:creationId xmlns:p14="http://schemas.microsoft.com/office/powerpoint/2010/main" val="212976777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138308511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Tree>
    <p:custDataLst>
      <p:tags r:id="rId1"/>
    </p:custDataLst>
    <p:extLst>
      <p:ext uri="{BB962C8B-B14F-4D97-AF65-F5344CB8AC3E}">
        <p14:creationId xmlns:p14="http://schemas.microsoft.com/office/powerpoint/2010/main" val="294313177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ubtema - 1 Imagen A">
    <p:spTree>
      <p:nvGrpSpPr>
        <p:cNvPr id="1" name=""/>
        <p:cNvGrpSpPr/>
        <p:nvPr/>
      </p:nvGrpSpPr>
      <p:grpSpPr>
        <a:xfrm>
          <a:off x="0" y="0"/>
          <a:ext cx="0" cy="0"/>
          <a:chOff x="0" y="0"/>
          <a:chExt cx="0" cy="0"/>
        </a:xfrm>
      </p:grpSpPr>
    </p:spTree>
    <p:extLst>
      <p:ext uri="{BB962C8B-B14F-4D97-AF65-F5344CB8AC3E}">
        <p14:creationId xmlns:p14="http://schemas.microsoft.com/office/powerpoint/2010/main" val="61182499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Subtema - 1 Imagen B">
    <p:spTree>
      <p:nvGrpSpPr>
        <p:cNvPr id="1" name=""/>
        <p:cNvGrpSpPr/>
        <p:nvPr/>
      </p:nvGrpSpPr>
      <p:grpSpPr>
        <a:xfrm>
          <a:off x="0" y="0"/>
          <a:ext cx="0" cy="0"/>
          <a:chOff x="0" y="0"/>
          <a:chExt cx="0" cy="0"/>
        </a:xfrm>
      </p:grpSpPr>
    </p:spTree>
    <p:extLst>
      <p:ext uri="{BB962C8B-B14F-4D97-AF65-F5344CB8AC3E}">
        <p14:creationId xmlns:p14="http://schemas.microsoft.com/office/powerpoint/2010/main" val="263222611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Subtema - 1 Imagen Centrada">
    <p:spTree>
      <p:nvGrpSpPr>
        <p:cNvPr id="1" name=""/>
        <p:cNvGrpSpPr/>
        <p:nvPr/>
      </p:nvGrpSpPr>
      <p:grpSpPr>
        <a:xfrm>
          <a:off x="0" y="0"/>
          <a:ext cx="0" cy="0"/>
          <a:chOff x="0" y="0"/>
          <a:chExt cx="0" cy="0"/>
        </a:xfrm>
      </p:grpSpPr>
    </p:spTree>
    <p:extLst>
      <p:ext uri="{BB962C8B-B14F-4D97-AF65-F5344CB8AC3E}">
        <p14:creationId xmlns:p14="http://schemas.microsoft.com/office/powerpoint/2010/main" val="193550879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Subtema - 2 Imágenes">
    <p:spTree>
      <p:nvGrpSpPr>
        <p:cNvPr id="1" name=""/>
        <p:cNvGrpSpPr/>
        <p:nvPr/>
      </p:nvGrpSpPr>
      <p:grpSpPr>
        <a:xfrm>
          <a:off x="0" y="0"/>
          <a:ext cx="0" cy="0"/>
          <a:chOff x="0" y="0"/>
          <a:chExt cx="0" cy="0"/>
        </a:xfrm>
      </p:grpSpPr>
    </p:spTree>
    <p:extLst>
      <p:ext uri="{BB962C8B-B14F-4D97-AF65-F5344CB8AC3E}">
        <p14:creationId xmlns:p14="http://schemas.microsoft.com/office/powerpoint/2010/main" val="96469133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Subtema - Imagen Gigante">
    <p:spTree>
      <p:nvGrpSpPr>
        <p:cNvPr id="1" name=""/>
        <p:cNvGrpSpPr/>
        <p:nvPr/>
      </p:nvGrpSpPr>
      <p:grpSpPr>
        <a:xfrm>
          <a:off x="0" y="0"/>
          <a:ext cx="0" cy="0"/>
          <a:chOff x="0" y="0"/>
          <a:chExt cx="0" cy="0"/>
        </a:xfrm>
      </p:grpSpPr>
    </p:spTree>
    <p:extLst>
      <p:ext uri="{BB962C8B-B14F-4D97-AF65-F5344CB8AC3E}">
        <p14:creationId xmlns:p14="http://schemas.microsoft.com/office/powerpoint/2010/main" val="422695651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Subtema - Video">
    <p:spTree>
      <p:nvGrpSpPr>
        <p:cNvPr id="1" name=""/>
        <p:cNvGrpSpPr/>
        <p:nvPr/>
      </p:nvGrpSpPr>
      <p:grpSpPr>
        <a:xfrm>
          <a:off x="0" y="0"/>
          <a:ext cx="0" cy="0"/>
          <a:chOff x="0" y="0"/>
          <a:chExt cx="0" cy="0"/>
        </a:xfrm>
      </p:grpSpPr>
    </p:spTree>
    <p:extLst>
      <p:ext uri="{BB962C8B-B14F-4D97-AF65-F5344CB8AC3E}">
        <p14:creationId xmlns:p14="http://schemas.microsoft.com/office/powerpoint/2010/main" val="173526143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userDrawn="1">
  <p:cSld name="Diapositiva de título">
    <p:spTree>
      <p:nvGrpSpPr>
        <p:cNvPr id="1" name=""/>
        <p:cNvGrpSpPr/>
        <p:nvPr/>
      </p:nvGrpSpPr>
      <p:grpSpPr>
        <a:xfrm>
          <a:off x="0" y="0"/>
          <a:ext cx="0" cy="0"/>
          <a:chOff x="0" y="0"/>
          <a:chExt cx="0" cy="0"/>
        </a:xfrm>
      </p:grpSpPr>
    </p:spTree>
    <p:extLst>
      <p:ext uri="{BB962C8B-B14F-4D97-AF65-F5344CB8AC3E}">
        <p14:creationId xmlns:p14="http://schemas.microsoft.com/office/powerpoint/2010/main" val="184021131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image" Target="../media/image1.emf"/><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14" name="Agrupar 13"/>
          <p:cNvGrpSpPr/>
          <p:nvPr userDrawn="1"/>
        </p:nvGrpSpPr>
        <p:grpSpPr>
          <a:xfrm>
            <a:off x="944054" y="5369051"/>
            <a:ext cx="7804380" cy="215444"/>
            <a:chOff x="944054" y="5369051"/>
            <a:chExt cx="7804380" cy="215444"/>
          </a:xfrm>
        </p:grpSpPr>
        <p:sp>
          <p:nvSpPr>
            <p:cNvPr id="16" name="TextBox 7"/>
            <p:cNvSpPr txBox="1"/>
            <p:nvPr userDrawn="1"/>
          </p:nvSpPr>
          <p:spPr>
            <a:xfrm>
              <a:off x="944054" y="5369051"/>
              <a:ext cx="2499402" cy="215444"/>
            </a:xfrm>
            <a:prstGeom prst="rect">
              <a:avLst/>
            </a:prstGeom>
            <a:noFill/>
          </p:spPr>
          <p:txBody>
            <a:bodyPr wrap="none" rtlCol="0">
              <a:spAutoFit/>
            </a:bodyPr>
            <a:lstStyle/>
            <a:p>
              <a:r>
                <a:rPr lang="en-US" sz="800" kern="1200" dirty="0" smtClean="0">
                  <a:solidFill>
                    <a:schemeClr val="bg1">
                      <a:lumMod val="50000"/>
                    </a:schemeClr>
                  </a:solidFill>
                  <a:latin typeface="Calibri"/>
                  <a:ea typeface="+mn-ea"/>
                  <a:cs typeface="Calibri"/>
                  <a:sym typeface="Wingdings"/>
                </a:rPr>
                <a:t>SISTEMAS DE CONTROL Y GOBIERNO DE TI  </a:t>
              </a:r>
              <a:r>
                <a:rPr lang="en-US" sz="800" dirty="0">
                  <a:solidFill>
                    <a:schemeClr val="bg1">
                      <a:lumMod val="50000"/>
                    </a:schemeClr>
                  </a:solidFill>
                  <a:latin typeface="Calibri"/>
                  <a:ea typeface="Wingdings"/>
                  <a:cs typeface="Calibri"/>
                  <a:sym typeface="Wingdings"/>
                </a:rPr>
                <a:t></a:t>
              </a:r>
              <a:r>
                <a:rPr lang="en-US" sz="800" kern="1200" dirty="0">
                  <a:solidFill>
                    <a:schemeClr val="bg1">
                      <a:lumMod val="50000"/>
                    </a:schemeClr>
                  </a:solidFill>
                  <a:latin typeface="Calibri"/>
                  <a:ea typeface="+mn-ea"/>
                  <a:cs typeface="Calibri"/>
                  <a:sym typeface="Wingdings"/>
                </a:rPr>
                <a:t>  SESIÓN </a:t>
              </a:r>
              <a:r>
                <a:rPr lang="en-US" sz="800" kern="1200" dirty="0" smtClean="0">
                  <a:solidFill>
                    <a:schemeClr val="bg1">
                      <a:lumMod val="50000"/>
                    </a:schemeClr>
                  </a:solidFill>
                  <a:latin typeface="Calibri"/>
                  <a:ea typeface="+mn-ea"/>
                  <a:cs typeface="Calibri"/>
                  <a:sym typeface="Wingdings"/>
                </a:rPr>
                <a:t>06</a:t>
              </a:r>
              <a:endParaRPr lang="en-US" sz="800" dirty="0">
                <a:solidFill>
                  <a:schemeClr val="bg1">
                    <a:lumMod val="50000"/>
                  </a:schemeClr>
                </a:solidFill>
                <a:latin typeface="Calibri"/>
                <a:cs typeface="Calibri"/>
              </a:endParaRPr>
            </a:p>
          </p:txBody>
        </p:sp>
        <p:sp>
          <p:nvSpPr>
            <p:cNvPr id="18" name="Rectangle 3"/>
            <p:cNvSpPr/>
            <p:nvPr userDrawn="1"/>
          </p:nvSpPr>
          <p:spPr>
            <a:xfrm>
              <a:off x="7207627" y="5384440"/>
              <a:ext cx="1540807" cy="184666"/>
            </a:xfrm>
            <a:prstGeom prst="rect">
              <a:avLst/>
            </a:prstGeom>
          </p:spPr>
          <p:txBody>
            <a:bodyPr wrap="none">
              <a:spAutoFit/>
            </a:bodyPr>
            <a:lstStyle/>
            <a:p>
              <a:pPr algn="r"/>
              <a:r>
                <a:rPr lang="es-ES_tradnl" sz="600" dirty="0">
                  <a:solidFill>
                    <a:schemeClr val="bg1">
                      <a:lumMod val="50000"/>
                    </a:schemeClr>
                  </a:solidFill>
                </a:rPr>
                <a:t>© 2020 ISIL. Todos los derechos reservados</a:t>
              </a:r>
            </a:p>
          </p:txBody>
        </p:sp>
      </p:grpSp>
      <p:pic>
        <p:nvPicPr>
          <p:cNvPr id="3" name="Imagen 2"/>
          <p:cNvPicPr>
            <a:picLocks noChangeAspect="1"/>
          </p:cNvPicPr>
          <p:nvPr userDrawn="1"/>
        </p:nvPicPr>
        <p:blipFill>
          <a:blip r:embed="rId11">
            <a:alphaModFix amt="20000"/>
          </a:blip>
          <a:stretch>
            <a:fillRect/>
          </a:stretch>
        </p:blipFill>
        <p:spPr>
          <a:xfrm>
            <a:off x="495300" y="5328911"/>
            <a:ext cx="448573" cy="250755"/>
          </a:xfrm>
          <a:prstGeom prst="rect">
            <a:avLst/>
          </a:prstGeom>
        </p:spPr>
      </p:pic>
    </p:spTree>
    <p:extLst>
      <p:ext uri="{BB962C8B-B14F-4D97-AF65-F5344CB8AC3E}">
        <p14:creationId xmlns:p14="http://schemas.microsoft.com/office/powerpoint/2010/main" val="363593237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6" r:id="rId3"/>
    <p:sldLayoutId id="2147483660" r:id="rId4"/>
    <p:sldLayoutId id="2147483657" r:id="rId5"/>
    <p:sldLayoutId id="2147483658" r:id="rId6"/>
    <p:sldLayoutId id="2147483661" r:id="rId7"/>
    <p:sldLayoutId id="2147483659" r:id="rId8"/>
    <p:sldLayoutId id="2147483662" r:id="rId9"/>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9.xml"/></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2.xml"/><Relationship Id="rId1" Type="http://schemas.openxmlformats.org/officeDocument/2006/relationships/tags" Target="../tags/tag3.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1.xml"/><Relationship Id="rId1" Type="http://schemas.openxmlformats.org/officeDocument/2006/relationships/tags" Target="../tags/tag4.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1.xml"/><Relationship Id="rId1" Type="http://schemas.openxmlformats.org/officeDocument/2006/relationships/tags" Target="../tags/tag5.xml"/></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1.xml"/><Relationship Id="rId1" Type="http://schemas.openxmlformats.org/officeDocument/2006/relationships/tags" Target="../tags/tag6.xml"/></Relationships>
</file>

<file path=ppt/slides/_rels/slide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1.xml"/><Relationship Id="rId1" Type="http://schemas.openxmlformats.org/officeDocument/2006/relationships/tags" Target="../tags/tag7.xml"/></Relationships>
</file>

<file path=ppt/slides/_rels/slide1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20.xml"/><Relationship Id="rId2" Type="http://schemas.openxmlformats.org/officeDocument/2006/relationships/slideLayout" Target="../slideLayouts/slideLayout1.xml"/><Relationship Id="rId1" Type="http://schemas.openxmlformats.org/officeDocument/2006/relationships/tags" Target="../tags/tag8.xml"/></Relationships>
</file>

<file path=ppt/slides/_rels/slide2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2.xm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3" Type="http://schemas.openxmlformats.org/officeDocument/2006/relationships/notesSlide" Target="../notesSlides/notesSlide23.xml"/><Relationship Id="rId2" Type="http://schemas.openxmlformats.org/officeDocument/2006/relationships/slideLayout" Target="../slideLayouts/slideLayout1.xml"/><Relationship Id="rId1" Type="http://schemas.openxmlformats.org/officeDocument/2006/relationships/tags" Target="../tags/tag9.xml"/></Relationships>
</file>

<file path=ppt/slides/_rels/slide2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4.xml"/><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5.xml"/><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3" Type="http://schemas.openxmlformats.org/officeDocument/2006/relationships/notesSlide" Target="../notesSlides/notesSlide26.xml"/><Relationship Id="rId2" Type="http://schemas.openxmlformats.org/officeDocument/2006/relationships/slideLayout" Target="../slideLayouts/slideLayout1.xml"/><Relationship Id="rId1" Type="http://schemas.openxmlformats.org/officeDocument/2006/relationships/tags" Target="../tags/tag10.xml"/></Relationships>
</file>

<file path=ppt/slides/_rels/slide27.xml.rels><?xml version="1.0" encoding="UTF-8" standalone="yes"?>
<Relationships xmlns="http://schemas.openxmlformats.org/package/2006/relationships"><Relationship Id="rId3" Type="http://schemas.openxmlformats.org/officeDocument/2006/relationships/notesSlide" Target="../notesSlides/notesSlide27.xml"/><Relationship Id="rId2" Type="http://schemas.openxmlformats.org/officeDocument/2006/relationships/slideLayout" Target="../slideLayouts/slideLayout1.xml"/><Relationship Id="rId1" Type="http://schemas.openxmlformats.org/officeDocument/2006/relationships/tags" Target="../tags/tag11.xml"/></Relationships>
</file>

<file path=ppt/slides/_rels/slide2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ángulo 3"/>
          <p:cNvSpPr/>
          <p:nvPr/>
        </p:nvSpPr>
        <p:spPr>
          <a:xfrm>
            <a:off x="0" y="0"/>
            <a:ext cx="9144000" cy="5715000"/>
          </a:xfrm>
          <a:prstGeom prst="rect">
            <a:avLst/>
          </a:prstGeom>
          <a:solidFill>
            <a:srgbClr val="1F85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 dirty="0"/>
          </a:p>
        </p:txBody>
      </p:sp>
      <p:sp>
        <p:nvSpPr>
          <p:cNvPr id="5" name="CuadroTexto 4"/>
          <p:cNvSpPr txBox="1"/>
          <p:nvPr/>
        </p:nvSpPr>
        <p:spPr>
          <a:xfrm>
            <a:off x="417646" y="398388"/>
            <a:ext cx="873152" cy="369332"/>
          </a:xfrm>
          <a:prstGeom prst="rect">
            <a:avLst/>
          </a:prstGeom>
          <a:noFill/>
        </p:spPr>
        <p:txBody>
          <a:bodyPr wrap="square" rtlCol="0">
            <a:spAutoFit/>
          </a:bodyPr>
          <a:lstStyle/>
          <a:p>
            <a:r>
              <a:rPr lang="es-ES" dirty="0">
                <a:solidFill>
                  <a:schemeClr val="bg1"/>
                </a:solidFill>
              </a:rPr>
              <a:t>SESIÓN</a:t>
            </a:r>
          </a:p>
        </p:txBody>
      </p:sp>
      <p:sp>
        <p:nvSpPr>
          <p:cNvPr id="6" name="CuadroTexto 5"/>
          <p:cNvSpPr txBox="1"/>
          <p:nvPr/>
        </p:nvSpPr>
        <p:spPr>
          <a:xfrm>
            <a:off x="380422" y="475914"/>
            <a:ext cx="964250" cy="1015663"/>
          </a:xfrm>
          <a:prstGeom prst="rect">
            <a:avLst/>
          </a:prstGeom>
          <a:noFill/>
        </p:spPr>
        <p:txBody>
          <a:bodyPr wrap="square" rtlCol="0">
            <a:spAutoFit/>
          </a:bodyPr>
          <a:lstStyle/>
          <a:p>
            <a:r>
              <a:rPr lang="es-ES" sz="5800" dirty="0">
                <a:solidFill>
                  <a:srgbClr val="FFFFFF"/>
                </a:solidFill>
              </a:rPr>
              <a:t>06</a:t>
            </a:r>
          </a:p>
        </p:txBody>
      </p:sp>
      <p:sp>
        <p:nvSpPr>
          <p:cNvPr id="14" name="CuadroTexto 13"/>
          <p:cNvSpPr txBox="1"/>
          <p:nvPr/>
        </p:nvSpPr>
        <p:spPr>
          <a:xfrm>
            <a:off x="1493097" y="456609"/>
            <a:ext cx="6561842" cy="890115"/>
          </a:xfrm>
          <a:prstGeom prst="rect">
            <a:avLst/>
          </a:prstGeom>
          <a:noFill/>
        </p:spPr>
        <p:txBody>
          <a:bodyPr wrap="square" rtlCol="0">
            <a:spAutoFit/>
          </a:bodyPr>
          <a:lstStyle/>
          <a:p>
            <a:pPr>
              <a:lnSpc>
                <a:spcPct val="80000"/>
              </a:lnSpc>
            </a:pPr>
            <a:r>
              <a:rPr lang="es-ES" sz="3200" b="1" dirty="0" smtClean="0">
                <a:solidFill>
                  <a:srgbClr val="FFFFFF"/>
                </a:solidFill>
              </a:rPr>
              <a:t>PRINCIPIOS PARA UN SISTEMA DE GOBIERNO</a:t>
            </a:r>
            <a:endParaRPr lang="es-ES" sz="3200" b="1" dirty="0">
              <a:solidFill>
                <a:srgbClr val="FFFFFF"/>
              </a:solidFill>
            </a:endParaRPr>
          </a:p>
        </p:txBody>
      </p:sp>
      <p:sp>
        <p:nvSpPr>
          <p:cNvPr id="15" name="CuadroTexto 14"/>
          <p:cNvSpPr txBox="1"/>
          <p:nvPr/>
        </p:nvSpPr>
        <p:spPr>
          <a:xfrm>
            <a:off x="589880" y="2025818"/>
            <a:ext cx="5026425" cy="1845377"/>
          </a:xfrm>
          <a:prstGeom prst="rect">
            <a:avLst/>
          </a:prstGeom>
          <a:noFill/>
        </p:spPr>
        <p:txBody>
          <a:bodyPr wrap="square" rtlCol="0">
            <a:spAutoFit/>
          </a:bodyPr>
          <a:lstStyle/>
          <a:p>
            <a:pPr marL="285750" indent="-285750">
              <a:lnSpc>
                <a:spcPct val="120000"/>
              </a:lnSpc>
              <a:buSzPct val="80000"/>
              <a:buFont typeface="Wingdings" panose="05000000000000000000" pitchFamily="2" charset="2"/>
              <a:buChar char="ü"/>
            </a:pPr>
            <a:r>
              <a:rPr lang="es-ES" sz="1600" dirty="0">
                <a:solidFill>
                  <a:srgbClr val="FFFFFF"/>
                </a:solidFill>
              </a:rPr>
              <a:t>Proporcionar valor a las partes interesadas</a:t>
            </a:r>
          </a:p>
          <a:p>
            <a:pPr marL="285750" indent="-285750">
              <a:lnSpc>
                <a:spcPct val="120000"/>
              </a:lnSpc>
              <a:buSzPct val="80000"/>
              <a:buFont typeface="Wingdings" panose="05000000000000000000" pitchFamily="2" charset="2"/>
              <a:buChar char="ü"/>
            </a:pPr>
            <a:r>
              <a:rPr lang="es-ES" sz="1600" dirty="0">
                <a:solidFill>
                  <a:srgbClr val="FFFFFF"/>
                </a:solidFill>
              </a:rPr>
              <a:t>Enfoque holístico</a:t>
            </a:r>
          </a:p>
          <a:p>
            <a:pPr marL="285750" indent="-285750">
              <a:lnSpc>
                <a:spcPct val="120000"/>
              </a:lnSpc>
              <a:buSzPct val="80000"/>
              <a:buFont typeface="Wingdings" panose="05000000000000000000" pitchFamily="2" charset="2"/>
              <a:buChar char="ü"/>
            </a:pPr>
            <a:r>
              <a:rPr lang="es-ES" sz="1600" dirty="0">
                <a:solidFill>
                  <a:srgbClr val="FFFFFF"/>
                </a:solidFill>
              </a:rPr>
              <a:t>Sistema de gobierno dinámico</a:t>
            </a:r>
          </a:p>
          <a:p>
            <a:pPr marL="285750" indent="-285750">
              <a:lnSpc>
                <a:spcPct val="120000"/>
              </a:lnSpc>
              <a:buSzPct val="80000"/>
              <a:buFont typeface="Wingdings" panose="05000000000000000000" pitchFamily="2" charset="2"/>
              <a:buChar char="ü"/>
            </a:pPr>
            <a:r>
              <a:rPr lang="es-ES" sz="1600" dirty="0">
                <a:solidFill>
                  <a:srgbClr val="FFFFFF"/>
                </a:solidFill>
              </a:rPr>
              <a:t>Separar el gobierno de la gestión</a:t>
            </a:r>
          </a:p>
          <a:p>
            <a:pPr marL="285750" indent="-285750">
              <a:lnSpc>
                <a:spcPct val="120000"/>
              </a:lnSpc>
              <a:buSzPct val="80000"/>
              <a:buFont typeface="Wingdings" panose="05000000000000000000" pitchFamily="2" charset="2"/>
              <a:buChar char="ü"/>
            </a:pPr>
            <a:r>
              <a:rPr lang="es-ES" sz="1600" dirty="0">
                <a:solidFill>
                  <a:srgbClr val="FFFFFF"/>
                </a:solidFill>
              </a:rPr>
              <a:t>Adaptar a las necesidades de la empresa</a:t>
            </a:r>
          </a:p>
          <a:p>
            <a:pPr marL="285750" indent="-285750">
              <a:lnSpc>
                <a:spcPct val="120000"/>
              </a:lnSpc>
              <a:buSzPct val="80000"/>
              <a:buFont typeface="Wingdings" panose="05000000000000000000" pitchFamily="2" charset="2"/>
              <a:buChar char="ü"/>
            </a:pPr>
            <a:r>
              <a:rPr lang="es-ES" sz="1600" dirty="0">
                <a:solidFill>
                  <a:srgbClr val="FFFFFF"/>
                </a:solidFill>
              </a:rPr>
              <a:t>Sistema de gobierno íntegro</a:t>
            </a:r>
          </a:p>
        </p:txBody>
      </p:sp>
      <p:cxnSp>
        <p:nvCxnSpPr>
          <p:cNvPr id="8" name="Conector recto 7"/>
          <p:cNvCxnSpPr/>
          <p:nvPr/>
        </p:nvCxnSpPr>
        <p:spPr>
          <a:xfrm>
            <a:off x="1385597" y="522202"/>
            <a:ext cx="0" cy="720031"/>
          </a:xfrm>
          <a:prstGeom prst="line">
            <a:avLst/>
          </a:prstGeom>
          <a:ln>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9" name="Rectángulo 8"/>
          <p:cNvSpPr/>
          <p:nvPr/>
        </p:nvSpPr>
        <p:spPr>
          <a:xfrm>
            <a:off x="417647" y="1492372"/>
            <a:ext cx="8345931" cy="387798"/>
          </a:xfrm>
          <a:prstGeom prst="rect">
            <a:avLst/>
          </a:prstGeom>
          <a:solidFill>
            <a:schemeClr val="bg1"/>
          </a:solidFill>
        </p:spPr>
        <p:txBody>
          <a:bodyPr wrap="square" lIns="0" tIns="0" rIns="0" bIns="0">
            <a:spAutoFit/>
          </a:bodyPr>
          <a:lstStyle/>
          <a:p>
            <a:pPr algn="ctr">
              <a:lnSpc>
                <a:spcPct val="90000"/>
              </a:lnSpc>
            </a:pPr>
            <a:r>
              <a:rPr lang="es-PE" sz="1400" b="1" dirty="0">
                <a:solidFill>
                  <a:srgbClr val="1F85A6"/>
                </a:solidFill>
                <a:cs typeface="Calibri"/>
              </a:rPr>
              <a:t>  UNIDAD DE APRENDIZAJE: COBIT 2019 Y SUS PRINCIPIOS PARA UN SISTEMA DE GOBIERNO Y UN MARCO DE GOBIERNO     </a:t>
            </a:r>
            <a:endParaRPr lang="es-PE" sz="1400" b="1" dirty="0">
              <a:solidFill>
                <a:srgbClr val="1F85A6"/>
              </a:solidFill>
            </a:endParaRPr>
          </a:p>
        </p:txBody>
      </p:sp>
    </p:spTree>
    <p:extLst>
      <p:ext uri="{BB962C8B-B14F-4D97-AF65-F5344CB8AC3E}">
        <p14:creationId xmlns:p14="http://schemas.microsoft.com/office/powerpoint/2010/main" val="2962688626"/>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5"/>
          <p:cNvSpPr/>
          <p:nvPr/>
        </p:nvSpPr>
        <p:spPr>
          <a:xfrm>
            <a:off x="407875" y="320830"/>
            <a:ext cx="7204493" cy="353943"/>
          </a:xfrm>
          <a:prstGeom prst="rect">
            <a:avLst/>
          </a:prstGeom>
        </p:spPr>
        <p:txBody>
          <a:bodyPr wrap="square">
            <a:spAutoFit/>
          </a:bodyPr>
          <a:lstStyle/>
          <a:p>
            <a:r>
              <a:rPr lang="en-US" sz="1700" dirty="0">
                <a:solidFill>
                  <a:srgbClr val="438AD7"/>
                </a:solidFill>
              </a:rPr>
              <a:t>/ INTRODUCCIÓN</a:t>
            </a:r>
          </a:p>
        </p:txBody>
      </p:sp>
      <p:sp>
        <p:nvSpPr>
          <p:cNvPr id="6" name="object 7">
            <a:extLst>
              <a:ext uri="{FF2B5EF4-FFF2-40B4-BE49-F238E27FC236}">
                <a16:creationId xmlns:a16="http://schemas.microsoft.com/office/drawing/2014/main" id="{58472751-FD5C-4C14-A418-1AEF0A30EB50}"/>
              </a:ext>
            </a:extLst>
          </p:cNvPr>
          <p:cNvSpPr txBox="1"/>
          <p:nvPr/>
        </p:nvSpPr>
        <p:spPr>
          <a:xfrm>
            <a:off x="507698" y="954483"/>
            <a:ext cx="7928936" cy="1231106"/>
          </a:xfrm>
          <a:prstGeom prst="rect">
            <a:avLst/>
          </a:prstGeom>
        </p:spPr>
        <p:txBody>
          <a:bodyPr vert="horz" wrap="square" lIns="0" tIns="0" rIns="0" bIns="0" rtlCol="0">
            <a:spAutoFit/>
          </a:bodyPr>
          <a:lstStyle/>
          <a:p>
            <a:pPr marL="184150" indent="-184150">
              <a:buSzPct val="100000"/>
              <a:buFont typeface="Arial" charset="0"/>
              <a:buChar char="•"/>
              <a:tabLst>
                <a:tab pos="85725" algn="l"/>
              </a:tabLst>
            </a:pPr>
            <a:r>
              <a:rPr lang="es-PE" sz="1600" spc="-10" dirty="0">
                <a:cs typeface="Source Sans Pro"/>
              </a:rPr>
              <a:t>En esta sesión </a:t>
            </a:r>
            <a:r>
              <a:rPr lang="es-PE" sz="1600" spc="-10" dirty="0" smtClean="0">
                <a:cs typeface="Source Sans Pro"/>
              </a:rPr>
              <a:t>aprenderás </a:t>
            </a:r>
            <a:r>
              <a:rPr lang="es-PE" sz="1600" spc="-10" dirty="0">
                <a:cs typeface="Source Sans Pro"/>
              </a:rPr>
              <a:t>los conceptos sobre los principios para un sistema de gobierno.</a:t>
            </a:r>
            <a:br>
              <a:rPr lang="es-PE" sz="1600" spc="-10" dirty="0">
                <a:cs typeface="Source Sans Pro"/>
              </a:rPr>
            </a:br>
            <a:endParaRPr lang="es-PE" sz="1600" spc="-10" dirty="0">
              <a:cs typeface="Source Sans Pro"/>
            </a:endParaRPr>
          </a:p>
          <a:p>
            <a:pPr marL="184150" indent="-184150">
              <a:buSzPct val="100000"/>
              <a:buFont typeface="Arial" charset="0"/>
              <a:buChar char="•"/>
              <a:tabLst>
                <a:tab pos="85725" algn="l"/>
              </a:tabLst>
            </a:pPr>
            <a:r>
              <a:rPr lang="es-PE" sz="1600" spc="-10" dirty="0" smtClean="0">
                <a:cs typeface="Source Sans Pro"/>
              </a:rPr>
              <a:t>Reconocerás </a:t>
            </a:r>
            <a:r>
              <a:rPr lang="es-PE" sz="1600" spc="-10" dirty="0">
                <a:cs typeface="Source Sans Pro"/>
              </a:rPr>
              <a:t>y </a:t>
            </a:r>
            <a:r>
              <a:rPr lang="es-PE" sz="1600" spc="-10" dirty="0" smtClean="0">
                <a:cs typeface="Source Sans Pro"/>
              </a:rPr>
              <a:t>comprenderás </a:t>
            </a:r>
            <a:r>
              <a:rPr lang="es-PE" sz="1600" spc="-10" dirty="0">
                <a:cs typeface="Source Sans Pro"/>
              </a:rPr>
              <a:t>los 6 principios propuestos por COBIT </a:t>
            </a:r>
            <a:r>
              <a:rPr lang="es-PE" sz="1600" spc="-10" dirty="0" smtClean="0">
                <a:cs typeface="Source Sans Pro"/>
              </a:rPr>
              <a:t>2019, proporcionar </a:t>
            </a:r>
            <a:r>
              <a:rPr lang="es-PE" sz="1600" spc="-10" dirty="0">
                <a:cs typeface="Source Sans Pro"/>
              </a:rPr>
              <a:t>valor a las partes interesadas, enfoque holístico, sistema de gobierno dinámico, separar el gobierno de la gestión, adaptar a las necesidades de la empresa y </a:t>
            </a:r>
            <a:r>
              <a:rPr lang="es-PE" sz="1600" spc="-10" dirty="0" smtClean="0">
                <a:cs typeface="Source Sans Pro"/>
              </a:rPr>
              <a:t>sistema </a:t>
            </a:r>
            <a:r>
              <a:rPr lang="es-PE" sz="1600" spc="-10" dirty="0">
                <a:cs typeface="Source Sans Pro"/>
              </a:rPr>
              <a:t>de gobierno íntegro</a:t>
            </a:r>
            <a:r>
              <a:rPr lang="es-PE" sz="1600" spc="-10" dirty="0" smtClean="0">
                <a:cs typeface="Source Sans Pro"/>
              </a:rPr>
              <a:t>.</a:t>
            </a:r>
            <a:endParaRPr lang="es-PE" sz="1600" spc="-10" dirty="0">
              <a:cs typeface="Source Sans Pro"/>
            </a:endParaRPr>
          </a:p>
        </p:txBody>
      </p:sp>
    </p:spTree>
    <p:custDataLst>
      <p:tags r:id="rId1"/>
    </p:custDataLst>
    <p:extLst>
      <p:ext uri="{BB962C8B-B14F-4D97-AF65-F5344CB8AC3E}">
        <p14:creationId xmlns:p14="http://schemas.microsoft.com/office/powerpoint/2010/main" val="263561003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ángulo 3"/>
          <p:cNvSpPr/>
          <p:nvPr/>
        </p:nvSpPr>
        <p:spPr>
          <a:xfrm>
            <a:off x="0" y="0"/>
            <a:ext cx="9144000" cy="5715000"/>
          </a:xfrm>
          <a:prstGeom prst="rect">
            <a:avLst/>
          </a:prstGeom>
          <a:solidFill>
            <a:srgbClr val="1F85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 dirty="0"/>
          </a:p>
        </p:txBody>
      </p:sp>
      <p:sp>
        <p:nvSpPr>
          <p:cNvPr id="6" name="Rectangle 3"/>
          <p:cNvSpPr/>
          <p:nvPr/>
        </p:nvSpPr>
        <p:spPr>
          <a:xfrm>
            <a:off x="424252" y="3703125"/>
            <a:ext cx="7966170" cy="867930"/>
          </a:xfrm>
          <a:prstGeom prst="rect">
            <a:avLst/>
          </a:prstGeom>
        </p:spPr>
        <p:txBody>
          <a:bodyPr wrap="square">
            <a:spAutoFit/>
          </a:bodyPr>
          <a:lstStyle/>
          <a:p>
            <a:pPr>
              <a:lnSpc>
                <a:spcPct val="90000"/>
              </a:lnSpc>
              <a:spcBef>
                <a:spcPts val="1000"/>
              </a:spcBef>
              <a:defRPr/>
            </a:pPr>
            <a:r>
              <a:rPr lang="es-PE" sz="2800" b="1" dirty="0">
                <a:solidFill>
                  <a:schemeClr val="bg1"/>
                </a:solidFill>
                <a:latin typeface="Calibri"/>
                <a:cs typeface="Calibri"/>
              </a:rPr>
              <a:t>/ PROPORCIONAR VALOR A LAS PARTES INTERESADAS</a:t>
            </a:r>
          </a:p>
        </p:txBody>
      </p:sp>
    </p:spTree>
    <p:custDataLst>
      <p:tags r:id="rId1"/>
    </p:custDataLst>
    <p:extLst>
      <p:ext uri="{BB962C8B-B14F-4D97-AF65-F5344CB8AC3E}">
        <p14:creationId xmlns:p14="http://schemas.microsoft.com/office/powerpoint/2010/main" val="28178138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5"/>
          <p:cNvSpPr/>
          <p:nvPr/>
        </p:nvSpPr>
        <p:spPr>
          <a:xfrm>
            <a:off x="407875" y="320830"/>
            <a:ext cx="7204493" cy="353943"/>
          </a:xfrm>
          <a:prstGeom prst="rect">
            <a:avLst/>
          </a:prstGeom>
        </p:spPr>
        <p:txBody>
          <a:bodyPr wrap="square">
            <a:spAutoFit/>
          </a:bodyPr>
          <a:lstStyle/>
          <a:p>
            <a:r>
              <a:rPr lang="en-US" sz="1700" b="1" dirty="0">
                <a:solidFill>
                  <a:srgbClr val="438AD7"/>
                </a:solidFill>
              </a:rPr>
              <a:t>/ PROPORCIONAR VALOR A LAS PARTES INTERESADAS</a:t>
            </a:r>
          </a:p>
        </p:txBody>
      </p:sp>
      <p:sp>
        <p:nvSpPr>
          <p:cNvPr id="7" name="object 7">
            <a:extLst>
              <a:ext uri="{FF2B5EF4-FFF2-40B4-BE49-F238E27FC236}">
                <a16:creationId xmlns:a16="http://schemas.microsoft.com/office/drawing/2014/main" id="{163CCFF5-6DBB-44D7-85E8-567CB4D4AC0E}"/>
              </a:ext>
            </a:extLst>
          </p:cNvPr>
          <p:cNvSpPr txBox="1"/>
          <p:nvPr/>
        </p:nvSpPr>
        <p:spPr>
          <a:xfrm>
            <a:off x="510903" y="771402"/>
            <a:ext cx="4010292" cy="261610"/>
          </a:xfrm>
          <a:prstGeom prst="rect">
            <a:avLst/>
          </a:prstGeom>
        </p:spPr>
        <p:txBody>
          <a:bodyPr vert="horz" wrap="square" lIns="0" tIns="0" rIns="0" bIns="0" rtlCol="0">
            <a:spAutoFit/>
          </a:bodyPr>
          <a:lstStyle/>
          <a:p>
            <a:pPr marL="11725">
              <a:buSzPct val="100000"/>
              <a:tabLst>
                <a:tab pos="121285" algn="l"/>
              </a:tabLst>
            </a:pPr>
            <a:r>
              <a:rPr lang="es-PE" sz="1700" b="1" spc="-10" dirty="0">
                <a:solidFill>
                  <a:srgbClr val="262626"/>
                </a:solidFill>
                <a:cs typeface="Source Sans Pro"/>
              </a:rPr>
              <a:t>1. DEFINICIÓN</a:t>
            </a:r>
          </a:p>
        </p:txBody>
      </p:sp>
      <p:sp>
        <p:nvSpPr>
          <p:cNvPr id="8" name="object 7">
            <a:extLst>
              <a:ext uri="{FF2B5EF4-FFF2-40B4-BE49-F238E27FC236}">
                <a16:creationId xmlns:a16="http://schemas.microsoft.com/office/drawing/2014/main" id="{B5EA86E6-DB35-4893-8551-90B6D8DDF61A}"/>
              </a:ext>
            </a:extLst>
          </p:cNvPr>
          <p:cNvSpPr txBox="1"/>
          <p:nvPr/>
        </p:nvSpPr>
        <p:spPr>
          <a:xfrm>
            <a:off x="510908" y="1147443"/>
            <a:ext cx="3473263" cy="2446824"/>
          </a:xfrm>
          <a:prstGeom prst="rect">
            <a:avLst/>
          </a:prstGeom>
        </p:spPr>
        <p:txBody>
          <a:bodyPr vert="horz" wrap="square" lIns="0" tIns="0" rIns="0" bIns="0" rtlCol="0">
            <a:spAutoFit/>
          </a:bodyPr>
          <a:lstStyle/>
          <a:p>
            <a:pPr marL="355600" indent="-168275" algn="just">
              <a:spcAft>
                <a:spcPts val="1800"/>
              </a:spcAft>
              <a:buSzPct val="100000"/>
              <a:buFont typeface="Arial"/>
              <a:buChar char="•"/>
              <a:tabLst>
                <a:tab pos="121285" algn="l"/>
              </a:tabLst>
            </a:pPr>
            <a:r>
              <a:rPr lang="es-ES" sz="1600" spc="-10" dirty="0">
                <a:solidFill>
                  <a:srgbClr val="262626"/>
                </a:solidFill>
              </a:rPr>
              <a:t>Cada empresa necesita un sistema de gobierno para satisfacer las necesidades de las partes interesadas y generar valor del uso de la I&amp;T. </a:t>
            </a:r>
          </a:p>
          <a:p>
            <a:pPr marL="355600" indent="-168275" algn="just">
              <a:spcAft>
                <a:spcPts val="1800"/>
              </a:spcAft>
              <a:buSzPct val="100000"/>
              <a:buFont typeface="Arial"/>
              <a:buChar char="•"/>
              <a:tabLst>
                <a:tab pos="121285" algn="l"/>
              </a:tabLst>
            </a:pPr>
            <a:r>
              <a:rPr lang="es-ES" sz="1600" spc="-10" dirty="0">
                <a:solidFill>
                  <a:srgbClr val="262626"/>
                </a:solidFill>
              </a:rPr>
              <a:t>El valor refleja un equilibrio entre el beneficio, el riesgo y los recursos, y las empresas necesitan una estrategia y un sistema de gobierno práctico para materializar este valor. </a:t>
            </a:r>
          </a:p>
        </p:txBody>
      </p:sp>
      <p:grpSp>
        <p:nvGrpSpPr>
          <p:cNvPr id="12" name="Grupo 11">
            <a:extLst>
              <a:ext uri="{FF2B5EF4-FFF2-40B4-BE49-F238E27FC236}">
                <a16:creationId xmlns:a16="http://schemas.microsoft.com/office/drawing/2014/main" id="{E07BEFEF-5753-4964-B4D6-B3FF153F2AB5}"/>
              </a:ext>
            </a:extLst>
          </p:cNvPr>
          <p:cNvGrpSpPr/>
          <p:nvPr/>
        </p:nvGrpSpPr>
        <p:grpSpPr>
          <a:xfrm>
            <a:off x="4521195" y="963038"/>
            <a:ext cx="4078514" cy="4079139"/>
            <a:chOff x="4648202" y="963038"/>
            <a:chExt cx="4078514" cy="4079139"/>
          </a:xfrm>
        </p:grpSpPr>
        <p:sp>
          <p:nvSpPr>
            <p:cNvPr id="4" name="Elipse 3">
              <a:extLst>
                <a:ext uri="{FF2B5EF4-FFF2-40B4-BE49-F238E27FC236}">
                  <a16:creationId xmlns:a16="http://schemas.microsoft.com/office/drawing/2014/main" id="{F0BB44BA-2A3D-4B90-A1BA-CEDBE962101D}"/>
                </a:ext>
              </a:extLst>
            </p:cNvPr>
            <p:cNvSpPr/>
            <p:nvPr/>
          </p:nvSpPr>
          <p:spPr>
            <a:xfrm>
              <a:off x="5421086" y="3783616"/>
              <a:ext cx="2532743" cy="1258561"/>
            </a:xfrm>
            <a:prstGeom prst="ellipse">
              <a:avLst/>
            </a:prstGeom>
            <a:solidFill>
              <a:schemeClr val="accent1">
                <a:lumMod val="60000"/>
                <a:lumOff val="4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r>
                <a:rPr lang="es-PE" dirty="0">
                  <a:solidFill>
                    <a:schemeClr val="tx1"/>
                  </a:solidFill>
                </a:rPr>
                <a:t>1. Proporcionar valor a las partes interesadas</a:t>
              </a:r>
            </a:p>
          </p:txBody>
        </p:sp>
        <p:sp>
          <p:nvSpPr>
            <p:cNvPr id="6" name="Globo: flecha hacia abajo 5">
              <a:extLst>
                <a:ext uri="{FF2B5EF4-FFF2-40B4-BE49-F238E27FC236}">
                  <a16:creationId xmlns:a16="http://schemas.microsoft.com/office/drawing/2014/main" id="{4F9128C1-6274-457E-813C-A595E193C8CD}"/>
                </a:ext>
              </a:extLst>
            </p:cNvPr>
            <p:cNvSpPr/>
            <p:nvPr/>
          </p:nvSpPr>
          <p:spPr>
            <a:xfrm>
              <a:off x="6360885" y="3240526"/>
              <a:ext cx="653143" cy="486229"/>
            </a:xfrm>
            <a:prstGeom prst="downArrowCallout">
              <a:avLst/>
            </a:prstGeom>
            <a:solidFill>
              <a:srgbClr val="660033"/>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s-PE" dirty="0"/>
            </a:p>
          </p:txBody>
        </p:sp>
        <p:pic>
          <p:nvPicPr>
            <p:cNvPr id="11" name="Imagen 10">
              <a:extLst>
                <a:ext uri="{FF2B5EF4-FFF2-40B4-BE49-F238E27FC236}">
                  <a16:creationId xmlns:a16="http://schemas.microsoft.com/office/drawing/2014/main" id="{AD3D4AB4-4CCF-496F-8F6B-7ECCAB2F0B43}"/>
                </a:ext>
              </a:extLst>
            </p:cNvPr>
            <p:cNvPicPr>
              <a:picLocks noChangeAspect="1"/>
            </p:cNvPicPr>
            <p:nvPr/>
          </p:nvPicPr>
          <p:blipFill>
            <a:blip r:embed="rId3"/>
            <a:stretch>
              <a:fillRect/>
            </a:stretch>
          </p:blipFill>
          <p:spPr>
            <a:xfrm>
              <a:off x="4648202" y="963038"/>
              <a:ext cx="4078514" cy="2277488"/>
            </a:xfrm>
            <a:prstGeom prst="rect">
              <a:avLst/>
            </a:prstGeom>
          </p:spPr>
        </p:pic>
      </p:grpSp>
    </p:spTree>
    <p:extLst>
      <p:ext uri="{BB962C8B-B14F-4D97-AF65-F5344CB8AC3E}">
        <p14:creationId xmlns:p14="http://schemas.microsoft.com/office/powerpoint/2010/main" val="99736823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5"/>
          <p:cNvSpPr/>
          <p:nvPr/>
        </p:nvSpPr>
        <p:spPr>
          <a:xfrm>
            <a:off x="407875" y="320830"/>
            <a:ext cx="7204493" cy="353943"/>
          </a:xfrm>
          <a:prstGeom prst="rect">
            <a:avLst/>
          </a:prstGeom>
        </p:spPr>
        <p:txBody>
          <a:bodyPr wrap="square">
            <a:spAutoFit/>
          </a:bodyPr>
          <a:lstStyle/>
          <a:p>
            <a:r>
              <a:rPr lang="en-US" sz="1700" b="1" dirty="0">
                <a:solidFill>
                  <a:srgbClr val="438AD7"/>
                </a:solidFill>
              </a:rPr>
              <a:t>/ PROPORCIONAR VALOR A LAS PARTES INTERESADAS</a:t>
            </a:r>
          </a:p>
        </p:txBody>
      </p:sp>
      <p:sp>
        <p:nvSpPr>
          <p:cNvPr id="7" name="object 7">
            <a:extLst>
              <a:ext uri="{FF2B5EF4-FFF2-40B4-BE49-F238E27FC236}">
                <a16:creationId xmlns:a16="http://schemas.microsoft.com/office/drawing/2014/main" id="{163CCFF5-6DBB-44D7-85E8-567CB4D4AC0E}"/>
              </a:ext>
            </a:extLst>
          </p:cNvPr>
          <p:cNvSpPr txBox="1"/>
          <p:nvPr/>
        </p:nvSpPr>
        <p:spPr>
          <a:xfrm>
            <a:off x="510907" y="811533"/>
            <a:ext cx="6470464" cy="261610"/>
          </a:xfrm>
          <a:prstGeom prst="rect">
            <a:avLst/>
          </a:prstGeom>
        </p:spPr>
        <p:txBody>
          <a:bodyPr vert="horz" wrap="square" lIns="0" tIns="0" rIns="0" bIns="0" rtlCol="0">
            <a:spAutoFit/>
          </a:bodyPr>
          <a:lstStyle/>
          <a:p>
            <a:pPr marL="11725">
              <a:buSzPct val="100000"/>
              <a:tabLst>
                <a:tab pos="121285" algn="l"/>
              </a:tabLst>
            </a:pPr>
            <a:r>
              <a:rPr lang="es-PE" sz="1700" b="1" spc="-10" dirty="0">
                <a:solidFill>
                  <a:srgbClr val="262626"/>
                </a:solidFill>
                <a:cs typeface="Source Sans Pro"/>
              </a:rPr>
              <a:t>2. GOBIERNO EMPRESARIAL DE LA INFORMACIÓN Y TECNOLOGÍA (I&amp;T)</a:t>
            </a:r>
          </a:p>
        </p:txBody>
      </p:sp>
      <p:sp>
        <p:nvSpPr>
          <p:cNvPr id="8" name="object 7">
            <a:extLst>
              <a:ext uri="{FF2B5EF4-FFF2-40B4-BE49-F238E27FC236}">
                <a16:creationId xmlns:a16="http://schemas.microsoft.com/office/drawing/2014/main" id="{B5EA86E6-DB35-4893-8551-90B6D8DDF61A}"/>
              </a:ext>
            </a:extLst>
          </p:cNvPr>
          <p:cNvSpPr txBox="1"/>
          <p:nvPr/>
        </p:nvSpPr>
        <p:spPr>
          <a:xfrm>
            <a:off x="510907" y="1209904"/>
            <a:ext cx="8110578" cy="2185214"/>
          </a:xfrm>
          <a:prstGeom prst="rect">
            <a:avLst/>
          </a:prstGeom>
        </p:spPr>
        <p:txBody>
          <a:bodyPr vert="horz" wrap="square" lIns="0" tIns="0" rIns="0" bIns="0" rtlCol="0">
            <a:spAutoFit/>
          </a:bodyPr>
          <a:lstStyle/>
          <a:p>
            <a:pPr marL="355600" indent="-168275" algn="just">
              <a:spcAft>
                <a:spcPts val="1600"/>
              </a:spcAft>
              <a:buSzPct val="100000"/>
              <a:buFont typeface="Arial"/>
              <a:buChar char="•"/>
              <a:tabLst>
                <a:tab pos="121285" algn="l"/>
              </a:tabLst>
            </a:pPr>
            <a:r>
              <a:rPr lang="es-ES" sz="1600" spc="-10" dirty="0">
                <a:solidFill>
                  <a:srgbClr val="262626"/>
                </a:solidFill>
              </a:rPr>
              <a:t>A la luz de la transformación digital, la información y la tecnología (I&amp;T) se han convertido en algo fundamental para el soporte, la sostenibilidad y el crecimiento de las empresas. </a:t>
            </a:r>
          </a:p>
          <a:p>
            <a:pPr marL="355600" indent="-168275" algn="just">
              <a:spcAft>
                <a:spcPts val="1600"/>
              </a:spcAft>
              <a:buSzPct val="100000"/>
              <a:buFont typeface="Arial"/>
              <a:buChar char="•"/>
              <a:tabLst>
                <a:tab pos="121285" algn="l"/>
              </a:tabLst>
            </a:pPr>
            <a:r>
              <a:rPr lang="es-ES" sz="1600" spc="-10" dirty="0">
                <a:solidFill>
                  <a:srgbClr val="262626"/>
                </a:solidFill>
              </a:rPr>
              <a:t>La creación de valor suele venir de la mano de un alto nivel de digitalización en nuevos modelos de negocio, procesos eficientes, una exitosa </a:t>
            </a:r>
            <a:r>
              <a:rPr lang="es-ES" sz="1600" spc="-10" dirty="0" smtClean="0">
                <a:solidFill>
                  <a:srgbClr val="262626"/>
                </a:solidFill>
              </a:rPr>
              <a:t>innovación, entre otros; </a:t>
            </a:r>
            <a:r>
              <a:rPr lang="es-ES" sz="1600" spc="-10" dirty="0">
                <a:solidFill>
                  <a:srgbClr val="262626"/>
                </a:solidFill>
              </a:rPr>
              <a:t>por ello las empresas digitales dependen cada vez más de la I&amp;T para su supervivencia y crecimiento. </a:t>
            </a:r>
          </a:p>
          <a:p>
            <a:pPr marL="355600" indent="-168275" algn="just">
              <a:spcAft>
                <a:spcPts val="1600"/>
              </a:spcAft>
              <a:buSzPct val="100000"/>
              <a:buFont typeface="Arial"/>
              <a:buChar char="•"/>
              <a:tabLst>
                <a:tab pos="121285" algn="l"/>
              </a:tabLst>
            </a:pPr>
            <a:r>
              <a:rPr lang="es-ES" sz="1600" spc="-10" dirty="0">
                <a:solidFill>
                  <a:srgbClr val="262626"/>
                </a:solidFill>
              </a:rPr>
              <a:t>Así, los miembros de los consejos directivos y la alta gerencia se ven abocados a adaptar e implementar sus medidas GETI conforme a su contexto y necesidades específicas.</a:t>
            </a:r>
          </a:p>
        </p:txBody>
      </p:sp>
      <p:pic>
        <p:nvPicPr>
          <p:cNvPr id="3" name="Imagen 2">
            <a:extLst>
              <a:ext uri="{FF2B5EF4-FFF2-40B4-BE49-F238E27FC236}">
                <a16:creationId xmlns:a16="http://schemas.microsoft.com/office/drawing/2014/main" id="{02BC53D6-D934-43BE-A397-BC174EB5D55C}"/>
              </a:ext>
            </a:extLst>
          </p:cNvPr>
          <p:cNvPicPr>
            <a:picLocks noChangeAspect="1"/>
          </p:cNvPicPr>
          <p:nvPr/>
        </p:nvPicPr>
        <p:blipFill>
          <a:blip r:embed="rId3"/>
          <a:stretch>
            <a:fillRect/>
          </a:stretch>
        </p:blipFill>
        <p:spPr>
          <a:xfrm>
            <a:off x="1443564" y="3563254"/>
            <a:ext cx="6245264" cy="1507191"/>
          </a:xfrm>
          <a:prstGeom prst="rect">
            <a:avLst/>
          </a:prstGeom>
        </p:spPr>
      </p:pic>
    </p:spTree>
    <p:extLst>
      <p:ext uri="{BB962C8B-B14F-4D97-AF65-F5344CB8AC3E}">
        <p14:creationId xmlns:p14="http://schemas.microsoft.com/office/powerpoint/2010/main" val="30398236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5"/>
          <p:cNvSpPr/>
          <p:nvPr/>
        </p:nvSpPr>
        <p:spPr>
          <a:xfrm>
            <a:off x="407875" y="320830"/>
            <a:ext cx="7204493" cy="353943"/>
          </a:xfrm>
          <a:prstGeom prst="rect">
            <a:avLst/>
          </a:prstGeom>
        </p:spPr>
        <p:txBody>
          <a:bodyPr wrap="square">
            <a:spAutoFit/>
          </a:bodyPr>
          <a:lstStyle/>
          <a:p>
            <a:r>
              <a:rPr lang="en-US" sz="1700" b="1" dirty="0">
                <a:solidFill>
                  <a:srgbClr val="438AD7"/>
                </a:solidFill>
              </a:rPr>
              <a:t>/ PROPORCIONAR VALOR A LAS PARTES INTERESADAS</a:t>
            </a:r>
          </a:p>
        </p:txBody>
      </p:sp>
      <p:sp>
        <p:nvSpPr>
          <p:cNvPr id="7" name="object 7">
            <a:extLst>
              <a:ext uri="{FF2B5EF4-FFF2-40B4-BE49-F238E27FC236}">
                <a16:creationId xmlns:a16="http://schemas.microsoft.com/office/drawing/2014/main" id="{163CCFF5-6DBB-44D7-85E8-567CB4D4AC0E}"/>
              </a:ext>
            </a:extLst>
          </p:cNvPr>
          <p:cNvSpPr txBox="1"/>
          <p:nvPr/>
        </p:nvSpPr>
        <p:spPr>
          <a:xfrm>
            <a:off x="516711" y="814471"/>
            <a:ext cx="6470464" cy="261610"/>
          </a:xfrm>
          <a:prstGeom prst="rect">
            <a:avLst/>
          </a:prstGeom>
        </p:spPr>
        <p:txBody>
          <a:bodyPr vert="horz" wrap="square" lIns="0" tIns="0" rIns="0" bIns="0" rtlCol="0">
            <a:spAutoFit/>
          </a:bodyPr>
          <a:lstStyle/>
          <a:p>
            <a:pPr marL="11725">
              <a:buSzPct val="100000"/>
              <a:tabLst>
                <a:tab pos="121285" algn="l"/>
              </a:tabLst>
            </a:pPr>
            <a:r>
              <a:rPr lang="es-PE" sz="1700" b="1" spc="-10" dirty="0">
                <a:solidFill>
                  <a:srgbClr val="262626"/>
                </a:solidFill>
                <a:cs typeface="Source Sans Pro"/>
              </a:rPr>
              <a:t>3. BENEFICIOS DEL GOBIERNO DE TECNOLOGÍAS DE LA INFORMACIÓN</a:t>
            </a:r>
          </a:p>
        </p:txBody>
      </p:sp>
      <p:pic>
        <p:nvPicPr>
          <p:cNvPr id="9" name="Imagen 8">
            <a:extLst>
              <a:ext uri="{FF2B5EF4-FFF2-40B4-BE49-F238E27FC236}">
                <a16:creationId xmlns:a16="http://schemas.microsoft.com/office/drawing/2014/main" id="{65337129-5039-4F0A-9436-EC5E79728ACF}"/>
              </a:ext>
            </a:extLst>
          </p:cNvPr>
          <p:cNvPicPr>
            <a:picLocks noChangeAspect="1"/>
          </p:cNvPicPr>
          <p:nvPr/>
        </p:nvPicPr>
        <p:blipFill>
          <a:blip r:embed="rId3"/>
          <a:stretch>
            <a:fillRect/>
          </a:stretch>
        </p:blipFill>
        <p:spPr>
          <a:xfrm>
            <a:off x="5792881" y="1287506"/>
            <a:ext cx="2507608" cy="3927009"/>
          </a:xfrm>
          <a:prstGeom prst="rect">
            <a:avLst/>
          </a:prstGeom>
        </p:spPr>
      </p:pic>
      <p:grpSp>
        <p:nvGrpSpPr>
          <p:cNvPr id="11" name="Grupo 10">
            <a:extLst>
              <a:ext uri="{FF2B5EF4-FFF2-40B4-BE49-F238E27FC236}">
                <a16:creationId xmlns:a16="http://schemas.microsoft.com/office/drawing/2014/main" id="{D1A0E734-93F2-458C-9419-BEA67AEC745B}"/>
              </a:ext>
            </a:extLst>
          </p:cNvPr>
          <p:cNvGrpSpPr/>
          <p:nvPr/>
        </p:nvGrpSpPr>
        <p:grpSpPr>
          <a:xfrm>
            <a:off x="516711" y="1215779"/>
            <a:ext cx="4889860" cy="2834221"/>
            <a:chOff x="516711" y="1250408"/>
            <a:chExt cx="4889860" cy="2834221"/>
          </a:xfrm>
        </p:grpSpPr>
        <p:sp>
          <p:nvSpPr>
            <p:cNvPr id="8" name="object 7">
              <a:extLst>
                <a:ext uri="{FF2B5EF4-FFF2-40B4-BE49-F238E27FC236}">
                  <a16:creationId xmlns:a16="http://schemas.microsoft.com/office/drawing/2014/main" id="{B5EA86E6-DB35-4893-8551-90B6D8DDF61A}"/>
                </a:ext>
              </a:extLst>
            </p:cNvPr>
            <p:cNvSpPr txBox="1"/>
            <p:nvPr/>
          </p:nvSpPr>
          <p:spPr>
            <a:xfrm>
              <a:off x="516711" y="1250408"/>
              <a:ext cx="4889860" cy="1631216"/>
            </a:xfrm>
            <a:prstGeom prst="rect">
              <a:avLst/>
            </a:prstGeom>
          </p:spPr>
          <p:txBody>
            <a:bodyPr vert="horz" wrap="square" lIns="0" tIns="0" rIns="0" bIns="0" rtlCol="0">
              <a:spAutoFit/>
            </a:bodyPr>
            <a:lstStyle/>
            <a:p>
              <a:pPr marL="285750" indent="-285750" algn="just">
                <a:spcAft>
                  <a:spcPts val="1200"/>
                </a:spcAft>
                <a:buSzPct val="100000"/>
                <a:buFont typeface="Arial" panose="020B0604020202020204" pitchFamily="34" charset="0"/>
                <a:buChar char="•"/>
                <a:tabLst>
                  <a:tab pos="121285" algn="l"/>
                </a:tabLst>
              </a:pPr>
              <a:r>
                <a:rPr lang="es-ES" sz="1600" spc="-10" dirty="0">
                  <a:solidFill>
                    <a:srgbClr val="262626"/>
                  </a:solidFill>
                </a:rPr>
                <a:t>Fundamentalmente, la GETI se preocupa de la creación de valor a partir de la transformación digital y la mitigación del riesgo de negocio derivado de dicha transformación. </a:t>
              </a:r>
            </a:p>
            <a:p>
              <a:pPr marL="285750" indent="-285750" algn="just">
                <a:spcAft>
                  <a:spcPts val="1200"/>
                </a:spcAft>
                <a:buSzPct val="100000"/>
                <a:buFont typeface="Arial" panose="020B0604020202020204" pitchFamily="34" charset="0"/>
                <a:buChar char="•"/>
                <a:tabLst>
                  <a:tab pos="121285" algn="l"/>
                </a:tabLst>
              </a:pPr>
              <a:r>
                <a:rPr lang="es-ES" sz="1600" spc="-10" dirty="0">
                  <a:solidFill>
                    <a:srgbClr val="262626"/>
                  </a:solidFill>
                </a:rPr>
                <a:t>Más concretamente, tras la adopción satisfactoria de la GETI cabe esperar tres resultados principales:</a:t>
              </a:r>
            </a:p>
          </p:txBody>
        </p:sp>
        <p:sp>
          <p:nvSpPr>
            <p:cNvPr id="10" name="object 7">
              <a:extLst>
                <a:ext uri="{FF2B5EF4-FFF2-40B4-BE49-F238E27FC236}">
                  <a16:creationId xmlns:a16="http://schemas.microsoft.com/office/drawing/2014/main" id="{77618DF2-F065-416E-9EB1-1030E09DC3AB}"/>
                </a:ext>
              </a:extLst>
            </p:cNvPr>
            <p:cNvSpPr txBox="1"/>
            <p:nvPr/>
          </p:nvSpPr>
          <p:spPr>
            <a:xfrm>
              <a:off x="908825" y="3038189"/>
              <a:ext cx="3226522" cy="1046440"/>
            </a:xfrm>
            <a:prstGeom prst="rect">
              <a:avLst/>
            </a:prstGeom>
          </p:spPr>
          <p:txBody>
            <a:bodyPr vert="horz" wrap="square" lIns="0" tIns="0" rIns="0" bIns="0" rtlCol="0">
              <a:spAutoFit/>
            </a:bodyPr>
            <a:lstStyle/>
            <a:p>
              <a:pPr marL="285750" indent="-285750" algn="just">
                <a:spcAft>
                  <a:spcPts val="1200"/>
                </a:spcAft>
                <a:buSzPct val="100000"/>
                <a:buFont typeface="Wingdings" panose="05000000000000000000" pitchFamily="2" charset="2"/>
                <a:buChar char="ü"/>
                <a:tabLst>
                  <a:tab pos="121285" algn="l"/>
                </a:tabLst>
              </a:pPr>
              <a:r>
                <a:rPr lang="es-PE" sz="1600" spc="-10" dirty="0" smtClean="0">
                  <a:solidFill>
                    <a:srgbClr val="262626"/>
                  </a:solidFill>
                </a:rPr>
                <a:t>Realización </a:t>
              </a:r>
              <a:r>
                <a:rPr lang="es-PE" sz="1600" spc="-10" dirty="0">
                  <a:solidFill>
                    <a:srgbClr val="262626"/>
                  </a:solidFill>
                </a:rPr>
                <a:t>de beneficios</a:t>
              </a:r>
              <a:endParaRPr lang="es-PE" sz="1800" b="0" i="0" u="none" strike="noStrike" baseline="0" dirty="0">
                <a:solidFill>
                  <a:srgbClr val="000000"/>
                </a:solidFill>
                <a:latin typeface="JIKLE B+ Times New Roman PSMT"/>
              </a:endParaRPr>
            </a:p>
            <a:p>
              <a:pPr marL="285750" indent="-285750" algn="just">
                <a:spcAft>
                  <a:spcPts val="1200"/>
                </a:spcAft>
                <a:buSzPct val="100000"/>
                <a:buFont typeface="Wingdings" panose="05000000000000000000" pitchFamily="2" charset="2"/>
                <a:buChar char="ü"/>
                <a:tabLst>
                  <a:tab pos="121285" algn="l"/>
                </a:tabLst>
              </a:pPr>
              <a:r>
                <a:rPr lang="es-PE" sz="1600" spc="-10" dirty="0">
                  <a:solidFill>
                    <a:srgbClr val="262626"/>
                  </a:solidFill>
                </a:rPr>
                <a:t>Optimización de riesgos</a:t>
              </a:r>
              <a:endParaRPr lang="es-PE" sz="1800" b="0" i="0" u="none" strike="noStrike" baseline="0" dirty="0">
                <a:solidFill>
                  <a:srgbClr val="000000"/>
                </a:solidFill>
                <a:latin typeface="JIKLE B+ Times New Roman PSMT"/>
              </a:endParaRPr>
            </a:p>
            <a:p>
              <a:pPr marL="285750" indent="-285750" algn="just">
                <a:spcAft>
                  <a:spcPts val="1200"/>
                </a:spcAft>
                <a:buSzPct val="100000"/>
                <a:buFont typeface="Wingdings" panose="05000000000000000000" pitchFamily="2" charset="2"/>
                <a:buChar char="ü"/>
                <a:tabLst>
                  <a:tab pos="121285" algn="l"/>
                </a:tabLst>
              </a:pPr>
              <a:r>
                <a:rPr lang="es-PE" sz="1600" spc="-10" dirty="0">
                  <a:solidFill>
                    <a:srgbClr val="262626"/>
                  </a:solidFill>
                </a:rPr>
                <a:t>Optimización de recursos</a:t>
              </a:r>
            </a:p>
          </p:txBody>
        </p:sp>
      </p:grpSp>
    </p:spTree>
    <p:extLst>
      <p:ext uri="{BB962C8B-B14F-4D97-AF65-F5344CB8AC3E}">
        <p14:creationId xmlns:p14="http://schemas.microsoft.com/office/powerpoint/2010/main" val="262218409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5"/>
          <p:cNvSpPr/>
          <p:nvPr/>
        </p:nvSpPr>
        <p:spPr>
          <a:xfrm>
            <a:off x="407875" y="320830"/>
            <a:ext cx="7204493" cy="353943"/>
          </a:xfrm>
          <a:prstGeom prst="rect">
            <a:avLst/>
          </a:prstGeom>
        </p:spPr>
        <p:txBody>
          <a:bodyPr wrap="square">
            <a:spAutoFit/>
          </a:bodyPr>
          <a:lstStyle/>
          <a:p>
            <a:r>
              <a:rPr lang="en-US" sz="1700" b="1" dirty="0">
                <a:solidFill>
                  <a:srgbClr val="438AD7"/>
                </a:solidFill>
              </a:rPr>
              <a:t>/ PROPORCIONAR VALOR A LAS PARTES INTERESADAS</a:t>
            </a:r>
          </a:p>
        </p:txBody>
      </p:sp>
      <p:sp>
        <p:nvSpPr>
          <p:cNvPr id="7" name="object 7">
            <a:extLst>
              <a:ext uri="{FF2B5EF4-FFF2-40B4-BE49-F238E27FC236}">
                <a16:creationId xmlns:a16="http://schemas.microsoft.com/office/drawing/2014/main" id="{163CCFF5-6DBB-44D7-85E8-567CB4D4AC0E}"/>
              </a:ext>
            </a:extLst>
          </p:cNvPr>
          <p:cNvSpPr txBox="1"/>
          <p:nvPr/>
        </p:nvSpPr>
        <p:spPr>
          <a:xfrm>
            <a:off x="473755" y="816479"/>
            <a:ext cx="6470464" cy="261610"/>
          </a:xfrm>
          <a:prstGeom prst="rect">
            <a:avLst/>
          </a:prstGeom>
        </p:spPr>
        <p:txBody>
          <a:bodyPr vert="horz" wrap="square" lIns="0" tIns="0" rIns="0" bIns="0" rtlCol="0">
            <a:spAutoFit/>
          </a:bodyPr>
          <a:lstStyle/>
          <a:p>
            <a:pPr marL="11725">
              <a:buSzPct val="100000"/>
              <a:tabLst>
                <a:tab pos="121285" algn="l"/>
              </a:tabLst>
            </a:pPr>
            <a:r>
              <a:rPr lang="es-PE" sz="1700" b="1" spc="-10" dirty="0">
                <a:solidFill>
                  <a:srgbClr val="262626"/>
                </a:solidFill>
                <a:cs typeface="Source Sans Pro"/>
              </a:rPr>
              <a:t>4. PARTES INTERESADAS DE COBIT 2019</a:t>
            </a:r>
          </a:p>
        </p:txBody>
      </p:sp>
      <p:grpSp>
        <p:nvGrpSpPr>
          <p:cNvPr id="23" name="Grupo 22">
            <a:extLst>
              <a:ext uri="{FF2B5EF4-FFF2-40B4-BE49-F238E27FC236}">
                <a16:creationId xmlns:a16="http://schemas.microsoft.com/office/drawing/2014/main" id="{24C3EE06-59FC-43AE-82CC-9267389FA4D0}"/>
              </a:ext>
            </a:extLst>
          </p:cNvPr>
          <p:cNvGrpSpPr/>
          <p:nvPr/>
        </p:nvGrpSpPr>
        <p:grpSpPr>
          <a:xfrm>
            <a:off x="452891" y="1411363"/>
            <a:ext cx="4396916" cy="3439192"/>
            <a:chOff x="452891" y="1472339"/>
            <a:chExt cx="4396916" cy="3439192"/>
          </a:xfrm>
        </p:grpSpPr>
        <p:sp>
          <p:nvSpPr>
            <p:cNvPr id="2" name="Hexágono 1">
              <a:extLst>
                <a:ext uri="{FF2B5EF4-FFF2-40B4-BE49-F238E27FC236}">
                  <a16:creationId xmlns:a16="http://schemas.microsoft.com/office/drawing/2014/main" id="{C140342D-EF89-4F3D-8945-7C88207D41E7}"/>
                </a:ext>
              </a:extLst>
            </p:cNvPr>
            <p:cNvSpPr/>
            <p:nvPr/>
          </p:nvSpPr>
          <p:spPr>
            <a:xfrm>
              <a:off x="1944233" y="1472339"/>
              <a:ext cx="1491342" cy="790293"/>
            </a:xfrm>
            <a:prstGeom prst="hexagon">
              <a:avLst/>
            </a:prstGeom>
            <a:solidFill>
              <a:schemeClr val="tx2">
                <a:lumMod val="75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r>
                <a:rPr lang="es-PE" sz="1100" b="1" dirty="0"/>
                <a:t>Consejos de </a:t>
              </a:r>
              <a:r>
                <a:rPr lang="es-PE" sz="1100" b="1" dirty="0" smtClean="0"/>
                <a:t>administración</a:t>
              </a:r>
              <a:endParaRPr lang="es-PE" sz="1100" b="1" dirty="0"/>
            </a:p>
          </p:txBody>
        </p:sp>
        <p:sp>
          <p:nvSpPr>
            <p:cNvPr id="12" name="Hexágono 11">
              <a:extLst>
                <a:ext uri="{FF2B5EF4-FFF2-40B4-BE49-F238E27FC236}">
                  <a16:creationId xmlns:a16="http://schemas.microsoft.com/office/drawing/2014/main" id="{07CCEC31-DC0B-47C3-B264-8FD68A603A77}"/>
                </a:ext>
              </a:extLst>
            </p:cNvPr>
            <p:cNvSpPr/>
            <p:nvPr/>
          </p:nvSpPr>
          <p:spPr>
            <a:xfrm>
              <a:off x="1870753" y="2488485"/>
              <a:ext cx="1582056" cy="1408601"/>
            </a:xfrm>
            <a:prstGeom prst="hexagon">
              <a:avLst/>
            </a:prstGeom>
            <a:solidFill>
              <a:srgbClr val="C00000"/>
            </a:solidFill>
          </p:spPr>
          <p:style>
            <a:lnRef idx="1">
              <a:schemeClr val="accent1"/>
            </a:lnRef>
            <a:fillRef idx="3">
              <a:schemeClr val="accent1"/>
            </a:fillRef>
            <a:effectRef idx="2">
              <a:schemeClr val="accent1"/>
            </a:effectRef>
            <a:fontRef idx="minor">
              <a:schemeClr val="lt1"/>
            </a:fontRef>
          </p:style>
          <p:txBody>
            <a:bodyPr rtlCol="0" anchor="ctr"/>
            <a:lstStyle/>
            <a:p>
              <a:pPr algn="ctr"/>
              <a:r>
                <a:rPr lang="es-PE" sz="1400" b="1" dirty="0"/>
                <a:t>Partes </a:t>
              </a:r>
              <a:r>
                <a:rPr lang="es-PE" sz="1400" b="1" dirty="0" smtClean="0"/>
                <a:t>interesadas internas</a:t>
              </a:r>
              <a:endParaRPr lang="es-PE" sz="1400" b="1" dirty="0"/>
            </a:p>
          </p:txBody>
        </p:sp>
        <p:sp>
          <p:nvSpPr>
            <p:cNvPr id="13" name="Hexágono 12">
              <a:extLst>
                <a:ext uri="{FF2B5EF4-FFF2-40B4-BE49-F238E27FC236}">
                  <a16:creationId xmlns:a16="http://schemas.microsoft.com/office/drawing/2014/main" id="{C2174E91-7603-4B21-8C0D-3E573D351C26}"/>
                </a:ext>
              </a:extLst>
            </p:cNvPr>
            <p:cNvSpPr/>
            <p:nvPr/>
          </p:nvSpPr>
          <p:spPr>
            <a:xfrm>
              <a:off x="473755" y="2193860"/>
              <a:ext cx="1491342" cy="789559"/>
            </a:xfrm>
            <a:prstGeom prst="hexagon">
              <a:avLst/>
            </a:prstGeom>
            <a:solidFill>
              <a:schemeClr val="tx2">
                <a:lumMod val="75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r>
                <a:rPr lang="es-PE" sz="1100" b="1" dirty="0"/>
                <a:t>Gestión de </a:t>
              </a:r>
              <a:r>
                <a:rPr lang="es-PE" sz="1100" b="1" dirty="0" smtClean="0"/>
                <a:t>riesgos</a:t>
              </a:r>
              <a:endParaRPr lang="es-PE" sz="1100" b="1" dirty="0"/>
            </a:p>
          </p:txBody>
        </p:sp>
        <p:sp>
          <p:nvSpPr>
            <p:cNvPr id="14" name="Hexágono 13">
              <a:extLst>
                <a:ext uri="{FF2B5EF4-FFF2-40B4-BE49-F238E27FC236}">
                  <a16:creationId xmlns:a16="http://schemas.microsoft.com/office/drawing/2014/main" id="{DC2CE4A7-4947-4CEF-963E-0C45F7F0C13F}"/>
                </a:ext>
              </a:extLst>
            </p:cNvPr>
            <p:cNvSpPr/>
            <p:nvPr/>
          </p:nvSpPr>
          <p:spPr>
            <a:xfrm>
              <a:off x="3358465" y="2193126"/>
              <a:ext cx="1491342" cy="790293"/>
            </a:xfrm>
            <a:prstGeom prst="hexagon">
              <a:avLst/>
            </a:prstGeom>
            <a:solidFill>
              <a:schemeClr val="tx2">
                <a:lumMod val="75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r>
                <a:rPr lang="es-PE" sz="1100" b="1" dirty="0"/>
                <a:t>Dirección </a:t>
              </a:r>
              <a:r>
                <a:rPr lang="es-PE" sz="1100" b="1" dirty="0" smtClean="0"/>
                <a:t>ejecutiva</a:t>
              </a:r>
              <a:endParaRPr lang="es-PE" sz="1100" b="1" dirty="0"/>
            </a:p>
          </p:txBody>
        </p:sp>
        <p:sp>
          <p:nvSpPr>
            <p:cNvPr id="15" name="Hexágono 14">
              <a:extLst>
                <a:ext uri="{FF2B5EF4-FFF2-40B4-BE49-F238E27FC236}">
                  <a16:creationId xmlns:a16="http://schemas.microsoft.com/office/drawing/2014/main" id="{1C8A66E6-2FCD-4C33-AE83-E2D9CC49DCD7}"/>
                </a:ext>
              </a:extLst>
            </p:cNvPr>
            <p:cNvSpPr/>
            <p:nvPr/>
          </p:nvSpPr>
          <p:spPr>
            <a:xfrm>
              <a:off x="452891" y="3320141"/>
              <a:ext cx="1491342" cy="790788"/>
            </a:xfrm>
            <a:prstGeom prst="hexagon">
              <a:avLst/>
            </a:prstGeom>
            <a:solidFill>
              <a:schemeClr val="tx2">
                <a:lumMod val="75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r>
                <a:rPr lang="es-PE" sz="1100" b="1" dirty="0"/>
                <a:t>Proveedores de </a:t>
              </a:r>
              <a:r>
                <a:rPr lang="es-PE" sz="1100" b="1" dirty="0" smtClean="0"/>
                <a:t>aseguramiento</a:t>
              </a:r>
              <a:endParaRPr lang="es-PE" sz="1100" b="1" dirty="0"/>
            </a:p>
          </p:txBody>
        </p:sp>
        <p:sp>
          <p:nvSpPr>
            <p:cNvPr id="16" name="Hexágono 15">
              <a:extLst>
                <a:ext uri="{FF2B5EF4-FFF2-40B4-BE49-F238E27FC236}">
                  <a16:creationId xmlns:a16="http://schemas.microsoft.com/office/drawing/2014/main" id="{A06C7CF3-7794-4843-97B7-B9737CB4308D}"/>
                </a:ext>
              </a:extLst>
            </p:cNvPr>
            <p:cNvSpPr/>
            <p:nvPr/>
          </p:nvSpPr>
          <p:spPr>
            <a:xfrm>
              <a:off x="3358465" y="3327536"/>
              <a:ext cx="1491342" cy="790788"/>
            </a:xfrm>
            <a:prstGeom prst="hexagon">
              <a:avLst/>
            </a:prstGeom>
            <a:solidFill>
              <a:schemeClr val="tx2">
                <a:lumMod val="75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r>
                <a:rPr lang="es-PE" sz="1100" b="1" dirty="0"/>
                <a:t>Gerentes de </a:t>
              </a:r>
              <a:r>
                <a:rPr lang="es-PE" sz="1100" b="1" dirty="0" smtClean="0"/>
                <a:t>negocio</a:t>
              </a:r>
              <a:endParaRPr lang="es-PE" sz="1100" b="1" dirty="0"/>
            </a:p>
          </p:txBody>
        </p:sp>
        <p:sp>
          <p:nvSpPr>
            <p:cNvPr id="17" name="Hexágono 16">
              <a:extLst>
                <a:ext uri="{FF2B5EF4-FFF2-40B4-BE49-F238E27FC236}">
                  <a16:creationId xmlns:a16="http://schemas.microsoft.com/office/drawing/2014/main" id="{5D4BCFE2-DDC2-4BC1-9864-280B6DD106F4}"/>
                </a:ext>
              </a:extLst>
            </p:cNvPr>
            <p:cNvSpPr/>
            <p:nvPr/>
          </p:nvSpPr>
          <p:spPr>
            <a:xfrm>
              <a:off x="1916110" y="4118324"/>
              <a:ext cx="1491342" cy="793207"/>
            </a:xfrm>
            <a:prstGeom prst="hexagon">
              <a:avLst/>
            </a:prstGeom>
            <a:solidFill>
              <a:schemeClr val="tx2">
                <a:lumMod val="75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r>
                <a:rPr lang="es-PE" sz="1100" b="1" dirty="0"/>
                <a:t>Gerentes de TI</a:t>
              </a:r>
            </a:p>
          </p:txBody>
        </p:sp>
      </p:grpSp>
      <p:grpSp>
        <p:nvGrpSpPr>
          <p:cNvPr id="22" name="Grupo 21">
            <a:extLst>
              <a:ext uri="{FF2B5EF4-FFF2-40B4-BE49-F238E27FC236}">
                <a16:creationId xmlns:a16="http://schemas.microsoft.com/office/drawing/2014/main" id="{FC69F652-3550-4515-8CB1-F4405DB47A23}"/>
              </a:ext>
            </a:extLst>
          </p:cNvPr>
          <p:cNvGrpSpPr/>
          <p:nvPr/>
        </p:nvGrpSpPr>
        <p:grpSpPr>
          <a:xfrm>
            <a:off x="5441537" y="1472004"/>
            <a:ext cx="3172278" cy="3338485"/>
            <a:chOff x="5467350" y="1525225"/>
            <a:chExt cx="3172278" cy="3338485"/>
          </a:xfrm>
        </p:grpSpPr>
        <p:sp>
          <p:nvSpPr>
            <p:cNvPr id="18" name="Hexágono 17">
              <a:extLst>
                <a:ext uri="{FF2B5EF4-FFF2-40B4-BE49-F238E27FC236}">
                  <a16:creationId xmlns:a16="http://schemas.microsoft.com/office/drawing/2014/main" id="{101EE246-F07E-4B63-93C5-F20B773E973B}"/>
                </a:ext>
              </a:extLst>
            </p:cNvPr>
            <p:cNvSpPr/>
            <p:nvPr/>
          </p:nvSpPr>
          <p:spPr>
            <a:xfrm>
              <a:off x="5467350" y="2488484"/>
              <a:ext cx="1582056" cy="1408601"/>
            </a:xfrm>
            <a:prstGeom prst="hexagon">
              <a:avLst/>
            </a:prstGeom>
            <a:solidFill>
              <a:srgbClr val="C00000"/>
            </a:solidFill>
          </p:spPr>
          <p:style>
            <a:lnRef idx="1">
              <a:schemeClr val="accent1"/>
            </a:lnRef>
            <a:fillRef idx="3">
              <a:schemeClr val="accent1"/>
            </a:fillRef>
            <a:effectRef idx="2">
              <a:schemeClr val="accent1"/>
            </a:effectRef>
            <a:fontRef idx="minor">
              <a:schemeClr val="lt1"/>
            </a:fontRef>
          </p:style>
          <p:txBody>
            <a:bodyPr rtlCol="0" anchor="ctr"/>
            <a:lstStyle/>
            <a:p>
              <a:pPr algn="ctr"/>
              <a:r>
                <a:rPr lang="es-PE" sz="1400" b="1" dirty="0"/>
                <a:t>Partes </a:t>
              </a:r>
              <a:r>
                <a:rPr lang="es-PE" sz="1400" b="1" dirty="0" smtClean="0"/>
                <a:t>interesadas </a:t>
              </a:r>
              <a:r>
                <a:rPr lang="es-PE" sz="1400" b="1" dirty="0"/>
                <a:t>e</a:t>
              </a:r>
              <a:r>
                <a:rPr lang="es-PE" sz="1400" b="1" dirty="0" smtClean="0"/>
                <a:t>xternas</a:t>
              </a:r>
              <a:endParaRPr lang="es-PE" sz="1400" b="1" dirty="0"/>
            </a:p>
          </p:txBody>
        </p:sp>
        <p:sp>
          <p:nvSpPr>
            <p:cNvPr id="19" name="Hexágono 18">
              <a:extLst>
                <a:ext uri="{FF2B5EF4-FFF2-40B4-BE49-F238E27FC236}">
                  <a16:creationId xmlns:a16="http://schemas.microsoft.com/office/drawing/2014/main" id="{6517AB57-DDED-4C8E-ABAC-A48FA4AA8DA4}"/>
                </a:ext>
              </a:extLst>
            </p:cNvPr>
            <p:cNvSpPr/>
            <p:nvPr/>
          </p:nvSpPr>
          <p:spPr>
            <a:xfrm>
              <a:off x="5490029" y="1525225"/>
              <a:ext cx="1491342" cy="789560"/>
            </a:xfrm>
            <a:prstGeom prst="hexagon">
              <a:avLst/>
            </a:prstGeom>
            <a:solidFill>
              <a:schemeClr val="tx2">
                <a:lumMod val="75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r>
                <a:rPr lang="es-PE" sz="1100" b="1" dirty="0"/>
                <a:t>Reguladores</a:t>
              </a:r>
            </a:p>
          </p:txBody>
        </p:sp>
        <p:sp>
          <p:nvSpPr>
            <p:cNvPr id="20" name="Hexágono 19">
              <a:extLst>
                <a:ext uri="{FF2B5EF4-FFF2-40B4-BE49-F238E27FC236}">
                  <a16:creationId xmlns:a16="http://schemas.microsoft.com/office/drawing/2014/main" id="{7FE40456-5DE0-459A-817C-8199FDC75EAB}"/>
                </a:ext>
              </a:extLst>
            </p:cNvPr>
            <p:cNvSpPr/>
            <p:nvPr/>
          </p:nvSpPr>
          <p:spPr>
            <a:xfrm>
              <a:off x="7148286" y="2792244"/>
              <a:ext cx="1491342" cy="801079"/>
            </a:xfrm>
            <a:prstGeom prst="hexagon">
              <a:avLst/>
            </a:prstGeom>
            <a:solidFill>
              <a:schemeClr val="tx2">
                <a:lumMod val="75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r>
                <a:rPr lang="es-PE" sz="1100" b="1" dirty="0"/>
                <a:t>Socios de </a:t>
              </a:r>
              <a:r>
                <a:rPr lang="es-PE" sz="1100" b="1" dirty="0" smtClean="0"/>
                <a:t>negocio</a:t>
              </a:r>
              <a:endParaRPr lang="es-PE" sz="1100" b="1" dirty="0"/>
            </a:p>
          </p:txBody>
        </p:sp>
        <p:sp>
          <p:nvSpPr>
            <p:cNvPr id="21" name="Hexágono 20">
              <a:extLst>
                <a:ext uri="{FF2B5EF4-FFF2-40B4-BE49-F238E27FC236}">
                  <a16:creationId xmlns:a16="http://schemas.microsoft.com/office/drawing/2014/main" id="{AC1B2FCC-E7C6-44D4-B6C9-4662086F2A66}"/>
                </a:ext>
              </a:extLst>
            </p:cNvPr>
            <p:cNvSpPr/>
            <p:nvPr/>
          </p:nvSpPr>
          <p:spPr>
            <a:xfrm>
              <a:off x="5558064" y="4070503"/>
              <a:ext cx="1491342" cy="793207"/>
            </a:xfrm>
            <a:prstGeom prst="hexagon">
              <a:avLst/>
            </a:prstGeom>
            <a:solidFill>
              <a:schemeClr val="tx2">
                <a:lumMod val="75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r>
                <a:rPr lang="es-PE" sz="1100" b="1" dirty="0"/>
                <a:t>Proveedores de TI</a:t>
              </a:r>
            </a:p>
          </p:txBody>
        </p:sp>
      </p:grpSp>
    </p:spTree>
    <p:extLst>
      <p:ext uri="{BB962C8B-B14F-4D97-AF65-F5344CB8AC3E}">
        <p14:creationId xmlns:p14="http://schemas.microsoft.com/office/powerpoint/2010/main" val="25479813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5"/>
          <p:cNvSpPr/>
          <p:nvPr/>
        </p:nvSpPr>
        <p:spPr>
          <a:xfrm>
            <a:off x="407875" y="320830"/>
            <a:ext cx="7204493" cy="353943"/>
          </a:xfrm>
          <a:prstGeom prst="rect">
            <a:avLst/>
          </a:prstGeom>
        </p:spPr>
        <p:txBody>
          <a:bodyPr wrap="square">
            <a:spAutoFit/>
          </a:bodyPr>
          <a:lstStyle/>
          <a:p>
            <a:r>
              <a:rPr lang="en-US" sz="1700" b="1" dirty="0">
                <a:solidFill>
                  <a:srgbClr val="438AD7"/>
                </a:solidFill>
              </a:rPr>
              <a:t>/ PROPORCIONAR VALOR A LAS PARTES INTERESADAS</a:t>
            </a:r>
          </a:p>
        </p:txBody>
      </p:sp>
      <p:sp>
        <p:nvSpPr>
          <p:cNvPr id="22" name="object 7">
            <a:extLst>
              <a:ext uri="{FF2B5EF4-FFF2-40B4-BE49-F238E27FC236}">
                <a16:creationId xmlns:a16="http://schemas.microsoft.com/office/drawing/2014/main" id="{9FFDE42F-58B2-4394-8DB5-40ED43DE2FA7}"/>
              </a:ext>
            </a:extLst>
          </p:cNvPr>
          <p:cNvSpPr txBox="1"/>
          <p:nvPr/>
        </p:nvSpPr>
        <p:spPr>
          <a:xfrm>
            <a:off x="473755" y="816479"/>
            <a:ext cx="6470464" cy="261610"/>
          </a:xfrm>
          <a:prstGeom prst="rect">
            <a:avLst/>
          </a:prstGeom>
        </p:spPr>
        <p:txBody>
          <a:bodyPr vert="horz" wrap="square" lIns="0" tIns="0" rIns="0" bIns="0" rtlCol="0">
            <a:spAutoFit/>
          </a:bodyPr>
          <a:lstStyle/>
          <a:p>
            <a:pPr marL="11725">
              <a:buSzPct val="100000"/>
              <a:tabLst>
                <a:tab pos="121285" algn="l"/>
              </a:tabLst>
            </a:pPr>
            <a:r>
              <a:rPr lang="es-PE" sz="1700" b="1" spc="-10" dirty="0">
                <a:solidFill>
                  <a:srgbClr val="262626"/>
                </a:solidFill>
                <a:cs typeface="Source Sans Pro"/>
              </a:rPr>
              <a:t>4. …PARTES INTERESADAS DE COBIT 2019</a:t>
            </a:r>
          </a:p>
        </p:txBody>
      </p:sp>
      <p:pic>
        <p:nvPicPr>
          <p:cNvPr id="10" name="Imagen 9">
            <a:extLst>
              <a:ext uri="{FF2B5EF4-FFF2-40B4-BE49-F238E27FC236}">
                <a16:creationId xmlns:a16="http://schemas.microsoft.com/office/drawing/2014/main" id="{F785EA5A-462C-4C21-9B0C-C5695C079561}"/>
              </a:ext>
            </a:extLst>
          </p:cNvPr>
          <p:cNvPicPr>
            <a:picLocks noChangeAspect="1"/>
          </p:cNvPicPr>
          <p:nvPr/>
        </p:nvPicPr>
        <p:blipFill>
          <a:blip r:embed="rId3"/>
          <a:stretch>
            <a:fillRect/>
          </a:stretch>
        </p:blipFill>
        <p:spPr>
          <a:xfrm>
            <a:off x="1774606" y="1182471"/>
            <a:ext cx="5594788" cy="4072966"/>
          </a:xfrm>
          <a:prstGeom prst="rect">
            <a:avLst/>
          </a:prstGeom>
        </p:spPr>
      </p:pic>
    </p:spTree>
    <p:extLst>
      <p:ext uri="{BB962C8B-B14F-4D97-AF65-F5344CB8AC3E}">
        <p14:creationId xmlns:p14="http://schemas.microsoft.com/office/powerpoint/2010/main" val="34397569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5"/>
          <p:cNvSpPr/>
          <p:nvPr/>
        </p:nvSpPr>
        <p:spPr>
          <a:xfrm>
            <a:off x="407875" y="320830"/>
            <a:ext cx="7204493" cy="353943"/>
          </a:xfrm>
          <a:prstGeom prst="rect">
            <a:avLst/>
          </a:prstGeom>
        </p:spPr>
        <p:txBody>
          <a:bodyPr wrap="square">
            <a:spAutoFit/>
          </a:bodyPr>
          <a:lstStyle/>
          <a:p>
            <a:r>
              <a:rPr lang="en-US" sz="1700" b="1" dirty="0">
                <a:solidFill>
                  <a:srgbClr val="438AD7"/>
                </a:solidFill>
              </a:rPr>
              <a:t>/ PROPORCIONAR VALOR A LAS PARTES INTERESADAS</a:t>
            </a:r>
          </a:p>
        </p:txBody>
      </p:sp>
      <p:sp>
        <p:nvSpPr>
          <p:cNvPr id="22" name="object 7">
            <a:extLst>
              <a:ext uri="{FF2B5EF4-FFF2-40B4-BE49-F238E27FC236}">
                <a16:creationId xmlns:a16="http://schemas.microsoft.com/office/drawing/2014/main" id="{9FFDE42F-58B2-4394-8DB5-40ED43DE2FA7}"/>
              </a:ext>
            </a:extLst>
          </p:cNvPr>
          <p:cNvSpPr txBox="1"/>
          <p:nvPr/>
        </p:nvSpPr>
        <p:spPr>
          <a:xfrm>
            <a:off x="473755" y="816479"/>
            <a:ext cx="6470464" cy="261610"/>
          </a:xfrm>
          <a:prstGeom prst="rect">
            <a:avLst/>
          </a:prstGeom>
        </p:spPr>
        <p:txBody>
          <a:bodyPr vert="horz" wrap="square" lIns="0" tIns="0" rIns="0" bIns="0" rtlCol="0">
            <a:spAutoFit/>
          </a:bodyPr>
          <a:lstStyle/>
          <a:p>
            <a:pPr marL="11725">
              <a:buSzPct val="100000"/>
              <a:tabLst>
                <a:tab pos="121285" algn="l"/>
              </a:tabLst>
            </a:pPr>
            <a:r>
              <a:rPr lang="es-PE" sz="1700" b="1" spc="-10" dirty="0">
                <a:solidFill>
                  <a:srgbClr val="262626"/>
                </a:solidFill>
                <a:cs typeface="Source Sans Pro"/>
              </a:rPr>
              <a:t>5. CASCADA DE METAS DE COBIT 2019</a:t>
            </a:r>
          </a:p>
        </p:txBody>
      </p:sp>
      <p:sp>
        <p:nvSpPr>
          <p:cNvPr id="6" name="object 7">
            <a:extLst>
              <a:ext uri="{FF2B5EF4-FFF2-40B4-BE49-F238E27FC236}">
                <a16:creationId xmlns:a16="http://schemas.microsoft.com/office/drawing/2014/main" id="{C5C5613D-2398-4761-8613-69B4C3A2D345}"/>
              </a:ext>
            </a:extLst>
          </p:cNvPr>
          <p:cNvSpPr txBox="1"/>
          <p:nvPr/>
        </p:nvSpPr>
        <p:spPr>
          <a:xfrm>
            <a:off x="536858" y="1214519"/>
            <a:ext cx="3473263" cy="2215991"/>
          </a:xfrm>
          <a:prstGeom prst="rect">
            <a:avLst/>
          </a:prstGeom>
        </p:spPr>
        <p:txBody>
          <a:bodyPr vert="horz" wrap="square" lIns="0" tIns="0" rIns="0" bIns="0" rtlCol="0">
            <a:spAutoFit/>
          </a:bodyPr>
          <a:lstStyle/>
          <a:p>
            <a:pPr algn="just">
              <a:spcAft>
                <a:spcPts val="1800"/>
              </a:spcAft>
              <a:buSzPct val="100000"/>
              <a:tabLst>
                <a:tab pos="121285" algn="l"/>
              </a:tabLst>
            </a:pPr>
            <a:r>
              <a:rPr lang="es-ES" sz="1600" spc="-10" dirty="0">
                <a:solidFill>
                  <a:srgbClr val="262626"/>
                </a:solidFill>
              </a:rPr>
              <a:t>Las necesidades de las partes interesadas tienen que transformase en una estrategia factible para la empresa. La cascada de metas soporta las metas empresariales, que es uno de los factores de diseño clave para un sistema de gobierno. Apoya la priorización de los objetivos de la dirección basada en la priorización de las metas empresariales. </a:t>
            </a:r>
          </a:p>
        </p:txBody>
      </p:sp>
      <p:pic>
        <p:nvPicPr>
          <p:cNvPr id="3" name="Imagen 2">
            <a:extLst>
              <a:ext uri="{FF2B5EF4-FFF2-40B4-BE49-F238E27FC236}">
                <a16:creationId xmlns:a16="http://schemas.microsoft.com/office/drawing/2014/main" id="{1753F13D-68B3-47FB-86D7-BAF83F2A45E9}"/>
              </a:ext>
            </a:extLst>
          </p:cNvPr>
          <p:cNvPicPr>
            <a:picLocks noChangeAspect="1"/>
          </p:cNvPicPr>
          <p:nvPr/>
        </p:nvPicPr>
        <p:blipFill>
          <a:blip r:embed="rId3"/>
          <a:stretch>
            <a:fillRect/>
          </a:stretch>
        </p:blipFill>
        <p:spPr>
          <a:xfrm>
            <a:off x="4307268" y="947284"/>
            <a:ext cx="4299874" cy="4209562"/>
          </a:xfrm>
          <a:prstGeom prst="rect">
            <a:avLst/>
          </a:prstGeom>
        </p:spPr>
      </p:pic>
    </p:spTree>
    <p:extLst>
      <p:ext uri="{BB962C8B-B14F-4D97-AF65-F5344CB8AC3E}">
        <p14:creationId xmlns:p14="http://schemas.microsoft.com/office/powerpoint/2010/main" val="12309600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ángulo 3"/>
          <p:cNvSpPr/>
          <p:nvPr/>
        </p:nvSpPr>
        <p:spPr>
          <a:xfrm>
            <a:off x="0" y="0"/>
            <a:ext cx="9144000" cy="5715000"/>
          </a:xfrm>
          <a:prstGeom prst="rect">
            <a:avLst/>
          </a:prstGeom>
          <a:solidFill>
            <a:srgbClr val="1F85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 dirty="0"/>
          </a:p>
        </p:txBody>
      </p:sp>
      <p:sp>
        <p:nvSpPr>
          <p:cNvPr id="6" name="Rectangle 3"/>
          <p:cNvSpPr/>
          <p:nvPr/>
        </p:nvSpPr>
        <p:spPr>
          <a:xfrm>
            <a:off x="424252" y="3703125"/>
            <a:ext cx="7966170" cy="480131"/>
          </a:xfrm>
          <a:prstGeom prst="rect">
            <a:avLst/>
          </a:prstGeom>
        </p:spPr>
        <p:txBody>
          <a:bodyPr wrap="square">
            <a:spAutoFit/>
          </a:bodyPr>
          <a:lstStyle/>
          <a:p>
            <a:pPr>
              <a:lnSpc>
                <a:spcPct val="90000"/>
              </a:lnSpc>
              <a:spcBef>
                <a:spcPts val="1000"/>
              </a:spcBef>
              <a:defRPr/>
            </a:pPr>
            <a:r>
              <a:rPr lang="es-PE" sz="2800" b="1" dirty="0">
                <a:solidFill>
                  <a:schemeClr val="bg1"/>
                </a:solidFill>
                <a:latin typeface="Calibri"/>
                <a:cs typeface="Calibri"/>
              </a:rPr>
              <a:t>/ ENFOQUE HOLÍSTICO</a:t>
            </a:r>
          </a:p>
        </p:txBody>
      </p:sp>
    </p:spTree>
    <p:custDataLst>
      <p:tags r:id="rId1"/>
    </p:custDataLst>
    <p:extLst>
      <p:ext uri="{BB962C8B-B14F-4D97-AF65-F5344CB8AC3E}">
        <p14:creationId xmlns:p14="http://schemas.microsoft.com/office/powerpoint/2010/main" val="21029667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5"/>
          <p:cNvSpPr/>
          <p:nvPr/>
        </p:nvSpPr>
        <p:spPr>
          <a:xfrm>
            <a:off x="407875" y="320830"/>
            <a:ext cx="7204493" cy="353943"/>
          </a:xfrm>
          <a:prstGeom prst="rect">
            <a:avLst/>
          </a:prstGeom>
        </p:spPr>
        <p:txBody>
          <a:bodyPr wrap="square">
            <a:spAutoFit/>
          </a:bodyPr>
          <a:lstStyle/>
          <a:p>
            <a:r>
              <a:rPr lang="en-US" sz="1700" b="1" dirty="0">
                <a:solidFill>
                  <a:srgbClr val="438AD7"/>
                </a:solidFill>
              </a:rPr>
              <a:t>/ ENFOQUE HOLÍSTICO</a:t>
            </a:r>
          </a:p>
        </p:txBody>
      </p:sp>
      <p:sp>
        <p:nvSpPr>
          <p:cNvPr id="7" name="object 7">
            <a:extLst>
              <a:ext uri="{FF2B5EF4-FFF2-40B4-BE49-F238E27FC236}">
                <a16:creationId xmlns:a16="http://schemas.microsoft.com/office/drawing/2014/main" id="{163CCFF5-6DBB-44D7-85E8-567CB4D4AC0E}"/>
              </a:ext>
            </a:extLst>
          </p:cNvPr>
          <p:cNvSpPr txBox="1"/>
          <p:nvPr/>
        </p:nvSpPr>
        <p:spPr>
          <a:xfrm>
            <a:off x="510908" y="832233"/>
            <a:ext cx="4010292" cy="261610"/>
          </a:xfrm>
          <a:prstGeom prst="rect">
            <a:avLst/>
          </a:prstGeom>
        </p:spPr>
        <p:txBody>
          <a:bodyPr vert="horz" wrap="square" lIns="0" tIns="0" rIns="0" bIns="0" rtlCol="0">
            <a:spAutoFit/>
          </a:bodyPr>
          <a:lstStyle/>
          <a:p>
            <a:pPr marL="11725">
              <a:buSzPct val="100000"/>
              <a:tabLst>
                <a:tab pos="121285" algn="l"/>
              </a:tabLst>
            </a:pPr>
            <a:r>
              <a:rPr lang="es-PE" sz="1700" b="1" spc="-10" dirty="0">
                <a:solidFill>
                  <a:srgbClr val="262626"/>
                </a:solidFill>
                <a:cs typeface="Source Sans Pro"/>
              </a:rPr>
              <a:t>1. DEFINICIÓN</a:t>
            </a:r>
          </a:p>
        </p:txBody>
      </p:sp>
      <p:sp>
        <p:nvSpPr>
          <p:cNvPr id="8" name="object 7">
            <a:extLst>
              <a:ext uri="{FF2B5EF4-FFF2-40B4-BE49-F238E27FC236}">
                <a16:creationId xmlns:a16="http://schemas.microsoft.com/office/drawing/2014/main" id="{B5EA86E6-DB35-4893-8551-90B6D8DDF61A}"/>
              </a:ext>
            </a:extLst>
          </p:cNvPr>
          <p:cNvSpPr txBox="1"/>
          <p:nvPr/>
        </p:nvSpPr>
        <p:spPr>
          <a:xfrm>
            <a:off x="510908" y="1295059"/>
            <a:ext cx="3473263" cy="1231106"/>
          </a:xfrm>
          <a:prstGeom prst="rect">
            <a:avLst/>
          </a:prstGeom>
        </p:spPr>
        <p:txBody>
          <a:bodyPr vert="horz" wrap="square" lIns="0" tIns="0" rIns="0" bIns="0" rtlCol="0">
            <a:spAutoFit/>
          </a:bodyPr>
          <a:lstStyle/>
          <a:p>
            <a:pPr algn="just">
              <a:spcAft>
                <a:spcPts val="1800"/>
              </a:spcAft>
              <a:buSzPct val="100000"/>
              <a:tabLst>
                <a:tab pos="121285" algn="l"/>
              </a:tabLst>
            </a:pPr>
            <a:r>
              <a:rPr lang="es-ES" sz="1600" spc="-10" dirty="0">
                <a:solidFill>
                  <a:srgbClr val="262626"/>
                </a:solidFill>
              </a:rPr>
              <a:t>Un sistema de gobierno para la I&amp;T de la empresa se crea a partir de una serie de componentes que pueden ser de distinto tipo y que funcionan conjuntamente de forma holística.</a:t>
            </a:r>
          </a:p>
        </p:txBody>
      </p:sp>
      <p:grpSp>
        <p:nvGrpSpPr>
          <p:cNvPr id="2" name="Grupo 1">
            <a:extLst>
              <a:ext uri="{FF2B5EF4-FFF2-40B4-BE49-F238E27FC236}">
                <a16:creationId xmlns:a16="http://schemas.microsoft.com/office/drawing/2014/main" id="{1BB0D488-1F94-4912-8704-66A313D2D038}"/>
              </a:ext>
            </a:extLst>
          </p:cNvPr>
          <p:cNvGrpSpPr/>
          <p:nvPr/>
        </p:nvGrpSpPr>
        <p:grpSpPr>
          <a:xfrm>
            <a:off x="4521200" y="963038"/>
            <a:ext cx="4078514" cy="4079139"/>
            <a:chOff x="4648202" y="963038"/>
            <a:chExt cx="4078514" cy="4079139"/>
          </a:xfrm>
        </p:grpSpPr>
        <p:sp>
          <p:nvSpPr>
            <p:cNvPr id="4" name="Elipse 3">
              <a:extLst>
                <a:ext uri="{FF2B5EF4-FFF2-40B4-BE49-F238E27FC236}">
                  <a16:creationId xmlns:a16="http://schemas.microsoft.com/office/drawing/2014/main" id="{F0BB44BA-2A3D-4B90-A1BA-CEDBE962101D}"/>
                </a:ext>
              </a:extLst>
            </p:cNvPr>
            <p:cNvSpPr/>
            <p:nvPr/>
          </p:nvSpPr>
          <p:spPr>
            <a:xfrm>
              <a:off x="5421086" y="3783616"/>
              <a:ext cx="2532743" cy="1258561"/>
            </a:xfrm>
            <a:prstGeom prst="ellipse">
              <a:avLst/>
            </a:prstGeom>
            <a:solidFill>
              <a:schemeClr val="accent1">
                <a:lumMod val="60000"/>
                <a:lumOff val="4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r>
                <a:rPr lang="es-PE" dirty="0">
                  <a:solidFill>
                    <a:schemeClr val="tx1"/>
                  </a:solidFill>
                </a:rPr>
                <a:t>2. Enfoque holístico</a:t>
              </a:r>
            </a:p>
          </p:txBody>
        </p:sp>
        <p:sp>
          <p:nvSpPr>
            <p:cNvPr id="6" name="Globo: flecha hacia abajo 5">
              <a:extLst>
                <a:ext uri="{FF2B5EF4-FFF2-40B4-BE49-F238E27FC236}">
                  <a16:creationId xmlns:a16="http://schemas.microsoft.com/office/drawing/2014/main" id="{4F9128C1-6274-457E-813C-A595E193C8CD}"/>
                </a:ext>
              </a:extLst>
            </p:cNvPr>
            <p:cNvSpPr/>
            <p:nvPr/>
          </p:nvSpPr>
          <p:spPr>
            <a:xfrm>
              <a:off x="6360885" y="3240526"/>
              <a:ext cx="653143" cy="486229"/>
            </a:xfrm>
            <a:prstGeom prst="downArrowCallout">
              <a:avLst/>
            </a:prstGeom>
            <a:solidFill>
              <a:srgbClr val="660033"/>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s-PE" dirty="0"/>
            </a:p>
          </p:txBody>
        </p:sp>
        <p:pic>
          <p:nvPicPr>
            <p:cNvPr id="11" name="Imagen 10">
              <a:extLst>
                <a:ext uri="{FF2B5EF4-FFF2-40B4-BE49-F238E27FC236}">
                  <a16:creationId xmlns:a16="http://schemas.microsoft.com/office/drawing/2014/main" id="{AD3D4AB4-4CCF-496F-8F6B-7ECCAB2F0B43}"/>
                </a:ext>
              </a:extLst>
            </p:cNvPr>
            <p:cNvPicPr>
              <a:picLocks noChangeAspect="1"/>
            </p:cNvPicPr>
            <p:nvPr/>
          </p:nvPicPr>
          <p:blipFill>
            <a:blip r:embed="rId3"/>
            <a:stretch>
              <a:fillRect/>
            </a:stretch>
          </p:blipFill>
          <p:spPr>
            <a:xfrm>
              <a:off x="4648202" y="963038"/>
              <a:ext cx="4078514" cy="2277488"/>
            </a:xfrm>
            <a:prstGeom prst="rect">
              <a:avLst/>
            </a:prstGeom>
          </p:spPr>
        </p:pic>
      </p:grpSp>
    </p:spTree>
    <p:extLst>
      <p:ext uri="{BB962C8B-B14F-4D97-AF65-F5344CB8AC3E}">
        <p14:creationId xmlns:p14="http://schemas.microsoft.com/office/powerpoint/2010/main" val="83262810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5"/>
          <p:cNvSpPr/>
          <p:nvPr/>
        </p:nvSpPr>
        <p:spPr>
          <a:xfrm>
            <a:off x="407875" y="320830"/>
            <a:ext cx="7204493" cy="353943"/>
          </a:xfrm>
          <a:prstGeom prst="rect">
            <a:avLst/>
          </a:prstGeom>
        </p:spPr>
        <p:txBody>
          <a:bodyPr wrap="square">
            <a:spAutoFit/>
          </a:bodyPr>
          <a:lstStyle/>
          <a:p>
            <a:r>
              <a:rPr lang="en-US" sz="1700" b="1" dirty="0">
                <a:solidFill>
                  <a:srgbClr val="438AD7"/>
                </a:solidFill>
              </a:rPr>
              <a:t>/ ENFOQUE HOLÍSTICO</a:t>
            </a:r>
          </a:p>
        </p:txBody>
      </p:sp>
      <p:sp>
        <p:nvSpPr>
          <p:cNvPr id="7" name="object 7">
            <a:extLst>
              <a:ext uri="{FF2B5EF4-FFF2-40B4-BE49-F238E27FC236}">
                <a16:creationId xmlns:a16="http://schemas.microsoft.com/office/drawing/2014/main" id="{163CCFF5-6DBB-44D7-85E8-567CB4D4AC0E}"/>
              </a:ext>
            </a:extLst>
          </p:cNvPr>
          <p:cNvSpPr txBox="1"/>
          <p:nvPr/>
        </p:nvSpPr>
        <p:spPr>
          <a:xfrm>
            <a:off x="510908" y="832233"/>
            <a:ext cx="4706978" cy="261610"/>
          </a:xfrm>
          <a:prstGeom prst="rect">
            <a:avLst/>
          </a:prstGeom>
        </p:spPr>
        <p:txBody>
          <a:bodyPr vert="horz" wrap="square" lIns="0" tIns="0" rIns="0" bIns="0" rtlCol="0">
            <a:spAutoFit/>
          </a:bodyPr>
          <a:lstStyle/>
          <a:p>
            <a:pPr marL="11725">
              <a:buSzPct val="100000"/>
              <a:tabLst>
                <a:tab pos="121285" algn="l"/>
              </a:tabLst>
            </a:pPr>
            <a:r>
              <a:rPr lang="es-PE" sz="1700" b="1" spc="-10" dirty="0">
                <a:solidFill>
                  <a:srgbClr val="262626"/>
                </a:solidFill>
                <a:cs typeface="Source Sans Pro"/>
              </a:rPr>
              <a:t>2. COMPONENTES DEL SISTEMA DE GOBIERNO</a:t>
            </a:r>
          </a:p>
        </p:txBody>
      </p:sp>
      <p:sp>
        <p:nvSpPr>
          <p:cNvPr id="8" name="object 7">
            <a:extLst>
              <a:ext uri="{FF2B5EF4-FFF2-40B4-BE49-F238E27FC236}">
                <a16:creationId xmlns:a16="http://schemas.microsoft.com/office/drawing/2014/main" id="{B5EA86E6-DB35-4893-8551-90B6D8DDF61A}"/>
              </a:ext>
            </a:extLst>
          </p:cNvPr>
          <p:cNvSpPr txBox="1"/>
          <p:nvPr/>
        </p:nvSpPr>
        <p:spPr>
          <a:xfrm>
            <a:off x="407874" y="1251303"/>
            <a:ext cx="4629951" cy="4031873"/>
          </a:xfrm>
          <a:prstGeom prst="rect">
            <a:avLst/>
          </a:prstGeom>
        </p:spPr>
        <p:txBody>
          <a:bodyPr vert="horz" wrap="square" lIns="0" tIns="0" rIns="0" bIns="0" rtlCol="0">
            <a:spAutoFit/>
          </a:bodyPr>
          <a:lstStyle/>
          <a:p>
            <a:pPr marL="285750" indent="-285750" algn="just">
              <a:spcAft>
                <a:spcPts val="1200"/>
              </a:spcAft>
              <a:buSzPct val="100000"/>
              <a:buFont typeface="Arial" panose="020B0604020202020204" pitchFamily="34" charset="0"/>
              <a:buChar char="•"/>
              <a:tabLst>
                <a:tab pos="121285" algn="l"/>
              </a:tabLst>
            </a:pPr>
            <a:r>
              <a:rPr lang="es-ES" sz="1600" spc="-10" dirty="0">
                <a:solidFill>
                  <a:srgbClr val="262626"/>
                </a:solidFill>
              </a:rPr>
              <a:t>Con el </a:t>
            </a:r>
            <a:r>
              <a:rPr lang="es-ES" sz="1600" spc="-10" dirty="0" smtClean="0">
                <a:solidFill>
                  <a:srgbClr val="262626"/>
                </a:solidFill>
              </a:rPr>
              <a:t>propósito </a:t>
            </a:r>
            <a:r>
              <a:rPr lang="es-ES" sz="1600" spc="-10" dirty="0">
                <a:solidFill>
                  <a:srgbClr val="262626"/>
                </a:solidFill>
              </a:rPr>
              <a:t>de cumplir con los objetivos de gobierno y gestión, cada empresa debe establecer, personalizar y sostener un sistema de gobierno creado a partir de una serie de componentes. </a:t>
            </a:r>
          </a:p>
          <a:p>
            <a:pPr marL="285750" indent="-285750" algn="just">
              <a:spcAft>
                <a:spcPts val="1200"/>
              </a:spcAft>
              <a:buSzPct val="100000"/>
              <a:buFont typeface="Arial" panose="020B0604020202020204" pitchFamily="34" charset="0"/>
              <a:buChar char="•"/>
              <a:tabLst>
                <a:tab pos="121285" algn="l"/>
              </a:tabLst>
            </a:pPr>
            <a:r>
              <a:rPr lang="es-ES" sz="1600" spc="-10" dirty="0">
                <a:solidFill>
                  <a:srgbClr val="262626"/>
                </a:solidFill>
              </a:rPr>
              <a:t>Estos componentes son factores que, de forma individual y colectiva, contribuyen al buen funcionamiento del sistema de gobierno de la empresa en cuanto a I&amp;T. </a:t>
            </a:r>
          </a:p>
          <a:p>
            <a:pPr marL="285750" indent="-285750" algn="just">
              <a:spcAft>
                <a:spcPts val="1200"/>
              </a:spcAft>
              <a:buSzPct val="100000"/>
              <a:buFont typeface="Arial" panose="020B0604020202020204" pitchFamily="34" charset="0"/>
              <a:buChar char="•"/>
              <a:tabLst>
                <a:tab pos="121285" algn="l"/>
              </a:tabLst>
            </a:pPr>
            <a:r>
              <a:rPr lang="es-ES" sz="1600" spc="-10" dirty="0">
                <a:solidFill>
                  <a:srgbClr val="262626"/>
                </a:solidFill>
              </a:rPr>
              <a:t>Los componentes interactúan entre sí, lo que da lugar a un sistema holístico de gobierno de I&amp;T. </a:t>
            </a:r>
            <a:endParaRPr lang="es-ES" sz="1600" spc="-10" dirty="0" smtClean="0">
              <a:solidFill>
                <a:srgbClr val="262626"/>
              </a:solidFill>
            </a:endParaRPr>
          </a:p>
          <a:p>
            <a:pPr marL="285750" indent="-285750" algn="just">
              <a:spcAft>
                <a:spcPts val="1200"/>
              </a:spcAft>
              <a:buSzPct val="100000"/>
              <a:buFont typeface="Arial" panose="020B0604020202020204" pitchFamily="34" charset="0"/>
              <a:buChar char="•"/>
              <a:tabLst>
                <a:tab pos="121285" algn="l"/>
              </a:tabLst>
            </a:pPr>
            <a:r>
              <a:rPr lang="es-ES" spc="-10" dirty="0">
                <a:solidFill>
                  <a:srgbClr val="262626"/>
                </a:solidFill>
              </a:rPr>
              <a:t>Los componentes pueden ser de diversos tipos sin embargo, los componentes de un sistema de gobierno incluyen los que se muestran en la figura</a:t>
            </a:r>
            <a:r>
              <a:rPr lang="es-ES" spc="-10" dirty="0" smtClean="0">
                <a:solidFill>
                  <a:srgbClr val="262626"/>
                </a:solidFill>
              </a:rPr>
              <a:t>.</a:t>
            </a:r>
            <a:endParaRPr lang="es-ES" spc="-10" dirty="0">
              <a:solidFill>
                <a:srgbClr val="262626"/>
              </a:solidFill>
            </a:endParaRPr>
          </a:p>
        </p:txBody>
      </p:sp>
      <p:pic>
        <p:nvPicPr>
          <p:cNvPr id="9" name="Imagen 8">
            <a:extLst>
              <a:ext uri="{FF2B5EF4-FFF2-40B4-BE49-F238E27FC236}">
                <a16:creationId xmlns:a16="http://schemas.microsoft.com/office/drawing/2014/main" id="{7D8D402C-9D19-415E-9E46-CEE442DE7015}"/>
              </a:ext>
            </a:extLst>
          </p:cNvPr>
          <p:cNvPicPr>
            <a:picLocks noChangeAspect="1"/>
          </p:cNvPicPr>
          <p:nvPr/>
        </p:nvPicPr>
        <p:blipFill>
          <a:blip r:embed="rId3"/>
          <a:stretch>
            <a:fillRect/>
          </a:stretch>
        </p:blipFill>
        <p:spPr>
          <a:xfrm>
            <a:off x="5304151" y="1032050"/>
            <a:ext cx="3703723" cy="3578325"/>
          </a:xfrm>
          <a:prstGeom prst="rect">
            <a:avLst/>
          </a:prstGeom>
        </p:spPr>
      </p:pic>
    </p:spTree>
    <p:extLst>
      <p:ext uri="{BB962C8B-B14F-4D97-AF65-F5344CB8AC3E}">
        <p14:creationId xmlns:p14="http://schemas.microsoft.com/office/powerpoint/2010/main" val="28694282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ángulo 3"/>
          <p:cNvSpPr/>
          <p:nvPr/>
        </p:nvSpPr>
        <p:spPr>
          <a:xfrm>
            <a:off x="0" y="0"/>
            <a:ext cx="9144000" cy="5715000"/>
          </a:xfrm>
          <a:prstGeom prst="rect">
            <a:avLst/>
          </a:prstGeom>
          <a:solidFill>
            <a:srgbClr val="1F85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 dirty="0"/>
          </a:p>
        </p:txBody>
      </p:sp>
      <p:sp>
        <p:nvSpPr>
          <p:cNvPr id="6" name="Rectangle 3"/>
          <p:cNvSpPr/>
          <p:nvPr/>
        </p:nvSpPr>
        <p:spPr>
          <a:xfrm>
            <a:off x="424252" y="3703125"/>
            <a:ext cx="7966170" cy="480131"/>
          </a:xfrm>
          <a:prstGeom prst="rect">
            <a:avLst/>
          </a:prstGeom>
        </p:spPr>
        <p:txBody>
          <a:bodyPr wrap="square">
            <a:spAutoFit/>
          </a:bodyPr>
          <a:lstStyle/>
          <a:p>
            <a:pPr>
              <a:lnSpc>
                <a:spcPct val="90000"/>
              </a:lnSpc>
              <a:spcBef>
                <a:spcPts val="1000"/>
              </a:spcBef>
              <a:defRPr/>
            </a:pPr>
            <a:r>
              <a:rPr lang="es-PE" sz="2800" b="1" dirty="0">
                <a:solidFill>
                  <a:schemeClr val="bg1"/>
                </a:solidFill>
                <a:latin typeface="Calibri"/>
                <a:cs typeface="Calibri"/>
              </a:rPr>
              <a:t>/ SISTEMA DE GOBIERNO DINÁMICO</a:t>
            </a:r>
          </a:p>
        </p:txBody>
      </p:sp>
    </p:spTree>
    <p:custDataLst>
      <p:tags r:id="rId1"/>
    </p:custDataLst>
    <p:extLst>
      <p:ext uri="{BB962C8B-B14F-4D97-AF65-F5344CB8AC3E}">
        <p14:creationId xmlns:p14="http://schemas.microsoft.com/office/powerpoint/2010/main" val="24195958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5"/>
          <p:cNvSpPr/>
          <p:nvPr/>
        </p:nvSpPr>
        <p:spPr>
          <a:xfrm>
            <a:off x="407875" y="320830"/>
            <a:ext cx="7204493" cy="353943"/>
          </a:xfrm>
          <a:prstGeom prst="rect">
            <a:avLst/>
          </a:prstGeom>
        </p:spPr>
        <p:txBody>
          <a:bodyPr wrap="square">
            <a:spAutoFit/>
          </a:bodyPr>
          <a:lstStyle/>
          <a:p>
            <a:r>
              <a:rPr lang="en-US" sz="1700" b="1" dirty="0">
                <a:solidFill>
                  <a:srgbClr val="438AD7"/>
                </a:solidFill>
              </a:rPr>
              <a:t>/ SISTEMA DE GOBIERNO DINÁMICO</a:t>
            </a:r>
          </a:p>
        </p:txBody>
      </p:sp>
      <p:sp>
        <p:nvSpPr>
          <p:cNvPr id="7" name="object 7">
            <a:extLst>
              <a:ext uri="{FF2B5EF4-FFF2-40B4-BE49-F238E27FC236}">
                <a16:creationId xmlns:a16="http://schemas.microsoft.com/office/drawing/2014/main" id="{163CCFF5-6DBB-44D7-85E8-567CB4D4AC0E}"/>
              </a:ext>
            </a:extLst>
          </p:cNvPr>
          <p:cNvSpPr txBox="1"/>
          <p:nvPr/>
        </p:nvSpPr>
        <p:spPr>
          <a:xfrm>
            <a:off x="510908" y="832233"/>
            <a:ext cx="4010292" cy="261610"/>
          </a:xfrm>
          <a:prstGeom prst="rect">
            <a:avLst/>
          </a:prstGeom>
        </p:spPr>
        <p:txBody>
          <a:bodyPr vert="horz" wrap="square" lIns="0" tIns="0" rIns="0" bIns="0" rtlCol="0">
            <a:spAutoFit/>
          </a:bodyPr>
          <a:lstStyle/>
          <a:p>
            <a:pPr marL="11725">
              <a:buSzPct val="100000"/>
              <a:tabLst>
                <a:tab pos="121285" algn="l"/>
              </a:tabLst>
            </a:pPr>
            <a:r>
              <a:rPr lang="es-PE" sz="1700" b="1" spc="-10" dirty="0">
                <a:solidFill>
                  <a:srgbClr val="262626"/>
                </a:solidFill>
                <a:cs typeface="Source Sans Pro"/>
              </a:rPr>
              <a:t>1. DEFINICIÓN</a:t>
            </a:r>
          </a:p>
        </p:txBody>
      </p:sp>
      <p:sp>
        <p:nvSpPr>
          <p:cNvPr id="8" name="object 7">
            <a:extLst>
              <a:ext uri="{FF2B5EF4-FFF2-40B4-BE49-F238E27FC236}">
                <a16:creationId xmlns:a16="http://schemas.microsoft.com/office/drawing/2014/main" id="{B5EA86E6-DB35-4893-8551-90B6D8DDF61A}"/>
              </a:ext>
            </a:extLst>
          </p:cNvPr>
          <p:cNvSpPr txBox="1"/>
          <p:nvPr/>
        </p:nvSpPr>
        <p:spPr>
          <a:xfrm>
            <a:off x="510908" y="1295059"/>
            <a:ext cx="3473263" cy="2693045"/>
          </a:xfrm>
          <a:prstGeom prst="rect">
            <a:avLst/>
          </a:prstGeom>
        </p:spPr>
        <p:txBody>
          <a:bodyPr vert="horz" wrap="square" lIns="0" tIns="0" rIns="0" bIns="0" rtlCol="0">
            <a:spAutoFit/>
          </a:bodyPr>
          <a:lstStyle/>
          <a:p>
            <a:pPr marL="355600" indent="-168275" algn="just">
              <a:spcAft>
                <a:spcPts val="1800"/>
              </a:spcAft>
              <a:buSzPct val="100000"/>
              <a:buFont typeface="Arial"/>
              <a:buChar char="•"/>
              <a:tabLst>
                <a:tab pos="121285" algn="l"/>
              </a:tabLst>
            </a:pPr>
            <a:r>
              <a:rPr lang="es-ES" sz="1600" spc="-10" dirty="0">
                <a:solidFill>
                  <a:srgbClr val="262626"/>
                </a:solidFill>
              </a:rPr>
              <a:t>Un sistema de gobierno debería ser dinámico. Esto significa que cada vez que se </a:t>
            </a:r>
            <a:r>
              <a:rPr lang="es-ES" sz="1600" spc="-10" dirty="0" smtClean="0">
                <a:solidFill>
                  <a:srgbClr val="262626"/>
                </a:solidFill>
              </a:rPr>
              <a:t>cambia </a:t>
            </a:r>
            <a:r>
              <a:rPr lang="es-ES" sz="1600" spc="-10" dirty="0">
                <a:solidFill>
                  <a:srgbClr val="262626"/>
                </a:solidFill>
              </a:rPr>
              <a:t>uno o más factores del diseño (por ejemplo un cambio de estrategia o tecnología), debe considerarse el impacto de estos cambios en el sistema GETI. </a:t>
            </a:r>
          </a:p>
          <a:p>
            <a:pPr marL="355600" indent="-168275" algn="just">
              <a:spcAft>
                <a:spcPts val="1800"/>
              </a:spcAft>
              <a:buSzPct val="100000"/>
              <a:buFont typeface="Arial"/>
              <a:buChar char="•"/>
              <a:tabLst>
                <a:tab pos="121285" algn="l"/>
              </a:tabLst>
            </a:pPr>
            <a:r>
              <a:rPr lang="es-ES" sz="1600" spc="-10" dirty="0">
                <a:solidFill>
                  <a:srgbClr val="262626"/>
                </a:solidFill>
              </a:rPr>
              <a:t>Una visión dinámica de la GETI llevará a un sistema de GETI preparado para el futuro. </a:t>
            </a:r>
          </a:p>
        </p:txBody>
      </p:sp>
      <p:grpSp>
        <p:nvGrpSpPr>
          <p:cNvPr id="2" name="Grupo 1">
            <a:extLst>
              <a:ext uri="{FF2B5EF4-FFF2-40B4-BE49-F238E27FC236}">
                <a16:creationId xmlns:a16="http://schemas.microsoft.com/office/drawing/2014/main" id="{36A8BFBF-862C-453E-9D64-C9B98C58440F}"/>
              </a:ext>
            </a:extLst>
          </p:cNvPr>
          <p:cNvGrpSpPr/>
          <p:nvPr/>
        </p:nvGrpSpPr>
        <p:grpSpPr>
          <a:xfrm>
            <a:off x="4521200" y="968310"/>
            <a:ext cx="4078514" cy="4079139"/>
            <a:chOff x="4521200" y="968310"/>
            <a:chExt cx="4078514" cy="4079139"/>
          </a:xfrm>
        </p:grpSpPr>
        <p:sp>
          <p:nvSpPr>
            <p:cNvPr id="4" name="Elipse 3">
              <a:extLst>
                <a:ext uri="{FF2B5EF4-FFF2-40B4-BE49-F238E27FC236}">
                  <a16:creationId xmlns:a16="http://schemas.microsoft.com/office/drawing/2014/main" id="{F0BB44BA-2A3D-4B90-A1BA-CEDBE962101D}"/>
                </a:ext>
              </a:extLst>
            </p:cNvPr>
            <p:cNvSpPr/>
            <p:nvPr/>
          </p:nvSpPr>
          <p:spPr>
            <a:xfrm>
              <a:off x="5294084" y="3788888"/>
              <a:ext cx="2532743" cy="1258561"/>
            </a:xfrm>
            <a:prstGeom prst="ellipse">
              <a:avLst/>
            </a:prstGeom>
            <a:solidFill>
              <a:schemeClr val="accent1">
                <a:lumMod val="60000"/>
                <a:lumOff val="4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r>
                <a:rPr lang="es-PE" dirty="0">
                  <a:solidFill>
                    <a:schemeClr val="tx1"/>
                  </a:solidFill>
                </a:rPr>
                <a:t>3. Sistema de gobierno dinámico</a:t>
              </a:r>
            </a:p>
          </p:txBody>
        </p:sp>
        <p:sp>
          <p:nvSpPr>
            <p:cNvPr id="6" name="Globo: flecha hacia abajo 5">
              <a:extLst>
                <a:ext uri="{FF2B5EF4-FFF2-40B4-BE49-F238E27FC236}">
                  <a16:creationId xmlns:a16="http://schemas.microsoft.com/office/drawing/2014/main" id="{4F9128C1-6274-457E-813C-A595E193C8CD}"/>
                </a:ext>
              </a:extLst>
            </p:cNvPr>
            <p:cNvSpPr/>
            <p:nvPr/>
          </p:nvSpPr>
          <p:spPr>
            <a:xfrm>
              <a:off x="6233883" y="3245798"/>
              <a:ext cx="653143" cy="486229"/>
            </a:xfrm>
            <a:prstGeom prst="downArrowCallout">
              <a:avLst/>
            </a:prstGeom>
            <a:solidFill>
              <a:srgbClr val="660033"/>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s-PE" dirty="0"/>
            </a:p>
          </p:txBody>
        </p:sp>
        <p:pic>
          <p:nvPicPr>
            <p:cNvPr id="11" name="Imagen 10">
              <a:extLst>
                <a:ext uri="{FF2B5EF4-FFF2-40B4-BE49-F238E27FC236}">
                  <a16:creationId xmlns:a16="http://schemas.microsoft.com/office/drawing/2014/main" id="{AD3D4AB4-4CCF-496F-8F6B-7ECCAB2F0B43}"/>
                </a:ext>
              </a:extLst>
            </p:cNvPr>
            <p:cNvPicPr>
              <a:picLocks noChangeAspect="1"/>
            </p:cNvPicPr>
            <p:nvPr/>
          </p:nvPicPr>
          <p:blipFill>
            <a:blip r:embed="rId3"/>
            <a:stretch>
              <a:fillRect/>
            </a:stretch>
          </p:blipFill>
          <p:spPr>
            <a:xfrm>
              <a:off x="4521200" y="968310"/>
              <a:ext cx="4078514" cy="2277488"/>
            </a:xfrm>
            <a:prstGeom prst="rect">
              <a:avLst/>
            </a:prstGeom>
          </p:spPr>
        </p:pic>
      </p:grpSp>
    </p:spTree>
    <p:extLst>
      <p:ext uri="{BB962C8B-B14F-4D97-AF65-F5344CB8AC3E}">
        <p14:creationId xmlns:p14="http://schemas.microsoft.com/office/powerpoint/2010/main" val="24100011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5"/>
          <p:cNvSpPr/>
          <p:nvPr/>
        </p:nvSpPr>
        <p:spPr>
          <a:xfrm>
            <a:off x="407875" y="320830"/>
            <a:ext cx="7204493" cy="353943"/>
          </a:xfrm>
          <a:prstGeom prst="rect">
            <a:avLst/>
          </a:prstGeom>
        </p:spPr>
        <p:txBody>
          <a:bodyPr wrap="square">
            <a:spAutoFit/>
          </a:bodyPr>
          <a:lstStyle/>
          <a:p>
            <a:r>
              <a:rPr lang="en-US" sz="1700" b="1" dirty="0">
                <a:solidFill>
                  <a:srgbClr val="438AD7"/>
                </a:solidFill>
              </a:rPr>
              <a:t>/ SISTEMA DE GOBIERNO DINÁMICO</a:t>
            </a:r>
          </a:p>
        </p:txBody>
      </p:sp>
      <p:sp>
        <p:nvSpPr>
          <p:cNvPr id="7" name="object 7">
            <a:extLst>
              <a:ext uri="{FF2B5EF4-FFF2-40B4-BE49-F238E27FC236}">
                <a16:creationId xmlns:a16="http://schemas.microsoft.com/office/drawing/2014/main" id="{163CCFF5-6DBB-44D7-85E8-567CB4D4AC0E}"/>
              </a:ext>
            </a:extLst>
          </p:cNvPr>
          <p:cNvSpPr txBox="1"/>
          <p:nvPr/>
        </p:nvSpPr>
        <p:spPr>
          <a:xfrm>
            <a:off x="510908" y="832233"/>
            <a:ext cx="4010292" cy="261610"/>
          </a:xfrm>
          <a:prstGeom prst="rect">
            <a:avLst/>
          </a:prstGeom>
        </p:spPr>
        <p:txBody>
          <a:bodyPr vert="horz" wrap="square" lIns="0" tIns="0" rIns="0" bIns="0" rtlCol="0">
            <a:spAutoFit/>
          </a:bodyPr>
          <a:lstStyle/>
          <a:p>
            <a:pPr marL="11725">
              <a:buSzPct val="100000"/>
              <a:tabLst>
                <a:tab pos="121285" algn="l"/>
              </a:tabLst>
            </a:pPr>
            <a:r>
              <a:rPr lang="es-PE" sz="1700" b="1" spc="-10" dirty="0">
                <a:solidFill>
                  <a:srgbClr val="262626"/>
                </a:solidFill>
                <a:cs typeface="Source Sans Pro"/>
              </a:rPr>
              <a:t>2. SOSTENER EL SISTEMA DE GOBIERNO</a:t>
            </a:r>
          </a:p>
        </p:txBody>
      </p:sp>
      <p:sp>
        <p:nvSpPr>
          <p:cNvPr id="8" name="object 7">
            <a:extLst>
              <a:ext uri="{FF2B5EF4-FFF2-40B4-BE49-F238E27FC236}">
                <a16:creationId xmlns:a16="http://schemas.microsoft.com/office/drawing/2014/main" id="{B5EA86E6-DB35-4893-8551-90B6D8DDF61A}"/>
              </a:ext>
            </a:extLst>
          </p:cNvPr>
          <p:cNvSpPr txBox="1"/>
          <p:nvPr/>
        </p:nvSpPr>
        <p:spPr>
          <a:xfrm>
            <a:off x="510907" y="1251303"/>
            <a:ext cx="4133663" cy="1969770"/>
          </a:xfrm>
          <a:prstGeom prst="rect">
            <a:avLst/>
          </a:prstGeom>
        </p:spPr>
        <p:txBody>
          <a:bodyPr vert="horz" wrap="square" lIns="0" tIns="0" rIns="0" bIns="0" rtlCol="0">
            <a:spAutoFit/>
          </a:bodyPr>
          <a:lstStyle/>
          <a:p>
            <a:pPr algn="just">
              <a:spcAft>
                <a:spcPts val="1200"/>
              </a:spcAft>
              <a:buSzPct val="100000"/>
              <a:tabLst>
                <a:tab pos="121285" algn="l"/>
              </a:tabLst>
            </a:pPr>
            <a:r>
              <a:rPr lang="es-ES" sz="1600" spc="-10" dirty="0">
                <a:solidFill>
                  <a:srgbClr val="262626"/>
                </a:solidFill>
              </a:rPr>
              <a:t>Un sistema de gobierno es inherentemente dinámico. Las estrategias pueden cambiar, se lanzan programas de inversión importantes, los escenarios, las amenazas cambian, las tecnologías cambian, etc. Esto significa que el sistema de gobierno debe ser revisado periódicamente y que deben efectuarse cambios en el sistema siempre que sea necesario. </a:t>
            </a:r>
          </a:p>
        </p:txBody>
      </p:sp>
      <p:pic>
        <p:nvPicPr>
          <p:cNvPr id="9" name="Imagen 8">
            <a:extLst>
              <a:ext uri="{FF2B5EF4-FFF2-40B4-BE49-F238E27FC236}">
                <a16:creationId xmlns:a16="http://schemas.microsoft.com/office/drawing/2014/main" id="{9A9E177C-F3BE-477A-80E4-1EE5191FF356}"/>
              </a:ext>
            </a:extLst>
          </p:cNvPr>
          <p:cNvPicPr>
            <a:picLocks noChangeAspect="1"/>
          </p:cNvPicPr>
          <p:nvPr/>
        </p:nvPicPr>
        <p:blipFill>
          <a:blip r:embed="rId3"/>
          <a:stretch>
            <a:fillRect/>
          </a:stretch>
        </p:blipFill>
        <p:spPr>
          <a:xfrm>
            <a:off x="4984977" y="1853646"/>
            <a:ext cx="3592966" cy="3234432"/>
          </a:xfrm>
          <a:prstGeom prst="rect">
            <a:avLst/>
          </a:prstGeom>
        </p:spPr>
      </p:pic>
    </p:spTree>
    <p:extLst>
      <p:ext uri="{BB962C8B-B14F-4D97-AF65-F5344CB8AC3E}">
        <p14:creationId xmlns:p14="http://schemas.microsoft.com/office/powerpoint/2010/main" val="26607777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ángulo 3"/>
          <p:cNvSpPr/>
          <p:nvPr/>
        </p:nvSpPr>
        <p:spPr>
          <a:xfrm>
            <a:off x="0" y="0"/>
            <a:ext cx="9144000" cy="5715000"/>
          </a:xfrm>
          <a:prstGeom prst="rect">
            <a:avLst/>
          </a:prstGeom>
          <a:solidFill>
            <a:srgbClr val="1F85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 dirty="0"/>
          </a:p>
        </p:txBody>
      </p:sp>
      <p:sp>
        <p:nvSpPr>
          <p:cNvPr id="6" name="Rectangle 3"/>
          <p:cNvSpPr/>
          <p:nvPr/>
        </p:nvSpPr>
        <p:spPr>
          <a:xfrm>
            <a:off x="424252" y="3703125"/>
            <a:ext cx="7966170" cy="480131"/>
          </a:xfrm>
          <a:prstGeom prst="rect">
            <a:avLst/>
          </a:prstGeom>
        </p:spPr>
        <p:txBody>
          <a:bodyPr wrap="square">
            <a:spAutoFit/>
          </a:bodyPr>
          <a:lstStyle/>
          <a:p>
            <a:pPr>
              <a:lnSpc>
                <a:spcPct val="90000"/>
              </a:lnSpc>
              <a:spcBef>
                <a:spcPts val="1000"/>
              </a:spcBef>
              <a:defRPr/>
            </a:pPr>
            <a:r>
              <a:rPr lang="es-PE" sz="2800" b="1" dirty="0">
                <a:solidFill>
                  <a:schemeClr val="bg1"/>
                </a:solidFill>
                <a:latin typeface="Calibri"/>
                <a:cs typeface="Calibri"/>
              </a:rPr>
              <a:t>/ SEPARAR EL GOBIERNO DE LA GESTIÓN</a:t>
            </a:r>
          </a:p>
        </p:txBody>
      </p:sp>
    </p:spTree>
    <p:custDataLst>
      <p:tags r:id="rId1"/>
    </p:custDataLst>
    <p:extLst>
      <p:ext uri="{BB962C8B-B14F-4D97-AF65-F5344CB8AC3E}">
        <p14:creationId xmlns:p14="http://schemas.microsoft.com/office/powerpoint/2010/main" val="23551307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5"/>
          <p:cNvSpPr/>
          <p:nvPr/>
        </p:nvSpPr>
        <p:spPr>
          <a:xfrm>
            <a:off x="407875" y="320830"/>
            <a:ext cx="7204493" cy="353943"/>
          </a:xfrm>
          <a:prstGeom prst="rect">
            <a:avLst/>
          </a:prstGeom>
        </p:spPr>
        <p:txBody>
          <a:bodyPr wrap="square">
            <a:spAutoFit/>
          </a:bodyPr>
          <a:lstStyle/>
          <a:p>
            <a:r>
              <a:rPr lang="en-US" sz="1700" b="1" dirty="0">
                <a:solidFill>
                  <a:srgbClr val="438AD7"/>
                </a:solidFill>
              </a:rPr>
              <a:t>/ SEPARAR EL GOBIERNO DE LA GESTIÓN</a:t>
            </a:r>
          </a:p>
        </p:txBody>
      </p:sp>
      <p:sp>
        <p:nvSpPr>
          <p:cNvPr id="7" name="object 7">
            <a:extLst>
              <a:ext uri="{FF2B5EF4-FFF2-40B4-BE49-F238E27FC236}">
                <a16:creationId xmlns:a16="http://schemas.microsoft.com/office/drawing/2014/main" id="{163CCFF5-6DBB-44D7-85E8-567CB4D4AC0E}"/>
              </a:ext>
            </a:extLst>
          </p:cNvPr>
          <p:cNvSpPr txBox="1"/>
          <p:nvPr/>
        </p:nvSpPr>
        <p:spPr>
          <a:xfrm>
            <a:off x="510908" y="778224"/>
            <a:ext cx="4010292" cy="261610"/>
          </a:xfrm>
          <a:prstGeom prst="rect">
            <a:avLst/>
          </a:prstGeom>
        </p:spPr>
        <p:txBody>
          <a:bodyPr vert="horz" wrap="square" lIns="0" tIns="0" rIns="0" bIns="0" rtlCol="0">
            <a:spAutoFit/>
          </a:bodyPr>
          <a:lstStyle/>
          <a:p>
            <a:pPr marL="11725">
              <a:buSzPct val="100000"/>
              <a:tabLst>
                <a:tab pos="121285" algn="l"/>
              </a:tabLst>
            </a:pPr>
            <a:r>
              <a:rPr lang="es-PE" sz="1700" b="1" spc="-10" dirty="0">
                <a:solidFill>
                  <a:srgbClr val="262626"/>
                </a:solidFill>
                <a:cs typeface="Source Sans Pro"/>
              </a:rPr>
              <a:t>1. DEFINICIÓN</a:t>
            </a:r>
          </a:p>
        </p:txBody>
      </p:sp>
      <p:sp>
        <p:nvSpPr>
          <p:cNvPr id="8" name="object 7">
            <a:extLst>
              <a:ext uri="{FF2B5EF4-FFF2-40B4-BE49-F238E27FC236}">
                <a16:creationId xmlns:a16="http://schemas.microsoft.com/office/drawing/2014/main" id="{B5EA86E6-DB35-4893-8551-90B6D8DDF61A}"/>
              </a:ext>
            </a:extLst>
          </p:cNvPr>
          <p:cNvSpPr txBox="1"/>
          <p:nvPr/>
        </p:nvSpPr>
        <p:spPr>
          <a:xfrm>
            <a:off x="510908" y="1139260"/>
            <a:ext cx="3611149" cy="738664"/>
          </a:xfrm>
          <a:prstGeom prst="rect">
            <a:avLst/>
          </a:prstGeom>
        </p:spPr>
        <p:txBody>
          <a:bodyPr vert="horz" wrap="square" lIns="0" tIns="0" rIns="0" bIns="0" rtlCol="0">
            <a:spAutoFit/>
          </a:bodyPr>
          <a:lstStyle/>
          <a:p>
            <a:pPr algn="just">
              <a:spcAft>
                <a:spcPts val="1800"/>
              </a:spcAft>
              <a:buSzPct val="100000"/>
              <a:tabLst>
                <a:tab pos="121285" algn="l"/>
              </a:tabLst>
            </a:pPr>
            <a:r>
              <a:rPr lang="es-ES" sz="1600" spc="-10" dirty="0">
                <a:solidFill>
                  <a:srgbClr val="262626"/>
                </a:solidFill>
              </a:rPr>
              <a:t>Un sistema de gobierno debería distinguir claramente entre actividades de gobierno y gestión, y estructuras. </a:t>
            </a:r>
          </a:p>
        </p:txBody>
      </p:sp>
      <p:grpSp>
        <p:nvGrpSpPr>
          <p:cNvPr id="2" name="Grupo 1">
            <a:extLst>
              <a:ext uri="{FF2B5EF4-FFF2-40B4-BE49-F238E27FC236}">
                <a16:creationId xmlns:a16="http://schemas.microsoft.com/office/drawing/2014/main" id="{F696C85E-CD3B-43D6-8A7F-60D0695D868B}"/>
              </a:ext>
            </a:extLst>
          </p:cNvPr>
          <p:cNvGrpSpPr/>
          <p:nvPr/>
        </p:nvGrpSpPr>
        <p:grpSpPr>
          <a:xfrm>
            <a:off x="4521200" y="963038"/>
            <a:ext cx="4078514" cy="4079139"/>
            <a:chOff x="4648202" y="963038"/>
            <a:chExt cx="4078514" cy="4079139"/>
          </a:xfrm>
        </p:grpSpPr>
        <p:sp>
          <p:nvSpPr>
            <p:cNvPr id="4" name="Elipse 3">
              <a:extLst>
                <a:ext uri="{FF2B5EF4-FFF2-40B4-BE49-F238E27FC236}">
                  <a16:creationId xmlns:a16="http://schemas.microsoft.com/office/drawing/2014/main" id="{F0BB44BA-2A3D-4B90-A1BA-CEDBE962101D}"/>
                </a:ext>
              </a:extLst>
            </p:cNvPr>
            <p:cNvSpPr/>
            <p:nvPr/>
          </p:nvSpPr>
          <p:spPr>
            <a:xfrm>
              <a:off x="5421086" y="3783616"/>
              <a:ext cx="2532743" cy="1258561"/>
            </a:xfrm>
            <a:prstGeom prst="ellipse">
              <a:avLst/>
            </a:prstGeom>
            <a:solidFill>
              <a:schemeClr val="accent1">
                <a:lumMod val="60000"/>
                <a:lumOff val="4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r>
                <a:rPr lang="es-PE" dirty="0">
                  <a:solidFill>
                    <a:schemeClr val="tx1"/>
                  </a:solidFill>
                </a:rPr>
                <a:t>4. Separar el gobierno de la gestión</a:t>
              </a:r>
            </a:p>
          </p:txBody>
        </p:sp>
        <p:sp>
          <p:nvSpPr>
            <p:cNvPr id="6" name="Globo: flecha hacia abajo 5">
              <a:extLst>
                <a:ext uri="{FF2B5EF4-FFF2-40B4-BE49-F238E27FC236}">
                  <a16:creationId xmlns:a16="http://schemas.microsoft.com/office/drawing/2014/main" id="{4F9128C1-6274-457E-813C-A595E193C8CD}"/>
                </a:ext>
              </a:extLst>
            </p:cNvPr>
            <p:cNvSpPr/>
            <p:nvPr/>
          </p:nvSpPr>
          <p:spPr>
            <a:xfrm>
              <a:off x="6360885" y="3240526"/>
              <a:ext cx="653143" cy="486229"/>
            </a:xfrm>
            <a:prstGeom prst="downArrowCallout">
              <a:avLst/>
            </a:prstGeom>
            <a:solidFill>
              <a:srgbClr val="660033"/>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s-PE" dirty="0"/>
            </a:p>
          </p:txBody>
        </p:sp>
        <p:pic>
          <p:nvPicPr>
            <p:cNvPr id="11" name="Imagen 10">
              <a:extLst>
                <a:ext uri="{FF2B5EF4-FFF2-40B4-BE49-F238E27FC236}">
                  <a16:creationId xmlns:a16="http://schemas.microsoft.com/office/drawing/2014/main" id="{AD3D4AB4-4CCF-496F-8F6B-7ECCAB2F0B43}"/>
                </a:ext>
              </a:extLst>
            </p:cNvPr>
            <p:cNvPicPr>
              <a:picLocks noChangeAspect="1"/>
            </p:cNvPicPr>
            <p:nvPr/>
          </p:nvPicPr>
          <p:blipFill>
            <a:blip r:embed="rId3"/>
            <a:stretch>
              <a:fillRect/>
            </a:stretch>
          </p:blipFill>
          <p:spPr>
            <a:xfrm>
              <a:off x="4648202" y="963038"/>
              <a:ext cx="4078514" cy="2277488"/>
            </a:xfrm>
            <a:prstGeom prst="rect">
              <a:avLst/>
            </a:prstGeom>
          </p:spPr>
        </p:pic>
      </p:grpSp>
    </p:spTree>
    <p:extLst>
      <p:ext uri="{BB962C8B-B14F-4D97-AF65-F5344CB8AC3E}">
        <p14:creationId xmlns:p14="http://schemas.microsoft.com/office/powerpoint/2010/main" val="299482772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5"/>
          <p:cNvSpPr/>
          <p:nvPr/>
        </p:nvSpPr>
        <p:spPr>
          <a:xfrm>
            <a:off x="407875" y="320830"/>
            <a:ext cx="7204493" cy="353943"/>
          </a:xfrm>
          <a:prstGeom prst="rect">
            <a:avLst/>
          </a:prstGeom>
        </p:spPr>
        <p:txBody>
          <a:bodyPr wrap="square">
            <a:spAutoFit/>
          </a:bodyPr>
          <a:lstStyle/>
          <a:p>
            <a:r>
              <a:rPr lang="en-US" sz="1700" b="1" dirty="0">
                <a:solidFill>
                  <a:srgbClr val="438AD7"/>
                </a:solidFill>
              </a:rPr>
              <a:t>/ SEPARAR EL GOBIERNO DE LA GESTIÓN</a:t>
            </a:r>
          </a:p>
        </p:txBody>
      </p:sp>
      <p:sp>
        <p:nvSpPr>
          <p:cNvPr id="7" name="object 7">
            <a:extLst>
              <a:ext uri="{FF2B5EF4-FFF2-40B4-BE49-F238E27FC236}">
                <a16:creationId xmlns:a16="http://schemas.microsoft.com/office/drawing/2014/main" id="{163CCFF5-6DBB-44D7-85E8-567CB4D4AC0E}"/>
              </a:ext>
            </a:extLst>
          </p:cNvPr>
          <p:cNvSpPr txBox="1"/>
          <p:nvPr/>
        </p:nvSpPr>
        <p:spPr>
          <a:xfrm>
            <a:off x="510908" y="814348"/>
            <a:ext cx="4010292" cy="261610"/>
          </a:xfrm>
          <a:prstGeom prst="rect">
            <a:avLst/>
          </a:prstGeom>
        </p:spPr>
        <p:txBody>
          <a:bodyPr vert="horz" wrap="square" lIns="0" tIns="0" rIns="0" bIns="0" rtlCol="0">
            <a:spAutoFit/>
          </a:bodyPr>
          <a:lstStyle/>
          <a:p>
            <a:pPr marL="11725">
              <a:buSzPct val="100000"/>
              <a:tabLst>
                <a:tab pos="121285" algn="l"/>
              </a:tabLst>
            </a:pPr>
            <a:r>
              <a:rPr lang="es-PE" sz="1700" b="1" spc="-10" dirty="0">
                <a:solidFill>
                  <a:srgbClr val="262626"/>
                </a:solidFill>
                <a:cs typeface="Source Sans Pro"/>
              </a:rPr>
              <a:t>2. OBJETIVOS DE GOBIERNO Y GESTIÓN</a:t>
            </a:r>
          </a:p>
        </p:txBody>
      </p:sp>
      <p:sp>
        <p:nvSpPr>
          <p:cNvPr id="9" name="object 7">
            <a:extLst>
              <a:ext uri="{FF2B5EF4-FFF2-40B4-BE49-F238E27FC236}">
                <a16:creationId xmlns:a16="http://schemas.microsoft.com/office/drawing/2014/main" id="{954E0C53-4267-4826-878F-57AF47B5421B}"/>
              </a:ext>
            </a:extLst>
          </p:cNvPr>
          <p:cNvSpPr txBox="1"/>
          <p:nvPr/>
        </p:nvSpPr>
        <p:spPr>
          <a:xfrm>
            <a:off x="510908" y="1183681"/>
            <a:ext cx="8192978" cy="738664"/>
          </a:xfrm>
          <a:prstGeom prst="rect">
            <a:avLst/>
          </a:prstGeom>
        </p:spPr>
        <p:txBody>
          <a:bodyPr vert="horz" wrap="square" lIns="0" tIns="0" rIns="0" bIns="0" rtlCol="0">
            <a:spAutoFit/>
          </a:bodyPr>
          <a:lstStyle/>
          <a:p>
            <a:pPr algn="just">
              <a:spcAft>
                <a:spcPts val="1200"/>
              </a:spcAft>
              <a:buSzPct val="100000"/>
              <a:tabLst>
                <a:tab pos="121285" algn="l"/>
              </a:tabLst>
            </a:pPr>
            <a:r>
              <a:rPr lang="es-ES" sz="1600" dirty="0"/>
              <a:t>Los objetivos de gobierno y gestión de COBIT se agrupan en cinco dominios. Los dominios se nombran mediante verbos que expresan el propósito clave y las áreas de actividad de los objetivos que los contienen:</a:t>
            </a:r>
            <a:endParaRPr lang="es-MX" sz="1600" dirty="0"/>
          </a:p>
        </p:txBody>
      </p:sp>
      <p:pic>
        <p:nvPicPr>
          <p:cNvPr id="13" name="Imagen 12">
            <a:extLst>
              <a:ext uri="{FF2B5EF4-FFF2-40B4-BE49-F238E27FC236}">
                <a16:creationId xmlns:a16="http://schemas.microsoft.com/office/drawing/2014/main" id="{4AA738F1-20C1-4F15-A1A7-83F6B73DDD3D}"/>
              </a:ext>
            </a:extLst>
          </p:cNvPr>
          <p:cNvPicPr>
            <a:picLocks noChangeAspect="1"/>
          </p:cNvPicPr>
          <p:nvPr/>
        </p:nvPicPr>
        <p:blipFill>
          <a:blip r:embed="rId3"/>
          <a:stretch>
            <a:fillRect/>
          </a:stretch>
        </p:blipFill>
        <p:spPr>
          <a:xfrm>
            <a:off x="1907541" y="1954198"/>
            <a:ext cx="5328917" cy="3152555"/>
          </a:xfrm>
          <a:prstGeom prst="rect">
            <a:avLst/>
          </a:prstGeom>
        </p:spPr>
      </p:pic>
    </p:spTree>
    <p:extLst>
      <p:ext uri="{BB962C8B-B14F-4D97-AF65-F5344CB8AC3E}">
        <p14:creationId xmlns:p14="http://schemas.microsoft.com/office/powerpoint/2010/main" val="292184369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5"/>
          <p:cNvSpPr/>
          <p:nvPr/>
        </p:nvSpPr>
        <p:spPr>
          <a:xfrm>
            <a:off x="407875" y="320830"/>
            <a:ext cx="7204493" cy="353943"/>
          </a:xfrm>
          <a:prstGeom prst="rect">
            <a:avLst/>
          </a:prstGeom>
        </p:spPr>
        <p:txBody>
          <a:bodyPr wrap="square">
            <a:spAutoFit/>
          </a:bodyPr>
          <a:lstStyle/>
          <a:p>
            <a:r>
              <a:rPr lang="en-US" sz="1700" b="1" dirty="0">
                <a:solidFill>
                  <a:srgbClr val="438AD7"/>
                </a:solidFill>
              </a:rPr>
              <a:t>/ SEPARAR EL GOBIERNO DE LA GESTIÓN</a:t>
            </a:r>
          </a:p>
        </p:txBody>
      </p:sp>
      <p:sp>
        <p:nvSpPr>
          <p:cNvPr id="7" name="object 7">
            <a:extLst>
              <a:ext uri="{FF2B5EF4-FFF2-40B4-BE49-F238E27FC236}">
                <a16:creationId xmlns:a16="http://schemas.microsoft.com/office/drawing/2014/main" id="{163CCFF5-6DBB-44D7-85E8-567CB4D4AC0E}"/>
              </a:ext>
            </a:extLst>
          </p:cNvPr>
          <p:cNvSpPr txBox="1"/>
          <p:nvPr/>
        </p:nvSpPr>
        <p:spPr>
          <a:xfrm>
            <a:off x="510908" y="791895"/>
            <a:ext cx="4010292" cy="261610"/>
          </a:xfrm>
          <a:prstGeom prst="rect">
            <a:avLst/>
          </a:prstGeom>
        </p:spPr>
        <p:txBody>
          <a:bodyPr vert="horz" wrap="square" lIns="0" tIns="0" rIns="0" bIns="0" rtlCol="0">
            <a:spAutoFit/>
          </a:bodyPr>
          <a:lstStyle/>
          <a:p>
            <a:pPr marL="11725">
              <a:buSzPct val="100000"/>
              <a:tabLst>
                <a:tab pos="121285" algn="l"/>
              </a:tabLst>
            </a:pPr>
            <a:r>
              <a:rPr lang="es-PE" sz="1700" b="1" spc="-10" dirty="0">
                <a:solidFill>
                  <a:srgbClr val="262626"/>
                </a:solidFill>
                <a:cs typeface="Source Sans Pro"/>
              </a:rPr>
              <a:t>2. …OBJETIVOS DE GOBIERNO Y GESTIÓN</a:t>
            </a:r>
          </a:p>
        </p:txBody>
      </p:sp>
      <p:pic>
        <p:nvPicPr>
          <p:cNvPr id="12" name="Imagen 11">
            <a:extLst>
              <a:ext uri="{FF2B5EF4-FFF2-40B4-BE49-F238E27FC236}">
                <a16:creationId xmlns:a16="http://schemas.microsoft.com/office/drawing/2014/main" id="{9CB0F8EA-98D3-45C0-9FC7-A3C8B1E0C324}"/>
              </a:ext>
            </a:extLst>
          </p:cNvPr>
          <p:cNvPicPr>
            <a:picLocks noChangeAspect="1"/>
          </p:cNvPicPr>
          <p:nvPr/>
        </p:nvPicPr>
        <p:blipFill>
          <a:blip r:embed="rId3"/>
          <a:stretch>
            <a:fillRect/>
          </a:stretch>
        </p:blipFill>
        <p:spPr>
          <a:xfrm>
            <a:off x="1487077" y="1170627"/>
            <a:ext cx="6169845" cy="4073736"/>
          </a:xfrm>
          <a:prstGeom prst="rect">
            <a:avLst/>
          </a:prstGeom>
        </p:spPr>
      </p:pic>
    </p:spTree>
    <p:extLst>
      <p:ext uri="{BB962C8B-B14F-4D97-AF65-F5344CB8AC3E}">
        <p14:creationId xmlns:p14="http://schemas.microsoft.com/office/powerpoint/2010/main" val="7242330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ángulo 3"/>
          <p:cNvSpPr/>
          <p:nvPr/>
        </p:nvSpPr>
        <p:spPr>
          <a:xfrm>
            <a:off x="0" y="0"/>
            <a:ext cx="9144000" cy="5715000"/>
          </a:xfrm>
          <a:prstGeom prst="rect">
            <a:avLst/>
          </a:prstGeom>
          <a:solidFill>
            <a:srgbClr val="1F85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 dirty="0"/>
          </a:p>
        </p:txBody>
      </p:sp>
      <p:sp>
        <p:nvSpPr>
          <p:cNvPr id="6" name="Rectangle 3"/>
          <p:cNvSpPr/>
          <p:nvPr/>
        </p:nvSpPr>
        <p:spPr>
          <a:xfrm>
            <a:off x="424252" y="3703125"/>
            <a:ext cx="7966170" cy="480131"/>
          </a:xfrm>
          <a:prstGeom prst="rect">
            <a:avLst/>
          </a:prstGeom>
        </p:spPr>
        <p:txBody>
          <a:bodyPr wrap="square">
            <a:spAutoFit/>
          </a:bodyPr>
          <a:lstStyle/>
          <a:p>
            <a:pPr>
              <a:lnSpc>
                <a:spcPct val="90000"/>
              </a:lnSpc>
              <a:spcBef>
                <a:spcPts val="1000"/>
              </a:spcBef>
              <a:defRPr/>
            </a:pPr>
            <a:r>
              <a:rPr lang="es-PE" sz="2800" b="1" dirty="0">
                <a:solidFill>
                  <a:schemeClr val="bg1"/>
                </a:solidFill>
                <a:latin typeface="Calibri"/>
                <a:cs typeface="Calibri"/>
              </a:rPr>
              <a:t>/ ADAPTAR A LAS NECESIDADES DE LA EMPRESA</a:t>
            </a:r>
          </a:p>
        </p:txBody>
      </p:sp>
    </p:spTree>
    <p:custDataLst>
      <p:tags r:id="rId1"/>
    </p:custDataLst>
    <p:extLst>
      <p:ext uri="{BB962C8B-B14F-4D97-AF65-F5344CB8AC3E}">
        <p14:creationId xmlns:p14="http://schemas.microsoft.com/office/powerpoint/2010/main" val="14441371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5"/>
          <p:cNvSpPr/>
          <p:nvPr/>
        </p:nvSpPr>
        <p:spPr>
          <a:xfrm>
            <a:off x="407875" y="320830"/>
            <a:ext cx="7204493" cy="353943"/>
          </a:xfrm>
          <a:prstGeom prst="rect">
            <a:avLst/>
          </a:prstGeom>
        </p:spPr>
        <p:txBody>
          <a:bodyPr wrap="square">
            <a:spAutoFit/>
          </a:bodyPr>
          <a:lstStyle/>
          <a:p>
            <a:r>
              <a:rPr lang="en-US" sz="1700" b="1" dirty="0">
                <a:solidFill>
                  <a:srgbClr val="438AD7"/>
                </a:solidFill>
              </a:rPr>
              <a:t>/ ADAPTAR A LAS NECESIDADES DE LA EMPRESA</a:t>
            </a:r>
          </a:p>
        </p:txBody>
      </p:sp>
      <p:sp>
        <p:nvSpPr>
          <p:cNvPr id="7" name="object 7">
            <a:extLst>
              <a:ext uri="{FF2B5EF4-FFF2-40B4-BE49-F238E27FC236}">
                <a16:creationId xmlns:a16="http://schemas.microsoft.com/office/drawing/2014/main" id="{163CCFF5-6DBB-44D7-85E8-567CB4D4AC0E}"/>
              </a:ext>
            </a:extLst>
          </p:cNvPr>
          <p:cNvSpPr txBox="1"/>
          <p:nvPr/>
        </p:nvSpPr>
        <p:spPr>
          <a:xfrm>
            <a:off x="510908" y="832233"/>
            <a:ext cx="4010292" cy="261610"/>
          </a:xfrm>
          <a:prstGeom prst="rect">
            <a:avLst/>
          </a:prstGeom>
        </p:spPr>
        <p:txBody>
          <a:bodyPr vert="horz" wrap="square" lIns="0" tIns="0" rIns="0" bIns="0" rtlCol="0">
            <a:spAutoFit/>
          </a:bodyPr>
          <a:lstStyle/>
          <a:p>
            <a:pPr marL="11725">
              <a:buSzPct val="100000"/>
              <a:tabLst>
                <a:tab pos="121285" algn="l"/>
              </a:tabLst>
            </a:pPr>
            <a:r>
              <a:rPr lang="es-PE" sz="1700" b="1" spc="-10" dirty="0">
                <a:solidFill>
                  <a:srgbClr val="262626"/>
                </a:solidFill>
                <a:cs typeface="Source Sans Pro"/>
              </a:rPr>
              <a:t>1. DEFINICIÓN</a:t>
            </a:r>
          </a:p>
        </p:txBody>
      </p:sp>
      <p:sp>
        <p:nvSpPr>
          <p:cNvPr id="8" name="object 7">
            <a:extLst>
              <a:ext uri="{FF2B5EF4-FFF2-40B4-BE49-F238E27FC236}">
                <a16:creationId xmlns:a16="http://schemas.microsoft.com/office/drawing/2014/main" id="{B5EA86E6-DB35-4893-8551-90B6D8DDF61A}"/>
              </a:ext>
            </a:extLst>
          </p:cNvPr>
          <p:cNvSpPr txBox="1"/>
          <p:nvPr/>
        </p:nvSpPr>
        <p:spPr>
          <a:xfrm>
            <a:off x="510908" y="1295059"/>
            <a:ext cx="3473263" cy="1477328"/>
          </a:xfrm>
          <a:prstGeom prst="rect">
            <a:avLst/>
          </a:prstGeom>
        </p:spPr>
        <p:txBody>
          <a:bodyPr vert="horz" wrap="square" lIns="0" tIns="0" rIns="0" bIns="0" rtlCol="0">
            <a:spAutoFit/>
          </a:bodyPr>
          <a:lstStyle/>
          <a:p>
            <a:pPr algn="just">
              <a:spcAft>
                <a:spcPts val="1800"/>
              </a:spcAft>
              <a:buSzPct val="100000"/>
              <a:tabLst>
                <a:tab pos="121285" algn="l"/>
              </a:tabLst>
            </a:pPr>
            <a:r>
              <a:rPr lang="es-ES" sz="1600" spc="-10" dirty="0">
                <a:solidFill>
                  <a:srgbClr val="262626"/>
                </a:solidFill>
              </a:rPr>
              <a:t>Un sistema de gobierno debería personalizarse de acuerdo con las necesidades de la empresa, utilizando una serie de factores de diseño como parámetros para personalizar y priorizar los componentes del sistema de gobierno. </a:t>
            </a:r>
          </a:p>
        </p:txBody>
      </p:sp>
      <p:grpSp>
        <p:nvGrpSpPr>
          <p:cNvPr id="2" name="Grupo 1">
            <a:extLst>
              <a:ext uri="{FF2B5EF4-FFF2-40B4-BE49-F238E27FC236}">
                <a16:creationId xmlns:a16="http://schemas.microsoft.com/office/drawing/2014/main" id="{5ACA370F-38F9-44E8-B2A6-91A1547B44B1}"/>
              </a:ext>
            </a:extLst>
          </p:cNvPr>
          <p:cNvGrpSpPr/>
          <p:nvPr/>
        </p:nvGrpSpPr>
        <p:grpSpPr>
          <a:xfrm>
            <a:off x="4521200" y="963038"/>
            <a:ext cx="4078514" cy="4079139"/>
            <a:chOff x="4648202" y="963038"/>
            <a:chExt cx="4078514" cy="4079139"/>
          </a:xfrm>
        </p:grpSpPr>
        <p:sp>
          <p:nvSpPr>
            <p:cNvPr id="4" name="Elipse 3">
              <a:extLst>
                <a:ext uri="{FF2B5EF4-FFF2-40B4-BE49-F238E27FC236}">
                  <a16:creationId xmlns:a16="http://schemas.microsoft.com/office/drawing/2014/main" id="{F0BB44BA-2A3D-4B90-A1BA-CEDBE962101D}"/>
                </a:ext>
              </a:extLst>
            </p:cNvPr>
            <p:cNvSpPr/>
            <p:nvPr/>
          </p:nvSpPr>
          <p:spPr>
            <a:xfrm>
              <a:off x="5421086" y="3783616"/>
              <a:ext cx="2532743" cy="1258561"/>
            </a:xfrm>
            <a:prstGeom prst="ellipse">
              <a:avLst/>
            </a:prstGeom>
            <a:solidFill>
              <a:schemeClr val="accent1">
                <a:lumMod val="60000"/>
                <a:lumOff val="4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r>
                <a:rPr lang="es-PE" dirty="0">
                  <a:solidFill>
                    <a:schemeClr val="tx1"/>
                  </a:solidFill>
                </a:rPr>
                <a:t>5. Adaptar a las necesidades de la empresa</a:t>
              </a:r>
            </a:p>
          </p:txBody>
        </p:sp>
        <p:sp>
          <p:nvSpPr>
            <p:cNvPr id="6" name="Globo: flecha hacia abajo 5">
              <a:extLst>
                <a:ext uri="{FF2B5EF4-FFF2-40B4-BE49-F238E27FC236}">
                  <a16:creationId xmlns:a16="http://schemas.microsoft.com/office/drawing/2014/main" id="{4F9128C1-6274-457E-813C-A595E193C8CD}"/>
                </a:ext>
              </a:extLst>
            </p:cNvPr>
            <p:cNvSpPr/>
            <p:nvPr/>
          </p:nvSpPr>
          <p:spPr>
            <a:xfrm>
              <a:off x="6360885" y="3240526"/>
              <a:ext cx="653143" cy="486229"/>
            </a:xfrm>
            <a:prstGeom prst="downArrowCallout">
              <a:avLst/>
            </a:prstGeom>
            <a:solidFill>
              <a:srgbClr val="660033"/>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s-PE" dirty="0"/>
            </a:p>
          </p:txBody>
        </p:sp>
        <p:pic>
          <p:nvPicPr>
            <p:cNvPr id="11" name="Imagen 10">
              <a:extLst>
                <a:ext uri="{FF2B5EF4-FFF2-40B4-BE49-F238E27FC236}">
                  <a16:creationId xmlns:a16="http://schemas.microsoft.com/office/drawing/2014/main" id="{AD3D4AB4-4CCF-496F-8F6B-7ECCAB2F0B43}"/>
                </a:ext>
              </a:extLst>
            </p:cNvPr>
            <p:cNvPicPr>
              <a:picLocks noChangeAspect="1"/>
            </p:cNvPicPr>
            <p:nvPr/>
          </p:nvPicPr>
          <p:blipFill>
            <a:blip r:embed="rId3"/>
            <a:stretch>
              <a:fillRect/>
            </a:stretch>
          </p:blipFill>
          <p:spPr>
            <a:xfrm>
              <a:off x="4648202" y="963038"/>
              <a:ext cx="4078514" cy="2277488"/>
            </a:xfrm>
            <a:prstGeom prst="rect">
              <a:avLst/>
            </a:prstGeom>
          </p:spPr>
        </p:pic>
      </p:grpSp>
    </p:spTree>
    <p:extLst>
      <p:ext uri="{BB962C8B-B14F-4D97-AF65-F5344CB8AC3E}">
        <p14:creationId xmlns:p14="http://schemas.microsoft.com/office/powerpoint/2010/main" val="38556139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5"/>
          <p:cNvSpPr/>
          <p:nvPr/>
        </p:nvSpPr>
        <p:spPr>
          <a:xfrm>
            <a:off x="407875" y="320830"/>
            <a:ext cx="7204493" cy="353943"/>
          </a:xfrm>
          <a:prstGeom prst="rect">
            <a:avLst/>
          </a:prstGeom>
        </p:spPr>
        <p:txBody>
          <a:bodyPr wrap="square">
            <a:spAutoFit/>
          </a:bodyPr>
          <a:lstStyle/>
          <a:p>
            <a:r>
              <a:rPr lang="en-US" sz="1700" b="1" dirty="0">
                <a:solidFill>
                  <a:srgbClr val="438AD7"/>
                </a:solidFill>
              </a:rPr>
              <a:t>/ ADAPTAR A LAS NECESIDADES DE LA EMPRESA</a:t>
            </a:r>
          </a:p>
        </p:txBody>
      </p:sp>
      <p:sp>
        <p:nvSpPr>
          <p:cNvPr id="7" name="object 7">
            <a:extLst>
              <a:ext uri="{FF2B5EF4-FFF2-40B4-BE49-F238E27FC236}">
                <a16:creationId xmlns:a16="http://schemas.microsoft.com/office/drawing/2014/main" id="{163CCFF5-6DBB-44D7-85E8-567CB4D4AC0E}"/>
              </a:ext>
            </a:extLst>
          </p:cNvPr>
          <p:cNvSpPr txBox="1"/>
          <p:nvPr/>
        </p:nvSpPr>
        <p:spPr>
          <a:xfrm>
            <a:off x="510908" y="832233"/>
            <a:ext cx="4010292" cy="261610"/>
          </a:xfrm>
          <a:prstGeom prst="rect">
            <a:avLst/>
          </a:prstGeom>
        </p:spPr>
        <p:txBody>
          <a:bodyPr vert="horz" wrap="square" lIns="0" tIns="0" rIns="0" bIns="0" rtlCol="0">
            <a:spAutoFit/>
          </a:bodyPr>
          <a:lstStyle/>
          <a:p>
            <a:pPr marL="11725">
              <a:buSzPct val="100000"/>
              <a:tabLst>
                <a:tab pos="121285" algn="l"/>
              </a:tabLst>
            </a:pPr>
            <a:r>
              <a:rPr lang="es-PE" sz="1700" b="1" spc="-10" dirty="0">
                <a:solidFill>
                  <a:srgbClr val="262626"/>
                </a:solidFill>
                <a:cs typeface="Source Sans Pro"/>
              </a:rPr>
              <a:t>2. FACTORES DE DISEÑO</a:t>
            </a:r>
          </a:p>
        </p:txBody>
      </p:sp>
      <p:sp>
        <p:nvSpPr>
          <p:cNvPr id="8" name="object 7">
            <a:extLst>
              <a:ext uri="{FF2B5EF4-FFF2-40B4-BE49-F238E27FC236}">
                <a16:creationId xmlns:a16="http://schemas.microsoft.com/office/drawing/2014/main" id="{B5EA86E6-DB35-4893-8551-90B6D8DDF61A}"/>
              </a:ext>
            </a:extLst>
          </p:cNvPr>
          <p:cNvSpPr txBox="1"/>
          <p:nvPr/>
        </p:nvSpPr>
        <p:spPr>
          <a:xfrm>
            <a:off x="510908" y="1171474"/>
            <a:ext cx="8067035" cy="492443"/>
          </a:xfrm>
          <a:prstGeom prst="rect">
            <a:avLst/>
          </a:prstGeom>
        </p:spPr>
        <p:txBody>
          <a:bodyPr vert="horz" wrap="square" lIns="0" tIns="0" rIns="0" bIns="0" rtlCol="0">
            <a:spAutoFit/>
          </a:bodyPr>
          <a:lstStyle/>
          <a:p>
            <a:pPr algn="just">
              <a:spcAft>
                <a:spcPts val="1800"/>
              </a:spcAft>
              <a:buSzPct val="100000"/>
              <a:tabLst>
                <a:tab pos="121285" algn="l"/>
              </a:tabLst>
            </a:pPr>
            <a:r>
              <a:rPr lang="es-ES" sz="1600" spc="-10" dirty="0">
                <a:solidFill>
                  <a:srgbClr val="262626"/>
                </a:solidFill>
              </a:rPr>
              <a:t>Los factores de diseño son </a:t>
            </a:r>
            <a:r>
              <a:rPr lang="es-ES" sz="1600" spc="-10" dirty="0" smtClean="0">
                <a:solidFill>
                  <a:srgbClr val="262626"/>
                </a:solidFill>
              </a:rPr>
              <a:t>aquellos </a:t>
            </a:r>
            <a:r>
              <a:rPr lang="es-ES" sz="1600" spc="-10" dirty="0">
                <a:solidFill>
                  <a:srgbClr val="262626"/>
                </a:solidFill>
              </a:rPr>
              <a:t>que pueden influir en el diseño del sistema de gobierno de una empresa y posicionarla para que tenga éxito al usar la I&amp;T. </a:t>
            </a:r>
          </a:p>
        </p:txBody>
      </p:sp>
      <p:pic>
        <p:nvPicPr>
          <p:cNvPr id="9" name="Imagen 8">
            <a:extLst>
              <a:ext uri="{FF2B5EF4-FFF2-40B4-BE49-F238E27FC236}">
                <a16:creationId xmlns:a16="http://schemas.microsoft.com/office/drawing/2014/main" id="{3A3D1C5C-0A0B-4481-B52C-74D039012F02}"/>
              </a:ext>
            </a:extLst>
          </p:cNvPr>
          <p:cNvPicPr>
            <a:picLocks noChangeAspect="1"/>
          </p:cNvPicPr>
          <p:nvPr/>
        </p:nvPicPr>
        <p:blipFill>
          <a:blip r:embed="rId3"/>
          <a:stretch>
            <a:fillRect/>
          </a:stretch>
        </p:blipFill>
        <p:spPr>
          <a:xfrm>
            <a:off x="1155154" y="1821378"/>
            <a:ext cx="6833691" cy="3294908"/>
          </a:xfrm>
          <a:prstGeom prst="rect">
            <a:avLst/>
          </a:prstGeom>
        </p:spPr>
      </p:pic>
    </p:spTree>
    <p:extLst>
      <p:ext uri="{BB962C8B-B14F-4D97-AF65-F5344CB8AC3E}">
        <p14:creationId xmlns:p14="http://schemas.microsoft.com/office/powerpoint/2010/main" val="160448892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ángulo 3"/>
          <p:cNvSpPr/>
          <p:nvPr/>
        </p:nvSpPr>
        <p:spPr>
          <a:xfrm>
            <a:off x="0" y="0"/>
            <a:ext cx="9144000" cy="5715000"/>
          </a:xfrm>
          <a:prstGeom prst="rect">
            <a:avLst/>
          </a:prstGeom>
          <a:solidFill>
            <a:srgbClr val="1F85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 dirty="0"/>
          </a:p>
        </p:txBody>
      </p:sp>
      <p:sp>
        <p:nvSpPr>
          <p:cNvPr id="6" name="Rectangle 3"/>
          <p:cNvSpPr/>
          <p:nvPr/>
        </p:nvSpPr>
        <p:spPr>
          <a:xfrm>
            <a:off x="424252" y="3703125"/>
            <a:ext cx="7966170" cy="480131"/>
          </a:xfrm>
          <a:prstGeom prst="rect">
            <a:avLst/>
          </a:prstGeom>
        </p:spPr>
        <p:txBody>
          <a:bodyPr wrap="square">
            <a:spAutoFit/>
          </a:bodyPr>
          <a:lstStyle/>
          <a:p>
            <a:pPr>
              <a:lnSpc>
                <a:spcPct val="90000"/>
              </a:lnSpc>
              <a:spcBef>
                <a:spcPts val="1000"/>
              </a:spcBef>
              <a:defRPr/>
            </a:pPr>
            <a:r>
              <a:rPr lang="es-PE" sz="2800" b="1" dirty="0">
                <a:solidFill>
                  <a:schemeClr val="bg1"/>
                </a:solidFill>
                <a:latin typeface="Calibri"/>
                <a:cs typeface="Calibri"/>
              </a:rPr>
              <a:t>/ SISTEMA DE GOBIERNO ÍNTEGRO</a:t>
            </a:r>
          </a:p>
        </p:txBody>
      </p:sp>
    </p:spTree>
    <p:custDataLst>
      <p:tags r:id="rId1"/>
    </p:custDataLst>
    <p:extLst>
      <p:ext uri="{BB962C8B-B14F-4D97-AF65-F5344CB8AC3E}">
        <p14:creationId xmlns:p14="http://schemas.microsoft.com/office/powerpoint/2010/main" val="30528376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5"/>
          <p:cNvSpPr/>
          <p:nvPr/>
        </p:nvSpPr>
        <p:spPr>
          <a:xfrm>
            <a:off x="407875" y="320830"/>
            <a:ext cx="7204493" cy="353943"/>
          </a:xfrm>
          <a:prstGeom prst="rect">
            <a:avLst/>
          </a:prstGeom>
        </p:spPr>
        <p:txBody>
          <a:bodyPr wrap="square">
            <a:spAutoFit/>
          </a:bodyPr>
          <a:lstStyle/>
          <a:p>
            <a:r>
              <a:rPr lang="en-US" sz="1700" b="1" dirty="0">
                <a:solidFill>
                  <a:srgbClr val="438AD7"/>
                </a:solidFill>
              </a:rPr>
              <a:t>/ SISTEMA DE GOBIERNO ÍNTEGRO</a:t>
            </a:r>
          </a:p>
        </p:txBody>
      </p:sp>
      <p:sp>
        <p:nvSpPr>
          <p:cNvPr id="7" name="object 7">
            <a:extLst>
              <a:ext uri="{FF2B5EF4-FFF2-40B4-BE49-F238E27FC236}">
                <a16:creationId xmlns:a16="http://schemas.microsoft.com/office/drawing/2014/main" id="{163CCFF5-6DBB-44D7-85E8-567CB4D4AC0E}"/>
              </a:ext>
            </a:extLst>
          </p:cNvPr>
          <p:cNvSpPr txBox="1"/>
          <p:nvPr/>
        </p:nvSpPr>
        <p:spPr>
          <a:xfrm>
            <a:off x="510908" y="832233"/>
            <a:ext cx="4010292" cy="261610"/>
          </a:xfrm>
          <a:prstGeom prst="rect">
            <a:avLst/>
          </a:prstGeom>
        </p:spPr>
        <p:txBody>
          <a:bodyPr vert="horz" wrap="square" lIns="0" tIns="0" rIns="0" bIns="0" rtlCol="0">
            <a:spAutoFit/>
          </a:bodyPr>
          <a:lstStyle/>
          <a:p>
            <a:pPr marL="11725">
              <a:buSzPct val="100000"/>
              <a:tabLst>
                <a:tab pos="121285" algn="l"/>
              </a:tabLst>
            </a:pPr>
            <a:r>
              <a:rPr lang="es-PE" sz="1700" b="1" spc="-10" dirty="0">
                <a:solidFill>
                  <a:srgbClr val="262626"/>
                </a:solidFill>
                <a:cs typeface="Source Sans Pro"/>
              </a:rPr>
              <a:t>1. DEFINICIÓN</a:t>
            </a:r>
          </a:p>
        </p:txBody>
      </p:sp>
      <p:sp>
        <p:nvSpPr>
          <p:cNvPr id="8" name="object 7">
            <a:extLst>
              <a:ext uri="{FF2B5EF4-FFF2-40B4-BE49-F238E27FC236}">
                <a16:creationId xmlns:a16="http://schemas.microsoft.com/office/drawing/2014/main" id="{B5EA86E6-DB35-4893-8551-90B6D8DDF61A}"/>
              </a:ext>
            </a:extLst>
          </p:cNvPr>
          <p:cNvSpPr txBox="1"/>
          <p:nvPr/>
        </p:nvSpPr>
        <p:spPr>
          <a:xfrm>
            <a:off x="510908" y="1295059"/>
            <a:ext cx="3473263" cy="1969770"/>
          </a:xfrm>
          <a:prstGeom prst="rect">
            <a:avLst/>
          </a:prstGeom>
        </p:spPr>
        <p:txBody>
          <a:bodyPr vert="horz" wrap="square" lIns="0" tIns="0" rIns="0" bIns="0" rtlCol="0">
            <a:spAutoFit/>
          </a:bodyPr>
          <a:lstStyle/>
          <a:p>
            <a:pPr algn="just">
              <a:spcAft>
                <a:spcPts val="1800"/>
              </a:spcAft>
              <a:buSzPct val="100000"/>
              <a:tabLst>
                <a:tab pos="121285" algn="l"/>
              </a:tabLst>
            </a:pPr>
            <a:r>
              <a:rPr lang="es-ES" sz="1600" spc="-10" dirty="0">
                <a:solidFill>
                  <a:srgbClr val="262626"/>
                </a:solidFill>
              </a:rPr>
              <a:t>Un sistema de gobierno debería cubrir la empresa de principio a fin, centrándose no </a:t>
            </a:r>
            <a:r>
              <a:rPr lang="es-ES" sz="1600" spc="-10" dirty="0" smtClean="0">
                <a:solidFill>
                  <a:srgbClr val="262626"/>
                </a:solidFill>
              </a:rPr>
              <a:t>sólo </a:t>
            </a:r>
            <a:r>
              <a:rPr lang="es-ES" sz="1600" spc="-10" dirty="0">
                <a:solidFill>
                  <a:srgbClr val="262626"/>
                </a:solidFill>
              </a:rPr>
              <a:t>en la función de TI, sino en todo el procesamiento de tecnología e información que la empresa pone en funcionamiento para lograr sus objetivos, independientemente de dónde se realice el procesamiento en la empresa.</a:t>
            </a:r>
          </a:p>
        </p:txBody>
      </p:sp>
      <p:grpSp>
        <p:nvGrpSpPr>
          <p:cNvPr id="2" name="Grupo 1">
            <a:extLst>
              <a:ext uri="{FF2B5EF4-FFF2-40B4-BE49-F238E27FC236}">
                <a16:creationId xmlns:a16="http://schemas.microsoft.com/office/drawing/2014/main" id="{19C2B463-39E3-4D54-BFD0-81A3E73BACE0}"/>
              </a:ext>
            </a:extLst>
          </p:cNvPr>
          <p:cNvGrpSpPr/>
          <p:nvPr/>
        </p:nvGrpSpPr>
        <p:grpSpPr>
          <a:xfrm>
            <a:off x="4521200" y="963038"/>
            <a:ext cx="4078514" cy="4079139"/>
            <a:chOff x="4648202" y="963038"/>
            <a:chExt cx="4078514" cy="4079139"/>
          </a:xfrm>
        </p:grpSpPr>
        <p:sp>
          <p:nvSpPr>
            <p:cNvPr id="4" name="Elipse 3">
              <a:extLst>
                <a:ext uri="{FF2B5EF4-FFF2-40B4-BE49-F238E27FC236}">
                  <a16:creationId xmlns:a16="http://schemas.microsoft.com/office/drawing/2014/main" id="{F0BB44BA-2A3D-4B90-A1BA-CEDBE962101D}"/>
                </a:ext>
              </a:extLst>
            </p:cNvPr>
            <p:cNvSpPr/>
            <p:nvPr/>
          </p:nvSpPr>
          <p:spPr>
            <a:xfrm>
              <a:off x="5421086" y="3783616"/>
              <a:ext cx="2532743" cy="1258561"/>
            </a:xfrm>
            <a:prstGeom prst="ellipse">
              <a:avLst/>
            </a:prstGeom>
            <a:solidFill>
              <a:schemeClr val="accent1">
                <a:lumMod val="60000"/>
                <a:lumOff val="4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r>
                <a:rPr lang="es-PE" dirty="0">
                  <a:solidFill>
                    <a:schemeClr val="tx1"/>
                  </a:solidFill>
                </a:rPr>
                <a:t>6. Sistema de gobierno íntegro</a:t>
              </a:r>
            </a:p>
          </p:txBody>
        </p:sp>
        <p:sp>
          <p:nvSpPr>
            <p:cNvPr id="6" name="Globo: flecha hacia abajo 5">
              <a:extLst>
                <a:ext uri="{FF2B5EF4-FFF2-40B4-BE49-F238E27FC236}">
                  <a16:creationId xmlns:a16="http://schemas.microsoft.com/office/drawing/2014/main" id="{4F9128C1-6274-457E-813C-A595E193C8CD}"/>
                </a:ext>
              </a:extLst>
            </p:cNvPr>
            <p:cNvSpPr/>
            <p:nvPr/>
          </p:nvSpPr>
          <p:spPr>
            <a:xfrm>
              <a:off x="6360885" y="3240526"/>
              <a:ext cx="653143" cy="486229"/>
            </a:xfrm>
            <a:prstGeom prst="downArrowCallout">
              <a:avLst/>
            </a:prstGeom>
            <a:solidFill>
              <a:srgbClr val="660033"/>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s-PE" dirty="0"/>
            </a:p>
          </p:txBody>
        </p:sp>
        <p:pic>
          <p:nvPicPr>
            <p:cNvPr id="11" name="Imagen 10">
              <a:extLst>
                <a:ext uri="{FF2B5EF4-FFF2-40B4-BE49-F238E27FC236}">
                  <a16:creationId xmlns:a16="http://schemas.microsoft.com/office/drawing/2014/main" id="{AD3D4AB4-4CCF-496F-8F6B-7ECCAB2F0B43}"/>
                </a:ext>
              </a:extLst>
            </p:cNvPr>
            <p:cNvPicPr>
              <a:picLocks noChangeAspect="1"/>
            </p:cNvPicPr>
            <p:nvPr/>
          </p:nvPicPr>
          <p:blipFill>
            <a:blip r:embed="rId3"/>
            <a:stretch>
              <a:fillRect/>
            </a:stretch>
          </p:blipFill>
          <p:spPr>
            <a:xfrm>
              <a:off x="4648202" y="963038"/>
              <a:ext cx="4078514" cy="2277488"/>
            </a:xfrm>
            <a:prstGeom prst="rect">
              <a:avLst/>
            </a:prstGeom>
          </p:spPr>
        </p:pic>
      </p:grpSp>
    </p:spTree>
    <p:extLst>
      <p:ext uri="{BB962C8B-B14F-4D97-AF65-F5344CB8AC3E}">
        <p14:creationId xmlns:p14="http://schemas.microsoft.com/office/powerpoint/2010/main" val="19560140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5"/>
          <p:cNvSpPr/>
          <p:nvPr/>
        </p:nvSpPr>
        <p:spPr>
          <a:xfrm>
            <a:off x="407875" y="320830"/>
            <a:ext cx="7204493" cy="353943"/>
          </a:xfrm>
          <a:prstGeom prst="rect">
            <a:avLst/>
          </a:prstGeom>
        </p:spPr>
        <p:txBody>
          <a:bodyPr wrap="square">
            <a:spAutoFit/>
          </a:bodyPr>
          <a:lstStyle/>
          <a:p>
            <a:r>
              <a:rPr lang="en-US" sz="1700" b="1" dirty="0">
                <a:solidFill>
                  <a:srgbClr val="438AD7"/>
                </a:solidFill>
              </a:rPr>
              <a:t>/ SISTEMA DE GOBIERNO ÍNTEGRO</a:t>
            </a:r>
          </a:p>
        </p:txBody>
      </p:sp>
      <p:sp>
        <p:nvSpPr>
          <p:cNvPr id="7" name="object 7">
            <a:extLst>
              <a:ext uri="{FF2B5EF4-FFF2-40B4-BE49-F238E27FC236}">
                <a16:creationId xmlns:a16="http://schemas.microsoft.com/office/drawing/2014/main" id="{163CCFF5-6DBB-44D7-85E8-567CB4D4AC0E}"/>
              </a:ext>
            </a:extLst>
          </p:cNvPr>
          <p:cNvSpPr txBox="1"/>
          <p:nvPr/>
        </p:nvSpPr>
        <p:spPr>
          <a:xfrm>
            <a:off x="510908" y="832233"/>
            <a:ext cx="4010292" cy="261610"/>
          </a:xfrm>
          <a:prstGeom prst="rect">
            <a:avLst/>
          </a:prstGeom>
        </p:spPr>
        <p:txBody>
          <a:bodyPr vert="horz" wrap="square" lIns="0" tIns="0" rIns="0" bIns="0" rtlCol="0">
            <a:spAutoFit/>
          </a:bodyPr>
          <a:lstStyle/>
          <a:p>
            <a:pPr marL="11725">
              <a:buSzPct val="100000"/>
              <a:tabLst>
                <a:tab pos="121285" algn="l"/>
              </a:tabLst>
            </a:pPr>
            <a:r>
              <a:rPr lang="es-PE" sz="1700" b="1" spc="-10" dirty="0">
                <a:solidFill>
                  <a:srgbClr val="262626"/>
                </a:solidFill>
                <a:cs typeface="Source Sans Pro"/>
              </a:rPr>
              <a:t>2. ENFOQUE DE GOBIERNO Y GESTIÓN</a:t>
            </a:r>
          </a:p>
        </p:txBody>
      </p:sp>
      <p:sp>
        <p:nvSpPr>
          <p:cNvPr id="8" name="object 7">
            <a:extLst>
              <a:ext uri="{FF2B5EF4-FFF2-40B4-BE49-F238E27FC236}">
                <a16:creationId xmlns:a16="http://schemas.microsoft.com/office/drawing/2014/main" id="{B5EA86E6-DB35-4893-8551-90B6D8DDF61A}"/>
              </a:ext>
            </a:extLst>
          </p:cNvPr>
          <p:cNvSpPr txBox="1"/>
          <p:nvPr/>
        </p:nvSpPr>
        <p:spPr>
          <a:xfrm>
            <a:off x="510908" y="1295059"/>
            <a:ext cx="3937721" cy="2462213"/>
          </a:xfrm>
          <a:prstGeom prst="rect">
            <a:avLst/>
          </a:prstGeom>
        </p:spPr>
        <p:txBody>
          <a:bodyPr vert="horz" wrap="square" lIns="0" tIns="0" rIns="0" bIns="0" rtlCol="0">
            <a:spAutoFit/>
          </a:bodyPr>
          <a:lstStyle/>
          <a:p>
            <a:pPr algn="just">
              <a:spcAft>
                <a:spcPts val="1800"/>
              </a:spcAft>
              <a:buSzPct val="100000"/>
              <a:tabLst>
                <a:tab pos="121285" algn="l"/>
              </a:tabLst>
            </a:pPr>
            <a:r>
              <a:rPr lang="es-ES" sz="1600" dirty="0"/>
              <a:t>COBIT proporciona una visión integral del gobierno y la gestión TI basado en varios componentes del sistema de gobierno. Estos componentes son para toda la empresa y extremo-a-extremo, es decir, incluyendo todo y a todos, internos y externos, que sean relevantes para el gobierno y la gestión de la información de la empresa y TI, incluyendo las actividades y responsabilidades de las funciones TI como de las funciones de negocio.</a:t>
            </a:r>
          </a:p>
        </p:txBody>
      </p:sp>
      <p:pic>
        <p:nvPicPr>
          <p:cNvPr id="9" name="Imagen 8">
            <a:extLst>
              <a:ext uri="{FF2B5EF4-FFF2-40B4-BE49-F238E27FC236}">
                <a16:creationId xmlns:a16="http://schemas.microsoft.com/office/drawing/2014/main" id="{BB16F0F9-196F-4DC0-8023-E97BBDED9733}"/>
              </a:ext>
            </a:extLst>
          </p:cNvPr>
          <p:cNvPicPr>
            <a:picLocks noChangeAspect="1"/>
          </p:cNvPicPr>
          <p:nvPr/>
        </p:nvPicPr>
        <p:blipFill>
          <a:blip r:embed="rId3"/>
          <a:stretch>
            <a:fillRect/>
          </a:stretch>
        </p:blipFill>
        <p:spPr>
          <a:xfrm>
            <a:off x="4767942" y="1369823"/>
            <a:ext cx="3798014" cy="3193067"/>
          </a:xfrm>
          <a:prstGeom prst="rect">
            <a:avLst/>
          </a:prstGeom>
        </p:spPr>
      </p:pic>
    </p:spTree>
    <p:extLst>
      <p:ext uri="{BB962C8B-B14F-4D97-AF65-F5344CB8AC3E}">
        <p14:creationId xmlns:p14="http://schemas.microsoft.com/office/powerpoint/2010/main" val="38736002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ángulo 4"/>
          <p:cNvSpPr/>
          <p:nvPr/>
        </p:nvSpPr>
        <p:spPr>
          <a:xfrm>
            <a:off x="0" y="0"/>
            <a:ext cx="9144000" cy="5715000"/>
          </a:xfrm>
          <a:prstGeom prst="rect">
            <a:avLst/>
          </a:prstGeom>
          <a:solidFill>
            <a:srgbClr val="1F85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 dirty="0"/>
          </a:p>
        </p:txBody>
      </p:sp>
      <p:sp>
        <p:nvSpPr>
          <p:cNvPr id="6" name="Rectangle 5"/>
          <p:cNvSpPr/>
          <p:nvPr/>
        </p:nvSpPr>
        <p:spPr>
          <a:xfrm>
            <a:off x="511154" y="331345"/>
            <a:ext cx="1945800" cy="200055"/>
          </a:xfrm>
          <a:prstGeom prst="rect">
            <a:avLst/>
          </a:prstGeom>
        </p:spPr>
        <p:txBody>
          <a:bodyPr wrap="square" lIns="0" tIns="0" rIns="0" bIns="0">
            <a:spAutoFit/>
          </a:bodyPr>
          <a:lstStyle/>
          <a:p>
            <a:r>
              <a:rPr lang="en-US" sz="1300" dirty="0">
                <a:solidFill>
                  <a:schemeClr val="bg1"/>
                </a:solidFill>
              </a:rPr>
              <a:t>/ CONCLUSIONES</a:t>
            </a:r>
          </a:p>
        </p:txBody>
      </p:sp>
      <p:sp>
        <p:nvSpPr>
          <p:cNvPr id="8" name="Rectángulo 10">
            <a:extLst>
              <a:ext uri="{FF2B5EF4-FFF2-40B4-BE49-F238E27FC236}">
                <a16:creationId xmlns:a16="http://schemas.microsoft.com/office/drawing/2014/main" id="{2CE728F1-CA35-4741-A316-6A8802F5D948}"/>
              </a:ext>
            </a:extLst>
          </p:cNvPr>
          <p:cNvSpPr/>
          <p:nvPr/>
        </p:nvSpPr>
        <p:spPr>
          <a:xfrm>
            <a:off x="2304789" y="856697"/>
            <a:ext cx="6370899" cy="3893374"/>
          </a:xfrm>
          <a:prstGeom prst="rect">
            <a:avLst/>
          </a:prstGeom>
        </p:spPr>
        <p:txBody>
          <a:bodyPr wrap="square" lIns="0" tIns="0" rIns="0" bIns="0">
            <a:spAutoFit/>
          </a:bodyPr>
          <a:lstStyle/>
          <a:p>
            <a:pPr marL="180975" indent="-180975">
              <a:spcAft>
                <a:spcPts val="1800"/>
              </a:spcAft>
              <a:buSzPct val="100000"/>
              <a:buFont typeface="Arial" panose="020B0604020202020204" pitchFamily="34" charset="0"/>
              <a:buChar char="•"/>
              <a:tabLst>
                <a:tab pos="121285" algn="l"/>
              </a:tabLst>
            </a:pPr>
            <a:r>
              <a:rPr lang="es-ES" sz="1600" dirty="0">
                <a:solidFill>
                  <a:srgbClr val="FFFFFF"/>
                </a:solidFill>
                <a:latin typeface="+mj-lt"/>
              </a:rPr>
              <a:t>Proporcionar valor a las partes interesadas: Cada empresa necesita un sistema de gobierno para satisfacer las necesidades de las partes interesadas y generar valor del uso de la I&amp;T. </a:t>
            </a:r>
          </a:p>
          <a:p>
            <a:pPr marL="180975" indent="-180975">
              <a:spcAft>
                <a:spcPts val="1800"/>
              </a:spcAft>
              <a:buSzPct val="100000"/>
              <a:buFont typeface="Arial" panose="020B0604020202020204" pitchFamily="34" charset="0"/>
              <a:buChar char="•"/>
              <a:tabLst>
                <a:tab pos="121285" algn="l"/>
              </a:tabLst>
            </a:pPr>
            <a:r>
              <a:rPr lang="es-ES" sz="1600" dirty="0">
                <a:solidFill>
                  <a:srgbClr val="FFFFFF"/>
                </a:solidFill>
                <a:latin typeface="+mj-lt"/>
              </a:rPr>
              <a:t>Enfoque Holístico: Un sistema de gobierno para la I&amp;T de la empresa se crea a partir de una serie de componentes que pueden ser de distinto tipo y que funcionan conjuntamente de forma holística.</a:t>
            </a:r>
          </a:p>
          <a:p>
            <a:pPr marL="180975" indent="-180975">
              <a:spcAft>
                <a:spcPts val="1800"/>
              </a:spcAft>
              <a:buSzPct val="100000"/>
              <a:buFont typeface="Arial" panose="020B0604020202020204" pitchFamily="34" charset="0"/>
              <a:buChar char="•"/>
              <a:tabLst>
                <a:tab pos="121285" algn="l"/>
              </a:tabLst>
            </a:pPr>
            <a:r>
              <a:rPr lang="es-ES" sz="1600" dirty="0">
                <a:solidFill>
                  <a:srgbClr val="FFFFFF"/>
                </a:solidFill>
                <a:latin typeface="+mj-lt"/>
              </a:rPr>
              <a:t>Sistema de gobierno dinámico: Un sistema de gobierno debería ser dinámico. Esto significa que cada vez que se cambian uno o más factores del diseño debe considerarse el impacto de estos cambios en el sistema GETI. </a:t>
            </a:r>
          </a:p>
          <a:p>
            <a:pPr marL="180975" indent="-180975">
              <a:spcAft>
                <a:spcPts val="1800"/>
              </a:spcAft>
              <a:buSzPct val="100000"/>
              <a:buFont typeface="Arial" panose="020B0604020202020204" pitchFamily="34" charset="0"/>
              <a:buChar char="•"/>
              <a:tabLst>
                <a:tab pos="121285" algn="l"/>
              </a:tabLst>
            </a:pPr>
            <a:r>
              <a:rPr lang="es-ES" sz="1600" dirty="0">
                <a:solidFill>
                  <a:srgbClr val="FFFFFF"/>
                </a:solidFill>
                <a:latin typeface="+mj-lt"/>
              </a:rPr>
              <a:t>Separar el gobierno de la gestión: Un sistema de gobierno debería distinguir claramente entre actividades de gobierno y gestión, y estructuras. </a:t>
            </a:r>
          </a:p>
        </p:txBody>
      </p:sp>
    </p:spTree>
    <p:custDataLst>
      <p:tags r:id="rId1"/>
    </p:custDataLst>
    <p:extLst>
      <p:ext uri="{BB962C8B-B14F-4D97-AF65-F5344CB8AC3E}">
        <p14:creationId xmlns:p14="http://schemas.microsoft.com/office/powerpoint/2010/main" val="276711434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ángulo 4"/>
          <p:cNvSpPr/>
          <p:nvPr/>
        </p:nvSpPr>
        <p:spPr>
          <a:xfrm>
            <a:off x="0" y="0"/>
            <a:ext cx="9144000" cy="5715000"/>
          </a:xfrm>
          <a:prstGeom prst="rect">
            <a:avLst/>
          </a:prstGeom>
          <a:solidFill>
            <a:srgbClr val="1F85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 dirty="0"/>
          </a:p>
        </p:txBody>
      </p:sp>
      <p:sp>
        <p:nvSpPr>
          <p:cNvPr id="6" name="Rectangle 5"/>
          <p:cNvSpPr/>
          <p:nvPr/>
        </p:nvSpPr>
        <p:spPr>
          <a:xfrm>
            <a:off x="511154" y="331345"/>
            <a:ext cx="1945800" cy="200055"/>
          </a:xfrm>
          <a:prstGeom prst="rect">
            <a:avLst/>
          </a:prstGeom>
        </p:spPr>
        <p:txBody>
          <a:bodyPr wrap="square" lIns="0" tIns="0" rIns="0" bIns="0">
            <a:spAutoFit/>
          </a:bodyPr>
          <a:lstStyle/>
          <a:p>
            <a:r>
              <a:rPr lang="en-US" sz="1300" dirty="0">
                <a:solidFill>
                  <a:schemeClr val="bg1"/>
                </a:solidFill>
              </a:rPr>
              <a:t>/ CONCLUSIONES</a:t>
            </a:r>
          </a:p>
        </p:txBody>
      </p:sp>
      <p:sp>
        <p:nvSpPr>
          <p:cNvPr id="8" name="Rectángulo 10">
            <a:extLst>
              <a:ext uri="{FF2B5EF4-FFF2-40B4-BE49-F238E27FC236}">
                <a16:creationId xmlns:a16="http://schemas.microsoft.com/office/drawing/2014/main" id="{2CE728F1-CA35-4741-A316-6A8802F5D948}"/>
              </a:ext>
            </a:extLst>
          </p:cNvPr>
          <p:cNvSpPr/>
          <p:nvPr/>
        </p:nvSpPr>
        <p:spPr>
          <a:xfrm>
            <a:off x="2304789" y="856697"/>
            <a:ext cx="6370899" cy="2200602"/>
          </a:xfrm>
          <a:prstGeom prst="rect">
            <a:avLst/>
          </a:prstGeom>
        </p:spPr>
        <p:txBody>
          <a:bodyPr wrap="square" lIns="0" tIns="0" rIns="0" bIns="0">
            <a:spAutoFit/>
          </a:bodyPr>
          <a:lstStyle/>
          <a:p>
            <a:pPr marL="180975" indent="-180975">
              <a:spcAft>
                <a:spcPts val="1800"/>
              </a:spcAft>
              <a:buSzPct val="100000"/>
              <a:buFont typeface="Arial" panose="020B0604020202020204" pitchFamily="34" charset="0"/>
              <a:buChar char="•"/>
              <a:tabLst>
                <a:tab pos="121285" algn="l"/>
              </a:tabLst>
            </a:pPr>
            <a:r>
              <a:rPr lang="es-ES" sz="1600" dirty="0">
                <a:solidFill>
                  <a:srgbClr val="FFFFFF"/>
                </a:solidFill>
                <a:latin typeface="+mj-lt"/>
              </a:rPr>
              <a:t>Adaptar a las necesidades de la empresa: Un sistema de gobierno debería personalizarse de acuerdo con las necesidades de la empresa, utilizando una serie de factores de diseño como parámetros para personalizar y priorizar los componentes del sistema de gobierno. </a:t>
            </a:r>
          </a:p>
          <a:p>
            <a:pPr marL="180975" indent="-180975">
              <a:spcAft>
                <a:spcPts val="1800"/>
              </a:spcAft>
              <a:buSzPct val="100000"/>
              <a:buFont typeface="Arial" panose="020B0604020202020204" pitchFamily="34" charset="0"/>
              <a:buChar char="•"/>
              <a:tabLst>
                <a:tab pos="121285" algn="l"/>
              </a:tabLst>
            </a:pPr>
            <a:r>
              <a:rPr lang="es-ES" sz="1600" dirty="0">
                <a:solidFill>
                  <a:srgbClr val="FFFFFF"/>
                </a:solidFill>
                <a:latin typeface="+mj-lt"/>
              </a:rPr>
              <a:t>Sistema de gobierno íntegro: Un sistema de gobierno debería cubrir la empresa de principio a fin, centrándose no </a:t>
            </a:r>
            <a:r>
              <a:rPr lang="es-ES" sz="1600" dirty="0" smtClean="0">
                <a:solidFill>
                  <a:srgbClr val="FFFFFF"/>
                </a:solidFill>
                <a:latin typeface="+mj-lt"/>
              </a:rPr>
              <a:t>sólo </a:t>
            </a:r>
            <a:r>
              <a:rPr lang="es-ES" sz="1600" dirty="0">
                <a:solidFill>
                  <a:srgbClr val="FFFFFF"/>
                </a:solidFill>
                <a:latin typeface="+mj-lt"/>
              </a:rPr>
              <a:t>en la función de TI, sino en todo el procesamiento de tecnología e información que la empresa pone en funcionamiento para lograr sus objetivos.</a:t>
            </a:r>
          </a:p>
        </p:txBody>
      </p:sp>
    </p:spTree>
    <p:custDataLst>
      <p:tags r:id="rId1"/>
    </p:custDataLst>
    <p:extLst>
      <p:ext uri="{BB962C8B-B14F-4D97-AF65-F5344CB8AC3E}">
        <p14:creationId xmlns:p14="http://schemas.microsoft.com/office/powerpoint/2010/main" val="20513767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Shape 125"/>
          <p:cNvSpPr txBox="1">
            <a:spLocks/>
          </p:cNvSpPr>
          <p:nvPr/>
        </p:nvSpPr>
        <p:spPr>
          <a:xfrm>
            <a:off x="515764" y="965680"/>
            <a:ext cx="7979082" cy="1449454"/>
          </a:xfrm>
          <a:prstGeom prst="rect">
            <a:avLst/>
          </a:prstGeom>
        </p:spPr>
        <p:txBody>
          <a:bodyPr lIns="0" tIns="0" rIns="0" bIns="0" anchor="t" anchorCtr="0">
            <a:noAutofit/>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lvl="0" algn="l">
              <a:buFont typeface="Arial" panose="020B0604020202020204" pitchFamily="34" charset="0"/>
              <a:buChar char="•"/>
            </a:pPr>
            <a:r>
              <a:rPr lang="es-PE" sz="1400" dirty="0">
                <a:solidFill>
                  <a:srgbClr val="0000FF"/>
                </a:solidFill>
                <a:effectLst/>
                <a:latin typeface="Calibri" panose="020F0502020204030204" pitchFamily="34" charset="0"/>
                <a:ea typeface="Times New Roman" panose="02020603050405020304" pitchFamily="18" charset="0"/>
              </a:rPr>
              <a:t>ISACA. (2018). “COBIT 2019: Introducción y Metodología”. </a:t>
            </a:r>
            <a:r>
              <a:rPr lang="en-US" sz="1400" dirty="0">
                <a:solidFill>
                  <a:srgbClr val="0000FF"/>
                </a:solidFill>
                <a:effectLst/>
                <a:latin typeface="Calibri" panose="020F0502020204030204" pitchFamily="34" charset="0"/>
                <a:ea typeface="Times New Roman" panose="02020603050405020304" pitchFamily="18" charset="0"/>
              </a:rPr>
              <a:t>1ra. </a:t>
            </a:r>
            <a:r>
              <a:rPr lang="es-ES" sz="1400" dirty="0">
                <a:solidFill>
                  <a:srgbClr val="0000FF"/>
                </a:solidFill>
                <a:effectLst/>
                <a:latin typeface="Calibri" panose="020F0502020204030204" pitchFamily="34" charset="0"/>
                <a:ea typeface="Times New Roman" panose="02020603050405020304" pitchFamily="18" charset="0"/>
              </a:rPr>
              <a:t>Edición. ISACA® </a:t>
            </a:r>
            <a:endParaRPr lang="es-PE" sz="1400" dirty="0">
              <a:solidFill>
                <a:srgbClr val="0000FF"/>
              </a:solidFill>
              <a:effectLst/>
              <a:latin typeface="Times New Roman" panose="02020603050405020304" pitchFamily="18" charset="0"/>
              <a:ea typeface="Times New Roman" panose="02020603050405020304" pitchFamily="18" charset="0"/>
            </a:endParaRPr>
          </a:p>
          <a:p>
            <a:pPr lvl="0" algn="l">
              <a:buFont typeface="Arial" panose="020B0604020202020204" pitchFamily="34" charset="0"/>
              <a:buChar char="•"/>
            </a:pPr>
            <a:r>
              <a:rPr lang="es-PE" sz="1400" dirty="0">
                <a:solidFill>
                  <a:srgbClr val="0000FF"/>
                </a:solidFill>
                <a:effectLst/>
                <a:latin typeface="Calibri" panose="020F0502020204030204" pitchFamily="34" charset="0"/>
                <a:ea typeface="Times New Roman" panose="02020603050405020304" pitchFamily="18" charset="0"/>
              </a:rPr>
              <a:t>ISACA. (2018). “COBIT 2019: Objetivos de Gobierno y de Gestión”. 1ra. </a:t>
            </a:r>
            <a:r>
              <a:rPr lang="es-ES" sz="1400" dirty="0">
                <a:solidFill>
                  <a:srgbClr val="0000FF"/>
                </a:solidFill>
                <a:effectLst/>
                <a:latin typeface="Calibri" panose="020F0502020204030204" pitchFamily="34" charset="0"/>
                <a:ea typeface="Times New Roman" panose="02020603050405020304" pitchFamily="18" charset="0"/>
              </a:rPr>
              <a:t>Edición. ISACA® </a:t>
            </a:r>
            <a:endParaRPr lang="es-PE" sz="1400" dirty="0">
              <a:solidFill>
                <a:srgbClr val="0000FF"/>
              </a:solidFill>
              <a:effectLst/>
              <a:latin typeface="Times New Roman" panose="02020603050405020304" pitchFamily="18" charset="0"/>
              <a:ea typeface="Times New Roman" panose="02020603050405020304" pitchFamily="18" charset="0"/>
            </a:endParaRPr>
          </a:p>
          <a:p>
            <a:pPr lvl="0" algn="l">
              <a:buFont typeface="Arial" panose="020B0604020202020204" pitchFamily="34" charset="0"/>
              <a:buChar char="•"/>
            </a:pPr>
            <a:r>
              <a:rPr lang="es-PE" sz="1400" dirty="0">
                <a:solidFill>
                  <a:srgbClr val="0000FF"/>
                </a:solidFill>
                <a:effectLst/>
                <a:latin typeface="Calibri" panose="020F0502020204030204" pitchFamily="34" charset="0"/>
                <a:ea typeface="Times New Roman" panose="02020603050405020304" pitchFamily="18" charset="0"/>
              </a:rPr>
              <a:t>ISACA. (2018). “COBIT 2019: Diseño de una solución de Gobierno de Información y Tecnología”. 1ra. </a:t>
            </a:r>
            <a:r>
              <a:rPr lang="es-ES" sz="1400" dirty="0">
                <a:solidFill>
                  <a:srgbClr val="0000FF"/>
                </a:solidFill>
                <a:effectLst/>
                <a:latin typeface="Calibri" panose="020F0502020204030204" pitchFamily="34" charset="0"/>
                <a:ea typeface="Times New Roman" panose="02020603050405020304" pitchFamily="18" charset="0"/>
              </a:rPr>
              <a:t>Edición. ISACA® </a:t>
            </a:r>
            <a:endParaRPr lang="es-PE" sz="1400" dirty="0">
              <a:solidFill>
                <a:srgbClr val="0000FF"/>
              </a:solidFill>
              <a:effectLst/>
              <a:latin typeface="Times New Roman" panose="02020603050405020304" pitchFamily="18" charset="0"/>
              <a:ea typeface="Times New Roman" panose="02020603050405020304" pitchFamily="18" charset="0"/>
            </a:endParaRPr>
          </a:p>
          <a:p>
            <a:pPr lvl="0" algn="l">
              <a:buFont typeface="Arial" panose="020B0604020202020204" pitchFamily="34" charset="0"/>
              <a:buChar char="•"/>
            </a:pPr>
            <a:r>
              <a:rPr lang="es-PE" sz="1400" dirty="0">
                <a:solidFill>
                  <a:srgbClr val="0000FF"/>
                </a:solidFill>
                <a:effectLst/>
                <a:latin typeface="Calibri" panose="020F0502020204030204" pitchFamily="34" charset="0"/>
                <a:ea typeface="Times New Roman" panose="02020603050405020304" pitchFamily="18" charset="0"/>
              </a:rPr>
              <a:t>ISACA. (2018). “COBIT 2019: Implementación y optimización de una solución de gobierno de información y tecnología”. 1ra. </a:t>
            </a:r>
            <a:r>
              <a:rPr lang="es-ES" sz="1400" dirty="0">
                <a:solidFill>
                  <a:srgbClr val="0000FF"/>
                </a:solidFill>
                <a:effectLst/>
                <a:latin typeface="Calibri" panose="020F0502020204030204" pitchFamily="34" charset="0"/>
                <a:ea typeface="Times New Roman" panose="02020603050405020304" pitchFamily="18" charset="0"/>
              </a:rPr>
              <a:t>Edición. ISACA® </a:t>
            </a:r>
            <a:endParaRPr lang="es-PE" sz="1400" dirty="0">
              <a:solidFill>
                <a:srgbClr val="0000FF"/>
              </a:solidFill>
              <a:effectLst/>
              <a:latin typeface="Times New Roman" panose="02020603050405020304" pitchFamily="18" charset="0"/>
              <a:ea typeface="Times New Roman" panose="02020603050405020304" pitchFamily="18" charset="0"/>
            </a:endParaRPr>
          </a:p>
        </p:txBody>
      </p:sp>
      <p:sp>
        <p:nvSpPr>
          <p:cNvPr id="4" name="Rectangle 5"/>
          <p:cNvSpPr/>
          <p:nvPr/>
        </p:nvSpPr>
        <p:spPr>
          <a:xfrm>
            <a:off x="511154" y="331345"/>
            <a:ext cx="1945800" cy="200055"/>
          </a:xfrm>
          <a:prstGeom prst="rect">
            <a:avLst/>
          </a:prstGeom>
        </p:spPr>
        <p:txBody>
          <a:bodyPr wrap="square" lIns="0" tIns="0" rIns="0" bIns="0">
            <a:spAutoFit/>
          </a:bodyPr>
          <a:lstStyle/>
          <a:p>
            <a:r>
              <a:rPr lang="en-US" sz="1300" dirty="0">
                <a:solidFill>
                  <a:srgbClr val="438AD7"/>
                </a:solidFill>
              </a:rPr>
              <a:t>/ BIBLIOGRAFÍA</a:t>
            </a:r>
          </a:p>
        </p:txBody>
      </p:sp>
    </p:spTree>
    <p:custDataLst>
      <p:tags r:id="rId1"/>
    </p:custDataLst>
    <p:extLst>
      <p:ext uri="{BB962C8B-B14F-4D97-AF65-F5344CB8AC3E}">
        <p14:creationId xmlns:p14="http://schemas.microsoft.com/office/powerpoint/2010/main" val="12162936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timing>
    <p:tnLst>
      <p:par>
        <p:cTn id="1" dur="indefinite" restart="never" nodeType="tmRoot"/>
      </p:par>
    </p:tnLst>
  </p:timing>
</p:sld>
</file>

<file path=ppt/tags/tag1.xml><?xml version="1.0" encoding="utf-8"?>
<p:tagLst xmlns:a="http://schemas.openxmlformats.org/drawingml/2006/main" xmlns:r="http://schemas.openxmlformats.org/officeDocument/2006/relationships" xmlns:p="http://schemas.openxmlformats.org/presentationml/2006/main">
  <p:tag name="ARTICULATE_SLIDE_THUMBNAIL_REFRESH" val="1"/>
  <p:tag name="ARTICULATE_DESIGN_ID_OFFICE THEME" val="Yge96mEv"/>
  <p:tag name="ARTICULATE_SLIDE_COUNT" val="11"/>
  <p:tag name="ARTICULATE_PROJECT_OPEN" val="0"/>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Tema d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9962</TotalTime>
  <Words>1672</Words>
  <Application>Microsoft Office PowerPoint</Application>
  <PresentationFormat>Presentación en pantalla (16:10)</PresentationFormat>
  <Paragraphs>137</Paragraphs>
  <Slides>28</Slides>
  <Notes>27</Notes>
  <HiddenSlides>0</HiddenSlides>
  <MMClips>0</MMClips>
  <ScaleCrop>false</ScaleCrop>
  <HeadingPairs>
    <vt:vector size="6" baseType="variant">
      <vt:variant>
        <vt:lpstr>Fuentes usadas</vt:lpstr>
      </vt:variant>
      <vt:variant>
        <vt:i4>7</vt:i4>
      </vt:variant>
      <vt:variant>
        <vt:lpstr>Tema</vt:lpstr>
      </vt:variant>
      <vt:variant>
        <vt:i4>1</vt:i4>
      </vt:variant>
      <vt:variant>
        <vt:lpstr>Títulos de diapositiva</vt:lpstr>
      </vt:variant>
      <vt:variant>
        <vt:i4>28</vt:i4>
      </vt:variant>
    </vt:vector>
  </HeadingPairs>
  <TitlesOfParts>
    <vt:vector size="36" baseType="lpstr">
      <vt:lpstr>Arial</vt:lpstr>
      <vt:lpstr>Calibri</vt:lpstr>
      <vt:lpstr>JIKLE B+ Times New Roman PSMT</vt:lpstr>
      <vt:lpstr>Source Sans Pro</vt:lpstr>
      <vt:lpstr>Times New Roman</vt:lpstr>
      <vt:lpstr>Verdana</vt:lpstr>
      <vt:lpstr>Wingdings</vt:lpstr>
      <vt:lpstr>Office Theme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ISIL</dc:creator>
  <cp:lastModifiedBy>Arturo Enrique Reátegui Herrera</cp:lastModifiedBy>
  <cp:revision>610</cp:revision>
  <cp:lastPrinted>2018-01-16T21:42:59Z</cp:lastPrinted>
  <dcterms:created xsi:type="dcterms:W3CDTF">2016-10-06T14:52:02Z</dcterms:created>
  <dcterms:modified xsi:type="dcterms:W3CDTF">2022-05-10T21:13:42Z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rticulateGUID">
    <vt:lpwstr>5400A83D-B4FE-497C-9E2F-ACF3BA8DEF15</vt:lpwstr>
  </property>
  <property fmtid="{D5CDD505-2E9C-101B-9397-08002B2CF9AE}" pid="3" name="ArticulatePath">
    <vt:lpwstr>plantilla_cursos_presenciales-v3.1.6</vt:lpwstr>
  </property>
</Properties>
</file>