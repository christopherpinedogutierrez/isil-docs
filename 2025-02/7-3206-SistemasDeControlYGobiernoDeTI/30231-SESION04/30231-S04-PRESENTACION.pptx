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5.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6.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7.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3.xml" ContentType="application/vnd.openxmlformats-officedocument.presentationml.notesSlide+xml"/>
  <Override PartName="/ppt/tags/tag8.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9.xml" ContentType="application/vnd.openxmlformats-officedocument.presentationml.tags+xml"/>
  <Override PartName="/ppt/notesSlides/notesSlide30.xml" ContentType="application/vnd.openxmlformats-officedocument.presentationml.notesSlide+xml"/>
  <Override PartName="/ppt/tags/tag10.xml" ContentType="application/vnd.openxmlformats-officedocument.presentationml.tags+xml"/>
  <Override PartName="/ppt/notesSlides/notesSlide31.xml" ContentType="application/vnd.openxmlformats-officedocument.presentationml.notesSlide+xml"/>
  <Override PartName="/ppt/tags/tag1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handoutMasterIdLst>
    <p:handoutMasterId r:id="rId35"/>
  </p:handoutMasterIdLst>
  <p:sldIdLst>
    <p:sldId id="326" r:id="rId2"/>
    <p:sldId id="337" r:id="rId3"/>
    <p:sldId id="427" r:id="rId4"/>
    <p:sldId id="428" r:id="rId5"/>
    <p:sldId id="637" r:id="rId6"/>
    <p:sldId id="653" r:id="rId7"/>
    <p:sldId id="452" r:id="rId8"/>
    <p:sldId id="615" r:id="rId9"/>
    <p:sldId id="638" r:id="rId10"/>
    <p:sldId id="442" r:id="rId11"/>
    <p:sldId id="468" r:id="rId12"/>
    <p:sldId id="430" r:id="rId13"/>
    <p:sldId id="431" r:id="rId14"/>
    <p:sldId id="640" r:id="rId15"/>
    <p:sldId id="646" r:id="rId16"/>
    <p:sldId id="647" r:id="rId17"/>
    <p:sldId id="641" r:id="rId18"/>
    <p:sldId id="642" r:id="rId19"/>
    <p:sldId id="643" r:id="rId20"/>
    <p:sldId id="644" r:id="rId21"/>
    <p:sldId id="645" r:id="rId22"/>
    <p:sldId id="639" r:id="rId23"/>
    <p:sldId id="648" r:id="rId24"/>
    <p:sldId id="445" r:id="rId25"/>
    <p:sldId id="627" r:id="rId26"/>
    <p:sldId id="649" r:id="rId27"/>
    <p:sldId id="650" r:id="rId28"/>
    <p:sldId id="651" r:id="rId29"/>
    <p:sldId id="652" r:id="rId30"/>
    <p:sldId id="634" r:id="rId31"/>
    <p:sldId id="635" r:id="rId32"/>
    <p:sldId id="606" r:id="rId33"/>
  </p:sldIdLst>
  <p:sldSz cx="9144000" cy="5715000" type="screen16x10"/>
  <p:notesSz cx="6797675" cy="9926638"/>
  <p:custDataLst>
    <p:tags r:id="rId3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5465" userDrawn="1">
          <p15:clr>
            <a:srgbClr val="A4A3A4"/>
          </p15:clr>
        </p15:guide>
        <p15:guide id="3" orient="horz" pos="3320" userDrawn="1">
          <p15:clr>
            <a:srgbClr val="A4A3A4"/>
          </p15:clr>
        </p15:guide>
        <p15:guide id="11" pos="317" userDrawn="1">
          <p15:clr>
            <a:srgbClr val="A4A3A4"/>
          </p15:clr>
        </p15:guide>
        <p15:guide id="12" orient="horz" pos="553" userDrawn="1">
          <p15:clr>
            <a:srgbClr val="A4A3A4"/>
          </p15:clr>
        </p15:guide>
        <p15:guide id="13" orient="horz" pos="34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276B7D"/>
    <a:srgbClr val="48C2BB"/>
    <a:srgbClr val="1F85A6"/>
    <a:srgbClr val="F1FDC3"/>
    <a:srgbClr val="9CC606"/>
    <a:srgbClr val="E2F6F1"/>
    <a:srgbClr val="F2F2F2"/>
    <a:srgbClr val="558ED5"/>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875" autoAdjust="0"/>
    <p:restoredTop sz="95332" autoAdjust="0"/>
  </p:normalViewPr>
  <p:slideViewPr>
    <p:cSldViewPr snapToGrid="0" snapToObjects="1" showGuides="1">
      <p:cViewPr>
        <p:scale>
          <a:sx n="98" d="100"/>
          <a:sy n="98" d="100"/>
        </p:scale>
        <p:origin x="1282" y="202"/>
      </p:cViewPr>
      <p:guideLst>
        <p:guide pos="5465"/>
        <p:guide orient="horz" pos="3320"/>
        <p:guide pos="317"/>
        <p:guide orient="horz" pos="553"/>
        <p:guide orient="horz" pos="349"/>
      </p:guideLst>
    </p:cSldViewPr>
  </p:slid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E13B951-8846-4307-825A-DB3351E28E1B}" type="doc">
      <dgm:prSet loTypeId="urn:microsoft.com/office/officeart/2005/8/layout/radial6" loCatId="cycle" qsTypeId="urn:microsoft.com/office/officeart/2005/8/quickstyle/simple1" qsCatId="simple" csTypeId="urn:microsoft.com/office/officeart/2005/8/colors/accent2_2" csCatId="accent2" phldr="1"/>
      <dgm:spPr/>
      <dgm:t>
        <a:bodyPr/>
        <a:lstStyle/>
        <a:p>
          <a:endParaRPr lang="es-ES"/>
        </a:p>
      </dgm:t>
    </dgm:pt>
    <dgm:pt modelId="{E18E937B-DF3F-4CFD-9EA6-EAC686D9848C}">
      <dgm:prSet phldrT="[Texto]" custT="1"/>
      <dgm:spPr>
        <a:solidFill>
          <a:schemeClr val="accent5">
            <a:lumMod val="50000"/>
          </a:schemeClr>
        </a:solidFill>
      </dgm:spPr>
      <dgm:t>
        <a:bodyPr/>
        <a:lstStyle/>
        <a:p>
          <a:r>
            <a:rPr lang="es-ES" sz="2000" dirty="0"/>
            <a:t>Gobierno de TI</a:t>
          </a:r>
        </a:p>
      </dgm:t>
    </dgm:pt>
    <dgm:pt modelId="{A951E2CA-3DF8-4D8F-8D92-705E2785D8FE}" type="parTrans" cxnId="{B8141084-83CC-4A15-811D-90414616D608}">
      <dgm:prSet/>
      <dgm:spPr/>
      <dgm:t>
        <a:bodyPr/>
        <a:lstStyle/>
        <a:p>
          <a:endParaRPr lang="es-ES" sz="1800"/>
        </a:p>
      </dgm:t>
    </dgm:pt>
    <dgm:pt modelId="{4113D912-AE8D-4B38-8955-31FE07B78092}" type="sibTrans" cxnId="{B8141084-83CC-4A15-811D-90414616D608}">
      <dgm:prSet/>
      <dgm:spPr/>
      <dgm:t>
        <a:bodyPr/>
        <a:lstStyle/>
        <a:p>
          <a:endParaRPr lang="es-ES" sz="1800"/>
        </a:p>
      </dgm:t>
    </dgm:pt>
    <dgm:pt modelId="{88B5358D-E82C-4CD6-A4ED-C4F2AF889872}">
      <dgm:prSet phldrT="[Texto]" custT="1"/>
      <dgm:spPr>
        <a:solidFill>
          <a:schemeClr val="accent5">
            <a:lumMod val="50000"/>
          </a:schemeClr>
        </a:solidFill>
      </dgm:spPr>
      <dgm:t>
        <a:bodyPr/>
        <a:lstStyle/>
        <a:p>
          <a:r>
            <a:rPr lang="es-ES" sz="1100" dirty="0"/>
            <a:t>Alineamiento </a:t>
          </a:r>
          <a:r>
            <a:rPr lang="es-ES" sz="1100" dirty="0" smtClean="0"/>
            <a:t>estratégico</a:t>
          </a:r>
          <a:endParaRPr lang="es-ES" sz="1100" dirty="0"/>
        </a:p>
      </dgm:t>
    </dgm:pt>
    <dgm:pt modelId="{335A593F-6F3A-43E7-9E60-9302CBA4CD44}" type="parTrans" cxnId="{017234E3-1A2E-44EF-BAF8-9D4B48B87C52}">
      <dgm:prSet/>
      <dgm:spPr/>
      <dgm:t>
        <a:bodyPr/>
        <a:lstStyle/>
        <a:p>
          <a:endParaRPr lang="es-ES" sz="1800"/>
        </a:p>
      </dgm:t>
    </dgm:pt>
    <dgm:pt modelId="{44C40A35-88B5-4D50-B104-A1A79F6A3D93}" type="sibTrans" cxnId="{017234E3-1A2E-44EF-BAF8-9D4B48B87C52}">
      <dgm:prSet/>
      <dgm:spPr>
        <a:solidFill>
          <a:srgbClr val="00B050"/>
        </a:solidFill>
      </dgm:spPr>
      <dgm:t>
        <a:bodyPr/>
        <a:lstStyle/>
        <a:p>
          <a:endParaRPr lang="es-ES" sz="1800"/>
        </a:p>
      </dgm:t>
    </dgm:pt>
    <dgm:pt modelId="{D6955770-31C5-47E9-815A-99ED15896555}">
      <dgm:prSet phldrT="[Texto]" custT="1"/>
      <dgm:spPr>
        <a:solidFill>
          <a:schemeClr val="accent5">
            <a:lumMod val="50000"/>
          </a:schemeClr>
        </a:solidFill>
      </dgm:spPr>
      <dgm:t>
        <a:bodyPr/>
        <a:lstStyle/>
        <a:p>
          <a:r>
            <a:rPr lang="es-ES" sz="1100" dirty="0"/>
            <a:t>Entrega de </a:t>
          </a:r>
          <a:r>
            <a:rPr lang="es-ES" sz="1100" dirty="0" smtClean="0"/>
            <a:t>valor</a:t>
          </a:r>
          <a:endParaRPr lang="es-ES" sz="1100" dirty="0"/>
        </a:p>
      </dgm:t>
    </dgm:pt>
    <dgm:pt modelId="{E5E8607C-5703-4A5B-822D-B4E56D5B8FDF}" type="parTrans" cxnId="{3F7234F3-E820-4A64-9F59-A085A343901D}">
      <dgm:prSet/>
      <dgm:spPr/>
      <dgm:t>
        <a:bodyPr/>
        <a:lstStyle/>
        <a:p>
          <a:endParaRPr lang="es-ES" sz="1800"/>
        </a:p>
      </dgm:t>
    </dgm:pt>
    <dgm:pt modelId="{5C5EEB69-D0C7-40DC-857F-C3C460F8032C}" type="sibTrans" cxnId="{3F7234F3-E820-4A64-9F59-A085A343901D}">
      <dgm:prSet/>
      <dgm:spPr>
        <a:solidFill>
          <a:srgbClr val="00B050"/>
        </a:solidFill>
      </dgm:spPr>
      <dgm:t>
        <a:bodyPr/>
        <a:lstStyle/>
        <a:p>
          <a:endParaRPr lang="es-ES" sz="1800"/>
        </a:p>
      </dgm:t>
    </dgm:pt>
    <dgm:pt modelId="{1BFD33EE-4386-49CB-A629-58E7F589826B}">
      <dgm:prSet phldrT="[Texto]" custT="1"/>
      <dgm:spPr>
        <a:solidFill>
          <a:schemeClr val="accent5">
            <a:lumMod val="50000"/>
          </a:schemeClr>
        </a:solidFill>
      </dgm:spPr>
      <dgm:t>
        <a:bodyPr/>
        <a:lstStyle/>
        <a:p>
          <a:r>
            <a:rPr lang="es-ES" sz="1100" dirty="0"/>
            <a:t>Gestión de </a:t>
          </a:r>
          <a:r>
            <a:rPr lang="es-ES" sz="1100" dirty="0" smtClean="0"/>
            <a:t>riesgo</a:t>
          </a:r>
          <a:endParaRPr lang="es-ES" sz="1100" dirty="0"/>
        </a:p>
      </dgm:t>
    </dgm:pt>
    <dgm:pt modelId="{3CFD641D-6730-4210-979A-78B6E482C35D}" type="parTrans" cxnId="{97696F5B-05EB-450A-AFE1-7220462FD29B}">
      <dgm:prSet/>
      <dgm:spPr/>
      <dgm:t>
        <a:bodyPr/>
        <a:lstStyle/>
        <a:p>
          <a:endParaRPr lang="es-ES" sz="1800"/>
        </a:p>
      </dgm:t>
    </dgm:pt>
    <dgm:pt modelId="{F4F55780-4F89-42AC-8DB9-135AF44DA94D}" type="sibTrans" cxnId="{97696F5B-05EB-450A-AFE1-7220462FD29B}">
      <dgm:prSet/>
      <dgm:spPr>
        <a:solidFill>
          <a:srgbClr val="00B050"/>
        </a:solidFill>
      </dgm:spPr>
      <dgm:t>
        <a:bodyPr/>
        <a:lstStyle/>
        <a:p>
          <a:endParaRPr lang="es-ES" sz="1800"/>
        </a:p>
      </dgm:t>
    </dgm:pt>
    <dgm:pt modelId="{07F504B8-9762-4D4C-B990-A702AE8625F7}">
      <dgm:prSet phldrT="[Texto]" custT="1"/>
      <dgm:spPr>
        <a:solidFill>
          <a:schemeClr val="accent5">
            <a:lumMod val="50000"/>
          </a:schemeClr>
        </a:solidFill>
      </dgm:spPr>
      <dgm:t>
        <a:bodyPr/>
        <a:lstStyle/>
        <a:p>
          <a:r>
            <a:rPr lang="es-ES" sz="1100" dirty="0"/>
            <a:t>Gestión de </a:t>
          </a:r>
          <a:r>
            <a:rPr lang="es-ES" sz="1100" dirty="0" smtClean="0"/>
            <a:t>recursos</a:t>
          </a:r>
          <a:endParaRPr lang="es-ES" sz="1100" dirty="0"/>
        </a:p>
      </dgm:t>
    </dgm:pt>
    <dgm:pt modelId="{EAF07638-9723-40F7-B629-73D2EAF4B8D7}" type="parTrans" cxnId="{6BB6546D-A14E-4EA8-BB89-2F47190ACFCF}">
      <dgm:prSet/>
      <dgm:spPr/>
      <dgm:t>
        <a:bodyPr/>
        <a:lstStyle/>
        <a:p>
          <a:endParaRPr lang="es-ES" sz="1800"/>
        </a:p>
      </dgm:t>
    </dgm:pt>
    <dgm:pt modelId="{B2AE4746-76D4-4483-A1CE-21B913B46A8E}" type="sibTrans" cxnId="{6BB6546D-A14E-4EA8-BB89-2F47190ACFCF}">
      <dgm:prSet/>
      <dgm:spPr>
        <a:solidFill>
          <a:srgbClr val="00B050"/>
        </a:solidFill>
      </dgm:spPr>
      <dgm:t>
        <a:bodyPr/>
        <a:lstStyle/>
        <a:p>
          <a:endParaRPr lang="es-ES" sz="1800"/>
        </a:p>
      </dgm:t>
    </dgm:pt>
    <dgm:pt modelId="{C8095D52-5912-4473-9CE1-4CF7112548F8}">
      <dgm:prSet phldrT="[Texto]" custT="1"/>
      <dgm:spPr>
        <a:solidFill>
          <a:schemeClr val="accent5">
            <a:lumMod val="50000"/>
          </a:schemeClr>
        </a:solidFill>
      </dgm:spPr>
      <dgm:t>
        <a:bodyPr/>
        <a:lstStyle/>
        <a:p>
          <a:r>
            <a:rPr lang="es-ES" sz="1100" dirty="0"/>
            <a:t>Medición de </a:t>
          </a:r>
          <a:r>
            <a:rPr lang="es-ES" sz="1100" dirty="0" smtClean="0"/>
            <a:t>desempeño</a:t>
          </a:r>
          <a:endParaRPr lang="es-ES" sz="1100" dirty="0"/>
        </a:p>
      </dgm:t>
    </dgm:pt>
    <dgm:pt modelId="{01677EEC-479F-4C7B-AA50-540B1C211C07}" type="parTrans" cxnId="{73FA34BF-D027-42B1-A78B-34375EED09B4}">
      <dgm:prSet/>
      <dgm:spPr/>
      <dgm:t>
        <a:bodyPr/>
        <a:lstStyle/>
        <a:p>
          <a:endParaRPr lang="es-ES" sz="1800"/>
        </a:p>
      </dgm:t>
    </dgm:pt>
    <dgm:pt modelId="{360CAD46-03E9-4FCF-B969-1CB06DD07F69}" type="sibTrans" cxnId="{73FA34BF-D027-42B1-A78B-34375EED09B4}">
      <dgm:prSet/>
      <dgm:spPr>
        <a:solidFill>
          <a:srgbClr val="00B050"/>
        </a:solidFill>
      </dgm:spPr>
      <dgm:t>
        <a:bodyPr/>
        <a:lstStyle/>
        <a:p>
          <a:endParaRPr lang="es-ES" sz="1800"/>
        </a:p>
      </dgm:t>
    </dgm:pt>
    <dgm:pt modelId="{D32E76C1-5705-40D1-A2BA-0F34CB045F0A}" type="pres">
      <dgm:prSet presAssocID="{CE13B951-8846-4307-825A-DB3351E28E1B}" presName="Name0" presStyleCnt="0">
        <dgm:presLayoutVars>
          <dgm:chMax val="1"/>
          <dgm:dir/>
          <dgm:animLvl val="ctr"/>
          <dgm:resizeHandles val="exact"/>
        </dgm:presLayoutVars>
      </dgm:prSet>
      <dgm:spPr/>
      <dgm:t>
        <a:bodyPr/>
        <a:lstStyle/>
        <a:p>
          <a:endParaRPr lang="es-ES"/>
        </a:p>
      </dgm:t>
    </dgm:pt>
    <dgm:pt modelId="{746C071F-3A56-431D-81BD-A09E99FC352C}" type="pres">
      <dgm:prSet presAssocID="{E18E937B-DF3F-4CFD-9EA6-EAC686D9848C}" presName="centerShape" presStyleLbl="node0" presStyleIdx="0" presStyleCnt="1"/>
      <dgm:spPr/>
      <dgm:t>
        <a:bodyPr/>
        <a:lstStyle/>
        <a:p>
          <a:endParaRPr lang="es-ES"/>
        </a:p>
      </dgm:t>
    </dgm:pt>
    <dgm:pt modelId="{D51F8822-B0C1-4B5D-B31E-568EDF84AC19}" type="pres">
      <dgm:prSet presAssocID="{88B5358D-E82C-4CD6-A4ED-C4F2AF889872}" presName="node" presStyleLbl="node1" presStyleIdx="0" presStyleCnt="5">
        <dgm:presLayoutVars>
          <dgm:bulletEnabled val="1"/>
        </dgm:presLayoutVars>
      </dgm:prSet>
      <dgm:spPr/>
      <dgm:t>
        <a:bodyPr/>
        <a:lstStyle/>
        <a:p>
          <a:endParaRPr lang="es-ES"/>
        </a:p>
      </dgm:t>
    </dgm:pt>
    <dgm:pt modelId="{3FEF4ACB-0B00-480B-83D7-E0732F787B3C}" type="pres">
      <dgm:prSet presAssocID="{88B5358D-E82C-4CD6-A4ED-C4F2AF889872}" presName="dummy" presStyleCnt="0"/>
      <dgm:spPr/>
    </dgm:pt>
    <dgm:pt modelId="{61F39190-50E4-4B55-B5EB-BA02555D594B}" type="pres">
      <dgm:prSet presAssocID="{44C40A35-88B5-4D50-B104-A1A79F6A3D93}" presName="sibTrans" presStyleLbl="sibTrans2D1" presStyleIdx="0" presStyleCnt="5"/>
      <dgm:spPr/>
      <dgm:t>
        <a:bodyPr/>
        <a:lstStyle/>
        <a:p>
          <a:endParaRPr lang="es-ES"/>
        </a:p>
      </dgm:t>
    </dgm:pt>
    <dgm:pt modelId="{6B2235A6-0275-4608-9C5B-6223B40A2420}" type="pres">
      <dgm:prSet presAssocID="{D6955770-31C5-47E9-815A-99ED15896555}" presName="node" presStyleLbl="node1" presStyleIdx="1" presStyleCnt="5">
        <dgm:presLayoutVars>
          <dgm:bulletEnabled val="1"/>
        </dgm:presLayoutVars>
      </dgm:prSet>
      <dgm:spPr/>
      <dgm:t>
        <a:bodyPr/>
        <a:lstStyle/>
        <a:p>
          <a:endParaRPr lang="es-ES"/>
        </a:p>
      </dgm:t>
    </dgm:pt>
    <dgm:pt modelId="{097EF0C7-3CE6-45D5-A940-56CEACA8ECB1}" type="pres">
      <dgm:prSet presAssocID="{D6955770-31C5-47E9-815A-99ED15896555}" presName="dummy" presStyleCnt="0"/>
      <dgm:spPr/>
    </dgm:pt>
    <dgm:pt modelId="{69BE5B11-3A1C-4E09-BBFE-D82E0DCA2E21}" type="pres">
      <dgm:prSet presAssocID="{5C5EEB69-D0C7-40DC-857F-C3C460F8032C}" presName="sibTrans" presStyleLbl="sibTrans2D1" presStyleIdx="1" presStyleCnt="5"/>
      <dgm:spPr/>
      <dgm:t>
        <a:bodyPr/>
        <a:lstStyle/>
        <a:p>
          <a:endParaRPr lang="es-ES"/>
        </a:p>
      </dgm:t>
    </dgm:pt>
    <dgm:pt modelId="{63564F67-97C8-45D3-8B09-4ACD6EB762C4}" type="pres">
      <dgm:prSet presAssocID="{1BFD33EE-4386-49CB-A629-58E7F589826B}" presName="node" presStyleLbl="node1" presStyleIdx="2" presStyleCnt="5">
        <dgm:presLayoutVars>
          <dgm:bulletEnabled val="1"/>
        </dgm:presLayoutVars>
      </dgm:prSet>
      <dgm:spPr/>
      <dgm:t>
        <a:bodyPr/>
        <a:lstStyle/>
        <a:p>
          <a:endParaRPr lang="es-ES"/>
        </a:p>
      </dgm:t>
    </dgm:pt>
    <dgm:pt modelId="{362CE827-F599-4CD5-B628-CB6D4B775D2F}" type="pres">
      <dgm:prSet presAssocID="{1BFD33EE-4386-49CB-A629-58E7F589826B}" presName="dummy" presStyleCnt="0"/>
      <dgm:spPr/>
    </dgm:pt>
    <dgm:pt modelId="{59093DAE-D75C-4D64-962D-DB89A963CEEA}" type="pres">
      <dgm:prSet presAssocID="{F4F55780-4F89-42AC-8DB9-135AF44DA94D}" presName="sibTrans" presStyleLbl="sibTrans2D1" presStyleIdx="2" presStyleCnt="5"/>
      <dgm:spPr/>
      <dgm:t>
        <a:bodyPr/>
        <a:lstStyle/>
        <a:p>
          <a:endParaRPr lang="es-ES"/>
        </a:p>
      </dgm:t>
    </dgm:pt>
    <dgm:pt modelId="{81B047A1-6518-437F-82F1-747D0C08BC70}" type="pres">
      <dgm:prSet presAssocID="{07F504B8-9762-4D4C-B990-A702AE8625F7}" presName="node" presStyleLbl="node1" presStyleIdx="3" presStyleCnt="5">
        <dgm:presLayoutVars>
          <dgm:bulletEnabled val="1"/>
        </dgm:presLayoutVars>
      </dgm:prSet>
      <dgm:spPr/>
      <dgm:t>
        <a:bodyPr/>
        <a:lstStyle/>
        <a:p>
          <a:endParaRPr lang="es-ES"/>
        </a:p>
      </dgm:t>
    </dgm:pt>
    <dgm:pt modelId="{0075058B-472F-4292-BED8-FCE9CB458C87}" type="pres">
      <dgm:prSet presAssocID="{07F504B8-9762-4D4C-B990-A702AE8625F7}" presName="dummy" presStyleCnt="0"/>
      <dgm:spPr/>
    </dgm:pt>
    <dgm:pt modelId="{1DA59FE8-A868-4750-AD14-76070945C5AF}" type="pres">
      <dgm:prSet presAssocID="{B2AE4746-76D4-4483-A1CE-21B913B46A8E}" presName="sibTrans" presStyleLbl="sibTrans2D1" presStyleIdx="3" presStyleCnt="5"/>
      <dgm:spPr/>
      <dgm:t>
        <a:bodyPr/>
        <a:lstStyle/>
        <a:p>
          <a:endParaRPr lang="es-ES"/>
        </a:p>
      </dgm:t>
    </dgm:pt>
    <dgm:pt modelId="{C6448A8E-6DD5-4387-B3E4-537D66456A8E}" type="pres">
      <dgm:prSet presAssocID="{C8095D52-5912-4473-9CE1-4CF7112548F8}" presName="node" presStyleLbl="node1" presStyleIdx="4" presStyleCnt="5">
        <dgm:presLayoutVars>
          <dgm:bulletEnabled val="1"/>
        </dgm:presLayoutVars>
      </dgm:prSet>
      <dgm:spPr/>
      <dgm:t>
        <a:bodyPr/>
        <a:lstStyle/>
        <a:p>
          <a:endParaRPr lang="es-ES"/>
        </a:p>
      </dgm:t>
    </dgm:pt>
    <dgm:pt modelId="{A2C8CA65-1EE5-452C-8345-32884D0232BA}" type="pres">
      <dgm:prSet presAssocID="{C8095D52-5912-4473-9CE1-4CF7112548F8}" presName="dummy" presStyleCnt="0"/>
      <dgm:spPr/>
    </dgm:pt>
    <dgm:pt modelId="{D631FA20-2BEA-469D-88EE-26D7201DC94A}" type="pres">
      <dgm:prSet presAssocID="{360CAD46-03E9-4FCF-B969-1CB06DD07F69}" presName="sibTrans" presStyleLbl="sibTrans2D1" presStyleIdx="4" presStyleCnt="5"/>
      <dgm:spPr/>
      <dgm:t>
        <a:bodyPr/>
        <a:lstStyle/>
        <a:p>
          <a:endParaRPr lang="es-ES"/>
        </a:p>
      </dgm:t>
    </dgm:pt>
  </dgm:ptLst>
  <dgm:cxnLst>
    <dgm:cxn modelId="{C22D77C1-3A04-4B9D-AF59-26BBB0DED674}" type="presOf" srcId="{07F504B8-9762-4D4C-B990-A702AE8625F7}" destId="{81B047A1-6518-437F-82F1-747D0C08BC70}" srcOrd="0" destOrd="0" presId="urn:microsoft.com/office/officeart/2005/8/layout/radial6"/>
    <dgm:cxn modelId="{DEB1ACA8-5444-437C-9283-74A9B54A3FA4}" type="presOf" srcId="{360CAD46-03E9-4FCF-B969-1CB06DD07F69}" destId="{D631FA20-2BEA-469D-88EE-26D7201DC94A}" srcOrd="0" destOrd="0" presId="urn:microsoft.com/office/officeart/2005/8/layout/radial6"/>
    <dgm:cxn modelId="{3F7234F3-E820-4A64-9F59-A085A343901D}" srcId="{E18E937B-DF3F-4CFD-9EA6-EAC686D9848C}" destId="{D6955770-31C5-47E9-815A-99ED15896555}" srcOrd="1" destOrd="0" parTransId="{E5E8607C-5703-4A5B-822D-B4E56D5B8FDF}" sibTransId="{5C5EEB69-D0C7-40DC-857F-C3C460F8032C}"/>
    <dgm:cxn modelId="{017234E3-1A2E-44EF-BAF8-9D4B48B87C52}" srcId="{E18E937B-DF3F-4CFD-9EA6-EAC686D9848C}" destId="{88B5358D-E82C-4CD6-A4ED-C4F2AF889872}" srcOrd="0" destOrd="0" parTransId="{335A593F-6F3A-43E7-9E60-9302CBA4CD44}" sibTransId="{44C40A35-88B5-4D50-B104-A1A79F6A3D93}"/>
    <dgm:cxn modelId="{C1ED7B26-5F8B-4762-9F98-B3A57D5F468B}" type="presOf" srcId="{1BFD33EE-4386-49CB-A629-58E7F589826B}" destId="{63564F67-97C8-45D3-8B09-4ACD6EB762C4}" srcOrd="0" destOrd="0" presId="urn:microsoft.com/office/officeart/2005/8/layout/radial6"/>
    <dgm:cxn modelId="{191F5381-C8A9-48C1-9B88-509F0D234BC6}" type="presOf" srcId="{88B5358D-E82C-4CD6-A4ED-C4F2AF889872}" destId="{D51F8822-B0C1-4B5D-B31E-568EDF84AC19}" srcOrd="0" destOrd="0" presId="urn:microsoft.com/office/officeart/2005/8/layout/radial6"/>
    <dgm:cxn modelId="{11372E21-7340-4584-8A90-50E993C0DED7}" type="presOf" srcId="{C8095D52-5912-4473-9CE1-4CF7112548F8}" destId="{C6448A8E-6DD5-4387-B3E4-537D66456A8E}" srcOrd="0" destOrd="0" presId="urn:microsoft.com/office/officeart/2005/8/layout/radial6"/>
    <dgm:cxn modelId="{97696F5B-05EB-450A-AFE1-7220462FD29B}" srcId="{E18E937B-DF3F-4CFD-9EA6-EAC686D9848C}" destId="{1BFD33EE-4386-49CB-A629-58E7F589826B}" srcOrd="2" destOrd="0" parTransId="{3CFD641D-6730-4210-979A-78B6E482C35D}" sibTransId="{F4F55780-4F89-42AC-8DB9-135AF44DA94D}"/>
    <dgm:cxn modelId="{2F2A47F8-5FA1-46F1-A9EE-D4CA8CBEBF19}" type="presOf" srcId="{E18E937B-DF3F-4CFD-9EA6-EAC686D9848C}" destId="{746C071F-3A56-431D-81BD-A09E99FC352C}" srcOrd="0" destOrd="0" presId="urn:microsoft.com/office/officeart/2005/8/layout/radial6"/>
    <dgm:cxn modelId="{6BB6546D-A14E-4EA8-BB89-2F47190ACFCF}" srcId="{E18E937B-DF3F-4CFD-9EA6-EAC686D9848C}" destId="{07F504B8-9762-4D4C-B990-A702AE8625F7}" srcOrd="3" destOrd="0" parTransId="{EAF07638-9723-40F7-B629-73D2EAF4B8D7}" sibTransId="{B2AE4746-76D4-4483-A1CE-21B913B46A8E}"/>
    <dgm:cxn modelId="{75E02FFB-ECB8-4668-8B96-87AC03F22B1D}" type="presOf" srcId="{D6955770-31C5-47E9-815A-99ED15896555}" destId="{6B2235A6-0275-4608-9C5B-6223B40A2420}" srcOrd="0" destOrd="0" presId="urn:microsoft.com/office/officeart/2005/8/layout/radial6"/>
    <dgm:cxn modelId="{5B31D5AE-083F-42D1-89D1-6308F825486D}" type="presOf" srcId="{44C40A35-88B5-4D50-B104-A1A79F6A3D93}" destId="{61F39190-50E4-4B55-B5EB-BA02555D594B}" srcOrd="0" destOrd="0" presId="urn:microsoft.com/office/officeart/2005/8/layout/radial6"/>
    <dgm:cxn modelId="{BA7E6DF7-15FE-47BD-834C-0CD3F691ED69}" type="presOf" srcId="{CE13B951-8846-4307-825A-DB3351E28E1B}" destId="{D32E76C1-5705-40D1-A2BA-0F34CB045F0A}" srcOrd="0" destOrd="0" presId="urn:microsoft.com/office/officeart/2005/8/layout/radial6"/>
    <dgm:cxn modelId="{69AFC230-AEC5-4933-ACA1-6B7785B9DC53}" type="presOf" srcId="{F4F55780-4F89-42AC-8DB9-135AF44DA94D}" destId="{59093DAE-D75C-4D64-962D-DB89A963CEEA}" srcOrd="0" destOrd="0" presId="urn:microsoft.com/office/officeart/2005/8/layout/radial6"/>
    <dgm:cxn modelId="{73FA34BF-D027-42B1-A78B-34375EED09B4}" srcId="{E18E937B-DF3F-4CFD-9EA6-EAC686D9848C}" destId="{C8095D52-5912-4473-9CE1-4CF7112548F8}" srcOrd="4" destOrd="0" parTransId="{01677EEC-479F-4C7B-AA50-540B1C211C07}" sibTransId="{360CAD46-03E9-4FCF-B969-1CB06DD07F69}"/>
    <dgm:cxn modelId="{CAB12E31-428E-4AF3-89B4-FB77E926B073}" type="presOf" srcId="{B2AE4746-76D4-4483-A1CE-21B913B46A8E}" destId="{1DA59FE8-A868-4750-AD14-76070945C5AF}" srcOrd="0" destOrd="0" presId="urn:microsoft.com/office/officeart/2005/8/layout/radial6"/>
    <dgm:cxn modelId="{6FF13546-51C4-4E8A-B626-D3C0AF6E8F38}" type="presOf" srcId="{5C5EEB69-D0C7-40DC-857F-C3C460F8032C}" destId="{69BE5B11-3A1C-4E09-BBFE-D82E0DCA2E21}" srcOrd="0" destOrd="0" presId="urn:microsoft.com/office/officeart/2005/8/layout/radial6"/>
    <dgm:cxn modelId="{B8141084-83CC-4A15-811D-90414616D608}" srcId="{CE13B951-8846-4307-825A-DB3351E28E1B}" destId="{E18E937B-DF3F-4CFD-9EA6-EAC686D9848C}" srcOrd="0" destOrd="0" parTransId="{A951E2CA-3DF8-4D8F-8D92-705E2785D8FE}" sibTransId="{4113D912-AE8D-4B38-8955-31FE07B78092}"/>
    <dgm:cxn modelId="{27A0E53D-F901-43C5-8CC6-D3FAB6B83900}" type="presParOf" srcId="{D32E76C1-5705-40D1-A2BA-0F34CB045F0A}" destId="{746C071F-3A56-431D-81BD-A09E99FC352C}" srcOrd="0" destOrd="0" presId="urn:microsoft.com/office/officeart/2005/8/layout/radial6"/>
    <dgm:cxn modelId="{1B3548B0-50CE-4E4F-A4A6-E7CA3663CFAF}" type="presParOf" srcId="{D32E76C1-5705-40D1-A2BA-0F34CB045F0A}" destId="{D51F8822-B0C1-4B5D-B31E-568EDF84AC19}" srcOrd="1" destOrd="0" presId="urn:microsoft.com/office/officeart/2005/8/layout/radial6"/>
    <dgm:cxn modelId="{623AD080-77E1-4ADA-80E4-E5D0ADF3B1EC}" type="presParOf" srcId="{D32E76C1-5705-40D1-A2BA-0F34CB045F0A}" destId="{3FEF4ACB-0B00-480B-83D7-E0732F787B3C}" srcOrd="2" destOrd="0" presId="urn:microsoft.com/office/officeart/2005/8/layout/radial6"/>
    <dgm:cxn modelId="{F51F1818-3271-45D7-A8C8-C6E2924E56AD}" type="presParOf" srcId="{D32E76C1-5705-40D1-A2BA-0F34CB045F0A}" destId="{61F39190-50E4-4B55-B5EB-BA02555D594B}" srcOrd="3" destOrd="0" presId="urn:microsoft.com/office/officeart/2005/8/layout/radial6"/>
    <dgm:cxn modelId="{7308C94D-CB8B-4A3A-85EB-B650AC49020C}" type="presParOf" srcId="{D32E76C1-5705-40D1-A2BA-0F34CB045F0A}" destId="{6B2235A6-0275-4608-9C5B-6223B40A2420}" srcOrd="4" destOrd="0" presId="urn:microsoft.com/office/officeart/2005/8/layout/radial6"/>
    <dgm:cxn modelId="{C0F7CABE-9FFD-4C4F-BE4B-CF02E0E6C92D}" type="presParOf" srcId="{D32E76C1-5705-40D1-A2BA-0F34CB045F0A}" destId="{097EF0C7-3CE6-45D5-A940-56CEACA8ECB1}" srcOrd="5" destOrd="0" presId="urn:microsoft.com/office/officeart/2005/8/layout/radial6"/>
    <dgm:cxn modelId="{2B23C2E9-C43B-4B9A-830F-7042930858BC}" type="presParOf" srcId="{D32E76C1-5705-40D1-A2BA-0F34CB045F0A}" destId="{69BE5B11-3A1C-4E09-BBFE-D82E0DCA2E21}" srcOrd="6" destOrd="0" presId="urn:microsoft.com/office/officeart/2005/8/layout/radial6"/>
    <dgm:cxn modelId="{9EC2B354-CD32-4E72-985D-D371B5468967}" type="presParOf" srcId="{D32E76C1-5705-40D1-A2BA-0F34CB045F0A}" destId="{63564F67-97C8-45D3-8B09-4ACD6EB762C4}" srcOrd="7" destOrd="0" presId="urn:microsoft.com/office/officeart/2005/8/layout/radial6"/>
    <dgm:cxn modelId="{78801C24-56E8-45DA-8F29-AF308C3B641E}" type="presParOf" srcId="{D32E76C1-5705-40D1-A2BA-0F34CB045F0A}" destId="{362CE827-F599-4CD5-B628-CB6D4B775D2F}" srcOrd="8" destOrd="0" presId="urn:microsoft.com/office/officeart/2005/8/layout/radial6"/>
    <dgm:cxn modelId="{78A07E3D-3B6E-44AD-92F2-FEE7CA842195}" type="presParOf" srcId="{D32E76C1-5705-40D1-A2BA-0F34CB045F0A}" destId="{59093DAE-D75C-4D64-962D-DB89A963CEEA}" srcOrd="9" destOrd="0" presId="urn:microsoft.com/office/officeart/2005/8/layout/radial6"/>
    <dgm:cxn modelId="{414E7826-084B-49A0-A3C4-2ACEA6C57105}" type="presParOf" srcId="{D32E76C1-5705-40D1-A2BA-0F34CB045F0A}" destId="{81B047A1-6518-437F-82F1-747D0C08BC70}" srcOrd="10" destOrd="0" presId="urn:microsoft.com/office/officeart/2005/8/layout/radial6"/>
    <dgm:cxn modelId="{3B339106-72AD-4A74-BC13-8DE08D3916D1}" type="presParOf" srcId="{D32E76C1-5705-40D1-A2BA-0F34CB045F0A}" destId="{0075058B-472F-4292-BED8-FCE9CB458C87}" srcOrd="11" destOrd="0" presId="urn:microsoft.com/office/officeart/2005/8/layout/radial6"/>
    <dgm:cxn modelId="{DA3ABDB3-164C-4727-A0D3-CB62347735BF}" type="presParOf" srcId="{D32E76C1-5705-40D1-A2BA-0F34CB045F0A}" destId="{1DA59FE8-A868-4750-AD14-76070945C5AF}" srcOrd="12" destOrd="0" presId="urn:microsoft.com/office/officeart/2005/8/layout/radial6"/>
    <dgm:cxn modelId="{13161A90-82DE-4F80-AB29-1ACA6BA61609}" type="presParOf" srcId="{D32E76C1-5705-40D1-A2BA-0F34CB045F0A}" destId="{C6448A8E-6DD5-4387-B3E4-537D66456A8E}" srcOrd="13" destOrd="0" presId="urn:microsoft.com/office/officeart/2005/8/layout/radial6"/>
    <dgm:cxn modelId="{0FB2D74C-F6FD-4D3D-A95C-96A718E99E83}" type="presParOf" srcId="{D32E76C1-5705-40D1-A2BA-0F34CB045F0A}" destId="{A2C8CA65-1EE5-452C-8345-32884D0232BA}" srcOrd="14" destOrd="0" presId="urn:microsoft.com/office/officeart/2005/8/layout/radial6"/>
    <dgm:cxn modelId="{78F2A206-46EB-4B62-B4ED-2BC0C69544CE}" type="presParOf" srcId="{D32E76C1-5705-40D1-A2BA-0F34CB045F0A}" destId="{D631FA20-2BEA-469D-88EE-26D7201DC94A}" srcOrd="15"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87C0D40-E0BF-4D92-A74E-946484780486}" type="doc">
      <dgm:prSet loTypeId="urn:microsoft.com/office/officeart/2005/8/layout/hProcess9" loCatId="process" qsTypeId="urn:microsoft.com/office/officeart/2005/8/quickstyle/simple1" qsCatId="simple" csTypeId="urn:microsoft.com/office/officeart/2005/8/colors/accent1_2" csCatId="accent1" phldr="1"/>
      <dgm:spPr/>
    </dgm:pt>
    <dgm:pt modelId="{8C487F14-4049-4D52-B749-0D4482E102C3}">
      <dgm:prSet phldrT="[Texto]"/>
      <dgm:spPr>
        <a:solidFill>
          <a:schemeClr val="accent4">
            <a:lumMod val="75000"/>
          </a:schemeClr>
        </a:solidFill>
      </dgm:spPr>
      <dgm:t>
        <a:bodyPr/>
        <a:lstStyle/>
        <a:p>
          <a:r>
            <a:rPr lang="es-ES" dirty="0"/>
            <a:t>Debe ser una solución operativa</a:t>
          </a:r>
        </a:p>
      </dgm:t>
    </dgm:pt>
    <dgm:pt modelId="{DBB644F7-8E8E-41BC-A6C4-E4FF58CC8AA5}" type="parTrans" cxnId="{CA5FA723-BE1E-40C8-94B0-112BC16F3D54}">
      <dgm:prSet/>
      <dgm:spPr/>
      <dgm:t>
        <a:bodyPr/>
        <a:lstStyle/>
        <a:p>
          <a:endParaRPr lang="es-ES"/>
        </a:p>
      </dgm:t>
    </dgm:pt>
    <dgm:pt modelId="{01296693-B8EF-47E9-88ED-B1ABDCFD8FA9}" type="sibTrans" cxnId="{CA5FA723-BE1E-40C8-94B0-112BC16F3D54}">
      <dgm:prSet/>
      <dgm:spPr/>
      <dgm:t>
        <a:bodyPr/>
        <a:lstStyle/>
        <a:p>
          <a:endParaRPr lang="es-ES"/>
        </a:p>
      </dgm:t>
    </dgm:pt>
    <dgm:pt modelId="{FA4F0A1D-DD93-4697-A646-82585DF3FF55}">
      <dgm:prSet phldrT="[Texto]"/>
      <dgm:spPr>
        <a:solidFill>
          <a:schemeClr val="accent4">
            <a:lumMod val="75000"/>
          </a:schemeClr>
        </a:solidFill>
      </dgm:spPr>
      <dgm:t>
        <a:bodyPr/>
        <a:lstStyle/>
        <a:p>
          <a:r>
            <a:rPr lang="es-ES" dirty="0"/>
            <a:t>Mejorar el desempeño y posibilitar la ventaja competitiva</a:t>
          </a:r>
        </a:p>
      </dgm:t>
    </dgm:pt>
    <dgm:pt modelId="{41FDAC1A-17DA-4A6E-869E-7C0DDFC05D24}" type="parTrans" cxnId="{F2CF760D-BF40-48E0-AA79-C11D628F2B3C}">
      <dgm:prSet/>
      <dgm:spPr/>
      <dgm:t>
        <a:bodyPr/>
        <a:lstStyle/>
        <a:p>
          <a:endParaRPr lang="es-ES"/>
        </a:p>
      </dgm:t>
    </dgm:pt>
    <dgm:pt modelId="{EF5E6DC7-8C62-443D-A073-7145F9EA3A49}" type="sibTrans" cxnId="{F2CF760D-BF40-48E0-AA79-C11D628F2B3C}">
      <dgm:prSet/>
      <dgm:spPr/>
      <dgm:t>
        <a:bodyPr/>
        <a:lstStyle/>
        <a:p>
          <a:endParaRPr lang="es-ES"/>
        </a:p>
      </dgm:t>
    </dgm:pt>
    <dgm:pt modelId="{10D9FA30-84D9-4601-8891-73C767302AC8}">
      <dgm:prSet phldrT="[Texto]"/>
      <dgm:spPr>
        <a:solidFill>
          <a:schemeClr val="accent4">
            <a:lumMod val="75000"/>
          </a:schemeClr>
        </a:solidFill>
      </dgm:spPr>
      <dgm:t>
        <a:bodyPr/>
        <a:lstStyle/>
        <a:p>
          <a:r>
            <a:rPr lang="es-ES" dirty="0"/>
            <a:t>Apoyar en prevenir problemas</a:t>
          </a:r>
        </a:p>
      </dgm:t>
    </dgm:pt>
    <dgm:pt modelId="{5DD176F8-9591-47DC-837B-F34D32342AB4}" type="parTrans" cxnId="{63EBE426-2B33-4500-8E88-C9E01A4C70C4}">
      <dgm:prSet/>
      <dgm:spPr/>
      <dgm:t>
        <a:bodyPr/>
        <a:lstStyle/>
        <a:p>
          <a:endParaRPr lang="es-ES"/>
        </a:p>
      </dgm:t>
    </dgm:pt>
    <dgm:pt modelId="{88EEF233-2E13-404A-8CDF-2603FC1AEF00}" type="sibTrans" cxnId="{63EBE426-2B33-4500-8E88-C9E01A4C70C4}">
      <dgm:prSet/>
      <dgm:spPr/>
      <dgm:t>
        <a:bodyPr/>
        <a:lstStyle/>
        <a:p>
          <a:endParaRPr lang="es-ES"/>
        </a:p>
      </dgm:t>
    </dgm:pt>
    <dgm:pt modelId="{B09B1B2A-B832-45F3-96B1-2596063BFCD9}" type="pres">
      <dgm:prSet presAssocID="{C87C0D40-E0BF-4D92-A74E-946484780486}" presName="CompostProcess" presStyleCnt="0">
        <dgm:presLayoutVars>
          <dgm:dir/>
          <dgm:resizeHandles val="exact"/>
        </dgm:presLayoutVars>
      </dgm:prSet>
      <dgm:spPr/>
    </dgm:pt>
    <dgm:pt modelId="{819F93CA-D67B-4784-B7AF-3AC89A4A8D66}" type="pres">
      <dgm:prSet presAssocID="{C87C0D40-E0BF-4D92-A74E-946484780486}" presName="arrow" presStyleLbl="bgShp" presStyleIdx="0" presStyleCnt="1"/>
      <dgm:spPr>
        <a:solidFill>
          <a:srgbClr val="003366"/>
        </a:solidFill>
      </dgm:spPr>
    </dgm:pt>
    <dgm:pt modelId="{50D247FC-A690-4E63-941A-DCE3A5E37E68}" type="pres">
      <dgm:prSet presAssocID="{C87C0D40-E0BF-4D92-A74E-946484780486}" presName="linearProcess" presStyleCnt="0"/>
      <dgm:spPr/>
    </dgm:pt>
    <dgm:pt modelId="{23A72640-4136-4180-9F76-12A723AB6446}" type="pres">
      <dgm:prSet presAssocID="{8C487F14-4049-4D52-B749-0D4482E102C3}" presName="textNode" presStyleLbl="node1" presStyleIdx="0" presStyleCnt="3">
        <dgm:presLayoutVars>
          <dgm:bulletEnabled val="1"/>
        </dgm:presLayoutVars>
      </dgm:prSet>
      <dgm:spPr/>
      <dgm:t>
        <a:bodyPr/>
        <a:lstStyle/>
        <a:p>
          <a:endParaRPr lang="es-ES"/>
        </a:p>
      </dgm:t>
    </dgm:pt>
    <dgm:pt modelId="{01D7E9F9-672D-4E81-A828-37C17643D612}" type="pres">
      <dgm:prSet presAssocID="{01296693-B8EF-47E9-88ED-B1ABDCFD8FA9}" presName="sibTrans" presStyleCnt="0"/>
      <dgm:spPr/>
    </dgm:pt>
    <dgm:pt modelId="{77C2E10B-DDF9-40BE-A05D-ED5D913C6DCD}" type="pres">
      <dgm:prSet presAssocID="{FA4F0A1D-DD93-4697-A646-82585DF3FF55}" presName="textNode" presStyleLbl="node1" presStyleIdx="1" presStyleCnt="3">
        <dgm:presLayoutVars>
          <dgm:bulletEnabled val="1"/>
        </dgm:presLayoutVars>
      </dgm:prSet>
      <dgm:spPr/>
      <dgm:t>
        <a:bodyPr/>
        <a:lstStyle/>
        <a:p>
          <a:endParaRPr lang="es-ES"/>
        </a:p>
      </dgm:t>
    </dgm:pt>
    <dgm:pt modelId="{853E2170-9D60-403E-AA68-FA44C4CFEEE4}" type="pres">
      <dgm:prSet presAssocID="{EF5E6DC7-8C62-443D-A073-7145F9EA3A49}" presName="sibTrans" presStyleCnt="0"/>
      <dgm:spPr/>
    </dgm:pt>
    <dgm:pt modelId="{AA939A71-A816-4971-8EEE-B378977E4EAA}" type="pres">
      <dgm:prSet presAssocID="{10D9FA30-84D9-4601-8891-73C767302AC8}" presName="textNode" presStyleLbl="node1" presStyleIdx="2" presStyleCnt="3">
        <dgm:presLayoutVars>
          <dgm:bulletEnabled val="1"/>
        </dgm:presLayoutVars>
      </dgm:prSet>
      <dgm:spPr/>
      <dgm:t>
        <a:bodyPr/>
        <a:lstStyle/>
        <a:p>
          <a:endParaRPr lang="es-ES"/>
        </a:p>
      </dgm:t>
    </dgm:pt>
  </dgm:ptLst>
  <dgm:cxnLst>
    <dgm:cxn modelId="{972CB91D-5DB2-4C6C-90BA-18FA382F12C2}" type="presOf" srcId="{FA4F0A1D-DD93-4697-A646-82585DF3FF55}" destId="{77C2E10B-DDF9-40BE-A05D-ED5D913C6DCD}" srcOrd="0" destOrd="0" presId="urn:microsoft.com/office/officeart/2005/8/layout/hProcess9"/>
    <dgm:cxn modelId="{F2CF760D-BF40-48E0-AA79-C11D628F2B3C}" srcId="{C87C0D40-E0BF-4D92-A74E-946484780486}" destId="{FA4F0A1D-DD93-4697-A646-82585DF3FF55}" srcOrd="1" destOrd="0" parTransId="{41FDAC1A-17DA-4A6E-869E-7C0DDFC05D24}" sibTransId="{EF5E6DC7-8C62-443D-A073-7145F9EA3A49}"/>
    <dgm:cxn modelId="{D1C06AEC-DE7F-455A-8AE5-A9384253A135}" type="presOf" srcId="{8C487F14-4049-4D52-B749-0D4482E102C3}" destId="{23A72640-4136-4180-9F76-12A723AB6446}" srcOrd="0" destOrd="0" presId="urn:microsoft.com/office/officeart/2005/8/layout/hProcess9"/>
    <dgm:cxn modelId="{CA5FA723-BE1E-40C8-94B0-112BC16F3D54}" srcId="{C87C0D40-E0BF-4D92-A74E-946484780486}" destId="{8C487F14-4049-4D52-B749-0D4482E102C3}" srcOrd="0" destOrd="0" parTransId="{DBB644F7-8E8E-41BC-A6C4-E4FF58CC8AA5}" sibTransId="{01296693-B8EF-47E9-88ED-B1ABDCFD8FA9}"/>
    <dgm:cxn modelId="{63EBE426-2B33-4500-8E88-C9E01A4C70C4}" srcId="{C87C0D40-E0BF-4D92-A74E-946484780486}" destId="{10D9FA30-84D9-4601-8891-73C767302AC8}" srcOrd="2" destOrd="0" parTransId="{5DD176F8-9591-47DC-837B-F34D32342AB4}" sibTransId="{88EEF233-2E13-404A-8CDF-2603FC1AEF00}"/>
    <dgm:cxn modelId="{8F3A7F5B-18D9-4022-AFA6-D16CCD99FB9F}" type="presOf" srcId="{C87C0D40-E0BF-4D92-A74E-946484780486}" destId="{B09B1B2A-B832-45F3-96B1-2596063BFCD9}" srcOrd="0" destOrd="0" presId="urn:microsoft.com/office/officeart/2005/8/layout/hProcess9"/>
    <dgm:cxn modelId="{B9BC51B5-8819-44A1-8A47-0FFA0620823C}" type="presOf" srcId="{10D9FA30-84D9-4601-8891-73C767302AC8}" destId="{AA939A71-A816-4971-8EEE-B378977E4EAA}" srcOrd="0" destOrd="0" presId="urn:microsoft.com/office/officeart/2005/8/layout/hProcess9"/>
    <dgm:cxn modelId="{52E25AB5-9B19-4A42-B793-7234C8863D73}" type="presParOf" srcId="{B09B1B2A-B832-45F3-96B1-2596063BFCD9}" destId="{819F93CA-D67B-4784-B7AF-3AC89A4A8D66}" srcOrd="0" destOrd="0" presId="urn:microsoft.com/office/officeart/2005/8/layout/hProcess9"/>
    <dgm:cxn modelId="{23A91BAF-729D-4EDF-8E4D-5DFA226289F7}" type="presParOf" srcId="{B09B1B2A-B832-45F3-96B1-2596063BFCD9}" destId="{50D247FC-A690-4E63-941A-DCE3A5E37E68}" srcOrd="1" destOrd="0" presId="urn:microsoft.com/office/officeart/2005/8/layout/hProcess9"/>
    <dgm:cxn modelId="{3C095448-542D-42E4-B05B-BE674F9E621C}" type="presParOf" srcId="{50D247FC-A690-4E63-941A-DCE3A5E37E68}" destId="{23A72640-4136-4180-9F76-12A723AB6446}" srcOrd="0" destOrd="0" presId="urn:microsoft.com/office/officeart/2005/8/layout/hProcess9"/>
    <dgm:cxn modelId="{78C3C262-96C1-4239-BA50-AFE7A5F6852B}" type="presParOf" srcId="{50D247FC-A690-4E63-941A-DCE3A5E37E68}" destId="{01D7E9F9-672D-4E81-A828-37C17643D612}" srcOrd="1" destOrd="0" presId="urn:microsoft.com/office/officeart/2005/8/layout/hProcess9"/>
    <dgm:cxn modelId="{65B0E780-280C-4BBD-8978-FC78AB2D1558}" type="presParOf" srcId="{50D247FC-A690-4E63-941A-DCE3A5E37E68}" destId="{77C2E10B-DDF9-40BE-A05D-ED5D913C6DCD}" srcOrd="2" destOrd="0" presId="urn:microsoft.com/office/officeart/2005/8/layout/hProcess9"/>
    <dgm:cxn modelId="{EAD52AEF-2D5B-4F57-B327-FA910C1726B0}" type="presParOf" srcId="{50D247FC-A690-4E63-941A-DCE3A5E37E68}" destId="{853E2170-9D60-403E-AA68-FA44C4CFEEE4}" srcOrd="3" destOrd="0" presId="urn:microsoft.com/office/officeart/2005/8/layout/hProcess9"/>
    <dgm:cxn modelId="{04844B97-F0FB-405F-91CD-887323E92C40}" type="presParOf" srcId="{50D247FC-A690-4E63-941A-DCE3A5E37E68}" destId="{AA939A71-A816-4971-8EEE-B378977E4EAA}"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79F91E1-AA6B-42DE-8093-AD146835EA7A}" type="doc">
      <dgm:prSet loTypeId="urn:microsoft.com/office/officeart/2005/8/layout/cycle6" loCatId="cycle" qsTypeId="urn:microsoft.com/office/officeart/2005/8/quickstyle/simple1" qsCatId="simple" csTypeId="urn:microsoft.com/office/officeart/2005/8/colors/accent1_2" csCatId="accent1" phldr="1"/>
      <dgm:spPr/>
      <dgm:t>
        <a:bodyPr/>
        <a:lstStyle/>
        <a:p>
          <a:endParaRPr lang="es-ES"/>
        </a:p>
      </dgm:t>
    </dgm:pt>
    <dgm:pt modelId="{F895BAB2-D8D6-4C0F-8455-50320C5F00C4}">
      <dgm:prSet phldrT="[Texto]" custT="1"/>
      <dgm:spPr>
        <a:solidFill>
          <a:schemeClr val="accent1">
            <a:lumMod val="50000"/>
          </a:schemeClr>
        </a:solidFill>
      </dgm:spPr>
      <dgm:t>
        <a:bodyPr/>
        <a:lstStyle/>
        <a:p>
          <a:r>
            <a:rPr lang="es-ES" sz="1200" b="1" dirty="0"/>
            <a:t>Principio 1. </a:t>
          </a:r>
          <a:r>
            <a:rPr lang="es-ES" sz="1200" b="1" dirty="0">
              <a:solidFill>
                <a:srgbClr val="1DFD52"/>
              </a:solidFill>
            </a:rPr>
            <a:t>Responsabilidad</a:t>
          </a:r>
        </a:p>
      </dgm:t>
    </dgm:pt>
    <dgm:pt modelId="{7A43928D-E7BC-4909-AAF6-694AEAEFE3FD}" type="parTrans" cxnId="{056108CD-A7D9-4787-BA63-999027676073}">
      <dgm:prSet/>
      <dgm:spPr/>
      <dgm:t>
        <a:bodyPr/>
        <a:lstStyle/>
        <a:p>
          <a:endParaRPr lang="es-ES"/>
        </a:p>
      </dgm:t>
    </dgm:pt>
    <dgm:pt modelId="{24995825-B197-4EDB-8909-C789D53FC62D}" type="sibTrans" cxnId="{056108CD-A7D9-4787-BA63-999027676073}">
      <dgm:prSet/>
      <dgm:spPr/>
      <dgm:t>
        <a:bodyPr/>
        <a:lstStyle/>
        <a:p>
          <a:endParaRPr lang="es-ES"/>
        </a:p>
      </dgm:t>
    </dgm:pt>
    <dgm:pt modelId="{D163B0C6-DA64-4607-9367-A17DB925BF72}">
      <dgm:prSet phldrT="[Texto]"/>
      <dgm:spPr>
        <a:solidFill>
          <a:schemeClr val="accent1">
            <a:lumMod val="50000"/>
          </a:schemeClr>
        </a:solidFill>
      </dgm:spPr>
      <dgm:t>
        <a:bodyPr/>
        <a:lstStyle/>
        <a:p>
          <a:r>
            <a:rPr lang="es-ES" b="1" dirty="0"/>
            <a:t>Principio 2. </a:t>
          </a:r>
          <a:br>
            <a:rPr lang="es-ES" b="1" dirty="0"/>
          </a:br>
          <a:r>
            <a:rPr lang="es-ES" b="1" dirty="0">
              <a:solidFill>
                <a:srgbClr val="1DFD52"/>
              </a:solidFill>
            </a:rPr>
            <a:t>Estrategia</a:t>
          </a:r>
        </a:p>
      </dgm:t>
    </dgm:pt>
    <dgm:pt modelId="{FA7C7C6A-85BF-4686-A2C4-D51EDACDE77E}" type="parTrans" cxnId="{E68928FD-8936-47FE-B73B-CCE4D5955DFB}">
      <dgm:prSet/>
      <dgm:spPr/>
      <dgm:t>
        <a:bodyPr/>
        <a:lstStyle/>
        <a:p>
          <a:endParaRPr lang="es-ES"/>
        </a:p>
      </dgm:t>
    </dgm:pt>
    <dgm:pt modelId="{13DC7C2D-12DC-4F1E-80DE-5213B5708C67}" type="sibTrans" cxnId="{E68928FD-8936-47FE-B73B-CCE4D5955DFB}">
      <dgm:prSet/>
      <dgm:spPr/>
      <dgm:t>
        <a:bodyPr/>
        <a:lstStyle/>
        <a:p>
          <a:endParaRPr lang="es-ES"/>
        </a:p>
      </dgm:t>
    </dgm:pt>
    <dgm:pt modelId="{55F71D5B-A23A-4AAC-96FB-921B0A66A8BD}">
      <dgm:prSet phldrT="[Texto]"/>
      <dgm:spPr>
        <a:solidFill>
          <a:schemeClr val="accent1">
            <a:lumMod val="50000"/>
          </a:schemeClr>
        </a:solidFill>
      </dgm:spPr>
      <dgm:t>
        <a:bodyPr/>
        <a:lstStyle/>
        <a:p>
          <a:r>
            <a:rPr lang="es-ES" b="1" dirty="0"/>
            <a:t>Principio 3. </a:t>
          </a:r>
          <a:r>
            <a:rPr lang="es-ES" b="1" dirty="0">
              <a:solidFill>
                <a:srgbClr val="1DFD52"/>
              </a:solidFill>
            </a:rPr>
            <a:t>Adquisición</a:t>
          </a:r>
        </a:p>
      </dgm:t>
    </dgm:pt>
    <dgm:pt modelId="{B1B5D7C3-DEC1-4E98-8524-170D253D954E}" type="parTrans" cxnId="{2B1E28C8-B9B7-471A-A2CA-72C34918846D}">
      <dgm:prSet/>
      <dgm:spPr/>
      <dgm:t>
        <a:bodyPr/>
        <a:lstStyle/>
        <a:p>
          <a:endParaRPr lang="es-ES"/>
        </a:p>
      </dgm:t>
    </dgm:pt>
    <dgm:pt modelId="{6014F9CA-CF11-4719-95BE-DA0F217A5451}" type="sibTrans" cxnId="{2B1E28C8-B9B7-471A-A2CA-72C34918846D}">
      <dgm:prSet/>
      <dgm:spPr/>
      <dgm:t>
        <a:bodyPr/>
        <a:lstStyle/>
        <a:p>
          <a:endParaRPr lang="es-ES"/>
        </a:p>
      </dgm:t>
    </dgm:pt>
    <dgm:pt modelId="{003F88DC-E8EB-4136-B6CD-4022F816269F}">
      <dgm:prSet phldrT="[Texto]"/>
      <dgm:spPr>
        <a:solidFill>
          <a:schemeClr val="accent1">
            <a:lumMod val="50000"/>
          </a:schemeClr>
        </a:solidFill>
      </dgm:spPr>
      <dgm:t>
        <a:bodyPr/>
        <a:lstStyle/>
        <a:p>
          <a:r>
            <a:rPr lang="es-ES" b="1" dirty="0"/>
            <a:t>Principio 4. </a:t>
          </a:r>
          <a:r>
            <a:rPr lang="es-ES" b="1" dirty="0">
              <a:solidFill>
                <a:srgbClr val="1DFD52"/>
              </a:solidFill>
            </a:rPr>
            <a:t>Desempeño</a:t>
          </a:r>
        </a:p>
      </dgm:t>
    </dgm:pt>
    <dgm:pt modelId="{4CB11927-CA8A-44A7-8CD3-2A098A8597F0}" type="parTrans" cxnId="{4C8077AE-E604-4B4B-9E69-38B9BA569488}">
      <dgm:prSet/>
      <dgm:spPr/>
      <dgm:t>
        <a:bodyPr/>
        <a:lstStyle/>
        <a:p>
          <a:endParaRPr lang="es-ES"/>
        </a:p>
      </dgm:t>
    </dgm:pt>
    <dgm:pt modelId="{4CF977F0-1170-4A2E-864E-98EB5DC07FCD}" type="sibTrans" cxnId="{4C8077AE-E604-4B4B-9E69-38B9BA569488}">
      <dgm:prSet/>
      <dgm:spPr/>
      <dgm:t>
        <a:bodyPr/>
        <a:lstStyle/>
        <a:p>
          <a:endParaRPr lang="es-ES"/>
        </a:p>
      </dgm:t>
    </dgm:pt>
    <dgm:pt modelId="{CC173E59-EDE8-4513-AEE9-CC68AE5A3CDD}">
      <dgm:prSet phldrT="[Texto]"/>
      <dgm:spPr>
        <a:solidFill>
          <a:schemeClr val="accent1">
            <a:lumMod val="50000"/>
          </a:schemeClr>
        </a:solidFill>
      </dgm:spPr>
      <dgm:t>
        <a:bodyPr/>
        <a:lstStyle/>
        <a:p>
          <a:r>
            <a:rPr lang="es-ES" b="1" dirty="0"/>
            <a:t>Principio 6. </a:t>
          </a:r>
          <a:br>
            <a:rPr lang="es-ES" b="1" dirty="0"/>
          </a:br>
          <a:r>
            <a:rPr lang="es-ES" b="1" dirty="0">
              <a:solidFill>
                <a:srgbClr val="1DFD52"/>
              </a:solidFill>
            </a:rPr>
            <a:t>Conducta Humana</a:t>
          </a:r>
        </a:p>
      </dgm:t>
    </dgm:pt>
    <dgm:pt modelId="{6CEA6A03-4E04-4434-B725-B8D7FA5E8BC2}" type="parTrans" cxnId="{A6188E26-1724-4E69-B798-E6BB1F1C8979}">
      <dgm:prSet/>
      <dgm:spPr/>
      <dgm:t>
        <a:bodyPr/>
        <a:lstStyle/>
        <a:p>
          <a:endParaRPr lang="es-ES"/>
        </a:p>
      </dgm:t>
    </dgm:pt>
    <dgm:pt modelId="{8ADCDCB9-3683-4CE8-B929-C296AB55AFC6}" type="sibTrans" cxnId="{A6188E26-1724-4E69-B798-E6BB1F1C8979}">
      <dgm:prSet/>
      <dgm:spPr/>
      <dgm:t>
        <a:bodyPr/>
        <a:lstStyle/>
        <a:p>
          <a:endParaRPr lang="es-ES"/>
        </a:p>
      </dgm:t>
    </dgm:pt>
    <dgm:pt modelId="{59F6A37D-8FC9-4121-9340-C00CC4417DA7}">
      <dgm:prSet phldrT="[Texto]"/>
      <dgm:spPr>
        <a:solidFill>
          <a:schemeClr val="accent1">
            <a:lumMod val="50000"/>
          </a:schemeClr>
        </a:solidFill>
      </dgm:spPr>
      <dgm:t>
        <a:bodyPr/>
        <a:lstStyle/>
        <a:p>
          <a:r>
            <a:rPr lang="es-ES" b="1" dirty="0"/>
            <a:t>Principio 5. </a:t>
          </a:r>
          <a:r>
            <a:rPr lang="es-ES" b="1" dirty="0">
              <a:solidFill>
                <a:srgbClr val="1DFD52"/>
              </a:solidFill>
            </a:rPr>
            <a:t>Cumplimiento</a:t>
          </a:r>
        </a:p>
      </dgm:t>
    </dgm:pt>
    <dgm:pt modelId="{FE6DC02B-E239-4732-89DB-0C1862EAF8F4}" type="parTrans" cxnId="{C6E9F866-978F-49E5-ADAB-3D1CB0D73226}">
      <dgm:prSet/>
      <dgm:spPr/>
      <dgm:t>
        <a:bodyPr/>
        <a:lstStyle/>
        <a:p>
          <a:endParaRPr lang="es-ES"/>
        </a:p>
      </dgm:t>
    </dgm:pt>
    <dgm:pt modelId="{FE1439E6-6662-4AB3-ABBE-6C2107276ACF}" type="sibTrans" cxnId="{C6E9F866-978F-49E5-ADAB-3D1CB0D73226}">
      <dgm:prSet/>
      <dgm:spPr/>
      <dgm:t>
        <a:bodyPr/>
        <a:lstStyle/>
        <a:p>
          <a:endParaRPr lang="es-ES"/>
        </a:p>
      </dgm:t>
    </dgm:pt>
    <dgm:pt modelId="{24DD10C9-1A46-4D0C-8172-BB3CA356F0EC}" type="pres">
      <dgm:prSet presAssocID="{079F91E1-AA6B-42DE-8093-AD146835EA7A}" presName="cycle" presStyleCnt="0">
        <dgm:presLayoutVars>
          <dgm:dir/>
          <dgm:resizeHandles val="exact"/>
        </dgm:presLayoutVars>
      </dgm:prSet>
      <dgm:spPr/>
      <dgm:t>
        <a:bodyPr/>
        <a:lstStyle/>
        <a:p>
          <a:endParaRPr lang="es-ES"/>
        </a:p>
      </dgm:t>
    </dgm:pt>
    <dgm:pt modelId="{EFB0CEC1-0401-4474-89EF-4504DBDEA9CC}" type="pres">
      <dgm:prSet presAssocID="{F895BAB2-D8D6-4C0F-8455-50320C5F00C4}" presName="node" presStyleLbl="node1" presStyleIdx="0" presStyleCnt="6" custScaleX="116149">
        <dgm:presLayoutVars>
          <dgm:bulletEnabled val="1"/>
        </dgm:presLayoutVars>
      </dgm:prSet>
      <dgm:spPr/>
      <dgm:t>
        <a:bodyPr/>
        <a:lstStyle/>
        <a:p>
          <a:endParaRPr lang="es-ES"/>
        </a:p>
      </dgm:t>
    </dgm:pt>
    <dgm:pt modelId="{E3828E71-31A3-42F6-B8A0-BDFFE9BBFDEA}" type="pres">
      <dgm:prSet presAssocID="{F895BAB2-D8D6-4C0F-8455-50320C5F00C4}" presName="spNode" presStyleCnt="0"/>
      <dgm:spPr/>
    </dgm:pt>
    <dgm:pt modelId="{B21C75D6-723C-44F2-AD9B-5D34CB88A2D6}" type="pres">
      <dgm:prSet presAssocID="{24995825-B197-4EDB-8909-C789D53FC62D}" presName="sibTrans" presStyleLbl="sibTrans1D1" presStyleIdx="0" presStyleCnt="6"/>
      <dgm:spPr/>
      <dgm:t>
        <a:bodyPr/>
        <a:lstStyle/>
        <a:p>
          <a:endParaRPr lang="es-ES"/>
        </a:p>
      </dgm:t>
    </dgm:pt>
    <dgm:pt modelId="{4A196A65-F80F-4C03-B407-E1EEC9E641F5}" type="pres">
      <dgm:prSet presAssocID="{D163B0C6-DA64-4607-9367-A17DB925BF72}" presName="node" presStyleLbl="node1" presStyleIdx="1" presStyleCnt="6">
        <dgm:presLayoutVars>
          <dgm:bulletEnabled val="1"/>
        </dgm:presLayoutVars>
      </dgm:prSet>
      <dgm:spPr/>
      <dgm:t>
        <a:bodyPr/>
        <a:lstStyle/>
        <a:p>
          <a:endParaRPr lang="es-ES"/>
        </a:p>
      </dgm:t>
    </dgm:pt>
    <dgm:pt modelId="{34F38845-690E-48EE-BBD4-1590B1E2E565}" type="pres">
      <dgm:prSet presAssocID="{D163B0C6-DA64-4607-9367-A17DB925BF72}" presName="spNode" presStyleCnt="0"/>
      <dgm:spPr/>
    </dgm:pt>
    <dgm:pt modelId="{BEE8551F-4BE2-4E78-ACFD-1F2EAB13D193}" type="pres">
      <dgm:prSet presAssocID="{13DC7C2D-12DC-4F1E-80DE-5213B5708C67}" presName="sibTrans" presStyleLbl="sibTrans1D1" presStyleIdx="1" presStyleCnt="6"/>
      <dgm:spPr/>
      <dgm:t>
        <a:bodyPr/>
        <a:lstStyle/>
        <a:p>
          <a:endParaRPr lang="es-ES"/>
        </a:p>
      </dgm:t>
    </dgm:pt>
    <dgm:pt modelId="{AB2B17A1-BF2E-4315-ABEB-408DAACE436D}" type="pres">
      <dgm:prSet presAssocID="{55F71D5B-A23A-4AAC-96FB-921B0A66A8BD}" presName="node" presStyleLbl="node1" presStyleIdx="2" presStyleCnt="6">
        <dgm:presLayoutVars>
          <dgm:bulletEnabled val="1"/>
        </dgm:presLayoutVars>
      </dgm:prSet>
      <dgm:spPr/>
      <dgm:t>
        <a:bodyPr/>
        <a:lstStyle/>
        <a:p>
          <a:endParaRPr lang="es-ES"/>
        </a:p>
      </dgm:t>
    </dgm:pt>
    <dgm:pt modelId="{4AD80800-B003-4573-B849-7D978B4EBC63}" type="pres">
      <dgm:prSet presAssocID="{55F71D5B-A23A-4AAC-96FB-921B0A66A8BD}" presName="spNode" presStyleCnt="0"/>
      <dgm:spPr/>
    </dgm:pt>
    <dgm:pt modelId="{5862E0C6-9B07-4486-9E6B-BC1363784A3A}" type="pres">
      <dgm:prSet presAssocID="{6014F9CA-CF11-4719-95BE-DA0F217A5451}" presName="sibTrans" presStyleLbl="sibTrans1D1" presStyleIdx="2" presStyleCnt="6"/>
      <dgm:spPr/>
      <dgm:t>
        <a:bodyPr/>
        <a:lstStyle/>
        <a:p>
          <a:endParaRPr lang="es-ES"/>
        </a:p>
      </dgm:t>
    </dgm:pt>
    <dgm:pt modelId="{3341B7D9-5C01-4DAA-8A5C-107316171A1B}" type="pres">
      <dgm:prSet presAssocID="{003F88DC-E8EB-4136-B6CD-4022F816269F}" presName="node" presStyleLbl="node1" presStyleIdx="3" presStyleCnt="6">
        <dgm:presLayoutVars>
          <dgm:bulletEnabled val="1"/>
        </dgm:presLayoutVars>
      </dgm:prSet>
      <dgm:spPr/>
      <dgm:t>
        <a:bodyPr/>
        <a:lstStyle/>
        <a:p>
          <a:endParaRPr lang="es-ES"/>
        </a:p>
      </dgm:t>
    </dgm:pt>
    <dgm:pt modelId="{84D58408-5450-4B11-B37A-8ACDA30FAC56}" type="pres">
      <dgm:prSet presAssocID="{003F88DC-E8EB-4136-B6CD-4022F816269F}" presName="spNode" presStyleCnt="0"/>
      <dgm:spPr/>
    </dgm:pt>
    <dgm:pt modelId="{CCB89FA0-2ED9-420E-8BD1-ED0D27DDD367}" type="pres">
      <dgm:prSet presAssocID="{4CF977F0-1170-4A2E-864E-98EB5DC07FCD}" presName="sibTrans" presStyleLbl="sibTrans1D1" presStyleIdx="3" presStyleCnt="6"/>
      <dgm:spPr/>
      <dgm:t>
        <a:bodyPr/>
        <a:lstStyle/>
        <a:p>
          <a:endParaRPr lang="es-ES"/>
        </a:p>
      </dgm:t>
    </dgm:pt>
    <dgm:pt modelId="{83DC5BE5-E1B8-4152-986B-BA64C337273D}" type="pres">
      <dgm:prSet presAssocID="{59F6A37D-8FC9-4121-9340-C00CC4417DA7}" presName="node" presStyleLbl="node1" presStyleIdx="4" presStyleCnt="6">
        <dgm:presLayoutVars>
          <dgm:bulletEnabled val="1"/>
        </dgm:presLayoutVars>
      </dgm:prSet>
      <dgm:spPr/>
      <dgm:t>
        <a:bodyPr/>
        <a:lstStyle/>
        <a:p>
          <a:endParaRPr lang="es-ES"/>
        </a:p>
      </dgm:t>
    </dgm:pt>
    <dgm:pt modelId="{A1FA7CEB-301E-4E58-8FD6-EDB348C84EA7}" type="pres">
      <dgm:prSet presAssocID="{59F6A37D-8FC9-4121-9340-C00CC4417DA7}" presName="spNode" presStyleCnt="0"/>
      <dgm:spPr/>
    </dgm:pt>
    <dgm:pt modelId="{6B132F49-AA94-4FAA-95CF-E482C68D272A}" type="pres">
      <dgm:prSet presAssocID="{FE1439E6-6662-4AB3-ABBE-6C2107276ACF}" presName="sibTrans" presStyleLbl="sibTrans1D1" presStyleIdx="4" presStyleCnt="6"/>
      <dgm:spPr/>
      <dgm:t>
        <a:bodyPr/>
        <a:lstStyle/>
        <a:p>
          <a:endParaRPr lang="es-ES"/>
        </a:p>
      </dgm:t>
    </dgm:pt>
    <dgm:pt modelId="{CCA0785D-5FFC-4B67-8535-89830D84A18C}" type="pres">
      <dgm:prSet presAssocID="{CC173E59-EDE8-4513-AEE9-CC68AE5A3CDD}" presName="node" presStyleLbl="node1" presStyleIdx="5" presStyleCnt="6">
        <dgm:presLayoutVars>
          <dgm:bulletEnabled val="1"/>
        </dgm:presLayoutVars>
      </dgm:prSet>
      <dgm:spPr/>
      <dgm:t>
        <a:bodyPr/>
        <a:lstStyle/>
        <a:p>
          <a:endParaRPr lang="es-ES"/>
        </a:p>
      </dgm:t>
    </dgm:pt>
    <dgm:pt modelId="{9F53094E-F344-496C-89B8-70DFF81CFE79}" type="pres">
      <dgm:prSet presAssocID="{CC173E59-EDE8-4513-AEE9-CC68AE5A3CDD}" presName="spNode" presStyleCnt="0"/>
      <dgm:spPr/>
    </dgm:pt>
    <dgm:pt modelId="{59911E32-E9A0-42E2-B692-2BBE660AD759}" type="pres">
      <dgm:prSet presAssocID="{8ADCDCB9-3683-4CE8-B929-C296AB55AFC6}" presName="sibTrans" presStyleLbl="sibTrans1D1" presStyleIdx="5" presStyleCnt="6"/>
      <dgm:spPr/>
      <dgm:t>
        <a:bodyPr/>
        <a:lstStyle/>
        <a:p>
          <a:endParaRPr lang="es-ES"/>
        </a:p>
      </dgm:t>
    </dgm:pt>
  </dgm:ptLst>
  <dgm:cxnLst>
    <dgm:cxn modelId="{27A3517C-7254-4181-9CBC-44CB7A21F667}" type="presOf" srcId="{6014F9CA-CF11-4719-95BE-DA0F217A5451}" destId="{5862E0C6-9B07-4486-9E6B-BC1363784A3A}" srcOrd="0" destOrd="0" presId="urn:microsoft.com/office/officeart/2005/8/layout/cycle6"/>
    <dgm:cxn modelId="{7F899959-FA29-4777-9434-FA43FADD0290}" type="presOf" srcId="{D163B0C6-DA64-4607-9367-A17DB925BF72}" destId="{4A196A65-F80F-4C03-B407-E1EEC9E641F5}" srcOrd="0" destOrd="0" presId="urn:microsoft.com/office/officeart/2005/8/layout/cycle6"/>
    <dgm:cxn modelId="{EDDC24BC-A36C-4531-A64B-07CBF74EC222}" type="presOf" srcId="{079F91E1-AA6B-42DE-8093-AD146835EA7A}" destId="{24DD10C9-1A46-4D0C-8172-BB3CA356F0EC}" srcOrd="0" destOrd="0" presId="urn:microsoft.com/office/officeart/2005/8/layout/cycle6"/>
    <dgm:cxn modelId="{0FCB3BF6-1B8D-4145-BF06-6CA2F64849EA}" type="presOf" srcId="{55F71D5B-A23A-4AAC-96FB-921B0A66A8BD}" destId="{AB2B17A1-BF2E-4315-ABEB-408DAACE436D}" srcOrd="0" destOrd="0" presId="urn:microsoft.com/office/officeart/2005/8/layout/cycle6"/>
    <dgm:cxn modelId="{781A5CE5-B13A-4249-9334-94275579697C}" type="presOf" srcId="{4CF977F0-1170-4A2E-864E-98EB5DC07FCD}" destId="{CCB89FA0-2ED9-420E-8BD1-ED0D27DDD367}" srcOrd="0" destOrd="0" presId="urn:microsoft.com/office/officeart/2005/8/layout/cycle6"/>
    <dgm:cxn modelId="{53488789-8CA9-41C6-8582-24D3ABAC5964}" type="presOf" srcId="{8ADCDCB9-3683-4CE8-B929-C296AB55AFC6}" destId="{59911E32-E9A0-42E2-B692-2BBE660AD759}" srcOrd="0" destOrd="0" presId="urn:microsoft.com/office/officeart/2005/8/layout/cycle6"/>
    <dgm:cxn modelId="{D2F60E02-7778-4A49-AABC-B22DF8E21107}" type="presOf" srcId="{FE1439E6-6662-4AB3-ABBE-6C2107276ACF}" destId="{6B132F49-AA94-4FAA-95CF-E482C68D272A}" srcOrd="0" destOrd="0" presId="urn:microsoft.com/office/officeart/2005/8/layout/cycle6"/>
    <dgm:cxn modelId="{4C8077AE-E604-4B4B-9E69-38B9BA569488}" srcId="{079F91E1-AA6B-42DE-8093-AD146835EA7A}" destId="{003F88DC-E8EB-4136-B6CD-4022F816269F}" srcOrd="3" destOrd="0" parTransId="{4CB11927-CA8A-44A7-8CD3-2A098A8597F0}" sibTransId="{4CF977F0-1170-4A2E-864E-98EB5DC07FCD}"/>
    <dgm:cxn modelId="{677080B4-4E40-42C4-8070-6C5362186117}" type="presOf" srcId="{24995825-B197-4EDB-8909-C789D53FC62D}" destId="{B21C75D6-723C-44F2-AD9B-5D34CB88A2D6}" srcOrd="0" destOrd="0" presId="urn:microsoft.com/office/officeart/2005/8/layout/cycle6"/>
    <dgm:cxn modelId="{056108CD-A7D9-4787-BA63-999027676073}" srcId="{079F91E1-AA6B-42DE-8093-AD146835EA7A}" destId="{F895BAB2-D8D6-4C0F-8455-50320C5F00C4}" srcOrd="0" destOrd="0" parTransId="{7A43928D-E7BC-4909-AAF6-694AEAEFE3FD}" sibTransId="{24995825-B197-4EDB-8909-C789D53FC62D}"/>
    <dgm:cxn modelId="{D142FA52-0DA9-445F-A226-1A2DE2028A0F}" type="presOf" srcId="{F895BAB2-D8D6-4C0F-8455-50320C5F00C4}" destId="{EFB0CEC1-0401-4474-89EF-4504DBDEA9CC}" srcOrd="0" destOrd="0" presId="urn:microsoft.com/office/officeart/2005/8/layout/cycle6"/>
    <dgm:cxn modelId="{CCAE168F-3240-4B37-A305-31504F5C83BA}" type="presOf" srcId="{CC173E59-EDE8-4513-AEE9-CC68AE5A3CDD}" destId="{CCA0785D-5FFC-4B67-8535-89830D84A18C}" srcOrd="0" destOrd="0" presId="urn:microsoft.com/office/officeart/2005/8/layout/cycle6"/>
    <dgm:cxn modelId="{2B1E28C8-B9B7-471A-A2CA-72C34918846D}" srcId="{079F91E1-AA6B-42DE-8093-AD146835EA7A}" destId="{55F71D5B-A23A-4AAC-96FB-921B0A66A8BD}" srcOrd="2" destOrd="0" parTransId="{B1B5D7C3-DEC1-4E98-8524-170D253D954E}" sibTransId="{6014F9CA-CF11-4719-95BE-DA0F217A5451}"/>
    <dgm:cxn modelId="{5362C733-19F7-45E7-8C30-16677DE10B94}" type="presOf" srcId="{59F6A37D-8FC9-4121-9340-C00CC4417DA7}" destId="{83DC5BE5-E1B8-4152-986B-BA64C337273D}" srcOrd="0" destOrd="0" presId="urn:microsoft.com/office/officeart/2005/8/layout/cycle6"/>
    <dgm:cxn modelId="{A6188E26-1724-4E69-B798-E6BB1F1C8979}" srcId="{079F91E1-AA6B-42DE-8093-AD146835EA7A}" destId="{CC173E59-EDE8-4513-AEE9-CC68AE5A3CDD}" srcOrd="5" destOrd="0" parTransId="{6CEA6A03-4E04-4434-B725-B8D7FA5E8BC2}" sibTransId="{8ADCDCB9-3683-4CE8-B929-C296AB55AFC6}"/>
    <dgm:cxn modelId="{C6E9F866-978F-49E5-ADAB-3D1CB0D73226}" srcId="{079F91E1-AA6B-42DE-8093-AD146835EA7A}" destId="{59F6A37D-8FC9-4121-9340-C00CC4417DA7}" srcOrd="4" destOrd="0" parTransId="{FE6DC02B-E239-4732-89DB-0C1862EAF8F4}" sibTransId="{FE1439E6-6662-4AB3-ABBE-6C2107276ACF}"/>
    <dgm:cxn modelId="{74C87839-B369-418A-8D70-AC37C1B1E6EA}" type="presOf" srcId="{13DC7C2D-12DC-4F1E-80DE-5213B5708C67}" destId="{BEE8551F-4BE2-4E78-ACFD-1F2EAB13D193}" srcOrd="0" destOrd="0" presId="urn:microsoft.com/office/officeart/2005/8/layout/cycle6"/>
    <dgm:cxn modelId="{BE0C7C25-B92C-4666-BD33-E7A1FD3753C3}" type="presOf" srcId="{003F88DC-E8EB-4136-B6CD-4022F816269F}" destId="{3341B7D9-5C01-4DAA-8A5C-107316171A1B}" srcOrd="0" destOrd="0" presId="urn:microsoft.com/office/officeart/2005/8/layout/cycle6"/>
    <dgm:cxn modelId="{E68928FD-8936-47FE-B73B-CCE4D5955DFB}" srcId="{079F91E1-AA6B-42DE-8093-AD146835EA7A}" destId="{D163B0C6-DA64-4607-9367-A17DB925BF72}" srcOrd="1" destOrd="0" parTransId="{FA7C7C6A-85BF-4686-A2C4-D51EDACDE77E}" sibTransId="{13DC7C2D-12DC-4F1E-80DE-5213B5708C67}"/>
    <dgm:cxn modelId="{9345BAC0-15CE-4363-ACEA-9914AFDBD7A3}" type="presParOf" srcId="{24DD10C9-1A46-4D0C-8172-BB3CA356F0EC}" destId="{EFB0CEC1-0401-4474-89EF-4504DBDEA9CC}" srcOrd="0" destOrd="0" presId="urn:microsoft.com/office/officeart/2005/8/layout/cycle6"/>
    <dgm:cxn modelId="{365BA7B4-1711-4F22-B81A-75615D592F69}" type="presParOf" srcId="{24DD10C9-1A46-4D0C-8172-BB3CA356F0EC}" destId="{E3828E71-31A3-42F6-B8A0-BDFFE9BBFDEA}" srcOrd="1" destOrd="0" presId="urn:microsoft.com/office/officeart/2005/8/layout/cycle6"/>
    <dgm:cxn modelId="{E1D9B1E3-CBA6-4CA3-893B-15D82C6A7886}" type="presParOf" srcId="{24DD10C9-1A46-4D0C-8172-BB3CA356F0EC}" destId="{B21C75D6-723C-44F2-AD9B-5D34CB88A2D6}" srcOrd="2" destOrd="0" presId="urn:microsoft.com/office/officeart/2005/8/layout/cycle6"/>
    <dgm:cxn modelId="{ABD16AD5-E3C0-4824-A0A2-90F367B1BE13}" type="presParOf" srcId="{24DD10C9-1A46-4D0C-8172-BB3CA356F0EC}" destId="{4A196A65-F80F-4C03-B407-E1EEC9E641F5}" srcOrd="3" destOrd="0" presId="urn:microsoft.com/office/officeart/2005/8/layout/cycle6"/>
    <dgm:cxn modelId="{B9A6A048-46F7-4E44-A2C1-93C855C153CF}" type="presParOf" srcId="{24DD10C9-1A46-4D0C-8172-BB3CA356F0EC}" destId="{34F38845-690E-48EE-BBD4-1590B1E2E565}" srcOrd="4" destOrd="0" presId="urn:microsoft.com/office/officeart/2005/8/layout/cycle6"/>
    <dgm:cxn modelId="{1D360FDB-07B5-4D18-B574-E51A606C1541}" type="presParOf" srcId="{24DD10C9-1A46-4D0C-8172-BB3CA356F0EC}" destId="{BEE8551F-4BE2-4E78-ACFD-1F2EAB13D193}" srcOrd="5" destOrd="0" presId="urn:microsoft.com/office/officeart/2005/8/layout/cycle6"/>
    <dgm:cxn modelId="{B7565C63-CF66-4E02-88B8-45705A7C530C}" type="presParOf" srcId="{24DD10C9-1A46-4D0C-8172-BB3CA356F0EC}" destId="{AB2B17A1-BF2E-4315-ABEB-408DAACE436D}" srcOrd="6" destOrd="0" presId="urn:microsoft.com/office/officeart/2005/8/layout/cycle6"/>
    <dgm:cxn modelId="{A15AF023-11C0-4C93-B336-09954924CEA9}" type="presParOf" srcId="{24DD10C9-1A46-4D0C-8172-BB3CA356F0EC}" destId="{4AD80800-B003-4573-B849-7D978B4EBC63}" srcOrd="7" destOrd="0" presId="urn:microsoft.com/office/officeart/2005/8/layout/cycle6"/>
    <dgm:cxn modelId="{4E76BD47-CB7F-44F3-9681-BAE97CE80F75}" type="presParOf" srcId="{24DD10C9-1A46-4D0C-8172-BB3CA356F0EC}" destId="{5862E0C6-9B07-4486-9E6B-BC1363784A3A}" srcOrd="8" destOrd="0" presId="urn:microsoft.com/office/officeart/2005/8/layout/cycle6"/>
    <dgm:cxn modelId="{4CC570E1-6BB5-4E48-B3D4-B4E4D48EDDCD}" type="presParOf" srcId="{24DD10C9-1A46-4D0C-8172-BB3CA356F0EC}" destId="{3341B7D9-5C01-4DAA-8A5C-107316171A1B}" srcOrd="9" destOrd="0" presId="urn:microsoft.com/office/officeart/2005/8/layout/cycle6"/>
    <dgm:cxn modelId="{44E7B42A-4B17-4830-BCB7-884C045407E2}" type="presParOf" srcId="{24DD10C9-1A46-4D0C-8172-BB3CA356F0EC}" destId="{84D58408-5450-4B11-B37A-8ACDA30FAC56}" srcOrd="10" destOrd="0" presId="urn:microsoft.com/office/officeart/2005/8/layout/cycle6"/>
    <dgm:cxn modelId="{E313EF4A-8151-4361-AC2D-283C86A73E37}" type="presParOf" srcId="{24DD10C9-1A46-4D0C-8172-BB3CA356F0EC}" destId="{CCB89FA0-2ED9-420E-8BD1-ED0D27DDD367}" srcOrd="11" destOrd="0" presId="urn:microsoft.com/office/officeart/2005/8/layout/cycle6"/>
    <dgm:cxn modelId="{FA26A438-308D-4C20-A2EC-33C3675B03EA}" type="presParOf" srcId="{24DD10C9-1A46-4D0C-8172-BB3CA356F0EC}" destId="{83DC5BE5-E1B8-4152-986B-BA64C337273D}" srcOrd="12" destOrd="0" presId="urn:microsoft.com/office/officeart/2005/8/layout/cycle6"/>
    <dgm:cxn modelId="{6A80305E-2A61-4999-BBD3-97FD38FCE099}" type="presParOf" srcId="{24DD10C9-1A46-4D0C-8172-BB3CA356F0EC}" destId="{A1FA7CEB-301E-4E58-8FD6-EDB348C84EA7}" srcOrd="13" destOrd="0" presId="urn:microsoft.com/office/officeart/2005/8/layout/cycle6"/>
    <dgm:cxn modelId="{B3711BD2-4D9F-4979-B110-725317B93B87}" type="presParOf" srcId="{24DD10C9-1A46-4D0C-8172-BB3CA356F0EC}" destId="{6B132F49-AA94-4FAA-95CF-E482C68D272A}" srcOrd="14" destOrd="0" presId="urn:microsoft.com/office/officeart/2005/8/layout/cycle6"/>
    <dgm:cxn modelId="{3166CAF4-90AB-45AA-87F5-C771466353A0}" type="presParOf" srcId="{24DD10C9-1A46-4D0C-8172-BB3CA356F0EC}" destId="{CCA0785D-5FFC-4B67-8535-89830D84A18C}" srcOrd="15" destOrd="0" presId="urn:microsoft.com/office/officeart/2005/8/layout/cycle6"/>
    <dgm:cxn modelId="{A6AA26CD-DB08-4703-A35D-533561C66E36}" type="presParOf" srcId="{24DD10C9-1A46-4D0C-8172-BB3CA356F0EC}" destId="{9F53094E-F344-496C-89B8-70DFF81CFE79}" srcOrd="16" destOrd="0" presId="urn:microsoft.com/office/officeart/2005/8/layout/cycle6"/>
    <dgm:cxn modelId="{10CFF947-43B0-43FC-BEF1-A899B852CA5E}" type="presParOf" srcId="{24DD10C9-1A46-4D0C-8172-BB3CA356F0EC}" destId="{59911E32-E9A0-42E2-B692-2BBE660AD759}" srcOrd="17" destOrd="0" presId="urn:microsoft.com/office/officeart/2005/8/layout/cycle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31FA20-2BEA-469D-88EE-26D7201DC94A}">
      <dsp:nvSpPr>
        <dsp:cNvPr id="0" name=""/>
        <dsp:cNvSpPr/>
      </dsp:nvSpPr>
      <dsp:spPr>
        <a:xfrm>
          <a:off x="837473" y="526751"/>
          <a:ext cx="3521167" cy="3521167"/>
        </a:xfrm>
        <a:prstGeom prst="blockArc">
          <a:avLst>
            <a:gd name="adj1" fmla="val 11880000"/>
            <a:gd name="adj2" fmla="val 16200000"/>
            <a:gd name="adj3" fmla="val 4634"/>
          </a:avLst>
        </a:prstGeom>
        <a:solidFill>
          <a:srgbClr val="00B050"/>
        </a:solidFill>
        <a:ln>
          <a:noFill/>
        </a:ln>
        <a:effectLst/>
      </dsp:spPr>
      <dsp:style>
        <a:lnRef idx="0">
          <a:scrgbClr r="0" g="0" b="0"/>
        </a:lnRef>
        <a:fillRef idx="1">
          <a:scrgbClr r="0" g="0" b="0"/>
        </a:fillRef>
        <a:effectRef idx="0">
          <a:scrgbClr r="0" g="0" b="0"/>
        </a:effectRef>
        <a:fontRef idx="minor">
          <a:schemeClr val="lt1"/>
        </a:fontRef>
      </dsp:style>
    </dsp:sp>
    <dsp:sp modelId="{1DA59FE8-A868-4750-AD14-76070945C5AF}">
      <dsp:nvSpPr>
        <dsp:cNvPr id="0" name=""/>
        <dsp:cNvSpPr/>
      </dsp:nvSpPr>
      <dsp:spPr>
        <a:xfrm>
          <a:off x="837473" y="526751"/>
          <a:ext cx="3521167" cy="3521167"/>
        </a:xfrm>
        <a:prstGeom prst="blockArc">
          <a:avLst>
            <a:gd name="adj1" fmla="val 7560000"/>
            <a:gd name="adj2" fmla="val 11880000"/>
            <a:gd name="adj3" fmla="val 4634"/>
          </a:avLst>
        </a:prstGeom>
        <a:solidFill>
          <a:srgbClr val="00B050"/>
        </a:solidFill>
        <a:ln>
          <a:noFill/>
        </a:ln>
        <a:effectLst/>
      </dsp:spPr>
      <dsp:style>
        <a:lnRef idx="0">
          <a:scrgbClr r="0" g="0" b="0"/>
        </a:lnRef>
        <a:fillRef idx="1">
          <a:scrgbClr r="0" g="0" b="0"/>
        </a:fillRef>
        <a:effectRef idx="0">
          <a:scrgbClr r="0" g="0" b="0"/>
        </a:effectRef>
        <a:fontRef idx="minor">
          <a:schemeClr val="lt1"/>
        </a:fontRef>
      </dsp:style>
    </dsp:sp>
    <dsp:sp modelId="{59093DAE-D75C-4D64-962D-DB89A963CEEA}">
      <dsp:nvSpPr>
        <dsp:cNvPr id="0" name=""/>
        <dsp:cNvSpPr/>
      </dsp:nvSpPr>
      <dsp:spPr>
        <a:xfrm>
          <a:off x="837473" y="526751"/>
          <a:ext cx="3521167" cy="3521167"/>
        </a:xfrm>
        <a:prstGeom prst="blockArc">
          <a:avLst>
            <a:gd name="adj1" fmla="val 3240000"/>
            <a:gd name="adj2" fmla="val 7560000"/>
            <a:gd name="adj3" fmla="val 4634"/>
          </a:avLst>
        </a:prstGeom>
        <a:solidFill>
          <a:srgbClr val="00B050"/>
        </a:solidFill>
        <a:ln>
          <a:noFill/>
        </a:ln>
        <a:effectLst/>
      </dsp:spPr>
      <dsp:style>
        <a:lnRef idx="0">
          <a:scrgbClr r="0" g="0" b="0"/>
        </a:lnRef>
        <a:fillRef idx="1">
          <a:scrgbClr r="0" g="0" b="0"/>
        </a:fillRef>
        <a:effectRef idx="0">
          <a:scrgbClr r="0" g="0" b="0"/>
        </a:effectRef>
        <a:fontRef idx="minor">
          <a:schemeClr val="lt1"/>
        </a:fontRef>
      </dsp:style>
    </dsp:sp>
    <dsp:sp modelId="{69BE5B11-3A1C-4E09-BBFE-D82E0DCA2E21}">
      <dsp:nvSpPr>
        <dsp:cNvPr id="0" name=""/>
        <dsp:cNvSpPr/>
      </dsp:nvSpPr>
      <dsp:spPr>
        <a:xfrm>
          <a:off x="837473" y="526751"/>
          <a:ext cx="3521167" cy="3521167"/>
        </a:xfrm>
        <a:prstGeom prst="blockArc">
          <a:avLst>
            <a:gd name="adj1" fmla="val 20520000"/>
            <a:gd name="adj2" fmla="val 3240000"/>
            <a:gd name="adj3" fmla="val 4634"/>
          </a:avLst>
        </a:prstGeom>
        <a:solidFill>
          <a:srgbClr val="00B050"/>
        </a:solidFill>
        <a:ln>
          <a:noFill/>
        </a:ln>
        <a:effectLst/>
      </dsp:spPr>
      <dsp:style>
        <a:lnRef idx="0">
          <a:scrgbClr r="0" g="0" b="0"/>
        </a:lnRef>
        <a:fillRef idx="1">
          <a:scrgbClr r="0" g="0" b="0"/>
        </a:fillRef>
        <a:effectRef idx="0">
          <a:scrgbClr r="0" g="0" b="0"/>
        </a:effectRef>
        <a:fontRef idx="minor">
          <a:schemeClr val="lt1"/>
        </a:fontRef>
      </dsp:style>
    </dsp:sp>
    <dsp:sp modelId="{61F39190-50E4-4B55-B5EB-BA02555D594B}">
      <dsp:nvSpPr>
        <dsp:cNvPr id="0" name=""/>
        <dsp:cNvSpPr/>
      </dsp:nvSpPr>
      <dsp:spPr>
        <a:xfrm>
          <a:off x="837473" y="526751"/>
          <a:ext cx="3521167" cy="3521167"/>
        </a:xfrm>
        <a:prstGeom prst="blockArc">
          <a:avLst>
            <a:gd name="adj1" fmla="val 16200000"/>
            <a:gd name="adj2" fmla="val 20520000"/>
            <a:gd name="adj3" fmla="val 4634"/>
          </a:avLst>
        </a:prstGeom>
        <a:solidFill>
          <a:srgbClr val="00B050"/>
        </a:solidFill>
        <a:ln>
          <a:noFill/>
        </a:ln>
        <a:effectLst/>
      </dsp:spPr>
      <dsp:style>
        <a:lnRef idx="0">
          <a:scrgbClr r="0" g="0" b="0"/>
        </a:lnRef>
        <a:fillRef idx="1">
          <a:scrgbClr r="0" g="0" b="0"/>
        </a:fillRef>
        <a:effectRef idx="0">
          <a:scrgbClr r="0" g="0" b="0"/>
        </a:effectRef>
        <a:fontRef idx="minor">
          <a:schemeClr val="lt1"/>
        </a:fontRef>
      </dsp:style>
    </dsp:sp>
    <dsp:sp modelId="{746C071F-3A56-431D-81BD-A09E99FC352C}">
      <dsp:nvSpPr>
        <dsp:cNvPr id="0" name=""/>
        <dsp:cNvSpPr/>
      </dsp:nvSpPr>
      <dsp:spPr>
        <a:xfrm>
          <a:off x="1788701" y="1477979"/>
          <a:ext cx="1618711" cy="1618711"/>
        </a:xfrm>
        <a:prstGeom prst="ellipse">
          <a:avLst/>
        </a:prstGeom>
        <a:solidFill>
          <a:schemeClr val="accent5">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s-ES" sz="2000" kern="1200" dirty="0"/>
            <a:t>Gobierno de TI</a:t>
          </a:r>
        </a:p>
      </dsp:txBody>
      <dsp:txXfrm>
        <a:off x="2025756" y="1715034"/>
        <a:ext cx="1144601" cy="1144601"/>
      </dsp:txXfrm>
    </dsp:sp>
    <dsp:sp modelId="{D51F8822-B0C1-4B5D-B31E-568EDF84AC19}">
      <dsp:nvSpPr>
        <dsp:cNvPr id="0" name=""/>
        <dsp:cNvSpPr/>
      </dsp:nvSpPr>
      <dsp:spPr>
        <a:xfrm>
          <a:off x="2031508" y="994"/>
          <a:ext cx="1133097" cy="1133097"/>
        </a:xfrm>
        <a:prstGeom prst="ellipse">
          <a:avLst/>
        </a:prstGeom>
        <a:solidFill>
          <a:schemeClr val="accent5">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s-ES" sz="1100" kern="1200" dirty="0"/>
            <a:t>Alineamiento </a:t>
          </a:r>
          <a:r>
            <a:rPr lang="es-ES" sz="1100" kern="1200" dirty="0" smtClean="0"/>
            <a:t>estratégico</a:t>
          </a:r>
          <a:endParaRPr lang="es-ES" sz="1100" kern="1200" dirty="0"/>
        </a:p>
      </dsp:txBody>
      <dsp:txXfrm>
        <a:off x="2197446" y="166932"/>
        <a:ext cx="801221" cy="801221"/>
      </dsp:txXfrm>
    </dsp:sp>
    <dsp:sp modelId="{6B2235A6-0275-4608-9C5B-6223B40A2420}">
      <dsp:nvSpPr>
        <dsp:cNvPr id="0" name=""/>
        <dsp:cNvSpPr/>
      </dsp:nvSpPr>
      <dsp:spPr>
        <a:xfrm>
          <a:off x="3667127" y="1189341"/>
          <a:ext cx="1133097" cy="1133097"/>
        </a:xfrm>
        <a:prstGeom prst="ellipse">
          <a:avLst/>
        </a:prstGeom>
        <a:solidFill>
          <a:schemeClr val="accent5">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s-ES" sz="1100" kern="1200" dirty="0"/>
            <a:t>Entrega de </a:t>
          </a:r>
          <a:r>
            <a:rPr lang="es-ES" sz="1100" kern="1200" dirty="0" smtClean="0"/>
            <a:t>valor</a:t>
          </a:r>
          <a:endParaRPr lang="es-ES" sz="1100" kern="1200" dirty="0"/>
        </a:p>
      </dsp:txBody>
      <dsp:txXfrm>
        <a:off x="3833065" y="1355279"/>
        <a:ext cx="801221" cy="801221"/>
      </dsp:txXfrm>
    </dsp:sp>
    <dsp:sp modelId="{63564F67-97C8-45D3-8B09-4ACD6EB762C4}">
      <dsp:nvSpPr>
        <dsp:cNvPr id="0" name=""/>
        <dsp:cNvSpPr/>
      </dsp:nvSpPr>
      <dsp:spPr>
        <a:xfrm>
          <a:off x="3042376" y="3112127"/>
          <a:ext cx="1133097" cy="1133097"/>
        </a:xfrm>
        <a:prstGeom prst="ellipse">
          <a:avLst/>
        </a:prstGeom>
        <a:solidFill>
          <a:schemeClr val="accent5">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s-ES" sz="1100" kern="1200" dirty="0"/>
            <a:t>Gestión de </a:t>
          </a:r>
          <a:r>
            <a:rPr lang="es-ES" sz="1100" kern="1200" dirty="0" smtClean="0"/>
            <a:t>riesgo</a:t>
          </a:r>
          <a:endParaRPr lang="es-ES" sz="1100" kern="1200" dirty="0"/>
        </a:p>
      </dsp:txBody>
      <dsp:txXfrm>
        <a:off x="3208314" y="3278065"/>
        <a:ext cx="801221" cy="801221"/>
      </dsp:txXfrm>
    </dsp:sp>
    <dsp:sp modelId="{81B047A1-6518-437F-82F1-747D0C08BC70}">
      <dsp:nvSpPr>
        <dsp:cNvPr id="0" name=""/>
        <dsp:cNvSpPr/>
      </dsp:nvSpPr>
      <dsp:spPr>
        <a:xfrm>
          <a:off x="1020639" y="3112127"/>
          <a:ext cx="1133097" cy="1133097"/>
        </a:xfrm>
        <a:prstGeom prst="ellipse">
          <a:avLst/>
        </a:prstGeom>
        <a:solidFill>
          <a:schemeClr val="accent5">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s-ES" sz="1100" kern="1200" dirty="0"/>
            <a:t>Gestión de </a:t>
          </a:r>
          <a:r>
            <a:rPr lang="es-ES" sz="1100" kern="1200" dirty="0" smtClean="0"/>
            <a:t>recursos</a:t>
          </a:r>
          <a:endParaRPr lang="es-ES" sz="1100" kern="1200" dirty="0"/>
        </a:p>
      </dsp:txBody>
      <dsp:txXfrm>
        <a:off x="1186577" y="3278065"/>
        <a:ext cx="801221" cy="801221"/>
      </dsp:txXfrm>
    </dsp:sp>
    <dsp:sp modelId="{C6448A8E-6DD5-4387-B3E4-537D66456A8E}">
      <dsp:nvSpPr>
        <dsp:cNvPr id="0" name=""/>
        <dsp:cNvSpPr/>
      </dsp:nvSpPr>
      <dsp:spPr>
        <a:xfrm>
          <a:off x="395888" y="1189341"/>
          <a:ext cx="1133097" cy="1133097"/>
        </a:xfrm>
        <a:prstGeom prst="ellipse">
          <a:avLst/>
        </a:prstGeom>
        <a:solidFill>
          <a:schemeClr val="accent5">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s-ES" sz="1100" kern="1200" dirty="0"/>
            <a:t>Medición de </a:t>
          </a:r>
          <a:r>
            <a:rPr lang="es-ES" sz="1100" kern="1200" dirty="0" smtClean="0"/>
            <a:t>desempeño</a:t>
          </a:r>
          <a:endParaRPr lang="es-ES" sz="1100" kern="1200" dirty="0"/>
        </a:p>
      </dsp:txBody>
      <dsp:txXfrm>
        <a:off x="561826" y="1355279"/>
        <a:ext cx="801221" cy="80122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9F93CA-D67B-4784-B7AF-3AC89A4A8D66}">
      <dsp:nvSpPr>
        <dsp:cNvPr id="0" name=""/>
        <dsp:cNvSpPr/>
      </dsp:nvSpPr>
      <dsp:spPr>
        <a:xfrm>
          <a:off x="356281" y="0"/>
          <a:ext cx="4037857" cy="2434456"/>
        </a:xfrm>
        <a:prstGeom prst="rightArrow">
          <a:avLst/>
        </a:prstGeom>
        <a:solidFill>
          <a:srgbClr val="003366"/>
        </a:solidFill>
        <a:ln>
          <a:noFill/>
        </a:ln>
        <a:effectLst/>
      </dsp:spPr>
      <dsp:style>
        <a:lnRef idx="0">
          <a:scrgbClr r="0" g="0" b="0"/>
        </a:lnRef>
        <a:fillRef idx="1">
          <a:scrgbClr r="0" g="0" b="0"/>
        </a:fillRef>
        <a:effectRef idx="0">
          <a:scrgbClr r="0" g="0" b="0"/>
        </a:effectRef>
        <a:fontRef idx="minor"/>
      </dsp:style>
    </dsp:sp>
    <dsp:sp modelId="{23A72640-4136-4180-9F76-12A723AB6446}">
      <dsp:nvSpPr>
        <dsp:cNvPr id="0" name=""/>
        <dsp:cNvSpPr/>
      </dsp:nvSpPr>
      <dsp:spPr>
        <a:xfrm>
          <a:off x="5102" y="730336"/>
          <a:ext cx="1529041" cy="973782"/>
        </a:xfrm>
        <a:prstGeom prst="roundRect">
          <a:avLst/>
        </a:prstGeom>
        <a:solidFill>
          <a:schemeClr val="accent4">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s-ES" sz="1300" kern="1200" dirty="0"/>
            <a:t>Debe ser una solución operativa</a:t>
          </a:r>
        </a:p>
      </dsp:txBody>
      <dsp:txXfrm>
        <a:off x="52638" y="777872"/>
        <a:ext cx="1433969" cy="878710"/>
      </dsp:txXfrm>
    </dsp:sp>
    <dsp:sp modelId="{77C2E10B-DDF9-40BE-A05D-ED5D913C6DCD}">
      <dsp:nvSpPr>
        <dsp:cNvPr id="0" name=""/>
        <dsp:cNvSpPr/>
      </dsp:nvSpPr>
      <dsp:spPr>
        <a:xfrm>
          <a:off x="1610689" y="730336"/>
          <a:ext cx="1529041" cy="973782"/>
        </a:xfrm>
        <a:prstGeom prst="roundRect">
          <a:avLst/>
        </a:prstGeom>
        <a:solidFill>
          <a:schemeClr val="accent4">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s-ES" sz="1300" kern="1200" dirty="0"/>
            <a:t>Mejorar el desempeño y posibilitar la ventaja competitiva</a:t>
          </a:r>
        </a:p>
      </dsp:txBody>
      <dsp:txXfrm>
        <a:off x="1658225" y="777872"/>
        <a:ext cx="1433969" cy="878710"/>
      </dsp:txXfrm>
    </dsp:sp>
    <dsp:sp modelId="{AA939A71-A816-4971-8EEE-B378977E4EAA}">
      <dsp:nvSpPr>
        <dsp:cNvPr id="0" name=""/>
        <dsp:cNvSpPr/>
      </dsp:nvSpPr>
      <dsp:spPr>
        <a:xfrm>
          <a:off x="3216275" y="730336"/>
          <a:ext cx="1529041" cy="973782"/>
        </a:xfrm>
        <a:prstGeom prst="roundRect">
          <a:avLst/>
        </a:prstGeom>
        <a:solidFill>
          <a:schemeClr val="accent4">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s-ES" sz="1300" kern="1200" dirty="0"/>
            <a:t>Apoyar en prevenir problemas</a:t>
          </a:r>
        </a:p>
      </dsp:txBody>
      <dsp:txXfrm>
        <a:off x="3263811" y="777872"/>
        <a:ext cx="1433969" cy="87871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B0CEC1-0401-4474-89EF-4504DBDEA9CC}">
      <dsp:nvSpPr>
        <dsp:cNvPr id="0" name=""/>
        <dsp:cNvSpPr/>
      </dsp:nvSpPr>
      <dsp:spPr>
        <a:xfrm>
          <a:off x="2412730" y="1965"/>
          <a:ext cx="1270538" cy="711026"/>
        </a:xfrm>
        <a:prstGeom prst="roundRect">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s-ES" sz="1200" b="1" kern="1200" dirty="0"/>
            <a:t>Principio 1. </a:t>
          </a:r>
          <a:r>
            <a:rPr lang="es-ES" sz="1200" b="1" kern="1200" dirty="0">
              <a:solidFill>
                <a:srgbClr val="1DFD52"/>
              </a:solidFill>
            </a:rPr>
            <a:t>Responsabilidad</a:t>
          </a:r>
        </a:p>
      </dsp:txBody>
      <dsp:txXfrm>
        <a:off x="2447439" y="36674"/>
        <a:ext cx="1201120" cy="641608"/>
      </dsp:txXfrm>
    </dsp:sp>
    <dsp:sp modelId="{B21C75D6-723C-44F2-AD9B-5D34CB88A2D6}">
      <dsp:nvSpPr>
        <dsp:cNvPr id="0" name=""/>
        <dsp:cNvSpPr/>
      </dsp:nvSpPr>
      <dsp:spPr>
        <a:xfrm>
          <a:off x="1373478" y="357478"/>
          <a:ext cx="3349042" cy="3349042"/>
        </a:xfrm>
        <a:custGeom>
          <a:avLst/>
          <a:gdLst/>
          <a:ahLst/>
          <a:cxnLst/>
          <a:rect l="0" t="0" r="0" b="0"/>
          <a:pathLst>
            <a:path>
              <a:moveTo>
                <a:pt x="2315773" y="127647"/>
              </a:moveTo>
              <a:arcTo wR="1674521" hR="1674521" stAng="17550979" swAng="1310358"/>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A196A65-F80F-4C03-B407-E1EEC9E641F5}">
      <dsp:nvSpPr>
        <dsp:cNvPr id="0" name=""/>
        <dsp:cNvSpPr/>
      </dsp:nvSpPr>
      <dsp:spPr>
        <a:xfrm>
          <a:off x="3951234" y="839226"/>
          <a:ext cx="1093886" cy="711026"/>
        </a:xfrm>
        <a:prstGeom prst="roundRect">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s-ES" sz="1200" b="1" kern="1200" dirty="0"/>
            <a:t>Principio 2. </a:t>
          </a:r>
          <a:br>
            <a:rPr lang="es-ES" sz="1200" b="1" kern="1200" dirty="0"/>
          </a:br>
          <a:r>
            <a:rPr lang="es-ES" sz="1200" b="1" kern="1200" dirty="0">
              <a:solidFill>
                <a:srgbClr val="1DFD52"/>
              </a:solidFill>
            </a:rPr>
            <a:t>Estrategia</a:t>
          </a:r>
        </a:p>
      </dsp:txBody>
      <dsp:txXfrm>
        <a:off x="3985943" y="873935"/>
        <a:ext cx="1024468" cy="641608"/>
      </dsp:txXfrm>
    </dsp:sp>
    <dsp:sp modelId="{BEE8551F-4BE2-4E78-ACFD-1F2EAB13D193}">
      <dsp:nvSpPr>
        <dsp:cNvPr id="0" name=""/>
        <dsp:cNvSpPr/>
      </dsp:nvSpPr>
      <dsp:spPr>
        <a:xfrm>
          <a:off x="1373478" y="357478"/>
          <a:ext cx="3349042" cy="3349042"/>
        </a:xfrm>
        <a:custGeom>
          <a:avLst/>
          <a:gdLst/>
          <a:ahLst/>
          <a:cxnLst/>
          <a:rect l="0" t="0" r="0" b="0"/>
          <a:pathLst>
            <a:path>
              <a:moveTo>
                <a:pt x="3280993" y="1202009"/>
              </a:moveTo>
              <a:arcTo wR="1674521" hR="1674521" stAng="20616588" swAng="1966824"/>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B2B17A1-BF2E-4315-ABEB-408DAACE436D}">
      <dsp:nvSpPr>
        <dsp:cNvPr id="0" name=""/>
        <dsp:cNvSpPr/>
      </dsp:nvSpPr>
      <dsp:spPr>
        <a:xfrm>
          <a:off x="3951234" y="2513747"/>
          <a:ext cx="1093886" cy="711026"/>
        </a:xfrm>
        <a:prstGeom prst="roundRect">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s-ES" sz="1200" b="1" kern="1200" dirty="0"/>
            <a:t>Principio 3. </a:t>
          </a:r>
          <a:r>
            <a:rPr lang="es-ES" sz="1200" b="1" kern="1200" dirty="0">
              <a:solidFill>
                <a:srgbClr val="1DFD52"/>
              </a:solidFill>
            </a:rPr>
            <a:t>Adquisición</a:t>
          </a:r>
        </a:p>
      </dsp:txBody>
      <dsp:txXfrm>
        <a:off x="3985943" y="2548456"/>
        <a:ext cx="1024468" cy="641608"/>
      </dsp:txXfrm>
    </dsp:sp>
    <dsp:sp modelId="{5862E0C6-9B07-4486-9E6B-BC1363784A3A}">
      <dsp:nvSpPr>
        <dsp:cNvPr id="0" name=""/>
        <dsp:cNvSpPr/>
      </dsp:nvSpPr>
      <dsp:spPr>
        <a:xfrm>
          <a:off x="1373478" y="357478"/>
          <a:ext cx="3349042" cy="3349042"/>
        </a:xfrm>
        <a:custGeom>
          <a:avLst/>
          <a:gdLst/>
          <a:ahLst/>
          <a:cxnLst/>
          <a:rect l="0" t="0" r="0" b="0"/>
          <a:pathLst>
            <a:path>
              <a:moveTo>
                <a:pt x="2844534" y="2872473"/>
              </a:moveTo>
              <a:arcTo wR="1674521" hR="1674521" stAng="2740559" swAng="1500410"/>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341B7D9-5C01-4DAA-8A5C-107316171A1B}">
      <dsp:nvSpPr>
        <dsp:cNvPr id="0" name=""/>
        <dsp:cNvSpPr/>
      </dsp:nvSpPr>
      <dsp:spPr>
        <a:xfrm>
          <a:off x="2501056" y="3351008"/>
          <a:ext cx="1093886" cy="711026"/>
        </a:xfrm>
        <a:prstGeom prst="roundRect">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s-ES" sz="1200" b="1" kern="1200" dirty="0"/>
            <a:t>Principio 4. </a:t>
          </a:r>
          <a:r>
            <a:rPr lang="es-ES" sz="1200" b="1" kern="1200" dirty="0">
              <a:solidFill>
                <a:srgbClr val="1DFD52"/>
              </a:solidFill>
            </a:rPr>
            <a:t>Desempeño</a:t>
          </a:r>
        </a:p>
      </dsp:txBody>
      <dsp:txXfrm>
        <a:off x="2535765" y="3385717"/>
        <a:ext cx="1024468" cy="641608"/>
      </dsp:txXfrm>
    </dsp:sp>
    <dsp:sp modelId="{CCB89FA0-2ED9-420E-8BD1-ED0D27DDD367}">
      <dsp:nvSpPr>
        <dsp:cNvPr id="0" name=""/>
        <dsp:cNvSpPr/>
      </dsp:nvSpPr>
      <dsp:spPr>
        <a:xfrm>
          <a:off x="1373478" y="357478"/>
          <a:ext cx="3349042" cy="3349042"/>
        </a:xfrm>
        <a:custGeom>
          <a:avLst/>
          <a:gdLst/>
          <a:ahLst/>
          <a:cxnLst/>
          <a:rect l="0" t="0" r="0" b="0"/>
          <a:pathLst>
            <a:path>
              <a:moveTo>
                <a:pt x="1120593" y="3254769"/>
              </a:moveTo>
              <a:arcTo wR="1674521" hR="1674521" stAng="6559031" swAng="1500410"/>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3DC5BE5-E1B8-4152-986B-BA64C337273D}">
      <dsp:nvSpPr>
        <dsp:cNvPr id="0" name=""/>
        <dsp:cNvSpPr/>
      </dsp:nvSpPr>
      <dsp:spPr>
        <a:xfrm>
          <a:off x="1050878" y="2513747"/>
          <a:ext cx="1093886" cy="711026"/>
        </a:xfrm>
        <a:prstGeom prst="roundRect">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s-ES" sz="1200" b="1" kern="1200" dirty="0"/>
            <a:t>Principio 5. </a:t>
          </a:r>
          <a:r>
            <a:rPr lang="es-ES" sz="1200" b="1" kern="1200" dirty="0">
              <a:solidFill>
                <a:srgbClr val="1DFD52"/>
              </a:solidFill>
            </a:rPr>
            <a:t>Cumplimiento</a:t>
          </a:r>
        </a:p>
      </dsp:txBody>
      <dsp:txXfrm>
        <a:off x="1085587" y="2548456"/>
        <a:ext cx="1024468" cy="641608"/>
      </dsp:txXfrm>
    </dsp:sp>
    <dsp:sp modelId="{6B132F49-AA94-4FAA-95CF-E482C68D272A}">
      <dsp:nvSpPr>
        <dsp:cNvPr id="0" name=""/>
        <dsp:cNvSpPr/>
      </dsp:nvSpPr>
      <dsp:spPr>
        <a:xfrm>
          <a:off x="1373478" y="357478"/>
          <a:ext cx="3349042" cy="3349042"/>
        </a:xfrm>
        <a:custGeom>
          <a:avLst/>
          <a:gdLst/>
          <a:ahLst/>
          <a:cxnLst/>
          <a:rect l="0" t="0" r="0" b="0"/>
          <a:pathLst>
            <a:path>
              <a:moveTo>
                <a:pt x="68048" y="2147033"/>
              </a:moveTo>
              <a:arcTo wR="1674521" hR="1674521" stAng="9816588" swAng="1966824"/>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CA0785D-5FFC-4B67-8535-89830D84A18C}">
      <dsp:nvSpPr>
        <dsp:cNvPr id="0" name=""/>
        <dsp:cNvSpPr/>
      </dsp:nvSpPr>
      <dsp:spPr>
        <a:xfrm>
          <a:off x="1050878" y="839226"/>
          <a:ext cx="1093886" cy="711026"/>
        </a:xfrm>
        <a:prstGeom prst="roundRect">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s-ES" sz="1200" b="1" kern="1200" dirty="0"/>
            <a:t>Principio 6. </a:t>
          </a:r>
          <a:br>
            <a:rPr lang="es-ES" sz="1200" b="1" kern="1200" dirty="0"/>
          </a:br>
          <a:r>
            <a:rPr lang="es-ES" sz="1200" b="1" kern="1200" dirty="0">
              <a:solidFill>
                <a:srgbClr val="1DFD52"/>
              </a:solidFill>
            </a:rPr>
            <a:t>Conducta Humana</a:t>
          </a:r>
        </a:p>
      </dsp:txBody>
      <dsp:txXfrm>
        <a:off x="1085587" y="873935"/>
        <a:ext cx="1024468" cy="641608"/>
      </dsp:txXfrm>
    </dsp:sp>
    <dsp:sp modelId="{59911E32-E9A0-42E2-B692-2BBE660AD759}">
      <dsp:nvSpPr>
        <dsp:cNvPr id="0" name=""/>
        <dsp:cNvSpPr/>
      </dsp:nvSpPr>
      <dsp:spPr>
        <a:xfrm>
          <a:off x="1373478" y="357478"/>
          <a:ext cx="3349042" cy="3349042"/>
        </a:xfrm>
        <a:custGeom>
          <a:avLst/>
          <a:gdLst/>
          <a:ahLst/>
          <a:cxnLst/>
          <a:rect l="0" t="0" r="0" b="0"/>
          <a:pathLst>
            <a:path>
              <a:moveTo>
                <a:pt x="503847" y="477214"/>
              </a:moveTo>
              <a:arcTo wR="1674521" hR="1674521" stAng="13538663" swAng="1310358"/>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11932DC7-834F-6148-86AF-F72164F7FFC1}" type="datetimeFigureOut">
              <a:rPr lang="es-ES" smtClean="0"/>
              <a:t>10/05/2022</a:t>
            </a:fld>
            <a:endParaRPr lang="es-ES"/>
          </a:p>
        </p:txBody>
      </p:sp>
      <p:sp>
        <p:nvSpPr>
          <p:cNvPr id="4" name="Marcador de pie de página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6CEA6FD5-E31A-6D44-BE80-5A94AC694FC0}" type="slidenum">
              <a:rPr lang="es-ES" smtClean="0"/>
              <a:t>‹Nº›</a:t>
            </a:fld>
            <a:endParaRPr lang="es-ES"/>
          </a:p>
        </p:txBody>
      </p:sp>
    </p:spTree>
    <p:extLst>
      <p:ext uri="{BB962C8B-B14F-4D97-AF65-F5344CB8AC3E}">
        <p14:creationId xmlns:p14="http://schemas.microsoft.com/office/powerpoint/2010/main" val="3426518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45659" cy="498056"/>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50443" y="1"/>
            <a:ext cx="2945659" cy="498056"/>
          </a:xfrm>
          <a:prstGeom prst="rect">
            <a:avLst/>
          </a:prstGeom>
        </p:spPr>
        <p:txBody>
          <a:bodyPr vert="horz" lIns="91440" tIns="45720" rIns="91440" bIns="45720" rtlCol="0"/>
          <a:lstStyle>
            <a:lvl1pPr algn="r">
              <a:defRPr sz="1200"/>
            </a:lvl1pPr>
          </a:lstStyle>
          <a:p>
            <a:fld id="{FFDF1720-AE80-4069-8D89-2C76E8AFD874}" type="datetimeFigureOut">
              <a:rPr lang="es-PE" smtClean="0"/>
              <a:t>10/05/2022</a:t>
            </a:fld>
            <a:endParaRPr lang="es-PE"/>
          </a:p>
        </p:txBody>
      </p:sp>
      <p:sp>
        <p:nvSpPr>
          <p:cNvPr id="4" name="Marcador de imagen de diapositiva 3"/>
          <p:cNvSpPr>
            <a:spLocks noGrp="1" noRot="1" noChangeAspect="1"/>
          </p:cNvSpPr>
          <p:nvPr>
            <p:ph type="sldImg" idx="2"/>
          </p:nvPr>
        </p:nvSpPr>
        <p:spPr>
          <a:xfrm>
            <a:off x="719138" y="1241425"/>
            <a:ext cx="5359400" cy="3349625"/>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79768" y="4777194"/>
            <a:ext cx="5438140" cy="3908615"/>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F56700CA-E45F-416D-B659-25554F846B43}" type="slidenum">
              <a:rPr lang="es-PE" smtClean="0"/>
              <a:t>‹Nº›</a:t>
            </a:fld>
            <a:endParaRPr lang="es-PE"/>
          </a:p>
        </p:txBody>
      </p:sp>
    </p:spTree>
    <p:extLst>
      <p:ext uri="{BB962C8B-B14F-4D97-AF65-F5344CB8AC3E}">
        <p14:creationId xmlns:p14="http://schemas.microsoft.com/office/powerpoint/2010/main" val="12485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a:t>
            </a:fld>
            <a:endParaRPr lang="es-PE"/>
          </a:p>
        </p:txBody>
      </p:sp>
    </p:spTree>
    <p:extLst>
      <p:ext uri="{BB962C8B-B14F-4D97-AF65-F5344CB8AC3E}">
        <p14:creationId xmlns:p14="http://schemas.microsoft.com/office/powerpoint/2010/main" val="1138461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a:t>
            </a:fld>
            <a:endParaRPr lang="es-PE"/>
          </a:p>
        </p:txBody>
      </p:sp>
    </p:spTree>
    <p:extLst>
      <p:ext uri="{BB962C8B-B14F-4D97-AF65-F5344CB8AC3E}">
        <p14:creationId xmlns:p14="http://schemas.microsoft.com/office/powerpoint/2010/main" val="614306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a:t>
            </a:fld>
            <a:endParaRPr lang="es-PE"/>
          </a:p>
        </p:txBody>
      </p:sp>
    </p:spTree>
    <p:extLst>
      <p:ext uri="{BB962C8B-B14F-4D97-AF65-F5344CB8AC3E}">
        <p14:creationId xmlns:p14="http://schemas.microsoft.com/office/powerpoint/2010/main" val="14328043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a:t>
            </a:fld>
            <a:endParaRPr lang="es-PE"/>
          </a:p>
        </p:txBody>
      </p:sp>
    </p:spTree>
    <p:extLst>
      <p:ext uri="{BB962C8B-B14F-4D97-AF65-F5344CB8AC3E}">
        <p14:creationId xmlns:p14="http://schemas.microsoft.com/office/powerpoint/2010/main" val="40583058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smtClean="0">
                <a:latin typeface="Arial" panose="020B0604020202020204" pitchFamily="34" charset="0"/>
                <a:cs typeface="Arial" panose="020B0604020202020204" pitchFamily="34" charset="0"/>
              </a:rPr>
              <a:t>En la actualidad todas las empresas tienen como necesidad utilizar las TI para gestionar los aspectos del negocio, especialmente el manejo de los registros financieros y transaccionales de las organizaciones, registros de empleados, facturación, cobranza, pagos, compras, automatización, gestión de aplicaciones, control productivo, etc.</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a:t>
            </a:fld>
            <a:endParaRPr lang="es-PE"/>
          </a:p>
        </p:txBody>
      </p:sp>
    </p:spTree>
    <p:extLst>
      <p:ext uri="{BB962C8B-B14F-4D97-AF65-F5344CB8AC3E}">
        <p14:creationId xmlns:p14="http://schemas.microsoft.com/office/powerpoint/2010/main" val="24012981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1" dirty="0" smtClean="0">
                <a:latin typeface="Arial" panose="020B0604020202020204" pitchFamily="34" charset="0"/>
                <a:cs typeface="Arial" panose="020B0604020202020204" pitchFamily="34" charset="0"/>
              </a:rPr>
              <a:t>Alineamiento estratégico: </a:t>
            </a:r>
            <a:r>
              <a:rPr lang="es-ES" sz="1200" dirty="0" smtClean="0">
                <a:latin typeface="Arial" panose="020B0604020202020204" pitchFamily="34" charset="0"/>
                <a:cs typeface="Arial" panose="020B0604020202020204" pitchFamily="34" charset="0"/>
              </a:rPr>
              <a:t>Garantizar el vínculo entre el </a:t>
            </a:r>
            <a:r>
              <a:rPr lang="es-ES" sz="1200" dirty="0" smtClean="0">
                <a:latin typeface="Arial" panose="020B0604020202020204" pitchFamily="34" charset="0"/>
                <a:cs typeface="Arial" panose="020B0604020202020204" pitchFamily="34" charset="0"/>
              </a:rPr>
              <a:t>plan </a:t>
            </a:r>
            <a:r>
              <a:rPr lang="es-ES" sz="1200" dirty="0" smtClean="0">
                <a:latin typeface="Arial" panose="020B0604020202020204" pitchFamily="34" charset="0"/>
                <a:cs typeface="Arial" panose="020B0604020202020204" pitchFamily="34" charset="0"/>
              </a:rPr>
              <a:t>de negocio y el plan de TI.</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b="1" dirty="0" smtClean="0">
                <a:latin typeface="Arial" panose="020B0604020202020204" pitchFamily="34" charset="0"/>
                <a:cs typeface="Arial" panose="020B0604020202020204" pitchFamily="34" charset="0"/>
              </a:rPr>
              <a:t>Agrega de valor: </a:t>
            </a:r>
            <a:r>
              <a:rPr lang="es-PE" sz="1200" dirty="0" smtClean="0"/>
              <a:t>Asegurar que TI genere los beneficios establecidos en la estrategia, concentrándose en optimizar costos y en brindar el valor intrínseco de TI.</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b="1" dirty="0" smtClean="0">
                <a:latin typeface="Arial" panose="020B0604020202020204" pitchFamily="34" charset="0"/>
                <a:cs typeface="Arial" panose="020B0604020202020204" pitchFamily="34" charset="0"/>
              </a:rPr>
              <a:t>Administración del riesgo: </a:t>
            </a:r>
            <a:r>
              <a:rPr lang="es-PE" sz="1200" dirty="0" smtClean="0"/>
              <a:t>Una adecuada administración de los </a:t>
            </a:r>
            <a:r>
              <a:rPr lang="es-PE" sz="1200" dirty="0" smtClean="0"/>
              <a:t>recursos críticos </a:t>
            </a:r>
            <a:r>
              <a:rPr lang="es-PE" sz="1200" dirty="0" smtClean="0"/>
              <a:t>de TI tales como: Aplicaciones, </a:t>
            </a:r>
            <a:r>
              <a:rPr lang="es-PE" sz="1200" dirty="0" smtClean="0"/>
              <a:t>información</a:t>
            </a:r>
            <a:r>
              <a:rPr lang="es-PE" sz="1200" dirty="0" smtClean="0"/>
              <a:t>, </a:t>
            </a:r>
            <a:r>
              <a:rPr lang="es-PE" sz="1200" dirty="0" smtClean="0"/>
              <a:t>infraestructura </a:t>
            </a:r>
            <a:r>
              <a:rPr lang="es-PE" sz="1200" dirty="0" smtClean="0"/>
              <a:t>y profesionales del área TI.</a:t>
            </a:r>
          </a:p>
          <a:p>
            <a:r>
              <a:rPr lang="es-ES" sz="1200" b="1" dirty="0" smtClean="0">
                <a:latin typeface="Arial" panose="020B0604020202020204" pitchFamily="34" charset="0"/>
                <a:cs typeface="Arial" panose="020B0604020202020204" pitchFamily="34" charset="0"/>
              </a:rPr>
              <a:t>Administración de recursos: </a:t>
            </a:r>
            <a:r>
              <a:rPr lang="es-PE" sz="1200" dirty="0" smtClean="0">
                <a:latin typeface="Arial" panose="020B0604020202020204" pitchFamily="34" charset="0"/>
                <a:cs typeface="Arial" panose="020B0604020202020204" pitchFamily="34" charset="0"/>
              </a:rPr>
              <a:t>S</a:t>
            </a:r>
            <a:r>
              <a:rPr lang="es-PE" sz="1200" dirty="0" smtClean="0"/>
              <a:t>e centra en optimizar los recursos de TI, de manera que los servicios que los requieran los obtengan en el lugar y momento requerido.</a:t>
            </a:r>
          </a:p>
          <a:p>
            <a:pPr marL="0" marR="0" lvl="0" indent="0" algn="l" defTabSz="914400" rtl="0" eaLnBrk="1" fontAlgn="auto" latinLnBrk="0" hangingPunct="1">
              <a:lnSpc>
                <a:spcPct val="100000"/>
              </a:lnSpc>
              <a:spcBef>
                <a:spcPts val="0"/>
              </a:spcBef>
              <a:spcAft>
                <a:spcPts val="0"/>
              </a:spcAft>
              <a:buClrTx/>
              <a:buSzTx/>
              <a:buFontTx/>
              <a:buNone/>
              <a:tabLst/>
              <a:defRPr/>
            </a:pPr>
            <a:r>
              <a:rPr lang="es-PE" sz="1200" b="1" dirty="0" smtClean="0">
                <a:latin typeface="Arial" panose="020B0604020202020204" pitchFamily="34" charset="0"/>
                <a:cs typeface="Arial" panose="020B0604020202020204" pitchFamily="34" charset="0"/>
              </a:rPr>
              <a:t>Medición del desempeño: </a:t>
            </a:r>
            <a:r>
              <a:rPr lang="es-PE" sz="1200" dirty="0" smtClean="0">
                <a:latin typeface="Arial" panose="020B0604020202020204" pitchFamily="34" charset="0"/>
                <a:cs typeface="Arial" panose="020B0604020202020204" pitchFamily="34" charset="0"/>
              </a:rPr>
              <a:t>T</a:t>
            </a:r>
            <a:r>
              <a:rPr lang="es-PE" sz="1200" dirty="0" smtClean="0"/>
              <a:t>iene como finalidad rastrear y monitorear la estrategia de la implementación, la terminación de proyectos, el uso de los recursos, el desempeño de los procesos y la entrega de servicios.</a:t>
            </a:r>
          </a:p>
          <a:p>
            <a:endParaRPr lang="es-PE" sz="1200" dirty="0" smtClean="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a:t>
            </a:fld>
            <a:endParaRPr lang="es-PE"/>
          </a:p>
        </p:txBody>
      </p:sp>
    </p:spTree>
    <p:extLst>
      <p:ext uri="{BB962C8B-B14F-4D97-AF65-F5344CB8AC3E}">
        <p14:creationId xmlns:p14="http://schemas.microsoft.com/office/powerpoint/2010/main" val="41526484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7</a:t>
            </a:fld>
            <a:endParaRPr lang="es-PE"/>
          </a:p>
        </p:txBody>
      </p:sp>
    </p:spTree>
    <p:extLst>
      <p:ext uri="{BB962C8B-B14F-4D97-AF65-F5344CB8AC3E}">
        <p14:creationId xmlns:p14="http://schemas.microsoft.com/office/powerpoint/2010/main" val="25480214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8</a:t>
            </a:fld>
            <a:endParaRPr lang="es-PE"/>
          </a:p>
        </p:txBody>
      </p:sp>
    </p:spTree>
    <p:extLst>
      <p:ext uri="{BB962C8B-B14F-4D97-AF65-F5344CB8AC3E}">
        <p14:creationId xmlns:p14="http://schemas.microsoft.com/office/powerpoint/2010/main" val="8630929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9</a:t>
            </a:fld>
            <a:endParaRPr lang="es-PE"/>
          </a:p>
        </p:txBody>
      </p:sp>
    </p:spTree>
    <p:extLst>
      <p:ext uri="{BB962C8B-B14F-4D97-AF65-F5344CB8AC3E}">
        <p14:creationId xmlns:p14="http://schemas.microsoft.com/office/powerpoint/2010/main" val="13399487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10</a:t>
            </a:fld>
            <a:endParaRPr lang="es-PE"/>
          </a:p>
        </p:txBody>
      </p:sp>
    </p:spTree>
    <p:extLst>
      <p:ext uri="{BB962C8B-B14F-4D97-AF65-F5344CB8AC3E}">
        <p14:creationId xmlns:p14="http://schemas.microsoft.com/office/powerpoint/2010/main" val="37371475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11</a:t>
            </a:fld>
            <a:endParaRPr lang="es-PE"/>
          </a:p>
        </p:txBody>
      </p:sp>
    </p:spTree>
    <p:extLst>
      <p:ext uri="{BB962C8B-B14F-4D97-AF65-F5344CB8AC3E}">
        <p14:creationId xmlns:p14="http://schemas.microsoft.com/office/powerpoint/2010/main" val="33200814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12</a:t>
            </a:fld>
            <a:endParaRPr lang="es-PE"/>
          </a:p>
        </p:txBody>
      </p:sp>
    </p:spTree>
    <p:extLst>
      <p:ext uri="{BB962C8B-B14F-4D97-AF65-F5344CB8AC3E}">
        <p14:creationId xmlns:p14="http://schemas.microsoft.com/office/powerpoint/2010/main" val="34486790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13</a:t>
            </a:fld>
            <a:endParaRPr lang="es-PE"/>
          </a:p>
        </p:txBody>
      </p:sp>
    </p:spTree>
    <p:extLst>
      <p:ext uri="{BB962C8B-B14F-4D97-AF65-F5344CB8AC3E}">
        <p14:creationId xmlns:p14="http://schemas.microsoft.com/office/powerpoint/2010/main" val="23099627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14</a:t>
            </a:fld>
            <a:endParaRPr lang="es-PE"/>
          </a:p>
        </p:txBody>
      </p:sp>
    </p:spTree>
    <p:extLst>
      <p:ext uri="{BB962C8B-B14F-4D97-AF65-F5344CB8AC3E}">
        <p14:creationId xmlns:p14="http://schemas.microsoft.com/office/powerpoint/2010/main" val="466305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15</a:t>
            </a:fld>
            <a:endParaRPr lang="es-PE"/>
          </a:p>
        </p:txBody>
      </p:sp>
    </p:spTree>
    <p:extLst>
      <p:ext uri="{BB962C8B-B14F-4D97-AF65-F5344CB8AC3E}">
        <p14:creationId xmlns:p14="http://schemas.microsoft.com/office/powerpoint/2010/main" val="8000591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16</a:t>
            </a:fld>
            <a:endParaRPr lang="es-PE"/>
          </a:p>
        </p:txBody>
      </p:sp>
    </p:spTree>
    <p:extLst>
      <p:ext uri="{BB962C8B-B14F-4D97-AF65-F5344CB8AC3E}">
        <p14:creationId xmlns:p14="http://schemas.microsoft.com/office/powerpoint/2010/main" val="29076734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17</a:t>
            </a:fld>
            <a:endParaRPr lang="es-PE"/>
          </a:p>
        </p:txBody>
      </p:sp>
    </p:spTree>
    <p:extLst>
      <p:ext uri="{BB962C8B-B14F-4D97-AF65-F5344CB8AC3E}">
        <p14:creationId xmlns:p14="http://schemas.microsoft.com/office/powerpoint/2010/main" val="1843847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18</a:t>
            </a:fld>
            <a:endParaRPr lang="es-PE"/>
          </a:p>
        </p:txBody>
      </p:sp>
    </p:spTree>
    <p:extLst>
      <p:ext uri="{BB962C8B-B14F-4D97-AF65-F5344CB8AC3E}">
        <p14:creationId xmlns:p14="http://schemas.microsoft.com/office/powerpoint/2010/main" val="744488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19</a:t>
            </a:fld>
            <a:endParaRPr lang="es-PE"/>
          </a:p>
        </p:txBody>
      </p:sp>
    </p:spTree>
    <p:extLst>
      <p:ext uri="{BB962C8B-B14F-4D97-AF65-F5344CB8AC3E}">
        <p14:creationId xmlns:p14="http://schemas.microsoft.com/office/powerpoint/2010/main" val="3155834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20</a:t>
            </a:fld>
            <a:endParaRPr lang="es-PE"/>
          </a:p>
        </p:txBody>
      </p:sp>
    </p:spTree>
    <p:extLst>
      <p:ext uri="{BB962C8B-B14F-4D97-AF65-F5344CB8AC3E}">
        <p14:creationId xmlns:p14="http://schemas.microsoft.com/office/powerpoint/2010/main" val="6764524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21</a:t>
            </a:fld>
            <a:endParaRPr lang="es-PE"/>
          </a:p>
        </p:txBody>
      </p:sp>
    </p:spTree>
    <p:extLst>
      <p:ext uri="{BB962C8B-B14F-4D97-AF65-F5344CB8AC3E}">
        <p14:creationId xmlns:p14="http://schemas.microsoft.com/office/powerpoint/2010/main" val="7764980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u="none" strike="noStrike" baseline="0" dirty="0" smtClean="0">
                <a:solidFill>
                  <a:srgbClr val="000000"/>
                </a:solidFill>
                <a:latin typeface="Times New Roman" panose="02020603050405020304" pitchFamily="18" charset="0"/>
              </a:rPr>
              <a:t>La norma establece seis principios para la buena gobernanza de TI. Los principios expresan comportamientos preferentes para guiar la toma de decisiones. La declaración de cada principio refiere a lo que debería ocurrir, pero no prescribe cómo, cuándo o por quién los principios serían implementados ya que estos aspectos dependen de la naturaleza de la organización que implementa estos principios. Los órganos de gobierno deben requerir que estos principios sean aplicados. </a:t>
            </a:r>
            <a:endParaRPr lang="es-PE" dirty="0" smtClean="0">
              <a:latin typeface="Arial" panose="020B0604020202020204" pitchFamily="34" charset="0"/>
              <a:cs typeface="Arial" panose="020B0604020202020204" pitchFamily="34" charset="0"/>
            </a:endParaRPr>
          </a:p>
          <a:p>
            <a:endParaRPr lang="es-PE" dirty="0" smtClean="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22</a:t>
            </a:fld>
            <a:endParaRPr lang="es-PE"/>
          </a:p>
        </p:txBody>
      </p:sp>
    </p:spTree>
    <p:extLst>
      <p:ext uri="{BB962C8B-B14F-4D97-AF65-F5344CB8AC3E}">
        <p14:creationId xmlns:p14="http://schemas.microsoft.com/office/powerpoint/2010/main" val="29403590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u="none" strike="noStrike" baseline="0" dirty="0" smtClean="0">
                <a:solidFill>
                  <a:srgbClr val="000000"/>
                </a:solidFill>
                <a:latin typeface="Times New Roman" panose="02020603050405020304" pitchFamily="18" charset="0"/>
              </a:rPr>
              <a:t>La figura muestra el modelo de gobernanza de las TI, los órganos de gobierno deben gobernar la TI a través de tres tareas principales: </a:t>
            </a:r>
          </a:p>
          <a:p>
            <a:pPr algn="l"/>
            <a:endParaRPr lang="es-PE" sz="1200" b="0" i="0" u="none" strike="noStrike" baseline="0" dirty="0" smtClean="0">
              <a:solidFill>
                <a:srgbClr val="000000"/>
              </a:solidFill>
              <a:latin typeface="Times New Roman" panose="02020603050405020304" pitchFamily="18" charset="0"/>
            </a:endParaRPr>
          </a:p>
          <a:p>
            <a:r>
              <a:rPr lang="es-ES" sz="1200" b="0" i="0" u="none" strike="noStrike" baseline="0" dirty="0" smtClean="0">
                <a:solidFill>
                  <a:srgbClr val="000000"/>
                </a:solidFill>
                <a:latin typeface="Times New Roman" panose="02020603050405020304" pitchFamily="18" charset="0"/>
              </a:rPr>
              <a:t>a) </a:t>
            </a:r>
            <a:r>
              <a:rPr lang="es-ES" sz="1200" b="1" i="0" u="none" strike="noStrike" baseline="0" dirty="0" smtClean="0">
                <a:solidFill>
                  <a:srgbClr val="000000"/>
                </a:solidFill>
                <a:latin typeface="Times New Roman" panose="02020603050405020304" pitchFamily="18" charset="0"/>
              </a:rPr>
              <a:t>Evaluar</a:t>
            </a:r>
            <a:r>
              <a:rPr lang="es-ES" sz="1200" b="0" i="0" u="none" strike="noStrike" baseline="0" dirty="0" smtClean="0">
                <a:solidFill>
                  <a:srgbClr val="000000"/>
                </a:solidFill>
                <a:latin typeface="Times New Roman" panose="02020603050405020304" pitchFamily="18" charset="0"/>
              </a:rPr>
              <a:t> el uso actual y futuro de TI. </a:t>
            </a:r>
          </a:p>
          <a:p>
            <a:r>
              <a:rPr lang="es-ES" sz="1200" b="0" i="0" u="none" strike="noStrike" baseline="0" dirty="0" smtClean="0">
                <a:solidFill>
                  <a:srgbClr val="000000"/>
                </a:solidFill>
                <a:latin typeface="Times New Roman" panose="02020603050405020304" pitchFamily="18" charset="0"/>
              </a:rPr>
              <a:t>b) </a:t>
            </a:r>
            <a:r>
              <a:rPr lang="es-ES" sz="1200" b="1" i="0" u="none" strike="noStrike" baseline="0" dirty="0" smtClean="0">
                <a:solidFill>
                  <a:srgbClr val="000000"/>
                </a:solidFill>
                <a:latin typeface="Times New Roman" panose="02020603050405020304" pitchFamily="18" charset="0"/>
              </a:rPr>
              <a:t>Dirigir</a:t>
            </a:r>
            <a:r>
              <a:rPr lang="es-ES" sz="1200" b="0" i="0" u="none" strike="noStrike" baseline="0" dirty="0" smtClean="0">
                <a:solidFill>
                  <a:srgbClr val="000000"/>
                </a:solidFill>
                <a:latin typeface="Times New Roman" panose="02020603050405020304" pitchFamily="18" charset="0"/>
              </a:rPr>
              <a:t> la preparación e implementación de estrategias y políticas para asegurar que el uso de TI cumpla con los objetivos del negocio. </a:t>
            </a:r>
          </a:p>
          <a:p>
            <a:r>
              <a:rPr lang="es-ES" sz="1200" b="0" i="0" u="none" strike="noStrike" baseline="0" dirty="0" smtClean="0">
                <a:solidFill>
                  <a:srgbClr val="000000"/>
                </a:solidFill>
                <a:latin typeface="Times New Roman" panose="02020603050405020304" pitchFamily="18" charset="0"/>
              </a:rPr>
              <a:t>c) </a:t>
            </a:r>
            <a:r>
              <a:rPr lang="es-ES" sz="1200" b="1" i="0" u="none" strike="noStrike" baseline="0" dirty="0" smtClean="0">
                <a:solidFill>
                  <a:srgbClr val="000000"/>
                </a:solidFill>
                <a:latin typeface="Times New Roman" panose="02020603050405020304" pitchFamily="18" charset="0"/>
              </a:rPr>
              <a:t>Monitorizar</a:t>
            </a:r>
            <a:r>
              <a:rPr lang="es-ES" sz="1200" b="0" i="0" u="none" strike="noStrike" baseline="0" dirty="0" smtClean="0">
                <a:solidFill>
                  <a:srgbClr val="000000"/>
                </a:solidFill>
                <a:latin typeface="Times New Roman" panose="02020603050405020304" pitchFamily="18" charset="0"/>
              </a:rPr>
              <a:t> la conformidad con las políticas y su desempeño en relación con las estrategias. </a:t>
            </a:r>
          </a:p>
          <a:p>
            <a:endParaRPr lang="es-PE" dirty="0" smtClean="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23</a:t>
            </a:fld>
            <a:endParaRPr lang="es-PE"/>
          </a:p>
        </p:txBody>
      </p:sp>
    </p:spTree>
    <p:extLst>
      <p:ext uri="{BB962C8B-B14F-4D97-AF65-F5344CB8AC3E}">
        <p14:creationId xmlns:p14="http://schemas.microsoft.com/office/powerpoint/2010/main" val="29670738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24</a:t>
            </a:fld>
            <a:endParaRPr lang="es-PE"/>
          </a:p>
        </p:txBody>
      </p:sp>
    </p:spTree>
    <p:extLst>
      <p:ext uri="{BB962C8B-B14F-4D97-AF65-F5344CB8AC3E}">
        <p14:creationId xmlns:p14="http://schemas.microsoft.com/office/powerpoint/2010/main" val="15141595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25</a:t>
            </a:fld>
            <a:endParaRPr lang="es-PE"/>
          </a:p>
        </p:txBody>
      </p:sp>
    </p:spTree>
    <p:extLst>
      <p:ext uri="{BB962C8B-B14F-4D97-AF65-F5344CB8AC3E}">
        <p14:creationId xmlns:p14="http://schemas.microsoft.com/office/powerpoint/2010/main" val="41657087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26</a:t>
            </a:fld>
            <a:endParaRPr lang="es-PE"/>
          </a:p>
        </p:txBody>
      </p:sp>
    </p:spTree>
    <p:extLst>
      <p:ext uri="{BB962C8B-B14F-4D97-AF65-F5344CB8AC3E}">
        <p14:creationId xmlns:p14="http://schemas.microsoft.com/office/powerpoint/2010/main" val="37610691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27</a:t>
            </a:fld>
            <a:endParaRPr lang="es-PE"/>
          </a:p>
        </p:txBody>
      </p:sp>
    </p:spTree>
    <p:extLst>
      <p:ext uri="{BB962C8B-B14F-4D97-AF65-F5344CB8AC3E}">
        <p14:creationId xmlns:p14="http://schemas.microsoft.com/office/powerpoint/2010/main" val="41553077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28</a:t>
            </a:fld>
            <a:endParaRPr lang="es-PE"/>
          </a:p>
        </p:txBody>
      </p:sp>
    </p:spTree>
    <p:extLst>
      <p:ext uri="{BB962C8B-B14F-4D97-AF65-F5344CB8AC3E}">
        <p14:creationId xmlns:p14="http://schemas.microsoft.com/office/powerpoint/2010/main" val="39976025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29</a:t>
            </a:fld>
            <a:endParaRPr lang="es-PE"/>
          </a:p>
        </p:txBody>
      </p:sp>
    </p:spTree>
    <p:extLst>
      <p:ext uri="{BB962C8B-B14F-4D97-AF65-F5344CB8AC3E}">
        <p14:creationId xmlns:p14="http://schemas.microsoft.com/office/powerpoint/2010/main" val="24994898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30</a:t>
            </a:fld>
            <a:endParaRPr lang="es-PE"/>
          </a:p>
        </p:txBody>
      </p:sp>
    </p:spTree>
    <p:extLst>
      <p:ext uri="{BB962C8B-B14F-4D97-AF65-F5344CB8AC3E}">
        <p14:creationId xmlns:p14="http://schemas.microsoft.com/office/powerpoint/2010/main" val="14317707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31</a:t>
            </a:fld>
            <a:endParaRPr lang="es-PE"/>
          </a:p>
        </p:txBody>
      </p:sp>
    </p:spTree>
    <p:extLst>
      <p:ext uri="{BB962C8B-B14F-4D97-AF65-F5344CB8AC3E}">
        <p14:creationId xmlns:p14="http://schemas.microsoft.com/office/powerpoint/2010/main" val="853660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085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943131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btema - 1 Imagen A">
    <p:spTree>
      <p:nvGrpSpPr>
        <p:cNvPr id="1" name=""/>
        <p:cNvGrpSpPr/>
        <p:nvPr/>
      </p:nvGrpSpPr>
      <p:grpSpPr>
        <a:xfrm>
          <a:off x="0" y="0"/>
          <a:ext cx="0" cy="0"/>
          <a:chOff x="0" y="0"/>
          <a:chExt cx="0" cy="0"/>
        </a:xfrm>
      </p:grpSpPr>
    </p:spTree>
    <p:extLst>
      <p:ext uri="{BB962C8B-B14F-4D97-AF65-F5344CB8AC3E}">
        <p14:creationId xmlns:p14="http://schemas.microsoft.com/office/powerpoint/2010/main" val="611824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tema - 1 Imagen B">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2226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tema - 1 Imagen Centrada">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5508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btema - 2 Imágenes">
    <p:spTree>
      <p:nvGrpSpPr>
        <p:cNvPr id="1" name=""/>
        <p:cNvGrpSpPr/>
        <p:nvPr/>
      </p:nvGrpSpPr>
      <p:grpSpPr>
        <a:xfrm>
          <a:off x="0" y="0"/>
          <a:ext cx="0" cy="0"/>
          <a:chOff x="0" y="0"/>
          <a:chExt cx="0" cy="0"/>
        </a:xfrm>
      </p:grpSpPr>
    </p:spTree>
    <p:extLst>
      <p:ext uri="{BB962C8B-B14F-4D97-AF65-F5344CB8AC3E}">
        <p14:creationId xmlns:p14="http://schemas.microsoft.com/office/powerpoint/2010/main" val="964691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btema - Imagen Gigan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6956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ubtema - 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5261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0211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 name="Agrupar 13"/>
          <p:cNvGrpSpPr/>
          <p:nvPr userDrawn="1"/>
        </p:nvGrpSpPr>
        <p:grpSpPr>
          <a:xfrm>
            <a:off x="944054" y="5369051"/>
            <a:ext cx="7804380" cy="215444"/>
            <a:chOff x="944054" y="5369051"/>
            <a:chExt cx="7804380" cy="215444"/>
          </a:xfrm>
        </p:grpSpPr>
        <p:sp>
          <p:nvSpPr>
            <p:cNvPr id="16" name="TextBox 7"/>
            <p:cNvSpPr txBox="1"/>
            <p:nvPr userDrawn="1"/>
          </p:nvSpPr>
          <p:spPr>
            <a:xfrm>
              <a:off x="944054" y="5369051"/>
              <a:ext cx="2499402" cy="215444"/>
            </a:xfrm>
            <a:prstGeom prst="rect">
              <a:avLst/>
            </a:prstGeom>
            <a:noFill/>
          </p:spPr>
          <p:txBody>
            <a:bodyPr wrap="none" rtlCol="0">
              <a:spAutoFit/>
            </a:bodyPr>
            <a:lstStyle/>
            <a:p>
              <a:r>
                <a:rPr lang="en-US" sz="800" kern="1200" dirty="0" smtClean="0">
                  <a:solidFill>
                    <a:schemeClr val="bg1">
                      <a:lumMod val="50000"/>
                    </a:schemeClr>
                  </a:solidFill>
                  <a:latin typeface="Calibri"/>
                  <a:ea typeface="+mn-ea"/>
                  <a:cs typeface="Calibri"/>
                  <a:sym typeface="Wingdings"/>
                </a:rPr>
                <a:t>SISTEMAS</a:t>
              </a:r>
              <a:r>
                <a:rPr lang="en-US" sz="800" kern="1200" baseline="0" dirty="0" smtClean="0">
                  <a:solidFill>
                    <a:schemeClr val="bg1">
                      <a:lumMod val="50000"/>
                    </a:schemeClr>
                  </a:solidFill>
                  <a:latin typeface="Calibri"/>
                  <a:ea typeface="+mn-ea"/>
                  <a:cs typeface="Calibri"/>
                  <a:sym typeface="Wingdings"/>
                </a:rPr>
                <a:t> DE CONTROL Y GOBIERNO DE TI</a:t>
              </a:r>
              <a:r>
                <a:rPr lang="en-US" sz="800" kern="1200" dirty="0" smtClean="0">
                  <a:solidFill>
                    <a:schemeClr val="bg1">
                      <a:lumMod val="50000"/>
                    </a:schemeClr>
                  </a:solidFill>
                  <a:latin typeface="Calibri"/>
                  <a:ea typeface="+mn-ea"/>
                  <a:cs typeface="Calibri"/>
                  <a:sym typeface="Wingdings"/>
                </a:rPr>
                <a:t>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a:t>
              </a:r>
              <a:r>
                <a:rPr lang="en-US" sz="800" kern="1200" dirty="0" smtClean="0">
                  <a:solidFill>
                    <a:schemeClr val="bg1">
                      <a:lumMod val="50000"/>
                    </a:schemeClr>
                  </a:solidFill>
                  <a:latin typeface="Calibri"/>
                  <a:ea typeface="+mn-ea"/>
                  <a:cs typeface="Calibri"/>
                  <a:sym typeface="Wingdings"/>
                </a:rPr>
                <a:t>04</a:t>
              </a:r>
              <a:endParaRPr lang="en-US" sz="800" dirty="0">
                <a:solidFill>
                  <a:schemeClr val="bg1">
                    <a:lumMod val="50000"/>
                  </a:schemeClr>
                </a:solidFill>
                <a:latin typeface="Calibri"/>
                <a:cs typeface="Calibri"/>
              </a:endParaRPr>
            </a:p>
          </p:txBody>
        </p:sp>
        <p:sp>
          <p:nvSpPr>
            <p:cNvPr id="18" name="Rectangle 3"/>
            <p:cNvSpPr/>
            <p:nvPr userDrawn="1"/>
          </p:nvSpPr>
          <p:spPr>
            <a:xfrm>
              <a:off x="7207627" y="5384440"/>
              <a:ext cx="1540807" cy="184666"/>
            </a:xfrm>
            <a:prstGeom prst="rect">
              <a:avLst/>
            </a:prstGeom>
          </p:spPr>
          <p:txBody>
            <a:bodyPr wrap="none">
              <a:spAutoFit/>
            </a:bodyPr>
            <a:lstStyle/>
            <a:p>
              <a:pPr algn="r"/>
              <a:r>
                <a:rPr lang="es-ES_tradnl" sz="600" dirty="0">
                  <a:solidFill>
                    <a:schemeClr val="bg1">
                      <a:lumMod val="50000"/>
                    </a:schemeClr>
                  </a:solidFill>
                </a:rPr>
                <a:t>© 2020 ISIL. Todos los derechos reservados</a:t>
              </a:r>
            </a:p>
          </p:txBody>
        </p:sp>
      </p:grpSp>
      <p:pic>
        <p:nvPicPr>
          <p:cNvPr id="3" name="Imagen 2"/>
          <p:cNvPicPr>
            <a:picLocks noChangeAspect="1"/>
          </p:cNvPicPr>
          <p:nvPr userDrawn="1"/>
        </p:nvPicPr>
        <p:blipFill>
          <a:blip r:embed="rId11">
            <a:alphaModFix amt="20000"/>
          </a:blip>
          <a:stretch>
            <a:fillRect/>
          </a:stretch>
        </p:blipFill>
        <p:spPr>
          <a:xfrm>
            <a:off x="495300" y="5328911"/>
            <a:ext cx="448573" cy="250755"/>
          </a:xfrm>
          <a:prstGeom prst="rect">
            <a:avLst/>
          </a:prstGeom>
        </p:spPr>
      </p:pic>
    </p:spTree>
    <p:extLst>
      <p:ext uri="{BB962C8B-B14F-4D97-AF65-F5344CB8AC3E}">
        <p14:creationId xmlns:p14="http://schemas.microsoft.com/office/powerpoint/2010/main" val="3635932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60" r:id="rId4"/>
    <p:sldLayoutId id="2147483657" r:id="rId5"/>
    <p:sldLayoutId id="2147483658" r:id="rId6"/>
    <p:sldLayoutId id="2147483661" r:id="rId7"/>
    <p:sldLayoutId id="2147483659" r:id="rId8"/>
    <p:sldLayoutId id="2147483662"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32.xml.rels><?xml version="1.0" encoding="UTF-8" standalone="yes"?>
<Relationships xmlns="http://schemas.openxmlformats.org/package/2006/relationships"><Relationship Id="rId8" Type="http://schemas.openxmlformats.org/officeDocument/2006/relationships/hyperlink" Target="https://blog.invgate.com/es/itam-101-introducci%C3%B3n-a-la-gesti%C3%B3n-de-activos-de-ti" TargetMode="External"/><Relationship Id="rId13" Type="http://schemas.openxmlformats.org/officeDocument/2006/relationships/hyperlink" Target="https://www.sap.com/latinamerica/insights/what-is-iot-internet-of-things.html" TargetMode="External"/><Relationship Id="rId3" Type="http://schemas.openxmlformats.org/officeDocument/2006/relationships/hyperlink" Target="https://www.ecured.cu/Arquitectura_Empresarial" TargetMode="External"/><Relationship Id="rId7" Type="http://schemas.openxmlformats.org/officeDocument/2006/relationships/hyperlink" Target="https://mentory.online/2018/02/raci-o-matriz-de-responsabilidades.html" TargetMode="External"/><Relationship Id="rId12" Type="http://schemas.openxmlformats.org/officeDocument/2006/relationships/hyperlink" Target="https://www.redhat.com/es/topics/internet-of-things/what-is-iot" TargetMode="External"/><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hyperlink" Target="https://www.laboratorioti.com/2016/02/22/ticcionario-una-matriz-raci-usarla/" TargetMode="External"/><Relationship Id="rId11" Type="http://schemas.openxmlformats.org/officeDocument/2006/relationships/hyperlink" Target="https://www.oracle.com/es/big-data/what-is-big-data/" TargetMode="External"/><Relationship Id="rId5" Type="http://schemas.openxmlformats.org/officeDocument/2006/relationships/hyperlink" Target="https://thedigitalprojectmanager.com/es/grafico-raci-manera-mas-simple/" TargetMode="External"/><Relationship Id="rId10" Type="http://schemas.openxmlformats.org/officeDocument/2006/relationships/hyperlink" Target="https://www.axxon.com.br/blog/index.php?id=edoa0sxa" TargetMode="External"/><Relationship Id="rId4" Type="http://schemas.openxmlformats.org/officeDocument/2006/relationships/hyperlink" Target="https://colombiadigital.net/actualidad/articulos-informativos/item/8123-que-es-arquitectura-empresarial.html" TargetMode="External"/><Relationship Id="rId9" Type="http://schemas.openxmlformats.org/officeDocument/2006/relationships/hyperlink" Target="https://www.dealerworld.es/archive/la-complejidad-de-las-ti-permite-a-las-empresas-ser-mas-competitivas" TargetMode="External"/><Relationship Id="rId14" Type="http://schemas.openxmlformats.org/officeDocument/2006/relationships/hyperlink" Target="https://www.iso.org/standard/62816.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5" name="CuadroTexto 4"/>
          <p:cNvSpPr txBox="1"/>
          <p:nvPr/>
        </p:nvSpPr>
        <p:spPr>
          <a:xfrm>
            <a:off x="417646" y="398388"/>
            <a:ext cx="873152" cy="369332"/>
          </a:xfrm>
          <a:prstGeom prst="rect">
            <a:avLst/>
          </a:prstGeom>
          <a:noFill/>
        </p:spPr>
        <p:txBody>
          <a:bodyPr wrap="square" rtlCol="0">
            <a:spAutoFit/>
          </a:bodyPr>
          <a:lstStyle/>
          <a:p>
            <a:r>
              <a:rPr lang="es-ES" dirty="0">
                <a:solidFill>
                  <a:schemeClr val="bg1"/>
                </a:solidFill>
              </a:rPr>
              <a:t>SESIÓN</a:t>
            </a:r>
          </a:p>
        </p:txBody>
      </p:sp>
      <p:sp>
        <p:nvSpPr>
          <p:cNvPr id="6" name="CuadroTexto 5"/>
          <p:cNvSpPr txBox="1"/>
          <p:nvPr/>
        </p:nvSpPr>
        <p:spPr>
          <a:xfrm>
            <a:off x="380422" y="475914"/>
            <a:ext cx="964250" cy="1015663"/>
          </a:xfrm>
          <a:prstGeom prst="rect">
            <a:avLst/>
          </a:prstGeom>
          <a:noFill/>
        </p:spPr>
        <p:txBody>
          <a:bodyPr wrap="square" rtlCol="0">
            <a:spAutoFit/>
          </a:bodyPr>
          <a:lstStyle/>
          <a:p>
            <a:r>
              <a:rPr lang="es-ES" sz="5800" dirty="0">
                <a:solidFill>
                  <a:srgbClr val="FFFFFF"/>
                </a:solidFill>
              </a:rPr>
              <a:t>04</a:t>
            </a:r>
          </a:p>
        </p:txBody>
      </p:sp>
      <p:sp>
        <p:nvSpPr>
          <p:cNvPr id="14" name="CuadroTexto 13"/>
          <p:cNvSpPr txBox="1"/>
          <p:nvPr/>
        </p:nvSpPr>
        <p:spPr>
          <a:xfrm>
            <a:off x="1426523" y="500669"/>
            <a:ext cx="7233258" cy="840230"/>
          </a:xfrm>
          <a:prstGeom prst="rect">
            <a:avLst/>
          </a:prstGeom>
          <a:noFill/>
        </p:spPr>
        <p:txBody>
          <a:bodyPr wrap="square" rtlCol="0">
            <a:spAutoFit/>
          </a:bodyPr>
          <a:lstStyle/>
          <a:p>
            <a:pPr>
              <a:lnSpc>
                <a:spcPct val="80000"/>
              </a:lnSpc>
            </a:pPr>
            <a:r>
              <a:rPr lang="es-ES" sz="3000" b="1" dirty="0">
                <a:solidFill>
                  <a:srgbClr val="FFFFFF"/>
                </a:solidFill>
              </a:rPr>
              <a:t>GOBIERNO </a:t>
            </a:r>
          </a:p>
          <a:p>
            <a:pPr>
              <a:lnSpc>
                <a:spcPct val="80000"/>
              </a:lnSpc>
            </a:pPr>
            <a:r>
              <a:rPr lang="es-ES" sz="3000" b="1" dirty="0">
                <a:solidFill>
                  <a:srgbClr val="FFFFFF"/>
                </a:solidFill>
              </a:rPr>
              <a:t>DE TI </a:t>
            </a:r>
          </a:p>
        </p:txBody>
      </p:sp>
      <p:sp>
        <p:nvSpPr>
          <p:cNvPr id="15" name="CuadroTexto 14"/>
          <p:cNvSpPr txBox="1"/>
          <p:nvPr/>
        </p:nvSpPr>
        <p:spPr>
          <a:xfrm>
            <a:off x="589880" y="1837744"/>
            <a:ext cx="6200026" cy="1549911"/>
          </a:xfrm>
          <a:prstGeom prst="rect">
            <a:avLst/>
          </a:prstGeom>
          <a:noFill/>
        </p:spPr>
        <p:txBody>
          <a:bodyPr wrap="square" rtlCol="0">
            <a:spAutoFit/>
          </a:bodyPr>
          <a:lstStyle/>
          <a:p>
            <a:pPr marL="285750" indent="-285750">
              <a:lnSpc>
                <a:spcPct val="120000"/>
              </a:lnSpc>
              <a:buSzPct val="80000"/>
              <a:buFont typeface="Wingdings" panose="05000000000000000000" pitchFamily="2" charset="2"/>
              <a:buChar char="ü"/>
            </a:pPr>
            <a:r>
              <a:rPr lang="es-ES" sz="1600" dirty="0">
                <a:solidFill>
                  <a:srgbClr val="FFFFFF"/>
                </a:solidFill>
              </a:rPr>
              <a:t>Definición</a:t>
            </a:r>
          </a:p>
          <a:p>
            <a:pPr marL="285750" indent="-285750">
              <a:lnSpc>
                <a:spcPct val="120000"/>
              </a:lnSpc>
              <a:buSzPct val="80000"/>
              <a:buFont typeface="Wingdings" panose="05000000000000000000" pitchFamily="2" charset="2"/>
              <a:buChar char="ü"/>
            </a:pPr>
            <a:r>
              <a:rPr lang="es-ES" sz="1600" dirty="0">
                <a:solidFill>
                  <a:srgbClr val="FFFFFF"/>
                </a:solidFill>
              </a:rPr>
              <a:t>Funciones principales y objetivos del gobierno de TI</a:t>
            </a:r>
          </a:p>
          <a:p>
            <a:pPr marL="285750" indent="-285750">
              <a:lnSpc>
                <a:spcPct val="120000"/>
              </a:lnSpc>
              <a:buSzPct val="80000"/>
              <a:buFont typeface="Wingdings" panose="05000000000000000000" pitchFamily="2" charset="2"/>
              <a:buChar char="ü"/>
            </a:pPr>
            <a:r>
              <a:rPr lang="es-ES" sz="1600" dirty="0">
                <a:solidFill>
                  <a:srgbClr val="FFFFFF"/>
                </a:solidFill>
              </a:rPr>
              <a:t>¿Qué es generar valor en el gobierno de TI? </a:t>
            </a:r>
          </a:p>
          <a:p>
            <a:pPr marL="285750" indent="-285750">
              <a:lnSpc>
                <a:spcPct val="120000"/>
              </a:lnSpc>
              <a:buSzPct val="80000"/>
              <a:buFont typeface="Wingdings" panose="05000000000000000000" pitchFamily="2" charset="2"/>
              <a:buChar char="ü"/>
            </a:pPr>
            <a:r>
              <a:rPr lang="es-ES" sz="1600" dirty="0">
                <a:solidFill>
                  <a:srgbClr val="FFFFFF"/>
                </a:solidFill>
              </a:rPr>
              <a:t>ISO/IEC 38500:2015</a:t>
            </a:r>
          </a:p>
          <a:p>
            <a:pPr marL="285750" indent="-285750">
              <a:lnSpc>
                <a:spcPct val="120000"/>
              </a:lnSpc>
              <a:buSzPct val="80000"/>
              <a:buFont typeface="Wingdings" panose="05000000000000000000" pitchFamily="2" charset="2"/>
              <a:buChar char="ü"/>
            </a:pPr>
            <a:r>
              <a:rPr lang="es-ES" sz="1600" dirty="0">
                <a:solidFill>
                  <a:srgbClr val="FFFFFF"/>
                </a:solidFill>
              </a:rPr>
              <a:t>Principales marcos del gobierno de TI</a:t>
            </a:r>
          </a:p>
        </p:txBody>
      </p:sp>
      <p:cxnSp>
        <p:nvCxnSpPr>
          <p:cNvPr id="8" name="Conector recto 7"/>
          <p:cNvCxnSpPr/>
          <p:nvPr/>
        </p:nvCxnSpPr>
        <p:spPr>
          <a:xfrm>
            <a:off x="1385597" y="522202"/>
            <a:ext cx="0" cy="720031"/>
          </a:xfrm>
          <a:prstGeom prst="line">
            <a:avLst/>
          </a:prstGeom>
          <a:ln>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9" name="Rectángulo 8"/>
          <p:cNvSpPr/>
          <p:nvPr/>
        </p:nvSpPr>
        <p:spPr>
          <a:xfrm>
            <a:off x="417647" y="1492372"/>
            <a:ext cx="8345931" cy="193899"/>
          </a:xfrm>
          <a:prstGeom prst="rect">
            <a:avLst/>
          </a:prstGeom>
          <a:solidFill>
            <a:schemeClr val="bg1"/>
          </a:solidFill>
        </p:spPr>
        <p:txBody>
          <a:bodyPr wrap="square" lIns="0" tIns="0" rIns="0" bIns="0">
            <a:spAutoFit/>
          </a:bodyPr>
          <a:lstStyle/>
          <a:p>
            <a:pPr algn="ctr">
              <a:lnSpc>
                <a:spcPct val="90000"/>
              </a:lnSpc>
            </a:pPr>
            <a:r>
              <a:rPr lang="es-PE" sz="1400" b="1" dirty="0">
                <a:solidFill>
                  <a:srgbClr val="1F85A6"/>
                </a:solidFill>
                <a:cs typeface="Calibri"/>
              </a:rPr>
              <a:t>UNIDAD DE APRENDIZAJE: CONCEPTOS CLAVE PARA LA COMPRENSIÓN DE COBIT 2019</a:t>
            </a:r>
            <a:endParaRPr lang="es-PE" sz="1400" b="1" dirty="0">
              <a:solidFill>
                <a:srgbClr val="1F85A6"/>
              </a:solidFill>
            </a:endParaRPr>
          </a:p>
        </p:txBody>
      </p:sp>
    </p:spTree>
    <p:extLst>
      <p:ext uri="{BB962C8B-B14F-4D97-AF65-F5344CB8AC3E}">
        <p14:creationId xmlns:p14="http://schemas.microsoft.com/office/powerpoint/2010/main" val="296268862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INTRODUCCIÓN</a:t>
            </a:r>
          </a:p>
        </p:txBody>
      </p:sp>
      <p:sp>
        <p:nvSpPr>
          <p:cNvPr id="4" name="object 7">
            <a:extLst>
              <a:ext uri="{FF2B5EF4-FFF2-40B4-BE49-F238E27FC236}">
                <a16:creationId xmlns:a16="http://schemas.microsoft.com/office/drawing/2014/main" id="{566B4764-7DFE-4C25-9FA9-B9060C9CF980}"/>
              </a:ext>
            </a:extLst>
          </p:cNvPr>
          <p:cNvSpPr txBox="1"/>
          <p:nvPr/>
        </p:nvSpPr>
        <p:spPr>
          <a:xfrm>
            <a:off x="538502" y="804093"/>
            <a:ext cx="7930583" cy="1969770"/>
          </a:xfrm>
          <a:prstGeom prst="rect">
            <a:avLst/>
          </a:prstGeom>
        </p:spPr>
        <p:txBody>
          <a:bodyPr vert="horz" wrap="square" lIns="0" tIns="0" rIns="0" bIns="0" rtlCol="0">
            <a:spAutoFit/>
          </a:bodyPr>
          <a:lstStyle/>
          <a:p>
            <a:pPr marL="184150" indent="-184150">
              <a:buSzPct val="100000"/>
              <a:buFont typeface="Arial" charset="0"/>
              <a:buChar char="•"/>
              <a:tabLst>
                <a:tab pos="85725" algn="l"/>
              </a:tabLst>
            </a:pPr>
            <a:r>
              <a:rPr lang="es-PE" sz="1600" spc="-10" dirty="0">
                <a:cs typeface="Source Sans Pro"/>
              </a:rPr>
              <a:t>En esta sesión </a:t>
            </a:r>
            <a:r>
              <a:rPr lang="es-PE" sz="1600" spc="-10" dirty="0" smtClean="0">
                <a:cs typeface="Source Sans Pro"/>
              </a:rPr>
              <a:t>aprenderás </a:t>
            </a:r>
            <a:r>
              <a:rPr lang="es-PE" sz="1600" spc="-10" dirty="0">
                <a:cs typeface="Source Sans Pro"/>
              </a:rPr>
              <a:t>los conceptos sobre el gobierno de TI, sus funciones principales, sus objetivos y la generación de valor que brinda a la empresa.</a:t>
            </a:r>
            <a:br>
              <a:rPr lang="es-PE" sz="1600" spc="-10" dirty="0">
                <a:cs typeface="Source Sans Pro"/>
              </a:rPr>
            </a:br>
            <a:endParaRPr lang="es-PE" sz="1600" spc="-10" dirty="0">
              <a:cs typeface="Source Sans Pro"/>
            </a:endParaRPr>
          </a:p>
          <a:p>
            <a:pPr marL="184150" indent="-184150">
              <a:buSzPct val="100000"/>
              <a:buFont typeface="Arial" charset="0"/>
              <a:buChar char="•"/>
              <a:tabLst>
                <a:tab pos="85725" algn="l"/>
              </a:tabLst>
            </a:pPr>
            <a:r>
              <a:rPr lang="es-PE" sz="1600" spc="-10" dirty="0" smtClean="0">
                <a:cs typeface="Source Sans Pro"/>
              </a:rPr>
              <a:t>Verás </a:t>
            </a:r>
            <a:r>
              <a:rPr lang="es-PE" sz="1600" spc="-10" dirty="0">
                <a:cs typeface="Source Sans Pro"/>
              </a:rPr>
              <a:t>todos los dominios del gobierno de TI especificando </a:t>
            </a:r>
            <a:r>
              <a:rPr lang="es-PE" sz="1600" spc="-10" dirty="0" smtClean="0">
                <a:cs typeface="Source Sans Pro"/>
              </a:rPr>
              <a:t>cada uno de sus </a:t>
            </a:r>
            <a:r>
              <a:rPr lang="es-PE" sz="1600" spc="-10" dirty="0">
                <a:cs typeface="Source Sans Pro"/>
              </a:rPr>
              <a:t>principales </a:t>
            </a:r>
            <a:r>
              <a:rPr lang="es-PE" sz="1600" spc="-10" dirty="0" smtClean="0">
                <a:cs typeface="Source Sans Pro"/>
              </a:rPr>
              <a:t>enfoques.</a:t>
            </a:r>
            <a:endParaRPr lang="es-PE" sz="1600" spc="-10" dirty="0">
              <a:cs typeface="Source Sans Pro"/>
            </a:endParaRPr>
          </a:p>
          <a:p>
            <a:pPr marL="184150" indent="-184150">
              <a:buSzPct val="100000"/>
              <a:buFont typeface="Arial" charset="0"/>
              <a:buChar char="•"/>
              <a:tabLst>
                <a:tab pos="85725" algn="l"/>
              </a:tabLst>
            </a:pPr>
            <a:endParaRPr lang="es-PE" sz="1600" spc="-10" dirty="0">
              <a:cs typeface="Source Sans Pro"/>
            </a:endParaRPr>
          </a:p>
          <a:p>
            <a:pPr marL="184150" indent="-184150">
              <a:buSzPct val="100000"/>
              <a:buFont typeface="Arial" charset="0"/>
              <a:buChar char="•"/>
              <a:tabLst>
                <a:tab pos="85725" algn="l"/>
              </a:tabLst>
            </a:pPr>
            <a:r>
              <a:rPr lang="es-PE" sz="1600" spc="-10" dirty="0">
                <a:cs typeface="Source Sans Pro"/>
              </a:rPr>
              <a:t>Para terminar </a:t>
            </a:r>
            <a:r>
              <a:rPr lang="es-PE" sz="1600" spc="-10" dirty="0" smtClean="0">
                <a:cs typeface="Source Sans Pro"/>
              </a:rPr>
              <a:t>verás </a:t>
            </a:r>
            <a:r>
              <a:rPr lang="es-PE" sz="1600" spc="-10" dirty="0">
                <a:cs typeface="Source Sans Pro"/>
              </a:rPr>
              <a:t>los marcos de gobierno de TI más </a:t>
            </a:r>
            <a:r>
              <a:rPr lang="es-PE" sz="1600" spc="-10" dirty="0" smtClean="0">
                <a:cs typeface="Source Sans Pro"/>
              </a:rPr>
              <a:t>importantes que </a:t>
            </a:r>
            <a:r>
              <a:rPr lang="es-PE" sz="1600" spc="-10" dirty="0" smtClean="0">
                <a:cs typeface="Source Sans Pro"/>
              </a:rPr>
              <a:t>son los más utilizados actualmente</a:t>
            </a:r>
            <a:r>
              <a:rPr lang="es-PE" sz="1600" spc="-10" dirty="0">
                <a:cs typeface="Source Sans Pro"/>
              </a:rPr>
              <a:t>.</a:t>
            </a:r>
          </a:p>
        </p:txBody>
      </p:sp>
    </p:spTree>
    <p:custDataLst>
      <p:tags r:id="rId1"/>
    </p:custDataLst>
    <p:extLst>
      <p:ext uri="{BB962C8B-B14F-4D97-AF65-F5344CB8AC3E}">
        <p14:creationId xmlns:p14="http://schemas.microsoft.com/office/powerpoint/2010/main" val="3012154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DEFINICIÓN</a:t>
            </a:r>
          </a:p>
        </p:txBody>
      </p:sp>
    </p:spTree>
    <p:custDataLst>
      <p:tags r:id="rId1"/>
    </p:custDataLst>
    <p:extLst>
      <p:ext uri="{BB962C8B-B14F-4D97-AF65-F5344CB8AC3E}">
        <p14:creationId xmlns:p14="http://schemas.microsoft.com/office/powerpoint/2010/main" val="2817813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DEFINICIÓN</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8" y="832233"/>
            <a:ext cx="401029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DEFINICIÓN DEL GOBIERNO DE TI </a:t>
            </a:r>
          </a:p>
        </p:txBody>
      </p:sp>
      <p:sp>
        <p:nvSpPr>
          <p:cNvPr id="8" name="object 7">
            <a:extLst>
              <a:ext uri="{FF2B5EF4-FFF2-40B4-BE49-F238E27FC236}">
                <a16:creationId xmlns:a16="http://schemas.microsoft.com/office/drawing/2014/main" id="{B5EA86E6-DB35-4893-8551-90B6D8DDF61A}"/>
              </a:ext>
            </a:extLst>
          </p:cNvPr>
          <p:cNvSpPr txBox="1"/>
          <p:nvPr/>
        </p:nvSpPr>
        <p:spPr>
          <a:xfrm>
            <a:off x="510907" y="1295059"/>
            <a:ext cx="4351379" cy="3416320"/>
          </a:xfrm>
          <a:prstGeom prst="rect">
            <a:avLst/>
          </a:prstGeom>
        </p:spPr>
        <p:txBody>
          <a:bodyPr vert="horz" wrap="square" lIns="0" tIns="0" rIns="0" bIns="0" rtlCol="0">
            <a:spAutoFit/>
          </a:bodyPr>
          <a:lstStyle/>
          <a:p>
            <a:pPr marL="355600" indent="-168275">
              <a:spcAft>
                <a:spcPts val="1800"/>
              </a:spcAft>
              <a:buSzPct val="100000"/>
              <a:buFont typeface="Arial"/>
              <a:buChar char="•"/>
              <a:tabLst>
                <a:tab pos="121285" algn="l"/>
              </a:tabLst>
            </a:pPr>
            <a:r>
              <a:rPr lang="es-ES" sz="1600" spc="-10" dirty="0">
                <a:solidFill>
                  <a:srgbClr val="262626"/>
                </a:solidFill>
              </a:rPr>
              <a:t>El gobierno de TI es el conjunto de estrategias y planes del área tecnológica que se alinea con la estrategia de negocio y genera valor corporativo.</a:t>
            </a:r>
          </a:p>
          <a:p>
            <a:pPr marL="355600" indent="-168275">
              <a:spcAft>
                <a:spcPts val="1800"/>
              </a:spcAft>
              <a:buSzPct val="100000"/>
              <a:buFont typeface="Arial"/>
              <a:buChar char="•"/>
              <a:tabLst>
                <a:tab pos="121285" algn="l"/>
              </a:tabLst>
            </a:pPr>
            <a:r>
              <a:rPr lang="es-PE" sz="1600" spc="-10" dirty="0">
                <a:solidFill>
                  <a:srgbClr val="262626"/>
                </a:solidFill>
              </a:rPr>
              <a:t>El gobierno de TI permite aprovechar al máximo la información gestionada por el área de TI a través de la infraestructura, las telecomunicaciones y las aplicaciones de negocio.</a:t>
            </a:r>
          </a:p>
          <a:p>
            <a:pPr marL="355600" indent="-168275">
              <a:spcAft>
                <a:spcPts val="1800"/>
              </a:spcAft>
              <a:buSzPct val="100000"/>
              <a:buFont typeface="Arial"/>
              <a:buChar char="•"/>
              <a:tabLst>
                <a:tab pos="121285" algn="l"/>
              </a:tabLst>
            </a:pPr>
            <a:r>
              <a:rPr lang="es-ES" sz="1600" spc="-10" dirty="0">
                <a:solidFill>
                  <a:srgbClr val="262626"/>
                </a:solidFill>
              </a:rPr>
              <a:t>El </a:t>
            </a:r>
            <a:r>
              <a:rPr lang="es-ES" sz="1600" spc="-10" dirty="0" smtClean="0">
                <a:solidFill>
                  <a:srgbClr val="262626"/>
                </a:solidFill>
              </a:rPr>
              <a:t>gobierno </a:t>
            </a:r>
            <a:r>
              <a:rPr lang="es-ES" sz="1600" spc="-10" dirty="0">
                <a:solidFill>
                  <a:srgbClr val="262626"/>
                </a:solidFill>
              </a:rPr>
              <a:t>de TI conduce a la empresa a tomar total ventaja de su información logrando con esto maximizar sus beneficios, capitalizar sus oportunidades y obtener ventaja competitiva.</a:t>
            </a:r>
          </a:p>
        </p:txBody>
      </p:sp>
      <p:pic>
        <p:nvPicPr>
          <p:cNvPr id="9" name="Imagen 8">
            <a:extLst>
              <a:ext uri="{FF2B5EF4-FFF2-40B4-BE49-F238E27FC236}">
                <a16:creationId xmlns:a16="http://schemas.microsoft.com/office/drawing/2014/main" id="{C72A2991-C02C-4F09-B0CB-D8A5F45834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0606" y="1661715"/>
            <a:ext cx="3392487" cy="2544365"/>
          </a:xfrm>
          <a:prstGeom prst="rect">
            <a:avLst/>
          </a:prstGeom>
        </p:spPr>
      </p:pic>
    </p:spTree>
    <p:extLst>
      <p:ext uri="{BB962C8B-B14F-4D97-AF65-F5344CB8AC3E}">
        <p14:creationId xmlns:p14="http://schemas.microsoft.com/office/powerpoint/2010/main" val="997368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DEFINICIÓN</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8" y="832233"/>
            <a:ext cx="401029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 ESQUEMA DEL GOBIERNO DE TI </a:t>
            </a:r>
          </a:p>
        </p:txBody>
      </p:sp>
      <p:grpSp>
        <p:nvGrpSpPr>
          <p:cNvPr id="6" name="Agrupar 70">
            <a:extLst>
              <a:ext uri="{FF2B5EF4-FFF2-40B4-BE49-F238E27FC236}">
                <a16:creationId xmlns:a16="http://schemas.microsoft.com/office/drawing/2014/main" id="{BBDFA39F-7032-421F-AB56-AA14210E0CB2}"/>
              </a:ext>
            </a:extLst>
          </p:cNvPr>
          <p:cNvGrpSpPr/>
          <p:nvPr/>
        </p:nvGrpSpPr>
        <p:grpSpPr>
          <a:xfrm>
            <a:off x="2015233" y="1335127"/>
            <a:ext cx="5113535" cy="3632889"/>
            <a:chOff x="1855435" y="1381125"/>
            <a:chExt cx="5113535" cy="3632889"/>
          </a:xfrm>
        </p:grpSpPr>
        <p:cxnSp>
          <p:nvCxnSpPr>
            <p:cNvPr id="10" name="Conector recto 9">
              <a:extLst>
                <a:ext uri="{FF2B5EF4-FFF2-40B4-BE49-F238E27FC236}">
                  <a16:creationId xmlns:a16="http://schemas.microsoft.com/office/drawing/2014/main" id="{A85F13EB-28CF-4EB3-8482-2E58E5C2EC97}"/>
                </a:ext>
              </a:extLst>
            </p:cNvPr>
            <p:cNvCxnSpPr/>
            <p:nvPr/>
          </p:nvCxnSpPr>
          <p:spPr>
            <a:xfrm flipV="1">
              <a:off x="2825989" y="1991488"/>
              <a:ext cx="0" cy="369972"/>
            </a:xfrm>
            <a:prstGeom prst="line">
              <a:avLst/>
            </a:prstGeom>
            <a:ln w="28575">
              <a:solidFill>
                <a:srgbClr val="E5584B"/>
              </a:solidFill>
            </a:ln>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E7C9ADDA-ADF7-41FD-BA00-1BA0AAACFE31}"/>
                </a:ext>
              </a:extLst>
            </p:cNvPr>
            <p:cNvCxnSpPr/>
            <p:nvPr/>
          </p:nvCxnSpPr>
          <p:spPr>
            <a:xfrm flipV="1">
              <a:off x="3767022" y="1991488"/>
              <a:ext cx="0" cy="369972"/>
            </a:xfrm>
            <a:prstGeom prst="line">
              <a:avLst/>
            </a:prstGeom>
            <a:ln w="28575">
              <a:solidFill>
                <a:srgbClr val="E5584B"/>
              </a:solidFill>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B944CCF2-EDFE-4FE7-9244-57622B686DFD}"/>
                </a:ext>
              </a:extLst>
            </p:cNvPr>
            <p:cNvCxnSpPr/>
            <p:nvPr/>
          </p:nvCxnSpPr>
          <p:spPr>
            <a:xfrm flipV="1">
              <a:off x="5578067" y="1991488"/>
              <a:ext cx="0" cy="369972"/>
            </a:xfrm>
            <a:prstGeom prst="line">
              <a:avLst/>
            </a:prstGeom>
            <a:ln w="28575">
              <a:solidFill>
                <a:srgbClr val="E5584B"/>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D74C303F-8267-494D-8AB9-18E1FBBF39C1}"/>
                </a:ext>
              </a:extLst>
            </p:cNvPr>
            <p:cNvCxnSpPr/>
            <p:nvPr/>
          </p:nvCxnSpPr>
          <p:spPr>
            <a:xfrm flipV="1">
              <a:off x="6439201" y="1991488"/>
              <a:ext cx="0" cy="369972"/>
            </a:xfrm>
            <a:prstGeom prst="line">
              <a:avLst/>
            </a:prstGeom>
            <a:ln w="28575">
              <a:solidFill>
                <a:srgbClr val="E5584B"/>
              </a:solidFill>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1F3A54B9-9955-467A-941F-E189B3A83383}"/>
                </a:ext>
              </a:extLst>
            </p:cNvPr>
            <p:cNvCxnSpPr/>
            <p:nvPr/>
          </p:nvCxnSpPr>
          <p:spPr>
            <a:xfrm>
              <a:off x="4607512" y="1803648"/>
              <a:ext cx="0" cy="602203"/>
            </a:xfrm>
            <a:prstGeom prst="straightConnector1">
              <a:avLst/>
            </a:prstGeom>
            <a:ln w="28575">
              <a:solidFill>
                <a:srgbClr val="E5584B"/>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Rectángulo 14">
              <a:extLst>
                <a:ext uri="{FF2B5EF4-FFF2-40B4-BE49-F238E27FC236}">
                  <a16:creationId xmlns:a16="http://schemas.microsoft.com/office/drawing/2014/main" id="{97BF650E-E909-4B93-9CD3-FD946AD2138D}"/>
                </a:ext>
              </a:extLst>
            </p:cNvPr>
            <p:cNvSpPr/>
            <p:nvPr/>
          </p:nvSpPr>
          <p:spPr>
            <a:xfrm>
              <a:off x="4032250" y="3059005"/>
              <a:ext cx="1079500" cy="35002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1600" dirty="0" smtClean="0"/>
                <a:t>Alinear</a:t>
              </a:r>
              <a:endParaRPr lang="es-ES_tradnl" sz="1600" dirty="0"/>
            </a:p>
          </p:txBody>
        </p:sp>
        <p:grpSp>
          <p:nvGrpSpPr>
            <p:cNvPr id="16" name="Agrupar 33">
              <a:extLst>
                <a:ext uri="{FF2B5EF4-FFF2-40B4-BE49-F238E27FC236}">
                  <a16:creationId xmlns:a16="http://schemas.microsoft.com/office/drawing/2014/main" id="{0ACFF571-D21D-498E-A4DD-A8DD52FCB661}"/>
                </a:ext>
              </a:extLst>
            </p:cNvPr>
            <p:cNvGrpSpPr/>
            <p:nvPr/>
          </p:nvGrpSpPr>
          <p:grpSpPr>
            <a:xfrm>
              <a:off x="2343704" y="1381125"/>
              <a:ext cx="4456592" cy="3516280"/>
              <a:chOff x="2529835" y="1381125"/>
              <a:chExt cx="4456592" cy="3516280"/>
            </a:xfrm>
          </p:grpSpPr>
          <p:sp>
            <p:nvSpPr>
              <p:cNvPr id="48" name="Rectángulo 47">
                <a:extLst>
                  <a:ext uri="{FF2B5EF4-FFF2-40B4-BE49-F238E27FC236}">
                    <a16:creationId xmlns:a16="http://schemas.microsoft.com/office/drawing/2014/main" id="{E6CB39BD-9CF0-43B8-978D-F5B73E4A216F}"/>
                  </a:ext>
                </a:extLst>
              </p:cNvPr>
              <p:cNvSpPr/>
              <p:nvPr/>
            </p:nvSpPr>
            <p:spPr>
              <a:xfrm>
                <a:off x="2534275" y="1381125"/>
                <a:ext cx="4447713" cy="350021"/>
              </a:xfrm>
              <a:prstGeom prst="rect">
                <a:avLst/>
              </a:prstGeom>
              <a:solidFill>
                <a:srgbClr val="99C652"/>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1600" b="1" dirty="0"/>
                  <a:t>Cliente</a:t>
                </a:r>
              </a:p>
            </p:txBody>
          </p:sp>
          <p:grpSp>
            <p:nvGrpSpPr>
              <p:cNvPr id="49" name="Agrupar 3">
                <a:extLst>
                  <a:ext uri="{FF2B5EF4-FFF2-40B4-BE49-F238E27FC236}">
                    <a16:creationId xmlns:a16="http://schemas.microsoft.com/office/drawing/2014/main" id="{889CBD18-E36A-4E23-A035-09974FAEF602}"/>
                  </a:ext>
                </a:extLst>
              </p:cNvPr>
              <p:cNvGrpSpPr/>
              <p:nvPr/>
            </p:nvGrpSpPr>
            <p:grpSpPr>
              <a:xfrm>
                <a:off x="2529835" y="2180115"/>
                <a:ext cx="4456592" cy="350021"/>
                <a:chOff x="2539013" y="2180115"/>
                <a:chExt cx="4456592" cy="350021"/>
              </a:xfrm>
            </p:grpSpPr>
            <p:sp>
              <p:nvSpPr>
                <p:cNvPr id="57" name="Rectángulo 56">
                  <a:extLst>
                    <a:ext uri="{FF2B5EF4-FFF2-40B4-BE49-F238E27FC236}">
                      <a16:creationId xmlns:a16="http://schemas.microsoft.com/office/drawing/2014/main" id="{D38A1AF7-032A-4ABC-ACBE-24E1E1E5AE24}"/>
                    </a:ext>
                  </a:extLst>
                </p:cNvPr>
                <p:cNvSpPr/>
                <p:nvPr/>
              </p:nvSpPr>
              <p:spPr>
                <a:xfrm>
                  <a:off x="2539013" y="2180115"/>
                  <a:ext cx="861133" cy="350021"/>
                </a:xfrm>
                <a:prstGeom prst="rect">
                  <a:avLst/>
                </a:prstGeom>
                <a:solidFill>
                  <a:srgbClr val="99C652"/>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1500"/>
                    <a:t>Financia</a:t>
                  </a:r>
                  <a:endParaRPr lang="es-ES_tradnl" sz="1500" dirty="0"/>
                </a:p>
              </p:txBody>
            </p:sp>
            <p:sp>
              <p:nvSpPr>
                <p:cNvPr id="58" name="Rectángulo 57">
                  <a:extLst>
                    <a:ext uri="{FF2B5EF4-FFF2-40B4-BE49-F238E27FC236}">
                      <a16:creationId xmlns:a16="http://schemas.microsoft.com/office/drawing/2014/main" id="{46F515B9-A827-4788-B23E-874426850439}"/>
                    </a:ext>
                  </a:extLst>
                </p:cNvPr>
                <p:cNvSpPr/>
                <p:nvPr/>
              </p:nvSpPr>
              <p:spPr>
                <a:xfrm>
                  <a:off x="3512079" y="2180115"/>
                  <a:ext cx="861133" cy="350021"/>
                </a:xfrm>
                <a:prstGeom prst="rect">
                  <a:avLst/>
                </a:prstGeom>
                <a:solidFill>
                  <a:srgbClr val="99C652"/>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1500" dirty="0"/>
                    <a:t>Logística</a:t>
                  </a:r>
                </a:p>
              </p:txBody>
            </p:sp>
            <p:sp>
              <p:nvSpPr>
                <p:cNvPr id="59" name="Rectángulo 58">
                  <a:extLst>
                    <a:ext uri="{FF2B5EF4-FFF2-40B4-BE49-F238E27FC236}">
                      <a16:creationId xmlns:a16="http://schemas.microsoft.com/office/drawing/2014/main" id="{9DC667B1-DDD4-4A49-B5E5-4F30AE1BD41D}"/>
                    </a:ext>
                  </a:extLst>
                </p:cNvPr>
                <p:cNvSpPr/>
                <p:nvPr/>
              </p:nvSpPr>
              <p:spPr>
                <a:xfrm>
                  <a:off x="4485145" y="2180115"/>
                  <a:ext cx="648669" cy="350021"/>
                </a:xfrm>
                <a:prstGeom prst="rect">
                  <a:avLst/>
                </a:prstGeom>
                <a:solidFill>
                  <a:srgbClr val="99C652"/>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1500"/>
                    <a:t>Prod</a:t>
                  </a:r>
                  <a:endParaRPr lang="es-ES_tradnl" sz="1500" dirty="0"/>
                </a:p>
              </p:txBody>
            </p:sp>
            <p:sp>
              <p:nvSpPr>
                <p:cNvPr id="60" name="Rectángulo 59">
                  <a:extLst>
                    <a:ext uri="{FF2B5EF4-FFF2-40B4-BE49-F238E27FC236}">
                      <a16:creationId xmlns:a16="http://schemas.microsoft.com/office/drawing/2014/main" id="{EE1B582B-7838-48CE-880B-EA33645DAA68}"/>
                    </a:ext>
                  </a:extLst>
                </p:cNvPr>
                <p:cNvSpPr/>
                <p:nvPr/>
              </p:nvSpPr>
              <p:spPr>
                <a:xfrm>
                  <a:off x="5245747" y="2180115"/>
                  <a:ext cx="989257" cy="350021"/>
                </a:xfrm>
                <a:prstGeom prst="rect">
                  <a:avLst/>
                </a:prstGeom>
                <a:solidFill>
                  <a:srgbClr val="99C652"/>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1500" i="1" dirty="0"/>
                    <a:t>Marketing</a:t>
                  </a:r>
                </a:p>
              </p:txBody>
            </p:sp>
            <p:sp>
              <p:nvSpPr>
                <p:cNvPr id="61" name="Rectángulo 60">
                  <a:extLst>
                    <a:ext uri="{FF2B5EF4-FFF2-40B4-BE49-F238E27FC236}">
                      <a16:creationId xmlns:a16="http://schemas.microsoft.com/office/drawing/2014/main" id="{877D9EBC-184A-4958-BF82-1E14F24C22CF}"/>
                    </a:ext>
                  </a:extLst>
                </p:cNvPr>
                <p:cNvSpPr/>
                <p:nvPr/>
              </p:nvSpPr>
              <p:spPr>
                <a:xfrm>
                  <a:off x="6346936" y="2180115"/>
                  <a:ext cx="648669" cy="350021"/>
                </a:xfrm>
                <a:prstGeom prst="rect">
                  <a:avLst/>
                </a:prstGeom>
                <a:solidFill>
                  <a:srgbClr val="99C652"/>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1500"/>
                    <a:t>Venta</a:t>
                  </a:r>
                  <a:endParaRPr lang="es-ES_tradnl" sz="1500" dirty="0"/>
                </a:p>
              </p:txBody>
            </p:sp>
          </p:grpSp>
          <p:sp>
            <p:nvSpPr>
              <p:cNvPr id="50" name="Rectángulo 49">
                <a:extLst>
                  <a:ext uri="{FF2B5EF4-FFF2-40B4-BE49-F238E27FC236}">
                    <a16:creationId xmlns:a16="http://schemas.microsoft.com/office/drawing/2014/main" id="{E12F3C94-D684-45CF-953E-F2D723EEFAE3}"/>
                  </a:ext>
                </a:extLst>
              </p:cNvPr>
              <p:cNvSpPr/>
              <p:nvPr/>
            </p:nvSpPr>
            <p:spPr>
              <a:xfrm>
                <a:off x="2534275" y="2668388"/>
                <a:ext cx="4447713" cy="350021"/>
              </a:xfrm>
              <a:prstGeom prst="rect">
                <a:avLst/>
              </a:prstGeom>
              <a:solidFill>
                <a:srgbClr val="99C652"/>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1600"/>
                  <a:t>Direcciones Operativas</a:t>
                </a:r>
                <a:endParaRPr lang="es-ES_tradnl" sz="1600" dirty="0"/>
              </a:p>
            </p:txBody>
          </p:sp>
          <p:sp>
            <p:nvSpPr>
              <p:cNvPr id="51" name="Rectángulo 50">
                <a:extLst>
                  <a:ext uri="{FF2B5EF4-FFF2-40B4-BE49-F238E27FC236}">
                    <a16:creationId xmlns:a16="http://schemas.microsoft.com/office/drawing/2014/main" id="{EF432EF0-95BA-4B65-89ED-7BFF127EEE06}"/>
                  </a:ext>
                </a:extLst>
              </p:cNvPr>
              <p:cNvSpPr/>
              <p:nvPr/>
            </p:nvSpPr>
            <p:spPr>
              <a:xfrm>
                <a:off x="2534275" y="3453414"/>
                <a:ext cx="4447713" cy="621436"/>
              </a:xfrm>
              <a:prstGeom prst="rect">
                <a:avLst/>
              </a:prstGeom>
              <a:solidFill>
                <a:srgbClr val="99C652"/>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2000" b="1" dirty="0"/>
                  <a:t>Gobierno TI</a:t>
                </a:r>
              </a:p>
            </p:txBody>
          </p:sp>
          <p:grpSp>
            <p:nvGrpSpPr>
              <p:cNvPr id="52" name="Agrupar 24">
                <a:extLst>
                  <a:ext uri="{FF2B5EF4-FFF2-40B4-BE49-F238E27FC236}">
                    <a16:creationId xmlns:a16="http://schemas.microsoft.com/office/drawing/2014/main" id="{2F98FF0C-9298-45BE-9ED7-5527E1CDB874}"/>
                  </a:ext>
                </a:extLst>
              </p:cNvPr>
              <p:cNvGrpSpPr/>
              <p:nvPr/>
            </p:nvGrpSpPr>
            <p:grpSpPr>
              <a:xfrm>
                <a:off x="2640807" y="4424177"/>
                <a:ext cx="4234649" cy="473228"/>
                <a:chOff x="2636666" y="4424177"/>
                <a:chExt cx="4234649" cy="473228"/>
              </a:xfrm>
            </p:grpSpPr>
            <p:sp>
              <p:nvSpPr>
                <p:cNvPr id="53" name="Rectángulo 52">
                  <a:extLst>
                    <a:ext uri="{FF2B5EF4-FFF2-40B4-BE49-F238E27FC236}">
                      <a16:creationId xmlns:a16="http://schemas.microsoft.com/office/drawing/2014/main" id="{403CAC8A-AECF-4542-8D5E-9FD80F1C09B2}"/>
                    </a:ext>
                  </a:extLst>
                </p:cNvPr>
                <p:cNvSpPr/>
                <p:nvPr/>
              </p:nvSpPr>
              <p:spPr>
                <a:xfrm>
                  <a:off x="2636666" y="4424177"/>
                  <a:ext cx="914401" cy="473228"/>
                </a:xfrm>
                <a:prstGeom prst="rect">
                  <a:avLst/>
                </a:prstGeom>
                <a:solidFill>
                  <a:srgbClr val="99C652"/>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1500"/>
                    <a:t>Recursos </a:t>
                  </a:r>
                  <a:endParaRPr lang="es-ES_tradnl" sz="1500" dirty="0"/>
                </a:p>
              </p:txBody>
            </p:sp>
            <p:sp>
              <p:nvSpPr>
                <p:cNvPr id="54" name="Rectángulo 53">
                  <a:extLst>
                    <a:ext uri="{FF2B5EF4-FFF2-40B4-BE49-F238E27FC236}">
                      <a16:creationId xmlns:a16="http://schemas.microsoft.com/office/drawing/2014/main" id="{A08BB153-A0A1-4015-BDFC-3D9D3278F4C4}"/>
                    </a:ext>
                  </a:extLst>
                </p:cNvPr>
                <p:cNvSpPr/>
                <p:nvPr/>
              </p:nvSpPr>
              <p:spPr>
                <a:xfrm>
                  <a:off x="3725660" y="4424177"/>
                  <a:ext cx="914401" cy="473228"/>
                </a:xfrm>
                <a:prstGeom prst="rect">
                  <a:avLst/>
                </a:prstGeom>
                <a:solidFill>
                  <a:srgbClr val="99C652"/>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1500"/>
                    <a:t>Servicios</a:t>
                  </a:r>
                  <a:endParaRPr lang="es-ES_tradnl" sz="1500" dirty="0"/>
                </a:p>
              </p:txBody>
            </p:sp>
            <p:sp>
              <p:nvSpPr>
                <p:cNvPr id="55" name="Rectángulo 54">
                  <a:extLst>
                    <a:ext uri="{FF2B5EF4-FFF2-40B4-BE49-F238E27FC236}">
                      <a16:creationId xmlns:a16="http://schemas.microsoft.com/office/drawing/2014/main" id="{B79DA51F-7365-4FD9-ADDF-A3018A3A35B5}"/>
                    </a:ext>
                  </a:extLst>
                </p:cNvPr>
                <p:cNvSpPr/>
                <p:nvPr/>
              </p:nvSpPr>
              <p:spPr>
                <a:xfrm>
                  <a:off x="4814654" y="4424177"/>
                  <a:ext cx="967667" cy="473228"/>
                </a:xfrm>
                <a:prstGeom prst="rect">
                  <a:avLst/>
                </a:prstGeom>
                <a:solidFill>
                  <a:srgbClr val="99C652"/>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1500"/>
                    <a:t>Seguridad</a:t>
                  </a:r>
                  <a:endParaRPr lang="es-ES_tradnl" sz="1500" dirty="0"/>
                </a:p>
              </p:txBody>
            </p:sp>
            <p:sp>
              <p:nvSpPr>
                <p:cNvPr id="56" name="Rectángulo 55">
                  <a:extLst>
                    <a:ext uri="{FF2B5EF4-FFF2-40B4-BE49-F238E27FC236}">
                      <a16:creationId xmlns:a16="http://schemas.microsoft.com/office/drawing/2014/main" id="{7420F2BE-4E46-4109-B63D-101059B1B6E5}"/>
                    </a:ext>
                  </a:extLst>
                </p:cNvPr>
                <p:cNvSpPr/>
                <p:nvPr/>
              </p:nvSpPr>
              <p:spPr>
                <a:xfrm>
                  <a:off x="5956914" y="4424177"/>
                  <a:ext cx="914401" cy="473228"/>
                </a:xfrm>
                <a:prstGeom prst="rect">
                  <a:avLst/>
                </a:prstGeom>
                <a:solidFill>
                  <a:srgbClr val="99C652"/>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s-ES_tradnl" sz="1500" dirty="0"/>
                    <a:t>Calidad</a:t>
                  </a:r>
                </a:p>
              </p:txBody>
            </p:sp>
          </p:grpSp>
        </p:grpSp>
        <p:grpSp>
          <p:nvGrpSpPr>
            <p:cNvPr id="17" name="Agrupar 34">
              <a:extLst>
                <a:ext uri="{FF2B5EF4-FFF2-40B4-BE49-F238E27FC236}">
                  <a16:creationId xmlns:a16="http://schemas.microsoft.com/office/drawing/2014/main" id="{A7BDA250-DC18-47A9-91A8-D0471DA84A22}"/>
                </a:ext>
              </a:extLst>
            </p:cNvPr>
            <p:cNvGrpSpPr/>
            <p:nvPr/>
          </p:nvGrpSpPr>
          <p:grpSpPr>
            <a:xfrm>
              <a:off x="2785069" y="4065972"/>
              <a:ext cx="3573863" cy="275208"/>
              <a:chOff x="2956265" y="4065972"/>
              <a:chExt cx="3573863" cy="275208"/>
            </a:xfrm>
          </p:grpSpPr>
          <p:sp>
            <p:nvSpPr>
              <p:cNvPr id="44" name="Flecha abajo 2">
                <a:extLst>
                  <a:ext uri="{FF2B5EF4-FFF2-40B4-BE49-F238E27FC236}">
                    <a16:creationId xmlns:a16="http://schemas.microsoft.com/office/drawing/2014/main" id="{0244A3E9-9511-4F44-8EB1-6C9A792B73F2}"/>
                  </a:ext>
                </a:extLst>
              </p:cNvPr>
              <p:cNvSpPr/>
              <p:nvPr/>
            </p:nvSpPr>
            <p:spPr>
              <a:xfrm>
                <a:off x="2956265" y="4065972"/>
                <a:ext cx="248575" cy="275208"/>
              </a:xfrm>
              <a:prstGeom prst="downArrow">
                <a:avLst/>
              </a:prstGeom>
              <a:solidFill>
                <a:srgbClr val="E5584B"/>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s-ES_tradnl"/>
              </a:p>
            </p:txBody>
          </p:sp>
          <p:sp>
            <p:nvSpPr>
              <p:cNvPr id="45" name="Flecha abajo 25">
                <a:extLst>
                  <a:ext uri="{FF2B5EF4-FFF2-40B4-BE49-F238E27FC236}">
                    <a16:creationId xmlns:a16="http://schemas.microsoft.com/office/drawing/2014/main" id="{15C6114D-749F-46D0-81CE-472B74456C9E}"/>
                  </a:ext>
                </a:extLst>
              </p:cNvPr>
              <p:cNvSpPr/>
              <p:nvPr/>
            </p:nvSpPr>
            <p:spPr>
              <a:xfrm>
                <a:off x="4062135" y="4065972"/>
                <a:ext cx="248575" cy="275208"/>
              </a:xfrm>
              <a:prstGeom prst="downArrow">
                <a:avLst/>
              </a:prstGeom>
              <a:solidFill>
                <a:srgbClr val="E5584B"/>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s-ES_tradnl"/>
              </a:p>
            </p:txBody>
          </p:sp>
          <p:sp>
            <p:nvSpPr>
              <p:cNvPr id="46" name="Flecha abajo 26">
                <a:extLst>
                  <a:ext uri="{FF2B5EF4-FFF2-40B4-BE49-F238E27FC236}">
                    <a16:creationId xmlns:a16="http://schemas.microsoft.com/office/drawing/2014/main" id="{5F1D0169-E33A-4F23-9131-61A499F94717}"/>
                  </a:ext>
                </a:extLst>
              </p:cNvPr>
              <p:cNvSpPr/>
              <p:nvPr/>
            </p:nvSpPr>
            <p:spPr>
              <a:xfrm>
                <a:off x="5180722" y="4065972"/>
                <a:ext cx="248575" cy="275208"/>
              </a:xfrm>
              <a:prstGeom prst="downArrow">
                <a:avLst/>
              </a:prstGeom>
              <a:solidFill>
                <a:srgbClr val="E5584B"/>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s-ES_tradnl"/>
              </a:p>
            </p:txBody>
          </p:sp>
          <p:sp>
            <p:nvSpPr>
              <p:cNvPr id="47" name="Flecha abajo 27">
                <a:extLst>
                  <a:ext uri="{FF2B5EF4-FFF2-40B4-BE49-F238E27FC236}">
                    <a16:creationId xmlns:a16="http://schemas.microsoft.com/office/drawing/2014/main" id="{C02BE1E0-509E-4991-AF53-36437F706A5F}"/>
                  </a:ext>
                </a:extLst>
              </p:cNvPr>
              <p:cNvSpPr/>
              <p:nvPr/>
            </p:nvSpPr>
            <p:spPr>
              <a:xfrm>
                <a:off x="6281553" y="4065972"/>
                <a:ext cx="248575" cy="275208"/>
              </a:xfrm>
              <a:prstGeom prst="downArrow">
                <a:avLst/>
              </a:prstGeom>
              <a:solidFill>
                <a:srgbClr val="E5584B"/>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s-ES_tradnl"/>
              </a:p>
            </p:txBody>
          </p:sp>
        </p:grpSp>
        <p:grpSp>
          <p:nvGrpSpPr>
            <p:cNvPr id="18" name="Agrupar 32">
              <a:extLst>
                <a:ext uri="{FF2B5EF4-FFF2-40B4-BE49-F238E27FC236}">
                  <a16:creationId xmlns:a16="http://schemas.microsoft.com/office/drawing/2014/main" id="{27725204-249B-42E2-A086-3AC0F6112FEA}"/>
                </a:ext>
              </a:extLst>
            </p:cNvPr>
            <p:cNvGrpSpPr/>
            <p:nvPr/>
          </p:nvGrpSpPr>
          <p:grpSpPr>
            <a:xfrm>
              <a:off x="3986074" y="3036163"/>
              <a:ext cx="1171852" cy="363985"/>
              <a:chOff x="4159791" y="3036163"/>
              <a:chExt cx="1171852" cy="363985"/>
            </a:xfrm>
          </p:grpSpPr>
          <p:cxnSp>
            <p:nvCxnSpPr>
              <p:cNvPr id="42" name="Conector recto de flecha 41">
                <a:extLst>
                  <a:ext uri="{FF2B5EF4-FFF2-40B4-BE49-F238E27FC236}">
                    <a16:creationId xmlns:a16="http://schemas.microsoft.com/office/drawing/2014/main" id="{BC73276E-114D-465E-ACB5-3E8F8D4DBDAE}"/>
                  </a:ext>
                </a:extLst>
              </p:cNvPr>
              <p:cNvCxnSpPr/>
              <p:nvPr/>
            </p:nvCxnSpPr>
            <p:spPr>
              <a:xfrm>
                <a:off x="4159791" y="3036163"/>
                <a:ext cx="0" cy="355107"/>
              </a:xfrm>
              <a:prstGeom prst="straightConnector1">
                <a:avLst/>
              </a:prstGeom>
              <a:ln w="28575">
                <a:solidFill>
                  <a:srgbClr val="E5584B"/>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3" name="Conector recto de flecha 42">
                <a:extLst>
                  <a:ext uri="{FF2B5EF4-FFF2-40B4-BE49-F238E27FC236}">
                    <a16:creationId xmlns:a16="http://schemas.microsoft.com/office/drawing/2014/main" id="{166D4803-7A25-4183-9C10-6E6F1CE22833}"/>
                  </a:ext>
                </a:extLst>
              </p:cNvPr>
              <p:cNvCxnSpPr/>
              <p:nvPr/>
            </p:nvCxnSpPr>
            <p:spPr>
              <a:xfrm>
                <a:off x="5331643" y="3045041"/>
                <a:ext cx="0" cy="355107"/>
              </a:xfrm>
              <a:prstGeom prst="straightConnector1">
                <a:avLst/>
              </a:prstGeom>
              <a:ln w="28575">
                <a:solidFill>
                  <a:srgbClr val="E5584B"/>
                </a:solidFill>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19" name="Conector recto 18">
              <a:extLst>
                <a:ext uri="{FF2B5EF4-FFF2-40B4-BE49-F238E27FC236}">
                  <a16:creationId xmlns:a16="http://schemas.microsoft.com/office/drawing/2014/main" id="{216F1CA9-9397-485D-A192-353F9AA9D0C4}"/>
                </a:ext>
              </a:extLst>
            </p:cNvPr>
            <p:cNvCxnSpPr/>
            <p:nvPr/>
          </p:nvCxnSpPr>
          <p:spPr>
            <a:xfrm>
              <a:off x="2814221" y="1997475"/>
              <a:ext cx="3630968" cy="0"/>
            </a:xfrm>
            <a:prstGeom prst="line">
              <a:avLst/>
            </a:prstGeom>
            <a:ln w="28575">
              <a:solidFill>
                <a:srgbClr val="E5584B"/>
              </a:solidFill>
            </a:ln>
          </p:spPr>
          <p:style>
            <a:lnRef idx="1">
              <a:schemeClr val="accent1"/>
            </a:lnRef>
            <a:fillRef idx="0">
              <a:schemeClr val="accent1"/>
            </a:fillRef>
            <a:effectRef idx="0">
              <a:schemeClr val="accent1"/>
            </a:effectRef>
            <a:fontRef idx="minor">
              <a:schemeClr val="tx1"/>
            </a:fontRef>
          </p:style>
        </p:cxnSp>
        <p:grpSp>
          <p:nvGrpSpPr>
            <p:cNvPr id="20" name="Agrupar 54">
              <a:extLst>
                <a:ext uri="{FF2B5EF4-FFF2-40B4-BE49-F238E27FC236}">
                  <a16:creationId xmlns:a16="http://schemas.microsoft.com/office/drawing/2014/main" id="{83A5C543-C850-4F22-B244-9F7CAA4E7F5C}"/>
                </a:ext>
              </a:extLst>
            </p:cNvPr>
            <p:cNvGrpSpPr/>
            <p:nvPr/>
          </p:nvGrpSpPr>
          <p:grpSpPr>
            <a:xfrm>
              <a:off x="6048929" y="3010116"/>
              <a:ext cx="299096" cy="443297"/>
              <a:chOff x="7345070" y="2663887"/>
              <a:chExt cx="414630" cy="614532"/>
            </a:xfrm>
          </p:grpSpPr>
          <p:grpSp>
            <p:nvGrpSpPr>
              <p:cNvPr id="36" name="Agrupar 53">
                <a:extLst>
                  <a:ext uri="{FF2B5EF4-FFF2-40B4-BE49-F238E27FC236}">
                    <a16:creationId xmlns:a16="http://schemas.microsoft.com/office/drawing/2014/main" id="{F92B2CFD-7A28-46C1-B19C-72102C7D7B16}"/>
                  </a:ext>
                </a:extLst>
              </p:cNvPr>
              <p:cNvGrpSpPr/>
              <p:nvPr/>
            </p:nvGrpSpPr>
            <p:grpSpPr>
              <a:xfrm>
                <a:off x="7422071" y="2770142"/>
                <a:ext cx="260628" cy="408372"/>
                <a:chOff x="7394390" y="2770142"/>
                <a:chExt cx="260628" cy="408372"/>
              </a:xfrm>
            </p:grpSpPr>
            <p:sp>
              <p:nvSpPr>
                <p:cNvPr id="39" name="Rectángulo 38">
                  <a:extLst>
                    <a:ext uri="{FF2B5EF4-FFF2-40B4-BE49-F238E27FC236}">
                      <a16:creationId xmlns:a16="http://schemas.microsoft.com/office/drawing/2014/main" id="{9D027AAB-89AE-4BC7-AD97-F3FC683BB934}"/>
                    </a:ext>
                  </a:extLst>
                </p:cNvPr>
                <p:cNvSpPr/>
                <p:nvPr/>
              </p:nvSpPr>
              <p:spPr>
                <a:xfrm rot="16200000">
                  <a:off x="7233159" y="2931373"/>
                  <a:ext cx="408372" cy="85910"/>
                </a:xfrm>
                <a:prstGeom prst="rect">
                  <a:avLst/>
                </a:prstGeom>
                <a:solidFill>
                  <a:schemeClr val="bg1">
                    <a:lumMod val="8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s-ES_tradnl"/>
                </a:p>
              </p:txBody>
            </p:sp>
            <p:sp>
              <p:nvSpPr>
                <p:cNvPr id="40" name="Rectángulo 39">
                  <a:extLst>
                    <a:ext uri="{FF2B5EF4-FFF2-40B4-BE49-F238E27FC236}">
                      <a16:creationId xmlns:a16="http://schemas.microsoft.com/office/drawing/2014/main" id="{C686CE1A-7231-4F9E-9FCE-6D7276CFAC52}"/>
                    </a:ext>
                  </a:extLst>
                </p:cNvPr>
                <p:cNvSpPr/>
                <p:nvPr/>
              </p:nvSpPr>
              <p:spPr>
                <a:xfrm rot="16200000">
                  <a:off x="7320472" y="2931373"/>
                  <a:ext cx="408372" cy="85910"/>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s-ES_tradnl"/>
                </a:p>
              </p:txBody>
            </p:sp>
            <p:sp>
              <p:nvSpPr>
                <p:cNvPr id="41" name="Rectángulo 40">
                  <a:extLst>
                    <a:ext uri="{FF2B5EF4-FFF2-40B4-BE49-F238E27FC236}">
                      <a16:creationId xmlns:a16="http://schemas.microsoft.com/office/drawing/2014/main" id="{A0B2733E-6394-4241-910F-E4E3DB5FBABC}"/>
                    </a:ext>
                  </a:extLst>
                </p:cNvPr>
                <p:cNvSpPr/>
                <p:nvPr/>
              </p:nvSpPr>
              <p:spPr>
                <a:xfrm rot="16200000">
                  <a:off x="7407877" y="2931373"/>
                  <a:ext cx="408372" cy="85910"/>
                </a:xfrm>
                <a:prstGeom prst="rect">
                  <a:avLst/>
                </a:prstGeom>
                <a:solidFill>
                  <a:schemeClr val="bg1">
                    <a:lumMod val="8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s-ES_tradnl"/>
                </a:p>
              </p:txBody>
            </p:sp>
          </p:grpSp>
          <p:sp>
            <p:nvSpPr>
              <p:cNvPr id="37" name="Rectángulo 36">
                <a:extLst>
                  <a:ext uri="{FF2B5EF4-FFF2-40B4-BE49-F238E27FC236}">
                    <a16:creationId xmlns:a16="http://schemas.microsoft.com/office/drawing/2014/main" id="{5A8AF061-F1A8-4825-A5EE-1D738502B7B8}"/>
                  </a:ext>
                </a:extLst>
              </p:cNvPr>
              <p:cNvSpPr/>
              <p:nvPr/>
            </p:nvSpPr>
            <p:spPr>
              <a:xfrm>
                <a:off x="7345070" y="2663887"/>
                <a:ext cx="414630" cy="106532"/>
              </a:xfrm>
              <a:prstGeom prst="rect">
                <a:avLst/>
              </a:prstGeom>
              <a:solidFill>
                <a:schemeClr val="bg1">
                  <a:lumMod val="7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s-ES_tradnl"/>
              </a:p>
            </p:txBody>
          </p:sp>
          <p:sp>
            <p:nvSpPr>
              <p:cNvPr id="38" name="Rectángulo 37">
                <a:extLst>
                  <a:ext uri="{FF2B5EF4-FFF2-40B4-BE49-F238E27FC236}">
                    <a16:creationId xmlns:a16="http://schemas.microsoft.com/office/drawing/2014/main" id="{7C7E14A3-FFBA-4483-BA55-AF835D5862A1}"/>
                  </a:ext>
                </a:extLst>
              </p:cNvPr>
              <p:cNvSpPr/>
              <p:nvPr/>
            </p:nvSpPr>
            <p:spPr>
              <a:xfrm>
                <a:off x="7345070" y="3171887"/>
                <a:ext cx="414630" cy="106532"/>
              </a:xfrm>
              <a:prstGeom prst="rect">
                <a:avLst/>
              </a:prstGeom>
              <a:solidFill>
                <a:schemeClr val="bg1">
                  <a:lumMod val="7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s-ES_tradnl"/>
              </a:p>
            </p:txBody>
          </p:sp>
        </p:grpSp>
        <p:grpSp>
          <p:nvGrpSpPr>
            <p:cNvPr id="21" name="Agrupar 55">
              <a:extLst>
                <a:ext uri="{FF2B5EF4-FFF2-40B4-BE49-F238E27FC236}">
                  <a16:creationId xmlns:a16="http://schemas.microsoft.com/office/drawing/2014/main" id="{B774F204-99DB-4C4F-A349-9150415343A9}"/>
                </a:ext>
              </a:extLst>
            </p:cNvPr>
            <p:cNvGrpSpPr/>
            <p:nvPr/>
          </p:nvGrpSpPr>
          <p:grpSpPr>
            <a:xfrm>
              <a:off x="2808580" y="3010116"/>
              <a:ext cx="299096" cy="443297"/>
              <a:chOff x="7345070" y="2663887"/>
              <a:chExt cx="414630" cy="614532"/>
            </a:xfrm>
          </p:grpSpPr>
          <p:grpSp>
            <p:nvGrpSpPr>
              <p:cNvPr id="30" name="Agrupar 56">
                <a:extLst>
                  <a:ext uri="{FF2B5EF4-FFF2-40B4-BE49-F238E27FC236}">
                    <a16:creationId xmlns:a16="http://schemas.microsoft.com/office/drawing/2014/main" id="{2B319CDC-A397-4CE1-9E3C-0F8B69D0CD8C}"/>
                  </a:ext>
                </a:extLst>
              </p:cNvPr>
              <p:cNvGrpSpPr/>
              <p:nvPr/>
            </p:nvGrpSpPr>
            <p:grpSpPr>
              <a:xfrm>
                <a:off x="7422071" y="2770142"/>
                <a:ext cx="260628" cy="408372"/>
                <a:chOff x="7394390" y="2770142"/>
                <a:chExt cx="260628" cy="408372"/>
              </a:xfrm>
            </p:grpSpPr>
            <p:sp>
              <p:nvSpPr>
                <p:cNvPr id="33" name="Rectángulo 32">
                  <a:extLst>
                    <a:ext uri="{FF2B5EF4-FFF2-40B4-BE49-F238E27FC236}">
                      <a16:creationId xmlns:a16="http://schemas.microsoft.com/office/drawing/2014/main" id="{1376532E-472D-4C2B-9D4C-3CA60282EF3D}"/>
                    </a:ext>
                  </a:extLst>
                </p:cNvPr>
                <p:cNvSpPr/>
                <p:nvPr/>
              </p:nvSpPr>
              <p:spPr>
                <a:xfrm rot="16200000">
                  <a:off x="7233159" y="2931373"/>
                  <a:ext cx="408372" cy="85910"/>
                </a:xfrm>
                <a:prstGeom prst="rect">
                  <a:avLst/>
                </a:prstGeom>
                <a:solidFill>
                  <a:schemeClr val="bg1">
                    <a:lumMod val="8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s-ES_tradnl"/>
                </a:p>
              </p:txBody>
            </p:sp>
            <p:sp>
              <p:nvSpPr>
                <p:cNvPr id="34" name="Rectángulo 33">
                  <a:extLst>
                    <a:ext uri="{FF2B5EF4-FFF2-40B4-BE49-F238E27FC236}">
                      <a16:creationId xmlns:a16="http://schemas.microsoft.com/office/drawing/2014/main" id="{7FB0D3BE-2F7E-42AF-8216-9E6A0A03B9C2}"/>
                    </a:ext>
                  </a:extLst>
                </p:cNvPr>
                <p:cNvSpPr/>
                <p:nvPr/>
              </p:nvSpPr>
              <p:spPr>
                <a:xfrm rot="16200000">
                  <a:off x="7320472" y="2931373"/>
                  <a:ext cx="408372" cy="85910"/>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s-ES_tradnl"/>
                </a:p>
              </p:txBody>
            </p:sp>
            <p:sp>
              <p:nvSpPr>
                <p:cNvPr id="35" name="Rectángulo 34">
                  <a:extLst>
                    <a:ext uri="{FF2B5EF4-FFF2-40B4-BE49-F238E27FC236}">
                      <a16:creationId xmlns:a16="http://schemas.microsoft.com/office/drawing/2014/main" id="{B24C2192-72B7-48D4-A923-C2E414BC4B81}"/>
                    </a:ext>
                  </a:extLst>
                </p:cNvPr>
                <p:cNvSpPr/>
                <p:nvPr/>
              </p:nvSpPr>
              <p:spPr>
                <a:xfrm rot="16200000">
                  <a:off x="7407877" y="2931373"/>
                  <a:ext cx="408372" cy="85910"/>
                </a:xfrm>
                <a:prstGeom prst="rect">
                  <a:avLst/>
                </a:prstGeom>
                <a:solidFill>
                  <a:schemeClr val="bg1">
                    <a:lumMod val="8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s-ES_tradnl"/>
                </a:p>
              </p:txBody>
            </p:sp>
          </p:grpSp>
          <p:sp>
            <p:nvSpPr>
              <p:cNvPr id="31" name="Rectángulo 30">
                <a:extLst>
                  <a:ext uri="{FF2B5EF4-FFF2-40B4-BE49-F238E27FC236}">
                    <a16:creationId xmlns:a16="http://schemas.microsoft.com/office/drawing/2014/main" id="{FCB18CB5-BC25-4C69-8CFC-84DC2878E3B1}"/>
                  </a:ext>
                </a:extLst>
              </p:cNvPr>
              <p:cNvSpPr/>
              <p:nvPr/>
            </p:nvSpPr>
            <p:spPr>
              <a:xfrm>
                <a:off x="7345070" y="2663887"/>
                <a:ext cx="414630" cy="106532"/>
              </a:xfrm>
              <a:prstGeom prst="rect">
                <a:avLst/>
              </a:prstGeom>
              <a:solidFill>
                <a:schemeClr val="bg1">
                  <a:lumMod val="7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s-ES_tradnl"/>
              </a:p>
            </p:txBody>
          </p:sp>
          <p:sp>
            <p:nvSpPr>
              <p:cNvPr id="32" name="Rectángulo 31">
                <a:extLst>
                  <a:ext uri="{FF2B5EF4-FFF2-40B4-BE49-F238E27FC236}">
                    <a16:creationId xmlns:a16="http://schemas.microsoft.com/office/drawing/2014/main" id="{CCB125C0-34BE-4A4C-BA74-50F7D3A36339}"/>
                  </a:ext>
                </a:extLst>
              </p:cNvPr>
              <p:cNvSpPr/>
              <p:nvPr/>
            </p:nvSpPr>
            <p:spPr>
              <a:xfrm>
                <a:off x="7345070" y="3171887"/>
                <a:ext cx="414630" cy="106532"/>
              </a:xfrm>
              <a:prstGeom prst="rect">
                <a:avLst/>
              </a:prstGeom>
              <a:solidFill>
                <a:schemeClr val="bg1">
                  <a:lumMod val="7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s-ES_tradnl"/>
              </a:p>
            </p:txBody>
          </p:sp>
        </p:grpSp>
        <p:grpSp>
          <p:nvGrpSpPr>
            <p:cNvPr id="22" name="Agrupar 64">
              <a:extLst>
                <a:ext uri="{FF2B5EF4-FFF2-40B4-BE49-F238E27FC236}">
                  <a16:creationId xmlns:a16="http://schemas.microsoft.com/office/drawing/2014/main" id="{A19D18F6-6E25-40A1-A6B9-69D835893A14}"/>
                </a:ext>
              </a:extLst>
            </p:cNvPr>
            <p:cNvGrpSpPr/>
            <p:nvPr/>
          </p:nvGrpSpPr>
          <p:grpSpPr>
            <a:xfrm>
              <a:off x="2166151" y="1988597"/>
              <a:ext cx="159799" cy="3025417"/>
              <a:chOff x="2166151" y="1979720"/>
              <a:chExt cx="159799" cy="3025417"/>
            </a:xfrm>
          </p:grpSpPr>
          <p:sp>
            <p:nvSpPr>
              <p:cNvPr id="28" name="Abrir corchete 27">
                <a:extLst>
                  <a:ext uri="{FF2B5EF4-FFF2-40B4-BE49-F238E27FC236}">
                    <a16:creationId xmlns:a16="http://schemas.microsoft.com/office/drawing/2014/main" id="{AC03F1C8-8EDD-4E90-95B1-B300A27B5EE4}"/>
                  </a:ext>
                </a:extLst>
              </p:cNvPr>
              <p:cNvSpPr/>
              <p:nvPr/>
            </p:nvSpPr>
            <p:spPr>
              <a:xfrm>
                <a:off x="2166151" y="1979720"/>
                <a:ext cx="159799" cy="1154097"/>
              </a:xfrm>
              <a:prstGeom prst="leftBracket">
                <a:avLst/>
              </a:prstGeom>
              <a:ln w="28575">
                <a:solidFill>
                  <a:srgbClr val="E5584B"/>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s-ES_tradnl"/>
              </a:p>
            </p:txBody>
          </p:sp>
          <p:sp>
            <p:nvSpPr>
              <p:cNvPr id="29" name="Abrir corchete 28">
                <a:extLst>
                  <a:ext uri="{FF2B5EF4-FFF2-40B4-BE49-F238E27FC236}">
                    <a16:creationId xmlns:a16="http://schemas.microsoft.com/office/drawing/2014/main" id="{8AD8868C-E7DF-4BBD-A999-9743F2093116}"/>
                  </a:ext>
                </a:extLst>
              </p:cNvPr>
              <p:cNvSpPr/>
              <p:nvPr/>
            </p:nvSpPr>
            <p:spPr>
              <a:xfrm>
                <a:off x="2166151" y="3320248"/>
                <a:ext cx="159799" cy="1684889"/>
              </a:xfrm>
              <a:prstGeom prst="leftBracket">
                <a:avLst/>
              </a:prstGeom>
              <a:ln w="28575">
                <a:solidFill>
                  <a:srgbClr val="E5584B"/>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s-ES_tradnl"/>
              </a:p>
            </p:txBody>
          </p:sp>
        </p:grpSp>
        <p:grpSp>
          <p:nvGrpSpPr>
            <p:cNvPr id="23" name="Agrupar 65">
              <a:extLst>
                <a:ext uri="{FF2B5EF4-FFF2-40B4-BE49-F238E27FC236}">
                  <a16:creationId xmlns:a16="http://schemas.microsoft.com/office/drawing/2014/main" id="{4E1CF854-23D0-48F3-B91B-A011E27A6F3D}"/>
                </a:ext>
              </a:extLst>
            </p:cNvPr>
            <p:cNvGrpSpPr/>
            <p:nvPr/>
          </p:nvGrpSpPr>
          <p:grpSpPr>
            <a:xfrm flipH="1">
              <a:off x="6809171" y="1988597"/>
              <a:ext cx="159799" cy="3025417"/>
              <a:chOff x="2166151" y="1979720"/>
              <a:chExt cx="159799" cy="3025417"/>
            </a:xfrm>
          </p:grpSpPr>
          <p:sp>
            <p:nvSpPr>
              <p:cNvPr id="26" name="Abrir corchete 25">
                <a:extLst>
                  <a:ext uri="{FF2B5EF4-FFF2-40B4-BE49-F238E27FC236}">
                    <a16:creationId xmlns:a16="http://schemas.microsoft.com/office/drawing/2014/main" id="{BEF9CBCB-3CCB-4606-973F-39735BE8B061}"/>
                  </a:ext>
                </a:extLst>
              </p:cNvPr>
              <p:cNvSpPr/>
              <p:nvPr/>
            </p:nvSpPr>
            <p:spPr>
              <a:xfrm>
                <a:off x="2166151" y="1979720"/>
                <a:ext cx="159799" cy="1154097"/>
              </a:xfrm>
              <a:prstGeom prst="leftBracket">
                <a:avLst/>
              </a:prstGeom>
              <a:ln w="28575">
                <a:solidFill>
                  <a:srgbClr val="E5584B"/>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s-ES_tradnl"/>
              </a:p>
            </p:txBody>
          </p:sp>
          <p:sp>
            <p:nvSpPr>
              <p:cNvPr id="27" name="Abrir corchete 26">
                <a:extLst>
                  <a:ext uri="{FF2B5EF4-FFF2-40B4-BE49-F238E27FC236}">
                    <a16:creationId xmlns:a16="http://schemas.microsoft.com/office/drawing/2014/main" id="{71E49936-40EC-4AD6-A835-706BC9247873}"/>
                  </a:ext>
                </a:extLst>
              </p:cNvPr>
              <p:cNvSpPr/>
              <p:nvPr/>
            </p:nvSpPr>
            <p:spPr>
              <a:xfrm>
                <a:off x="2166151" y="3320248"/>
                <a:ext cx="159799" cy="1684889"/>
              </a:xfrm>
              <a:prstGeom prst="leftBracket">
                <a:avLst/>
              </a:prstGeom>
              <a:ln w="28575">
                <a:solidFill>
                  <a:srgbClr val="E5584B"/>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s-ES_tradnl"/>
              </a:p>
            </p:txBody>
          </p:sp>
        </p:grpSp>
        <p:sp>
          <p:nvSpPr>
            <p:cNvPr id="24" name="object 7">
              <a:extLst>
                <a:ext uri="{FF2B5EF4-FFF2-40B4-BE49-F238E27FC236}">
                  <a16:creationId xmlns:a16="http://schemas.microsoft.com/office/drawing/2014/main" id="{9D489C00-20C9-47E8-A4D8-B65E609C8BFC}"/>
                </a:ext>
              </a:extLst>
            </p:cNvPr>
            <p:cNvSpPr txBox="1"/>
            <p:nvPr/>
          </p:nvSpPr>
          <p:spPr>
            <a:xfrm rot="16200000">
              <a:off x="1508865" y="4056058"/>
              <a:ext cx="939362" cy="246221"/>
            </a:xfrm>
            <a:prstGeom prst="rect">
              <a:avLst/>
            </a:prstGeom>
          </p:spPr>
          <p:txBody>
            <a:bodyPr vert="horz" wrap="square" lIns="0" tIns="0" rIns="0" bIns="0" rtlCol="0">
              <a:spAutoFit/>
            </a:bodyPr>
            <a:lstStyle/>
            <a:p>
              <a:pPr algn="ctr">
                <a:buSzPct val="100000"/>
                <a:tabLst>
                  <a:tab pos="85725" algn="l"/>
                </a:tabLst>
              </a:pPr>
              <a:r>
                <a:rPr lang="en-US" sz="1600" b="1" spc="-10" dirty="0">
                  <a:cs typeface="Source Sans Pro"/>
                </a:rPr>
                <a:t>Función TI</a:t>
              </a:r>
            </a:p>
          </p:txBody>
        </p:sp>
        <p:sp>
          <p:nvSpPr>
            <p:cNvPr id="25" name="object 7">
              <a:extLst>
                <a:ext uri="{FF2B5EF4-FFF2-40B4-BE49-F238E27FC236}">
                  <a16:creationId xmlns:a16="http://schemas.microsoft.com/office/drawing/2014/main" id="{28758307-4627-4879-BC4B-24DAF1B09A36}"/>
                </a:ext>
              </a:extLst>
            </p:cNvPr>
            <p:cNvSpPr txBox="1"/>
            <p:nvPr/>
          </p:nvSpPr>
          <p:spPr>
            <a:xfrm rot="16200000">
              <a:off x="1508865" y="2437057"/>
              <a:ext cx="939362" cy="246221"/>
            </a:xfrm>
            <a:prstGeom prst="rect">
              <a:avLst/>
            </a:prstGeom>
          </p:spPr>
          <p:txBody>
            <a:bodyPr vert="horz" wrap="square" lIns="0" tIns="0" rIns="0" bIns="0" rtlCol="0">
              <a:spAutoFit/>
            </a:bodyPr>
            <a:lstStyle/>
            <a:p>
              <a:pPr algn="ctr">
                <a:buSzPct val="100000"/>
                <a:tabLst>
                  <a:tab pos="85725" algn="l"/>
                </a:tabLst>
              </a:pPr>
              <a:r>
                <a:rPr lang="en-US" sz="1600" b="1" spc="-10" dirty="0">
                  <a:cs typeface="Source Sans Pro"/>
                </a:rPr>
                <a:t>Negocio</a:t>
              </a:r>
            </a:p>
          </p:txBody>
        </p:sp>
      </p:grpSp>
    </p:spTree>
    <p:extLst>
      <p:ext uri="{BB962C8B-B14F-4D97-AF65-F5344CB8AC3E}">
        <p14:creationId xmlns:p14="http://schemas.microsoft.com/office/powerpoint/2010/main" val="2108255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DEFINICIÓN</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8" y="753503"/>
            <a:ext cx="401029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3. ÁREAS DE ENFOQUE DEL GOBIERNO DE TI </a:t>
            </a:r>
          </a:p>
        </p:txBody>
      </p:sp>
      <p:graphicFrame>
        <p:nvGraphicFramePr>
          <p:cNvPr id="62" name="Diagrama 61">
            <a:extLst>
              <a:ext uri="{FF2B5EF4-FFF2-40B4-BE49-F238E27FC236}">
                <a16:creationId xmlns:a16="http://schemas.microsoft.com/office/drawing/2014/main" id="{5D78C1E4-A358-4ADA-BF32-57F60142BF76}"/>
              </a:ext>
            </a:extLst>
          </p:cNvPr>
          <p:cNvGraphicFramePr/>
          <p:nvPr>
            <p:extLst>
              <p:ext uri="{D42A27DB-BD31-4B8C-83A1-F6EECF244321}">
                <p14:modId xmlns:p14="http://schemas.microsoft.com/office/powerpoint/2010/main" val="4105930206"/>
              </p:ext>
            </p:extLst>
          </p:nvPr>
        </p:nvGraphicFramePr>
        <p:xfrm>
          <a:off x="2133600" y="1059429"/>
          <a:ext cx="5196114" cy="42744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3" name="CuadroTexto 62">
            <a:extLst>
              <a:ext uri="{FF2B5EF4-FFF2-40B4-BE49-F238E27FC236}">
                <a16:creationId xmlns:a16="http://schemas.microsoft.com/office/drawing/2014/main" id="{6187BA98-74EB-4EDC-85CF-98FA915E864A}"/>
              </a:ext>
            </a:extLst>
          </p:cNvPr>
          <p:cNvSpPr txBox="1"/>
          <p:nvPr/>
        </p:nvSpPr>
        <p:spPr>
          <a:xfrm>
            <a:off x="6583704" y="4310803"/>
            <a:ext cx="2226468" cy="830997"/>
          </a:xfrm>
          <a:prstGeom prst="rect">
            <a:avLst/>
          </a:prstGeom>
          <a:noFill/>
        </p:spPr>
        <p:txBody>
          <a:bodyPr wrap="square" rtlCol="0">
            <a:spAutoFit/>
          </a:bodyPr>
          <a:lstStyle/>
          <a:p>
            <a:pPr algn="just"/>
            <a:r>
              <a:rPr lang="es-PE" sz="1600" dirty="0"/>
              <a:t>El Gobierno TI considera 5 áreas o dominios de Aplicación.</a:t>
            </a:r>
          </a:p>
        </p:txBody>
      </p:sp>
    </p:spTree>
    <p:extLst>
      <p:ext uri="{BB962C8B-B14F-4D97-AF65-F5344CB8AC3E}">
        <p14:creationId xmlns:p14="http://schemas.microsoft.com/office/powerpoint/2010/main" val="2303039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867930"/>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FUNCIONES PRINCIPALES Y OBJETIVOS DEL GOBIERNO DE TI</a:t>
            </a:r>
          </a:p>
        </p:txBody>
      </p:sp>
    </p:spTree>
    <p:custDataLst>
      <p:tags r:id="rId1"/>
    </p:custDataLst>
    <p:extLst>
      <p:ext uri="{BB962C8B-B14F-4D97-AF65-F5344CB8AC3E}">
        <p14:creationId xmlns:p14="http://schemas.microsoft.com/office/powerpoint/2010/main" val="469308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FUNCIONES PRINCIPALES Y OBJETIVOS DEL GOBIERNO DE TI</a:t>
            </a:r>
          </a:p>
        </p:txBody>
      </p:sp>
      <p:sp>
        <p:nvSpPr>
          <p:cNvPr id="7" name="object 7">
            <a:extLst>
              <a:ext uri="{FF2B5EF4-FFF2-40B4-BE49-F238E27FC236}">
                <a16:creationId xmlns:a16="http://schemas.microsoft.com/office/drawing/2014/main" id="{F09260C4-198F-407A-909E-055805B746B2}"/>
              </a:ext>
            </a:extLst>
          </p:cNvPr>
          <p:cNvSpPr txBox="1"/>
          <p:nvPr/>
        </p:nvSpPr>
        <p:spPr>
          <a:xfrm>
            <a:off x="510907" y="832233"/>
            <a:ext cx="4489263"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FUNCIONES PRINCIPALES DEL GOBIERNO DE TI </a:t>
            </a:r>
          </a:p>
        </p:txBody>
      </p:sp>
      <p:sp>
        <p:nvSpPr>
          <p:cNvPr id="8" name="object 7">
            <a:extLst>
              <a:ext uri="{FF2B5EF4-FFF2-40B4-BE49-F238E27FC236}">
                <a16:creationId xmlns:a16="http://schemas.microsoft.com/office/drawing/2014/main" id="{3AD57320-E65F-4FD7-B414-65E7A2AD0222}"/>
              </a:ext>
            </a:extLst>
          </p:cNvPr>
          <p:cNvSpPr txBox="1"/>
          <p:nvPr/>
        </p:nvSpPr>
        <p:spPr>
          <a:xfrm>
            <a:off x="510907" y="1404892"/>
            <a:ext cx="4322350" cy="3123932"/>
          </a:xfrm>
          <a:prstGeom prst="rect">
            <a:avLst/>
          </a:prstGeom>
        </p:spPr>
        <p:txBody>
          <a:bodyPr vert="horz" wrap="square" lIns="0" tIns="0" rIns="0" bIns="0" rtlCol="0">
            <a:spAutoFit/>
          </a:bodyPr>
          <a:lstStyle/>
          <a:p>
            <a:pPr marL="473075" indent="-285750" algn="just">
              <a:spcAft>
                <a:spcPts val="1800"/>
              </a:spcAft>
              <a:buSzPct val="100000"/>
              <a:buFont typeface="Wingdings" panose="05000000000000000000" pitchFamily="2" charset="2"/>
              <a:buChar char="ü"/>
              <a:tabLst>
                <a:tab pos="121285" algn="l"/>
              </a:tabLst>
            </a:pPr>
            <a:r>
              <a:rPr lang="es-PE" sz="1600" spc="-10" dirty="0">
                <a:solidFill>
                  <a:srgbClr val="262626"/>
                </a:solidFill>
              </a:rPr>
              <a:t>Apoyar la gobernabilidad corporativa.</a:t>
            </a:r>
          </a:p>
          <a:p>
            <a:pPr marL="473075" indent="-285750" algn="just">
              <a:spcAft>
                <a:spcPts val="1800"/>
              </a:spcAft>
              <a:buSzPct val="100000"/>
              <a:buFont typeface="Wingdings" panose="05000000000000000000" pitchFamily="2" charset="2"/>
              <a:buChar char="ü"/>
              <a:tabLst>
                <a:tab pos="121285" algn="l"/>
              </a:tabLst>
            </a:pPr>
            <a:r>
              <a:rPr lang="es-PE" sz="1600" spc="-10" dirty="0">
                <a:solidFill>
                  <a:srgbClr val="262626"/>
                </a:solidFill>
              </a:rPr>
              <a:t>Apoyar a las estrategias y los objetivos de la </a:t>
            </a:r>
            <a:r>
              <a:rPr lang="es-PE" sz="1600" spc="-10" dirty="0" smtClean="0">
                <a:solidFill>
                  <a:srgbClr val="262626"/>
                </a:solidFill>
              </a:rPr>
              <a:t>empresa</a:t>
            </a:r>
            <a:r>
              <a:rPr lang="es-PE" sz="1600" spc="-10" dirty="0">
                <a:solidFill>
                  <a:srgbClr val="262626"/>
                </a:solidFill>
              </a:rPr>
              <a:t>.</a:t>
            </a:r>
          </a:p>
          <a:p>
            <a:pPr marL="473075" indent="-285750" algn="just">
              <a:spcAft>
                <a:spcPts val="1800"/>
              </a:spcAft>
              <a:buSzPct val="100000"/>
              <a:buFont typeface="Wingdings" panose="05000000000000000000" pitchFamily="2" charset="2"/>
              <a:buChar char="ü"/>
              <a:tabLst>
                <a:tab pos="121285" algn="l"/>
              </a:tabLst>
            </a:pPr>
            <a:r>
              <a:rPr lang="es-PE" sz="1600" spc="-10" dirty="0">
                <a:solidFill>
                  <a:srgbClr val="262626"/>
                </a:solidFill>
              </a:rPr>
              <a:t>Mejorar la gestión de la información.</a:t>
            </a:r>
          </a:p>
          <a:p>
            <a:pPr marL="473075" indent="-285750" algn="just">
              <a:spcAft>
                <a:spcPts val="1800"/>
              </a:spcAft>
              <a:buSzPct val="100000"/>
              <a:buFont typeface="Wingdings" panose="05000000000000000000" pitchFamily="2" charset="2"/>
              <a:buChar char="ü"/>
              <a:tabLst>
                <a:tab pos="121285" algn="l"/>
              </a:tabLst>
            </a:pPr>
            <a:r>
              <a:rPr lang="es-PE" sz="1600" spc="-10" dirty="0">
                <a:solidFill>
                  <a:srgbClr val="262626"/>
                </a:solidFill>
              </a:rPr>
              <a:t>Asegurar el retorno de la inversión.</a:t>
            </a:r>
          </a:p>
          <a:p>
            <a:pPr marL="473075" indent="-285750" algn="just">
              <a:spcAft>
                <a:spcPts val="1800"/>
              </a:spcAft>
              <a:buSzPct val="100000"/>
              <a:buFont typeface="Wingdings" panose="05000000000000000000" pitchFamily="2" charset="2"/>
              <a:buChar char="ü"/>
              <a:tabLst>
                <a:tab pos="121285" algn="l"/>
              </a:tabLst>
            </a:pPr>
            <a:r>
              <a:rPr lang="es-PE" sz="1600" spc="-10" dirty="0">
                <a:solidFill>
                  <a:srgbClr val="262626"/>
                </a:solidFill>
              </a:rPr>
              <a:t>Ayudar a cumplir con las normas legales.</a:t>
            </a:r>
          </a:p>
          <a:p>
            <a:pPr marL="473075" indent="-285750" algn="just">
              <a:spcAft>
                <a:spcPts val="1800"/>
              </a:spcAft>
              <a:buSzPct val="100000"/>
              <a:buFont typeface="Wingdings" panose="05000000000000000000" pitchFamily="2" charset="2"/>
              <a:buChar char="ü"/>
              <a:tabLst>
                <a:tab pos="121285" algn="l"/>
              </a:tabLst>
            </a:pPr>
            <a:r>
              <a:rPr lang="es-PE" sz="1600" spc="-10" dirty="0">
                <a:solidFill>
                  <a:srgbClr val="262626"/>
                </a:solidFill>
              </a:rPr>
              <a:t>Limitar los niveles de riesgo de negocio </a:t>
            </a:r>
            <a:r>
              <a:rPr lang="es-PE" sz="1600" spc="-10" dirty="0" smtClean="0">
                <a:solidFill>
                  <a:srgbClr val="262626"/>
                </a:solidFill>
              </a:rPr>
              <a:t>relacionados </a:t>
            </a:r>
            <a:r>
              <a:rPr lang="es-PE" sz="1600" spc="-10" dirty="0">
                <a:solidFill>
                  <a:srgbClr val="262626"/>
                </a:solidFill>
              </a:rPr>
              <a:t>con las TI.</a:t>
            </a:r>
          </a:p>
        </p:txBody>
      </p:sp>
      <p:pic>
        <p:nvPicPr>
          <p:cNvPr id="3" name="Imagen 2">
            <a:extLst>
              <a:ext uri="{FF2B5EF4-FFF2-40B4-BE49-F238E27FC236}">
                <a16:creationId xmlns:a16="http://schemas.microsoft.com/office/drawing/2014/main" id="{937B3ED5-C930-4969-83A5-F353CE2FA9F7}"/>
              </a:ext>
            </a:extLst>
          </p:cNvPr>
          <p:cNvPicPr>
            <a:picLocks noChangeAspect="1"/>
          </p:cNvPicPr>
          <p:nvPr/>
        </p:nvPicPr>
        <p:blipFill>
          <a:blip r:embed="rId3"/>
          <a:stretch>
            <a:fillRect/>
          </a:stretch>
        </p:blipFill>
        <p:spPr>
          <a:xfrm>
            <a:off x="5151485" y="1739900"/>
            <a:ext cx="3481608" cy="3301773"/>
          </a:xfrm>
          <a:prstGeom prst="rect">
            <a:avLst/>
          </a:prstGeom>
        </p:spPr>
      </p:pic>
    </p:spTree>
    <p:extLst>
      <p:ext uri="{BB962C8B-B14F-4D97-AF65-F5344CB8AC3E}">
        <p14:creationId xmlns:p14="http://schemas.microsoft.com/office/powerpoint/2010/main" val="3562264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FUNCIONES PRINCIPALES Y OBJETIVOS DEL GOBIERNO DE TI</a:t>
            </a:r>
          </a:p>
        </p:txBody>
      </p:sp>
      <p:sp>
        <p:nvSpPr>
          <p:cNvPr id="7" name="object 7">
            <a:extLst>
              <a:ext uri="{FF2B5EF4-FFF2-40B4-BE49-F238E27FC236}">
                <a16:creationId xmlns:a16="http://schemas.microsoft.com/office/drawing/2014/main" id="{F09260C4-198F-407A-909E-055805B746B2}"/>
              </a:ext>
            </a:extLst>
          </p:cNvPr>
          <p:cNvSpPr txBox="1"/>
          <p:nvPr/>
        </p:nvSpPr>
        <p:spPr>
          <a:xfrm>
            <a:off x="510907" y="832233"/>
            <a:ext cx="4489263"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 OBJETIVOS DEL GOBIERNO DE TI </a:t>
            </a:r>
          </a:p>
        </p:txBody>
      </p:sp>
      <p:sp>
        <p:nvSpPr>
          <p:cNvPr id="8" name="object 7">
            <a:extLst>
              <a:ext uri="{FF2B5EF4-FFF2-40B4-BE49-F238E27FC236}">
                <a16:creationId xmlns:a16="http://schemas.microsoft.com/office/drawing/2014/main" id="{3AD57320-E65F-4FD7-B414-65E7A2AD0222}"/>
              </a:ext>
            </a:extLst>
          </p:cNvPr>
          <p:cNvSpPr txBox="1"/>
          <p:nvPr/>
        </p:nvSpPr>
        <p:spPr>
          <a:xfrm>
            <a:off x="510907" y="1317340"/>
            <a:ext cx="8154122" cy="492443"/>
          </a:xfrm>
          <a:prstGeom prst="rect">
            <a:avLst/>
          </a:prstGeom>
        </p:spPr>
        <p:txBody>
          <a:bodyPr vert="horz" wrap="square" lIns="0" tIns="0" rIns="0" bIns="0" rtlCol="0">
            <a:spAutoFit/>
          </a:bodyPr>
          <a:lstStyle/>
          <a:p>
            <a:pPr algn="just">
              <a:buSzPct val="100000"/>
              <a:tabLst>
                <a:tab pos="85725" algn="l"/>
              </a:tabLst>
            </a:pPr>
            <a:r>
              <a:rPr lang="es-PE" sz="1600" spc="-10" dirty="0">
                <a:cs typeface="Source Sans Pro"/>
              </a:rPr>
              <a:t>La expectativa principal es generar valor, pero para ello debemos asegurar que las iniciativas de TI tengan un desempeño adecuado y </a:t>
            </a:r>
            <a:r>
              <a:rPr lang="es-PE" sz="1600" spc="-10" dirty="0" smtClean="0">
                <a:cs typeface="Source Sans Pro"/>
              </a:rPr>
              <a:t>cumplan </a:t>
            </a:r>
            <a:r>
              <a:rPr lang="es-PE" sz="1600" spc="-10" dirty="0">
                <a:cs typeface="Source Sans Pro"/>
              </a:rPr>
              <a:t>con los siguientes objetivos:</a:t>
            </a:r>
          </a:p>
        </p:txBody>
      </p:sp>
      <p:sp>
        <p:nvSpPr>
          <p:cNvPr id="6" name="object 7">
            <a:extLst>
              <a:ext uri="{FF2B5EF4-FFF2-40B4-BE49-F238E27FC236}">
                <a16:creationId xmlns:a16="http://schemas.microsoft.com/office/drawing/2014/main" id="{18B9262E-D2DA-49DE-97B5-A06ACD74A608}"/>
              </a:ext>
            </a:extLst>
          </p:cNvPr>
          <p:cNvSpPr txBox="1"/>
          <p:nvPr/>
        </p:nvSpPr>
        <p:spPr>
          <a:xfrm>
            <a:off x="631372" y="2033280"/>
            <a:ext cx="4659085" cy="2831544"/>
          </a:xfrm>
          <a:prstGeom prst="rect">
            <a:avLst/>
          </a:prstGeom>
        </p:spPr>
        <p:txBody>
          <a:bodyPr vert="horz" wrap="square" lIns="0" tIns="0" rIns="0" bIns="0" rtlCol="0">
            <a:spAutoFit/>
          </a:bodyPr>
          <a:lstStyle/>
          <a:p>
            <a:pPr marL="285750" indent="-285750" algn="just">
              <a:spcAft>
                <a:spcPts val="1200"/>
              </a:spcAft>
              <a:buSzPct val="100000"/>
              <a:buFont typeface="Wingdings" panose="05000000000000000000" pitchFamily="2" charset="2"/>
              <a:buChar char="ü"/>
              <a:tabLst>
                <a:tab pos="85725" algn="l"/>
              </a:tabLst>
            </a:pPr>
            <a:r>
              <a:rPr lang="es-PE" sz="1600" spc="-10" dirty="0">
                <a:cs typeface="Source Sans Pro"/>
              </a:rPr>
              <a:t>Que las TI estén alineadas con el negocio y produzcan los beneficios prometidos.</a:t>
            </a:r>
          </a:p>
          <a:p>
            <a:pPr marL="285750" indent="-285750" algn="just">
              <a:spcAft>
                <a:spcPts val="1200"/>
              </a:spcAft>
              <a:buSzPct val="100000"/>
              <a:buFont typeface="Wingdings" panose="05000000000000000000" pitchFamily="2" charset="2"/>
              <a:buChar char="ü"/>
              <a:tabLst>
                <a:tab pos="85725" algn="l"/>
              </a:tabLst>
            </a:pPr>
            <a:r>
              <a:rPr lang="es-PE" sz="1600" spc="-10" dirty="0">
                <a:cs typeface="Source Sans Pro"/>
              </a:rPr>
              <a:t>Que las TI habiliten a la empresa a explotar oportunidades y generar los máximos beneficios.</a:t>
            </a:r>
          </a:p>
          <a:p>
            <a:pPr marL="285750" indent="-285750" algn="just">
              <a:spcAft>
                <a:spcPts val="1200"/>
              </a:spcAft>
              <a:buSzPct val="100000"/>
              <a:buFont typeface="Wingdings" panose="05000000000000000000" pitchFamily="2" charset="2"/>
              <a:buChar char="ü"/>
              <a:tabLst>
                <a:tab pos="85725" algn="l"/>
              </a:tabLst>
            </a:pPr>
            <a:r>
              <a:rPr lang="es-PE" sz="1600" spc="-10" dirty="0">
                <a:cs typeface="Source Sans Pro"/>
              </a:rPr>
              <a:t>Que los recursos de TI se empleen a medida y de manera proactiva y responsable. </a:t>
            </a:r>
          </a:p>
          <a:p>
            <a:pPr marL="285750" indent="-285750" algn="just">
              <a:spcAft>
                <a:spcPts val="1200"/>
              </a:spcAft>
              <a:buSzPct val="100000"/>
              <a:buFont typeface="Wingdings" panose="05000000000000000000" pitchFamily="2" charset="2"/>
              <a:buChar char="ü"/>
              <a:tabLst>
                <a:tab pos="85725" algn="l"/>
              </a:tabLst>
            </a:pPr>
            <a:r>
              <a:rPr lang="es-PE" sz="1600" spc="-10" dirty="0">
                <a:cs typeface="Source Sans Pro"/>
              </a:rPr>
              <a:t>Que los riesgos relacionados con la TI se manejen adecuadamente.</a:t>
            </a:r>
          </a:p>
          <a:p>
            <a:pPr marL="285750" indent="-285750" algn="just">
              <a:spcAft>
                <a:spcPts val="1200"/>
              </a:spcAft>
              <a:buSzPct val="100000"/>
              <a:buFont typeface="Wingdings" panose="05000000000000000000" pitchFamily="2" charset="2"/>
              <a:buChar char="ü"/>
              <a:tabLst>
                <a:tab pos="85725" algn="l"/>
              </a:tabLst>
            </a:pPr>
            <a:r>
              <a:rPr lang="es-PE" sz="1600" spc="-10" dirty="0">
                <a:cs typeface="Source Sans Pro"/>
              </a:rPr>
              <a:t>Que las TI se integren a la cultura de la organización.</a:t>
            </a:r>
          </a:p>
        </p:txBody>
      </p:sp>
      <p:pic>
        <p:nvPicPr>
          <p:cNvPr id="3" name="Imagen 2">
            <a:extLst>
              <a:ext uri="{FF2B5EF4-FFF2-40B4-BE49-F238E27FC236}">
                <a16:creationId xmlns:a16="http://schemas.microsoft.com/office/drawing/2014/main" id="{BCF23BC7-1F00-4BAD-94C7-299A61F4B8EA}"/>
              </a:ext>
            </a:extLst>
          </p:cNvPr>
          <p:cNvPicPr>
            <a:picLocks noChangeAspect="1"/>
          </p:cNvPicPr>
          <p:nvPr/>
        </p:nvPicPr>
        <p:blipFill>
          <a:blip r:embed="rId3"/>
          <a:stretch>
            <a:fillRect/>
          </a:stretch>
        </p:blipFill>
        <p:spPr>
          <a:xfrm>
            <a:off x="5596683" y="2452350"/>
            <a:ext cx="2970834" cy="2127117"/>
          </a:xfrm>
          <a:prstGeom prst="rect">
            <a:avLst/>
          </a:prstGeom>
        </p:spPr>
      </p:pic>
    </p:spTree>
    <p:extLst>
      <p:ext uri="{BB962C8B-B14F-4D97-AF65-F5344CB8AC3E}">
        <p14:creationId xmlns:p14="http://schemas.microsoft.com/office/powerpoint/2010/main" val="2996972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¿QUÉ ES GENERAR VALOR EN EL GOBIERNO DE TI?</a:t>
            </a:r>
          </a:p>
        </p:txBody>
      </p:sp>
    </p:spTree>
    <p:custDataLst>
      <p:tags r:id="rId1"/>
    </p:custDataLst>
    <p:extLst>
      <p:ext uri="{BB962C8B-B14F-4D97-AF65-F5344CB8AC3E}">
        <p14:creationId xmlns:p14="http://schemas.microsoft.com/office/powerpoint/2010/main" val="3723465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¿QUÉ ES GENERAR VALOR EN EL GOBIERNO DE TI?</a:t>
            </a:r>
          </a:p>
        </p:txBody>
      </p:sp>
      <p:sp>
        <p:nvSpPr>
          <p:cNvPr id="6" name="object 7">
            <a:extLst>
              <a:ext uri="{FF2B5EF4-FFF2-40B4-BE49-F238E27FC236}">
                <a16:creationId xmlns:a16="http://schemas.microsoft.com/office/drawing/2014/main" id="{F51FCCDD-9EDA-43A2-BFD7-052CDE71E400}"/>
              </a:ext>
            </a:extLst>
          </p:cNvPr>
          <p:cNvSpPr txBox="1"/>
          <p:nvPr/>
        </p:nvSpPr>
        <p:spPr>
          <a:xfrm>
            <a:off x="471395" y="998016"/>
            <a:ext cx="7762864" cy="3718967"/>
          </a:xfrm>
          <a:prstGeom prst="rect">
            <a:avLst/>
          </a:prstGeom>
        </p:spPr>
        <p:txBody>
          <a:bodyPr vert="horz" wrap="square" lIns="0" tIns="0" rIns="0" bIns="0" rtlCol="0">
            <a:spAutoFit/>
          </a:bodyPr>
          <a:lstStyle/>
          <a:p>
            <a:pPr marL="11725">
              <a:spcAft>
                <a:spcPts val="1400"/>
              </a:spcAft>
              <a:buSzPct val="100000"/>
              <a:tabLst>
                <a:tab pos="121285" algn="l"/>
              </a:tabLst>
            </a:pPr>
            <a:r>
              <a:rPr lang="es-PE" sz="1600" spc="-10" dirty="0">
                <a:solidFill>
                  <a:srgbClr val="262626"/>
                </a:solidFill>
              </a:rPr>
              <a:t>El gobierno de TI no </a:t>
            </a:r>
            <a:r>
              <a:rPr lang="es-PE" sz="1600" spc="-10" dirty="0" smtClean="0">
                <a:solidFill>
                  <a:srgbClr val="262626"/>
                </a:solidFill>
              </a:rPr>
              <a:t>sólo </a:t>
            </a:r>
            <a:r>
              <a:rPr lang="es-PE" sz="1600" spc="-10" dirty="0">
                <a:solidFill>
                  <a:srgbClr val="262626"/>
                </a:solidFill>
              </a:rPr>
              <a:t>busca la mejor gestión de TI, sino principalmente se enfoca </a:t>
            </a:r>
            <a:r>
              <a:rPr lang="es-PE" sz="1600" spc="-10" dirty="0" smtClean="0">
                <a:solidFill>
                  <a:srgbClr val="262626"/>
                </a:solidFill>
              </a:rPr>
              <a:t>en </a:t>
            </a:r>
            <a:r>
              <a:rPr lang="es-PE" sz="1600" spc="-10" dirty="0">
                <a:solidFill>
                  <a:srgbClr val="262626"/>
                </a:solidFill>
              </a:rPr>
              <a:t>generar valor para la empresa de la siguiente forma:</a:t>
            </a:r>
          </a:p>
          <a:p>
            <a:pPr marL="446088" indent="-285750">
              <a:spcAft>
                <a:spcPts val="1200"/>
              </a:spcAft>
              <a:buSzPct val="100000"/>
              <a:buFont typeface="Wingdings" panose="05000000000000000000" pitchFamily="2" charset="2"/>
              <a:buChar char="ü"/>
              <a:tabLst>
                <a:tab pos="121285" algn="l"/>
              </a:tabLst>
            </a:pPr>
            <a:r>
              <a:rPr lang="es-PE" sz="1600" spc="-10" dirty="0">
                <a:solidFill>
                  <a:srgbClr val="262626"/>
                </a:solidFill>
              </a:rPr>
              <a:t>Entregar </a:t>
            </a:r>
            <a:r>
              <a:rPr lang="es-PE" sz="1600" spc="-10" dirty="0" smtClean="0">
                <a:solidFill>
                  <a:srgbClr val="262626"/>
                </a:solidFill>
              </a:rPr>
              <a:t>los </a:t>
            </a:r>
            <a:r>
              <a:rPr lang="es-PE" sz="1600" spc="-10" dirty="0">
                <a:solidFill>
                  <a:srgbClr val="262626"/>
                </a:solidFill>
              </a:rPr>
              <a:t>beneficios esperados.</a:t>
            </a:r>
          </a:p>
          <a:p>
            <a:pPr marL="446088" indent="-285750">
              <a:spcAft>
                <a:spcPts val="1200"/>
              </a:spcAft>
              <a:buSzPct val="100000"/>
              <a:buFont typeface="Wingdings" panose="05000000000000000000" pitchFamily="2" charset="2"/>
              <a:buChar char="ü"/>
              <a:tabLst>
                <a:tab pos="121285" algn="l"/>
              </a:tabLst>
            </a:pPr>
            <a:r>
              <a:rPr lang="es-PE" sz="1600" spc="-10" dirty="0">
                <a:solidFill>
                  <a:srgbClr val="262626"/>
                </a:solidFill>
              </a:rPr>
              <a:t>Optimizar y reducir costos.</a:t>
            </a:r>
          </a:p>
          <a:p>
            <a:pPr marL="446088" indent="-285750">
              <a:spcAft>
                <a:spcPts val="1200"/>
              </a:spcAft>
              <a:buSzPct val="100000"/>
              <a:buFont typeface="Wingdings" panose="05000000000000000000" pitchFamily="2" charset="2"/>
              <a:buChar char="ü"/>
              <a:tabLst>
                <a:tab pos="121285" algn="l"/>
              </a:tabLst>
            </a:pPr>
            <a:r>
              <a:rPr lang="es-PE" sz="1600" spc="-10" dirty="0">
                <a:solidFill>
                  <a:srgbClr val="262626"/>
                </a:solidFill>
              </a:rPr>
              <a:t>Incrementar las utilidades y ganancias.</a:t>
            </a:r>
          </a:p>
          <a:p>
            <a:pPr marL="446088" indent="-285750">
              <a:spcAft>
                <a:spcPts val="1200"/>
              </a:spcAft>
              <a:buSzPct val="100000"/>
              <a:buFont typeface="Wingdings" panose="05000000000000000000" pitchFamily="2" charset="2"/>
              <a:buChar char="ü"/>
              <a:tabLst>
                <a:tab pos="121285" algn="l"/>
              </a:tabLst>
            </a:pPr>
            <a:r>
              <a:rPr lang="es-PE" sz="1600" spc="-10" dirty="0">
                <a:solidFill>
                  <a:srgbClr val="262626"/>
                </a:solidFill>
              </a:rPr>
              <a:t>Satisfacer y retener a los clientes.</a:t>
            </a:r>
          </a:p>
          <a:p>
            <a:pPr marL="446088" indent="-285750">
              <a:spcAft>
                <a:spcPts val="1200"/>
              </a:spcAft>
              <a:buSzPct val="100000"/>
              <a:buFont typeface="Wingdings" panose="05000000000000000000" pitchFamily="2" charset="2"/>
              <a:buChar char="ü"/>
              <a:tabLst>
                <a:tab pos="121285" algn="l"/>
              </a:tabLst>
            </a:pPr>
            <a:r>
              <a:rPr lang="es-PE" sz="1600" spc="-10" dirty="0">
                <a:solidFill>
                  <a:srgbClr val="262626"/>
                </a:solidFill>
              </a:rPr>
              <a:t>Mejorar la productividad.</a:t>
            </a:r>
          </a:p>
          <a:p>
            <a:pPr marL="446088" indent="-285750">
              <a:spcAft>
                <a:spcPts val="1200"/>
              </a:spcAft>
              <a:buSzPct val="100000"/>
              <a:buFont typeface="Wingdings" panose="05000000000000000000" pitchFamily="2" charset="2"/>
              <a:buChar char="ü"/>
              <a:tabLst>
                <a:tab pos="121285" algn="l"/>
              </a:tabLst>
            </a:pPr>
            <a:r>
              <a:rPr lang="es-PE" sz="1600" spc="-10" dirty="0">
                <a:solidFill>
                  <a:srgbClr val="262626"/>
                </a:solidFill>
              </a:rPr>
              <a:t>Inversiones y proyectos que cumplan su objetivo en tiempo y costo.</a:t>
            </a:r>
          </a:p>
          <a:p>
            <a:pPr marL="446088" indent="-285750">
              <a:spcAft>
                <a:spcPts val="1200"/>
              </a:spcAft>
              <a:buSzPct val="100000"/>
              <a:buFont typeface="Wingdings" panose="05000000000000000000" pitchFamily="2" charset="2"/>
              <a:buChar char="ü"/>
              <a:tabLst>
                <a:tab pos="121285" algn="l"/>
              </a:tabLst>
            </a:pPr>
            <a:r>
              <a:rPr lang="es-PE" sz="1600" spc="-10" dirty="0">
                <a:solidFill>
                  <a:srgbClr val="262626"/>
                </a:solidFill>
              </a:rPr>
              <a:t>Cumplimiento con las regulaciones.</a:t>
            </a:r>
          </a:p>
          <a:p>
            <a:pPr marL="446088" indent="-285750">
              <a:spcAft>
                <a:spcPts val="1200"/>
              </a:spcAft>
              <a:buSzPct val="100000"/>
              <a:buFont typeface="Wingdings" panose="05000000000000000000" pitchFamily="2" charset="2"/>
              <a:buChar char="ü"/>
              <a:tabLst>
                <a:tab pos="121285" algn="l"/>
              </a:tabLst>
            </a:pPr>
            <a:r>
              <a:rPr lang="es-PE" sz="1600" spc="-10" dirty="0"/>
              <a:t>Retornos de la inversión.</a:t>
            </a:r>
          </a:p>
        </p:txBody>
      </p:sp>
      <p:pic>
        <p:nvPicPr>
          <p:cNvPr id="7" name="Imagen 6">
            <a:extLst>
              <a:ext uri="{FF2B5EF4-FFF2-40B4-BE49-F238E27FC236}">
                <a16:creationId xmlns:a16="http://schemas.microsoft.com/office/drawing/2014/main" id="{4AEA7875-657F-4D0B-90ED-277C2656DDA1}"/>
              </a:ext>
            </a:extLst>
          </p:cNvPr>
          <p:cNvPicPr>
            <a:picLocks noChangeAspect="1"/>
          </p:cNvPicPr>
          <p:nvPr/>
        </p:nvPicPr>
        <p:blipFill>
          <a:blip r:embed="rId3"/>
          <a:stretch>
            <a:fillRect/>
          </a:stretch>
        </p:blipFill>
        <p:spPr>
          <a:xfrm>
            <a:off x="6574971" y="1555721"/>
            <a:ext cx="2489023" cy="1767207"/>
          </a:xfrm>
          <a:prstGeom prst="rect">
            <a:avLst/>
          </a:prstGeom>
        </p:spPr>
      </p:pic>
    </p:spTree>
    <p:extLst>
      <p:ext uri="{BB962C8B-B14F-4D97-AF65-F5344CB8AC3E}">
        <p14:creationId xmlns:p14="http://schemas.microsoft.com/office/powerpoint/2010/main" val="1360696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8262548"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ISO/IEC 38500:2015</a:t>
            </a:r>
          </a:p>
        </p:txBody>
      </p:sp>
    </p:spTree>
    <p:custDataLst>
      <p:tags r:id="rId1"/>
    </p:custDataLst>
    <p:extLst>
      <p:ext uri="{BB962C8B-B14F-4D97-AF65-F5344CB8AC3E}">
        <p14:creationId xmlns:p14="http://schemas.microsoft.com/office/powerpoint/2010/main" val="4181558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ISO/IEC 38500:2015</a:t>
            </a:r>
          </a:p>
        </p:txBody>
      </p:sp>
      <p:sp>
        <p:nvSpPr>
          <p:cNvPr id="6" name="object 7">
            <a:extLst>
              <a:ext uri="{FF2B5EF4-FFF2-40B4-BE49-F238E27FC236}">
                <a16:creationId xmlns:a16="http://schemas.microsoft.com/office/drawing/2014/main" id="{D1B47FD7-1D02-4AD1-BB86-6BB44CABF5AE}"/>
              </a:ext>
            </a:extLst>
          </p:cNvPr>
          <p:cNvSpPr txBox="1"/>
          <p:nvPr/>
        </p:nvSpPr>
        <p:spPr>
          <a:xfrm>
            <a:off x="1023231" y="1650153"/>
            <a:ext cx="7086680" cy="1815882"/>
          </a:xfrm>
          <a:prstGeom prst="rect">
            <a:avLst/>
          </a:prstGeom>
        </p:spPr>
        <p:txBody>
          <a:bodyPr vert="horz" wrap="square" lIns="0" tIns="0" rIns="0" bIns="0" rtlCol="0">
            <a:spAutoFit/>
          </a:bodyPr>
          <a:lstStyle/>
          <a:p>
            <a:pPr marL="11725" algn="ctr">
              <a:buSzPct val="100000"/>
              <a:tabLst>
                <a:tab pos="121285" algn="l"/>
              </a:tabLst>
            </a:pPr>
            <a:r>
              <a:rPr lang="es-PE" sz="2400" b="1" spc="-10" dirty="0">
                <a:solidFill>
                  <a:srgbClr val="262626"/>
                </a:solidFill>
                <a:cs typeface="Source Sans Pro"/>
              </a:rPr>
              <a:t>¿Qué es la ISO/IEC 38500?</a:t>
            </a:r>
          </a:p>
          <a:p>
            <a:pPr marL="11725" algn="ctr">
              <a:buSzPct val="100000"/>
              <a:tabLst>
                <a:tab pos="121285" algn="l"/>
              </a:tabLst>
            </a:pPr>
            <a:endParaRPr lang="es-PE" sz="1400" b="1" spc="-10" dirty="0">
              <a:solidFill>
                <a:srgbClr val="262626"/>
              </a:solidFill>
              <a:cs typeface="Source Sans Pro"/>
            </a:endParaRPr>
          </a:p>
          <a:p>
            <a:pPr algn="ctr">
              <a:spcAft>
                <a:spcPts val="1800"/>
              </a:spcAft>
              <a:buSzPct val="100000"/>
              <a:tabLst>
                <a:tab pos="121285" algn="l"/>
              </a:tabLst>
            </a:pPr>
            <a:r>
              <a:rPr lang="es-PE" sz="2000" spc="-10" dirty="0">
                <a:solidFill>
                  <a:srgbClr val="262626"/>
                </a:solidFill>
              </a:rPr>
              <a:t>“Es un estándar de asesoramiento de alto nivel, basado en principios y un modelo; además de brindar una guía amplia sobre el rol de un órgano de gobierno, alienta a las organizaciones a usar estándares apropiados para respaldar su gobierno de TI”  </a:t>
            </a:r>
          </a:p>
        </p:txBody>
      </p:sp>
      <p:pic>
        <p:nvPicPr>
          <p:cNvPr id="7" name="Imagen 6">
            <a:extLst>
              <a:ext uri="{FF2B5EF4-FFF2-40B4-BE49-F238E27FC236}">
                <a16:creationId xmlns:a16="http://schemas.microsoft.com/office/drawing/2014/main" id="{C08CAC95-C682-4633-80F8-E9D6D862E0E5}"/>
              </a:ext>
            </a:extLst>
          </p:cNvPr>
          <p:cNvPicPr>
            <a:picLocks noChangeAspect="1"/>
          </p:cNvPicPr>
          <p:nvPr/>
        </p:nvPicPr>
        <p:blipFill>
          <a:blip r:embed="rId3"/>
          <a:stretch>
            <a:fillRect/>
          </a:stretch>
        </p:blipFill>
        <p:spPr>
          <a:xfrm>
            <a:off x="7283668" y="3856711"/>
            <a:ext cx="1366837" cy="1309687"/>
          </a:xfrm>
          <a:prstGeom prst="rect">
            <a:avLst/>
          </a:prstGeom>
        </p:spPr>
      </p:pic>
    </p:spTree>
    <p:extLst>
      <p:ext uri="{BB962C8B-B14F-4D97-AF65-F5344CB8AC3E}">
        <p14:creationId xmlns:p14="http://schemas.microsoft.com/office/powerpoint/2010/main" val="4057365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ISO/IEC 38500:2015</a:t>
            </a:r>
          </a:p>
        </p:txBody>
      </p:sp>
      <p:pic>
        <p:nvPicPr>
          <p:cNvPr id="8" name="Imagen 7">
            <a:extLst>
              <a:ext uri="{FF2B5EF4-FFF2-40B4-BE49-F238E27FC236}">
                <a16:creationId xmlns:a16="http://schemas.microsoft.com/office/drawing/2014/main" id="{D2E76D0F-CCE5-44AF-A29E-77A65C2DB8A8}"/>
              </a:ext>
            </a:extLst>
          </p:cNvPr>
          <p:cNvPicPr>
            <a:picLocks noChangeAspect="1"/>
          </p:cNvPicPr>
          <p:nvPr/>
        </p:nvPicPr>
        <p:blipFill>
          <a:blip r:embed="rId3"/>
          <a:stretch>
            <a:fillRect/>
          </a:stretch>
        </p:blipFill>
        <p:spPr>
          <a:xfrm>
            <a:off x="2713423" y="969210"/>
            <a:ext cx="5867300" cy="3827761"/>
          </a:xfrm>
          <a:prstGeom prst="rect">
            <a:avLst/>
          </a:prstGeom>
        </p:spPr>
      </p:pic>
      <p:pic>
        <p:nvPicPr>
          <p:cNvPr id="9" name="Imagen 8">
            <a:extLst>
              <a:ext uri="{FF2B5EF4-FFF2-40B4-BE49-F238E27FC236}">
                <a16:creationId xmlns:a16="http://schemas.microsoft.com/office/drawing/2014/main" id="{842D91FA-34E2-4B88-942A-AD7A51054F87}"/>
              </a:ext>
            </a:extLst>
          </p:cNvPr>
          <p:cNvPicPr>
            <a:picLocks noChangeAspect="1"/>
          </p:cNvPicPr>
          <p:nvPr/>
        </p:nvPicPr>
        <p:blipFill>
          <a:blip r:embed="rId4"/>
          <a:stretch>
            <a:fillRect/>
          </a:stretch>
        </p:blipFill>
        <p:spPr>
          <a:xfrm>
            <a:off x="510908" y="1815706"/>
            <a:ext cx="2051447" cy="2083585"/>
          </a:xfrm>
          <a:prstGeom prst="rect">
            <a:avLst/>
          </a:prstGeom>
        </p:spPr>
      </p:pic>
    </p:spTree>
    <p:extLst>
      <p:ext uri="{BB962C8B-B14F-4D97-AF65-F5344CB8AC3E}">
        <p14:creationId xmlns:p14="http://schemas.microsoft.com/office/powerpoint/2010/main" val="2865232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ISO/IEC 38500:2015</a:t>
            </a:r>
          </a:p>
        </p:txBody>
      </p:sp>
      <p:sp>
        <p:nvSpPr>
          <p:cNvPr id="6" name="object 7">
            <a:extLst>
              <a:ext uri="{FF2B5EF4-FFF2-40B4-BE49-F238E27FC236}">
                <a16:creationId xmlns:a16="http://schemas.microsoft.com/office/drawing/2014/main" id="{EEDE88BE-BF14-41E5-87A1-33324BDB04CF}"/>
              </a:ext>
            </a:extLst>
          </p:cNvPr>
          <p:cNvSpPr txBox="1"/>
          <p:nvPr/>
        </p:nvSpPr>
        <p:spPr>
          <a:xfrm>
            <a:off x="1029954" y="780536"/>
            <a:ext cx="7086680" cy="923330"/>
          </a:xfrm>
          <a:prstGeom prst="rect">
            <a:avLst/>
          </a:prstGeom>
        </p:spPr>
        <p:txBody>
          <a:bodyPr vert="horz" wrap="square" lIns="0" tIns="0" rIns="0" bIns="0" rtlCol="0">
            <a:spAutoFit/>
          </a:bodyPr>
          <a:lstStyle/>
          <a:p>
            <a:pPr marL="11725" algn="ctr">
              <a:buSzPct val="100000"/>
              <a:tabLst>
                <a:tab pos="121285" algn="l"/>
              </a:tabLst>
            </a:pPr>
            <a:r>
              <a:rPr lang="es-PE" sz="3200" b="1" spc="-10" dirty="0">
                <a:solidFill>
                  <a:srgbClr val="262626"/>
                </a:solidFill>
                <a:cs typeface="Source Sans Pro"/>
              </a:rPr>
              <a:t>Pero… </a:t>
            </a:r>
          </a:p>
          <a:p>
            <a:pPr marL="11725" algn="ctr">
              <a:buSzPct val="100000"/>
              <a:tabLst>
                <a:tab pos="121285" algn="l"/>
              </a:tabLst>
            </a:pPr>
            <a:r>
              <a:rPr lang="es-PE" sz="2800" b="1" spc="-10" dirty="0">
                <a:solidFill>
                  <a:srgbClr val="C00000"/>
                </a:solidFill>
                <a:cs typeface="Source Sans Pro"/>
              </a:rPr>
              <a:t>¿Por qué utilizar un estándar?</a:t>
            </a:r>
          </a:p>
        </p:txBody>
      </p:sp>
      <p:pic>
        <p:nvPicPr>
          <p:cNvPr id="2" name="Imagen 1"/>
          <p:cNvPicPr>
            <a:picLocks noChangeAspect="1"/>
          </p:cNvPicPr>
          <p:nvPr/>
        </p:nvPicPr>
        <p:blipFill>
          <a:blip r:embed="rId3"/>
          <a:stretch>
            <a:fillRect/>
          </a:stretch>
        </p:blipFill>
        <p:spPr>
          <a:xfrm>
            <a:off x="3464780" y="2158995"/>
            <a:ext cx="1995610" cy="2654793"/>
          </a:xfrm>
          <a:prstGeom prst="rect">
            <a:avLst/>
          </a:prstGeom>
        </p:spPr>
      </p:pic>
    </p:spTree>
    <p:extLst>
      <p:ext uri="{BB962C8B-B14F-4D97-AF65-F5344CB8AC3E}">
        <p14:creationId xmlns:p14="http://schemas.microsoft.com/office/powerpoint/2010/main" val="559874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ISO/IEC 38500:2015</a:t>
            </a:r>
          </a:p>
        </p:txBody>
      </p:sp>
      <p:sp>
        <p:nvSpPr>
          <p:cNvPr id="10" name="object 7">
            <a:extLst>
              <a:ext uri="{FF2B5EF4-FFF2-40B4-BE49-F238E27FC236}">
                <a16:creationId xmlns:a16="http://schemas.microsoft.com/office/drawing/2014/main" id="{95D17D6D-91C8-4582-B910-19CFF5232385}"/>
              </a:ext>
            </a:extLst>
          </p:cNvPr>
          <p:cNvSpPr txBox="1"/>
          <p:nvPr/>
        </p:nvSpPr>
        <p:spPr>
          <a:xfrm>
            <a:off x="625589" y="1353779"/>
            <a:ext cx="3619839" cy="3154710"/>
          </a:xfrm>
          <a:prstGeom prst="rect">
            <a:avLst/>
          </a:prstGeom>
        </p:spPr>
        <p:txBody>
          <a:bodyPr vert="horz" wrap="square" lIns="0" tIns="0" rIns="0" bIns="0" rtlCol="0">
            <a:spAutoFit/>
          </a:bodyPr>
          <a:lstStyle/>
          <a:p>
            <a:pPr marL="342900" indent="-342900" algn="just">
              <a:spcAft>
                <a:spcPts val="1800"/>
              </a:spcAft>
              <a:buSzPct val="100000"/>
              <a:buFont typeface="+mj-lt"/>
              <a:buAutoNum type="arabicPeriod"/>
              <a:tabLst>
                <a:tab pos="121285" algn="l"/>
              </a:tabLst>
            </a:pPr>
            <a:r>
              <a:rPr lang="es-ES_tradnl" sz="1600" spc="-10" dirty="0">
                <a:solidFill>
                  <a:srgbClr val="262626"/>
                </a:solidFill>
              </a:rPr>
              <a:t>Utilización de mejores prácticas basadas en experiencias de otras organizaciones.</a:t>
            </a:r>
          </a:p>
          <a:p>
            <a:pPr marL="342900" indent="-342900" algn="just">
              <a:spcAft>
                <a:spcPts val="1800"/>
              </a:spcAft>
              <a:buSzPct val="100000"/>
              <a:buFont typeface="+mj-lt"/>
              <a:buAutoNum type="arabicPeriod"/>
              <a:tabLst>
                <a:tab pos="121285" algn="l"/>
              </a:tabLst>
            </a:pPr>
            <a:r>
              <a:rPr lang="es-ES_tradnl" sz="1600" spc="-10" dirty="0">
                <a:solidFill>
                  <a:srgbClr val="262626"/>
                </a:solidFill>
              </a:rPr>
              <a:t>Ahorro, ya que </a:t>
            </a:r>
            <a:r>
              <a:rPr lang="es-ES_tradnl" sz="1600" spc="-10" dirty="0" smtClean="0">
                <a:solidFill>
                  <a:srgbClr val="262626"/>
                </a:solidFill>
              </a:rPr>
              <a:t>el </a:t>
            </a:r>
            <a:r>
              <a:rPr lang="es-ES_tradnl" sz="1600" spc="-10" dirty="0">
                <a:solidFill>
                  <a:srgbClr val="262626"/>
                </a:solidFill>
              </a:rPr>
              <a:t>desarrollar </a:t>
            </a:r>
            <a:r>
              <a:rPr lang="es-ES_tradnl" sz="1600" spc="-10" dirty="0" smtClean="0">
                <a:solidFill>
                  <a:srgbClr val="262626"/>
                </a:solidFill>
              </a:rPr>
              <a:t>políticas </a:t>
            </a:r>
            <a:r>
              <a:rPr lang="es-ES_tradnl" sz="1600" spc="-10" dirty="0" smtClean="0">
                <a:solidFill>
                  <a:srgbClr val="262626"/>
                </a:solidFill>
              </a:rPr>
              <a:t>propias </a:t>
            </a:r>
            <a:r>
              <a:rPr lang="es-ES_tradnl" sz="1600" spc="-10" dirty="0" smtClean="0">
                <a:solidFill>
                  <a:srgbClr val="262626"/>
                </a:solidFill>
              </a:rPr>
              <a:t>es </a:t>
            </a:r>
            <a:r>
              <a:rPr lang="es-ES_tradnl" sz="1600" spc="-10" dirty="0">
                <a:solidFill>
                  <a:srgbClr val="262626"/>
                </a:solidFill>
              </a:rPr>
              <a:t>costoso y poco exitoso.</a:t>
            </a:r>
          </a:p>
          <a:p>
            <a:pPr marL="342900" indent="-342900" algn="just">
              <a:spcAft>
                <a:spcPts val="1800"/>
              </a:spcAft>
              <a:buSzPct val="100000"/>
              <a:buFont typeface="+mj-lt"/>
              <a:buAutoNum type="arabicPeriod"/>
              <a:tabLst>
                <a:tab pos="121285" algn="l"/>
              </a:tabLst>
            </a:pPr>
            <a:r>
              <a:rPr lang="es-ES_tradnl" sz="1600" spc="-10" dirty="0">
                <a:solidFill>
                  <a:srgbClr val="262626"/>
                </a:solidFill>
              </a:rPr>
              <a:t>En caso de </a:t>
            </a:r>
            <a:r>
              <a:rPr lang="es-ES_tradnl" sz="1600" i="1" spc="-10" dirty="0">
                <a:solidFill>
                  <a:srgbClr val="262626"/>
                </a:solidFill>
              </a:rPr>
              <a:t>Outsourcing</a:t>
            </a:r>
            <a:r>
              <a:rPr lang="es-ES_tradnl" sz="1600" spc="-10" dirty="0">
                <a:solidFill>
                  <a:srgbClr val="262626"/>
                </a:solidFill>
              </a:rPr>
              <a:t> los niveles de servicio entre la organización y el tercero tendrán mejor entendimiento y serán menos costosos.</a:t>
            </a:r>
          </a:p>
          <a:p>
            <a:pPr marL="342900" indent="-342900" algn="just">
              <a:spcAft>
                <a:spcPts val="1800"/>
              </a:spcAft>
              <a:buSzPct val="100000"/>
              <a:buFont typeface="+mj-lt"/>
              <a:buAutoNum type="arabicPeriod"/>
              <a:tabLst>
                <a:tab pos="121285" algn="l"/>
              </a:tabLst>
            </a:pPr>
            <a:r>
              <a:rPr lang="es-ES_tradnl" sz="1600" spc="-10" dirty="0">
                <a:solidFill>
                  <a:srgbClr val="262626"/>
                </a:solidFill>
              </a:rPr>
              <a:t>Los auditores no tienen que crear sus propios estándares para auditar.</a:t>
            </a:r>
          </a:p>
        </p:txBody>
      </p:sp>
      <p:sp>
        <p:nvSpPr>
          <p:cNvPr id="11" name="object 7">
            <a:extLst>
              <a:ext uri="{FF2B5EF4-FFF2-40B4-BE49-F238E27FC236}">
                <a16:creationId xmlns:a16="http://schemas.microsoft.com/office/drawing/2014/main" id="{D4EF3905-C1CE-4F01-8D7D-AE26BD73541A}"/>
              </a:ext>
            </a:extLst>
          </p:cNvPr>
          <p:cNvSpPr txBox="1"/>
          <p:nvPr/>
        </p:nvSpPr>
        <p:spPr>
          <a:xfrm>
            <a:off x="4805704" y="1352421"/>
            <a:ext cx="3619839" cy="2431435"/>
          </a:xfrm>
          <a:prstGeom prst="rect">
            <a:avLst/>
          </a:prstGeom>
        </p:spPr>
        <p:txBody>
          <a:bodyPr vert="horz" wrap="square" lIns="0" tIns="0" rIns="0" bIns="0" rtlCol="0">
            <a:spAutoFit/>
          </a:bodyPr>
          <a:lstStyle/>
          <a:p>
            <a:pPr marL="342900" indent="-342900" algn="just">
              <a:spcAft>
                <a:spcPts val="1800"/>
              </a:spcAft>
              <a:buSzPct val="100000"/>
              <a:buFont typeface="+mj-lt"/>
              <a:buAutoNum type="arabicPeriod"/>
              <a:tabLst>
                <a:tab pos="121285" algn="l"/>
              </a:tabLst>
            </a:pPr>
            <a:r>
              <a:rPr lang="es-ES_tradnl" sz="1600" spc="-10" dirty="0">
                <a:solidFill>
                  <a:srgbClr val="262626"/>
                </a:solidFill>
              </a:rPr>
              <a:t>Los estándares no cubren todos los temas en detalle.</a:t>
            </a:r>
          </a:p>
          <a:p>
            <a:pPr marL="342900" indent="-342900" algn="just">
              <a:spcAft>
                <a:spcPts val="1800"/>
              </a:spcAft>
              <a:buSzPct val="100000"/>
              <a:buFont typeface="+mj-lt"/>
              <a:buAutoNum type="arabicPeriod"/>
              <a:tabLst>
                <a:tab pos="121285" algn="l"/>
              </a:tabLst>
            </a:pPr>
            <a:r>
              <a:rPr lang="es-ES_tradnl" sz="1600" spc="-10" dirty="0">
                <a:solidFill>
                  <a:srgbClr val="262626"/>
                </a:solidFill>
              </a:rPr>
              <a:t>No existe un estándar que abarque todos los temas (gestión, seguridad, calidad, desarrollo, continuidad, etc.)</a:t>
            </a:r>
          </a:p>
          <a:p>
            <a:pPr marL="342900" indent="-342900" algn="just">
              <a:spcAft>
                <a:spcPts val="1800"/>
              </a:spcAft>
              <a:buSzPct val="100000"/>
              <a:buFont typeface="+mj-lt"/>
              <a:buAutoNum type="arabicPeriod"/>
              <a:tabLst>
                <a:tab pos="121285" algn="l"/>
              </a:tabLst>
            </a:pPr>
            <a:r>
              <a:rPr lang="es-ES_tradnl" sz="1600" spc="-10" dirty="0">
                <a:solidFill>
                  <a:srgbClr val="262626"/>
                </a:solidFill>
              </a:rPr>
              <a:t>Se requiere de un esfuerzo de la organización, para adoptar los estándares.</a:t>
            </a:r>
          </a:p>
        </p:txBody>
      </p:sp>
      <p:sp>
        <p:nvSpPr>
          <p:cNvPr id="12" name="object 7">
            <a:extLst>
              <a:ext uri="{FF2B5EF4-FFF2-40B4-BE49-F238E27FC236}">
                <a16:creationId xmlns:a16="http://schemas.microsoft.com/office/drawing/2014/main" id="{1E1F27B4-536E-4862-B86A-A05B28C07F42}"/>
              </a:ext>
            </a:extLst>
          </p:cNvPr>
          <p:cNvSpPr txBox="1"/>
          <p:nvPr/>
        </p:nvSpPr>
        <p:spPr>
          <a:xfrm>
            <a:off x="625589" y="963489"/>
            <a:ext cx="1513835" cy="261610"/>
          </a:xfrm>
          <a:prstGeom prst="rect">
            <a:avLst/>
          </a:prstGeom>
        </p:spPr>
        <p:style>
          <a:lnRef idx="2">
            <a:schemeClr val="accent2"/>
          </a:lnRef>
          <a:fillRef idx="1">
            <a:schemeClr val="lt1"/>
          </a:fillRef>
          <a:effectRef idx="0">
            <a:schemeClr val="accent2"/>
          </a:effectRef>
          <a:fontRef idx="minor">
            <a:schemeClr val="dk1"/>
          </a:fontRef>
        </p:style>
        <p:txBody>
          <a:bodyPr vert="horz" wrap="square" lIns="0" tIns="0" rIns="0" bIns="0" rtlCol="0">
            <a:spAutoFit/>
          </a:bodyPr>
          <a:lstStyle/>
          <a:p>
            <a:pPr marL="11725" algn="ctr">
              <a:buSzPct val="100000"/>
              <a:tabLst>
                <a:tab pos="121285" algn="l"/>
              </a:tabLst>
            </a:pPr>
            <a:r>
              <a:rPr lang="es-PE" sz="1700" b="1" spc="-10" dirty="0">
                <a:solidFill>
                  <a:srgbClr val="262626"/>
                </a:solidFill>
                <a:cs typeface="Source Sans Pro"/>
              </a:rPr>
              <a:t>Ventajas:</a:t>
            </a:r>
          </a:p>
        </p:txBody>
      </p:sp>
      <p:sp>
        <p:nvSpPr>
          <p:cNvPr id="13" name="object 7">
            <a:extLst>
              <a:ext uri="{FF2B5EF4-FFF2-40B4-BE49-F238E27FC236}">
                <a16:creationId xmlns:a16="http://schemas.microsoft.com/office/drawing/2014/main" id="{79D186E4-5059-4164-AAF8-EC25CC74280A}"/>
              </a:ext>
            </a:extLst>
          </p:cNvPr>
          <p:cNvSpPr txBox="1"/>
          <p:nvPr/>
        </p:nvSpPr>
        <p:spPr>
          <a:xfrm>
            <a:off x="4805704" y="962131"/>
            <a:ext cx="1513835" cy="261610"/>
          </a:xfrm>
          <a:prstGeom prst="rect">
            <a:avLst/>
          </a:prstGeom>
        </p:spPr>
        <p:style>
          <a:lnRef idx="2">
            <a:schemeClr val="accent2"/>
          </a:lnRef>
          <a:fillRef idx="1">
            <a:schemeClr val="lt1"/>
          </a:fillRef>
          <a:effectRef idx="0">
            <a:schemeClr val="accent2"/>
          </a:effectRef>
          <a:fontRef idx="minor">
            <a:schemeClr val="dk1"/>
          </a:fontRef>
        </p:style>
        <p:txBody>
          <a:bodyPr vert="horz" wrap="square" lIns="0" tIns="0" rIns="0" bIns="0" rtlCol="0">
            <a:spAutoFit/>
          </a:bodyPr>
          <a:lstStyle/>
          <a:p>
            <a:pPr marL="11725" algn="ctr">
              <a:buSzPct val="100000"/>
              <a:tabLst>
                <a:tab pos="121285" algn="l"/>
              </a:tabLst>
            </a:pPr>
            <a:r>
              <a:rPr lang="es-PE" sz="1700" b="1" spc="-10" dirty="0">
                <a:solidFill>
                  <a:srgbClr val="262626"/>
                </a:solidFill>
                <a:cs typeface="Source Sans Pro"/>
              </a:rPr>
              <a:t>Desventajas:</a:t>
            </a:r>
          </a:p>
        </p:txBody>
      </p:sp>
    </p:spTree>
    <p:extLst>
      <p:ext uri="{BB962C8B-B14F-4D97-AF65-F5344CB8AC3E}">
        <p14:creationId xmlns:p14="http://schemas.microsoft.com/office/powerpoint/2010/main" val="3900694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ISO/IEC 38500:2015</a:t>
            </a:r>
          </a:p>
        </p:txBody>
      </p:sp>
      <p:sp>
        <p:nvSpPr>
          <p:cNvPr id="6" name="object 7">
            <a:extLst>
              <a:ext uri="{FF2B5EF4-FFF2-40B4-BE49-F238E27FC236}">
                <a16:creationId xmlns:a16="http://schemas.microsoft.com/office/drawing/2014/main" id="{8DEFEE52-4BAD-4BD7-BD56-3FA61966E63B}"/>
              </a:ext>
            </a:extLst>
          </p:cNvPr>
          <p:cNvSpPr txBox="1"/>
          <p:nvPr/>
        </p:nvSpPr>
        <p:spPr>
          <a:xfrm>
            <a:off x="1028660" y="1316111"/>
            <a:ext cx="7086680" cy="369332"/>
          </a:xfrm>
          <a:prstGeom prst="rect">
            <a:avLst/>
          </a:prstGeom>
        </p:spPr>
        <p:txBody>
          <a:bodyPr vert="horz" wrap="square" lIns="0" tIns="0" rIns="0" bIns="0" rtlCol="0">
            <a:spAutoFit/>
          </a:bodyPr>
          <a:lstStyle/>
          <a:p>
            <a:pPr marL="11725" algn="ctr">
              <a:buSzPct val="100000"/>
              <a:tabLst>
                <a:tab pos="121285" algn="l"/>
              </a:tabLst>
            </a:pPr>
            <a:r>
              <a:rPr lang="es-PE" sz="2400" b="1" spc="-10" dirty="0">
                <a:solidFill>
                  <a:srgbClr val="262626"/>
                </a:solidFill>
                <a:cs typeface="Source Sans Pro"/>
              </a:rPr>
              <a:t>ENFOQUE DEL  GOBIERNO DE TI</a:t>
            </a:r>
          </a:p>
        </p:txBody>
      </p:sp>
      <p:graphicFrame>
        <p:nvGraphicFramePr>
          <p:cNvPr id="7" name="Diagrama 6">
            <a:extLst>
              <a:ext uri="{FF2B5EF4-FFF2-40B4-BE49-F238E27FC236}">
                <a16:creationId xmlns:a16="http://schemas.microsoft.com/office/drawing/2014/main" id="{83950D65-C8B8-460B-BC5E-44D70FED139F}"/>
              </a:ext>
            </a:extLst>
          </p:cNvPr>
          <p:cNvGraphicFramePr/>
          <p:nvPr>
            <p:extLst>
              <p:ext uri="{D42A27DB-BD31-4B8C-83A1-F6EECF244321}">
                <p14:modId xmlns:p14="http://schemas.microsoft.com/office/powerpoint/2010/main" val="3071481549"/>
              </p:ext>
            </p:extLst>
          </p:nvPr>
        </p:nvGraphicFramePr>
        <p:xfrm>
          <a:off x="2196790" y="1952878"/>
          <a:ext cx="4750420" cy="24344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93081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ISO/IEC 38500:2015</a:t>
            </a:r>
          </a:p>
        </p:txBody>
      </p:sp>
      <p:sp>
        <p:nvSpPr>
          <p:cNvPr id="8" name="object 7">
            <a:extLst>
              <a:ext uri="{FF2B5EF4-FFF2-40B4-BE49-F238E27FC236}">
                <a16:creationId xmlns:a16="http://schemas.microsoft.com/office/drawing/2014/main" id="{D1854A46-6530-4A82-98C8-D3A49B161656}"/>
              </a:ext>
            </a:extLst>
          </p:cNvPr>
          <p:cNvSpPr txBox="1"/>
          <p:nvPr/>
        </p:nvSpPr>
        <p:spPr>
          <a:xfrm>
            <a:off x="1029955" y="1130662"/>
            <a:ext cx="7086680" cy="369332"/>
          </a:xfrm>
          <a:prstGeom prst="rect">
            <a:avLst/>
          </a:prstGeom>
        </p:spPr>
        <p:txBody>
          <a:bodyPr vert="horz" wrap="square" lIns="0" tIns="0" rIns="0" bIns="0" rtlCol="0">
            <a:spAutoFit/>
          </a:bodyPr>
          <a:lstStyle/>
          <a:p>
            <a:pPr marL="11725" algn="ctr">
              <a:buSzPct val="100000"/>
              <a:tabLst>
                <a:tab pos="121285" algn="l"/>
              </a:tabLst>
            </a:pPr>
            <a:r>
              <a:rPr lang="es-PE" sz="2400" b="1" spc="-10" dirty="0">
                <a:solidFill>
                  <a:srgbClr val="262626"/>
                </a:solidFill>
                <a:cs typeface="Source Sans Pro"/>
              </a:rPr>
              <a:t>ALINEACIÓN ESTRATÉGICA</a:t>
            </a:r>
          </a:p>
        </p:txBody>
      </p:sp>
      <p:pic>
        <p:nvPicPr>
          <p:cNvPr id="9" name="Imagen 8">
            <a:extLst>
              <a:ext uri="{FF2B5EF4-FFF2-40B4-BE49-F238E27FC236}">
                <a16:creationId xmlns:a16="http://schemas.microsoft.com/office/drawing/2014/main" id="{148A0D52-1E5D-445E-B0EF-642DDCAD6C85}"/>
              </a:ext>
            </a:extLst>
          </p:cNvPr>
          <p:cNvPicPr>
            <a:picLocks noChangeAspect="1"/>
          </p:cNvPicPr>
          <p:nvPr/>
        </p:nvPicPr>
        <p:blipFill>
          <a:blip r:embed="rId3"/>
          <a:stretch>
            <a:fillRect/>
          </a:stretch>
        </p:blipFill>
        <p:spPr>
          <a:xfrm>
            <a:off x="2263938" y="1601703"/>
            <a:ext cx="4968930" cy="3044791"/>
          </a:xfrm>
          <a:prstGeom prst="rect">
            <a:avLst/>
          </a:prstGeom>
        </p:spPr>
      </p:pic>
      <p:pic>
        <p:nvPicPr>
          <p:cNvPr id="11" name="Imagen 10">
            <a:extLst>
              <a:ext uri="{FF2B5EF4-FFF2-40B4-BE49-F238E27FC236}">
                <a16:creationId xmlns:a16="http://schemas.microsoft.com/office/drawing/2014/main" id="{285C038F-2A7D-4F4C-BCA2-244979E86F29}"/>
              </a:ext>
            </a:extLst>
          </p:cNvPr>
          <p:cNvPicPr>
            <a:picLocks noChangeAspect="1"/>
          </p:cNvPicPr>
          <p:nvPr/>
        </p:nvPicPr>
        <p:blipFill>
          <a:blip r:embed="rId4"/>
          <a:stretch>
            <a:fillRect/>
          </a:stretch>
        </p:blipFill>
        <p:spPr>
          <a:xfrm>
            <a:off x="7283668" y="3856711"/>
            <a:ext cx="1366837" cy="1309687"/>
          </a:xfrm>
          <a:prstGeom prst="rect">
            <a:avLst/>
          </a:prstGeom>
        </p:spPr>
      </p:pic>
    </p:spTree>
    <p:extLst>
      <p:ext uri="{BB962C8B-B14F-4D97-AF65-F5344CB8AC3E}">
        <p14:creationId xmlns:p14="http://schemas.microsoft.com/office/powerpoint/2010/main" val="2603024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ISO/IEC 38500:2015</a:t>
            </a:r>
          </a:p>
        </p:txBody>
      </p:sp>
      <p:sp>
        <p:nvSpPr>
          <p:cNvPr id="6" name="object 7">
            <a:extLst>
              <a:ext uri="{FF2B5EF4-FFF2-40B4-BE49-F238E27FC236}">
                <a16:creationId xmlns:a16="http://schemas.microsoft.com/office/drawing/2014/main" id="{C7CD9633-3D69-4FD1-ABB3-A471794CABEF}"/>
              </a:ext>
            </a:extLst>
          </p:cNvPr>
          <p:cNvSpPr txBox="1"/>
          <p:nvPr/>
        </p:nvSpPr>
        <p:spPr>
          <a:xfrm>
            <a:off x="1028660" y="1135482"/>
            <a:ext cx="7086680" cy="738664"/>
          </a:xfrm>
          <a:prstGeom prst="rect">
            <a:avLst/>
          </a:prstGeom>
        </p:spPr>
        <p:txBody>
          <a:bodyPr vert="horz" wrap="square" lIns="0" tIns="0" rIns="0" bIns="0" rtlCol="0">
            <a:spAutoFit/>
          </a:bodyPr>
          <a:lstStyle/>
          <a:p>
            <a:pPr marL="11725" algn="ctr">
              <a:buSzPct val="100000"/>
              <a:tabLst>
                <a:tab pos="121285" algn="l"/>
              </a:tabLst>
            </a:pPr>
            <a:r>
              <a:rPr lang="es-PE" sz="2400" b="1" spc="-10" dirty="0">
                <a:solidFill>
                  <a:srgbClr val="262626"/>
                </a:solidFill>
                <a:cs typeface="Source Sans Pro"/>
              </a:rPr>
              <a:t>ENTREGA VALOR: </a:t>
            </a:r>
          </a:p>
          <a:p>
            <a:pPr marL="11725" algn="ctr">
              <a:buSzPct val="100000"/>
              <a:tabLst>
                <a:tab pos="121285" algn="l"/>
              </a:tabLst>
            </a:pPr>
            <a:r>
              <a:rPr lang="es-PE" sz="2400" b="1" spc="-10" dirty="0">
                <a:solidFill>
                  <a:srgbClr val="C00000"/>
                </a:solidFill>
                <a:cs typeface="Source Sans Pro"/>
              </a:rPr>
              <a:t>Administración de </a:t>
            </a:r>
            <a:r>
              <a:rPr lang="es-PE" sz="2400" b="1" spc="-10" dirty="0" smtClean="0">
                <a:solidFill>
                  <a:srgbClr val="C00000"/>
                </a:solidFill>
                <a:cs typeface="Source Sans Pro"/>
              </a:rPr>
              <a:t>recursos</a:t>
            </a:r>
            <a:endParaRPr lang="es-PE" sz="2400" b="1" spc="-10" dirty="0">
              <a:solidFill>
                <a:srgbClr val="C00000"/>
              </a:solidFill>
              <a:cs typeface="Source Sans Pro"/>
            </a:endParaRPr>
          </a:p>
        </p:txBody>
      </p:sp>
      <p:pic>
        <p:nvPicPr>
          <p:cNvPr id="7" name="Imagen 6">
            <a:extLst>
              <a:ext uri="{FF2B5EF4-FFF2-40B4-BE49-F238E27FC236}">
                <a16:creationId xmlns:a16="http://schemas.microsoft.com/office/drawing/2014/main" id="{91AA07A2-0986-4C0D-9009-BEEC45AE92C6}"/>
              </a:ext>
            </a:extLst>
          </p:cNvPr>
          <p:cNvPicPr>
            <a:picLocks noChangeAspect="1"/>
          </p:cNvPicPr>
          <p:nvPr/>
        </p:nvPicPr>
        <p:blipFill>
          <a:blip r:embed="rId3"/>
          <a:stretch>
            <a:fillRect/>
          </a:stretch>
        </p:blipFill>
        <p:spPr>
          <a:xfrm>
            <a:off x="1028660" y="2045883"/>
            <a:ext cx="5072991" cy="2392920"/>
          </a:xfrm>
          <a:prstGeom prst="rect">
            <a:avLst/>
          </a:prstGeom>
        </p:spPr>
      </p:pic>
      <p:pic>
        <p:nvPicPr>
          <p:cNvPr id="11" name="Imagen 10">
            <a:extLst>
              <a:ext uri="{FF2B5EF4-FFF2-40B4-BE49-F238E27FC236}">
                <a16:creationId xmlns:a16="http://schemas.microsoft.com/office/drawing/2014/main" id="{D9E09F90-CBF5-4543-8728-0407883BF9A4}"/>
              </a:ext>
            </a:extLst>
          </p:cNvPr>
          <p:cNvPicPr>
            <a:picLocks noChangeAspect="1"/>
          </p:cNvPicPr>
          <p:nvPr/>
        </p:nvPicPr>
        <p:blipFill>
          <a:blip r:embed="rId4"/>
          <a:stretch>
            <a:fillRect/>
          </a:stretch>
        </p:blipFill>
        <p:spPr>
          <a:xfrm>
            <a:off x="7283668" y="3856711"/>
            <a:ext cx="1366837" cy="1309687"/>
          </a:xfrm>
          <a:prstGeom prst="rect">
            <a:avLst/>
          </a:prstGeom>
        </p:spPr>
      </p:pic>
    </p:spTree>
    <p:extLst>
      <p:ext uri="{BB962C8B-B14F-4D97-AF65-F5344CB8AC3E}">
        <p14:creationId xmlns:p14="http://schemas.microsoft.com/office/powerpoint/2010/main" val="3425262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ISO/IEC 38500:2015</a:t>
            </a:r>
          </a:p>
        </p:txBody>
      </p:sp>
      <p:sp>
        <p:nvSpPr>
          <p:cNvPr id="8" name="object 7">
            <a:extLst>
              <a:ext uri="{FF2B5EF4-FFF2-40B4-BE49-F238E27FC236}">
                <a16:creationId xmlns:a16="http://schemas.microsoft.com/office/drawing/2014/main" id="{F7B66924-FC3F-478B-96C3-A05FE059BB90}"/>
              </a:ext>
            </a:extLst>
          </p:cNvPr>
          <p:cNvSpPr txBox="1"/>
          <p:nvPr/>
        </p:nvSpPr>
        <p:spPr>
          <a:xfrm>
            <a:off x="1211384" y="1193538"/>
            <a:ext cx="7086680" cy="738664"/>
          </a:xfrm>
          <a:prstGeom prst="rect">
            <a:avLst/>
          </a:prstGeom>
        </p:spPr>
        <p:txBody>
          <a:bodyPr vert="horz" wrap="square" lIns="0" tIns="0" rIns="0" bIns="0" rtlCol="0">
            <a:spAutoFit/>
          </a:bodyPr>
          <a:lstStyle/>
          <a:p>
            <a:pPr marL="11725" algn="ctr">
              <a:buSzPct val="100000"/>
              <a:tabLst>
                <a:tab pos="121285" algn="l"/>
              </a:tabLst>
            </a:pPr>
            <a:r>
              <a:rPr lang="es-PE" sz="2400" b="1" spc="-10" dirty="0">
                <a:solidFill>
                  <a:srgbClr val="262626"/>
                </a:solidFill>
                <a:cs typeface="Source Sans Pro"/>
              </a:rPr>
              <a:t>ENTREGA VALOR: </a:t>
            </a:r>
          </a:p>
          <a:p>
            <a:pPr marL="11725" algn="ctr">
              <a:buSzPct val="100000"/>
              <a:tabLst>
                <a:tab pos="121285" algn="l"/>
              </a:tabLst>
            </a:pPr>
            <a:r>
              <a:rPr lang="es-PE" sz="2400" b="1" spc="-10" dirty="0">
                <a:solidFill>
                  <a:srgbClr val="C00000"/>
                </a:solidFill>
                <a:cs typeface="Source Sans Pro"/>
              </a:rPr>
              <a:t>Administración de </a:t>
            </a:r>
            <a:r>
              <a:rPr lang="es-PE" sz="2400" b="1" spc="-10" dirty="0" smtClean="0">
                <a:solidFill>
                  <a:srgbClr val="C00000"/>
                </a:solidFill>
                <a:cs typeface="Source Sans Pro"/>
              </a:rPr>
              <a:t>riesgos</a:t>
            </a:r>
            <a:endParaRPr lang="es-PE" sz="2400" b="1" spc="-10" dirty="0">
              <a:solidFill>
                <a:srgbClr val="C00000"/>
              </a:solidFill>
              <a:cs typeface="Source Sans Pro"/>
            </a:endParaRPr>
          </a:p>
        </p:txBody>
      </p:sp>
      <p:pic>
        <p:nvPicPr>
          <p:cNvPr id="9" name="Imagen 8">
            <a:extLst>
              <a:ext uri="{FF2B5EF4-FFF2-40B4-BE49-F238E27FC236}">
                <a16:creationId xmlns:a16="http://schemas.microsoft.com/office/drawing/2014/main" id="{ABD5AF06-718D-42C7-8951-72FA04ABAE9C}"/>
              </a:ext>
            </a:extLst>
          </p:cNvPr>
          <p:cNvPicPr>
            <a:picLocks noChangeAspect="1"/>
          </p:cNvPicPr>
          <p:nvPr/>
        </p:nvPicPr>
        <p:blipFill>
          <a:blip r:embed="rId3"/>
          <a:stretch>
            <a:fillRect/>
          </a:stretch>
        </p:blipFill>
        <p:spPr>
          <a:xfrm>
            <a:off x="761292" y="2374578"/>
            <a:ext cx="6779268" cy="1855777"/>
          </a:xfrm>
          <a:prstGeom prst="rect">
            <a:avLst/>
          </a:prstGeom>
        </p:spPr>
      </p:pic>
      <p:pic>
        <p:nvPicPr>
          <p:cNvPr id="10" name="Imagen 9">
            <a:extLst>
              <a:ext uri="{FF2B5EF4-FFF2-40B4-BE49-F238E27FC236}">
                <a16:creationId xmlns:a16="http://schemas.microsoft.com/office/drawing/2014/main" id="{08802BBA-7D0D-4A4A-BD92-6F127E51CD0F}"/>
              </a:ext>
            </a:extLst>
          </p:cNvPr>
          <p:cNvPicPr>
            <a:picLocks noChangeAspect="1"/>
          </p:cNvPicPr>
          <p:nvPr/>
        </p:nvPicPr>
        <p:blipFill>
          <a:blip r:embed="rId4"/>
          <a:stretch>
            <a:fillRect/>
          </a:stretch>
        </p:blipFill>
        <p:spPr>
          <a:xfrm>
            <a:off x="7283668" y="3856711"/>
            <a:ext cx="1366837" cy="1309687"/>
          </a:xfrm>
          <a:prstGeom prst="rect">
            <a:avLst/>
          </a:prstGeom>
        </p:spPr>
      </p:pic>
    </p:spTree>
    <p:extLst>
      <p:ext uri="{BB962C8B-B14F-4D97-AF65-F5344CB8AC3E}">
        <p14:creationId xmlns:p14="http://schemas.microsoft.com/office/powerpoint/2010/main" val="1027192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ISO/IEC 38500:2015</a:t>
            </a:r>
          </a:p>
        </p:txBody>
      </p:sp>
      <p:pic>
        <p:nvPicPr>
          <p:cNvPr id="10" name="Imagen 9">
            <a:extLst>
              <a:ext uri="{FF2B5EF4-FFF2-40B4-BE49-F238E27FC236}">
                <a16:creationId xmlns:a16="http://schemas.microsoft.com/office/drawing/2014/main" id="{08802BBA-7D0D-4A4A-BD92-6F127E51CD0F}"/>
              </a:ext>
            </a:extLst>
          </p:cNvPr>
          <p:cNvPicPr>
            <a:picLocks noChangeAspect="1"/>
          </p:cNvPicPr>
          <p:nvPr/>
        </p:nvPicPr>
        <p:blipFill>
          <a:blip r:embed="rId3"/>
          <a:stretch>
            <a:fillRect/>
          </a:stretch>
        </p:blipFill>
        <p:spPr>
          <a:xfrm>
            <a:off x="7283668" y="3856711"/>
            <a:ext cx="1366837" cy="1309687"/>
          </a:xfrm>
          <a:prstGeom prst="rect">
            <a:avLst/>
          </a:prstGeom>
        </p:spPr>
      </p:pic>
      <p:sp>
        <p:nvSpPr>
          <p:cNvPr id="6" name="object 7">
            <a:extLst>
              <a:ext uri="{FF2B5EF4-FFF2-40B4-BE49-F238E27FC236}">
                <a16:creationId xmlns:a16="http://schemas.microsoft.com/office/drawing/2014/main" id="{86D2FB0B-F887-4E0A-AB40-22B50DF71586}"/>
              </a:ext>
            </a:extLst>
          </p:cNvPr>
          <p:cNvSpPr txBox="1"/>
          <p:nvPr/>
        </p:nvSpPr>
        <p:spPr>
          <a:xfrm>
            <a:off x="1135902" y="1171767"/>
            <a:ext cx="7086680" cy="738664"/>
          </a:xfrm>
          <a:prstGeom prst="rect">
            <a:avLst/>
          </a:prstGeom>
        </p:spPr>
        <p:txBody>
          <a:bodyPr vert="horz" wrap="square" lIns="0" tIns="0" rIns="0" bIns="0" rtlCol="0">
            <a:spAutoFit/>
          </a:bodyPr>
          <a:lstStyle/>
          <a:p>
            <a:pPr marL="11725" algn="ctr">
              <a:buSzPct val="100000"/>
              <a:tabLst>
                <a:tab pos="121285" algn="l"/>
              </a:tabLst>
            </a:pPr>
            <a:r>
              <a:rPr lang="es-PE" sz="2400" b="1" spc="-10" dirty="0">
                <a:solidFill>
                  <a:srgbClr val="262626"/>
                </a:solidFill>
                <a:cs typeface="Source Sans Pro"/>
              </a:rPr>
              <a:t>ENTREGA VALOR: </a:t>
            </a:r>
          </a:p>
          <a:p>
            <a:pPr marL="11725" algn="ctr">
              <a:buSzPct val="100000"/>
              <a:tabLst>
                <a:tab pos="121285" algn="l"/>
              </a:tabLst>
            </a:pPr>
            <a:r>
              <a:rPr lang="es-PE" sz="2400" b="1" spc="-10" dirty="0">
                <a:solidFill>
                  <a:srgbClr val="C00000"/>
                </a:solidFill>
                <a:cs typeface="Source Sans Pro"/>
              </a:rPr>
              <a:t>Medición del </a:t>
            </a:r>
            <a:r>
              <a:rPr lang="es-PE" sz="2400" b="1" spc="-10" dirty="0" smtClean="0">
                <a:solidFill>
                  <a:srgbClr val="C00000"/>
                </a:solidFill>
                <a:cs typeface="Source Sans Pro"/>
              </a:rPr>
              <a:t>desempeño</a:t>
            </a:r>
            <a:endParaRPr lang="es-PE" sz="2400" b="1" spc="-10" dirty="0">
              <a:solidFill>
                <a:srgbClr val="C00000"/>
              </a:solidFill>
              <a:cs typeface="Source Sans Pro"/>
            </a:endParaRPr>
          </a:p>
        </p:txBody>
      </p:sp>
      <p:pic>
        <p:nvPicPr>
          <p:cNvPr id="7" name="Imagen 6">
            <a:extLst>
              <a:ext uri="{FF2B5EF4-FFF2-40B4-BE49-F238E27FC236}">
                <a16:creationId xmlns:a16="http://schemas.microsoft.com/office/drawing/2014/main" id="{C0D11B57-74E5-43BF-BE76-2457AE3E7384}"/>
              </a:ext>
            </a:extLst>
          </p:cNvPr>
          <p:cNvPicPr>
            <a:picLocks noChangeAspect="1"/>
          </p:cNvPicPr>
          <p:nvPr/>
        </p:nvPicPr>
        <p:blipFill>
          <a:blip r:embed="rId4"/>
          <a:stretch>
            <a:fillRect/>
          </a:stretch>
        </p:blipFill>
        <p:spPr>
          <a:xfrm>
            <a:off x="1241849" y="2093940"/>
            <a:ext cx="5435883" cy="2397782"/>
          </a:xfrm>
          <a:prstGeom prst="rect">
            <a:avLst/>
          </a:prstGeom>
        </p:spPr>
      </p:pic>
    </p:spTree>
    <p:extLst>
      <p:ext uri="{BB962C8B-B14F-4D97-AF65-F5344CB8AC3E}">
        <p14:creationId xmlns:p14="http://schemas.microsoft.com/office/powerpoint/2010/main" val="3847327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ISO/IEC 38500:2015</a:t>
            </a:r>
          </a:p>
        </p:txBody>
      </p:sp>
      <p:sp>
        <p:nvSpPr>
          <p:cNvPr id="8" name="object 7">
            <a:extLst>
              <a:ext uri="{FF2B5EF4-FFF2-40B4-BE49-F238E27FC236}">
                <a16:creationId xmlns:a16="http://schemas.microsoft.com/office/drawing/2014/main" id="{D7F1327E-48E4-44E4-B5E6-DD0D6B5C4842}"/>
              </a:ext>
            </a:extLst>
          </p:cNvPr>
          <p:cNvSpPr txBox="1"/>
          <p:nvPr/>
        </p:nvSpPr>
        <p:spPr>
          <a:xfrm>
            <a:off x="407875" y="832233"/>
            <a:ext cx="506315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PRINCIPIOS DE LA NORMA ISO/IEC 38500</a:t>
            </a:r>
          </a:p>
        </p:txBody>
      </p:sp>
      <p:grpSp>
        <p:nvGrpSpPr>
          <p:cNvPr id="6" name="Grupo 5">
            <a:extLst>
              <a:ext uri="{FF2B5EF4-FFF2-40B4-BE49-F238E27FC236}">
                <a16:creationId xmlns:a16="http://schemas.microsoft.com/office/drawing/2014/main" id="{3EECDE9E-5ED9-44D7-B1BD-59462DEDC51C}"/>
              </a:ext>
            </a:extLst>
          </p:cNvPr>
          <p:cNvGrpSpPr/>
          <p:nvPr/>
        </p:nvGrpSpPr>
        <p:grpSpPr>
          <a:xfrm>
            <a:off x="1712311" y="1193246"/>
            <a:ext cx="6096000" cy="4064000"/>
            <a:chOff x="3281826" y="837069"/>
            <a:chExt cx="6096000" cy="4064000"/>
          </a:xfrm>
        </p:grpSpPr>
        <p:graphicFrame>
          <p:nvGraphicFramePr>
            <p:cNvPr id="7" name="Diagrama 6">
              <a:extLst>
                <a:ext uri="{FF2B5EF4-FFF2-40B4-BE49-F238E27FC236}">
                  <a16:creationId xmlns:a16="http://schemas.microsoft.com/office/drawing/2014/main" id="{6799D2BA-8F60-4625-8E29-A242EBF9181B}"/>
                </a:ext>
              </a:extLst>
            </p:cNvPr>
            <p:cNvGraphicFramePr/>
            <p:nvPr>
              <p:extLst>
                <p:ext uri="{D42A27DB-BD31-4B8C-83A1-F6EECF244321}">
                  <p14:modId xmlns:p14="http://schemas.microsoft.com/office/powerpoint/2010/main" val="389331583"/>
                </p:ext>
              </p:extLst>
            </p:nvPr>
          </p:nvGraphicFramePr>
          <p:xfrm>
            <a:off x="3281826" y="837069"/>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Imagen 9">
              <a:extLst>
                <a:ext uri="{FF2B5EF4-FFF2-40B4-BE49-F238E27FC236}">
                  <a16:creationId xmlns:a16="http://schemas.microsoft.com/office/drawing/2014/main" id="{6F61433F-0DC8-4784-91E1-7CF6C773DEA5}"/>
                </a:ext>
              </a:extLst>
            </p:cNvPr>
            <p:cNvPicPr>
              <a:picLocks noChangeAspect="1"/>
            </p:cNvPicPr>
            <p:nvPr/>
          </p:nvPicPr>
          <p:blipFill>
            <a:blip r:embed="rId8"/>
            <a:stretch>
              <a:fillRect/>
            </a:stretch>
          </p:blipFill>
          <p:spPr>
            <a:xfrm>
              <a:off x="5646407" y="2172835"/>
              <a:ext cx="1366837" cy="1309687"/>
            </a:xfrm>
            <a:prstGeom prst="rect">
              <a:avLst/>
            </a:prstGeom>
          </p:spPr>
        </p:pic>
      </p:grpSp>
    </p:spTree>
    <p:extLst>
      <p:ext uri="{BB962C8B-B14F-4D97-AF65-F5344CB8AC3E}">
        <p14:creationId xmlns:p14="http://schemas.microsoft.com/office/powerpoint/2010/main" val="3182923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ISO/IEC 38500:2015</a:t>
            </a:r>
          </a:p>
        </p:txBody>
      </p:sp>
      <p:sp>
        <p:nvSpPr>
          <p:cNvPr id="8" name="object 7">
            <a:extLst>
              <a:ext uri="{FF2B5EF4-FFF2-40B4-BE49-F238E27FC236}">
                <a16:creationId xmlns:a16="http://schemas.microsoft.com/office/drawing/2014/main" id="{D7F1327E-48E4-44E4-B5E6-DD0D6B5C4842}"/>
              </a:ext>
            </a:extLst>
          </p:cNvPr>
          <p:cNvSpPr txBox="1"/>
          <p:nvPr/>
        </p:nvSpPr>
        <p:spPr>
          <a:xfrm>
            <a:off x="407874" y="832233"/>
            <a:ext cx="5905839"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MODELO DE GOBIERNO BASADO EN LA NORMA ISO/IEC 38500</a:t>
            </a:r>
          </a:p>
        </p:txBody>
      </p:sp>
      <p:pic>
        <p:nvPicPr>
          <p:cNvPr id="9" name="Imagen 8">
            <a:extLst>
              <a:ext uri="{FF2B5EF4-FFF2-40B4-BE49-F238E27FC236}">
                <a16:creationId xmlns:a16="http://schemas.microsoft.com/office/drawing/2014/main" id="{DD9777D3-A89F-4B39-9DCD-43ADF1EA7CED}"/>
              </a:ext>
            </a:extLst>
          </p:cNvPr>
          <p:cNvPicPr>
            <a:picLocks noChangeAspect="1"/>
          </p:cNvPicPr>
          <p:nvPr/>
        </p:nvPicPr>
        <p:blipFill>
          <a:blip r:embed="rId3"/>
          <a:stretch>
            <a:fillRect/>
          </a:stretch>
        </p:blipFill>
        <p:spPr>
          <a:xfrm>
            <a:off x="2189459" y="1251303"/>
            <a:ext cx="4765081" cy="3923807"/>
          </a:xfrm>
          <a:prstGeom prst="rect">
            <a:avLst/>
          </a:prstGeom>
        </p:spPr>
      </p:pic>
    </p:spTree>
    <p:extLst>
      <p:ext uri="{BB962C8B-B14F-4D97-AF65-F5344CB8AC3E}">
        <p14:creationId xmlns:p14="http://schemas.microsoft.com/office/powerpoint/2010/main" val="471180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PRINCIPALES MARCOS DEL GOBIERNO DE TI</a:t>
            </a:r>
          </a:p>
        </p:txBody>
      </p:sp>
    </p:spTree>
    <p:custDataLst>
      <p:tags r:id="rId1"/>
    </p:custDataLst>
    <p:extLst>
      <p:ext uri="{BB962C8B-B14F-4D97-AF65-F5344CB8AC3E}">
        <p14:creationId xmlns:p14="http://schemas.microsoft.com/office/powerpoint/2010/main" val="836058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PRINCIPALES MARCOS DEL GOBIERNO DE TI</a:t>
            </a:r>
          </a:p>
        </p:txBody>
      </p:sp>
      <p:sp>
        <p:nvSpPr>
          <p:cNvPr id="8" name="object 7">
            <a:extLst>
              <a:ext uri="{FF2B5EF4-FFF2-40B4-BE49-F238E27FC236}">
                <a16:creationId xmlns:a16="http://schemas.microsoft.com/office/drawing/2014/main" id="{8A0D3955-968C-4B3C-AFC7-294FBD7B9AC7}"/>
              </a:ext>
            </a:extLst>
          </p:cNvPr>
          <p:cNvSpPr txBox="1"/>
          <p:nvPr/>
        </p:nvSpPr>
        <p:spPr>
          <a:xfrm>
            <a:off x="467299" y="935019"/>
            <a:ext cx="7378193" cy="2375009"/>
          </a:xfrm>
          <a:prstGeom prst="rect">
            <a:avLst/>
          </a:prstGeom>
        </p:spPr>
        <p:txBody>
          <a:bodyPr vert="horz" wrap="square" lIns="0" tIns="0" rIns="0" bIns="0" rtlCol="0">
            <a:spAutoFit/>
          </a:bodyPr>
          <a:lstStyle/>
          <a:p>
            <a:pPr marL="11725">
              <a:spcAft>
                <a:spcPts val="1600"/>
              </a:spcAft>
              <a:buSzPct val="100000"/>
              <a:tabLst>
                <a:tab pos="121285" algn="l"/>
              </a:tabLst>
            </a:pPr>
            <a:r>
              <a:rPr lang="es-PE" sz="1600" spc="-10" dirty="0">
                <a:solidFill>
                  <a:srgbClr val="262626"/>
                </a:solidFill>
              </a:rPr>
              <a:t>Actualmente existen múltiples marcos del gobierno de TI, pero dentro de los principales tenemos a:</a:t>
            </a:r>
          </a:p>
          <a:p>
            <a:pPr marL="446088" indent="-285750">
              <a:spcAft>
                <a:spcPts val="1800"/>
              </a:spcAft>
              <a:buSzPct val="100000"/>
              <a:buFont typeface="Wingdings" panose="05000000000000000000" pitchFamily="2" charset="2"/>
              <a:buChar char="ü"/>
              <a:tabLst>
                <a:tab pos="121285" algn="l"/>
              </a:tabLst>
            </a:pPr>
            <a:r>
              <a:rPr lang="es-PE" sz="1600" b="1" spc="-10" dirty="0">
                <a:solidFill>
                  <a:srgbClr val="262626"/>
                </a:solidFill>
              </a:rPr>
              <a:t>COBIT 2019 </a:t>
            </a:r>
            <a:r>
              <a:rPr lang="es-PE" sz="1600" spc="-10" dirty="0">
                <a:solidFill>
                  <a:srgbClr val="262626"/>
                </a:solidFill>
              </a:rPr>
              <a:t>(Control Objetives for Information and related Technology)</a:t>
            </a:r>
          </a:p>
          <a:p>
            <a:pPr marL="446088" indent="-285750">
              <a:spcAft>
                <a:spcPts val="1800"/>
              </a:spcAft>
              <a:buSzPct val="100000"/>
              <a:buFont typeface="Wingdings" panose="05000000000000000000" pitchFamily="2" charset="2"/>
              <a:buChar char="ü"/>
              <a:tabLst>
                <a:tab pos="121285" algn="l"/>
              </a:tabLst>
            </a:pPr>
            <a:r>
              <a:rPr lang="es-PE" sz="1600" b="1" spc="-10" dirty="0">
                <a:solidFill>
                  <a:srgbClr val="262626"/>
                </a:solidFill>
              </a:rPr>
              <a:t>Val IT </a:t>
            </a:r>
            <a:r>
              <a:rPr lang="es-PE" sz="1600" spc="-10" dirty="0">
                <a:solidFill>
                  <a:srgbClr val="262626"/>
                </a:solidFill>
              </a:rPr>
              <a:t>(IT Governance Institute)</a:t>
            </a:r>
          </a:p>
          <a:p>
            <a:pPr marL="446088" indent="-285750">
              <a:spcAft>
                <a:spcPts val="1800"/>
              </a:spcAft>
              <a:buSzPct val="100000"/>
              <a:buFont typeface="Wingdings" panose="05000000000000000000" pitchFamily="2" charset="2"/>
              <a:buChar char="ü"/>
              <a:tabLst>
                <a:tab pos="121285" algn="l"/>
              </a:tabLst>
            </a:pPr>
            <a:r>
              <a:rPr lang="es-PE" sz="1600" b="1" spc="-10" dirty="0">
                <a:solidFill>
                  <a:srgbClr val="262626"/>
                </a:solidFill>
              </a:rPr>
              <a:t>Calder-Moir</a:t>
            </a:r>
            <a:r>
              <a:rPr lang="es-PE" sz="1600" spc="-10" dirty="0">
                <a:solidFill>
                  <a:srgbClr val="262626"/>
                </a:solidFill>
              </a:rPr>
              <a:t> IT Governance Framework (Calder y Moir, 2010)</a:t>
            </a:r>
          </a:p>
          <a:p>
            <a:pPr marL="446088" indent="-285750">
              <a:spcAft>
                <a:spcPts val="1800"/>
              </a:spcAft>
              <a:buSzPct val="100000"/>
              <a:buFont typeface="Wingdings" panose="05000000000000000000" pitchFamily="2" charset="2"/>
              <a:buChar char="ü"/>
              <a:tabLst>
                <a:tab pos="121285" algn="l"/>
              </a:tabLst>
            </a:pPr>
            <a:r>
              <a:rPr lang="es-PE" sz="1600" spc="-10" dirty="0">
                <a:solidFill>
                  <a:srgbClr val="262626"/>
                </a:solidFill>
              </a:rPr>
              <a:t>A</a:t>
            </a:r>
            <a:r>
              <a:rPr lang="es-PE" sz="1600" b="1" spc="-10" dirty="0">
                <a:solidFill>
                  <a:srgbClr val="262626"/>
                </a:solidFill>
              </a:rPr>
              <a:t>S8015:2005</a:t>
            </a:r>
            <a:r>
              <a:rPr lang="es-PE" sz="1600" spc="-10" dirty="0">
                <a:solidFill>
                  <a:srgbClr val="262626"/>
                </a:solidFill>
              </a:rPr>
              <a:t> ( Australian Standard for Corporate Governance of Information)</a:t>
            </a:r>
          </a:p>
        </p:txBody>
      </p:sp>
      <p:grpSp>
        <p:nvGrpSpPr>
          <p:cNvPr id="4" name="Grupo 3">
            <a:extLst>
              <a:ext uri="{FF2B5EF4-FFF2-40B4-BE49-F238E27FC236}">
                <a16:creationId xmlns:a16="http://schemas.microsoft.com/office/drawing/2014/main" id="{BF191A28-D793-4662-9969-17CBBF016EA4}"/>
              </a:ext>
            </a:extLst>
          </p:cNvPr>
          <p:cNvGrpSpPr/>
          <p:nvPr/>
        </p:nvGrpSpPr>
        <p:grpSpPr>
          <a:xfrm>
            <a:off x="467299" y="3854415"/>
            <a:ext cx="8164583" cy="822627"/>
            <a:chOff x="467299" y="3854415"/>
            <a:chExt cx="8164583" cy="822627"/>
          </a:xfrm>
        </p:grpSpPr>
        <p:pic>
          <p:nvPicPr>
            <p:cNvPr id="10" name="Imagen 9">
              <a:extLst>
                <a:ext uri="{FF2B5EF4-FFF2-40B4-BE49-F238E27FC236}">
                  <a16:creationId xmlns:a16="http://schemas.microsoft.com/office/drawing/2014/main" id="{9D9BC82F-80D7-48CD-B51E-80E4A93F3F97}"/>
                </a:ext>
              </a:extLst>
            </p:cNvPr>
            <p:cNvPicPr>
              <a:picLocks noChangeAspect="1"/>
            </p:cNvPicPr>
            <p:nvPr/>
          </p:nvPicPr>
          <p:blipFill>
            <a:blip r:embed="rId3"/>
            <a:stretch>
              <a:fillRect/>
            </a:stretch>
          </p:blipFill>
          <p:spPr>
            <a:xfrm>
              <a:off x="467299" y="3854415"/>
              <a:ext cx="1196548" cy="822627"/>
            </a:xfrm>
            <a:prstGeom prst="rect">
              <a:avLst/>
            </a:prstGeom>
          </p:spPr>
        </p:pic>
        <p:pic>
          <p:nvPicPr>
            <p:cNvPr id="12" name="Imagen 11">
              <a:extLst>
                <a:ext uri="{FF2B5EF4-FFF2-40B4-BE49-F238E27FC236}">
                  <a16:creationId xmlns:a16="http://schemas.microsoft.com/office/drawing/2014/main" id="{67245B63-1778-4AD7-B683-BC9A2A12BB21}"/>
                </a:ext>
              </a:extLst>
            </p:cNvPr>
            <p:cNvPicPr>
              <a:picLocks noChangeAspect="1"/>
            </p:cNvPicPr>
            <p:nvPr/>
          </p:nvPicPr>
          <p:blipFill>
            <a:blip r:embed="rId4"/>
            <a:stretch>
              <a:fillRect/>
            </a:stretch>
          </p:blipFill>
          <p:spPr>
            <a:xfrm>
              <a:off x="4529253" y="4009610"/>
              <a:ext cx="1617205" cy="572616"/>
            </a:xfrm>
            <a:prstGeom prst="rect">
              <a:avLst/>
            </a:prstGeom>
          </p:spPr>
        </p:pic>
        <p:pic>
          <p:nvPicPr>
            <p:cNvPr id="13" name="Imagen 12">
              <a:extLst>
                <a:ext uri="{FF2B5EF4-FFF2-40B4-BE49-F238E27FC236}">
                  <a16:creationId xmlns:a16="http://schemas.microsoft.com/office/drawing/2014/main" id="{470ED13F-03A2-443B-AE95-1D983824DC26}"/>
                </a:ext>
              </a:extLst>
            </p:cNvPr>
            <p:cNvPicPr>
              <a:picLocks noChangeAspect="1"/>
            </p:cNvPicPr>
            <p:nvPr/>
          </p:nvPicPr>
          <p:blipFill>
            <a:blip r:embed="rId5"/>
            <a:stretch>
              <a:fillRect/>
            </a:stretch>
          </p:blipFill>
          <p:spPr>
            <a:xfrm>
              <a:off x="6474470" y="4009610"/>
              <a:ext cx="2157412" cy="633412"/>
            </a:xfrm>
            <a:prstGeom prst="rect">
              <a:avLst/>
            </a:prstGeom>
          </p:spPr>
        </p:pic>
        <p:pic>
          <p:nvPicPr>
            <p:cNvPr id="3" name="Imagen 2">
              <a:extLst>
                <a:ext uri="{FF2B5EF4-FFF2-40B4-BE49-F238E27FC236}">
                  <a16:creationId xmlns:a16="http://schemas.microsoft.com/office/drawing/2014/main" id="{1C6A520F-B249-472F-8167-9669CE039782}"/>
                </a:ext>
              </a:extLst>
            </p:cNvPr>
            <p:cNvPicPr>
              <a:picLocks noChangeAspect="1"/>
            </p:cNvPicPr>
            <p:nvPr/>
          </p:nvPicPr>
          <p:blipFill>
            <a:blip r:embed="rId6"/>
            <a:stretch>
              <a:fillRect/>
            </a:stretch>
          </p:blipFill>
          <p:spPr>
            <a:xfrm>
              <a:off x="1960409" y="3989650"/>
              <a:ext cx="2272282" cy="592576"/>
            </a:xfrm>
            <a:prstGeom prst="rect">
              <a:avLst/>
            </a:prstGeom>
          </p:spPr>
        </p:pic>
      </p:grpSp>
    </p:spTree>
    <p:extLst>
      <p:ext uri="{BB962C8B-B14F-4D97-AF65-F5344CB8AC3E}">
        <p14:creationId xmlns:p14="http://schemas.microsoft.com/office/powerpoint/2010/main" val="2850793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PRINCIPALES MARCOS DEL GOBIERNO DE TI</a:t>
            </a:r>
          </a:p>
        </p:txBody>
      </p:sp>
      <p:sp>
        <p:nvSpPr>
          <p:cNvPr id="9" name="object 7">
            <a:extLst>
              <a:ext uri="{FF2B5EF4-FFF2-40B4-BE49-F238E27FC236}">
                <a16:creationId xmlns:a16="http://schemas.microsoft.com/office/drawing/2014/main" id="{0AA5E27F-EC74-4C13-843D-68B6A4FCBF61}"/>
              </a:ext>
            </a:extLst>
          </p:cNvPr>
          <p:cNvSpPr txBox="1"/>
          <p:nvPr/>
        </p:nvSpPr>
        <p:spPr>
          <a:xfrm>
            <a:off x="407874" y="832233"/>
            <a:ext cx="5905839"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COBIT 2019</a:t>
            </a:r>
          </a:p>
        </p:txBody>
      </p:sp>
      <p:sp>
        <p:nvSpPr>
          <p:cNvPr id="11" name="object 7">
            <a:extLst>
              <a:ext uri="{FF2B5EF4-FFF2-40B4-BE49-F238E27FC236}">
                <a16:creationId xmlns:a16="http://schemas.microsoft.com/office/drawing/2014/main" id="{8F372993-DFFE-4172-8F67-45D1B2D51D41}"/>
              </a:ext>
            </a:extLst>
          </p:cNvPr>
          <p:cNvSpPr txBox="1"/>
          <p:nvPr/>
        </p:nvSpPr>
        <p:spPr>
          <a:xfrm>
            <a:off x="407875" y="1254591"/>
            <a:ext cx="4628582" cy="1969770"/>
          </a:xfrm>
          <a:prstGeom prst="rect">
            <a:avLst/>
          </a:prstGeom>
        </p:spPr>
        <p:txBody>
          <a:bodyPr vert="horz" wrap="square" lIns="0" tIns="0" rIns="0" bIns="0" rtlCol="0">
            <a:spAutoFit/>
          </a:bodyPr>
          <a:lstStyle/>
          <a:p>
            <a:pPr algn="just">
              <a:spcAft>
                <a:spcPts val="1800"/>
              </a:spcAft>
              <a:buSzPct val="100000"/>
              <a:tabLst>
                <a:tab pos="121285" algn="l"/>
              </a:tabLst>
            </a:pPr>
            <a:r>
              <a:rPr lang="es-ES_tradnl" sz="1600" spc="-10" dirty="0">
                <a:solidFill>
                  <a:srgbClr val="262626"/>
                </a:solidFill>
              </a:rPr>
              <a:t>COBIT 2019 es un marco de referencia que es utilizado para el gobierno TI y la gestión de TI, reúne una recopilación de las mejores prácticas internacionalmente reconocidas de gestión de la tecnología proporcionando </a:t>
            </a:r>
            <a:r>
              <a:rPr lang="es-ES" sz="1600" spc="-10" dirty="0">
                <a:solidFill>
                  <a:srgbClr val="262626"/>
                </a:solidFill>
              </a:rPr>
              <a:t>ventaja de sus inversiones en TI, a partir de la creación y gestión de un plan equilibrado del uso de sus recursos y el </a:t>
            </a:r>
            <a:r>
              <a:rPr lang="es-ES" sz="1600" spc="-10" dirty="0" smtClean="0">
                <a:solidFill>
                  <a:srgbClr val="262626"/>
                </a:solidFill>
              </a:rPr>
              <a:t>riesgo, </a:t>
            </a:r>
            <a:r>
              <a:rPr lang="es-ES" sz="1600" spc="-10" dirty="0">
                <a:solidFill>
                  <a:srgbClr val="262626"/>
                </a:solidFill>
              </a:rPr>
              <a:t>permitiendo mejorar la eficiencia y la productividad de los sistemas de información. </a:t>
            </a:r>
          </a:p>
        </p:txBody>
      </p:sp>
      <p:pic>
        <p:nvPicPr>
          <p:cNvPr id="14" name="Imagen 13">
            <a:extLst>
              <a:ext uri="{FF2B5EF4-FFF2-40B4-BE49-F238E27FC236}">
                <a16:creationId xmlns:a16="http://schemas.microsoft.com/office/drawing/2014/main" id="{CB55FBFB-6EB0-44C5-8A6A-C6563F56691B}"/>
              </a:ext>
            </a:extLst>
          </p:cNvPr>
          <p:cNvPicPr>
            <a:picLocks noChangeAspect="1"/>
          </p:cNvPicPr>
          <p:nvPr/>
        </p:nvPicPr>
        <p:blipFill>
          <a:blip r:embed="rId3"/>
          <a:stretch>
            <a:fillRect/>
          </a:stretch>
        </p:blipFill>
        <p:spPr>
          <a:xfrm>
            <a:off x="5363843" y="2946399"/>
            <a:ext cx="3239274" cy="2102687"/>
          </a:xfrm>
          <a:prstGeom prst="rect">
            <a:avLst/>
          </a:prstGeom>
        </p:spPr>
      </p:pic>
    </p:spTree>
    <p:extLst>
      <p:ext uri="{BB962C8B-B14F-4D97-AF65-F5344CB8AC3E}">
        <p14:creationId xmlns:p14="http://schemas.microsoft.com/office/powerpoint/2010/main" val="1506037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PRINCIPALES MARCOS DEL GOBIERNO DE TI</a:t>
            </a:r>
          </a:p>
        </p:txBody>
      </p:sp>
      <p:sp>
        <p:nvSpPr>
          <p:cNvPr id="3" name="object 7">
            <a:extLst>
              <a:ext uri="{FF2B5EF4-FFF2-40B4-BE49-F238E27FC236}">
                <a16:creationId xmlns:a16="http://schemas.microsoft.com/office/drawing/2014/main" id="{66A67A82-F53B-478A-9276-E68E4D4DA820}"/>
              </a:ext>
            </a:extLst>
          </p:cNvPr>
          <p:cNvSpPr txBox="1"/>
          <p:nvPr/>
        </p:nvSpPr>
        <p:spPr>
          <a:xfrm>
            <a:off x="407874" y="832233"/>
            <a:ext cx="5905839"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 VAL IT</a:t>
            </a:r>
          </a:p>
        </p:txBody>
      </p:sp>
      <p:sp>
        <p:nvSpPr>
          <p:cNvPr id="4" name="object 7">
            <a:extLst>
              <a:ext uri="{FF2B5EF4-FFF2-40B4-BE49-F238E27FC236}">
                <a16:creationId xmlns:a16="http://schemas.microsoft.com/office/drawing/2014/main" id="{20E1CA61-684F-485A-9814-FE0A58A91E2A}"/>
              </a:ext>
            </a:extLst>
          </p:cNvPr>
          <p:cNvSpPr txBox="1"/>
          <p:nvPr/>
        </p:nvSpPr>
        <p:spPr>
          <a:xfrm>
            <a:off x="407875" y="1254591"/>
            <a:ext cx="5586526" cy="1231106"/>
          </a:xfrm>
          <a:prstGeom prst="rect">
            <a:avLst/>
          </a:prstGeom>
        </p:spPr>
        <p:txBody>
          <a:bodyPr vert="horz" wrap="square" lIns="0" tIns="0" rIns="0" bIns="0" rtlCol="0">
            <a:spAutoFit/>
          </a:bodyPr>
          <a:lstStyle/>
          <a:p>
            <a:pPr algn="just">
              <a:spcAft>
                <a:spcPts val="1800"/>
              </a:spcAft>
              <a:buSzPct val="100000"/>
              <a:tabLst>
                <a:tab pos="121285" algn="l"/>
              </a:tabLst>
            </a:pPr>
            <a:r>
              <a:rPr lang="es-ES" sz="1600" spc="-10" dirty="0">
                <a:solidFill>
                  <a:srgbClr val="262626"/>
                </a:solidFill>
              </a:rPr>
              <a:t>Val IT es un conjunto de documentos que proveen un marco de trabajo para el gobierno de las inversiones en TI, creado por el Instituto de Gobierno de las TI (ITGI, por sus siglas en inglés). Es una declaración formal de los principios y procesos para la administración del portafolio de TI</a:t>
            </a:r>
            <a:r>
              <a:rPr lang="es-ES" sz="1600" spc="-10" dirty="0" smtClean="0">
                <a:solidFill>
                  <a:srgbClr val="262626"/>
                </a:solidFill>
              </a:rPr>
              <a:t>.</a:t>
            </a:r>
            <a:endParaRPr lang="es-ES_tradnl" sz="1600" spc="-10" dirty="0">
              <a:solidFill>
                <a:srgbClr val="262626"/>
              </a:solidFill>
            </a:endParaRPr>
          </a:p>
        </p:txBody>
      </p:sp>
      <p:pic>
        <p:nvPicPr>
          <p:cNvPr id="6" name="Imagen 5">
            <a:extLst>
              <a:ext uri="{FF2B5EF4-FFF2-40B4-BE49-F238E27FC236}">
                <a16:creationId xmlns:a16="http://schemas.microsoft.com/office/drawing/2014/main" id="{03E81E5E-E20D-4742-AE14-C07BD7E157E9}"/>
              </a:ext>
            </a:extLst>
          </p:cNvPr>
          <p:cNvPicPr>
            <a:picLocks noChangeAspect="1"/>
          </p:cNvPicPr>
          <p:nvPr/>
        </p:nvPicPr>
        <p:blipFill>
          <a:blip r:embed="rId3"/>
          <a:stretch>
            <a:fillRect/>
          </a:stretch>
        </p:blipFill>
        <p:spPr>
          <a:xfrm>
            <a:off x="6217145" y="2857500"/>
            <a:ext cx="2406318" cy="2302313"/>
          </a:xfrm>
          <a:prstGeom prst="rect">
            <a:avLst/>
          </a:prstGeom>
        </p:spPr>
      </p:pic>
    </p:spTree>
    <p:extLst>
      <p:ext uri="{BB962C8B-B14F-4D97-AF65-F5344CB8AC3E}">
        <p14:creationId xmlns:p14="http://schemas.microsoft.com/office/powerpoint/2010/main" val="2979254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PRINCIPALES MARCOS DEL GOBIERNO DE TI</a:t>
            </a:r>
          </a:p>
        </p:txBody>
      </p:sp>
      <p:sp>
        <p:nvSpPr>
          <p:cNvPr id="3" name="object 7">
            <a:extLst>
              <a:ext uri="{FF2B5EF4-FFF2-40B4-BE49-F238E27FC236}">
                <a16:creationId xmlns:a16="http://schemas.microsoft.com/office/drawing/2014/main" id="{C0EE1B8E-207C-4E16-AF6B-8E4044795EB4}"/>
              </a:ext>
            </a:extLst>
          </p:cNvPr>
          <p:cNvSpPr txBox="1"/>
          <p:nvPr/>
        </p:nvSpPr>
        <p:spPr>
          <a:xfrm>
            <a:off x="407874" y="832233"/>
            <a:ext cx="5905839"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3. CALDER MOIR</a:t>
            </a:r>
          </a:p>
        </p:txBody>
      </p:sp>
      <p:sp>
        <p:nvSpPr>
          <p:cNvPr id="4" name="object 7">
            <a:extLst>
              <a:ext uri="{FF2B5EF4-FFF2-40B4-BE49-F238E27FC236}">
                <a16:creationId xmlns:a16="http://schemas.microsoft.com/office/drawing/2014/main" id="{7A5770D8-90AC-453F-8862-8ADEF08F9D5F}"/>
              </a:ext>
            </a:extLst>
          </p:cNvPr>
          <p:cNvSpPr txBox="1"/>
          <p:nvPr/>
        </p:nvSpPr>
        <p:spPr>
          <a:xfrm>
            <a:off x="407874" y="1254591"/>
            <a:ext cx="3546905" cy="2939266"/>
          </a:xfrm>
          <a:prstGeom prst="rect">
            <a:avLst/>
          </a:prstGeom>
        </p:spPr>
        <p:txBody>
          <a:bodyPr vert="horz" wrap="square" lIns="0" tIns="0" rIns="0" bIns="0" rtlCol="0">
            <a:spAutoFit/>
          </a:bodyPr>
          <a:lstStyle/>
          <a:p>
            <a:pPr algn="just">
              <a:spcAft>
                <a:spcPts val="1800"/>
              </a:spcAft>
              <a:buSzPct val="100000"/>
              <a:tabLst>
                <a:tab pos="121285" algn="l"/>
              </a:tabLst>
            </a:pPr>
            <a:r>
              <a:rPr lang="es-ES_tradnl" sz="1600" spc="-10" dirty="0">
                <a:solidFill>
                  <a:srgbClr val="262626"/>
                </a:solidFill>
              </a:rPr>
              <a:t>El marco de gobierno de </a:t>
            </a:r>
            <a:r>
              <a:rPr lang="es-ES_tradnl" sz="1600" spc="-10" dirty="0" smtClean="0">
                <a:solidFill>
                  <a:srgbClr val="262626"/>
                </a:solidFill>
              </a:rPr>
              <a:t>TI </a:t>
            </a:r>
            <a:r>
              <a:rPr lang="es-ES_tradnl" sz="1600" spc="-10" dirty="0" err="1" smtClean="0">
                <a:solidFill>
                  <a:srgbClr val="262626"/>
                </a:solidFill>
              </a:rPr>
              <a:t>Calder-Moir</a:t>
            </a:r>
            <a:r>
              <a:rPr lang="es-ES_tradnl" sz="1600" spc="-10" dirty="0" smtClean="0">
                <a:solidFill>
                  <a:srgbClr val="262626"/>
                </a:solidFill>
              </a:rPr>
              <a:t> </a:t>
            </a:r>
            <a:r>
              <a:rPr lang="es-ES_tradnl" sz="1600" spc="-10" dirty="0">
                <a:solidFill>
                  <a:srgbClr val="262626"/>
                </a:solidFill>
              </a:rPr>
              <a:t>es un Metamodelo para coordinar modelos y organizar el gobierno de IT proveyendo una guía estructural al enfocar el gobierno de </a:t>
            </a:r>
            <a:r>
              <a:rPr lang="es-ES_tradnl" sz="1600" spc="-10" dirty="0" smtClean="0">
                <a:solidFill>
                  <a:srgbClr val="262626"/>
                </a:solidFill>
              </a:rPr>
              <a:t>TI </a:t>
            </a:r>
            <a:r>
              <a:rPr lang="es-ES_tradnl" sz="1600" spc="-10" dirty="0">
                <a:solidFill>
                  <a:srgbClr val="262626"/>
                </a:solidFill>
              </a:rPr>
              <a:t>y así obtener el máximo beneficio de todos los otros marcos de trabajo y estándares. </a:t>
            </a:r>
          </a:p>
          <a:p>
            <a:pPr algn="just">
              <a:spcAft>
                <a:spcPts val="1800"/>
              </a:spcAft>
              <a:buSzPct val="100000"/>
              <a:tabLst>
                <a:tab pos="121285" algn="l"/>
              </a:tabLst>
            </a:pPr>
            <a:r>
              <a:rPr lang="es-ES_tradnl" sz="1600" spc="-10" dirty="0">
                <a:solidFill>
                  <a:srgbClr val="262626"/>
                </a:solidFill>
              </a:rPr>
              <a:t>Las TI </a:t>
            </a:r>
            <a:r>
              <a:rPr lang="es-ES_tradnl" sz="1600" spc="-10" dirty="0" smtClean="0">
                <a:solidFill>
                  <a:srgbClr val="262626"/>
                </a:solidFill>
              </a:rPr>
              <a:t>consisten </a:t>
            </a:r>
            <a:r>
              <a:rPr lang="es-ES_tradnl" sz="1600" spc="-10" dirty="0">
                <a:solidFill>
                  <a:srgbClr val="262626"/>
                </a:solidFill>
              </a:rPr>
              <a:t>en seis cuadrantes, cada uno de </a:t>
            </a:r>
            <a:r>
              <a:rPr lang="es-ES_tradnl" sz="1600" spc="-10" dirty="0" smtClean="0">
                <a:solidFill>
                  <a:srgbClr val="262626"/>
                </a:solidFill>
              </a:rPr>
              <a:t>ellos </a:t>
            </a:r>
            <a:r>
              <a:rPr lang="es-ES_tradnl" sz="1600" spc="-10" dirty="0">
                <a:solidFill>
                  <a:srgbClr val="262626"/>
                </a:solidFill>
              </a:rPr>
              <a:t>representa un paso de un </a:t>
            </a:r>
            <a:r>
              <a:rPr lang="es-ES_tradnl" sz="1600" spc="-10" dirty="0" smtClean="0">
                <a:solidFill>
                  <a:srgbClr val="262626"/>
                </a:solidFill>
              </a:rPr>
              <a:t>proceso, </a:t>
            </a:r>
            <a:r>
              <a:rPr lang="es-ES_tradnl" sz="1600" spc="-10" dirty="0">
                <a:solidFill>
                  <a:srgbClr val="262626"/>
                </a:solidFill>
              </a:rPr>
              <a:t>de un extremo </a:t>
            </a:r>
            <a:r>
              <a:rPr lang="es-ES_tradnl" sz="1600" spc="-10" dirty="0" smtClean="0">
                <a:solidFill>
                  <a:srgbClr val="262626"/>
                </a:solidFill>
              </a:rPr>
              <a:t>al otro </a:t>
            </a:r>
            <a:r>
              <a:rPr lang="es-ES_tradnl" sz="1600" spc="-10" dirty="0">
                <a:solidFill>
                  <a:srgbClr val="262626"/>
                </a:solidFill>
              </a:rPr>
              <a:t>extremo que comienza con la estrategia empresarial y culmina con las operaciones.</a:t>
            </a:r>
          </a:p>
        </p:txBody>
      </p:sp>
      <p:pic>
        <p:nvPicPr>
          <p:cNvPr id="7" name="Imagen 6">
            <a:extLst>
              <a:ext uri="{FF2B5EF4-FFF2-40B4-BE49-F238E27FC236}">
                <a16:creationId xmlns:a16="http://schemas.microsoft.com/office/drawing/2014/main" id="{1B88A03C-3B94-42FD-8376-A518BCA2B507}"/>
              </a:ext>
            </a:extLst>
          </p:cNvPr>
          <p:cNvPicPr>
            <a:picLocks noChangeAspect="1"/>
          </p:cNvPicPr>
          <p:nvPr/>
        </p:nvPicPr>
        <p:blipFill>
          <a:blip r:embed="rId3"/>
          <a:stretch>
            <a:fillRect/>
          </a:stretch>
        </p:blipFill>
        <p:spPr>
          <a:xfrm>
            <a:off x="4146501" y="1093843"/>
            <a:ext cx="4515886" cy="3919729"/>
          </a:xfrm>
          <a:prstGeom prst="rect">
            <a:avLst/>
          </a:prstGeom>
        </p:spPr>
      </p:pic>
    </p:spTree>
    <p:extLst>
      <p:ext uri="{BB962C8B-B14F-4D97-AF65-F5344CB8AC3E}">
        <p14:creationId xmlns:p14="http://schemas.microsoft.com/office/powerpoint/2010/main" val="733118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PRINCIPALES MARCOS DEL GOBIERNO DE TI</a:t>
            </a:r>
          </a:p>
        </p:txBody>
      </p:sp>
      <p:sp>
        <p:nvSpPr>
          <p:cNvPr id="3" name="object 7">
            <a:extLst>
              <a:ext uri="{FF2B5EF4-FFF2-40B4-BE49-F238E27FC236}">
                <a16:creationId xmlns:a16="http://schemas.microsoft.com/office/drawing/2014/main" id="{BDA626A5-2BFC-4294-9127-47108D82247B}"/>
              </a:ext>
            </a:extLst>
          </p:cNvPr>
          <p:cNvSpPr txBox="1"/>
          <p:nvPr/>
        </p:nvSpPr>
        <p:spPr>
          <a:xfrm>
            <a:off x="407874" y="832233"/>
            <a:ext cx="5905839"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4. AS 8015:2005</a:t>
            </a:r>
          </a:p>
        </p:txBody>
      </p:sp>
      <p:sp>
        <p:nvSpPr>
          <p:cNvPr id="4" name="object 7">
            <a:extLst>
              <a:ext uri="{FF2B5EF4-FFF2-40B4-BE49-F238E27FC236}">
                <a16:creationId xmlns:a16="http://schemas.microsoft.com/office/drawing/2014/main" id="{50A639B3-CA7D-4380-BECC-773519C62663}"/>
              </a:ext>
            </a:extLst>
          </p:cNvPr>
          <p:cNvSpPr txBox="1"/>
          <p:nvPr/>
        </p:nvSpPr>
        <p:spPr>
          <a:xfrm>
            <a:off x="407875" y="1254591"/>
            <a:ext cx="4069782" cy="2215991"/>
          </a:xfrm>
          <a:prstGeom prst="rect">
            <a:avLst/>
          </a:prstGeom>
        </p:spPr>
        <p:txBody>
          <a:bodyPr vert="horz" wrap="square" lIns="0" tIns="0" rIns="0" bIns="0" rtlCol="0">
            <a:spAutoFit/>
          </a:bodyPr>
          <a:lstStyle/>
          <a:p>
            <a:pPr algn="just">
              <a:spcAft>
                <a:spcPts val="1800"/>
              </a:spcAft>
              <a:buSzPct val="100000"/>
              <a:tabLst>
                <a:tab pos="121285" algn="l"/>
              </a:tabLst>
            </a:pPr>
            <a:r>
              <a:rPr lang="es-ES_tradnl" sz="1600" spc="-10" dirty="0">
                <a:solidFill>
                  <a:srgbClr val="262626"/>
                </a:solidFill>
              </a:rPr>
              <a:t>La australiana AS8015:2005 es la primera de una serie sobre normas de </a:t>
            </a:r>
            <a:r>
              <a:rPr lang="es-ES_tradnl" sz="1600" spc="-10" dirty="0" smtClean="0">
                <a:solidFill>
                  <a:srgbClr val="262626"/>
                </a:solidFill>
              </a:rPr>
              <a:t>gobierno </a:t>
            </a:r>
            <a:r>
              <a:rPr lang="es-ES_tradnl" sz="1600" spc="-10" dirty="0">
                <a:solidFill>
                  <a:srgbClr val="262626"/>
                </a:solidFill>
              </a:rPr>
              <a:t>de TI y está alineada con los principios de gobierno corporativo recogidos en el Informe Cadbury y en los Principios de Gobierno Corporativo de la OCDE. Su objetivo es brindar un </a:t>
            </a:r>
            <a:r>
              <a:rPr lang="es-ES_tradnl" sz="1600" i="1" spc="-10" dirty="0">
                <a:solidFill>
                  <a:srgbClr val="262626"/>
                </a:solidFill>
              </a:rPr>
              <a:t>framework</a:t>
            </a:r>
            <a:r>
              <a:rPr lang="es-ES_tradnl" sz="1600" spc="-10" dirty="0">
                <a:solidFill>
                  <a:srgbClr val="262626"/>
                </a:solidFill>
              </a:rPr>
              <a:t> para que los directivos de las organizaciones puedan gobernar las TI basándose en el modelo “evaluar, dirigir y monitorear”. </a:t>
            </a:r>
          </a:p>
        </p:txBody>
      </p:sp>
      <p:pic>
        <p:nvPicPr>
          <p:cNvPr id="6" name="Imagen 5">
            <a:extLst>
              <a:ext uri="{FF2B5EF4-FFF2-40B4-BE49-F238E27FC236}">
                <a16:creationId xmlns:a16="http://schemas.microsoft.com/office/drawing/2014/main" id="{6C47A063-B49D-42E7-A805-30E378D57FDA}"/>
              </a:ext>
            </a:extLst>
          </p:cNvPr>
          <p:cNvPicPr>
            <a:picLocks noChangeAspect="1"/>
          </p:cNvPicPr>
          <p:nvPr/>
        </p:nvPicPr>
        <p:blipFill>
          <a:blip r:embed="rId3"/>
          <a:stretch>
            <a:fillRect/>
          </a:stretch>
        </p:blipFill>
        <p:spPr>
          <a:xfrm>
            <a:off x="4750418" y="2227943"/>
            <a:ext cx="3985707" cy="2910774"/>
          </a:xfrm>
          <a:prstGeom prst="rect">
            <a:avLst/>
          </a:prstGeom>
        </p:spPr>
      </p:pic>
    </p:spTree>
    <p:extLst>
      <p:ext uri="{BB962C8B-B14F-4D97-AF65-F5344CB8AC3E}">
        <p14:creationId xmlns:p14="http://schemas.microsoft.com/office/powerpoint/2010/main" val="3425303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5"/>
          <p:cNvSpPr/>
          <p:nvPr/>
        </p:nvSpPr>
        <p:spPr>
          <a:xfrm>
            <a:off x="511154" y="331345"/>
            <a:ext cx="1945800" cy="200055"/>
          </a:xfrm>
          <a:prstGeom prst="rect">
            <a:avLst/>
          </a:prstGeom>
        </p:spPr>
        <p:txBody>
          <a:bodyPr wrap="square" lIns="0" tIns="0" rIns="0" bIns="0">
            <a:spAutoFit/>
          </a:bodyPr>
          <a:lstStyle/>
          <a:p>
            <a:r>
              <a:rPr lang="en-US" sz="1300" dirty="0">
                <a:solidFill>
                  <a:schemeClr val="bg1"/>
                </a:solidFill>
              </a:rPr>
              <a:t>/ CONCLUSIONES</a:t>
            </a:r>
          </a:p>
        </p:txBody>
      </p:sp>
      <p:sp>
        <p:nvSpPr>
          <p:cNvPr id="8" name="Rectángulo 10">
            <a:extLst>
              <a:ext uri="{FF2B5EF4-FFF2-40B4-BE49-F238E27FC236}">
                <a16:creationId xmlns:a16="http://schemas.microsoft.com/office/drawing/2014/main" id="{2CE728F1-CA35-4741-A316-6A8802F5D948}"/>
              </a:ext>
            </a:extLst>
          </p:cNvPr>
          <p:cNvSpPr/>
          <p:nvPr/>
        </p:nvSpPr>
        <p:spPr>
          <a:xfrm>
            <a:off x="2304789" y="713188"/>
            <a:ext cx="6370899" cy="4185761"/>
          </a:xfrm>
          <a:prstGeom prst="rect">
            <a:avLst/>
          </a:prstGeom>
        </p:spPr>
        <p:txBody>
          <a:bodyPr wrap="square" lIns="0" tIns="0" rIns="0" bIns="0">
            <a:spAutoFit/>
          </a:bodyPr>
          <a:lstStyle/>
          <a:p>
            <a:pPr marL="180975" indent="-180975">
              <a:buFont typeface="Arial" panose="020B0604020202020204" pitchFamily="34" charset="0"/>
              <a:buChar char="•"/>
            </a:pPr>
            <a:r>
              <a:rPr lang="es-PE" sz="1600" dirty="0">
                <a:solidFill>
                  <a:srgbClr val="FFFFFF"/>
                </a:solidFill>
                <a:latin typeface="+mj-lt"/>
                <a:ea typeface="Calibri" panose="020F0502020204030204" pitchFamily="34" charset="0"/>
                <a:cs typeface="Source Sans Pro" panose="020B0604020202020204" charset="0"/>
              </a:rPr>
              <a:t>El gobierno de las TI consiste en la alineación de las estrategias de TI de una organización con su estrategia general para que esta pueda alcanzar sus metas y </a:t>
            </a:r>
            <a:r>
              <a:rPr lang="es-PE" sz="1600" dirty="0" smtClean="0">
                <a:solidFill>
                  <a:srgbClr val="FFFFFF"/>
                </a:solidFill>
                <a:latin typeface="+mj-lt"/>
                <a:ea typeface="Calibri" panose="020F0502020204030204" pitchFamily="34" charset="0"/>
                <a:cs typeface="Source Sans Pro" panose="020B0604020202020204" charset="0"/>
              </a:rPr>
              <a:t>objetivos. Dentro </a:t>
            </a:r>
            <a:r>
              <a:rPr lang="es-PE" sz="1600" dirty="0">
                <a:solidFill>
                  <a:srgbClr val="FFFFFF"/>
                </a:solidFill>
                <a:latin typeface="+mj-lt"/>
                <a:ea typeface="Calibri" panose="020F0502020204030204" pitchFamily="34" charset="0"/>
                <a:cs typeface="Source Sans Pro" panose="020B0604020202020204" charset="0"/>
              </a:rPr>
              <a:t>de las principales funciones </a:t>
            </a:r>
            <a:r>
              <a:rPr lang="es-PE" sz="1600" dirty="0" smtClean="0">
                <a:solidFill>
                  <a:srgbClr val="FFFFFF"/>
                </a:solidFill>
                <a:latin typeface="+mj-lt"/>
                <a:ea typeface="Calibri" panose="020F0502020204030204" pitchFamily="34" charset="0"/>
                <a:cs typeface="Source Sans Pro" panose="020B0604020202020204" charset="0"/>
              </a:rPr>
              <a:t>tenemos que se apoya </a:t>
            </a:r>
            <a:r>
              <a:rPr lang="es-PE" sz="1600" dirty="0">
                <a:solidFill>
                  <a:srgbClr val="FFFFFF"/>
                </a:solidFill>
                <a:latin typeface="+mj-lt"/>
                <a:ea typeface="Calibri" panose="020F0502020204030204" pitchFamily="34" charset="0"/>
                <a:cs typeface="Source Sans Pro" panose="020B0604020202020204" charset="0"/>
              </a:rPr>
              <a:t>a la gobernabilidad de TI, se enfoca en el desempeño y gestión de riesgos, </a:t>
            </a:r>
            <a:r>
              <a:rPr lang="es-PE" sz="1600" dirty="0" smtClean="0">
                <a:solidFill>
                  <a:srgbClr val="FFFFFF"/>
                </a:solidFill>
                <a:latin typeface="+mj-lt"/>
                <a:ea typeface="Calibri" panose="020F0502020204030204" pitchFamily="34" charset="0"/>
                <a:cs typeface="Source Sans Pro" panose="020B0604020202020204" charset="0"/>
              </a:rPr>
              <a:t>la responsabilidad </a:t>
            </a:r>
            <a:r>
              <a:rPr lang="es-PE" sz="1600" dirty="0">
                <a:solidFill>
                  <a:srgbClr val="FFFFFF"/>
                </a:solidFill>
                <a:latin typeface="+mj-lt"/>
                <a:ea typeface="Calibri" panose="020F0502020204030204" pitchFamily="34" charset="0"/>
                <a:cs typeface="Source Sans Pro" panose="020B0604020202020204" charset="0"/>
              </a:rPr>
              <a:t>al más alto nivel directivo, potencia el liderazgo de la organización y los procesos, TI apoya a las estrategias y objetivos de la empresa.</a:t>
            </a:r>
          </a:p>
          <a:p>
            <a:pPr marL="180975" indent="-180975">
              <a:buFont typeface="Arial" panose="020B0604020202020204" pitchFamily="34" charset="0"/>
              <a:buChar char="•"/>
            </a:pPr>
            <a:endParaRPr lang="es-PE" sz="1600" dirty="0">
              <a:solidFill>
                <a:srgbClr val="FFFFFF"/>
              </a:solidFill>
              <a:latin typeface="+mj-lt"/>
              <a:ea typeface="Calibri" panose="020F0502020204030204" pitchFamily="34" charset="0"/>
              <a:cs typeface="Source Sans Pro" panose="020B0604020202020204" charset="0"/>
            </a:endParaRPr>
          </a:p>
          <a:p>
            <a:pPr marL="180975" indent="-180975">
              <a:buFont typeface="Arial" panose="020B0604020202020204" pitchFamily="34" charset="0"/>
              <a:buChar char="•"/>
            </a:pPr>
            <a:r>
              <a:rPr lang="es-PE" sz="1600" dirty="0">
                <a:solidFill>
                  <a:srgbClr val="FFFFFF"/>
                </a:solidFill>
                <a:latin typeface="+mj-lt"/>
                <a:ea typeface="Calibri" panose="020F0502020204030204" pitchFamily="34" charset="0"/>
                <a:cs typeface="Source Sans Pro" panose="020B0604020202020204" charset="0"/>
              </a:rPr>
              <a:t>Dentro de los principales objetivos </a:t>
            </a:r>
            <a:r>
              <a:rPr lang="es-PE" sz="1600" dirty="0" smtClean="0">
                <a:solidFill>
                  <a:srgbClr val="FFFFFF"/>
                </a:solidFill>
                <a:latin typeface="+mj-lt"/>
                <a:ea typeface="Calibri" panose="020F0502020204030204" pitchFamily="34" charset="0"/>
                <a:cs typeface="Source Sans Pro" panose="020B0604020202020204" charset="0"/>
              </a:rPr>
              <a:t>tenemos que las </a:t>
            </a:r>
            <a:r>
              <a:rPr lang="es-PE" sz="1600" dirty="0">
                <a:solidFill>
                  <a:srgbClr val="FFFFFF"/>
                </a:solidFill>
                <a:latin typeface="+mj-lt"/>
                <a:ea typeface="Calibri" panose="020F0502020204030204" pitchFamily="34" charset="0"/>
                <a:cs typeface="Source Sans Pro" panose="020B0604020202020204" charset="0"/>
              </a:rPr>
              <a:t>TI </a:t>
            </a:r>
            <a:r>
              <a:rPr lang="es-PE" sz="1600" dirty="0" smtClean="0">
                <a:solidFill>
                  <a:srgbClr val="FFFFFF"/>
                </a:solidFill>
                <a:latin typeface="+mj-lt"/>
                <a:ea typeface="Calibri" panose="020F0502020204030204" pitchFamily="34" charset="0"/>
                <a:cs typeface="Source Sans Pro" panose="020B0604020202020204" charset="0"/>
              </a:rPr>
              <a:t>deben estar alineadas </a:t>
            </a:r>
            <a:r>
              <a:rPr lang="es-PE" sz="1600" dirty="0">
                <a:solidFill>
                  <a:srgbClr val="FFFFFF"/>
                </a:solidFill>
                <a:latin typeface="+mj-lt"/>
                <a:ea typeface="Calibri" panose="020F0502020204030204" pitchFamily="34" charset="0"/>
                <a:cs typeface="Source Sans Pro" panose="020B0604020202020204" charset="0"/>
              </a:rPr>
              <a:t>con la empresa, </a:t>
            </a:r>
            <a:r>
              <a:rPr lang="es-PE" sz="1600" dirty="0" smtClean="0">
                <a:solidFill>
                  <a:srgbClr val="FFFFFF"/>
                </a:solidFill>
                <a:latin typeface="+mj-lt"/>
                <a:ea typeface="Calibri" panose="020F0502020204030204" pitchFamily="34" charset="0"/>
                <a:cs typeface="Source Sans Pro" panose="020B0604020202020204" charset="0"/>
              </a:rPr>
              <a:t>las TI habiliten </a:t>
            </a:r>
            <a:r>
              <a:rPr lang="es-PE" sz="1600" dirty="0">
                <a:solidFill>
                  <a:srgbClr val="FFFFFF"/>
                </a:solidFill>
                <a:latin typeface="+mj-lt"/>
                <a:ea typeface="Calibri" panose="020F0502020204030204" pitchFamily="34" charset="0"/>
                <a:cs typeface="Source Sans Pro" panose="020B0604020202020204" charset="0"/>
              </a:rPr>
              <a:t>y </a:t>
            </a:r>
            <a:r>
              <a:rPr lang="es-PE" sz="1600" dirty="0" smtClean="0">
                <a:solidFill>
                  <a:srgbClr val="FFFFFF"/>
                </a:solidFill>
                <a:latin typeface="+mj-lt"/>
                <a:ea typeface="Calibri" panose="020F0502020204030204" pitchFamily="34" charset="0"/>
                <a:cs typeface="Source Sans Pro" panose="020B0604020202020204" charset="0"/>
              </a:rPr>
              <a:t>exploten </a:t>
            </a:r>
            <a:r>
              <a:rPr lang="es-PE" sz="1600" dirty="0">
                <a:solidFill>
                  <a:srgbClr val="FFFFFF"/>
                </a:solidFill>
                <a:latin typeface="+mj-lt"/>
                <a:ea typeface="Calibri" panose="020F0502020204030204" pitchFamily="34" charset="0"/>
                <a:cs typeface="Source Sans Pro" panose="020B0604020202020204" charset="0"/>
              </a:rPr>
              <a:t>oportunidades y </a:t>
            </a:r>
            <a:r>
              <a:rPr lang="es-PE" sz="1600" dirty="0" smtClean="0">
                <a:solidFill>
                  <a:srgbClr val="FFFFFF"/>
                </a:solidFill>
                <a:latin typeface="+mj-lt"/>
                <a:ea typeface="Calibri" panose="020F0502020204030204" pitchFamily="34" charset="0"/>
                <a:cs typeface="Source Sans Pro" panose="020B0604020202020204" charset="0"/>
              </a:rPr>
              <a:t>generen </a:t>
            </a:r>
            <a:r>
              <a:rPr lang="es-PE" sz="1600" dirty="0">
                <a:solidFill>
                  <a:srgbClr val="FFFFFF"/>
                </a:solidFill>
                <a:latin typeface="+mj-lt"/>
                <a:ea typeface="Calibri" panose="020F0502020204030204" pitchFamily="34" charset="0"/>
                <a:cs typeface="Source Sans Pro" panose="020B0604020202020204" charset="0"/>
              </a:rPr>
              <a:t>beneficios, que los recursos de TI se empleen responsablemente, </a:t>
            </a:r>
            <a:r>
              <a:rPr lang="es-PE" sz="1600" dirty="0" smtClean="0">
                <a:solidFill>
                  <a:srgbClr val="FFFFFF"/>
                </a:solidFill>
                <a:latin typeface="+mj-lt"/>
                <a:ea typeface="Calibri" panose="020F0502020204030204" pitchFamily="34" charset="0"/>
                <a:cs typeface="Source Sans Pro" panose="020B0604020202020204" charset="0"/>
              </a:rPr>
              <a:t>y que </a:t>
            </a:r>
            <a:r>
              <a:rPr lang="es-PE" sz="1600" dirty="0">
                <a:solidFill>
                  <a:srgbClr val="FFFFFF"/>
                </a:solidFill>
                <a:latin typeface="+mj-lt"/>
                <a:ea typeface="Calibri" panose="020F0502020204030204" pitchFamily="34" charset="0"/>
                <a:cs typeface="Source Sans Pro" panose="020B0604020202020204" charset="0"/>
              </a:rPr>
              <a:t>los riesgos de TI se manejen adecuadamente.</a:t>
            </a:r>
          </a:p>
          <a:p>
            <a:endParaRPr lang="es-PE" sz="1600" dirty="0">
              <a:solidFill>
                <a:srgbClr val="FFFFFF"/>
              </a:solidFill>
              <a:latin typeface="+mj-lt"/>
              <a:ea typeface="Calibri" panose="020F0502020204030204" pitchFamily="34" charset="0"/>
              <a:cs typeface="Source Sans Pro" panose="020B0604020202020204" charset="0"/>
            </a:endParaRPr>
          </a:p>
          <a:p>
            <a:pPr marL="180975" indent="-180975">
              <a:buFont typeface="Arial" panose="020B0604020202020204" pitchFamily="34" charset="0"/>
              <a:buChar char="•"/>
            </a:pPr>
            <a:r>
              <a:rPr lang="es-PE" sz="1600" dirty="0">
                <a:solidFill>
                  <a:srgbClr val="FFFFFF"/>
                </a:solidFill>
                <a:latin typeface="+mj-lt"/>
                <a:ea typeface="Calibri" panose="020F0502020204030204" pitchFamily="34" charset="0"/>
                <a:cs typeface="Source Sans Pro" panose="020B0604020202020204" charset="0"/>
              </a:rPr>
              <a:t>El gobierno busca generar valor hacia la empresa </a:t>
            </a:r>
            <a:r>
              <a:rPr lang="es-PE" sz="1600" dirty="0" smtClean="0">
                <a:solidFill>
                  <a:srgbClr val="FFFFFF"/>
                </a:solidFill>
                <a:latin typeface="+mj-lt"/>
                <a:ea typeface="Calibri" panose="020F0502020204030204" pitchFamily="34" charset="0"/>
                <a:cs typeface="Source Sans Pro" panose="020B0604020202020204" charset="0"/>
              </a:rPr>
              <a:t>al </a:t>
            </a:r>
            <a:r>
              <a:rPr lang="es-PE" sz="1600" dirty="0" smtClean="0">
                <a:solidFill>
                  <a:srgbClr val="FFFFFF"/>
                </a:solidFill>
                <a:latin typeface="+mj-lt"/>
                <a:ea typeface="Calibri" panose="020F0502020204030204" pitchFamily="34" charset="0"/>
                <a:cs typeface="Source Sans Pro" panose="020B0604020202020204" charset="0"/>
              </a:rPr>
              <a:t>optimizar </a:t>
            </a:r>
            <a:r>
              <a:rPr lang="es-PE" sz="1600" dirty="0">
                <a:solidFill>
                  <a:srgbClr val="FFFFFF"/>
                </a:solidFill>
                <a:latin typeface="+mj-lt"/>
                <a:ea typeface="Calibri" panose="020F0502020204030204" pitchFamily="34" charset="0"/>
                <a:cs typeface="Source Sans Pro" panose="020B0604020202020204" charset="0"/>
              </a:rPr>
              <a:t>y reducir costos y ganancias, </a:t>
            </a:r>
            <a:r>
              <a:rPr lang="es-PE" sz="1600" dirty="0" smtClean="0">
                <a:solidFill>
                  <a:srgbClr val="FFFFFF"/>
                </a:solidFill>
                <a:latin typeface="+mj-lt"/>
                <a:ea typeface="Calibri" panose="020F0502020204030204" pitchFamily="34" charset="0"/>
                <a:cs typeface="Source Sans Pro" panose="020B0604020202020204" charset="0"/>
              </a:rPr>
              <a:t>al satisfacer </a:t>
            </a:r>
            <a:r>
              <a:rPr lang="es-PE" sz="1600" dirty="0">
                <a:solidFill>
                  <a:srgbClr val="FFFFFF"/>
                </a:solidFill>
                <a:latin typeface="+mj-lt"/>
                <a:ea typeface="Calibri" panose="020F0502020204030204" pitchFamily="34" charset="0"/>
                <a:cs typeface="Source Sans Pro" panose="020B0604020202020204" charset="0"/>
              </a:rPr>
              <a:t>y retener a los clientes, </a:t>
            </a:r>
            <a:r>
              <a:rPr lang="es-PE" sz="1600" dirty="0" smtClean="0">
                <a:solidFill>
                  <a:srgbClr val="FFFFFF"/>
                </a:solidFill>
                <a:latin typeface="+mj-lt"/>
                <a:ea typeface="Calibri" panose="020F0502020204030204" pitchFamily="34" charset="0"/>
                <a:cs typeface="Source Sans Pro" panose="020B0604020202020204" charset="0"/>
              </a:rPr>
              <a:t>realizando inversiones </a:t>
            </a:r>
            <a:r>
              <a:rPr lang="es-PE" sz="1600" dirty="0">
                <a:solidFill>
                  <a:srgbClr val="FFFFFF"/>
                </a:solidFill>
                <a:latin typeface="+mj-lt"/>
                <a:ea typeface="Calibri" panose="020F0502020204030204" pitchFamily="34" charset="0"/>
                <a:cs typeface="Source Sans Pro" panose="020B0604020202020204" charset="0"/>
              </a:rPr>
              <a:t>y proyectos que cumplan su tiempo y costo, </a:t>
            </a:r>
            <a:r>
              <a:rPr lang="es-PE" sz="1600" dirty="0" smtClean="0">
                <a:solidFill>
                  <a:srgbClr val="FFFFFF"/>
                </a:solidFill>
                <a:latin typeface="+mj-lt"/>
                <a:ea typeface="Calibri" panose="020F0502020204030204" pitchFamily="34" charset="0"/>
                <a:cs typeface="Source Sans Pro" panose="020B0604020202020204" charset="0"/>
              </a:rPr>
              <a:t>ademá</a:t>
            </a:r>
            <a:r>
              <a:rPr lang="es-PE" sz="1600" dirty="0" smtClean="0">
                <a:solidFill>
                  <a:srgbClr val="FFFFFF"/>
                </a:solidFill>
                <a:latin typeface="+mj-lt"/>
                <a:ea typeface="Calibri" panose="020F0502020204030204" pitchFamily="34" charset="0"/>
                <a:cs typeface="Source Sans Pro" panose="020B0604020202020204" charset="0"/>
              </a:rPr>
              <a:t>s </a:t>
            </a:r>
            <a:r>
              <a:rPr lang="es-PE" sz="1600" dirty="0" smtClean="0">
                <a:solidFill>
                  <a:srgbClr val="FFFFFF"/>
                </a:solidFill>
                <a:latin typeface="+mj-lt"/>
                <a:ea typeface="Calibri" panose="020F0502020204030204" pitchFamily="34" charset="0"/>
                <a:cs typeface="Source Sans Pro" panose="020B0604020202020204" charset="0"/>
              </a:rPr>
              <a:t>del cumplimiento </a:t>
            </a:r>
            <a:r>
              <a:rPr lang="es-PE" sz="1600" dirty="0">
                <a:solidFill>
                  <a:srgbClr val="FFFFFF"/>
                </a:solidFill>
                <a:latin typeface="+mj-lt"/>
                <a:ea typeface="Calibri" panose="020F0502020204030204" pitchFamily="34" charset="0"/>
                <a:cs typeface="Source Sans Pro" panose="020B0604020202020204" charset="0"/>
              </a:rPr>
              <a:t>de las regulaciones, </a:t>
            </a:r>
            <a:r>
              <a:rPr lang="es-PE" sz="1600" dirty="0" smtClean="0">
                <a:solidFill>
                  <a:srgbClr val="FFFFFF"/>
                </a:solidFill>
                <a:latin typeface="+mj-lt"/>
                <a:ea typeface="Calibri" panose="020F0502020204030204" pitchFamily="34" charset="0"/>
                <a:cs typeface="Source Sans Pro" panose="020B0604020202020204" charset="0"/>
              </a:rPr>
              <a:t>entre otras acciones. </a:t>
            </a:r>
            <a:endParaRPr lang="es-PE" sz="1600" dirty="0">
              <a:solidFill>
                <a:srgbClr val="FFFFFF"/>
              </a:solidFill>
              <a:latin typeface="+mj-lt"/>
              <a:ea typeface="Calibri" panose="020F0502020204030204" pitchFamily="34" charset="0"/>
              <a:cs typeface="Source Sans Pro" panose="020B0604020202020204" charset="0"/>
            </a:endParaRPr>
          </a:p>
        </p:txBody>
      </p:sp>
    </p:spTree>
    <p:custDataLst>
      <p:tags r:id="rId1"/>
    </p:custDataLst>
    <p:extLst>
      <p:ext uri="{BB962C8B-B14F-4D97-AF65-F5344CB8AC3E}">
        <p14:creationId xmlns:p14="http://schemas.microsoft.com/office/powerpoint/2010/main" val="718352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7" name="Rectángulo 10"/>
          <p:cNvSpPr/>
          <p:nvPr/>
        </p:nvSpPr>
        <p:spPr>
          <a:xfrm>
            <a:off x="2304789" y="806023"/>
            <a:ext cx="6370899" cy="1969770"/>
          </a:xfrm>
          <a:prstGeom prst="rect">
            <a:avLst/>
          </a:prstGeom>
        </p:spPr>
        <p:txBody>
          <a:bodyPr wrap="square" lIns="0" tIns="0" rIns="0" bIns="0">
            <a:spAutoFit/>
          </a:bodyPr>
          <a:lstStyle/>
          <a:p>
            <a:pPr marL="180975" indent="-180975">
              <a:buFont typeface="Arial" panose="020B0604020202020204" pitchFamily="34" charset="0"/>
              <a:buChar char="•"/>
            </a:pPr>
            <a:r>
              <a:rPr lang="es-PE" sz="1600" dirty="0">
                <a:solidFill>
                  <a:srgbClr val="FFFFFF"/>
                </a:solidFill>
                <a:latin typeface="+mj-lt"/>
                <a:ea typeface="Calibri" panose="020F0502020204030204" pitchFamily="34" charset="0"/>
                <a:cs typeface="Source Sans Pro" panose="020B0604020202020204" charset="0"/>
              </a:rPr>
              <a:t>La ISO/IEC 38500 </a:t>
            </a:r>
            <a:r>
              <a:rPr lang="es-PE" sz="1600" dirty="0">
                <a:solidFill>
                  <a:srgbClr val="FFFFFF"/>
                </a:solidFill>
                <a:latin typeface="+mj-lt"/>
              </a:rPr>
              <a:t>es un estándar de asesoramiento de alto nivel, basado en principios y un modelo; además de brindar una guía amplia sobre el rol de un órgano de gobierno, alienta a las organizaciones a usar estándares apropiados para respaldar su gobierno de TI.</a:t>
            </a:r>
          </a:p>
          <a:p>
            <a:pPr marL="180975" indent="-180975">
              <a:buFont typeface="Arial" panose="020B0604020202020204" pitchFamily="34" charset="0"/>
              <a:buChar char="•"/>
            </a:pPr>
            <a:endParaRPr lang="es-PE" sz="1600" dirty="0">
              <a:solidFill>
                <a:srgbClr val="FFFFFF"/>
              </a:solidFill>
              <a:latin typeface="+mj-lt"/>
              <a:ea typeface="Calibri" panose="020F0502020204030204" pitchFamily="34" charset="0"/>
              <a:cs typeface="Source Sans Pro" panose="020B0604020202020204" charset="0"/>
            </a:endParaRPr>
          </a:p>
          <a:p>
            <a:pPr marL="180975" indent="-180975">
              <a:buFont typeface="Arial" panose="020B0604020202020204" pitchFamily="34" charset="0"/>
              <a:buChar char="•"/>
            </a:pPr>
            <a:r>
              <a:rPr lang="es-PE" sz="1600" dirty="0">
                <a:solidFill>
                  <a:srgbClr val="FFFFFF"/>
                </a:solidFill>
                <a:latin typeface="+mj-lt"/>
              </a:rPr>
              <a:t>Actualmente existen múltiples marcos del gobierno de TI, pero dentro de los principales tenemos a COBIT 2019, Val IT, Calder Moir y Australian </a:t>
            </a:r>
            <a:r>
              <a:rPr lang="es-PE" sz="1600" dirty="0" smtClean="0">
                <a:solidFill>
                  <a:srgbClr val="FFFFFF"/>
                </a:solidFill>
                <a:latin typeface="+mj-lt"/>
              </a:rPr>
              <a:t>Standard.</a:t>
            </a:r>
            <a:endParaRPr lang="es-PE" sz="1600" dirty="0">
              <a:solidFill>
                <a:srgbClr val="FFFFFF"/>
              </a:solidFill>
              <a:latin typeface="+mj-lt"/>
              <a:ea typeface="Calibri" panose="020F0502020204030204" pitchFamily="34" charset="0"/>
              <a:cs typeface="Source Sans Pro" panose="020B0604020202020204" charset="0"/>
            </a:endParaRPr>
          </a:p>
        </p:txBody>
      </p:sp>
      <p:sp>
        <p:nvSpPr>
          <p:cNvPr id="6" name="Rectangle 5"/>
          <p:cNvSpPr/>
          <p:nvPr/>
        </p:nvSpPr>
        <p:spPr>
          <a:xfrm>
            <a:off x="511154" y="331345"/>
            <a:ext cx="1945800" cy="200055"/>
          </a:xfrm>
          <a:prstGeom prst="rect">
            <a:avLst/>
          </a:prstGeom>
        </p:spPr>
        <p:txBody>
          <a:bodyPr wrap="square" lIns="0" tIns="0" rIns="0" bIns="0">
            <a:spAutoFit/>
          </a:bodyPr>
          <a:lstStyle/>
          <a:p>
            <a:r>
              <a:rPr lang="en-US" sz="1300" dirty="0">
                <a:solidFill>
                  <a:schemeClr val="bg1"/>
                </a:solidFill>
              </a:rPr>
              <a:t>/ CONCLUSIONES</a:t>
            </a:r>
          </a:p>
        </p:txBody>
      </p:sp>
    </p:spTree>
    <p:custDataLst>
      <p:tags r:id="rId1"/>
    </p:custDataLst>
    <p:extLst>
      <p:ext uri="{BB962C8B-B14F-4D97-AF65-F5344CB8AC3E}">
        <p14:creationId xmlns:p14="http://schemas.microsoft.com/office/powerpoint/2010/main" val="1459347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25"/>
          <p:cNvSpPr txBox="1">
            <a:spLocks/>
          </p:cNvSpPr>
          <p:nvPr/>
        </p:nvSpPr>
        <p:spPr>
          <a:xfrm>
            <a:off x="515764" y="965679"/>
            <a:ext cx="7881937" cy="3519235"/>
          </a:xfrm>
          <a:prstGeom prst="rect">
            <a:avLst/>
          </a:prstGeom>
        </p:spPr>
        <p:txBody>
          <a:bodyPr lIns="0" tIns="0" rIns="0" bIns="0" anchor="t" anchorCtr="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4625" indent="-174625">
              <a:spcBef>
                <a:spcPts val="0"/>
              </a:spcBef>
              <a:buSzPct val="100000"/>
            </a:pPr>
            <a:r>
              <a:rPr lang="es" sz="1500" dirty="0">
                <a:cs typeface="Calibri"/>
                <a:hlinkClick r:id="rId3"/>
              </a:rPr>
              <a:t>https://www.ecured.cu/Arquitectura_Empresarial</a:t>
            </a:r>
            <a:endParaRPr lang="es" sz="1500" dirty="0">
              <a:cs typeface="Calibri"/>
            </a:endParaRPr>
          </a:p>
          <a:p>
            <a:pPr marL="174625" indent="-174625">
              <a:spcBef>
                <a:spcPts val="0"/>
              </a:spcBef>
              <a:buSzPct val="100000"/>
            </a:pPr>
            <a:r>
              <a:rPr lang="es" sz="1500" dirty="0">
                <a:cs typeface="Calibri"/>
                <a:hlinkClick r:id="rId4"/>
              </a:rPr>
              <a:t>https://colombiadigital.net/actualidad/articulos-informativos/item/8123-que-es-arquitectura-empresarial.html</a:t>
            </a:r>
            <a:endParaRPr lang="es" sz="1500" dirty="0">
              <a:cs typeface="Calibri"/>
            </a:endParaRPr>
          </a:p>
          <a:p>
            <a:pPr marL="174625" indent="-174625">
              <a:spcBef>
                <a:spcPts val="0"/>
              </a:spcBef>
              <a:buSzPct val="100000"/>
            </a:pPr>
            <a:r>
              <a:rPr lang="es" sz="1500" dirty="0">
                <a:cs typeface="Calibri"/>
                <a:hlinkClick r:id="rId5"/>
              </a:rPr>
              <a:t>https://thedigitalprojectmanager.com/es/grafico-raci-manera-mas-simple/</a:t>
            </a:r>
            <a:endParaRPr lang="es" sz="1500" dirty="0">
              <a:cs typeface="Calibri"/>
            </a:endParaRPr>
          </a:p>
          <a:p>
            <a:pPr marL="174625" indent="-174625">
              <a:spcBef>
                <a:spcPts val="0"/>
              </a:spcBef>
              <a:buSzPct val="100000"/>
            </a:pPr>
            <a:r>
              <a:rPr lang="es" sz="1500" dirty="0">
                <a:cs typeface="Calibri"/>
                <a:hlinkClick r:id="rId6"/>
              </a:rPr>
              <a:t>https://www.laboratorioti.com/2016/02/22/ticcionario-una-matriz-raci-usarla/</a:t>
            </a:r>
            <a:endParaRPr lang="es" sz="1500" dirty="0">
              <a:cs typeface="Calibri"/>
            </a:endParaRPr>
          </a:p>
          <a:p>
            <a:pPr marL="174625" indent="-174625">
              <a:spcBef>
                <a:spcPts val="0"/>
              </a:spcBef>
              <a:buSzPct val="100000"/>
            </a:pPr>
            <a:r>
              <a:rPr lang="es" sz="1500" dirty="0">
                <a:cs typeface="Calibri"/>
                <a:hlinkClick r:id="rId7"/>
              </a:rPr>
              <a:t>https://mentory.online/2018/02/raci-o-matriz-de-responsabilidades.html</a:t>
            </a:r>
            <a:endParaRPr lang="es" sz="1500" dirty="0">
              <a:cs typeface="Calibri"/>
            </a:endParaRPr>
          </a:p>
          <a:p>
            <a:pPr marL="174625" indent="-174625">
              <a:spcBef>
                <a:spcPts val="0"/>
              </a:spcBef>
              <a:buSzPct val="100000"/>
            </a:pPr>
            <a:r>
              <a:rPr lang="es" sz="1500" dirty="0">
                <a:cs typeface="Calibri"/>
                <a:hlinkClick r:id="rId8"/>
              </a:rPr>
              <a:t> https://blog.invgate.com/es/itam-101-introducci%C3%B3n-a-la-gesti%C3%B3n-de-activos-de-ti</a:t>
            </a:r>
            <a:endParaRPr lang="es" sz="1500" dirty="0">
              <a:cs typeface="Calibri"/>
            </a:endParaRPr>
          </a:p>
          <a:p>
            <a:pPr marL="174625" indent="-174625">
              <a:spcBef>
                <a:spcPts val="0"/>
              </a:spcBef>
              <a:buSzPct val="100000"/>
            </a:pPr>
            <a:r>
              <a:rPr lang="es" sz="1500" dirty="0">
                <a:cs typeface="Calibri"/>
                <a:hlinkClick r:id="rId9"/>
              </a:rPr>
              <a:t>https://www.dealerworld.es/archive/la-complejidad-de-las-ti-permite-a-las-empresas-ser-mas-competitivas</a:t>
            </a:r>
            <a:endParaRPr lang="es" sz="1500" dirty="0">
              <a:cs typeface="Calibri"/>
            </a:endParaRPr>
          </a:p>
          <a:p>
            <a:pPr marL="174625" indent="-174625">
              <a:spcBef>
                <a:spcPts val="0"/>
              </a:spcBef>
              <a:buSzPct val="100000"/>
            </a:pPr>
            <a:r>
              <a:rPr lang="es" sz="1500" dirty="0">
                <a:cs typeface="Calibri"/>
                <a:hlinkClick r:id="rId10"/>
              </a:rPr>
              <a:t>https://www.axxon.com.br/blog/index.php?id=edoa0sxa</a:t>
            </a:r>
            <a:endParaRPr lang="es" sz="1500" dirty="0">
              <a:cs typeface="Calibri"/>
            </a:endParaRPr>
          </a:p>
          <a:p>
            <a:pPr marL="174625" indent="-174625">
              <a:spcBef>
                <a:spcPts val="0"/>
              </a:spcBef>
              <a:buSzPct val="100000"/>
            </a:pPr>
            <a:r>
              <a:rPr lang="es-PE" sz="1500" dirty="0">
                <a:cs typeface="Calibri"/>
                <a:hlinkClick r:id="rId11"/>
              </a:rPr>
              <a:t>https://www.oracle.com/es/big-data/what-is-big-data/</a:t>
            </a:r>
            <a:r>
              <a:rPr lang="es-PE" sz="1500" dirty="0">
                <a:cs typeface="Calibri"/>
              </a:rPr>
              <a:t> </a:t>
            </a:r>
            <a:endParaRPr lang="es" sz="1500" dirty="0">
              <a:cs typeface="Calibri"/>
            </a:endParaRPr>
          </a:p>
          <a:p>
            <a:pPr marL="174625" indent="-174625">
              <a:spcBef>
                <a:spcPts val="0"/>
              </a:spcBef>
              <a:buSzPct val="100000"/>
            </a:pPr>
            <a:r>
              <a:rPr lang="es-PE" sz="1500" dirty="0">
                <a:cs typeface="Calibri"/>
                <a:hlinkClick r:id="rId12"/>
              </a:rPr>
              <a:t>https://www.redhat.com/es/topics/internet-of-things/what-is-iot</a:t>
            </a:r>
            <a:r>
              <a:rPr lang="es" sz="1500" dirty="0">
                <a:cs typeface="Calibri"/>
              </a:rPr>
              <a:t> </a:t>
            </a:r>
          </a:p>
          <a:p>
            <a:pPr marL="174625" indent="-174625">
              <a:spcBef>
                <a:spcPts val="0"/>
              </a:spcBef>
              <a:buSzPct val="100000"/>
            </a:pPr>
            <a:r>
              <a:rPr lang="es-PE" sz="1500" dirty="0">
                <a:cs typeface="Calibri"/>
                <a:hlinkClick r:id="rId13"/>
              </a:rPr>
              <a:t>https://www.sap.com/latinamerica/insights/what-is-iot-internet-of-things.html</a:t>
            </a:r>
            <a:r>
              <a:rPr lang="es" sz="1500" dirty="0">
                <a:cs typeface="Calibri"/>
              </a:rPr>
              <a:t> </a:t>
            </a:r>
          </a:p>
          <a:p>
            <a:pPr marL="174625" indent="-174625">
              <a:spcBef>
                <a:spcPts val="0"/>
              </a:spcBef>
              <a:buSzPct val="100000"/>
            </a:pPr>
            <a:r>
              <a:rPr lang="es-PE" sz="1500" dirty="0">
                <a:cs typeface="Calibri"/>
                <a:hlinkClick r:id="rId14"/>
              </a:rPr>
              <a:t>https://www.iso.org/standard/62816.html</a:t>
            </a:r>
            <a:r>
              <a:rPr lang="es-PE" sz="1500" dirty="0">
                <a:cs typeface="Calibri"/>
              </a:rPr>
              <a:t> </a:t>
            </a:r>
            <a:endParaRPr lang="es" sz="1500" dirty="0">
              <a:cs typeface="Calibri"/>
            </a:endParaRPr>
          </a:p>
        </p:txBody>
      </p:sp>
      <p:sp>
        <p:nvSpPr>
          <p:cNvPr id="4" name="Rectangle 5"/>
          <p:cNvSpPr/>
          <p:nvPr/>
        </p:nvSpPr>
        <p:spPr>
          <a:xfrm>
            <a:off x="511154" y="331345"/>
            <a:ext cx="1945800" cy="200055"/>
          </a:xfrm>
          <a:prstGeom prst="rect">
            <a:avLst/>
          </a:prstGeom>
        </p:spPr>
        <p:txBody>
          <a:bodyPr wrap="square" lIns="0" tIns="0" rIns="0" bIns="0">
            <a:spAutoFit/>
          </a:bodyPr>
          <a:lstStyle/>
          <a:p>
            <a:r>
              <a:rPr lang="en-US" sz="1300" dirty="0">
                <a:solidFill>
                  <a:srgbClr val="438AD7"/>
                </a:solidFill>
              </a:rPr>
              <a:t>/ BIBLIOGRAFÍA</a:t>
            </a:r>
          </a:p>
        </p:txBody>
      </p:sp>
    </p:spTree>
    <p:custDataLst>
      <p:tags r:id="rId1"/>
    </p:custDataLst>
    <p:extLst>
      <p:ext uri="{BB962C8B-B14F-4D97-AF65-F5344CB8AC3E}">
        <p14:creationId xmlns:p14="http://schemas.microsoft.com/office/powerpoint/2010/main" val="1216293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OFFICE THEME" val="Yge96mEv"/>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11927</TotalTime>
  <Words>1938</Words>
  <Application>Microsoft Office PowerPoint</Application>
  <PresentationFormat>Presentación en pantalla (16:10)</PresentationFormat>
  <Paragraphs>206</Paragraphs>
  <Slides>32</Slides>
  <Notes>31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32</vt:i4>
      </vt:variant>
    </vt:vector>
  </HeadingPairs>
  <TitlesOfParts>
    <vt:vector size="38" baseType="lpstr">
      <vt:lpstr>Arial</vt:lpstr>
      <vt:lpstr>Calibri</vt:lpstr>
      <vt:lpstr>Source Sans Pro</vt:lpstr>
      <vt:lpstr>Times New Roman</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ISIL</dc:creator>
  <cp:lastModifiedBy>Arturo Enrique Reátegui Herrera</cp:lastModifiedBy>
  <cp:revision>701</cp:revision>
  <cp:lastPrinted>2018-01-16T21:42:59Z</cp:lastPrinted>
  <dcterms:created xsi:type="dcterms:W3CDTF">2016-10-06T14:52:02Z</dcterms:created>
  <dcterms:modified xsi:type="dcterms:W3CDTF">2022-05-10T16:23:16Z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