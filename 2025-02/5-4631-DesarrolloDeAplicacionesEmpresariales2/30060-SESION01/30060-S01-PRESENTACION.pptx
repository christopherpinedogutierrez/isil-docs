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5715000" cx="9144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hI6v4SpV9wGQQA0q+QpH3t3vOK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24" Type="http://customschemas.google.com/relationships/presentationmetadata" Target="metadata"/><Relationship Id="rId12" Type="http://schemas.openxmlformats.org/officeDocument/2006/relationships/slide" Target="slides/slide8.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45659" cy="49805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1"/>
            <a:ext cx="2945659" cy="498056"/>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4"/>
            <a:ext cx="2945659" cy="49805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2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2" name="Google Shape;22;p2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7: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 name="Google Shape;33;p2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2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44" name="Google Shape;44;p2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2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7" name="Google Shape;57;p2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s-E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65" name="Google Shape;65;p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73" name="Google Shape;73;p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120" name="Google Shape;120;p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137" name="Google Shape;137;p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151" name="Google Shape;151;p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166" name="Google Shape;166;p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1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174" name="Google Shape;174;p1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3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3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09" name="Google Shape;209;p3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s-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17" name="Google Shape;217;p1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224" name="Google Shape;224;p1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1: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3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3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3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41" name="Google Shape;241;p3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s-E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3: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3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34: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3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5: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3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3" name="Shape 13"/>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showMasterSp="0">
  <p:cSld name="Título y objetos">
    <p:spTree>
      <p:nvGrpSpPr>
        <p:cNvPr id="14" name="Shape 14"/>
        <p:cNvGrpSpPr/>
        <p:nvPr/>
      </p:nvGrpSpPr>
      <p:grpSpPr>
        <a:xfrm>
          <a:off x="0" y="0"/>
          <a:ext cx="0" cy="0"/>
          <a:chOff x="0" y="0"/>
          <a:chExt cx="0" cy="0"/>
        </a:xfrm>
      </p:grpSpPr>
      <p:sp>
        <p:nvSpPr>
          <p:cNvPr id="15" name="Google Shape;15;p21"/>
          <p:cNvSpPr/>
          <p:nvPr/>
        </p:nvSpPr>
        <p:spPr>
          <a:xfrm>
            <a:off x="7379148" y="5371562"/>
            <a:ext cx="1369286"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s-ES" sz="600" u="none" cap="none" strike="noStrike">
                <a:solidFill>
                  <a:srgbClr val="7F7F7F"/>
                </a:solidFill>
                <a:latin typeface="Calibri"/>
                <a:ea typeface="Calibri"/>
                <a:cs typeface="Calibri"/>
                <a:sym typeface="Calibri"/>
              </a:rPr>
              <a:t>© ISIL. Todos los derechos reservados</a:t>
            </a:r>
            <a:endParaRPr/>
          </a:p>
        </p:txBody>
      </p:sp>
      <p:sp>
        <p:nvSpPr>
          <p:cNvPr id="16" name="Google Shape;16;p21"/>
          <p:cNvSpPr txBox="1"/>
          <p:nvPr/>
        </p:nvSpPr>
        <p:spPr>
          <a:xfrm>
            <a:off x="876300" y="5343295"/>
            <a:ext cx="3227165"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800" u="none" cap="none" strike="noStrike">
                <a:solidFill>
                  <a:srgbClr val="7F7F7F"/>
                </a:solidFill>
                <a:latin typeface="Calibri"/>
                <a:ea typeface="Calibri"/>
                <a:cs typeface="Calibri"/>
                <a:sym typeface="Calibri"/>
              </a:rPr>
              <a:t>GESTIÓN DE PROCESOS, SIMULACIÓN Y MEJORA CONTINUA</a:t>
            </a:r>
            <a:r>
              <a:rPr b="0" i="0" lang="es-ES" sz="800" u="none" cap="none" strike="noStrike">
                <a:solidFill>
                  <a:srgbClr val="7F7F7F"/>
                </a:solidFill>
                <a:latin typeface="Calibri"/>
                <a:ea typeface="Calibri"/>
                <a:cs typeface="Calibri"/>
                <a:sym typeface="Calibri"/>
              </a:rPr>
              <a:t>  </a:t>
            </a:r>
            <a:r>
              <a:rPr b="0" i="0" lang="es-ES" sz="800" u="none" cap="none" strike="noStrike">
                <a:solidFill>
                  <a:srgbClr val="7F7F7F"/>
                </a:solidFill>
                <a:latin typeface="Calibri"/>
                <a:ea typeface="Calibri"/>
                <a:cs typeface="Calibri"/>
                <a:sym typeface="Calibri"/>
              </a:rPr>
              <a:t>•  SESIÓN 01</a:t>
            </a:r>
            <a:endParaRPr b="0" i="0" sz="800" u="none" cap="none" strike="noStrike">
              <a:solidFill>
                <a:srgbClr val="7F7F7F"/>
              </a:solidFill>
              <a:latin typeface="Calibri"/>
              <a:ea typeface="Calibri"/>
              <a:cs typeface="Calibri"/>
              <a:sym typeface="Calibri"/>
            </a:endParaRPr>
          </a:p>
        </p:txBody>
      </p:sp>
      <p:pic>
        <p:nvPicPr>
          <p:cNvPr id="17" name="Google Shape;17;p21"/>
          <p:cNvPicPr preferRelativeResize="0"/>
          <p:nvPr/>
        </p:nvPicPr>
        <p:blipFill rotWithShape="1">
          <a:blip r:embed="rId2">
            <a:alphaModFix amt="20000"/>
          </a:blip>
          <a:srcRect b="0" l="0" r="0" t="0"/>
          <a:stretch/>
        </p:blipFill>
        <p:spPr>
          <a:xfrm>
            <a:off x="506316" y="5349405"/>
            <a:ext cx="369984" cy="20682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1 Imagen A">
  <p:cSld name="Subtema - 1 Imagen A">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p:nvPr/>
        </p:nvSpPr>
        <p:spPr>
          <a:xfrm>
            <a:off x="7379148" y="5371562"/>
            <a:ext cx="1369286"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s-ES" sz="600" u="none" cap="none" strike="noStrike">
                <a:solidFill>
                  <a:srgbClr val="7F7F7F"/>
                </a:solidFill>
                <a:latin typeface="Calibri"/>
                <a:ea typeface="Calibri"/>
                <a:cs typeface="Calibri"/>
                <a:sym typeface="Calibri"/>
              </a:rPr>
              <a:t>© ISIL. Todos los derechos reservados</a:t>
            </a:r>
            <a:endParaRPr/>
          </a:p>
        </p:txBody>
      </p:sp>
      <p:sp>
        <p:nvSpPr>
          <p:cNvPr id="11" name="Google Shape;11;p16"/>
          <p:cNvSpPr txBox="1"/>
          <p:nvPr/>
        </p:nvSpPr>
        <p:spPr>
          <a:xfrm>
            <a:off x="876300" y="5343295"/>
            <a:ext cx="2762295"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s-ES" sz="800" u="none" cap="none" strike="noStrike">
                <a:solidFill>
                  <a:srgbClr val="7F7F7F"/>
                </a:solidFill>
                <a:latin typeface="Calibri"/>
                <a:ea typeface="Calibri"/>
                <a:cs typeface="Calibri"/>
                <a:sym typeface="Calibri"/>
              </a:rPr>
              <a:t>DESARROLLO DE APLICACIONES EMPRESARIALES II  •  TEMA 01</a:t>
            </a:r>
            <a:endParaRPr b="0" i="0" sz="800" u="none" cap="none" strike="noStrike">
              <a:solidFill>
                <a:srgbClr val="7F7F7F"/>
              </a:solidFill>
              <a:latin typeface="Calibri"/>
              <a:ea typeface="Calibri"/>
              <a:cs typeface="Calibri"/>
              <a:sym typeface="Calibri"/>
            </a:endParaRPr>
          </a:p>
        </p:txBody>
      </p:sp>
      <p:pic>
        <p:nvPicPr>
          <p:cNvPr id="12" name="Google Shape;12;p16"/>
          <p:cNvPicPr preferRelativeResize="0"/>
          <p:nvPr/>
        </p:nvPicPr>
        <p:blipFill rotWithShape="1">
          <a:blip r:embed="rId1">
            <a:alphaModFix amt="20000"/>
          </a:blip>
          <a:srcRect b="0" l="0" r="0" t="0"/>
          <a:stretch/>
        </p:blipFill>
        <p:spPr>
          <a:xfrm>
            <a:off x="506316" y="5349405"/>
            <a:ext cx="369984" cy="20682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1800">
          <p15:clr>
            <a:srgbClr val="F26B43"/>
          </p15:clr>
        </p15:guide>
        <p15:guide id="3" pos="2767">
          <p15:clr>
            <a:srgbClr val="F26B43"/>
          </p15:clr>
        </p15:guide>
        <p15:guide id="4" pos="2993">
          <p15:clr>
            <a:srgbClr val="F26B43"/>
          </p15:clr>
        </p15:guide>
        <p15:guide id="5" pos="317">
          <p15:clr>
            <a:srgbClr val="F26B43"/>
          </p15:clr>
        </p15:guide>
        <p15:guide id="6" pos="5465">
          <p15:clr>
            <a:srgbClr val="F26B43"/>
          </p15:clr>
        </p15:guide>
        <p15:guide id="7" orient="horz" pos="3297">
          <p15:clr>
            <a:srgbClr val="F26B43"/>
          </p15:clr>
        </p15:guide>
        <p15:guide id="8" orient="horz" pos="575">
          <p15:clr>
            <a:srgbClr val="F26B43"/>
          </p15:clr>
        </p15:guide>
        <p15:guide id="9" orient="horz" pos="303">
          <p15:clr>
            <a:srgbClr val="F26B43"/>
          </p15:clr>
        </p15:guide>
        <p15:guide id="10" pos="2313">
          <p15:clr>
            <a:srgbClr val="F26B43"/>
          </p15:clr>
        </p15:guide>
        <p15:guide id="11" pos="256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6.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26"/>
          <p:cNvSpPr/>
          <p:nvPr/>
        </p:nvSpPr>
        <p:spPr>
          <a:xfrm>
            <a:off x="182879" y="5120640"/>
            <a:ext cx="4304965" cy="46201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5" name="Google Shape;25;p26"/>
          <p:cNvSpPr txBox="1"/>
          <p:nvPr/>
        </p:nvSpPr>
        <p:spPr>
          <a:xfrm>
            <a:off x="503238" y="808689"/>
            <a:ext cx="3104743" cy="1384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900" u="none" cap="none" strike="noStrike">
                <a:solidFill>
                  <a:srgbClr val="7F7F7F"/>
                </a:solidFill>
                <a:latin typeface="Calibri"/>
                <a:ea typeface="Calibri"/>
                <a:cs typeface="Calibri"/>
                <a:sym typeface="Calibri"/>
              </a:rPr>
              <a:t>DESARROLLO DE APLICACIONES EMPRESARIALES II </a:t>
            </a:r>
            <a:endParaRPr/>
          </a:p>
        </p:txBody>
      </p:sp>
      <p:sp>
        <p:nvSpPr>
          <p:cNvPr id="26" name="Google Shape;26;p26"/>
          <p:cNvSpPr/>
          <p:nvPr/>
        </p:nvSpPr>
        <p:spPr>
          <a:xfrm>
            <a:off x="503239" y="2177570"/>
            <a:ext cx="3213718" cy="88639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s-ES" sz="3200" u="none" cap="none" strike="noStrike">
                <a:solidFill>
                  <a:srgbClr val="000000"/>
                </a:solidFill>
                <a:latin typeface="Arial"/>
                <a:ea typeface="Arial"/>
                <a:cs typeface="Arial"/>
                <a:sym typeface="Arial"/>
              </a:rPr>
              <a:t>PLATAFORMA </a:t>
            </a:r>
            <a:endParaRPr/>
          </a:p>
          <a:p>
            <a:pPr indent="0" lvl="0" marL="0" marR="0" rtl="0" algn="l">
              <a:lnSpc>
                <a:spcPct val="90000"/>
              </a:lnSpc>
              <a:spcBef>
                <a:spcPts val="0"/>
              </a:spcBef>
              <a:spcAft>
                <a:spcPts val="0"/>
              </a:spcAft>
              <a:buNone/>
            </a:pPr>
            <a:r>
              <a:rPr b="1" i="0" lang="es-ES" sz="3200" u="none" cap="none" strike="noStrike">
                <a:solidFill>
                  <a:srgbClr val="000000"/>
                </a:solidFill>
                <a:latin typeface="Arial"/>
                <a:ea typeface="Arial"/>
                <a:cs typeface="Arial"/>
                <a:sym typeface="Arial"/>
              </a:rPr>
              <a:t>JAVA EE</a:t>
            </a:r>
            <a:endParaRPr/>
          </a:p>
        </p:txBody>
      </p:sp>
      <p:sp>
        <p:nvSpPr>
          <p:cNvPr id="27" name="Google Shape;27;p26"/>
          <p:cNvSpPr/>
          <p:nvPr/>
        </p:nvSpPr>
        <p:spPr>
          <a:xfrm>
            <a:off x="503238" y="3219842"/>
            <a:ext cx="2845526" cy="420884"/>
          </a:xfrm>
          <a:prstGeom prst="rect">
            <a:avLst/>
          </a:prstGeom>
          <a:noFill/>
          <a:ln>
            <a:noFill/>
          </a:ln>
        </p:spPr>
        <p:txBody>
          <a:bodyPr anchorCtr="0" anchor="t" bIns="0" lIns="0" spcFirstLastPara="1" rIns="0" wrap="square" tIns="0">
            <a:spAutoFit/>
          </a:bodyPr>
          <a:lstStyle/>
          <a:p>
            <a:pPr indent="-177800" lvl="0" marL="177800" marR="0" rtl="0" algn="l">
              <a:lnSpc>
                <a:spcPct val="120000"/>
              </a:lnSpc>
              <a:spcBef>
                <a:spcPts val="0"/>
              </a:spcBef>
              <a:spcAft>
                <a:spcPts val="0"/>
              </a:spcAft>
              <a:buClr>
                <a:srgbClr val="0B6AB0"/>
              </a:buClr>
              <a:buSzPts val="1200"/>
              <a:buFont typeface="Arial"/>
              <a:buChar char="•"/>
            </a:pPr>
            <a:r>
              <a:rPr b="0" i="0" lang="es-ES" sz="1200" u="none" cap="none" strike="noStrike">
                <a:solidFill>
                  <a:srgbClr val="000000"/>
                </a:solidFill>
                <a:latin typeface="Arial"/>
                <a:ea typeface="Arial"/>
                <a:cs typeface="Arial"/>
                <a:sym typeface="Arial"/>
              </a:rPr>
              <a:t>Gestión de Servidor</a:t>
            </a:r>
            <a:endParaRPr/>
          </a:p>
          <a:p>
            <a:pPr indent="-177800" lvl="0" marL="177800" marR="0" rtl="0" algn="l">
              <a:lnSpc>
                <a:spcPct val="120000"/>
              </a:lnSpc>
              <a:spcBef>
                <a:spcPts val="0"/>
              </a:spcBef>
              <a:spcAft>
                <a:spcPts val="0"/>
              </a:spcAft>
              <a:buClr>
                <a:srgbClr val="0B6AB0"/>
              </a:buClr>
              <a:buSzPts val="1200"/>
              <a:buFont typeface="Arial"/>
              <a:buChar char="•"/>
            </a:pPr>
            <a:r>
              <a:rPr b="0" i="0" lang="es-ES" sz="1200" u="none" cap="none" strike="noStrike">
                <a:solidFill>
                  <a:srgbClr val="000000"/>
                </a:solidFill>
                <a:latin typeface="Arial"/>
                <a:ea typeface="Arial"/>
                <a:cs typeface="Arial"/>
                <a:sym typeface="Arial"/>
              </a:rPr>
              <a:t>Aplicaciones Java EE</a:t>
            </a:r>
            <a:endParaRPr/>
          </a:p>
        </p:txBody>
      </p:sp>
      <p:sp>
        <p:nvSpPr>
          <p:cNvPr id="28" name="Google Shape;28;p26"/>
          <p:cNvSpPr txBox="1"/>
          <p:nvPr/>
        </p:nvSpPr>
        <p:spPr>
          <a:xfrm>
            <a:off x="743902" y="1819386"/>
            <a:ext cx="1457648"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2000" u="none" cap="none" strike="noStrike">
                <a:solidFill>
                  <a:srgbClr val="0B6AB0"/>
                </a:solidFill>
                <a:latin typeface="Calibri"/>
                <a:ea typeface="Calibri"/>
                <a:cs typeface="Calibri"/>
                <a:sym typeface="Calibri"/>
              </a:rPr>
              <a:t>TEMA 01</a:t>
            </a:r>
            <a:endParaRPr/>
          </a:p>
        </p:txBody>
      </p:sp>
      <p:pic>
        <p:nvPicPr>
          <p:cNvPr id="29" name="Google Shape;29;p26"/>
          <p:cNvPicPr preferRelativeResize="0"/>
          <p:nvPr/>
        </p:nvPicPr>
        <p:blipFill rotWithShape="1">
          <a:blip r:embed="rId3">
            <a:alphaModFix/>
          </a:blip>
          <a:srcRect b="0" l="0" r="0" t="0"/>
          <a:stretch/>
        </p:blipFill>
        <p:spPr>
          <a:xfrm>
            <a:off x="507464" y="1883411"/>
            <a:ext cx="166865" cy="170453"/>
          </a:xfrm>
          <a:prstGeom prst="rect">
            <a:avLst/>
          </a:prstGeom>
          <a:noFill/>
          <a:ln>
            <a:noFill/>
          </a:ln>
        </p:spPr>
      </p:pic>
      <p:pic>
        <p:nvPicPr>
          <p:cNvPr id="30" name="Google Shape;30;p26"/>
          <p:cNvPicPr preferRelativeResize="0"/>
          <p:nvPr/>
        </p:nvPicPr>
        <p:blipFill rotWithShape="1">
          <a:blip r:embed="rId4">
            <a:alphaModFix/>
          </a:blip>
          <a:srcRect b="0" l="0" r="0" t="0"/>
          <a:stretch/>
        </p:blipFill>
        <p:spPr>
          <a:xfrm>
            <a:off x="3752850" y="0"/>
            <a:ext cx="5391150" cy="5715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27"/>
          <p:cNvSpPr/>
          <p:nvPr/>
        </p:nvSpPr>
        <p:spPr>
          <a:xfrm>
            <a:off x="0" y="1"/>
            <a:ext cx="9144000" cy="5715000"/>
          </a:xfrm>
          <a:prstGeom prst="rect">
            <a:avLst/>
          </a:prstGeom>
          <a:solidFill>
            <a:srgbClr val="ED434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36" name="Google Shape;36;p27"/>
          <p:cNvPicPr preferRelativeResize="0"/>
          <p:nvPr/>
        </p:nvPicPr>
        <p:blipFill rotWithShape="1">
          <a:blip r:embed="rId3">
            <a:alphaModFix/>
          </a:blip>
          <a:srcRect b="0" l="0" r="0" t="0"/>
          <a:stretch/>
        </p:blipFill>
        <p:spPr>
          <a:xfrm>
            <a:off x="1" y="946969"/>
            <a:ext cx="2072213" cy="3898064"/>
          </a:xfrm>
          <a:prstGeom prst="rect">
            <a:avLst/>
          </a:prstGeom>
          <a:noFill/>
          <a:ln>
            <a:noFill/>
          </a:ln>
        </p:spPr>
      </p:pic>
      <p:sp>
        <p:nvSpPr>
          <p:cNvPr id="37" name="Google Shape;37;p27"/>
          <p:cNvSpPr/>
          <p:nvPr/>
        </p:nvSpPr>
        <p:spPr>
          <a:xfrm>
            <a:off x="149817" y="3724759"/>
            <a:ext cx="1037633" cy="1069383"/>
          </a:xfrm>
          <a:prstGeom prst="rect">
            <a:avLst/>
          </a:prstGeom>
          <a:solidFill>
            <a:srgbClr val="ED434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8" name="Google Shape;38;p27"/>
          <p:cNvSpPr txBox="1"/>
          <p:nvPr/>
        </p:nvSpPr>
        <p:spPr>
          <a:xfrm>
            <a:off x="2519363" y="2540738"/>
            <a:ext cx="4581728" cy="81253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0" i="0" lang="es-ES" sz="3300" u="none" cap="none" strike="noStrike">
                <a:solidFill>
                  <a:schemeClr val="lt1"/>
                </a:solidFill>
                <a:latin typeface="Arial"/>
                <a:ea typeface="Arial"/>
                <a:cs typeface="Arial"/>
                <a:sym typeface="Arial"/>
              </a:rPr>
              <a:t>INTRODUCCIÓN</a:t>
            </a:r>
            <a:endParaRPr/>
          </a:p>
          <a:p>
            <a:pPr indent="0" lvl="0" marL="0" marR="0" rtl="0" algn="l">
              <a:lnSpc>
                <a:spcPct val="80000"/>
              </a:lnSpc>
              <a:spcBef>
                <a:spcPts val="0"/>
              </a:spcBef>
              <a:spcAft>
                <a:spcPts val="0"/>
              </a:spcAft>
              <a:buNone/>
            </a:pPr>
            <a:r>
              <a:rPr b="1" i="0" lang="es-ES" sz="3300" u="none" cap="none" strike="noStrike">
                <a:solidFill>
                  <a:schemeClr val="lt1"/>
                </a:solidFill>
                <a:latin typeface="Arial"/>
                <a:ea typeface="Arial"/>
                <a:cs typeface="Arial"/>
                <a:sym typeface="Arial"/>
              </a:rPr>
              <a:t>DE LA SESIÓN</a:t>
            </a:r>
            <a:endParaRPr/>
          </a:p>
        </p:txBody>
      </p:sp>
      <p:pic>
        <p:nvPicPr>
          <p:cNvPr id="39" name="Google Shape;39;p27"/>
          <p:cNvPicPr preferRelativeResize="0"/>
          <p:nvPr/>
        </p:nvPicPr>
        <p:blipFill rotWithShape="1">
          <a:blip r:embed="rId4">
            <a:alphaModFix amt="16000"/>
          </a:blip>
          <a:srcRect b="0" l="0" r="0" t="0"/>
          <a:stretch/>
        </p:blipFill>
        <p:spPr>
          <a:xfrm>
            <a:off x="334433" y="3817749"/>
            <a:ext cx="809264" cy="809264"/>
          </a:xfrm>
          <a:prstGeom prst="rect">
            <a:avLst/>
          </a:prstGeom>
          <a:noFill/>
          <a:ln>
            <a:noFill/>
          </a:ln>
        </p:spPr>
      </p:pic>
      <p:pic>
        <p:nvPicPr>
          <p:cNvPr id="40" name="Google Shape;40;p27"/>
          <p:cNvPicPr preferRelativeResize="0"/>
          <p:nvPr/>
        </p:nvPicPr>
        <p:blipFill rotWithShape="1">
          <a:blip r:embed="rId5">
            <a:alphaModFix/>
          </a:blip>
          <a:srcRect b="0" l="0" r="0" t="0"/>
          <a:stretch/>
        </p:blipFill>
        <p:spPr>
          <a:xfrm>
            <a:off x="2528619" y="2194222"/>
            <a:ext cx="202176" cy="20821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28"/>
          <p:cNvSpPr/>
          <p:nvPr/>
        </p:nvSpPr>
        <p:spPr>
          <a:xfrm>
            <a:off x="6918960" y="5364480"/>
            <a:ext cx="2133600" cy="2244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7" name="Google Shape;47;p28"/>
          <p:cNvSpPr txBox="1"/>
          <p:nvPr/>
        </p:nvSpPr>
        <p:spPr>
          <a:xfrm>
            <a:off x="1282298" y="918372"/>
            <a:ext cx="5521727" cy="172354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Calibri"/>
                <a:ea typeface="Calibri"/>
                <a:cs typeface="Calibri"/>
                <a:sym typeface="Calibri"/>
              </a:rPr>
              <a:t>Han surgido diversas herramientas en el ámbito del desarrollo de aplicaciones web que hacen más fácil la tarea del programador. Una de estas herramientas es la plataforma Java EE.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400" u="none" cap="none" strike="noStrike">
                <a:solidFill>
                  <a:srgbClr val="000000"/>
                </a:solidFill>
                <a:latin typeface="Calibri"/>
                <a:ea typeface="Calibri"/>
                <a:cs typeface="Calibri"/>
                <a:sym typeface="Calibri"/>
              </a:rPr>
              <a:t>Entonces, durante esta sesión aprenderá:</a:t>
            </a:r>
            <a:endParaRPr/>
          </a:p>
          <a:p>
            <a:pPr indent="0" lvl="0" marL="0" marR="0" rtl="0" algn="l">
              <a:lnSpc>
                <a:spcPct val="100000"/>
              </a:lnSpc>
              <a:spcBef>
                <a:spcPts val="0"/>
              </a:spcBef>
              <a:spcAft>
                <a:spcPts val="0"/>
              </a:spcAft>
              <a:buNone/>
            </a:pPr>
            <a:r>
              <a:t/>
            </a:r>
            <a:endParaRPr b="0" i="0" sz="1400" u="none" cap="none" strike="noStrike">
              <a:solidFill>
                <a:srgbClr val="262626"/>
              </a:solidFill>
              <a:latin typeface="Calibri"/>
              <a:ea typeface="Calibri"/>
              <a:cs typeface="Calibri"/>
              <a:sym typeface="Calibri"/>
            </a:endParaRPr>
          </a:p>
          <a:p>
            <a:pPr indent="-165100" lvl="0" marL="177800" marR="0" rtl="0" algn="l">
              <a:lnSpc>
                <a:spcPct val="100000"/>
              </a:lnSpc>
              <a:spcBef>
                <a:spcPts val="0"/>
              </a:spcBef>
              <a:spcAft>
                <a:spcPts val="0"/>
              </a:spcAft>
              <a:buClr>
                <a:srgbClr val="EE4639"/>
              </a:buClr>
              <a:buSzPts val="1400"/>
              <a:buFont typeface="Arial"/>
              <a:buChar char="•"/>
            </a:pPr>
            <a:r>
              <a:rPr b="0" i="0" lang="es-ES" sz="1400" u="none" cap="none" strike="noStrike">
                <a:solidFill>
                  <a:srgbClr val="262626"/>
                </a:solidFill>
                <a:latin typeface="Calibri"/>
                <a:ea typeface="Calibri"/>
                <a:cs typeface="Calibri"/>
                <a:sym typeface="Calibri"/>
              </a:rPr>
              <a:t>Cómo se realiza </a:t>
            </a:r>
            <a:r>
              <a:rPr b="1" i="0" lang="es-ES" sz="1400" u="none" cap="none" strike="noStrike">
                <a:solidFill>
                  <a:srgbClr val="262626"/>
                </a:solidFill>
                <a:latin typeface="Calibri"/>
                <a:ea typeface="Calibri"/>
                <a:cs typeface="Calibri"/>
                <a:sym typeface="Calibri"/>
              </a:rPr>
              <a:t>la gestión del servidor dentro de la plataforma Java EE</a:t>
            </a:r>
            <a:endParaRPr/>
          </a:p>
          <a:p>
            <a:pPr indent="-165100" lvl="0" marL="177800" marR="0" rtl="0" algn="l">
              <a:lnSpc>
                <a:spcPct val="100000"/>
              </a:lnSpc>
              <a:spcBef>
                <a:spcPts val="0"/>
              </a:spcBef>
              <a:spcAft>
                <a:spcPts val="0"/>
              </a:spcAft>
              <a:buClr>
                <a:srgbClr val="EE4639"/>
              </a:buClr>
              <a:buSzPts val="1400"/>
              <a:buFont typeface="Arial"/>
              <a:buChar char="•"/>
            </a:pPr>
            <a:r>
              <a:rPr b="1" i="0" lang="es-ES" sz="1400" u="none" cap="none" strike="noStrike">
                <a:solidFill>
                  <a:srgbClr val="262626"/>
                </a:solidFill>
                <a:latin typeface="Calibri"/>
                <a:ea typeface="Calibri"/>
                <a:cs typeface="Calibri"/>
                <a:sym typeface="Calibri"/>
              </a:rPr>
              <a:t>Cómo se manejan los componentes de una Aplicación Java EE.</a:t>
            </a:r>
            <a:endParaRPr/>
          </a:p>
        </p:txBody>
      </p:sp>
      <p:pic>
        <p:nvPicPr>
          <p:cNvPr id="48" name="Google Shape;48;p28"/>
          <p:cNvPicPr preferRelativeResize="0"/>
          <p:nvPr/>
        </p:nvPicPr>
        <p:blipFill rotWithShape="1">
          <a:blip r:embed="rId3">
            <a:alphaModFix/>
          </a:blip>
          <a:srcRect b="0" l="0" r="0" t="0"/>
          <a:stretch/>
        </p:blipFill>
        <p:spPr>
          <a:xfrm>
            <a:off x="1010839" y="954885"/>
            <a:ext cx="117851" cy="121369"/>
          </a:xfrm>
          <a:prstGeom prst="rect">
            <a:avLst/>
          </a:prstGeom>
          <a:noFill/>
          <a:ln>
            <a:noFill/>
          </a:ln>
        </p:spPr>
      </p:pic>
      <p:sp>
        <p:nvSpPr>
          <p:cNvPr id="49" name="Google Shape;49;p28"/>
          <p:cNvSpPr/>
          <p:nvPr/>
        </p:nvSpPr>
        <p:spPr>
          <a:xfrm>
            <a:off x="8133347" y="163629"/>
            <a:ext cx="808522" cy="754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50" name="Google Shape;50;p28"/>
          <p:cNvPicPr preferRelativeResize="0"/>
          <p:nvPr/>
        </p:nvPicPr>
        <p:blipFill rotWithShape="1">
          <a:blip r:embed="rId4">
            <a:alphaModFix amt="42000"/>
          </a:blip>
          <a:srcRect b="0" l="0" r="0" t="0"/>
          <a:stretch/>
        </p:blipFill>
        <p:spPr>
          <a:xfrm>
            <a:off x="6986661" y="3052731"/>
            <a:ext cx="1689027" cy="2181257"/>
          </a:xfrm>
          <a:prstGeom prst="rect">
            <a:avLst/>
          </a:prstGeom>
          <a:noFill/>
          <a:ln>
            <a:noFill/>
          </a:ln>
        </p:spPr>
      </p:pic>
      <p:pic>
        <p:nvPicPr>
          <p:cNvPr id="51" name="Google Shape;51;p28"/>
          <p:cNvPicPr preferRelativeResize="0"/>
          <p:nvPr/>
        </p:nvPicPr>
        <p:blipFill rotWithShape="1">
          <a:blip r:embed="rId3">
            <a:alphaModFix/>
          </a:blip>
          <a:srcRect b="0" l="0" r="0" t="0"/>
          <a:stretch/>
        </p:blipFill>
        <p:spPr>
          <a:xfrm>
            <a:off x="1010839" y="1813679"/>
            <a:ext cx="117851" cy="121369"/>
          </a:xfrm>
          <a:prstGeom prst="rect">
            <a:avLst/>
          </a:prstGeom>
          <a:noFill/>
          <a:ln>
            <a:noFill/>
          </a:ln>
        </p:spPr>
      </p:pic>
      <p:sp>
        <p:nvSpPr>
          <p:cNvPr id="52" name="Google Shape;52;p28"/>
          <p:cNvSpPr/>
          <p:nvPr/>
        </p:nvSpPr>
        <p:spPr>
          <a:xfrm>
            <a:off x="301556" y="5321030"/>
            <a:ext cx="8453337" cy="29183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3" name="Google Shape;53;p28"/>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INTRODUCCIÓN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29"/>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0" name="Google Shape;60;p29"/>
          <p:cNvSpPr txBox="1"/>
          <p:nvPr/>
        </p:nvSpPr>
        <p:spPr>
          <a:xfrm>
            <a:off x="1008063" y="3169972"/>
            <a:ext cx="3296959" cy="77559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s-ES" sz="2800" u="none" cap="none" strike="noStrike">
                <a:solidFill>
                  <a:schemeClr val="lt1"/>
                </a:solidFill>
                <a:latin typeface="Arial"/>
                <a:ea typeface="Arial"/>
                <a:cs typeface="Arial"/>
                <a:sym typeface="Arial"/>
              </a:rPr>
              <a:t>GESTIÓN DEL </a:t>
            </a:r>
            <a:r>
              <a:rPr b="1" i="0" lang="es-ES" sz="2800" u="none" cap="none" strike="noStrike">
                <a:solidFill>
                  <a:schemeClr val="lt1"/>
                </a:solidFill>
                <a:latin typeface="Arial"/>
                <a:ea typeface="Arial"/>
                <a:cs typeface="Arial"/>
                <a:sym typeface="Arial"/>
              </a:rPr>
              <a:t>SERVIDOR</a:t>
            </a:r>
            <a:endParaRPr b="1" i="0" sz="1600" u="none" cap="none" strike="noStrike">
              <a:solidFill>
                <a:schemeClr val="lt1"/>
              </a:solidFill>
              <a:latin typeface="Arial"/>
              <a:ea typeface="Arial"/>
              <a:cs typeface="Arial"/>
              <a:sym typeface="Arial"/>
            </a:endParaRPr>
          </a:p>
        </p:txBody>
      </p:sp>
      <p:pic>
        <p:nvPicPr>
          <p:cNvPr id="61" name="Google Shape;61;p29"/>
          <p:cNvPicPr preferRelativeResize="0"/>
          <p:nvPr/>
        </p:nvPicPr>
        <p:blipFill rotWithShape="1">
          <a:blip r:embed="rId3">
            <a:alphaModFix/>
          </a:blip>
          <a:srcRect b="0" l="0" r="0" t="0"/>
          <a:stretch/>
        </p:blipFill>
        <p:spPr>
          <a:xfrm>
            <a:off x="1008063" y="2869612"/>
            <a:ext cx="195423" cy="20125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4"/>
          <p:cNvSpPr txBox="1"/>
          <p:nvPr/>
        </p:nvSpPr>
        <p:spPr>
          <a:xfrm>
            <a:off x="504814" y="919487"/>
            <a:ext cx="8170874" cy="15542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1600" u="none" cap="none" strike="noStrike">
                <a:solidFill>
                  <a:schemeClr val="dk1"/>
                </a:solidFill>
                <a:latin typeface="Calibri"/>
                <a:ea typeface="Calibri"/>
                <a:cs typeface="Calibri"/>
                <a:sym typeface="Calibri"/>
              </a:rPr>
              <a:t>PLATAFORMA JAVA EE</a:t>
            </a:r>
            <a:endParaRPr b="1" i="0" sz="16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None/>
            </a:pPr>
            <a:r>
              <a:rPr b="0" i="0" lang="es-ES" sz="1600" u="none" cap="none" strike="noStrike">
                <a:solidFill>
                  <a:schemeClr val="dk1"/>
                </a:solidFill>
                <a:latin typeface="Calibri"/>
                <a:ea typeface="Calibri"/>
                <a:cs typeface="Calibri"/>
                <a:sym typeface="Calibri"/>
              </a:rPr>
              <a:t>Java EE (Enterprise Edition) es una plataforma de programación que proporciona, para el desarrollo de aplicaciones empresariales basadas en Java, lo siguiente:</a:t>
            </a:r>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Calibri"/>
              <a:ea typeface="Calibri"/>
              <a:cs typeface="Calibri"/>
              <a:sym typeface="Calibri"/>
            </a:endParaRPr>
          </a:p>
          <a:p>
            <a:pPr indent="-179388" lvl="0" marL="179388" marR="0" rtl="0" algn="l">
              <a:lnSpc>
                <a:spcPct val="100000"/>
              </a:lnSpc>
              <a:spcBef>
                <a:spcPts val="0"/>
              </a:spcBef>
              <a:spcAft>
                <a:spcPts val="0"/>
              </a:spcAft>
              <a:buClr>
                <a:srgbClr val="374151"/>
              </a:buClr>
              <a:buSzPts val="1600"/>
              <a:buFont typeface="Arial"/>
              <a:buChar char="•"/>
            </a:pPr>
            <a:r>
              <a:rPr b="0" i="0" lang="es-ES" sz="1600" u="none" cap="none" strike="noStrike">
                <a:solidFill>
                  <a:schemeClr val="dk1"/>
                </a:solidFill>
                <a:latin typeface="Calibri"/>
                <a:ea typeface="Calibri"/>
                <a:cs typeface="Calibri"/>
                <a:sym typeface="Calibri"/>
              </a:rPr>
              <a:t>Un conjunto de especificaciones.</a:t>
            </a:r>
            <a:endParaRPr b="0" i="0" sz="1600" u="none" cap="none" strike="noStrike">
              <a:solidFill>
                <a:schemeClr val="dk1"/>
              </a:solidFill>
              <a:latin typeface="Calibri"/>
              <a:ea typeface="Calibri"/>
              <a:cs typeface="Calibri"/>
              <a:sym typeface="Calibri"/>
            </a:endParaRPr>
          </a:p>
          <a:p>
            <a:pPr indent="-179388" lvl="0" marL="179388" marR="0" rtl="0" algn="l">
              <a:lnSpc>
                <a:spcPct val="100000"/>
              </a:lnSpc>
              <a:spcBef>
                <a:spcPts val="0"/>
              </a:spcBef>
              <a:spcAft>
                <a:spcPts val="0"/>
              </a:spcAft>
              <a:buClr>
                <a:srgbClr val="374151"/>
              </a:buClr>
              <a:buSzPts val="1600"/>
              <a:buFont typeface="Arial"/>
              <a:buChar char="•"/>
            </a:pPr>
            <a:r>
              <a:rPr b="0" i="0" lang="es-ES" sz="1600" u="none" cap="none" strike="noStrike">
                <a:solidFill>
                  <a:schemeClr val="dk1"/>
                </a:solidFill>
                <a:latin typeface="Calibri"/>
                <a:ea typeface="Calibri"/>
                <a:cs typeface="Calibri"/>
                <a:sym typeface="Calibri"/>
              </a:rPr>
              <a:t>API (Application Programming Interfaces).</a:t>
            </a:r>
            <a:endParaRPr b="0" i="0" sz="1600" u="none" cap="none" strike="noStrike">
              <a:solidFill>
                <a:schemeClr val="dk1"/>
              </a:solidFill>
              <a:latin typeface="Calibri"/>
              <a:ea typeface="Calibri"/>
              <a:cs typeface="Calibri"/>
              <a:sym typeface="Calibri"/>
            </a:endParaRPr>
          </a:p>
        </p:txBody>
      </p:sp>
      <p:pic>
        <p:nvPicPr>
          <p:cNvPr id="68" name="Google Shape;68;p4"/>
          <p:cNvPicPr preferRelativeResize="0"/>
          <p:nvPr/>
        </p:nvPicPr>
        <p:blipFill rotWithShape="1">
          <a:blip r:embed="rId3">
            <a:alphaModFix/>
          </a:blip>
          <a:srcRect b="8123" l="0" r="8333" t="4714"/>
          <a:stretch/>
        </p:blipFill>
        <p:spPr>
          <a:xfrm>
            <a:off x="2742788" y="2729850"/>
            <a:ext cx="3658423" cy="2376105"/>
          </a:xfrm>
          <a:prstGeom prst="rect">
            <a:avLst/>
          </a:prstGeom>
          <a:noFill/>
          <a:ln>
            <a:noFill/>
          </a:ln>
        </p:spPr>
      </p:pic>
      <p:sp>
        <p:nvSpPr>
          <p:cNvPr id="69" name="Google Shape;69;p4"/>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GESTIÓN DEL SERVIDOR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5"/>
          <p:cNvSpPr txBox="1"/>
          <p:nvPr/>
        </p:nvSpPr>
        <p:spPr>
          <a:xfrm>
            <a:off x="504814" y="919487"/>
            <a:ext cx="6843758"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ES" sz="1600" u="none" cap="none" strike="noStrike">
                <a:solidFill>
                  <a:schemeClr val="dk1"/>
                </a:solidFill>
                <a:latin typeface="Calibri"/>
                <a:ea typeface="Calibri"/>
                <a:cs typeface="Calibri"/>
                <a:sym typeface="Calibri"/>
              </a:rPr>
              <a:t>La arquitectura Java EE se basa en un modelo de tres niveles:</a:t>
            </a:r>
            <a:endParaRPr b="0" i="0" sz="1600" u="none" cap="none" strike="noStrike">
              <a:solidFill>
                <a:schemeClr val="dk1"/>
              </a:solidFill>
              <a:latin typeface="Calibri"/>
              <a:ea typeface="Calibri"/>
              <a:cs typeface="Calibri"/>
              <a:sym typeface="Calibri"/>
            </a:endParaRPr>
          </a:p>
        </p:txBody>
      </p:sp>
      <p:pic>
        <p:nvPicPr>
          <p:cNvPr id="76" name="Google Shape;76;p5"/>
          <p:cNvPicPr preferRelativeResize="0"/>
          <p:nvPr/>
        </p:nvPicPr>
        <p:blipFill rotWithShape="1">
          <a:blip r:embed="rId3">
            <a:alphaModFix/>
          </a:blip>
          <a:srcRect b="0" l="0" r="0" t="0"/>
          <a:stretch/>
        </p:blipFill>
        <p:spPr>
          <a:xfrm>
            <a:off x="4489646" y="1359099"/>
            <a:ext cx="4186042" cy="3690551"/>
          </a:xfrm>
          <a:prstGeom prst="rect">
            <a:avLst/>
          </a:prstGeom>
          <a:noFill/>
          <a:ln>
            <a:noFill/>
          </a:ln>
        </p:spPr>
      </p:pic>
      <p:sp>
        <p:nvSpPr>
          <p:cNvPr id="77" name="Google Shape;77;p5"/>
          <p:cNvSpPr txBox="1"/>
          <p:nvPr/>
        </p:nvSpPr>
        <p:spPr>
          <a:xfrm>
            <a:off x="5242878" y="5018544"/>
            <a:ext cx="2629951" cy="21544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Niveles de la Arquitectura Java EE</a:t>
            </a:r>
            <a:endParaRPr b="0" i="0" sz="1400" u="none" cap="none" strike="noStrike">
              <a:solidFill>
                <a:schemeClr val="dk1"/>
              </a:solidFill>
              <a:latin typeface="Calibri"/>
              <a:ea typeface="Calibri"/>
              <a:cs typeface="Calibri"/>
              <a:sym typeface="Calibri"/>
            </a:endParaRPr>
          </a:p>
        </p:txBody>
      </p:sp>
      <p:sp>
        <p:nvSpPr>
          <p:cNvPr id="78" name="Google Shape;78;p5"/>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GESTIÓN DEL SERVIDOR</a:t>
            </a:r>
            <a:endParaRPr/>
          </a:p>
        </p:txBody>
      </p:sp>
      <p:grpSp>
        <p:nvGrpSpPr>
          <p:cNvPr id="79" name="Google Shape;79;p5"/>
          <p:cNvGrpSpPr/>
          <p:nvPr/>
        </p:nvGrpSpPr>
        <p:grpSpPr>
          <a:xfrm>
            <a:off x="958907" y="3339574"/>
            <a:ext cx="2431715" cy="500394"/>
            <a:chOff x="792046" y="3926925"/>
            <a:chExt cx="2431715" cy="500394"/>
          </a:xfrm>
        </p:grpSpPr>
        <p:sp>
          <p:nvSpPr>
            <p:cNvPr id="80" name="Google Shape;80;p5"/>
            <p:cNvSpPr/>
            <p:nvPr/>
          </p:nvSpPr>
          <p:spPr>
            <a:xfrm>
              <a:off x="1008063" y="3926925"/>
              <a:ext cx="2215698" cy="500394"/>
            </a:xfrm>
            <a:prstGeom prst="roundRect">
              <a:avLst>
                <a:gd fmla="val 24207" name="adj"/>
              </a:avLst>
            </a:prstGeom>
            <a:solidFill>
              <a:srgbClr val="714FA0"/>
            </a:solidFill>
            <a:ln>
              <a:noFill/>
            </a:ln>
          </p:spPr>
          <p:txBody>
            <a:bodyPr anchorCtr="0" anchor="ctr" bIns="45700" lIns="91425" spcFirstLastPara="1" rIns="91425" wrap="square" tIns="45700">
              <a:noAutofit/>
            </a:bodyPr>
            <a:lstStyle/>
            <a:p>
              <a:pPr indent="-1588" lvl="0" marL="6350" marR="0" rtl="0" algn="ctr">
                <a:lnSpc>
                  <a:spcPct val="100000"/>
                </a:lnSpc>
                <a:spcBef>
                  <a:spcPts val="0"/>
                </a:spcBef>
                <a:spcAft>
                  <a:spcPts val="0"/>
                </a:spcAft>
                <a:buNone/>
              </a:pPr>
              <a:r>
                <a:rPr b="1" i="0" lang="es-ES" sz="1400" u="none" cap="none" strike="noStrike">
                  <a:solidFill>
                    <a:schemeClr val="lt1"/>
                  </a:solidFill>
                  <a:latin typeface="Calibri"/>
                  <a:ea typeface="Calibri"/>
                  <a:cs typeface="Calibri"/>
                  <a:sym typeface="Calibri"/>
                </a:rPr>
                <a:t>     INTEGRACIÓN</a:t>
              </a:r>
              <a:endParaRPr/>
            </a:p>
            <a:p>
              <a:pPr indent="-1588" lvl="0" marL="6350" marR="0" rtl="0" algn="ctr">
                <a:lnSpc>
                  <a:spcPct val="100000"/>
                </a:lnSpc>
                <a:spcBef>
                  <a:spcPts val="0"/>
                </a:spcBef>
                <a:spcAft>
                  <a:spcPts val="0"/>
                </a:spcAft>
                <a:buNone/>
              </a:pPr>
              <a:r>
                <a:rPr b="1" i="0" lang="es-ES" sz="1400" u="none" cap="none" strike="noStrike">
                  <a:solidFill>
                    <a:schemeClr val="lt1"/>
                  </a:solidFill>
                  <a:latin typeface="Calibri"/>
                  <a:ea typeface="Calibri"/>
                  <a:cs typeface="Calibri"/>
                  <a:sym typeface="Calibri"/>
                </a:rPr>
                <a:t>     (ACCESO A DATOS)</a:t>
              </a:r>
              <a:endParaRPr/>
            </a:p>
          </p:txBody>
        </p:sp>
        <p:grpSp>
          <p:nvGrpSpPr>
            <p:cNvPr id="81" name="Google Shape;81;p5"/>
            <p:cNvGrpSpPr/>
            <p:nvPr/>
          </p:nvGrpSpPr>
          <p:grpSpPr>
            <a:xfrm>
              <a:off x="792046" y="3975211"/>
              <a:ext cx="459474" cy="403823"/>
              <a:chOff x="5892512" y="2805541"/>
              <a:chExt cx="459474" cy="403823"/>
            </a:xfrm>
          </p:grpSpPr>
          <p:sp>
            <p:nvSpPr>
              <p:cNvPr id="82" name="Google Shape;82;p5"/>
              <p:cNvSpPr/>
              <p:nvPr/>
            </p:nvSpPr>
            <p:spPr>
              <a:xfrm>
                <a:off x="5956277" y="2824919"/>
                <a:ext cx="395709" cy="376075"/>
              </a:xfrm>
              <a:prstGeom prst="ellipse">
                <a:avLst/>
              </a:prstGeom>
              <a:solidFill>
                <a:srgbClr val="593E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83" name="Google Shape;83;p5"/>
              <p:cNvSpPr/>
              <p:nvPr/>
            </p:nvSpPr>
            <p:spPr>
              <a:xfrm>
                <a:off x="5892512" y="2805541"/>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84" name="Google Shape;84;p5"/>
              <p:cNvSpPr/>
              <p:nvPr/>
            </p:nvSpPr>
            <p:spPr>
              <a:xfrm rot="5400000">
                <a:off x="6076285" y="2946262"/>
                <a:ext cx="186870" cy="122381"/>
              </a:xfrm>
              <a:prstGeom prst="triangle">
                <a:avLst>
                  <a:gd fmla="val 50000" name="adj"/>
                </a:avLst>
              </a:prstGeom>
              <a:solidFill>
                <a:srgbClr val="714F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grpSp>
      </p:grpSp>
      <p:grpSp>
        <p:nvGrpSpPr>
          <p:cNvPr id="85" name="Google Shape;85;p5"/>
          <p:cNvGrpSpPr/>
          <p:nvPr/>
        </p:nvGrpSpPr>
        <p:grpSpPr>
          <a:xfrm>
            <a:off x="958907" y="2716152"/>
            <a:ext cx="2431715" cy="500394"/>
            <a:chOff x="792046" y="3303503"/>
            <a:chExt cx="2431715" cy="500394"/>
          </a:xfrm>
        </p:grpSpPr>
        <p:sp>
          <p:nvSpPr>
            <p:cNvPr id="86" name="Google Shape;86;p5"/>
            <p:cNvSpPr/>
            <p:nvPr/>
          </p:nvSpPr>
          <p:spPr>
            <a:xfrm>
              <a:off x="1008063" y="3303503"/>
              <a:ext cx="2215698" cy="500394"/>
            </a:xfrm>
            <a:prstGeom prst="roundRect">
              <a:avLst>
                <a:gd fmla="val 26745" name="adj"/>
              </a:avLst>
            </a:prstGeom>
            <a:solidFill>
              <a:srgbClr val="92C24E"/>
            </a:solidFill>
            <a:ln>
              <a:noFill/>
            </a:ln>
          </p:spPr>
          <p:txBody>
            <a:bodyPr anchorCtr="0" anchor="ctr" bIns="45700" lIns="91425" spcFirstLastPara="1" rIns="91425" wrap="square" tIns="45700">
              <a:noAutofit/>
            </a:bodyPr>
            <a:lstStyle/>
            <a:p>
              <a:pPr indent="-1588" lvl="0" marL="6350" marR="0" rtl="0" algn="ctr">
                <a:lnSpc>
                  <a:spcPct val="100000"/>
                </a:lnSpc>
                <a:spcBef>
                  <a:spcPts val="0"/>
                </a:spcBef>
                <a:spcAft>
                  <a:spcPts val="0"/>
                </a:spcAft>
                <a:buNone/>
              </a:pPr>
              <a:r>
                <a:rPr b="1" i="0" lang="es-ES" sz="1400" u="none" cap="none" strike="noStrike">
                  <a:solidFill>
                    <a:schemeClr val="lt1"/>
                  </a:solidFill>
                  <a:latin typeface="Calibri"/>
                  <a:ea typeface="Calibri"/>
                  <a:cs typeface="Calibri"/>
                  <a:sym typeface="Calibri"/>
                </a:rPr>
                <a:t>     LÓGICA DE NEGOCIO</a:t>
              </a:r>
              <a:endParaRPr/>
            </a:p>
          </p:txBody>
        </p:sp>
        <p:grpSp>
          <p:nvGrpSpPr>
            <p:cNvPr id="87" name="Google Shape;87;p5"/>
            <p:cNvGrpSpPr/>
            <p:nvPr/>
          </p:nvGrpSpPr>
          <p:grpSpPr>
            <a:xfrm>
              <a:off x="792046" y="3351789"/>
              <a:ext cx="459474" cy="403823"/>
              <a:chOff x="5892512" y="2805541"/>
              <a:chExt cx="459474" cy="403823"/>
            </a:xfrm>
          </p:grpSpPr>
          <p:sp>
            <p:nvSpPr>
              <p:cNvPr id="88" name="Google Shape;88;p5"/>
              <p:cNvSpPr/>
              <p:nvPr/>
            </p:nvSpPr>
            <p:spPr>
              <a:xfrm>
                <a:off x="5956277" y="2824919"/>
                <a:ext cx="395709" cy="376075"/>
              </a:xfrm>
              <a:prstGeom prst="ellipse">
                <a:avLst/>
              </a:prstGeom>
              <a:solidFill>
                <a:srgbClr val="6A8F3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89" name="Google Shape;89;p5"/>
              <p:cNvSpPr/>
              <p:nvPr/>
            </p:nvSpPr>
            <p:spPr>
              <a:xfrm>
                <a:off x="5892512" y="2805541"/>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90" name="Google Shape;90;p5"/>
              <p:cNvSpPr/>
              <p:nvPr/>
            </p:nvSpPr>
            <p:spPr>
              <a:xfrm rot="5400000">
                <a:off x="6076285" y="2946262"/>
                <a:ext cx="186870" cy="122381"/>
              </a:xfrm>
              <a:prstGeom prst="triangle">
                <a:avLst>
                  <a:gd fmla="val 50000" name="adj"/>
                </a:avLst>
              </a:prstGeom>
              <a:solidFill>
                <a:srgbClr val="92C24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grpSp>
      </p:grpSp>
      <p:grpSp>
        <p:nvGrpSpPr>
          <p:cNvPr id="91" name="Google Shape;91;p5"/>
          <p:cNvGrpSpPr/>
          <p:nvPr/>
        </p:nvGrpSpPr>
        <p:grpSpPr>
          <a:xfrm>
            <a:off x="958907" y="2088491"/>
            <a:ext cx="2431715" cy="500394"/>
            <a:chOff x="792046" y="2675842"/>
            <a:chExt cx="2431715" cy="500394"/>
          </a:xfrm>
        </p:grpSpPr>
        <p:sp>
          <p:nvSpPr>
            <p:cNvPr id="92" name="Google Shape;92;p5"/>
            <p:cNvSpPr/>
            <p:nvPr/>
          </p:nvSpPr>
          <p:spPr>
            <a:xfrm>
              <a:off x="1008063" y="2675842"/>
              <a:ext cx="2215698" cy="500394"/>
            </a:xfrm>
            <a:prstGeom prst="roundRect">
              <a:avLst>
                <a:gd fmla="val 24841" name="adj"/>
              </a:avLst>
            </a:prstGeom>
            <a:solidFill>
              <a:srgbClr val="EE4639"/>
            </a:solidFill>
            <a:ln>
              <a:noFill/>
            </a:ln>
          </p:spPr>
          <p:txBody>
            <a:bodyPr anchorCtr="0" anchor="ctr" bIns="45700" lIns="91425" spcFirstLastPara="1" rIns="91425" wrap="square" tIns="45700">
              <a:noAutofit/>
            </a:bodyPr>
            <a:lstStyle/>
            <a:p>
              <a:pPr indent="-1588" lvl="0" marL="6350" marR="0" rtl="0" algn="ctr">
                <a:lnSpc>
                  <a:spcPct val="100000"/>
                </a:lnSpc>
                <a:spcBef>
                  <a:spcPts val="0"/>
                </a:spcBef>
                <a:spcAft>
                  <a:spcPts val="0"/>
                </a:spcAft>
                <a:buNone/>
              </a:pPr>
              <a:r>
                <a:rPr b="1" i="0" lang="es-ES" sz="1400" u="none" cap="none" strike="noStrike">
                  <a:solidFill>
                    <a:schemeClr val="lt1"/>
                  </a:solidFill>
                  <a:latin typeface="Calibri"/>
                  <a:ea typeface="Calibri"/>
                  <a:cs typeface="Calibri"/>
                  <a:sym typeface="Calibri"/>
                </a:rPr>
                <a:t>    PRESENTACIÓN</a:t>
              </a:r>
              <a:endParaRPr/>
            </a:p>
          </p:txBody>
        </p:sp>
        <p:grpSp>
          <p:nvGrpSpPr>
            <p:cNvPr id="93" name="Google Shape;93;p5"/>
            <p:cNvGrpSpPr/>
            <p:nvPr/>
          </p:nvGrpSpPr>
          <p:grpSpPr>
            <a:xfrm>
              <a:off x="792046" y="2724128"/>
              <a:ext cx="459474" cy="403823"/>
              <a:chOff x="5892512" y="2805541"/>
              <a:chExt cx="459474" cy="403823"/>
            </a:xfrm>
          </p:grpSpPr>
          <p:sp>
            <p:nvSpPr>
              <p:cNvPr id="94" name="Google Shape;94;p5"/>
              <p:cNvSpPr/>
              <p:nvPr/>
            </p:nvSpPr>
            <p:spPr>
              <a:xfrm>
                <a:off x="5956277" y="2824919"/>
                <a:ext cx="395709" cy="376075"/>
              </a:xfrm>
              <a:prstGeom prst="ellipse">
                <a:avLst/>
              </a:prstGeom>
              <a:solidFill>
                <a:srgbClr val="C73A3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95" name="Google Shape;95;p5"/>
              <p:cNvSpPr/>
              <p:nvPr/>
            </p:nvSpPr>
            <p:spPr>
              <a:xfrm>
                <a:off x="5892512" y="2805541"/>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96" name="Google Shape;96;p5"/>
              <p:cNvSpPr/>
              <p:nvPr/>
            </p:nvSpPr>
            <p:spPr>
              <a:xfrm rot="5400000">
                <a:off x="6076285" y="2946262"/>
                <a:ext cx="186870" cy="122381"/>
              </a:xfrm>
              <a:prstGeom prst="triangle">
                <a:avLst>
                  <a:gd fmla="val 50000" name="adj"/>
                </a:avLst>
              </a:prstGeom>
              <a:solidFill>
                <a:srgbClr val="EE46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grpSp>
      </p:grpSp>
      <p:grpSp>
        <p:nvGrpSpPr>
          <p:cNvPr id="97" name="Google Shape;97;p5"/>
          <p:cNvGrpSpPr/>
          <p:nvPr/>
        </p:nvGrpSpPr>
        <p:grpSpPr>
          <a:xfrm>
            <a:off x="4592940" y="1519476"/>
            <a:ext cx="3929826" cy="3415492"/>
            <a:chOff x="4592940" y="1519476"/>
            <a:chExt cx="3929826" cy="3415492"/>
          </a:xfrm>
        </p:grpSpPr>
        <p:sp>
          <p:nvSpPr>
            <p:cNvPr id="98" name="Google Shape;98;p5"/>
            <p:cNvSpPr txBox="1"/>
            <p:nvPr/>
          </p:nvSpPr>
          <p:spPr>
            <a:xfrm>
              <a:off x="5837685" y="2000665"/>
              <a:ext cx="1441191" cy="161583"/>
            </a:xfrm>
            <a:prstGeom prst="rect">
              <a:avLst/>
            </a:prstGeom>
            <a:solidFill>
              <a:srgbClr val="D8D8D8"/>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s-ES" sz="1050" u="none" cap="none" strike="noStrike">
                  <a:solidFill>
                    <a:schemeClr val="dk1"/>
                  </a:solidFill>
                  <a:latin typeface="Calibri"/>
                  <a:ea typeface="Calibri"/>
                  <a:cs typeface="Calibri"/>
                  <a:sym typeface="Calibri"/>
                </a:rPr>
                <a:t>Servlets/ Nivel Web</a:t>
              </a:r>
              <a:endParaRPr b="0" i="0" sz="1050" u="none" cap="none" strike="noStrike">
                <a:solidFill>
                  <a:schemeClr val="dk1"/>
                </a:solidFill>
                <a:latin typeface="Calibri"/>
                <a:ea typeface="Calibri"/>
                <a:cs typeface="Calibri"/>
                <a:sym typeface="Calibri"/>
              </a:endParaRPr>
            </a:p>
          </p:txBody>
        </p:sp>
        <p:sp>
          <p:nvSpPr>
            <p:cNvPr id="99" name="Google Shape;99;p5"/>
            <p:cNvSpPr txBox="1"/>
            <p:nvPr/>
          </p:nvSpPr>
          <p:spPr>
            <a:xfrm>
              <a:off x="5837685" y="2635832"/>
              <a:ext cx="1441191" cy="161583"/>
            </a:xfrm>
            <a:prstGeom prst="rect">
              <a:avLst/>
            </a:prstGeom>
            <a:solidFill>
              <a:srgbClr val="D8D8D8"/>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s-ES" sz="1050" u="none" cap="none" strike="noStrike">
                  <a:solidFill>
                    <a:schemeClr val="dk1"/>
                  </a:solidFill>
                  <a:latin typeface="Calibri"/>
                  <a:ea typeface="Calibri"/>
                  <a:cs typeface="Calibri"/>
                  <a:sym typeface="Calibri"/>
                </a:rPr>
                <a:t>Interfaces de Negocio</a:t>
              </a:r>
              <a:endParaRPr b="0" i="0" sz="1050" u="none" cap="none" strike="noStrike">
                <a:solidFill>
                  <a:schemeClr val="dk1"/>
                </a:solidFill>
                <a:latin typeface="Calibri"/>
                <a:ea typeface="Calibri"/>
                <a:cs typeface="Calibri"/>
                <a:sym typeface="Calibri"/>
              </a:endParaRPr>
            </a:p>
          </p:txBody>
        </p:sp>
        <p:sp>
          <p:nvSpPr>
            <p:cNvPr id="100" name="Google Shape;100;p5"/>
            <p:cNvSpPr txBox="1"/>
            <p:nvPr/>
          </p:nvSpPr>
          <p:spPr>
            <a:xfrm>
              <a:off x="5837685" y="3431773"/>
              <a:ext cx="1441191" cy="161583"/>
            </a:xfrm>
            <a:prstGeom prst="rect">
              <a:avLst/>
            </a:prstGeom>
            <a:solidFill>
              <a:srgbClr val="D8D8D8"/>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s-ES" sz="1050" u="none" cap="none" strike="noStrike">
                  <a:solidFill>
                    <a:schemeClr val="dk1"/>
                  </a:solidFill>
                  <a:latin typeface="Calibri"/>
                  <a:ea typeface="Calibri"/>
                  <a:cs typeface="Calibri"/>
                  <a:sym typeface="Calibri"/>
                </a:rPr>
                <a:t>Implementación </a:t>
              </a:r>
              <a:endParaRPr b="0" i="0" sz="1050" u="none" cap="none" strike="noStrike">
                <a:solidFill>
                  <a:schemeClr val="dk1"/>
                </a:solidFill>
                <a:latin typeface="Calibri"/>
                <a:ea typeface="Calibri"/>
                <a:cs typeface="Calibri"/>
                <a:sym typeface="Calibri"/>
              </a:endParaRPr>
            </a:p>
          </p:txBody>
        </p:sp>
        <p:sp>
          <p:nvSpPr>
            <p:cNvPr id="101" name="Google Shape;101;p5"/>
            <p:cNvSpPr txBox="1"/>
            <p:nvPr/>
          </p:nvSpPr>
          <p:spPr>
            <a:xfrm>
              <a:off x="6185696" y="4716740"/>
              <a:ext cx="815805" cy="161583"/>
            </a:xfrm>
            <a:prstGeom prst="rect">
              <a:avLst/>
            </a:prstGeom>
            <a:solidFill>
              <a:srgbClr val="F1F1F1"/>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s-ES" sz="1050" u="none" cap="none" strike="noStrike">
                  <a:solidFill>
                    <a:schemeClr val="dk1"/>
                  </a:solidFill>
                  <a:latin typeface="Calibri"/>
                  <a:ea typeface="Calibri"/>
                  <a:cs typeface="Calibri"/>
                  <a:sym typeface="Calibri"/>
                </a:rPr>
                <a:t>DBMS</a:t>
              </a:r>
              <a:endParaRPr b="0" i="0" sz="1050" u="none" cap="none" strike="noStrike">
                <a:solidFill>
                  <a:schemeClr val="dk1"/>
                </a:solidFill>
                <a:latin typeface="Calibri"/>
                <a:ea typeface="Calibri"/>
                <a:cs typeface="Calibri"/>
                <a:sym typeface="Calibri"/>
              </a:endParaRPr>
            </a:p>
          </p:txBody>
        </p:sp>
        <p:sp>
          <p:nvSpPr>
            <p:cNvPr id="102" name="Google Shape;102;p5"/>
            <p:cNvSpPr txBox="1"/>
            <p:nvPr/>
          </p:nvSpPr>
          <p:spPr>
            <a:xfrm>
              <a:off x="4677969" y="1919874"/>
              <a:ext cx="741245" cy="323165"/>
            </a:xfrm>
            <a:prstGeom prst="rect">
              <a:avLst/>
            </a:prstGeom>
            <a:solidFill>
              <a:srgbClr val="F1F1F1"/>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ES" sz="1050" u="none" cap="none" strike="noStrike">
                  <a:solidFill>
                    <a:schemeClr val="dk1"/>
                  </a:solidFill>
                  <a:latin typeface="Calibri"/>
                  <a:ea typeface="Calibri"/>
                  <a:cs typeface="Calibri"/>
                  <a:sym typeface="Calibri"/>
                </a:rPr>
                <a:t>Nivel de Presentación</a:t>
              </a:r>
              <a:endParaRPr b="0" i="0" sz="1050" u="none" cap="none" strike="noStrike">
                <a:solidFill>
                  <a:schemeClr val="dk1"/>
                </a:solidFill>
                <a:latin typeface="Calibri"/>
                <a:ea typeface="Calibri"/>
                <a:cs typeface="Calibri"/>
                <a:sym typeface="Calibri"/>
              </a:endParaRPr>
            </a:p>
          </p:txBody>
        </p:sp>
        <p:sp>
          <p:nvSpPr>
            <p:cNvPr id="103" name="Google Shape;103;p5"/>
            <p:cNvSpPr txBox="1"/>
            <p:nvPr/>
          </p:nvSpPr>
          <p:spPr>
            <a:xfrm>
              <a:off x="4677969" y="2857500"/>
              <a:ext cx="741245" cy="323165"/>
            </a:xfrm>
            <a:prstGeom prst="rect">
              <a:avLst/>
            </a:prstGeom>
            <a:solidFill>
              <a:srgbClr val="F1F1F1"/>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ES" sz="1050" u="none" cap="none" strike="noStrike">
                  <a:solidFill>
                    <a:schemeClr val="dk1"/>
                  </a:solidFill>
                  <a:latin typeface="Calibri"/>
                  <a:ea typeface="Calibri"/>
                  <a:cs typeface="Calibri"/>
                  <a:sym typeface="Calibri"/>
                </a:rPr>
                <a:t>Nivel de Negocio</a:t>
              </a:r>
              <a:endParaRPr b="0" i="0" sz="1050" u="none" cap="none" strike="noStrike">
                <a:solidFill>
                  <a:schemeClr val="dk1"/>
                </a:solidFill>
                <a:latin typeface="Calibri"/>
                <a:ea typeface="Calibri"/>
                <a:cs typeface="Calibri"/>
                <a:sym typeface="Calibri"/>
              </a:endParaRPr>
            </a:p>
          </p:txBody>
        </p:sp>
        <p:sp>
          <p:nvSpPr>
            <p:cNvPr id="104" name="Google Shape;104;p5"/>
            <p:cNvSpPr txBox="1"/>
            <p:nvPr/>
          </p:nvSpPr>
          <p:spPr>
            <a:xfrm>
              <a:off x="4677969" y="4173287"/>
              <a:ext cx="741245" cy="323165"/>
            </a:xfrm>
            <a:prstGeom prst="rect">
              <a:avLst/>
            </a:prstGeom>
            <a:solidFill>
              <a:srgbClr val="F1F1F1"/>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ES" sz="1050" u="none" cap="none" strike="noStrike">
                  <a:solidFill>
                    <a:schemeClr val="dk1"/>
                  </a:solidFill>
                  <a:latin typeface="Calibri"/>
                  <a:ea typeface="Calibri"/>
                  <a:cs typeface="Calibri"/>
                  <a:sym typeface="Calibri"/>
                </a:rPr>
                <a:t>Nivel EIS</a:t>
              </a:r>
              <a:endParaRPr/>
            </a:p>
            <a:p>
              <a:pPr indent="0" lvl="0" marL="0" marR="0" rtl="0" algn="l">
                <a:lnSpc>
                  <a:spcPct val="100000"/>
                </a:lnSpc>
                <a:spcBef>
                  <a:spcPts val="0"/>
                </a:spcBef>
                <a:spcAft>
                  <a:spcPts val="0"/>
                </a:spcAft>
                <a:buNone/>
              </a:pPr>
              <a:r>
                <a:rPr b="0" i="0" lang="es-ES" sz="1050" u="none" cap="none" strike="noStrike">
                  <a:solidFill>
                    <a:schemeClr val="dk1"/>
                  </a:solidFill>
                  <a:latin typeface="Calibri"/>
                  <a:ea typeface="Calibri"/>
                  <a:cs typeface="Calibri"/>
                  <a:sym typeface="Calibri"/>
                </a:rPr>
                <a:t>(Integración)</a:t>
              </a:r>
              <a:endParaRPr b="0" i="0" sz="1050" u="none" cap="none" strike="noStrike">
                <a:solidFill>
                  <a:schemeClr val="dk1"/>
                </a:solidFill>
                <a:latin typeface="Calibri"/>
                <a:ea typeface="Calibri"/>
                <a:cs typeface="Calibri"/>
                <a:sym typeface="Calibri"/>
              </a:endParaRPr>
            </a:p>
          </p:txBody>
        </p:sp>
        <p:sp>
          <p:nvSpPr>
            <p:cNvPr id="105" name="Google Shape;105;p5"/>
            <p:cNvSpPr txBox="1"/>
            <p:nvPr/>
          </p:nvSpPr>
          <p:spPr>
            <a:xfrm>
              <a:off x="7724181" y="2000665"/>
              <a:ext cx="741245" cy="161583"/>
            </a:xfrm>
            <a:prstGeom prst="rect">
              <a:avLst/>
            </a:prstGeom>
            <a:solidFill>
              <a:srgbClr val="F1F1F1"/>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s-ES" sz="1050" u="none" cap="none" strike="noStrike">
                  <a:solidFill>
                    <a:schemeClr val="dk1"/>
                  </a:solidFill>
                  <a:latin typeface="Calibri"/>
                  <a:ea typeface="Calibri"/>
                  <a:cs typeface="Calibri"/>
                  <a:sym typeface="Calibri"/>
                </a:rPr>
                <a:t>JEE Server</a:t>
              </a:r>
              <a:endParaRPr b="0" i="0" sz="1050" u="none" cap="none" strike="noStrike">
                <a:solidFill>
                  <a:schemeClr val="dk1"/>
                </a:solidFill>
                <a:latin typeface="Calibri"/>
                <a:ea typeface="Calibri"/>
                <a:cs typeface="Calibri"/>
                <a:sym typeface="Calibri"/>
              </a:endParaRPr>
            </a:p>
          </p:txBody>
        </p:sp>
        <p:cxnSp>
          <p:nvCxnSpPr>
            <p:cNvPr id="106" name="Google Shape;106;p5"/>
            <p:cNvCxnSpPr/>
            <p:nvPr/>
          </p:nvCxnSpPr>
          <p:spPr>
            <a:xfrm>
              <a:off x="4737428" y="4009628"/>
              <a:ext cx="3617818" cy="1"/>
            </a:xfrm>
            <a:prstGeom prst="straightConnector1">
              <a:avLst/>
            </a:prstGeom>
            <a:noFill/>
            <a:ln cap="flat" cmpd="sng" w="19050">
              <a:solidFill>
                <a:srgbClr val="262626"/>
              </a:solidFill>
              <a:prstDash val="solid"/>
              <a:round/>
              <a:headEnd len="sm" w="sm" type="none"/>
              <a:tailEnd len="sm" w="sm" type="none"/>
            </a:ln>
          </p:spPr>
        </p:cxnSp>
        <p:sp>
          <p:nvSpPr>
            <p:cNvPr id="107" name="Google Shape;107;p5"/>
            <p:cNvSpPr/>
            <p:nvPr/>
          </p:nvSpPr>
          <p:spPr>
            <a:xfrm>
              <a:off x="5612084" y="1862988"/>
              <a:ext cx="1891579" cy="1878374"/>
            </a:xfrm>
            <a:prstGeom prst="rect">
              <a:avLst/>
            </a:prstGeom>
            <a:noFill/>
            <a:ln cap="flat" cmpd="sng" w="19050">
              <a:solidFill>
                <a:srgbClr val="49642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8" name="Google Shape;108;p5"/>
            <p:cNvSpPr/>
            <p:nvPr/>
          </p:nvSpPr>
          <p:spPr>
            <a:xfrm>
              <a:off x="5443076" y="1691411"/>
              <a:ext cx="2221132" cy="2217473"/>
            </a:xfrm>
            <a:prstGeom prst="rect">
              <a:avLst/>
            </a:prstGeom>
            <a:noFill/>
            <a:ln cap="flat" cmpd="sng" w="19050">
              <a:solidFill>
                <a:srgbClr val="49642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9" name="Google Shape;109;p5"/>
            <p:cNvSpPr/>
            <p:nvPr/>
          </p:nvSpPr>
          <p:spPr>
            <a:xfrm>
              <a:off x="4592940" y="1519476"/>
              <a:ext cx="3929826" cy="3415492"/>
            </a:xfrm>
            <a:prstGeom prst="rect">
              <a:avLst/>
            </a:prstGeom>
            <a:noFill/>
            <a:ln cap="flat" cmpd="sng" w="19050">
              <a:solidFill>
                <a:srgbClr val="49642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110" name="Google Shape;110;p5"/>
            <p:cNvCxnSpPr/>
            <p:nvPr/>
          </p:nvCxnSpPr>
          <p:spPr>
            <a:xfrm rot="10800000">
              <a:off x="6558280" y="2794195"/>
              <a:ext cx="0" cy="580677"/>
            </a:xfrm>
            <a:prstGeom prst="straightConnector1">
              <a:avLst/>
            </a:prstGeom>
            <a:noFill/>
            <a:ln cap="flat" cmpd="sng" w="9525">
              <a:solidFill>
                <a:schemeClr val="dk1"/>
              </a:solidFill>
              <a:prstDash val="solid"/>
              <a:round/>
              <a:headEnd len="sm" w="sm" type="none"/>
              <a:tailEnd len="med" w="med" type="triangle"/>
            </a:ln>
          </p:spPr>
        </p:cxnSp>
        <p:sp>
          <p:nvSpPr>
            <p:cNvPr id="111" name="Google Shape;111;p5"/>
            <p:cNvSpPr/>
            <p:nvPr/>
          </p:nvSpPr>
          <p:spPr>
            <a:xfrm>
              <a:off x="6289235" y="3151163"/>
              <a:ext cx="538090" cy="249702"/>
            </a:xfrm>
            <a:prstGeom prst="rect">
              <a:avLst/>
            </a:prstGeom>
            <a:solidFill>
              <a:schemeClr val="lt1"/>
            </a:solidFill>
            <a:ln cap="flat" cmpd="sng" w="9525">
              <a:solidFill>
                <a:srgbClr val="49642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112" name="Google Shape;112;p5"/>
            <p:cNvCxnSpPr/>
            <p:nvPr/>
          </p:nvCxnSpPr>
          <p:spPr>
            <a:xfrm rot="10800000">
              <a:off x="6558280" y="2153158"/>
              <a:ext cx="0" cy="343857"/>
            </a:xfrm>
            <a:prstGeom prst="straightConnector1">
              <a:avLst/>
            </a:prstGeom>
            <a:noFill/>
            <a:ln cap="flat" cmpd="sng" w="9525">
              <a:solidFill>
                <a:schemeClr val="dk1"/>
              </a:solidFill>
              <a:prstDash val="solid"/>
              <a:round/>
              <a:headEnd len="sm" w="sm" type="none"/>
              <a:tailEnd len="sm" w="sm" type="none"/>
            </a:ln>
          </p:spPr>
        </p:cxnSp>
        <p:sp>
          <p:nvSpPr>
            <p:cNvPr id="113" name="Google Shape;113;p5"/>
            <p:cNvSpPr/>
            <p:nvPr/>
          </p:nvSpPr>
          <p:spPr>
            <a:xfrm>
              <a:off x="6465082" y="2370406"/>
              <a:ext cx="186397" cy="186397"/>
            </a:xfrm>
            <a:prstGeom prst="ellipse">
              <a:avLst/>
            </a:prstGeom>
            <a:solidFill>
              <a:schemeClr val="lt1"/>
            </a:solidFill>
            <a:ln cap="flat" cmpd="sng" w="9525">
              <a:solidFill>
                <a:srgbClr val="49642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114" name="Google Shape;114;p5"/>
            <p:cNvCxnSpPr/>
            <p:nvPr/>
          </p:nvCxnSpPr>
          <p:spPr>
            <a:xfrm rot="10800000">
              <a:off x="6558280" y="3591648"/>
              <a:ext cx="0" cy="580677"/>
            </a:xfrm>
            <a:prstGeom prst="straightConnector1">
              <a:avLst/>
            </a:prstGeom>
            <a:noFill/>
            <a:ln cap="flat" cmpd="sng" w="9525">
              <a:solidFill>
                <a:schemeClr val="dk1"/>
              </a:solidFill>
              <a:prstDash val="solid"/>
              <a:round/>
              <a:headEnd len="sm" w="sm" type="none"/>
              <a:tailEnd len="sm" w="sm" type="none"/>
            </a:ln>
          </p:spPr>
        </p:cxnSp>
        <p:sp>
          <p:nvSpPr>
            <p:cNvPr id="115" name="Google Shape;115;p5"/>
            <p:cNvSpPr/>
            <p:nvPr/>
          </p:nvSpPr>
          <p:spPr>
            <a:xfrm>
              <a:off x="6364721" y="4144528"/>
              <a:ext cx="387118" cy="540631"/>
            </a:xfrm>
            <a:prstGeom prst="can">
              <a:avLst>
                <a:gd fmla="val 47414"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116" name="Google Shape;116;p5"/>
            <p:cNvCxnSpPr/>
            <p:nvPr/>
          </p:nvCxnSpPr>
          <p:spPr>
            <a:xfrm>
              <a:off x="4737428" y="2369243"/>
              <a:ext cx="3617818" cy="1"/>
            </a:xfrm>
            <a:prstGeom prst="straightConnector1">
              <a:avLst/>
            </a:prstGeom>
            <a:noFill/>
            <a:ln cap="flat" cmpd="sng" w="19050">
              <a:solidFill>
                <a:srgbClr val="262626"/>
              </a:solidFill>
              <a:prstDash val="solid"/>
              <a:round/>
              <a:headEnd len="sm" w="sm" type="none"/>
              <a:tailEnd len="sm" w="sm" type="none"/>
            </a:ln>
          </p:spPr>
        </p:cxn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6"/>
          <p:cNvSpPr txBox="1"/>
          <p:nvPr/>
        </p:nvSpPr>
        <p:spPr>
          <a:xfrm>
            <a:off x="504814" y="1593604"/>
            <a:ext cx="3887799" cy="295465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ES" sz="1600" u="none" cap="none" strike="noStrike">
                <a:solidFill>
                  <a:schemeClr val="dk1"/>
                </a:solidFill>
                <a:latin typeface="Calibri"/>
                <a:ea typeface="Calibri"/>
                <a:cs typeface="Calibri"/>
                <a:sym typeface="Calibri"/>
              </a:rPr>
              <a:t>La capa de presentación, también conocida como capa de interfaz de usuario, es responsable de la interacción del usuario con la aplicación. En Java EE, esta capa se puede implementar mediante tecnologías como:</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Calibri"/>
              <a:ea typeface="Calibri"/>
              <a:cs typeface="Calibri"/>
              <a:sym typeface="Calibri"/>
            </a:endParaRPr>
          </a:p>
          <a:p>
            <a:pPr indent="-179388" lvl="0" marL="179388" marR="0" rtl="0" algn="l">
              <a:lnSpc>
                <a:spcPct val="100000"/>
              </a:lnSpc>
              <a:spcBef>
                <a:spcPts val="0"/>
              </a:spcBef>
              <a:spcAft>
                <a:spcPts val="0"/>
              </a:spcAft>
              <a:buClr>
                <a:schemeClr val="accent2"/>
              </a:buClr>
              <a:buSzPts val="1600"/>
              <a:buFont typeface="Arial"/>
              <a:buChar char="•"/>
            </a:pPr>
            <a:r>
              <a:rPr b="0" i="0" lang="es-ES" sz="1600" u="none" cap="none" strike="noStrike">
                <a:solidFill>
                  <a:schemeClr val="dk1"/>
                </a:solidFill>
                <a:latin typeface="Calibri"/>
                <a:ea typeface="Calibri"/>
                <a:cs typeface="Calibri"/>
                <a:sym typeface="Calibri"/>
              </a:rPr>
              <a:t>Java Server Faces (JSF)</a:t>
            </a:r>
            <a:endParaRPr b="0" i="0" sz="1600" u="none" cap="none" strike="noStrike">
              <a:solidFill>
                <a:schemeClr val="dk1"/>
              </a:solidFill>
              <a:latin typeface="Calibri"/>
              <a:ea typeface="Calibri"/>
              <a:cs typeface="Calibri"/>
              <a:sym typeface="Calibri"/>
            </a:endParaRPr>
          </a:p>
          <a:p>
            <a:pPr indent="-179388" lvl="0" marL="179388" marR="0" rtl="0" algn="l">
              <a:lnSpc>
                <a:spcPct val="100000"/>
              </a:lnSpc>
              <a:spcBef>
                <a:spcPts val="0"/>
              </a:spcBef>
              <a:spcAft>
                <a:spcPts val="0"/>
              </a:spcAft>
              <a:buClr>
                <a:schemeClr val="accent2"/>
              </a:buClr>
              <a:buSzPts val="1600"/>
              <a:buFont typeface="Arial"/>
              <a:buChar char="•"/>
            </a:pPr>
            <a:r>
              <a:rPr b="0" i="0" lang="es-ES" sz="1600" u="none" cap="none" strike="noStrike">
                <a:solidFill>
                  <a:schemeClr val="dk1"/>
                </a:solidFill>
                <a:latin typeface="Calibri"/>
                <a:ea typeface="Calibri"/>
                <a:cs typeface="Calibri"/>
                <a:sym typeface="Calibri"/>
              </a:rPr>
              <a:t>Servlets</a:t>
            </a:r>
            <a:endParaRPr b="0" i="0" sz="1600" u="none" cap="none" strike="noStrike">
              <a:solidFill>
                <a:schemeClr val="dk1"/>
              </a:solidFill>
              <a:latin typeface="Calibri"/>
              <a:ea typeface="Calibri"/>
              <a:cs typeface="Calibri"/>
              <a:sym typeface="Calibri"/>
            </a:endParaRPr>
          </a:p>
          <a:p>
            <a:pPr indent="-179388" lvl="0" marL="179388" marR="0" rtl="0" algn="l">
              <a:lnSpc>
                <a:spcPct val="100000"/>
              </a:lnSpc>
              <a:spcBef>
                <a:spcPts val="0"/>
              </a:spcBef>
              <a:spcAft>
                <a:spcPts val="0"/>
              </a:spcAft>
              <a:buClr>
                <a:schemeClr val="accent2"/>
              </a:buClr>
              <a:buSzPts val="1600"/>
              <a:buFont typeface="Arial"/>
              <a:buChar char="•"/>
            </a:pPr>
            <a:r>
              <a:rPr b="0" i="0" lang="es-ES" sz="1600" u="none" cap="none" strike="noStrike">
                <a:solidFill>
                  <a:schemeClr val="dk1"/>
                </a:solidFill>
                <a:latin typeface="Calibri"/>
                <a:ea typeface="Calibri"/>
                <a:cs typeface="Calibri"/>
                <a:sym typeface="Calibri"/>
              </a:rPr>
              <a:t>Java Server Pages (JSP)</a:t>
            </a:r>
            <a:endParaRPr b="0" i="0" sz="1600" u="none" cap="none" strike="noStrike">
              <a:solidFill>
                <a:schemeClr val="dk1"/>
              </a:solidFill>
              <a:latin typeface="Calibri"/>
              <a:ea typeface="Calibri"/>
              <a:cs typeface="Calibri"/>
              <a:sym typeface="Calibri"/>
            </a:endParaRPr>
          </a:p>
          <a:p>
            <a:pPr indent="-179388" lvl="0" marL="179388" marR="0" rtl="0" algn="l">
              <a:lnSpc>
                <a:spcPct val="100000"/>
              </a:lnSpc>
              <a:spcBef>
                <a:spcPts val="0"/>
              </a:spcBef>
              <a:spcAft>
                <a:spcPts val="0"/>
              </a:spcAft>
              <a:buClr>
                <a:schemeClr val="accent2"/>
              </a:buClr>
              <a:buSzPts val="1600"/>
              <a:buFont typeface="Arial"/>
              <a:buChar char="•"/>
            </a:pPr>
            <a:r>
              <a:rPr b="0" i="0" lang="es-ES" sz="1600" u="none" cap="none" strike="noStrike">
                <a:solidFill>
                  <a:schemeClr val="dk1"/>
                </a:solidFill>
                <a:latin typeface="Calibri"/>
                <a:ea typeface="Calibri"/>
                <a:cs typeface="Calibri"/>
                <a:sym typeface="Calibri"/>
              </a:rPr>
              <a:t>HTML5</a:t>
            </a:r>
            <a:br>
              <a:rPr b="0" i="0" lang="es-ES" sz="1600" u="none" cap="none" strike="noStrike">
                <a:solidFill>
                  <a:schemeClr val="dk1"/>
                </a:solidFill>
                <a:latin typeface="Calibri"/>
                <a:ea typeface="Calibri"/>
                <a:cs typeface="Calibri"/>
                <a:sym typeface="Calibri"/>
              </a:rPr>
            </a:br>
            <a:br>
              <a:rPr b="0" i="0" lang="es-ES" sz="1600" u="none" cap="none" strike="noStrike">
                <a:solidFill>
                  <a:schemeClr val="dk1"/>
                </a:solidFill>
                <a:latin typeface="Calibri"/>
                <a:ea typeface="Calibri"/>
                <a:cs typeface="Calibri"/>
                <a:sym typeface="Calibri"/>
              </a:rPr>
            </a:br>
            <a:endParaRPr b="0" i="0" sz="1600" u="none" cap="none" strike="noStrike">
              <a:solidFill>
                <a:schemeClr val="dk1"/>
              </a:solidFill>
              <a:latin typeface="Calibri"/>
              <a:ea typeface="Calibri"/>
              <a:cs typeface="Calibri"/>
              <a:sym typeface="Calibri"/>
            </a:endParaRPr>
          </a:p>
        </p:txBody>
      </p:sp>
      <p:pic>
        <p:nvPicPr>
          <p:cNvPr id="123" name="Google Shape;123;p6"/>
          <p:cNvPicPr preferRelativeResize="0"/>
          <p:nvPr/>
        </p:nvPicPr>
        <p:blipFill rotWithShape="1">
          <a:blip r:embed="rId3">
            <a:alphaModFix/>
          </a:blip>
          <a:srcRect b="0" l="0" r="0" t="0"/>
          <a:stretch/>
        </p:blipFill>
        <p:spPr>
          <a:xfrm>
            <a:off x="4572000" y="1186850"/>
            <a:ext cx="2436823" cy="1338863"/>
          </a:xfrm>
          <a:prstGeom prst="rect">
            <a:avLst/>
          </a:prstGeom>
          <a:noFill/>
          <a:ln>
            <a:noFill/>
          </a:ln>
        </p:spPr>
      </p:pic>
      <p:pic>
        <p:nvPicPr>
          <p:cNvPr id="124" name="Google Shape;124;p6"/>
          <p:cNvPicPr preferRelativeResize="0"/>
          <p:nvPr/>
        </p:nvPicPr>
        <p:blipFill rotWithShape="1">
          <a:blip r:embed="rId4">
            <a:alphaModFix/>
          </a:blip>
          <a:srcRect b="0" l="0" r="0" t="0"/>
          <a:stretch/>
        </p:blipFill>
        <p:spPr>
          <a:xfrm>
            <a:off x="6834639" y="1376527"/>
            <a:ext cx="1841049" cy="901237"/>
          </a:xfrm>
          <a:prstGeom prst="rect">
            <a:avLst/>
          </a:prstGeom>
          <a:noFill/>
          <a:ln>
            <a:noFill/>
          </a:ln>
        </p:spPr>
      </p:pic>
      <p:pic>
        <p:nvPicPr>
          <p:cNvPr id="125" name="Google Shape;125;p6"/>
          <p:cNvPicPr preferRelativeResize="0"/>
          <p:nvPr/>
        </p:nvPicPr>
        <p:blipFill rotWithShape="1">
          <a:blip r:embed="rId5">
            <a:alphaModFix/>
          </a:blip>
          <a:srcRect b="0" l="0" r="0" t="0"/>
          <a:stretch/>
        </p:blipFill>
        <p:spPr>
          <a:xfrm>
            <a:off x="7127496" y="2585782"/>
            <a:ext cx="1450306" cy="1705360"/>
          </a:xfrm>
          <a:prstGeom prst="rect">
            <a:avLst/>
          </a:prstGeom>
          <a:noFill/>
          <a:ln>
            <a:noFill/>
          </a:ln>
        </p:spPr>
      </p:pic>
      <p:sp>
        <p:nvSpPr>
          <p:cNvPr id="126" name="Google Shape;126;p6"/>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GESTIÓN DEL SERVIDOR</a:t>
            </a:r>
            <a:endParaRPr/>
          </a:p>
        </p:txBody>
      </p:sp>
      <p:grpSp>
        <p:nvGrpSpPr>
          <p:cNvPr id="127" name="Google Shape;127;p6"/>
          <p:cNvGrpSpPr/>
          <p:nvPr/>
        </p:nvGrpSpPr>
        <p:grpSpPr>
          <a:xfrm>
            <a:off x="326977" y="917244"/>
            <a:ext cx="2913111" cy="394721"/>
            <a:chOff x="287221" y="917244"/>
            <a:chExt cx="3425276" cy="500394"/>
          </a:xfrm>
        </p:grpSpPr>
        <p:sp>
          <p:nvSpPr>
            <p:cNvPr id="128" name="Google Shape;128;p6"/>
            <p:cNvSpPr/>
            <p:nvPr/>
          </p:nvSpPr>
          <p:spPr>
            <a:xfrm>
              <a:off x="503237" y="917244"/>
              <a:ext cx="3209260" cy="500394"/>
            </a:xfrm>
            <a:prstGeom prst="roundRect">
              <a:avLst>
                <a:gd fmla="val 24841" name="adj"/>
              </a:avLst>
            </a:prstGeom>
            <a:solidFill>
              <a:srgbClr val="EE4639"/>
            </a:solidFill>
            <a:ln>
              <a:noFill/>
            </a:ln>
          </p:spPr>
          <p:txBody>
            <a:bodyPr anchorCtr="0" anchor="ctr" bIns="45700" lIns="251975" spcFirstLastPara="1" rIns="91425" wrap="square" tIns="45700">
              <a:noAutofit/>
            </a:bodyPr>
            <a:lstStyle/>
            <a:p>
              <a:pPr indent="-1588" lvl="0" marL="6350" marR="0" rtl="0" algn="ctr">
                <a:lnSpc>
                  <a:spcPct val="100000"/>
                </a:lnSpc>
                <a:spcBef>
                  <a:spcPts val="0"/>
                </a:spcBef>
                <a:spcAft>
                  <a:spcPts val="0"/>
                </a:spcAft>
                <a:buNone/>
              </a:pPr>
              <a:r>
                <a:rPr b="1" i="0" lang="es-ES" sz="1400" u="none" cap="none" strike="noStrike">
                  <a:solidFill>
                    <a:schemeClr val="lt1"/>
                  </a:solidFill>
                  <a:latin typeface="Calibri"/>
                  <a:ea typeface="Calibri"/>
                  <a:cs typeface="Calibri"/>
                  <a:sym typeface="Calibri"/>
                </a:rPr>
                <a:t>NIVEL DE PRESENTACIÓN</a:t>
              </a:r>
              <a:endParaRPr/>
            </a:p>
          </p:txBody>
        </p:sp>
        <p:grpSp>
          <p:nvGrpSpPr>
            <p:cNvPr id="129" name="Google Shape;129;p6"/>
            <p:cNvGrpSpPr/>
            <p:nvPr/>
          </p:nvGrpSpPr>
          <p:grpSpPr>
            <a:xfrm>
              <a:off x="287221" y="965530"/>
              <a:ext cx="459474" cy="403823"/>
              <a:chOff x="5892512" y="2805541"/>
              <a:chExt cx="459474" cy="403823"/>
            </a:xfrm>
          </p:grpSpPr>
          <p:sp>
            <p:nvSpPr>
              <p:cNvPr id="130" name="Google Shape;130;p6"/>
              <p:cNvSpPr/>
              <p:nvPr/>
            </p:nvSpPr>
            <p:spPr>
              <a:xfrm>
                <a:off x="5956277" y="2824919"/>
                <a:ext cx="395709" cy="376075"/>
              </a:xfrm>
              <a:prstGeom prst="ellipse">
                <a:avLst/>
              </a:prstGeom>
              <a:solidFill>
                <a:srgbClr val="C73A3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31" name="Google Shape;131;p6"/>
              <p:cNvSpPr/>
              <p:nvPr/>
            </p:nvSpPr>
            <p:spPr>
              <a:xfrm>
                <a:off x="5892512" y="2805541"/>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32" name="Google Shape;132;p6"/>
              <p:cNvSpPr/>
              <p:nvPr/>
            </p:nvSpPr>
            <p:spPr>
              <a:xfrm rot="5400000">
                <a:off x="6076285" y="2946262"/>
                <a:ext cx="186870" cy="122381"/>
              </a:xfrm>
              <a:prstGeom prst="triangle">
                <a:avLst>
                  <a:gd fmla="val 50000" name="adj"/>
                </a:avLst>
              </a:prstGeom>
              <a:solidFill>
                <a:srgbClr val="EE46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grpSp>
      </p:grpSp>
      <p:pic>
        <p:nvPicPr>
          <p:cNvPr id="133" name="Google Shape;133;p6"/>
          <p:cNvPicPr preferRelativeResize="0"/>
          <p:nvPr/>
        </p:nvPicPr>
        <p:blipFill rotWithShape="1">
          <a:blip r:embed="rId6">
            <a:alphaModFix/>
          </a:blip>
          <a:srcRect b="0" l="20316" r="19502" t="5724"/>
          <a:stretch/>
        </p:blipFill>
        <p:spPr>
          <a:xfrm>
            <a:off x="4919073" y="2556316"/>
            <a:ext cx="1855498" cy="163503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GESTIÓN DEL SERVIDOR</a:t>
            </a:r>
            <a:endParaRPr/>
          </a:p>
        </p:txBody>
      </p:sp>
      <p:sp>
        <p:nvSpPr>
          <p:cNvPr id="140" name="Google Shape;140;p7"/>
          <p:cNvSpPr txBox="1"/>
          <p:nvPr/>
        </p:nvSpPr>
        <p:spPr>
          <a:xfrm>
            <a:off x="504814" y="1593604"/>
            <a:ext cx="3887799" cy="221599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ES" sz="1600" u="none" cap="none" strike="noStrike">
                <a:solidFill>
                  <a:schemeClr val="dk1"/>
                </a:solidFill>
                <a:latin typeface="Calibri"/>
                <a:ea typeface="Calibri"/>
                <a:cs typeface="Calibri"/>
                <a:sym typeface="Calibri"/>
              </a:rPr>
              <a:t>La capa de lógica de negocio contiene la funcionalidad de la aplicación, incluyendo las reglas de negocio y la lógica de procesamiento.</a:t>
            </a:r>
            <a:endParaRPr/>
          </a:p>
          <a:p>
            <a:pPr indent="-77788" lvl="0" marL="179388" marR="0" rtl="0" algn="l">
              <a:lnSpc>
                <a:spcPct val="100000"/>
              </a:lnSpc>
              <a:spcBef>
                <a:spcPts val="0"/>
              </a:spcBef>
              <a:spcAft>
                <a:spcPts val="0"/>
              </a:spcAft>
              <a:buClr>
                <a:schemeClr val="accent3"/>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600" u="none" cap="none" strike="noStrike">
                <a:solidFill>
                  <a:schemeClr val="dk1"/>
                </a:solidFill>
                <a:latin typeface="Calibri"/>
                <a:ea typeface="Calibri"/>
                <a:cs typeface="Calibri"/>
                <a:sym typeface="Calibri"/>
              </a:rPr>
              <a:t>En Java EE, esta capa se puede implementar utilizando:</a:t>
            </a:r>
            <a:endParaRPr/>
          </a:p>
          <a:p>
            <a:pPr indent="-77788" lvl="0" marL="179388" marR="0" rtl="0" algn="l">
              <a:lnSpc>
                <a:spcPct val="100000"/>
              </a:lnSpc>
              <a:spcBef>
                <a:spcPts val="0"/>
              </a:spcBef>
              <a:spcAft>
                <a:spcPts val="0"/>
              </a:spcAft>
              <a:buClr>
                <a:schemeClr val="accent3"/>
              </a:buClr>
              <a:buSzPts val="1600"/>
              <a:buFont typeface="Arial"/>
              <a:buNone/>
            </a:pPr>
            <a:r>
              <a:t/>
            </a:r>
            <a:endParaRPr b="0" i="0" sz="1600" u="none" cap="none" strike="noStrike">
              <a:solidFill>
                <a:schemeClr val="dk1"/>
              </a:solidFill>
              <a:latin typeface="Calibri"/>
              <a:ea typeface="Calibri"/>
              <a:cs typeface="Calibri"/>
              <a:sym typeface="Calibri"/>
            </a:endParaRPr>
          </a:p>
          <a:p>
            <a:pPr indent="-179387" lvl="0" marL="358775" marR="0" rtl="0" algn="l">
              <a:lnSpc>
                <a:spcPct val="100000"/>
              </a:lnSpc>
              <a:spcBef>
                <a:spcPts val="0"/>
              </a:spcBef>
              <a:spcAft>
                <a:spcPts val="0"/>
              </a:spcAft>
              <a:buClr>
                <a:schemeClr val="accent3"/>
              </a:buClr>
              <a:buSzPts val="1600"/>
              <a:buFont typeface="Arial"/>
              <a:buChar char="•"/>
            </a:pPr>
            <a:r>
              <a:rPr b="0" i="0" lang="es-ES" sz="1600" u="none" cap="none" strike="noStrike">
                <a:solidFill>
                  <a:schemeClr val="dk1"/>
                </a:solidFill>
                <a:latin typeface="Calibri"/>
                <a:ea typeface="Calibri"/>
                <a:cs typeface="Calibri"/>
                <a:sym typeface="Calibri"/>
              </a:rPr>
              <a:t>Enterprise JavaBeans (EJB)</a:t>
            </a:r>
            <a:endParaRPr/>
          </a:p>
          <a:p>
            <a:pPr indent="-179387" lvl="0" marL="358775" marR="0" rtl="0" algn="l">
              <a:lnSpc>
                <a:spcPct val="100000"/>
              </a:lnSpc>
              <a:spcBef>
                <a:spcPts val="0"/>
              </a:spcBef>
              <a:spcAft>
                <a:spcPts val="0"/>
              </a:spcAft>
              <a:buClr>
                <a:schemeClr val="accent3"/>
              </a:buClr>
              <a:buSzPts val="1600"/>
              <a:buFont typeface="Arial"/>
              <a:buChar char="•"/>
            </a:pPr>
            <a:r>
              <a:rPr b="0" i="0" lang="es-ES" sz="1600" u="none" cap="none" strike="noStrike">
                <a:solidFill>
                  <a:schemeClr val="dk1"/>
                </a:solidFill>
                <a:latin typeface="Calibri"/>
                <a:ea typeface="Calibri"/>
                <a:cs typeface="Calibri"/>
                <a:sym typeface="Calibri"/>
              </a:rPr>
              <a:t>Contexts and Dependency Injection (CDI)</a:t>
            </a:r>
            <a:endParaRPr/>
          </a:p>
        </p:txBody>
      </p:sp>
      <p:grpSp>
        <p:nvGrpSpPr>
          <p:cNvPr id="141" name="Google Shape;141;p7"/>
          <p:cNvGrpSpPr/>
          <p:nvPr/>
        </p:nvGrpSpPr>
        <p:grpSpPr>
          <a:xfrm>
            <a:off x="326977" y="917244"/>
            <a:ext cx="2913111" cy="394721"/>
            <a:chOff x="287221" y="917244"/>
            <a:chExt cx="3425276" cy="500394"/>
          </a:xfrm>
        </p:grpSpPr>
        <p:sp>
          <p:nvSpPr>
            <p:cNvPr id="142" name="Google Shape;142;p7"/>
            <p:cNvSpPr/>
            <p:nvPr/>
          </p:nvSpPr>
          <p:spPr>
            <a:xfrm>
              <a:off x="503237" y="917244"/>
              <a:ext cx="3209260" cy="500394"/>
            </a:xfrm>
            <a:prstGeom prst="roundRect">
              <a:avLst>
                <a:gd fmla="val 24841" name="adj"/>
              </a:avLst>
            </a:prstGeom>
            <a:solidFill>
              <a:schemeClr val="accent3"/>
            </a:solidFill>
            <a:ln>
              <a:noFill/>
            </a:ln>
          </p:spPr>
          <p:txBody>
            <a:bodyPr anchorCtr="0" anchor="ctr" bIns="45700" lIns="251975" spcFirstLastPara="1" rIns="91425" wrap="square" tIns="45700">
              <a:noAutofit/>
            </a:bodyPr>
            <a:lstStyle/>
            <a:p>
              <a:pPr indent="-1588" lvl="0" marL="6350" marR="0" rtl="0" algn="ctr">
                <a:lnSpc>
                  <a:spcPct val="100000"/>
                </a:lnSpc>
                <a:spcBef>
                  <a:spcPts val="0"/>
                </a:spcBef>
                <a:spcAft>
                  <a:spcPts val="0"/>
                </a:spcAft>
                <a:buNone/>
              </a:pPr>
              <a:r>
                <a:rPr b="1" i="0" lang="es-ES" sz="1400" u="none" cap="none" strike="noStrike">
                  <a:solidFill>
                    <a:schemeClr val="lt1"/>
                  </a:solidFill>
                  <a:latin typeface="Calibri"/>
                  <a:ea typeface="Calibri"/>
                  <a:cs typeface="Calibri"/>
                  <a:sym typeface="Calibri"/>
                </a:rPr>
                <a:t>NIVEL DE LÓGICA DE NEGOCIO</a:t>
              </a:r>
              <a:endParaRPr/>
            </a:p>
          </p:txBody>
        </p:sp>
        <p:grpSp>
          <p:nvGrpSpPr>
            <p:cNvPr id="143" name="Google Shape;143;p7"/>
            <p:cNvGrpSpPr/>
            <p:nvPr/>
          </p:nvGrpSpPr>
          <p:grpSpPr>
            <a:xfrm>
              <a:off x="287221" y="965530"/>
              <a:ext cx="459474" cy="403823"/>
              <a:chOff x="5892512" y="2805541"/>
              <a:chExt cx="459474" cy="403823"/>
            </a:xfrm>
          </p:grpSpPr>
          <p:sp>
            <p:nvSpPr>
              <p:cNvPr id="144" name="Google Shape;144;p7"/>
              <p:cNvSpPr/>
              <p:nvPr/>
            </p:nvSpPr>
            <p:spPr>
              <a:xfrm>
                <a:off x="5956277" y="2824919"/>
                <a:ext cx="395709" cy="376075"/>
              </a:xfrm>
              <a:prstGeom prst="ellipse">
                <a:avLst/>
              </a:prstGeom>
              <a:solidFill>
                <a:srgbClr val="6A8F3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45" name="Google Shape;145;p7"/>
              <p:cNvSpPr/>
              <p:nvPr/>
            </p:nvSpPr>
            <p:spPr>
              <a:xfrm>
                <a:off x="5892512" y="2805541"/>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46" name="Google Shape;146;p7"/>
              <p:cNvSpPr/>
              <p:nvPr/>
            </p:nvSpPr>
            <p:spPr>
              <a:xfrm rot="5400000">
                <a:off x="6076285" y="2946262"/>
                <a:ext cx="186870" cy="122381"/>
              </a:xfrm>
              <a:prstGeom prst="triangle">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grpSp>
      </p:grpSp>
      <p:pic>
        <p:nvPicPr>
          <p:cNvPr id="147" name="Google Shape;147;p7"/>
          <p:cNvPicPr preferRelativeResize="0"/>
          <p:nvPr/>
        </p:nvPicPr>
        <p:blipFill rotWithShape="1">
          <a:blip r:embed="rId3">
            <a:alphaModFix/>
          </a:blip>
          <a:srcRect b="0" l="0" r="0" t="0"/>
          <a:stretch/>
        </p:blipFill>
        <p:spPr>
          <a:xfrm>
            <a:off x="4771410" y="1959269"/>
            <a:ext cx="3905353" cy="179646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8"/>
          <p:cNvPicPr preferRelativeResize="0"/>
          <p:nvPr/>
        </p:nvPicPr>
        <p:blipFill rotWithShape="1">
          <a:blip r:embed="rId3">
            <a:alphaModFix/>
          </a:blip>
          <a:srcRect b="0" l="0" r="0" t="0"/>
          <a:stretch/>
        </p:blipFill>
        <p:spPr>
          <a:xfrm>
            <a:off x="5228808" y="921911"/>
            <a:ext cx="2958671" cy="1436504"/>
          </a:xfrm>
          <a:prstGeom prst="rect">
            <a:avLst/>
          </a:prstGeom>
          <a:noFill/>
          <a:ln>
            <a:noFill/>
          </a:ln>
        </p:spPr>
      </p:pic>
      <p:pic>
        <p:nvPicPr>
          <p:cNvPr id="154" name="Google Shape;154;p8"/>
          <p:cNvPicPr preferRelativeResize="0"/>
          <p:nvPr/>
        </p:nvPicPr>
        <p:blipFill rotWithShape="1">
          <a:blip r:embed="rId4">
            <a:alphaModFix/>
          </a:blip>
          <a:srcRect b="0" l="0" r="5141" t="0"/>
          <a:stretch/>
        </p:blipFill>
        <p:spPr>
          <a:xfrm>
            <a:off x="5156020" y="2534973"/>
            <a:ext cx="3104246" cy="1724999"/>
          </a:xfrm>
          <a:prstGeom prst="rect">
            <a:avLst/>
          </a:prstGeom>
          <a:noFill/>
          <a:ln>
            <a:noFill/>
          </a:ln>
        </p:spPr>
      </p:pic>
      <p:sp>
        <p:nvSpPr>
          <p:cNvPr id="155" name="Google Shape;155;p8"/>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GESTIÓN DEL SERVIDOR</a:t>
            </a:r>
            <a:endParaRPr/>
          </a:p>
        </p:txBody>
      </p:sp>
      <p:sp>
        <p:nvSpPr>
          <p:cNvPr id="156" name="Google Shape;156;p8"/>
          <p:cNvSpPr txBox="1"/>
          <p:nvPr/>
        </p:nvSpPr>
        <p:spPr>
          <a:xfrm>
            <a:off x="504814" y="1593604"/>
            <a:ext cx="3887799" cy="295465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ES" sz="1600" u="none" cap="none" strike="noStrike">
                <a:solidFill>
                  <a:schemeClr val="dk1"/>
                </a:solidFill>
                <a:latin typeface="Calibri"/>
                <a:ea typeface="Calibri"/>
                <a:cs typeface="Calibri"/>
                <a:sym typeface="Calibri"/>
              </a:rPr>
              <a:t>La capa de integración (acceso a datos) se encarga de la gestión de la persistencia de los datos. </a:t>
            </a:r>
            <a:endParaRPr/>
          </a:p>
          <a:p>
            <a:pPr indent="-77788" lvl="0" marL="179388" marR="0" rtl="0" algn="l">
              <a:lnSpc>
                <a:spcPct val="100000"/>
              </a:lnSpc>
              <a:spcBef>
                <a:spcPts val="0"/>
              </a:spcBef>
              <a:spcAft>
                <a:spcPts val="0"/>
              </a:spcAft>
              <a:buClr>
                <a:srgbClr val="7150A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600" u="none" cap="none" strike="noStrike">
                <a:solidFill>
                  <a:schemeClr val="dk1"/>
                </a:solidFill>
                <a:latin typeface="Calibri"/>
                <a:ea typeface="Calibri"/>
                <a:cs typeface="Calibri"/>
                <a:sym typeface="Calibri"/>
              </a:rPr>
              <a:t>En Java EE, esta capa se puede implementar utilizando:</a:t>
            </a:r>
            <a:endParaRPr/>
          </a:p>
          <a:p>
            <a:pPr indent="-77788" lvl="0" marL="179388" marR="0" rtl="0" algn="l">
              <a:lnSpc>
                <a:spcPct val="100000"/>
              </a:lnSpc>
              <a:spcBef>
                <a:spcPts val="0"/>
              </a:spcBef>
              <a:spcAft>
                <a:spcPts val="0"/>
              </a:spcAft>
              <a:buClr>
                <a:srgbClr val="7150A0"/>
              </a:buClr>
              <a:buSzPts val="1600"/>
              <a:buFont typeface="Arial"/>
              <a:buNone/>
            </a:pPr>
            <a:r>
              <a:t/>
            </a:r>
            <a:endParaRPr b="0" i="0" sz="1600" u="none" cap="none" strike="noStrike">
              <a:solidFill>
                <a:schemeClr val="dk1"/>
              </a:solidFill>
              <a:latin typeface="Calibri"/>
              <a:ea typeface="Calibri"/>
              <a:cs typeface="Calibri"/>
              <a:sym typeface="Calibri"/>
            </a:endParaRPr>
          </a:p>
          <a:p>
            <a:pPr indent="-179387" lvl="0" marL="358775" marR="0" rtl="0" algn="l">
              <a:lnSpc>
                <a:spcPct val="100000"/>
              </a:lnSpc>
              <a:spcBef>
                <a:spcPts val="0"/>
              </a:spcBef>
              <a:spcAft>
                <a:spcPts val="0"/>
              </a:spcAft>
              <a:buClr>
                <a:srgbClr val="7150A0"/>
              </a:buClr>
              <a:buSzPts val="1600"/>
              <a:buFont typeface="Arial"/>
              <a:buChar char="•"/>
            </a:pPr>
            <a:r>
              <a:rPr b="0" i="0" lang="es-ES" sz="1600" u="none" cap="none" strike="noStrike">
                <a:solidFill>
                  <a:schemeClr val="dk1"/>
                </a:solidFill>
                <a:latin typeface="Calibri"/>
                <a:ea typeface="Calibri"/>
                <a:cs typeface="Calibri"/>
                <a:sym typeface="Calibri"/>
              </a:rPr>
              <a:t>Java Persistence API (JPA)</a:t>
            </a:r>
            <a:endParaRPr/>
          </a:p>
          <a:p>
            <a:pPr indent="-179387" lvl="0" marL="358775" marR="0" rtl="0" algn="l">
              <a:lnSpc>
                <a:spcPct val="100000"/>
              </a:lnSpc>
              <a:spcBef>
                <a:spcPts val="0"/>
              </a:spcBef>
              <a:spcAft>
                <a:spcPts val="0"/>
              </a:spcAft>
              <a:buClr>
                <a:srgbClr val="7150A0"/>
              </a:buClr>
              <a:buSzPts val="1600"/>
              <a:buFont typeface="Arial"/>
              <a:buChar char="•"/>
            </a:pPr>
            <a:r>
              <a:rPr b="0" i="0" lang="es-ES" sz="1600" u="none" cap="none" strike="noStrike">
                <a:solidFill>
                  <a:schemeClr val="dk1"/>
                </a:solidFill>
                <a:latin typeface="Calibri"/>
                <a:ea typeface="Calibri"/>
                <a:cs typeface="Calibri"/>
                <a:sym typeface="Calibri"/>
              </a:rPr>
              <a:t>Java Database Connectivity (JDBC)</a:t>
            </a:r>
            <a:br>
              <a:rPr b="0" i="0" lang="es-ES" sz="1600" u="none" cap="none" strike="noStrike">
                <a:solidFill>
                  <a:schemeClr val="dk1"/>
                </a:solidFill>
                <a:latin typeface="Calibri"/>
                <a:ea typeface="Calibri"/>
                <a:cs typeface="Calibri"/>
                <a:sym typeface="Calibri"/>
              </a:rPr>
            </a:br>
            <a:br>
              <a:rPr b="0" i="0" lang="es-ES" sz="1600" u="none" cap="none" strike="noStrike">
                <a:solidFill>
                  <a:schemeClr val="dk1"/>
                </a:solidFill>
                <a:latin typeface="Calibri"/>
                <a:ea typeface="Calibri"/>
                <a:cs typeface="Calibri"/>
                <a:sym typeface="Calibri"/>
              </a:rPr>
            </a:br>
            <a:endParaRPr b="0" i="0" sz="1600" u="none" cap="none" strike="noStrike">
              <a:solidFill>
                <a:schemeClr val="dk1"/>
              </a:solidFill>
              <a:latin typeface="Calibri"/>
              <a:ea typeface="Calibri"/>
              <a:cs typeface="Calibri"/>
              <a:sym typeface="Calibri"/>
            </a:endParaRPr>
          </a:p>
          <a:p>
            <a:pPr indent="-77788" lvl="0" marL="179388" marR="0" rtl="0" algn="l">
              <a:lnSpc>
                <a:spcPct val="100000"/>
              </a:lnSpc>
              <a:spcBef>
                <a:spcPts val="0"/>
              </a:spcBef>
              <a:spcAft>
                <a:spcPts val="0"/>
              </a:spcAft>
              <a:buClr>
                <a:schemeClr val="accent3"/>
              </a:buClr>
              <a:buSzPts val="1600"/>
              <a:buFont typeface="Arial"/>
              <a:buNone/>
            </a:pPr>
            <a:r>
              <a:t/>
            </a:r>
            <a:endParaRPr b="0" i="0" sz="1600" u="none" cap="none" strike="noStrike">
              <a:solidFill>
                <a:schemeClr val="dk1"/>
              </a:solidFill>
              <a:latin typeface="Calibri"/>
              <a:ea typeface="Calibri"/>
              <a:cs typeface="Calibri"/>
              <a:sym typeface="Calibri"/>
            </a:endParaRPr>
          </a:p>
        </p:txBody>
      </p:sp>
      <p:grpSp>
        <p:nvGrpSpPr>
          <p:cNvPr id="157" name="Google Shape;157;p8"/>
          <p:cNvGrpSpPr/>
          <p:nvPr/>
        </p:nvGrpSpPr>
        <p:grpSpPr>
          <a:xfrm>
            <a:off x="326977" y="917244"/>
            <a:ext cx="2913111" cy="394721"/>
            <a:chOff x="287221" y="917244"/>
            <a:chExt cx="3425276" cy="500394"/>
          </a:xfrm>
        </p:grpSpPr>
        <p:sp>
          <p:nvSpPr>
            <p:cNvPr id="158" name="Google Shape;158;p8"/>
            <p:cNvSpPr/>
            <p:nvPr/>
          </p:nvSpPr>
          <p:spPr>
            <a:xfrm>
              <a:off x="503237" y="917244"/>
              <a:ext cx="3209260" cy="500394"/>
            </a:xfrm>
            <a:prstGeom prst="roundRect">
              <a:avLst>
                <a:gd fmla="val 24841" name="adj"/>
              </a:avLst>
            </a:prstGeom>
            <a:solidFill>
              <a:srgbClr val="7150A0"/>
            </a:solidFill>
            <a:ln>
              <a:noFill/>
            </a:ln>
          </p:spPr>
          <p:txBody>
            <a:bodyPr anchorCtr="0" anchor="ctr" bIns="45700" lIns="251975" spcFirstLastPara="1" rIns="91425" wrap="square" tIns="45700">
              <a:noAutofit/>
            </a:bodyPr>
            <a:lstStyle/>
            <a:p>
              <a:pPr indent="-1588" lvl="0" marL="6350" marR="0" rtl="0" algn="ctr">
                <a:lnSpc>
                  <a:spcPct val="100000"/>
                </a:lnSpc>
                <a:spcBef>
                  <a:spcPts val="0"/>
                </a:spcBef>
                <a:spcAft>
                  <a:spcPts val="0"/>
                </a:spcAft>
                <a:buNone/>
              </a:pPr>
              <a:r>
                <a:rPr b="1" i="0" lang="es-ES" sz="1200" u="none" cap="none" strike="noStrike">
                  <a:solidFill>
                    <a:schemeClr val="lt1"/>
                  </a:solidFill>
                  <a:latin typeface="Calibri"/>
                  <a:ea typeface="Calibri"/>
                  <a:cs typeface="Calibri"/>
                  <a:sym typeface="Calibri"/>
                </a:rPr>
                <a:t>NIVEL DE INTEGRACIÓN</a:t>
              </a:r>
              <a:br>
                <a:rPr b="1" i="0" lang="es-ES" sz="1200" u="none" cap="none" strike="noStrike">
                  <a:solidFill>
                    <a:schemeClr val="lt1"/>
                  </a:solidFill>
                  <a:latin typeface="Calibri"/>
                  <a:ea typeface="Calibri"/>
                  <a:cs typeface="Calibri"/>
                  <a:sym typeface="Calibri"/>
                </a:rPr>
              </a:br>
              <a:r>
                <a:rPr b="1" i="0" lang="es-ES" sz="1200" u="none" cap="none" strike="noStrike">
                  <a:solidFill>
                    <a:schemeClr val="lt1"/>
                  </a:solidFill>
                  <a:latin typeface="Calibri"/>
                  <a:ea typeface="Calibri"/>
                  <a:cs typeface="Calibri"/>
                  <a:sym typeface="Calibri"/>
                </a:rPr>
                <a:t>(ACCESO A DATOS)</a:t>
              </a:r>
              <a:endParaRPr/>
            </a:p>
          </p:txBody>
        </p:sp>
        <p:grpSp>
          <p:nvGrpSpPr>
            <p:cNvPr id="159" name="Google Shape;159;p8"/>
            <p:cNvGrpSpPr/>
            <p:nvPr/>
          </p:nvGrpSpPr>
          <p:grpSpPr>
            <a:xfrm>
              <a:off x="287221" y="965530"/>
              <a:ext cx="459474" cy="403823"/>
              <a:chOff x="5892512" y="2805541"/>
              <a:chExt cx="459474" cy="403823"/>
            </a:xfrm>
          </p:grpSpPr>
          <p:sp>
            <p:nvSpPr>
              <p:cNvPr id="160" name="Google Shape;160;p8"/>
              <p:cNvSpPr/>
              <p:nvPr/>
            </p:nvSpPr>
            <p:spPr>
              <a:xfrm>
                <a:off x="5956277" y="2824919"/>
                <a:ext cx="395709" cy="376075"/>
              </a:xfrm>
              <a:prstGeom prst="ellipse">
                <a:avLst/>
              </a:prstGeom>
              <a:solidFill>
                <a:srgbClr val="543B7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61" name="Google Shape;161;p8"/>
              <p:cNvSpPr/>
              <p:nvPr/>
            </p:nvSpPr>
            <p:spPr>
              <a:xfrm>
                <a:off x="5892512" y="2805541"/>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62" name="Google Shape;162;p8"/>
              <p:cNvSpPr/>
              <p:nvPr/>
            </p:nvSpPr>
            <p:spPr>
              <a:xfrm rot="5400000">
                <a:off x="6076285" y="2946262"/>
                <a:ext cx="186870" cy="122381"/>
              </a:xfrm>
              <a:prstGeom prst="triangle">
                <a:avLst>
                  <a:gd fmla="val 50000" name="adj"/>
                </a:avLst>
              </a:prstGeom>
              <a:solidFill>
                <a:srgbClr val="715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9"/>
          <p:cNvSpPr txBox="1"/>
          <p:nvPr/>
        </p:nvSpPr>
        <p:spPr>
          <a:xfrm>
            <a:off x="504814" y="919487"/>
            <a:ext cx="3887799" cy="32778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1600" u="none" cap="none" strike="noStrike">
                <a:solidFill>
                  <a:schemeClr val="dk1"/>
                </a:solidFill>
                <a:latin typeface="Calibri"/>
                <a:ea typeface="Calibri"/>
                <a:cs typeface="Calibri"/>
                <a:sym typeface="Calibri"/>
              </a:rPr>
              <a:t>SERVIDOR DE APLICACIONES JAVA EE</a:t>
            </a:r>
            <a:endParaRPr b="1" i="0" sz="16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None/>
            </a:pPr>
            <a:r>
              <a:rPr b="0" i="0" lang="es-ES" sz="1600" u="none" cap="none" strike="noStrike">
                <a:solidFill>
                  <a:schemeClr val="dk1"/>
                </a:solidFill>
                <a:latin typeface="Calibri"/>
                <a:ea typeface="Calibri"/>
                <a:cs typeface="Calibri"/>
                <a:sym typeface="Calibri"/>
              </a:rPr>
              <a:t>Es un software que proporciona un entorno de ejecución para las aplicaciones Java EE.</a:t>
            </a:r>
            <a:endParaRPr b="0" i="0" sz="1600" u="none" cap="none" strike="noStrike">
              <a:solidFill>
                <a:schemeClr val="dk1"/>
              </a:solidFill>
              <a:latin typeface="Calibri"/>
              <a:ea typeface="Calibri"/>
              <a:cs typeface="Calibri"/>
              <a:sym typeface="Calibri"/>
            </a:endParaRPr>
          </a:p>
          <a:p>
            <a:pPr indent="-77788" lvl="0" marL="179388"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600" u="none" cap="none" strike="noStrike">
                <a:solidFill>
                  <a:schemeClr val="dk1"/>
                </a:solidFill>
                <a:latin typeface="Calibri"/>
                <a:ea typeface="Calibri"/>
                <a:cs typeface="Calibri"/>
                <a:sym typeface="Calibri"/>
              </a:rPr>
              <a:t>Un servidor de aplicaciones Java EE se compone:</a:t>
            </a:r>
            <a:endParaRPr b="0" i="0" sz="1600" u="none" cap="none" strike="noStrike">
              <a:solidFill>
                <a:schemeClr val="dk1"/>
              </a:solidFill>
              <a:latin typeface="Calibri"/>
              <a:ea typeface="Calibri"/>
              <a:cs typeface="Calibri"/>
              <a:sym typeface="Calibri"/>
            </a:endParaRPr>
          </a:p>
          <a:p>
            <a:pPr indent="-77788" lvl="0" marL="179388"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179387" lvl="0" marL="358775" marR="0" rtl="0" algn="l">
              <a:lnSpc>
                <a:spcPct val="100000"/>
              </a:lnSpc>
              <a:spcBef>
                <a:spcPts val="0"/>
              </a:spcBef>
              <a:spcAft>
                <a:spcPts val="0"/>
              </a:spcAft>
              <a:buClr>
                <a:srgbClr val="262626"/>
              </a:buClr>
              <a:buSzPts val="1600"/>
              <a:buFont typeface="Arial"/>
              <a:buChar char="•"/>
            </a:pPr>
            <a:r>
              <a:rPr b="0" i="0" lang="es-ES" sz="1600" u="none" cap="none" strike="noStrike">
                <a:solidFill>
                  <a:schemeClr val="dk1"/>
                </a:solidFill>
                <a:latin typeface="Calibri"/>
                <a:ea typeface="Calibri"/>
                <a:cs typeface="Calibri"/>
                <a:sym typeface="Calibri"/>
              </a:rPr>
              <a:t>Contenedor Web.</a:t>
            </a:r>
            <a:endParaRPr b="0" i="0" sz="1600" u="none" cap="none" strike="noStrike">
              <a:solidFill>
                <a:schemeClr val="dk1"/>
              </a:solidFill>
              <a:latin typeface="Calibri"/>
              <a:ea typeface="Calibri"/>
              <a:cs typeface="Calibri"/>
              <a:sym typeface="Calibri"/>
            </a:endParaRPr>
          </a:p>
          <a:p>
            <a:pPr indent="-179387" lvl="0" marL="358775" marR="0" rtl="0" algn="l">
              <a:lnSpc>
                <a:spcPct val="100000"/>
              </a:lnSpc>
              <a:spcBef>
                <a:spcPts val="0"/>
              </a:spcBef>
              <a:spcAft>
                <a:spcPts val="0"/>
              </a:spcAft>
              <a:buClr>
                <a:srgbClr val="262626"/>
              </a:buClr>
              <a:buSzPts val="1600"/>
              <a:buFont typeface="Arial"/>
              <a:buChar char="•"/>
            </a:pPr>
            <a:r>
              <a:rPr b="0" i="0" lang="es-ES" sz="1600" u="none" cap="none" strike="noStrike">
                <a:solidFill>
                  <a:schemeClr val="dk1"/>
                </a:solidFill>
                <a:latin typeface="Calibri"/>
                <a:ea typeface="Calibri"/>
                <a:cs typeface="Calibri"/>
                <a:sym typeface="Calibri"/>
              </a:rPr>
              <a:t>Contenedor de EJBs. (Opcional)</a:t>
            </a:r>
            <a:endParaRPr b="0" i="0" sz="1600" u="none" cap="none" strike="noStrike">
              <a:solidFill>
                <a:schemeClr val="dk1"/>
              </a:solidFill>
              <a:latin typeface="Calibri"/>
              <a:ea typeface="Calibri"/>
              <a:cs typeface="Calibri"/>
              <a:sym typeface="Calibri"/>
            </a:endParaRPr>
          </a:p>
          <a:p>
            <a:pPr indent="-77788" lvl="0" marL="179388"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600" u="none" cap="none" strike="noStrike">
                <a:solidFill>
                  <a:schemeClr val="dk1"/>
                </a:solidFill>
                <a:latin typeface="Calibri"/>
                <a:ea typeface="Calibri"/>
                <a:cs typeface="Calibri"/>
                <a:sym typeface="Calibri"/>
              </a:rPr>
              <a:t>Cabe mencionar que se pueden desarrollar aplicaciones que no hagan uso del contenedor de EJBs.</a:t>
            </a:r>
            <a:endParaRPr b="0" i="0" sz="1600" u="none" cap="none" strike="noStrike">
              <a:solidFill>
                <a:schemeClr val="dk1"/>
              </a:solidFill>
              <a:latin typeface="Calibri"/>
              <a:ea typeface="Calibri"/>
              <a:cs typeface="Calibri"/>
              <a:sym typeface="Calibri"/>
            </a:endParaRPr>
          </a:p>
        </p:txBody>
      </p:sp>
      <p:pic>
        <p:nvPicPr>
          <p:cNvPr id="169" name="Google Shape;169;p9"/>
          <p:cNvPicPr preferRelativeResize="0"/>
          <p:nvPr/>
        </p:nvPicPr>
        <p:blipFill rotWithShape="1">
          <a:blip r:embed="rId3">
            <a:alphaModFix/>
          </a:blip>
          <a:srcRect b="0" l="4942" r="3534" t="0"/>
          <a:stretch/>
        </p:blipFill>
        <p:spPr>
          <a:xfrm>
            <a:off x="4751388" y="920320"/>
            <a:ext cx="3924299" cy="2988237"/>
          </a:xfrm>
          <a:prstGeom prst="rect">
            <a:avLst/>
          </a:prstGeom>
          <a:noFill/>
          <a:ln>
            <a:noFill/>
          </a:ln>
        </p:spPr>
      </p:pic>
      <p:sp>
        <p:nvSpPr>
          <p:cNvPr id="170" name="Google Shape;170;p9"/>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GESTIÓN DEL SERVIDOR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txBox="1"/>
          <p:nvPr/>
        </p:nvSpPr>
        <p:spPr>
          <a:xfrm>
            <a:off x="504813" y="919487"/>
            <a:ext cx="7824903" cy="5693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1600" u="none" cap="none" strike="noStrike">
                <a:solidFill>
                  <a:schemeClr val="dk1"/>
                </a:solidFill>
                <a:latin typeface="Calibri"/>
                <a:ea typeface="Calibri"/>
                <a:cs typeface="Calibri"/>
                <a:sym typeface="Calibri"/>
              </a:rPr>
              <a:t>SERVIDOR DE APLICACIONES JAVA EE</a:t>
            </a:r>
            <a:endParaRPr/>
          </a:p>
          <a:p>
            <a:pPr indent="0" lvl="0" marL="0" marR="0" rtl="0" algn="l">
              <a:lnSpc>
                <a:spcPct val="100000"/>
              </a:lnSpc>
              <a:spcBef>
                <a:spcPts val="600"/>
              </a:spcBef>
              <a:spcAft>
                <a:spcPts val="0"/>
              </a:spcAft>
              <a:buNone/>
            </a:pPr>
            <a:r>
              <a:rPr b="0" i="0" lang="es-ES" sz="1600" u="none" cap="none" strike="noStrike">
                <a:solidFill>
                  <a:schemeClr val="dk1"/>
                </a:solidFill>
                <a:latin typeface="Calibri"/>
                <a:ea typeface="Calibri"/>
                <a:cs typeface="Calibri"/>
                <a:sym typeface="Calibri"/>
              </a:rPr>
              <a:t>Proporcionan una amplia gama de servicios y funcionalidades como: </a:t>
            </a:r>
            <a:endParaRPr b="0" i="0" sz="1600" u="none" cap="none" strike="noStrike">
              <a:solidFill>
                <a:schemeClr val="dk1"/>
              </a:solidFill>
              <a:latin typeface="Calibri"/>
              <a:ea typeface="Calibri"/>
              <a:cs typeface="Calibri"/>
              <a:sym typeface="Calibri"/>
            </a:endParaRPr>
          </a:p>
        </p:txBody>
      </p:sp>
      <p:sp>
        <p:nvSpPr>
          <p:cNvPr id="177" name="Google Shape;177;p10"/>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GESTIÓN DEL SERVIDOR</a:t>
            </a:r>
            <a:endParaRPr/>
          </a:p>
        </p:txBody>
      </p:sp>
      <p:cxnSp>
        <p:nvCxnSpPr>
          <p:cNvPr id="178" name="Google Shape;178;p10"/>
          <p:cNvCxnSpPr/>
          <p:nvPr/>
        </p:nvCxnSpPr>
        <p:spPr>
          <a:xfrm>
            <a:off x="722046" y="2018292"/>
            <a:ext cx="0" cy="240083"/>
          </a:xfrm>
          <a:prstGeom prst="straightConnector1">
            <a:avLst/>
          </a:prstGeom>
          <a:noFill/>
          <a:ln cap="flat" cmpd="sng" w="12700">
            <a:solidFill>
              <a:srgbClr val="00B1C2"/>
            </a:solidFill>
            <a:prstDash val="solid"/>
            <a:round/>
            <a:headEnd len="sm" w="sm" type="none"/>
            <a:tailEnd len="sm" w="sm" type="none"/>
          </a:ln>
        </p:spPr>
      </p:cxnSp>
      <p:grpSp>
        <p:nvGrpSpPr>
          <p:cNvPr id="179" name="Google Shape;179;p10"/>
          <p:cNvGrpSpPr/>
          <p:nvPr/>
        </p:nvGrpSpPr>
        <p:grpSpPr>
          <a:xfrm>
            <a:off x="645704" y="1776864"/>
            <a:ext cx="3421471" cy="246221"/>
            <a:chOff x="645704" y="2263649"/>
            <a:chExt cx="3421471" cy="246221"/>
          </a:xfrm>
        </p:grpSpPr>
        <p:sp>
          <p:nvSpPr>
            <p:cNvPr id="180" name="Google Shape;180;p10"/>
            <p:cNvSpPr/>
            <p:nvPr/>
          </p:nvSpPr>
          <p:spPr>
            <a:xfrm>
              <a:off x="933467" y="2263649"/>
              <a:ext cx="3133708" cy="246221"/>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0" i="0" lang="es-ES" sz="1600" u="none" cap="none" strike="noStrike">
                  <a:solidFill>
                    <a:schemeClr val="dk1"/>
                  </a:solidFill>
                  <a:latin typeface="Calibri"/>
                  <a:ea typeface="Calibri"/>
                  <a:cs typeface="Calibri"/>
                  <a:sym typeface="Calibri"/>
                </a:rPr>
                <a:t>Seguridad.</a:t>
              </a:r>
              <a:endParaRPr/>
            </a:p>
          </p:txBody>
        </p:sp>
        <p:sp>
          <p:nvSpPr>
            <p:cNvPr id="181" name="Google Shape;181;p10"/>
            <p:cNvSpPr/>
            <p:nvPr/>
          </p:nvSpPr>
          <p:spPr>
            <a:xfrm>
              <a:off x="645704" y="2311979"/>
              <a:ext cx="152683" cy="152683"/>
            </a:xfrm>
            <a:prstGeom prst="mathPlus">
              <a:avLst>
                <a:gd fmla="val 15202" name="adj1"/>
              </a:avLst>
            </a:prstGeom>
            <a:solidFill>
              <a:srgbClr val="00B1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182" name="Google Shape;182;p10"/>
          <p:cNvGrpSpPr/>
          <p:nvPr/>
        </p:nvGrpSpPr>
        <p:grpSpPr>
          <a:xfrm>
            <a:off x="645704" y="2259882"/>
            <a:ext cx="3421471" cy="246221"/>
            <a:chOff x="645704" y="2745160"/>
            <a:chExt cx="3421471" cy="246221"/>
          </a:xfrm>
        </p:grpSpPr>
        <p:sp>
          <p:nvSpPr>
            <p:cNvPr id="183" name="Google Shape;183;p10"/>
            <p:cNvSpPr/>
            <p:nvPr/>
          </p:nvSpPr>
          <p:spPr>
            <a:xfrm>
              <a:off x="933467" y="2745160"/>
              <a:ext cx="3133708" cy="246221"/>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0" i="0" lang="es-ES" sz="1600" u="none" cap="none" strike="noStrike">
                  <a:solidFill>
                    <a:schemeClr val="dk1"/>
                  </a:solidFill>
                  <a:latin typeface="Calibri"/>
                  <a:ea typeface="Calibri"/>
                  <a:cs typeface="Calibri"/>
                  <a:sym typeface="Calibri"/>
                </a:rPr>
                <a:t>Transacción.</a:t>
              </a:r>
              <a:endParaRPr/>
            </a:p>
          </p:txBody>
        </p:sp>
        <p:sp>
          <p:nvSpPr>
            <p:cNvPr id="184" name="Google Shape;184;p10"/>
            <p:cNvSpPr/>
            <p:nvPr/>
          </p:nvSpPr>
          <p:spPr>
            <a:xfrm>
              <a:off x="645704" y="2794579"/>
              <a:ext cx="152683" cy="152683"/>
            </a:xfrm>
            <a:prstGeom prst="mathPlus">
              <a:avLst>
                <a:gd fmla="val 15202" name="adj1"/>
              </a:avLst>
            </a:prstGeom>
            <a:solidFill>
              <a:srgbClr val="00B1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cxnSp>
        <p:nvCxnSpPr>
          <p:cNvPr id="185" name="Google Shape;185;p10"/>
          <p:cNvCxnSpPr/>
          <p:nvPr/>
        </p:nvCxnSpPr>
        <p:spPr>
          <a:xfrm>
            <a:off x="722046" y="2986132"/>
            <a:ext cx="0" cy="240083"/>
          </a:xfrm>
          <a:prstGeom prst="straightConnector1">
            <a:avLst/>
          </a:prstGeom>
          <a:noFill/>
          <a:ln cap="flat" cmpd="sng" w="12700">
            <a:solidFill>
              <a:srgbClr val="00B1C2"/>
            </a:solidFill>
            <a:prstDash val="solid"/>
            <a:round/>
            <a:headEnd len="sm" w="sm" type="none"/>
            <a:tailEnd len="sm" w="sm" type="none"/>
          </a:ln>
        </p:spPr>
      </p:cxnSp>
      <p:grpSp>
        <p:nvGrpSpPr>
          <p:cNvPr id="186" name="Google Shape;186;p10"/>
          <p:cNvGrpSpPr/>
          <p:nvPr/>
        </p:nvGrpSpPr>
        <p:grpSpPr>
          <a:xfrm>
            <a:off x="645704" y="2742900"/>
            <a:ext cx="3026183" cy="246221"/>
            <a:chOff x="645704" y="3226671"/>
            <a:chExt cx="3026183" cy="246221"/>
          </a:xfrm>
        </p:grpSpPr>
        <p:sp>
          <p:nvSpPr>
            <p:cNvPr id="187" name="Google Shape;187;p10"/>
            <p:cNvSpPr/>
            <p:nvPr/>
          </p:nvSpPr>
          <p:spPr>
            <a:xfrm>
              <a:off x="933466" y="3226671"/>
              <a:ext cx="2738421" cy="246221"/>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0" i="0" lang="es-ES" sz="1600" u="none" cap="none" strike="noStrike">
                  <a:solidFill>
                    <a:schemeClr val="dk1"/>
                  </a:solidFill>
                  <a:latin typeface="Calibri"/>
                  <a:ea typeface="Calibri"/>
                  <a:cs typeface="Calibri"/>
                  <a:sym typeface="Calibri"/>
                </a:rPr>
                <a:t>Gestión de sesiones.</a:t>
              </a:r>
              <a:endParaRPr/>
            </a:p>
          </p:txBody>
        </p:sp>
        <p:sp>
          <p:nvSpPr>
            <p:cNvPr id="188" name="Google Shape;188;p10"/>
            <p:cNvSpPr/>
            <p:nvPr/>
          </p:nvSpPr>
          <p:spPr>
            <a:xfrm>
              <a:off x="645704" y="3286704"/>
              <a:ext cx="152683" cy="152683"/>
            </a:xfrm>
            <a:prstGeom prst="mathPlus">
              <a:avLst>
                <a:gd fmla="val 15202" name="adj1"/>
              </a:avLst>
            </a:prstGeom>
            <a:solidFill>
              <a:srgbClr val="00B1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189" name="Google Shape;189;p10"/>
          <p:cNvGrpSpPr/>
          <p:nvPr/>
        </p:nvGrpSpPr>
        <p:grpSpPr>
          <a:xfrm>
            <a:off x="645704" y="3225918"/>
            <a:ext cx="3026184" cy="246221"/>
            <a:chOff x="645704" y="3708181"/>
            <a:chExt cx="3026184" cy="246221"/>
          </a:xfrm>
        </p:grpSpPr>
        <p:sp>
          <p:nvSpPr>
            <p:cNvPr id="190" name="Google Shape;190;p10"/>
            <p:cNvSpPr/>
            <p:nvPr/>
          </p:nvSpPr>
          <p:spPr>
            <a:xfrm>
              <a:off x="933467" y="3708181"/>
              <a:ext cx="2738421" cy="246221"/>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0" i="0" lang="es-ES" sz="1600" u="none" cap="none" strike="noStrike">
                  <a:solidFill>
                    <a:schemeClr val="dk1"/>
                  </a:solidFill>
                  <a:latin typeface="Calibri"/>
                  <a:ea typeface="Calibri"/>
                  <a:cs typeface="Calibri"/>
                  <a:sym typeface="Calibri"/>
                </a:rPr>
                <a:t>Conexión con base de datos.</a:t>
              </a:r>
              <a:endParaRPr/>
            </a:p>
          </p:txBody>
        </p:sp>
        <p:sp>
          <p:nvSpPr>
            <p:cNvPr id="191" name="Google Shape;191;p10"/>
            <p:cNvSpPr/>
            <p:nvPr/>
          </p:nvSpPr>
          <p:spPr>
            <a:xfrm>
              <a:off x="645704" y="3753429"/>
              <a:ext cx="152683" cy="152683"/>
            </a:xfrm>
            <a:prstGeom prst="mathPlus">
              <a:avLst>
                <a:gd fmla="val 15202" name="adj1"/>
              </a:avLst>
            </a:prstGeom>
            <a:solidFill>
              <a:srgbClr val="00B1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cxnSp>
        <p:nvCxnSpPr>
          <p:cNvPr id="192" name="Google Shape;192;p10"/>
          <p:cNvCxnSpPr/>
          <p:nvPr/>
        </p:nvCxnSpPr>
        <p:spPr>
          <a:xfrm>
            <a:off x="722046" y="2502212"/>
            <a:ext cx="0" cy="240083"/>
          </a:xfrm>
          <a:prstGeom prst="straightConnector1">
            <a:avLst/>
          </a:prstGeom>
          <a:noFill/>
          <a:ln cap="flat" cmpd="sng" w="12700">
            <a:solidFill>
              <a:srgbClr val="00B1C2"/>
            </a:solidFill>
            <a:prstDash val="solid"/>
            <a:round/>
            <a:headEnd len="sm" w="sm" type="none"/>
            <a:tailEnd len="sm" w="sm" type="none"/>
          </a:ln>
        </p:spPr>
      </p:cxnSp>
      <p:grpSp>
        <p:nvGrpSpPr>
          <p:cNvPr id="193" name="Google Shape;193;p10"/>
          <p:cNvGrpSpPr/>
          <p:nvPr/>
        </p:nvGrpSpPr>
        <p:grpSpPr>
          <a:xfrm>
            <a:off x="645704" y="3708936"/>
            <a:ext cx="4013064" cy="246221"/>
            <a:chOff x="645704" y="3708181"/>
            <a:chExt cx="4013064" cy="246221"/>
          </a:xfrm>
        </p:grpSpPr>
        <p:sp>
          <p:nvSpPr>
            <p:cNvPr id="194" name="Google Shape;194;p10"/>
            <p:cNvSpPr/>
            <p:nvPr/>
          </p:nvSpPr>
          <p:spPr>
            <a:xfrm>
              <a:off x="933467" y="3708181"/>
              <a:ext cx="3725301"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ES" sz="1600" u="none" cap="none" strike="noStrike">
                  <a:solidFill>
                    <a:schemeClr val="dk1"/>
                  </a:solidFill>
                  <a:latin typeface="Calibri"/>
                  <a:ea typeface="Calibri"/>
                  <a:cs typeface="Calibri"/>
                  <a:sym typeface="Calibri"/>
                </a:rPr>
                <a:t>Servicios de comunicación y conectividad.</a:t>
              </a:r>
              <a:endParaRPr/>
            </a:p>
          </p:txBody>
        </p:sp>
        <p:sp>
          <p:nvSpPr>
            <p:cNvPr id="195" name="Google Shape;195;p10"/>
            <p:cNvSpPr/>
            <p:nvPr/>
          </p:nvSpPr>
          <p:spPr>
            <a:xfrm>
              <a:off x="645704" y="3753429"/>
              <a:ext cx="152683" cy="152683"/>
            </a:xfrm>
            <a:prstGeom prst="mathPlus">
              <a:avLst>
                <a:gd fmla="val 15202" name="adj1"/>
              </a:avLst>
            </a:prstGeom>
            <a:solidFill>
              <a:srgbClr val="00B1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196" name="Google Shape;196;p10"/>
          <p:cNvGrpSpPr/>
          <p:nvPr/>
        </p:nvGrpSpPr>
        <p:grpSpPr>
          <a:xfrm>
            <a:off x="645704" y="4191954"/>
            <a:ext cx="3026184" cy="246221"/>
            <a:chOff x="645704" y="3708181"/>
            <a:chExt cx="3026184" cy="246221"/>
          </a:xfrm>
        </p:grpSpPr>
        <p:sp>
          <p:nvSpPr>
            <p:cNvPr id="197" name="Google Shape;197;p10"/>
            <p:cNvSpPr/>
            <p:nvPr/>
          </p:nvSpPr>
          <p:spPr>
            <a:xfrm>
              <a:off x="933467" y="3708181"/>
              <a:ext cx="2738421" cy="246221"/>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0" i="0" lang="es-ES" sz="1600" u="none" cap="none" strike="noStrike">
                  <a:solidFill>
                    <a:schemeClr val="dk1"/>
                  </a:solidFill>
                  <a:latin typeface="Calibri"/>
                  <a:ea typeface="Calibri"/>
                  <a:cs typeface="Calibri"/>
                  <a:sym typeface="Calibri"/>
                </a:rPr>
                <a:t>Escalabilidad.</a:t>
              </a:r>
              <a:endParaRPr/>
            </a:p>
          </p:txBody>
        </p:sp>
        <p:sp>
          <p:nvSpPr>
            <p:cNvPr id="198" name="Google Shape;198;p10"/>
            <p:cNvSpPr/>
            <p:nvPr/>
          </p:nvSpPr>
          <p:spPr>
            <a:xfrm>
              <a:off x="645704" y="3753429"/>
              <a:ext cx="152683" cy="152683"/>
            </a:xfrm>
            <a:prstGeom prst="mathPlus">
              <a:avLst>
                <a:gd fmla="val 15202" name="adj1"/>
              </a:avLst>
            </a:prstGeom>
            <a:solidFill>
              <a:srgbClr val="00B1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199" name="Google Shape;199;p10"/>
          <p:cNvGrpSpPr/>
          <p:nvPr/>
        </p:nvGrpSpPr>
        <p:grpSpPr>
          <a:xfrm>
            <a:off x="645704" y="4674971"/>
            <a:ext cx="3026184" cy="246221"/>
            <a:chOff x="645704" y="3708181"/>
            <a:chExt cx="3026184" cy="246221"/>
          </a:xfrm>
        </p:grpSpPr>
        <p:sp>
          <p:nvSpPr>
            <p:cNvPr id="200" name="Google Shape;200;p10"/>
            <p:cNvSpPr/>
            <p:nvPr/>
          </p:nvSpPr>
          <p:spPr>
            <a:xfrm>
              <a:off x="933467" y="3708181"/>
              <a:ext cx="2738421" cy="246221"/>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0" i="0" lang="es-ES" sz="1600" u="none" cap="none" strike="noStrike">
                  <a:solidFill>
                    <a:schemeClr val="dk1"/>
                  </a:solidFill>
                  <a:latin typeface="Calibri"/>
                  <a:ea typeface="Calibri"/>
                  <a:cs typeface="Calibri"/>
                  <a:sym typeface="Calibri"/>
                </a:rPr>
                <a:t>Alta disponibilidad.</a:t>
              </a:r>
              <a:endParaRPr/>
            </a:p>
          </p:txBody>
        </p:sp>
        <p:sp>
          <p:nvSpPr>
            <p:cNvPr id="201" name="Google Shape;201;p10"/>
            <p:cNvSpPr/>
            <p:nvPr/>
          </p:nvSpPr>
          <p:spPr>
            <a:xfrm>
              <a:off x="645704" y="3753429"/>
              <a:ext cx="152683" cy="152683"/>
            </a:xfrm>
            <a:prstGeom prst="mathPlus">
              <a:avLst>
                <a:gd fmla="val 15202" name="adj1"/>
              </a:avLst>
            </a:prstGeom>
            <a:solidFill>
              <a:srgbClr val="00B1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cxnSp>
        <p:nvCxnSpPr>
          <p:cNvPr id="202" name="Google Shape;202;p10"/>
          <p:cNvCxnSpPr/>
          <p:nvPr/>
        </p:nvCxnSpPr>
        <p:spPr>
          <a:xfrm>
            <a:off x="722046" y="3470052"/>
            <a:ext cx="0" cy="240083"/>
          </a:xfrm>
          <a:prstGeom prst="straightConnector1">
            <a:avLst/>
          </a:prstGeom>
          <a:noFill/>
          <a:ln cap="flat" cmpd="sng" w="12700">
            <a:solidFill>
              <a:srgbClr val="00B1C2"/>
            </a:solidFill>
            <a:prstDash val="solid"/>
            <a:round/>
            <a:headEnd len="sm" w="sm" type="none"/>
            <a:tailEnd len="sm" w="sm" type="none"/>
          </a:ln>
        </p:spPr>
      </p:cxnSp>
      <p:cxnSp>
        <p:nvCxnSpPr>
          <p:cNvPr id="203" name="Google Shape;203;p10"/>
          <p:cNvCxnSpPr/>
          <p:nvPr/>
        </p:nvCxnSpPr>
        <p:spPr>
          <a:xfrm>
            <a:off x="722046" y="3953972"/>
            <a:ext cx="0" cy="240083"/>
          </a:xfrm>
          <a:prstGeom prst="straightConnector1">
            <a:avLst/>
          </a:prstGeom>
          <a:noFill/>
          <a:ln cap="flat" cmpd="sng" w="12700">
            <a:solidFill>
              <a:srgbClr val="00B1C2"/>
            </a:solidFill>
            <a:prstDash val="solid"/>
            <a:round/>
            <a:headEnd len="sm" w="sm" type="none"/>
            <a:tailEnd len="sm" w="sm" type="none"/>
          </a:ln>
        </p:spPr>
      </p:cxnSp>
      <p:cxnSp>
        <p:nvCxnSpPr>
          <p:cNvPr id="204" name="Google Shape;204;p10"/>
          <p:cNvCxnSpPr/>
          <p:nvPr/>
        </p:nvCxnSpPr>
        <p:spPr>
          <a:xfrm>
            <a:off x="722046" y="4437894"/>
            <a:ext cx="0" cy="240083"/>
          </a:xfrm>
          <a:prstGeom prst="straightConnector1">
            <a:avLst/>
          </a:prstGeom>
          <a:noFill/>
          <a:ln cap="flat" cmpd="sng" w="12700">
            <a:solidFill>
              <a:srgbClr val="00B1C2"/>
            </a:solidFill>
            <a:prstDash val="solid"/>
            <a:round/>
            <a:headEnd len="sm" w="sm" type="none"/>
            <a:tailEnd len="sm" w="sm" type="none"/>
          </a:ln>
        </p:spPr>
      </p:cxnSp>
      <p:pic>
        <p:nvPicPr>
          <p:cNvPr id="205" name="Google Shape;205;p10"/>
          <p:cNvPicPr preferRelativeResize="0"/>
          <p:nvPr/>
        </p:nvPicPr>
        <p:blipFill rotWithShape="1">
          <a:blip r:embed="rId3">
            <a:alphaModFix/>
          </a:blip>
          <a:srcRect b="0" l="1889" r="3904" t="0"/>
          <a:stretch/>
        </p:blipFill>
        <p:spPr>
          <a:xfrm>
            <a:off x="4572000" y="1724883"/>
            <a:ext cx="4103688" cy="2692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0"/>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12" name="Google Shape;212;p30"/>
          <p:cNvSpPr txBox="1"/>
          <p:nvPr/>
        </p:nvSpPr>
        <p:spPr>
          <a:xfrm>
            <a:off x="1008063" y="3169972"/>
            <a:ext cx="3059112" cy="77559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s-ES" sz="2800" u="none" cap="none" strike="noStrike">
                <a:solidFill>
                  <a:schemeClr val="lt1"/>
                </a:solidFill>
                <a:latin typeface="Arial"/>
                <a:ea typeface="Arial"/>
                <a:cs typeface="Arial"/>
                <a:sym typeface="Arial"/>
              </a:rPr>
              <a:t>APLICACIONES </a:t>
            </a:r>
            <a:r>
              <a:rPr b="1" i="0" lang="es-ES" sz="2800" u="none" cap="none" strike="noStrike">
                <a:solidFill>
                  <a:schemeClr val="lt1"/>
                </a:solidFill>
                <a:latin typeface="Arial"/>
                <a:ea typeface="Arial"/>
                <a:cs typeface="Arial"/>
                <a:sym typeface="Arial"/>
              </a:rPr>
              <a:t>JAVA EE</a:t>
            </a:r>
            <a:endParaRPr/>
          </a:p>
        </p:txBody>
      </p:sp>
      <p:pic>
        <p:nvPicPr>
          <p:cNvPr id="213" name="Google Shape;213;p30"/>
          <p:cNvPicPr preferRelativeResize="0"/>
          <p:nvPr/>
        </p:nvPicPr>
        <p:blipFill rotWithShape="1">
          <a:blip r:embed="rId3">
            <a:alphaModFix/>
          </a:blip>
          <a:srcRect b="0" l="0" r="0" t="0"/>
          <a:stretch/>
        </p:blipFill>
        <p:spPr>
          <a:xfrm>
            <a:off x="1008063" y="2869612"/>
            <a:ext cx="195423" cy="20125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2"/>
          <p:cNvSpPr txBox="1"/>
          <p:nvPr/>
        </p:nvSpPr>
        <p:spPr>
          <a:xfrm>
            <a:off x="504814" y="919487"/>
            <a:ext cx="8164200" cy="3200876"/>
          </a:xfrm>
          <a:prstGeom prst="rect">
            <a:avLst/>
          </a:prstGeom>
          <a:noFill/>
          <a:ln>
            <a:noFill/>
          </a:ln>
        </p:spPr>
        <p:txBody>
          <a:bodyPr anchorCtr="0" anchor="t" bIns="0" lIns="0" spcFirstLastPara="1" rIns="0" wrap="square" tIns="0">
            <a:spAutoFit/>
          </a:bodyPr>
          <a:lstStyle/>
          <a:p>
            <a:pPr indent="-179388" lvl="0" marL="179388" marR="0" rtl="0" algn="l">
              <a:lnSpc>
                <a:spcPct val="100000"/>
              </a:lnSpc>
              <a:spcBef>
                <a:spcPts val="0"/>
              </a:spcBef>
              <a:spcAft>
                <a:spcPts val="0"/>
              </a:spcAft>
              <a:buClr>
                <a:srgbClr val="000000"/>
              </a:buClr>
              <a:buSzPts val="1600"/>
              <a:buFont typeface="Arial"/>
              <a:buChar char="•"/>
            </a:pPr>
            <a:r>
              <a:rPr b="0" i="0" lang="es-ES" sz="1600" u="none" cap="none" strike="noStrike">
                <a:solidFill>
                  <a:schemeClr val="dk1"/>
                </a:solidFill>
                <a:latin typeface="Calibri"/>
                <a:ea typeface="Calibri"/>
                <a:cs typeface="Calibri"/>
                <a:sym typeface="Calibri"/>
              </a:rPr>
              <a:t>Las aplicaciones Java EE (Enterprise Edition) son aplicaciones empresariales basadas en la plataforma Java EE. Estas aplicaciones pueden ser de gran complejidad y ofrecer una amplia gama de funcionalidades y servicios para satisfacer las necesidades de las empresas.</a:t>
            </a:r>
            <a:endParaRPr b="0" i="0" sz="1600" u="none" cap="none" strike="noStrike">
              <a:solidFill>
                <a:schemeClr val="dk1"/>
              </a:solidFill>
              <a:latin typeface="Calibri"/>
              <a:ea typeface="Calibri"/>
              <a:cs typeface="Calibri"/>
              <a:sym typeface="Calibri"/>
            </a:endParaRPr>
          </a:p>
          <a:p>
            <a:pPr indent="-77788" lvl="0" marL="179388"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179388" lvl="0" marL="179388" marR="0" rtl="0" algn="l">
              <a:lnSpc>
                <a:spcPct val="100000"/>
              </a:lnSpc>
              <a:spcBef>
                <a:spcPts val="0"/>
              </a:spcBef>
              <a:spcAft>
                <a:spcPts val="0"/>
              </a:spcAft>
              <a:buClr>
                <a:srgbClr val="000000"/>
              </a:buClr>
              <a:buSzPts val="1600"/>
              <a:buFont typeface="Arial"/>
              <a:buChar char="•"/>
            </a:pPr>
            <a:r>
              <a:rPr b="0" i="0" lang="es-ES" sz="1600" u="none" cap="none" strike="noStrike">
                <a:solidFill>
                  <a:schemeClr val="dk1"/>
                </a:solidFill>
                <a:latin typeface="Calibri"/>
                <a:ea typeface="Calibri"/>
                <a:cs typeface="Calibri"/>
                <a:sym typeface="Calibri"/>
              </a:rPr>
              <a:t>En el desarrollo de una aplicación Java EE, se utilizan componentes como elementos fundamentales. Estos componentes son unidades de software con capacidad funcional que se pueden integrar en una aplicación Java EE y que pueden interactuar con otros componentes.</a:t>
            </a:r>
            <a:endParaRPr b="0" i="0" sz="1600" u="none" cap="none" strike="noStrike">
              <a:solidFill>
                <a:schemeClr val="dk1"/>
              </a:solidFill>
              <a:latin typeface="Calibri"/>
              <a:ea typeface="Calibri"/>
              <a:cs typeface="Calibri"/>
              <a:sym typeface="Calibri"/>
            </a:endParaRPr>
          </a:p>
          <a:p>
            <a:pPr indent="-77788" lvl="0" marL="179388"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179387" lvl="0" marL="358775" marR="0" rtl="0" algn="l">
              <a:lnSpc>
                <a:spcPct val="100000"/>
              </a:lnSpc>
              <a:spcBef>
                <a:spcPts val="0"/>
              </a:spcBef>
              <a:spcAft>
                <a:spcPts val="0"/>
              </a:spcAft>
              <a:buClr>
                <a:srgbClr val="262626"/>
              </a:buClr>
              <a:buSzPts val="1600"/>
              <a:buFont typeface="Arial"/>
              <a:buChar char="•"/>
            </a:pPr>
            <a:r>
              <a:rPr b="0" i="0" lang="es-ES" sz="1600" u="none" cap="none" strike="noStrike">
                <a:solidFill>
                  <a:schemeClr val="dk1"/>
                </a:solidFill>
                <a:latin typeface="Calibri"/>
                <a:ea typeface="Calibri"/>
                <a:cs typeface="Calibri"/>
                <a:sym typeface="Calibri"/>
              </a:rPr>
              <a:t>Applets y aplicaciones cliente son componentes que corren en la máquina cliente.</a:t>
            </a:r>
            <a:endParaRPr b="0" i="0" sz="1600" u="none" cap="none" strike="noStrike">
              <a:solidFill>
                <a:schemeClr val="dk1"/>
              </a:solidFill>
              <a:latin typeface="Calibri"/>
              <a:ea typeface="Calibri"/>
              <a:cs typeface="Calibri"/>
              <a:sym typeface="Calibri"/>
            </a:endParaRPr>
          </a:p>
          <a:p>
            <a:pPr indent="-179387" lvl="0" marL="358775" marR="0" rtl="0" algn="l">
              <a:lnSpc>
                <a:spcPct val="100000"/>
              </a:lnSpc>
              <a:spcBef>
                <a:spcPts val="0"/>
              </a:spcBef>
              <a:spcAft>
                <a:spcPts val="0"/>
              </a:spcAft>
              <a:buClr>
                <a:srgbClr val="262626"/>
              </a:buClr>
              <a:buSzPts val="1600"/>
              <a:buFont typeface="Arial"/>
              <a:buChar char="•"/>
            </a:pPr>
            <a:r>
              <a:rPr b="0" i="0" lang="es-ES" sz="1600" u="none" cap="none" strike="noStrike">
                <a:solidFill>
                  <a:schemeClr val="dk1"/>
                </a:solidFill>
                <a:latin typeface="Calibri"/>
                <a:ea typeface="Calibri"/>
                <a:cs typeface="Calibri"/>
                <a:sym typeface="Calibri"/>
              </a:rPr>
              <a:t>Tecnologías como: Java Servlets, Java Server Facets (JSF), Java Server Pages (JSP), los cuáles se ejecutan en el servidor.</a:t>
            </a:r>
            <a:endParaRPr b="0" i="0" sz="1600" u="none" cap="none" strike="noStrike">
              <a:solidFill>
                <a:schemeClr val="dk1"/>
              </a:solidFill>
              <a:latin typeface="Calibri"/>
              <a:ea typeface="Calibri"/>
              <a:cs typeface="Calibri"/>
              <a:sym typeface="Calibri"/>
            </a:endParaRPr>
          </a:p>
          <a:p>
            <a:pPr indent="-179387" lvl="0" marL="358775" marR="0" rtl="0" algn="l">
              <a:lnSpc>
                <a:spcPct val="100000"/>
              </a:lnSpc>
              <a:spcBef>
                <a:spcPts val="0"/>
              </a:spcBef>
              <a:spcAft>
                <a:spcPts val="0"/>
              </a:spcAft>
              <a:buClr>
                <a:srgbClr val="262626"/>
              </a:buClr>
              <a:buSzPts val="1600"/>
              <a:buFont typeface="Arial"/>
              <a:buChar char="•"/>
            </a:pPr>
            <a:r>
              <a:rPr b="0" i="0" lang="es-ES" sz="1600" u="none" cap="none" strike="noStrike">
                <a:solidFill>
                  <a:schemeClr val="dk1"/>
                </a:solidFill>
                <a:latin typeface="Calibri"/>
                <a:ea typeface="Calibri"/>
                <a:cs typeface="Calibri"/>
                <a:sym typeface="Calibri"/>
              </a:rPr>
              <a:t>Enterprise JavaBeans (EJB), es un componente de negocio que se ejecuta en el servidor.</a:t>
            </a:r>
            <a:br>
              <a:rPr b="0" i="0" lang="es-ES" sz="1600" u="none" cap="none" strike="noStrike">
                <a:solidFill>
                  <a:schemeClr val="dk1"/>
                </a:solidFill>
                <a:latin typeface="Calibri"/>
                <a:ea typeface="Calibri"/>
                <a:cs typeface="Calibri"/>
                <a:sym typeface="Calibri"/>
              </a:rPr>
            </a:br>
            <a:endParaRPr b="0" i="0" sz="1600" u="none" cap="none" strike="noStrike">
              <a:solidFill>
                <a:schemeClr val="dk1"/>
              </a:solidFill>
              <a:latin typeface="Calibri"/>
              <a:ea typeface="Calibri"/>
              <a:cs typeface="Calibri"/>
              <a:sym typeface="Calibri"/>
            </a:endParaRPr>
          </a:p>
        </p:txBody>
      </p:sp>
      <p:sp>
        <p:nvSpPr>
          <p:cNvPr id="220" name="Google Shape;220;p12"/>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APLICACIONES JAVA EE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3"/>
          <p:cNvSpPr/>
          <p:nvPr/>
        </p:nvSpPr>
        <p:spPr>
          <a:xfrm>
            <a:off x="504814" y="919487"/>
            <a:ext cx="7648304"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La siguiente figura muestra las APIs y tecnologías que forman parte de Java EE.</a:t>
            </a:r>
            <a:endParaRPr b="0" i="0" sz="1200" u="none" cap="none" strike="noStrike">
              <a:solidFill>
                <a:schemeClr val="dk1"/>
              </a:solidFill>
              <a:latin typeface="Arial"/>
              <a:ea typeface="Arial"/>
              <a:cs typeface="Arial"/>
              <a:sym typeface="Arial"/>
            </a:endParaRPr>
          </a:p>
        </p:txBody>
      </p:sp>
      <p:sp>
        <p:nvSpPr>
          <p:cNvPr id="227" name="Google Shape;227;p13"/>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APLICACIONES JAVA EE</a:t>
            </a:r>
            <a:endParaRPr/>
          </a:p>
        </p:txBody>
      </p:sp>
      <p:pic>
        <p:nvPicPr>
          <p:cNvPr id="228" name="Google Shape;228;p13"/>
          <p:cNvPicPr preferRelativeResize="0"/>
          <p:nvPr/>
        </p:nvPicPr>
        <p:blipFill rotWithShape="1">
          <a:blip r:embed="rId3">
            <a:alphaModFix/>
          </a:blip>
          <a:srcRect b="0" l="0" r="0" t="0"/>
          <a:stretch/>
        </p:blipFill>
        <p:spPr>
          <a:xfrm>
            <a:off x="1805289" y="1416888"/>
            <a:ext cx="5533422" cy="3817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p:nvPr/>
        </p:nvSpPr>
        <p:spPr>
          <a:xfrm>
            <a:off x="0" y="0"/>
            <a:ext cx="9144000" cy="5715000"/>
          </a:xfrm>
          <a:prstGeom prst="rect">
            <a:avLst/>
          </a:prstGeom>
          <a:solidFill>
            <a:srgbClr val="654E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grpSp>
        <p:nvGrpSpPr>
          <p:cNvPr id="234" name="Google Shape;234;p31"/>
          <p:cNvGrpSpPr/>
          <p:nvPr/>
        </p:nvGrpSpPr>
        <p:grpSpPr>
          <a:xfrm>
            <a:off x="2506315" y="2194222"/>
            <a:ext cx="4581728" cy="1326557"/>
            <a:chOff x="2403187" y="2211377"/>
            <a:chExt cx="4581728" cy="1326557"/>
          </a:xfrm>
        </p:grpSpPr>
        <p:sp>
          <p:nvSpPr>
            <p:cNvPr id="235" name="Google Shape;235;p31"/>
            <p:cNvSpPr txBox="1"/>
            <p:nvPr/>
          </p:nvSpPr>
          <p:spPr>
            <a:xfrm>
              <a:off x="2403187" y="2540738"/>
              <a:ext cx="4581728" cy="99719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s-ES" sz="3600" u="none" cap="none" strike="noStrike">
                  <a:solidFill>
                    <a:schemeClr val="lt1"/>
                  </a:solidFill>
                  <a:latin typeface="Arial"/>
                  <a:ea typeface="Arial"/>
                  <a:cs typeface="Arial"/>
                  <a:sym typeface="Arial"/>
                </a:rPr>
                <a:t>CONCLUSIONES</a:t>
              </a:r>
              <a:br>
                <a:rPr b="0" i="0" lang="es-ES" sz="3600" u="none" cap="none" strike="noStrike">
                  <a:solidFill>
                    <a:schemeClr val="lt1"/>
                  </a:solidFill>
                  <a:latin typeface="Arial"/>
                  <a:ea typeface="Arial"/>
                  <a:cs typeface="Arial"/>
                  <a:sym typeface="Arial"/>
                </a:rPr>
              </a:br>
              <a:r>
                <a:rPr b="1" i="0" lang="es-ES" sz="3600" u="none" cap="none" strike="noStrike">
                  <a:solidFill>
                    <a:schemeClr val="lt1"/>
                  </a:solidFill>
                  <a:latin typeface="Arial"/>
                  <a:ea typeface="Arial"/>
                  <a:cs typeface="Arial"/>
                  <a:sym typeface="Arial"/>
                </a:rPr>
                <a:t>MÁS REFERENCIAS</a:t>
              </a:r>
              <a:endParaRPr/>
            </a:p>
          </p:txBody>
        </p:sp>
        <p:pic>
          <p:nvPicPr>
            <p:cNvPr id="236" name="Google Shape;236;p31"/>
            <p:cNvPicPr preferRelativeResize="0"/>
            <p:nvPr/>
          </p:nvPicPr>
          <p:blipFill rotWithShape="1">
            <a:blip r:embed="rId3">
              <a:alphaModFix/>
            </a:blip>
            <a:srcRect b="0" l="0" r="0" t="0"/>
            <a:stretch/>
          </p:blipFill>
          <p:spPr>
            <a:xfrm>
              <a:off x="2425491" y="2211377"/>
              <a:ext cx="202176" cy="208211"/>
            </a:xfrm>
            <a:prstGeom prst="rect">
              <a:avLst/>
            </a:prstGeom>
            <a:noFill/>
            <a:ln>
              <a:noFill/>
            </a:ln>
          </p:spPr>
        </p:pic>
      </p:grpSp>
      <p:pic>
        <p:nvPicPr>
          <p:cNvPr id="237" name="Google Shape;237;p31"/>
          <p:cNvPicPr preferRelativeResize="0"/>
          <p:nvPr/>
        </p:nvPicPr>
        <p:blipFill rotWithShape="1">
          <a:blip r:embed="rId4">
            <a:alphaModFix/>
          </a:blip>
          <a:srcRect b="0" l="0" r="0" t="0"/>
          <a:stretch/>
        </p:blipFill>
        <p:spPr>
          <a:xfrm>
            <a:off x="-1253" y="946969"/>
            <a:ext cx="2072214" cy="389806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p:nvPr/>
        </p:nvSpPr>
        <p:spPr>
          <a:xfrm>
            <a:off x="301556" y="5321030"/>
            <a:ext cx="8453337" cy="29183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44" name="Google Shape;244;p32"/>
          <p:cNvSpPr txBox="1"/>
          <p:nvPr/>
        </p:nvSpPr>
        <p:spPr>
          <a:xfrm>
            <a:off x="1279545" y="912813"/>
            <a:ext cx="5705454" cy="366254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Calibri"/>
                <a:ea typeface="Calibri"/>
                <a:cs typeface="Calibri"/>
                <a:sym typeface="Calibri"/>
              </a:rPr>
              <a:t>En resumen, </a:t>
            </a:r>
            <a:r>
              <a:rPr b="1" i="0" lang="es-ES" sz="1400" u="none" cap="none" strike="noStrike">
                <a:solidFill>
                  <a:srgbClr val="000000"/>
                </a:solidFill>
                <a:latin typeface="Calibri"/>
                <a:ea typeface="Calibri"/>
                <a:cs typeface="Calibri"/>
                <a:sym typeface="Calibri"/>
              </a:rPr>
              <a:t>Java EE </a:t>
            </a:r>
            <a:r>
              <a:rPr b="0" i="0" lang="es-ES" sz="1400" u="none" cap="none" strike="noStrike">
                <a:solidFill>
                  <a:srgbClr val="000000"/>
                </a:solidFill>
                <a:latin typeface="Calibri"/>
                <a:ea typeface="Calibri"/>
                <a:cs typeface="Calibri"/>
                <a:sym typeface="Calibri"/>
              </a:rPr>
              <a:t>es una plataforma poderosa y flexible que permite a los desarrolladores crear aplicaciones empresariales robustas y escalables con una amplia gama de funcionalidades y servicios.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400" u="none" cap="none" strike="noStrike">
                <a:solidFill>
                  <a:srgbClr val="000000"/>
                </a:solidFill>
                <a:latin typeface="Calibri"/>
                <a:ea typeface="Calibri"/>
                <a:cs typeface="Calibri"/>
                <a:sym typeface="Calibri"/>
              </a:rPr>
              <a:t>Al aprovechar las herramientas y frameworks proporcionados por Java EE, los desarrolladores pueden reducir el tiempo y el costo de desarrollo y mejorar la calidad y fiabilidad de sus aplicaciones.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400" u="none" cap="none" strike="noStrike">
                <a:solidFill>
                  <a:srgbClr val="000000"/>
                </a:solidFill>
                <a:latin typeface="Calibri"/>
                <a:ea typeface="Calibri"/>
                <a:cs typeface="Calibri"/>
                <a:sym typeface="Calibri"/>
              </a:rPr>
              <a:t>Las </a:t>
            </a:r>
            <a:r>
              <a:rPr b="1" i="0" lang="es-ES" sz="1400" u="none" cap="none" strike="noStrike">
                <a:solidFill>
                  <a:srgbClr val="000000"/>
                </a:solidFill>
                <a:latin typeface="Calibri"/>
                <a:ea typeface="Calibri"/>
                <a:cs typeface="Calibri"/>
                <a:sym typeface="Calibri"/>
              </a:rPr>
              <a:t>aplicaciones Java EE</a:t>
            </a:r>
            <a:r>
              <a:rPr b="0" i="0" lang="es-ES" sz="1400" u="none" cap="none" strike="noStrike">
                <a:solidFill>
                  <a:srgbClr val="000000"/>
                </a:solidFill>
                <a:latin typeface="Calibri"/>
                <a:ea typeface="Calibri"/>
                <a:cs typeface="Calibri"/>
                <a:sym typeface="Calibri"/>
              </a:rPr>
              <a:t> se pueden diseñar utilizando diferentes componentes, como Servlets, JSP (JavaServer Pages), JavaBeans, Enterprise JavaBeans (EJB), Contexts and Dependency Injection (CDI), y Java Persistence API (JPA), que se ejecutan dentro de contenedores proporcionados por la plataforma Java EE.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400" u="none" cap="none" strike="noStrike">
                <a:solidFill>
                  <a:srgbClr val="000000"/>
                </a:solidFill>
                <a:latin typeface="Calibri"/>
                <a:ea typeface="Calibri"/>
                <a:cs typeface="Calibri"/>
                <a:sym typeface="Calibri"/>
              </a:rPr>
              <a:t>Estos contenedores ofrecen servicios esenciales, como la seguridad, la transacción, la gestión de sesiones y la conexión con bases de datos.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pic>
        <p:nvPicPr>
          <p:cNvPr id="245" name="Google Shape;245;p32"/>
          <p:cNvPicPr preferRelativeResize="0"/>
          <p:nvPr/>
        </p:nvPicPr>
        <p:blipFill rotWithShape="1">
          <a:blip r:embed="rId3">
            <a:alphaModFix/>
          </a:blip>
          <a:srcRect b="0" l="0" r="0" t="0"/>
          <a:stretch/>
        </p:blipFill>
        <p:spPr>
          <a:xfrm>
            <a:off x="1011260" y="954885"/>
            <a:ext cx="114138" cy="117546"/>
          </a:xfrm>
          <a:prstGeom prst="rect">
            <a:avLst/>
          </a:prstGeom>
          <a:noFill/>
          <a:ln>
            <a:noFill/>
          </a:ln>
        </p:spPr>
      </p:pic>
      <p:pic>
        <p:nvPicPr>
          <p:cNvPr id="246" name="Google Shape;246;p32"/>
          <p:cNvPicPr preferRelativeResize="0"/>
          <p:nvPr/>
        </p:nvPicPr>
        <p:blipFill rotWithShape="1">
          <a:blip r:embed="rId3">
            <a:alphaModFix/>
          </a:blip>
          <a:srcRect b="0" l="0" r="0" t="0"/>
          <a:stretch/>
        </p:blipFill>
        <p:spPr>
          <a:xfrm>
            <a:off x="1011260" y="1806071"/>
            <a:ext cx="114138" cy="117546"/>
          </a:xfrm>
          <a:prstGeom prst="rect">
            <a:avLst/>
          </a:prstGeom>
          <a:noFill/>
          <a:ln>
            <a:noFill/>
          </a:ln>
        </p:spPr>
      </p:pic>
      <p:sp>
        <p:nvSpPr>
          <p:cNvPr id="247" name="Google Shape;247;p32"/>
          <p:cNvSpPr/>
          <p:nvPr/>
        </p:nvSpPr>
        <p:spPr>
          <a:xfrm>
            <a:off x="8133347" y="163629"/>
            <a:ext cx="808522" cy="754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248" name="Google Shape;248;p32"/>
          <p:cNvPicPr preferRelativeResize="0"/>
          <p:nvPr/>
        </p:nvPicPr>
        <p:blipFill rotWithShape="1">
          <a:blip r:embed="rId4">
            <a:alphaModFix amt="42000"/>
          </a:blip>
          <a:srcRect b="0" l="0" r="0" t="0"/>
          <a:stretch/>
        </p:blipFill>
        <p:spPr>
          <a:xfrm>
            <a:off x="6984999" y="3048772"/>
            <a:ext cx="1690689" cy="2185216"/>
          </a:xfrm>
          <a:prstGeom prst="rect">
            <a:avLst/>
          </a:prstGeom>
          <a:noFill/>
          <a:ln>
            <a:noFill/>
          </a:ln>
        </p:spPr>
      </p:pic>
      <p:sp>
        <p:nvSpPr>
          <p:cNvPr id="249" name="Google Shape;249;p32"/>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CONCLUSIONES </a:t>
            </a:r>
            <a:endParaRPr/>
          </a:p>
        </p:txBody>
      </p:sp>
      <p:pic>
        <p:nvPicPr>
          <p:cNvPr id="250" name="Google Shape;250;p32"/>
          <p:cNvPicPr preferRelativeResize="0"/>
          <p:nvPr/>
        </p:nvPicPr>
        <p:blipFill rotWithShape="1">
          <a:blip r:embed="rId3">
            <a:alphaModFix/>
          </a:blip>
          <a:srcRect b="0" l="0" r="0" t="0"/>
          <a:stretch/>
        </p:blipFill>
        <p:spPr>
          <a:xfrm>
            <a:off x="1011260" y="2680114"/>
            <a:ext cx="114138" cy="117546"/>
          </a:xfrm>
          <a:prstGeom prst="rect">
            <a:avLst/>
          </a:prstGeom>
          <a:noFill/>
          <a:ln>
            <a:noFill/>
          </a:ln>
        </p:spPr>
      </p:pic>
      <p:pic>
        <p:nvPicPr>
          <p:cNvPr id="251" name="Google Shape;251;p32"/>
          <p:cNvPicPr preferRelativeResize="0"/>
          <p:nvPr/>
        </p:nvPicPr>
        <p:blipFill rotWithShape="1">
          <a:blip r:embed="rId3">
            <a:alphaModFix/>
          </a:blip>
          <a:srcRect b="0" l="0" r="0" t="0"/>
          <a:stretch/>
        </p:blipFill>
        <p:spPr>
          <a:xfrm>
            <a:off x="1011260" y="3947678"/>
            <a:ext cx="114138" cy="11754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3"/>
          <p:cNvSpPr/>
          <p:nvPr/>
        </p:nvSpPr>
        <p:spPr>
          <a:xfrm>
            <a:off x="0" y="0"/>
            <a:ext cx="9144000" cy="5715000"/>
          </a:xfrm>
          <a:prstGeom prst="rect">
            <a:avLst/>
          </a:prstGeom>
          <a:solidFill>
            <a:srgbClr val="8DCB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57" name="Google Shape;257;p33"/>
          <p:cNvSpPr txBox="1"/>
          <p:nvPr/>
        </p:nvSpPr>
        <p:spPr>
          <a:xfrm>
            <a:off x="2519363" y="2540738"/>
            <a:ext cx="4581728" cy="99719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s-ES" sz="3600" u="none" cap="none" strike="noStrike">
                <a:solidFill>
                  <a:schemeClr val="lt1"/>
                </a:solidFill>
                <a:latin typeface="Arial"/>
                <a:ea typeface="Arial"/>
                <a:cs typeface="Arial"/>
                <a:sym typeface="Arial"/>
              </a:rPr>
              <a:t>BIBLIOGRAFÍA</a:t>
            </a:r>
            <a:br>
              <a:rPr b="0" i="0" lang="es-ES" sz="3600" u="none" cap="none" strike="noStrike">
                <a:solidFill>
                  <a:schemeClr val="lt1"/>
                </a:solidFill>
                <a:latin typeface="Arial"/>
                <a:ea typeface="Arial"/>
                <a:cs typeface="Arial"/>
                <a:sym typeface="Arial"/>
              </a:rPr>
            </a:br>
            <a:r>
              <a:rPr b="1" i="0" lang="es-ES" sz="3600" u="none" cap="none" strike="noStrike">
                <a:solidFill>
                  <a:schemeClr val="lt1"/>
                </a:solidFill>
                <a:latin typeface="Arial"/>
                <a:ea typeface="Arial"/>
                <a:cs typeface="Arial"/>
                <a:sym typeface="Arial"/>
              </a:rPr>
              <a:t>MÁS REFERENCIAS</a:t>
            </a:r>
            <a:endParaRPr/>
          </a:p>
        </p:txBody>
      </p:sp>
      <p:pic>
        <p:nvPicPr>
          <p:cNvPr id="258" name="Google Shape;258;p33"/>
          <p:cNvPicPr preferRelativeResize="0"/>
          <p:nvPr/>
        </p:nvPicPr>
        <p:blipFill rotWithShape="1">
          <a:blip r:embed="rId3">
            <a:alphaModFix/>
          </a:blip>
          <a:srcRect b="0" l="0" r="0" t="0"/>
          <a:stretch/>
        </p:blipFill>
        <p:spPr>
          <a:xfrm>
            <a:off x="2528619" y="2194222"/>
            <a:ext cx="202176" cy="208211"/>
          </a:xfrm>
          <a:prstGeom prst="rect">
            <a:avLst/>
          </a:prstGeom>
          <a:noFill/>
          <a:ln>
            <a:noFill/>
          </a:ln>
        </p:spPr>
      </p:pic>
      <p:pic>
        <p:nvPicPr>
          <p:cNvPr id="259" name="Google Shape;259;p33"/>
          <p:cNvPicPr preferRelativeResize="0"/>
          <p:nvPr/>
        </p:nvPicPr>
        <p:blipFill rotWithShape="1">
          <a:blip r:embed="rId4">
            <a:alphaModFix/>
          </a:blip>
          <a:srcRect b="0" l="0" r="0" t="0"/>
          <a:stretch/>
        </p:blipFill>
        <p:spPr>
          <a:xfrm>
            <a:off x="0" y="946970"/>
            <a:ext cx="2072061" cy="389806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4"/>
          <p:cNvSpPr/>
          <p:nvPr/>
        </p:nvSpPr>
        <p:spPr>
          <a:xfrm>
            <a:off x="301556" y="5321030"/>
            <a:ext cx="8453337" cy="29183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65" name="Google Shape;265;p34"/>
          <p:cNvSpPr txBox="1"/>
          <p:nvPr/>
        </p:nvSpPr>
        <p:spPr>
          <a:xfrm>
            <a:off x="1279009" y="917823"/>
            <a:ext cx="4774200" cy="3663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Calibri"/>
                <a:ea typeface="Calibri"/>
                <a:cs typeface="Calibri"/>
                <a:sym typeface="Calibri"/>
              </a:rPr>
              <a:t>Galicia, N, et al (2013). Arquitectura Java EE para la administración de un restaurante. Tesis para obtener el Título de Ingeniero en Computación. Universidad Nacional Autónoma de México. Facultad de Ingeniería. Recuperado de http://www.ptolomeo.unam.mx:8080/xmlui/bitstream/handle/132.248.52.100/4158/Tesis.pdf?sequence=1&amp;isAllowed=y</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400" u="none" cap="none" strike="noStrike">
                <a:solidFill>
                  <a:srgbClr val="000000"/>
                </a:solidFill>
                <a:latin typeface="Calibri"/>
                <a:ea typeface="Calibri"/>
                <a:cs typeface="Calibri"/>
                <a:sym typeface="Calibri"/>
              </a:rPr>
              <a:t>Java EE Tutorial. Recuperado de http://docs.oracle.com/javaee/6/tutorial/doc/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400" u="none" cap="none" strike="noStrike">
                <a:solidFill>
                  <a:srgbClr val="000000"/>
                </a:solidFill>
                <a:latin typeface="Calibri"/>
                <a:ea typeface="Calibri"/>
                <a:cs typeface="Calibri"/>
                <a:sym typeface="Calibri"/>
              </a:rPr>
              <a:t>Nieto, A. (2015). Arquitectura por </a:t>
            </a:r>
            <a:r>
              <a:rPr lang="es-ES">
                <a:latin typeface="Calibri"/>
                <a:ea typeface="Calibri"/>
                <a:cs typeface="Calibri"/>
                <a:sym typeface="Calibri"/>
              </a:rPr>
              <a:t>componentes</a:t>
            </a:r>
            <a:r>
              <a:rPr b="0" i="0" lang="es-ES" sz="1400" u="none" cap="none" strike="noStrike">
                <a:solidFill>
                  <a:srgbClr val="000000"/>
                </a:solidFill>
                <a:latin typeface="Calibri"/>
                <a:ea typeface="Calibri"/>
                <a:cs typeface="Calibri"/>
                <a:sym typeface="Calibri"/>
              </a:rPr>
              <a:t> JEE, un caso práctico. Revista Gerencia Tecnológica Informática, 14(38), 31-41. ISSN 1657-8236</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pic>
        <p:nvPicPr>
          <p:cNvPr id="266" name="Google Shape;266;p34"/>
          <p:cNvPicPr preferRelativeResize="0"/>
          <p:nvPr/>
        </p:nvPicPr>
        <p:blipFill rotWithShape="1">
          <a:blip r:embed="rId3">
            <a:alphaModFix/>
          </a:blip>
          <a:srcRect b="0" l="0" r="0" t="0"/>
          <a:stretch/>
        </p:blipFill>
        <p:spPr>
          <a:xfrm>
            <a:off x="1008064" y="959114"/>
            <a:ext cx="103867" cy="106967"/>
          </a:xfrm>
          <a:prstGeom prst="rect">
            <a:avLst/>
          </a:prstGeom>
          <a:noFill/>
          <a:ln>
            <a:noFill/>
          </a:ln>
        </p:spPr>
      </p:pic>
      <p:pic>
        <p:nvPicPr>
          <p:cNvPr id="267" name="Google Shape;267;p34"/>
          <p:cNvPicPr preferRelativeResize="0"/>
          <p:nvPr/>
        </p:nvPicPr>
        <p:blipFill rotWithShape="1">
          <a:blip r:embed="rId3">
            <a:alphaModFix/>
          </a:blip>
          <a:srcRect b="0" l="0" r="0" t="0"/>
          <a:stretch/>
        </p:blipFill>
        <p:spPr>
          <a:xfrm>
            <a:off x="1008064" y="2474449"/>
            <a:ext cx="103867" cy="106967"/>
          </a:xfrm>
          <a:prstGeom prst="rect">
            <a:avLst/>
          </a:prstGeom>
          <a:noFill/>
          <a:ln>
            <a:noFill/>
          </a:ln>
        </p:spPr>
      </p:pic>
      <p:sp>
        <p:nvSpPr>
          <p:cNvPr id="268" name="Google Shape;268;p34"/>
          <p:cNvSpPr/>
          <p:nvPr/>
        </p:nvSpPr>
        <p:spPr>
          <a:xfrm>
            <a:off x="8133347" y="163629"/>
            <a:ext cx="808522" cy="754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269" name="Google Shape;269;p34"/>
          <p:cNvPicPr preferRelativeResize="0"/>
          <p:nvPr/>
        </p:nvPicPr>
        <p:blipFill rotWithShape="1">
          <a:blip r:embed="rId4">
            <a:alphaModFix amt="42000"/>
          </a:blip>
          <a:srcRect b="0" l="0" r="0" t="0"/>
          <a:stretch/>
        </p:blipFill>
        <p:spPr>
          <a:xfrm>
            <a:off x="6985000" y="3036889"/>
            <a:ext cx="1690688" cy="2197100"/>
          </a:xfrm>
          <a:prstGeom prst="rect">
            <a:avLst/>
          </a:prstGeom>
          <a:noFill/>
          <a:ln>
            <a:noFill/>
          </a:ln>
        </p:spPr>
      </p:pic>
      <p:sp>
        <p:nvSpPr>
          <p:cNvPr id="270" name="Google Shape;270;p34"/>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BIBLIOGRAFÍA</a:t>
            </a:r>
            <a:endParaRPr/>
          </a:p>
        </p:txBody>
      </p:sp>
      <p:pic>
        <p:nvPicPr>
          <p:cNvPr id="271" name="Google Shape;271;p34"/>
          <p:cNvPicPr preferRelativeResize="0"/>
          <p:nvPr/>
        </p:nvPicPr>
        <p:blipFill rotWithShape="1">
          <a:blip r:embed="rId3">
            <a:alphaModFix/>
          </a:blip>
          <a:srcRect b="0" l="0" r="0" t="0"/>
          <a:stretch/>
        </p:blipFill>
        <p:spPr>
          <a:xfrm>
            <a:off x="1008064" y="3101613"/>
            <a:ext cx="103867" cy="10696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5"/>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277" name="Google Shape;277;p35"/>
          <p:cNvPicPr preferRelativeResize="0"/>
          <p:nvPr/>
        </p:nvPicPr>
        <p:blipFill rotWithShape="1">
          <a:blip r:embed="rId3">
            <a:alphaModFix/>
          </a:blip>
          <a:srcRect b="0" l="0" r="0" t="0"/>
          <a:stretch/>
        </p:blipFill>
        <p:spPr>
          <a:xfrm>
            <a:off x="3924199" y="2666298"/>
            <a:ext cx="1295601" cy="38680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Personalizados 4 ISIL">
      <a:dk1>
        <a:srgbClr val="000000"/>
      </a:dk1>
      <a:lt1>
        <a:srgbClr val="FFFFFF"/>
      </a:lt1>
      <a:dk2>
        <a:srgbClr val="1F497D"/>
      </a:dk2>
      <a:lt2>
        <a:srgbClr val="EEECE1"/>
      </a:lt2>
      <a:accent1>
        <a:srgbClr val="FDC212"/>
      </a:accent1>
      <a:accent2>
        <a:srgbClr val="EE4638"/>
      </a:accent2>
      <a:accent3>
        <a:srgbClr val="92C14E"/>
      </a:accent3>
      <a:accent4>
        <a:srgbClr val="FE7828"/>
      </a:accent4>
      <a:accent5>
        <a:srgbClr val="00B1C2"/>
      </a:accent5>
      <a:accent6>
        <a:srgbClr val="808799"/>
      </a:accent6>
      <a:hlink>
        <a:srgbClr val="7150A0"/>
      </a:hlink>
      <a:folHlink>
        <a:srgbClr val="00B1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2016-10-06T14:52:02Z</dcterms:created>
  <dc:creator>ISIL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