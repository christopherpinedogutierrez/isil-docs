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1"/>
  </p:notesMasterIdLst>
  <p:sldIdLst>
    <p:sldId id="662" r:id="rId2"/>
    <p:sldId id="627" r:id="rId3"/>
    <p:sldId id="628" r:id="rId4"/>
    <p:sldId id="742" r:id="rId5"/>
    <p:sldId id="259" r:id="rId6"/>
    <p:sldId id="260" r:id="rId7"/>
    <p:sldId id="261" r:id="rId8"/>
    <p:sldId id="262" r:id="rId9"/>
    <p:sldId id="263" r:id="rId10"/>
    <p:sldId id="264" r:id="rId11"/>
    <p:sldId id="265" r:id="rId12"/>
    <p:sldId id="266" r:id="rId13"/>
    <p:sldId id="743" r:id="rId14"/>
    <p:sldId id="268" r:id="rId15"/>
    <p:sldId id="269" r:id="rId16"/>
    <p:sldId id="270" r:id="rId17"/>
    <p:sldId id="271" r:id="rId18"/>
    <p:sldId id="272" r:id="rId19"/>
    <p:sldId id="273" r:id="rId20"/>
    <p:sldId id="274" r:id="rId21"/>
    <p:sldId id="275" r:id="rId22"/>
    <p:sldId id="276" r:id="rId23"/>
    <p:sldId id="277" r:id="rId24"/>
    <p:sldId id="744" r:id="rId25"/>
    <p:sldId id="279" r:id="rId26"/>
    <p:sldId id="280" r:id="rId27"/>
    <p:sldId id="281" r:id="rId28"/>
    <p:sldId id="282" r:id="rId29"/>
    <p:sldId id="283" r:id="rId30"/>
    <p:sldId id="284" r:id="rId31"/>
    <p:sldId id="285" r:id="rId32"/>
    <p:sldId id="286" r:id="rId33"/>
    <p:sldId id="287" r:id="rId34"/>
    <p:sldId id="288" r:id="rId35"/>
    <p:sldId id="588" r:id="rId36"/>
    <p:sldId id="589" r:id="rId37"/>
    <p:sldId id="590" r:id="rId38"/>
    <p:sldId id="591" r:id="rId39"/>
    <p:sldId id="593" r:id="rId40"/>
  </p:sldIdLst>
  <p:sldSz cx="9144000" cy="5715000" type="screen16x10"/>
  <p:notesSz cx="6797675" cy="99266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jaW1+UzhmmRERXw3y1ctb6YRcb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150A0"/>
    <a:srgbClr val="FBC8C4"/>
    <a:srgbClr val="FFD7C1"/>
    <a:srgbClr val="C65C1F"/>
    <a:srgbClr val="0D0D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12"/>
    <p:restoredTop sz="94684"/>
  </p:normalViewPr>
  <p:slideViewPr>
    <p:cSldViewPr snapToGrid="0">
      <p:cViewPr varScale="1">
        <p:scale>
          <a:sx n="100" d="100"/>
          <a:sy n="100" d="100"/>
        </p:scale>
        <p:origin x="96" y="462"/>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2945659" cy="49805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0443" y="1"/>
            <a:ext cx="2945659" cy="498056"/>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8584"/>
            <a:ext cx="2945659" cy="49805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a:t>
            </a:fld>
            <a:endParaRPr lang="es-ES"/>
          </a:p>
        </p:txBody>
      </p:sp>
    </p:spTree>
    <p:extLst>
      <p:ext uri="{BB962C8B-B14F-4D97-AF65-F5344CB8AC3E}">
        <p14:creationId xmlns:p14="http://schemas.microsoft.com/office/powerpoint/2010/main" val="1743296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a:t>
            </a:fld>
            <a:endParaRPr lang="es-ES" dirty="0"/>
          </a:p>
        </p:txBody>
      </p:sp>
    </p:spTree>
    <p:extLst>
      <p:ext uri="{BB962C8B-B14F-4D97-AF65-F5344CB8AC3E}">
        <p14:creationId xmlns:p14="http://schemas.microsoft.com/office/powerpoint/2010/main" val="1986432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4</a:t>
            </a:fld>
            <a:endParaRPr lang="es-ES" dirty="0"/>
          </a:p>
        </p:txBody>
      </p:sp>
    </p:spTree>
    <p:extLst>
      <p:ext uri="{BB962C8B-B14F-4D97-AF65-F5344CB8AC3E}">
        <p14:creationId xmlns:p14="http://schemas.microsoft.com/office/powerpoint/2010/main" val="1859469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 name="Google Shape;51;p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b="1">
                <a:latin typeface="Arial"/>
                <a:ea typeface="Arial"/>
                <a:cs typeface="Arial"/>
                <a:sym typeface="Arial"/>
              </a:rPr>
              <a:t> </a:t>
            </a:r>
            <a:endParaRPr>
              <a:latin typeface="Arial"/>
              <a:ea typeface="Arial"/>
              <a:cs typeface="Arial"/>
              <a:sym typeface="Arial"/>
            </a:endParaRPr>
          </a:p>
        </p:txBody>
      </p:sp>
      <p:sp>
        <p:nvSpPr>
          <p:cNvPr id="52" name="Google Shape;52;p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 name="Google Shape;58;p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59" name="Google Shape;59;p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 name="Google Shape;66;p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67" name="Google Shape;67;p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7: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 name="Google Shape;74;p7: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75" name="Google Shape;75;p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83" name="Google Shape;83;p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91" name="Google Shape;91;p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1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99" name="Google Shape;99;p1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1: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1: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07" name="Google Shape;107;p1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13</a:t>
            </a:fld>
            <a:endParaRPr lang="es-ES" dirty="0"/>
          </a:p>
        </p:txBody>
      </p:sp>
    </p:spTree>
    <p:extLst>
      <p:ext uri="{BB962C8B-B14F-4D97-AF65-F5344CB8AC3E}">
        <p14:creationId xmlns:p14="http://schemas.microsoft.com/office/powerpoint/2010/main" val="1859469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3: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13: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22" name="Google Shape;122;p13: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1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33" name="Google Shape;133;p1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p1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41" name="Google Shape;141;p1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1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49" name="Google Shape;149;p1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7: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17: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69" name="Google Shape;169;p1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1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78" name="Google Shape;178;p1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1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87" name="Google Shape;187;p1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2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96" name="Google Shape;196;p2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1: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21: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05" name="Google Shape;205;p2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2: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22: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14" name="Google Shape;214;p22: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24</a:t>
            </a:fld>
            <a:endParaRPr lang="es-ES" dirty="0"/>
          </a:p>
        </p:txBody>
      </p:sp>
    </p:spTree>
    <p:extLst>
      <p:ext uri="{BB962C8B-B14F-4D97-AF65-F5344CB8AC3E}">
        <p14:creationId xmlns:p14="http://schemas.microsoft.com/office/powerpoint/2010/main" val="18594691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2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30" name="Google Shape;230;p2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2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37" name="Google Shape;237;p2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2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44" name="Google Shape;244;p2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27</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7: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27: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51" name="Google Shape;251;p2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28</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2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58" name="Google Shape;258;p2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29</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p2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65" name="Google Shape;265;p2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30</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3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72" name="Google Shape;272;p3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31</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1: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31: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79" name="Google Shape;279;p3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32</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2: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32: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86" name="Google Shape;286;p32: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33</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33: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33: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93" name="Google Shape;293;p33: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34</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36</a:t>
            </a:fld>
            <a:endParaRPr lang="es-ES" dirty="0"/>
          </a:p>
        </p:txBody>
      </p:sp>
    </p:spTree>
    <p:extLst>
      <p:ext uri="{BB962C8B-B14F-4D97-AF65-F5344CB8AC3E}">
        <p14:creationId xmlns:p14="http://schemas.microsoft.com/office/powerpoint/2010/main" val="1796571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ema - 1 Imagen A">
  <p:cSld name="Subtema - 1 Imagen A">
    <p:spTree>
      <p:nvGrpSpPr>
        <p:cNvPr id="1" name="Shape 1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Título y objetos">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E431DC42-303B-F545-9789-3724F9E97760}"/>
              </a:ext>
            </a:extLst>
          </p:cNvPr>
          <p:cNvSpPr/>
          <p:nvPr userDrawn="1"/>
        </p:nvSpPr>
        <p:spPr>
          <a:xfrm>
            <a:off x="7379148" y="5371562"/>
            <a:ext cx="1369286" cy="184666"/>
          </a:xfrm>
          <a:prstGeom prst="rect">
            <a:avLst/>
          </a:prstGeom>
        </p:spPr>
        <p:txBody>
          <a:bodyPr wrap="none">
            <a:spAutoFit/>
          </a:bodyPr>
          <a:lstStyle/>
          <a:p>
            <a:pPr algn="r"/>
            <a:r>
              <a:rPr lang="es-ES_tradnl" sz="600" b="0" i="0" dirty="0">
                <a:solidFill>
                  <a:schemeClr val="bg1">
                    <a:lumMod val="50000"/>
                  </a:schemeClr>
                </a:solidFill>
                <a:latin typeface="Calibri" panose="020F0502020204030204" pitchFamily="34" charset="0"/>
              </a:rPr>
              <a:t>© ISIL. Todos los derechos reservados</a:t>
            </a:r>
          </a:p>
        </p:txBody>
      </p:sp>
      <p:sp>
        <p:nvSpPr>
          <p:cNvPr id="6" name="TextBox 7">
            <a:extLst>
              <a:ext uri="{FF2B5EF4-FFF2-40B4-BE49-F238E27FC236}">
                <a16:creationId xmlns:a16="http://schemas.microsoft.com/office/drawing/2014/main" id="{9372701D-0A84-0448-9BAF-91437343CCCB}"/>
              </a:ext>
            </a:extLst>
          </p:cNvPr>
          <p:cNvSpPr txBox="1"/>
          <p:nvPr userDrawn="1"/>
        </p:nvSpPr>
        <p:spPr>
          <a:xfrm>
            <a:off x="876300" y="5343295"/>
            <a:ext cx="322716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GESTIÓN DE PROCESOS, SIMULACIÓN Y MEJORA CONTINUA</a:t>
            </a:r>
            <a:r>
              <a:rPr lang="en-US" sz="800" kern="1200" baseline="0" dirty="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01</a:t>
            </a:r>
            <a:endParaRPr lang="en-US" sz="800" dirty="0">
              <a:solidFill>
                <a:schemeClr val="bg1">
                  <a:lumMod val="50000"/>
                </a:schemeClr>
              </a:solidFill>
              <a:latin typeface="Calibri"/>
              <a:cs typeface="Calibri"/>
            </a:endParaRPr>
          </a:p>
        </p:txBody>
      </p:sp>
      <p:pic>
        <p:nvPicPr>
          <p:cNvPr id="10" name="Imagen 9">
            <a:extLst>
              <a:ext uri="{FF2B5EF4-FFF2-40B4-BE49-F238E27FC236}">
                <a16:creationId xmlns:a16="http://schemas.microsoft.com/office/drawing/2014/main" id="{7E0D14F7-6E9D-9E40-BFFD-243BDDA808DD}"/>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506316" y="5349405"/>
            <a:ext cx="369984" cy="206823"/>
          </a:xfrm>
          <a:prstGeom prst="rect">
            <a:avLst/>
          </a:prstGeom>
        </p:spPr>
      </p:pic>
    </p:spTree>
    <p:extLst>
      <p:ext uri="{BB962C8B-B14F-4D97-AF65-F5344CB8AC3E}">
        <p14:creationId xmlns:p14="http://schemas.microsoft.com/office/powerpoint/2010/main" val="7982970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2" name="Rectangle 3">
            <a:extLst>
              <a:ext uri="{FF2B5EF4-FFF2-40B4-BE49-F238E27FC236}">
                <a16:creationId xmlns:a16="http://schemas.microsoft.com/office/drawing/2014/main" id="{4499D04B-9476-49CA-A089-385FC486AE10}"/>
              </a:ext>
            </a:extLst>
          </p:cNvPr>
          <p:cNvSpPr/>
          <p:nvPr userDrawn="1"/>
        </p:nvSpPr>
        <p:spPr>
          <a:xfrm>
            <a:off x="7379148" y="5371562"/>
            <a:ext cx="1369286" cy="184666"/>
          </a:xfrm>
          <a:prstGeom prst="rect">
            <a:avLst/>
          </a:prstGeom>
        </p:spPr>
        <p:txBody>
          <a:bodyPr wrap="none">
            <a:spAutoFit/>
          </a:bodyPr>
          <a:lstStyle/>
          <a:p>
            <a:pPr algn="r"/>
            <a:r>
              <a:rPr lang="es-ES_tradnl" sz="600" b="0" i="0" dirty="0">
                <a:solidFill>
                  <a:schemeClr val="bg1">
                    <a:lumMod val="50000"/>
                  </a:schemeClr>
                </a:solidFill>
                <a:latin typeface="Calibri" panose="020F0502020204030204" pitchFamily="34" charset="0"/>
              </a:rPr>
              <a:t>© ISIL. Todos los derechos reservados</a:t>
            </a:r>
          </a:p>
        </p:txBody>
      </p:sp>
      <p:sp>
        <p:nvSpPr>
          <p:cNvPr id="3" name="TextBox 7">
            <a:extLst>
              <a:ext uri="{FF2B5EF4-FFF2-40B4-BE49-F238E27FC236}">
                <a16:creationId xmlns:a16="http://schemas.microsoft.com/office/drawing/2014/main" id="{6DC02BF9-88B1-297E-D1C6-95616E1B1476}"/>
              </a:ext>
            </a:extLst>
          </p:cNvPr>
          <p:cNvSpPr txBox="1"/>
          <p:nvPr userDrawn="1"/>
        </p:nvSpPr>
        <p:spPr>
          <a:xfrm>
            <a:off x="876300" y="5343295"/>
            <a:ext cx="2762295" cy="215444"/>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kern="1200" dirty="0">
                <a:solidFill>
                  <a:schemeClr val="bg1">
                    <a:lumMod val="50000"/>
                  </a:schemeClr>
                </a:solidFill>
                <a:latin typeface="Calibri"/>
                <a:ea typeface="+mn-ea"/>
                <a:cs typeface="Calibri"/>
                <a:sym typeface="Wingdings"/>
              </a:rPr>
              <a:t>DESARROLLO DE APLICACIONES EMPRESARIALES II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TEMA 07</a:t>
            </a:r>
            <a:endParaRPr lang="en-US" sz="800" dirty="0">
              <a:solidFill>
                <a:schemeClr val="bg1">
                  <a:lumMod val="50000"/>
                </a:schemeClr>
              </a:solidFill>
              <a:latin typeface="Calibri"/>
              <a:cs typeface="Calibri"/>
            </a:endParaRPr>
          </a:p>
        </p:txBody>
      </p:sp>
      <p:pic>
        <p:nvPicPr>
          <p:cNvPr id="4" name="Imagen 3">
            <a:extLst>
              <a:ext uri="{FF2B5EF4-FFF2-40B4-BE49-F238E27FC236}">
                <a16:creationId xmlns:a16="http://schemas.microsoft.com/office/drawing/2014/main" id="{75F4D13C-D612-1936-7B3B-98733CC92037}"/>
              </a:ext>
            </a:extLst>
          </p:cNvPr>
          <p:cNvPicPr>
            <a:picLocks noChangeAspect="1"/>
          </p:cNvPicPr>
          <p:nvPr userDrawn="1"/>
        </p:nvPicPr>
        <p:blipFill>
          <a:blip r:embed="rId6" cstate="screen">
            <a:alphaModFix amt="20000"/>
            <a:extLst>
              <a:ext uri="{28A0092B-C50C-407E-A947-70E740481C1C}">
                <a14:useLocalDpi xmlns:a14="http://schemas.microsoft.com/office/drawing/2010/main"/>
              </a:ext>
            </a:extLst>
          </a:blip>
          <a:stretch>
            <a:fillRect/>
          </a:stretch>
        </p:blipFill>
        <p:spPr>
          <a:xfrm>
            <a:off x="506316" y="5349405"/>
            <a:ext cx="369984" cy="206823"/>
          </a:xfrm>
          <a:prstGeom prst="rect">
            <a:avLst/>
          </a:prstGeom>
        </p:spPr>
      </p:pic>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575" userDrawn="1">
          <p15:clr>
            <a:srgbClr val="F26B43"/>
          </p15:clr>
        </p15:guide>
        <p15:guide id="2" pos="2880" userDrawn="1">
          <p15:clr>
            <a:srgbClr val="F26B43"/>
          </p15:clr>
        </p15:guide>
        <p15:guide id="3" pos="2767" userDrawn="1">
          <p15:clr>
            <a:srgbClr val="F26B43"/>
          </p15:clr>
        </p15:guide>
        <p15:guide id="4" pos="2993" userDrawn="1">
          <p15:clr>
            <a:srgbClr val="F26B43"/>
          </p15:clr>
        </p15:guide>
        <p15:guide id="5" pos="5465" userDrawn="1">
          <p15:clr>
            <a:srgbClr val="F26B43"/>
          </p15:clr>
        </p15:guide>
        <p15:guide id="6" pos="317" userDrawn="1">
          <p15:clr>
            <a:srgbClr val="F26B43"/>
          </p15:clr>
        </p15:guide>
        <p15:guide id="7" orient="horz" pos="3297" userDrawn="1">
          <p15:clr>
            <a:srgbClr val="F26B43"/>
          </p15:clr>
        </p15:guide>
        <p15:guide id="8" orient="horz" pos="303" userDrawn="1">
          <p15:clr>
            <a:srgbClr val="F26B43"/>
          </p15:clr>
        </p15:guide>
        <p15:guide id="9" pos="2562" userDrawn="1">
          <p15:clr>
            <a:srgbClr val="F26B43"/>
          </p15:clr>
        </p15:guide>
        <p15:guide id="10" pos="231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40"/>
          <p:cNvSpPr/>
          <p:nvPr/>
        </p:nvSpPr>
        <p:spPr>
          <a:xfrm>
            <a:off x="182879" y="5120640"/>
            <a:ext cx="4304965" cy="46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3" name="CuadroTexto 22">
            <a:extLst>
              <a:ext uri="{FF2B5EF4-FFF2-40B4-BE49-F238E27FC236}">
                <a16:creationId xmlns:a16="http://schemas.microsoft.com/office/drawing/2014/main" id="{00376003-8003-B944-8B01-9A232A7A385C}"/>
              </a:ext>
            </a:extLst>
          </p:cNvPr>
          <p:cNvSpPr txBox="1"/>
          <p:nvPr/>
        </p:nvSpPr>
        <p:spPr>
          <a:xfrm>
            <a:off x="503238" y="808689"/>
            <a:ext cx="3104743" cy="138499"/>
          </a:xfrm>
          <a:prstGeom prst="rect">
            <a:avLst/>
          </a:prstGeom>
          <a:noFill/>
        </p:spPr>
        <p:txBody>
          <a:bodyPr wrap="square" lIns="0" tIns="0" rIns="0" bIns="0" rtlCol="0">
            <a:spAutoFit/>
          </a:bodyPr>
          <a:lstStyle/>
          <a:p>
            <a:r>
              <a:rPr lang="es-ES_tradnl" sz="900" b="1" dirty="0">
                <a:solidFill>
                  <a:schemeClr val="bg1">
                    <a:lumMod val="50000"/>
                  </a:schemeClr>
                </a:solidFill>
                <a:latin typeface="Calibri" charset="0"/>
                <a:cs typeface="Calibri" charset="0"/>
              </a:rPr>
              <a:t>DESARROLLO DE APLICACIONES EMPRESARIALES II </a:t>
            </a:r>
          </a:p>
        </p:txBody>
      </p:sp>
      <p:sp>
        <p:nvSpPr>
          <p:cNvPr id="25" name="Rectángulo 24"/>
          <p:cNvSpPr/>
          <p:nvPr/>
        </p:nvSpPr>
        <p:spPr>
          <a:xfrm>
            <a:off x="503239" y="2177570"/>
            <a:ext cx="2153822" cy="886397"/>
          </a:xfrm>
          <a:prstGeom prst="rect">
            <a:avLst/>
          </a:prstGeom>
        </p:spPr>
        <p:txBody>
          <a:bodyPr wrap="square" lIns="0" tIns="0" rIns="0" bIns="0">
            <a:spAutoFit/>
          </a:bodyPr>
          <a:lstStyle/>
          <a:p>
            <a:pPr>
              <a:lnSpc>
                <a:spcPct val="90000"/>
              </a:lnSpc>
            </a:pPr>
            <a:r>
              <a:rPr lang="es-PE" sz="3200" dirty="0">
                <a:latin typeface="Graphik Medium" panose="020B0503030202060203" pitchFamily="34" charset="77"/>
                <a:ea typeface="Graphik-Medium" charset="0"/>
                <a:cs typeface="Graphik-Medium" charset="0"/>
              </a:rPr>
              <a:t>SPRING </a:t>
            </a:r>
            <a:r>
              <a:rPr lang="es-PE" sz="3200" b="1" dirty="0">
                <a:latin typeface="Graphik Bold" panose="020B0503030202060203" pitchFamily="34" charset="77"/>
                <a:ea typeface="Graphik-Medium" charset="0"/>
                <a:cs typeface="Graphik-Medium" charset="0"/>
              </a:rPr>
              <a:t>MVC</a:t>
            </a:r>
          </a:p>
        </p:txBody>
      </p:sp>
      <p:sp>
        <p:nvSpPr>
          <p:cNvPr id="27" name="Rectángulo 26"/>
          <p:cNvSpPr/>
          <p:nvPr/>
        </p:nvSpPr>
        <p:spPr>
          <a:xfrm>
            <a:off x="503238" y="3219842"/>
            <a:ext cx="2845526" cy="642484"/>
          </a:xfrm>
          <a:prstGeom prst="rect">
            <a:avLst/>
          </a:prstGeom>
        </p:spPr>
        <p:txBody>
          <a:bodyPr wrap="square" lIns="0" tIns="0" rIns="0" bIns="0">
            <a:spAutoFit/>
          </a:bodyPr>
          <a:lstStyle/>
          <a:p>
            <a:pPr marL="177800" lvl="0" indent="-177800">
              <a:lnSpc>
                <a:spcPct val="120000"/>
              </a:lnSpc>
              <a:buClr>
                <a:srgbClr val="0B6AB0"/>
              </a:buClr>
              <a:buSzPct val="100000"/>
              <a:buFont typeface="Arial"/>
              <a:buChar char="•"/>
            </a:pPr>
            <a:r>
              <a:rPr lang="es-MX" sz="1200" dirty="0">
                <a:latin typeface="Graphik-Medium" charset="0"/>
                <a:ea typeface="Graphik-Medium" charset="0"/>
                <a:cs typeface="Graphik-Medium" charset="0"/>
              </a:rPr>
              <a:t>Eficiencia</a:t>
            </a:r>
          </a:p>
          <a:p>
            <a:pPr marL="177800" lvl="0" indent="-177800">
              <a:lnSpc>
                <a:spcPct val="120000"/>
              </a:lnSpc>
              <a:buClr>
                <a:srgbClr val="0B6AB0"/>
              </a:buClr>
              <a:buSzPct val="100000"/>
              <a:buFont typeface="Arial"/>
              <a:buChar char="•"/>
            </a:pPr>
            <a:r>
              <a:rPr lang="es-MX" sz="1200" dirty="0">
                <a:latin typeface="Graphik-Medium" charset="0"/>
                <a:ea typeface="Graphik-Medium" charset="0"/>
                <a:cs typeface="Graphik-Medium" charset="0"/>
              </a:rPr>
              <a:t>Aplicaciones Web con Spring MVC</a:t>
            </a:r>
          </a:p>
          <a:p>
            <a:pPr marL="177800" lvl="0" indent="-177800">
              <a:lnSpc>
                <a:spcPct val="120000"/>
              </a:lnSpc>
              <a:buClr>
                <a:srgbClr val="0B6AB0"/>
              </a:buClr>
              <a:buSzPct val="100000"/>
              <a:buFont typeface="Arial"/>
              <a:buChar char="•"/>
            </a:pPr>
            <a:r>
              <a:rPr lang="es-MX" sz="1200" dirty="0">
                <a:latin typeface="Graphik-Medium" charset="0"/>
                <a:ea typeface="Graphik-Medium" charset="0"/>
                <a:cs typeface="Graphik-Medium" charset="0"/>
              </a:rPr>
              <a:t>Seguridad con Spring</a:t>
            </a:r>
          </a:p>
        </p:txBody>
      </p:sp>
      <p:sp>
        <p:nvSpPr>
          <p:cNvPr id="28" name="CuadroTexto 27">
            <a:extLst>
              <a:ext uri="{FF2B5EF4-FFF2-40B4-BE49-F238E27FC236}">
                <a16:creationId xmlns:a16="http://schemas.microsoft.com/office/drawing/2014/main" id="{93FC3217-3DCC-0941-BA6B-6CEEC9F1D080}"/>
              </a:ext>
            </a:extLst>
          </p:cNvPr>
          <p:cNvSpPr txBox="1"/>
          <p:nvPr/>
        </p:nvSpPr>
        <p:spPr>
          <a:xfrm>
            <a:off x="743902" y="1819386"/>
            <a:ext cx="1457648" cy="307777"/>
          </a:xfrm>
          <a:prstGeom prst="rect">
            <a:avLst/>
          </a:prstGeom>
          <a:noFill/>
        </p:spPr>
        <p:txBody>
          <a:bodyPr wrap="square" lIns="0" tIns="0" rIns="0" bIns="0" rtlCol="0">
            <a:spAutoFit/>
          </a:bodyPr>
          <a:lstStyle/>
          <a:p>
            <a:r>
              <a:rPr lang="es-ES_tradnl" sz="2000" b="1" dirty="0">
                <a:solidFill>
                  <a:srgbClr val="0B6AB0"/>
                </a:solidFill>
                <a:latin typeface="Calibri" charset="0"/>
                <a:ea typeface="Calibri" charset="0"/>
                <a:cs typeface="Calibri" charset="0"/>
              </a:rPr>
              <a:t>TEMA 07</a:t>
            </a:r>
          </a:p>
        </p:txBody>
      </p:sp>
      <p:pic>
        <p:nvPicPr>
          <p:cNvPr id="29" name="Imagen 28"/>
          <p:cNvPicPr>
            <a:picLocks noChangeAspect="1"/>
          </p:cNvPicPr>
          <p:nvPr/>
        </p:nvPicPr>
        <p:blipFill>
          <a:blip r:embed="rId3"/>
          <a:stretch>
            <a:fillRect/>
          </a:stretch>
        </p:blipFill>
        <p:spPr>
          <a:xfrm>
            <a:off x="507464" y="1883411"/>
            <a:ext cx="166865" cy="170453"/>
          </a:xfrm>
          <a:prstGeom prst="rect">
            <a:avLst/>
          </a:prstGeom>
        </p:spPr>
      </p:pic>
      <p:pic>
        <p:nvPicPr>
          <p:cNvPr id="4" name="Imagen 3">
            <a:extLst>
              <a:ext uri="{FF2B5EF4-FFF2-40B4-BE49-F238E27FC236}">
                <a16:creationId xmlns:a16="http://schemas.microsoft.com/office/drawing/2014/main" id="{4ABCD739-0A62-0FD3-2175-DE895833E28F}"/>
              </a:ext>
            </a:extLst>
          </p:cNvPr>
          <p:cNvPicPr>
            <a:picLocks noChangeAspect="1"/>
          </p:cNvPicPr>
          <p:nvPr/>
        </p:nvPicPr>
        <p:blipFill>
          <a:blip r:embed="rId4"/>
          <a:stretch>
            <a:fillRect/>
          </a:stretch>
        </p:blipFill>
        <p:spPr>
          <a:xfrm>
            <a:off x="3752850" y="0"/>
            <a:ext cx="5391150" cy="5715000"/>
          </a:xfrm>
          <a:prstGeom prst="rect">
            <a:avLst/>
          </a:prstGeom>
        </p:spPr>
      </p:pic>
    </p:spTree>
    <p:extLst>
      <p:ext uri="{BB962C8B-B14F-4D97-AF65-F5344CB8AC3E}">
        <p14:creationId xmlns:p14="http://schemas.microsoft.com/office/powerpoint/2010/main" val="90920982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
            <a:ext cx="9144000" cy="5715000"/>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46969"/>
            <a:ext cx="2072213" cy="3898064"/>
          </a:xfrm>
          <a:prstGeom prst="rect">
            <a:avLst/>
          </a:prstGeom>
        </p:spPr>
      </p:pic>
      <p:sp>
        <p:nvSpPr>
          <p:cNvPr id="6" name="Rectángulo 5"/>
          <p:cNvSpPr/>
          <p:nvPr/>
        </p:nvSpPr>
        <p:spPr>
          <a:xfrm>
            <a:off x="149817" y="3724759"/>
            <a:ext cx="1037633" cy="1069383"/>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4" name="CuadroTexto 3"/>
          <p:cNvSpPr txBox="1"/>
          <p:nvPr/>
        </p:nvSpPr>
        <p:spPr>
          <a:xfrm>
            <a:off x="2519363" y="2540738"/>
            <a:ext cx="4581728" cy="812530"/>
          </a:xfrm>
          <a:prstGeom prst="rect">
            <a:avLst/>
          </a:prstGeom>
          <a:noFill/>
        </p:spPr>
        <p:txBody>
          <a:bodyPr wrap="square" lIns="0" tIns="0" rIns="0" bIns="0" rtlCol="0">
            <a:spAutoFit/>
          </a:bodyPr>
          <a:lstStyle/>
          <a:p>
            <a:pPr>
              <a:lnSpc>
                <a:spcPct val="80000"/>
              </a:lnSpc>
            </a:pPr>
            <a:r>
              <a:rPr lang="es-ES_tradnl" sz="3300" dirty="0">
                <a:solidFill>
                  <a:schemeClr val="bg1"/>
                </a:solidFill>
                <a:latin typeface="Graphik Regular" charset="0"/>
                <a:ea typeface="Graphik Regular" charset="0"/>
                <a:cs typeface="Graphik Regular" charset="0"/>
              </a:rPr>
              <a:t>INTRODUCCIÓN</a:t>
            </a:r>
          </a:p>
          <a:p>
            <a:pPr>
              <a:lnSpc>
                <a:spcPct val="80000"/>
              </a:lnSpc>
            </a:pPr>
            <a:r>
              <a:rPr lang="es-ES_tradnl" sz="3300" b="1" dirty="0">
                <a:solidFill>
                  <a:schemeClr val="bg1"/>
                </a:solidFill>
                <a:latin typeface="Graphik Bold" charset="0"/>
                <a:ea typeface="Graphik Bold" charset="0"/>
                <a:cs typeface="Graphik Bold" charset="0"/>
              </a:rPr>
              <a:t>DE LA SESIÓN</a:t>
            </a:r>
          </a:p>
        </p:txBody>
      </p:sp>
      <p:pic>
        <p:nvPicPr>
          <p:cNvPr id="3" name="Imagen 2"/>
          <p:cNvPicPr>
            <a:picLocks noChangeAspect="1"/>
          </p:cNvPicPr>
          <p:nvPr/>
        </p:nvPicPr>
        <p:blipFill>
          <a:blip r:embed="rId3">
            <a:alphaModFix amt="16000"/>
          </a:blip>
          <a:stretch>
            <a:fillRect/>
          </a:stretch>
        </p:blipFill>
        <p:spPr>
          <a:xfrm>
            <a:off x="334433" y="3817749"/>
            <a:ext cx="809264" cy="809264"/>
          </a:xfrm>
          <a:prstGeom prst="rect">
            <a:avLst/>
          </a:prstGeom>
        </p:spPr>
      </p:pic>
      <p:pic>
        <p:nvPicPr>
          <p:cNvPr id="9" name="Imagen 8">
            <a:extLst>
              <a:ext uri="{FF2B5EF4-FFF2-40B4-BE49-F238E27FC236}">
                <a16:creationId xmlns:a16="http://schemas.microsoft.com/office/drawing/2014/main" id="{2CD7628C-6304-5D4B-BA7D-591238143DE2}"/>
              </a:ext>
            </a:extLst>
          </p:cNvPr>
          <p:cNvPicPr>
            <a:picLocks noChangeAspect="1"/>
          </p:cNvPicPr>
          <p:nvPr/>
        </p:nvPicPr>
        <p:blipFill>
          <a:blip r:embed="rId4"/>
          <a:stretch>
            <a:fillRect/>
          </a:stretch>
        </p:blipFill>
        <p:spPr>
          <a:xfrm>
            <a:off x="2528619" y="2194222"/>
            <a:ext cx="202176" cy="208211"/>
          </a:xfrm>
          <a:prstGeom prst="rect">
            <a:avLst/>
          </a:prstGeom>
        </p:spPr>
      </p:pic>
    </p:spTree>
    <p:extLst>
      <p:ext uri="{BB962C8B-B14F-4D97-AF65-F5344CB8AC3E}">
        <p14:creationId xmlns:p14="http://schemas.microsoft.com/office/powerpoint/2010/main" val="194155990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918960" y="5364480"/>
            <a:ext cx="2133600" cy="224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7" name="object 7"/>
          <p:cNvSpPr txBox="1"/>
          <p:nvPr/>
        </p:nvSpPr>
        <p:spPr>
          <a:xfrm>
            <a:off x="1282298" y="918372"/>
            <a:ext cx="5521727" cy="2800767"/>
          </a:xfrm>
          <a:prstGeom prst="rect">
            <a:avLst/>
          </a:prstGeom>
        </p:spPr>
        <p:txBody>
          <a:bodyPr vert="horz" wrap="square" lIns="0" tIns="0" rIns="0" bIns="0" rtlCol="0">
            <a:spAutoFit/>
          </a:bodyPr>
          <a:lstStyle/>
          <a:p>
            <a:pPr lvl="0"/>
            <a:r>
              <a:rPr lang="es-PE" sz="1400" dirty="0">
                <a:latin typeface="Calibri" charset="0"/>
                <a:cs typeface="Calibri" charset="0"/>
              </a:rPr>
              <a:t>Spring MVC (Model-View-Controller) es un framework dentro de Spring Framework que proporciona un enfoque robusto y flexible para el desarrollo de aplicaciones web.</a:t>
            </a:r>
          </a:p>
          <a:p>
            <a:pPr lvl="0"/>
            <a:endParaRPr lang="es-PE" sz="1400" dirty="0">
              <a:latin typeface="Calibri" charset="0"/>
              <a:cs typeface="Calibri" charset="0"/>
            </a:endParaRPr>
          </a:p>
          <a:p>
            <a:pPr lvl="0"/>
            <a:r>
              <a:rPr lang="es-PE" sz="1400" dirty="0">
                <a:latin typeface="Calibri" charset="0"/>
                <a:cs typeface="Calibri" charset="0"/>
              </a:rPr>
              <a:t>Basado en el patrón de diseño MVC, permite separar claramente las responsabilidades de la aplicación en tres componentes principales: el modelo, la vista y el controlador.</a:t>
            </a:r>
          </a:p>
          <a:p>
            <a:pPr lvl="0"/>
            <a:endParaRPr lang="es-PE" sz="1400" dirty="0">
              <a:latin typeface="Calibri" charset="0"/>
              <a:cs typeface="Calibri" charset="0"/>
            </a:endParaRPr>
          </a:p>
          <a:p>
            <a:pPr lvl="0"/>
            <a:r>
              <a:rPr lang="es-PE" sz="1400" dirty="0">
                <a:latin typeface="Calibri" charset="0"/>
                <a:cs typeface="Calibri" charset="0"/>
              </a:rPr>
              <a:t>Entonces, durante esta sesión:</a:t>
            </a:r>
          </a:p>
          <a:p>
            <a:pPr lvl="0"/>
            <a:endParaRPr lang="es-PE" sz="1400" dirty="0">
              <a:latin typeface="Calibri" charset="0"/>
              <a:cs typeface="Calibri" charset="0"/>
            </a:endParaRPr>
          </a:p>
          <a:p>
            <a:pPr marL="177800" lvl="0" indent="-177800">
              <a:buClr>
                <a:schemeClr val="accent2"/>
              </a:buClr>
              <a:buFont typeface="Arial" panose="020B0604020202020204" pitchFamily="34" charset="0"/>
              <a:buChar char="•"/>
            </a:pPr>
            <a:r>
              <a:rPr lang="es-PE" sz="1400" b="1" dirty="0">
                <a:latin typeface="Calibri" charset="0"/>
                <a:cs typeface="Calibri" charset="0"/>
              </a:rPr>
              <a:t>Conoceremos</a:t>
            </a:r>
            <a:r>
              <a:rPr lang="es-PE" sz="1400" dirty="0">
                <a:latin typeface="Calibri" charset="0"/>
                <a:cs typeface="Calibri" charset="0"/>
              </a:rPr>
              <a:t> la eficiencia de trabajar con Spring MVC.</a:t>
            </a:r>
          </a:p>
          <a:p>
            <a:pPr marL="177800" lvl="0" indent="-177800">
              <a:buClr>
                <a:schemeClr val="accent2"/>
              </a:buClr>
              <a:buFont typeface="Arial" panose="020B0604020202020204" pitchFamily="34" charset="0"/>
              <a:buChar char="•"/>
            </a:pPr>
            <a:r>
              <a:rPr lang="es-PE" sz="1400" b="1" dirty="0">
                <a:latin typeface="Calibri" charset="0"/>
                <a:cs typeface="Calibri" charset="0"/>
              </a:rPr>
              <a:t>Aprenderemos</a:t>
            </a:r>
            <a:r>
              <a:rPr lang="es-PE" sz="1400" dirty="0">
                <a:latin typeface="Calibri" charset="0"/>
                <a:cs typeface="Calibri" charset="0"/>
              </a:rPr>
              <a:t> a crear aplicaciones con Spring MVC.</a:t>
            </a:r>
          </a:p>
          <a:p>
            <a:pPr lvl="0"/>
            <a:endParaRPr lang="en-GB" sz="1400" spc="-10" dirty="0">
              <a:solidFill>
                <a:srgbClr val="262626"/>
              </a:solidFill>
              <a:latin typeface="Calibri" charset="0"/>
              <a:ea typeface="Calibri" charset="0"/>
              <a:cs typeface="Calibri" charset="0"/>
            </a:endParaRPr>
          </a:p>
        </p:txBody>
      </p:sp>
      <p:pic>
        <p:nvPicPr>
          <p:cNvPr id="6" name="Imagen 5"/>
          <p:cNvPicPr>
            <a:picLocks noChangeAspect="1"/>
          </p:cNvPicPr>
          <p:nvPr/>
        </p:nvPicPr>
        <p:blipFill>
          <a:blip r:embed="rId3"/>
          <a:stretch>
            <a:fillRect/>
          </a:stretch>
        </p:blipFill>
        <p:spPr>
          <a:xfrm>
            <a:off x="1010839" y="954885"/>
            <a:ext cx="117851" cy="121369"/>
          </a:xfrm>
          <a:prstGeom prst="rect">
            <a:avLst/>
          </a:prstGeom>
        </p:spPr>
      </p:pic>
      <p:sp>
        <p:nvSpPr>
          <p:cNvPr id="2" name="Rectángulo 1"/>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7" name="Imagen 16"/>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6661" y="3052731"/>
            <a:ext cx="1689027" cy="2181257"/>
          </a:xfrm>
          <a:prstGeom prst="rect">
            <a:avLst/>
          </a:prstGeom>
        </p:spPr>
      </p:pic>
      <p:pic>
        <p:nvPicPr>
          <p:cNvPr id="10" name="Imagen 9"/>
          <p:cNvPicPr>
            <a:picLocks noChangeAspect="1"/>
          </p:cNvPicPr>
          <p:nvPr/>
        </p:nvPicPr>
        <p:blipFill>
          <a:blip r:embed="rId3"/>
          <a:stretch>
            <a:fillRect/>
          </a:stretch>
        </p:blipFill>
        <p:spPr>
          <a:xfrm>
            <a:off x="1010839" y="1821949"/>
            <a:ext cx="117851" cy="121369"/>
          </a:xfrm>
          <a:prstGeom prst="rect">
            <a:avLst/>
          </a:prstGeom>
        </p:spPr>
      </p:pic>
      <p:sp>
        <p:nvSpPr>
          <p:cNvPr id="9" name="Rectángulo 8"/>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1" name="Imagen 10"/>
          <p:cNvPicPr>
            <a:picLocks noChangeAspect="1"/>
          </p:cNvPicPr>
          <p:nvPr/>
        </p:nvPicPr>
        <p:blipFill>
          <a:blip r:embed="rId3"/>
          <a:stretch>
            <a:fillRect/>
          </a:stretch>
        </p:blipFill>
        <p:spPr>
          <a:xfrm>
            <a:off x="1010839" y="2666226"/>
            <a:ext cx="117851" cy="121369"/>
          </a:xfrm>
          <a:prstGeom prst="rect">
            <a:avLst/>
          </a:prstGeom>
        </p:spPr>
      </p:pic>
      <p:sp>
        <p:nvSpPr>
          <p:cNvPr id="15"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INTRODUCCIÓN </a:t>
            </a:r>
          </a:p>
        </p:txBody>
      </p:sp>
    </p:spTree>
    <p:extLst>
      <p:ext uri="{BB962C8B-B14F-4D97-AF65-F5344CB8AC3E}">
        <p14:creationId xmlns:p14="http://schemas.microsoft.com/office/powerpoint/2010/main" val="78323994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993558" cy="387798"/>
          </a:xfrm>
          <a:prstGeom prst="rect">
            <a:avLst/>
          </a:prstGeom>
          <a:noFill/>
        </p:spPr>
        <p:txBody>
          <a:bodyPr wrap="square" lIns="0" tIns="0" rIns="0" bIns="0" rtlCol="0">
            <a:spAutoFit/>
          </a:bodyPr>
          <a:lstStyle/>
          <a:p>
            <a:pPr>
              <a:lnSpc>
                <a:spcPct val="90000"/>
              </a:lnSpc>
              <a:spcBef>
                <a:spcPts val="1000"/>
              </a:spcBef>
              <a:defRPr/>
            </a:pPr>
            <a:r>
              <a:rPr lang="es-PE" sz="2800" b="1" dirty="0">
                <a:solidFill>
                  <a:schemeClr val="bg1"/>
                </a:solidFill>
                <a:latin typeface="Graphik Bold" charset="0"/>
                <a:ea typeface="Graphik Bold" charset="0"/>
                <a:cs typeface="Graphik Bold" charset="0"/>
              </a:rPr>
              <a:t>EFICIENCIA</a:t>
            </a:r>
            <a:endParaRPr lang="es-ES" sz="1600" dirty="0">
              <a:solidFill>
                <a:schemeClr val="bg1"/>
              </a:solidFill>
              <a:latin typeface="Calibri" panose="020F0502020204030204" pitchFamily="34" charset="0"/>
              <a:cs typeface="Calibri"/>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69892938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4"/>
          <p:cNvSpPr txBox="1"/>
          <p:nvPr/>
        </p:nvSpPr>
        <p:spPr>
          <a:xfrm>
            <a:off x="509343" y="921277"/>
            <a:ext cx="7836300" cy="246221"/>
          </a:xfrm>
          <a:prstGeom prst="rect">
            <a:avLst/>
          </a:prstGeom>
          <a:noFill/>
          <a:ln>
            <a:noFill/>
          </a:ln>
        </p:spPr>
        <p:txBody>
          <a:bodyPr spcFirstLastPara="1" wrap="square" lIns="0" tIns="0" rIns="0" bIns="0" anchor="t" anchorCtr="0">
            <a:spAutoFit/>
          </a:bodyPr>
          <a:lstStyle/>
          <a:p>
            <a:pPr marR="0" lvl="0" algn="l" rtl="0">
              <a:spcBef>
                <a:spcPts val="0"/>
              </a:spcBef>
              <a:spcAft>
                <a:spcPts val="0"/>
              </a:spcAft>
            </a:pPr>
            <a:r>
              <a:rPr lang="es-ES" sz="1600" b="1" dirty="0">
                <a:solidFill>
                  <a:schemeClr val="tx1"/>
                </a:solidFill>
                <a:latin typeface="Calibri" panose="020F0502020204030204" pitchFamily="34" charset="0"/>
                <a:ea typeface="Calibri"/>
                <a:cs typeface="Calibri" panose="020F0502020204030204" pitchFamily="34" charset="0"/>
                <a:sym typeface="Calibri"/>
              </a:rPr>
              <a:t>COMPONENTES CLAVES DE SPRING MVC</a:t>
            </a:r>
            <a:endParaRPr sz="1600" dirty="0">
              <a:solidFill>
                <a:schemeClr val="tx1"/>
              </a:solidFill>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A02950EC-3CB0-28F1-EF8A-176330D58840}"/>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EFICIENCIA </a:t>
            </a:r>
          </a:p>
        </p:txBody>
      </p:sp>
      <p:cxnSp>
        <p:nvCxnSpPr>
          <p:cNvPr id="6" name="Conector recto 5">
            <a:extLst>
              <a:ext uri="{FF2B5EF4-FFF2-40B4-BE49-F238E27FC236}">
                <a16:creationId xmlns:a16="http://schemas.microsoft.com/office/drawing/2014/main" id="{2B38D8C3-DDD4-9A74-CCD5-F808F89EDC00}"/>
              </a:ext>
            </a:extLst>
          </p:cNvPr>
          <p:cNvCxnSpPr>
            <a:cxnSpLocks/>
          </p:cNvCxnSpPr>
          <p:nvPr/>
        </p:nvCxnSpPr>
        <p:spPr>
          <a:xfrm>
            <a:off x="722046" y="1720046"/>
            <a:ext cx="0" cy="665345"/>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grpSp>
        <p:nvGrpSpPr>
          <p:cNvPr id="8" name="Grupo 7">
            <a:extLst>
              <a:ext uri="{FF2B5EF4-FFF2-40B4-BE49-F238E27FC236}">
                <a16:creationId xmlns:a16="http://schemas.microsoft.com/office/drawing/2014/main" id="{91989928-3029-35A4-AC40-8D4AFB270F7E}"/>
              </a:ext>
            </a:extLst>
          </p:cNvPr>
          <p:cNvGrpSpPr/>
          <p:nvPr/>
        </p:nvGrpSpPr>
        <p:grpSpPr>
          <a:xfrm>
            <a:off x="645704" y="1517176"/>
            <a:ext cx="6281870" cy="646331"/>
            <a:chOff x="645704" y="1517176"/>
            <a:chExt cx="6281870" cy="646331"/>
          </a:xfrm>
        </p:grpSpPr>
        <p:sp>
          <p:nvSpPr>
            <p:cNvPr id="5" name="Rectángulo 4">
              <a:extLst>
                <a:ext uri="{FF2B5EF4-FFF2-40B4-BE49-F238E27FC236}">
                  <a16:creationId xmlns:a16="http://schemas.microsoft.com/office/drawing/2014/main" id="{03C771D5-F9DC-D760-3264-2C32E460877B}"/>
                </a:ext>
              </a:extLst>
            </p:cNvPr>
            <p:cNvSpPr/>
            <p:nvPr/>
          </p:nvSpPr>
          <p:spPr>
            <a:xfrm>
              <a:off x="936447" y="1517176"/>
              <a:ext cx="5991127" cy="646331"/>
            </a:xfrm>
            <a:prstGeom prst="rect">
              <a:avLst/>
            </a:prstGeom>
          </p:spPr>
          <p:txBody>
            <a:bodyPr wrap="square" lIns="0" tIns="0" rIns="0" bIns="0">
              <a:spAutoFit/>
            </a:bodyPr>
            <a:lstStyle/>
            <a:p>
              <a:pPr marR="0" lvl="0" algn="l" rtl="0">
                <a:spcBef>
                  <a:spcPts val="0"/>
                </a:spcBef>
                <a:spcAft>
                  <a:spcPts val="0"/>
                </a:spcAft>
                <a:buClr>
                  <a:srgbClr val="374151"/>
                </a:buClr>
                <a:buSzPts val="1600"/>
              </a:pPr>
              <a:r>
                <a:rPr lang="es-ES" sz="1400" b="1" dirty="0" err="1">
                  <a:solidFill>
                    <a:schemeClr val="accent2"/>
                  </a:solidFill>
                  <a:latin typeface="Calibri" panose="020F0502020204030204" pitchFamily="34" charset="0"/>
                  <a:cs typeface="Calibri" panose="020F0502020204030204" pitchFamily="34" charset="0"/>
                  <a:sym typeface="Arial"/>
                </a:rPr>
                <a:t>DispatcherServlet</a:t>
              </a:r>
              <a:r>
                <a:rPr lang="es-ES" sz="1400" b="1" dirty="0">
                  <a:solidFill>
                    <a:schemeClr val="accent2"/>
                  </a:solidFill>
                  <a:latin typeface="Calibri" panose="020F0502020204030204" pitchFamily="34" charset="0"/>
                  <a:cs typeface="Calibri" panose="020F0502020204030204" pitchFamily="34" charset="0"/>
                  <a:sym typeface="Arial"/>
                </a:rPr>
                <a:t>:</a:t>
              </a:r>
            </a:p>
            <a:p>
              <a:pPr marR="0" lvl="0" algn="l" rtl="0">
                <a:spcBef>
                  <a:spcPts val="0"/>
                </a:spcBef>
                <a:spcAft>
                  <a:spcPts val="0"/>
                </a:spcAft>
                <a:buClr>
                  <a:srgbClr val="374151"/>
                </a:buClr>
                <a:buSzPts val="1600"/>
              </a:pPr>
              <a:r>
                <a:rPr lang="es-ES" sz="1400" dirty="0">
                  <a:solidFill>
                    <a:schemeClr val="tx1"/>
                  </a:solidFill>
                  <a:latin typeface="Calibri" panose="020F0502020204030204" pitchFamily="34" charset="0"/>
                  <a:cs typeface="Calibri" panose="020F0502020204030204" pitchFamily="34" charset="0"/>
                  <a:sym typeface="Arial"/>
                </a:rPr>
                <a:t>El núcleo de Spring MVC que maneja todas las solicitudes entrantes y las direcciona a los controladores correspondientes.</a:t>
              </a:r>
              <a:endParaRPr lang="es-ES" sz="1400" dirty="0">
                <a:solidFill>
                  <a:schemeClr val="tx1"/>
                </a:solidFill>
                <a:latin typeface="Calibri" panose="020F0502020204030204" pitchFamily="34" charset="0"/>
                <a:cs typeface="Calibri" panose="020F0502020204030204" pitchFamily="34" charset="0"/>
              </a:endParaRPr>
            </a:p>
          </p:txBody>
        </p:sp>
        <p:sp>
          <p:nvSpPr>
            <p:cNvPr id="7" name="Más 6">
              <a:extLst>
                <a:ext uri="{FF2B5EF4-FFF2-40B4-BE49-F238E27FC236}">
                  <a16:creationId xmlns:a16="http://schemas.microsoft.com/office/drawing/2014/main" id="{904FE636-0202-008A-B04A-266371838B0F}"/>
                </a:ext>
              </a:extLst>
            </p:cNvPr>
            <p:cNvSpPr/>
            <p:nvPr/>
          </p:nvSpPr>
          <p:spPr>
            <a:xfrm>
              <a:off x="645704" y="1526948"/>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grpSp>
        <p:nvGrpSpPr>
          <p:cNvPr id="9" name="Grupo 8">
            <a:extLst>
              <a:ext uri="{FF2B5EF4-FFF2-40B4-BE49-F238E27FC236}">
                <a16:creationId xmlns:a16="http://schemas.microsoft.com/office/drawing/2014/main" id="{B1DB3263-DA5E-C202-FD72-78DBECFAB9A7}"/>
              </a:ext>
            </a:extLst>
          </p:cNvPr>
          <p:cNvGrpSpPr/>
          <p:nvPr/>
        </p:nvGrpSpPr>
        <p:grpSpPr>
          <a:xfrm>
            <a:off x="645704" y="2419808"/>
            <a:ext cx="6281870" cy="646331"/>
            <a:chOff x="645704" y="1517176"/>
            <a:chExt cx="6281870" cy="646331"/>
          </a:xfrm>
        </p:grpSpPr>
        <p:sp>
          <p:nvSpPr>
            <p:cNvPr id="10" name="Rectángulo 9">
              <a:extLst>
                <a:ext uri="{FF2B5EF4-FFF2-40B4-BE49-F238E27FC236}">
                  <a16:creationId xmlns:a16="http://schemas.microsoft.com/office/drawing/2014/main" id="{18781654-70C6-EEE1-BFF5-C60FB711CE28}"/>
                </a:ext>
              </a:extLst>
            </p:cNvPr>
            <p:cNvSpPr/>
            <p:nvPr/>
          </p:nvSpPr>
          <p:spPr>
            <a:xfrm>
              <a:off x="936447" y="1517176"/>
              <a:ext cx="5991127" cy="646331"/>
            </a:xfrm>
            <a:prstGeom prst="rect">
              <a:avLst/>
            </a:prstGeom>
          </p:spPr>
          <p:txBody>
            <a:bodyPr wrap="square" lIns="0" tIns="0" rIns="0" bIns="0">
              <a:spAutoFit/>
            </a:bodyPr>
            <a:lstStyle/>
            <a:p>
              <a:pPr marR="0" lvl="0" algn="l" rtl="0">
                <a:spcBef>
                  <a:spcPts val="0"/>
                </a:spcBef>
                <a:spcAft>
                  <a:spcPts val="0"/>
                </a:spcAft>
                <a:buClr>
                  <a:srgbClr val="374151"/>
                </a:buClr>
                <a:buSzPts val="1600"/>
              </a:pPr>
              <a:r>
                <a:rPr lang="es-PE" sz="1400" b="1" dirty="0">
                  <a:solidFill>
                    <a:schemeClr val="accent2"/>
                  </a:solidFill>
                  <a:latin typeface="Calibri" panose="020F0502020204030204" pitchFamily="34" charset="0"/>
                  <a:cs typeface="Calibri" panose="020F0502020204030204" pitchFamily="34" charset="0"/>
                  <a:sym typeface="Arial"/>
                </a:rPr>
                <a:t>Controllers:</a:t>
              </a:r>
            </a:p>
            <a:p>
              <a:pPr marR="0" lvl="0" algn="l" rtl="0">
                <a:spcBef>
                  <a:spcPts val="0"/>
                </a:spcBef>
                <a:spcAft>
                  <a:spcPts val="0"/>
                </a:spcAft>
                <a:buClr>
                  <a:srgbClr val="374151"/>
                </a:buClr>
                <a:buSzPts val="1600"/>
              </a:pPr>
              <a:r>
                <a:rPr lang="es-PE" sz="1400" dirty="0">
                  <a:solidFill>
                    <a:schemeClr val="tx1"/>
                  </a:solidFill>
                  <a:latin typeface="Calibri" panose="020F0502020204030204" pitchFamily="34" charset="0"/>
                  <a:cs typeface="Calibri" panose="020F0502020204030204" pitchFamily="34" charset="0"/>
                  <a:sym typeface="Arial"/>
                </a:rPr>
                <a:t>Componentes que manejan las solicitudes HTTP, procesan datos del modelo y retornan las vistas apropiadas.</a:t>
              </a:r>
              <a:endParaRPr lang="es-PE" sz="1400" dirty="0">
                <a:solidFill>
                  <a:schemeClr val="tx1"/>
                </a:solidFill>
                <a:latin typeface="Calibri" panose="020F0502020204030204" pitchFamily="34" charset="0"/>
                <a:cs typeface="Calibri" panose="020F0502020204030204" pitchFamily="34" charset="0"/>
              </a:endParaRPr>
            </a:p>
          </p:txBody>
        </p:sp>
        <p:sp>
          <p:nvSpPr>
            <p:cNvPr id="11" name="Más 10">
              <a:extLst>
                <a:ext uri="{FF2B5EF4-FFF2-40B4-BE49-F238E27FC236}">
                  <a16:creationId xmlns:a16="http://schemas.microsoft.com/office/drawing/2014/main" id="{8CDD53D4-B557-2920-EB28-561CA8A63990}"/>
                </a:ext>
              </a:extLst>
            </p:cNvPr>
            <p:cNvSpPr/>
            <p:nvPr/>
          </p:nvSpPr>
          <p:spPr>
            <a:xfrm>
              <a:off x="645704" y="1526948"/>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grpSp>
        <p:nvGrpSpPr>
          <p:cNvPr id="12" name="Grupo 11">
            <a:extLst>
              <a:ext uri="{FF2B5EF4-FFF2-40B4-BE49-F238E27FC236}">
                <a16:creationId xmlns:a16="http://schemas.microsoft.com/office/drawing/2014/main" id="{B6408C84-A09C-BDA0-EB1A-6DD6227E4CFC}"/>
              </a:ext>
            </a:extLst>
          </p:cNvPr>
          <p:cNvGrpSpPr/>
          <p:nvPr/>
        </p:nvGrpSpPr>
        <p:grpSpPr>
          <a:xfrm>
            <a:off x="645704" y="3322440"/>
            <a:ext cx="7006885" cy="430887"/>
            <a:chOff x="645704" y="1517176"/>
            <a:chExt cx="7006885" cy="430887"/>
          </a:xfrm>
        </p:grpSpPr>
        <p:sp>
          <p:nvSpPr>
            <p:cNvPr id="13" name="Rectángulo 12">
              <a:extLst>
                <a:ext uri="{FF2B5EF4-FFF2-40B4-BE49-F238E27FC236}">
                  <a16:creationId xmlns:a16="http://schemas.microsoft.com/office/drawing/2014/main" id="{BBC0B3C7-8B04-1819-7E13-5312C6F33966}"/>
                </a:ext>
              </a:extLst>
            </p:cNvPr>
            <p:cNvSpPr/>
            <p:nvPr/>
          </p:nvSpPr>
          <p:spPr>
            <a:xfrm>
              <a:off x="936447" y="1517176"/>
              <a:ext cx="6716142" cy="430887"/>
            </a:xfrm>
            <a:prstGeom prst="rect">
              <a:avLst/>
            </a:prstGeom>
          </p:spPr>
          <p:txBody>
            <a:bodyPr wrap="square" lIns="0" tIns="0" rIns="0" bIns="0">
              <a:spAutoFit/>
            </a:bodyPr>
            <a:lstStyle/>
            <a:p>
              <a:pPr marR="0" lvl="0" algn="l" rtl="0">
                <a:spcBef>
                  <a:spcPts val="0"/>
                </a:spcBef>
                <a:spcAft>
                  <a:spcPts val="0"/>
                </a:spcAft>
                <a:buClr>
                  <a:srgbClr val="374151"/>
                </a:buClr>
                <a:buSzPts val="1600"/>
              </a:pPr>
              <a:r>
                <a:rPr lang="es-ES" sz="1400" b="1" dirty="0">
                  <a:solidFill>
                    <a:schemeClr val="accent2"/>
                  </a:solidFill>
                  <a:latin typeface="Calibri" panose="020F0502020204030204" pitchFamily="34" charset="0"/>
                  <a:cs typeface="Calibri" panose="020F0502020204030204" pitchFamily="34" charset="0"/>
                  <a:sym typeface="Arial"/>
                </a:rPr>
                <a:t>View </a:t>
              </a:r>
              <a:r>
                <a:rPr lang="es-ES" sz="1400" b="1" dirty="0" err="1">
                  <a:solidFill>
                    <a:schemeClr val="accent2"/>
                  </a:solidFill>
                  <a:latin typeface="Calibri" panose="020F0502020204030204" pitchFamily="34" charset="0"/>
                  <a:cs typeface="Calibri" panose="020F0502020204030204" pitchFamily="34" charset="0"/>
                  <a:sym typeface="Arial"/>
                </a:rPr>
                <a:t>Resolvers</a:t>
              </a:r>
              <a:r>
                <a:rPr lang="es-ES" sz="1400" b="1" dirty="0">
                  <a:solidFill>
                    <a:schemeClr val="accent2"/>
                  </a:solidFill>
                  <a:latin typeface="Calibri" panose="020F0502020204030204" pitchFamily="34" charset="0"/>
                  <a:cs typeface="Calibri" panose="020F0502020204030204" pitchFamily="34" charset="0"/>
                  <a:sym typeface="Arial"/>
                </a:rPr>
                <a:t>:</a:t>
              </a:r>
            </a:p>
            <a:p>
              <a:pPr marR="0" lvl="0" algn="l" rtl="0">
                <a:spcBef>
                  <a:spcPts val="0"/>
                </a:spcBef>
                <a:spcAft>
                  <a:spcPts val="0"/>
                </a:spcAft>
                <a:buClr>
                  <a:srgbClr val="374151"/>
                </a:buClr>
                <a:buSzPts val="1600"/>
              </a:pPr>
              <a:r>
                <a:rPr lang="es-ES" sz="1400" dirty="0">
                  <a:solidFill>
                    <a:schemeClr val="tx1"/>
                  </a:solidFill>
                  <a:latin typeface="Calibri" panose="020F0502020204030204" pitchFamily="34" charset="0"/>
                  <a:cs typeface="Calibri" panose="020F0502020204030204" pitchFamily="34" charset="0"/>
                  <a:sym typeface="Arial"/>
                </a:rPr>
                <a:t>Configuran la lógica para resolver las vistas que se devolverán en respuesta a una solicitud.</a:t>
              </a:r>
              <a:endParaRPr lang="es-ES" sz="1400" dirty="0">
                <a:solidFill>
                  <a:schemeClr val="tx1"/>
                </a:solidFill>
                <a:latin typeface="Calibri" panose="020F0502020204030204" pitchFamily="34" charset="0"/>
                <a:cs typeface="Calibri" panose="020F0502020204030204" pitchFamily="34" charset="0"/>
              </a:endParaRPr>
            </a:p>
          </p:txBody>
        </p:sp>
        <p:sp>
          <p:nvSpPr>
            <p:cNvPr id="14" name="Más 13">
              <a:extLst>
                <a:ext uri="{FF2B5EF4-FFF2-40B4-BE49-F238E27FC236}">
                  <a16:creationId xmlns:a16="http://schemas.microsoft.com/office/drawing/2014/main" id="{941BE9FC-9DD6-331B-D21A-AD7F326036E8}"/>
                </a:ext>
              </a:extLst>
            </p:cNvPr>
            <p:cNvSpPr/>
            <p:nvPr/>
          </p:nvSpPr>
          <p:spPr>
            <a:xfrm>
              <a:off x="645704" y="1526948"/>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grpSp>
        <p:nvGrpSpPr>
          <p:cNvPr id="15" name="Grupo 14">
            <a:extLst>
              <a:ext uri="{FF2B5EF4-FFF2-40B4-BE49-F238E27FC236}">
                <a16:creationId xmlns:a16="http://schemas.microsoft.com/office/drawing/2014/main" id="{47DCA3D0-45FC-5B1E-6E4C-04DBFC458E98}"/>
              </a:ext>
            </a:extLst>
          </p:cNvPr>
          <p:cNvGrpSpPr/>
          <p:nvPr/>
        </p:nvGrpSpPr>
        <p:grpSpPr>
          <a:xfrm>
            <a:off x="645704" y="4009628"/>
            <a:ext cx="6281870" cy="646331"/>
            <a:chOff x="645704" y="1517176"/>
            <a:chExt cx="6281870" cy="646331"/>
          </a:xfrm>
        </p:grpSpPr>
        <p:sp>
          <p:nvSpPr>
            <p:cNvPr id="16" name="Rectángulo 15">
              <a:extLst>
                <a:ext uri="{FF2B5EF4-FFF2-40B4-BE49-F238E27FC236}">
                  <a16:creationId xmlns:a16="http://schemas.microsoft.com/office/drawing/2014/main" id="{AAF4A238-8EC8-AE5E-630D-50DD35AA5BE1}"/>
                </a:ext>
              </a:extLst>
            </p:cNvPr>
            <p:cNvSpPr/>
            <p:nvPr/>
          </p:nvSpPr>
          <p:spPr>
            <a:xfrm>
              <a:off x="936447" y="1517176"/>
              <a:ext cx="5991127" cy="646331"/>
            </a:xfrm>
            <a:prstGeom prst="rect">
              <a:avLst/>
            </a:prstGeom>
          </p:spPr>
          <p:txBody>
            <a:bodyPr wrap="square" lIns="0" tIns="0" rIns="0" bIns="0">
              <a:spAutoFit/>
            </a:bodyPr>
            <a:lstStyle/>
            <a:p>
              <a:pPr marR="0" lvl="0" algn="l" rtl="0">
                <a:spcBef>
                  <a:spcPts val="0"/>
                </a:spcBef>
                <a:spcAft>
                  <a:spcPts val="0"/>
                </a:spcAft>
                <a:buClr>
                  <a:srgbClr val="374151"/>
                </a:buClr>
                <a:buSzPts val="1600"/>
              </a:pPr>
              <a:r>
                <a:rPr lang="es-ES" sz="1400" b="1" dirty="0" err="1">
                  <a:solidFill>
                    <a:schemeClr val="accent2"/>
                  </a:solidFill>
                  <a:latin typeface="Calibri" panose="020F0502020204030204" pitchFamily="34" charset="0"/>
                  <a:cs typeface="Calibri" panose="020F0502020204030204" pitchFamily="34" charset="0"/>
                  <a:sym typeface="Arial"/>
                </a:rPr>
                <a:t>ModelAndView</a:t>
              </a:r>
              <a:r>
                <a:rPr lang="es-ES" sz="1400" b="1" dirty="0">
                  <a:solidFill>
                    <a:schemeClr val="accent2"/>
                  </a:solidFill>
                  <a:latin typeface="Calibri" panose="020F0502020204030204" pitchFamily="34" charset="0"/>
                  <a:cs typeface="Calibri" panose="020F0502020204030204" pitchFamily="34" charset="0"/>
                  <a:sym typeface="Arial"/>
                </a:rPr>
                <a:t>:</a:t>
              </a:r>
            </a:p>
            <a:p>
              <a:pPr marR="0" lvl="0" algn="l" rtl="0">
                <a:spcBef>
                  <a:spcPts val="0"/>
                </a:spcBef>
                <a:spcAft>
                  <a:spcPts val="0"/>
                </a:spcAft>
                <a:buClr>
                  <a:srgbClr val="374151"/>
                </a:buClr>
                <a:buSzPts val="1600"/>
              </a:pPr>
              <a:r>
                <a:rPr lang="es-ES" sz="1400" dirty="0">
                  <a:solidFill>
                    <a:schemeClr val="tx1"/>
                  </a:solidFill>
                  <a:latin typeface="Calibri" panose="020F0502020204030204" pitchFamily="34" charset="0"/>
                  <a:cs typeface="Calibri" panose="020F0502020204030204" pitchFamily="34" charset="0"/>
                  <a:sym typeface="Arial"/>
                </a:rPr>
                <a:t>Una combinación del modelo y la vista, que se pasa de los controladores al </a:t>
              </a:r>
              <a:r>
                <a:rPr lang="es-ES" sz="1400" dirty="0" err="1">
                  <a:solidFill>
                    <a:schemeClr val="tx1"/>
                  </a:solidFill>
                  <a:latin typeface="Calibri" panose="020F0502020204030204" pitchFamily="34" charset="0"/>
                  <a:cs typeface="Calibri" panose="020F0502020204030204" pitchFamily="34" charset="0"/>
                  <a:sym typeface="Arial"/>
                </a:rPr>
                <a:t>framework</a:t>
              </a:r>
              <a:r>
                <a:rPr lang="es-ES" sz="1400" dirty="0">
                  <a:solidFill>
                    <a:schemeClr val="tx1"/>
                  </a:solidFill>
                  <a:latin typeface="Calibri" panose="020F0502020204030204" pitchFamily="34" charset="0"/>
                  <a:cs typeface="Calibri" panose="020F0502020204030204" pitchFamily="34" charset="0"/>
                  <a:sym typeface="Arial"/>
                </a:rPr>
                <a:t> para la renderización final.</a:t>
              </a:r>
              <a:endParaRPr lang="es-ES" sz="1400" dirty="0">
                <a:solidFill>
                  <a:schemeClr val="tx1"/>
                </a:solidFill>
                <a:latin typeface="Calibri" panose="020F0502020204030204" pitchFamily="34" charset="0"/>
                <a:cs typeface="Calibri" panose="020F0502020204030204" pitchFamily="34" charset="0"/>
              </a:endParaRPr>
            </a:p>
          </p:txBody>
        </p:sp>
        <p:sp>
          <p:nvSpPr>
            <p:cNvPr id="17" name="Más 16">
              <a:extLst>
                <a:ext uri="{FF2B5EF4-FFF2-40B4-BE49-F238E27FC236}">
                  <a16:creationId xmlns:a16="http://schemas.microsoft.com/office/drawing/2014/main" id="{0D69446A-CF30-5CAE-A7E9-191F2F3C96E3}"/>
                </a:ext>
              </a:extLst>
            </p:cNvPr>
            <p:cNvSpPr/>
            <p:nvPr/>
          </p:nvSpPr>
          <p:spPr>
            <a:xfrm>
              <a:off x="645704" y="1526948"/>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cxnSp>
        <p:nvCxnSpPr>
          <p:cNvPr id="19" name="Conector recto 18">
            <a:extLst>
              <a:ext uri="{FF2B5EF4-FFF2-40B4-BE49-F238E27FC236}">
                <a16:creationId xmlns:a16="http://schemas.microsoft.com/office/drawing/2014/main" id="{DDC2FE83-6CAB-51F5-3DA4-AAB76438E170}"/>
              </a:ext>
            </a:extLst>
          </p:cNvPr>
          <p:cNvCxnSpPr>
            <a:cxnSpLocks/>
          </p:cNvCxnSpPr>
          <p:nvPr/>
        </p:nvCxnSpPr>
        <p:spPr>
          <a:xfrm>
            <a:off x="722046" y="2628224"/>
            <a:ext cx="0" cy="665345"/>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688596BF-8CE3-F8DE-9EA0-94648A111987}"/>
              </a:ext>
            </a:extLst>
          </p:cNvPr>
          <p:cNvCxnSpPr>
            <a:cxnSpLocks/>
          </p:cNvCxnSpPr>
          <p:nvPr/>
        </p:nvCxnSpPr>
        <p:spPr>
          <a:xfrm>
            <a:off x="722046" y="3511826"/>
            <a:ext cx="0" cy="472682"/>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5"/>
          <p:cNvSpPr txBox="1"/>
          <p:nvPr/>
        </p:nvSpPr>
        <p:spPr>
          <a:xfrm>
            <a:off x="509343" y="921277"/>
            <a:ext cx="7229190" cy="180049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ES" sz="1600" b="1" dirty="0">
                <a:solidFill>
                  <a:schemeClr val="tx1"/>
                </a:solidFill>
                <a:highlight>
                  <a:srgbClr val="FFFFFF"/>
                </a:highlight>
                <a:latin typeface="Calibri" panose="020F0502020204030204" pitchFamily="34" charset="0"/>
                <a:cs typeface="Calibri" panose="020F0502020204030204" pitchFamily="34" charset="0"/>
                <a:sym typeface="Arial"/>
              </a:rPr>
              <a:t>EFICIENCIA DE SPRING MVC</a:t>
            </a:r>
            <a:endParaRPr lang="es-ES" sz="1600" dirty="0">
              <a:solidFill>
                <a:schemeClr val="tx1"/>
              </a:solidFill>
              <a:latin typeface="Calibri" panose="020F0502020204030204" pitchFamily="34" charset="0"/>
              <a:ea typeface="Calibri"/>
              <a:cs typeface="Calibri" panose="020F0502020204030204" pitchFamily="34" charset="0"/>
              <a:sym typeface="Calibri"/>
            </a:endParaRPr>
          </a:p>
          <a:p>
            <a:pPr marL="184150" marR="0" lvl="0" indent="-173038" algn="l" rtl="0">
              <a:spcBef>
                <a:spcPts val="0"/>
              </a:spcBef>
              <a:spcAft>
                <a:spcPts val="0"/>
              </a:spcAft>
              <a:buFont typeface="Arial" panose="020B0604020202020204" pitchFamily="34" charset="0"/>
              <a:buChar char="•"/>
            </a:pPr>
            <a:r>
              <a:rPr lang="es-ES" sz="1600" dirty="0">
                <a:solidFill>
                  <a:schemeClr val="tx1"/>
                </a:solidFill>
                <a:latin typeface="Calibri" panose="020F0502020204030204" pitchFamily="34" charset="0"/>
                <a:cs typeface="Calibri" panose="020F0502020204030204" pitchFamily="34" charset="0"/>
                <a:sym typeface="Arial"/>
              </a:rPr>
              <a:t>Spring MVC es conocido por su eficiencia en la gestión de aplicaciones web debido a su arquitectura modular y su capacidad para integrar fácilmente otros componentes de Spring, como la inyección de dependencias y la gestión de transacciones.</a:t>
            </a:r>
            <a:endParaRPr sz="1600" dirty="0">
              <a:solidFill>
                <a:schemeClr val="tx1"/>
              </a:solidFill>
              <a:latin typeface="Calibri" panose="020F0502020204030204" pitchFamily="34" charset="0"/>
              <a:cs typeface="Calibri" panose="020F0502020204030204" pitchFamily="34" charset="0"/>
            </a:endParaRPr>
          </a:p>
          <a:p>
            <a:pPr marL="184150" marR="0" lvl="0" indent="-173038" algn="l" rtl="0">
              <a:spcBef>
                <a:spcPts val="0"/>
              </a:spcBef>
              <a:spcAft>
                <a:spcPts val="0"/>
              </a:spcAft>
              <a:buFont typeface="Arial" panose="020B0604020202020204" pitchFamily="34" charset="0"/>
              <a:buChar char="•"/>
            </a:pPr>
            <a:endParaRPr sz="1600" dirty="0">
              <a:solidFill>
                <a:schemeClr val="tx1"/>
              </a:solidFill>
              <a:latin typeface="Calibri" panose="020F0502020204030204" pitchFamily="34" charset="0"/>
              <a:cs typeface="Calibri" panose="020F0502020204030204" pitchFamily="34" charset="0"/>
              <a:sym typeface="Arial"/>
            </a:endParaRPr>
          </a:p>
          <a:p>
            <a:pPr marL="184150" marR="0" lvl="0" indent="-173038" algn="l" rtl="0">
              <a:spcBef>
                <a:spcPts val="0"/>
              </a:spcBef>
              <a:spcAft>
                <a:spcPts val="0"/>
              </a:spcAft>
              <a:buFont typeface="Arial" panose="020B0604020202020204" pitchFamily="34" charset="0"/>
              <a:buChar char="•"/>
            </a:pPr>
            <a:r>
              <a:rPr lang="es-ES" sz="1600" dirty="0">
                <a:solidFill>
                  <a:schemeClr val="tx1"/>
                </a:solidFill>
                <a:latin typeface="Calibri" panose="020F0502020204030204" pitchFamily="34" charset="0"/>
                <a:cs typeface="Calibri" panose="020F0502020204030204" pitchFamily="34" charset="0"/>
                <a:sym typeface="Arial"/>
              </a:rPr>
              <a:t>Esto permite a los desarrolladores construir aplicaciones escalables y mantenibles con menos esfuerzo.</a:t>
            </a:r>
            <a:endParaRPr sz="1600" i="0" dirty="0">
              <a:solidFill>
                <a:schemeClr val="tx1"/>
              </a:solidFill>
              <a:highlight>
                <a:srgbClr val="FFFFFF"/>
              </a:highlight>
              <a:latin typeface="Calibri" panose="020F0502020204030204" pitchFamily="34" charset="0"/>
              <a:cs typeface="Calibri" panose="020F0502020204030204" pitchFamily="34" charset="0"/>
              <a:sym typeface="Arial"/>
            </a:endParaRPr>
          </a:p>
        </p:txBody>
      </p:sp>
      <p:sp>
        <p:nvSpPr>
          <p:cNvPr id="2" name="Rectangle 5">
            <a:extLst>
              <a:ext uri="{FF2B5EF4-FFF2-40B4-BE49-F238E27FC236}">
                <a16:creationId xmlns:a16="http://schemas.microsoft.com/office/drawing/2014/main" id="{8EE83A95-C963-20C6-505A-CADEAFB18C87}"/>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EFICIENCIA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70" name="Google Shape;70;p6"/>
          <p:cNvSpPr txBox="1"/>
          <p:nvPr/>
        </p:nvSpPr>
        <p:spPr>
          <a:xfrm>
            <a:off x="509343" y="921277"/>
            <a:ext cx="45720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 sz="1600" b="1" dirty="0">
                <a:solidFill>
                  <a:schemeClr val="tx1"/>
                </a:solidFill>
                <a:highlight>
                  <a:srgbClr val="FFFFFF"/>
                </a:highlight>
                <a:latin typeface="Calibri" panose="020F0502020204030204" pitchFamily="34" charset="0"/>
                <a:cs typeface="Calibri" panose="020F0502020204030204" pitchFamily="34" charset="0"/>
                <a:sym typeface="Arial"/>
              </a:rPr>
              <a:t>ASPECTOS CLAVES DE SPRING MVC</a:t>
            </a:r>
            <a:endParaRPr sz="1800" dirty="0">
              <a:solidFill>
                <a:schemeClr val="tx1"/>
              </a:solidFill>
              <a:latin typeface="Calibri" panose="020F0502020204030204" pitchFamily="34" charset="0"/>
              <a:ea typeface="Calibri"/>
              <a:cs typeface="Calibri" panose="020F0502020204030204" pitchFamily="34" charset="0"/>
              <a:sym typeface="Calibri"/>
            </a:endParaRPr>
          </a:p>
        </p:txBody>
      </p:sp>
      <p:sp>
        <p:nvSpPr>
          <p:cNvPr id="2" name="Rectangle 5">
            <a:extLst>
              <a:ext uri="{FF2B5EF4-FFF2-40B4-BE49-F238E27FC236}">
                <a16:creationId xmlns:a16="http://schemas.microsoft.com/office/drawing/2014/main" id="{1060270C-F815-8A0D-76FE-39214F2D856E}"/>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EFICIENCIA </a:t>
            </a:r>
          </a:p>
        </p:txBody>
      </p:sp>
      <p:sp>
        <p:nvSpPr>
          <p:cNvPr id="4" name="Rectángulo 3">
            <a:extLst>
              <a:ext uri="{FF2B5EF4-FFF2-40B4-BE49-F238E27FC236}">
                <a16:creationId xmlns:a16="http://schemas.microsoft.com/office/drawing/2014/main" id="{C5CE8CF1-946E-C794-9BF1-7B76B253429F}"/>
              </a:ext>
            </a:extLst>
          </p:cNvPr>
          <p:cNvSpPr/>
          <p:nvPr/>
        </p:nvSpPr>
        <p:spPr>
          <a:xfrm>
            <a:off x="503238" y="1393550"/>
            <a:ext cx="7070380" cy="3093154"/>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+ 01.</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INVERSIÓN DE CONTROL (</a:t>
            </a:r>
            <a:r>
              <a:rPr lang="es-ES" sz="1600" b="1" dirty="0" err="1">
                <a:solidFill>
                  <a:srgbClr val="EE4639"/>
                </a:solidFill>
                <a:latin typeface="Calibri" charset="0"/>
                <a:cs typeface="Calibri" charset="0"/>
              </a:rPr>
              <a:t>IoC</a:t>
            </a:r>
            <a:r>
              <a:rPr lang="es-ES" sz="1600" b="1" dirty="0">
                <a:solidFill>
                  <a:srgbClr val="EE4639"/>
                </a:solidFill>
                <a:latin typeface="Calibri" charset="0"/>
                <a:cs typeface="Calibri" charset="0"/>
              </a:rPr>
              <a:t>) Y CONTENEDOR DE INYECCIÓN DE DEPENDENCIAS:</a:t>
            </a:r>
          </a:p>
          <a:p>
            <a:pPr marL="185738" indent="-174625">
              <a:buClr>
                <a:schemeClr val="accent2"/>
              </a:buClr>
              <a:buFont typeface="Arial" panose="020B0604020202020204" pitchFamily="34" charset="0"/>
              <a:buChar char="•"/>
            </a:pPr>
            <a:r>
              <a:rPr lang="es-ES" sz="1600" b="1" dirty="0">
                <a:latin typeface="Calibri" charset="0"/>
                <a:ea typeface="Calibri" charset="0"/>
                <a:cs typeface="Calibri" charset="0"/>
              </a:rPr>
              <a:t>Eficiencia en la Gestión de Dependencias: </a:t>
            </a:r>
            <a:r>
              <a:rPr lang="es-ES" sz="1600" dirty="0">
                <a:latin typeface="Calibri" charset="0"/>
                <a:ea typeface="Calibri" charset="0"/>
                <a:cs typeface="Calibri" charset="0"/>
              </a:rPr>
              <a:t>Spring implementa el patrón de inversión de control (</a:t>
            </a:r>
            <a:r>
              <a:rPr lang="es-ES" sz="1600" dirty="0" err="1">
                <a:latin typeface="Calibri" charset="0"/>
                <a:ea typeface="Calibri" charset="0"/>
                <a:cs typeface="Calibri" charset="0"/>
              </a:rPr>
              <a:t>IoC</a:t>
            </a:r>
            <a:r>
              <a:rPr lang="es-ES" sz="1600" dirty="0">
                <a:latin typeface="Calibri" charset="0"/>
                <a:ea typeface="Calibri" charset="0"/>
                <a:cs typeface="Calibri" charset="0"/>
              </a:rPr>
              <a:t>), que permite que las dependencias sean gestionadas por el contenedor de Spring en lugar de ser gestionadas directamente por el código del desarrollador. Esto reduce el acoplamiento entre componentes, facilita el testeo y mejora la mantenibilidad del código.</a:t>
            </a:r>
          </a:p>
          <a:p>
            <a:pPr marL="185738" indent="-174625">
              <a:buClr>
                <a:schemeClr val="accent2"/>
              </a:buClr>
              <a:buFont typeface="Arial" panose="020B0604020202020204" pitchFamily="34" charset="0"/>
              <a:buChar char="•"/>
            </a:pPr>
            <a:endParaRPr lang="es-ES" sz="1600" dirty="0">
              <a:latin typeface="Calibri" charset="0"/>
              <a:ea typeface="Calibri" charset="0"/>
              <a:cs typeface="Calibri" charset="0"/>
            </a:endParaRPr>
          </a:p>
          <a:p>
            <a:pPr marL="185738" indent="-174625">
              <a:buClr>
                <a:schemeClr val="accent2"/>
              </a:buClr>
              <a:buFont typeface="Arial" panose="020B0604020202020204" pitchFamily="34" charset="0"/>
              <a:buChar char="•"/>
            </a:pPr>
            <a:r>
              <a:rPr lang="es-ES" sz="1600" b="1" dirty="0">
                <a:latin typeface="Calibri" charset="0"/>
                <a:ea typeface="Calibri" charset="0"/>
                <a:cs typeface="Calibri" charset="0"/>
              </a:rPr>
              <a:t>Inyección de Dependencias (DI): </a:t>
            </a:r>
            <a:r>
              <a:rPr lang="es-ES" sz="1600" dirty="0">
                <a:latin typeface="Calibri" charset="0"/>
                <a:ea typeface="Calibri" charset="0"/>
                <a:cs typeface="Calibri" charset="0"/>
              </a:rPr>
              <a:t>La DI automatiza la creación y el ensamblaje de objetos, lo que simplifica el código y minimiza el riesgo de errores relacionados con la gestión manual de dependencias.</a:t>
            </a:r>
          </a:p>
          <a:p>
            <a:pPr marL="11113"/>
            <a:endParaRPr lang="es-PE" sz="1600" dirty="0">
              <a:latin typeface="Calibri" charset="0"/>
              <a:ea typeface="Calibri" charset="0"/>
              <a:cs typeface="Calibri"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2" name="Rectangle 5">
            <a:extLst>
              <a:ext uri="{FF2B5EF4-FFF2-40B4-BE49-F238E27FC236}">
                <a16:creationId xmlns:a16="http://schemas.microsoft.com/office/drawing/2014/main" id="{65F3C484-BAA7-DE91-6B3E-43A29ECDEE32}"/>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EFICIENCIA </a:t>
            </a:r>
          </a:p>
        </p:txBody>
      </p:sp>
      <p:sp>
        <p:nvSpPr>
          <p:cNvPr id="5" name="Google Shape;70;p6">
            <a:extLst>
              <a:ext uri="{FF2B5EF4-FFF2-40B4-BE49-F238E27FC236}">
                <a16:creationId xmlns:a16="http://schemas.microsoft.com/office/drawing/2014/main" id="{9D82348A-CB80-995E-E50A-12C141AD8746}"/>
              </a:ext>
            </a:extLst>
          </p:cNvPr>
          <p:cNvSpPr txBox="1"/>
          <p:nvPr/>
        </p:nvSpPr>
        <p:spPr>
          <a:xfrm>
            <a:off x="509343" y="921277"/>
            <a:ext cx="45720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 sz="1600" b="1" dirty="0">
                <a:solidFill>
                  <a:schemeClr val="tx1"/>
                </a:solidFill>
                <a:highlight>
                  <a:srgbClr val="FFFFFF"/>
                </a:highlight>
                <a:latin typeface="Calibri" panose="020F0502020204030204" pitchFamily="34" charset="0"/>
                <a:cs typeface="Calibri" panose="020F0502020204030204" pitchFamily="34" charset="0"/>
                <a:sym typeface="Arial"/>
              </a:rPr>
              <a:t>ASPECTOS CLAVES DE SPRING MVC</a:t>
            </a:r>
            <a:endParaRPr sz="1800" dirty="0">
              <a:solidFill>
                <a:schemeClr val="tx1"/>
              </a:solidFill>
              <a:latin typeface="Calibri" panose="020F0502020204030204" pitchFamily="34" charset="0"/>
              <a:ea typeface="Calibri"/>
              <a:cs typeface="Calibri" panose="020F0502020204030204" pitchFamily="34" charset="0"/>
              <a:sym typeface="Calibri"/>
            </a:endParaRPr>
          </a:p>
        </p:txBody>
      </p:sp>
      <p:sp>
        <p:nvSpPr>
          <p:cNvPr id="6" name="Rectángulo 5">
            <a:extLst>
              <a:ext uri="{FF2B5EF4-FFF2-40B4-BE49-F238E27FC236}">
                <a16:creationId xmlns:a16="http://schemas.microsoft.com/office/drawing/2014/main" id="{01DC09D8-A9CE-5CFE-0097-8C09E838A804}"/>
              </a:ext>
            </a:extLst>
          </p:cNvPr>
          <p:cNvSpPr/>
          <p:nvPr/>
        </p:nvSpPr>
        <p:spPr>
          <a:xfrm>
            <a:off x="503238" y="1393550"/>
            <a:ext cx="7070380" cy="3093154"/>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+ 02.</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MODULARIDAD Y FLEXIBILIDAD</a:t>
            </a:r>
          </a:p>
          <a:p>
            <a:pPr marL="185738" lvl="1" indent="-174625">
              <a:buClr>
                <a:schemeClr val="accent2"/>
              </a:buClr>
              <a:buFont typeface="Arial" panose="020B0604020202020204" pitchFamily="34" charset="0"/>
              <a:buChar char="•"/>
            </a:pPr>
            <a:r>
              <a:rPr lang="es-ES" sz="1600" b="1" dirty="0" err="1">
                <a:latin typeface="Calibri" charset="0"/>
                <a:ea typeface="Calibri" charset="0"/>
                <a:cs typeface="Calibri" charset="0"/>
              </a:rPr>
              <a:t>Componentización</a:t>
            </a:r>
            <a:r>
              <a:rPr lang="es-ES" sz="1600" b="1" dirty="0">
                <a:latin typeface="Calibri" charset="0"/>
                <a:ea typeface="Calibri" charset="0"/>
                <a:cs typeface="Calibri" charset="0"/>
              </a:rPr>
              <a:t>: </a:t>
            </a:r>
            <a:r>
              <a:rPr lang="es-ES" sz="1600" dirty="0">
                <a:latin typeface="Calibri" charset="0"/>
                <a:ea typeface="Calibri" charset="0"/>
                <a:cs typeface="Calibri" charset="0"/>
              </a:rPr>
              <a:t>Spring es modular, lo que significa que puedes usar solo los módulos que necesitas, como Spring MVC, Spring Data, o Spring Security. Esto evita la sobrecarga de funcionalidades innecesarias, optimizando el rendimiento de la aplicación.</a:t>
            </a:r>
          </a:p>
          <a:p>
            <a:pPr marL="185738" lvl="1" indent="-174625">
              <a:buClr>
                <a:schemeClr val="accent2"/>
              </a:buClr>
              <a:buFont typeface="Arial" panose="020B0604020202020204" pitchFamily="34" charset="0"/>
              <a:buChar char="•"/>
            </a:pPr>
            <a:endParaRPr lang="es-ES" sz="1600" b="1" dirty="0">
              <a:latin typeface="Calibri" charset="0"/>
              <a:ea typeface="Calibri" charset="0"/>
              <a:cs typeface="Calibri" charset="0"/>
            </a:endParaRPr>
          </a:p>
          <a:p>
            <a:pPr marL="185738" lvl="1" indent="-174625">
              <a:buClr>
                <a:schemeClr val="accent2"/>
              </a:buClr>
              <a:buFont typeface="Arial" panose="020B0604020202020204" pitchFamily="34" charset="0"/>
              <a:buChar char="•"/>
            </a:pPr>
            <a:r>
              <a:rPr lang="es-ES" sz="1600" b="1" dirty="0">
                <a:latin typeface="Calibri" charset="0"/>
                <a:ea typeface="Calibri" charset="0"/>
                <a:cs typeface="Calibri" charset="0"/>
              </a:rPr>
              <a:t>Flexibilidad en Configuración: </a:t>
            </a:r>
            <a:r>
              <a:rPr lang="es-ES" sz="1600" dirty="0">
                <a:latin typeface="Calibri" charset="0"/>
                <a:ea typeface="Calibri" charset="0"/>
                <a:cs typeface="Calibri" charset="0"/>
              </a:rPr>
              <a:t>Spring admite configuraciones basadas en anotaciones, XML o Java, lo que permite a los desarrolladores elegir el enfoque que mejor se adapte a sus necesidades, mejorando la productividad y reduciendo el tiempo de desarrollo.</a:t>
            </a:r>
          </a:p>
          <a:p>
            <a:pPr marL="185738" lvl="1" indent="-174625">
              <a:buClr>
                <a:schemeClr val="accent2"/>
              </a:buClr>
              <a:buFont typeface="Arial" panose="020B0604020202020204" pitchFamily="34" charset="0"/>
              <a:buChar char="•"/>
            </a:pPr>
            <a:endParaRPr lang="es-PE" sz="1600" dirty="0">
              <a:latin typeface="Calibri" charset="0"/>
              <a:ea typeface="Calibri" charset="0"/>
              <a:cs typeface="Calibri"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2" name="Rectangle 5">
            <a:extLst>
              <a:ext uri="{FF2B5EF4-FFF2-40B4-BE49-F238E27FC236}">
                <a16:creationId xmlns:a16="http://schemas.microsoft.com/office/drawing/2014/main" id="{3E740D52-3674-BB5E-5DA8-BAC767D90665}"/>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EFICIENCIA </a:t>
            </a:r>
          </a:p>
        </p:txBody>
      </p:sp>
      <p:sp>
        <p:nvSpPr>
          <p:cNvPr id="3" name="Google Shape;70;p6">
            <a:extLst>
              <a:ext uri="{FF2B5EF4-FFF2-40B4-BE49-F238E27FC236}">
                <a16:creationId xmlns:a16="http://schemas.microsoft.com/office/drawing/2014/main" id="{F0BDADF4-EADB-F94E-A6C2-343851C57F9E}"/>
              </a:ext>
            </a:extLst>
          </p:cNvPr>
          <p:cNvSpPr txBox="1"/>
          <p:nvPr/>
        </p:nvSpPr>
        <p:spPr>
          <a:xfrm>
            <a:off x="509343" y="921277"/>
            <a:ext cx="45720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 sz="1600" b="1" dirty="0">
                <a:solidFill>
                  <a:schemeClr val="tx1"/>
                </a:solidFill>
                <a:highlight>
                  <a:srgbClr val="FFFFFF"/>
                </a:highlight>
                <a:latin typeface="Calibri" panose="020F0502020204030204" pitchFamily="34" charset="0"/>
                <a:cs typeface="Calibri" panose="020F0502020204030204" pitchFamily="34" charset="0"/>
                <a:sym typeface="Arial"/>
              </a:rPr>
              <a:t>ASPECTOS CLAVES DE SPRING MVC</a:t>
            </a:r>
            <a:endParaRPr sz="1800" dirty="0">
              <a:solidFill>
                <a:schemeClr val="tx1"/>
              </a:solidFill>
              <a:latin typeface="Calibri" panose="020F0502020204030204" pitchFamily="34" charset="0"/>
              <a:ea typeface="Calibri"/>
              <a:cs typeface="Calibri" panose="020F0502020204030204" pitchFamily="34" charset="0"/>
              <a:sym typeface="Calibri"/>
            </a:endParaRPr>
          </a:p>
        </p:txBody>
      </p:sp>
      <p:sp>
        <p:nvSpPr>
          <p:cNvPr id="4" name="Rectángulo 3">
            <a:extLst>
              <a:ext uri="{FF2B5EF4-FFF2-40B4-BE49-F238E27FC236}">
                <a16:creationId xmlns:a16="http://schemas.microsoft.com/office/drawing/2014/main" id="{54E0017B-13D2-F443-F298-21D6A36C34A3}"/>
              </a:ext>
            </a:extLst>
          </p:cNvPr>
          <p:cNvSpPr/>
          <p:nvPr/>
        </p:nvSpPr>
        <p:spPr>
          <a:xfrm>
            <a:off x="503238" y="1393550"/>
            <a:ext cx="7070380" cy="2108269"/>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+ 03.</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PROGRAMACIÓN DECLARATIVA</a:t>
            </a:r>
          </a:p>
          <a:p>
            <a:pPr marL="185738" lvl="1" indent="-174625">
              <a:buClr>
                <a:schemeClr val="accent2"/>
              </a:buClr>
              <a:buFont typeface="Arial" panose="020B0604020202020204" pitchFamily="34" charset="0"/>
              <a:buChar char="•"/>
            </a:pPr>
            <a:r>
              <a:rPr lang="es-ES" sz="1600" b="1" dirty="0">
                <a:latin typeface="Calibri" charset="0"/>
                <a:ea typeface="Calibri" charset="0"/>
                <a:cs typeface="Calibri" charset="0"/>
              </a:rPr>
              <a:t>AOP (Programación Orientada a Aspectos): </a:t>
            </a:r>
            <a:r>
              <a:rPr lang="es-ES" sz="1600" dirty="0">
                <a:latin typeface="Calibri" charset="0"/>
                <a:ea typeface="Calibri" charset="0"/>
                <a:cs typeface="Calibri" charset="0"/>
              </a:rPr>
              <a:t>Spring soporta AOP, que permite la separación de preocupaciones transversales (como la gestión de transacciones, la seguridad, y el </a:t>
            </a:r>
            <a:r>
              <a:rPr lang="es-ES" sz="1600" dirty="0" err="1">
                <a:latin typeface="Calibri" charset="0"/>
                <a:ea typeface="Calibri" charset="0"/>
                <a:cs typeface="Calibri" charset="0"/>
              </a:rPr>
              <a:t>logging</a:t>
            </a:r>
            <a:r>
              <a:rPr lang="es-ES" sz="1600" dirty="0">
                <a:latin typeface="Calibri" charset="0"/>
                <a:ea typeface="Calibri" charset="0"/>
                <a:cs typeface="Calibri" charset="0"/>
              </a:rPr>
              <a:t>) del código de negocio principal. Esto no solo mejora la legibilidad y mantenibilidad del código, sino que también permite que el código principal se ejecute de manera más eficiente al estar limpio de lógica no esencial.</a:t>
            </a:r>
          </a:p>
          <a:p>
            <a:pPr marL="185738" lvl="1" indent="-174625">
              <a:buClr>
                <a:schemeClr val="accent2"/>
              </a:buClr>
              <a:buFont typeface="Arial" panose="020B0604020202020204" pitchFamily="34" charset="0"/>
              <a:buChar char="•"/>
            </a:pPr>
            <a:endParaRPr lang="es-PE" sz="1600" dirty="0">
              <a:latin typeface="Calibri" charset="0"/>
              <a:ea typeface="Calibri" charset="0"/>
              <a:cs typeface="Calibri"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2" name="Rectangle 5">
            <a:extLst>
              <a:ext uri="{FF2B5EF4-FFF2-40B4-BE49-F238E27FC236}">
                <a16:creationId xmlns:a16="http://schemas.microsoft.com/office/drawing/2014/main" id="{FFC2636D-5A78-3D5A-81BC-11427081D544}"/>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EFICIENCIA </a:t>
            </a:r>
          </a:p>
        </p:txBody>
      </p:sp>
      <p:sp>
        <p:nvSpPr>
          <p:cNvPr id="3" name="Google Shape;70;p6">
            <a:extLst>
              <a:ext uri="{FF2B5EF4-FFF2-40B4-BE49-F238E27FC236}">
                <a16:creationId xmlns:a16="http://schemas.microsoft.com/office/drawing/2014/main" id="{BF0DA606-EF63-10AB-D154-479C516C6E2F}"/>
              </a:ext>
            </a:extLst>
          </p:cNvPr>
          <p:cNvSpPr txBox="1"/>
          <p:nvPr/>
        </p:nvSpPr>
        <p:spPr>
          <a:xfrm>
            <a:off x="509343" y="921277"/>
            <a:ext cx="45720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 sz="1600" b="1" dirty="0">
                <a:solidFill>
                  <a:schemeClr val="tx1"/>
                </a:solidFill>
                <a:highlight>
                  <a:srgbClr val="FFFFFF"/>
                </a:highlight>
                <a:latin typeface="Calibri" panose="020F0502020204030204" pitchFamily="34" charset="0"/>
                <a:cs typeface="Calibri" panose="020F0502020204030204" pitchFamily="34" charset="0"/>
                <a:sym typeface="Arial"/>
              </a:rPr>
              <a:t>ASPECTOS CLAVES DE SPRING MVC</a:t>
            </a:r>
            <a:endParaRPr sz="1800" dirty="0">
              <a:solidFill>
                <a:schemeClr val="tx1"/>
              </a:solidFill>
              <a:latin typeface="Calibri" panose="020F0502020204030204" pitchFamily="34" charset="0"/>
              <a:ea typeface="Calibri"/>
              <a:cs typeface="Calibri" panose="020F0502020204030204" pitchFamily="34" charset="0"/>
              <a:sym typeface="Calibri"/>
            </a:endParaRPr>
          </a:p>
        </p:txBody>
      </p:sp>
      <p:sp>
        <p:nvSpPr>
          <p:cNvPr id="4" name="Rectángulo 3">
            <a:extLst>
              <a:ext uri="{FF2B5EF4-FFF2-40B4-BE49-F238E27FC236}">
                <a16:creationId xmlns:a16="http://schemas.microsoft.com/office/drawing/2014/main" id="{F685DA13-9E22-A227-1763-C0C223B59372}"/>
              </a:ext>
            </a:extLst>
          </p:cNvPr>
          <p:cNvSpPr/>
          <p:nvPr/>
        </p:nvSpPr>
        <p:spPr>
          <a:xfrm>
            <a:off x="503238" y="1393550"/>
            <a:ext cx="6943847" cy="3339376"/>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+ 04.</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INTEGRACIÓN Y ECOSISTEMA RICO</a:t>
            </a:r>
          </a:p>
          <a:p>
            <a:pPr marL="185738" lvl="1" indent="-174625">
              <a:buClr>
                <a:schemeClr val="accent2"/>
              </a:buClr>
              <a:buFont typeface="Arial" panose="020B0604020202020204" pitchFamily="34" charset="0"/>
              <a:buChar char="•"/>
            </a:pPr>
            <a:r>
              <a:rPr lang="es-ES" sz="1600" b="1" dirty="0">
                <a:latin typeface="Calibri" charset="0"/>
                <a:ea typeface="Calibri" charset="0"/>
                <a:cs typeface="Calibri" charset="0"/>
              </a:rPr>
              <a:t>Compatibilidad con Diversas Tecnologías: </a:t>
            </a:r>
            <a:r>
              <a:rPr lang="es-ES" sz="1600" dirty="0">
                <a:latin typeface="Calibri" charset="0"/>
                <a:ea typeface="Calibri" charset="0"/>
                <a:cs typeface="Calibri" charset="0"/>
              </a:rPr>
              <a:t>Spring facilita la integración con una amplia gama de tecnologías y </a:t>
            </a:r>
            <a:r>
              <a:rPr lang="es-ES" sz="1600" dirty="0" err="1">
                <a:latin typeface="Calibri" charset="0"/>
                <a:ea typeface="Calibri" charset="0"/>
                <a:cs typeface="Calibri" charset="0"/>
              </a:rPr>
              <a:t>frameworks</a:t>
            </a:r>
            <a:r>
              <a:rPr lang="es-ES" sz="1600" dirty="0">
                <a:latin typeface="Calibri" charset="0"/>
                <a:ea typeface="Calibri" charset="0"/>
                <a:cs typeface="Calibri" charset="0"/>
              </a:rPr>
              <a:t> como </a:t>
            </a:r>
            <a:r>
              <a:rPr lang="es-ES" sz="1600" dirty="0" err="1">
                <a:latin typeface="Calibri" charset="0"/>
                <a:ea typeface="Calibri" charset="0"/>
                <a:cs typeface="Calibri" charset="0"/>
              </a:rPr>
              <a:t>Hibernate</a:t>
            </a:r>
            <a:r>
              <a:rPr lang="es-ES" sz="1600" dirty="0">
                <a:latin typeface="Calibri" charset="0"/>
                <a:ea typeface="Calibri" charset="0"/>
                <a:cs typeface="Calibri" charset="0"/>
              </a:rPr>
              <a:t>, JPA, JMS, y otros. Esto permite que las aplicaciones aprovechen lo mejor de cada tecnología sin perder eficiencia.</a:t>
            </a:r>
          </a:p>
          <a:p>
            <a:pPr marL="185738" lvl="1" indent="-174625">
              <a:buClr>
                <a:schemeClr val="accent2"/>
              </a:buClr>
              <a:buFont typeface="Arial" panose="020B0604020202020204" pitchFamily="34" charset="0"/>
              <a:buChar char="•"/>
            </a:pPr>
            <a:endParaRPr lang="es-ES" sz="1600" b="1" dirty="0">
              <a:latin typeface="Calibri" charset="0"/>
              <a:ea typeface="Calibri" charset="0"/>
              <a:cs typeface="Calibri" charset="0"/>
            </a:endParaRPr>
          </a:p>
          <a:p>
            <a:pPr marL="185738" lvl="1" indent="-174625">
              <a:buClr>
                <a:schemeClr val="accent2"/>
              </a:buClr>
              <a:buFont typeface="Arial" panose="020B0604020202020204" pitchFamily="34" charset="0"/>
              <a:buChar char="•"/>
            </a:pPr>
            <a:r>
              <a:rPr lang="es-ES" sz="1600" b="1" dirty="0">
                <a:latin typeface="Calibri" charset="0"/>
                <a:ea typeface="Calibri" charset="0"/>
                <a:cs typeface="Calibri" charset="0"/>
              </a:rPr>
              <a:t>Spring </a:t>
            </a:r>
            <a:r>
              <a:rPr lang="es-ES" sz="1600" b="1" dirty="0" err="1">
                <a:latin typeface="Calibri" charset="0"/>
                <a:ea typeface="Calibri" charset="0"/>
                <a:cs typeface="Calibri" charset="0"/>
              </a:rPr>
              <a:t>Boot</a:t>
            </a:r>
            <a:r>
              <a:rPr lang="es-ES" sz="1600" b="1" dirty="0">
                <a:latin typeface="Calibri" charset="0"/>
                <a:ea typeface="Calibri" charset="0"/>
                <a:cs typeface="Calibri" charset="0"/>
              </a:rPr>
              <a:t>: </a:t>
            </a:r>
            <a:r>
              <a:rPr lang="es-ES" sz="1600" dirty="0">
                <a:latin typeface="Calibri" charset="0"/>
                <a:ea typeface="Calibri" charset="0"/>
                <a:cs typeface="Calibri" charset="0"/>
              </a:rPr>
              <a:t>Spring </a:t>
            </a:r>
            <a:r>
              <a:rPr lang="es-ES" sz="1600" dirty="0" err="1">
                <a:latin typeface="Calibri" charset="0"/>
                <a:ea typeface="Calibri" charset="0"/>
                <a:cs typeface="Calibri" charset="0"/>
              </a:rPr>
              <a:t>Boot</a:t>
            </a:r>
            <a:r>
              <a:rPr lang="es-ES" sz="1600" dirty="0">
                <a:latin typeface="Calibri" charset="0"/>
                <a:ea typeface="Calibri" charset="0"/>
                <a:cs typeface="Calibri" charset="0"/>
              </a:rPr>
              <a:t>, una extensión del Spring Framework, permite la creación rápida de aplicaciones Java con una configuración mínima. Esto reduce significativamente el tiempo de desarrollo y mejora la eficiencia operativa al automatizar tareas complejas como la configuración del servidor, la gestión de dependencias y la supervisión.</a:t>
            </a:r>
          </a:p>
          <a:p>
            <a:pPr marL="185738" lvl="1" indent="-174625">
              <a:buClr>
                <a:schemeClr val="accent2"/>
              </a:buClr>
              <a:buFont typeface="Arial" panose="020B0604020202020204" pitchFamily="34" charset="0"/>
              <a:buChar char="•"/>
            </a:pPr>
            <a:endParaRPr lang="es-PE" sz="1600" dirty="0">
              <a:latin typeface="Calibri" charset="0"/>
              <a:ea typeface="Calibri" charset="0"/>
              <a:cs typeface="Calibri"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2" name="Rectangle 5">
            <a:extLst>
              <a:ext uri="{FF2B5EF4-FFF2-40B4-BE49-F238E27FC236}">
                <a16:creationId xmlns:a16="http://schemas.microsoft.com/office/drawing/2014/main" id="{581D54E0-D824-E78B-0A42-8E43DEBF8207}"/>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EFICIENCIA </a:t>
            </a:r>
          </a:p>
        </p:txBody>
      </p:sp>
      <p:sp>
        <p:nvSpPr>
          <p:cNvPr id="3" name="Google Shape;70;p6">
            <a:extLst>
              <a:ext uri="{FF2B5EF4-FFF2-40B4-BE49-F238E27FC236}">
                <a16:creationId xmlns:a16="http://schemas.microsoft.com/office/drawing/2014/main" id="{545844DD-3ADD-E4CA-94A8-E928C54AB139}"/>
              </a:ext>
            </a:extLst>
          </p:cNvPr>
          <p:cNvSpPr txBox="1"/>
          <p:nvPr/>
        </p:nvSpPr>
        <p:spPr>
          <a:xfrm>
            <a:off x="509343" y="921277"/>
            <a:ext cx="45720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 sz="1600" b="1" dirty="0">
                <a:solidFill>
                  <a:schemeClr val="tx1"/>
                </a:solidFill>
                <a:highlight>
                  <a:srgbClr val="FFFFFF"/>
                </a:highlight>
                <a:latin typeface="Calibri" panose="020F0502020204030204" pitchFamily="34" charset="0"/>
                <a:cs typeface="Calibri" panose="020F0502020204030204" pitchFamily="34" charset="0"/>
                <a:sym typeface="Arial"/>
              </a:rPr>
              <a:t>ASPECTOS CLAVES DE SPRING MVC</a:t>
            </a:r>
            <a:endParaRPr sz="1800" dirty="0">
              <a:solidFill>
                <a:schemeClr val="tx1"/>
              </a:solidFill>
              <a:latin typeface="Calibri" panose="020F0502020204030204" pitchFamily="34" charset="0"/>
              <a:ea typeface="Calibri"/>
              <a:cs typeface="Calibri" panose="020F0502020204030204" pitchFamily="34" charset="0"/>
              <a:sym typeface="Calibri"/>
            </a:endParaRPr>
          </a:p>
        </p:txBody>
      </p:sp>
      <p:sp>
        <p:nvSpPr>
          <p:cNvPr id="4" name="Rectángulo 3">
            <a:extLst>
              <a:ext uri="{FF2B5EF4-FFF2-40B4-BE49-F238E27FC236}">
                <a16:creationId xmlns:a16="http://schemas.microsoft.com/office/drawing/2014/main" id="{A39FCD21-FB8E-288D-694B-1D14B3352D0D}"/>
              </a:ext>
            </a:extLst>
          </p:cNvPr>
          <p:cNvSpPr/>
          <p:nvPr/>
        </p:nvSpPr>
        <p:spPr>
          <a:xfrm>
            <a:off x="503238" y="1393550"/>
            <a:ext cx="7070380" cy="2846933"/>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+ 05.</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RENDIMIENTO Y ESCALABILIDAD</a:t>
            </a:r>
          </a:p>
          <a:p>
            <a:pPr marL="185738" lvl="1" indent="-174625">
              <a:buClr>
                <a:schemeClr val="accent2"/>
              </a:buClr>
              <a:buFont typeface="Arial" panose="020B0604020202020204" pitchFamily="34" charset="0"/>
              <a:buChar char="•"/>
            </a:pPr>
            <a:r>
              <a:rPr lang="es-ES" sz="1600" b="1" dirty="0">
                <a:latin typeface="Calibri" charset="0"/>
                <a:ea typeface="Calibri" charset="0"/>
                <a:cs typeface="Calibri" charset="0"/>
              </a:rPr>
              <a:t>Carga Diferida y Gestión de </a:t>
            </a:r>
            <a:r>
              <a:rPr lang="es-ES" sz="1600" b="1" dirty="0" err="1">
                <a:latin typeface="Calibri" charset="0"/>
                <a:ea typeface="Calibri" charset="0"/>
                <a:cs typeface="Calibri" charset="0"/>
              </a:rPr>
              <a:t>Bean</a:t>
            </a:r>
            <a:r>
              <a:rPr lang="es-ES" sz="1600" b="1" dirty="0">
                <a:latin typeface="Calibri" charset="0"/>
                <a:ea typeface="Calibri" charset="0"/>
                <a:cs typeface="Calibri" charset="0"/>
              </a:rPr>
              <a:t>: </a:t>
            </a:r>
            <a:r>
              <a:rPr lang="es-ES" sz="1600" dirty="0">
                <a:latin typeface="Calibri" charset="0"/>
                <a:ea typeface="Calibri" charset="0"/>
                <a:cs typeface="Calibri" charset="0"/>
              </a:rPr>
              <a:t>Spring optimiza el uso de recursos mediante la carga diferida (</a:t>
            </a:r>
            <a:r>
              <a:rPr lang="es-ES" sz="1600" dirty="0" err="1">
                <a:latin typeface="Calibri" charset="0"/>
                <a:ea typeface="Calibri" charset="0"/>
                <a:cs typeface="Calibri" charset="0"/>
              </a:rPr>
              <a:t>lazy</a:t>
            </a:r>
            <a:r>
              <a:rPr lang="es-ES" sz="1600" dirty="0">
                <a:latin typeface="Calibri" charset="0"/>
                <a:ea typeface="Calibri" charset="0"/>
                <a:cs typeface="Calibri" charset="0"/>
              </a:rPr>
              <a:t> </a:t>
            </a:r>
            <a:r>
              <a:rPr lang="es-ES" sz="1600" dirty="0" err="1">
                <a:latin typeface="Calibri" charset="0"/>
                <a:ea typeface="Calibri" charset="0"/>
                <a:cs typeface="Calibri" charset="0"/>
              </a:rPr>
              <a:t>loading</a:t>
            </a:r>
            <a:r>
              <a:rPr lang="es-ES" sz="1600" dirty="0">
                <a:latin typeface="Calibri" charset="0"/>
                <a:ea typeface="Calibri" charset="0"/>
                <a:cs typeface="Calibri" charset="0"/>
              </a:rPr>
              <a:t>) de </a:t>
            </a:r>
            <a:r>
              <a:rPr lang="es-ES" sz="1600" dirty="0" err="1">
                <a:latin typeface="Calibri" charset="0"/>
                <a:ea typeface="Calibri" charset="0"/>
                <a:cs typeface="Calibri" charset="0"/>
              </a:rPr>
              <a:t>beans</a:t>
            </a:r>
            <a:r>
              <a:rPr lang="es-ES" sz="1600" dirty="0">
                <a:latin typeface="Calibri" charset="0"/>
                <a:ea typeface="Calibri" charset="0"/>
                <a:cs typeface="Calibri" charset="0"/>
              </a:rPr>
              <a:t>, lo que asegura que sólo se inicializan cuando son necesarios. Esto reduce el consumo de memoria y acelera el tiempo de arranque de la aplicación.</a:t>
            </a:r>
          </a:p>
          <a:p>
            <a:pPr marL="185738" lvl="1" indent="-174625">
              <a:buClr>
                <a:schemeClr val="accent2"/>
              </a:buClr>
              <a:buFont typeface="Arial" panose="020B0604020202020204" pitchFamily="34" charset="0"/>
              <a:buChar char="•"/>
            </a:pPr>
            <a:endParaRPr lang="es-ES" sz="1600" b="1" dirty="0">
              <a:latin typeface="Calibri" charset="0"/>
              <a:ea typeface="Calibri" charset="0"/>
              <a:cs typeface="Calibri" charset="0"/>
            </a:endParaRPr>
          </a:p>
          <a:p>
            <a:pPr marL="185738" lvl="1" indent="-174625">
              <a:buClr>
                <a:schemeClr val="accent2"/>
              </a:buClr>
              <a:buFont typeface="Arial" panose="020B0604020202020204" pitchFamily="34" charset="0"/>
              <a:buChar char="•"/>
            </a:pPr>
            <a:r>
              <a:rPr lang="es-ES" sz="1600" b="1" dirty="0">
                <a:latin typeface="Calibri" charset="0"/>
                <a:ea typeface="Calibri" charset="0"/>
                <a:cs typeface="Calibri" charset="0"/>
              </a:rPr>
              <a:t>Aplicaciones Escalables: </a:t>
            </a:r>
            <a:r>
              <a:rPr lang="es-ES" sz="1600" dirty="0">
                <a:latin typeface="Calibri" charset="0"/>
                <a:ea typeface="Calibri" charset="0"/>
                <a:cs typeface="Calibri" charset="0"/>
              </a:rPr>
              <a:t>Con el uso de Spring Cloud, Spring Framework permite desarrollar aplicaciones distribuidas y microservicios escalables, que pueden crecer y adaptarse según la demanda.</a:t>
            </a:r>
          </a:p>
          <a:p>
            <a:pPr marL="185738" lvl="1" indent="-174625">
              <a:buClr>
                <a:schemeClr val="accent2"/>
              </a:buClr>
              <a:buFont typeface="Arial" panose="020B0604020202020204" pitchFamily="34" charset="0"/>
              <a:buChar char="•"/>
            </a:pPr>
            <a:endParaRPr lang="es-PE" sz="1600" dirty="0">
              <a:latin typeface="Calibri" charset="0"/>
              <a:ea typeface="Calibri" charset="0"/>
              <a:cs typeface="Calibri"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2" name="Rectangle 5">
            <a:extLst>
              <a:ext uri="{FF2B5EF4-FFF2-40B4-BE49-F238E27FC236}">
                <a16:creationId xmlns:a16="http://schemas.microsoft.com/office/drawing/2014/main" id="{E7020E3B-8CC5-8F24-5280-22AB3AF024F2}"/>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EFICIENCIA </a:t>
            </a:r>
          </a:p>
        </p:txBody>
      </p:sp>
      <p:sp>
        <p:nvSpPr>
          <p:cNvPr id="3" name="Google Shape;70;p6">
            <a:extLst>
              <a:ext uri="{FF2B5EF4-FFF2-40B4-BE49-F238E27FC236}">
                <a16:creationId xmlns:a16="http://schemas.microsoft.com/office/drawing/2014/main" id="{56D816CE-27DC-3FF2-6DE5-DFE2A8499C1A}"/>
              </a:ext>
            </a:extLst>
          </p:cNvPr>
          <p:cNvSpPr txBox="1"/>
          <p:nvPr/>
        </p:nvSpPr>
        <p:spPr>
          <a:xfrm>
            <a:off x="509343" y="921277"/>
            <a:ext cx="45720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 sz="1600" b="1" dirty="0">
                <a:solidFill>
                  <a:schemeClr val="tx1"/>
                </a:solidFill>
                <a:highlight>
                  <a:srgbClr val="FFFFFF"/>
                </a:highlight>
                <a:latin typeface="Calibri" panose="020F0502020204030204" pitchFamily="34" charset="0"/>
                <a:cs typeface="Calibri" panose="020F0502020204030204" pitchFamily="34" charset="0"/>
                <a:sym typeface="Arial"/>
              </a:rPr>
              <a:t>ASPECTOS CLAVES DE SPRING MVC</a:t>
            </a:r>
            <a:endParaRPr sz="1800" dirty="0">
              <a:solidFill>
                <a:schemeClr val="tx1"/>
              </a:solidFill>
              <a:latin typeface="Calibri" panose="020F0502020204030204" pitchFamily="34" charset="0"/>
              <a:ea typeface="Calibri"/>
              <a:cs typeface="Calibri" panose="020F0502020204030204" pitchFamily="34" charset="0"/>
              <a:sym typeface="Calibri"/>
            </a:endParaRPr>
          </a:p>
        </p:txBody>
      </p:sp>
      <p:sp>
        <p:nvSpPr>
          <p:cNvPr id="4" name="Rectángulo 3">
            <a:extLst>
              <a:ext uri="{FF2B5EF4-FFF2-40B4-BE49-F238E27FC236}">
                <a16:creationId xmlns:a16="http://schemas.microsoft.com/office/drawing/2014/main" id="{D38426F1-3BEE-E6B3-812B-8F1A860B3CCF}"/>
              </a:ext>
            </a:extLst>
          </p:cNvPr>
          <p:cNvSpPr/>
          <p:nvPr/>
        </p:nvSpPr>
        <p:spPr>
          <a:xfrm>
            <a:off x="503238" y="1393550"/>
            <a:ext cx="7070380" cy="2846933"/>
          </a:xfrm>
          <a:prstGeom prst="rect">
            <a:avLst/>
          </a:prstGeom>
        </p:spPr>
        <p:txBody>
          <a:bodyPr wrap="square" lIns="0" tIns="0" rIns="0" bIns="0">
            <a:spAutoFit/>
          </a:bodyPr>
          <a:lstStyle/>
          <a:p>
            <a:pPr>
              <a:spcAft>
                <a:spcPts val="600"/>
              </a:spcAft>
            </a:pPr>
            <a:r>
              <a:rPr lang="es-ES" sz="2000" b="1" dirty="0">
                <a:solidFill>
                  <a:srgbClr val="EE4639"/>
                </a:solidFill>
                <a:latin typeface="Graphik Bold" panose="020B0503030202060203" pitchFamily="34" charset="77"/>
                <a:cs typeface="Calibri" charset="0"/>
              </a:rPr>
              <a:t>+ 06.</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SOPORTE PARA DESARROLLO ÁGIL Y DevOps</a:t>
            </a:r>
          </a:p>
          <a:p>
            <a:pPr marL="185738" lvl="1" indent="-174625">
              <a:buClr>
                <a:schemeClr val="accent2"/>
              </a:buClr>
              <a:buFont typeface="Arial" panose="020B0604020202020204" pitchFamily="34" charset="0"/>
              <a:buChar char="•"/>
            </a:pPr>
            <a:r>
              <a:rPr lang="es-ES" sz="1600" b="1" dirty="0">
                <a:latin typeface="Calibri" charset="0"/>
                <a:ea typeface="Calibri" charset="0"/>
                <a:cs typeface="Calibri" charset="0"/>
              </a:rPr>
              <a:t>Integración Continua y Entrega Continua (CI/CD): </a:t>
            </a:r>
            <a:r>
              <a:rPr lang="es-ES" sz="1600" dirty="0">
                <a:latin typeface="Calibri" charset="0"/>
                <a:ea typeface="Calibri" charset="0"/>
                <a:cs typeface="Calibri" charset="0"/>
              </a:rPr>
              <a:t>Spring se integra bien con herramientas de CI/CD como Jenkins, </a:t>
            </a:r>
            <a:r>
              <a:rPr lang="es-ES" sz="1600" dirty="0" err="1">
                <a:latin typeface="Calibri" charset="0"/>
                <a:ea typeface="Calibri" charset="0"/>
                <a:cs typeface="Calibri" charset="0"/>
              </a:rPr>
              <a:t>GitLab</a:t>
            </a:r>
            <a:r>
              <a:rPr lang="es-ES" sz="1600" dirty="0">
                <a:latin typeface="Calibri" charset="0"/>
                <a:ea typeface="Calibri" charset="0"/>
                <a:cs typeface="Calibri" charset="0"/>
              </a:rPr>
              <a:t> CI, y otros, permitiendo ciclos de desarrollo rápidos y entregas más frecuentes, lo que incrementa la eficiencia del equipo de desarrollo.</a:t>
            </a:r>
          </a:p>
          <a:p>
            <a:pPr marL="185738" lvl="1" indent="-174625">
              <a:buClr>
                <a:schemeClr val="accent2"/>
              </a:buClr>
              <a:buFont typeface="Arial" panose="020B0604020202020204" pitchFamily="34" charset="0"/>
              <a:buChar char="•"/>
            </a:pPr>
            <a:endParaRPr lang="es-ES" sz="1600" b="1" dirty="0">
              <a:latin typeface="Calibri" charset="0"/>
              <a:ea typeface="Calibri" charset="0"/>
              <a:cs typeface="Calibri" charset="0"/>
            </a:endParaRPr>
          </a:p>
          <a:p>
            <a:pPr marL="185738" lvl="1" indent="-174625">
              <a:buClr>
                <a:schemeClr val="accent2"/>
              </a:buClr>
              <a:buFont typeface="Arial" panose="020B0604020202020204" pitchFamily="34" charset="0"/>
              <a:buChar char="•"/>
            </a:pPr>
            <a:r>
              <a:rPr lang="es-ES" sz="1600" b="1" dirty="0">
                <a:latin typeface="Calibri" charset="0"/>
                <a:ea typeface="Calibri" charset="0"/>
                <a:cs typeface="Calibri" charset="0"/>
              </a:rPr>
              <a:t>Spring </a:t>
            </a:r>
            <a:r>
              <a:rPr lang="es-ES" sz="1600" b="1" dirty="0" err="1">
                <a:latin typeface="Calibri" charset="0"/>
                <a:ea typeface="Calibri" charset="0"/>
                <a:cs typeface="Calibri" charset="0"/>
              </a:rPr>
              <a:t>Actuator</a:t>
            </a:r>
            <a:r>
              <a:rPr lang="es-ES" sz="1600" b="1" dirty="0">
                <a:latin typeface="Calibri" charset="0"/>
                <a:ea typeface="Calibri" charset="0"/>
                <a:cs typeface="Calibri" charset="0"/>
              </a:rPr>
              <a:t>: </a:t>
            </a:r>
            <a:r>
              <a:rPr lang="es-ES" sz="1600" dirty="0">
                <a:latin typeface="Calibri" charset="0"/>
                <a:ea typeface="Calibri" charset="0"/>
                <a:cs typeface="Calibri" charset="0"/>
              </a:rPr>
              <a:t>Proporciona métricas, monitoreo y control en tiempo real de la aplicación, lo que es esencial para la gestión eficiente de aplicaciones en producción.</a:t>
            </a:r>
          </a:p>
          <a:p>
            <a:pPr marL="185738" lvl="1" indent="-174625">
              <a:buClr>
                <a:schemeClr val="accent2"/>
              </a:buClr>
              <a:buFont typeface="Arial" panose="020B0604020202020204" pitchFamily="34" charset="0"/>
              <a:buChar char="•"/>
            </a:pPr>
            <a:endParaRPr lang="es-PE" sz="1600" dirty="0">
              <a:latin typeface="Calibri" charset="0"/>
              <a:ea typeface="Calibri" charset="0"/>
              <a:cs typeface="Calibri"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4094024" cy="775597"/>
          </a:xfrm>
          <a:prstGeom prst="rect">
            <a:avLst/>
          </a:prstGeom>
          <a:noFill/>
        </p:spPr>
        <p:txBody>
          <a:bodyPr wrap="square" lIns="0" tIns="0" rIns="0" bIns="0" rtlCol="0">
            <a:spAutoFit/>
          </a:bodyPr>
          <a:lstStyle/>
          <a:p>
            <a:pPr>
              <a:lnSpc>
                <a:spcPct val="90000"/>
              </a:lnSpc>
              <a:spcBef>
                <a:spcPts val="1000"/>
              </a:spcBef>
              <a:defRPr/>
            </a:pPr>
            <a:r>
              <a:rPr lang="es-PE" sz="2800" dirty="0">
                <a:solidFill>
                  <a:schemeClr val="bg1"/>
                </a:solidFill>
                <a:latin typeface="Graphik Regular" charset="0"/>
                <a:ea typeface="Graphik Regular" charset="0"/>
                <a:cs typeface="Graphik Regular" charset="0"/>
              </a:rPr>
              <a:t>APLICACIONES WEB </a:t>
            </a:r>
            <a:r>
              <a:rPr lang="es-PE" sz="2800" b="1" dirty="0">
                <a:solidFill>
                  <a:schemeClr val="bg1"/>
                </a:solidFill>
                <a:latin typeface="Graphik Bold" panose="020B0503030202060203" pitchFamily="34" charset="77"/>
                <a:ea typeface="Graphik Regular" charset="0"/>
                <a:cs typeface="Graphik Regular" charset="0"/>
              </a:rPr>
              <a:t>CON SPRING MVC</a:t>
            </a: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413277617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3"/>
          <p:cNvSpPr txBox="1"/>
          <p:nvPr/>
        </p:nvSpPr>
        <p:spPr>
          <a:xfrm>
            <a:off x="509343" y="921277"/>
            <a:ext cx="8158610" cy="892552"/>
          </a:xfrm>
          <a:prstGeom prst="rect">
            <a:avLst/>
          </a:prstGeom>
          <a:noFill/>
          <a:ln>
            <a:noFill/>
          </a:ln>
        </p:spPr>
        <p:txBody>
          <a:bodyPr spcFirstLastPara="1" wrap="square" lIns="0" tIns="0" rIns="0" bIns="0" anchor="t" anchorCtr="0">
            <a:spAutoFit/>
          </a:bodyPr>
          <a:lstStyle/>
          <a:p>
            <a:pPr marR="0" lvl="0" algn="l" rtl="0">
              <a:spcBef>
                <a:spcPts val="0"/>
              </a:spcBef>
              <a:spcAft>
                <a:spcPts val="600"/>
              </a:spcAft>
            </a:pPr>
            <a:r>
              <a:rPr lang="es-ES" sz="1600" b="1" dirty="0">
                <a:solidFill>
                  <a:schemeClr val="tx1"/>
                </a:solidFill>
                <a:latin typeface="Calibri" panose="020F0502020204030204" pitchFamily="34" charset="0"/>
                <a:ea typeface="Calibri"/>
                <a:cs typeface="Calibri" panose="020F0502020204030204" pitchFamily="34" charset="0"/>
                <a:sym typeface="Calibri"/>
              </a:rPr>
              <a:t>ARQUITECTURA DE SPRING MVC</a:t>
            </a:r>
            <a:endParaRPr sz="1600" dirty="0">
              <a:solidFill>
                <a:schemeClr val="tx1"/>
              </a:solidFill>
              <a:latin typeface="Calibri" panose="020F0502020204030204" pitchFamily="34" charset="0"/>
              <a:cs typeface="Calibri" panose="020F0502020204030204" pitchFamily="34" charset="0"/>
            </a:endParaRPr>
          </a:p>
          <a:p>
            <a:pPr marR="0" lvl="0" algn="just" rtl="0">
              <a:spcBef>
                <a:spcPts val="0"/>
              </a:spcBef>
              <a:spcAft>
                <a:spcPts val="600"/>
              </a:spcAft>
            </a:pPr>
            <a:r>
              <a:rPr lang="es-ES" sz="1600" i="0" dirty="0">
                <a:solidFill>
                  <a:schemeClr val="tx1"/>
                </a:solidFill>
                <a:latin typeface="Calibri" panose="020F0502020204030204" pitchFamily="34" charset="0"/>
                <a:cs typeface="Calibri" panose="020F0502020204030204" pitchFamily="34" charset="0"/>
                <a:sym typeface="Arial"/>
              </a:rPr>
              <a:t>Spring MVC sigue el patrón de diseño Modelo-Vista-Controlador (MVC), que separa claramente las responsabilidades en tres componentes principales:</a:t>
            </a:r>
            <a:endParaRPr sz="1600" dirty="0">
              <a:solidFill>
                <a:schemeClr val="tx1"/>
              </a:solidFill>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19C12C5F-35EC-ECC3-D623-BA6EBDB3B825}"/>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APLICACIONES WEB CON SPRING MVC</a:t>
            </a:r>
          </a:p>
        </p:txBody>
      </p:sp>
      <p:sp>
        <p:nvSpPr>
          <p:cNvPr id="4" name="Rectángulo 3">
            <a:extLst>
              <a:ext uri="{FF2B5EF4-FFF2-40B4-BE49-F238E27FC236}">
                <a16:creationId xmlns:a16="http://schemas.microsoft.com/office/drawing/2014/main" id="{ED8D9B17-F75D-F1CE-CD9C-38604A6066DB}"/>
              </a:ext>
            </a:extLst>
          </p:cNvPr>
          <p:cNvSpPr/>
          <p:nvPr/>
        </p:nvSpPr>
        <p:spPr>
          <a:xfrm>
            <a:off x="506796" y="5080473"/>
            <a:ext cx="5983449" cy="153888"/>
          </a:xfrm>
          <a:prstGeom prst="rect">
            <a:avLst/>
          </a:prstGeom>
        </p:spPr>
        <p:txBody>
          <a:bodyPr wrap="square" lIns="0" tIns="0" rIns="0" bIns="0">
            <a:spAutoFit/>
          </a:bodyPr>
          <a:lstStyle/>
          <a:p>
            <a:pPr>
              <a:spcAft>
                <a:spcPts val="1200"/>
              </a:spcAft>
              <a:defRPr/>
            </a:pPr>
            <a:r>
              <a:rPr lang="es-ES_tradnl" sz="1000" dirty="0">
                <a:solidFill>
                  <a:schemeClr val="bg1">
                    <a:lumMod val="50000"/>
                  </a:schemeClr>
                </a:solidFill>
                <a:latin typeface="Calibri" charset="0"/>
                <a:ea typeface="Calibri" charset="0"/>
                <a:cs typeface="Calibri" charset="0"/>
              </a:rPr>
              <a:t>Fuente: https://</a:t>
            </a:r>
            <a:r>
              <a:rPr lang="es-ES_tradnl" sz="1000" dirty="0" err="1">
                <a:solidFill>
                  <a:schemeClr val="bg1">
                    <a:lumMod val="50000"/>
                  </a:schemeClr>
                </a:solidFill>
                <a:latin typeface="Calibri" charset="0"/>
                <a:ea typeface="Calibri" charset="0"/>
                <a:cs typeface="Calibri" charset="0"/>
              </a:rPr>
              <a:t>www.arquitecturajava.com</a:t>
            </a:r>
            <a:r>
              <a:rPr lang="es-ES_tradnl" sz="1000" dirty="0">
                <a:solidFill>
                  <a:schemeClr val="bg1">
                    <a:lumMod val="50000"/>
                  </a:schemeClr>
                </a:solidFill>
                <a:latin typeface="Calibri" charset="0"/>
                <a:ea typeface="Calibri" charset="0"/>
                <a:cs typeface="Calibri" charset="0"/>
              </a:rPr>
              <a:t>/</a:t>
            </a:r>
            <a:r>
              <a:rPr lang="es-ES_tradnl" sz="1000" dirty="0" err="1">
                <a:solidFill>
                  <a:schemeClr val="bg1">
                    <a:lumMod val="50000"/>
                  </a:schemeClr>
                </a:solidFill>
                <a:latin typeface="Calibri" charset="0"/>
                <a:ea typeface="Calibri" charset="0"/>
                <a:cs typeface="Calibri" charset="0"/>
              </a:rPr>
              <a:t>spring</a:t>
            </a:r>
            <a:r>
              <a:rPr lang="es-ES_tradnl" sz="1000" dirty="0">
                <a:solidFill>
                  <a:schemeClr val="bg1">
                    <a:lumMod val="50000"/>
                  </a:schemeClr>
                </a:solidFill>
                <a:latin typeface="Calibri" charset="0"/>
                <a:ea typeface="Calibri" charset="0"/>
                <a:cs typeface="Calibri" charset="0"/>
              </a:rPr>
              <a:t>-</a:t>
            </a:r>
            <a:r>
              <a:rPr lang="es-ES_tradnl" sz="1000" dirty="0" err="1">
                <a:solidFill>
                  <a:schemeClr val="bg1">
                    <a:lumMod val="50000"/>
                  </a:schemeClr>
                </a:solidFill>
                <a:latin typeface="Calibri" charset="0"/>
                <a:ea typeface="Calibri" charset="0"/>
                <a:cs typeface="Calibri" charset="0"/>
              </a:rPr>
              <a:t>mvc</a:t>
            </a:r>
            <a:r>
              <a:rPr lang="es-ES_tradnl" sz="1000" dirty="0">
                <a:solidFill>
                  <a:schemeClr val="bg1">
                    <a:lumMod val="50000"/>
                  </a:schemeClr>
                </a:solidFill>
                <a:latin typeface="Calibri" charset="0"/>
                <a:ea typeface="Calibri" charset="0"/>
                <a:cs typeface="Calibri" charset="0"/>
              </a:rPr>
              <a:t>-y-anotaciones-</a:t>
            </a:r>
            <a:r>
              <a:rPr lang="es-ES_tradnl" sz="1000" dirty="0" err="1">
                <a:solidFill>
                  <a:schemeClr val="bg1">
                    <a:lumMod val="50000"/>
                  </a:schemeClr>
                </a:solidFill>
                <a:latin typeface="Calibri" charset="0"/>
                <a:ea typeface="Calibri" charset="0"/>
                <a:cs typeface="Calibri" charset="0"/>
              </a:rPr>
              <a:t>ii</a:t>
            </a:r>
            <a:r>
              <a:rPr lang="es-ES_tradnl" sz="1000" dirty="0">
                <a:solidFill>
                  <a:schemeClr val="bg1">
                    <a:lumMod val="50000"/>
                  </a:schemeClr>
                </a:solidFill>
                <a:latin typeface="Calibri" charset="0"/>
                <a:ea typeface="Calibri" charset="0"/>
                <a:cs typeface="Calibri" charset="0"/>
              </a:rPr>
              <a:t>/</a:t>
            </a:r>
          </a:p>
        </p:txBody>
      </p:sp>
      <p:grpSp>
        <p:nvGrpSpPr>
          <p:cNvPr id="27" name="Grupo 26">
            <a:extLst>
              <a:ext uri="{FF2B5EF4-FFF2-40B4-BE49-F238E27FC236}">
                <a16:creationId xmlns:a16="http://schemas.microsoft.com/office/drawing/2014/main" id="{4028B9AF-2738-3089-AEF7-751C27BEF9AE}"/>
              </a:ext>
            </a:extLst>
          </p:cNvPr>
          <p:cNvGrpSpPr/>
          <p:nvPr/>
        </p:nvGrpSpPr>
        <p:grpSpPr>
          <a:xfrm>
            <a:off x="3017008" y="1991878"/>
            <a:ext cx="5289414" cy="2876555"/>
            <a:chOff x="2890008" y="1687078"/>
            <a:chExt cx="5289414" cy="2876555"/>
          </a:xfrm>
        </p:grpSpPr>
        <p:sp>
          <p:nvSpPr>
            <p:cNvPr id="5" name="Google Shape;44;p2">
              <a:extLst>
                <a:ext uri="{FF2B5EF4-FFF2-40B4-BE49-F238E27FC236}">
                  <a16:creationId xmlns:a16="http://schemas.microsoft.com/office/drawing/2014/main" id="{473AF953-2F95-541D-5BC0-5533DBAF4117}"/>
                </a:ext>
              </a:extLst>
            </p:cNvPr>
            <p:cNvSpPr/>
            <p:nvPr/>
          </p:nvSpPr>
          <p:spPr>
            <a:xfrm>
              <a:off x="6260712" y="1687078"/>
              <a:ext cx="1918710" cy="1961662"/>
            </a:xfrm>
            <a:prstGeom prst="roundRect">
              <a:avLst>
                <a:gd name="adj" fmla="val 4753"/>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 name="Google Shape;45;p2">
              <a:extLst>
                <a:ext uri="{FF2B5EF4-FFF2-40B4-BE49-F238E27FC236}">
                  <a16:creationId xmlns:a16="http://schemas.microsoft.com/office/drawing/2014/main" id="{C2383FA6-A3E5-8526-BB4D-3B77A2D8BEF2}"/>
                </a:ext>
              </a:extLst>
            </p:cNvPr>
            <p:cNvSpPr/>
            <p:nvPr/>
          </p:nvSpPr>
          <p:spPr>
            <a:xfrm>
              <a:off x="6430209" y="2512578"/>
              <a:ext cx="1579717" cy="456223"/>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3"/>
                </a:solidFill>
                <a:latin typeface="Calibri"/>
                <a:ea typeface="Calibri"/>
                <a:cs typeface="Calibri"/>
                <a:sym typeface="Calibri"/>
              </a:endParaRPr>
            </a:p>
          </p:txBody>
        </p:sp>
        <p:sp>
          <p:nvSpPr>
            <p:cNvPr id="7" name="Google Shape;46;p2">
              <a:extLst>
                <a:ext uri="{FF2B5EF4-FFF2-40B4-BE49-F238E27FC236}">
                  <a16:creationId xmlns:a16="http://schemas.microsoft.com/office/drawing/2014/main" id="{031CA719-8569-7BE0-3B54-FF3C5D018BBC}"/>
                </a:ext>
              </a:extLst>
            </p:cNvPr>
            <p:cNvSpPr/>
            <p:nvPr/>
          </p:nvSpPr>
          <p:spPr>
            <a:xfrm>
              <a:off x="6420345" y="3080659"/>
              <a:ext cx="1599444" cy="456223"/>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3"/>
                </a:solidFill>
                <a:latin typeface="Calibri"/>
                <a:ea typeface="Calibri"/>
                <a:cs typeface="Calibri"/>
                <a:sym typeface="Calibri"/>
              </a:endParaRPr>
            </a:p>
          </p:txBody>
        </p:sp>
        <p:grpSp>
          <p:nvGrpSpPr>
            <p:cNvPr id="8" name="Google Shape;47;p2">
              <a:extLst>
                <a:ext uri="{FF2B5EF4-FFF2-40B4-BE49-F238E27FC236}">
                  <a16:creationId xmlns:a16="http://schemas.microsoft.com/office/drawing/2014/main" id="{5B32AAD3-9603-F281-3CA0-159E66FB9838}"/>
                </a:ext>
              </a:extLst>
            </p:cNvPr>
            <p:cNvGrpSpPr/>
            <p:nvPr/>
          </p:nvGrpSpPr>
          <p:grpSpPr>
            <a:xfrm>
              <a:off x="2890008" y="1687078"/>
              <a:ext cx="2232326" cy="2544961"/>
              <a:chOff x="376056" y="2032000"/>
              <a:chExt cx="2232326" cy="2544961"/>
            </a:xfrm>
          </p:grpSpPr>
          <p:cxnSp>
            <p:nvCxnSpPr>
              <p:cNvPr id="9" name="Google Shape;48;p2">
                <a:extLst>
                  <a:ext uri="{FF2B5EF4-FFF2-40B4-BE49-F238E27FC236}">
                    <a16:creationId xmlns:a16="http://schemas.microsoft.com/office/drawing/2014/main" id="{A2C4FA7E-2C0D-9DB3-7B94-1C68AA7BD0FF}"/>
                  </a:ext>
                </a:extLst>
              </p:cNvPr>
              <p:cNvCxnSpPr>
                <a:stCxn id="17" idx="0"/>
                <a:endCxn id="11" idx="2"/>
              </p:cNvCxnSpPr>
              <p:nvPr/>
            </p:nvCxnSpPr>
            <p:spPr>
              <a:xfrm flipV="1">
                <a:off x="883138" y="3532554"/>
                <a:ext cx="644770" cy="607717"/>
              </a:xfrm>
              <a:prstGeom prst="straightConnector1">
                <a:avLst/>
              </a:prstGeom>
              <a:noFill/>
              <a:ln w="9525" cap="flat" cmpd="sng">
                <a:solidFill>
                  <a:schemeClr val="dk1"/>
                </a:solidFill>
                <a:prstDash val="dash"/>
                <a:round/>
                <a:headEnd type="none" w="sm" len="sm"/>
                <a:tailEnd type="stealth" w="med" len="med"/>
              </a:ln>
            </p:spPr>
          </p:cxnSp>
          <p:cxnSp>
            <p:nvCxnSpPr>
              <p:cNvPr id="10" name="Google Shape;51;p2">
                <a:extLst>
                  <a:ext uri="{FF2B5EF4-FFF2-40B4-BE49-F238E27FC236}">
                    <a16:creationId xmlns:a16="http://schemas.microsoft.com/office/drawing/2014/main" id="{9ABB2405-4944-85E9-0E16-39EC0DB79C40}"/>
                  </a:ext>
                </a:extLst>
              </p:cNvPr>
              <p:cNvCxnSpPr>
                <a:stCxn id="18" idx="0"/>
                <a:endCxn id="11" idx="2"/>
              </p:cNvCxnSpPr>
              <p:nvPr/>
            </p:nvCxnSpPr>
            <p:spPr>
              <a:xfrm flipH="1" flipV="1">
                <a:off x="1527908" y="3532554"/>
                <a:ext cx="584655" cy="613279"/>
              </a:xfrm>
              <a:prstGeom prst="straightConnector1">
                <a:avLst/>
              </a:prstGeom>
              <a:noFill/>
              <a:ln w="9525" cap="flat" cmpd="sng">
                <a:solidFill>
                  <a:schemeClr val="dk1"/>
                </a:solidFill>
                <a:prstDash val="dash"/>
                <a:round/>
                <a:headEnd type="none" w="sm" len="sm"/>
                <a:tailEnd type="stealth" w="med" len="med"/>
              </a:ln>
            </p:spPr>
          </p:cxnSp>
          <p:sp>
            <p:nvSpPr>
              <p:cNvPr id="11" name="Google Shape;50;p2">
                <a:extLst>
                  <a:ext uri="{FF2B5EF4-FFF2-40B4-BE49-F238E27FC236}">
                    <a16:creationId xmlns:a16="http://schemas.microsoft.com/office/drawing/2014/main" id="{3F9D3D7D-1F76-4E28-AE6D-62FC17BBFA27}"/>
                  </a:ext>
                </a:extLst>
              </p:cNvPr>
              <p:cNvSpPr/>
              <p:nvPr/>
            </p:nvSpPr>
            <p:spPr>
              <a:xfrm>
                <a:off x="883138" y="2032000"/>
                <a:ext cx="1289539" cy="1500554"/>
              </a:xfrm>
              <a:prstGeom prst="roundRect">
                <a:avLst>
                  <a:gd name="adj" fmla="val 7803"/>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Calibri"/>
                  <a:ea typeface="Calibri"/>
                  <a:cs typeface="Calibri"/>
                  <a:sym typeface="Calibri"/>
                </a:endParaRPr>
              </a:p>
            </p:txBody>
          </p:sp>
          <p:sp>
            <p:nvSpPr>
              <p:cNvPr id="12" name="Google Shape;53;p2">
                <a:extLst>
                  <a:ext uri="{FF2B5EF4-FFF2-40B4-BE49-F238E27FC236}">
                    <a16:creationId xmlns:a16="http://schemas.microsoft.com/office/drawing/2014/main" id="{458578D3-14F3-6BFE-DCA0-1022DD0A3FE4}"/>
                  </a:ext>
                </a:extLst>
              </p:cNvPr>
              <p:cNvSpPr/>
              <p:nvPr/>
            </p:nvSpPr>
            <p:spPr>
              <a:xfrm>
                <a:off x="1027723" y="2857500"/>
                <a:ext cx="1000369" cy="456223"/>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3"/>
                  </a:solidFill>
                  <a:latin typeface="Calibri"/>
                  <a:ea typeface="Calibri"/>
                  <a:cs typeface="Calibri"/>
                  <a:sym typeface="Calibri"/>
                </a:endParaRPr>
              </a:p>
            </p:txBody>
          </p:sp>
          <p:sp>
            <p:nvSpPr>
              <p:cNvPr id="13" name="Google Shape;54;p2">
                <a:extLst>
                  <a:ext uri="{FF2B5EF4-FFF2-40B4-BE49-F238E27FC236}">
                    <a16:creationId xmlns:a16="http://schemas.microsoft.com/office/drawing/2014/main" id="{BF2591E9-8CA2-1E26-A401-C1D5DFA26090}"/>
                  </a:ext>
                </a:extLst>
              </p:cNvPr>
              <p:cNvSpPr/>
              <p:nvPr/>
            </p:nvSpPr>
            <p:spPr>
              <a:xfrm>
                <a:off x="376056" y="4120738"/>
                <a:ext cx="1000369" cy="456223"/>
              </a:xfrm>
              <a:prstGeom prst="round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 name="Google Shape;55;p2">
                <a:extLst>
                  <a:ext uri="{FF2B5EF4-FFF2-40B4-BE49-F238E27FC236}">
                    <a16:creationId xmlns:a16="http://schemas.microsoft.com/office/drawing/2014/main" id="{AFA1B4D1-3312-089E-9633-B0B97FCFA437}"/>
                  </a:ext>
                </a:extLst>
              </p:cNvPr>
              <p:cNvSpPr/>
              <p:nvPr/>
            </p:nvSpPr>
            <p:spPr>
              <a:xfrm>
                <a:off x="1608013" y="4120738"/>
                <a:ext cx="1000369" cy="456223"/>
              </a:xfrm>
              <a:prstGeom prst="round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 name="Google Shape;56;p2">
                <a:extLst>
                  <a:ext uri="{FF2B5EF4-FFF2-40B4-BE49-F238E27FC236}">
                    <a16:creationId xmlns:a16="http://schemas.microsoft.com/office/drawing/2014/main" id="{93050EAB-791B-6A91-F6EC-469B6403D9C7}"/>
                  </a:ext>
                </a:extLst>
              </p:cNvPr>
              <p:cNvSpPr/>
              <p:nvPr/>
            </p:nvSpPr>
            <p:spPr>
              <a:xfrm>
                <a:off x="1027723" y="2229307"/>
                <a:ext cx="1000369"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050">
                    <a:solidFill>
                      <a:schemeClr val="dk1"/>
                    </a:solidFill>
                    <a:latin typeface="Calibri"/>
                    <a:ea typeface="Calibri"/>
                    <a:cs typeface="Calibri"/>
                    <a:sym typeface="Calibri"/>
                  </a:rPr>
                  <a:t>&lt;Interface&gt;</a:t>
                </a:r>
                <a:endParaRPr/>
              </a:p>
              <a:p>
                <a:pPr marL="0" marR="0" lvl="0" indent="0" algn="ctr" rtl="0">
                  <a:spcBef>
                    <a:spcPts val="0"/>
                  </a:spcBef>
                  <a:spcAft>
                    <a:spcPts val="0"/>
                  </a:spcAft>
                  <a:buNone/>
                </a:pPr>
                <a:r>
                  <a:rPr lang="es-ES" sz="1050">
                    <a:solidFill>
                      <a:schemeClr val="dk1"/>
                    </a:solidFill>
                    <a:latin typeface="Calibri"/>
                    <a:ea typeface="Calibri"/>
                    <a:cs typeface="Calibri"/>
                    <a:sym typeface="Calibri"/>
                  </a:rPr>
                  <a:t>Controller</a:t>
                </a:r>
                <a:endParaRPr sz="1050">
                  <a:solidFill>
                    <a:schemeClr val="dk1"/>
                  </a:solidFill>
                  <a:latin typeface="Calibri"/>
                  <a:ea typeface="Calibri"/>
                  <a:cs typeface="Calibri"/>
                  <a:sym typeface="Calibri"/>
                </a:endParaRPr>
              </a:p>
            </p:txBody>
          </p:sp>
          <p:sp>
            <p:nvSpPr>
              <p:cNvPr id="16" name="Google Shape;57;p2">
                <a:extLst>
                  <a:ext uri="{FF2B5EF4-FFF2-40B4-BE49-F238E27FC236}">
                    <a16:creationId xmlns:a16="http://schemas.microsoft.com/office/drawing/2014/main" id="{FB98E35E-6BD8-20AC-2ADC-F5BCB0B5C5F1}"/>
                  </a:ext>
                </a:extLst>
              </p:cNvPr>
              <p:cNvSpPr/>
              <p:nvPr/>
            </p:nvSpPr>
            <p:spPr>
              <a:xfrm>
                <a:off x="1027723" y="2958653"/>
                <a:ext cx="1000368" cy="2539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050" dirty="0" err="1">
                    <a:solidFill>
                      <a:schemeClr val="dk1"/>
                    </a:solidFill>
                    <a:latin typeface="Calibri"/>
                    <a:ea typeface="Calibri"/>
                    <a:cs typeface="Calibri"/>
                    <a:sym typeface="Calibri"/>
                  </a:rPr>
                  <a:t>handleRequest</a:t>
                </a:r>
                <a:endParaRPr sz="1050" dirty="0">
                  <a:solidFill>
                    <a:schemeClr val="dk1"/>
                  </a:solidFill>
                  <a:latin typeface="Calibri"/>
                  <a:ea typeface="Calibri"/>
                  <a:cs typeface="Calibri"/>
                  <a:sym typeface="Calibri"/>
                </a:endParaRPr>
              </a:p>
            </p:txBody>
          </p:sp>
          <p:sp>
            <p:nvSpPr>
              <p:cNvPr id="17" name="Google Shape;49;p2">
                <a:extLst>
                  <a:ext uri="{FF2B5EF4-FFF2-40B4-BE49-F238E27FC236}">
                    <a16:creationId xmlns:a16="http://schemas.microsoft.com/office/drawing/2014/main" id="{329A8058-5877-5F59-E466-DF289376D68F}"/>
                  </a:ext>
                </a:extLst>
              </p:cNvPr>
              <p:cNvSpPr/>
              <p:nvPr/>
            </p:nvSpPr>
            <p:spPr>
              <a:xfrm>
                <a:off x="382953" y="4140271"/>
                <a:ext cx="1000369" cy="41549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050" dirty="0">
                    <a:solidFill>
                      <a:schemeClr val="dk1"/>
                    </a:solidFill>
                    <a:latin typeface="Calibri"/>
                    <a:ea typeface="Calibri"/>
                    <a:cs typeface="Calibri"/>
                    <a:sym typeface="Calibri"/>
                  </a:rPr>
                  <a:t>&lt;</a:t>
                </a:r>
                <a:r>
                  <a:rPr lang="es-ES" sz="1050" dirty="0" err="1">
                    <a:solidFill>
                      <a:schemeClr val="dk1"/>
                    </a:solidFill>
                    <a:latin typeface="Calibri"/>
                    <a:ea typeface="Calibri"/>
                    <a:cs typeface="Calibri"/>
                    <a:sym typeface="Calibri"/>
                  </a:rPr>
                  <a:t>Command</a:t>
                </a:r>
                <a:r>
                  <a:rPr lang="es-ES" sz="1050" dirty="0">
                    <a:solidFill>
                      <a:schemeClr val="dk1"/>
                    </a:solidFill>
                    <a:latin typeface="Calibri"/>
                    <a:ea typeface="Calibri"/>
                    <a:cs typeface="Calibri"/>
                    <a:sym typeface="Calibri"/>
                  </a:rPr>
                  <a:t>&gt;</a:t>
                </a:r>
                <a:endParaRPr dirty="0"/>
              </a:p>
              <a:p>
                <a:pPr marL="0" marR="0" lvl="0" indent="0" algn="ctr" rtl="0">
                  <a:spcBef>
                    <a:spcPts val="0"/>
                  </a:spcBef>
                  <a:spcAft>
                    <a:spcPts val="0"/>
                  </a:spcAft>
                  <a:buNone/>
                </a:pPr>
                <a:r>
                  <a:rPr lang="es-ES" sz="1050" dirty="0">
                    <a:solidFill>
                      <a:schemeClr val="dk1"/>
                    </a:solidFill>
                    <a:latin typeface="Calibri"/>
                    <a:ea typeface="Calibri"/>
                    <a:cs typeface="Calibri"/>
                    <a:sym typeface="Calibri"/>
                  </a:rPr>
                  <a:t>Lista</a:t>
                </a:r>
                <a:endParaRPr sz="1050" dirty="0">
                  <a:solidFill>
                    <a:schemeClr val="dk1"/>
                  </a:solidFill>
                  <a:latin typeface="Calibri"/>
                  <a:ea typeface="Calibri"/>
                  <a:cs typeface="Calibri"/>
                  <a:sym typeface="Calibri"/>
                </a:endParaRPr>
              </a:p>
            </p:txBody>
          </p:sp>
          <p:sp>
            <p:nvSpPr>
              <p:cNvPr id="18" name="Google Shape;52;p2">
                <a:extLst>
                  <a:ext uri="{FF2B5EF4-FFF2-40B4-BE49-F238E27FC236}">
                    <a16:creationId xmlns:a16="http://schemas.microsoft.com/office/drawing/2014/main" id="{DD2212D4-0161-EAD6-2AF4-295389D11787}"/>
                  </a:ext>
                </a:extLst>
              </p:cNvPr>
              <p:cNvSpPr/>
              <p:nvPr/>
            </p:nvSpPr>
            <p:spPr>
              <a:xfrm>
                <a:off x="1652432" y="4145833"/>
                <a:ext cx="920262" cy="41549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050" dirty="0">
                    <a:solidFill>
                      <a:schemeClr val="dk1"/>
                    </a:solidFill>
                    <a:latin typeface="Calibri"/>
                    <a:ea typeface="Calibri"/>
                    <a:cs typeface="Calibri"/>
                    <a:sym typeface="Calibri"/>
                  </a:rPr>
                  <a:t>&lt;</a:t>
                </a:r>
                <a:r>
                  <a:rPr lang="es-ES" sz="1050" dirty="0" err="1">
                    <a:solidFill>
                      <a:schemeClr val="dk1"/>
                    </a:solidFill>
                    <a:latin typeface="Calibri"/>
                    <a:ea typeface="Calibri"/>
                    <a:cs typeface="Calibri"/>
                    <a:sym typeface="Calibri"/>
                  </a:rPr>
                  <a:t>Command</a:t>
                </a:r>
                <a:r>
                  <a:rPr lang="es-ES" sz="1050" dirty="0">
                    <a:solidFill>
                      <a:schemeClr val="dk1"/>
                    </a:solidFill>
                    <a:latin typeface="Calibri"/>
                    <a:ea typeface="Calibri"/>
                    <a:cs typeface="Calibri"/>
                    <a:sym typeface="Calibri"/>
                  </a:rPr>
                  <a:t>&gt;</a:t>
                </a:r>
                <a:endParaRPr dirty="0"/>
              </a:p>
              <a:p>
                <a:pPr marL="0" marR="0" lvl="0" indent="0" algn="ctr" rtl="0">
                  <a:spcBef>
                    <a:spcPts val="0"/>
                  </a:spcBef>
                  <a:spcAft>
                    <a:spcPts val="0"/>
                  </a:spcAft>
                  <a:buNone/>
                </a:pPr>
                <a:r>
                  <a:rPr lang="es-ES" sz="1050" dirty="0">
                    <a:solidFill>
                      <a:schemeClr val="dk1"/>
                    </a:solidFill>
                    <a:latin typeface="Calibri"/>
                    <a:ea typeface="Calibri"/>
                    <a:cs typeface="Calibri"/>
                    <a:sym typeface="Calibri"/>
                  </a:rPr>
                  <a:t>Formulario</a:t>
                </a:r>
                <a:endParaRPr sz="1050" dirty="0">
                  <a:solidFill>
                    <a:schemeClr val="dk1"/>
                  </a:solidFill>
                  <a:latin typeface="Calibri"/>
                  <a:ea typeface="Calibri"/>
                  <a:cs typeface="Calibri"/>
                  <a:sym typeface="Calibri"/>
                </a:endParaRPr>
              </a:p>
            </p:txBody>
          </p:sp>
        </p:grpSp>
        <p:sp>
          <p:nvSpPr>
            <p:cNvPr id="19" name="Google Shape;58;p2">
              <a:extLst>
                <a:ext uri="{FF2B5EF4-FFF2-40B4-BE49-F238E27FC236}">
                  <a16:creationId xmlns:a16="http://schemas.microsoft.com/office/drawing/2014/main" id="{52394019-DD44-D646-51AF-55724DC40B85}"/>
                </a:ext>
              </a:extLst>
            </p:cNvPr>
            <p:cNvSpPr/>
            <p:nvPr/>
          </p:nvSpPr>
          <p:spPr>
            <a:xfrm>
              <a:off x="5049783" y="1972870"/>
              <a:ext cx="840154" cy="2539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050">
                  <a:solidFill>
                    <a:schemeClr val="dk1"/>
                  </a:solidFill>
                  <a:latin typeface="Calibri"/>
                  <a:ea typeface="Calibri"/>
                  <a:cs typeface="Calibri"/>
                  <a:sym typeface="Calibri"/>
                </a:rPr>
                <a:t>evolución</a:t>
              </a:r>
              <a:endParaRPr sz="1050">
                <a:solidFill>
                  <a:schemeClr val="dk1"/>
                </a:solidFill>
                <a:latin typeface="Calibri"/>
                <a:ea typeface="Calibri"/>
                <a:cs typeface="Calibri"/>
                <a:sym typeface="Calibri"/>
              </a:endParaRPr>
            </a:p>
          </p:txBody>
        </p:sp>
        <p:cxnSp>
          <p:nvCxnSpPr>
            <p:cNvPr id="20" name="Google Shape;59;p2">
              <a:extLst>
                <a:ext uri="{FF2B5EF4-FFF2-40B4-BE49-F238E27FC236}">
                  <a16:creationId xmlns:a16="http://schemas.microsoft.com/office/drawing/2014/main" id="{EC505B1E-E688-3827-1683-960F4B60055B}"/>
                </a:ext>
              </a:extLst>
            </p:cNvPr>
            <p:cNvCxnSpPr/>
            <p:nvPr/>
          </p:nvCxnSpPr>
          <p:spPr>
            <a:xfrm>
              <a:off x="5106186" y="2315272"/>
              <a:ext cx="803291" cy="0"/>
            </a:xfrm>
            <a:prstGeom prst="straightConnector1">
              <a:avLst/>
            </a:prstGeom>
            <a:noFill/>
            <a:ln w="9525" cap="flat" cmpd="sng">
              <a:solidFill>
                <a:schemeClr val="dk1"/>
              </a:solidFill>
              <a:prstDash val="dash"/>
              <a:round/>
              <a:headEnd type="none" w="sm" len="sm"/>
              <a:tailEnd type="stealth" w="med" len="med"/>
            </a:ln>
          </p:spPr>
        </p:cxnSp>
        <p:cxnSp>
          <p:nvCxnSpPr>
            <p:cNvPr id="21" name="Google Shape;60;p2">
              <a:extLst>
                <a:ext uri="{FF2B5EF4-FFF2-40B4-BE49-F238E27FC236}">
                  <a16:creationId xmlns:a16="http://schemas.microsoft.com/office/drawing/2014/main" id="{D6D2B300-82A8-2ED3-FF5C-7FA6FDD78217}"/>
                </a:ext>
              </a:extLst>
            </p:cNvPr>
            <p:cNvCxnSpPr/>
            <p:nvPr/>
          </p:nvCxnSpPr>
          <p:spPr>
            <a:xfrm>
              <a:off x="5106186" y="2467672"/>
              <a:ext cx="803291" cy="0"/>
            </a:xfrm>
            <a:prstGeom prst="straightConnector1">
              <a:avLst/>
            </a:prstGeom>
            <a:noFill/>
            <a:ln w="9525" cap="flat" cmpd="sng">
              <a:solidFill>
                <a:schemeClr val="dk1"/>
              </a:solidFill>
              <a:prstDash val="dash"/>
              <a:round/>
              <a:headEnd type="none" w="sm" len="sm"/>
              <a:tailEnd type="stealth" w="med" len="med"/>
            </a:ln>
          </p:spPr>
        </p:cxnSp>
        <p:cxnSp>
          <p:nvCxnSpPr>
            <p:cNvPr id="22" name="Google Shape;61;p2">
              <a:extLst>
                <a:ext uri="{FF2B5EF4-FFF2-40B4-BE49-F238E27FC236}">
                  <a16:creationId xmlns:a16="http://schemas.microsoft.com/office/drawing/2014/main" id="{886770C7-4A19-0ED6-3BBD-046E3105CF41}"/>
                </a:ext>
              </a:extLst>
            </p:cNvPr>
            <p:cNvCxnSpPr/>
            <p:nvPr/>
          </p:nvCxnSpPr>
          <p:spPr>
            <a:xfrm>
              <a:off x="5106186" y="2620072"/>
              <a:ext cx="803291" cy="0"/>
            </a:xfrm>
            <a:prstGeom prst="straightConnector1">
              <a:avLst/>
            </a:prstGeom>
            <a:noFill/>
            <a:ln w="9525" cap="flat" cmpd="sng">
              <a:solidFill>
                <a:schemeClr val="dk1"/>
              </a:solidFill>
              <a:prstDash val="dash"/>
              <a:round/>
              <a:headEnd type="none" w="sm" len="sm"/>
              <a:tailEnd type="stealth" w="med" len="med"/>
            </a:ln>
          </p:spPr>
        </p:cxnSp>
        <p:sp>
          <p:nvSpPr>
            <p:cNvPr id="23" name="Google Shape;62;p2">
              <a:extLst>
                <a:ext uri="{FF2B5EF4-FFF2-40B4-BE49-F238E27FC236}">
                  <a16:creationId xmlns:a16="http://schemas.microsoft.com/office/drawing/2014/main" id="{237F592B-7116-66EB-75CB-20123FCF1E98}"/>
                </a:ext>
              </a:extLst>
            </p:cNvPr>
            <p:cNvSpPr/>
            <p:nvPr/>
          </p:nvSpPr>
          <p:spPr>
            <a:xfrm>
              <a:off x="6719883" y="1814570"/>
              <a:ext cx="1000369" cy="57708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050">
                  <a:solidFill>
                    <a:schemeClr val="dk1"/>
                  </a:solidFill>
                  <a:latin typeface="Calibri"/>
                  <a:ea typeface="Calibri"/>
                  <a:cs typeface="Calibri"/>
                  <a:sym typeface="Calibri"/>
                </a:rPr>
                <a:t>&lt;@Controller&gt;</a:t>
              </a:r>
              <a:endParaRPr/>
            </a:p>
            <a:p>
              <a:pPr marL="0" marR="0" lvl="0" indent="0" algn="ctr" rtl="0">
                <a:spcBef>
                  <a:spcPts val="0"/>
                </a:spcBef>
                <a:spcAft>
                  <a:spcPts val="0"/>
                </a:spcAft>
                <a:buNone/>
              </a:pPr>
              <a:r>
                <a:rPr lang="es-ES" sz="1050">
                  <a:solidFill>
                    <a:schemeClr val="dk1"/>
                  </a:solidFill>
                  <a:latin typeface="Calibri"/>
                  <a:ea typeface="Calibri"/>
                  <a:cs typeface="Calibri"/>
                  <a:sym typeface="Calibri"/>
                </a:rPr>
                <a:t>Persona</a:t>
              </a:r>
              <a:endParaRPr/>
            </a:p>
            <a:p>
              <a:pPr marL="0" marR="0" lvl="0" indent="0" algn="ctr" rtl="0">
                <a:spcBef>
                  <a:spcPts val="0"/>
                </a:spcBef>
                <a:spcAft>
                  <a:spcPts val="0"/>
                </a:spcAft>
                <a:buNone/>
              </a:pPr>
              <a:r>
                <a:rPr lang="es-ES" sz="1050">
                  <a:solidFill>
                    <a:schemeClr val="dk1"/>
                  </a:solidFill>
                  <a:latin typeface="Calibri"/>
                  <a:ea typeface="Calibri"/>
                  <a:cs typeface="Calibri"/>
                  <a:sym typeface="Calibri"/>
                </a:rPr>
                <a:t>Controller</a:t>
              </a:r>
              <a:endParaRPr sz="1050">
                <a:solidFill>
                  <a:schemeClr val="dk1"/>
                </a:solidFill>
                <a:latin typeface="Calibri"/>
                <a:ea typeface="Calibri"/>
                <a:cs typeface="Calibri"/>
                <a:sym typeface="Calibri"/>
              </a:endParaRPr>
            </a:p>
          </p:txBody>
        </p:sp>
        <p:sp>
          <p:nvSpPr>
            <p:cNvPr id="24" name="Google Shape;63;p2">
              <a:extLst>
                <a:ext uri="{FF2B5EF4-FFF2-40B4-BE49-F238E27FC236}">
                  <a16:creationId xmlns:a16="http://schemas.microsoft.com/office/drawing/2014/main" id="{ABB2A5D8-048B-16A3-CB36-3402C2C08DA0}"/>
                </a:ext>
              </a:extLst>
            </p:cNvPr>
            <p:cNvSpPr/>
            <p:nvPr/>
          </p:nvSpPr>
          <p:spPr>
            <a:xfrm>
              <a:off x="6435393" y="2534534"/>
              <a:ext cx="1569349" cy="41549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050" dirty="0">
                  <a:solidFill>
                    <a:schemeClr val="dk1"/>
                  </a:solidFill>
                  <a:latin typeface="Calibri"/>
                  <a:ea typeface="Calibri"/>
                  <a:cs typeface="Calibri"/>
                  <a:sym typeface="Calibri"/>
                </a:rPr>
                <a:t>&lt;@</a:t>
              </a:r>
              <a:r>
                <a:rPr lang="es-ES" sz="1050" dirty="0" err="1">
                  <a:solidFill>
                    <a:schemeClr val="dk1"/>
                  </a:solidFill>
                  <a:latin typeface="Calibri"/>
                  <a:ea typeface="Calibri"/>
                  <a:cs typeface="Calibri"/>
                  <a:sym typeface="Calibri"/>
                </a:rPr>
                <a:t>RequestMapping</a:t>
              </a:r>
              <a:r>
                <a:rPr lang="es-ES" sz="1050" dirty="0">
                  <a:solidFill>
                    <a:schemeClr val="dk1"/>
                  </a:solidFill>
                  <a:latin typeface="Calibri"/>
                  <a:ea typeface="Calibri"/>
                  <a:cs typeface="Calibri"/>
                  <a:sym typeface="Calibri"/>
                </a:rPr>
                <a:t>&gt;</a:t>
              </a:r>
              <a:endParaRPr dirty="0"/>
            </a:p>
            <a:p>
              <a:pPr marL="0" marR="0" lvl="0" indent="0" algn="ctr" rtl="0">
                <a:spcBef>
                  <a:spcPts val="0"/>
                </a:spcBef>
                <a:spcAft>
                  <a:spcPts val="0"/>
                </a:spcAft>
                <a:buNone/>
              </a:pPr>
              <a:r>
                <a:rPr lang="es-ES" sz="1050" dirty="0">
                  <a:solidFill>
                    <a:schemeClr val="dk1"/>
                  </a:solidFill>
                  <a:latin typeface="Calibri"/>
                  <a:ea typeface="Calibri"/>
                  <a:cs typeface="Calibri"/>
                  <a:sym typeface="Calibri"/>
                </a:rPr>
                <a:t>Lista</a:t>
              </a:r>
              <a:endParaRPr sz="1050" dirty="0">
                <a:solidFill>
                  <a:schemeClr val="dk1"/>
                </a:solidFill>
                <a:latin typeface="Calibri"/>
                <a:ea typeface="Calibri"/>
                <a:cs typeface="Calibri"/>
                <a:sym typeface="Calibri"/>
              </a:endParaRPr>
            </a:p>
          </p:txBody>
        </p:sp>
        <p:sp>
          <p:nvSpPr>
            <p:cNvPr id="25" name="Google Shape;64;p2">
              <a:extLst>
                <a:ext uri="{FF2B5EF4-FFF2-40B4-BE49-F238E27FC236}">
                  <a16:creationId xmlns:a16="http://schemas.microsoft.com/office/drawing/2014/main" id="{831049E4-20F7-2CE0-0DCC-9246D985A12A}"/>
                </a:ext>
              </a:extLst>
            </p:cNvPr>
            <p:cNvSpPr/>
            <p:nvPr/>
          </p:nvSpPr>
          <p:spPr>
            <a:xfrm>
              <a:off x="6435393" y="3097470"/>
              <a:ext cx="1569349" cy="41549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050">
                  <a:solidFill>
                    <a:schemeClr val="dk1"/>
                  </a:solidFill>
                  <a:latin typeface="Calibri"/>
                  <a:ea typeface="Calibri"/>
                  <a:cs typeface="Calibri"/>
                  <a:sym typeface="Calibri"/>
                </a:rPr>
                <a:t>&lt;@RequestMapping&gt;</a:t>
              </a:r>
              <a:endParaRPr/>
            </a:p>
            <a:p>
              <a:pPr marL="0" marR="0" lvl="0" indent="0" algn="ctr" rtl="0">
                <a:spcBef>
                  <a:spcPts val="0"/>
                </a:spcBef>
                <a:spcAft>
                  <a:spcPts val="0"/>
                </a:spcAft>
                <a:buNone/>
              </a:pPr>
              <a:r>
                <a:rPr lang="es-ES" sz="1050">
                  <a:solidFill>
                    <a:schemeClr val="dk1"/>
                  </a:solidFill>
                  <a:latin typeface="Calibri"/>
                  <a:ea typeface="Calibri"/>
                  <a:cs typeface="Calibri"/>
                  <a:sym typeface="Calibri"/>
                </a:rPr>
                <a:t>Formulario</a:t>
              </a:r>
              <a:endParaRPr sz="1050">
                <a:solidFill>
                  <a:schemeClr val="dk1"/>
                </a:solidFill>
                <a:latin typeface="Calibri"/>
                <a:ea typeface="Calibri"/>
                <a:cs typeface="Calibri"/>
                <a:sym typeface="Calibri"/>
              </a:endParaRPr>
            </a:p>
          </p:txBody>
        </p:sp>
        <p:sp>
          <p:nvSpPr>
            <p:cNvPr id="26" name="Google Shape;42;p2">
              <a:extLst>
                <a:ext uri="{FF2B5EF4-FFF2-40B4-BE49-F238E27FC236}">
                  <a16:creationId xmlns:a16="http://schemas.microsoft.com/office/drawing/2014/main" id="{DEA50D9E-D5B6-8D4E-42FD-B1CD8808BE99}"/>
                </a:ext>
              </a:extLst>
            </p:cNvPr>
            <p:cNvSpPr txBox="1"/>
            <p:nvPr/>
          </p:nvSpPr>
          <p:spPr>
            <a:xfrm>
              <a:off x="3229189" y="4409745"/>
              <a:ext cx="4572000"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ES" sz="1000" dirty="0">
                  <a:solidFill>
                    <a:schemeClr val="dk1"/>
                  </a:solidFill>
                  <a:latin typeface="Calibri"/>
                  <a:ea typeface="Calibri"/>
                  <a:cs typeface="Calibri"/>
                  <a:sym typeface="Calibri"/>
                </a:rPr>
                <a:t>Spring MVC Anotaciones (II) - Arquitectura Java</a:t>
              </a:r>
              <a:endParaRPr lang="es-ES" sz="1000" dirty="0"/>
            </a:p>
          </p:txBody>
        </p:sp>
      </p:grpSp>
      <p:sp>
        <p:nvSpPr>
          <p:cNvPr id="28" name="Rectángulo redondeado 27">
            <a:extLst>
              <a:ext uri="{FF2B5EF4-FFF2-40B4-BE49-F238E27FC236}">
                <a16:creationId xmlns:a16="http://schemas.microsoft.com/office/drawing/2014/main" id="{5A2F72A9-C0AE-0B93-FACF-9EC24A432361}"/>
              </a:ext>
            </a:extLst>
          </p:cNvPr>
          <p:cNvSpPr/>
          <p:nvPr/>
        </p:nvSpPr>
        <p:spPr>
          <a:xfrm>
            <a:off x="511705" y="2666998"/>
            <a:ext cx="2294467" cy="1871133"/>
          </a:xfrm>
          <a:prstGeom prst="roundRect">
            <a:avLst>
              <a:gd name="adj" fmla="val 8049"/>
            </a:avLst>
          </a:prstGeom>
          <a:solidFill>
            <a:srgbClr val="FBC8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rtl="0">
              <a:spcBef>
                <a:spcPts val="0"/>
              </a:spcBef>
              <a:spcAft>
                <a:spcPts val="0"/>
              </a:spcAft>
              <a:buClr>
                <a:schemeClr val="accent2"/>
              </a:buClr>
              <a:buSzPct val="100000"/>
            </a:pPr>
            <a:r>
              <a:rPr lang="es-ES" sz="1400" b="1" dirty="0">
                <a:solidFill>
                  <a:schemeClr val="tx1"/>
                </a:solidFill>
                <a:latin typeface="Calibri" panose="020F0502020204030204" pitchFamily="34" charset="0"/>
                <a:cs typeface="Calibri" panose="020F0502020204030204" pitchFamily="34" charset="0"/>
                <a:sym typeface="Arial"/>
              </a:rPr>
              <a:t>Modelo:</a:t>
            </a:r>
            <a:endParaRPr lang="es-ES" sz="1400" b="1" dirty="0">
              <a:solidFill>
                <a:schemeClr val="tx1"/>
              </a:solidFill>
              <a:latin typeface="Calibri" panose="020F0502020204030204" pitchFamily="34" charset="0"/>
              <a:cs typeface="Calibri" panose="020F0502020204030204" pitchFamily="34" charset="0"/>
            </a:endParaRPr>
          </a:p>
          <a:p>
            <a:pPr marL="184150" marR="0" lvl="0" indent="-184150" algn="l" rtl="0">
              <a:spcBef>
                <a:spcPts val="0"/>
              </a:spcBef>
              <a:spcAft>
                <a:spcPts val="0"/>
              </a:spcAft>
              <a:buClr>
                <a:schemeClr val="accent2"/>
              </a:buClr>
              <a:buSzPct val="100000"/>
              <a:buFont typeface="Arial" panose="020B0604020202020204" pitchFamily="34" charset="0"/>
              <a:buChar char="•"/>
            </a:pPr>
            <a:r>
              <a:rPr lang="es-ES" sz="1400" dirty="0">
                <a:solidFill>
                  <a:schemeClr val="tx1"/>
                </a:solidFill>
                <a:latin typeface="Calibri" panose="020F0502020204030204" pitchFamily="34" charset="0"/>
                <a:cs typeface="Calibri" panose="020F0502020204030204" pitchFamily="34" charset="0"/>
                <a:sym typeface="Arial"/>
              </a:rPr>
              <a:t>Representa los datos de la aplicación y la lógica del negocio.</a:t>
            </a:r>
            <a:endParaRPr lang="es-ES" sz="1400" dirty="0">
              <a:solidFill>
                <a:schemeClr val="tx1"/>
              </a:solidFill>
              <a:latin typeface="Calibri" panose="020F0502020204030204" pitchFamily="34" charset="0"/>
              <a:cs typeface="Calibri" panose="020F0502020204030204" pitchFamily="34" charset="0"/>
            </a:endParaRPr>
          </a:p>
          <a:p>
            <a:pPr marL="184150" marR="0" lvl="0" indent="-184150" algn="l" rtl="0">
              <a:spcBef>
                <a:spcPts val="0"/>
              </a:spcBef>
              <a:spcAft>
                <a:spcPts val="0"/>
              </a:spcAft>
              <a:buClr>
                <a:schemeClr val="accent2"/>
              </a:buClr>
              <a:buSzPct val="100000"/>
              <a:buFont typeface="Arial" panose="020B0604020202020204" pitchFamily="34" charset="0"/>
              <a:buChar char="•"/>
            </a:pPr>
            <a:r>
              <a:rPr lang="es-ES" sz="1400" dirty="0">
                <a:solidFill>
                  <a:schemeClr val="tx1"/>
                </a:solidFill>
                <a:latin typeface="Calibri" panose="020F0502020204030204" pitchFamily="34" charset="0"/>
                <a:cs typeface="Calibri" panose="020F0502020204030204" pitchFamily="34" charset="0"/>
                <a:sym typeface="Arial"/>
              </a:rPr>
              <a:t>Maneja la comunicación con la base de datos y otras fuentes de datos.</a:t>
            </a:r>
            <a:endParaRPr lang="es-ES" sz="1400" dirty="0">
              <a:solidFill>
                <a:schemeClr val="tx1"/>
              </a:solidFill>
              <a:latin typeface="Calibri" panose="020F0502020204030204" pitchFamily="34" charset="0"/>
              <a:cs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4"/>
          <p:cNvSpPr txBox="1"/>
          <p:nvPr/>
        </p:nvSpPr>
        <p:spPr>
          <a:xfrm>
            <a:off x="509343" y="921277"/>
            <a:ext cx="7458952" cy="492443"/>
          </a:xfrm>
          <a:prstGeom prst="rect">
            <a:avLst/>
          </a:prstGeom>
          <a:noFill/>
          <a:ln>
            <a:noFill/>
          </a:ln>
        </p:spPr>
        <p:txBody>
          <a:bodyPr spcFirstLastPara="1" wrap="square" lIns="0" tIns="0" rIns="0" bIns="0" anchor="t" anchorCtr="0">
            <a:spAutoFit/>
          </a:bodyPr>
          <a:lstStyle/>
          <a:p>
            <a:pPr marR="0" lvl="0" indent="0" algn="l" rtl="0">
              <a:spcBef>
                <a:spcPts val="0"/>
              </a:spcBef>
              <a:spcAft>
                <a:spcPts val="0"/>
              </a:spcAft>
              <a:buNone/>
            </a:pPr>
            <a:r>
              <a:rPr lang="es-ES" sz="1600" b="1" dirty="0">
                <a:solidFill>
                  <a:srgbClr val="262626"/>
                </a:solidFill>
                <a:latin typeface="Calibri"/>
                <a:ea typeface="Calibri"/>
                <a:cs typeface="Calibri"/>
                <a:sym typeface="Calibri"/>
              </a:rPr>
              <a:t>ARQUITECTURA DE SPRING MVC</a:t>
            </a:r>
            <a:endParaRPr dirty="0"/>
          </a:p>
          <a:p>
            <a:pPr marR="0" lvl="0" indent="0" algn="l" rtl="0">
              <a:spcBef>
                <a:spcPts val="0"/>
              </a:spcBef>
              <a:spcAft>
                <a:spcPts val="0"/>
              </a:spcAft>
              <a:buNone/>
            </a:pPr>
            <a:endParaRPr sz="1600" b="1" dirty="0">
              <a:solidFill>
                <a:srgbClr val="262626"/>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DA576468-2836-9669-1DE2-F0B7DF2A10F6}"/>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APLICACIONES WEB CON SPRING MVC</a:t>
            </a:r>
          </a:p>
        </p:txBody>
      </p:sp>
      <p:grpSp>
        <p:nvGrpSpPr>
          <p:cNvPr id="27" name="Grupo 26">
            <a:extLst>
              <a:ext uri="{FF2B5EF4-FFF2-40B4-BE49-F238E27FC236}">
                <a16:creationId xmlns:a16="http://schemas.microsoft.com/office/drawing/2014/main" id="{1A6141BC-60AB-86EA-8D06-DB6EEC1FE8BB}"/>
              </a:ext>
            </a:extLst>
          </p:cNvPr>
          <p:cNvGrpSpPr/>
          <p:nvPr/>
        </p:nvGrpSpPr>
        <p:grpSpPr>
          <a:xfrm>
            <a:off x="1321319" y="1722510"/>
            <a:ext cx="6501362" cy="2838079"/>
            <a:chOff x="297001" y="1543608"/>
            <a:chExt cx="6501362" cy="2838079"/>
          </a:xfrm>
        </p:grpSpPr>
        <p:grpSp>
          <p:nvGrpSpPr>
            <p:cNvPr id="6" name="Grupo 5">
              <a:extLst>
                <a:ext uri="{FF2B5EF4-FFF2-40B4-BE49-F238E27FC236}">
                  <a16:creationId xmlns:a16="http://schemas.microsoft.com/office/drawing/2014/main" id="{8325E5C5-255C-6A49-AF40-02978DECBED8}"/>
                </a:ext>
              </a:extLst>
            </p:cNvPr>
            <p:cNvGrpSpPr/>
            <p:nvPr/>
          </p:nvGrpSpPr>
          <p:grpSpPr>
            <a:xfrm>
              <a:off x="3596106" y="1543608"/>
              <a:ext cx="3202257" cy="2838079"/>
              <a:chOff x="3681756" y="1543608"/>
              <a:chExt cx="3202257" cy="2838079"/>
            </a:xfrm>
          </p:grpSpPr>
          <p:sp>
            <p:nvSpPr>
              <p:cNvPr id="14" name="Google Shape;333;p23">
                <a:extLst>
                  <a:ext uri="{FF2B5EF4-FFF2-40B4-BE49-F238E27FC236}">
                    <a16:creationId xmlns:a16="http://schemas.microsoft.com/office/drawing/2014/main" id="{02C248FB-5F1E-C074-1956-0DF8DAB9DF85}"/>
                  </a:ext>
                </a:extLst>
              </p:cNvPr>
              <p:cNvSpPr/>
              <p:nvPr/>
            </p:nvSpPr>
            <p:spPr>
              <a:xfrm>
                <a:off x="3897522" y="1543608"/>
                <a:ext cx="2986491" cy="501005"/>
              </a:xfrm>
              <a:prstGeom prst="roundRect">
                <a:avLst>
                  <a:gd name="adj" fmla="val 18326"/>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500" b="1" dirty="0">
                    <a:solidFill>
                      <a:schemeClr val="bg1"/>
                    </a:solidFill>
                    <a:latin typeface="Calibri" panose="020F0502020204030204" pitchFamily="34" charset="0"/>
                    <a:cs typeface="Calibri" panose="020F0502020204030204" pitchFamily="34" charset="0"/>
                    <a:sym typeface="Arial"/>
                  </a:rPr>
                  <a:t>Controlador:</a:t>
                </a:r>
                <a:endParaRPr lang="es-ES" sz="1500" dirty="0">
                  <a:solidFill>
                    <a:schemeClr val="bg1"/>
                  </a:solidFill>
                  <a:latin typeface="Calibri" panose="020F0502020204030204" pitchFamily="34" charset="0"/>
                  <a:cs typeface="Calibri" panose="020F0502020204030204" pitchFamily="34" charset="0"/>
                </a:endParaRPr>
              </a:p>
            </p:txBody>
          </p:sp>
          <p:sp>
            <p:nvSpPr>
              <p:cNvPr id="15" name="Google Shape;335;p23">
                <a:extLst>
                  <a:ext uri="{FF2B5EF4-FFF2-40B4-BE49-F238E27FC236}">
                    <a16:creationId xmlns:a16="http://schemas.microsoft.com/office/drawing/2014/main" id="{3A6BC51D-717A-48C6-02F3-A3FC6BFFF4EB}"/>
                  </a:ext>
                </a:extLst>
              </p:cNvPr>
              <p:cNvSpPr/>
              <p:nvPr/>
            </p:nvSpPr>
            <p:spPr>
              <a:xfrm>
                <a:off x="3897522" y="2118159"/>
                <a:ext cx="2986491" cy="2263528"/>
              </a:xfrm>
              <a:prstGeom prst="roundRect">
                <a:avLst>
                  <a:gd name="adj" fmla="val 2748"/>
                </a:avLst>
              </a:prstGeom>
              <a:solidFill>
                <a:srgbClr val="FFD7C1"/>
              </a:solidFill>
              <a:ln>
                <a:noFill/>
              </a:ln>
            </p:spPr>
            <p:txBody>
              <a:bodyPr spcFirstLastPara="1" wrap="square" lIns="108000" tIns="108000" rIns="108000" bIns="45700" anchor="t" anchorCtr="0">
                <a:noAutofit/>
              </a:bodyPr>
              <a:lstStyle/>
              <a:p>
                <a:pPr marL="222250" lvl="1" indent="-134938">
                  <a:spcAft>
                    <a:spcPts val="300"/>
                  </a:spcAft>
                  <a:buClr>
                    <a:schemeClr val="accent4"/>
                  </a:buClr>
                  <a:buSzPct val="100000"/>
                  <a:buFont typeface="Arial" panose="020B0604020202020204" pitchFamily="34" charset="0"/>
                  <a:buChar char="•"/>
                </a:pPr>
                <a:r>
                  <a:rPr lang="es-ES_tradnl" sz="1400" b="1" dirty="0">
                    <a:latin typeface="Calibri" panose="020F0502020204030204" pitchFamily="34" charset="0"/>
                    <a:ea typeface="+mj-lt"/>
                    <a:cs typeface="Calibri" panose="020F0502020204030204" pitchFamily="34" charset="0"/>
                    <a:sym typeface="Calibri"/>
                  </a:rPr>
                  <a:t>Gestiona</a:t>
                </a:r>
                <a:r>
                  <a:rPr lang="es-ES_tradnl" sz="1400" dirty="0">
                    <a:latin typeface="Calibri" panose="020F0502020204030204" pitchFamily="34" charset="0"/>
                    <a:ea typeface="+mj-lt"/>
                    <a:cs typeface="Calibri" panose="020F0502020204030204" pitchFamily="34" charset="0"/>
                    <a:sym typeface="Calibri"/>
                  </a:rPr>
                  <a:t> las solicitudes del usuario.</a:t>
                </a:r>
              </a:p>
              <a:p>
                <a:pPr marL="222250" lvl="1" indent="-134938">
                  <a:spcAft>
                    <a:spcPts val="300"/>
                  </a:spcAft>
                  <a:buClr>
                    <a:schemeClr val="accent4"/>
                  </a:buClr>
                  <a:buSzPct val="100000"/>
                  <a:buFont typeface="Arial" panose="020B0604020202020204" pitchFamily="34" charset="0"/>
                  <a:buChar char="•"/>
                </a:pPr>
                <a:r>
                  <a:rPr lang="es-ES_tradnl" sz="1400" b="1" dirty="0">
                    <a:latin typeface="Calibri" panose="020F0502020204030204" pitchFamily="34" charset="0"/>
                    <a:ea typeface="+mj-lt"/>
                    <a:cs typeface="Calibri" panose="020F0502020204030204" pitchFamily="34" charset="0"/>
                    <a:sym typeface="Calibri"/>
                  </a:rPr>
                  <a:t>Procesa</a:t>
                </a:r>
                <a:r>
                  <a:rPr lang="es-ES_tradnl" sz="1400" dirty="0">
                    <a:latin typeface="Calibri" panose="020F0502020204030204" pitchFamily="34" charset="0"/>
                    <a:ea typeface="+mj-lt"/>
                    <a:cs typeface="Calibri" panose="020F0502020204030204" pitchFamily="34" charset="0"/>
                    <a:sym typeface="Calibri"/>
                  </a:rPr>
                  <a:t> los datos del modelo y selecciona la vista adecuada para mostrar la respuesta.</a:t>
                </a:r>
              </a:p>
              <a:p>
                <a:pPr marL="222250" lvl="1" indent="-134938">
                  <a:spcAft>
                    <a:spcPts val="300"/>
                  </a:spcAft>
                  <a:buClr>
                    <a:schemeClr val="accent4"/>
                  </a:buClr>
                  <a:buSzPct val="100000"/>
                  <a:buFont typeface="Arial" panose="020B0604020202020204" pitchFamily="34" charset="0"/>
                  <a:buChar char="•"/>
                </a:pPr>
                <a:r>
                  <a:rPr lang="es-ES_tradnl" sz="1400" dirty="0">
                    <a:latin typeface="Calibri" panose="020F0502020204030204" pitchFamily="34" charset="0"/>
                    <a:ea typeface="+mj-lt"/>
                    <a:cs typeface="Calibri" panose="020F0502020204030204" pitchFamily="34" charset="0"/>
                    <a:sym typeface="Calibri"/>
                  </a:rPr>
                  <a:t>Utiliza anotaciones como @</a:t>
                </a:r>
                <a:r>
                  <a:rPr lang="es-ES_tradnl" sz="1400" dirty="0" err="1">
                    <a:latin typeface="Calibri" panose="020F0502020204030204" pitchFamily="34" charset="0"/>
                    <a:ea typeface="+mj-lt"/>
                    <a:cs typeface="Calibri" panose="020F0502020204030204" pitchFamily="34" charset="0"/>
                    <a:sym typeface="Calibri"/>
                  </a:rPr>
                  <a:t>Controller</a:t>
                </a:r>
                <a:r>
                  <a:rPr lang="es-ES_tradnl" sz="1400" dirty="0">
                    <a:latin typeface="Calibri" panose="020F0502020204030204" pitchFamily="34" charset="0"/>
                    <a:ea typeface="+mj-lt"/>
                    <a:cs typeface="Calibri" panose="020F0502020204030204" pitchFamily="34" charset="0"/>
                    <a:sym typeface="Calibri"/>
                  </a:rPr>
                  <a:t> y @</a:t>
                </a:r>
                <a:r>
                  <a:rPr lang="es-ES_tradnl" sz="1400" dirty="0" err="1">
                    <a:latin typeface="Calibri" panose="020F0502020204030204" pitchFamily="34" charset="0"/>
                    <a:ea typeface="+mj-lt"/>
                    <a:cs typeface="Calibri" panose="020F0502020204030204" pitchFamily="34" charset="0"/>
                    <a:sym typeface="Calibri"/>
                  </a:rPr>
                  <a:t>RequestMapping</a:t>
                </a:r>
                <a:r>
                  <a:rPr lang="es-ES_tradnl" sz="1400" dirty="0">
                    <a:latin typeface="Calibri" panose="020F0502020204030204" pitchFamily="34" charset="0"/>
                    <a:ea typeface="+mj-lt"/>
                    <a:cs typeface="Calibri" panose="020F0502020204030204" pitchFamily="34" charset="0"/>
                    <a:sym typeface="Calibri"/>
                  </a:rPr>
                  <a:t> para </a:t>
                </a:r>
                <a:r>
                  <a:rPr lang="es-ES_tradnl" sz="1400" b="1" dirty="0">
                    <a:latin typeface="Calibri" panose="020F0502020204030204" pitchFamily="34" charset="0"/>
                    <a:ea typeface="+mj-lt"/>
                    <a:cs typeface="Calibri" panose="020F0502020204030204" pitchFamily="34" charset="0"/>
                    <a:sym typeface="Calibri"/>
                  </a:rPr>
                  <a:t>definir rutas y manejar solicitudes.</a:t>
                </a:r>
              </a:p>
              <a:p>
                <a:pPr marL="222250" lvl="1" indent="-134938">
                  <a:spcAft>
                    <a:spcPts val="300"/>
                  </a:spcAft>
                  <a:buClr>
                    <a:schemeClr val="accent4"/>
                  </a:buClr>
                  <a:buSzPct val="100000"/>
                  <a:buFont typeface="Arial" panose="020B0604020202020204" pitchFamily="34" charset="0"/>
                  <a:buChar char="•"/>
                </a:pPr>
                <a:endParaRPr lang="es-ES_tradnl" sz="1400" dirty="0">
                  <a:latin typeface="Calibri" panose="020F0502020204030204" pitchFamily="34" charset="0"/>
                  <a:ea typeface="+mj-lt"/>
                  <a:cs typeface="Calibri" panose="020F0502020204030204" pitchFamily="34" charset="0"/>
                  <a:sym typeface="Calibri"/>
                </a:endParaRPr>
              </a:p>
              <a:p>
                <a:pPr marL="222250" lvl="1" indent="-134938">
                  <a:spcAft>
                    <a:spcPts val="300"/>
                  </a:spcAft>
                  <a:buClr>
                    <a:schemeClr val="accent4"/>
                  </a:buClr>
                  <a:buSzPct val="100000"/>
                  <a:buFont typeface="Arial" panose="020B0604020202020204" pitchFamily="34" charset="0"/>
                  <a:buChar char="•"/>
                </a:pPr>
                <a:endParaRPr lang="es-ES_tradnl" sz="1400" dirty="0">
                  <a:latin typeface="Calibri" panose="020F0502020204030204" pitchFamily="34" charset="0"/>
                  <a:ea typeface="+mj-lt"/>
                  <a:cs typeface="Calibri" panose="020F0502020204030204" pitchFamily="34" charset="0"/>
                  <a:sym typeface="Calibri"/>
                </a:endParaRPr>
              </a:p>
            </p:txBody>
          </p:sp>
          <p:grpSp>
            <p:nvGrpSpPr>
              <p:cNvPr id="16" name="Agrupar 9">
                <a:extLst>
                  <a:ext uri="{FF2B5EF4-FFF2-40B4-BE49-F238E27FC236}">
                    <a16:creationId xmlns:a16="http://schemas.microsoft.com/office/drawing/2014/main" id="{FF91FBF9-C837-9DE7-981D-0ED2727B1AE9}"/>
                  </a:ext>
                </a:extLst>
              </p:cNvPr>
              <p:cNvGrpSpPr/>
              <p:nvPr/>
            </p:nvGrpSpPr>
            <p:grpSpPr>
              <a:xfrm>
                <a:off x="3681756" y="1592237"/>
                <a:ext cx="459474" cy="403823"/>
                <a:chOff x="5892512" y="2805541"/>
                <a:chExt cx="459474" cy="403823"/>
              </a:xfrm>
            </p:grpSpPr>
            <p:sp>
              <p:nvSpPr>
                <p:cNvPr id="17" name="Elipse 16">
                  <a:extLst>
                    <a:ext uri="{FF2B5EF4-FFF2-40B4-BE49-F238E27FC236}">
                      <a16:creationId xmlns:a16="http://schemas.microsoft.com/office/drawing/2014/main" id="{1F914DF2-C9F4-80A4-BE86-D045DC08833B}"/>
                    </a:ext>
                  </a:extLst>
                </p:cNvPr>
                <p:cNvSpPr/>
                <p:nvPr/>
              </p:nvSpPr>
              <p:spPr>
                <a:xfrm>
                  <a:off x="5956277" y="2824919"/>
                  <a:ext cx="395709" cy="376075"/>
                </a:xfrm>
                <a:prstGeom prst="ellipse">
                  <a:avLst/>
                </a:prstGeom>
                <a:solidFill>
                  <a:srgbClr val="C65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8" name="Elipse 17">
                  <a:extLst>
                    <a:ext uri="{FF2B5EF4-FFF2-40B4-BE49-F238E27FC236}">
                      <a16:creationId xmlns:a16="http://schemas.microsoft.com/office/drawing/2014/main" id="{60BE4DB2-018B-A772-224C-094446068C5D}"/>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9" name="Triángulo 18">
                  <a:extLst>
                    <a:ext uri="{FF2B5EF4-FFF2-40B4-BE49-F238E27FC236}">
                      <a16:creationId xmlns:a16="http://schemas.microsoft.com/office/drawing/2014/main" id="{5ED37AEB-72C2-9724-89A9-8AADBCE1F052}"/>
                    </a:ext>
                  </a:extLst>
                </p:cNvPr>
                <p:cNvSpPr/>
                <p:nvPr/>
              </p:nvSpPr>
              <p:spPr>
                <a:xfrm rot="5400000">
                  <a:off x="6076285" y="2946262"/>
                  <a:ext cx="186870" cy="122381"/>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7" name="Grupo 6">
              <a:extLst>
                <a:ext uri="{FF2B5EF4-FFF2-40B4-BE49-F238E27FC236}">
                  <a16:creationId xmlns:a16="http://schemas.microsoft.com/office/drawing/2014/main" id="{DFA599DF-2EC4-3279-DA46-8FCBC83FD11E}"/>
                </a:ext>
              </a:extLst>
            </p:cNvPr>
            <p:cNvGrpSpPr/>
            <p:nvPr/>
          </p:nvGrpSpPr>
          <p:grpSpPr>
            <a:xfrm>
              <a:off x="297001" y="1543608"/>
              <a:ext cx="3201406" cy="2838079"/>
              <a:chOff x="297001" y="1543608"/>
              <a:chExt cx="3201406" cy="2838079"/>
            </a:xfrm>
          </p:grpSpPr>
          <p:sp>
            <p:nvSpPr>
              <p:cNvPr id="8" name="Google Shape;332;p23">
                <a:extLst>
                  <a:ext uri="{FF2B5EF4-FFF2-40B4-BE49-F238E27FC236}">
                    <a16:creationId xmlns:a16="http://schemas.microsoft.com/office/drawing/2014/main" id="{C9255EE6-0288-7F65-E318-F9D3CDDD7644}"/>
                  </a:ext>
                </a:extLst>
              </p:cNvPr>
              <p:cNvSpPr/>
              <p:nvPr/>
            </p:nvSpPr>
            <p:spPr>
              <a:xfrm>
                <a:off x="511916" y="1543608"/>
                <a:ext cx="2986491" cy="501005"/>
              </a:xfrm>
              <a:prstGeom prst="roundRect">
                <a:avLst>
                  <a:gd name="adj" fmla="val 18326"/>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500" b="1" dirty="0">
                    <a:solidFill>
                      <a:schemeClr val="bg1"/>
                    </a:solidFill>
                    <a:latin typeface="Calibri" panose="020F0502020204030204" pitchFamily="34" charset="0"/>
                    <a:cs typeface="Calibri" panose="020F0502020204030204" pitchFamily="34" charset="0"/>
                    <a:sym typeface="Arial"/>
                  </a:rPr>
                  <a:t>Vista:</a:t>
                </a:r>
                <a:endParaRPr lang="es-ES" sz="1500" dirty="0">
                  <a:solidFill>
                    <a:schemeClr val="bg1"/>
                  </a:solidFill>
                  <a:latin typeface="Calibri" panose="020F0502020204030204" pitchFamily="34" charset="0"/>
                  <a:cs typeface="Calibri" panose="020F0502020204030204" pitchFamily="34" charset="0"/>
                </a:endParaRPr>
              </a:p>
            </p:txBody>
          </p:sp>
          <p:sp>
            <p:nvSpPr>
              <p:cNvPr id="9" name="Google Shape;334;p23">
                <a:extLst>
                  <a:ext uri="{FF2B5EF4-FFF2-40B4-BE49-F238E27FC236}">
                    <a16:creationId xmlns:a16="http://schemas.microsoft.com/office/drawing/2014/main" id="{5C81372C-9AC7-81CE-A75F-690BF5B66DE2}"/>
                  </a:ext>
                </a:extLst>
              </p:cNvPr>
              <p:cNvSpPr/>
              <p:nvPr/>
            </p:nvSpPr>
            <p:spPr>
              <a:xfrm>
                <a:off x="511916" y="2118159"/>
                <a:ext cx="2986491" cy="2263528"/>
              </a:xfrm>
              <a:prstGeom prst="roundRect">
                <a:avLst>
                  <a:gd name="adj" fmla="val 2748"/>
                </a:avLst>
              </a:prstGeom>
              <a:solidFill>
                <a:srgbClr val="FFD7C1"/>
              </a:solidFill>
              <a:ln>
                <a:noFill/>
              </a:ln>
            </p:spPr>
            <p:txBody>
              <a:bodyPr spcFirstLastPara="1" wrap="square" lIns="108000" tIns="108000" rIns="108000" bIns="45700" anchor="t" anchorCtr="0">
                <a:noAutofit/>
              </a:bodyPr>
              <a:lstStyle/>
              <a:p>
                <a:pPr marL="138113" lvl="1" indent="-128588" defTabSz="457200">
                  <a:spcAft>
                    <a:spcPts val="300"/>
                  </a:spcAft>
                  <a:buClr>
                    <a:schemeClr val="accent4"/>
                  </a:buClr>
                  <a:buSzPct val="100000"/>
                  <a:buFont typeface="Arial" panose="020B0604020202020204" pitchFamily="34" charset="0"/>
                  <a:buChar char="•"/>
                  <a:tabLst>
                    <a:tab pos="3228975" algn="l"/>
                  </a:tabLst>
                </a:pPr>
                <a:r>
                  <a:rPr lang="es-ES_tradnl" sz="1400" dirty="0">
                    <a:solidFill>
                      <a:srgbClr val="262626"/>
                    </a:solidFill>
                    <a:latin typeface="Calibri"/>
                    <a:ea typeface="+mn-ea"/>
                    <a:cs typeface="Calibri"/>
                    <a:sym typeface="Calibri"/>
                  </a:rPr>
                  <a:t>Responsable de la presentación de los datos.</a:t>
                </a:r>
              </a:p>
              <a:p>
                <a:pPr marL="138113" lvl="1" indent="-128588" defTabSz="457200">
                  <a:spcAft>
                    <a:spcPts val="300"/>
                  </a:spcAft>
                  <a:buClr>
                    <a:schemeClr val="accent4"/>
                  </a:buClr>
                  <a:buSzPct val="100000"/>
                  <a:buFont typeface="Arial" panose="020B0604020202020204" pitchFamily="34" charset="0"/>
                  <a:buChar char="•"/>
                  <a:tabLst>
                    <a:tab pos="3228975" algn="l"/>
                  </a:tabLst>
                </a:pPr>
                <a:r>
                  <a:rPr lang="es-ES_tradnl" sz="1400" b="1" dirty="0">
                    <a:solidFill>
                      <a:srgbClr val="262626"/>
                    </a:solidFill>
                    <a:latin typeface="Calibri"/>
                    <a:ea typeface="+mn-ea"/>
                    <a:cs typeface="Calibri"/>
                    <a:sym typeface="Calibri"/>
                  </a:rPr>
                  <a:t>Genera la interfaz de usuario </a:t>
                </a:r>
                <a:r>
                  <a:rPr lang="es-ES_tradnl" sz="1400" dirty="0">
                    <a:solidFill>
                      <a:srgbClr val="262626"/>
                    </a:solidFill>
                    <a:latin typeface="Calibri"/>
                    <a:ea typeface="+mn-ea"/>
                    <a:cs typeface="Calibri"/>
                    <a:sym typeface="Calibri"/>
                  </a:rPr>
                  <a:t>que se muestra al cliente.</a:t>
                </a:r>
              </a:p>
              <a:p>
                <a:pPr marL="138113" lvl="1" indent="-128588" defTabSz="457200">
                  <a:spcAft>
                    <a:spcPts val="300"/>
                  </a:spcAft>
                  <a:buClr>
                    <a:schemeClr val="accent4"/>
                  </a:buClr>
                  <a:buSzPct val="100000"/>
                  <a:buFont typeface="Arial" panose="020B0604020202020204" pitchFamily="34" charset="0"/>
                  <a:buChar char="•"/>
                  <a:tabLst>
                    <a:tab pos="3228975" algn="l"/>
                  </a:tabLst>
                </a:pPr>
                <a:r>
                  <a:rPr lang="es-ES_tradnl" sz="1400" dirty="0">
                    <a:solidFill>
                      <a:srgbClr val="262626"/>
                    </a:solidFill>
                    <a:latin typeface="Calibri"/>
                    <a:ea typeface="+mn-ea"/>
                    <a:cs typeface="Calibri"/>
                    <a:sym typeface="Calibri"/>
                  </a:rPr>
                  <a:t>En Spring MVC, las vistas pueden ser generadas mediante tecnologías como JSP, </a:t>
                </a:r>
                <a:r>
                  <a:rPr lang="es-ES_tradnl" sz="1400" dirty="0" err="1">
                    <a:solidFill>
                      <a:srgbClr val="262626"/>
                    </a:solidFill>
                    <a:latin typeface="Calibri"/>
                    <a:ea typeface="+mn-ea"/>
                    <a:cs typeface="Calibri"/>
                    <a:sym typeface="Calibri"/>
                  </a:rPr>
                  <a:t>Thymeleaf</a:t>
                </a:r>
                <a:r>
                  <a:rPr lang="es-ES_tradnl" sz="1400" dirty="0">
                    <a:solidFill>
                      <a:srgbClr val="262626"/>
                    </a:solidFill>
                    <a:latin typeface="Calibri"/>
                    <a:ea typeface="+mn-ea"/>
                    <a:cs typeface="Calibri"/>
                    <a:sym typeface="Calibri"/>
                  </a:rPr>
                  <a:t>, </a:t>
                </a:r>
                <a:r>
                  <a:rPr lang="es-ES_tradnl" sz="1400" dirty="0" err="1">
                    <a:solidFill>
                      <a:srgbClr val="262626"/>
                    </a:solidFill>
                    <a:latin typeface="Calibri"/>
                    <a:ea typeface="+mn-ea"/>
                    <a:cs typeface="Calibri"/>
                    <a:sym typeface="Calibri"/>
                  </a:rPr>
                  <a:t>FreeMarker</a:t>
                </a:r>
                <a:r>
                  <a:rPr lang="es-ES_tradnl" sz="1400" dirty="0">
                    <a:solidFill>
                      <a:srgbClr val="262626"/>
                    </a:solidFill>
                    <a:latin typeface="Calibri"/>
                    <a:ea typeface="+mn-ea"/>
                    <a:cs typeface="Calibri"/>
                    <a:sym typeface="Calibri"/>
                  </a:rPr>
                  <a:t>, etc.</a:t>
                </a:r>
              </a:p>
              <a:p>
                <a:pPr marL="138113" lvl="1" indent="-128588" defTabSz="457200">
                  <a:spcAft>
                    <a:spcPts val="300"/>
                  </a:spcAft>
                  <a:buClr>
                    <a:schemeClr val="accent4"/>
                  </a:buClr>
                  <a:buSzPct val="100000"/>
                  <a:buFont typeface="Arial" panose="020B0604020202020204" pitchFamily="34" charset="0"/>
                  <a:buChar char="•"/>
                  <a:tabLst>
                    <a:tab pos="3228975" algn="l"/>
                  </a:tabLst>
                </a:pPr>
                <a:endParaRPr lang="es-ES_tradnl" sz="1400" dirty="0">
                  <a:solidFill>
                    <a:srgbClr val="262626"/>
                  </a:solidFill>
                  <a:latin typeface="Calibri"/>
                  <a:ea typeface="+mn-ea"/>
                  <a:cs typeface="Calibri"/>
                </a:endParaRPr>
              </a:p>
            </p:txBody>
          </p:sp>
          <p:grpSp>
            <p:nvGrpSpPr>
              <p:cNvPr id="10" name="Agrupar 4">
                <a:extLst>
                  <a:ext uri="{FF2B5EF4-FFF2-40B4-BE49-F238E27FC236}">
                    <a16:creationId xmlns:a16="http://schemas.microsoft.com/office/drawing/2014/main" id="{CC5A629D-A8D2-CB2B-25C3-DB2A0DB6806C}"/>
                  </a:ext>
                </a:extLst>
              </p:cNvPr>
              <p:cNvGrpSpPr/>
              <p:nvPr/>
            </p:nvGrpSpPr>
            <p:grpSpPr>
              <a:xfrm>
                <a:off x="297001" y="1592237"/>
                <a:ext cx="459474" cy="403823"/>
                <a:chOff x="5892512" y="2805541"/>
                <a:chExt cx="459474" cy="403823"/>
              </a:xfrm>
            </p:grpSpPr>
            <p:sp>
              <p:nvSpPr>
                <p:cNvPr id="11" name="Elipse 10">
                  <a:extLst>
                    <a:ext uri="{FF2B5EF4-FFF2-40B4-BE49-F238E27FC236}">
                      <a16:creationId xmlns:a16="http://schemas.microsoft.com/office/drawing/2014/main" id="{62A5283D-43FE-FEF3-7448-DAAFD3A7B25C}"/>
                    </a:ext>
                  </a:extLst>
                </p:cNvPr>
                <p:cNvSpPr/>
                <p:nvPr/>
              </p:nvSpPr>
              <p:spPr>
                <a:xfrm>
                  <a:off x="5956277" y="2824919"/>
                  <a:ext cx="395709" cy="376075"/>
                </a:xfrm>
                <a:prstGeom prst="ellipse">
                  <a:avLst/>
                </a:prstGeom>
                <a:solidFill>
                  <a:srgbClr val="C65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2" name="Elipse 11">
                  <a:extLst>
                    <a:ext uri="{FF2B5EF4-FFF2-40B4-BE49-F238E27FC236}">
                      <a16:creationId xmlns:a16="http://schemas.microsoft.com/office/drawing/2014/main" id="{1872A20C-08B0-AF7F-B909-1A4D294F4B87}"/>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3" name="Triángulo 12">
                  <a:extLst>
                    <a:ext uri="{FF2B5EF4-FFF2-40B4-BE49-F238E27FC236}">
                      <a16:creationId xmlns:a16="http://schemas.microsoft.com/office/drawing/2014/main" id="{559722BB-C501-EE2B-1A8E-FE70DFCA50F1}"/>
                    </a:ext>
                  </a:extLst>
                </p:cNvPr>
                <p:cNvSpPr/>
                <p:nvPr/>
              </p:nvSpPr>
              <p:spPr>
                <a:xfrm rot="5400000">
                  <a:off x="6076285" y="2946262"/>
                  <a:ext cx="186870" cy="122381"/>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5"/>
          <p:cNvSpPr txBox="1"/>
          <p:nvPr/>
        </p:nvSpPr>
        <p:spPr>
          <a:xfrm>
            <a:off x="509343" y="921277"/>
            <a:ext cx="7458952" cy="246221"/>
          </a:xfrm>
          <a:prstGeom prst="rect">
            <a:avLst/>
          </a:prstGeom>
          <a:noFill/>
          <a:ln>
            <a:noFill/>
          </a:ln>
        </p:spPr>
        <p:txBody>
          <a:bodyPr spcFirstLastPara="1" wrap="square" lIns="0" tIns="0" rIns="0" bIns="0" anchor="t" anchorCtr="0">
            <a:spAutoFit/>
          </a:bodyPr>
          <a:lstStyle/>
          <a:p>
            <a:pPr marR="0" lvl="0" indent="0" algn="l" rtl="0">
              <a:spcBef>
                <a:spcPts val="0"/>
              </a:spcBef>
              <a:spcAft>
                <a:spcPts val="0"/>
              </a:spcAft>
              <a:buNone/>
            </a:pPr>
            <a:r>
              <a:rPr lang="es-ES" sz="1600" b="1" dirty="0">
                <a:solidFill>
                  <a:srgbClr val="262626"/>
                </a:solidFill>
                <a:latin typeface="Calibri"/>
                <a:ea typeface="Calibri"/>
                <a:cs typeface="Calibri"/>
                <a:sym typeface="Calibri"/>
              </a:rPr>
              <a:t>COMPONENTES CLAVES:</a:t>
            </a:r>
            <a:endParaRPr sz="1600" b="1" dirty="0">
              <a:solidFill>
                <a:srgbClr val="262626"/>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8B2E1181-E119-B3D6-0745-6E7EB20CB841}"/>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APLICACIONES WEB CON SPRING MVC</a:t>
            </a:r>
          </a:p>
        </p:txBody>
      </p:sp>
      <p:grpSp>
        <p:nvGrpSpPr>
          <p:cNvPr id="4" name="Grupo 3">
            <a:extLst>
              <a:ext uri="{FF2B5EF4-FFF2-40B4-BE49-F238E27FC236}">
                <a16:creationId xmlns:a16="http://schemas.microsoft.com/office/drawing/2014/main" id="{04E6721B-B3C6-D7CC-1B43-16B08CE44106}"/>
              </a:ext>
            </a:extLst>
          </p:cNvPr>
          <p:cNvGrpSpPr/>
          <p:nvPr/>
        </p:nvGrpSpPr>
        <p:grpSpPr>
          <a:xfrm>
            <a:off x="297001" y="1543608"/>
            <a:ext cx="8377572" cy="3107905"/>
            <a:chOff x="297001" y="1543608"/>
            <a:chExt cx="8377572" cy="3107905"/>
          </a:xfrm>
        </p:grpSpPr>
        <p:grpSp>
          <p:nvGrpSpPr>
            <p:cNvPr id="5" name="Grupo 4">
              <a:extLst>
                <a:ext uri="{FF2B5EF4-FFF2-40B4-BE49-F238E27FC236}">
                  <a16:creationId xmlns:a16="http://schemas.microsoft.com/office/drawing/2014/main" id="{707CCDE9-AE7F-B257-1B07-D743D4293017}"/>
                </a:ext>
              </a:extLst>
            </p:cNvPr>
            <p:cNvGrpSpPr/>
            <p:nvPr/>
          </p:nvGrpSpPr>
          <p:grpSpPr>
            <a:xfrm>
              <a:off x="5862396" y="1543608"/>
              <a:ext cx="2812177" cy="3107905"/>
              <a:chOff x="3681756" y="1543608"/>
              <a:chExt cx="2812177" cy="3107905"/>
            </a:xfrm>
          </p:grpSpPr>
          <p:sp>
            <p:nvSpPr>
              <p:cNvPr id="20" name="Google Shape;333;p23">
                <a:extLst>
                  <a:ext uri="{FF2B5EF4-FFF2-40B4-BE49-F238E27FC236}">
                    <a16:creationId xmlns:a16="http://schemas.microsoft.com/office/drawing/2014/main" id="{CF801218-F4E8-2E28-ADE1-8FAF51A4F9FD}"/>
                  </a:ext>
                </a:extLst>
              </p:cNvPr>
              <p:cNvSpPr/>
              <p:nvPr/>
            </p:nvSpPr>
            <p:spPr>
              <a:xfrm>
                <a:off x="3897522" y="1543608"/>
                <a:ext cx="2596411" cy="501005"/>
              </a:xfrm>
              <a:prstGeom prst="roundRect">
                <a:avLst>
                  <a:gd name="adj" fmla="val 18326"/>
                </a:avLst>
              </a:prstGeom>
              <a:solidFill>
                <a:srgbClr val="00B1C2"/>
              </a:solidFill>
              <a:ln>
                <a:noFill/>
              </a:ln>
            </p:spPr>
            <p:txBody>
              <a:bodyPr spcFirstLastPara="1" wrap="square" lIns="91425" tIns="45700" rIns="91425" bIns="45700" anchor="ctr" anchorCtr="0">
                <a:noAutofit/>
              </a:bodyPr>
              <a:lstStyle/>
              <a:p>
                <a:pPr marR="0" lvl="0" algn="ctr" rtl="0">
                  <a:spcBef>
                    <a:spcPts val="0"/>
                  </a:spcBef>
                  <a:spcAft>
                    <a:spcPts val="0"/>
                  </a:spcAft>
                </a:pPr>
                <a:r>
                  <a:rPr lang="es-ES" sz="1500" b="1" dirty="0" err="1">
                    <a:solidFill>
                      <a:schemeClr val="bg1"/>
                    </a:solidFill>
                    <a:latin typeface="Calibri" panose="020F0502020204030204" pitchFamily="34" charset="0"/>
                    <a:cs typeface="Calibri" panose="020F0502020204030204" pitchFamily="34" charset="0"/>
                    <a:sym typeface="Arial"/>
                  </a:rPr>
                  <a:t>ViewResolvers</a:t>
                </a:r>
                <a:r>
                  <a:rPr lang="es-ES" sz="1500" b="1" dirty="0">
                    <a:solidFill>
                      <a:schemeClr val="bg1"/>
                    </a:solidFill>
                    <a:latin typeface="Calibri" panose="020F0502020204030204" pitchFamily="34" charset="0"/>
                    <a:cs typeface="Calibri" panose="020F0502020204030204" pitchFamily="34" charset="0"/>
                    <a:sym typeface="Arial"/>
                  </a:rPr>
                  <a:t>:</a:t>
                </a:r>
                <a:endParaRPr lang="es-ES" sz="1500" dirty="0">
                  <a:solidFill>
                    <a:schemeClr val="bg1"/>
                  </a:solidFill>
                  <a:latin typeface="Calibri" panose="020F0502020204030204" pitchFamily="34" charset="0"/>
                  <a:cs typeface="Calibri" panose="020F0502020204030204" pitchFamily="34" charset="0"/>
                </a:endParaRPr>
              </a:p>
            </p:txBody>
          </p:sp>
          <p:sp>
            <p:nvSpPr>
              <p:cNvPr id="21" name="Google Shape;335;p23">
                <a:extLst>
                  <a:ext uri="{FF2B5EF4-FFF2-40B4-BE49-F238E27FC236}">
                    <a16:creationId xmlns:a16="http://schemas.microsoft.com/office/drawing/2014/main" id="{51AED20C-646A-A082-DE4F-4575F3079EEC}"/>
                  </a:ext>
                </a:extLst>
              </p:cNvPr>
              <p:cNvSpPr/>
              <p:nvPr/>
            </p:nvSpPr>
            <p:spPr>
              <a:xfrm>
                <a:off x="3897522" y="2118159"/>
                <a:ext cx="2596411" cy="2533354"/>
              </a:xfrm>
              <a:prstGeom prst="roundRect">
                <a:avLst>
                  <a:gd name="adj" fmla="val 2748"/>
                </a:avLst>
              </a:prstGeom>
              <a:solidFill>
                <a:srgbClr val="D1EFF4"/>
              </a:solidFill>
              <a:ln>
                <a:noFill/>
              </a:ln>
            </p:spPr>
            <p:txBody>
              <a:bodyPr spcFirstLastPara="1" wrap="square" lIns="108000" tIns="108000" rIns="108000" bIns="45700" anchor="t" anchorCtr="0">
                <a:noAutofit/>
              </a:bodyPr>
              <a:lstStyle/>
              <a:p>
                <a:pPr marL="222250" lvl="1" indent="-134938">
                  <a:spcAft>
                    <a:spcPts val="300"/>
                  </a:spcAft>
                  <a:buClr>
                    <a:srgbClr val="00B1C2"/>
                  </a:buClr>
                  <a:buSzPct val="100000"/>
                  <a:buFont typeface="Arial" panose="020B0604020202020204" pitchFamily="34" charset="0"/>
                  <a:buChar char="•"/>
                </a:pPr>
                <a:r>
                  <a:rPr lang="es-ES_tradnl" sz="1400" dirty="0">
                    <a:latin typeface="Calibri" panose="020F0502020204030204" pitchFamily="34" charset="0"/>
                    <a:ea typeface="+mj-lt"/>
                    <a:cs typeface="Calibri" panose="020F0502020204030204" pitchFamily="34" charset="0"/>
                    <a:sym typeface="Calibri"/>
                  </a:rPr>
                  <a:t>Determinan qué vista se debe renderizar en función del nombre de la vista devuelto por el controlador.</a:t>
                </a:r>
              </a:p>
              <a:p>
                <a:pPr marL="222250" lvl="1" indent="-134938">
                  <a:spcAft>
                    <a:spcPts val="300"/>
                  </a:spcAft>
                  <a:buClr>
                    <a:srgbClr val="00B1C2"/>
                  </a:buClr>
                  <a:buSzPct val="100000"/>
                  <a:buFont typeface="Arial" panose="020B0604020202020204" pitchFamily="34" charset="0"/>
                  <a:buChar char="•"/>
                </a:pPr>
                <a:r>
                  <a:rPr lang="es-ES_tradnl" sz="1400" dirty="0">
                    <a:latin typeface="Calibri" panose="020F0502020204030204" pitchFamily="34" charset="0"/>
                    <a:ea typeface="+mj-lt"/>
                    <a:cs typeface="Calibri" panose="020F0502020204030204" pitchFamily="34" charset="0"/>
                    <a:sym typeface="Calibri"/>
                  </a:rPr>
                  <a:t>Configuraciones comunes incluyen </a:t>
                </a:r>
                <a:r>
                  <a:rPr lang="es-ES_tradnl" sz="1400" dirty="0" err="1">
                    <a:latin typeface="Calibri" panose="020F0502020204030204" pitchFamily="34" charset="0"/>
                    <a:ea typeface="+mj-lt"/>
                    <a:cs typeface="Calibri" panose="020F0502020204030204" pitchFamily="34" charset="0"/>
                    <a:sym typeface="Calibri"/>
                  </a:rPr>
                  <a:t>InternalResourceViewResolver</a:t>
                </a:r>
                <a:r>
                  <a:rPr lang="es-ES_tradnl" sz="1400" dirty="0">
                    <a:latin typeface="Calibri" panose="020F0502020204030204" pitchFamily="34" charset="0"/>
                    <a:ea typeface="+mj-lt"/>
                    <a:cs typeface="Calibri" panose="020F0502020204030204" pitchFamily="34" charset="0"/>
                    <a:sym typeface="Calibri"/>
                  </a:rPr>
                  <a:t> para JSP y </a:t>
                </a:r>
                <a:r>
                  <a:rPr lang="es-ES_tradnl" sz="1400" dirty="0" err="1">
                    <a:latin typeface="Calibri" panose="020F0502020204030204" pitchFamily="34" charset="0"/>
                    <a:ea typeface="+mj-lt"/>
                    <a:cs typeface="Calibri" panose="020F0502020204030204" pitchFamily="34" charset="0"/>
                    <a:sym typeface="Calibri"/>
                  </a:rPr>
                  <a:t>ThymeleafViewResolver</a:t>
                </a:r>
                <a:r>
                  <a:rPr lang="es-ES_tradnl" sz="1400" dirty="0">
                    <a:latin typeface="Calibri" panose="020F0502020204030204" pitchFamily="34" charset="0"/>
                    <a:ea typeface="+mj-lt"/>
                    <a:cs typeface="Calibri" panose="020F0502020204030204" pitchFamily="34" charset="0"/>
                    <a:sym typeface="Calibri"/>
                  </a:rPr>
                  <a:t> para </a:t>
                </a:r>
                <a:r>
                  <a:rPr lang="es-ES_tradnl" sz="1400" dirty="0" err="1">
                    <a:latin typeface="Calibri" panose="020F0502020204030204" pitchFamily="34" charset="0"/>
                    <a:ea typeface="+mj-lt"/>
                    <a:cs typeface="Calibri" panose="020F0502020204030204" pitchFamily="34" charset="0"/>
                    <a:sym typeface="Calibri"/>
                  </a:rPr>
                  <a:t>Thymeleaf</a:t>
                </a:r>
                <a:r>
                  <a:rPr lang="es-ES_tradnl" sz="1400" dirty="0">
                    <a:latin typeface="Calibri" panose="020F0502020204030204" pitchFamily="34" charset="0"/>
                    <a:ea typeface="+mj-lt"/>
                    <a:cs typeface="Calibri" panose="020F0502020204030204" pitchFamily="34" charset="0"/>
                    <a:sym typeface="Calibri"/>
                  </a:rPr>
                  <a:t>.</a:t>
                </a:r>
              </a:p>
              <a:p>
                <a:pPr marL="222250" lvl="1" indent="-134938">
                  <a:spcAft>
                    <a:spcPts val="300"/>
                  </a:spcAft>
                  <a:buClr>
                    <a:srgbClr val="00B1C2"/>
                  </a:buClr>
                  <a:buSzPct val="100000"/>
                  <a:buFont typeface="Arial" panose="020B0604020202020204" pitchFamily="34" charset="0"/>
                  <a:buChar char="•"/>
                </a:pPr>
                <a:endParaRPr lang="es-ES_tradnl" sz="1400" dirty="0">
                  <a:latin typeface="Calibri" panose="020F0502020204030204" pitchFamily="34" charset="0"/>
                  <a:ea typeface="+mj-lt"/>
                  <a:cs typeface="Calibri" panose="020F0502020204030204" pitchFamily="34" charset="0"/>
                  <a:sym typeface="Calibri"/>
                </a:endParaRPr>
              </a:p>
            </p:txBody>
          </p:sp>
          <p:grpSp>
            <p:nvGrpSpPr>
              <p:cNvPr id="22" name="Agrupar 9">
                <a:extLst>
                  <a:ext uri="{FF2B5EF4-FFF2-40B4-BE49-F238E27FC236}">
                    <a16:creationId xmlns:a16="http://schemas.microsoft.com/office/drawing/2014/main" id="{FE78E5B5-6B41-89F7-24AA-2C3E4223E545}"/>
                  </a:ext>
                </a:extLst>
              </p:cNvPr>
              <p:cNvGrpSpPr/>
              <p:nvPr/>
            </p:nvGrpSpPr>
            <p:grpSpPr>
              <a:xfrm>
                <a:off x="3681756" y="1592237"/>
                <a:ext cx="459474" cy="403823"/>
                <a:chOff x="5892512" y="2805541"/>
                <a:chExt cx="459474" cy="403823"/>
              </a:xfrm>
            </p:grpSpPr>
            <p:sp>
              <p:nvSpPr>
                <p:cNvPr id="23" name="Elipse 22">
                  <a:extLst>
                    <a:ext uri="{FF2B5EF4-FFF2-40B4-BE49-F238E27FC236}">
                      <a16:creationId xmlns:a16="http://schemas.microsoft.com/office/drawing/2014/main" id="{30B4B125-6771-B594-D569-C1738B0B5DFE}"/>
                    </a:ext>
                  </a:extLst>
                </p:cNvPr>
                <p:cNvSpPr/>
                <p:nvPr/>
              </p:nvSpPr>
              <p:spPr>
                <a:xfrm>
                  <a:off x="5956277" y="2824919"/>
                  <a:ext cx="395709" cy="376075"/>
                </a:xfrm>
                <a:prstGeom prst="ellipse">
                  <a:avLst/>
                </a:prstGeom>
                <a:solidFill>
                  <a:srgbClr val="0B83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4" name="Elipse 23">
                  <a:extLst>
                    <a:ext uri="{FF2B5EF4-FFF2-40B4-BE49-F238E27FC236}">
                      <a16:creationId xmlns:a16="http://schemas.microsoft.com/office/drawing/2014/main" id="{82F340AF-5312-1B31-D3A2-FD72C2660CD0}"/>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5" name="Triángulo 24">
                  <a:extLst>
                    <a:ext uri="{FF2B5EF4-FFF2-40B4-BE49-F238E27FC236}">
                      <a16:creationId xmlns:a16="http://schemas.microsoft.com/office/drawing/2014/main" id="{CD2D6598-389A-9CE4-220C-CD6A89D62B26}"/>
                    </a:ext>
                  </a:extLst>
                </p:cNvPr>
                <p:cNvSpPr/>
                <p:nvPr/>
              </p:nvSpPr>
              <p:spPr>
                <a:xfrm rot="5400000">
                  <a:off x="6076285" y="2946262"/>
                  <a:ext cx="186870" cy="12238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6" name="Grupo 5">
              <a:extLst>
                <a:ext uri="{FF2B5EF4-FFF2-40B4-BE49-F238E27FC236}">
                  <a16:creationId xmlns:a16="http://schemas.microsoft.com/office/drawing/2014/main" id="{30B677E6-11AA-4581-ED49-AD3A4250BB0D}"/>
                </a:ext>
              </a:extLst>
            </p:cNvPr>
            <p:cNvGrpSpPr/>
            <p:nvPr/>
          </p:nvGrpSpPr>
          <p:grpSpPr>
            <a:xfrm>
              <a:off x="3079273" y="1543608"/>
              <a:ext cx="2812177" cy="3107905"/>
              <a:chOff x="3681756" y="1543608"/>
              <a:chExt cx="2812177" cy="3107905"/>
            </a:xfrm>
          </p:grpSpPr>
          <p:sp>
            <p:nvSpPr>
              <p:cNvPr id="14" name="Google Shape;333;p23">
                <a:extLst>
                  <a:ext uri="{FF2B5EF4-FFF2-40B4-BE49-F238E27FC236}">
                    <a16:creationId xmlns:a16="http://schemas.microsoft.com/office/drawing/2014/main" id="{3BAC211D-7554-5F38-1087-705B8274558F}"/>
                  </a:ext>
                </a:extLst>
              </p:cNvPr>
              <p:cNvSpPr/>
              <p:nvPr/>
            </p:nvSpPr>
            <p:spPr>
              <a:xfrm>
                <a:off x="3897522" y="1543608"/>
                <a:ext cx="2596411" cy="501005"/>
              </a:xfrm>
              <a:prstGeom prst="roundRect">
                <a:avLst>
                  <a:gd name="adj" fmla="val 18326"/>
                </a:avLst>
              </a:prstGeom>
              <a:solidFill>
                <a:srgbClr val="00B1C2"/>
              </a:solidFill>
              <a:ln>
                <a:noFill/>
              </a:ln>
            </p:spPr>
            <p:txBody>
              <a:bodyPr spcFirstLastPara="1" wrap="square" lIns="91425" tIns="45700" rIns="91425" bIns="45700" anchor="ctr" anchorCtr="0">
                <a:noAutofit/>
              </a:bodyPr>
              <a:lstStyle/>
              <a:p>
                <a:pPr marR="0" lvl="0" algn="ctr" rtl="0">
                  <a:spcBef>
                    <a:spcPts val="0"/>
                  </a:spcBef>
                  <a:spcAft>
                    <a:spcPts val="0"/>
                  </a:spcAft>
                </a:pPr>
                <a:r>
                  <a:rPr lang="es-ES" sz="1500" b="1" dirty="0" err="1">
                    <a:solidFill>
                      <a:schemeClr val="bg1"/>
                    </a:solidFill>
                    <a:latin typeface="Calibri" panose="020F0502020204030204" pitchFamily="34" charset="0"/>
                    <a:cs typeface="Calibri" panose="020F0502020204030204" pitchFamily="34" charset="0"/>
                    <a:sym typeface="Arial"/>
                  </a:rPr>
                  <a:t>Handlers</a:t>
                </a:r>
                <a:r>
                  <a:rPr lang="es-ES" sz="1500" b="1" dirty="0">
                    <a:solidFill>
                      <a:schemeClr val="bg1"/>
                    </a:solidFill>
                    <a:latin typeface="Calibri" panose="020F0502020204030204" pitchFamily="34" charset="0"/>
                    <a:cs typeface="Calibri" panose="020F0502020204030204" pitchFamily="34" charset="0"/>
                    <a:sym typeface="Arial"/>
                  </a:rPr>
                  <a:t> y </a:t>
                </a:r>
                <a:r>
                  <a:rPr lang="es-ES" sz="1500" b="1" dirty="0" err="1">
                    <a:solidFill>
                      <a:schemeClr val="bg1"/>
                    </a:solidFill>
                    <a:latin typeface="Calibri" panose="020F0502020204030204" pitchFamily="34" charset="0"/>
                    <a:cs typeface="Calibri" panose="020F0502020204030204" pitchFamily="34" charset="0"/>
                    <a:sym typeface="Arial"/>
                  </a:rPr>
                  <a:t>Controllers</a:t>
                </a:r>
                <a:r>
                  <a:rPr lang="es-ES" sz="1500" b="1" dirty="0">
                    <a:solidFill>
                      <a:schemeClr val="bg1"/>
                    </a:solidFill>
                    <a:latin typeface="Calibri" panose="020F0502020204030204" pitchFamily="34" charset="0"/>
                    <a:cs typeface="Calibri" panose="020F0502020204030204" pitchFamily="34" charset="0"/>
                    <a:sym typeface="Arial"/>
                  </a:rPr>
                  <a:t>:</a:t>
                </a:r>
                <a:endParaRPr lang="es-ES" sz="1500" dirty="0">
                  <a:solidFill>
                    <a:schemeClr val="bg1"/>
                  </a:solidFill>
                  <a:latin typeface="Calibri" panose="020F0502020204030204" pitchFamily="34" charset="0"/>
                  <a:cs typeface="Calibri" panose="020F0502020204030204" pitchFamily="34" charset="0"/>
                  <a:sym typeface="Arial"/>
                </a:endParaRPr>
              </a:p>
            </p:txBody>
          </p:sp>
          <p:sp>
            <p:nvSpPr>
              <p:cNvPr id="15" name="Google Shape;335;p23">
                <a:extLst>
                  <a:ext uri="{FF2B5EF4-FFF2-40B4-BE49-F238E27FC236}">
                    <a16:creationId xmlns:a16="http://schemas.microsoft.com/office/drawing/2014/main" id="{E31DC38C-9B29-C656-E6A6-A86012E3015B}"/>
                  </a:ext>
                </a:extLst>
              </p:cNvPr>
              <p:cNvSpPr/>
              <p:nvPr/>
            </p:nvSpPr>
            <p:spPr>
              <a:xfrm>
                <a:off x="3897522" y="2118159"/>
                <a:ext cx="2596411" cy="2533354"/>
              </a:xfrm>
              <a:prstGeom prst="roundRect">
                <a:avLst>
                  <a:gd name="adj" fmla="val 2748"/>
                </a:avLst>
              </a:prstGeom>
              <a:solidFill>
                <a:srgbClr val="D1EFF4"/>
              </a:solidFill>
              <a:ln>
                <a:noFill/>
              </a:ln>
            </p:spPr>
            <p:txBody>
              <a:bodyPr spcFirstLastPara="1" wrap="square" lIns="108000" tIns="108000" rIns="108000" bIns="45700" anchor="t" anchorCtr="0">
                <a:noAutofit/>
              </a:bodyPr>
              <a:lstStyle/>
              <a:p>
                <a:pPr marL="222250" lvl="1" indent="-134938">
                  <a:spcAft>
                    <a:spcPts val="300"/>
                  </a:spcAft>
                  <a:buClr>
                    <a:srgbClr val="00B1C2"/>
                  </a:buClr>
                  <a:buSzPct val="100000"/>
                  <a:buFont typeface="Arial" panose="020B0604020202020204" pitchFamily="34" charset="0"/>
                  <a:buChar char="•"/>
                </a:pPr>
                <a:r>
                  <a:rPr lang="es-ES_tradnl" sz="1400" dirty="0" err="1">
                    <a:latin typeface="Calibri" panose="020F0502020204030204" pitchFamily="34" charset="0"/>
                    <a:ea typeface="+mj-lt"/>
                    <a:cs typeface="Calibri" panose="020F0502020204030204" pitchFamily="34" charset="0"/>
                    <a:sym typeface="Calibri"/>
                  </a:rPr>
                  <a:t>Handlers</a:t>
                </a:r>
                <a:r>
                  <a:rPr lang="es-ES_tradnl" sz="1400" dirty="0">
                    <a:latin typeface="Calibri" panose="020F0502020204030204" pitchFamily="34" charset="0"/>
                    <a:ea typeface="+mj-lt"/>
                    <a:cs typeface="Calibri" panose="020F0502020204030204" pitchFamily="34" charset="0"/>
                    <a:sym typeface="Calibri"/>
                  </a:rPr>
                  <a:t> son los componentes que manejan las solicitudes específicas.</a:t>
                </a:r>
              </a:p>
              <a:p>
                <a:pPr marL="222250" lvl="1" indent="-134938">
                  <a:spcAft>
                    <a:spcPts val="300"/>
                  </a:spcAft>
                  <a:buClr>
                    <a:srgbClr val="00B1C2"/>
                  </a:buClr>
                  <a:buSzPct val="100000"/>
                  <a:buFont typeface="Arial" panose="020B0604020202020204" pitchFamily="34" charset="0"/>
                  <a:buChar char="•"/>
                </a:pPr>
                <a:r>
                  <a:rPr lang="es-ES_tradnl" sz="1400" dirty="0" err="1">
                    <a:latin typeface="Calibri" panose="020F0502020204030204" pitchFamily="34" charset="0"/>
                    <a:ea typeface="+mj-lt"/>
                    <a:cs typeface="Calibri" panose="020F0502020204030204" pitchFamily="34" charset="0"/>
                    <a:sym typeface="Calibri"/>
                  </a:rPr>
                  <a:t>Controllers</a:t>
                </a:r>
                <a:r>
                  <a:rPr lang="es-ES_tradnl" sz="1400" dirty="0">
                    <a:latin typeface="Calibri" panose="020F0502020204030204" pitchFamily="34" charset="0"/>
                    <a:ea typeface="+mj-lt"/>
                    <a:cs typeface="Calibri" panose="020F0502020204030204" pitchFamily="34" charset="0"/>
                    <a:sym typeface="Calibri"/>
                  </a:rPr>
                  <a:t> son una implementación de </a:t>
                </a:r>
                <a:r>
                  <a:rPr lang="es-ES_tradnl" sz="1400" dirty="0" err="1">
                    <a:latin typeface="Calibri" panose="020F0502020204030204" pitchFamily="34" charset="0"/>
                    <a:ea typeface="+mj-lt"/>
                    <a:cs typeface="Calibri" panose="020F0502020204030204" pitchFamily="34" charset="0"/>
                    <a:sym typeface="Calibri"/>
                  </a:rPr>
                  <a:t>Handlers</a:t>
                </a:r>
                <a:r>
                  <a:rPr lang="es-ES_tradnl" sz="1400" dirty="0">
                    <a:latin typeface="Calibri" panose="020F0502020204030204" pitchFamily="34" charset="0"/>
                    <a:ea typeface="+mj-lt"/>
                    <a:cs typeface="Calibri" panose="020F0502020204030204" pitchFamily="34" charset="0"/>
                    <a:sym typeface="Calibri"/>
                  </a:rPr>
                  <a:t> que gestionan la lógica de negocio y devuelven una </a:t>
                </a:r>
                <a:r>
                  <a:rPr lang="es-ES_tradnl" sz="1400" dirty="0" err="1">
                    <a:latin typeface="Calibri" panose="020F0502020204030204" pitchFamily="34" charset="0"/>
                    <a:ea typeface="+mj-lt"/>
                    <a:cs typeface="Calibri" panose="020F0502020204030204" pitchFamily="34" charset="0"/>
                    <a:sym typeface="Calibri"/>
                  </a:rPr>
                  <a:t>ModelAndView</a:t>
                </a:r>
                <a:r>
                  <a:rPr lang="es-ES_tradnl" sz="1400" dirty="0">
                    <a:latin typeface="Calibri" panose="020F0502020204030204" pitchFamily="34" charset="0"/>
                    <a:ea typeface="+mj-lt"/>
                    <a:cs typeface="Calibri" panose="020F0502020204030204" pitchFamily="34" charset="0"/>
                    <a:sym typeface="Calibri"/>
                  </a:rPr>
                  <a:t>.</a:t>
                </a:r>
              </a:p>
              <a:p>
                <a:pPr marL="222250" lvl="1" indent="-134938">
                  <a:spcAft>
                    <a:spcPts val="300"/>
                  </a:spcAft>
                  <a:buClr>
                    <a:srgbClr val="00B1C2"/>
                  </a:buClr>
                  <a:buSzPct val="100000"/>
                  <a:buFont typeface="Arial" panose="020B0604020202020204" pitchFamily="34" charset="0"/>
                  <a:buChar char="•"/>
                </a:pPr>
                <a:endParaRPr lang="es-ES_tradnl" sz="1400" dirty="0">
                  <a:latin typeface="Calibri" panose="020F0502020204030204" pitchFamily="34" charset="0"/>
                  <a:ea typeface="+mj-lt"/>
                  <a:cs typeface="Calibri" panose="020F0502020204030204" pitchFamily="34" charset="0"/>
                  <a:sym typeface="Calibri"/>
                </a:endParaRPr>
              </a:p>
            </p:txBody>
          </p:sp>
          <p:grpSp>
            <p:nvGrpSpPr>
              <p:cNvPr id="16" name="Agrupar 9">
                <a:extLst>
                  <a:ext uri="{FF2B5EF4-FFF2-40B4-BE49-F238E27FC236}">
                    <a16:creationId xmlns:a16="http://schemas.microsoft.com/office/drawing/2014/main" id="{5CD47C2B-EEDF-0B9E-5C47-CED4593D7327}"/>
                  </a:ext>
                </a:extLst>
              </p:cNvPr>
              <p:cNvGrpSpPr/>
              <p:nvPr/>
            </p:nvGrpSpPr>
            <p:grpSpPr>
              <a:xfrm>
                <a:off x="3681756" y="1592237"/>
                <a:ext cx="459474" cy="403823"/>
                <a:chOff x="5892512" y="2805541"/>
                <a:chExt cx="459474" cy="403823"/>
              </a:xfrm>
            </p:grpSpPr>
            <p:sp>
              <p:nvSpPr>
                <p:cNvPr id="17" name="Elipse 16">
                  <a:extLst>
                    <a:ext uri="{FF2B5EF4-FFF2-40B4-BE49-F238E27FC236}">
                      <a16:creationId xmlns:a16="http://schemas.microsoft.com/office/drawing/2014/main" id="{E590E00C-11B9-8131-8FF5-2A597E04C608}"/>
                    </a:ext>
                  </a:extLst>
                </p:cNvPr>
                <p:cNvSpPr/>
                <p:nvPr/>
              </p:nvSpPr>
              <p:spPr>
                <a:xfrm>
                  <a:off x="5956277" y="2824919"/>
                  <a:ext cx="395709" cy="376075"/>
                </a:xfrm>
                <a:prstGeom prst="ellipse">
                  <a:avLst/>
                </a:prstGeom>
                <a:solidFill>
                  <a:srgbClr val="0B83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8" name="Elipse 17">
                  <a:extLst>
                    <a:ext uri="{FF2B5EF4-FFF2-40B4-BE49-F238E27FC236}">
                      <a16:creationId xmlns:a16="http://schemas.microsoft.com/office/drawing/2014/main" id="{373177EF-5E6E-B1FB-CCD8-D8620C316AAC}"/>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9" name="Triángulo 18">
                  <a:extLst>
                    <a:ext uri="{FF2B5EF4-FFF2-40B4-BE49-F238E27FC236}">
                      <a16:creationId xmlns:a16="http://schemas.microsoft.com/office/drawing/2014/main" id="{0507B8AB-5CAF-EC51-74B1-E1CCB1A8EB15}"/>
                    </a:ext>
                  </a:extLst>
                </p:cNvPr>
                <p:cNvSpPr/>
                <p:nvPr/>
              </p:nvSpPr>
              <p:spPr>
                <a:xfrm rot="5400000">
                  <a:off x="6076285" y="2946262"/>
                  <a:ext cx="186870" cy="12238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7" name="Grupo 6">
              <a:extLst>
                <a:ext uri="{FF2B5EF4-FFF2-40B4-BE49-F238E27FC236}">
                  <a16:creationId xmlns:a16="http://schemas.microsoft.com/office/drawing/2014/main" id="{FBB52FD4-1E70-F4C9-406C-BD145DE621B0}"/>
                </a:ext>
              </a:extLst>
            </p:cNvPr>
            <p:cNvGrpSpPr/>
            <p:nvPr/>
          </p:nvGrpSpPr>
          <p:grpSpPr>
            <a:xfrm>
              <a:off x="297001" y="1543608"/>
              <a:ext cx="2811326" cy="3107905"/>
              <a:chOff x="297001" y="1543608"/>
              <a:chExt cx="2811326" cy="3107905"/>
            </a:xfrm>
          </p:grpSpPr>
          <p:sp>
            <p:nvSpPr>
              <p:cNvPr id="8" name="Google Shape;332;p23">
                <a:extLst>
                  <a:ext uri="{FF2B5EF4-FFF2-40B4-BE49-F238E27FC236}">
                    <a16:creationId xmlns:a16="http://schemas.microsoft.com/office/drawing/2014/main" id="{78DB56C9-54D1-418C-0ED1-22AF79CC46ED}"/>
                  </a:ext>
                </a:extLst>
              </p:cNvPr>
              <p:cNvSpPr/>
              <p:nvPr/>
            </p:nvSpPr>
            <p:spPr>
              <a:xfrm>
                <a:off x="511916" y="1543608"/>
                <a:ext cx="2596411" cy="501005"/>
              </a:xfrm>
              <a:prstGeom prst="roundRect">
                <a:avLst>
                  <a:gd name="adj" fmla="val 18326"/>
                </a:avLst>
              </a:prstGeom>
              <a:solidFill>
                <a:schemeClr val="accent5"/>
              </a:solidFill>
              <a:ln>
                <a:noFill/>
              </a:ln>
            </p:spPr>
            <p:txBody>
              <a:bodyPr spcFirstLastPara="1" wrap="square" lIns="91425" tIns="45700" rIns="91425" bIns="45700" anchor="ctr" anchorCtr="0">
                <a:noAutofit/>
              </a:bodyPr>
              <a:lstStyle/>
              <a:p>
                <a:pPr marR="0" lvl="0" algn="ctr" rtl="0">
                  <a:spcBef>
                    <a:spcPts val="0"/>
                  </a:spcBef>
                  <a:spcAft>
                    <a:spcPts val="0"/>
                  </a:spcAft>
                </a:pPr>
                <a:r>
                  <a:rPr lang="es-ES" sz="1500" b="1" dirty="0" err="1">
                    <a:solidFill>
                      <a:schemeClr val="bg1"/>
                    </a:solidFill>
                    <a:latin typeface="Calibri" panose="020F0502020204030204" pitchFamily="34" charset="0"/>
                    <a:cs typeface="Calibri" panose="020F0502020204030204" pitchFamily="34" charset="0"/>
                    <a:sym typeface="Arial"/>
                  </a:rPr>
                  <a:t>DispatcherServlet</a:t>
                </a:r>
                <a:r>
                  <a:rPr lang="es-ES" sz="1500" b="1" dirty="0">
                    <a:solidFill>
                      <a:schemeClr val="bg1"/>
                    </a:solidFill>
                    <a:latin typeface="Calibri" panose="020F0502020204030204" pitchFamily="34" charset="0"/>
                    <a:cs typeface="Calibri" panose="020F0502020204030204" pitchFamily="34" charset="0"/>
                    <a:sym typeface="Arial"/>
                  </a:rPr>
                  <a:t>:</a:t>
                </a:r>
                <a:endParaRPr lang="es-ES" sz="1500" dirty="0">
                  <a:solidFill>
                    <a:schemeClr val="bg1"/>
                  </a:solidFill>
                  <a:latin typeface="Calibri" panose="020F0502020204030204" pitchFamily="34" charset="0"/>
                  <a:cs typeface="Calibri" panose="020F0502020204030204" pitchFamily="34" charset="0"/>
                  <a:sym typeface="Arial"/>
                </a:endParaRPr>
              </a:p>
            </p:txBody>
          </p:sp>
          <p:sp>
            <p:nvSpPr>
              <p:cNvPr id="9" name="Google Shape;334;p23">
                <a:extLst>
                  <a:ext uri="{FF2B5EF4-FFF2-40B4-BE49-F238E27FC236}">
                    <a16:creationId xmlns:a16="http://schemas.microsoft.com/office/drawing/2014/main" id="{15C21B47-7CEE-6345-A65A-9DDCDC079261}"/>
                  </a:ext>
                </a:extLst>
              </p:cNvPr>
              <p:cNvSpPr/>
              <p:nvPr/>
            </p:nvSpPr>
            <p:spPr>
              <a:xfrm>
                <a:off x="511916" y="2118159"/>
                <a:ext cx="2596411" cy="2533354"/>
              </a:xfrm>
              <a:prstGeom prst="roundRect">
                <a:avLst>
                  <a:gd name="adj" fmla="val 2748"/>
                </a:avLst>
              </a:prstGeom>
              <a:solidFill>
                <a:srgbClr val="D1EFF4"/>
              </a:solidFill>
              <a:ln>
                <a:noFill/>
              </a:ln>
            </p:spPr>
            <p:txBody>
              <a:bodyPr spcFirstLastPara="1" wrap="square" lIns="108000" tIns="108000" rIns="108000" bIns="45700" anchor="t" anchorCtr="0">
                <a:noAutofit/>
              </a:bodyPr>
              <a:lstStyle/>
              <a:p>
                <a:pPr marL="138113" lvl="1" indent="-128588" defTabSz="457200">
                  <a:spcAft>
                    <a:spcPts val="300"/>
                  </a:spcAft>
                  <a:buClr>
                    <a:schemeClr val="accent5"/>
                  </a:buClr>
                  <a:buSzPct val="100000"/>
                  <a:buFont typeface="Arial" panose="020B0604020202020204" pitchFamily="34" charset="0"/>
                  <a:buChar char="•"/>
                  <a:tabLst>
                    <a:tab pos="3228975" algn="l"/>
                  </a:tabLst>
                </a:pPr>
                <a:r>
                  <a:rPr lang="es-ES_tradnl" sz="1400" dirty="0">
                    <a:solidFill>
                      <a:srgbClr val="262626"/>
                    </a:solidFill>
                    <a:latin typeface="Calibri"/>
                    <a:ea typeface="+mn-ea"/>
                    <a:cs typeface="Calibri"/>
                    <a:sym typeface="Calibri"/>
                  </a:rPr>
                  <a:t>Actúa como el controlador principal que recibe todas las solicitudes HTTP entrantes.</a:t>
                </a:r>
              </a:p>
              <a:p>
                <a:pPr marL="138113" lvl="1" indent="-128588" defTabSz="457200">
                  <a:spcAft>
                    <a:spcPts val="300"/>
                  </a:spcAft>
                  <a:buClr>
                    <a:schemeClr val="accent5"/>
                  </a:buClr>
                  <a:buSzPct val="100000"/>
                  <a:buFont typeface="Arial" panose="020B0604020202020204" pitchFamily="34" charset="0"/>
                  <a:buChar char="•"/>
                  <a:tabLst>
                    <a:tab pos="3228975" algn="l"/>
                  </a:tabLst>
                </a:pPr>
                <a:r>
                  <a:rPr lang="es-ES_tradnl" sz="1400" dirty="0">
                    <a:solidFill>
                      <a:srgbClr val="262626"/>
                    </a:solidFill>
                    <a:latin typeface="Calibri"/>
                    <a:ea typeface="+mn-ea"/>
                    <a:cs typeface="Calibri"/>
                    <a:sym typeface="Calibri"/>
                  </a:rPr>
                  <a:t>Se encarga de distribuir las solicitudes a los controladores apropiados.</a:t>
                </a:r>
              </a:p>
              <a:p>
                <a:pPr marL="138113" lvl="1" indent="-128588" defTabSz="457200">
                  <a:spcAft>
                    <a:spcPts val="300"/>
                  </a:spcAft>
                  <a:buClr>
                    <a:schemeClr val="accent5"/>
                  </a:buClr>
                  <a:buSzPct val="100000"/>
                  <a:buFont typeface="Arial" panose="020B0604020202020204" pitchFamily="34" charset="0"/>
                  <a:buChar char="•"/>
                  <a:tabLst>
                    <a:tab pos="3228975" algn="l"/>
                  </a:tabLst>
                </a:pPr>
                <a:endParaRPr lang="es-ES_tradnl" sz="1400" dirty="0">
                  <a:solidFill>
                    <a:srgbClr val="262626"/>
                  </a:solidFill>
                  <a:latin typeface="Calibri"/>
                  <a:ea typeface="+mn-ea"/>
                  <a:cs typeface="Calibri"/>
                </a:endParaRPr>
              </a:p>
            </p:txBody>
          </p:sp>
          <p:grpSp>
            <p:nvGrpSpPr>
              <p:cNvPr id="10" name="Agrupar 4">
                <a:extLst>
                  <a:ext uri="{FF2B5EF4-FFF2-40B4-BE49-F238E27FC236}">
                    <a16:creationId xmlns:a16="http://schemas.microsoft.com/office/drawing/2014/main" id="{5DF55EF2-9F4C-ABCC-834B-2AE122790097}"/>
                  </a:ext>
                </a:extLst>
              </p:cNvPr>
              <p:cNvGrpSpPr/>
              <p:nvPr/>
            </p:nvGrpSpPr>
            <p:grpSpPr>
              <a:xfrm>
                <a:off x="297001" y="1592237"/>
                <a:ext cx="459474" cy="403823"/>
                <a:chOff x="5892512" y="2805541"/>
                <a:chExt cx="459474" cy="403823"/>
              </a:xfrm>
            </p:grpSpPr>
            <p:sp>
              <p:nvSpPr>
                <p:cNvPr id="11" name="Elipse 10">
                  <a:extLst>
                    <a:ext uri="{FF2B5EF4-FFF2-40B4-BE49-F238E27FC236}">
                      <a16:creationId xmlns:a16="http://schemas.microsoft.com/office/drawing/2014/main" id="{24DD2E15-BFB3-49CA-C89F-2D06AA121B34}"/>
                    </a:ext>
                  </a:extLst>
                </p:cNvPr>
                <p:cNvSpPr/>
                <p:nvPr/>
              </p:nvSpPr>
              <p:spPr>
                <a:xfrm>
                  <a:off x="5956277" y="2824919"/>
                  <a:ext cx="395709" cy="376075"/>
                </a:xfrm>
                <a:prstGeom prst="ellipse">
                  <a:avLst/>
                </a:prstGeom>
                <a:solidFill>
                  <a:srgbClr val="0B83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2" name="Elipse 11">
                  <a:extLst>
                    <a:ext uri="{FF2B5EF4-FFF2-40B4-BE49-F238E27FC236}">
                      <a16:creationId xmlns:a16="http://schemas.microsoft.com/office/drawing/2014/main" id="{E8B76218-0CDE-7FB1-92A0-95DCF33EF174}"/>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3" name="Triángulo 12">
                  <a:extLst>
                    <a:ext uri="{FF2B5EF4-FFF2-40B4-BE49-F238E27FC236}">
                      <a16:creationId xmlns:a16="http://schemas.microsoft.com/office/drawing/2014/main" id="{175DD1F9-CE9B-550D-0B26-B966D56EB27B}"/>
                    </a:ext>
                  </a:extLst>
                </p:cNvPr>
                <p:cNvSpPr/>
                <p:nvPr/>
              </p:nvSpPr>
              <p:spPr>
                <a:xfrm rot="5400000">
                  <a:off x="6076285" y="2946262"/>
                  <a:ext cx="186870" cy="12238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6"/>
          <p:cNvSpPr txBox="1"/>
          <p:nvPr/>
        </p:nvSpPr>
        <p:spPr>
          <a:xfrm>
            <a:off x="509343" y="921277"/>
            <a:ext cx="7458952" cy="246221"/>
          </a:xfrm>
          <a:prstGeom prst="rect">
            <a:avLst/>
          </a:prstGeom>
          <a:noFill/>
          <a:ln>
            <a:noFill/>
          </a:ln>
        </p:spPr>
        <p:txBody>
          <a:bodyPr spcFirstLastPara="1" wrap="square" lIns="0" tIns="0" rIns="0" bIns="0" anchor="t" anchorCtr="0">
            <a:spAutoFit/>
          </a:bodyPr>
          <a:lstStyle/>
          <a:p>
            <a:pPr marR="0" lvl="0" indent="0" algn="l" rtl="0">
              <a:spcBef>
                <a:spcPts val="0"/>
              </a:spcBef>
              <a:spcAft>
                <a:spcPts val="0"/>
              </a:spcAft>
              <a:buNone/>
            </a:pPr>
            <a:r>
              <a:rPr lang="es-ES" sz="1600" b="1" dirty="0">
                <a:solidFill>
                  <a:srgbClr val="262626"/>
                </a:solidFill>
                <a:latin typeface="Calibri"/>
                <a:ea typeface="Calibri"/>
                <a:cs typeface="Calibri"/>
                <a:sym typeface="Calibri"/>
              </a:rPr>
              <a:t>DIAGRAMA DE FLUJO DE TRABAJO EN SPRING MVC</a:t>
            </a:r>
            <a:endParaRPr sz="1600" b="1" dirty="0">
              <a:solidFill>
                <a:srgbClr val="262626"/>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14AB53D7-EF24-8EB9-A6CA-D2D061CEB296}"/>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APLICACIONES WEB CON SPRING MVC</a:t>
            </a:r>
          </a:p>
        </p:txBody>
      </p:sp>
      <p:grpSp>
        <p:nvGrpSpPr>
          <p:cNvPr id="15" name="Grupo 14">
            <a:extLst>
              <a:ext uri="{FF2B5EF4-FFF2-40B4-BE49-F238E27FC236}">
                <a16:creationId xmlns:a16="http://schemas.microsoft.com/office/drawing/2014/main" id="{D298502E-2251-58CF-83F2-1E2D1482E528}"/>
              </a:ext>
            </a:extLst>
          </p:cNvPr>
          <p:cNvGrpSpPr/>
          <p:nvPr/>
        </p:nvGrpSpPr>
        <p:grpSpPr>
          <a:xfrm>
            <a:off x="1787769" y="1345223"/>
            <a:ext cx="5568463" cy="3888763"/>
            <a:chOff x="735622" y="1345223"/>
            <a:chExt cx="5568463" cy="3888763"/>
          </a:xfrm>
        </p:grpSpPr>
        <p:sp>
          <p:nvSpPr>
            <p:cNvPr id="4" name="Rectángulo redondeado 3">
              <a:extLst>
                <a:ext uri="{FF2B5EF4-FFF2-40B4-BE49-F238E27FC236}">
                  <a16:creationId xmlns:a16="http://schemas.microsoft.com/office/drawing/2014/main" id="{C81BEF17-20F9-23E0-2F0E-29547C8C3F7E}"/>
                </a:ext>
              </a:extLst>
            </p:cNvPr>
            <p:cNvSpPr/>
            <p:nvPr/>
          </p:nvSpPr>
          <p:spPr>
            <a:xfrm>
              <a:off x="735622" y="1345223"/>
              <a:ext cx="5568463" cy="38686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400"/>
                <a:buFont typeface="Calibri"/>
                <a:buNone/>
              </a:pPr>
              <a:r>
                <a:rPr lang="es-ES" sz="1400" dirty="0">
                  <a:solidFill>
                    <a:schemeClr val="lt1"/>
                  </a:solidFill>
                  <a:latin typeface="Calibri" panose="020F0502020204030204" pitchFamily="34" charset="0"/>
                  <a:ea typeface="Arial"/>
                  <a:cs typeface="Calibri" panose="020F0502020204030204" pitchFamily="34" charset="0"/>
                  <a:sym typeface="Arial"/>
                </a:rPr>
                <a:t>El cliente envía una solicitud HTTP al servidor.</a:t>
              </a:r>
              <a:endParaRPr lang="es-ES" sz="1400" dirty="0">
                <a:solidFill>
                  <a:schemeClr val="lt1"/>
                </a:solidFill>
                <a:latin typeface="Calibri" panose="020F0502020204030204" pitchFamily="34" charset="0"/>
                <a:ea typeface="Calibri"/>
                <a:cs typeface="Calibri" panose="020F0502020204030204" pitchFamily="34" charset="0"/>
                <a:sym typeface="Calibri"/>
              </a:endParaRPr>
            </a:p>
          </p:txBody>
        </p:sp>
        <p:sp>
          <p:nvSpPr>
            <p:cNvPr id="5" name="Rectángulo redondeado 4">
              <a:extLst>
                <a:ext uri="{FF2B5EF4-FFF2-40B4-BE49-F238E27FC236}">
                  <a16:creationId xmlns:a16="http://schemas.microsoft.com/office/drawing/2014/main" id="{C576CF1F-A4D4-5C6B-E703-2CAC253F2845}"/>
                </a:ext>
              </a:extLst>
            </p:cNvPr>
            <p:cNvSpPr/>
            <p:nvPr/>
          </p:nvSpPr>
          <p:spPr>
            <a:xfrm>
              <a:off x="735622" y="2004396"/>
              <a:ext cx="5568463" cy="48987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400"/>
                <a:buFont typeface="Arial"/>
                <a:buNone/>
              </a:pPr>
              <a:r>
                <a:rPr lang="es-ES" sz="1400" dirty="0">
                  <a:solidFill>
                    <a:schemeClr val="lt1"/>
                  </a:solidFill>
                  <a:latin typeface="Calibri" panose="020F0502020204030204" pitchFamily="34" charset="0"/>
                  <a:ea typeface="Arial"/>
                  <a:cs typeface="Calibri" panose="020F0502020204030204" pitchFamily="34" charset="0"/>
                  <a:sym typeface="Arial"/>
                </a:rPr>
                <a:t>El </a:t>
              </a:r>
              <a:r>
                <a:rPr lang="es-ES" sz="1400" dirty="0" err="1">
                  <a:solidFill>
                    <a:schemeClr val="lt1"/>
                  </a:solidFill>
                  <a:latin typeface="Calibri" panose="020F0502020204030204" pitchFamily="34" charset="0"/>
                  <a:ea typeface="Arial"/>
                  <a:cs typeface="Calibri" panose="020F0502020204030204" pitchFamily="34" charset="0"/>
                  <a:sym typeface="Arial"/>
                </a:rPr>
                <a:t>DispatcherServlet</a:t>
              </a:r>
              <a:r>
                <a:rPr lang="es-ES" sz="1400" dirty="0">
                  <a:solidFill>
                    <a:schemeClr val="lt1"/>
                  </a:solidFill>
                  <a:latin typeface="Calibri" panose="020F0502020204030204" pitchFamily="34" charset="0"/>
                  <a:ea typeface="Arial"/>
                  <a:cs typeface="Calibri" panose="020F0502020204030204" pitchFamily="34" charset="0"/>
                  <a:sym typeface="Arial"/>
                </a:rPr>
                <a:t> recibe la solicitud y la pasa al</a:t>
              </a:r>
              <a:br>
                <a:rPr lang="es-ES" sz="1400" dirty="0">
                  <a:solidFill>
                    <a:schemeClr val="lt1"/>
                  </a:solidFill>
                  <a:latin typeface="Calibri" panose="020F0502020204030204" pitchFamily="34" charset="0"/>
                  <a:ea typeface="Arial"/>
                  <a:cs typeface="Calibri" panose="020F0502020204030204" pitchFamily="34" charset="0"/>
                  <a:sym typeface="Arial"/>
                </a:rPr>
              </a:br>
              <a:r>
                <a:rPr lang="es-ES" sz="1400" dirty="0">
                  <a:solidFill>
                    <a:schemeClr val="lt1"/>
                  </a:solidFill>
                  <a:latin typeface="Calibri" panose="020F0502020204030204" pitchFamily="34" charset="0"/>
                  <a:ea typeface="Arial"/>
                  <a:cs typeface="Calibri" panose="020F0502020204030204" pitchFamily="34" charset="0"/>
                  <a:sym typeface="Arial"/>
                </a:rPr>
                <a:t>controlador correspondiente.</a:t>
              </a:r>
            </a:p>
          </p:txBody>
        </p:sp>
        <p:sp>
          <p:nvSpPr>
            <p:cNvPr id="6" name="Rectángulo redondeado 5">
              <a:extLst>
                <a:ext uri="{FF2B5EF4-FFF2-40B4-BE49-F238E27FC236}">
                  <a16:creationId xmlns:a16="http://schemas.microsoft.com/office/drawing/2014/main" id="{6E5B5DA4-84C2-817F-5A99-61C9B48693B2}"/>
                </a:ext>
              </a:extLst>
            </p:cNvPr>
            <p:cNvSpPr/>
            <p:nvPr/>
          </p:nvSpPr>
          <p:spPr>
            <a:xfrm>
              <a:off x="735622" y="2766585"/>
              <a:ext cx="5568463" cy="48987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400"/>
                <a:buFont typeface="Arial"/>
                <a:buNone/>
              </a:pPr>
              <a:r>
                <a:rPr lang="es-ES" sz="1400" dirty="0">
                  <a:solidFill>
                    <a:schemeClr val="lt1"/>
                  </a:solidFill>
                  <a:latin typeface="Calibri" panose="020F0502020204030204" pitchFamily="34" charset="0"/>
                  <a:ea typeface="Arial"/>
                  <a:cs typeface="Calibri" panose="020F0502020204030204" pitchFamily="34" charset="0"/>
                  <a:sym typeface="Arial"/>
                </a:rPr>
                <a:t>El controlador procesa la solicitud, interactúa con el modelo si es necesario, y selecciona una vista.</a:t>
              </a:r>
            </a:p>
          </p:txBody>
        </p:sp>
        <p:sp>
          <p:nvSpPr>
            <p:cNvPr id="7" name="Rectángulo redondeado 6">
              <a:extLst>
                <a:ext uri="{FF2B5EF4-FFF2-40B4-BE49-F238E27FC236}">
                  <a16:creationId xmlns:a16="http://schemas.microsoft.com/office/drawing/2014/main" id="{EBEF0396-BF01-14B3-DA58-A764DCEB5153}"/>
                </a:ext>
              </a:extLst>
            </p:cNvPr>
            <p:cNvSpPr/>
            <p:nvPr/>
          </p:nvSpPr>
          <p:spPr>
            <a:xfrm>
              <a:off x="735622" y="3528774"/>
              <a:ext cx="5568463" cy="386863"/>
            </a:xfrm>
            <a:prstGeom prst="roundRect">
              <a:avLst/>
            </a:prstGeom>
            <a:solidFill>
              <a:srgbClr val="715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400"/>
                <a:buFont typeface="Arial"/>
                <a:buNone/>
              </a:pPr>
              <a:r>
                <a:rPr lang="es-ES" sz="1400" dirty="0">
                  <a:solidFill>
                    <a:schemeClr val="lt1"/>
                  </a:solidFill>
                  <a:latin typeface="Calibri" panose="020F0502020204030204" pitchFamily="34" charset="0"/>
                  <a:ea typeface="Arial"/>
                  <a:cs typeface="Calibri" panose="020F0502020204030204" pitchFamily="34" charset="0"/>
                  <a:sym typeface="Arial"/>
                </a:rPr>
                <a:t>El </a:t>
              </a:r>
              <a:r>
                <a:rPr lang="es-ES" sz="1400" dirty="0" err="1">
                  <a:solidFill>
                    <a:schemeClr val="lt1"/>
                  </a:solidFill>
                  <a:latin typeface="Calibri" panose="020F0502020204030204" pitchFamily="34" charset="0"/>
                  <a:ea typeface="Arial"/>
                  <a:cs typeface="Calibri" panose="020F0502020204030204" pitchFamily="34" charset="0"/>
                  <a:sym typeface="Arial"/>
                </a:rPr>
                <a:t>ViewResolver</a:t>
              </a:r>
              <a:r>
                <a:rPr lang="es-ES" sz="1400" dirty="0">
                  <a:solidFill>
                    <a:schemeClr val="lt1"/>
                  </a:solidFill>
                  <a:latin typeface="Calibri" panose="020F0502020204030204" pitchFamily="34" charset="0"/>
                  <a:ea typeface="Arial"/>
                  <a:cs typeface="Calibri" panose="020F0502020204030204" pitchFamily="34" charset="0"/>
                  <a:sym typeface="Arial"/>
                </a:rPr>
                <a:t> resuelve la vista seleccionada.</a:t>
              </a:r>
            </a:p>
          </p:txBody>
        </p:sp>
        <p:sp>
          <p:nvSpPr>
            <p:cNvPr id="8" name="Rectángulo redondeado 7">
              <a:extLst>
                <a:ext uri="{FF2B5EF4-FFF2-40B4-BE49-F238E27FC236}">
                  <a16:creationId xmlns:a16="http://schemas.microsoft.com/office/drawing/2014/main" id="{1FAD935B-D053-5B16-4D5F-0199BD18F62C}"/>
                </a:ext>
              </a:extLst>
            </p:cNvPr>
            <p:cNvSpPr/>
            <p:nvPr/>
          </p:nvSpPr>
          <p:spPr>
            <a:xfrm>
              <a:off x="735622" y="4187947"/>
              <a:ext cx="5568463" cy="386863"/>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400"/>
                <a:buFont typeface="Arial"/>
                <a:buNone/>
              </a:pPr>
              <a:r>
                <a:rPr lang="es-ES" sz="1400" dirty="0">
                  <a:solidFill>
                    <a:schemeClr val="lt1"/>
                  </a:solidFill>
                  <a:latin typeface="Calibri" panose="020F0502020204030204" pitchFamily="34" charset="0"/>
                  <a:ea typeface="Arial"/>
                  <a:cs typeface="Calibri" panose="020F0502020204030204" pitchFamily="34" charset="0"/>
                  <a:sym typeface="Arial"/>
                </a:rPr>
                <a:t>La vista genera la respuesta HTML.</a:t>
              </a:r>
            </a:p>
          </p:txBody>
        </p:sp>
        <p:sp>
          <p:nvSpPr>
            <p:cNvPr id="9" name="Rectángulo redondeado 8">
              <a:extLst>
                <a:ext uri="{FF2B5EF4-FFF2-40B4-BE49-F238E27FC236}">
                  <a16:creationId xmlns:a16="http://schemas.microsoft.com/office/drawing/2014/main" id="{7B55E89F-0576-7093-2C23-E226AAF82118}"/>
                </a:ext>
              </a:extLst>
            </p:cNvPr>
            <p:cNvSpPr/>
            <p:nvPr/>
          </p:nvSpPr>
          <p:spPr>
            <a:xfrm>
              <a:off x="735622" y="4847123"/>
              <a:ext cx="5568463" cy="386863"/>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400"/>
                <a:buFont typeface="Arial"/>
                <a:buNone/>
              </a:pPr>
              <a:r>
                <a:rPr lang="es-ES" sz="1400" dirty="0">
                  <a:solidFill>
                    <a:schemeClr val="lt1"/>
                  </a:solidFill>
                  <a:latin typeface="Calibri" panose="020F0502020204030204" pitchFamily="34" charset="0"/>
                  <a:ea typeface="Arial"/>
                  <a:cs typeface="Calibri" panose="020F0502020204030204" pitchFamily="34" charset="0"/>
                  <a:sym typeface="Arial"/>
                </a:rPr>
                <a:t>El </a:t>
              </a:r>
              <a:r>
                <a:rPr lang="es-ES" sz="1400" dirty="0" err="1">
                  <a:solidFill>
                    <a:schemeClr val="lt1"/>
                  </a:solidFill>
                  <a:latin typeface="Calibri" panose="020F0502020204030204" pitchFamily="34" charset="0"/>
                  <a:ea typeface="Arial"/>
                  <a:cs typeface="Calibri" panose="020F0502020204030204" pitchFamily="34" charset="0"/>
                  <a:sym typeface="Arial"/>
                </a:rPr>
                <a:t>DispatcherServlet</a:t>
              </a:r>
              <a:r>
                <a:rPr lang="es-ES" sz="1400" dirty="0">
                  <a:solidFill>
                    <a:schemeClr val="lt1"/>
                  </a:solidFill>
                  <a:latin typeface="Calibri" panose="020F0502020204030204" pitchFamily="34" charset="0"/>
                  <a:ea typeface="Arial"/>
                  <a:cs typeface="Calibri" panose="020F0502020204030204" pitchFamily="34" charset="0"/>
                  <a:sym typeface="Arial"/>
                </a:rPr>
                <a:t> envía la respuesta HTML de vuelta al cliente.</a:t>
              </a:r>
            </a:p>
          </p:txBody>
        </p:sp>
        <p:sp>
          <p:nvSpPr>
            <p:cNvPr id="10" name="Flecha abajo 9">
              <a:extLst>
                <a:ext uri="{FF2B5EF4-FFF2-40B4-BE49-F238E27FC236}">
                  <a16:creationId xmlns:a16="http://schemas.microsoft.com/office/drawing/2014/main" id="{BAC50A83-A281-6BD6-3141-33758FC08F86}"/>
                </a:ext>
              </a:extLst>
            </p:cNvPr>
            <p:cNvSpPr/>
            <p:nvPr/>
          </p:nvSpPr>
          <p:spPr>
            <a:xfrm>
              <a:off x="3361592" y="1775922"/>
              <a:ext cx="316523" cy="184638"/>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1" name="Flecha abajo 10">
              <a:extLst>
                <a:ext uri="{FF2B5EF4-FFF2-40B4-BE49-F238E27FC236}">
                  <a16:creationId xmlns:a16="http://schemas.microsoft.com/office/drawing/2014/main" id="{BE643FAD-EFB1-28AD-213E-F151B17430CD}"/>
                </a:ext>
              </a:extLst>
            </p:cNvPr>
            <p:cNvSpPr/>
            <p:nvPr/>
          </p:nvSpPr>
          <p:spPr>
            <a:xfrm>
              <a:off x="3361592" y="2538111"/>
              <a:ext cx="316523" cy="184638"/>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2" name="Flecha abajo 11">
              <a:extLst>
                <a:ext uri="{FF2B5EF4-FFF2-40B4-BE49-F238E27FC236}">
                  <a16:creationId xmlns:a16="http://schemas.microsoft.com/office/drawing/2014/main" id="{9397AC08-2F6C-8908-E473-13D15419F44C}"/>
                </a:ext>
              </a:extLst>
            </p:cNvPr>
            <p:cNvSpPr/>
            <p:nvPr/>
          </p:nvSpPr>
          <p:spPr>
            <a:xfrm>
              <a:off x="3361592" y="3300300"/>
              <a:ext cx="316523" cy="184638"/>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Flecha abajo 12">
              <a:extLst>
                <a:ext uri="{FF2B5EF4-FFF2-40B4-BE49-F238E27FC236}">
                  <a16:creationId xmlns:a16="http://schemas.microsoft.com/office/drawing/2014/main" id="{04717973-B5A3-E012-AEDD-49C22EEA43BA}"/>
                </a:ext>
              </a:extLst>
            </p:cNvPr>
            <p:cNvSpPr/>
            <p:nvPr/>
          </p:nvSpPr>
          <p:spPr>
            <a:xfrm>
              <a:off x="3361592" y="3959473"/>
              <a:ext cx="316523" cy="184638"/>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4" name="Flecha abajo 13">
              <a:extLst>
                <a:ext uri="{FF2B5EF4-FFF2-40B4-BE49-F238E27FC236}">
                  <a16:creationId xmlns:a16="http://schemas.microsoft.com/office/drawing/2014/main" id="{5B3FC995-AE9B-0DC3-6EDD-8839F07CE1D6}"/>
                </a:ext>
              </a:extLst>
            </p:cNvPr>
            <p:cNvSpPr/>
            <p:nvPr/>
          </p:nvSpPr>
          <p:spPr>
            <a:xfrm>
              <a:off x="3361592" y="4618646"/>
              <a:ext cx="316523" cy="184638"/>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4" name="Rectángulo 3">
            <a:extLst>
              <a:ext uri="{FF2B5EF4-FFF2-40B4-BE49-F238E27FC236}">
                <a16:creationId xmlns:a16="http://schemas.microsoft.com/office/drawing/2014/main" id="{246D88D5-944B-2DFE-0006-EE0C32FC6E4D}"/>
              </a:ext>
            </a:extLst>
          </p:cNvPr>
          <p:cNvSpPr/>
          <p:nvPr/>
        </p:nvSpPr>
        <p:spPr>
          <a:xfrm>
            <a:off x="503238" y="2463800"/>
            <a:ext cx="8172450" cy="2770188"/>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74" name="Google Shape;174;p17"/>
          <p:cNvPicPr preferRelativeResize="0"/>
          <p:nvPr/>
        </p:nvPicPr>
        <p:blipFill rotWithShape="1">
          <a:blip r:embed="rId3">
            <a:alphaModFix/>
          </a:blip>
          <a:srcRect/>
          <a:stretch/>
        </p:blipFill>
        <p:spPr>
          <a:xfrm>
            <a:off x="988700" y="2604577"/>
            <a:ext cx="7200465" cy="2431025"/>
          </a:xfrm>
          <a:prstGeom prst="rect">
            <a:avLst/>
          </a:prstGeom>
          <a:noFill/>
          <a:ln>
            <a:noFill/>
          </a:ln>
        </p:spPr>
      </p:pic>
      <p:sp>
        <p:nvSpPr>
          <p:cNvPr id="2" name="Rectangle 5">
            <a:extLst>
              <a:ext uri="{FF2B5EF4-FFF2-40B4-BE49-F238E27FC236}">
                <a16:creationId xmlns:a16="http://schemas.microsoft.com/office/drawing/2014/main" id="{6F9130E0-5C9B-0178-8DF3-81FF4537ADB3}"/>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APLICACIONES WEB CON SPRING MVC</a:t>
            </a:r>
          </a:p>
        </p:txBody>
      </p:sp>
      <p:sp>
        <p:nvSpPr>
          <p:cNvPr id="3" name="Google Shape;151;p16">
            <a:extLst>
              <a:ext uri="{FF2B5EF4-FFF2-40B4-BE49-F238E27FC236}">
                <a16:creationId xmlns:a16="http://schemas.microsoft.com/office/drawing/2014/main" id="{525A8133-5508-0D4A-6B10-CE3C3F6D18E3}"/>
              </a:ext>
            </a:extLst>
          </p:cNvPr>
          <p:cNvSpPr txBox="1"/>
          <p:nvPr/>
        </p:nvSpPr>
        <p:spPr>
          <a:xfrm>
            <a:off x="509343" y="921277"/>
            <a:ext cx="7458952" cy="1308050"/>
          </a:xfrm>
          <a:prstGeom prst="rect">
            <a:avLst/>
          </a:prstGeom>
          <a:noFill/>
          <a:ln>
            <a:noFill/>
          </a:ln>
        </p:spPr>
        <p:txBody>
          <a:bodyPr spcFirstLastPara="1" wrap="square" lIns="0" tIns="0" rIns="0" bIns="0" anchor="t" anchorCtr="0">
            <a:spAutoFit/>
          </a:bodyPr>
          <a:lstStyle/>
          <a:p>
            <a:pPr marR="0" lvl="0" indent="0" algn="l" rtl="0">
              <a:spcBef>
                <a:spcPts val="0"/>
              </a:spcBef>
              <a:spcAft>
                <a:spcPts val="600"/>
              </a:spcAft>
              <a:buNone/>
            </a:pPr>
            <a:r>
              <a:rPr lang="es-ES" sz="1600" b="1" dirty="0">
                <a:solidFill>
                  <a:schemeClr val="tx1"/>
                </a:solidFill>
                <a:latin typeface="Calibri" panose="020F0502020204030204" pitchFamily="34" charset="0"/>
                <a:ea typeface="Calibri"/>
                <a:cs typeface="Calibri" panose="020F0502020204030204" pitchFamily="34" charset="0"/>
                <a:sym typeface="Calibri"/>
              </a:rPr>
              <a:t>CONFIGURACIÓN INICIAL</a:t>
            </a:r>
          </a:p>
          <a:p>
            <a:pPr marR="0" lvl="0" indent="-260350" algn="l" rtl="0">
              <a:spcBef>
                <a:spcPts val="0"/>
              </a:spcBef>
              <a:spcAft>
                <a:spcPts val="0"/>
              </a:spcAft>
              <a:buClr>
                <a:schemeClr val="tx1"/>
              </a:buClr>
              <a:buSzPts val="1600"/>
              <a:buFont typeface="Calibri"/>
              <a:buAutoNum type="arabicPeriod"/>
            </a:pPr>
            <a:r>
              <a:rPr lang="es-ES" sz="1600" dirty="0">
                <a:solidFill>
                  <a:schemeClr val="tx1"/>
                </a:solidFill>
                <a:latin typeface="Calibri" panose="020F0502020204030204" pitchFamily="34" charset="0"/>
                <a:cs typeface="Calibri" panose="020F0502020204030204" pitchFamily="34" charset="0"/>
                <a:sym typeface="Arial"/>
              </a:rPr>
              <a:t>Configuración del archivo </a:t>
            </a:r>
            <a:r>
              <a:rPr lang="es-ES" sz="1600" dirty="0" err="1">
                <a:solidFill>
                  <a:schemeClr val="tx1"/>
                </a:solidFill>
                <a:latin typeface="Calibri" panose="020F0502020204030204" pitchFamily="34" charset="0"/>
                <a:cs typeface="Calibri" panose="020F0502020204030204" pitchFamily="34" charset="0"/>
                <a:sym typeface="Arial"/>
              </a:rPr>
              <a:t>web.xml</a:t>
            </a:r>
            <a:r>
              <a:rPr lang="es-ES" sz="1600" dirty="0">
                <a:solidFill>
                  <a:schemeClr val="tx1"/>
                </a:solidFill>
                <a:latin typeface="Calibri" panose="020F0502020204030204" pitchFamily="34" charset="0"/>
                <a:cs typeface="Calibri" panose="020F0502020204030204" pitchFamily="34" charset="0"/>
                <a:sym typeface="Arial"/>
              </a:rPr>
              <a:t>.</a:t>
            </a:r>
            <a:endParaRPr lang="es-ES" sz="1600" dirty="0">
              <a:solidFill>
                <a:schemeClr val="tx1"/>
              </a:solidFill>
              <a:latin typeface="Calibri" panose="020F0502020204030204" pitchFamily="34" charset="0"/>
              <a:cs typeface="Calibri" panose="020F0502020204030204" pitchFamily="34" charset="0"/>
            </a:endParaRPr>
          </a:p>
          <a:p>
            <a:pPr marR="0" lvl="0" indent="-260350" algn="l" rtl="0">
              <a:spcBef>
                <a:spcPts val="0"/>
              </a:spcBef>
              <a:spcAft>
                <a:spcPts val="0"/>
              </a:spcAft>
              <a:buClr>
                <a:schemeClr val="tx1"/>
              </a:buClr>
              <a:buSzPts val="1600"/>
              <a:buFont typeface="Calibri"/>
              <a:buAutoNum type="arabicPeriod"/>
            </a:pPr>
            <a:r>
              <a:rPr lang="es-ES" sz="1600" dirty="0">
                <a:solidFill>
                  <a:schemeClr val="tx1"/>
                </a:solidFill>
                <a:latin typeface="Calibri" panose="020F0502020204030204" pitchFamily="34" charset="0"/>
                <a:cs typeface="Calibri" panose="020F0502020204030204" pitchFamily="34" charset="0"/>
                <a:sym typeface="Arial"/>
              </a:rPr>
              <a:t>Ejemplo de configuración básica de Spring MVC.</a:t>
            </a:r>
            <a:endParaRPr lang="es-ES" sz="1600" dirty="0">
              <a:solidFill>
                <a:schemeClr val="tx1"/>
              </a:solidFill>
              <a:latin typeface="Calibri" panose="020F0502020204030204" pitchFamily="34" charset="0"/>
              <a:cs typeface="Calibri" panose="020F0502020204030204" pitchFamily="34" charset="0"/>
            </a:endParaRPr>
          </a:p>
          <a:p>
            <a:pPr marR="0" lvl="0" indent="-241300" algn="l" rtl="0">
              <a:spcBef>
                <a:spcPts val="0"/>
              </a:spcBef>
              <a:spcAft>
                <a:spcPts val="0"/>
              </a:spcAft>
              <a:buClr>
                <a:schemeClr val="dk1"/>
              </a:buClr>
              <a:buSzPts val="1600"/>
              <a:buFont typeface="Calibri"/>
              <a:buNone/>
            </a:pPr>
            <a:endParaRPr lang="es-ES" sz="1600" dirty="0">
              <a:solidFill>
                <a:schemeClr val="tx1"/>
              </a:solidFill>
              <a:latin typeface="Calibri" panose="020F0502020204030204" pitchFamily="34" charset="0"/>
              <a:cs typeface="Calibri" panose="020F0502020204030204" pitchFamily="34" charset="0"/>
              <a:sym typeface="Arial"/>
            </a:endParaRPr>
          </a:p>
          <a:p>
            <a:pPr marR="0" lvl="0" indent="0" algn="l" rtl="0">
              <a:spcBef>
                <a:spcPts val="0"/>
              </a:spcBef>
              <a:spcAft>
                <a:spcPts val="0"/>
              </a:spcAft>
              <a:buNone/>
            </a:pPr>
            <a:r>
              <a:rPr lang="es-ES" sz="1600" dirty="0">
                <a:solidFill>
                  <a:schemeClr val="tx1"/>
                </a:solidFill>
                <a:latin typeface="Calibri" panose="020F0502020204030204" pitchFamily="34" charset="0"/>
                <a:cs typeface="Calibri" panose="020F0502020204030204" pitchFamily="34" charset="0"/>
                <a:sym typeface="Arial"/>
              </a:rPr>
              <a:t>Ejemplo: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4" name="Rectángulo 3">
            <a:extLst>
              <a:ext uri="{FF2B5EF4-FFF2-40B4-BE49-F238E27FC236}">
                <a16:creationId xmlns:a16="http://schemas.microsoft.com/office/drawing/2014/main" id="{EE3D1016-977E-7861-B081-4FE185560200}"/>
              </a:ext>
            </a:extLst>
          </p:cNvPr>
          <p:cNvSpPr/>
          <p:nvPr/>
        </p:nvSpPr>
        <p:spPr>
          <a:xfrm>
            <a:off x="503238" y="2463800"/>
            <a:ext cx="8172450" cy="2770188"/>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80" name="Google Shape;180;p18"/>
          <p:cNvSpPr txBox="1"/>
          <p:nvPr/>
        </p:nvSpPr>
        <p:spPr>
          <a:xfrm>
            <a:off x="509343" y="921277"/>
            <a:ext cx="7458952" cy="1308050"/>
          </a:xfrm>
          <a:prstGeom prst="rect">
            <a:avLst/>
          </a:prstGeom>
          <a:noFill/>
          <a:ln>
            <a:noFill/>
          </a:ln>
        </p:spPr>
        <p:txBody>
          <a:bodyPr spcFirstLastPara="1" wrap="square" lIns="0" tIns="0" rIns="0" bIns="0" anchor="t" anchorCtr="0">
            <a:spAutoFit/>
          </a:bodyPr>
          <a:lstStyle/>
          <a:p>
            <a:pPr marR="0" lvl="0" indent="0" algn="l" rtl="0">
              <a:spcBef>
                <a:spcPts val="0"/>
              </a:spcBef>
              <a:spcAft>
                <a:spcPts val="600"/>
              </a:spcAft>
              <a:buClr>
                <a:schemeClr val="tx1"/>
              </a:buClr>
              <a:buSzPct val="100000"/>
              <a:buNone/>
            </a:pPr>
            <a:r>
              <a:rPr lang="es-ES" sz="1600" b="1" dirty="0">
                <a:solidFill>
                  <a:schemeClr val="tx1"/>
                </a:solidFill>
                <a:latin typeface="Calibri" panose="020F0502020204030204" pitchFamily="34" charset="0"/>
                <a:ea typeface="Calibri"/>
                <a:cs typeface="Calibri" panose="020F0502020204030204" pitchFamily="34" charset="0"/>
                <a:sym typeface="Calibri"/>
              </a:rPr>
              <a:t>CONTROLADORES EN SPRING MVC</a:t>
            </a:r>
          </a:p>
          <a:p>
            <a:pPr marR="0" lvl="0" indent="-260350" algn="l" rtl="0">
              <a:spcBef>
                <a:spcPts val="0"/>
              </a:spcBef>
              <a:spcAft>
                <a:spcPts val="0"/>
              </a:spcAft>
              <a:buClr>
                <a:schemeClr val="tx1"/>
              </a:buClr>
              <a:buSzPct val="100000"/>
              <a:buFont typeface="Calibri"/>
              <a:buAutoNum type="arabicPeriod"/>
            </a:pPr>
            <a:r>
              <a:rPr lang="es-ES" sz="1600" dirty="0">
                <a:solidFill>
                  <a:schemeClr val="tx1"/>
                </a:solidFill>
                <a:latin typeface="Calibri" panose="020F0502020204030204" pitchFamily="34" charset="0"/>
                <a:cs typeface="Calibri" panose="020F0502020204030204" pitchFamily="34" charset="0"/>
                <a:sym typeface="Arial"/>
              </a:rPr>
              <a:t>Creación y configuración de controladores.</a:t>
            </a:r>
            <a:endParaRPr lang="es-ES" sz="1600" dirty="0">
              <a:solidFill>
                <a:schemeClr val="tx1"/>
              </a:solidFill>
              <a:latin typeface="Calibri" panose="020F0502020204030204" pitchFamily="34" charset="0"/>
              <a:cs typeface="Calibri" panose="020F0502020204030204" pitchFamily="34" charset="0"/>
            </a:endParaRPr>
          </a:p>
          <a:p>
            <a:pPr marR="0" lvl="0" indent="-260350" algn="l" rtl="0">
              <a:spcBef>
                <a:spcPts val="0"/>
              </a:spcBef>
              <a:spcAft>
                <a:spcPts val="0"/>
              </a:spcAft>
              <a:buClr>
                <a:schemeClr val="tx1"/>
              </a:buClr>
              <a:buSzPct val="100000"/>
              <a:buFont typeface="Calibri"/>
              <a:buAutoNum type="arabicPeriod"/>
            </a:pPr>
            <a:r>
              <a:rPr lang="es-ES" sz="1600" dirty="0">
                <a:solidFill>
                  <a:schemeClr val="tx1"/>
                </a:solidFill>
                <a:latin typeface="Calibri" panose="020F0502020204030204" pitchFamily="34" charset="0"/>
                <a:cs typeface="Calibri" panose="020F0502020204030204" pitchFamily="34" charset="0"/>
                <a:sym typeface="Arial"/>
              </a:rPr>
              <a:t>Uso de las anotaciones @</a:t>
            </a:r>
            <a:r>
              <a:rPr lang="es-ES" sz="1600" dirty="0" err="1">
                <a:solidFill>
                  <a:schemeClr val="tx1"/>
                </a:solidFill>
                <a:latin typeface="Calibri" panose="020F0502020204030204" pitchFamily="34" charset="0"/>
                <a:cs typeface="Calibri" panose="020F0502020204030204" pitchFamily="34" charset="0"/>
                <a:sym typeface="Arial"/>
              </a:rPr>
              <a:t>Controller</a:t>
            </a:r>
            <a:r>
              <a:rPr lang="es-ES" sz="1600" dirty="0">
                <a:solidFill>
                  <a:schemeClr val="tx1"/>
                </a:solidFill>
                <a:latin typeface="Calibri" panose="020F0502020204030204" pitchFamily="34" charset="0"/>
                <a:cs typeface="Calibri" panose="020F0502020204030204" pitchFamily="34" charset="0"/>
                <a:sym typeface="Arial"/>
              </a:rPr>
              <a:t> y @</a:t>
            </a:r>
            <a:r>
              <a:rPr lang="es-ES" sz="1600" dirty="0" err="1">
                <a:solidFill>
                  <a:schemeClr val="tx1"/>
                </a:solidFill>
                <a:latin typeface="Calibri" panose="020F0502020204030204" pitchFamily="34" charset="0"/>
                <a:cs typeface="Calibri" panose="020F0502020204030204" pitchFamily="34" charset="0"/>
                <a:sym typeface="Arial"/>
              </a:rPr>
              <a:t>RequestMapping</a:t>
            </a:r>
            <a:r>
              <a:rPr lang="es-ES" sz="1600" dirty="0">
                <a:solidFill>
                  <a:schemeClr val="tx1"/>
                </a:solidFill>
                <a:latin typeface="Calibri" panose="020F0502020204030204" pitchFamily="34" charset="0"/>
                <a:cs typeface="Calibri" panose="020F0502020204030204" pitchFamily="34" charset="0"/>
                <a:sym typeface="Arial"/>
              </a:rPr>
              <a:t>.</a:t>
            </a:r>
            <a:endParaRPr lang="es-ES" sz="1600" dirty="0">
              <a:solidFill>
                <a:schemeClr val="tx1"/>
              </a:solidFill>
              <a:latin typeface="Calibri" panose="020F0502020204030204" pitchFamily="34" charset="0"/>
              <a:cs typeface="Calibri" panose="020F0502020204030204" pitchFamily="34" charset="0"/>
            </a:endParaRPr>
          </a:p>
          <a:p>
            <a:pPr marR="0" lvl="0" indent="-260350" algn="l" rtl="0">
              <a:spcBef>
                <a:spcPts val="0"/>
              </a:spcBef>
              <a:spcAft>
                <a:spcPts val="0"/>
              </a:spcAft>
              <a:buClr>
                <a:schemeClr val="tx1"/>
              </a:buClr>
              <a:buSzPct val="100000"/>
              <a:buFont typeface="Calibri"/>
              <a:buNone/>
            </a:pPr>
            <a:endParaRPr lang="es-ES" sz="1600" dirty="0">
              <a:solidFill>
                <a:schemeClr val="tx1"/>
              </a:solidFill>
              <a:latin typeface="Calibri" panose="020F0502020204030204" pitchFamily="34" charset="0"/>
              <a:cs typeface="Calibri" panose="020F0502020204030204" pitchFamily="34" charset="0"/>
              <a:sym typeface="Arial"/>
            </a:endParaRPr>
          </a:p>
          <a:p>
            <a:pPr marR="0" lvl="0" indent="0" algn="l" rtl="0">
              <a:spcBef>
                <a:spcPts val="0"/>
              </a:spcBef>
              <a:spcAft>
                <a:spcPts val="0"/>
              </a:spcAft>
              <a:buClr>
                <a:schemeClr val="tx1"/>
              </a:buClr>
              <a:buSzPct val="100000"/>
              <a:buNone/>
            </a:pPr>
            <a:r>
              <a:rPr lang="es-ES" sz="1600" dirty="0">
                <a:solidFill>
                  <a:schemeClr val="tx1"/>
                </a:solidFill>
                <a:latin typeface="Calibri" panose="020F0502020204030204" pitchFamily="34" charset="0"/>
                <a:cs typeface="Calibri" panose="020F0502020204030204" pitchFamily="34" charset="0"/>
                <a:sym typeface="Arial"/>
              </a:rPr>
              <a:t>Ejemplo:</a:t>
            </a:r>
          </a:p>
        </p:txBody>
      </p:sp>
      <p:pic>
        <p:nvPicPr>
          <p:cNvPr id="183" name="Google Shape;183;p18"/>
          <p:cNvPicPr preferRelativeResize="0"/>
          <p:nvPr/>
        </p:nvPicPr>
        <p:blipFill rotWithShape="1">
          <a:blip r:embed="rId3">
            <a:alphaModFix/>
          </a:blip>
          <a:srcRect/>
          <a:stretch/>
        </p:blipFill>
        <p:spPr>
          <a:xfrm>
            <a:off x="1147482" y="2739041"/>
            <a:ext cx="6849035" cy="2239359"/>
          </a:xfrm>
          <a:prstGeom prst="rect">
            <a:avLst/>
          </a:prstGeom>
          <a:noFill/>
          <a:ln>
            <a:noFill/>
          </a:ln>
        </p:spPr>
      </p:pic>
      <p:sp>
        <p:nvSpPr>
          <p:cNvPr id="2" name="Rectangle 5">
            <a:extLst>
              <a:ext uri="{FF2B5EF4-FFF2-40B4-BE49-F238E27FC236}">
                <a16:creationId xmlns:a16="http://schemas.microsoft.com/office/drawing/2014/main" id="{1BA35956-DFD9-F375-6C6E-723F9BBB6F7F}"/>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APLICACIONES WEB CON SPRING MVC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4" name="Rectángulo 3">
            <a:extLst>
              <a:ext uri="{FF2B5EF4-FFF2-40B4-BE49-F238E27FC236}">
                <a16:creationId xmlns:a16="http://schemas.microsoft.com/office/drawing/2014/main" id="{CBBE5E0F-AADE-ACB1-FF74-0C67AFD6392E}"/>
              </a:ext>
            </a:extLst>
          </p:cNvPr>
          <p:cNvSpPr/>
          <p:nvPr/>
        </p:nvSpPr>
        <p:spPr>
          <a:xfrm>
            <a:off x="503238" y="2463800"/>
            <a:ext cx="8172450" cy="2770188"/>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89" name="Google Shape;189;p19"/>
          <p:cNvSpPr txBox="1"/>
          <p:nvPr/>
        </p:nvSpPr>
        <p:spPr>
          <a:xfrm>
            <a:off x="509343" y="921277"/>
            <a:ext cx="7458952" cy="1554272"/>
          </a:xfrm>
          <a:prstGeom prst="rect">
            <a:avLst/>
          </a:prstGeom>
          <a:noFill/>
          <a:ln>
            <a:noFill/>
          </a:ln>
        </p:spPr>
        <p:txBody>
          <a:bodyPr spcFirstLastPara="1" wrap="square" lIns="0" tIns="0" rIns="0" bIns="0" anchor="t" anchorCtr="0">
            <a:spAutoFit/>
          </a:bodyPr>
          <a:lstStyle/>
          <a:p>
            <a:pPr marR="0" lvl="0" indent="0" algn="l" rtl="0">
              <a:spcBef>
                <a:spcPts val="0"/>
              </a:spcBef>
              <a:spcAft>
                <a:spcPts val="600"/>
              </a:spcAft>
              <a:buClr>
                <a:schemeClr val="tx1"/>
              </a:buClr>
              <a:buSzPct val="100000"/>
              <a:buNone/>
            </a:pPr>
            <a:r>
              <a:rPr lang="es-ES" sz="1600" b="1" i="0" dirty="0">
                <a:solidFill>
                  <a:schemeClr val="tx1"/>
                </a:solidFill>
                <a:highlight>
                  <a:srgbClr val="FFFFFF"/>
                </a:highlight>
                <a:latin typeface="Calibri" panose="020F0502020204030204" pitchFamily="34" charset="0"/>
                <a:cs typeface="Calibri" panose="020F0502020204030204" pitchFamily="34" charset="0"/>
                <a:sym typeface="Arial"/>
              </a:rPr>
              <a:t>MANEJO DE VISTAS EN SPRING MVC</a:t>
            </a:r>
          </a:p>
          <a:p>
            <a:pPr marR="0" lvl="0" indent="-260350" algn="l" rtl="0">
              <a:spcBef>
                <a:spcPts val="0"/>
              </a:spcBef>
              <a:spcAft>
                <a:spcPts val="0"/>
              </a:spcAft>
              <a:buClr>
                <a:schemeClr val="tx1"/>
              </a:buClr>
              <a:buSzPct val="100000"/>
              <a:buFont typeface="Calibri"/>
              <a:buAutoNum type="arabicPeriod"/>
            </a:pPr>
            <a:r>
              <a:rPr lang="es-ES" sz="1600" dirty="0">
                <a:solidFill>
                  <a:schemeClr val="tx1"/>
                </a:solidFill>
                <a:latin typeface="Calibri" panose="020F0502020204030204" pitchFamily="34" charset="0"/>
                <a:cs typeface="Calibri" panose="020F0502020204030204" pitchFamily="34" charset="0"/>
                <a:sym typeface="Arial"/>
              </a:rPr>
              <a:t>Tipos de vistas soportadas por Spring MVC.</a:t>
            </a:r>
            <a:endParaRPr lang="es-ES" sz="1600" dirty="0">
              <a:solidFill>
                <a:schemeClr val="tx1"/>
              </a:solidFill>
              <a:latin typeface="Calibri" panose="020F0502020204030204" pitchFamily="34" charset="0"/>
              <a:cs typeface="Calibri" panose="020F0502020204030204" pitchFamily="34" charset="0"/>
            </a:endParaRPr>
          </a:p>
          <a:p>
            <a:pPr marR="0" lvl="0" indent="-260350" algn="l" rtl="0">
              <a:spcBef>
                <a:spcPts val="0"/>
              </a:spcBef>
              <a:spcAft>
                <a:spcPts val="0"/>
              </a:spcAft>
              <a:buClr>
                <a:schemeClr val="tx1"/>
              </a:buClr>
              <a:buSzPct val="100000"/>
              <a:buFont typeface="Calibri"/>
              <a:buAutoNum type="arabicPeriod"/>
            </a:pPr>
            <a:r>
              <a:rPr lang="es-ES" sz="1600" dirty="0">
                <a:solidFill>
                  <a:schemeClr val="tx1"/>
                </a:solidFill>
                <a:latin typeface="Calibri" panose="020F0502020204030204" pitchFamily="34" charset="0"/>
                <a:cs typeface="Calibri" panose="020F0502020204030204" pitchFamily="34" charset="0"/>
                <a:sym typeface="Arial"/>
              </a:rPr>
              <a:t>Configuración de un </a:t>
            </a:r>
            <a:r>
              <a:rPr lang="es-ES" sz="1600" dirty="0" err="1">
                <a:solidFill>
                  <a:schemeClr val="tx1"/>
                </a:solidFill>
                <a:latin typeface="Calibri" panose="020F0502020204030204" pitchFamily="34" charset="0"/>
                <a:cs typeface="Calibri" panose="020F0502020204030204" pitchFamily="34" charset="0"/>
                <a:sym typeface="Arial"/>
              </a:rPr>
              <a:t>ViewResolver</a:t>
            </a:r>
            <a:r>
              <a:rPr lang="es-ES" sz="1600" dirty="0">
                <a:solidFill>
                  <a:schemeClr val="tx1"/>
                </a:solidFill>
                <a:latin typeface="Calibri" panose="020F0502020204030204" pitchFamily="34" charset="0"/>
                <a:cs typeface="Calibri" panose="020F0502020204030204" pitchFamily="34" charset="0"/>
                <a:sym typeface="Arial"/>
              </a:rPr>
              <a:t>.</a:t>
            </a:r>
            <a:endParaRPr lang="es-ES" sz="1600" dirty="0">
              <a:solidFill>
                <a:schemeClr val="tx1"/>
              </a:solidFill>
              <a:latin typeface="Calibri" panose="020F0502020204030204" pitchFamily="34" charset="0"/>
              <a:cs typeface="Calibri" panose="020F0502020204030204" pitchFamily="34" charset="0"/>
            </a:endParaRPr>
          </a:p>
          <a:p>
            <a:pPr marR="0" lvl="0" indent="-241300" algn="l" rtl="0">
              <a:spcBef>
                <a:spcPts val="0"/>
              </a:spcBef>
              <a:spcAft>
                <a:spcPts val="0"/>
              </a:spcAft>
              <a:buClr>
                <a:schemeClr val="tx1"/>
              </a:buClr>
              <a:buSzPct val="100000"/>
              <a:buFont typeface="Calibri"/>
              <a:buNone/>
            </a:pPr>
            <a:endParaRPr lang="es-ES" sz="1600" dirty="0">
              <a:solidFill>
                <a:schemeClr val="tx1"/>
              </a:solidFill>
              <a:latin typeface="Calibri" panose="020F0502020204030204" pitchFamily="34" charset="0"/>
              <a:cs typeface="Calibri" panose="020F0502020204030204" pitchFamily="34" charset="0"/>
              <a:sym typeface="Arial"/>
            </a:endParaRPr>
          </a:p>
          <a:p>
            <a:pPr marR="0" lvl="0" indent="0" algn="l" rtl="0">
              <a:spcBef>
                <a:spcPts val="0"/>
              </a:spcBef>
              <a:spcAft>
                <a:spcPts val="0"/>
              </a:spcAft>
              <a:buClr>
                <a:schemeClr val="tx1"/>
              </a:buClr>
              <a:buSzPct val="100000"/>
              <a:buNone/>
            </a:pPr>
            <a:r>
              <a:rPr lang="es-ES" sz="1600" dirty="0">
                <a:solidFill>
                  <a:schemeClr val="tx1"/>
                </a:solidFill>
                <a:latin typeface="Calibri" panose="020F0502020204030204" pitchFamily="34" charset="0"/>
                <a:cs typeface="Calibri" panose="020F0502020204030204" pitchFamily="34" charset="0"/>
                <a:sym typeface="Arial"/>
              </a:rPr>
              <a:t>Ejemplo:</a:t>
            </a:r>
          </a:p>
          <a:p>
            <a:pPr marR="0" lvl="0" indent="0" algn="l" rtl="0">
              <a:spcBef>
                <a:spcPts val="0"/>
              </a:spcBef>
              <a:spcAft>
                <a:spcPts val="0"/>
              </a:spcAft>
              <a:buClr>
                <a:schemeClr val="tx1"/>
              </a:buClr>
              <a:buSzPct val="100000"/>
              <a:buNone/>
            </a:pPr>
            <a:endParaRPr sz="1600" dirty="0">
              <a:solidFill>
                <a:schemeClr val="tx1"/>
              </a:solidFill>
              <a:latin typeface="Calibri" panose="020F0502020204030204" pitchFamily="34" charset="0"/>
              <a:cs typeface="Calibri" panose="020F0502020204030204" pitchFamily="34" charset="0"/>
            </a:endParaRPr>
          </a:p>
        </p:txBody>
      </p:sp>
      <p:pic>
        <p:nvPicPr>
          <p:cNvPr id="192" name="Google Shape;192;p19"/>
          <p:cNvPicPr preferRelativeResize="0"/>
          <p:nvPr/>
        </p:nvPicPr>
        <p:blipFill rotWithShape="1">
          <a:blip r:embed="rId3">
            <a:alphaModFix/>
          </a:blip>
          <a:srcRect/>
          <a:stretch/>
        </p:blipFill>
        <p:spPr>
          <a:xfrm>
            <a:off x="660400" y="3143207"/>
            <a:ext cx="7950200" cy="1365187"/>
          </a:xfrm>
          <a:prstGeom prst="rect">
            <a:avLst/>
          </a:prstGeom>
          <a:noFill/>
          <a:ln>
            <a:noFill/>
          </a:ln>
        </p:spPr>
      </p:pic>
      <p:sp>
        <p:nvSpPr>
          <p:cNvPr id="2" name="Rectangle 5">
            <a:extLst>
              <a:ext uri="{FF2B5EF4-FFF2-40B4-BE49-F238E27FC236}">
                <a16:creationId xmlns:a16="http://schemas.microsoft.com/office/drawing/2014/main" id="{4D4B8E7A-1A75-7F0D-A5EA-B7605DBB3E94}"/>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APLICACIONES WEB CON SPRING MVC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Rectángulo 3">
            <a:extLst>
              <a:ext uri="{FF2B5EF4-FFF2-40B4-BE49-F238E27FC236}">
                <a16:creationId xmlns:a16="http://schemas.microsoft.com/office/drawing/2014/main" id="{778E8D91-DB70-B751-D4B6-1211CC9D6B52}"/>
              </a:ext>
            </a:extLst>
          </p:cNvPr>
          <p:cNvSpPr/>
          <p:nvPr/>
        </p:nvSpPr>
        <p:spPr>
          <a:xfrm>
            <a:off x="503238" y="2675466"/>
            <a:ext cx="8172450" cy="2558521"/>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98" name="Google Shape;198;p20"/>
          <p:cNvSpPr txBox="1"/>
          <p:nvPr/>
        </p:nvSpPr>
        <p:spPr>
          <a:xfrm>
            <a:off x="509342" y="921277"/>
            <a:ext cx="7872657" cy="1308050"/>
          </a:xfrm>
          <a:prstGeom prst="rect">
            <a:avLst/>
          </a:prstGeom>
          <a:noFill/>
          <a:ln>
            <a:noFill/>
          </a:ln>
        </p:spPr>
        <p:txBody>
          <a:bodyPr spcFirstLastPara="1" wrap="square" lIns="0" tIns="0" rIns="0" bIns="0" anchor="t" anchorCtr="0">
            <a:spAutoFit/>
          </a:bodyPr>
          <a:lstStyle/>
          <a:p>
            <a:pPr marR="0" lvl="0" indent="0" algn="l" rtl="0">
              <a:spcBef>
                <a:spcPts val="0"/>
              </a:spcBef>
              <a:spcAft>
                <a:spcPts val="600"/>
              </a:spcAft>
              <a:buNone/>
            </a:pPr>
            <a:r>
              <a:rPr lang="es-ES" sz="1600" b="1" i="0" dirty="0">
                <a:solidFill>
                  <a:schemeClr val="tx1"/>
                </a:solidFill>
                <a:highlight>
                  <a:srgbClr val="FFFFFF"/>
                </a:highlight>
                <a:latin typeface="Calibri" panose="020F0502020204030204" pitchFamily="34" charset="0"/>
                <a:cs typeface="Calibri" panose="020F0502020204030204" pitchFamily="34" charset="0"/>
                <a:sym typeface="Arial"/>
              </a:rPr>
              <a:t>ENVÍO Y MANEJO DE DATOS CON FORMULARIOS</a:t>
            </a:r>
          </a:p>
          <a:p>
            <a:pPr marR="0" lvl="0" indent="-260350" algn="l" rtl="0">
              <a:spcBef>
                <a:spcPts val="0"/>
              </a:spcBef>
              <a:buClr>
                <a:schemeClr val="tx1"/>
              </a:buClr>
              <a:buSzPts val="1600"/>
              <a:buFont typeface="Calibri"/>
              <a:buAutoNum type="arabicPeriod"/>
            </a:pPr>
            <a:r>
              <a:rPr lang="es-ES" sz="1600" dirty="0">
                <a:solidFill>
                  <a:schemeClr val="tx1"/>
                </a:solidFill>
                <a:latin typeface="Calibri" panose="020F0502020204030204" pitchFamily="34" charset="0"/>
                <a:cs typeface="Calibri" panose="020F0502020204030204" pitchFamily="34" charset="0"/>
                <a:sym typeface="Arial"/>
              </a:rPr>
              <a:t>Manejo de datos enviados desde formularios web.</a:t>
            </a:r>
            <a:endParaRPr lang="es-ES" sz="1600" dirty="0">
              <a:solidFill>
                <a:schemeClr val="tx1"/>
              </a:solidFill>
              <a:latin typeface="Calibri" panose="020F0502020204030204" pitchFamily="34" charset="0"/>
              <a:cs typeface="Calibri" panose="020F0502020204030204" pitchFamily="34" charset="0"/>
            </a:endParaRPr>
          </a:p>
          <a:p>
            <a:pPr marR="0" lvl="0" indent="-260350" algn="l" rtl="0">
              <a:spcBef>
                <a:spcPts val="0"/>
              </a:spcBef>
              <a:buClr>
                <a:schemeClr val="tx1"/>
              </a:buClr>
              <a:buSzPts val="1600"/>
              <a:buFont typeface="Calibri"/>
              <a:buAutoNum type="arabicPeriod"/>
            </a:pPr>
            <a:r>
              <a:rPr lang="es-ES" sz="1600" dirty="0">
                <a:solidFill>
                  <a:schemeClr val="tx1"/>
                </a:solidFill>
                <a:latin typeface="Calibri" panose="020F0502020204030204" pitchFamily="34" charset="0"/>
                <a:cs typeface="Calibri" panose="020F0502020204030204" pitchFamily="34" charset="0"/>
                <a:sym typeface="Arial"/>
              </a:rPr>
              <a:t>Uso de la anotación @</a:t>
            </a:r>
            <a:r>
              <a:rPr lang="es-ES" sz="1600" dirty="0" err="1">
                <a:solidFill>
                  <a:schemeClr val="tx1"/>
                </a:solidFill>
                <a:latin typeface="Calibri" panose="020F0502020204030204" pitchFamily="34" charset="0"/>
                <a:cs typeface="Calibri" panose="020F0502020204030204" pitchFamily="34" charset="0"/>
                <a:sym typeface="Arial"/>
              </a:rPr>
              <a:t>ModelAttribute</a:t>
            </a:r>
            <a:r>
              <a:rPr lang="es-ES" sz="1600" dirty="0">
                <a:solidFill>
                  <a:schemeClr val="tx1"/>
                </a:solidFill>
                <a:latin typeface="Calibri" panose="020F0502020204030204" pitchFamily="34" charset="0"/>
                <a:cs typeface="Calibri" panose="020F0502020204030204" pitchFamily="34" charset="0"/>
                <a:sym typeface="Arial"/>
              </a:rPr>
              <a:t> para enlazar datos del formulario con el modelo.</a:t>
            </a:r>
            <a:endParaRPr lang="es-ES" sz="1600" dirty="0">
              <a:solidFill>
                <a:schemeClr val="tx1"/>
              </a:solidFill>
              <a:latin typeface="Calibri" panose="020F0502020204030204" pitchFamily="34" charset="0"/>
              <a:cs typeface="Calibri" panose="020F0502020204030204" pitchFamily="34" charset="0"/>
            </a:endParaRPr>
          </a:p>
          <a:p>
            <a:pPr marR="0" lvl="0" indent="-241300" algn="l" rtl="0">
              <a:spcBef>
                <a:spcPts val="0"/>
              </a:spcBef>
              <a:buClr>
                <a:schemeClr val="dk1"/>
              </a:buClr>
              <a:buSzPts val="1600"/>
              <a:buFont typeface="Calibri"/>
              <a:buNone/>
            </a:pPr>
            <a:endParaRPr lang="es-ES" sz="1600" dirty="0">
              <a:solidFill>
                <a:schemeClr val="tx1"/>
              </a:solidFill>
              <a:latin typeface="Calibri" panose="020F0502020204030204" pitchFamily="34" charset="0"/>
              <a:cs typeface="Calibri" panose="020F0502020204030204" pitchFamily="34" charset="0"/>
              <a:sym typeface="Arial"/>
            </a:endParaRPr>
          </a:p>
          <a:p>
            <a:pPr marR="0" lvl="0" indent="0" algn="l" rtl="0">
              <a:spcBef>
                <a:spcPts val="0"/>
              </a:spcBef>
              <a:buNone/>
            </a:pPr>
            <a:r>
              <a:rPr lang="es-ES" sz="1600" dirty="0">
                <a:solidFill>
                  <a:schemeClr val="tx1"/>
                </a:solidFill>
                <a:latin typeface="Calibri" panose="020F0502020204030204" pitchFamily="34" charset="0"/>
                <a:cs typeface="Calibri" panose="020F0502020204030204" pitchFamily="34" charset="0"/>
                <a:sym typeface="Arial"/>
              </a:rPr>
              <a:t>Ejemplo:</a:t>
            </a:r>
          </a:p>
        </p:txBody>
      </p:sp>
      <p:pic>
        <p:nvPicPr>
          <p:cNvPr id="201" name="Google Shape;201;p20"/>
          <p:cNvPicPr preferRelativeResize="0"/>
          <p:nvPr/>
        </p:nvPicPr>
        <p:blipFill rotWithShape="1">
          <a:blip r:embed="rId3">
            <a:alphaModFix/>
          </a:blip>
          <a:srcRect/>
          <a:stretch/>
        </p:blipFill>
        <p:spPr>
          <a:xfrm>
            <a:off x="1222815" y="2857500"/>
            <a:ext cx="6698370" cy="2163015"/>
          </a:xfrm>
          <a:prstGeom prst="rect">
            <a:avLst/>
          </a:prstGeom>
          <a:noFill/>
          <a:ln>
            <a:noFill/>
          </a:ln>
        </p:spPr>
      </p:pic>
      <p:sp>
        <p:nvSpPr>
          <p:cNvPr id="2" name="Rectangle 5">
            <a:extLst>
              <a:ext uri="{FF2B5EF4-FFF2-40B4-BE49-F238E27FC236}">
                <a16:creationId xmlns:a16="http://schemas.microsoft.com/office/drawing/2014/main" id="{802EF995-A852-245D-7BE6-DEF884645C4B}"/>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APLICACIONES WEB CON SPRING MVC</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4" name="Rectángulo 3">
            <a:extLst>
              <a:ext uri="{FF2B5EF4-FFF2-40B4-BE49-F238E27FC236}">
                <a16:creationId xmlns:a16="http://schemas.microsoft.com/office/drawing/2014/main" id="{75C63B18-FE0E-EAD3-2136-8DBB0C29755B}"/>
              </a:ext>
            </a:extLst>
          </p:cNvPr>
          <p:cNvSpPr/>
          <p:nvPr/>
        </p:nvSpPr>
        <p:spPr>
          <a:xfrm>
            <a:off x="503238" y="2675466"/>
            <a:ext cx="8172450" cy="2558521"/>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07" name="Google Shape;207;p21"/>
          <p:cNvSpPr txBox="1"/>
          <p:nvPr/>
        </p:nvSpPr>
        <p:spPr>
          <a:xfrm>
            <a:off x="509343" y="921277"/>
            <a:ext cx="7458952" cy="1308050"/>
          </a:xfrm>
          <a:prstGeom prst="rect">
            <a:avLst/>
          </a:prstGeom>
          <a:noFill/>
          <a:ln>
            <a:noFill/>
          </a:ln>
        </p:spPr>
        <p:txBody>
          <a:bodyPr spcFirstLastPara="1" wrap="square" lIns="0" tIns="0" rIns="0" bIns="0" anchor="t" anchorCtr="0">
            <a:spAutoFit/>
          </a:bodyPr>
          <a:lstStyle/>
          <a:p>
            <a:pPr marR="0" lvl="0" algn="l" rtl="0">
              <a:spcBef>
                <a:spcPts val="0"/>
              </a:spcBef>
              <a:spcAft>
                <a:spcPts val="600"/>
              </a:spcAft>
              <a:buClr>
                <a:schemeClr val="tx1"/>
              </a:buClr>
              <a:buSzPct val="100000"/>
            </a:pPr>
            <a:r>
              <a:rPr lang="es-ES" sz="1600" b="1" i="0" dirty="0">
                <a:solidFill>
                  <a:schemeClr val="tx1"/>
                </a:solidFill>
                <a:highlight>
                  <a:srgbClr val="FFFFFF"/>
                </a:highlight>
                <a:latin typeface="Calibri" panose="020F0502020204030204" pitchFamily="34" charset="0"/>
                <a:cs typeface="Calibri" panose="020F0502020204030204" pitchFamily="34" charset="0"/>
                <a:sym typeface="Arial"/>
              </a:rPr>
              <a:t>VALIDACIÓN DE DATOS EN SPRING MVC</a:t>
            </a:r>
          </a:p>
          <a:p>
            <a:pPr marR="0" lvl="0" indent="-268288" algn="l" rtl="0">
              <a:spcBef>
                <a:spcPts val="0"/>
              </a:spcBef>
              <a:spcAft>
                <a:spcPts val="0"/>
              </a:spcAft>
              <a:buClr>
                <a:schemeClr val="tx1"/>
              </a:buClr>
              <a:buSzPct val="100000"/>
              <a:buFont typeface="+mj-lt"/>
              <a:buAutoNum type="arabicPeriod"/>
            </a:pPr>
            <a:r>
              <a:rPr lang="es-ES" sz="1600" dirty="0">
                <a:solidFill>
                  <a:schemeClr val="tx1"/>
                </a:solidFill>
                <a:latin typeface="Calibri" panose="020F0502020204030204" pitchFamily="34" charset="0"/>
                <a:cs typeface="Calibri" panose="020F0502020204030204" pitchFamily="34" charset="0"/>
                <a:sym typeface="Arial"/>
              </a:rPr>
              <a:t>Uso de la anotación @</a:t>
            </a:r>
            <a:r>
              <a:rPr lang="es-ES" sz="1600" dirty="0" err="1">
                <a:solidFill>
                  <a:schemeClr val="tx1"/>
                </a:solidFill>
                <a:latin typeface="Calibri" panose="020F0502020204030204" pitchFamily="34" charset="0"/>
                <a:cs typeface="Calibri" panose="020F0502020204030204" pitchFamily="34" charset="0"/>
                <a:sym typeface="Arial"/>
              </a:rPr>
              <a:t>Valid</a:t>
            </a:r>
            <a:r>
              <a:rPr lang="es-ES" sz="1600" dirty="0">
                <a:solidFill>
                  <a:schemeClr val="tx1"/>
                </a:solidFill>
                <a:latin typeface="Calibri" panose="020F0502020204030204" pitchFamily="34" charset="0"/>
                <a:cs typeface="Calibri" panose="020F0502020204030204" pitchFamily="34" charset="0"/>
                <a:sym typeface="Arial"/>
              </a:rPr>
              <a:t> y el </a:t>
            </a:r>
            <a:r>
              <a:rPr lang="es-ES" sz="1600" dirty="0" err="1">
                <a:solidFill>
                  <a:schemeClr val="tx1"/>
                </a:solidFill>
                <a:latin typeface="Calibri" panose="020F0502020204030204" pitchFamily="34" charset="0"/>
                <a:cs typeface="Calibri" panose="020F0502020204030204" pitchFamily="34" charset="0"/>
                <a:sym typeface="Arial"/>
              </a:rPr>
              <a:t>BindingResult</a:t>
            </a:r>
            <a:r>
              <a:rPr lang="es-ES" sz="1600" dirty="0">
                <a:solidFill>
                  <a:schemeClr val="tx1"/>
                </a:solidFill>
                <a:latin typeface="Calibri" panose="020F0502020204030204" pitchFamily="34" charset="0"/>
                <a:cs typeface="Calibri" panose="020F0502020204030204" pitchFamily="34" charset="0"/>
                <a:sym typeface="Arial"/>
              </a:rPr>
              <a:t> para validar datos de formularios.</a:t>
            </a:r>
            <a:endParaRPr lang="es-ES" sz="1600" dirty="0">
              <a:solidFill>
                <a:schemeClr val="tx1"/>
              </a:solidFill>
              <a:latin typeface="Calibri" panose="020F0502020204030204" pitchFamily="34" charset="0"/>
              <a:cs typeface="Calibri" panose="020F0502020204030204" pitchFamily="34" charset="0"/>
            </a:endParaRPr>
          </a:p>
          <a:p>
            <a:pPr marR="0" lvl="0" indent="-268288" algn="l" rtl="0">
              <a:spcBef>
                <a:spcPts val="0"/>
              </a:spcBef>
              <a:spcAft>
                <a:spcPts val="0"/>
              </a:spcAft>
              <a:buClr>
                <a:schemeClr val="tx1"/>
              </a:buClr>
              <a:buSzPct val="100000"/>
              <a:buFont typeface="+mj-lt"/>
              <a:buAutoNum type="arabicPeriod"/>
            </a:pPr>
            <a:r>
              <a:rPr lang="es-ES" sz="1600" dirty="0">
                <a:solidFill>
                  <a:schemeClr val="tx1"/>
                </a:solidFill>
                <a:latin typeface="Calibri" panose="020F0502020204030204" pitchFamily="34" charset="0"/>
                <a:cs typeface="Calibri" panose="020F0502020204030204" pitchFamily="34" charset="0"/>
                <a:sym typeface="Arial"/>
              </a:rPr>
              <a:t>Ejemplo de validación de un modelo.</a:t>
            </a:r>
            <a:endParaRPr lang="es-ES" sz="1600" dirty="0">
              <a:solidFill>
                <a:schemeClr val="tx1"/>
              </a:solidFill>
              <a:latin typeface="Calibri" panose="020F0502020204030204" pitchFamily="34" charset="0"/>
              <a:cs typeface="Calibri" panose="020F0502020204030204" pitchFamily="34" charset="0"/>
            </a:endParaRPr>
          </a:p>
          <a:p>
            <a:pPr marR="0" lvl="0" algn="l" rtl="0">
              <a:spcBef>
                <a:spcPts val="0"/>
              </a:spcBef>
              <a:spcAft>
                <a:spcPts val="0"/>
              </a:spcAft>
              <a:buClr>
                <a:schemeClr val="tx1"/>
              </a:buClr>
              <a:buSzPct val="100000"/>
            </a:pPr>
            <a:endParaRPr lang="es-ES" sz="1600" dirty="0">
              <a:solidFill>
                <a:schemeClr val="tx1"/>
              </a:solidFill>
              <a:latin typeface="Calibri" panose="020F0502020204030204" pitchFamily="34" charset="0"/>
              <a:cs typeface="Calibri" panose="020F0502020204030204" pitchFamily="34" charset="0"/>
              <a:sym typeface="Arial"/>
            </a:endParaRPr>
          </a:p>
          <a:p>
            <a:pPr marR="0" lvl="0" algn="l" rtl="0">
              <a:spcBef>
                <a:spcPts val="0"/>
              </a:spcBef>
              <a:spcAft>
                <a:spcPts val="0"/>
              </a:spcAft>
              <a:buClr>
                <a:schemeClr val="tx1"/>
              </a:buClr>
              <a:buSzPct val="100000"/>
            </a:pPr>
            <a:r>
              <a:rPr lang="es-ES" sz="1600" dirty="0">
                <a:solidFill>
                  <a:schemeClr val="tx1"/>
                </a:solidFill>
                <a:latin typeface="Calibri" panose="020F0502020204030204" pitchFamily="34" charset="0"/>
                <a:cs typeface="Calibri" panose="020F0502020204030204" pitchFamily="34" charset="0"/>
                <a:sym typeface="Arial"/>
              </a:rPr>
              <a:t>Ejemplo:</a:t>
            </a:r>
          </a:p>
        </p:txBody>
      </p:sp>
      <p:pic>
        <p:nvPicPr>
          <p:cNvPr id="210" name="Google Shape;210;p21"/>
          <p:cNvPicPr preferRelativeResize="0"/>
          <p:nvPr/>
        </p:nvPicPr>
        <p:blipFill rotWithShape="1">
          <a:blip r:embed="rId3">
            <a:alphaModFix/>
          </a:blip>
          <a:srcRect r="267"/>
          <a:stretch/>
        </p:blipFill>
        <p:spPr>
          <a:xfrm>
            <a:off x="1405929" y="2799747"/>
            <a:ext cx="6307204" cy="2330470"/>
          </a:xfrm>
          <a:prstGeom prst="rect">
            <a:avLst/>
          </a:prstGeom>
          <a:noFill/>
          <a:ln>
            <a:noFill/>
          </a:ln>
        </p:spPr>
      </p:pic>
      <p:sp>
        <p:nvSpPr>
          <p:cNvPr id="2" name="Rectangle 5">
            <a:extLst>
              <a:ext uri="{FF2B5EF4-FFF2-40B4-BE49-F238E27FC236}">
                <a16:creationId xmlns:a16="http://schemas.microsoft.com/office/drawing/2014/main" id="{37463510-FE2B-91D9-3D06-73D18B6945D4}"/>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APLICACIONES WEB CON SPRING MVC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4" name="Rectángulo 3">
            <a:extLst>
              <a:ext uri="{FF2B5EF4-FFF2-40B4-BE49-F238E27FC236}">
                <a16:creationId xmlns:a16="http://schemas.microsoft.com/office/drawing/2014/main" id="{452D3CA9-B3AE-7059-A6EF-58A4C5521527}"/>
              </a:ext>
            </a:extLst>
          </p:cNvPr>
          <p:cNvSpPr/>
          <p:nvPr/>
        </p:nvSpPr>
        <p:spPr>
          <a:xfrm>
            <a:off x="503238" y="2463800"/>
            <a:ext cx="8172450" cy="2770188"/>
          </a:xfrm>
          <a:prstGeom prst="rect">
            <a:avLst/>
          </a:prstGeom>
          <a:solidFill>
            <a:srgbClr val="0D0D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16" name="Google Shape;216;p22"/>
          <p:cNvSpPr txBox="1"/>
          <p:nvPr/>
        </p:nvSpPr>
        <p:spPr>
          <a:xfrm>
            <a:off x="509343" y="921277"/>
            <a:ext cx="7458952" cy="1554272"/>
          </a:xfrm>
          <a:prstGeom prst="rect">
            <a:avLst/>
          </a:prstGeom>
          <a:noFill/>
          <a:ln>
            <a:noFill/>
          </a:ln>
        </p:spPr>
        <p:txBody>
          <a:bodyPr spcFirstLastPara="1" wrap="square" lIns="0" tIns="0" rIns="0" bIns="0" anchor="t" anchorCtr="0">
            <a:spAutoFit/>
          </a:bodyPr>
          <a:lstStyle/>
          <a:p>
            <a:pPr marR="0" lvl="0" indent="0" algn="l" rtl="0">
              <a:spcBef>
                <a:spcPts val="0"/>
              </a:spcBef>
              <a:spcAft>
                <a:spcPts val="600"/>
              </a:spcAft>
              <a:buNone/>
            </a:pPr>
            <a:r>
              <a:rPr lang="es-ES" sz="1600" b="1" i="0" dirty="0">
                <a:solidFill>
                  <a:schemeClr val="tx1"/>
                </a:solidFill>
                <a:highlight>
                  <a:srgbClr val="FFFFFF"/>
                </a:highlight>
                <a:latin typeface="Calibri" panose="020F0502020204030204" pitchFamily="34" charset="0"/>
                <a:cs typeface="Calibri" panose="020F0502020204030204" pitchFamily="34" charset="0"/>
                <a:sym typeface="Arial"/>
              </a:rPr>
              <a:t>MANEJO DE EXCEPCIONES EN SPRING MVC</a:t>
            </a:r>
          </a:p>
          <a:p>
            <a:pPr marR="0" lvl="0" indent="-260350" algn="l" rtl="0">
              <a:spcBef>
                <a:spcPts val="0"/>
              </a:spcBef>
              <a:spcAft>
                <a:spcPts val="0"/>
              </a:spcAft>
              <a:buClr>
                <a:schemeClr val="tx1"/>
              </a:buClr>
              <a:buSzPts val="1600"/>
              <a:buFont typeface="Calibri"/>
              <a:buAutoNum type="arabicPeriod"/>
            </a:pPr>
            <a:r>
              <a:rPr lang="es-ES" sz="1600" dirty="0">
                <a:solidFill>
                  <a:schemeClr val="tx1"/>
                </a:solidFill>
                <a:latin typeface="Calibri" panose="020F0502020204030204" pitchFamily="34" charset="0"/>
                <a:cs typeface="Calibri" panose="020F0502020204030204" pitchFamily="34" charset="0"/>
                <a:sym typeface="Arial"/>
              </a:rPr>
              <a:t>Configuración de manejadores de excepciones globales y específicos.</a:t>
            </a:r>
            <a:endParaRPr lang="es-ES" sz="1600" dirty="0">
              <a:solidFill>
                <a:schemeClr val="tx1"/>
              </a:solidFill>
              <a:latin typeface="Calibri" panose="020F0502020204030204" pitchFamily="34" charset="0"/>
              <a:cs typeface="Calibri" panose="020F0502020204030204" pitchFamily="34" charset="0"/>
            </a:endParaRPr>
          </a:p>
          <a:p>
            <a:pPr marR="0" lvl="0" indent="-260350" algn="l" rtl="0">
              <a:spcBef>
                <a:spcPts val="0"/>
              </a:spcBef>
              <a:spcAft>
                <a:spcPts val="0"/>
              </a:spcAft>
              <a:buClr>
                <a:schemeClr val="tx1"/>
              </a:buClr>
              <a:buSzPts val="1600"/>
              <a:buFont typeface="Calibri"/>
              <a:buAutoNum type="arabicPeriod"/>
            </a:pPr>
            <a:r>
              <a:rPr lang="es-ES" sz="1600" dirty="0">
                <a:solidFill>
                  <a:schemeClr val="tx1"/>
                </a:solidFill>
                <a:latin typeface="Calibri" panose="020F0502020204030204" pitchFamily="34" charset="0"/>
                <a:cs typeface="Calibri" panose="020F0502020204030204" pitchFamily="34" charset="0"/>
                <a:sym typeface="Arial"/>
              </a:rPr>
              <a:t>Uso de @</a:t>
            </a:r>
            <a:r>
              <a:rPr lang="es-ES" sz="1600" dirty="0" err="1">
                <a:solidFill>
                  <a:schemeClr val="tx1"/>
                </a:solidFill>
                <a:latin typeface="Calibri" panose="020F0502020204030204" pitchFamily="34" charset="0"/>
                <a:cs typeface="Calibri" panose="020F0502020204030204" pitchFamily="34" charset="0"/>
                <a:sym typeface="Arial"/>
              </a:rPr>
              <a:t>ExceptionHandler</a:t>
            </a:r>
            <a:r>
              <a:rPr lang="es-ES" sz="1600" dirty="0">
                <a:solidFill>
                  <a:schemeClr val="tx1"/>
                </a:solidFill>
                <a:latin typeface="Calibri" panose="020F0502020204030204" pitchFamily="34" charset="0"/>
                <a:cs typeface="Calibri" panose="020F0502020204030204" pitchFamily="34" charset="0"/>
                <a:sym typeface="Arial"/>
              </a:rPr>
              <a:t> y @</a:t>
            </a:r>
            <a:r>
              <a:rPr lang="es-ES" sz="1600" dirty="0" err="1">
                <a:solidFill>
                  <a:schemeClr val="tx1"/>
                </a:solidFill>
                <a:latin typeface="Calibri" panose="020F0502020204030204" pitchFamily="34" charset="0"/>
                <a:cs typeface="Calibri" panose="020F0502020204030204" pitchFamily="34" charset="0"/>
                <a:sym typeface="Arial"/>
              </a:rPr>
              <a:t>ControllerAdvice</a:t>
            </a:r>
            <a:r>
              <a:rPr lang="es-ES" sz="1600" dirty="0">
                <a:solidFill>
                  <a:schemeClr val="tx1"/>
                </a:solidFill>
                <a:latin typeface="Calibri" panose="020F0502020204030204" pitchFamily="34" charset="0"/>
                <a:cs typeface="Calibri" panose="020F0502020204030204" pitchFamily="34" charset="0"/>
                <a:sym typeface="Arial"/>
              </a:rPr>
              <a:t>.</a:t>
            </a:r>
            <a:endParaRPr lang="es-ES" sz="1600" dirty="0">
              <a:solidFill>
                <a:schemeClr val="tx1"/>
              </a:solidFill>
              <a:latin typeface="Calibri" panose="020F0502020204030204" pitchFamily="34" charset="0"/>
              <a:cs typeface="Calibri" panose="020F0502020204030204" pitchFamily="34" charset="0"/>
            </a:endParaRPr>
          </a:p>
          <a:p>
            <a:pPr marR="0" lvl="0" indent="-260350" algn="l" rtl="0">
              <a:spcBef>
                <a:spcPts val="0"/>
              </a:spcBef>
              <a:spcAft>
                <a:spcPts val="0"/>
              </a:spcAft>
              <a:buClr>
                <a:schemeClr val="tx1"/>
              </a:buClr>
              <a:buSzPts val="1600"/>
              <a:buFont typeface="Calibri"/>
              <a:buNone/>
            </a:pPr>
            <a:endParaRPr lang="es-ES" sz="1600" dirty="0">
              <a:solidFill>
                <a:schemeClr val="tx1"/>
              </a:solidFill>
              <a:latin typeface="Calibri" panose="020F0502020204030204" pitchFamily="34" charset="0"/>
              <a:cs typeface="Calibri" panose="020F0502020204030204" pitchFamily="34" charset="0"/>
              <a:sym typeface="Arial"/>
            </a:endParaRPr>
          </a:p>
          <a:p>
            <a:pPr marR="0" lvl="0" indent="0" algn="l" rtl="0">
              <a:spcBef>
                <a:spcPts val="0"/>
              </a:spcBef>
              <a:spcAft>
                <a:spcPts val="0"/>
              </a:spcAft>
              <a:buNone/>
            </a:pPr>
            <a:r>
              <a:rPr lang="es-ES" sz="1600" dirty="0">
                <a:solidFill>
                  <a:schemeClr val="tx1"/>
                </a:solidFill>
                <a:latin typeface="Calibri" panose="020F0502020204030204" pitchFamily="34" charset="0"/>
                <a:cs typeface="Calibri" panose="020F0502020204030204" pitchFamily="34" charset="0"/>
                <a:sym typeface="Arial"/>
              </a:rPr>
              <a:t>Ejemplo:</a:t>
            </a:r>
          </a:p>
          <a:p>
            <a:pPr marR="0" lvl="0" indent="0" algn="l" rtl="0">
              <a:spcBef>
                <a:spcPts val="0"/>
              </a:spcBef>
              <a:spcAft>
                <a:spcPts val="0"/>
              </a:spcAft>
              <a:buNone/>
            </a:pPr>
            <a:endParaRPr sz="1600" b="1" i="0" dirty="0">
              <a:solidFill>
                <a:schemeClr val="tx1"/>
              </a:solidFill>
              <a:highlight>
                <a:srgbClr val="FFFFFF"/>
              </a:highlight>
              <a:latin typeface="Calibri" panose="020F0502020204030204" pitchFamily="34" charset="0"/>
              <a:cs typeface="Calibri" panose="020F0502020204030204" pitchFamily="34" charset="0"/>
              <a:sym typeface="Arial"/>
            </a:endParaRPr>
          </a:p>
        </p:txBody>
      </p:sp>
      <p:pic>
        <p:nvPicPr>
          <p:cNvPr id="219" name="Google Shape;219;p22"/>
          <p:cNvPicPr preferRelativeResize="0"/>
          <p:nvPr/>
        </p:nvPicPr>
        <p:blipFill rotWithShape="1">
          <a:blip r:embed="rId3">
            <a:alphaModFix/>
          </a:blip>
          <a:srcRect/>
          <a:stretch/>
        </p:blipFill>
        <p:spPr>
          <a:xfrm>
            <a:off x="1199534" y="2604801"/>
            <a:ext cx="6749189" cy="2500599"/>
          </a:xfrm>
          <a:prstGeom prst="rect">
            <a:avLst/>
          </a:prstGeom>
          <a:noFill/>
          <a:ln>
            <a:noFill/>
          </a:ln>
        </p:spPr>
      </p:pic>
      <p:sp>
        <p:nvSpPr>
          <p:cNvPr id="2" name="Rectangle 5">
            <a:extLst>
              <a:ext uri="{FF2B5EF4-FFF2-40B4-BE49-F238E27FC236}">
                <a16:creationId xmlns:a16="http://schemas.microsoft.com/office/drawing/2014/main" id="{B1C804C1-E454-7EC5-DE7D-F883B82D5CE1}"/>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APLICACIONES WEB CON SPRING MVC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2663825" cy="775597"/>
          </a:xfrm>
          <a:prstGeom prst="rect">
            <a:avLst/>
          </a:prstGeom>
          <a:noFill/>
        </p:spPr>
        <p:txBody>
          <a:bodyPr wrap="square" lIns="0" tIns="0" rIns="0" bIns="0" rtlCol="0">
            <a:spAutoFit/>
          </a:bodyPr>
          <a:lstStyle/>
          <a:p>
            <a:pPr>
              <a:lnSpc>
                <a:spcPct val="90000"/>
              </a:lnSpc>
              <a:spcBef>
                <a:spcPts val="1000"/>
              </a:spcBef>
              <a:defRPr/>
            </a:pPr>
            <a:r>
              <a:rPr lang="es-PE" sz="2800" dirty="0">
                <a:solidFill>
                  <a:schemeClr val="bg1"/>
                </a:solidFill>
                <a:latin typeface="Graphik Regular" charset="0"/>
                <a:ea typeface="Graphik Regular" charset="0"/>
                <a:cs typeface="Graphik Regular" charset="0"/>
              </a:rPr>
              <a:t>SEGURIDAD </a:t>
            </a:r>
            <a:r>
              <a:rPr lang="es-PE" sz="2800" b="1" dirty="0">
                <a:solidFill>
                  <a:schemeClr val="bg1"/>
                </a:solidFill>
                <a:latin typeface="Graphik Bold" panose="020B0503030202060203" pitchFamily="34" charset="77"/>
                <a:ea typeface="Graphik Regular" charset="0"/>
                <a:cs typeface="Graphik Regular" charset="0"/>
              </a:rPr>
              <a:t>CON SPRING</a:t>
            </a: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60309212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4"/>
          <p:cNvSpPr txBox="1"/>
          <p:nvPr/>
        </p:nvSpPr>
        <p:spPr>
          <a:xfrm>
            <a:off x="509343" y="921277"/>
            <a:ext cx="7931924" cy="3939540"/>
          </a:xfrm>
          <a:prstGeom prst="rect">
            <a:avLst/>
          </a:prstGeom>
          <a:noFill/>
          <a:ln>
            <a:noFill/>
          </a:ln>
        </p:spPr>
        <p:txBody>
          <a:bodyPr spcFirstLastPara="1" wrap="square" lIns="0" tIns="0" rIns="0" bIns="0" anchor="t" anchorCtr="0">
            <a:spAutoFit/>
          </a:bodyPr>
          <a:lstStyle/>
          <a:p>
            <a:pPr marR="0" lvl="0" rtl="0">
              <a:spcBef>
                <a:spcPts val="0"/>
              </a:spcBef>
              <a:spcAft>
                <a:spcPts val="0"/>
              </a:spcAft>
              <a:buClr>
                <a:schemeClr val="tx1"/>
              </a:buClr>
              <a:buSzPct val="100000"/>
            </a:pPr>
            <a:r>
              <a:rPr lang="es-ES" sz="1600" dirty="0">
                <a:solidFill>
                  <a:schemeClr val="tx1"/>
                </a:solidFill>
                <a:latin typeface="Calibri" panose="020F0502020204030204" pitchFamily="34" charset="0"/>
                <a:cs typeface="Calibri" panose="020F0502020204030204" pitchFamily="34" charset="0"/>
                <a:sym typeface="Arial"/>
              </a:rPr>
              <a:t>La seguridad es un aspecto crucial en el desarrollo de aplicaciones empresariales, y el Spring Framework ofrece un robusto </a:t>
            </a:r>
            <a:r>
              <a:rPr lang="es-ES" sz="1600" b="1" dirty="0">
                <a:solidFill>
                  <a:schemeClr val="accent5"/>
                </a:solidFill>
                <a:latin typeface="Calibri" panose="020F0502020204030204" pitchFamily="34" charset="0"/>
                <a:cs typeface="Calibri" panose="020F0502020204030204" pitchFamily="34" charset="0"/>
                <a:sym typeface="Arial"/>
              </a:rPr>
              <a:t>conjunto de herramientas y características a través de su módulo Spring Security</a:t>
            </a:r>
            <a:r>
              <a:rPr lang="es-ES" sz="1600" dirty="0">
                <a:solidFill>
                  <a:schemeClr val="tx1"/>
                </a:solidFill>
                <a:latin typeface="Calibri" panose="020F0502020204030204" pitchFamily="34" charset="0"/>
                <a:cs typeface="Calibri" panose="020F0502020204030204" pitchFamily="34" charset="0"/>
                <a:sym typeface="Arial"/>
              </a:rPr>
              <a:t>. Este módulo es altamente configurable y proporciona una amplia gama de funcionalidades para asegurar aplicaciones web, servicios REST, y más.</a:t>
            </a:r>
            <a:endParaRPr sz="1600" dirty="0">
              <a:solidFill>
                <a:schemeClr val="tx1"/>
              </a:solidFill>
              <a:latin typeface="Calibri" panose="020F0502020204030204" pitchFamily="34" charset="0"/>
              <a:cs typeface="Calibri" panose="020F0502020204030204" pitchFamily="34" charset="0"/>
            </a:endParaRPr>
          </a:p>
          <a:p>
            <a:pPr marL="184150" marR="0" lvl="0" indent="-184150" rtl="0">
              <a:spcBef>
                <a:spcPts val="0"/>
              </a:spcBef>
              <a:spcAft>
                <a:spcPts val="0"/>
              </a:spcAft>
              <a:buClr>
                <a:schemeClr val="tx1"/>
              </a:buClr>
              <a:buSzPct val="100000"/>
              <a:buFont typeface="Arial" panose="020B0604020202020204" pitchFamily="34" charset="0"/>
              <a:buChar char="•"/>
            </a:pPr>
            <a:endParaRPr sz="1600" i="0" dirty="0">
              <a:solidFill>
                <a:schemeClr val="tx1"/>
              </a:solidFill>
              <a:latin typeface="Calibri" panose="020F0502020204030204" pitchFamily="34" charset="0"/>
              <a:cs typeface="Calibri" panose="020F0502020204030204" pitchFamily="34" charset="0"/>
              <a:sym typeface="Arial"/>
            </a:endParaRPr>
          </a:p>
          <a:p>
            <a:pPr marR="0" lvl="0" rtl="0">
              <a:spcBef>
                <a:spcPts val="0"/>
              </a:spcBef>
              <a:spcAft>
                <a:spcPts val="0"/>
              </a:spcAft>
              <a:buClr>
                <a:schemeClr val="tx1"/>
              </a:buClr>
              <a:buSzPct val="100000"/>
            </a:pPr>
            <a:r>
              <a:rPr lang="es-ES" sz="1600" dirty="0">
                <a:solidFill>
                  <a:schemeClr val="tx1"/>
                </a:solidFill>
                <a:latin typeface="Calibri" panose="020F0502020204030204" pitchFamily="34" charset="0"/>
                <a:cs typeface="Calibri" panose="020F0502020204030204" pitchFamily="34" charset="0"/>
                <a:sym typeface="Arial"/>
              </a:rPr>
              <a:t>Los principales </a:t>
            </a:r>
            <a:r>
              <a:rPr lang="es-ES" sz="1600" b="1" dirty="0">
                <a:solidFill>
                  <a:schemeClr val="tx1"/>
                </a:solidFill>
                <a:latin typeface="Calibri" panose="020F0502020204030204" pitchFamily="34" charset="0"/>
                <a:cs typeface="Calibri" panose="020F0502020204030204" pitchFamily="34" charset="0"/>
                <a:sym typeface="Arial"/>
              </a:rPr>
              <a:t>aspectos claves de la seguridad con Spring Framework </a:t>
            </a:r>
            <a:r>
              <a:rPr lang="es-ES" sz="1600" dirty="0">
                <a:solidFill>
                  <a:schemeClr val="tx1"/>
                </a:solidFill>
                <a:latin typeface="Calibri" panose="020F0502020204030204" pitchFamily="34" charset="0"/>
                <a:cs typeface="Calibri" panose="020F0502020204030204" pitchFamily="34" charset="0"/>
                <a:sym typeface="Arial"/>
              </a:rPr>
              <a:t>son:</a:t>
            </a:r>
            <a:endParaRPr sz="1600" dirty="0">
              <a:solidFill>
                <a:schemeClr val="tx1"/>
              </a:solidFill>
              <a:latin typeface="Calibri" panose="020F0502020204030204" pitchFamily="34" charset="0"/>
              <a:cs typeface="Calibri" panose="020F0502020204030204" pitchFamily="34" charset="0"/>
            </a:endParaRPr>
          </a:p>
          <a:p>
            <a:pPr marL="184150" marR="0" lvl="0" indent="-184150" rtl="0">
              <a:spcBef>
                <a:spcPts val="0"/>
              </a:spcBef>
              <a:spcAft>
                <a:spcPts val="0"/>
              </a:spcAft>
              <a:buClr>
                <a:schemeClr val="tx1"/>
              </a:buClr>
              <a:buSzPct val="100000"/>
              <a:buFont typeface="Arial" panose="020B0604020202020204" pitchFamily="34" charset="0"/>
              <a:buChar char="•"/>
            </a:pPr>
            <a:endParaRPr sz="1600" i="0" dirty="0">
              <a:solidFill>
                <a:schemeClr val="tx1"/>
              </a:solidFill>
              <a:latin typeface="Calibri" panose="020F0502020204030204" pitchFamily="34" charset="0"/>
              <a:cs typeface="Calibri" panose="020F0502020204030204" pitchFamily="34" charset="0"/>
              <a:sym typeface="Arial"/>
            </a:endParaRPr>
          </a:p>
          <a:p>
            <a:pPr marL="360363" marR="0" lvl="0" indent="-176213" rtl="0">
              <a:spcBef>
                <a:spcPts val="0"/>
              </a:spcBef>
              <a:spcAft>
                <a:spcPts val="0"/>
              </a:spcAft>
              <a:buClr>
                <a:schemeClr val="tx1"/>
              </a:buClr>
              <a:buSzPct val="100000"/>
              <a:buFont typeface="Arial" panose="020B0604020202020204" pitchFamily="34" charset="0"/>
              <a:buChar char="•"/>
            </a:pPr>
            <a:r>
              <a:rPr lang="es-ES" sz="1600" b="1" dirty="0">
                <a:solidFill>
                  <a:schemeClr val="accent5"/>
                </a:solidFill>
                <a:latin typeface="Calibri" panose="020F0502020204030204" pitchFamily="34" charset="0"/>
                <a:cs typeface="Calibri" panose="020F0502020204030204" pitchFamily="34" charset="0"/>
                <a:sym typeface="Arial"/>
              </a:rPr>
              <a:t>Autenticación</a:t>
            </a:r>
            <a:endParaRPr sz="1600" b="1" dirty="0">
              <a:solidFill>
                <a:schemeClr val="accent5"/>
              </a:solidFill>
              <a:latin typeface="Calibri" panose="020F0502020204030204" pitchFamily="34" charset="0"/>
              <a:cs typeface="Calibri" panose="020F0502020204030204" pitchFamily="34" charset="0"/>
            </a:endParaRPr>
          </a:p>
          <a:p>
            <a:pPr marL="360363" marR="0" lvl="0" indent="-176213" rtl="0">
              <a:spcBef>
                <a:spcPts val="0"/>
              </a:spcBef>
              <a:spcAft>
                <a:spcPts val="0"/>
              </a:spcAft>
              <a:buClr>
                <a:schemeClr val="tx1"/>
              </a:buClr>
              <a:buSzPct val="100000"/>
              <a:buFont typeface="Arial" panose="020B0604020202020204" pitchFamily="34" charset="0"/>
              <a:buChar char="•"/>
            </a:pPr>
            <a:r>
              <a:rPr lang="es-ES" sz="1600" b="1" i="0" dirty="0">
                <a:solidFill>
                  <a:schemeClr val="accent5"/>
                </a:solidFill>
                <a:latin typeface="Calibri" panose="020F0502020204030204" pitchFamily="34" charset="0"/>
                <a:cs typeface="Calibri" panose="020F0502020204030204" pitchFamily="34" charset="0"/>
                <a:sym typeface="Arial"/>
              </a:rPr>
              <a:t>Autorización</a:t>
            </a:r>
            <a:endParaRPr sz="1600" b="1" dirty="0">
              <a:solidFill>
                <a:schemeClr val="accent5"/>
              </a:solidFill>
              <a:latin typeface="Calibri" panose="020F0502020204030204" pitchFamily="34" charset="0"/>
              <a:cs typeface="Calibri" panose="020F0502020204030204" pitchFamily="34" charset="0"/>
            </a:endParaRPr>
          </a:p>
          <a:p>
            <a:pPr marL="360363" marR="0" lvl="0" indent="-176213" rtl="0">
              <a:spcBef>
                <a:spcPts val="0"/>
              </a:spcBef>
              <a:spcAft>
                <a:spcPts val="0"/>
              </a:spcAft>
              <a:buClr>
                <a:schemeClr val="tx1"/>
              </a:buClr>
              <a:buSzPct val="100000"/>
              <a:buFont typeface="Arial" panose="020B0604020202020204" pitchFamily="34" charset="0"/>
              <a:buChar char="•"/>
            </a:pPr>
            <a:r>
              <a:rPr lang="es-ES" sz="1600" b="1" dirty="0">
                <a:solidFill>
                  <a:schemeClr val="accent5"/>
                </a:solidFill>
                <a:latin typeface="Calibri" panose="020F0502020204030204" pitchFamily="34" charset="0"/>
                <a:cs typeface="Calibri" panose="020F0502020204030204" pitchFamily="34" charset="0"/>
                <a:sym typeface="Arial"/>
              </a:rPr>
              <a:t>Protección contra amenazas comunes</a:t>
            </a:r>
            <a:endParaRPr sz="1600" b="1" dirty="0">
              <a:solidFill>
                <a:schemeClr val="accent5"/>
              </a:solidFill>
              <a:latin typeface="Calibri" panose="020F0502020204030204" pitchFamily="34" charset="0"/>
              <a:cs typeface="Calibri" panose="020F0502020204030204" pitchFamily="34" charset="0"/>
            </a:endParaRPr>
          </a:p>
          <a:p>
            <a:pPr marL="360363" marR="0" lvl="0" indent="-176213" rtl="0">
              <a:spcBef>
                <a:spcPts val="0"/>
              </a:spcBef>
              <a:spcAft>
                <a:spcPts val="0"/>
              </a:spcAft>
              <a:buClr>
                <a:schemeClr val="tx1"/>
              </a:buClr>
              <a:buSzPct val="100000"/>
              <a:buFont typeface="Arial" panose="020B0604020202020204" pitchFamily="34" charset="0"/>
              <a:buChar char="•"/>
            </a:pPr>
            <a:r>
              <a:rPr lang="es-ES" sz="1600" b="1" i="0" dirty="0">
                <a:solidFill>
                  <a:schemeClr val="accent5"/>
                </a:solidFill>
                <a:latin typeface="Calibri" panose="020F0502020204030204" pitchFamily="34" charset="0"/>
                <a:cs typeface="Calibri" panose="020F0502020204030204" pitchFamily="34" charset="0"/>
                <a:sym typeface="Arial"/>
              </a:rPr>
              <a:t>Gestión de Sesiones</a:t>
            </a:r>
            <a:endParaRPr sz="1600" b="1" dirty="0">
              <a:solidFill>
                <a:schemeClr val="accent5"/>
              </a:solidFill>
              <a:latin typeface="Calibri" panose="020F0502020204030204" pitchFamily="34" charset="0"/>
              <a:cs typeface="Calibri" panose="020F0502020204030204" pitchFamily="34" charset="0"/>
            </a:endParaRPr>
          </a:p>
          <a:p>
            <a:pPr marL="360363" marR="0" lvl="0" indent="-176213" rtl="0">
              <a:spcBef>
                <a:spcPts val="0"/>
              </a:spcBef>
              <a:spcAft>
                <a:spcPts val="0"/>
              </a:spcAft>
              <a:buClr>
                <a:schemeClr val="tx1"/>
              </a:buClr>
              <a:buSzPct val="100000"/>
              <a:buFont typeface="Arial" panose="020B0604020202020204" pitchFamily="34" charset="0"/>
              <a:buChar char="•"/>
            </a:pPr>
            <a:r>
              <a:rPr lang="es-ES" sz="1600" b="1" dirty="0">
                <a:solidFill>
                  <a:schemeClr val="accent5"/>
                </a:solidFill>
                <a:latin typeface="Calibri" panose="020F0502020204030204" pitchFamily="34" charset="0"/>
                <a:cs typeface="Calibri" panose="020F0502020204030204" pitchFamily="34" charset="0"/>
                <a:sym typeface="Arial"/>
              </a:rPr>
              <a:t>Seguridad en Servicios REST</a:t>
            </a:r>
            <a:endParaRPr sz="1600" b="1" dirty="0">
              <a:solidFill>
                <a:schemeClr val="accent5"/>
              </a:solidFill>
              <a:latin typeface="Calibri" panose="020F0502020204030204" pitchFamily="34" charset="0"/>
              <a:cs typeface="Calibri" panose="020F0502020204030204" pitchFamily="34" charset="0"/>
            </a:endParaRPr>
          </a:p>
          <a:p>
            <a:pPr marL="360363" marR="0" lvl="0" indent="-176213" rtl="0">
              <a:spcBef>
                <a:spcPts val="0"/>
              </a:spcBef>
              <a:spcAft>
                <a:spcPts val="0"/>
              </a:spcAft>
              <a:buClr>
                <a:schemeClr val="tx1"/>
              </a:buClr>
              <a:buSzPct val="100000"/>
              <a:buFont typeface="Arial" panose="020B0604020202020204" pitchFamily="34" charset="0"/>
              <a:buChar char="•"/>
            </a:pPr>
            <a:r>
              <a:rPr lang="es-ES" sz="1600" b="1" i="0" dirty="0">
                <a:solidFill>
                  <a:schemeClr val="accent5"/>
                </a:solidFill>
                <a:latin typeface="Calibri" panose="020F0502020204030204" pitchFamily="34" charset="0"/>
                <a:cs typeface="Calibri" panose="020F0502020204030204" pitchFamily="34" charset="0"/>
                <a:sym typeface="Arial"/>
              </a:rPr>
              <a:t>Cifrado y Protección de Datos</a:t>
            </a:r>
            <a:endParaRPr sz="1600" b="1" dirty="0">
              <a:solidFill>
                <a:schemeClr val="accent5"/>
              </a:solidFill>
              <a:latin typeface="Calibri" panose="020F0502020204030204" pitchFamily="34" charset="0"/>
              <a:cs typeface="Calibri" panose="020F0502020204030204" pitchFamily="34" charset="0"/>
            </a:endParaRPr>
          </a:p>
          <a:p>
            <a:pPr marL="360363" marR="0" lvl="0" indent="-176213" rtl="0">
              <a:spcBef>
                <a:spcPts val="0"/>
              </a:spcBef>
              <a:spcAft>
                <a:spcPts val="0"/>
              </a:spcAft>
              <a:buClr>
                <a:schemeClr val="tx1"/>
              </a:buClr>
              <a:buSzPct val="100000"/>
              <a:buFont typeface="Arial" panose="020B0604020202020204" pitchFamily="34" charset="0"/>
              <a:buChar char="•"/>
            </a:pPr>
            <a:r>
              <a:rPr lang="es-ES" sz="1600" b="1" dirty="0">
                <a:solidFill>
                  <a:schemeClr val="accent5"/>
                </a:solidFill>
                <a:latin typeface="Calibri" panose="020F0502020204030204" pitchFamily="34" charset="0"/>
                <a:cs typeface="Calibri" panose="020F0502020204030204" pitchFamily="34" charset="0"/>
                <a:sym typeface="Arial"/>
              </a:rPr>
              <a:t>Auditoría y Registro</a:t>
            </a:r>
            <a:endParaRPr sz="1600" b="1" dirty="0">
              <a:solidFill>
                <a:schemeClr val="accent5"/>
              </a:solidFill>
              <a:latin typeface="Calibri" panose="020F0502020204030204" pitchFamily="34" charset="0"/>
              <a:cs typeface="Calibri" panose="020F0502020204030204" pitchFamily="34" charset="0"/>
            </a:endParaRPr>
          </a:p>
          <a:p>
            <a:pPr marL="360363" marR="0" lvl="0" indent="-176213" rtl="0">
              <a:spcBef>
                <a:spcPts val="0"/>
              </a:spcBef>
              <a:spcAft>
                <a:spcPts val="0"/>
              </a:spcAft>
              <a:buClr>
                <a:schemeClr val="tx1"/>
              </a:buClr>
              <a:buSzPct val="100000"/>
              <a:buFont typeface="Arial" panose="020B0604020202020204" pitchFamily="34" charset="0"/>
              <a:buChar char="•"/>
            </a:pPr>
            <a:r>
              <a:rPr lang="es-ES" sz="1600" b="1" i="0" dirty="0">
                <a:solidFill>
                  <a:schemeClr val="accent5"/>
                </a:solidFill>
                <a:latin typeface="Calibri" panose="020F0502020204030204" pitchFamily="34" charset="0"/>
                <a:cs typeface="Calibri" panose="020F0502020204030204" pitchFamily="34" charset="0"/>
                <a:sym typeface="Arial"/>
              </a:rPr>
              <a:t>Integración con DevOps y CI/CD</a:t>
            </a:r>
            <a:endParaRPr sz="1600" b="1" dirty="0">
              <a:solidFill>
                <a:schemeClr val="accent5"/>
              </a:solidFill>
              <a:latin typeface="Calibri" panose="020F0502020204030204" pitchFamily="34" charset="0"/>
              <a:cs typeface="Calibri" panose="020F0502020204030204" pitchFamily="34" charset="0"/>
            </a:endParaRPr>
          </a:p>
          <a:p>
            <a:pPr marL="360363" marR="0" lvl="0" indent="-176213" rtl="0">
              <a:spcBef>
                <a:spcPts val="0"/>
              </a:spcBef>
              <a:spcAft>
                <a:spcPts val="0"/>
              </a:spcAft>
              <a:buClr>
                <a:schemeClr val="tx1"/>
              </a:buClr>
              <a:buSzPct val="100000"/>
              <a:buFont typeface="Arial" panose="020B0604020202020204" pitchFamily="34" charset="0"/>
              <a:buChar char="•"/>
            </a:pPr>
            <a:r>
              <a:rPr lang="es-ES" sz="1600" b="1" dirty="0">
                <a:solidFill>
                  <a:schemeClr val="accent5"/>
                </a:solidFill>
                <a:latin typeface="Calibri" panose="020F0502020204030204" pitchFamily="34" charset="0"/>
                <a:cs typeface="Calibri" panose="020F0502020204030204" pitchFamily="34" charset="0"/>
                <a:sym typeface="Arial"/>
              </a:rPr>
              <a:t>Facilidad de Configuración</a:t>
            </a:r>
            <a:endParaRPr sz="1600" b="1" i="0" dirty="0">
              <a:solidFill>
                <a:schemeClr val="accent5"/>
              </a:solidFill>
              <a:latin typeface="Calibri" panose="020F0502020204030204" pitchFamily="34" charset="0"/>
              <a:cs typeface="Calibri" panose="020F0502020204030204" pitchFamily="34" charset="0"/>
              <a:sym typeface="Arial"/>
            </a:endParaRPr>
          </a:p>
        </p:txBody>
      </p:sp>
      <p:sp>
        <p:nvSpPr>
          <p:cNvPr id="2" name="Rectangle 5">
            <a:extLst>
              <a:ext uri="{FF2B5EF4-FFF2-40B4-BE49-F238E27FC236}">
                <a16:creationId xmlns:a16="http://schemas.microsoft.com/office/drawing/2014/main" id="{857D0F00-018E-5D1C-4877-D508DD2A1D7A}"/>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SEGURIDAD CON SPRING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5"/>
          <p:cNvSpPr txBox="1"/>
          <p:nvPr/>
        </p:nvSpPr>
        <p:spPr>
          <a:xfrm>
            <a:off x="509343" y="921277"/>
            <a:ext cx="7789059" cy="2862322"/>
          </a:xfrm>
          <a:prstGeom prst="rect">
            <a:avLst/>
          </a:prstGeom>
          <a:noFill/>
          <a:ln>
            <a:noFill/>
          </a:ln>
        </p:spPr>
        <p:txBody>
          <a:bodyPr spcFirstLastPara="1" wrap="square" lIns="0" tIns="0" rIns="0" bIns="0" anchor="t" anchorCtr="0">
            <a:spAutoFit/>
          </a:bodyPr>
          <a:lstStyle/>
          <a:p>
            <a:pPr marR="0" lvl="0" algn="l" rtl="0">
              <a:spcBef>
                <a:spcPts val="0"/>
              </a:spcBef>
              <a:spcAft>
                <a:spcPts val="600"/>
              </a:spcAft>
              <a:buClr>
                <a:schemeClr val="tx1"/>
              </a:buClr>
              <a:buSzPct val="100000"/>
            </a:pPr>
            <a:r>
              <a:rPr lang="es-ES" sz="1600" b="1" i="0" dirty="0">
                <a:solidFill>
                  <a:schemeClr val="tx1"/>
                </a:solidFill>
                <a:highlight>
                  <a:srgbClr val="FFFFFF"/>
                </a:highlight>
                <a:latin typeface="Calibri" panose="020F0502020204030204" pitchFamily="34" charset="0"/>
                <a:cs typeface="Calibri" panose="020F0502020204030204" pitchFamily="34" charset="0"/>
                <a:sym typeface="Arial"/>
              </a:rPr>
              <a:t>PRINCIPALES ASPECTOS.</a:t>
            </a:r>
            <a:endParaRPr sz="1600" dirty="0">
              <a:solidFill>
                <a:schemeClr val="tx1"/>
              </a:solidFill>
              <a:latin typeface="Calibri" panose="020F0502020204030204" pitchFamily="34" charset="0"/>
              <a:cs typeface="Calibri" panose="020F0502020204030204" pitchFamily="34" charset="0"/>
              <a:sym typeface="Arial"/>
            </a:endParaRPr>
          </a:p>
          <a:p>
            <a:pPr marR="0" lvl="0" algn="l" rtl="0">
              <a:spcBef>
                <a:spcPts val="0"/>
              </a:spcBef>
              <a:spcAft>
                <a:spcPts val="600"/>
              </a:spcAft>
              <a:buClr>
                <a:schemeClr val="tx1"/>
              </a:buClr>
              <a:buSzPct val="100000"/>
            </a:pPr>
            <a:r>
              <a:rPr lang="es-ES" sz="1600" b="1" i="0" dirty="0">
                <a:solidFill>
                  <a:schemeClr val="accent5"/>
                </a:solidFill>
                <a:latin typeface="Calibri" panose="020F0502020204030204" pitchFamily="34" charset="0"/>
                <a:cs typeface="Calibri" panose="020F0502020204030204" pitchFamily="34" charset="0"/>
                <a:sym typeface="Arial"/>
              </a:rPr>
              <a:t>Autenticación</a:t>
            </a:r>
            <a:endParaRPr sz="1600" dirty="0">
              <a:solidFill>
                <a:schemeClr val="accent5"/>
              </a:solidFill>
              <a:latin typeface="Calibri" panose="020F0502020204030204" pitchFamily="34" charset="0"/>
              <a:cs typeface="Calibri" panose="020F0502020204030204" pitchFamily="34" charset="0"/>
              <a:sym typeface="Arial"/>
            </a:endParaRPr>
          </a:p>
          <a:p>
            <a:pPr marL="184150" marR="0" lvl="0" indent="-184150" algn="l" rtl="0">
              <a:spcBef>
                <a:spcPts val="0"/>
              </a:spcBef>
              <a:spcAft>
                <a:spcPts val="0"/>
              </a:spcAft>
              <a:buClr>
                <a:schemeClr val="tx1"/>
              </a:buClr>
              <a:buSzPct val="100000"/>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Mecanismos de Autenticación:</a:t>
            </a:r>
            <a:br>
              <a:rPr lang="es-ES" sz="1600" b="1" dirty="0">
                <a:solidFill>
                  <a:schemeClr val="tx1"/>
                </a:solidFill>
                <a:latin typeface="Calibri" panose="020F0502020204030204" pitchFamily="34" charset="0"/>
                <a:cs typeface="Calibri" panose="020F0502020204030204" pitchFamily="34" charset="0"/>
              </a:rPr>
            </a:br>
            <a:r>
              <a:rPr lang="es-ES" sz="1600" i="0" dirty="0">
                <a:solidFill>
                  <a:schemeClr val="tx1"/>
                </a:solidFill>
                <a:latin typeface="Calibri" panose="020F0502020204030204" pitchFamily="34" charset="0"/>
                <a:cs typeface="Calibri" panose="020F0502020204030204" pitchFamily="34" charset="0"/>
                <a:sym typeface="Arial"/>
              </a:rPr>
              <a:t>Spring Security soporta múltiples métodos de autenticación, incluyendo autenticación basada en formularios, autenticación HTTP Basic/</a:t>
            </a:r>
            <a:r>
              <a:rPr lang="es-ES" sz="1600" i="0" dirty="0" err="1">
                <a:solidFill>
                  <a:schemeClr val="tx1"/>
                </a:solidFill>
                <a:latin typeface="Calibri" panose="020F0502020204030204" pitchFamily="34" charset="0"/>
                <a:cs typeface="Calibri" panose="020F0502020204030204" pitchFamily="34" charset="0"/>
                <a:sym typeface="Arial"/>
              </a:rPr>
              <a:t>Digest</a:t>
            </a:r>
            <a:r>
              <a:rPr lang="es-ES" sz="1600" i="0" dirty="0">
                <a:solidFill>
                  <a:schemeClr val="tx1"/>
                </a:solidFill>
                <a:latin typeface="Calibri" panose="020F0502020204030204" pitchFamily="34" charset="0"/>
                <a:cs typeface="Calibri" panose="020F0502020204030204" pitchFamily="34" charset="0"/>
                <a:sym typeface="Arial"/>
              </a:rPr>
              <a:t>, autenticación a través de tokens como JWT (JSON Web Tokens), y autenticación OAuth2/</a:t>
            </a:r>
            <a:r>
              <a:rPr lang="es-ES" sz="1600" i="0" dirty="0" err="1">
                <a:solidFill>
                  <a:schemeClr val="tx1"/>
                </a:solidFill>
                <a:latin typeface="Calibri" panose="020F0502020204030204" pitchFamily="34" charset="0"/>
                <a:cs typeface="Calibri" panose="020F0502020204030204" pitchFamily="34" charset="0"/>
                <a:sym typeface="Arial"/>
              </a:rPr>
              <a:t>OpenID</a:t>
            </a:r>
            <a:r>
              <a:rPr lang="es-ES" sz="1600" i="0" dirty="0">
                <a:solidFill>
                  <a:schemeClr val="tx1"/>
                </a:solidFill>
                <a:latin typeface="Calibri" panose="020F0502020204030204" pitchFamily="34" charset="0"/>
                <a:cs typeface="Calibri" panose="020F0502020204030204" pitchFamily="34" charset="0"/>
                <a:sym typeface="Arial"/>
              </a:rPr>
              <a:t> </a:t>
            </a:r>
            <a:r>
              <a:rPr lang="es-ES" sz="1600" i="0" dirty="0" err="1">
                <a:solidFill>
                  <a:schemeClr val="tx1"/>
                </a:solidFill>
                <a:latin typeface="Calibri" panose="020F0502020204030204" pitchFamily="34" charset="0"/>
                <a:cs typeface="Calibri" panose="020F0502020204030204" pitchFamily="34" charset="0"/>
                <a:sym typeface="Arial"/>
              </a:rPr>
              <a:t>Connect</a:t>
            </a:r>
            <a:r>
              <a:rPr lang="es-ES" sz="1600" i="0" dirty="0">
                <a:solidFill>
                  <a:schemeClr val="tx1"/>
                </a:solidFill>
                <a:latin typeface="Calibri" panose="020F0502020204030204" pitchFamily="34" charset="0"/>
                <a:cs typeface="Calibri" panose="020F0502020204030204" pitchFamily="34" charset="0"/>
                <a:sym typeface="Arial"/>
              </a:rPr>
              <a:t>.</a:t>
            </a:r>
            <a:endParaRPr sz="1600" dirty="0">
              <a:solidFill>
                <a:schemeClr val="tx1"/>
              </a:solidFill>
              <a:latin typeface="Calibri" panose="020F0502020204030204" pitchFamily="34" charset="0"/>
              <a:cs typeface="Calibri" panose="020F0502020204030204" pitchFamily="34" charset="0"/>
            </a:endParaRPr>
          </a:p>
          <a:p>
            <a:pPr marL="184150" marR="0" lvl="0" indent="-184150" algn="l" rtl="0">
              <a:spcBef>
                <a:spcPts val="0"/>
              </a:spcBef>
              <a:spcAft>
                <a:spcPts val="0"/>
              </a:spcAft>
              <a:buClr>
                <a:schemeClr val="tx1"/>
              </a:buClr>
              <a:buSzPct val="100000"/>
              <a:buFont typeface="Arial" panose="020B0604020202020204" pitchFamily="34" charset="0"/>
              <a:buChar char="•"/>
            </a:pPr>
            <a:endParaRPr sz="1600" i="0" dirty="0">
              <a:solidFill>
                <a:schemeClr val="tx1"/>
              </a:solidFill>
              <a:latin typeface="Calibri" panose="020F0502020204030204" pitchFamily="34" charset="0"/>
              <a:cs typeface="Calibri" panose="020F0502020204030204" pitchFamily="34" charset="0"/>
              <a:sym typeface="Arial"/>
            </a:endParaRPr>
          </a:p>
          <a:p>
            <a:pPr marL="184150" marR="0" lvl="0" indent="-184150" algn="l" rtl="0">
              <a:spcBef>
                <a:spcPts val="0"/>
              </a:spcBef>
              <a:spcAft>
                <a:spcPts val="0"/>
              </a:spcAft>
              <a:buClr>
                <a:schemeClr val="tx1"/>
              </a:buClr>
              <a:buSzPct val="100000"/>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Integración con Proveedores Externos:</a:t>
            </a:r>
            <a:br>
              <a:rPr lang="es-ES" sz="1600" b="1" i="0" dirty="0">
                <a:solidFill>
                  <a:schemeClr val="tx1"/>
                </a:solidFill>
                <a:latin typeface="Calibri" panose="020F0502020204030204" pitchFamily="34" charset="0"/>
                <a:cs typeface="Calibri" panose="020F0502020204030204" pitchFamily="34" charset="0"/>
                <a:sym typeface="Arial"/>
              </a:rPr>
            </a:br>
            <a:r>
              <a:rPr lang="es-ES" sz="1600" i="0" dirty="0">
                <a:solidFill>
                  <a:schemeClr val="tx1"/>
                </a:solidFill>
                <a:latin typeface="Calibri" panose="020F0502020204030204" pitchFamily="34" charset="0"/>
                <a:cs typeface="Calibri" panose="020F0502020204030204" pitchFamily="34" charset="0"/>
                <a:sym typeface="Arial"/>
              </a:rPr>
              <a:t>Spring Security facilita la integración con proveedores de identidad externos como LDAP, Active </a:t>
            </a:r>
            <a:r>
              <a:rPr lang="es-ES" sz="1600" i="0" dirty="0" err="1">
                <a:solidFill>
                  <a:schemeClr val="tx1"/>
                </a:solidFill>
                <a:latin typeface="Calibri" panose="020F0502020204030204" pitchFamily="34" charset="0"/>
                <a:cs typeface="Calibri" panose="020F0502020204030204" pitchFamily="34" charset="0"/>
                <a:sym typeface="Arial"/>
              </a:rPr>
              <a:t>Directory</a:t>
            </a:r>
            <a:r>
              <a:rPr lang="es-ES" sz="1600" i="0" dirty="0">
                <a:solidFill>
                  <a:schemeClr val="tx1"/>
                </a:solidFill>
                <a:latin typeface="Calibri" panose="020F0502020204030204" pitchFamily="34" charset="0"/>
                <a:cs typeface="Calibri" panose="020F0502020204030204" pitchFamily="34" charset="0"/>
                <a:sym typeface="Arial"/>
              </a:rPr>
              <a:t>, OAuth2 (Google, Facebook, GitHub), y bases de datos, permitiendo una autenticación centralizada y segura.</a:t>
            </a:r>
            <a:endParaRPr sz="1600" dirty="0">
              <a:solidFill>
                <a:schemeClr val="tx1"/>
              </a:solidFill>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E5F6A9F9-B530-DE92-DA93-24F4DFBCC2A6}"/>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SEGURIDAD CON SPRING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6"/>
          <p:cNvSpPr txBox="1"/>
          <p:nvPr/>
        </p:nvSpPr>
        <p:spPr>
          <a:xfrm>
            <a:off x="509343" y="921277"/>
            <a:ext cx="7877909" cy="3847207"/>
          </a:xfrm>
          <a:prstGeom prst="rect">
            <a:avLst/>
          </a:prstGeom>
          <a:noFill/>
          <a:ln>
            <a:noFill/>
          </a:ln>
        </p:spPr>
        <p:txBody>
          <a:bodyPr spcFirstLastPara="1" wrap="square" lIns="0" tIns="0" rIns="0" bIns="0" anchor="t" anchorCtr="0">
            <a:spAutoFit/>
          </a:bodyPr>
          <a:lstStyle/>
          <a:p>
            <a:pPr marR="0" lvl="0" rtl="0">
              <a:spcBef>
                <a:spcPts val="0"/>
              </a:spcBef>
              <a:spcAft>
                <a:spcPts val="600"/>
              </a:spcAft>
            </a:pPr>
            <a:r>
              <a:rPr lang="es-ES" sz="1600" b="1" i="0" dirty="0">
                <a:solidFill>
                  <a:schemeClr val="tx1"/>
                </a:solidFill>
                <a:highlight>
                  <a:srgbClr val="FFFFFF"/>
                </a:highlight>
                <a:latin typeface="Calibri" panose="020F0502020204030204" pitchFamily="34" charset="0"/>
                <a:cs typeface="Calibri" panose="020F0502020204030204" pitchFamily="34" charset="0"/>
                <a:sym typeface="Arial"/>
              </a:rPr>
              <a:t>PRINCIPALES ASPECTOS.</a:t>
            </a:r>
            <a:endParaRPr sz="1600" dirty="0">
              <a:solidFill>
                <a:schemeClr val="tx1"/>
              </a:solidFill>
              <a:latin typeface="Calibri" panose="020F0502020204030204" pitchFamily="34" charset="0"/>
              <a:cs typeface="Calibri" panose="020F0502020204030204" pitchFamily="34" charset="0"/>
              <a:sym typeface="Arial"/>
            </a:endParaRPr>
          </a:p>
          <a:p>
            <a:pPr marR="0" lvl="0" rtl="0">
              <a:spcBef>
                <a:spcPts val="0"/>
              </a:spcBef>
              <a:spcAft>
                <a:spcPts val="600"/>
              </a:spcAft>
              <a:buClr>
                <a:srgbClr val="374151"/>
              </a:buClr>
              <a:buSzPts val="1600"/>
            </a:pPr>
            <a:r>
              <a:rPr lang="es-ES" sz="1600" b="1" dirty="0">
                <a:solidFill>
                  <a:schemeClr val="accent5"/>
                </a:solidFill>
                <a:latin typeface="Calibri" panose="020F0502020204030204" pitchFamily="34" charset="0"/>
                <a:cs typeface="Calibri" panose="020F0502020204030204" pitchFamily="34" charset="0"/>
                <a:sym typeface="Arial"/>
              </a:rPr>
              <a:t>Autorización</a:t>
            </a:r>
            <a:endParaRPr sz="1600" dirty="0">
              <a:solidFill>
                <a:schemeClr val="accent5"/>
              </a:solidFill>
              <a:latin typeface="Calibri" panose="020F0502020204030204" pitchFamily="34" charset="0"/>
              <a:cs typeface="Calibri" panose="020F0502020204030204" pitchFamily="34" charset="0"/>
              <a:sym typeface="Arial"/>
            </a:endParaRPr>
          </a:p>
          <a:p>
            <a:pPr marL="184150" marR="0" lvl="0" indent="-184150"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Control de Acceso Declarativo:</a:t>
            </a:r>
            <a:br>
              <a:rPr lang="es-ES" sz="1600" b="1" i="0" dirty="0">
                <a:solidFill>
                  <a:schemeClr val="tx1"/>
                </a:solidFill>
                <a:latin typeface="Calibri" panose="020F0502020204030204" pitchFamily="34" charset="0"/>
                <a:cs typeface="Calibri" panose="020F0502020204030204" pitchFamily="34" charset="0"/>
                <a:sym typeface="Arial"/>
              </a:rPr>
            </a:br>
            <a:r>
              <a:rPr lang="es-ES" sz="1600" i="0" dirty="0">
                <a:solidFill>
                  <a:schemeClr val="tx1"/>
                </a:solidFill>
                <a:latin typeface="Calibri" panose="020F0502020204030204" pitchFamily="34" charset="0"/>
                <a:cs typeface="Calibri" panose="020F0502020204030204" pitchFamily="34" charset="0"/>
                <a:sym typeface="Arial"/>
              </a:rPr>
              <a:t>Utilizando anotaciones como @</a:t>
            </a:r>
            <a:r>
              <a:rPr lang="es-ES" sz="1600" i="0" dirty="0" err="1">
                <a:solidFill>
                  <a:schemeClr val="tx1"/>
                </a:solidFill>
                <a:latin typeface="Calibri" panose="020F0502020204030204" pitchFamily="34" charset="0"/>
                <a:cs typeface="Calibri" panose="020F0502020204030204" pitchFamily="34" charset="0"/>
                <a:sym typeface="Arial"/>
              </a:rPr>
              <a:t>PreAuthorize</a:t>
            </a:r>
            <a:r>
              <a:rPr lang="es-ES" sz="1600" i="0" dirty="0">
                <a:solidFill>
                  <a:schemeClr val="tx1"/>
                </a:solidFill>
                <a:latin typeface="Calibri" panose="020F0502020204030204" pitchFamily="34" charset="0"/>
                <a:cs typeface="Calibri" panose="020F0502020204030204" pitchFamily="34" charset="0"/>
                <a:sym typeface="Arial"/>
              </a:rPr>
              <a:t>, @</a:t>
            </a:r>
            <a:r>
              <a:rPr lang="es-ES" sz="1600" i="0" dirty="0" err="1">
                <a:solidFill>
                  <a:schemeClr val="tx1"/>
                </a:solidFill>
                <a:latin typeface="Calibri" panose="020F0502020204030204" pitchFamily="34" charset="0"/>
                <a:cs typeface="Calibri" panose="020F0502020204030204" pitchFamily="34" charset="0"/>
                <a:sym typeface="Arial"/>
              </a:rPr>
              <a:t>PostAuthorize</a:t>
            </a:r>
            <a:r>
              <a:rPr lang="es-ES" sz="1600" i="0" dirty="0">
                <a:solidFill>
                  <a:schemeClr val="tx1"/>
                </a:solidFill>
                <a:latin typeface="Calibri" panose="020F0502020204030204" pitchFamily="34" charset="0"/>
                <a:cs typeface="Calibri" panose="020F0502020204030204" pitchFamily="34" charset="0"/>
                <a:sym typeface="Arial"/>
              </a:rPr>
              <a:t>, @</a:t>
            </a:r>
            <a:r>
              <a:rPr lang="es-ES" sz="1600" i="0" dirty="0" err="1">
                <a:solidFill>
                  <a:schemeClr val="tx1"/>
                </a:solidFill>
                <a:latin typeface="Calibri" panose="020F0502020204030204" pitchFamily="34" charset="0"/>
                <a:cs typeface="Calibri" panose="020F0502020204030204" pitchFamily="34" charset="0"/>
                <a:sym typeface="Arial"/>
              </a:rPr>
              <a:t>Secured</a:t>
            </a:r>
            <a:r>
              <a:rPr lang="es-ES" sz="1600" i="0" dirty="0">
                <a:solidFill>
                  <a:schemeClr val="tx1"/>
                </a:solidFill>
                <a:latin typeface="Calibri" panose="020F0502020204030204" pitchFamily="34" charset="0"/>
                <a:cs typeface="Calibri" panose="020F0502020204030204" pitchFamily="34" charset="0"/>
                <a:sym typeface="Arial"/>
              </a:rPr>
              <a:t> y @</a:t>
            </a:r>
            <a:r>
              <a:rPr lang="es-ES" sz="1600" i="0" dirty="0" err="1">
                <a:solidFill>
                  <a:schemeClr val="tx1"/>
                </a:solidFill>
                <a:latin typeface="Calibri" panose="020F0502020204030204" pitchFamily="34" charset="0"/>
                <a:cs typeface="Calibri" panose="020F0502020204030204" pitchFamily="34" charset="0"/>
                <a:sym typeface="Arial"/>
              </a:rPr>
              <a:t>RolesAllowed</a:t>
            </a:r>
            <a:r>
              <a:rPr lang="es-ES" sz="1600" i="0" dirty="0">
                <a:solidFill>
                  <a:schemeClr val="tx1"/>
                </a:solidFill>
                <a:latin typeface="Calibri" panose="020F0502020204030204" pitchFamily="34" charset="0"/>
                <a:cs typeface="Calibri" panose="020F0502020204030204" pitchFamily="34" charset="0"/>
                <a:sym typeface="Arial"/>
              </a:rPr>
              <a:t>, Spring Security permite definir reglas de acceso basadas en roles directamente en los controladores o servicios.</a:t>
            </a:r>
            <a:endParaRPr sz="1600" dirty="0">
              <a:solidFill>
                <a:schemeClr val="tx1"/>
              </a:solidFill>
              <a:latin typeface="Calibri" panose="020F0502020204030204" pitchFamily="34" charset="0"/>
              <a:cs typeface="Calibri" panose="020F0502020204030204" pitchFamily="34" charset="0"/>
            </a:endParaRPr>
          </a:p>
          <a:p>
            <a:pPr marL="184150" marR="0" lvl="0" indent="-184150" rtl="0">
              <a:spcBef>
                <a:spcPts val="0"/>
              </a:spcBef>
              <a:spcAft>
                <a:spcPts val="0"/>
              </a:spcAft>
              <a:buFont typeface="Arial" panose="020B0604020202020204" pitchFamily="34" charset="0"/>
              <a:buChar char="•"/>
            </a:pPr>
            <a:endParaRPr sz="1600" b="1" i="0" dirty="0">
              <a:solidFill>
                <a:schemeClr val="tx1"/>
              </a:solidFill>
              <a:latin typeface="Calibri" panose="020F0502020204030204" pitchFamily="34" charset="0"/>
              <a:cs typeface="Calibri" panose="020F0502020204030204" pitchFamily="34" charset="0"/>
              <a:sym typeface="Arial"/>
            </a:endParaRPr>
          </a:p>
          <a:p>
            <a:pPr marL="184150" marR="0" lvl="0" indent="-184150"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Expresiones de Seguridad:</a:t>
            </a:r>
            <a:br>
              <a:rPr lang="es-ES" sz="1600" b="1" i="0" dirty="0">
                <a:solidFill>
                  <a:schemeClr val="tx1"/>
                </a:solidFill>
                <a:latin typeface="Calibri" panose="020F0502020204030204" pitchFamily="34" charset="0"/>
                <a:cs typeface="Calibri" panose="020F0502020204030204" pitchFamily="34" charset="0"/>
                <a:sym typeface="Arial"/>
              </a:rPr>
            </a:br>
            <a:r>
              <a:rPr lang="es-ES" sz="1600" i="0" dirty="0">
                <a:solidFill>
                  <a:schemeClr val="tx1"/>
                </a:solidFill>
                <a:latin typeface="Calibri" panose="020F0502020204030204" pitchFamily="34" charset="0"/>
                <a:cs typeface="Calibri" panose="020F0502020204030204" pitchFamily="34" charset="0"/>
                <a:sym typeface="Arial"/>
              </a:rPr>
              <a:t>Spring Security soporta expresiones </a:t>
            </a:r>
            <a:r>
              <a:rPr lang="es-ES" sz="1600" i="0" dirty="0" err="1">
                <a:solidFill>
                  <a:schemeClr val="tx1"/>
                </a:solidFill>
                <a:latin typeface="Calibri" panose="020F0502020204030204" pitchFamily="34" charset="0"/>
                <a:cs typeface="Calibri" panose="020F0502020204030204" pitchFamily="34" charset="0"/>
                <a:sym typeface="Arial"/>
              </a:rPr>
              <a:t>SpEL</a:t>
            </a:r>
            <a:r>
              <a:rPr lang="es-ES" sz="1600" i="0" dirty="0">
                <a:solidFill>
                  <a:schemeClr val="tx1"/>
                </a:solidFill>
                <a:latin typeface="Calibri" panose="020F0502020204030204" pitchFamily="34" charset="0"/>
                <a:cs typeface="Calibri" panose="020F0502020204030204" pitchFamily="34" charset="0"/>
                <a:sym typeface="Arial"/>
              </a:rPr>
              <a:t> (Spring </a:t>
            </a:r>
            <a:r>
              <a:rPr lang="es-ES" sz="1600" i="0" dirty="0" err="1">
                <a:solidFill>
                  <a:schemeClr val="tx1"/>
                </a:solidFill>
                <a:latin typeface="Calibri" panose="020F0502020204030204" pitchFamily="34" charset="0"/>
                <a:cs typeface="Calibri" panose="020F0502020204030204" pitchFamily="34" charset="0"/>
                <a:sym typeface="Arial"/>
              </a:rPr>
              <a:t>Expression</a:t>
            </a:r>
            <a:r>
              <a:rPr lang="es-ES" sz="1600" i="0" dirty="0">
                <a:solidFill>
                  <a:schemeClr val="tx1"/>
                </a:solidFill>
                <a:latin typeface="Calibri" panose="020F0502020204030204" pitchFamily="34" charset="0"/>
                <a:cs typeface="Calibri" panose="020F0502020204030204" pitchFamily="34" charset="0"/>
                <a:sym typeface="Arial"/>
              </a:rPr>
              <a:t> </a:t>
            </a:r>
            <a:r>
              <a:rPr lang="es-ES" sz="1600" i="0" dirty="0" err="1">
                <a:solidFill>
                  <a:schemeClr val="tx1"/>
                </a:solidFill>
                <a:latin typeface="Calibri" panose="020F0502020204030204" pitchFamily="34" charset="0"/>
                <a:cs typeface="Calibri" panose="020F0502020204030204" pitchFamily="34" charset="0"/>
                <a:sym typeface="Arial"/>
              </a:rPr>
              <a:t>Language</a:t>
            </a:r>
            <a:r>
              <a:rPr lang="es-ES" sz="1600" i="0" dirty="0">
                <a:solidFill>
                  <a:schemeClr val="tx1"/>
                </a:solidFill>
                <a:latin typeface="Calibri" panose="020F0502020204030204" pitchFamily="34" charset="0"/>
                <a:cs typeface="Calibri" panose="020F0502020204030204" pitchFamily="34" charset="0"/>
                <a:sym typeface="Arial"/>
              </a:rPr>
              <a:t>) para definir reglas de acceso más complejas, lo que permite granularidad y flexibilidad en la autorización.</a:t>
            </a:r>
            <a:endParaRPr sz="1600" dirty="0">
              <a:solidFill>
                <a:schemeClr val="tx1"/>
              </a:solidFill>
              <a:latin typeface="Calibri" panose="020F0502020204030204" pitchFamily="34" charset="0"/>
              <a:cs typeface="Calibri" panose="020F0502020204030204" pitchFamily="34" charset="0"/>
            </a:endParaRPr>
          </a:p>
          <a:p>
            <a:pPr marL="184150" marR="0" lvl="0" indent="-184150" rtl="0">
              <a:spcBef>
                <a:spcPts val="0"/>
              </a:spcBef>
              <a:spcAft>
                <a:spcPts val="0"/>
              </a:spcAft>
              <a:buFont typeface="Arial" panose="020B0604020202020204" pitchFamily="34" charset="0"/>
              <a:buChar char="•"/>
            </a:pPr>
            <a:endParaRPr sz="1600" i="0" dirty="0">
              <a:solidFill>
                <a:schemeClr val="tx1"/>
              </a:solidFill>
              <a:latin typeface="Calibri" panose="020F0502020204030204" pitchFamily="34" charset="0"/>
              <a:cs typeface="Calibri" panose="020F0502020204030204" pitchFamily="34" charset="0"/>
              <a:sym typeface="Arial"/>
            </a:endParaRPr>
          </a:p>
          <a:p>
            <a:pPr marL="184150" marR="0" lvl="0" indent="-184150"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Modelos de Autorización Basados en Roles y Permisos:</a:t>
            </a:r>
            <a:br>
              <a:rPr lang="es-ES" sz="1600" b="1" i="0" dirty="0">
                <a:solidFill>
                  <a:schemeClr val="tx1"/>
                </a:solidFill>
                <a:latin typeface="Calibri" panose="020F0502020204030204" pitchFamily="34" charset="0"/>
                <a:cs typeface="Calibri" panose="020F0502020204030204" pitchFamily="34" charset="0"/>
                <a:sym typeface="Arial"/>
              </a:rPr>
            </a:br>
            <a:r>
              <a:rPr lang="es-ES" sz="1600" i="0" dirty="0">
                <a:solidFill>
                  <a:schemeClr val="tx1"/>
                </a:solidFill>
                <a:latin typeface="Calibri" panose="020F0502020204030204" pitchFamily="34" charset="0"/>
                <a:cs typeface="Calibri" panose="020F0502020204030204" pitchFamily="34" charset="0"/>
                <a:sym typeface="Arial"/>
              </a:rPr>
              <a:t>Además de roles, Spring Security permite la gestión de permisos detallados a través de </a:t>
            </a:r>
            <a:r>
              <a:rPr lang="es-ES" sz="1600" i="0" dirty="0" err="1">
                <a:solidFill>
                  <a:schemeClr val="tx1"/>
                </a:solidFill>
                <a:latin typeface="Calibri" panose="020F0502020204030204" pitchFamily="34" charset="0"/>
                <a:cs typeface="Calibri" panose="020F0502020204030204" pitchFamily="34" charset="0"/>
                <a:sym typeface="Arial"/>
              </a:rPr>
              <a:t>GrantedAuthority</a:t>
            </a:r>
            <a:r>
              <a:rPr lang="es-ES" sz="1600" i="0" dirty="0">
                <a:solidFill>
                  <a:schemeClr val="tx1"/>
                </a:solidFill>
                <a:latin typeface="Calibri" panose="020F0502020204030204" pitchFamily="34" charset="0"/>
                <a:cs typeface="Calibri" panose="020F0502020204030204" pitchFamily="34" charset="0"/>
                <a:sym typeface="Arial"/>
              </a:rPr>
              <a:t>, facilitando la implementación de controles de acceso basados en permisos específicos.</a:t>
            </a:r>
            <a:endParaRPr sz="1600" dirty="0">
              <a:solidFill>
                <a:schemeClr val="tx1"/>
              </a:solidFill>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EAD02D26-DB39-0A75-2F61-EA78729F20DD}"/>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SEGURIDAD CON SPRING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7"/>
          <p:cNvSpPr txBox="1"/>
          <p:nvPr/>
        </p:nvSpPr>
        <p:spPr>
          <a:xfrm>
            <a:off x="509343" y="921277"/>
            <a:ext cx="7924800" cy="3108543"/>
          </a:xfrm>
          <a:prstGeom prst="rect">
            <a:avLst/>
          </a:prstGeom>
          <a:noFill/>
          <a:ln>
            <a:noFill/>
          </a:ln>
        </p:spPr>
        <p:txBody>
          <a:bodyPr spcFirstLastPara="1" wrap="square" lIns="0" tIns="0" rIns="0" bIns="0" anchor="t" anchorCtr="0">
            <a:spAutoFit/>
          </a:bodyPr>
          <a:lstStyle/>
          <a:p>
            <a:pPr marR="0" lvl="0" algn="l" rtl="0">
              <a:spcBef>
                <a:spcPts val="0"/>
              </a:spcBef>
              <a:spcAft>
                <a:spcPts val="600"/>
              </a:spcAft>
            </a:pPr>
            <a:r>
              <a:rPr lang="es-ES" sz="1600" b="1" i="0" dirty="0">
                <a:solidFill>
                  <a:schemeClr val="tx1"/>
                </a:solidFill>
                <a:highlight>
                  <a:srgbClr val="FFFFFF"/>
                </a:highlight>
                <a:latin typeface="Calibri" panose="020F0502020204030204" pitchFamily="34" charset="0"/>
                <a:cs typeface="Calibri" panose="020F0502020204030204" pitchFamily="34" charset="0"/>
                <a:sym typeface="Arial"/>
              </a:rPr>
              <a:t>PRINCIPALES ASPECTOS</a:t>
            </a:r>
            <a:endParaRPr sz="1600" dirty="0">
              <a:solidFill>
                <a:schemeClr val="tx1"/>
              </a:solidFill>
              <a:latin typeface="Calibri" panose="020F0502020204030204" pitchFamily="34" charset="0"/>
              <a:cs typeface="Calibri" panose="020F0502020204030204" pitchFamily="34" charset="0"/>
              <a:sym typeface="Arial"/>
            </a:endParaRPr>
          </a:p>
          <a:p>
            <a:pPr marR="0" lvl="0" algn="l" rtl="0">
              <a:spcBef>
                <a:spcPts val="0"/>
              </a:spcBef>
              <a:spcAft>
                <a:spcPts val="600"/>
              </a:spcAft>
              <a:buClr>
                <a:srgbClr val="374151"/>
              </a:buClr>
              <a:buSzPts val="1600"/>
            </a:pPr>
            <a:r>
              <a:rPr lang="es-ES" sz="1600" b="1" dirty="0">
                <a:solidFill>
                  <a:schemeClr val="accent5"/>
                </a:solidFill>
                <a:latin typeface="Calibri" panose="020F0502020204030204" pitchFamily="34" charset="0"/>
                <a:cs typeface="Calibri" panose="020F0502020204030204" pitchFamily="34" charset="0"/>
                <a:sym typeface="Arial"/>
              </a:rPr>
              <a:t>Protección Contra Amenazas Comunes</a:t>
            </a:r>
            <a:endParaRPr sz="1600" dirty="0">
              <a:solidFill>
                <a:schemeClr val="accent5"/>
              </a:solidFill>
              <a:latin typeface="Calibri" panose="020F0502020204030204" pitchFamily="34" charset="0"/>
              <a:cs typeface="Calibri" panose="020F0502020204030204" pitchFamily="34" charset="0"/>
              <a:sym typeface="Arial"/>
            </a:endParaRPr>
          </a:p>
          <a:p>
            <a:pPr marL="184150" marR="0" lvl="0" indent="-184150" algn="l"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CSRF (Cross-Site </a:t>
            </a:r>
            <a:r>
              <a:rPr lang="es-ES" sz="1600" b="1" i="0" dirty="0" err="1">
                <a:solidFill>
                  <a:schemeClr val="tx1"/>
                </a:solidFill>
                <a:latin typeface="Calibri" panose="020F0502020204030204" pitchFamily="34" charset="0"/>
                <a:cs typeface="Calibri" panose="020F0502020204030204" pitchFamily="34" charset="0"/>
                <a:sym typeface="Arial"/>
              </a:rPr>
              <a:t>Request</a:t>
            </a:r>
            <a:r>
              <a:rPr lang="es-ES" sz="1600" b="1" i="0" dirty="0">
                <a:solidFill>
                  <a:schemeClr val="tx1"/>
                </a:solidFill>
                <a:latin typeface="Calibri" panose="020F0502020204030204" pitchFamily="34" charset="0"/>
                <a:cs typeface="Calibri" panose="020F0502020204030204" pitchFamily="34" charset="0"/>
                <a:sym typeface="Arial"/>
              </a:rPr>
              <a:t> </a:t>
            </a:r>
            <a:r>
              <a:rPr lang="es-ES" sz="1600" b="1" i="0" dirty="0" err="1">
                <a:solidFill>
                  <a:schemeClr val="tx1"/>
                </a:solidFill>
                <a:latin typeface="Calibri" panose="020F0502020204030204" pitchFamily="34" charset="0"/>
                <a:cs typeface="Calibri" panose="020F0502020204030204" pitchFamily="34" charset="0"/>
                <a:sym typeface="Arial"/>
              </a:rPr>
              <a:t>Forgery</a:t>
            </a:r>
            <a:r>
              <a:rPr lang="es-ES" sz="1600" b="1" i="0" dirty="0">
                <a:solidFill>
                  <a:schemeClr val="tx1"/>
                </a:solidFill>
                <a:latin typeface="Calibri" panose="020F0502020204030204" pitchFamily="34" charset="0"/>
                <a:cs typeface="Calibri" panose="020F0502020204030204" pitchFamily="34" charset="0"/>
                <a:sym typeface="Arial"/>
              </a:rPr>
              <a:t>):</a:t>
            </a:r>
            <a:r>
              <a:rPr lang="es-ES" sz="1600" i="0" dirty="0">
                <a:solidFill>
                  <a:schemeClr val="tx1"/>
                </a:solidFill>
                <a:latin typeface="Calibri" panose="020F0502020204030204" pitchFamily="34" charset="0"/>
                <a:cs typeface="Calibri" panose="020F0502020204030204" pitchFamily="34" charset="0"/>
                <a:sym typeface="Arial"/>
              </a:rPr>
              <a:t> Spring Security incluye protección automática contra CSRF para aplicaciones web, generando tokens únicos por sesión que deben ser enviados con cada solicitud que modifique el estado del servidor.</a:t>
            </a:r>
            <a:endParaRPr sz="1600" dirty="0">
              <a:solidFill>
                <a:schemeClr val="tx1"/>
              </a:solidFill>
              <a:latin typeface="Calibri" panose="020F0502020204030204" pitchFamily="34" charset="0"/>
              <a:cs typeface="Calibri" panose="020F0502020204030204" pitchFamily="34" charset="0"/>
            </a:endParaRPr>
          </a:p>
          <a:p>
            <a:pPr marL="184150" marR="0" lvl="0" indent="-184150" algn="l" rtl="0">
              <a:spcBef>
                <a:spcPts val="0"/>
              </a:spcBef>
              <a:spcAft>
                <a:spcPts val="0"/>
              </a:spcAft>
              <a:buFont typeface="Arial" panose="020B0604020202020204" pitchFamily="34" charset="0"/>
              <a:buChar char="•"/>
            </a:pPr>
            <a:endParaRPr sz="1600" i="0" dirty="0">
              <a:solidFill>
                <a:schemeClr val="tx1"/>
              </a:solidFill>
              <a:latin typeface="Calibri" panose="020F0502020204030204" pitchFamily="34" charset="0"/>
              <a:cs typeface="Calibri" panose="020F0502020204030204" pitchFamily="34" charset="0"/>
              <a:sym typeface="Arial"/>
            </a:endParaRPr>
          </a:p>
          <a:p>
            <a:pPr marL="184150" marR="0" lvl="0" indent="-184150" algn="l"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XSS (Cross-Site Scripting): </a:t>
            </a:r>
            <a:r>
              <a:rPr lang="es-ES" sz="1600" i="0" dirty="0">
                <a:solidFill>
                  <a:schemeClr val="tx1"/>
                </a:solidFill>
                <a:latin typeface="Calibri" panose="020F0502020204030204" pitchFamily="34" charset="0"/>
                <a:cs typeface="Calibri" panose="020F0502020204030204" pitchFamily="34" charset="0"/>
                <a:sym typeface="Arial"/>
              </a:rPr>
              <a:t>Aunque no es una característica específica de Spring Security, el </a:t>
            </a:r>
            <a:r>
              <a:rPr lang="es-ES" sz="1600" i="0" dirty="0" err="1">
                <a:solidFill>
                  <a:schemeClr val="tx1"/>
                </a:solidFill>
                <a:latin typeface="Calibri" panose="020F0502020204030204" pitchFamily="34" charset="0"/>
                <a:cs typeface="Calibri" panose="020F0502020204030204" pitchFamily="34" charset="0"/>
                <a:sym typeface="Arial"/>
              </a:rPr>
              <a:t>framework</a:t>
            </a:r>
            <a:r>
              <a:rPr lang="es-ES" sz="1600" i="0" dirty="0">
                <a:solidFill>
                  <a:schemeClr val="tx1"/>
                </a:solidFill>
                <a:latin typeface="Calibri" panose="020F0502020204030204" pitchFamily="34" charset="0"/>
                <a:cs typeface="Calibri" panose="020F0502020204030204" pitchFamily="34" charset="0"/>
                <a:sym typeface="Arial"/>
              </a:rPr>
              <a:t> permite configuraciones que ayudan a mitigar ataques XSS, como la configuración de encabezados HTTP seguros y la codificación de datos de salida.</a:t>
            </a:r>
            <a:endParaRPr sz="1600" dirty="0">
              <a:solidFill>
                <a:schemeClr val="tx1"/>
              </a:solidFill>
              <a:latin typeface="Calibri" panose="020F0502020204030204" pitchFamily="34" charset="0"/>
              <a:cs typeface="Calibri" panose="020F0502020204030204" pitchFamily="34" charset="0"/>
            </a:endParaRPr>
          </a:p>
          <a:p>
            <a:pPr marL="184150" marR="0" lvl="0" indent="-184150" algn="l" rtl="0">
              <a:spcBef>
                <a:spcPts val="0"/>
              </a:spcBef>
              <a:spcAft>
                <a:spcPts val="0"/>
              </a:spcAft>
              <a:buFont typeface="Arial" panose="020B0604020202020204" pitchFamily="34" charset="0"/>
              <a:buChar char="•"/>
            </a:pPr>
            <a:endParaRPr sz="1600" i="0" dirty="0">
              <a:solidFill>
                <a:schemeClr val="tx1"/>
              </a:solidFill>
              <a:latin typeface="Calibri" panose="020F0502020204030204" pitchFamily="34" charset="0"/>
              <a:cs typeface="Calibri" panose="020F0502020204030204" pitchFamily="34" charset="0"/>
              <a:sym typeface="Arial"/>
            </a:endParaRPr>
          </a:p>
          <a:p>
            <a:pPr marL="184150" marR="0" lvl="0" indent="-184150" algn="l"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CSP (Content Security </a:t>
            </a:r>
            <a:r>
              <a:rPr lang="es-ES" sz="1600" b="1" i="0" dirty="0" err="1">
                <a:solidFill>
                  <a:schemeClr val="tx1"/>
                </a:solidFill>
                <a:latin typeface="Calibri" panose="020F0502020204030204" pitchFamily="34" charset="0"/>
                <a:cs typeface="Calibri" panose="020F0502020204030204" pitchFamily="34" charset="0"/>
                <a:sym typeface="Arial"/>
              </a:rPr>
              <a:t>Policy</a:t>
            </a:r>
            <a:r>
              <a:rPr lang="es-ES" sz="1600" b="1" i="0" dirty="0">
                <a:solidFill>
                  <a:schemeClr val="tx1"/>
                </a:solidFill>
                <a:latin typeface="Calibri" panose="020F0502020204030204" pitchFamily="34" charset="0"/>
                <a:cs typeface="Calibri" panose="020F0502020204030204" pitchFamily="34" charset="0"/>
                <a:sym typeface="Arial"/>
              </a:rPr>
              <a:t>): </a:t>
            </a:r>
            <a:r>
              <a:rPr lang="es-ES" sz="1600" i="0" dirty="0">
                <a:solidFill>
                  <a:schemeClr val="tx1"/>
                </a:solidFill>
                <a:latin typeface="Calibri" panose="020F0502020204030204" pitchFamily="34" charset="0"/>
                <a:cs typeface="Calibri" panose="020F0502020204030204" pitchFamily="34" charset="0"/>
                <a:sym typeface="Arial"/>
              </a:rPr>
              <a:t>Spring Security permite configurar políticas CSP que protegen contra la inyección de scripts maliciosos.</a:t>
            </a:r>
            <a:endParaRPr sz="1600" dirty="0">
              <a:solidFill>
                <a:schemeClr val="tx1"/>
              </a:solidFill>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B39C5039-0A23-893B-D19B-5FD095D2617F}"/>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SEGURIDAD CON SPRING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8"/>
          <p:cNvSpPr txBox="1"/>
          <p:nvPr/>
        </p:nvSpPr>
        <p:spPr>
          <a:xfrm>
            <a:off x="509343" y="921277"/>
            <a:ext cx="7940431" cy="2123658"/>
          </a:xfrm>
          <a:prstGeom prst="rect">
            <a:avLst/>
          </a:prstGeom>
          <a:noFill/>
          <a:ln>
            <a:noFill/>
          </a:ln>
        </p:spPr>
        <p:txBody>
          <a:bodyPr spcFirstLastPara="1" wrap="square" lIns="0" tIns="0" rIns="0" bIns="0" anchor="t" anchorCtr="0">
            <a:spAutoFit/>
          </a:bodyPr>
          <a:lstStyle/>
          <a:p>
            <a:pPr marR="0" lvl="0" algn="l" rtl="0">
              <a:spcBef>
                <a:spcPts val="0"/>
              </a:spcBef>
              <a:spcAft>
                <a:spcPts val="600"/>
              </a:spcAft>
            </a:pPr>
            <a:r>
              <a:rPr lang="es-ES" sz="1600" b="1" i="0" dirty="0">
                <a:solidFill>
                  <a:schemeClr val="tx1"/>
                </a:solidFill>
                <a:highlight>
                  <a:srgbClr val="FFFFFF"/>
                </a:highlight>
                <a:latin typeface="Calibri" panose="020F0502020204030204" pitchFamily="34" charset="0"/>
                <a:cs typeface="Calibri" panose="020F0502020204030204" pitchFamily="34" charset="0"/>
                <a:sym typeface="Arial"/>
              </a:rPr>
              <a:t>PRINCIPALES ASPECTOS</a:t>
            </a:r>
            <a:endParaRPr sz="1600" dirty="0">
              <a:solidFill>
                <a:schemeClr val="tx1"/>
              </a:solidFill>
              <a:latin typeface="Calibri" panose="020F0502020204030204" pitchFamily="34" charset="0"/>
              <a:cs typeface="Calibri" panose="020F0502020204030204" pitchFamily="34" charset="0"/>
              <a:sym typeface="Arial"/>
            </a:endParaRPr>
          </a:p>
          <a:p>
            <a:pPr marR="0" lvl="0" algn="l" rtl="0">
              <a:spcBef>
                <a:spcPts val="0"/>
              </a:spcBef>
              <a:spcAft>
                <a:spcPts val="600"/>
              </a:spcAft>
              <a:buClr>
                <a:srgbClr val="374151"/>
              </a:buClr>
              <a:buSzPts val="1600"/>
            </a:pPr>
            <a:r>
              <a:rPr lang="es-ES" sz="1600" b="1" dirty="0">
                <a:solidFill>
                  <a:schemeClr val="accent5"/>
                </a:solidFill>
                <a:latin typeface="Calibri" panose="020F0502020204030204" pitchFamily="34" charset="0"/>
                <a:cs typeface="Calibri" panose="020F0502020204030204" pitchFamily="34" charset="0"/>
                <a:sym typeface="Arial"/>
              </a:rPr>
              <a:t>Gestión de Sesiones</a:t>
            </a:r>
            <a:endParaRPr sz="1600" dirty="0">
              <a:solidFill>
                <a:schemeClr val="accent5"/>
              </a:solidFill>
              <a:latin typeface="Calibri" panose="020F0502020204030204" pitchFamily="34" charset="0"/>
              <a:cs typeface="Calibri" panose="020F0502020204030204" pitchFamily="34" charset="0"/>
              <a:sym typeface="Arial"/>
            </a:endParaRPr>
          </a:p>
          <a:p>
            <a:pPr marL="184150" marR="0" lvl="0" indent="-184150" algn="l"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Control de Sesiones Concurrentes:</a:t>
            </a:r>
            <a:r>
              <a:rPr lang="es-ES" sz="1600" i="0" dirty="0">
                <a:solidFill>
                  <a:schemeClr val="tx1"/>
                </a:solidFill>
                <a:latin typeface="Calibri" panose="020F0502020204030204" pitchFamily="34" charset="0"/>
                <a:cs typeface="Calibri" panose="020F0502020204030204" pitchFamily="34" charset="0"/>
                <a:sym typeface="Arial"/>
              </a:rPr>
              <a:t> Spring Security permite limitar el número de sesiones activas por usuario, gestionando de manera eficiente las sesiones concurrentes y protegiendo contra ataques de fuerza bruta.</a:t>
            </a:r>
            <a:endParaRPr sz="1600" dirty="0">
              <a:solidFill>
                <a:schemeClr val="tx1"/>
              </a:solidFill>
              <a:latin typeface="Calibri" panose="020F0502020204030204" pitchFamily="34" charset="0"/>
              <a:cs typeface="Calibri" panose="020F0502020204030204" pitchFamily="34" charset="0"/>
            </a:endParaRPr>
          </a:p>
          <a:p>
            <a:pPr marL="184150" marR="0" lvl="0" indent="-184150" algn="l" rtl="0">
              <a:spcBef>
                <a:spcPts val="0"/>
              </a:spcBef>
              <a:spcAft>
                <a:spcPts val="0"/>
              </a:spcAft>
              <a:buFont typeface="Arial" panose="020B0604020202020204" pitchFamily="34" charset="0"/>
              <a:buChar char="•"/>
            </a:pPr>
            <a:endParaRPr sz="1600" i="0" dirty="0">
              <a:solidFill>
                <a:schemeClr val="tx1"/>
              </a:solidFill>
              <a:latin typeface="Calibri" panose="020F0502020204030204" pitchFamily="34" charset="0"/>
              <a:cs typeface="Calibri" panose="020F0502020204030204" pitchFamily="34" charset="0"/>
              <a:sym typeface="Arial"/>
            </a:endParaRPr>
          </a:p>
          <a:p>
            <a:pPr marL="184150" marR="0" lvl="0" indent="-184150" algn="l"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Prevención de Secuestro de Sesión (</a:t>
            </a:r>
            <a:r>
              <a:rPr lang="es-ES" sz="1600" b="1" i="0" dirty="0" err="1">
                <a:solidFill>
                  <a:schemeClr val="tx1"/>
                </a:solidFill>
                <a:latin typeface="Calibri" panose="020F0502020204030204" pitchFamily="34" charset="0"/>
                <a:cs typeface="Calibri" panose="020F0502020204030204" pitchFamily="34" charset="0"/>
                <a:sym typeface="Arial"/>
              </a:rPr>
              <a:t>Session</a:t>
            </a:r>
            <a:r>
              <a:rPr lang="es-ES" sz="1600" b="1" i="0" dirty="0">
                <a:solidFill>
                  <a:schemeClr val="tx1"/>
                </a:solidFill>
                <a:latin typeface="Calibri" panose="020F0502020204030204" pitchFamily="34" charset="0"/>
                <a:cs typeface="Calibri" panose="020F0502020204030204" pitchFamily="34" charset="0"/>
                <a:sym typeface="Arial"/>
              </a:rPr>
              <a:t> </a:t>
            </a:r>
            <a:r>
              <a:rPr lang="es-ES" sz="1600" b="1" i="0" dirty="0" err="1">
                <a:solidFill>
                  <a:schemeClr val="tx1"/>
                </a:solidFill>
                <a:latin typeface="Calibri" panose="020F0502020204030204" pitchFamily="34" charset="0"/>
                <a:cs typeface="Calibri" panose="020F0502020204030204" pitchFamily="34" charset="0"/>
                <a:sym typeface="Arial"/>
              </a:rPr>
              <a:t>Fixation</a:t>
            </a:r>
            <a:r>
              <a:rPr lang="es-ES" sz="1600" b="1" i="0" dirty="0">
                <a:solidFill>
                  <a:schemeClr val="tx1"/>
                </a:solidFill>
                <a:latin typeface="Calibri" panose="020F0502020204030204" pitchFamily="34" charset="0"/>
                <a:cs typeface="Calibri" panose="020F0502020204030204" pitchFamily="34" charset="0"/>
                <a:sym typeface="Arial"/>
              </a:rPr>
              <a:t>):</a:t>
            </a:r>
            <a:r>
              <a:rPr lang="es-ES" sz="1600" i="0" dirty="0">
                <a:solidFill>
                  <a:schemeClr val="tx1"/>
                </a:solidFill>
                <a:latin typeface="Calibri" panose="020F0502020204030204" pitchFamily="34" charset="0"/>
                <a:cs typeface="Calibri" panose="020F0502020204030204" pitchFamily="34" charset="0"/>
                <a:sym typeface="Arial"/>
              </a:rPr>
              <a:t> Spring Security incluye protección contra la fijación de sesiones cambiando el ID de sesión después de la autenticación exitosa.</a:t>
            </a:r>
            <a:endParaRPr sz="1600" dirty="0">
              <a:solidFill>
                <a:schemeClr val="tx1"/>
              </a:solidFill>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56E808D2-196C-3067-4A8B-56121E22B062}"/>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SEGURIDAD CON SPRING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9"/>
          <p:cNvSpPr txBox="1"/>
          <p:nvPr/>
        </p:nvSpPr>
        <p:spPr>
          <a:xfrm>
            <a:off x="509343" y="921277"/>
            <a:ext cx="7924800" cy="2369880"/>
          </a:xfrm>
          <a:prstGeom prst="rect">
            <a:avLst/>
          </a:prstGeom>
          <a:noFill/>
          <a:ln>
            <a:noFill/>
          </a:ln>
        </p:spPr>
        <p:txBody>
          <a:bodyPr spcFirstLastPara="1" wrap="square" lIns="0" tIns="0" rIns="0" bIns="0" anchor="t" anchorCtr="0">
            <a:spAutoFit/>
          </a:bodyPr>
          <a:lstStyle/>
          <a:p>
            <a:pPr marR="0" lvl="0" rtl="0">
              <a:spcBef>
                <a:spcPts val="0"/>
              </a:spcBef>
              <a:spcAft>
                <a:spcPts val="600"/>
              </a:spcAft>
            </a:pPr>
            <a:r>
              <a:rPr lang="es-ES" sz="1600" b="1" i="0" dirty="0">
                <a:solidFill>
                  <a:schemeClr val="tx1"/>
                </a:solidFill>
                <a:highlight>
                  <a:srgbClr val="FFFFFF"/>
                </a:highlight>
                <a:latin typeface="Calibri" panose="020F0502020204030204" pitchFamily="34" charset="0"/>
                <a:cs typeface="Calibri" panose="020F0502020204030204" pitchFamily="34" charset="0"/>
                <a:sym typeface="Arial"/>
              </a:rPr>
              <a:t>PRINCIPALES ASPECTOS</a:t>
            </a:r>
            <a:endParaRPr sz="1600" dirty="0">
              <a:solidFill>
                <a:schemeClr val="tx1"/>
              </a:solidFill>
              <a:latin typeface="Calibri" panose="020F0502020204030204" pitchFamily="34" charset="0"/>
              <a:cs typeface="Calibri" panose="020F0502020204030204" pitchFamily="34" charset="0"/>
              <a:sym typeface="Arial"/>
            </a:endParaRPr>
          </a:p>
          <a:p>
            <a:pPr marR="0" lvl="0" rtl="0">
              <a:spcBef>
                <a:spcPts val="0"/>
              </a:spcBef>
              <a:spcAft>
                <a:spcPts val="600"/>
              </a:spcAft>
              <a:buClr>
                <a:srgbClr val="374151"/>
              </a:buClr>
              <a:buSzPts val="1600"/>
            </a:pPr>
            <a:r>
              <a:rPr lang="es-ES" sz="1600" b="1" dirty="0">
                <a:solidFill>
                  <a:schemeClr val="accent5"/>
                </a:solidFill>
                <a:latin typeface="Calibri" panose="020F0502020204030204" pitchFamily="34" charset="0"/>
                <a:cs typeface="Calibri" panose="020F0502020204030204" pitchFamily="34" charset="0"/>
                <a:sym typeface="Arial"/>
              </a:rPr>
              <a:t>Seguridad en Servicios REST</a:t>
            </a:r>
            <a:endParaRPr sz="1600" dirty="0">
              <a:solidFill>
                <a:schemeClr val="accent5"/>
              </a:solidFill>
              <a:latin typeface="Calibri" panose="020F0502020204030204" pitchFamily="34" charset="0"/>
              <a:cs typeface="Calibri" panose="020F0502020204030204" pitchFamily="34" charset="0"/>
              <a:sym typeface="Arial"/>
            </a:endParaRPr>
          </a:p>
          <a:p>
            <a:pPr marL="184150" marR="0" lvl="0" indent="-184150"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Autenticación basada en Token (JWT): </a:t>
            </a:r>
            <a:r>
              <a:rPr lang="es-ES" sz="1600" i="0" dirty="0">
                <a:solidFill>
                  <a:schemeClr val="tx1"/>
                </a:solidFill>
                <a:latin typeface="Calibri" panose="020F0502020204030204" pitchFamily="34" charset="0"/>
                <a:cs typeface="Calibri" panose="020F0502020204030204" pitchFamily="34" charset="0"/>
                <a:sym typeface="Arial"/>
              </a:rPr>
              <a:t>Spring Security facilita la implementación de autenticación basada en tokens, como JWT, para servicios REST. Esto es ideal para aplicaciones que requieren autenticación sin estado (</a:t>
            </a:r>
            <a:r>
              <a:rPr lang="es-ES" sz="1600" i="0" dirty="0" err="1">
                <a:solidFill>
                  <a:schemeClr val="tx1"/>
                </a:solidFill>
                <a:latin typeface="Calibri" panose="020F0502020204030204" pitchFamily="34" charset="0"/>
                <a:cs typeface="Calibri" panose="020F0502020204030204" pitchFamily="34" charset="0"/>
                <a:sym typeface="Arial"/>
              </a:rPr>
              <a:t>stateless</a:t>
            </a:r>
            <a:r>
              <a:rPr lang="es-ES" sz="1600" i="0" dirty="0">
                <a:solidFill>
                  <a:schemeClr val="tx1"/>
                </a:solidFill>
                <a:latin typeface="Calibri" panose="020F0502020204030204" pitchFamily="34" charset="0"/>
                <a:cs typeface="Calibri" panose="020F0502020204030204" pitchFamily="34" charset="0"/>
                <a:sym typeface="Arial"/>
              </a:rPr>
              <a:t>).</a:t>
            </a:r>
            <a:endParaRPr sz="1600" dirty="0">
              <a:solidFill>
                <a:schemeClr val="tx1"/>
              </a:solidFill>
              <a:latin typeface="Calibri" panose="020F0502020204030204" pitchFamily="34" charset="0"/>
              <a:cs typeface="Calibri" panose="020F0502020204030204" pitchFamily="34" charset="0"/>
            </a:endParaRPr>
          </a:p>
          <a:p>
            <a:pPr marL="184150" marR="0" lvl="0" indent="-184150" rtl="0">
              <a:spcBef>
                <a:spcPts val="0"/>
              </a:spcBef>
              <a:spcAft>
                <a:spcPts val="0"/>
              </a:spcAft>
              <a:buFont typeface="Arial" panose="020B0604020202020204" pitchFamily="34" charset="0"/>
              <a:buChar char="•"/>
            </a:pPr>
            <a:endParaRPr sz="1600" b="1" i="0" dirty="0">
              <a:solidFill>
                <a:schemeClr val="tx1"/>
              </a:solidFill>
              <a:latin typeface="Calibri" panose="020F0502020204030204" pitchFamily="34" charset="0"/>
              <a:cs typeface="Calibri" panose="020F0502020204030204" pitchFamily="34" charset="0"/>
              <a:sym typeface="Arial"/>
            </a:endParaRPr>
          </a:p>
          <a:p>
            <a:pPr marL="184150" marR="0" lvl="0" indent="-184150"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Protección de </a:t>
            </a:r>
            <a:r>
              <a:rPr lang="es-ES" sz="1600" b="1" i="0" dirty="0" err="1">
                <a:solidFill>
                  <a:schemeClr val="tx1"/>
                </a:solidFill>
                <a:latin typeface="Calibri" panose="020F0502020204030204" pitchFamily="34" charset="0"/>
                <a:cs typeface="Calibri" panose="020F0502020204030204" pitchFamily="34" charset="0"/>
                <a:sym typeface="Arial"/>
              </a:rPr>
              <a:t>Endpoints</a:t>
            </a:r>
            <a:r>
              <a:rPr lang="es-ES" sz="1600" b="1" i="0" dirty="0">
                <a:solidFill>
                  <a:schemeClr val="tx1"/>
                </a:solidFill>
                <a:latin typeface="Calibri" panose="020F0502020204030204" pitchFamily="34" charset="0"/>
                <a:cs typeface="Calibri" panose="020F0502020204030204" pitchFamily="34" charset="0"/>
                <a:sym typeface="Arial"/>
              </a:rPr>
              <a:t> REST: </a:t>
            </a:r>
            <a:r>
              <a:rPr lang="es-ES" sz="1600" i="0" dirty="0">
                <a:solidFill>
                  <a:schemeClr val="tx1"/>
                </a:solidFill>
                <a:latin typeface="Calibri" panose="020F0502020204030204" pitchFamily="34" charset="0"/>
                <a:cs typeface="Calibri" panose="020F0502020204030204" pitchFamily="34" charset="0"/>
                <a:sym typeface="Arial"/>
              </a:rPr>
              <a:t>Los </a:t>
            </a:r>
            <a:r>
              <a:rPr lang="es-ES" sz="1600" i="0" dirty="0" err="1">
                <a:solidFill>
                  <a:schemeClr val="tx1"/>
                </a:solidFill>
                <a:latin typeface="Calibri" panose="020F0502020204030204" pitchFamily="34" charset="0"/>
                <a:cs typeface="Calibri" panose="020F0502020204030204" pitchFamily="34" charset="0"/>
                <a:sym typeface="Arial"/>
              </a:rPr>
              <a:t>endpoints</a:t>
            </a:r>
            <a:r>
              <a:rPr lang="es-ES" sz="1600" i="0" dirty="0">
                <a:solidFill>
                  <a:schemeClr val="tx1"/>
                </a:solidFill>
                <a:latin typeface="Calibri" panose="020F0502020204030204" pitchFamily="34" charset="0"/>
                <a:cs typeface="Calibri" panose="020F0502020204030204" pitchFamily="34" charset="0"/>
                <a:sym typeface="Arial"/>
              </a:rPr>
              <a:t> REST pueden protegerse mediante reglas de acceso específicas utilizando anotaciones o configuraciones de seguridad, asegurando que solo los usuarios autorizados puedan acceder a los recursos.</a:t>
            </a:r>
            <a:endParaRPr sz="1600" dirty="0">
              <a:solidFill>
                <a:schemeClr val="tx1"/>
              </a:solidFill>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3D42296D-E3B0-3333-AA9E-7D5B5F33146F}"/>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SEGURIDAD CON SPRING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0"/>
          <p:cNvSpPr txBox="1"/>
          <p:nvPr/>
        </p:nvSpPr>
        <p:spPr>
          <a:xfrm>
            <a:off x="509343" y="921277"/>
            <a:ext cx="7916985" cy="2616101"/>
          </a:xfrm>
          <a:prstGeom prst="rect">
            <a:avLst/>
          </a:prstGeom>
          <a:noFill/>
          <a:ln>
            <a:noFill/>
          </a:ln>
        </p:spPr>
        <p:txBody>
          <a:bodyPr spcFirstLastPara="1" wrap="square" lIns="0" tIns="0" rIns="0" bIns="0" anchor="t" anchorCtr="0">
            <a:spAutoFit/>
          </a:bodyPr>
          <a:lstStyle/>
          <a:p>
            <a:pPr marR="0" lvl="0" algn="l" rtl="0">
              <a:spcBef>
                <a:spcPts val="0"/>
              </a:spcBef>
              <a:spcAft>
                <a:spcPts val="600"/>
              </a:spcAft>
            </a:pPr>
            <a:r>
              <a:rPr lang="es-ES" sz="1600" b="1" i="0" dirty="0">
                <a:solidFill>
                  <a:schemeClr val="tx1"/>
                </a:solidFill>
                <a:highlight>
                  <a:srgbClr val="FFFFFF"/>
                </a:highlight>
                <a:latin typeface="Calibri" panose="020F0502020204030204" pitchFamily="34" charset="0"/>
                <a:cs typeface="Calibri" panose="020F0502020204030204" pitchFamily="34" charset="0"/>
                <a:sym typeface="Arial"/>
              </a:rPr>
              <a:t>PRINCIPALES ASPECTOS.</a:t>
            </a:r>
            <a:endParaRPr sz="1600" dirty="0">
              <a:solidFill>
                <a:schemeClr val="tx1"/>
              </a:solidFill>
              <a:latin typeface="Calibri" panose="020F0502020204030204" pitchFamily="34" charset="0"/>
              <a:cs typeface="Calibri" panose="020F0502020204030204" pitchFamily="34" charset="0"/>
              <a:sym typeface="Arial"/>
            </a:endParaRPr>
          </a:p>
          <a:p>
            <a:pPr marR="0" lvl="0" algn="l" rtl="0">
              <a:spcBef>
                <a:spcPts val="0"/>
              </a:spcBef>
              <a:spcAft>
                <a:spcPts val="600"/>
              </a:spcAft>
              <a:buClr>
                <a:srgbClr val="374151"/>
              </a:buClr>
              <a:buSzPts val="1600"/>
            </a:pPr>
            <a:r>
              <a:rPr lang="es-ES" sz="1600" b="1" dirty="0">
                <a:solidFill>
                  <a:schemeClr val="accent5"/>
                </a:solidFill>
                <a:latin typeface="Calibri" panose="020F0502020204030204" pitchFamily="34" charset="0"/>
                <a:cs typeface="Calibri" panose="020F0502020204030204" pitchFamily="34" charset="0"/>
                <a:sym typeface="Arial"/>
              </a:rPr>
              <a:t>Cifrado y Protección de Datos</a:t>
            </a:r>
            <a:endParaRPr sz="1600" dirty="0">
              <a:solidFill>
                <a:schemeClr val="accent5"/>
              </a:solidFill>
              <a:latin typeface="Calibri" panose="020F0502020204030204" pitchFamily="34" charset="0"/>
              <a:cs typeface="Calibri" panose="020F0502020204030204" pitchFamily="34" charset="0"/>
              <a:sym typeface="Arial"/>
            </a:endParaRPr>
          </a:p>
          <a:p>
            <a:pPr marL="184150" marR="0" lvl="0" indent="-184150" algn="l"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Cifrado de Contraseñas:</a:t>
            </a:r>
            <a:br>
              <a:rPr lang="es-ES" sz="1600" b="1" dirty="0">
                <a:solidFill>
                  <a:schemeClr val="tx1"/>
                </a:solidFill>
                <a:latin typeface="Calibri" panose="020F0502020204030204" pitchFamily="34" charset="0"/>
                <a:cs typeface="Calibri" panose="020F0502020204030204" pitchFamily="34" charset="0"/>
              </a:rPr>
            </a:br>
            <a:r>
              <a:rPr lang="es-ES" sz="1600" i="0" dirty="0">
                <a:solidFill>
                  <a:schemeClr val="tx1"/>
                </a:solidFill>
                <a:latin typeface="Calibri" panose="020F0502020204030204" pitchFamily="34" charset="0"/>
                <a:cs typeface="Calibri" panose="020F0502020204030204" pitchFamily="34" charset="0"/>
                <a:sym typeface="Arial"/>
              </a:rPr>
              <a:t>Spring Security proporciona soporte para el almacenamiento seguro de contraseñas utilizando algoritmos de hash como </a:t>
            </a:r>
            <a:r>
              <a:rPr lang="es-ES" sz="1600" i="0" dirty="0" err="1">
                <a:solidFill>
                  <a:schemeClr val="tx1"/>
                </a:solidFill>
                <a:latin typeface="Calibri" panose="020F0502020204030204" pitchFamily="34" charset="0"/>
                <a:cs typeface="Calibri" panose="020F0502020204030204" pitchFamily="34" charset="0"/>
                <a:sym typeface="Arial"/>
              </a:rPr>
              <a:t>BCrypt</a:t>
            </a:r>
            <a:r>
              <a:rPr lang="es-ES" sz="1600" i="0" dirty="0">
                <a:solidFill>
                  <a:schemeClr val="tx1"/>
                </a:solidFill>
                <a:latin typeface="Calibri" panose="020F0502020204030204" pitchFamily="34" charset="0"/>
                <a:cs typeface="Calibri" panose="020F0502020204030204" pitchFamily="34" charset="0"/>
                <a:sym typeface="Arial"/>
              </a:rPr>
              <a:t>, </a:t>
            </a:r>
            <a:r>
              <a:rPr lang="es-ES" sz="1600" i="0" dirty="0" err="1">
                <a:solidFill>
                  <a:schemeClr val="tx1"/>
                </a:solidFill>
                <a:latin typeface="Calibri" panose="020F0502020204030204" pitchFamily="34" charset="0"/>
                <a:cs typeface="Calibri" panose="020F0502020204030204" pitchFamily="34" charset="0"/>
                <a:sym typeface="Arial"/>
              </a:rPr>
              <a:t>SCrypt</a:t>
            </a:r>
            <a:r>
              <a:rPr lang="es-ES" sz="1600" i="0" dirty="0">
                <a:solidFill>
                  <a:schemeClr val="tx1"/>
                </a:solidFill>
                <a:latin typeface="Calibri" panose="020F0502020204030204" pitchFamily="34" charset="0"/>
                <a:cs typeface="Calibri" panose="020F0502020204030204" pitchFamily="34" charset="0"/>
                <a:sym typeface="Arial"/>
              </a:rPr>
              <a:t>, y Argon2.</a:t>
            </a:r>
            <a:endParaRPr sz="1600" dirty="0">
              <a:solidFill>
                <a:schemeClr val="tx1"/>
              </a:solidFill>
              <a:latin typeface="Calibri" panose="020F0502020204030204" pitchFamily="34" charset="0"/>
              <a:cs typeface="Calibri" panose="020F0502020204030204" pitchFamily="34" charset="0"/>
            </a:endParaRPr>
          </a:p>
          <a:p>
            <a:pPr marL="184150" marR="0" lvl="0" indent="-184150" algn="l" rtl="0">
              <a:spcBef>
                <a:spcPts val="0"/>
              </a:spcBef>
              <a:spcAft>
                <a:spcPts val="0"/>
              </a:spcAft>
              <a:buFont typeface="Arial" panose="020B0604020202020204" pitchFamily="34" charset="0"/>
              <a:buChar char="•"/>
            </a:pPr>
            <a:endParaRPr sz="1600" i="0" dirty="0">
              <a:solidFill>
                <a:schemeClr val="tx1"/>
              </a:solidFill>
              <a:latin typeface="Calibri" panose="020F0502020204030204" pitchFamily="34" charset="0"/>
              <a:cs typeface="Calibri" panose="020F0502020204030204" pitchFamily="34" charset="0"/>
              <a:sym typeface="Arial"/>
            </a:endParaRPr>
          </a:p>
          <a:p>
            <a:pPr marL="184150" marR="0" lvl="0" indent="-184150" algn="l"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Encriptación de Datos Sensibles:</a:t>
            </a:r>
            <a:br>
              <a:rPr lang="es-ES" sz="1600" b="1" dirty="0">
                <a:solidFill>
                  <a:schemeClr val="tx1"/>
                </a:solidFill>
                <a:latin typeface="Calibri" panose="020F0502020204030204" pitchFamily="34" charset="0"/>
                <a:cs typeface="Calibri" panose="020F0502020204030204" pitchFamily="34" charset="0"/>
              </a:rPr>
            </a:br>
            <a:r>
              <a:rPr lang="es-ES" sz="1600" i="0" dirty="0">
                <a:solidFill>
                  <a:schemeClr val="tx1"/>
                </a:solidFill>
                <a:latin typeface="Calibri" panose="020F0502020204030204" pitchFamily="34" charset="0"/>
                <a:cs typeface="Calibri" panose="020F0502020204030204" pitchFamily="34" charset="0"/>
                <a:sym typeface="Arial"/>
              </a:rPr>
              <a:t>Aunque la encriptación de datos sensibles no es directamente manejada por Spring Security, este se integra bien con otras librerías de encriptación que permiten proteger la información almacenada o transmitida.</a:t>
            </a:r>
            <a:endParaRPr sz="1600" dirty="0">
              <a:solidFill>
                <a:schemeClr val="tx1"/>
              </a:solidFill>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43A9DC60-F293-4033-66E2-A4C81764BA95}"/>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SEGURIDAD CON SPRING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1"/>
          <p:cNvSpPr txBox="1"/>
          <p:nvPr/>
        </p:nvSpPr>
        <p:spPr>
          <a:xfrm>
            <a:off x="509343" y="921277"/>
            <a:ext cx="7901354" cy="2862322"/>
          </a:xfrm>
          <a:prstGeom prst="rect">
            <a:avLst/>
          </a:prstGeom>
          <a:noFill/>
          <a:ln>
            <a:noFill/>
          </a:ln>
        </p:spPr>
        <p:txBody>
          <a:bodyPr spcFirstLastPara="1" wrap="square" lIns="0" tIns="0" rIns="0" bIns="0" anchor="t" anchorCtr="0">
            <a:spAutoFit/>
          </a:bodyPr>
          <a:lstStyle/>
          <a:p>
            <a:pPr marR="0" lvl="0" algn="l" rtl="0">
              <a:spcBef>
                <a:spcPts val="0"/>
              </a:spcBef>
              <a:spcAft>
                <a:spcPts val="600"/>
              </a:spcAft>
            </a:pPr>
            <a:r>
              <a:rPr lang="es-ES" sz="1600" b="1" i="0" dirty="0">
                <a:solidFill>
                  <a:schemeClr val="tx1"/>
                </a:solidFill>
                <a:highlight>
                  <a:srgbClr val="FFFFFF"/>
                </a:highlight>
                <a:latin typeface="Calibri" panose="020F0502020204030204" pitchFamily="34" charset="0"/>
                <a:cs typeface="Calibri" panose="020F0502020204030204" pitchFamily="34" charset="0"/>
                <a:sym typeface="Arial"/>
              </a:rPr>
              <a:t>PRINCIPALES ASPECTOS.</a:t>
            </a:r>
            <a:endParaRPr sz="1600" dirty="0">
              <a:solidFill>
                <a:schemeClr val="tx1"/>
              </a:solidFill>
              <a:latin typeface="Calibri" panose="020F0502020204030204" pitchFamily="34" charset="0"/>
              <a:cs typeface="Calibri" panose="020F0502020204030204" pitchFamily="34" charset="0"/>
              <a:sym typeface="Arial"/>
            </a:endParaRPr>
          </a:p>
          <a:p>
            <a:pPr marR="0" lvl="0" algn="l" rtl="0">
              <a:spcBef>
                <a:spcPts val="0"/>
              </a:spcBef>
              <a:spcAft>
                <a:spcPts val="600"/>
              </a:spcAft>
              <a:buClr>
                <a:srgbClr val="374151"/>
              </a:buClr>
              <a:buSzPts val="1600"/>
            </a:pPr>
            <a:r>
              <a:rPr lang="es-ES" sz="1600" b="1" dirty="0">
                <a:solidFill>
                  <a:schemeClr val="accent5"/>
                </a:solidFill>
                <a:latin typeface="Calibri" panose="020F0502020204030204" pitchFamily="34" charset="0"/>
                <a:cs typeface="Calibri" panose="020F0502020204030204" pitchFamily="34" charset="0"/>
                <a:sym typeface="Arial"/>
              </a:rPr>
              <a:t>Auditoría y Registro</a:t>
            </a:r>
            <a:endParaRPr sz="1600" dirty="0">
              <a:solidFill>
                <a:schemeClr val="accent5"/>
              </a:solidFill>
              <a:latin typeface="Calibri" panose="020F0502020204030204" pitchFamily="34" charset="0"/>
              <a:cs typeface="Calibri" panose="020F0502020204030204" pitchFamily="34" charset="0"/>
              <a:sym typeface="Arial"/>
            </a:endParaRPr>
          </a:p>
          <a:p>
            <a:pPr marL="184150" marR="0" lvl="0" indent="-184150" algn="l"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Registro de Eventos de Seguridad:</a:t>
            </a:r>
            <a:br>
              <a:rPr lang="es-ES" sz="1600" b="1" dirty="0">
                <a:solidFill>
                  <a:schemeClr val="tx1"/>
                </a:solidFill>
                <a:latin typeface="Calibri" panose="020F0502020204030204" pitchFamily="34" charset="0"/>
                <a:cs typeface="Calibri" panose="020F0502020204030204" pitchFamily="34" charset="0"/>
              </a:rPr>
            </a:br>
            <a:r>
              <a:rPr lang="es-ES" sz="1600" i="0" dirty="0">
                <a:solidFill>
                  <a:schemeClr val="tx1"/>
                </a:solidFill>
                <a:latin typeface="Calibri" panose="020F0502020204030204" pitchFamily="34" charset="0"/>
                <a:cs typeface="Calibri" panose="020F0502020204030204" pitchFamily="34" charset="0"/>
                <a:sym typeface="Arial"/>
              </a:rPr>
              <a:t>Spring Security permite la auditoría y el registro de eventos de seguridad como intentos de inicio de sesión fallidos, cierres de sesión y accesos no autorizados, lo cual es fundamental para el monitoreo y respuesta ante incidentes.</a:t>
            </a:r>
            <a:endParaRPr sz="1600" dirty="0">
              <a:solidFill>
                <a:schemeClr val="tx1"/>
              </a:solidFill>
              <a:latin typeface="Calibri" panose="020F0502020204030204" pitchFamily="34" charset="0"/>
              <a:cs typeface="Calibri" panose="020F0502020204030204" pitchFamily="34" charset="0"/>
            </a:endParaRPr>
          </a:p>
          <a:p>
            <a:pPr marL="184150" marR="0" lvl="0" indent="-184150" algn="l" rtl="0">
              <a:spcBef>
                <a:spcPts val="0"/>
              </a:spcBef>
              <a:spcAft>
                <a:spcPts val="0"/>
              </a:spcAft>
              <a:buFont typeface="Arial" panose="020B0604020202020204" pitchFamily="34" charset="0"/>
              <a:buChar char="•"/>
            </a:pPr>
            <a:endParaRPr sz="1600" i="0" dirty="0">
              <a:solidFill>
                <a:schemeClr val="tx1"/>
              </a:solidFill>
              <a:latin typeface="Calibri" panose="020F0502020204030204" pitchFamily="34" charset="0"/>
              <a:cs typeface="Calibri" panose="020F0502020204030204" pitchFamily="34" charset="0"/>
              <a:sym typeface="Arial"/>
            </a:endParaRPr>
          </a:p>
          <a:p>
            <a:pPr marL="184150" marR="0" lvl="0" indent="-184150" algn="l" rtl="0">
              <a:spcBef>
                <a:spcPts val="0"/>
              </a:spcBef>
              <a:spcAft>
                <a:spcPts val="0"/>
              </a:spcAft>
              <a:buFont typeface="Arial" panose="020B0604020202020204" pitchFamily="34" charset="0"/>
              <a:buChar char="•"/>
            </a:pPr>
            <a:r>
              <a:rPr lang="es-ES" sz="1600" b="1" dirty="0" err="1">
                <a:solidFill>
                  <a:schemeClr val="tx1"/>
                </a:solidFill>
                <a:latin typeface="Calibri" panose="020F0502020204030204" pitchFamily="34" charset="0"/>
                <a:cs typeface="Calibri" panose="020F0502020204030204" pitchFamily="34" charset="0"/>
                <a:sym typeface="Arial"/>
              </a:rPr>
              <a:t>Custom</a:t>
            </a:r>
            <a:r>
              <a:rPr lang="es-ES" sz="1600" b="1" dirty="0">
                <a:solidFill>
                  <a:schemeClr val="tx1"/>
                </a:solidFill>
                <a:latin typeface="Calibri" panose="020F0502020204030204" pitchFamily="34" charset="0"/>
                <a:cs typeface="Calibri" panose="020F0502020204030204" pitchFamily="34" charset="0"/>
                <a:sym typeface="Arial"/>
              </a:rPr>
              <a:t> </a:t>
            </a:r>
            <a:r>
              <a:rPr lang="es-ES" sz="1600" b="1" dirty="0" err="1">
                <a:solidFill>
                  <a:schemeClr val="tx1"/>
                </a:solidFill>
                <a:latin typeface="Calibri" panose="020F0502020204030204" pitchFamily="34" charset="0"/>
                <a:cs typeface="Calibri" panose="020F0502020204030204" pitchFamily="34" charset="0"/>
                <a:sym typeface="Arial"/>
              </a:rPr>
              <a:t>Filters</a:t>
            </a:r>
            <a:r>
              <a:rPr lang="es-ES" sz="1600" b="1" dirty="0">
                <a:solidFill>
                  <a:schemeClr val="tx1"/>
                </a:solidFill>
                <a:latin typeface="Calibri" panose="020F0502020204030204" pitchFamily="34" charset="0"/>
                <a:cs typeface="Calibri" panose="020F0502020204030204" pitchFamily="34" charset="0"/>
                <a:sym typeface="Arial"/>
              </a:rPr>
              <a:t> y </a:t>
            </a:r>
            <a:r>
              <a:rPr lang="es-ES" sz="1600" b="1" dirty="0" err="1">
                <a:solidFill>
                  <a:schemeClr val="tx1"/>
                </a:solidFill>
                <a:latin typeface="Calibri" panose="020F0502020204030204" pitchFamily="34" charset="0"/>
                <a:cs typeface="Calibri" panose="020F0502020204030204" pitchFamily="34" charset="0"/>
                <a:sym typeface="Arial"/>
              </a:rPr>
              <a:t>Handlers</a:t>
            </a:r>
            <a:r>
              <a:rPr lang="es-ES" sz="1600" b="1" dirty="0">
                <a:solidFill>
                  <a:schemeClr val="tx1"/>
                </a:solidFill>
                <a:latin typeface="Calibri" panose="020F0502020204030204" pitchFamily="34" charset="0"/>
                <a:cs typeface="Calibri" panose="020F0502020204030204" pitchFamily="34" charset="0"/>
                <a:sym typeface="Arial"/>
              </a:rPr>
              <a:t>:</a:t>
            </a:r>
            <a:br>
              <a:rPr lang="es-ES" sz="1600" b="1" dirty="0">
                <a:solidFill>
                  <a:schemeClr val="tx1"/>
                </a:solidFill>
                <a:latin typeface="Calibri" panose="020F0502020204030204" pitchFamily="34" charset="0"/>
                <a:cs typeface="Calibri" panose="020F0502020204030204" pitchFamily="34" charset="0"/>
              </a:rPr>
            </a:br>
            <a:r>
              <a:rPr lang="es-ES" sz="1600" i="0" dirty="0">
                <a:solidFill>
                  <a:schemeClr val="tx1"/>
                </a:solidFill>
                <a:latin typeface="Calibri" panose="020F0502020204030204" pitchFamily="34" charset="0"/>
                <a:cs typeface="Calibri" panose="020F0502020204030204" pitchFamily="34" charset="0"/>
                <a:sym typeface="Arial"/>
              </a:rPr>
              <a:t>Spring Security permite personalizar el comportamiento ante eventos de autenticación y autorización, como redirecciones después del </a:t>
            </a:r>
            <a:r>
              <a:rPr lang="es-ES" sz="1600" i="0" dirty="0" err="1">
                <a:solidFill>
                  <a:schemeClr val="tx1"/>
                </a:solidFill>
                <a:latin typeface="Calibri" panose="020F0502020204030204" pitchFamily="34" charset="0"/>
                <a:cs typeface="Calibri" panose="020F0502020204030204" pitchFamily="34" charset="0"/>
                <a:sym typeface="Arial"/>
              </a:rPr>
              <a:t>login</a:t>
            </a:r>
            <a:r>
              <a:rPr lang="es-ES" sz="1600" i="0" dirty="0">
                <a:solidFill>
                  <a:schemeClr val="tx1"/>
                </a:solidFill>
                <a:latin typeface="Calibri" panose="020F0502020204030204" pitchFamily="34" charset="0"/>
                <a:cs typeface="Calibri" panose="020F0502020204030204" pitchFamily="34" charset="0"/>
                <a:sym typeface="Arial"/>
              </a:rPr>
              <a:t> o respuestas personalizadas en caso de acceso denegado.</a:t>
            </a:r>
            <a:endParaRPr sz="1600" dirty="0">
              <a:solidFill>
                <a:schemeClr val="tx1"/>
              </a:solidFill>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5E029126-1BEB-38CD-EA9E-7AABF4399FB1}"/>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SEGURIDAD CON SPRING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2"/>
          <p:cNvSpPr txBox="1"/>
          <p:nvPr/>
        </p:nvSpPr>
        <p:spPr>
          <a:xfrm>
            <a:off x="509343" y="921277"/>
            <a:ext cx="7711790" cy="2862322"/>
          </a:xfrm>
          <a:prstGeom prst="rect">
            <a:avLst/>
          </a:prstGeom>
          <a:noFill/>
          <a:ln>
            <a:noFill/>
          </a:ln>
        </p:spPr>
        <p:txBody>
          <a:bodyPr spcFirstLastPara="1" wrap="square" lIns="0" tIns="0" rIns="0" bIns="0" anchor="t" anchorCtr="0">
            <a:spAutoFit/>
          </a:bodyPr>
          <a:lstStyle/>
          <a:p>
            <a:pPr marR="0" lvl="0" rtl="0">
              <a:spcBef>
                <a:spcPts val="0"/>
              </a:spcBef>
              <a:spcAft>
                <a:spcPts val="600"/>
              </a:spcAft>
            </a:pPr>
            <a:r>
              <a:rPr lang="es-ES" sz="1600" b="1" i="0" dirty="0">
                <a:solidFill>
                  <a:schemeClr val="tx1"/>
                </a:solidFill>
                <a:highlight>
                  <a:srgbClr val="FFFFFF"/>
                </a:highlight>
                <a:latin typeface="Calibri" panose="020F0502020204030204" pitchFamily="34" charset="0"/>
                <a:cs typeface="Calibri" panose="020F0502020204030204" pitchFamily="34" charset="0"/>
                <a:sym typeface="Arial"/>
              </a:rPr>
              <a:t>PRINCIPALES ASPECTOS.</a:t>
            </a:r>
            <a:endParaRPr sz="1600" dirty="0">
              <a:solidFill>
                <a:schemeClr val="tx1"/>
              </a:solidFill>
              <a:latin typeface="Calibri" panose="020F0502020204030204" pitchFamily="34" charset="0"/>
              <a:cs typeface="Calibri" panose="020F0502020204030204" pitchFamily="34" charset="0"/>
              <a:sym typeface="Arial"/>
            </a:endParaRPr>
          </a:p>
          <a:p>
            <a:pPr marR="0" lvl="0" rtl="0">
              <a:spcBef>
                <a:spcPts val="0"/>
              </a:spcBef>
              <a:spcAft>
                <a:spcPts val="600"/>
              </a:spcAft>
              <a:buClr>
                <a:srgbClr val="374151"/>
              </a:buClr>
              <a:buSzPts val="1600"/>
            </a:pPr>
            <a:r>
              <a:rPr lang="es-ES" sz="1600" b="1" dirty="0">
                <a:solidFill>
                  <a:schemeClr val="accent5"/>
                </a:solidFill>
                <a:latin typeface="Calibri" panose="020F0502020204030204" pitchFamily="34" charset="0"/>
                <a:cs typeface="Calibri" panose="020F0502020204030204" pitchFamily="34" charset="0"/>
                <a:sym typeface="Arial"/>
              </a:rPr>
              <a:t>Integración con DevOps y CI/CD</a:t>
            </a:r>
            <a:endParaRPr sz="1600" dirty="0">
              <a:solidFill>
                <a:schemeClr val="accent5"/>
              </a:solidFill>
              <a:latin typeface="Calibri" panose="020F0502020204030204" pitchFamily="34" charset="0"/>
              <a:cs typeface="Calibri" panose="020F0502020204030204" pitchFamily="34" charset="0"/>
              <a:sym typeface="Arial"/>
            </a:endParaRPr>
          </a:p>
          <a:p>
            <a:pPr marL="184150" marR="0" lvl="0" indent="-184150"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Escaneos de Seguridad:</a:t>
            </a:r>
            <a:br>
              <a:rPr lang="es-ES" sz="1600" b="1" i="0" dirty="0">
                <a:solidFill>
                  <a:schemeClr val="tx1"/>
                </a:solidFill>
                <a:latin typeface="Calibri" panose="020F0502020204030204" pitchFamily="34" charset="0"/>
                <a:cs typeface="Calibri" panose="020F0502020204030204" pitchFamily="34" charset="0"/>
                <a:sym typeface="Arial"/>
              </a:rPr>
            </a:br>
            <a:r>
              <a:rPr lang="es-ES" sz="1600" i="0" dirty="0">
                <a:solidFill>
                  <a:schemeClr val="tx1"/>
                </a:solidFill>
                <a:latin typeface="Calibri" panose="020F0502020204030204" pitchFamily="34" charset="0"/>
                <a:cs typeface="Calibri" panose="020F0502020204030204" pitchFamily="34" charset="0"/>
                <a:sym typeface="Arial"/>
              </a:rPr>
              <a:t>Spring Security puede integrarse con herramientas de escaneo de seguridad en pipelines CI/CD, asegurando que las vulnerabilidades se identifiquen y corrijan antes de que el código llegue a producción.</a:t>
            </a:r>
            <a:endParaRPr sz="1600" dirty="0">
              <a:solidFill>
                <a:schemeClr val="tx1"/>
              </a:solidFill>
              <a:latin typeface="Calibri" panose="020F0502020204030204" pitchFamily="34" charset="0"/>
              <a:cs typeface="Calibri" panose="020F0502020204030204" pitchFamily="34" charset="0"/>
            </a:endParaRPr>
          </a:p>
          <a:p>
            <a:pPr marL="184150" marR="0" lvl="0" indent="-184150" rtl="0">
              <a:spcBef>
                <a:spcPts val="0"/>
              </a:spcBef>
              <a:spcAft>
                <a:spcPts val="0"/>
              </a:spcAft>
              <a:buFont typeface="Arial" panose="020B0604020202020204" pitchFamily="34" charset="0"/>
              <a:buChar char="•"/>
            </a:pPr>
            <a:endParaRPr sz="1600" b="1" i="0" dirty="0">
              <a:solidFill>
                <a:schemeClr val="tx1"/>
              </a:solidFill>
              <a:latin typeface="Calibri" panose="020F0502020204030204" pitchFamily="34" charset="0"/>
              <a:cs typeface="Calibri" panose="020F0502020204030204" pitchFamily="34" charset="0"/>
              <a:sym typeface="Arial"/>
            </a:endParaRPr>
          </a:p>
          <a:p>
            <a:pPr marL="184150" marR="0" lvl="0" indent="-184150" rtl="0">
              <a:spcBef>
                <a:spcPts val="0"/>
              </a:spcBef>
              <a:spcAft>
                <a:spcPts val="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Pruebas de Seguridad Automatizadas:</a:t>
            </a:r>
            <a:br>
              <a:rPr lang="es-ES" sz="1600" b="1" i="0" dirty="0">
                <a:solidFill>
                  <a:schemeClr val="tx1"/>
                </a:solidFill>
                <a:latin typeface="Calibri" panose="020F0502020204030204" pitchFamily="34" charset="0"/>
                <a:cs typeface="Calibri" panose="020F0502020204030204" pitchFamily="34" charset="0"/>
                <a:sym typeface="Arial"/>
              </a:rPr>
            </a:br>
            <a:r>
              <a:rPr lang="es-ES" sz="1600" i="0" dirty="0">
                <a:solidFill>
                  <a:schemeClr val="tx1"/>
                </a:solidFill>
                <a:latin typeface="Calibri" panose="020F0502020204030204" pitchFamily="34" charset="0"/>
                <a:cs typeface="Calibri" panose="020F0502020204030204" pitchFamily="34" charset="0"/>
                <a:sym typeface="Arial"/>
              </a:rPr>
              <a:t>Las pruebas de integración de seguridad pueden automatizarse para validar que los controles de seguridad se comportan como se espera, facilitando el cumplimiento de políticas de seguridad.</a:t>
            </a:r>
            <a:endParaRPr sz="1600" dirty="0">
              <a:solidFill>
                <a:schemeClr val="tx1"/>
              </a:solidFill>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B46D71B2-6A8B-D197-842D-2DCF434BA44D}"/>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SEGURIDAD CON SPRING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3"/>
          <p:cNvSpPr txBox="1"/>
          <p:nvPr/>
        </p:nvSpPr>
        <p:spPr>
          <a:xfrm>
            <a:off x="509343" y="921277"/>
            <a:ext cx="7940431" cy="1708160"/>
          </a:xfrm>
          <a:prstGeom prst="rect">
            <a:avLst/>
          </a:prstGeom>
          <a:noFill/>
          <a:ln>
            <a:noFill/>
          </a:ln>
        </p:spPr>
        <p:txBody>
          <a:bodyPr spcFirstLastPara="1" wrap="square" lIns="0" tIns="0" rIns="0" bIns="0" anchor="t" anchorCtr="0">
            <a:spAutoFit/>
          </a:bodyPr>
          <a:lstStyle/>
          <a:p>
            <a:pPr marR="0" lvl="0" algn="l" rtl="0">
              <a:spcBef>
                <a:spcPts val="0"/>
              </a:spcBef>
              <a:spcAft>
                <a:spcPts val="600"/>
              </a:spcAft>
            </a:pPr>
            <a:r>
              <a:rPr lang="es-ES" sz="1600" b="1" i="0" dirty="0">
                <a:solidFill>
                  <a:schemeClr val="tx1"/>
                </a:solidFill>
                <a:highlight>
                  <a:srgbClr val="FFFFFF"/>
                </a:highlight>
                <a:latin typeface="Calibri" panose="020F0502020204030204" pitchFamily="34" charset="0"/>
                <a:cs typeface="Calibri" panose="020F0502020204030204" pitchFamily="34" charset="0"/>
                <a:sym typeface="Arial"/>
              </a:rPr>
              <a:t>PRINCIPALES ASPECTOS</a:t>
            </a:r>
            <a:endParaRPr sz="1600" dirty="0">
              <a:solidFill>
                <a:schemeClr val="tx1"/>
              </a:solidFill>
              <a:latin typeface="Calibri" panose="020F0502020204030204" pitchFamily="34" charset="0"/>
              <a:cs typeface="Calibri" panose="020F0502020204030204" pitchFamily="34" charset="0"/>
              <a:sym typeface="Arial"/>
            </a:endParaRPr>
          </a:p>
          <a:p>
            <a:pPr marR="0" lvl="0" algn="l" rtl="0">
              <a:spcBef>
                <a:spcPts val="0"/>
              </a:spcBef>
              <a:spcAft>
                <a:spcPts val="600"/>
              </a:spcAft>
              <a:buClr>
                <a:srgbClr val="374151"/>
              </a:buClr>
              <a:buSzPts val="1600"/>
            </a:pPr>
            <a:r>
              <a:rPr lang="es-ES" sz="1600" b="1" dirty="0">
                <a:solidFill>
                  <a:schemeClr val="accent5"/>
                </a:solidFill>
                <a:latin typeface="Calibri" panose="020F0502020204030204" pitchFamily="34" charset="0"/>
                <a:cs typeface="Calibri" panose="020F0502020204030204" pitchFamily="34" charset="0"/>
                <a:sym typeface="Arial"/>
              </a:rPr>
              <a:t>Facilidad de Configuración</a:t>
            </a:r>
            <a:endParaRPr sz="1600" dirty="0">
              <a:solidFill>
                <a:schemeClr val="accent5"/>
              </a:solidFill>
              <a:latin typeface="Calibri" panose="020F0502020204030204" pitchFamily="34" charset="0"/>
              <a:cs typeface="Calibri" panose="020F0502020204030204" pitchFamily="34" charset="0"/>
              <a:sym typeface="Arial"/>
            </a:endParaRPr>
          </a:p>
          <a:p>
            <a:pPr marL="184150" marR="0" lvl="0" indent="-184150" algn="l" rtl="0">
              <a:spcBef>
                <a:spcPts val="0"/>
              </a:spcBef>
              <a:spcAft>
                <a:spcPts val="600"/>
              </a:spcAft>
              <a:buFont typeface="Arial" panose="020B0604020202020204" pitchFamily="34" charset="0"/>
              <a:buChar char="•"/>
            </a:pPr>
            <a:r>
              <a:rPr lang="es-ES" sz="1600" b="1" i="0" dirty="0">
                <a:solidFill>
                  <a:schemeClr val="tx1"/>
                </a:solidFill>
                <a:latin typeface="Calibri" panose="020F0502020204030204" pitchFamily="34" charset="0"/>
                <a:cs typeface="Calibri" panose="020F0502020204030204" pitchFamily="34" charset="0"/>
                <a:sym typeface="Arial"/>
              </a:rPr>
              <a:t>Spring </a:t>
            </a:r>
            <a:r>
              <a:rPr lang="es-ES" sz="1600" b="1" i="0" dirty="0" err="1">
                <a:solidFill>
                  <a:schemeClr val="tx1"/>
                </a:solidFill>
                <a:latin typeface="Calibri" panose="020F0502020204030204" pitchFamily="34" charset="0"/>
                <a:cs typeface="Calibri" panose="020F0502020204030204" pitchFamily="34" charset="0"/>
                <a:sym typeface="Arial"/>
              </a:rPr>
              <a:t>Boot</a:t>
            </a:r>
            <a:r>
              <a:rPr lang="es-ES" sz="1600" b="1" i="0" dirty="0">
                <a:solidFill>
                  <a:schemeClr val="tx1"/>
                </a:solidFill>
                <a:latin typeface="Calibri" panose="020F0502020204030204" pitchFamily="34" charset="0"/>
                <a:cs typeface="Calibri" panose="020F0502020204030204" pitchFamily="34" charset="0"/>
                <a:sym typeface="Arial"/>
              </a:rPr>
              <a:t> </a:t>
            </a:r>
            <a:r>
              <a:rPr lang="es-ES" sz="1600" b="1" i="0" dirty="0" err="1">
                <a:solidFill>
                  <a:schemeClr val="tx1"/>
                </a:solidFill>
                <a:latin typeface="Calibri" panose="020F0502020204030204" pitchFamily="34" charset="0"/>
                <a:cs typeface="Calibri" panose="020F0502020204030204" pitchFamily="34" charset="0"/>
                <a:sym typeface="Arial"/>
              </a:rPr>
              <a:t>Autoconfiguration</a:t>
            </a:r>
            <a:r>
              <a:rPr lang="es-ES" sz="1600" b="1" i="0" dirty="0">
                <a:solidFill>
                  <a:schemeClr val="tx1"/>
                </a:solidFill>
                <a:latin typeface="Calibri" panose="020F0502020204030204" pitchFamily="34" charset="0"/>
                <a:cs typeface="Calibri" panose="020F0502020204030204" pitchFamily="34" charset="0"/>
                <a:sym typeface="Arial"/>
              </a:rPr>
              <a:t>:</a:t>
            </a:r>
            <a:br>
              <a:rPr lang="es-ES" sz="1600" b="1" dirty="0">
                <a:solidFill>
                  <a:schemeClr val="tx1"/>
                </a:solidFill>
                <a:latin typeface="Calibri" panose="020F0502020204030204" pitchFamily="34" charset="0"/>
                <a:cs typeface="Calibri" panose="020F0502020204030204" pitchFamily="34" charset="0"/>
              </a:rPr>
            </a:br>
            <a:r>
              <a:rPr lang="es-ES" sz="1600" i="0" dirty="0">
                <a:solidFill>
                  <a:schemeClr val="tx1"/>
                </a:solidFill>
                <a:latin typeface="Calibri" panose="020F0502020204030204" pitchFamily="34" charset="0"/>
                <a:cs typeface="Calibri" panose="020F0502020204030204" pitchFamily="34" charset="0"/>
                <a:sym typeface="Arial"/>
              </a:rPr>
              <a:t>Cuando se usa con Spring </a:t>
            </a:r>
            <a:r>
              <a:rPr lang="es-ES" sz="1600" i="0" dirty="0" err="1">
                <a:solidFill>
                  <a:schemeClr val="tx1"/>
                </a:solidFill>
                <a:latin typeface="Calibri" panose="020F0502020204030204" pitchFamily="34" charset="0"/>
                <a:cs typeface="Calibri" panose="020F0502020204030204" pitchFamily="34" charset="0"/>
                <a:sym typeface="Arial"/>
              </a:rPr>
              <a:t>Boot</a:t>
            </a:r>
            <a:r>
              <a:rPr lang="es-ES" sz="1600" i="0" dirty="0">
                <a:solidFill>
                  <a:schemeClr val="tx1"/>
                </a:solidFill>
                <a:latin typeface="Calibri" panose="020F0502020204030204" pitchFamily="34" charset="0"/>
                <a:cs typeface="Calibri" panose="020F0502020204030204" pitchFamily="34" charset="0"/>
                <a:sym typeface="Arial"/>
              </a:rPr>
              <a:t>, Spring Security configura automáticamente muchas opciones de seguridad predeterminadas, lo que acelera el desarrollo seguro. Los desarrolladores pueden personalizar la configuración según sea necesario.</a:t>
            </a:r>
            <a:endParaRPr sz="1600" dirty="0">
              <a:solidFill>
                <a:schemeClr val="tx1"/>
              </a:solidFill>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63602DEB-F4DE-CBA8-17EF-9804E0482E76}"/>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SEGURIDAD CON SPRING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nvGrpSpPr>
          <p:cNvPr id="4" name="Grupo 3">
            <a:extLst>
              <a:ext uri="{FF2B5EF4-FFF2-40B4-BE49-F238E27FC236}">
                <a16:creationId xmlns:a16="http://schemas.microsoft.com/office/drawing/2014/main" id="{8A495D6D-73E7-D64C-AD5A-8212D6B1E2F3}"/>
              </a:ext>
            </a:extLst>
          </p:cNvPr>
          <p:cNvGrpSpPr/>
          <p:nvPr/>
        </p:nvGrpSpPr>
        <p:grpSpPr>
          <a:xfrm>
            <a:off x="2506315" y="2194222"/>
            <a:ext cx="4581728" cy="1326557"/>
            <a:chOff x="2403187" y="2211377"/>
            <a:chExt cx="4581728" cy="1326557"/>
          </a:xfrm>
        </p:grpSpPr>
        <p:sp>
          <p:nvSpPr>
            <p:cNvPr id="6" name="CuadroTexto 5">
              <a:extLst>
                <a:ext uri="{FF2B5EF4-FFF2-40B4-BE49-F238E27FC236}">
                  <a16:creationId xmlns:a16="http://schemas.microsoft.com/office/drawing/2014/main" id="{682CC9F8-A9FF-BF41-B987-57AFB7D160FE}"/>
                </a:ext>
              </a:extLst>
            </p:cNvPr>
            <p:cNvSpPr txBox="1"/>
            <p:nvPr/>
          </p:nvSpPr>
          <p:spPr>
            <a:xfrm>
              <a:off x="2403187"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CONCLUSIONES</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8" name="Imagen 7">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425491" y="2211377"/>
              <a:ext cx="202176" cy="208211"/>
            </a:xfrm>
            <a:prstGeom prst="rect">
              <a:avLst/>
            </a:prstGeom>
          </p:spPr>
        </p:pic>
      </p:grpSp>
      <p:pic>
        <p:nvPicPr>
          <p:cNvPr id="10" name="Imagen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 y="946969"/>
            <a:ext cx="2072214" cy="3898064"/>
          </a:xfrm>
          <a:prstGeom prst="rect">
            <a:avLst/>
          </a:prstGeom>
        </p:spPr>
      </p:pic>
    </p:spTree>
    <p:extLst>
      <p:ext uri="{BB962C8B-B14F-4D97-AF65-F5344CB8AC3E}">
        <p14:creationId xmlns:p14="http://schemas.microsoft.com/office/powerpoint/2010/main" val="210825054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4" name="object 7"/>
          <p:cNvSpPr txBox="1"/>
          <p:nvPr/>
        </p:nvSpPr>
        <p:spPr>
          <a:xfrm>
            <a:off x="1279545" y="912813"/>
            <a:ext cx="5705454" cy="3016210"/>
          </a:xfrm>
          <a:prstGeom prst="rect">
            <a:avLst/>
          </a:prstGeom>
        </p:spPr>
        <p:txBody>
          <a:bodyPr vert="horz" wrap="square" lIns="0" tIns="0" rIns="0" bIns="0" rtlCol="0">
            <a:spAutoFit/>
          </a:bodyPr>
          <a:lstStyle/>
          <a:p>
            <a:pPr lvl="0"/>
            <a:r>
              <a:rPr lang="es-PE" sz="1400" dirty="0">
                <a:latin typeface="Calibri" charset="0"/>
                <a:ea typeface="Calibri" charset="0"/>
                <a:cs typeface="Calibri" charset="0"/>
              </a:rPr>
              <a:t>Spring MVC simplifica el desarrollo de aplicaciones web con una clara separación de responsabilidades y el uso de anotaciones que reducen el código boilerplate.</a:t>
            </a:r>
          </a:p>
          <a:p>
            <a:pPr lvl="0"/>
            <a:endParaRPr lang="es-PE" sz="1400" dirty="0">
              <a:latin typeface="Calibri" charset="0"/>
              <a:ea typeface="Calibri" charset="0"/>
              <a:cs typeface="Calibri" charset="0"/>
            </a:endParaRPr>
          </a:p>
          <a:p>
            <a:pPr lvl="0"/>
            <a:r>
              <a:rPr lang="es-PE" sz="1400" dirty="0">
                <a:latin typeface="Calibri" charset="0"/>
                <a:ea typeface="Calibri" charset="0"/>
                <a:cs typeface="Calibri" charset="0"/>
              </a:rPr>
              <a:t>Ofrece flexibilidad en la configuración de vistas y escalabilidad en la arquitectura de aplicaciones, permitiendo una fácil adición de nuevas funcionalidades.</a:t>
            </a:r>
          </a:p>
          <a:p>
            <a:pPr lvl="0"/>
            <a:endParaRPr lang="es-PE" sz="1400" dirty="0">
              <a:latin typeface="Calibri" charset="0"/>
              <a:ea typeface="Calibri" charset="0"/>
              <a:cs typeface="Calibri" charset="0"/>
            </a:endParaRPr>
          </a:p>
          <a:p>
            <a:pPr lvl="0"/>
            <a:r>
              <a:rPr lang="es-PE" sz="1400" dirty="0">
                <a:latin typeface="Calibri" charset="0"/>
                <a:ea typeface="Calibri" charset="0"/>
                <a:cs typeface="Calibri" charset="0"/>
              </a:rPr>
              <a:t>Mejora la mantenibilidad del código y facilita las pruebas unitarias e integradas, asegurando la calidad del software.</a:t>
            </a:r>
          </a:p>
          <a:p>
            <a:pPr lvl="0"/>
            <a:endParaRPr lang="es-PE" sz="1400" dirty="0">
              <a:latin typeface="Calibri" charset="0"/>
              <a:ea typeface="Calibri" charset="0"/>
              <a:cs typeface="Calibri" charset="0"/>
            </a:endParaRPr>
          </a:p>
          <a:p>
            <a:pPr lvl="0"/>
            <a:r>
              <a:rPr lang="es-PE" sz="1400" dirty="0">
                <a:latin typeface="Calibri" charset="0"/>
                <a:ea typeface="Calibri" charset="0"/>
                <a:cs typeface="Calibri" charset="0"/>
              </a:rPr>
              <a:t>Ampliamente adoptado en la industria, Spring MVC es reconocido por su robustez y eficiencia, siendo utilizado por empresas de diversos sectores.</a:t>
            </a:r>
          </a:p>
          <a:p>
            <a:pPr lvl="0"/>
            <a:endParaRPr lang="es-PE" sz="1400" dirty="0">
              <a:latin typeface="Calibri" charset="0"/>
              <a:ea typeface="Calibri" charset="0"/>
              <a:cs typeface="Calibri" charset="0"/>
            </a:endParaRPr>
          </a:p>
        </p:txBody>
      </p:sp>
      <p:pic>
        <p:nvPicPr>
          <p:cNvPr id="8" name="Imagen 7"/>
          <p:cNvPicPr>
            <a:picLocks noChangeAspect="1"/>
          </p:cNvPicPr>
          <p:nvPr/>
        </p:nvPicPr>
        <p:blipFill>
          <a:blip r:embed="rId3"/>
          <a:stretch>
            <a:fillRect/>
          </a:stretch>
        </p:blipFill>
        <p:spPr>
          <a:xfrm>
            <a:off x="1011260" y="954885"/>
            <a:ext cx="114138" cy="117546"/>
          </a:xfrm>
          <a:prstGeom prst="rect">
            <a:avLst/>
          </a:prstGeom>
        </p:spPr>
      </p:pic>
      <p:pic>
        <p:nvPicPr>
          <p:cNvPr id="15" name="Imagen 14"/>
          <p:cNvPicPr>
            <a:picLocks noChangeAspect="1"/>
          </p:cNvPicPr>
          <p:nvPr/>
        </p:nvPicPr>
        <p:blipFill>
          <a:blip r:embed="rId3"/>
          <a:stretch>
            <a:fillRect/>
          </a:stretch>
        </p:blipFill>
        <p:spPr>
          <a:xfrm>
            <a:off x="1011260" y="1802588"/>
            <a:ext cx="114138" cy="117546"/>
          </a:xfrm>
          <a:prstGeom prst="rect">
            <a:avLst/>
          </a:prstGeom>
        </p:spPr>
      </p:pic>
      <p:sp>
        <p:nvSpPr>
          <p:cNvPr id="16" name="Rectángulo 15"/>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2" name="Imagen 1"/>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9"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pic>
        <p:nvPicPr>
          <p:cNvPr id="5" name="Imagen 4">
            <a:extLst>
              <a:ext uri="{FF2B5EF4-FFF2-40B4-BE49-F238E27FC236}">
                <a16:creationId xmlns:a16="http://schemas.microsoft.com/office/drawing/2014/main" id="{6BACA9F9-F8DC-BC5A-9E5C-3C86FECCE855}"/>
              </a:ext>
            </a:extLst>
          </p:cNvPr>
          <p:cNvPicPr>
            <a:picLocks noChangeAspect="1"/>
          </p:cNvPicPr>
          <p:nvPr/>
        </p:nvPicPr>
        <p:blipFill>
          <a:blip r:embed="rId3"/>
          <a:stretch>
            <a:fillRect/>
          </a:stretch>
        </p:blipFill>
        <p:spPr>
          <a:xfrm>
            <a:off x="1011260" y="2660476"/>
            <a:ext cx="114138" cy="117546"/>
          </a:xfrm>
          <a:prstGeom prst="rect">
            <a:avLst/>
          </a:prstGeom>
        </p:spPr>
      </p:pic>
      <p:pic>
        <p:nvPicPr>
          <p:cNvPr id="6" name="Imagen 5">
            <a:extLst>
              <a:ext uri="{FF2B5EF4-FFF2-40B4-BE49-F238E27FC236}">
                <a16:creationId xmlns:a16="http://schemas.microsoft.com/office/drawing/2014/main" id="{31C8B721-FEE8-794F-B7AE-356A09A5FB5C}"/>
              </a:ext>
            </a:extLst>
          </p:cNvPr>
          <p:cNvPicPr>
            <a:picLocks noChangeAspect="1"/>
          </p:cNvPicPr>
          <p:nvPr/>
        </p:nvPicPr>
        <p:blipFill>
          <a:blip r:embed="rId3"/>
          <a:stretch>
            <a:fillRect/>
          </a:stretch>
        </p:blipFill>
        <p:spPr>
          <a:xfrm>
            <a:off x="1011260" y="3296174"/>
            <a:ext cx="114138" cy="117546"/>
          </a:xfrm>
          <a:prstGeom prst="rect">
            <a:avLst/>
          </a:prstGeom>
        </p:spPr>
      </p:pic>
    </p:spTree>
    <p:extLst>
      <p:ext uri="{BB962C8B-B14F-4D97-AF65-F5344CB8AC3E}">
        <p14:creationId xmlns:p14="http://schemas.microsoft.com/office/powerpoint/2010/main" val="203418434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0" y="0"/>
            <a:ext cx="9144000" cy="5715000"/>
          </a:xfrm>
          <a:prstGeom prst="rect">
            <a:avLst/>
          </a:prstGeom>
          <a:solidFill>
            <a:srgbClr val="8DCB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7" name="CuadroTexto 6">
            <a:extLst>
              <a:ext uri="{FF2B5EF4-FFF2-40B4-BE49-F238E27FC236}">
                <a16:creationId xmlns:a16="http://schemas.microsoft.com/office/drawing/2014/main" id="{4C9F27E8-E0F0-CF48-B2E7-A2617B9B1DEA}"/>
              </a:ext>
            </a:extLst>
          </p:cNvPr>
          <p:cNvSpPr txBox="1"/>
          <p:nvPr/>
        </p:nvSpPr>
        <p:spPr>
          <a:xfrm>
            <a:off x="2519363"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BIBLIOGRAFÍA</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6" name="Imagen 5">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528619" y="2194222"/>
            <a:ext cx="202176" cy="208211"/>
          </a:xfrm>
          <a:prstGeom prst="rect">
            <a:avLst/>
          </a:prstGeom>
        </p:spPr>
      </p:pic>
      <p:pic>
        <p:nvPicPr>
          <p:cNvPr id="11" name="Imagen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46970"/>
            <a:ext cx="2072061" cy="3898064"/>
          </a:xfrm>
          <a:prstGeom prst="rect">
            <a:avLst/>
          </a:prstGeom>
        </p:spPr>
      </p:pic>
    </p:spTree>
    <p:extLst>
      <p:ext uri="{BB962C8B-B14F-4D97-AF65-F5344CB8AC3E}">
        <p14:creationId xmlns:p14="http://schemas.microsoft.com/office/powerpoint/2010/main" val="596676596"/>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 name="object 7"/>
          <p:cNvSpPr txBox="1"/>
          <p:nvPr/>
        </p:nvSpPr>
        <p:spPr>
          <a:xfrm>
            <a:off x="1279009" y="917823"/>
            <a:ext cx="4774320" cy="1508105"/>
          </a:xfrm>
          <a:prstGeom prst="rect">
            <a:avLst/>
          </a:prstGeom>
        </p:spPr>
        <p:txBody>
          <a:bodyPr vert="horz" wrap="square" lIns="0" tIns="0" rIns="0" bIns="0" rtlCol="0">
            <a:spAutoFit/>
          </a:bodyPr>
          <a:lstStyle/>
          <a:p>
            <a:r>
              <a:rPr lang="es-ES" sz="1400" dirty="0">
                <a:latin typeface="Calibri" charset="0"/>
                <a:ea typeface="Calibri" charset="0"/>
                <a:cs typeface="Calibri" charset="0"/>
              </a:rPr>
              <a:t>Sierra, K., &amp; Bates, B. OCA/OCP Java SE 7 </a:t>
            </a:r>
            <a:r>
              <a:rPr lang="es-ES" sz="1400" dirty="0" err="1">
                <a:latin typeface="Calibri" charset="0"/>
                <a:ea typeface="Calibri" charset="0"/>
                <a:cs typeface="Calibri" charset="0"/>
              </a:rPr>
              <a:t>Programmer</a:t>
            </a:r>
            <a:r>
              <a:rPr lang="es-ES" sz="1400" dirty="0">
                <a:latin typeface="Calibri" charset="0"/>
                <a:ea typeface="Calibri" charset="0"/>
                <a:cs typeface="Calibri" charset="0"/>
              </a:rPr>
              <a:t> I y II </a:t>
            </a:r>
            <a:r>
              <a:rPr lang="es-ES" sz="1400" dirty="0" err="1">
                <a:latin typeface="Calibri" charset="0"/>
                <a:ea typeface="Calibri" charset="0"/>
                <a:cs typeface="Calibri" charset="0"/>
              </a:rPr>
              <a:t>Study</a:t>
            </a:r>
            <a:r>
              <a:rPr lang="es-ES" sz="1400" dirty="0">
                <a:latin typeface="Calibri" charset="0"/>
                <a:ea typeface="Calibri" charset="0"/>
                <a:cs typeface="Calibri" charset="0"/>
              </a:rPr>
              <a:t> Guide (</a:t>
            </a:r>
            <a:r>
              <a:rPr lang="es-ES" sz="1400" dirty="0" err="1">
                <a:latin typeface="Calibri" charset="0"/>
                <a:ea typeface="Calibri" charset="0"/>
                <a:cs typeface="Calibri" charset="0"/>
              </a:rPr>
              <a:t>Exams</a:t>
            </a:r>
            <a:r>
              <a:rPr lang="es-ES" sz="1400" dirty="0">
                <a:latin typeface="Calibri" charset="0"/>
                <a:ea typeface="Calibri" charset="0"/>
                <a:cs typeface="Calibri" charset="0"/>
              </a:rPr>
              <a:t> 1Z0-803 y 1Z0-804).</a:t>
            </a:r>
          </a:p>
          <a:p>
            <a:endParaRPr lang="es-ES" sz="1400" dirty="0">
              <a:latin typeface="Calibri" charset="0"/>
              <a:ea typeface="Calibri" charset="0"/>
              <a:cs typeface="Calibri" charset="0"/>
            </a:endParaRPr>
          </a:p>
          <a:p>
            <a:r>
              <a:rPr lang="es-ES" sz="1400" dirty="0">
                <a:latin typeface="Calibri" charset="0"/>
                <a:ea typeface="Calibri" charset="0"/>
                <a:cs typeface="Calibri" charset="0"/>
              </a:rPr>
              <a:t>Professional Java </a:t>
            </a:r>
            <a:r>
              <a:rPr lang="es-ES" sz="1400" dirty="0" err="1">
                <a:latin typeface="Calibri" charset="0"/>
                <a:ea typeface="Calibri" charset="0"/>
                <a:cs typeface="Calibri" charset="0"/>
              </a:rPr>
              <a:t>for</a:t>
            </a:r>
            <a:r>
              <a:rPr lang="es-ES" sz="1400" dirty="0">
                <a:latin typeface="Calibri" charset="0"/>
                <a:ea typeface="Calibri" charset="0"/>
                <a:cs typeface="Calibri" charset="0"/>
              </a:rPr>
              <a:t> Web </a:t>
            </a:r>
            <a:r>
              <a:rPr lang="es-ES" sz="1400" dirty="0" err="1">
                <a:latin typeface="Calibri" charset="0"/>
                <a:ea typeface="Calibri" charset="0"/>
                <a:cs typeface="Calibri" charset="0"/>
              </a:rPr>
              <a:t>Applications</a:t>
            </a:r>
            <a:r>
              <a:rPr lang="es-ES" sz="1400" dirty="0">
                <a:latin typeface="Calibri" charset="0"/>
                <a:ea typeface="Calibri" charset="0"/>
                <a:cs typeface="Calibri" charset="0"/>
              </a:rPr>
              <a:t>.</a:t>
            </a:r>
          </a:p>
          <a:p>
            <a:endParaRPr lang="es-ES" sz="1400" dirty="0">
              <a:latin typeface="Calibri" charset="0"/>
              <a:ea typeface="Calibri" charset="0"/>
              <a:cs typeface="Calibri" charset="0"/>
            </a:endParaRPr>
          </a:p>
          <a:p>
            <a:r>
              <a:rPr lang="es-ES" sz="1400" dirty="0">
                <a:latin typeface="Calibri" charset="0"/>
                <a:ea typeface="Calibri" charset="0"/>
                <a:cs typeface="Calibri" charset="0"/>
              </a:rPr>
              <a:t>Spring Framework </a:t>
            </a:r>
            <a:r>
              <a:rPr lang="es-ES" sz="1400" dirty="0" err="1">
                <a:latin typeface="Calibri" charset="0"/>
                <a:ea typeface="Calibri" charset="0"/>
                <a:cs typeface="Calibri" charset="0"/>
              </a:rPr>
              <a:t>Documentation</a:t>
            </a:r>
            <a:r>
              <a:rPr lang="es-ES" sz="1400" dirty="0">
                <a:latin typeface="Calibri" charset="0"/>
                <a:ea typeface="Calibri" charset="0"/>
                <a:cs typeface="Calibri" charset="0"/>
              </a:rPr>
              <a:t>: https://</a:t>
            </a:r>
            <a:r>
              <a:rPr lang="es-ES" sz="1400" dirty="0" err="1">
                <a:latin typeface="Calibri" charset="0"/>
                <a:ea typeface="Calibri" charset="0"/>
                <a:cs typeface="Calibri" charset="0"/>
              </a:rPr>
              <a:t>spring.io</a:t>
            </a:r>
            <a:r>
              <a:rPr lang="es-ES" sz="1400" dirty="0">
                <a:latin typeface="Calibri" charset="0"/>
                <a:ea typeface="Calibri" charset="0"/>
                <a:cs typeface="Calibri" charset="0"/>
              </a:rPr>
              <a:t>/</a:t>
            </a:r>
            <a:r>
              <a:rPr lang="es-ES" sz="1400" dirty="0" err="1">
                <a:latin typeface="Calibri" charset="0"/>
                <a:ea typeface="Calibri" charset="0"/>
                <a:cs typeface="Calibri" charset="0"/>
              </a:rPr>
              <a:t>projects</a:t>
            </a:r>
            <a:r>
              <a:rPr lang="es-ES" sz="1400" dirty="0">
                <a:latin typeface="Calibri" charset="0"/>
                <a:ea typeface="Calibri" charset="0"/>
                <a:cs typeface="Calibri" charset="0"/>
              </a:rPr>
              <a:t>/</a:t>
            </a:r>
            <a:r>
              <a:rPr lang="es-ES" sz="1400" dirty="0" err="1">
                <a:latin typeface="Calibri" charset="0"/>
                <a:ea typeface="Calibri" charset="0"/>
                <a:cs typeface="Calibri" charset="0"/>
              </a:rPr>
              <a:t>spring-framework</a:t>
            </a:r>
            <a:r>
              <a:rPr lang="es-ES" sz="1400" dirty="0">
                <a:latin typeface="Calibri" charset="0"/>
                <a:ea typeface="Calibri" charset="0"/>
                <a:cs typeface="Calibri" charset="0"/>
              </a:rPr>
              <a:t>.</a:t>
            </a:r>
          </a:p>
        </p:txBody>
      </p:sp>
      <p:pic>
        <p:nvPicPr>
          <p:cNvPr id="9" name="Imagen 8"/>
          <p:cNvPicPr>
            <a:picLocks noChangeAspect="1"/>
          </p:cNvPicPr>
          <p:nvPr/>
        </p:nvPicPr>
        <p:blipFill>
          <a:blip r:embed="rId2"/>
          <a:stretch>
            <a:fillRect/>
          </a:stretch>
        </p:blipFill>
        <p:spPr>
          <a:xfrm>
            <a:off x="1008064" y="959114"/>
            <a:ext cx="103867" cy="106967"/>
          </a:xfrm>
          <a:prstGeom prst="rect">
            <a:avLst/>
          </a:prstGeom>
        </p:spPr>
      </p:pic>
      <p:pic>
        <p:nvPicPr>
          <p:cNvPr id="14" name="Imagen 13">
            <a:extLst>
              <a:ext uri="{FF2B5EF4-FFF2-40B4-BE49-F238E27FC236}">
                <a16:creationId xmlns:a16="http://schemas.microsoft.com/office/drawing/2014/main" id="{D0016DFD-D096-A245-9591-9C15FD675265}"/>
              </a:ext>
            </a:extLst>
          </p:cNvPr>
          <p:cNvPicPr>
            <a:picLocks noChangeAspect="1"/>
          </p:cNvPicPr>
          <p:nvPr/>
        </p:nvPicPr>
        <p:blipFill>
          <a:blip r:embed="rId2"/>
          <a:stretch>
            <a:fillRect/>
          </a:stretch>
        </p:blipFill>
        <p:spPr>
          <a:xfrm>
            <a:off x="1008064" y="1620119"/>
            <a:ext cx="103867" cy="106967"/>
          </a:xfrm>
          <a:prstGeom prst="rect">
            <a:avLst/>
          </a:prstGeom>
        </p:spPr>
      </p:pic>
      <p:sp>
        <p:nvSpPr>
          <p:cNvPr id="19" name="Rectángulo 18"/>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p:cNvPicPr>
            <a:picLocks noChangeAspect="1"/>
          </p:cNvPicPr>
          <p:nvPr/>
        </p:nvPicPr>
        <p:blipFill>
          <a:blip r:embed="rId3">
            <a:alphaModFix amt="42000"/>
            <a:extLst>
              <a:ext uri="{28A0092B-C50C-407E-A947-70E740481C1C}">
                <a14:useLocalDpi xmlns:a14="http://schemas.microsoft.com/office/drawing/2010/main" val="0"/>
              </a:ext>
            </a:extLst>
          </a:blip>
          <a:stretch>
            <a:fillRect/>
          </a:stretch>
        </p:blipFill>
        <p:spPr>
          <a:xfrm>
            <a:off x="6985000" y="3036889"/>
            <a:ext cx="1690688" cy="2197100"/>
          </a:xfrm>
          <a:prstGeom prst="rect">
            <a:avLst/>
          </a:prstGeom>
        </p:spPr>
      </p:pic>
      <p:sp>
        <p:nvSpPr>
          <p:cNvPr id="8"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BIBLIOGRAFÍA</a:t>
            </a:r>
          </a:p>
        </p:txBody>
      </p:sp>
      <p:pic>
        <p:nvPicPr>
          <p:cNvPr id="5" name="Imagen 4">
            <a:extLst>
              <a:ext uri="{FF2B5EF4-FFF2-40B4-BE49-F238E27FC236}">
                <a16:creationId xmlns:a16="http://schemas.microsoft.com/office/drawing/2014/main" id="{38B2918A-3BCA-41F2-4353-117DBF58A490}"/>
              </a:ext>
            </a:extLst>
          </p:cNvPr>
          <p:cNvPicPr>
            <a:picLocks noChangeAspect="1"/>
          </p:cNvPicPr>
          <p:nvPr/>
        </p:nvPicPr>
        <p:blipFill>
          <a:blip r:embed="rId2"/>
          <a:stretch>
            <a:fillRect/>
          </a:stretch>
        </p:blipFill>
        <p:spPr>
          <a:xfrm>
            <a:off x="1008064" y="2032282"/>
            <a:ext cx="103867" cy="106967"/>
          </a:xfrm>
          <a:prstGeom prst="rect">
            <a:avLst/>
          </a:prstGeom>
        </p:spPr>
      </p:pic>
    </p:spTree>
    <p:extLst>
      <p:ext uri="{BB962C8B-B14F-4D97-AF65-F5344CB8AC3E}">
        <p14:creationId xmlns:p14="http://schemas.microsoft.com/office/powerpoint/2010/main" val="174240112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p:cNvPicPr>
            <a:picLocks noChangeAspect="1"/>
          </p:cNvPicPr>
          <p:nvPr/>
        </p:nvPicPr>
        <p:blipFill>
          <a:blip r:embed="rId2"/>
          <a:stretch>
            <a:fillRect/>
          </a:stretch>
        </p:blipFill>
        <p:spPr>
          <a:xfrm>
            <a:off x="3924199" y="2666298"/>
            <a:ext cx="1295601" cy="386803"/>
          </a:xfrm>
          <a:prstGeom prst="rect">
            <a:avLst/>
          </a:prstGeom>
        </p:spPr>
      </p:pic>
    </p:spTree>
    <p:extLst>
      <p:ext uri="{BB962C8B-B14F-4D97-AF65-F5344CB8AC3E}">
        <p14:creationId xmlns:p14="http://schemas.microsoft.com/office/powerpoint/2010/main" val="23541635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theme/theme1.xml><?xml version="1.0" encoding="utf-8"?>
<a:theme xmlns:a="http://schemas.openxmlformats.org/drawingml/2006/main" name="Office Theme">
  <a:themeElements>
    <a:clrScheme name="Personalizados 4 ISIL">
      <a:dk1>
        <a:srgbClr val="000000"/>
      </a:dk1>
      <a:lt1>
        <a:srgbClr val="FFFFFF"/>
      </a:lt1>
      <a:dk2>
        <a:srgbClr val="1F497D"/>
      </a:dk2>
      <a:lt2>
        <a:srgbClr val="EEECE1"/>
      </a:lt2>
      <a:accent1>
        <a:srgbClr val="FDC212"/>
      </a:accent1>
      <a:accent2>
        <a:srgbClr val="EE4638"/>
      </a:accent2>
      <a:accent3>
        <a:srgbClr val="92C14E"/>
      </a:accent3>
      <a:accent4>
        <a:srgbClr val="FE7828"/>
      </a:accent4>
      <a:accent5>
        <a:srgbClr val="00B1C2"/>
      </a:accent5>
      <a:accent6>
        <a:srgbClr val="808799"/>
      </a:accent6>
      <a:hlink>
        <a:srgbClr val="7150A0"/>
      </a:hlink>
      <a:folHlink>
        <a:srgbClr val="00B1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TotalTime>
  <Words>2484</Words>
  <Application>Microsoft Office PowerPoint</Application>
  <PresentationFormat>Presentación en pantalla (16:10)</PresentationFormat>
  <Paragraphs>278</Paragraphs>
  <Slides>39</Slides>
  <Notes>34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39</vt:i4>
      </vt:variant>
    </vt:vector>
  </HeadingPairs>
  <TitlesOfParts>
    <vt:vector size="47" baseType="lpstr">
      <vt:lpstr>Arial</vt:lpstr>
      <vt:lpstr>Calibri</vt:lpstr>
      <vt:lpstr>Graphik Bold</vt:lpstr>
      <vt:lpstr>Graphik Medium</vt:lpstr>
      <vt:lpstr>Graphik Regular</vt:lpstr>
      <vt:lpstr>Graphik-Medium</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ISIL</dc:creator>
  <cp:lastModifiedBy>Medalith Luzquiños Ancaya</cp:lastModifiedBy>
  <cp:revision>4</cp:revision>
  <dcterms:created xsi:type="dcterms:W3CDTF">2016-10-06T14:52:02Z</dcterms:created>
  <dcterms:modified xsi:type="dcterms:W3CDTF">2024-10-17T18:28:37Z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