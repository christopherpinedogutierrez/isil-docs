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662" r:id="rId2"/>
    <p:sldId id="627" r:id="rId3"/>
    <p:sldId id="628" r:id="rId4"/>
    <p:sldId id="742" r:id="rId5"/>
    <p:sldId id="259" r:id="rId6"/>
    <p:sldId id="260" r:id="rId7"/>
    <p:sldId id="261" r:id="rId8"/>
    <p:sldId id="262" r:id="rId9"/>
    <p:sldId id="263" r:id="rId10"/>
    <p:sldId id="743" r:id="rId11"/>
    <p:sldId id="265" r:id="rId12"/>
    <p:sldId id="266" r:id="rId13"/>
    <p:sldId id="267" r:id="rId14"/>
    <p:sldId id="268" r:id="rId15"/>
    <p:sldId id="269" r:id="rId16"/>
    <p:sldId id="270" r:id="rId17"/>
    <p:sldId id="588" r:id="rId18"/>
    <p:sldId id="589" r:id="rId19"/>
    <p:sldId id="590" r:id="rId20"/>
    <p:sldId id="591" r:id="rId21"/>
    <p:sldId id="593" r:id="rId22"/>
  </p:sldIdLst>
  <p:sldSz cx="9144000" cy="5715000" type="screen16x1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9Qs9RDRaGrt2jUuc3rMeMxqgX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D0D0D"/>
    <a:srgbClr val="D1EFF4"/>
    <a:srgbClr val="0B838E"/>
    <a:srgbClr val="593E7F"/>
    <a:srgbClr val="714FA0"/>
    <a:srgbClr val="6A8F3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5"/>
    <p:restoredTop sz="94626"/>
  </p:normalViewPr>
  <p:slideViewPr>
    <p:cSldViewPr snapToGrid="0">
      <p:cViewPr varScale="1">
        <p:scale>
          <a:sx n="156" d="100"/>
          <a:sy n="156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PE" dirty="0">
                <a:latin typeface="Arial"/>
                <a:ea typeface="Arial"/>
                <a:cs typeface="Arial"/>
                <a:sym typeface="Arial"/>
              </a:rPr>
              <a:t>Cada SUBTEMA de la sesión será presentado con una diapositiva diferenciada según este modelo.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920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790EA4D-2758-6436-7041-0BFD16DC289B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86CDFCD2-4E66-BE35-3B6F-30E9A37163E5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05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ECB631-D413-58D7-FFC1-6038A5EB90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3297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317" userDrawn="1">
          <p15:clr>
            <a:srgbClr val="F26B43"/>
          </p15:clr>
        </p15:guide>
        <p15:guide id="5" pos="2993" userDrawn="1">
          <p15:clr>
            <a:srgbClr val="F26B43"/>
          </p15:clr>
        </p15:guide>
        <p15:guide id="6" pos="5465" userDrawn="1">
          <p15:clr>
            <a:srgbClr val="F26B43"/>
          </p15:clr>
        </p15:guide>
        <p15:guide id="7" orient="horz" pos="57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213718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000" dirty="0">
                <a:latin typeface="Graphik Medium" panose="020B0503030202060203" pitchFamily="34" charset="77"/>
                <a:ea typeface="Graphik-Medium" charset="0"/>
                <a:cs typeface="Graphik-Medium" charset="0"/>
              </a:rPr>
              <a:t>INYECCIÓN DE </a:t>
            </a:r>
          </a:p>
          <a:p>
            <a:pPr>
              <a:lnSpc>
                <a:spcPct val="90000"/>
              </a:lnSpc>
            </a:pPr>
            <a:r>
              <a:rPr lang="es-PE" sz="30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DEPENDENCIAS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420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Conceptos</a:t>
            </a:r>
          </a:p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Eficiencia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05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9" y="918372"/>
            <a:ext cx="5368532" cy="28007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cs typeface="Calibri" charset="0"/>
              </a:rPr>
              <a:t>La Inyección de Dependencias (DI) es un patrón de diseño que permite construir sistemas modulares y flexibles. 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cs typeface="Calibri" charset="0"/>
              </a:rPr>
              <a:t>En lugar de que los objetos creen sus propias dependencias, estas se inyectan desde el exterior, promoviendo una arquitectura más limpia y fácil de mantener. Spring Framework, uno de los frameworks más populares para el desarrollo de aplicaciones Java, implementa la Inyección de Dependencias para gestionar los objetos y sus dependencias de manera eficiente. 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cs typeface="Calibri" charset="0"/>
              </a:rPr>
              <a:t>DI facilita la prueba y la integración de componentes, mejorando la calidad del software.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1617955"/>
            <a:ext cx="117851" cy="12136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05ACBA-BD7F-7B6C-B3A0-57D34F9F2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3104520"/>
            <a:ext cx="117851" cy="121369"/>
          </a:xfrm>
          <a:prstGeom prst="rect">
            <a:avLst/>
          </a:prstGeom>
        </p:spPr>
      </p:pic>
      <p:pic>
        <p:nvPicPr>
          <p:cNvPr id="5" name="Google Shape;42;p2" descr="Introducción a Spring Framework | RootNite Blog">
            <a:extLst>
              <a:ext uri="{FF2B5EF4-FFF2-40B4-BE49-F238E27FC236}">
                <a16:creationId xmlns:a16="http://schemas.microsoft.com/office/drawing/2014/main" id="{5539FD7B-1D4E-FD95-4653-E778817E4A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33067" y="3653974"/>
            <a:ext cx="2743367" cy="1304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CONCEPTOS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510987" y="920562"/>
            <a:ext cx="7811603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Inyección de Dependencias (DI) es crucial para construir aplicaciones modulares y flexibles. </a:t>
            </a:r>
            <a:endParaRPr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indent="-177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indent="-1778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Al separar la creación de dependencias de la lógica del negocio, se promueve una arquitectura de software más limpia y mantenible. Además, facilita la reutilización de componentes y mejora la capacidad de prueba de las aplicaciones, ya que las dependencias pueden ser fácilmente reemplazadas por mocks o stubs durante el testing.</a:t>
            </a:r>
          </a:p>
          <a:p>
            <a:pPr marL="177800" indent="-1778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s-PE" b="1" dirty="0">
              <a:solidFill>
                <a:schemeClr val="tx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tx1"/>
              </a:buClr>
            </a:pPr>
            <a:r>
              <a:rPr lang="es-PE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BENEFICIOS</a:t>
            </a:r>
            <a:r>
              <a:rPr lang="es-PE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96D4D67-D30B-D8C0-781C-FD24AD1B899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CONCEPTOS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43AD845-23A8-1755-05B2-5854FC03F609}"/>
              </a:ext>
            </a:extLst>
          </p:cNvPr>
          <p:cNvGrpSpPr/>
          <p:nvPr/>
        </p:nvGrpSpPr>
        <p:grpSpPr>
          <a:xfrm>
            <a:off x="611560" y="2834294"/>
            <a:ext cx="7647536" cy="430887"/>
            <a:chOff x="645704" y="2802636"/>
            <a:chExt cx="7647536" cy="430887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EAF3DC8-DEB0-9F40-44CD-598983749E96}"/>
                </a:ext>
              </a:extLst>
            </p:cNvPr>
            <p:cNvSpPr/>
            <p:nvPr/>
          </p:nvSpPr>
          <p:spPr>
            <a:xfrm>
              <a:off x="936445" y="2802636"/>
              <a:ext cx="7356795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PE" sz="14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MANTENIBILIDAD: </a:t>
              </a:r>
              <a:r>
                <a:rPr lang="es-PE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Al tener un menor acoplamiento entre componentes, el código es más fácil de mantener y actualizar.</a:t>
              </a:r>
            </a:p>
          </p:txBody>
        </p:sp>
        <p:sp>
          <p:nvSpPr>
            <p:cNvPr id="6" name="Más 5">
              <a:extLst>
                <a:ext uri="{FF2B5EF4-FFF2-40B4-BE49-F238E27FC236}">
                  <a16:creationId xmlns:a16="http://schemas.microsoft.com/office/drawing/2014/main" id="{9598A734-603E-A8C0-6A45-5E6392313045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B183F5-F76B-12EC-9E98-8AAC845AB48C}"/>
              </a:ext>
            </a:extLst>
          </p:cNvPr>
          <p:cNvCxnSpPr>
            <a:cxnSpLocks/>
          </p:cNvCxnSpPr>
          <p:nvPr/>
        </p:nvCxnSpPr>
        <p:spPr>
          <a:xfrm>
            <a:off x="683568" y="3038282"/>
            <a:ext cx="0" cy="373354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>
            <a:extLst>
              <a:ext uri="{FF2B5EF4-FFF2-40B4-BE49-F238E27FC236}">
                <a16:creationId xmlns:a16="http://schemas.microsoft.com/office/drawing/2014/main" id="{D74AD022-F2BE-030A-0AD7-FBC164205E21}"/>
              </a:ext>
            </a:extLst>
          </p:cNvPr>
          <p:cNvGrpSpPr/>
          <p:nvPr/>
        </p:nvGrpSpPr>
        <p:grpSpPr>
          <a:xfrm>
            <a:off x="611560" y="3439572"/>
            <a:ext cx="7647536" cy="430887"/>
            <a:chOff x="645704" y="2802636"/>
            <a:chExt cx="7647536" cy="430887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05525FC-ED89-498C-F145-B90E85038BCA}"/>
                </a:ext>
              </a:extLst>
            </p:cNvPr>
            <p:cNvSpPr/>
            <p:nvPr/>
          </p:nvSpPr>
          <p:spPr>
            <a:xfrm>
              <a:off x="936445" y="2802636"/>
              <a:ext cx="7356795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PE" sz="14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FLEXIBILIDAD: </a:t>
              </a:r>
              <a:r>
                <a:rPr lang="es-PE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Permite cambiar las implementaciones de las dependencias sin modificar el código que las utiliza.</a:t>
              </a:r>
            </a:p>
          </p:txBody>
        </p:sp>
        <p:sp>
          <p:nvSpPr>
            <p:cNvPr id="10" name="Más 9">
              <a:extLst>
                <a:ext uri="{FF2B5EF4-FFF2-40B4-BE49-F238E27FC236}">
                  <a16:creationId xmlns:a16="http://schemas.microsoft.com/office/drawing/2014/main" id="{646F569F-44F7-FBFF-38D7-FA403C82680D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9B51A45-E8B4-AC6D-0C98-9050AEDC735A}"/>
              </a:ext>
            </a:extLst>
          </p:cNvPr>
          <p:cNvGrpSpPr/>
          <p:nvPr/>
        </p:nvGrpSpPr>
        <p:grpSpPr>
          <a:xfrm>
            <a:off x="611560" y="4044850"/>
            <a:ext cx="7647536" cy="430887"/>
            <a:chOff x="645704" y="2802636"/>
            <a:chExt cx="7647536" cy="430887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FE487EAA-4683-C8A0-FA3F-A7568DCF2E03}"/>
                </a:ext>
              </a:extLst>
            </p:cNvPr>
            <p:cNvSpPr/>
            <p:nvPr/>
          </p:nvSpPr>
          <p:spPr>
            <a:xfrm>
              <a:off x="936445" y="2802636"/>
              <a:ext cx="7356795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PE" sz="14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REUTILIZACIÓN: </a:t>
              </a:r>
              <a:r>
                <a:rPr lang="es-PE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Facilita la reutilización de componentes en diferentes partes de la aplicación o en otros proyectos.</a:t>
              </a:r>
            </a:p>
          </p:txBody>
        </p:sp>
        <p:sp>
          <p:nvSpPr>
            <p:cNvPr id="13" name="Más 12">
              <a:extLst>
                <a:ext uri="{FF2B5EF4-FFF2-40B4-BE49-F238E27FC236}">
                  <a16:creationId xmlns:a16="http://schemas.microsoft.com/office/drawing/2014/main" id="{B60A2186-E0CC-48C6-2DA6-E7D677DE95D7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C81FCFA-CF7D-EF63-D3AA-C7170E4C3CE7}"/>
              </a:ext>
            </a:extLst>
          </p:cNvPr>
          <p:cNvGrpSpPr/>
          <p:nvPr/>
        </p:nvGrpSpPr>
        <p:grpSpPr>
          <a:xfrm>
            <a:off x="611560" y="4650128"/>
            <a:ext cx="7647536" cy="430887"/>
            <a:chOff x="645704" y="2802636"/>
            <a:chExt cx="7647536" cy="430887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40D3471D-E6DB-C831-6B44-CA2A3CFC69BC}"/>
                </a:ext>
              </a:extLst>
            </p:cNvPr>
            <p:cNvSpPr/>
            <p:nvPr/>
          </p:nvSpPr>
          <p:spPr>
            <a:xfrm>
              <a:off x="936445" y="2802636"/>
              <a:ext cx="7356795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PE" sz="14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PRUEBAS UNITARIAS: </a:t>
              </a:r>
              <a:r>
                <a:rPr lang="es-PE" sz="14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Simplifica la realización de pruebas unitarias, ya que las dependencias pueden ser fácilmente inyectadas y manipuladas</a:t>
              </a:r>
              <a:r>
                <a:rPr lang="es-PE" sz="1400" i="0" dirty="0">
                  <a:solidFill>
                    <a:schemeClr val="tx1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PE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Más 16">
              <a:extLst>
                <a:ext uri="{FF2B5EF4-FFF2-40B4-BE49-F238E27FC236}">
                  <a16:creationId xmlns:a16="http://schemas.microsoft.com/office/drawing/2014/main" id="{644C6C3E-5CA5-36EE-C049-362DBBB30A58}"/>
                </a:ext>
              </a:extLst>
            </p:cNvPr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name="adj1" fmla="val 15202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6F2BCC0-B8EB-062A-539A-788CE33AF67A}"/>
              </a:ext>
            </a:extLst>
          </p:cNvPr>
          <p:cNvCxnSpPr>
            <a:cxnSpLocks/>
          </p:cNvCxnSpPr>
          <p:nvPr/>
        </p:nvCxnSpPr>
        <p:spPr>
          <a:xfrm>
            <a:off x="683568" y="3646113"/>
            <a:ext cx="0" cy="373354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8B8ACD8-6B3B-4B04-CD18-6E4986ECDA1B}"/>
              </a:ext>
            </a:extLst>
          </p:cNvPr>
          <p:cNvCxnSpPr>
            <a:cxnSpLocks/>
          </p:cNvCxnSpPr>
          <p:nvPr/>
        </p:nvCxnSpPr>
        <p:spPr>
          <a:xfrm>
            <a:off x="683568" y="4245424"/>
            <a:ext cx="0" cy="373354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510987" y="920562"/>
            <a:ext cx="8250600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600"/>
              </a:spcAft>
            </a:pPr>
            <a:r>
              <a:rPr lang="es-PE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PRINCIPIO DE INVERSIÓN DE CONTROL (IoC):</a:t>
            </a:r>
          </a:p>
          <a:p>
            <a:pPr marL="177800" marR="0" lvl="0" indent="-1778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i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El principio de Inversión de Control (IoC) es un concepto fundamental en la Inyección de Dependencias. 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i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IoC significa que el control de la creación y la gestión de los objetos es delegado a un contenedor o framework, en lugar de ser manejado directamente por los objetos mismos. En el contexto de Spring, este contenedor se conoce como el "contenedor de IoC".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i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600" i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Tipos de Inyección de Dependencias: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B56DA4C-BE4A-6DF9-2348-9DAD62395C4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CONCEPTOS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199B782A-8033-D64C-90B0-0C70D604DCAB}"/>
              </a:ext>
            </a:extLst>
          </p:cNvPr>
          <p:cNvGrpSpPr/>
          <p:nvPr/>
        </p:nvGrpSpPr>
        <p:grpSpPr>
          <a:xfrm>
            <a:off x="5741306" y="3700513"/>
            <a:ext cx="2338612" cy="500394"/>
            <a:chOff x="3295024" y="4692904"/>
            <a:chExt cx="2338612" cy="500394"/>
          </a:xfrm>
        </p:grpSpPr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CF0C15AC-84A2-A80C-44F8-CD770832DAD4}"/>
                </a:ext>
              </a:extLst>
            </p:cNvPr>
            <p:cNvSpPr/>
            <p:nvPr/>
          </p:nvSpPr>
          <p:spPr>
            <a:xfrm>
              <a:off x="3511041" y="4692904"/>
              <a:ext cx="2122595" cy="500394"/>
            </a:xfrm>
            <a:prstGeom prst="roundRect">
              <a:avLst>
                <a:gd name="adj" fmla="val 24207"/>
              </a:avLst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PE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  3. FIELD INJECTION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63D7C4F5-626E-ECCD-F526-E1D49701E355}"/>
                </a:ext>
              </a:extLst>
            </p:cNvPr>
            <p:cNvGrpSpPr/>
            <p:nvPr/>
          </p:nvGrpSpPr>
          <p:grpSpPr>
            <a:xfrm>
              <a:off x="3295024" y="4741190"/>
              <a:ext cx="459474" cy="403823"/>
              <a:chOff x="5892512" y="2805541"/>
              <a:chExt cx="459474" cy="40382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38A76DD3-480E-7721-764C-61FB724FCB02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593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FBA8CCED-7C28-980B-E7F6-42D3A41D8615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Triángulo 7">
                <a:extLst>
                  <a:ext uri="{FF2B5EF4-FFF2-40B4-BE49-F238E27FC236}">
                    <a16:creationId xmlns:a16="http://schemas.microsoft.com/office/drawing/2014/main" id="{B1B0578D-F1D7-20F9-E369-3BB579AF383F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714F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DE42B9B-68B6-AFED-9EE5-33B2BF3F1E37}"/>
              </a:ext>
            </a:extLst>
          </p:cNvPr>
          <p:cNvGrpSpPr/>
          <p:nvPr/>
        </p:nvGrpSpPr>
        <p:grpSpPr>
          <a:xfrm>
            <a:off x="3402694" y="3700513"/>
            <a:ext cx="2338612" cy="500394"/>
            <a:chOff x="3295024" y="4069482"/>
            <a:chExt cx="2338612" cy="500394"/>
          </a:xfrm>
        </p:grpSpPr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9FEBFE17-14D5-61C3-EE75-15F6612DF13A}"/>
                </a:ext>
              </a:extLst>
            </p:cNvPr>
            <p:cNvSpPr/>
            <p:nvPr/>
          </p:nvSpPr>
          <p:spPr>
            <a:xfrm>
              <a:off x="3511041" y="4069482"/>
              <a:ext cx="2122595" cy="500394"/>
            </a:xfrm>
            <a:prstGeom prst="roundRect">
              <a:avLst>
                <a:gd name="adj" fmla="val 26745"/>
              </a:avLst>
            </a:prstGeom>
            <a:solidFill>
              <a:srgbClr val="92C2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PE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   2. SETTER INJECTION</a:t>
              </a:r>
            </a:p>
          </p:txBody>
        </p:sp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56C7BBBA-DB07-9627-D6DA-3404F72FDD3E}"/>
                </a:ext>
              </a:extLst>
            </p:cNvPr>
            <p:cNvGrpSpPr/>
            <p:nvPr/>
          </p:nvGrpSpPr>
          <p:grpSpPr>
            <a:xfrm>
              <a:off x="3295024" y="4117768"/>
              <a:ext cx="459474" cy="403823"/>
              <a:chOff x="5892512" y="2805541"/>
              <a:chExt cx="459474" cy="403823"/>
            </a:xfrm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7BC9166D-4C5C-1D1D-F436-C29088CF2A4C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A8F3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D5D9DFBB-2786-1ABF-B3B2-6095601CD3E1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Triángulo 12">
                <a:extLst>
                  <a:ext uri="{FF2B5EF4-FFF2-40B4-BE49-F238E27FC236}">
                    <a16:creationId xmlns:a16="http://schemas.microsoft.com/office/drawing/2014/main" id="{092DA2C9-024D-57C2-6049-E25C201726AF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92C2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3F769A4E-43A7-6926-F1F0-69F983132EC3}"/>
              </a:ext>
            </a:extLst>
          </p:cNvPr>
          <p:cNvGrpSpPr/>
          <p:nvPr/>
        </p:nvGrpSpPr>
        <p:grpSpPr>
          <a:xfrm>
            <a:off x="1063406" y="3700513"/>
            <a:ext cx="2338612" cy="500394"/>
            <a:chOff x="3295024" y="3441821"/>
            <a:chExt cx="2338612" cy="500394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277E9EF2-0668-97C3-7229-90CD13EC9B61}"/>
                </a:ext>
              </a:extLst>
            </p:cNvPr>
            <p:cNvSpPr/>
            <p:nvPr/>
          </p:nvSpPr>
          <p:spPr>
            <a:xfrm>
              <a:off x="3511041" y="3441821"/>
              <a:ext cx="2122595" cy="500394"/>
            </a:xfrm>
            <a:prstGeom prst="roundRect">
              <a:avLst>
                <a:gd name="adj" fmla="val 24841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algn="ctr" rtl="0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600"/>
              </a:pPr>
              <a:r>
                <a:rPr lang="es-PE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 1. CONSTRUCTOR</a:t>
              </a:r>
              <a:br>
                <a:rPr lang="es-PE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</a:br>
              <a:r>
                <a:rPr lang="es-PE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 INJECTION</a:t>
              </a:r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D06F452A-B58C-81D2-AFA6-81F6F377D7E2}"/>
                </a:ext>
              </a:extLst>
            </p:cNvPr>
            <p:cNvGrpSpPr/>
            <p:nvPr/>
          </p:nvGrpSpPr>
          <p:grpSpPr>
            <a:xfrm>
              <a:off x="3295024" y="3490107"/>
              <a:ext cx="459474" cy="403823"/>
              <a:chOff x="5892512" y="2805541"/>
              <a:chExt cx="459474" cy="403823"/>
            </a:xfrm>
          </p:grpSpPr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3C09AA19-B26E-33E9-819E-74A510FB903D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C73A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7" name="Elipse 16">
                <a:extLst>
                  <a:ext uri="{FF2B5EF4-FFF2-40B4-BE49-F238E27FC236}">
                    <a16:creationId xmlns:a16="http://schemas.microsoft.com/office/drawing/2014/main" id="{16315407-2977-7545-9CD7-E7B67AB397AB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8" name="Triángulo 17">
                <a:extLst>
                  <a:ext uri="{FF2B5EF4-FFF2-40B4-BE49-F238E27FC236}">
                    <a16:creationId xmlns:a16="http://schemas.microsoft.com/office/drawing/2014/main" id="{934A8518-F71D-2112-357B-BA0FCBD6961B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EE46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1388" y="3671743"/>
            <a:ext cx="3924300" cy="1562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6"/>
          <p:cNvPicPr preferRelativeResize="0"/>
          <p:nvPr/>
        </p:nvPicPr>
        <p:blipFill rotWithShape="1">
          <a:blip r:embed="rId4">
            <a:alphaModFix/>
          </a:blip>
          <a:srcRect l="708" t="17620" r="2177" b="3064"/>
          <a:stretch/>
        </p:blipFill>
        <p:spPr>
          <a:xfrm>
            <a:off x="4751388" y="1518834"/>
            <a:ext cx="3924300" cy="12863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222DF8E6-6D3A-6ACC-325D-E295BE3EFE9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CONCEPTOS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6466ADB-5A5E-A824-B9B4-225846667E04}"/>
              </a:ext>
            </a:extLst>
          </p:cNvPr>
          <p:cNvGrpSpPr/>
          <p:nvPr/>
        </p:nvGrpSpPr>
        <p:grpSpPr>
          <a:xfrm>
            <a:off x="326977" y="917244"/>
            <a:ext cx="4065635" cy="1996183"/>
            <a:chOff x="326977" y="917244"/>
            <a:chExt cx="4065635" cy="199618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3DC92F93-A92C-BD4C-CBBA-D4BDEA55FBF9}"/>
                </a:ext>
              </a:extLst>
            </p:cNvPr>
            <p:cNvGrpSpPr/>
            <p:nvPr/>
          </p:nvGrpSpPr>
          <p:grpSpPr>
            <a:xfrm>
              <a:off x="326977" y="917244"/>
              <a:ext cx="2083009" cy="394721"/>
              <a:chOff x="287221" y="917244"/>
              <a:chExt cx="2449230" cy="500394"/>
            </a:xfrm>
          </p:grpSpPr>
          <p:sp>
            <p:nvSpPr>
              <p:cNvPr id="4" name="Rectángulo redondeado 3">
                <a:extLst>
                  <a:ext uri="{FF2B5EF4-FFF2-40B4-BE49-F238E27FC236}">
                    <a16:creationId xmlns:a16="http://schemas.microsoft.com/office/drawing/2014/main" id="{33BE28B9-132E-E928-835A-E511195B4EF0}"/>
                  </a:ext>
                </a:extLst>
              </p:cNvPr>
              <p:cNvSpPr/>
              <p:nvPr/>
            </p:nvSpPr>
            <p:spPr>
              <a:xfrm>
                <a:off x="503238" y="917244"/>
                <a:ext cx="2233213" cy="500394"/>
              </a:xfrm>
              <a:prstGeom prst="roundRect">
                <a:avLst>
                  <a:gd name="adj" fmla="val 24841"/>
                </a:avLst>
              </a:prstGeom>
              <a:solidFill>
                <a:srgbClr val="EE46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350" indent="-1588" algn="ctr">
                  <a:tabLst>
                    <a:tab pos="569913" algn="l"/>
                  </a:tabLst>
                </a:pPr>
                <a:r>
                  <a:rPr lang="es-ES_tradnl" sz="1300" b="1" dirty="0">
                    <a:latin typeface="Calibri" charset="0"/>
                    <a:ea typeface="Calibri" charset="0"/>
                    <a:cs typeface="Calibri" charset="0"/>
                  </a:rPr>
                  <a:t>1. </a:t>
                </a:r>
                <a:r>
                  <a:rPr lang="es-PE" sz="13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CONSTRUCTOR</a:t>
                </a:r>
                <a:br>
                  <a:rPr lang="es-PE" sz="13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</a:br>
                <a:r>
                  <a:rPr lang="es-PE" sz="13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  INJECTION</a:t>
                </a:r>
                <a:endParaRPr lang="es-ES_tradnl" sz="1300" b="1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5" name="Agrupar 14">
                <a:extLst>
                  <a:ext uri="{FF2B5EF4-FFF2-40B4-BE49-F238E27FC236}">
                    <a16:creationId xmlns:a16="http://schemas.microsoft.com/office/drawing/2014/main" id="{BE4BB71A-884B-A458-E3D8-65A4F4CC7666}"/>
                  </a:ext>
                </a:extLst>
              </p:cNvPr>
              <p:cNvGrpSpPr/>
              <p:nvPr/>
            </p:nvGrpSpPr>
            <p:grpSpPr>
              <a:xfrm>
                <a:off x="287221" y="965530"/>
                <a:ext cx="459474" cy="403823"/>
                <a:chOff x="5892512" y="2805541"/>
                <a:chExt cx="459474" cy="403823"/>
              </a:xfrm>
            </p:grpSpPr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D29391A4-1830-EE66-9FEE-B9EF6EC9F217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C73A3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7" name="Elipse 6">
                  <a:extLst>
                    <a:ext uri="{FF2B5EF4-FFF2-40B4-BE49-F238E27FC236}">
                      <a16:creationId xmlns:a16="http://schemas.microsoft.com/office/drawing/2014/main" id="{C0DC719E-6950-F5D1-0D92-F555334B8F83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8" name="Triángulo 7">
                  <a:extLst>
                    <a:ext uri="{FF2B5EF4-FFF2-40B4-BE49-F238E27FC236}">
                      <a16:creationId xmlns:a16="http://schemas.microsoft.com/office/drawing/2014/main" id="{BD06B579-D62C-B717-8884-1D4A9E5BCFB9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rgbClr val="EE463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1D0E605-230B-C69E-CE70-F77968306DFF}"/>
                </a:ext>
              </a:extLst>
            </p:cNvPr>
            <p:cNvSpPr/>
            <p:nvPr/>
          </p:nvSpPr>
          <p:spPr>
            <a:xfrm>
              <a:off x="503237" y="1605377"/>
              <a:ext cx="3889375" cy="130805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177800" indent="-177800"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ES" sz="1600" dirty="0">
                  <a:latin typeface="Calibri" charset="0"/>
                  <a:ea typeface="Calibri" charset="0"/>
                  <a:cs typeface="Calibri" charset="0"/>
                </a:rPr>
                <a:t>Las dependencias se proporcionan a través del constructor de la clase.</a:t>
              </a:r>
            </a:p>
            <a:p>
              <a:pPr marL="177800" indent="-177800">
                <a:spcAft>
                  <a:spcPts val="6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ES" sz="1600" dirty="0">
                  <a:latin typeface="Calibri" charset="0"/>
                  <a:ea typeface="Calibri" charset="0"/>
                  <a:cs typeface="Calibri" charset="0"/>
                </a:rPr>
                <a:t>Asegura que las dependencias sean proporcionadas en el momento de la creación del objeto.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1A90FD3-07E6-2483-5493-191E07B3D60C}"/>
              </a:ext>
            </a:extLst>
          </p:cNvPr>
          <p:cNvGrpSpPr/>
          <p:nvPr/>
        </p:nvGrpSpPr>
        <p:grpSpPr>
          <a:xfrm>
            <a:off x="326977" y="3217540"/>
            <a:ext cx="4065635" cy="1996183"/>
            <a:chOff x="326977" y="917244"/>
            <a:chExt cx="4065635" cy="1996183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D3D8A44C-69BC-6D17-0633-225138A96EBF}"/>
                </a:ext>
              </a:extLst>
            </p:cNvPr>
            <p:cNvGrpSpPr/>
            <p:nvPr/>
          </p:nvGrpSpPr>
          <p:grpSpPr>
            <a:xfrm>
              <a:off x="326977" y="917244"/>
              <a:ext cx="2083009" cy="394721"/>
              <a:chOff x="287221" y="917244"/>
              <a:chExt cx="2449230" cy="500394"/>
            </a:xfrm>
          </p:grpSpPr>
          <p:sp>
            <p:nvSpPr>
              <p:cNvPr id="14" name="Rectángulo redondeado 13">
                <a:extLst>
                  <a:ext uri="{FF2B5EF4-FFF2-40B4-BE49-F238E27FC236}">
                    <a16:creationId xmlns:a16="http://schemas.microsoft.com/office/drawing/2014/main" id="{8934436F-F470-4930-3034-8426A34116D9}"/>
                  </a:ext>
                </a:extLst>
              </p:cNvPr>
              <p:cNvSpPr/>
              <p:nvPr/>
            </p:nvSpPr>
            <p:spPr>
              <a:xfrm>
                <a:off x="503238" y="917244"/>
                <a:ext cx="2233213" cy="500394"/>
              </a:xfrm>
              <a:prstGeom prst="roundRect">
                <a:avLst>
                  <a:gd name="adj" fmla="val 2484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350" indent="-1588" algn="ctr">
                  <a:tabLst>
                    <a:tab pos="569913" algn="l"/>
                  </a:tabLst>
                </a:pPr>
                <a:r>
                  <a:rPr lang="es-PE" sz="13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   2. SETTER INJECTION</a:t>
                </a:r>
                <a:endParaRPr lang="es-ES_tradnl" sz="1300" b="1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4AD977A2-254A-B707-5E05-A1CF9E16A3F0}"/>
                  </a:ext>
                </a:extLst>
              </p:cNvPr>
              <p:cNvGrpSpPr/>
              <p:nvPr/>
            </p:nvGrpSpPr>
            <p:grpSpPr>
              <a:xfrm>
                <a:off x="287221" y="965530"/>
                <a:ext cx="459474" cy="403823"/>
                <a:chOff x="5892512" y="2805541"/>
                <a:chExt cx="459474" cy="403823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068210F6-10EC-43BB-0014-A00D634B3D9E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6A8F3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3901ED4E-D33D-9451-EB76-54F755151D07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8" name="Triángulo 17">
                  <a:extLst>
                    <a:ext uri="{FF2B5EF4-FFF2-40B4-BE49-F238E27FC236}">
                      <a16:creationId xmlns:a16="http://schemas.microsoft.com/office/drawing/2014/main" id="{1127179D-DA6F-E79D-880F-ADAB64355E88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7454BA8-C60B-6DCB-EEBB-B5FF3AC1DABF}"/>
                </a:ext>
              </a:extLst>
            </p:cNvPr>
            <p:cNvSpPr/>
            <p:nvPr/>
          </p:nvSpPr>
          <p:spPr>
            <a:xfrm>
              <a:off x="503237" y="1605377"/>
              <a:ext cx="3889375" cy="130805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177800" lvl="1" indent="-177800"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s-ES" sz="1600" dirty="0">
                  <a:latin typeface="Calibri" charset="0"/>
                  <a:ea typeface="Calibri" charset="0"/>
                  <a:cs typeface="Calibri" charset="0"/>
                </a:rPr>
                <a:t>Las dependencias se inyectan a través de métodos setter.</a:t>
              </a:r>
            </a:p>
            <a:p>
              <a:pPr marL="177800" lvl="1" indent="-177800">
                <a:spcAft>
                  <a:spcPts val="600"/>
                </a:spcAft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s-ES" sz="1600" dirty="0">
                  <a:latin typeface="Calibri" charset="0"/>
                  <a:ea typeface="Calibri" charset="0"/>
                  <a:cs typeface="Calibri" charset="0"/>
                </a:rPr>
                <a:t>Permite que las dependencias sean opcionales y configurables después de la creación del objeto.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52D6793C-D4D2-F406-247C-3B2B7F77A01F}"/>
              </a:ext>
            </a:extLst>
          </p:cNvPr>
          <p:cNvSpPr/>
          <p:nvPr/>
        </p:nvSpPr>
        <p:spPr>
          <a:xfrm>
            <a:off x="503238" y="2835965"/>
            <a:ext cx="8172450" cy="190831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364" y="3069147"/>
            <a:ext cx="7061776" cy="13902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76C986A-2233-1160-44EF-13F21387476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CONCEPTOS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A0C1AD4-87C7-40C0-65C2-2BEE3A1FF4AD}"/>
              </a:ext>
            </a:extLst>
          </p:cNvPr>
          <p:cNvGrpSpPr/>
          <p:nvPr/>
        </p:nvGrpSpPr>
        <p:grpSpPr>
          <a:xfrm>
            <a:off x="326977" y="917244"/>
            <a:ext cx="7484169" cy="1503741"/>
            <a:chOff x="326977" y="917244"/>
            <a:chExt cx="7484169" cy="15037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1181284A-2E82-EF2A-13AB-FE034B483F41}"/>
                </a:ext>
              </a:extLst>
            </p:cNvPr>
            <p:cNvGrpSpPr/>
            <p:nvPr/>
          </p:nvGrpSpPr>
          <p:grpSpPr>
            <a:xfrm>
              <a:off x="326977" y="917244"/>
              <a:ext cx="2083009" cy="394721"/>
              <a:chOff x="287221" y="917244"/>
              <a:chExt cx="2449230" cy="500394"/>
            </a:xfrm>
          </p:grpSpPr>
          <p:sp>
            <p:nvSpPr>
              <p:cNvPr id="6" name="Rectángulo redondeado 5">
                <a:extLst>
                  <a:ext uri="{FF2B5EF4-FFF2-40B4-BE49-F238E27FC236}">
                    <a16:creationId xmlns:a16="http://schemas.microsoft.com/office/drawing/2014/main" id="{03AD3855-1D2B-7763-A190-BAEA4F35C686}"/>
                  </a:ext>
                </a:extLst>
              </p:cNvPr>
              <p:cNvSpPr/>
              <p:nvPr/>
            </p:nvSpPr>
            <p:spPr>
              <a:xfrm>
                <a:off x="503238" y="917244"/>
                <a:ext cx="2233213" cy="500394"/>
              </a:xfrm>
              <a:prstGeom prst="roundRect">
                <a:avLst>
                  <a:gd name="adj" fmla="val 24841"/>
                </a:avLst>
              </a:prstGeom>
              <a:solidFill>
                <a:srgbClr val="714F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6350" indent="-1588" algn="ctr">
                  <a:tabLst>
                    <a:tab pos="569913" algn="l"/>
                  </a:tabLst>
                </a:pPr>
                <a:r>
                  <a:rPr lang="es-PE" sz="13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  3. FIELD INJECTION</a:t>
                </a:r>
                <a:endParaRPr lang="es-ES_tradnl" sz="1300" b="1" dirty="0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7" name="Agrupar 14">
                <a:extLst>
                  <a:ext uri="{FF2B5EF4-FFF2-40B4-BE49-F238E27FC236}">
                    <a16:creationId xmlns:a16="http://schemas.microsoft.com/office/drawing/2014/main" id="{CEE8A2AA-79D7-946A-29B1-5A0553C43A71}"/>
                  </a:ext>
                </a:extLst>
              </p:cNvPr>
              <p:cNvGrpSpPr/>
              <p:nvPr/>
            </p:nvGrpSpPr>
            <p:grpSpPr>
              <a:xfrm>
                <a:off x="287221" y="965530"/>
                <a:ext cx="459474" cy="403823"/>
                <a:chOff x="5892512" y="2805541"/>
                <a:chExt cx="459474" cy="403823"/>
              </a:xfrm>
            </p:grpSpPr>
            <p:sp>
              <p:nvSpPr>
                <p:cNvPr id="8" name="Elipse 7">
                  <a:extLst>
                    <a:ext uri="{FF2B5EF4-FFF2-40B4-BE49-F238E27FC236}">
                      <a16:creationId xmlns:a16="http://schemas.microsoft.com/office/drawing/2014/main" id="{3AD450BB-2327-6F86-3D6C-4EA5FDBD01C6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593E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9" name="Elipse 8">
                  <a:extLst>
                    <a:ext uri="{FF2B5EF4-FFF2-40B4-BE49-F238E27FC236}">
                      <a16:creationId xmlns:a16="http://schemas.microsoft.com/office/drawing/2014/main" id="{32FE0703-7902-7646-5868-C8CD5347C484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0" name="Triángulo 9">
                  <a:extLst>
                    <a:ext uri="{FF2B5EF4-FFF2-40B4-BE49-F238E27FC236}">
                      <a16:creationId xmlns:a16="http://schemas.microsoft.com/office/drawing/2014/main" id="{F803B845-F04F-2C0D-5507-8DA3E4D98665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rgbClr val="714FA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781BB2C-6661-52D7-38CF-B4D571A0A657}"/>
                </a:ext>
              </a:extLst>
            </p:cNvPr>
            <p:cNvSpPr/>
            <p:nvPr/>
          </p:nvSpPr>
          <p:spPr>
            <a:xfrm>
              <a:off x="503237" y="1605377"/>
              <a:ext cx="7307909" cy="81560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177800" lvl="1" indent="-177800">
                <a:spcAft>
                  <a:spcPts val="600"/>
                </a:spcAft>
                <a:buClr>
                  <a:srgbClr val="714FA0"/>
                </a:buClr>
                <a:buFont typeface="Arial" panose="020B0604020202020204" pitchFamily="34" charset="0"/>
                <a:buChar char="•"/>
              </a:pPr>
              <a:r>
                <a:rPr lang="es-ES" sz="1600" dirty="0">
                  <a:latin typeface="Calibri" charset="0"/>
                  <a:ea typeface="Calibri" charset="0"/>
                  <a:cs typeface="Calibri" charset="0"/>
                </a:rPr>
                <a:t>Las dependencias se inyectan a través de métodos setter.</a:t>
              </a:r>
            </a:p>
            <a:p>
              <a:pPr marL="177800" lvl="1" indent="-177800">
                <a:spcAft>
                  <a:spcPts val="600"/>
                </a:spcAft>
                <a:buClr>
                  <a:srgbClr val="714FA0"/>
                </a:buClr>
                <a:buFont typeface="Arial" panose="020B0604020202020204" pitchFamily="34" charset="0"/>
                <a:buChar char="•"/>
              </a:pPr>
              <a:r>
                <a:rPr lang="es-ES" sz="1600" dirty="0">
                  <a:latin typeface="Calibri" charset="0"/>
                  <a:ea typeface="Calibri" charset="0"/>
                  <a:cs typeface="Calibri" charset="0"/>
                </a:rPr>
                <a:t>Permite que las dependencias sean opcionales y configurables después de la creación del objeto.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/>
        </p:nvSpPr>
        <p:spPr>
          <a:xfrm>
            <a:off x="510987" y="920562"/>
            <a:ext cx="734665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VENTAJAS Y DESVENTAJAS DE CADA MÉTODO: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3069255-B0B5-64A2-DFB1-DD7BD171BF61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CONCEPTOS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0FE5563-6572-8097-1616-5E2A819A35BC}"/>
              </a:ext>
            </a:extLst>
          </p:cNvPr>
          <p:cNvGrpSpPr/>
          <p:nvPr/>
        </p:nvGrpSpPr>
        <p:grpSpPr>
          <a:xfrm>
            <a:off x="297001" y="1543608"/>
            <a:ext cx="8377572" cy="3159021"/>
            <a:chOff x="297001" y="1543608"/>
            <a:chExt cx="8377572" cy="3159021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10A39EB2-EB33-87BC-BD59-F7B47CC7AAD7}"/>
                </a:ext>
              </a:extLst>
            </p:cNvPr>
            <p:cNvGrpSpPr/>
            <p:nvPr/>
          </p:nvGrpSpPr>
          <p:grpSpPr>
            <a:xfrm>
              <a:off x="5862396" y="1543608"/>
              <a:ext cx="2812177" cy="3159019"/>
              <a:chOff x="3681756" y="1543608"/>
              <a:chExt cx="2812177" cy="3159019"/>
            </a:xfrm>
          </p:grpSpPr>
          <p:sp>
            <p:nvSpPr>
              <p:cNvPr id="19" name="Google Shape;333;p23">
                <a:extLst>
                  <a:ext uri="{FF2B5EF4-FFF2-40B4-BE49-F238E27FC236}">
                    <a16:creationId xmlns:a16="http://schemas.microsoft.com/office/drawing/2014/main" id="{673AD5AA-E4FF-4D7F-DA94-25A857978B86}"/>
                  </a:ext>
                </a:extLst>
              </p:cNvPr>
              <p:cNvSpPr/>
              <p:nvPr/>
            </p:nvSpPr>
            <p:spPr>
              <a:xfrm>
                <a:off x="3897522" y="1543608"/>
                <a:ext cx="2596411" cy="501005"/>
              </a:xfrm>
              <a:prstGeom prst="roundRect">
                <a:avLst>
                  <a:gd name="adj" fmla="val 18326"/>
                </a:avLst>
              </a:prstGeom>
              <a:solidFill>
                <a:srgbClr val="00B1C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R="0" lvl="0" algn="ctr" rtl="0">
                  <a:spcBef>
                    <a:spcPts val="0"/>
                  </a:spcBef>
                  <a:buClr>
                    <a:schemeClr val="tx1"/>
                  </a:buClr>
                  <a:buSzPct val="100000"/>
                </a:pPr>
                <a:r>
                  <a:rPr lang="es-PE" sz="15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Field Injection:</a:t>
                </a:r>
                <a:endParaRPr lang="es-PE" sz="15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335;p23">
                <a:extLst>
                  <a:ext uri="{FF2B5EF4-FFF2-40B4-BE49-F238E27FC236}">
                    <a16:creationId xmlns:a16="http://schemas.microsoft.com/office/drawing/2014/main" id="{8A73AD8E-A02A-CDB1-ECEB-272213E39B00}"/>
                  </a:ext>
                </a:extLst>
              </p:cNvPr>
              <p:cNvSpPr/>
              <p:nvPr/>
            </p:nvSpPr>
            <p:spPr>
              <a:xfrm>
                <a:off x="3897522" y="2118159"/>
                <a:ext cx="2596411" cy="2584468"/>
              </a:xfrm>
              <a:prstGeom prst="roundRect">
                <a:avLst>
                  <a:gd name="adj" fmla="val 4959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222250" lvl="1" indent="-134938">
                  <a:spcAft>
                    <a:spcPts val="600"/>
                  </a:spcAft>
                  <a:buClr>
                    <a:srgbClr val="00B1C2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sz="1400" b="1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Ventaja</a:t>
                </a:r>
                <a:r>
                  <a:rPr lang="es-ES_tradnl" sz="14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: Sencillo de usar y reduce el código.</a:t>
                </a:r>
              </a:p>
              <a:p>
                <a:pPr marL="222250" lvl="1" indent="-134938">
                  <a:spcAft>
                    <a:spcPts val="600"/>
                  </a:spcAft>
                  <a:buClr>
                    <a:srgbClr val="00B1C2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sz="1400" b="1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Desventaja</a:t>
                </a:r>
                <a:r>
                  <a:rPr lang="es-ES_tradnl" sz="14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: Difícil de probar y menos flexible.</a:t>
                </a:r>
              </a:p>
              <a:p>
                <a:pPr marL="222250" lvl="1" indent="-134938">
                  <a:buClr>
                    <a:srgbClr val="00B1C2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es-ES_tradnl" sz="1400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endParaRPr>
              </a:p>
            </p:txBody>
          </p:sp>
          <p:grpSp>
            <p:nvGrpSpPr>
              <p:cNvPr id="21" name="Agrupar 9">
                <a:extLst>
                  <a:ext uri="{FF2B5EF4-FFF2-40B4-BE49-F238E27FC236}">
                    <a16:creationId xmlns:a16="http://schemas.microsoft.com/office/drawing/2014/main" id="{6CE56E75-1747-4069-5006-EDCD6C8EFA9E}"/>
                  </a:ext>
                </a:extLst>
              </p:cNvPr>
              <p:cNvGrpSpPr/>
              <p:nvPr/>
            </p:nvGrpSpPr>
            <p:grpSpPr>
              <a:xfrm>
                <a:off x="3681756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22" name="Elipse 21">
                  <a:extLst>
                    <a:ext uri="{FF2B5EF4-FFF2-40B4-BE49-F238E27FC236}">
                      <a16:creationId xmlns:a16="http://schemas.microsoft.com/office/drawing/2014/main" id="{B670EE31-F59D-5407-20CE-5CC0F4BE06A2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B838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3" name="Elipse 22">
                  <a:extLst>
                    <a:ext uri="{FF2B5EF4-FFF2-40B4-BE49-F238E27FC236}">
                      <a16:creationId xmlns:a16="http://schemas.microsoft.com/office/drawing/2014/main" id="{5D494E85-BD8E-5D8D-235E-CAFEA326830D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4" name="Triángulo 23">
                  <a:extLst>
                    <a:ext uri="{FF2B5EF4-FFF2-40B4-BE49-F238E27FC236}">
                      <a16:creationId xmlns:a16="http://schemas.microsoft.com/office/drawing/2014/main" id="{D8026612-5E49-09C0-14E0-6D7B177DD938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DA43A125-5110-57E9-E912-81BEDE30DD8C}"/>
                </a:ext>
              </a:extLst>
            </p:cNvPr>
            <p:cNvGrpSpPr/>
            <p:nvPr/>
          </p:nvGrpSpPr>
          <p:grpSpPr>
            <a:xfrm>
              <a:off x="3079273" y="1543608"/>
              <a:ext cx="2812177" cy="3159019"/>
              <a:chOff x="3681756" y="1543608"/>
              <a:chExt cx="2812177" cy="3159019"/>
            </a:xfrm>
          </p:grpSpPr>
          <p:sp>
            <p:nvSpPr>
              <p:cNvPr id="4" name="Google Shape;333;p23">
                <a:extLst>
                  <a:ext uri="{FF2B5EF4-FFF2-40B4-BE49-F238E27FC236}">
                    <a16:creationId xmlns:a16="http://schemas.microsoft.com/office/drawing/2014/main" id="{5DFA0C78-05B8-EDA0-5BD2-ECF24E44659D}"/>
                  </a:ext>
                </a:extLst>
              </p:cNvPr>
              <p:cNvSpPr/>
              <p:nvPr/>
            </p:nvSpPr>
            <p:spPr>
              <a:xfrm>
                <a:off x="3897522" y="1543608"/>
                <a:ext cx="2596411" cy="501005"/>
              </a:xfrm>
              <a:prstGeom prst="roundRect">
                <a:avLst>
                  <a:gd name="adj" fmla="val 18326"/>
                </a:avLst>
              </a:prstGeom>
              <a:solidFill>
                <a:srgbClr val="00B1C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R="0" lvl="0" algn="ctr" rtl="0">
                  <a:spcBef>
                    <a:spcPts val="0"/>
                  </a:spcBef>
                  <a:buClr>
                    <a:schemeClr val="tx1"/>
                  </a:buClr>
                  <a:buSzPct val="100000"/>
                </a:pPr>
                <a:r>
                  <a:rPr lang="es-PE" sz="15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Setter Injection:</a:t>
                </a:r>
                <a:endParaRPr lang="es-PE" sz="15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" name="Google Shape;335;p23">
                <a:extLst>
                  <a:ext uri="{FF2B5EF4-FFF2-40B4-BE49-F238E27FC236}">
                    <a16:creationId xmlns:a16="http://schemas.microsoft.com/office/drawing/2014/main" id="{B13197E7-B8C6-5DF3-FD23-537577C25724}"/>
                  </a:ext>
                </a:extLst>
              </p:cNvPr>
              <p:cNvSpPr/>
              <p:nvPr/>
            </p:nvSpPr>
            <p:spPr>
              <a:xfrm>
                <a:off x="3897522" y="2118158"/>
                <a:ext cx="2596411" cy="2584469"/>
              </a:xfrm>
              <a:prstGeom prst="roundRect">
                <a:avLst>
                  <a:gd name="adj" fmla="val 6223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222250" lvl="1" indent="-134938">
                  <a:spcAft>
                    <a:spcPts val="600"/>
                  </a:spcAft>
                  <a:buClr>
                    <a:srgbClr val="00B1C2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sz="1400" b="1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Ventaja</a:t>
                </a:r>
                <a:r>
                  <a:rPr lang="es-ES_tradnl" sz="14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: Permite la inyección de dependencias opcionales y la reconfiguración de dependencias después de la construcción del objeto.</a:t>
                </a:r>
              </a:p>
              <a:p>
                <a:pPr marL="222250" lvl="1" indent="-134938">
                  <a:spcAft>
                    <a:spcPts val="600"/>
                  </a:spcAft>
                  <a:buClr>
                    <a:srgbClr val="00B1C2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sz="1400" b="1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Desventaja</a:t>
                </a:r>
                <a:r>
                  <a:rPr lang="es-ES_tradnl" sz="1400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: No garantiza que las dependencias estén disponibles al momento de la creación del objeto.</a:t>
                </a:r>
              </a:p>
              <a:p>
                <a:pPr marL="222250" lvl="1" indent="-134938">
                  <a:spcAft>
                    <a:spcPts val="600"/>
                  </a:spcAft>
                  <a:buClr>
                    <a:srgbClr val="00B1C2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es-ES_tradnl" sz="1400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endParaRPr>
              </a:p>
              <a:p>
                <a:pPr marL="222250" lvl="1" indent="-134938">
                  <a:buClr>
                    <a:srgbClr val="00B1C2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es-ES_tradnl" sz="1400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endParaRPr>
              </a:p>
            </p:txBody>
          </p:sp>
          <p:grpSp>
            <p:nvGrpSpPr>
              <p:cNvPr id="6" name="Agrupar 9">
                <a:extLst>
                  <a:ext uri="{FF2B5EF4-FFF2-40B4-BE49-F238E27FC236}">
                    <a16:creationId xmlns:a16="http://schemas.microsoft.com/office/drawing/2014/main" id="{AA2BA700-44B8-853D-23AD-B0394CACCF55}"/>
                  </a:ext>
                </a:extLst>
              </p:cNvPr>
              <p:cNvGrpSpPr/>
              <p:nvPr/>
            </p:nvGrpSpPr>
            <p:grpSpPr>
              <a:xfrm>
                <a:off x="3681756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7" name="Elipse 6">
                  <a:extLst>
                    <a:ext uri="{FF2B5EF4-FFF2-40B4-BE49-F238E27FC236}">
                      <a16:creationId xmlns:a16="http://schemas.microsoft.com/office/drawing/2014/main" id="{7D4D5FBE-1A0D-ABC2-3699-47CC50E43029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B838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8" name="Elipse 7">
                  <a:extLst>
                    <a:ext uri="{FF2B5EF4-FFF2-40B4-BE49-F238E27FC236}">
                      <a16:creationId xmlns:a16="http://schemas.microsoft.com/office/drawing/2014/main" id="{1B1A2F30-7E58-7BBC-4F81-74FE56462452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9" name="Triángulo 8">
                  <a:extLst>
                    <a:ext uri="{FF2B5EF4-FFF2-40B4-BE49-F238E27FC236}">
                      <a16:creationId xmlns:a16="http://schemas.microsoft.com/office/drawing/2014/main" id="{8DD781EC-C883-BF7C-CAC8-E5748F3F9FFD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2AABB326-8D0F-8D0B-25D1-CB6284D93A7A}"/>
                </a:ext>
              </a:extLst>
            </p:cNvPr>
            <p:cNvGrpSpPr/>
            <p:nvPr/>
          </p:nvGrpSpPr>
          <p:grpSpPr>
            <a:xfrm>
              <a:off x="297001" y="1543608"/>
              <a:ext cx="2811326" cy="3159021"/>
              <a:chOff x="297001" y="1543608"/>
              <a:chExt cx="2811326" cy="3159021"/>
            </a:xfrm>
          </p:grpSpPr>
          <p:sp>
            <p:nvSpPr>
              <p:cNvPr id="10" name="Google Shape;332;p23">
                <a:extLst>
                  <a:ext uri="{FF2B5EF4-FFF2-40B4-BE49-F238E27FC236}">
                    <a16:creationId xmlns:a16="http://schemas.microsoft.com/office/drawing/2014/main" id="{A06CAFAF-A7C9-F67A-DDEE-2948CBCB5FEE}"/>
                  </a:ext>
                </a:extLst>
              </p:cNvPr>
              <p:cNvSpPr/>
              <p:nvPr/>
            </p:nvSpPr>
            <p:spPr>
              <a:xfrm>
                <a:off x="511916" y="1543608"/>
                <a:ext cx="2596411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R="0" lvl="0" algn="ctr" rtl="0">
                  <a:spcBef>
                    <a:spcPts val="0"/>
                  </a:spcBef>
                  <a:buClr>
                    <a:schemeClr val="tx1"/>
                  </a:buClr>
                  <a:buSzPct val="100000"/>
                </a:pPr>
                <a:r>
                  <a:rPr lang="es-PE" sz="15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Constructor Injection:</a:t>
                </a:r>
                <a:endParaRPr lang="es-PE" sz="15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334;p23">
                <a:extLst>
                  <a:ext uri="{FF2B5EF4-FFF2-40B4-BE49-F238E27FC236}">
                    <a16:creationId xmlns:a16="http://schemas.microsoft.com/office/drawing/2014/main" id="{54549AE7-E342-B41A-6692-1265373F922B}"/>
                  </a:ext>
                </a:extLst>
              </p:cNvPr>
              <p:cNvSpPr/>
              <p:nvPr/>
            </p:nvSpPr>
            <p:spPr>
              <a:xfrm>
                <a:off x="511916" y="2118159"/>
                <a:ext cx="2596411" cy="2584470"/>
              </a:xfrm>
              <a:prstGeom prst="roundRect">
                <a:avLst>
                  <a:gd name="adj" fmla="val 5275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6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sz="1400" b="1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Ventaja</a:t>
                </a:r>
                <a:r>
                  <a:rPr lang="es-ES_tradnl" sz="1400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: Garantiza que todas las dependencias se proporcionen y estén listas al crear el objeto.</a:t>
                </a:r>
              </a:p>
              <a:p>
                <a:pPr marL="138113" lvl="1" indent="-128588" defTabSz="457200">
                  <a:spcAft>
                    <a:spcPts val="6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sz="1400" b="1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Desventaja</a:t>
                </a:r>
                <a:r>
                  <a:rPr lang="es-ES_tradnl" sz="1400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: Puede hacer que el constructor sea largo y complejo.</a:t>
                </a:r>
              </a:p>
              <a:p>
                <a:pPr marL="138113" lvl="1" indent="-128588" defTabSz="457200"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endParaRPr lang="es-ES_tradnl" sz="1400" dirty="0">
                  <a:solidFill>
                    <a:srgbClr val="262626"/>
                  </a:solidFill>
                  <a:latin typeface="Calibri"/>
                  <a:ea typeface="+mn-ea"/>
                  <a:cs typeface="Calibri"/>
                </a:endParaRPr>
              </a:p>
            </p:txBody>
          </p:sp>
          <p:grpSp>
            <p:nvGrpSpPr>
              <p:cNvPr id="12" name="Agrupar 4">
                <a:extLst>
                  <a:ext uri="{FF2B5EF4-FFF2-40B4-BE49-F238E27FC236}">
                    <a16:creationId xmlns:a16="http://schemas.microsoft.com/office/drawing/2014/main" id="{BC323F9E-B7F2-FCA3-BF37-F047DDC6245A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3" name="Elipse 12">
                  <a:extLst>
                    <a:ext uri="{FF2B5EF4-FFF2-40B4-BE49-F238E27FC236}">
                      <a16:creationId xmlns:a16="http://schemas.microsoft.com/office/drawing/2014/main" id="{8E82EACE-986C-4B80-E251-A7192CA8A8BE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B838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" name="Elipse 13">
                  <a:extLst>
                    <a:ext uri="{FF2B5EF4-FFF2-40B4-BE49-F238E27FC236}">
                      <a16:creationId xmlns:a16="http://schemas.microsoft.com/office/drawing/2014/main" id="{3D4F8777-DAC7-6B53-6C1C-B5645B0C3799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5" name="Triángulo 14">
                  <a:extLst>
                    <a:ext uri="{FF2B5EF4-FFF2-40B4-BE49-F238E27FC236}">
                      <a16:creationId xmlns:a16="http://schemas.microsoft.com/office/drawing/2014/main" id="{0DE7BD91-32AD-2421-7D62-339ED85AAEA9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EFICIENCIA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8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/>
        </p:nvSpPr>
        <p:spPr>
          <a:xfrm>
            <a:off x="510987" y="920562"/>
            <a:ext cx="7810200" cy="261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chemeClr val="tx1"/>
              </a:buClr>
              <a:buSzPts val="1600"/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BENEFICIOS</a:t>
            </a:r>
            <a:endParaRPr lang="es-PE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Mejora en la mantenibilidad del código</a:t>
            </a:r>
            <a:endParaRPr lang="es-PE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Aumento de la flexibilidad y escalabilidad</a:t>
            </a:r>
            <a:endParaRPr lang="es-PE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Facilitación de pruebas unitarias</a:t>
            </a: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endParaRPr lang="es-PE" sz="1600" b="1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1">
              <a:spcAft>
                <a:spcPts val="600"/>
              </a:spcAft>
              <a:buClr>
                <a:schemeClr val="tx1"/>
              </a:buClr>
              <a:buSzPts val="1600"/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SPRING FRAMEWORK Y DI</a:t>
            </a:r>
            <a:endParaRPr lang="es-PE"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Spring Framework es un contenedor de inversión de control (IoC) y un framework de desarrollo de aplicaciones empresariales en Java.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Proporciona infraestructura para el desarrollo de aplicaciones Java de manera eficiente, permitiendo centrarse en la lógica del negocio</a:t>
            </a:r>
            <a:r>
              <a:rPr lang="es-PE" sz="1600" b="0" i="0" u="none" strike="noStrike" cap="none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EB78D6D-4BB3-BC98-9B42-FAFE65D2A0EC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/>
        </p:nvSpPr>
        <p:spPr>
          <a:xfrm>
            <a:off x="510987" y="920562"/>
            <a:ext cx="7881345" cy="293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¿CÓMO SPRING IMPLEMENTA LA INYECCIÓN DE DEPENDENCIAS?</a:t>
            </a: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Spring gestiona los objetos y sus dependencias a través de su contenedor IoC.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Los objetos (beans) se configuran en archivos de configuración XML o mediante anotaciones y se ensamblan automáticamente por el contenedor de Spring.</a:t>
            </a: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PE"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CONFIGURACIÓN DE BEANS EN SPRING:</a:t>
            </a:r>
            <a:endParaRPr lang="es-PE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Spring permite la configuración de beans de dos maneras principales: mediante archivos de configuración XML y mediante anotaciones.</a:t>
            </a: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s-PE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¿QUÉ ES SPRING BOOT?</a:t>
            </a:r>
            <a:endParaRPr lang="es-PE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 una de las tecnologías dentro del mundo de Spring de las que más se usa actualmente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036733E1-9F29-F080-D5DF-E5A1786B7D19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/>
        </p:nvSpPr>
        <p:spPr>
          <a:xfrm>
            <a:off x="510987" y="920562"/>
            <a:ext cx="8315501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CONSTRUYENDO LA APLICACIÓN:</a:t>
            </a:r>
            <a:endParaRPr lang="es-PE"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1" algn="l" rtl="0">
              <a:spcBef>
                <a:spcPts val="0"/>
              </a:spcBef>
              <a:spcAft>
                <a:spcPts val="0"/>
              </a:spcAft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Para construir una aplicación Spring MVC se elige la dependencia web o Starter Web: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Pulsamos generar proyecto y nos descargará un proyecto Maven en formato zip 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Descomprimimos el proyecto y este es su contenido.</a:t>
            </a:r>
            <a:b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endParaRPr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24" name="Google Shape;124;p12" descr="Spring Boot Estructur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370" y="2270502"/>
            <a:ext cx="4886826" cy="29634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4A28382E-7832-6F05-B873-2E4D3B6FCF0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3410A0F0-8E01-314B-0211-68BD4A63F1AC}"/>
              </a:ext>
            </a:extLst>
          </p:cNvPr>
          <p:cNvSpPr/>
          <p:nvPr/>
        </p:nvSpPr>
        <p:spPr>
          <a:xfrm>
            <a:off x="5881603" y="3556860"/>
            <a:ext cx="2510725" cy="1677127"/>
          </a:xfrm>
          <a:prstGeom prst="roundRect">
            <a:avLst>
              <a:gd name="adj" fmla="val 575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350" marR="0" lvl="1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1" i="0" u="none" strike="noStrike" cap="none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Una aplicación de Spring con estructura Maven totalmente configurada y carpetas adicionales para cubrir nuestras necesidades. </a:t>
            </a:r>
            <a:endParaRPr lang="es-PE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/>
        </p:nvSpPr>
        <p:spPr>
          <a:xfrm>
            <a:off x="510987" y="920562"/>
            <a:ext cx="609904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El siguiente paso es importar esta aplicación en Eclipse. 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Vamos a ver el contenido de la clase HolaSpringBootApplication</a:t>
            </a:r>
            <a:endParaRPr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33" name="Google Shape;13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889" y="2000127"/>
            <a:ext cx="7316221" cy="25721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8BC31DC0-0E95-551D-D528-FC1E8F57C40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/>
        </p:nvSpPr>
        <p:spPr>
          <a:xfrm>
            <a:off x="510987" y="920562"/>
            <a:ext cx="8164701" cy="155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Esta clase es la encargada de arrancar nuestra aplicación de Spring a diferencia de un enfoque clásico no hace falta desplegarla en un servidor web ya que Spring Boot provee de uno (contiene un Tomcat embebido).</a:t>
            </a:r>
          </a:p>
          <a:p>
            <a:endParaRPr lang="es-PE" sz="1600" b="1" i="0" u="none" strike="noStrike" cap="none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>
              <a:spcAft>
                <a:spcPts val="600"/>
              </a:spcAft>
            </a:pPr>
            <a:r>
              <a:rPr lang="es-PE" sz="1600" b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SPRING BOOT CONTROLLER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Construir un controlador de HolaMundo</a:t>
            </a:r>
          </a:p>
        </p:txBody>
      </p:sp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940" y="2650210"/>
            <a:ext cx="7378120" cy="258377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AEF6AA6-B8AB-F670-2104-A46AF0EA6D9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/>
        </p:nvSpPr>
        <p:spPr>
          <a:xfrm>
            <a:off x="510988" y="920562"/>
            <a:ext cx="778060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Este controlador registra la URL de / para que nos devuelva “HolaMundo” 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600" b="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Para ejecutar la aplicación como una aplicación de consola se utiliza el botón derecho run as Java Application en el fichero de HolaSpringBootApplication. Esto abrirá un servidor web y accederemos a la url.</a:t>
            </a:r>
            <a:endParaRPr sz="1600" b="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2374914" y="2865248"/>
            <a:ext cx="4394172" cy="111781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91DF06F7-A066-74C6-9E66-46B26CDC90F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EFICIENCIA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705454" cy="301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La inyección de dependencias es esencial para construir aplicaciones modulares y mantenibles. 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Spring Framework facilita este proceso, permitiendo una gestión eficiente de los componentes y mejorando la flexibilidad y testabilidad del código. 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Aplicar estos principios en el desarrollo de aplicaciones web con Spring MVC resulta en soluciones más robustas y escalables.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SpringBoot ha simplificado toda la operativa a la hora de construir la aplicación, prácticamente no hemos tenido que seleccionar dependencias de Spring y no ha hecho falta definir ningún servidor en nuestro entorno de desarrollo ya que Spring Boot trae uno integrado. 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239910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E08DBC-2145-E544-0750-BB699B95B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607850"/>
            <a:ext cx="114138" cy="117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F516D7-65FD-1AB1-6EA5-9CE3453E0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880747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Sierra, K., &amp; Bates, B. OCA/OCP Java SE 7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Programmer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I y II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Study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Guide (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Exams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1Z0-803 y 1Z0-804) (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Certification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Press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).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Professional Java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for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Web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Applications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https://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oa.upm.es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/38731/1/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TFG_Federico_Gutierrez_Faraoni.pdf</a:t>
            </a:r>
            <a:endParaRPr lang="es-ES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620119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0E24C3-9B7C-2268-A45F-3441571C6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039898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1115</Words>
  <Application>Microsoft Macintosh PowerPoint</Application>
  <PresentationFormat>Presentación en pantalla (16:10)</PresentationFormat>
  <Paragraphs>128</Paragraphs>
  <Slides>21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Calibri</vt:lpstr>
      <vt:lpstr>Graphik Bold</vt:lpstr>
      <vt:lpstr>Graphik Medium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Microsoft Office User</cp:lastModifiedBy>
  <cp:revision>5</cp:revision>
  <dcterms:created xsi:type="dcterms:W3CDTF">2016-10-06T14:52:02Z</dcterms:created>
  <dcterms:modified xsi:type="dcterms:W3CDTF">2024-10-01T21:19:45Z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