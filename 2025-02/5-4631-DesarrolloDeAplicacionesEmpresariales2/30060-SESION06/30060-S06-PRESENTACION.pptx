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662" r:id="rId2"/>
    <p:sldId id="627" r:id="rId3"/>
    <p:sldId id="628" r:id="rId4"/>
    <p:sldId id="742" r:id="rId5"/>
    <p:sldId id="259" r:id="rId6"/>
    <p:sldId id="260" r:id="rId7"/>
    <p:sldId id="743" r:id="rId8"/>
    <p:sldId id="262" r:id="rId9"/>
    <p:sldId id="263" r:id="rId10"/>
    <p:sldId id="264" r:id="rId11"/>
    <p:sldId id="265" r:id="rId12"/>
    <p:sldId id="266" r:id="rId13"/>
    <p:sldId id="267" r:id="rId14"/>
    <p:sldId id="588" r:id="rId15"/>
    <p:sldId id="589" r:id="rId16"/>
    <p:sldId id="590" r:id="rId17"/>
    <p:sldId id="591" r:id="rId18"/>
    <p:sldId id="593" r:id="rId19"/>
  </p:sldIdLst>
  <p:sldSz cx="9144000" cy="5715000" type="screen16x1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465">
          <p15:clr>
            <a:srgbClr val="A4A3A4"/>
          </p15:clr>
        </p15:guide>
        <p15:guide id="3" pos="317">
          <p15:clr>
            <a:srgbClr val="A4A3A4"/>
          </p15:clr>
        </p15:guide>
        <p15:guide id="4" orient="horz" pos="180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gsE4hui1WvxfDMYe2HVVOJhgfq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61"/>
    <p:restoredTop sz="94687"/>
  </p:normalViewPr>
  <p:slideViewPr>
    <p:cSldViewPr snapToGrid="0">
      <p:cViewPr varScale="1">
        <p:scale>
          <a:sx n="101" d="100"/>
          <a:sy n="101" d="100"/>
        </p:scale>
        <p:origin x="132" y="462"/>
      </p:cViewPr>
      <p:guideLst>
        <p:guide pos="5465"/>
        <p:guide pos="317"/>
        <p:guide orient="horz" pos="180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3296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86432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5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7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8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8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9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0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0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1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2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657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ema - 1 Imagen A">
  <p:cSld name="Subtema - 1 Imagen A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431DC42-303B-F545-9789-3724F9E97760}"/>
              </a:ext>
            </a:extLst>
          </p:cNvPr>
          <p:cNvSpPr/>
          <p:nvPr userDrawn="1"/>
        </p:nvSpPr>
        <p:spPr>
          <a:xfrm>
            <a:off x="7379148" y="5371562"/>
            <a:ext cx="13692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b="0" i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© ISIL. Todos los derechos reservados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9372701D-0A84-0448-9BAF-91437343CCCB}"/>
              </a:ext>
            </a:extLst>
          </p:cNvPr>
          <p:cNvSpPr txBox="1"/>
          <p:nvPr userDrawn="1"/>
        </p:nvSpPr>
        <p:spPr>
          <a:xfrm>
            <a:off x="876300" y="5343295"/>
            <a:ext cx="32271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GESTIÓN DE PROCESOS, SIMULACIÓN Y MEJORA CONTINUA</a:t>
            </a:r>
            <a:r>
              <a:rPr lang="en-US" sz="800" kern="1200" baseline="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SESIÓN 01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E0D14F7-6E9D-9E40-BFFD-243BDDA808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84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940AC06-01F2-F2D0-FE5B-708BB89D9F43}"/>
              </a:ext>
            </a:extLst>
          </p:cNvPr>
          <p:cNvSpPr/>
          <p:nvPr userDrawn="1"/>
        </p:nvSpPr>
        <p:spPr>
          <a:xfrm>
            <a:off x="7379148" y="5371562"/>
            <a:ext cx="13692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b="0" i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© ISIL. Todos los derechos reservados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30C49E48-5BEB-251B-E717-AA870DA1E2DB}"/>
              </a:ext>
            </a:extLst>
          </p:cNvPr>
          <p:cNvSpPr txBox="1"/>
          <p:nvPr userDrawn="1"/>
        </p:nvSpPr>
        <p:spPr>
          <a:xfrm>
            <a:off x="876300" y="5343295"/>
            <a:ext cx="27622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DESARROLLO DE APLICACIONES EMPRESARIALES II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TEMA 06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708FF7-B4D6-301B-5A69-81AD13B03EC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3297" userDrawn="1">
          <p15:clr>
            <a:srgbClr val="F26B43"/>
          </p15:clr>
        </p15:guide>
        <p15:guide id="3" pos="2993" userDrawn="1">
          <p15:clr>
            <a:srgbClr val="F26B43"/>
          </p15:clr>
        </p15:guide>
        <p15:guide id="4" pos="2767" userDrawn="1">
          <p15:clr>
            <a:srgbClr val="F26B43"/>
          </p15:clr>
        </p15:guide>
        <p15:guide id="5" pos="317" userDrawn="1">
          <p15:clr>
            <a:srgbClr val="F26B43"/>
          </p15:clr>
        </p15:guide>
        <p15:guide id="6" pos="5465" userDrawn="1">
          <p15:clr>
            <a:srgbClr val="F26B43"/>
          </p15:clr>
        </p15:guide>
        <p15:guide id="7" orient="horz" pos="575" userDrawn="1">
          <p15:clr>
            <a:srgbClr val="F26B43"/>
          </p15:clr>
        </p15:guide>
        <p15:guide id="8" orient="horz" pos="303" userDrawn="1">
          <p15:clr>
            <a:srgbClr val="F26B43"/>
          </p15:clr>
        </p15:guide>
        <p15:guide id="9" pos="2562" userDrawn="1">
          <p15:clr>
            <a:srgbClr val="F26B43"/>
          </p15:clr>
        </p15:guide>
        <p15:guide id="10" pos="23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arquitecturajava.com/spring-mvc-y-anotaciones-ii/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0376003-8003-B944-8B01-9A232A7A385C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900" b="1" dirty="0">
                <a:solidFill>
                  <a:schemeClr val="bg1">
                    <a:lumMod val="50000"/>
                  </a:schemeClr>
                </a:solidFill>
                <a:latin typeface="Calibri" charset="0"/>
                <a:cs typeface="Calibri" charset="0"/>
              </a:rPr>
              <a:t>DESARROLLO DE APLICACIONES EMPRESARIALES II 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503239" y="2177570"/>
            <a:ext cx="3213718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3200" dirty="0">
                <a:latin typeface="Graphik Medium" panose="020B0503030202060203" pitchFamily="34" charset="77"/>
                <a:ea typeface="Graphik-Medium" charset="0"/>
                <a:cs typeface="Graphik-Medium" charset="0"/>
              </a:rPr>
              <a:t>SPRING </a:t>
            </a:r>
          </a:p>
          <a:p>
            <a:pPr lvl="0">
              <a:lnSpc>
                <a:spcPct val="90000"/>
              </a:lnSpc>
            </a:pPr>
            <a:r>
              <a:rPr lang="es-PE" sz="3200" b="1" dirty="0">
                <a:latin typeface="Graphik Bold" panose="020B0503030202060203" pitchFamily="34" charset="77"/>
                <a:ea typeface="Graphik-Medium" charset="0"/>
                <a:cs typeface="Graphik-Medium" charset="0"/>
              </a:rPr>
              <a:t>FRAMEWORK</a:t>
            </a:r>
          </a:p>
        </p:txBody>
      </p:sp>
      <p:sp>
        <p:nvSpPr>
          <p:cNvPr id="27" name="Rectángulo 26"/>
          <p:cNvSpPr/>
          <p:nvPr/>
        </p:nvSpPr>
        <p:spPr>
          <a:xfrm>
            <a:off x="503238" y="3219842"/>
            <a:ext cx="2845526" cy="642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lvl="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Eficiencia</a:t>
            </a:r>
          </a:p>
          <a:p>
            <a:pPr marL="177800" lvl="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Reconocimiento de Spring FrameWork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3FC3217-3DCC-0941-BA6B-6CEEC9F1D080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0B6AB0"/>
                </a:solidFill>
                <a:latin typeface="Calibri" charset="0"/>
                <a:ea typeface="Calibri" charset="0"/>
                <a:cs typeface="Calibri" charset="0"/>
              </a:rPr>
              <a:t>TEMA 06</a:t>
            </a: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ABCD739-0A62-0FD3-2175-DE895833E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0"/>
            <a:ext cx="53911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0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2299" y="918372"/>
            <a:ext cx="5145006" cy="1077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PE" sz="1400" dirty="0">
                <a:latin typeface="Calibri" charset="0"/>
                <a:cs typeface="Calibri" charset="0"/>
              </a:rPr>
              <a:t>Las anotaciones en Spring Framework son una forma de configuración y gestión de dependencias que elimina la necesidad de configuración explícita en archivos XML. </a:t>
            </a:r>
          </a:p>
          <a:p>
            <a:pPr lvl="0"/>
            <a:endParaRPr lang="es-PE" sz="1400" dirty="0">
              <a:latin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cs typeface="Calibri" charset="0"/>
              </a:rPr>
              <a:t>Esto resulta en un código más limpio, más fácil de leer y mantener.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954885"/>
            <a:ext cx="117851" cy="121369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1815325"/>
            <a:ext cx="117851" cy="121369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5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  <p:sp>
        <p:nvSpPr>
          <p:cNvPr id="5" name="Google Shape;44;p2">
            <a:extLst>
              <a:ext uri="{FF2B5EF4-FFF2-40B4-BE49-F238E27FC236}">
                <a16:creationId xmlns:a16="http://schemas.microsoft.com/office/drawing/2014/main" id="{4D83FBAF-DB5F-69B7-D3B8-6F1C54D94DAB}"/>
              </a:ext>
            </a:extLst>
          </p:cNvPr>
          <p:cNvSpPr/>
          <p:nvPr/>
        </p:nvSpPr>
        <p:spPr>
          <a:xfrm>
            <a:off x="4609712" y="2220478"/>
            <a:ext cx="1918710" cy="1961662"/>
          </a:xfrm>
          <a:prstGeom prst="roundRect">
            <a:avLst>
              <a:gd name="adj" fmla="val 4753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45;p2">
            <a:extLst>
              <a:ext uri="{FF2B5EF4-FFF2-40B4-BE49-F238E27FC236}">
                <a16:creationId xmlns:a16="http://schemas.microsoft.com/office/drawing/2014/main" id="{B97E3998-C773-A81A-DBDC-D06F00ABD835}"/>
              </a:ext>
            </a:extLst>
          </p:cNvPr>
          <p:cNvSpPr/>
          <p:nvPr/>
        </p:nvSpPr>
        <p:spPr>
          <a:xfrm>
            <a:off x="4779209" y="3045978"/>
            <a:ext cx="1579717" cy="45622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46;p2">
            <a:extLst>
              <a:ext uri="{FF2B5EF4-FFF2-40B4-BE49-F238E27FC236}">
                <a16:creationId xmlns:a16="http://schemas.microsoft.com/office/drawing/2014/main" id="{57F13765-E3E1-AC47-C8DF-CE3C2984B46F}"/>
              </a:ext>
            </a:extLst>
          </p:cNvPr>
          <p:cNvSpPr/>
          <p:nvPr/>
        </p:nvSpPr>
        <p:spPr>
          <a:xfrm>
            <a:off x="4769345" y="3614059"/>
            <a:ext cx="1599444" cy="45622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" name="Google Shape;47;p2">
            <a:extLst>
              <a:ext uri="{FF2B5EF4-FFF2-40B4-BE49-F238E27FC236}">
                <a16:creationId xmlns:a16="http://schemas.microsoft.com/office/drawing/2014/main" id="{5E01895E-8273-B3A2-2B13-326A35CB77CB}"/>
              </a:ext>
            </a:extLst>
          </p:cNvPr>
          <p:cNvGrpSpPr/>
          <p:nvPr/>
        </p:nvGrpSpPr>
        <p:grpSpPr>
          <a:xfrm>
            <a:off x="1239008" y="2220478"/>
            <a:ext cx="2232326" cy="2544961"/>
            <a:chOff x="376056" y="2032000"/>
            <a:chExt cx="2232326" cy="2544961"/>
          </a:xfrm>
        </p:grpSpPr>
        <p:cxnSp>
          <p:nvCxnSpPr>
            <p:cNvPr id="26" name="Google Shape;48;p2">
              <a:extLst>
                <a:ext uri="{FF2B5EF4-FFF2-40B4-BE49-F238E27FC236}">
                  <a16:creationId xmlns:a16="http://schemas.microsoft.com/office/drawing/2014/main" id="{68F81904-7766-DFCB-02D1-4EE4A23E11B3}"/>
                </a:ext>
              </a:extLst>
            </p:cNvPr>
            <p:cNvCxnSpPr>
              <a:stCxn id="34" idx="0"/>
              <a:endCxn id="28" idx="2"/>
            </p:cNvCxnSpPr>
            <p:nvPr/>
          </p:nvCxnSpPr>
          <p:spPr>
            <a:xfrm flipV="1">
              <a:off x="883138" y="3532554"/>
              <a:ext cx="644770" cy="60771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stealth" w="med" len="med"/>
            </a:ln>
          </p:spPr>
        </p:cxnSp>
        <p:cxnSp>
          <p:nvCxnSpPr>
            <p:cNvPr id="27" name="Google Shape;51;p2">
              <a:extLst>
                <a:ext uri="{FF2B5EF4-FFF2-40B4-BE49-F238E27FC236}">
                  <a16:creationId xmlns:a16="http://schemas.microsoft.com/office/drawing/2014/main" id="{674960F8-1CAE-C8C3-6B40-0DD93B91730D}"/>
                </a:ext>
              </a:extLst>
            </p:cNvPr>
            <p:cNvCxnSpPr>
              <a:stCxn id="35" idx="0"/>
              <a:endCxn id="28" idx="2"/>
            </p:cNvCxnSpPr>
            <p:nvPr/>
          </p:nvCxnSpPr>
          <p:spPr>
            <a:xfrm flipH="1" flipV="1">
              <a:off x="1527908" y="3532554"/>
              <a:ext cx="584655" cy="61327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stealth" w="med" len="med"/>
            </a:ln>
          </p:spPr>
        </p:cxnSp>
        <p:sp>
          <p:nvSpPr>
            <p:cNvPr id="28" name="Google Shape;50;p2">
              <a:extLst>
                <a:ext uri="{FF2B5EF4-FFF2-40B4-BE49-F238E27FC236}">
                  <a16:creationId xmlns:a16="http://schemas.microsoft.com/office/drawing/2014/main" id="{DFE890F9-DBF0-6548-B65A-950A7A137A87}"/>
                </a:ext>
              </a:extLst>
            </p:cNvPr>
            <p:cNvSpPr/>
            <p:nvPr/>
          </p:nvSpPr>
          <p:spPr>
            <a:xfrm>
              <a:off x="883138" y="2032000"/>
              <a:ext cx="1289539" cy="1500554"/>
            </a:xfrm>
            <a:prstGeom prst="roundRect">
              <a:avLst>
                <a:gd name="adj" fmla="val 780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53;p2">
              <a:extLst>
                <a:ext uri="{FF2B5EF4-FFF2-40B4-BE49-F238E27FC236}">
                  <a16:creationId xmlns:a16="http://schemas.microsoft.com/office/drawing/2014/main" id="{9A6F503E-03B5-EE98-CEA3-63BC826544B2}"/>
                </a:ext>
              </a:extLst>
            </p:cNvPr>
            <p:cNvSpPr/>
            <p:nvPr/>
          </p:nvSpPr>
          <p:spPr>
            <a:xfrm>
              <a:off x="1027723" y="2857500"/>
              <a:ext cx="1000369" cy="456223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54;p2">
              <a:extLst>
                <a:ext uri="{FF2B5EF4-FFF2-40B4-BE49-F238E27FC236}">
                  <a16:creationId xmlns:a16="http://schemas.microsoft.com/office/drawing/2014/main" id="{98FB26B6-47D4-7426-A3A9-9B8464E4D39A}"/>
                </a:ext>
              </a:extLst>
            </p:cNvPr>
            <p:cNvSpPr/>
            <p:nvPr/>
          </p:nvSpPr>
          <p:spPr>
            <a:xfrm>
              <a:off x="376056" y="4120738"/>
              <a:ext cx="1000369" cy="456223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55;p2">
              <a:extLst>
                <a:ext uri="{FF2B5EF4-FFF2-40B4-BE49-F238E27FC236}">
                  <a16:creationId xmlns:a16="http://schemas.microsoft.com/office/drawing/2014/main" id="{5BC62BA0-9272-48B9-73B7-F9CCB4D546FA}"/>
                </a:ext>
              </a:extLst>
            </p:cNvPr>
            <p:cNvSpPr/>
            <p:nvPr/>
          </p:nvSpPr>
          <p:spPr>
            <a:xfrm>
              <a:off x="1608013" y="4120738"/>
              <a:ext cx="1000369" cy="456223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56;p2">
              <a:extLst>
                <a:ext uri="{FF2B5EF4-FFF2-40B4-BE49-F238E27FC236}">
                  <a16:creationId xmlns:a16="http://schemas.microsoft.com/office/drawing/2014/main" id="{49DFE6F3-4ADC-A154-FE8D-52E434B6120B}"/>
                </a:ext>
              </a:extLst>
            </p:cNvPr>
            <p:cNvSpPr/>
            <p:nvPr/>
          </p:nvSpPr>
          <p:spPr>
            <a:xfrm>
              <a:off x="1027723" y="2229307"/>
              <a:ext cx="1000369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&lt;Interface&gt;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Controller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57;p2">
              <a:extLst>
                <a:ext uri="{FF2B5EF4-FFF2-40B4-BE49-F238E27FC236}">
                  <a16:creationId xmlns:a16="http://schemas.microsoft.com/office/drawing/2014/main" id="{155AF578-84F9-870D-16E1-7F11433ABF1E}"/>
                </a:ext>
              </a:extLst>
            </p:cNvPr>
            <p:cNvSpPr/>
            <p:nvPr/>
          </p:nvSpPr>
          <p:spPr>
            <a:xfrm>
              <a:off x="1027723" y="2958653"/>
              <a:ext cx="1000368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handleRequest</a:t>
              </a:r>
              <a:endParaRPr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49;p2">
              <a:extLst>
                <a:ext uri="{FF2B5EF4-FFF2-40B4-BE49-F238E27FC236}">
                  <a16:creationId xmlns:a16="http://schemas.microsoft.com/office/drawing/2014/main" id="{E91C0E09-5368-E482-7E24-2C76F06529E9}"/>
                </a:ext>
              </a:extLst>
            </p:cNvPr>
            <p:cNvSpPr/>
            <p:nvPr/>
          </p:nvSpPr>
          <p:spPr>
            <a:xfrm>
              <a:off x="382953" y="4140271"/>
              <a:ext cx="1000369" cy="4154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</a:t>
              </a:r>
              <a:r>
                <a:rPr lang="es-ES" sz="105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Command</a:t>
              </a:r>
              <a:r>
                <a:rPr lang="es-ES" sz="10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&gt;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Lista</a:t>
              </a:r>
              <a:endParaRPr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52;p2">
              <a:extLst>
                <a:ext uri="{FF2B5EF4-FFF2-40B4-BE49-F238E27FC236}">
                  <a16:creationId xmlns:a16="http://schemas.microsoft.com/office/drawing/2014/main" id="{CA5CA980-4868-9D0D-1AF5-EBBB56BD674F}"/>
                </a:ext>
              </a:extLst>
            </p:cNvPr>
            <p:cNvSpPr/>
            <p:nvPr/>
          </p:nvSpPr>
          <p:spPr>
            <a:xfrm>
              <a:off x="1652432" y="4145833"/>
              <a:ext cx="920262" cy="4154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</a:t>
              </a:r>
              <a:r>
                <a:rPr lang="es-ES" sz="105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Command</a:t>
              </a:r>
              <a:r>
                <a:rPr lang="es-ES" sz="10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&gt;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Formulario</a:t>
              </a:r>
              <a:endParaRPr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" name="Google Shape;58;p2">
            <a:extLst>
              <a:ext uri="{FF2B5EF4-FFF2-40B4-BE49-F238E27FC236}">
                <a16:creationId xmlns:a16="http://schemas.microsoft.com/office/drawing/2014/main" id="{C9E7F10E-A6EB-D820-8D6C-31E898A70D1A}"/>
              </a:ext>
            </a:extLst>
          </p:cNvPr>
          <p:cNvSpPr/>
          <p:nvPr/>
        </p:nvSpPr>
        <p:spPr>
          <a:xfrm>
            <a:off x="3398783" y="2506270"/>
            <a:ext cx="84015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59;p2">
            <a:extLst>
              <a:ext uri="{FF2B5EF4-FFF2-40B4-BE49-F238E27FC236}">
                <a16:creationId xmlns:a16="http://schemas.microsoft.com/office/drawing/2014/main" id="{1F1630CC-1425-B397-61E6-CE9F97411B51}"/>
              </a:ext>
            </a:extLst>
          </p:cNvPr>
          <p:cNvCxnSpPr/>
          <p:nvPr/>
        </p:nvCxnSpPr>
        <p:spPr>
          <a:xfrm>
            <a:off x="3455186" y="2848672"/>
            <a:ext cx="80329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21" name="Google Shape;60;p2">
            <a:extLst>
              <a:ext uri="{FF2B5EF4-FFF2-40B4-BE49-F238E27FC236}">
                <a16:creationId xmlns:a16="http://schemas.microsoft.com/office/drawing/2014/main" id="{717C832C-380A-C130-FB59-4BACE34C6E3A}"/>
              </a:ext>
            </a:extLst>
          </p:cNvPr>
          <p:cNvCxnSpPr/>
          <p:nvPr/>
        </p:nvCxnSpPr>
        <p:spPr>
          <a:xfrm>
            <a:off x="3455186" y="3001072"/>
            <a:ext cx="80329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22" name="Google Shape;61;p2">
            <a:extLst>
              <a:ext uri="{FF2B5EF4-FFF2-40B4-BE49-F238E27FC236}">
                <a16:creationId xmlns:a16="http://schemas.microsoft.com/office/drawing/2014/main" id="{D9F4E3FF-0E21-51CA-687F-6C0A8FEB2040}"/>
              </a:ext>
            </a:extLst>
          </p:cNvPr>
          <p:cNvCxnSpPr/>
          <p:nvPr/>
        </p:nvCxnSpPr>
        <p:spPr>
          <a:xfrm>
            <a:off x="3455186" y="3153472"/>
            <a:ext cx="80329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23" name="Google Shape;62;p2">
            <a:extLst>
              <a:ext uri="{FF2B5EF4-FFF2-40B4-BE49-F238E27FC236}">
                <a16:creationId xmlns:a16="http://schemas.microsoft.com/office/drawing/2014/main" id="{BA883B5D-0012-B07F-8DEA-D5ED9C7758A1}"/>
              </a:ext>
            </a:extLst>
          </p:cNvPr>
          <p:cNvSpPr/>
          <p:nvPr/>
        </p:nvSpPr>
        <p:spPr>
          <a:xfrm>
            <a:off x="5068883" y="2347970"/>
            <a:ext cx="1000369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&lt;@Controller&gt;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63;p2">
            <a:extLst>
              <a:ext uri="{FF2B5EF4-FFF2-40B4-BE49-F238E27FC236}">
                <a16:creationId xmlns:a16="http://schemas.microsoft.com/office/drawing/2014/main" id="{8014A62C-40B1-6C82-EDC7-B293BDA505D2}"/>
              </a:ext>
            </a:extLst>
          </p:cNvPr>
          <p:cNvSpPr/>
          <p:nvPr/>
        </p:nvSpPr>
        <p:spPr>
          <a:xfrm>
            <a:off x="4784393" y="3067934"/>
            <a:ext cx="156934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&lt;@</a:t>
            </a:r>
            <a:r>
              <a:rPr lang="es-ES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RequestMapping</a:t>
            </a:r>
            <a:r>
              <a:rPr lang="es-E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64;p2">
            <a:extLst>
              <a:ext uri="{FF2B5EF4-FFF2-40B4-BE49-F238E27FC236}">
                <a16:creationId xmlns:a16="http://schemas.microsoft.com/office/drawing/2014/main" id="{D792917C-8E98-842E-4837-E4A62EA67EFA}"/>
              </a:ext>
            </a:extLst>
          </p:cNvPr>
          <p:cNvSpPr/>
          <p:nvPr/>
        </p:nvSpPr>
        <p:spPr>
          <a:xfrm>
            <a:off x="4784393" y="3630870"/>
            <a:ext cx="156934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&lt;@RequestMapping&gt;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Formulario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42;p2">
            <a:extLst>
              <a:ext uri="{FF2B5EF4-FFF2-40B4-BE49-F238E27FC236}">
                <a16:creationId xmlns:a16="http://schemas.microsoft.com/office/drawing/2014/main" id="{92BA34CB-56E1-5B9E-E85B-36E1F59D000E}"/>
              </a:ext>
            </a:extLst>
          </p:cNvPr>
          <p:cNvSpPr txBox="1"/>
          <p:nvPr/>
        </p:nvSpPr>
        <p:spPr>
          <a:xfrm>
            <a:off x="1578189" y="4926211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Spring MVC Anotaciones (II) - Arquitectura Java</a:t>
            </a:r>
            <a:endParaRPr sz="10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https://</a:t>
            </a:r>
            <a:r>
              <a:rPr lang="es-ES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www.arquitecturajava.com</a:t>
            </a: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s-ES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spring</a:t>
            </a: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s-ES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mvc</a:t>
            </a: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-y-anotaciones-</a:t>
            </a:r>
            <a:r>
              <a:rPr lang="es-ES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10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78323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EFICIENCIA</a:t>
            </a:r>
            <a:endParaRPr lang="es-ES" sz="16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29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/>
        </p:nvSpPr>
        <p:spPr>
          <a:xfrm>
            <a:off x="507048" y="920942"/>
            <a:ext cx="81153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ES" sz="1600" b="1" dirty="0">
                <a:solidFill>
                  <a:schemeClr val="tx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EFICIENCIA</a:t>
            </a: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1F3091F8-A461-9D47-8F8F-8F2C85F721BA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 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387E1289-A0EB-8711-CDC4-7341B881A606}"/>
              </a:ext>
            </a:extLst>
          </p:cNvPr>
          <p:cNvGrpSpPr/>
          <p:nvPr/>
        </p:nvGrpSpPr>
        <p:grpSpPr>
          <a:xfrm>
            <a:off x="611560" y="1485554"/>
            <a:ext cx="7156998" cy="738664"/>
            <a:chOff x="645704" y="2802636"/>
            <a:chExt cx="7156998" cy="738664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9DBB9B2-53AA-7497-BFE2-4CDD43D1B0E5}"/>
                </a:ext>
              </a:extLst>
            </p:cNvPr>
            <p:cNvSpPr/>
            <p:nvPr/>
          </p:nvSpPr>
          <p:spPr>
            <a:xfrm>
              <a:off x="936445" y="2802636"/>
              <a:ext cx="6866257" cy="73866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600" b="1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REDUCCIÓN DE CÓDIGO BOILERPLATE: </a:t>
              </a:r>
              <a:endParaRPr lang="es-ES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</a:pPr>
              <a:r>
                <a:rPr lang="es-ES" sz="16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Las anotaciones </a:t>
              </a:r>
              <a:r>
                <a:rPr lang="es-ES" sz="16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reducen la cantidad de código repetitivo y verboso </a:t>
              </a:r>
              <a:r>
                <a:rPr lang="es-ES" sz="16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que se necesita para configurar los componentes de la aplicación.</a:t>
              </a:r>
            </a:p>
          </p:txBody>
        </p:sp>
        <p:sp>
          <p:nvSpPr>
            <p:cNvPr id="7" name="Más 6">
              <a:extLst>
                <a:ext uri="{FF2B5EF4-FFF2-40B4-BE49-F238E27FC236}">
                  <a16:creationId xmlns:a16="http://schemas.microsoft.com/office/drawing/2014/main" id="{34904856-8BAE-CDF3-4F4E-7251334345A8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79C3561-0499-4257-060C-3716990149B9}"/>
              </a:ext>
            </a:extLst>
          </p:cNvPr>
          <p:cNvCxnSpPr>
            <a:cxnSpLocks/>
          </p:cNvCxnSpPr>
          <p:nvPr/>
        </p:nvCxnSpPr>
        <p:spPr>
          <a:xfrm>
            <a:off x="683568" y="1689542"/>
            <a:ext cx="0" cy="846189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o 8">
            <a:extLst>
              <a:ext uri="{FF2B5EF4-FFF2-40B4-BE49-F238E27FC236}">
                <a16:creationId xmlns:a16="http://schemas.microsoft.com/office/drawing/2014/main" id="{3A8955E5-C0D6-0C4E-8B3C-DCCB84916E8E}"/>
              </a:ext>
            </a:extLst>
          </p:cNvPr>
          <p:cNvGrpSpPr/>
          <p:nvPr/>
        </p:nvGrpSpPr>
        <p:grpSpPr>
          <a:xfrm>
            <a:off x="611560" y="2565424"/>
            <a:ext cx="7647536" cy="984885"/>
            <a:chOff x="645704" y="2802636"/>
            <a:chExt cx="7647536" cy="984885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D617B54D-1C4D-1B8D-E2D6-7564DFD347BF}"/>
                </a:ext>
              </a:extLst>
            </p:cNvPr>
            <p:cNvSpPr/>
            <p:nvPr/>
          </p:nvSpPr>
          <p:spPr>
            <a:xfrm>
              <a:off x="936445" y="2802636"/>
              <a:ext cx="7356795" cy="98488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600" b="1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FACILIDAD DE MANTENIMIENTO: </a:t>
              </a:r>
              <a:endParaRPr lang="es-ES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</a:pPr>
              <a:r>
                <a:rPr lang="es-ES" sz="16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Al tener la configuración directamente en el código, los desarrolladores pueden </a:t>
              </a:r>
              <a:r>
                <a:rPr lang="es-ES" sz="16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comprender y modificar las configuraciones más rápidamente</a:t>
              </a:r>
              <a:r>
                <a:rPr lang="es-ES" sz="16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, lo que mejora la eficiencia del desarrollo.</a:t>
              </a:r>
            </a:p>
          </p:txBody>
        </p:sp>
        <p:sp>
          <p:nvSpPr>
            <p:cNvPr id="11" name="Más 10">
              <a:extLst>
                <a:ext uri="{FF2B5EF4-FFF2-40B4-BE49-F238E27FC236}">
                  <a16:creationId xmlns:a16="http://schemas.microsoft.com/office/drawing/2014/main" id="{F4C386F9-8E21-9C5D-34D8-5C5D9A61677A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50C2FBE9-EB93-C996-16E4-3F8096B19CA0}"/>
              </a:ext>
            </a:extLst>
          </p:cNvPr>
          <p:cNvGrpSpPr/>
          <p:nvPr/>
        </p:nvGrpSpPr>
        <p:grpSpPr>
          <a:xfrm>
            <a:off x="611560" y="3891515"/>
            <a:ext cx="7647536" cy="738664"/>
            <a:chOff x="645704" y="2802636"/>
            <a:chExt cx="7647536" cy="738664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01F1829A-2D5C-191F-68D9-B0952D022458}"/>
                </a:ext>
              </a:extLst>
            </p:cNvPr>
            <p:cNvSpPr/>
            <p:nvPr/>
          </p:nvSpPr>
          <p:spPr>
            <a:xfrm>
              <a:off x="936445" y="2802636"/>
              <a:ext cx="7356795" cy="73866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600" b="1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FLEXIBILIDAD: </a:t>
              </a:r>
              <a:endParaRPr lang="es-ES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</a:pPr>
              <a:r>
                <a:rPr lang="es-ES" sz="16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Las anotaciones permiten una mayor flexibilidad en la configuración de los </a:t>
              </a:r>
              <a:r>
                <a:rPr lang="es-ES" sz="1600" dirty="0" err="1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beans</a:t>
              </a:r>
              <a:r>
                <a:rPr lang="es-ES" sz="16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s-ES" sz="16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permitiendo cambios rápidos y ágiles.</a:t>
              </a:r>
              <a:endPara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Más 13">
              <a:extLst>
                <a:ext uri="{FF2B5EF4-FFF2-40B4-BE49-F238E27FC236}">
                  <a16:creationId xmlns:a16="http://schemas.microsoft.com/office/drawing/2014/main" id="{E0940982-4507-8B44-CDB0-B587787BF7F0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DA054423-73C9-7D33-E3B4-863C9AD35296}"/>
              </a:ext>
            </a:extLst>
          </p:cNvPr>
          <p:cNvCxnSpPr>
            <a:cxnSpLocks/>
          </p:cNvCxnSpPr>
          <p:nvPr/>
        </p:nvCxnSpPr>
        <p:spPr>
          <a:xfrm>
            <a:off x="683568" y="2782641"/>
            <a:ext cx="0" cy="1059376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395785" y="805351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1A7DADA-DEE1-9E15-EB3C-67BF0E88AB16}"/>
              </a:ext>
            </a:extLst>
          </p:cNvPr>
          <p:cNvSpPr/>
          <p:nvPr/>
        </p:nvSpPr>
        <p:spPr>
          <a:xfrm>
            <a:off x="509864" y="3836504"/>
            <a:ext cx="8172450" cy="139748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7" name="Google Shape;87;p5"/>
          <p:cNvSpPr txBox="1"/>
          <p:nvPr/>
        </p:nvSpPr>
        <p:spPr>
          <a:xfrm>
            <a:off x="507048" y="920942"/>
            <a:ext cx="8326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ES" sz="1600" b="1" dirty="0">
                <a:solidFill>
                  <a:schemeClr val="tx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RECONOCIMIENTO DE SPRING FRAMEWORK</a:t>
            </a:r>
            <a:endParaRPr lang="es-ES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5"/>
          <p:cNvPicPr preferRelativeResize="0"/>
          <p:nvPr/>
        </p:nvPicPr>
        <p:blipFill rotWithShape="1">
          <a:blip r:embed="rId3">
            <a:alphaModFix/>
          </a:blip>
          <a:srcRect t="8354"/>
          <a:stretch/>
        </p:blipFill>
        <p:spPr>
          <a:xfrm>
            <a:off x="2103681" y="3916018"/>
            <a:ext cx="4936639" cy="12583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EB03531C-B247-4D40-786E-C91CD21D089F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 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62CF8A41-A127-2A59-8D23-34B2EA0674D7}"/>
              </a:ext>
            </a:extLst>
          </p:cNvPr>
          <p:cNvGrpSpPr/>
          <p:nvPr/>
        </p:nvGrpSpPr>
        <p:grpSpPr>
          <a:xfrm>
            <a:off x="611560" y="1362610"/>
            <a:ext cx="7647536" cy="646331"/>
            <a:chOff x="645704" y="2802636"/>
            <a:chExt cx="7647536" cy="646331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5951570-7B06-64C1-B671-F3D920AC4472}"/>
                </a:ext>
              </a:extLst>
            </p:cNvPr>
            <p:cNvSpPr/>
            <p:nvPr/>
          </p:nvSpPr>
          <p:spPr>
            <a:xfrm>
              <a:off x="936445" y="2802636"/>
              <a:ext cx="7356795" cy="6463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400" b="1" dirty="0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ADOPCIÓN AMPLIA:</a:t>
              </a: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4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La </a:t>
              </a:r>
              <a:r>
                <a:rPr lang="es-ES" sz="14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facilidad y eficiencia </a:t>
              </a:r>
              <a:r>
                <a:rPr lang="es-ES" sz="14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proporcionadas por las anotaciones han sido un factor clave en la adopción masiva de Spring Framework en la industria.</a:t>
              </a:r>
            </a:p>
          </p:txBody>
        </p:sp>
        <p:sp>
          <p:nvSpPr>
            <p:cNvPr id="7" name="Más 6">
              <a:extLst>
                <a:ext uri="{FF2B5EF4-FFF2-40B4-BE49-F238E27FC236}">
                  <a16:creationId xmlns:a16="http://schemas.microsoft.com/office/drawing/2014/main" id="{70452F98-AF74-D082-5C2B-4A06F30B7260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3071FFB-FF8E-63AE-28E0-FD21AE9B8573}"/>
              </a:ext>
            </a:extLst>
          </p:cNvPr>
          <p:cNvCxnSpPr>
            <a:cxnSpLocks/>
          </p:cNvCxnSpPr>
          <p:nvPr/>
        </p:nvCxnSpPr>
        <p:spPr>
          <a:xfrm>
            <a:off x="683568" y="1558914"/>
            <a:ext cx="0" cy="592615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o 8">
            <a:extLst>
              <a:ext uri="{FF2B5EF4-FFF2-40B4-BE49-F238E27FC236}">
                <a16:creationId xmlns:a16="http://schemas.microsoft.com/office/drawing/2014/main" id="{EB3DB642-9F41-FC91-1362-813129177EEC}"/>
              </a:ext>
            </a:extLst>
          </p:cNvPr>
          <p:cNvGrpSpPr/>
          <p:nvPr/>
        </p:nvGrpSpPr>
        <p:grpSpPr>
          <a:xfrm>
            <a:off x="611560" y="2188322"/>
            <a:ext cx="7647536" cy="646331"/>
            <a:chOff x="645704" y="2802636"/>
            <a:chExt cx="7647536" cy="646331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D850B13D-C6AC-2FC8-E1D2-7873FC812CD5}"/>
                </a:ext>
              </a:extLst>
            </p:cNvPr>
            <p:cNvSpPr/>
            <p:nvPr/>
          </p:nvSpPr>
          <p:spPr>
            <a:xfrm>
              <a:off x="936445" y="2802636"/>
              <a:ext cx="7356795" cy="6463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400" b="1" dirty="0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POPULARIDAD:</a:t>
              </a: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4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Gracias a estas características, Spring se ha convertido en uno de los </a:t>
              </a:r>
              <a:r>
                <a:rPr lang="es-ES" sz="1400" dirty="0" err="1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frameworks</a:t>
              </a:r>
              <a:r>
                <a:rPr lang="es-ES" sz="14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 más populares para el desarrollo de aplicaciones empresariales en Java.</a:t>
              </a:r>
            </a:p>
          </p:txBody>
        </p:sp>
        <p:sp>
          <p:nvSpPr>
            <p:cNvPr id="11" name="Más 10">
              <a:extLst>
                <a:ext uri="{FF2B5EF4-FFF2-40B4-BE49-F238E27FC236}">
                  <a16:creationId xmlns:a16="http://schemas.microsoft.com/office/drawing/2014/main" id="{E61B3EA9-E83B-83E5-7085-8F6FB6E0DFA2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73420B5-5B14-ACDC-937D-A2C908697826}"/>
              </a:ext>
            </a:extLst>
          </p:cNvPr>
          <p:cNvGrpSpPr/>
          <p:nvPr/>
        </p:nvGrpSpPr>
        <p:grpSpPr>
          <a:xfrm>
            <a:off x="611560" y="3014033"/>
            <a:ext cx="7647536" cy="646331"/>
            <a:chOff x="645704" y="2802636"/>
            <a:chExt cx="7647536" cy="646331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3AF801CE-493E-8277-9AB0-E0535619D207}"/>
                </a:ext>
              </a:extLst>
            </p:cNvPr>
            <p:cNvSpPr/>
            <p:nvPr/>
          </p:nvSpPr>
          <p:spPr>
            <a:xfrm>
              <a:off x="936445" y="2802636"/>
              <a:ext cx="7356795" cy="6463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400" b="1" dirty="0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CASOS DE ÉXITO:</a:t>
              </a: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4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Empresas de todo el mundo utilizan Spring Framework para desarrollar aplicaciones robustas y escalables, y las anotaciones juegan un papel crucial en esta adopción.</a:t>
              </a:r>
              <a:endParaRPr lang="es-ES" sz="1400" i="0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Más 13">
              <a:extLst>
                <a:ext uri="{FF2B5EF4-FFF2-40B4-BE49-F238E27FC236}">
                  <a16:creationId xmlns:a16="http://schemas.microsoft.com/office/drawing/2014/main" id="{74B22DCF-1EE7-D9C8-2A9E-C861E1523D20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1204CE6-1CCD-1722-FE81-73BDA3D2A9C2}"/>
              </a:ext>
            </a:extLst>
          </p:cNvPr>
          <p:cNvCxnSpPr>
            <a:cxnSpLocks/>
          </p:cNvCxnSpPr>
          <p:nvPr/>
        </p:nvCxnSpPr>
        <p:spPr>
          <a:xfrm>
            <a:off x="683568" y="2391864"/>
            <a:ext cx="0" cy="592615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080317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panose="020B0503030202060203" pitchFamily="34" charset="77"/>
                <a:ea typeface="Graphik Bold" charset="0"/>
                <a:cs typeface="Graphik Bold" charset="0"/>
              </a:rPr>
              <a:t>RECONOCIMIENTO DE </a:t>
            </a: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SPRING FRAMEWORK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91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281BC208-2360-7F36-A1E7-3C10F216D992}"/>
              </a:ext>
            </a:extLst>
          </p:cNvPr>
          <p:cNvSpPr/>
          <p:nvPr/>
        </p:nvSpPr>
        <p:spPr>
          <a:xfrm>
            <a:off x="509864" y="3558209"/>
            <a:ext cx="8172450" cy="1675779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1" name="Google Shape;101;p7"/>
          <p:cNvSpPr txBox="1"/>
          <p:nvPr/>
        </p:nvSpPr>
        <p:spPr>
          <a:xfrm>
            <a:off x="507048" y="920942"/>
            <a:ext cx="7292246" cy="2539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PRINCIPALES ANOTACIONES EN SPRING</a:t>
            </a:r>
            <a:endParaRPr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b="1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s-ES" sz="1600" b="1" i="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r>
              <a:rPr lang="es-ES" sz="1600" b="1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600" b="0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Marca una clase como un </a:t>
            </a:r>
            <a:r>
              <a:rPr lang="es-ES" sz="16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bean</a:t>
            </a:r>
            <a:r>
              <a:rPr lang="es-ES" sz="1600" b="0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gestionado por Spring.</a:t>
            </a: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b="1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s-ES" sz="1600" b="1" i="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r>
              <a:rPr lang="es-ES" sz="1600" b="1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600" b="0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Especialización de @</a:t>
            </a:r>
            <a:r>
              <a:rPr lang="es-ES" sz="16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r>
              <a:rPr lang="es-ES" sz="1600" b="0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para la capa de servicio.</a:t>
            </a: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b="1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s-ES" sz="1600" b="1" i="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r>
              <a:rPr lang="es-ES" sz="1600" b="0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Especialización de @</a:t>
            </a:r>
            <a:r>
              <a:rPr lang="es-ES" sz="16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r>
              <a:rPr lang="es-ES" sz="1600" b="0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para la capa de persistencia.</a:t>
            </a: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b="1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s-ES" sz="1600" b="1" i="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r>
              <a:rPr lang="es-ES" sz="1600" b="1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600" b="0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Especialización de @</a:t>
            </a:r>
            <a:r>
              <a:rPr lang="es-ES" sz="16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r>
              <a:rPr lang="es-ES" sz="1600" b="0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para la capa web.</a:t>
            </a:r>
            <a:endParaRPr sz="1600" dirty="0">
              <a:solidFill>
                <a:schemeClr val="tx1"/>
              </a:solidFill>
            </a:endParaRPr>
          </a:p>
          <a:p>
            <a:pPr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ES" sz="1600" b="0" i="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103" name="Google Shape;103;p7"/>
          <p:cNvPicPr preferRelativeResize="0"/>
          <p:nvPr/>
        </p:nvPicPr>
        <p:blipFill rotWithShape="1">
          <a:blip r:embed="rId3">
            <a:alphaModFix/>
          </a:blip>
          <a:srcRect t="13013" r="48663" b="7688"/>
          <a:stretch/>
        </p:blipFill>
        <p:spPr>
          <a:xfrm>
            <a:off x="1721340" y="3763618"/>
            <a:ext cx="5701321" cy="12920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66871AB5-D48F-7C31-3307-47672CA4572B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RECONOCIMIENTO DE SPRING FRAMEWORK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A06730C-7C17-114A-0524-7EC86232CD19}"/>
              </a:ext>
            </a:extLst>
          </p:cNvPr>
          <p:cNvSpPr/>
          <p:nvPr/>
        </p:nvSpPr>
        <p:spPr>
          <a:xfrm>
            <a:off x="509864" y="3127519"/>
            <a:ext cx="8172450" cy="1675779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0" name="Google Shape;110;p8"/>
          <p:cNvSpPr txBox="1"/>
          <p:nvPr/>
        </p:nvSpPr>
        <p:spPr>
          <a:xfrm>
            <a:off x="507048" y="920942"/>
            <a:ext cx="8078134" cy="208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t" anchorCtr="0">
            <a:spAutoFit/>
          </a:bodyPr>
          <a:lstStyle/>
          <a:p>
            <a:pPr marR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ANOTACIONES PARA LA INYECCIÓN DE DEPENDENCIAS</a:t>
            </a:r>
            <a:endParaRPr lang="es-ES" sz="1600" b="1" i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1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s-ES" sz="16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Autowired</a:t>
            </a:r>
            <a:r>
              <a:rPr lang="es-E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Inyecta automáticamente las dependencias.</a:t>
            </a:r>
            <a:endParaRPr sz="1600" dirty="0"/>
          </a:p>
          <a:p>
            <a:pPr marL="182563" marR="0" lvl="1" indent="-18256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1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s-ES" sz="16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Qualifier</a:t>
            </a:r>
            <a:r>
              <a:rPr lang="es-E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Desambigua entre múltiples </a:t>
            </a:r>
            <a:r>
              <a:rPr lang="es-ES" sz="16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beans</a:t>
            </a:r>
            <a:r>
              <a:rPr lang="es-E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mismo tipo.</a:t>
            </a:r>
            <a:endParaRPr sz="1600" dirty="0"/>
          </a:p>
          <a:p>
            <a:pPr marL="182563" marR="0" lvl="1" indent="-18256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1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s-ES" sz="16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</a:t>
            </a:r>
            <a:r>
              <a:rPr lang="es-E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JSR-250, similar a @</a:t>
            </a:r>
            <a:r>
              <a:rPr lang="es-ES" sz="16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Autowired</a:t>
            </a:r>
            <a:r>
              <a:rPr lang="es-E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R="0" lvl="1" indent="0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1600" dirty="0"/>
          </a:p>
        </p:txBody>
      </p:sp>
      <p:pic>
        <p:nvPicPr>
          <p:cNvPr id="111" name="Google Shape;111;p8"/>
          <p:cNvPicPr preferRelativeResize="0"/>
          <p:nvPr/>
        </p:nvPicPr>
        <p:blipFill rotWithShape="1">
          <a:blip r:embed="rId3">
            <a:alphaModFix/>
          </a:blip>
          <a:srcRect r="20557"/>
          <a:stretch/>
        </p:blipFill>
        <p:spPr>
          <a:xfrm>
            <a:off x="1379761" y="3391655"/>
            <a:ext cx="6384478" cy="10650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BF3AE118-5CCC-4504-7AAF-13A9BDABB138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RECONOCIMIENTO DE SPRING FRAMEWORK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264CD75-D4AD-1B99-1121-1A0027D02B25}"/>
              </a:ext>
            </a:extLst>
          </p:cNvPr>
          <p:cNvSpPr/>
          <p:nvPr/>
        </p:nvSpPr>
        <p:spPr>
          <a:xfrm>
            <a:off x="509864" y="3127519"/>
            <a:ext cx="8172450" cy="2106469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8" name="Google Shape;118;p9"/>
          <p:cNvSpPr txBox="1"/>
          <p:nvPr/>
        </p:nvSpPr>
        <p:spPr>
          <a:xfrm>
            <a:off x="507048" y="920942"/>
            <a:ext cx="8087700" cy="204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ANOTACIONES PARA LA CONFIGURACIÓN</a:t>
            </a:r>
          </a:p>
          <a:p>
            <a:pPr marL="182563" marR="0" lvl="1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s-ES" sz="1600" b="1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Configuration</a:t>
            </a:r>
            <a:r>
              <a:rPr lang="es-E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Indica que una clase contiene definiciones de </a:t>
            </a:r>
            <a:r>
              <a:rPr lang="es-ES" sz="1600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beans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1" indent="-18256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sz="16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1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s-ES" sz="1600" b="1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Bean</a:t>
            </a:r>
            <a:r>
              <a:rPr lang="es-E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Define un </a:t>
            </a:r>
            <a:r>
              <a:rPr lang="es-ES" sz="1600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bean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gestionado por Spring.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1" indent="-18256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sz="16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1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s-ES" sz="1600" b="1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PropertySource</a:t>
            </a:r>
            <a:r>
              <a:rPr lang="es-E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Especifica la ubicación de archivos de propiedades.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1" indent="-2413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9"/>
          <p:cNvPicPr preferRelativeResize="0"/>
          <p:nvPr/>
        </p:nvPicPr>
        <p:blipFill rotWithShape="1">
          <a:blip r:embed="rId3">
            <a:alphaModFix/>
          </a:blip>
          <a:srcRect t="8582" b="4914"/>
          <a:stretch/>
        </p:blipFill>
        <p:spPr>
          <a:xfrm>
            <a:off x="1188896" y="3260036"/>
            <a:ext cx="6779460" cy="18553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E6F87AA3-73CD-C085-AD5D-F21A0F69B193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RECONOCIMIENTO DE SPRING FRAMEWORK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B84A2303-796B-A80E-CE6E-20A7A7A7BF2B}"/>
              </a:ext>
            </a:extLst>
          </p:cNvPr>
          <p:cNvSpPr/>
          <p:nvPr/>
        </p:nvSpPr>
        <p:spPr>
          <a:xfrm>
            <a:off x="509864" y="2319137"/>
            <a:ext cx="8172450" cy="2106469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6" name="Google Shape;126;p10"/>
          <p:cNvSpPr txBox="1"/>
          <p:nvPr/>
        </p:nvSpPr>
        <p:spPr>
          <a:xfrm>
            <a:off x="507048" y="920942"/>
            <a:ext cx="8289384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ANOTACIONES PARA LA GESTIÓN DE TRANSACCIONES</a:t>
            </a:r>
          </a:p>
          <a:p>
            <a:pPr marL="182563" marR="0" lvl="1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s-ES" sz="16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Transactional</a:t>
            </a:r>
            <a:r>
              <a:rPr lang="es-E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 transacciones de manera declarativa</a:t>
            </a:r>
            <a:r>
              <a:rPr lang="es-E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1" indent="-2413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dirty="0"/>
          </a:p>
        </p:txBody>
      </p:sp>
      <p:pic>
        <p:nvPicPr>
          <p:cNvPr id="127" name="Google Shape;127;p10"/>
          <p:cNvPicPr preferRelativeResize="0"/>
          <p:nvPr/>
        </p:nvPicPr>
        <p:blipFill rotWithShape="1">
          <a:blip r:embed="rId3">
            <a:alphaModFix/>
          </a:blip>
          <a:srcRect r="29737"/>
          <a:stretch/>
        </p:blipFill>
        <p:spPr>
          <a:xfrm>
            <a:off x="1583633" y="2557671"/>
            <a:ext cx="5976735" cy="15676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E5856293-C087-1151-132E-F0CA16804A1E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RECONOCIMIENTO DE SPRING FRAMEWORK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D046B1AC-ED7F-8648-ECC9-DCFE7B4A1609}"/>
              </a:ext>
            </a:extLst>
          </p:cNvPr>
          <p:cNvSpPr/>
          <p:nvPr/>
        </p:nvSpPr>
        <p:spPr>
          <a:xfrm>
            <a:off x="509864" y="2319137"/>
            <a:ext cx="8172450" cy="2106469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4" name="Google Shape;134;p11"/>
          <p:cNvSpPr txBox="1"/>
          <p:nvPr/>
        </p:nvSpPr>
        <p:spPr>
          <a:xfrm>
            <a:off x="507048" y="920942"/>
            <a:ext cx="828930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 PRÁCTICO: CONFIGURACIÓN CON ANOTACIONES</a:t>
            </a:r>
          </a:p>
          <a:p>
            <a:pPr marL="182563" marR="0" lvl="1" indent="-182563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 de configuración de </a:t>
            </a:r>
            <a:r>
              <a:rPr lang="es-ES" sz="1600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beans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utilizando  @</a:t>
            </a:r>
            <a:r>
              <a:rPr lang="es-ES" sz="1600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Configuration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y @</a:t>
            </a:r>
            <a:r>
              <a:rPr lang="es-ES" sz="1600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Bean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1" indent="0" rtl="0">
              <a:spcBef>
                <a:spcPts val="0"/>
              </a:spcBef>
              <a:spcAft>
                <a:spcPts val="0"/>
              </a:spcAft>
              <a:buNone/>
            </a:pPr>
            <a:endParaRPr sz="16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3">
            <a:alphaModFix/>
          </a:blip>
          <a:srcRect t="8573" r="13565" b="3020"/>
          <a:stretch/>
        </p:blipFill>
        <p:spPr>
          <a:xfrm>
            <a:off x="1823929" y="2431774"/>
            <a:ext cx="5496143" cy="19083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1A4A552B-7603-B35B-4A33-4ED56269E9AB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RECONOCIMIENTO DE SPRING FRAMEWORK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6BAB9FD2-A9F5-EC9C-0D04-7897FF98C53D}"/>
              </a:ext>
            </a:extLst>
          </p:cNvPr>
          <p:cNvSpPr/>
          <p:nvPr/>
        </p:nvSpPr>
        <p:spPr>
          <a:xfrm>
            <a:off x="509864" y="2319137"/>
            <a:ext cx="8172450" cy="2106469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2" name="Google Shape;142;p12"/>
          <p:cNvSpPr txBox="1"/>
          <p:nvPr/>
        </p:nvSpPr>
        <p:spPr>
          <a:xfrm>
            <a:off x="507048" y="920942"/>
            <a:ext cx="8289300" cy="56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 PRÁCTICO: </a:t>
            </a:r>
            <a:endParaRPr lang="es-ES"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Inyección de Dependencias con @</a:t>
            </a:r>
            <a:r>
              <a:rPr lang="es-ES" sz="1600" b="1" i="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Autowired</a:t>
            </a:r>
            <a:endParaRPr sz="16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1848" y="2402527"/>
            <a:ext cx="6104153" cy="181588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45CCB46A-580B-B24B-C345-2FA6528C3CA9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RECONOCIMIENTO DE SPRING FRAMEWORK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A495D6D-73E7-D64C-AD5A-8212D6B1E2F3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82CC9F8-A9FF-BF41-B987-57AFB7D160FE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  <a:ea typeface="Graphik Bold" charset="0"/>
                  <a:cs typeface="Graphik Bold" charset="0"/>
                </a:rPr>
                <a:t>MÁS REFERENCIAS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CD7628C-6304-5D4B-BA7D-591238143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5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object 7"/>
          <p:cNvSpPr txBox="1"/>
          <p:nvPr/>
        </p:nvSpPr>
        <p:spPr>
          <a:xfrm>
            <a:off x="1279545" y="912813"/>
            <a:ext cx="5616555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Eficiencia Mejorada: El uso de anotaciones en Spring Framework simplifica significativamente la configuración y gestión de componentes, reduciendo el código boilerplate y mejorando la eficiencia del desarrollo.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Mantenibilidad: La configuración basada en anotaciones es más fácil de mantener y modificar, permitiendo a los desarrolladores realizar cambios rápidamente sin necesidad de navegar a través de largos archivos XML.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Flexibilidad: Las anotaciones ofrecen una mayor flexibilidad, permitiendo configuraciones más dinámicas y adaptables a las necesidades cambiantes del proyecto.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Popularidad y Adopción: Las ventajas del uso de anotaciones han contribuido al reconocimiento y adopción generalizada de Spring Framework en la industria del desarrollo de software, destacándose como una herramienta robusta y eficiente para el desarrollo de aplicaciones empresariales.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54885"/>
            <a:ext cx="114138" cy="117546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1813190"/>
            <a:ext cx="114138" cy="117546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8772"/>
            <a:ext cx="1690689" cy="2185216"/>
          </a:xfrm>
          <a:prstGeom prst="rect">
            <a:avLst/>
          </a:prstGeom>
        </p:spPr>
      </p:pic>
      <p:sp>
        <p:nvSpPr>
          <p:cNvPr id="9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DF0820-D90F-117C-2F91-70CF58CD5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2664336"/>
            <a:ext cx="114138" cy="11754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624FFA1-C960-FCBA-BBA9-F1BB657BE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3520812"/>
            <a:ext cx="114138" cy="11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8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9F27E8-E0F0-CF48-B2E7-A2617B9B1DEA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BIBLIOGRAFÍA</a:t>
            </a:r>
            <a:b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</a:br>
            <a:r>
              <a: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MÁS REFERENCIAS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970"/>
            <a:ext cx="2072061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7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" name="object 7"/>
          <p:cNvSpPr txBox="1"/>
          <p:nvPr/>
        </p:nvSpPr>
        <p:spPr>
          <a:xfrm>
            <a:off x="1279009" y="917823"/>
            <a:ext cx="477432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Sierra, K., &amp; Bates, B. OCA/OCP Java SE 7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Programmer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I y II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Study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Guide (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Exams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1Z0-803 y 1Z0-804).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Professional Java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for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Web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Applications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Spring Framework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Documentation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: https://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spring.io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projects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spring-framework</a:t>
            </a:r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endParaRPr lang="es-PE" sz="1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959114"/>
            <a:ext cx="103867" cy="10696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0016DFD-D096-A245-9591-9C15FD675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1620119"/>
            <a:ext cx="103867" cy="106967"/>
          </a:xfrm>
          <a:prstGeom prst="rect">
            <a:avLst/>
          </a:prstGeom>
        </p:spPr>
      </p:pic>
      <p:sp>
        <p:nvSpPr>
          <p:cNvPr id="19" name="Rectángulo 18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3036889"/>
            <a:ext cx="1690688" cy="219710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BIBLIOGRAFÍA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16E788F-921F-2BBC-6BCA-702AE6466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2042552"/>
            <a:ext cx="103867" cy="1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0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theme/theme1.xml><?xml version="1.0" encoding="utf-8"?>
<a:theme xmlns:a="http://schemas.openxmlformats.org/drawingml/2006/main" name="Office Theme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693</Words>
  <Application>Microsoft Office PowerPoint</Application>
  <PresentationFormat>Presentación en pantalla (16:10)</PresentationFormat>
  <Paragraphs>118</Paragraphs>
  <Slides>18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Arial</vt:lpstr>
      <vt:lpstr>Calibri</vt:lpstr>
      <vt:lpstr>Graphik Bold</vt:lpstr>
      <vt:lpstr>Graphik Medium</vt:lpstr>
      <vt:lpstr>Graphik Regular</vt:lpstr>
      <vt:lpstr>Graphik-Medium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Medalith Luzquiños Ancaya</cp:lastModifiedBy>
  <cp:revision>6</cp:revision>
  <dcterms:created xsi:type="dcterms:W3CDTF">2016-10-06T14:52:02Z</dcterms:created>
  <dcterms:modified xsi:type="dcterms:W3CDTF">2024-10-17T18:23:23Z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