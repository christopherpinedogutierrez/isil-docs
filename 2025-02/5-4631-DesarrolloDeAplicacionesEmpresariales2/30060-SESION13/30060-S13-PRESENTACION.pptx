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notesSlides/notesSlide16.xml" ContentType="application/vnd.openxmlformats-officedocument.presentationml.notesSlid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notesSlides/notesSlide18.xml" ContentType="application/vnd.openxmlformats-officedocument.presentationml.notesSlide+xml"/>
  <Override PartName="/ppt/tags/tag1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62" r:id="rId2"/>
    <p:sldId id="627" r:id="rId3"/>
    <p:sldId id="628" r:id="rId4"/>
    <p:sldId id="742" r:id="rId5"/>
    <p:sldId id="522" r:id="rId6"/>
    <p:sldId id="520" r:id="rId7"/>
    <p:sldId id="509" r:id="rId8"/>
    <p:sldId id="493" r:id="rId9"/>
    <p:sldId id="481" r:id="rId10"/>
    <p:sldId id="514" r:id="rId11"/>
    <p:sldId id="515" r:id="rId12"/>
    <p:sldId id="516" r:id="rId13"/>
    <p:sldId id="517" r:id="rId14"/>
    <p:sldId id="518" r:id="rId15"/>
    <p:sldId id="519" r:id="rId16"/>
    <p:sldId id="743" r:id="rId17"/>
    <p:sldId id="508" r:id="rId18"/>
    <p:sldId id="511" r:id="rId19"/>
    <p:sldId id="512" r:id="rId20"/>
    <p:sldId id="513" r:id="rId21"/>
    <p:sldId id="588" r:id="rId22"/>
    <p:sldId id="589" r:id="rId23"/>
    <p:sldId id="590" r:id="rId24"/>
    <p:sldId id="591" r:id="rId25"/>
    <p:sldId id="593" r:id="rId26"/>
  </p:sldIdLst>
  <p:sldSz cx="9144000" cy="5715000" type="screen16x10"/>
  <p:notesSz cx="6797675" cy="9926638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1EFF4"/>
    <a:srgbClr val="FFBFBF"/>
    <a:srgbClr val="BFBFFF"/>
    <a:srgbClr val="BEFFC0"/>
    <a:srgbClr val="654E97"/>
    <a:srgbClr val="558ED5"/>
    <a:srgbClr val="89A5FF"/>
    <a:srgbClr val="276B7D"/>
    <a:srgbClr val="48C2BB"/>
    <a:srgbClr val="1F8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 autoAdjust="0"/>
    <p:restoredTop sz="92277" autoAdjust="0"/>
  </p:normalViewPr>
  <p:slideViewPr>
    <p:cSldViewPr snapToGrid="0" snapToObjects="1" showGuides="1">
      <p:cViewPr varScale="1">
        <p:scale>
          <a:sx n="139" d="100"/>
          <a:sy n="139" d="100"/>
        </p:scale>
        <p:origin x="1528" y="176"/>
      </p:cViewPr>
      <p:guideLst>
        <p:guide pos="5465"/>
        <p:guide pos="317"/>
        <p:guide orient="horz" pos="180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1/10/24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1/10/24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4549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271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8519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9945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4261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4210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5375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5328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1804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485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1207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2551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7663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5076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4593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6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042BA6A-F739-FA83-C09A-BE56B8367E42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4596B9C-20D1-69FA-79F0-E152BB4397BE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13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2C07EA-BA90-4A3F-12B2-B6E0AE14B01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575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2993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3297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8" y="2177570"/>
            <a:ext cx="3168111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SERVICIOS</a:t>
            </a: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REST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420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Gestión de servicios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Tipos de servicios REST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13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8" y="918372"/>
            <a:ext cx="5521727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dirty="0">
                <a:latin typeface="Calibri" charset="0"/>
                <a:cs typeface="Calibri" charset="0"/>
              </a:rPr>
              <a:t>Un servicio REST (Representational State Transfer) es un tipo de servicio web que sigue los principios arquitectónicos de REST. 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cs typeface="Calibri" charset="0"/>
              </a:rPr>
              <a:t>REST es un estilo de arquitectura para sistemas distribuidos, definido por Roy Fielding en su tesis doctoral en el año 2000. 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cs typeface="Calibri" charset="0"/>
              </a:rPr>
              <a:t>Los servicios REST son ampliamente utilizados para construir APIs que permiten la comunicación entre diferentes sistemas, especialmente en el contexto de aplicaciones web y móviles.</a:t>
            </a:r>
          </a:p>
          <a:p>
            <a:endParaRPr lang="es-PE" sz="1400" dirty="0">
              <a:latin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cs typeface="Calibri" charset="0"/>
              </a:rPr>
              <a:t>Entonces, durante esta sesión:</a:t>
            </a:r>
            <a:endParaRPr lang="es-PE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Aprenderemos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 a realizar una correcta gestión de los servicios REST.</a:t>
            </a: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Conoceremos 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los tipos de servicios REST con los que contamos actualmente.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1596034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234573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3098729"/>
            <a:ext cx="117851" cy="121369"/>
          </a:xfrm>
          <a:prstGeom prst="rect">
            <a:avLst/>
          </a:prstGeom>
        </p:spPr>
      </p:pic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384550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GESTIÓN DE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SERVICIOS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9825" y="919740"/>
            <a:ext cx="7733630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SERVICIO REST</a:t>
            </a: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REST (</a:t>
            </a:r>
            <a:r>
              <a:rPr lang="es-E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Representational</a:t>
            </a: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Transfer): 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Es un estilo arquitectónico para diseñar servicios web que se comunican a través de HTTP.</a:t>
            </a: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endParaRPr lang="es-E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Servicios </a:t>
            </a:r>
            <a:r>
              <a:rPr lang="es-E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RESTful</a:t>
            </a:r>
            <a:r>
              <a:rPr lang="es-ES" sz="16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Son servicios web que implementan los principios REST, proporcionando una forma flexible y eficiente de interactuar con aplicaciones y recursos.</a:t>
            </a: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878162-9EAD-0806-E8D3-95952E29723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C845DF8-0218-ABFB-F05E-22FE9D5A0BE6}"/>
              </a:ext>
            </a:extLst>
          </p:cNvPr>
          <p:cNvGrpSpPr/>
          <p:nvPr/>
        </p:nvGrpSpPr>
        <p:grpSpPr>
          <a:xfrm>
            <a:off x="928640" y="3124200"/>
            <a:ext cx="7286720" cy="1569462"/>
            <a:chOff x="2142125" y="4136304"/>
            <a:chExt cx="5096342" cy="109768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616DBCBC-E24F-C5CD-A61E-6A95D2C05D96}"/>
                </a:ext>
              </a:extLst>
            </p:cNvPr>
            <p:cNvSpPr/>
            <p:nvPr/>
          </p:nvSpPr>
          <p:spPr>
            <a:xfrm>
              <a:off x="6279306" y="4157234"/>
              <a:ext cx="959161" cy="1076754"/>
            </a:xfrm>
            <a:prstGeom prst="roundRect">
              <a:avLst>
                <a:gd name="adj" fmla="val 9818"/>
              </a:avLst>
            </a:prstGeom>
            <a:solidFill>
              <a:srgbClr val="BEFF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600" dirty="0">
                  <a:solidFill>
                    <a:schemeClr val="tx1"/>
                  </a:solidFill>
                </a:rPr>
                <a:t>Servidor </a:t>
              </a:r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AD052D5C-A292-B318-92F3-77ED7FB99B92}"/>
                </a:ext>
              </a:extLst>
            </p:cNvPr>
            <p:cNvSpPr/>
            <p:nvPr/>
          </p:nvSpPr>
          <p:spPr>
            <a:xfrm>
              <a:off x="5765302" y="4532568"/>
              <a:ext cx="634966" cy="300537"/>
            </a:xfrm>
            <a:prstGeom prst="roundRect">
              <a:avLst>
                <a:gd name="adj" fmla="val 9818"/>
              </a:avLst>
            </a:prstGeom>
            <a:solidFill>
              <a:srgbClr val="BFBFF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600" dirty="0">
                  <a:solidFill>
                    <a:schemeClr val="tx1"/>
                  </a:solidFill>
                </a:rPr>
                <a:t>REST</a:t>
              </a: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71F251CD-5AA0-B61F-3797-E419D665DC64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1" y="4695103"/>
              <a:ext cx="297179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21BA61AE-4730-DDED-9EAD-B5F19C1D41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6655" y="4379331"/>
              <a:ext cx="153003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5DB310C9-9F6D-D7FC-3E01-61466BC565DB}"/>
                </a:ext>
              </a:extLst>
            </p:cNvPr>
            <p:cNvSpPr/>
            <p:nvPr/>
          </p:nvSpPr>
          <p:spPr>
            <a:xfrm>
              <a:off x="2142125" y="4226702"/>
              <a:ext cx="959161" cy="933583"/>
            </a:xfrm>
            <a:prstGeom prst="roundRect">
              <a:avLst>
                <a:gd name="adj" fmla="val 9818"/>
              </a:avLst>
            </a:prstGeom>
            <a:solidFill>
              <a:srgbClr val="BFBFF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600" dirty="0">
                  <a:solidFill>
                    <a:schemeClr val="tx1"/>
                  </a:solidFill>
                </a:rPr>
                <a:t>Cliente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4091544-5120-9859-8155-2FF6535A199D}"/>
                </a:ext>
              </a:extLst>
            </p:cNvPr>
            <p:cNvSpPr/>
            <p:nvPr/>
          </p:nvSpPr>
          <p:spPr>
            <a:xfrm>
              <a:off x="4413394" y="4136304"/>
              <a:ext cx="463405" cy="463405"/>
            </a:xfrm>
            <a:prstGeom prst="ellipse">
              <a:avLst/>
            </a:prstGeom>
            <a:solidFill>
              <a:srgbClr val="FFBFB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100" dirty="0"/>
                <a:t>Datos </a:t>
              </a: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5182C29-1338-08C2-C818-E5DF9BB4ECC0}"/>
                </a:ext>
              </a:extLst>
            </p:cNvPr>
            <p:cNvSpPr/>
            <p:nvPr/>
          </p:nvSpPr>
          <p:spPr>
            <a:xfrm>
              <a:off x="5024829" y="4136304"/>
              <a:ext cx="463405" cy="463405"/>
            </a:xfrm>
            <a:prstGeom prst="ellipse">
              <a:avLst/>
            </a:prstGeom>
            <a:solidFill>
              <a:srgbClr val="FFBFB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100" dirty="0"/>
                <a:t>Datos </a:t>
              </a:r>
            </a:p>
          </p:txBody>
        </p:sp>
      </p:grpSp>
      <p:sp>
        <p:nvSpPr>
          <p:cNvPr id="15" name="object 7">
            <a:extLst>
              <a:ext uri="{FF2B5EF4-FFF2-40B4-BE49-F238E27FC236}">
                <a16:creationId xmlns:a16="http://schemas.microsoft.com/office/drawing/2014/main" id="{927786FE-1977-29C2-53FA-0F8683C13CF7}"/>
              </a:ext>
            </a:extLst>
          </p:cNvPr>
          <p:cNvSpPr txBox="1"/>
          <p:nvPr/>
        </p:nvSpPr>
        <p:spPr>
          <a:xfrm>
            <a:off x="4597123" y="2809186"/>
            <a:ext cx="68146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  <a:endParaRPr lang="es-P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803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>
            <a:extLst>
              <a:ext uri="{FF2B5EF4-FFF2-40B4-BE49-F238E27FC236}">
                <a16:creationId xmlns:a16="http://schemas.microsoft.com/office/drawing/2014/main" id="{2264DC41-C937-8445-EF73-3DBB03CED6F5}"/>
              </a:ext>
            </a:extLst>
          </p:cNvPr>
          <p:cNvSpPr txBox="1"/>
          <p:nvPr/>
        </p:nvSpPr>
        <p:spPr>
          <a:xfrm>
            <a:off x="509825" y="919740"/>
            <a:ext cx="7765576" cy="4016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b="1" i="0" dirty="0">
                <a:effectLst/>
                <a:highlight>
                  <a:srgbClr val="FFFFFF"/>
                </a:highlight>
              </a:rPr>
              <a:t>PRINCIPIOS BÁSICOS DE REST</a:t>
            </a:r>
            <a:endParaRPr lang="es-ES" sz="1600" b="1" spc="-10" dirty="0">
              <a:cs typeface="Source Sans Pro"/>
            </a:endParaRPr>
          </a:p>
          <a:p>
            <a:pPr marL="227013" indent="-227013">
              <a:buSzPct val="100000"/>
              <a:buFont typeface="+mj-lt"/>
              <a:buAutoNum type="arabicPeriod"/>
              <a:tabLst>
                <a:tab pos="120650" algn="l"/>
              </a:tabLst>
            </a:pPr>
            <a:r>
              <a:rPr lang="es-ES" sz="1600" b="1" i="0" dirty="0">
                <a:effectLst/>
              </a:rPr>
              <a:t>Recursos:</a:t>
            </a:r>
            <a:r>
              <a:rPr lang="es-ES" sz="1600" b="0" i="0" dirty="0">
                <a:effectLst/>
              </a:rPr>
              <a:t> Todo en REST se considera un recurso. Los recursos son entidades que pueden ser accedidas a través de una URL única.</a:t>
            </a:r>
          </a:p>
          <a:p>
            <a:pPr>
              <a:buSzPct val="100000"/>
              <a:tabLst>
                <a:tab pos="121285" algn="l"/>
              </a:tabLst>
            </a:pPr>
            <a:endParaRPr lang="es-ES" sz="1600" b="0" i="0" dirty="0">
              <a:effectLst/>
            </a:endParaRPr>
          </a:p>
          <a:p>
            <a:pPr marL="400050" lvl="1" indent="-17303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Ejemplo: Un recurso puede ser un usuario, un producto, una orden, etc. Cada recurso se identifica mediante un URI (</a:t>
            </a:r>
            <a:r>
              <a:rPr lang="es-ES" sz="1600" b="0" i="0" dirty="0" err="1">
                <a:effectLst/>
              </a:rPr>
              <a:t>Uniform</a:t>
            </a:r>
            <a:r>
              <a:rPr lang="es-ES" sz="1600" b="0" i="0" dirty="0">
                <a:effectLst/>
              </a:rPr>
              <a:t> </a:t>
            </a:r>
            <a:r>
              <a:rPr lang="es-ES" sz="1600" b="0" i="0" dirty="0" err="1">
                <a:effectLst/>
              </a:rPr>
              <a:t>Resource</a:t>
            </a:r>
            <a:r>
              <a:rPr lang="es-ES" sz="1600" b="0" i="0" dirty="0">
                <a:effectLst/>
              </a:rPr>
              <a:t> </a:t>
            </a:r>
            <a:r>
              <a:rPr lang="es-ES" sz="1600" b="0" i="0" dirty="0" err="1">
                <a:effectLst/>
              </a:rPr>
              <a:t>Identifier</a:t>
            </a:r>
            <a:r>
              <a:rPr lang="es-ES" sz="1600" b="0" i="0" dirty="0">
                <a:effectLst/>
              </a:rPr>
              <a:t>).</a:t>
            </a:r>
            <a:endParaRPr lang="es-ES" sz="1600" dirty="0"/>
          </a:p>
          <a:p>
            <a:pPr marL="0" lvl="1">
              <a:buSzPct val="100000"/>
              <a:tabLst>
                <a:tab pos="121285" algn="l"/>
              </a:tabLst>
            </a:pPr>
            <a:endParaRPr lang="es-ES" sz="1600" b="0" i="0" dirty="0">
              <a:effectLst/>
            </a:endParaRPr>
          </a:p>
          <a:p>
            <a:pPr marL="227013" indent="-227013">
              <a:buSzPct val="100000"/>
              <a:buFont typeface="+mj-lt"/>
              <a:buAutoNum type="arabicPeriod" startAt="2"/>
              <a:tabLst>
                <a:tab pos="120650" algn="l"/>
              </a:tabLst>
            </a:pPr>
            <a:r>
              <a:rPr lang="es-ES" sz="1600" b="1" i="0" dirty="0">
                <a:effectLst/>
              </a:rPr>
              <a:t>Métodos HTTP:</a:t>
            </a:r>
            <a:r>
              <a:rPr lang="es-ES" sz="1600" b="0" i="0" dirty="0">
                <a:effectLst/>
              </a:rPr>
              <a:t> REST utiliza los métodos HTTP estándar para realizar operaciones sobre los recursos.</a:t>
            </a:r>
          </a:p>
          <a:p>
            <a:pPr>
              <a:buSzPct val="100000"/>
              <a:tabLst>
                <a:tab pos="121285" algn="l"/>
              </a:tabLst>
            </a:pPr>
            <a:endParaRPr lang="es-ES" sz="1600" b="0" i="0" dirty="0">
              <a:effectLst/>
            </a:endParaRPr>
          </a:p>
          <a:p>
            <a:pPr marL="400050" lvl="1" indent="-17303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Principales Métodos:</a:t>
            </a:r>
          </a:p>
          <a:p>
            <a:pPr marL="57943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GET: Recupera información de un recurso.</a:t>
            </a:r>
          </a:p>
          <a:p>
            <a:pPr marL="57943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POST: Crea un nuevo recurso.</a:t>
            </a:r>
          </a:p>
          <a:p>
            <a:pPr marL="57943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PUT: Actualiza un recurso existente.</a:t>
            </a:r>
          </a:p>
          <a:p>
            <a:pPr marL="57943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DELETE: Elimina un recurso.</a:t>
            </a:r>
          </a:p>
          <a:p>
            <a:pPr marL="57943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PATCH: Actualiza parcialmente un recurso.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AE8707-82B3-2C4B-32CB-5DAE61F411E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6319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DC3AA30-2A51-DB71-2628-9E4E1CA9B8E4}"/>
              </a:ext>
            </a:extLst>
          </p:cNvPr>
          <p:cNvSpPr/>
          <p:nvPr/>
        </p:nvSpPr>
        <p:spPr>
          <a:xfrm>
            <a:off x="510165" y="3609108"/>
            <a:ext cx="8172450" cy="162487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C2CEF40-6F11-D802-FF27-CF07AC0A782C}"/>
              </a:ext>
            </a:extLst>
          </p:cNvPr>
          <p:cNvSpPr txBox="1"/>
          <p:nvPr/>
        </p:nvSpPr>
        <p:spPr>
          <a:xfrm>
            <a:off x="509825" y="919740"/>
            <a:ext cx="7970291" cy="2539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b="1" i="0" dirty="0">
                <a:effectLst/>
                <a:highlight>
                  <a:srgbClr val="FFFFFF"/>
                </a:highlight>
              </a:rPr>
              <a:t>PRINCIPIOS BÁSICOS DE REST</a:t>
            </a:r>
            <a:endParaRPr lang="es-ES" sz="1600" b="0" i="0" dirty="0">
              <a:effectLst/>
            </a:endParaRPr>
          </a:p>
          <a:p>
            <a:pPr marL="227013" indent="-227013">
              <a:buSzPct val="100000"/>
              <a:buFont typeface="+mj-lt"/>
              <a:buAutoNum type="arabicPeriod" startAt="3"/>
              <a:tabLst>
                <a:tab pos="120650" algn="l"/>
              </a:tabLst>
            </a:pPr>
            <a:r>
              <a:rPr lang="es-ES" sz="1600" b="1" i="0" dirty="0" err="1">
                <a:effectLst/>
              </a:rPr>
              <a:t>Stateless</a:t>
            </a:r>
            <a:r>
              <a:rPr lang="es-ES" sz="1600" b="1" i="0" dirty="0">
                <a:effectLst/>
              </a:rPr>
              <a:t>: </a:t>
            </a:r>
            <a:r>
              <a:rPr lang="es-ES" sz="1600" b="0" i="0" dirty="0">
                <a:effectLst/>
              </a:rPr>
              <a:t>Cada solicitud del cliente al servidor debe contener  la información necesaria para entender y procesar la solicitud. El servidor no almacena información de estado entre solicitudes.</a:t>
            </a: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endParaRPr lang="es-ES" sz="1600" b="0" i="0" dirty="0">
              <a:effectLst/>
            </a:endParaRPr>
          </a:p>
          <a:p>
            <a:pPr marL="400050" lvl="1" indent="-173038">
              <a:buSzPct val="100000"/>
              <a:buFont typeface="Arial" panose="020B0604020202020204" pitchFamily="34" charset="0"/>
              <a:buChar char="•"/>
              <a:tabLst>
                <a:tab pos="350838" algn="l"/>
              </a:tabLst>
            </a:pPr>
            <a:r>
              <a:rPr lang="es-ES" sz="1600" dirty="0"/>
              <a:t>Ventaja: Mejora la escalabilidad y simplicidad del diseño del servicio.</a:t>
            </a:r>
          </a:p>
          <a:p>
            <a:pPr marL="179388" lvl="1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endParaRPr lang="es-ES" sz="1600" b="0" i="0" dirty="0">
              <a:effectLst/>
            </a:endParaRPr>
          </a:p>
          <a:p>
            <a:pPr marL="227013" indent="-227013">
              <a:buSzPct val="100000"/>
              <a:buFont typeface="+mj-lt"/>
              <a:buAutoNum type="arabicPeriod" startAt="4"/>
              <a:tabLst>
                <a:tab pos="120650" algn="l"/>
              </a:tabLst>
            </a:pPr>
            <a:r>
              <a:rPr lang="es-ES" sz="1600" b="1" i="0" dirty="0">
                <a:effectLst/>
              </a:rPr>
              <a:t>Representaciones: </a:t>
            </a:r>
            <a:r>
              <a:rPr lang="es-ES" sz="1600" b="0" i="0" dirty="0">
                <a:effectLst/>
              </a:rPr>
              <a:t>Los recursos pueden tener múltiples representaciones. </a:t>
            </a:r>
          </a:p>
          <a:p>
            <a:pPr marL="400050" indent="-173038">
              <a:buSzPct val="100000"/>
              <a:buFont typeface="Arial" panose="020B0604020202020204" pitchFamily="34" charset="0"/>
              <a:buChar char="•"/>
            </a:pPr>
            <a:r>
              <a:rPr lang="es-ES" sz="1600" b="0" i="0" dirty="0">
                <a:effectLst/>
              </a:rPr>
              <a:t>Por ejemplo, un recurso de usuario puede ser representado en JSON, XML, HTML, etc.</a:t>
            </a:r>
            <a:endParaRPr lang="es-ES" sz="1600" dirty="0"/>
          </a:p>
          <a:p>
            <a:pPr marL="400050" lvl="1" indent="-173038">
              <a:buSzPct val="100000"/>
              <a:buFont typeface="Arial" panose="020B0604020202020204" pitchFamily="34" charset="0"/>
              <a:buChar char="•"/>
            </a:pPr>
            <a:r>
              <a:rPr lang="es-ES" sz="1600" b="0" i="0" dirty="0">
                <a:effectLst/>
              </a:rPr>
              <a:t>Ejemplo: Un recurso de usuario puede ser devuelto en formato JSON para una API </a:t>
            </a:r>
            <a:r>
              <a:rPr lang="es-ES" sz="1600" b="0" i="0" dirty="0" err="1">
                <a:effectLst/>
              </a:rPr>
              <a:t>RESTful</a:t>
            </a:r>
            <a:r>
              <a:rPr lang="es-ES" sz="1600" b="0" i="0" dirty="0">
                <a:effectLst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A2F5D7-5C9B-B89B-AD9F-35D11AA63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00" b="4621"/>
          <a:stretch/>
        </p:blipFill>
        <p:spPr>
          <a:xfrm>
            <a:off x="1986886" y="3761510"/>
            <a:ext cx="5184081" cy="1343891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FF47A92-1E4F-1D62-EFE1-C816FEA69D4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92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>
            <a:extLst>
              <a:ext uri="{FF2B5EF4-FFF2-40B4-BE49-F238E27FC236}">
                <a16:creationId xmlns:a16="http://schemas.microsoft.com/office/drawing/2014/main" id="{2264DC41-C937-8445-EF73-3DBB03CED6F5}"/>
              </a:ext>
            </a:extLst>
          </p:cNvPr>
          <p:cNvSpPr txBox="1"/>
          <p:nvPr/>
        </p:nvSpPr>
        <p:spPr>
          <a:xfrm>
            <a:off x="509825" y="919740"/>
            <a:ext cx="7765576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b="1" spc="-10" dirty="0">
                <a:cs typeface="Source Sans Pro"/>
              </a:rPr>
              <a:t>CARACTERÍSTICAS DE SERVICIOS REST:</a:t>
            </a:r>
            <a:endParaRPr lang="es-ES" sz="1600" b="0" i="0" dirty="0">
              <a:effectLst/>
            </a:endParaRPr>
          </a:p>
          <a:p>
            <a:pPr marL="17938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Basado en recursos, representados por </a:t>
            </a:r>
            <a:r>
              <a:rPr lang="es-ES" sz="1600" b="0" i="0" dirty="0" err="1">
                <a:effectLst/>
              </a:rPr>
              <a:t>URLs</a:t>
            </a:r>
            <a:r>
              <a:rPr lang="es-ES" sz="1600" b="0" i="0" dirty="0">
                <a:effectLst/>
              </a:rPr>
              <a:t>.</a:t>
            </a:r>
          </a:p>
          <a:p>
            <a:pPr marL="17938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Utiliza métodos HTTP estándar (GET, POST, PUT, DELETE, etc.).</a:t>
            </a:r>
          </a:p>
          <a:p>
            <a:pPr marL="17938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Formatos de datos simples como JSON, HTML y XML.</a:t>
            </a:r>
          </a:p>
          <a:p>
            <a:pPr marL="179388" lvl="2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0" i="0" dirty="0">
                <a:effectLst/>
              </a:rPr>
              <a:t>Sin estado (</a:t>
            </a:r>
            <a:r>
              <a:rPr lang="es-ES" sz="1600" b="0" i="0" dirty="0" err="1">
                <a:effectLst/>
              </a:rPr>
              <a:t>stateless</a:t>
            </a:r>
            <a:r>
              <a:rPr lang="es-ES" sz="1600" b="0" i="0" dirty="0">
                <a:effectLst/>
              </a:rPr>
              <a:t>), cada solicitud es independiente.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9F0AF2-6C31-74A9-BCA0-3A6B880B190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445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4B9E7C4-0812-DEA1-9468-76D87B98C52E}"/>
              </a:ext>
            </a:extLst>
          </p:cNvPr>
          <p:cNvSpPr txBox="1"/>
          <p:nvPr/>
        </p:nvSpPr>
        <p:spPr>
          <a:xfrm>
            <a:off x="509825" y="919740"/>
            <a:ext cx="7562419" cy="3600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600" b="1" spc="-10" dirty="0">
                <a:cs typeface="Source Sans Pro"/>
              </a:rPr>
              <a:t>GESTIÓN DE SERVICIOS REST</a:t>
            </a:r>
            <a:endParaRPr lang="es-ES" sz="1600" dirty="0"/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1" dirty="0"/>
              <a:t>Creación y Publicación: </a:t>
            </a:r>
            <a:r>
              <a:rPr lang="es-ES" sz="1600" dirty="0"/>
              <a:t>Diseño y despliegue de servicios REST.</a:t>
            </a: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endParaRPr lang="es-ES" sz="1600" dirty="0"/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1" dirty="0"/>
              <a:t>Versionado de </a:t>
            </a:r>
            <a:r>
              <a:rPr lang="es-ES" sz="1600" b="1" dirty="0" err="1"/>
              <a:t>APIs</a:t>
            </a:r>
            <a:r>
              <a:rPr lang="es-ES" sz="1600" b="1" dirty="0"/>
              <a:t>: </a:t>
            </a:r>
            <a:r>
              <a:rPr lang="es-ES" sz="1600" dirty="0"/>
              <a:t>Mantener múltiples versiones de una API para compatibilidad.</a:t>
            </a:r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endParaRPr lang="es-ES" sz="1600" dirty="0"/>
          </a:p>
          <a:p>
            <a:pPr marL="179388" indent="-179388">
              <a:buSzPct val="100000"/>
              <a:buFont typeface="Arial" panose="020B0604020202020204" pitchFamily="34" charset="0"/>
              <a:buChar char="•"/>
              <a:tabLst>
                <a:tab pos="120650" algn="l"/>
              </a:tabLst>
            </a:pPr>
            <a:r>
              <a:rPr lang="es-ES" sz="1600" b="1" dirty="0"/>
              <a:t>Documentación: </a:t>
            </a:r>
            <a:r>
              <a:rPr lang="es-ES" sz="1600" dirty="0"/>
              <a:t>Uso de herramientas como </a:t>
            </a:r>
            <a:r>
              <a:rPr lang="es-ES" sz="1600" dirty="0" err="1"/>
              <a:t>Swagger</a:t>
            </a:r>
            <a:r>
              <a:rPr lang="es-ES" sz="1600" dirty="0"/>
              <a:t> para documentar </a:t>
            </a:r>
            <a:r>
              <a:rPr lang="es-ES" sz="1600" dirty="0" err="1"/>
              <a:t>APIs</a:t>
            </a:r>
            <a:r>
              <a:rPr lang="es-ES" sz="1600" dirty="0"/>
              <a:t>.</a:t>
            </a:r>
          </a:p>
          <a:p>
            <a:pPr>
              <a:buSzPct val="100000"/>
              <a:tabLst>
                <a:tab pos="121285" algn="l"/>
              </a:tabLst>
            </a:pPr>
            <a:endParaRPr lang="es-ES" sz="1600" dirty="0"/>
          </a:p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</a:rPr>
              <a:t>HERRAMIENTAS PARA PRUEBAS DE SERVICIOS REST</a:t>
            </a:r>
            <a:endParaRPr lang="es-PE" sz="1600" b="1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/>
              <a:t>Postman: </a:t>
            </a:r>
            <a:r>
              <a:rPr lang="es-PE" sz="1600" dirty="0"/>
              <a:t>Herramienta popular para probar y documentar APIs.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/>
              <a:t>SoapUI: </a:t>
            </a:r>
            <a:r>
              <a:rPr lang="es-PE" sz="1600" dirty="0"/>
              <a:t>Herramienta para probar servicios SOAP y REST.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PE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/>
              <a:t>JUnit y Spring Test: </a:t>
            </a:r>
            <a:r>
              <a:rPr lang="es-PE" sz="1600" dirty="0"/>
              <a:t>Frameworks de pruebas para servicios REST en Java.</a:t>
            </a:r>
          </a:p>
          <a:p>
            <a:pPr>
              <a:buSzPct val="100000"/>
              <a:tabLst>
                <a:tab pos="121285" algn="l"/>
              </a:tabLst>
            </a:pPr>
            <a:endParaRPr lang="es-ES" sz="1600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801FA9F-415B-7214-C15A-5A2EC021EB8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extLst>
      <p:ext uri="{BB962C8B-B14F-4D97-AF65-F5344CB8AC3E}">
        <p14:creationId xmlns:p14="http://schemas.microsoft.com/office/powerpoint/2010/main" val="197592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919C488-5645-8B3B-88FB-FDA559509AE3}"/>
              </a:ext>
            </a:extLst>
          </p:cNvPr>
          <p:cNvSpPr/>
          <p:nvPr/>
        </p:nvSpPr>
        <p:spPr>
          <a:xfrm>
            <a:off x="503238" y="2079414"/>
            <a:ext cx="8172450" cy="315457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CD5AA2-FC4A-ED42-A1E4-A7562340D74D}"/>
              </a:ext>
            </a:extLst>
          </p:cNvPr>
          <p:cNvSpPr txBox="1"/>
          <p:nvPr/>
        </p:nvSpPr>
        <p:spPr>
          <a:xfrm>
            <a:off x="509825" y="919740"/>
            <a:ext cx="7562418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</a:rPr>
              <a:t>CONFIGURACIÓN DE POSTMAN PARA PRUEBAS</a:t>
            </a:r>
            <a:endParaRPr lang="es-ES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Instalación y configuración básica de </a:t>
            </a:r>
            <a:r>
              <a:rPr lang="es-ES" sz="1600" dirty="0" err="1"/>
              <a:t>Postman</a:t>
            </a:r>
            <a:r>
              <a:rPr lang="es-ES" sz="1600" dirty="0"/>
              <a:t>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Ejemplo de una solicitud GET en </a:t>
            </a:r>
            <a:r>
              <a:rPr lang="es-ES" sz="1600" dirty="0" err="1"/>
              <a:t>Postman</a:t>
            </a:r>
            <a:r>
              <a:rPr lang="es-ES" sz="1600" dirty="0"/>
              <a:t>.</a:t>
            </a:r>
            <a:endParaRPr lang="es-PE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74A2DB-0172-4377-D3FF-7CC9A8969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81" y="2390958"/>
            <a:ext cx="7187321" cy="248584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127788E-5244-25C6-ECEF-267E4F74F4E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extLst>
      <p:ext uri="{BB962C8B-B14F-4D97-AF65-F5344CB8AC3E}">
        <p14:creationId xmlns:p14="http://schemas.microsoft.com/office/powerpoint/2010/main" val="316222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F356C2A-56A8-4C05-B11F-4A49AE2F0569}"/>
              </a:ext>
            </a:extLst>
          </p:cNvPr>
          <p:cNvSpPr/>
          <p:nvPr/>
        </p:nvSpPr>
        <p:spPr>
          <a:xfrm>
            <a:off x="503238" y="2079414"/>
            <a:ext cx="8172450" cy="315457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CD5AA2-FC4A-ED42-A1E4-A7562340D74D}"/>
              </a:ext>
            </a:extLst>
          </p:cNvPr>
          <p:cNvSpPr txBox="1"/>
          <p:nvPr/>
        </p:nvSpPr>
        <p:spPr>
          <a:xfrm>
            <a:off x="509825" y="919740"/>
            <a:ext cx="7562418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</a:rPr>
              <a:t>EJEMPLO DE PRUEBA CON POSTMAN</a:t>
            </a:r>
            <a:endParaRPr lang="es-ES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Realizar una solicitud POST para crear un nuevo recurso.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Validar la respuesta y el estado HTTP.</a:t>
            </a:r>
            <a:endParaRPr lang="es-PE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0AF83B5-9B31-E8CE-4808-B1052B0D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171" y="2289501"/>
            <a:ext cx="6405658" cy="2745282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6D314CC-2A84-933F-F8DE-AC75CEA6BD3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extLst>
      <p:ext uri="{BB962C8B-B14F-4D97-AF65-F5344CB8AC3E}">
        <p14:creationId xmlns:p14="http://schemas.microsoft.com/office/powerpoint/2010/main" val="286796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0CD5AA2-FC4A-ED42-A1E4-A7562340D74D}"/>
              </a:ext>
            </a:extLst>
          </p:cNvPr>
          <p:cNvSpPr txBox="1"/>
          <p:nvPr/>
        </p:nvSpPr>
        <p:spPr>
          <a:xfrm>
            <a:off x="509825" y="919740"/>
            <a:ext cx="7562418" cy="1344402"/>
          </a:xfrm>
          <a:prstGeom prst="rect">
            <a:avLst/>
          </a:prstGeom>
          <a:noFill/>
        </p:spPr>
        <p:txBody>
          <a:bodyPr wrap="square" lIns="0" tIns="0" rIns="0" bIns="3600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</a:rPr>
              <a:t>CONFIGURACIÓN DE SOAPUI PARA PRUEBAS REST</a:t>
            </a:r>
            <a:endParaRPr lang="es-ES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Instalación y configuración básica de </a:t>
            </a:r>
            <a:r>
              <a:rPr lang="es-ES" sz="1600" dirty="0" err="1"/>
              <a:t>SoapUI</a:t>
            </a:r>
            <a:r>
              <a:rPr lang="es-ES" sz="1600" dirty="0"/>
              <a:t>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Creación de un proyecto de prueba para una API REST.</a:t>
            </a:r>
          </a:p>
          <a:p>
            <a:endParaRPr lang="es-ES" sz="1600" dirty="0"/>
          </a:p>
          <a:p>
            <a:r>
              <a:rPr lang="es-ES" sz="1600" b="1" dirty="0"/>
              <a:t>Ejemplo: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09CBE981-11E9-379F-E157-8AA0D1470C1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61F5E71-8AD9-DFDC-A61C-0CDA42ECE37C}"/>
              </a:ext>
            </a:extLst>
          </p:cNvPr>
          <p:cNvCxnSpPr>
            <a:cxnSpLocks/>
          </p:cNvCxnSpPr>
          <p:nvPr/>
        </p:nvCxnSpPr>
        <p:spPr>
          <a:xfrm>
            <a:off x="1067214" y="2542049"/>
            <a:ext cx="0" cy="1692000"/>
          </a:xfrm>
          <a:prstGeom prst="line">
            <a:avLst/>
          </a:prstGeom>
          <a:ln w="12700"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0A239BC-D5A5-E8F8-82D0-3EFC12532282}"/>
              </a:ext>
            </a:extLst>
          </p:cNvPr>
          <p:cNvGrpSpPr/>
          <p:nvPr/>
        </p:nvGrpSpPr>
        <p:grpSpPr>
          <a:xfrm>
            <a:off x="511189" y="2400231"/>
            <a:ext cx="3844172" cy="369332"/>
            <a:chOff x="511189" y="2400231"/>
            <a:chExt cx="3844172" cy="36933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063A19A2-6DC0-A066-4F69-5C9FE8964E53}"/>
                </a:ext>
              </a:extLst>
            </p:cNvPr>
            <p:cNvSpPr/>
            <p:nvPr/>
          </p:nvSpPr>
          <p:spPr>
            <a:xfrm>
              <a:off x="1285665" y="2468280"/>
              <a:ext cx="3069696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Descargar e instalar SoapUI.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7D22ABE-B6C2-A5A9-3D40-2B82399C2727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01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11" name="Agrupar 29">
              <a:extLst>
                <a:ext uri="{FF2B5EF4-FFF2-40B4-BE49-F238E27FC236}">
                  <a16:creationId xmlns:a16="http://schemas.microsoft.com/office/drawing/2014/main" id="{BA85A66B-11A2-7B01-4A44-1FD16AFDC432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9434507C-B042-E9E0-4230-8C45C5AE80BE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4010AA86-A92D-B9A7-65A5-C9086081F865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178877B-518B-F98E-9786-F5B8B78FCBA4}"/>
              </a:ext>
            </a:extLst>
          </p:cNvPr>
          <p:cNvGrpSpPr/>
          <p:nvPr/>
        </p:nvGrpSpPr>
        <p:grpSpPr>
          <a:xfrm>
            <a:off x="511189" y="2948042"/>
            <a:ext cx="3844172" cy="369332"/>
            <a:chOff x="511189" y="2400231"/>
            <a:chExt cx="3844172" cy="3693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4CB8977-F7B8-5C5A-2755-098207FC858A}"/>
                </a:ext>
              </a:extLst>
            </p:cNvPr>
            <p:cNvSpPr/>
            <p:nvPr/>
          </p:nvSpPr>
          <p:spPr>
            <a:xfrm>
              <a:off x="1285665" y="2468280"/>
              <a:ext cx="3069696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Crear un nuevo proyecto de prueba.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57638CD-8F8F-4781-E4E6-FB7B9D749DAC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02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18" name="Agrupar 29">
              <a:extLst>
                <a:ext uri="{FF2B5EF4-FFF2-40B4-BE49-F238E27FC236}">
                  <a16:creationId xmlns:a16="http://schemas.microsoft.com/office/drawing/2014/main" id="{D9DF657D-79AE-95EE-3D72-BE4FDB1CB418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27D84343-3DAA-37D4-4921-B1BAE3C27C69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5A75A5F2-F5ED-FF14-1293-123704E8EB0D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CDB8E25-6C80-0C00-7ACE-B8BE4C242EAE}"/>
              </a:ext>
            </a:extLst>
          </p:cNvPr>
          <p:cNvGrpSpPr/>
          <p:nvPr/>
        </p:nvGrpSpPr>
        <p:grpSpPr>
          <a:xfrm>
            <a:off x="511189" y="3495853"/>
            <a:ext cx="4547944" cy="369332"/>
            <a:chOff x="511189" y="2400231"/>
            <a:chExt cx="4547944" cy="369332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1202686D-EB7D-65E2-5A50-E76DA2913D14}"/>
                </a:ext>
              </a:extLst>
            </p:cNvPr>
            <p:cNvSpPr/>
            <p:nvPr/>
          </p:nvSpPr>
          <p:spPr>
            <a:xfrm>
              <a:off x="1285665" y="2468280"/>
              <a:ext cx="3773468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Agregar una solicitud REST al proyecto.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94EFEC0-DE32-22F5-C92C-69FB53BDE898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03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4" name="Agrupar 29">
              <a:extLst>
                <a:ext uri="{FF2B5EF4-FFF2-40B4-BE49-F238E27FC236}">
                  <a16:creationId xmlns:a16="http://schemas.microsoft.com/office/drawing/2014/main" id="{D07840DB-EBD7-7370-F588-650277B66136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C428BF5E-4F00-FC59-2635-0874CB633176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710558E8-9AFB-A5CB-CAC3-91EB2A34D45D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04ACC528-F21C-B284-F663-D8AAEEE1DD0F}"/>
              </a:ext>
            </a:extLst>
          </p:cNvPr>
          <p:cNvGrpSpPr/>
          <p:nvPr/>
        </p:nvGrpSpPr>
        <p:grpSpPr>
          <a:xfrm>
            <a:off x="511189" y="4043665"/>
            <a:ext cx="5286968" cy="369332"/>
            <a:chOff x="511189" y="2400231"/>
            <a:chExt cx="5286968" cy="369332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CD678DE7-E674-7708-4CF4-63236B02B08F}"/>
                </a:ext>
              </a:extLst>
            </p:cNvPr>
            <p:cNvSpPr/>
            <p:nvPr/>
          </p:nvSpPr>
          <p:spPr>
            <a:xfrm>
              <a:off x="1285664" y="2468280"/>
              <a:ext cx="4512493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Configurar la URL y los parámetros de la solicitud.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D0578CA0-C962-4297-468D-9F81C94A35B4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04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5E3DCDA0-D97B-FA18-BA82-B5A688F631C3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9D5CEEDA-6266-645B-566B-B80113BA800F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B9B97E54-DA64-93FB-7A35-9637B9070CBA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4757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0CD5AA2-FC4A-ED42-A1E4-A7562340D74D}"/>
              </a:ext>
            </a:extLst>
          </p:cNvPr>
          <p:cNvSpPr txBox="1"/>
          <p:nvPr/>
        </p:nvSpPr>
        <p:spPr>
          <a:xfrm>
            <a:off x="509825" y="919740"/>
            <a:ext cx="7562418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</a:rPr>
              <a:t>EJEMPLO DE PRUEBA DE SOAPUI</a:t>
            </a:r>
            <a:endParaRPr lang="es-ES" sz="1600" dirty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Realizar una solicitud GET para obtener un recurso.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/>
              <a:t>Validar la respuesta y los datos devueltos.</a:t>
            </a:r>
          </a:p>
          <a:p>
            <a:endParaRPr lang="es-ES" sz="1600" dirty="0"/>
          </a:p>
          <a:p>
            <a:r>
              <a:rPr lang="es-ES" sz="1600" b="1" dirty="0"/>
              <a:t>Ejemplo:</a:t>
            </a:r>
            <a:endParaRPr lang="es-PE" sz="1600" b="1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6561417-913D-EF86-732D-6979E934587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79915A-43FD-209D-E849-FD6481B46DFD}"/>
              </a:ext>
            </a:extLst>
          </p:cNvPr>
          <p:cNvCxnSpPr>
            <a:cxnSpLocks/>
          </p:cNvCxnSpPr>
          <p:nvPr/>
        </p:nvCxnSpPr>
        <p:spPr>
          <a:xfrm>
            <a:off x="1067214" y="2542049"/>
            <a:ext cx="0" cy="1152000"/>
          </a:xfrm>
          <a:prstGeom prst="line">
            <a:avLst/>
          </a:prstGeom>
          <a:ln w="12700"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FFFD90E-C401-4D72-6386-3FF9B1C6AB37}"/>
              </a:ext>
            </a:extLst>
          </p:cNvPr>
          <p:cNvGrpSpPr/>
          <p:nvPr/>
        </p:nvGrpSpPr>
        <p:grpSpPr>
          <a:xfrm>
            <a:off x="511189" y="2400231"/>
            <a:ext cx="3844172" cy="369332"/>
            <a:chOff x="511189" y="2400231"/>
            <a:chExt cx="3844172" cy="36933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4741E0F-E80F-7C1E-9234-42047ED52C02}"/>
                </a:ext>
              </a:extLst>
            </p:cNvPr>
            <p:cNvSpPr/>
            <p:nvPr/>
          </p:nvSpPr>
          <p:spPr>
            <a:xfrm>
              <a:off x="1285665" y="2468280"/>
              <a:ext cx="3069696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Crear una solicitud GET en SoapUI.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BD411FA-E24A-2CFA-BC1E-D5B409122E5A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01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14" name="Agrupar 29">
              <a:extLst>
                <a:ext uri="{FF2B5EF4-FFF2-40B4-BE49-F238E27FC236}">
                  <a16:creationId xmlns:a16="http://schemas.microsoft.com/office/drawing/2014/main" id="{4EB37459-E9B7-2FA6-2B20-DEC0B07F2DDC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BEF17B85-3150-53EF-4129-66BA5D6E3ABC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E79C0310-E0C0-4EB3-0DC5-B1175F4621A6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29DCCE2C-BC43-2311-0DFD-D6836A645BA8}"/>
              </a:ext>
            </a:extLst>
          </p:cNvPr>
          <p:cNvGrpSpPr/>
          <p:nvPr/>
        </p:nvGrpSpPr>
        <p:grpSpPr>
          <a:xfrm>
            <a:off x="511189" y="2948042"/>
            <a:ext cx="3844172" cy="369332"/>
            <a:chOff x="511189" y="2400231"/>
            <a:chExt cx="3844172" cy="369332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EC891B3-9BE0-C0A3-64AA-AAA6B3DA7733}"/>
                </a:ext>
              </a:extLst>
            </p:cNvPr>
            <p:cNvSpPr/>
            <p:nvPr/>
          </p:nvSpPr>
          <p:spPr>
            <a:xfrm>
              <a:off x="1285665" y="2468280"/>
              <a:ext cx="3069696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Configurar la URL del servicio.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5559F616-1ACA-92EC-1CB6-F5144282B2FB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02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0" name="Agrupar 29">
              <a:extLst>
                <a:ext uri="{FF2B5EF4-FFF2-40B4-BE49-F238E27FC236}">
                  <a16:creationId xmlns:a16="http://schemas.microsoft.com/office/drawing/2014/main" id="{6113C6E8-EB33-C851-3E1A-6001AC425C66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6E728942-B1AF-0294-6F7A-306E5F33693F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E8B76497-2400-DB27-5DA6-E0B316E3E59E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552E428-341A-1096-F8E4-F1C0324E40AC}"/>
              </a:ext>
            </a:extLst>
          </p:cNvPr>
          <p:cNvGrpSpPr/>
          <p:nvPr/>
        </p:nvGrpSpPr>
        <p:grpSpPr>
          <a:xfrm>
            <a:off x="511189" y="3495853"/>
            <a:ext cx="6963036" cy="369332"/>
            <a:chOff x="511189" y="2400231"/>
            <a:chExt cx="6963036" cy="369332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148895BE-AD6F-5679-6CE7-B4FD654A6B27}"/>
                </a:ext>
              </a:extLst>
            </p:cNvPr>
            <p:cNvSpPr/>
            <p:nvPr/>
          </p:nvSpPr>
          <p:spPr>
            <a:xfrm>
              <a:off x="1285664" y="2468280"/>
              <a:ext cx="6188561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PE" sz="1600" dirty="0"/>
                <a:t>Ejecutar la solicitud y revisar la respuesta en el panel de resultados.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8601012-EBBC-A25E-CA99-CB8577E466EF}"/>
                </a:ext>
              </a:extLst>
            </p:cNvPr>
            <p:cNvSpPr/>
            <p:nvPr/>
          </p:nvSpPr>
          <p:spPr>
            <a:xfrm>
              <a:off x="511189" y="2400231"/>
              <a:ext cx="400819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ES" sz="2400" b="1" dirty="0">
                  <a:solidFill>
                    <a:srgbClr val="01B1C3"/>
                  </a:solidFill>
                  <a:latin typeface="Calibri" charset="0"/>
                  <a:ea typeface="Calibri" charset="0"/>
                  <a:cs typeface="Calibri" charset="0"/>
                </a:rPr>
                <a:t>03</a:t>
              </a:r>
              <a:endParaRPr lang="es-PE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6" name="Agrupar 29">
              <a:extLst>
                <a:ext uri="{FF2B5EF4-FFF2-40B4-BE49-F238E27FC236}">
                  <a16:creationId xmlns:a16="http://schemas.microsoft.com/office/drawing/2014/main" id="{2E924377-00BD-4305-BC9D-43A739F54060}"/>
                </a:ext>
              </a:extLst>
            </p:cNvPr>
            <p:cNvGrpSpPr/>
            <p:nvPr/>
          </p:nvGrpSpPr>
          <p:grpSpPr>
            <a:xfrm>
              <a:off x="996818" y="2504270"/>
              <a:ext cx="140792" cy="140258"/>
              <a:chOff x="3427964" y="2244682"/>
              <a:chExt cx="225891" cy="225034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5490700B-D99F-6D0E-041F-679AA860F9F0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1B1C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9E6057B5-04A8-B5DE-7182-2751A3D97130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01B1C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3825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BC4BD95-F701-C659-8292-5B42F62A3EFC}"/>
              </a:ext>
            </a:extLst>
          </p:cNvPr>
          <p:cNvSpPr/>
          <p:nvPr/>
        </p:nvSpPr>
        <p:spPr>
          <a:xfrm>
            <a:off x="503238" y="2438400"/>
            <a:ext cx="8172450" cy="27955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CD5AA2-FC4A-ED42-A1E4-A7562340D74D}"/>
              </a:ext>
            </a:extLst>
          </p:cNvPr>
          <p:cNvSpPr txBox="1"/>
          <p:nvPr/>
        </p:nvSpPr>
        <p:spPr>
          <a:xfrm>
            <a:off x="509825" y="919740"/>
            <a:ext cx="7562418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highlight>
                  <a:srgbClr val="FFFFFF"/>
                </a:highlight>
                <a:latin typeface="+mj-lt"/>
              </a:rPr>
              <a:t>PRUEBAS DE SERVICIOS REST CON JUNIT y SPRING TEST</a:t>
            </a:r>
            <a:endParaRPr lang="es-ES" sz="1600" dirty="0"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>
                <a:latin typeface="+mj-lt"/>
              </a:rPr>
              <a:t>Configuración de un proyecto Spring </a:t>
            </a:r>
            <a:r>
              <a:rPr lang="es-ES" sz="1600" dirty="0" err="1">
                <a:latin typeface="+mj-lt"/>
              </a:rPr>
              <a:t>Boot</a:t>
            </a:r>
            <a:r>
              <a:rPr lang="es-ES" sz="1600" dirty="0">
                <a:latin typeface="+mj-lt"/>
              </a:rPr>
              <a:t> para pruebas.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ES" sz="1600" dirty="0">
                <a:latin typeface="+mj-lt"/>
              </a:rPr>
              <a:t>Uso de </a:t>
            </a:r>
            <a:r>
              <a:rPr lang="es-ES" sz="1600" dirty="0" err="1">
                <a:latin typeface="+mj-lt"/>
              </a:rPr>
              <a:t>MockMvc</a:t>
            </a:r>
            <a:r>
              <a:rPr lang="es-ES" sz="1600" dirty="0">
                <a:latin typeface="+mj-lt"/>
              </a:rPr>
              <a:t> para simular solicitudes HTTP.</a:t>
            </a:r>
          </a:p>
          <a:p>
            <a:endParaRPr lang="es-ES" sz="1600" dirty="0">
              <a:latin typeface="+mj-lt"/>
            </a:endParaRPr>
          </a:p>
          <a:p>
            <a:r>
              <a:rPr lang="es-ES" sz="1600" b="1" dirty="0">
                <a:latin typeface="+mj-lt"/>
              </a:rPr>
              <a:t>Ejemplo:</a:t>
            </a:r>
            <a:endParaRPr lang="es-PE" sz="1600" b="1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DB32B2-8C59-77D7-DF8D-2DFF2C2E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869" y="2533851"/>
            <a:ext cx="4460262" cy="2654721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4E3A30A-DB46-93A5-8830-ED924161FD6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</p:spTree>
    <p:extLst>
      <p:ext uri="{BB962C8B-B14F-4D97-AF65-F5344CB8AC3E}">
        <p14:creationId xmlns:p14="http://schemas.microsoft.com/office/powerpoint/2010/main" val="2955126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F3C8D6D-BDA1-7B27-938D-D0AFEF7AF9B8}"/>
              </a:ext>
            </a:extLst>
          </p:cNvPr>
          <p:cNvSpPr txBox="1"/>
          <p:nvPr/>
        </p:nvSpPr>
        <p:spPr>
          <a:xfrm>
            <a:off x="509825" y="919740"/>
            <a:ext cx="802644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1600" b="1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MEJORES PRÁCTICAS PARA PRUEBAS DE SERVICIOS REST</a:t>
            </a:r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4F041DB-78DD-2F5B-35C8-E0E546F978B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GESTIÓN DE SERVICIOS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EA515D-53F3-4C23-C236-1D70F12D4590}"/>
              </a:ext>
            </a:extLst>
          </p:cNvPr>
          <p:cNvCxnSpPr>
            <a:cxnSpLocks/>
          </p:cNvCxnSpPr>
          <p:nvPr/>
        </p:nvCxnSpPr>
        <p:spPr>
          <a:xfrm>
            <a:off x="722046" y="1602158"/>
            <a:ext cx="0" cy="53674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8666D744-47B5-BDEC-D2DB-0CD36A628336}"/>
              </a:ext>
            </a:extLst>
          </p:cNvPr>
          <p:cNvGrpSpPr/>
          <p:nvPr/>
        </p:nvGrpSpPr>
        <p:grpSpPr>
          <a:xfrm>
            <a:off x="645704" y="1399288"/>
            <a:ext cx="6281870" cy="492443"/>
            <a:chOff x="645704" y="1517176"/>
            <a:chExt cx="6281870" cy="492443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D40D309-F624-5016-970D-A0263E350EA7}"/>
                </a:ext>
              </a:extLst>
            </p:cNvPr>
            <p:cNvSpPr/>
            <p:nvPr/>
          </p:nvSpPr>
          <p:spPr>
            <a:xfrm>
              <a:off x="936447" y="1517176"/>
              <a:ext cx="5991127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ES" sz="1600" b="1" dirty="0">
                  <a:solidFill>
                    <a:schemeClr val="accent2"/>
                  </a:solidFill>
                </a:rPr>
                <a:t>AUTOMATIZACIÓN DE PRUEBAS:</a:t>
              </a:r>
              <a:br>
                <a:rPr lang="es-ES" sz="1600" b="1" dirty="0"/>
              </a:br>
              <a:r>
                <a:rPr lang="es-ES" sz="1600" dirty="0"/>
                <a:t>Integrar pruebas en el proceso de CI/CD.</a:t>
              </a:r>
            </a:p>
          </p:txBody>
        </p:sp>
        <p:sp>
          <p:nvSpPr>
            <p:cNvPr id="10" name="Más 9">
              <a:extLst>
                <a:ext uri="{FF2B5EF4-FFF2-40B4-BE49-F238E27FC236}">
                  <a16:creationId xmlns:a16="http://schemas.microsoft.com/office/drawing/2014/main" id="{6A2845A2-DD5B-64F3-F70F-3C6D0E455591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6AD674B-24DC-A689-C361-6E25B32F7C1A}"/>
              </a:ext>
            </a:extLst>
          </p:cNvPr>
          <p:cNvGrpSpPr/>
          <p:nvPr/>
        </p:nvGrpSpPr>
        <p:grpSpPr>
          <a:xfrm>
            <a:off x="645704" y="2158797"/>
            <a:ext cx="6281870" cy="492443"/>
            <a:chOff x="645704" y="1517176"/>
            <a:chExt cx="6281870" cy="492443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D73F8B9-253B-B40F-A851-C775CCD8E3E7}"/>
                </a:ext>
              </a:extLst>
            </p:cNvPr>
            <p:cNvSpPr/>
            <p:nvPr/>
          </p:nvSpPr>
          <p:spPr>
            <a:xfrm>
              <a:off x="936447" y="1517176"/>
              <a:ext cx="5991127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ES" sz="1600" b="1" dirty="0">
                  <a:solidFill>
                    <a:schemeClr val="accent2"/>
                  </a:solidFill>
                </a:rPr>
                <a:t>VALIDACIÓN DE RESPUESTAS:</a:t>
              </a:r>
            </a:p>
            <a:p>
              <a:r>
                <a:rPr lang="es-ES" sz="1600" dirty="0"/>
                <a:t>Comprobar no solo el estado HTTP, sino también los datos devueltos.</a:t>
              </a:r>
            </a:p>
          </p:txBody>
        </p:sp>
        <p:sp>
          <p:nvSpPr>
            <p:cNvPr id="13" name="Más 12">
              <a:extLst>
                <a:ext uri="{FF2B5EF4-FFF2-40B4-BE49-F238E27FC236}">
                  <a16:creationId xmlns:a16="http://schemas.microsoft.com/office/drawing/2014/main" id="{D903553B-3582-6BAD-3A32-563E2901D4F1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890DD74-0DA3-0B7A-B6FC-7170DAB30CC5}"/>
              </a:ext>
            </a:extLst>
          </p:cNvPr>
          <p:cNvGrpSpPr/>
          <p:nvPr/>
        </p:nvGrpSpPr>
        <p:grpSpPr>
          <a:xfrm>
            <a:off x="645704" y="2918305"/>
            <a:ext cx="7006885" cy="738664"/>
            <a:chOff x="645704" y="1517176"/>
            <a:chExt cx="7006885" cy="73866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B9260656-E36B-E183-A9A6-132B2457506B}"/>
                </a:ext>
              </a:extLst>
            </p:cNvPr>
            <p:cNvSpPr/>
            <p:nvPr/>
          </p:nvSpPr>
          <p:spPr>
            <a:xfrm>
              <a:off x="936447" y="1517176"/>
              <a:ext cx="6716142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s-ES" sz="1600" b="1" dirty="0">
                  <a:solidFill>
                    <a:schemeClr val="accent2"/>
                  </a:solidFill>
                </a:rPr>
                <a:t>PRUEBAS DE SEGURIDAD:</a:t>
              </a:r>
            </a:p>
            <a:p>
              <a:r>
                <a:rPr lang="es-ES" sz="1600" dirty="0"/>
                <a:t>Verificar que los servicios estén protegidos contra ataques comunes como SQL </a:t>
              </a:r>
              <a:r>
                <a:rPr lang="es-ES" sz="1600" dirty="0" err="1"/>
                <a:t>Injection</a:t>
              </a:r>
              <a:r>
                <a:rPr lang="es-ES" sz="1600" dirty="0"/>
                <a:t> y XSS.</a:t>
              </a:r>
              <a:endParaRPr lang="es-PE" sz="1600" dirty="0"/>
            </a:p>
          </p:txBody>
        </p:sp>
        <p:sp>
          <p:nvSpPr>
            <p:cNvPr id="16" name="Más 15">
              <a:extLst>
                <a:ext uri="{FF2B5EF4-FFF2-40B4-BE49-F238E27FC236}">
                  <a16:creationId xmlns:a16="http://schemas.microsoft.com/office/drawing/2014/main" id="{A480CF50-0179-B84C-F4C1-0DF54FE46BC2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600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A252CED-7F13-4AEF-45E3-9F1560189FA7}"/>
              </a:ext>
            </a:extLst>
          </p:cNvPr>
          <p:cNvCxnSpPr>
            <a:cxnSpLocks/>
          </p:cNvCxnSpPr>
          <p:nvPr/>
        </p:nvCxnSpPr>
        <p:spPr>
          <a:xfrm>
            <a:off x="722046" y="2357621"/>
            <a:ext cx="0" cy="52870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D2369BF8-7EFB-05D7-7936-AB48C67F52FA}"/>
              </a:ext>
            </a:extLst>
          </p:cNvPr>
          <p:cNvGrpSpPr/>
          <p:nvPr/>
        </p:nvGrpSpPr>
        <p:grpSpPr>
          <a:xfrm>
            <a:off x="1604047" y="3900057"/>
            <a:ext cx="5935907" cy="1278515"/>
            <a:chOff x="2142125" y="4136304"/>
            <a:chExt cx="5096342" cy="1097684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0179FF76-BBAB-4ED6-817E-786ADB61158E}"/>
                </a:ext>
              </a:extLst>
            </p:cNvPr>
            <p:cNvSpPr/>
            <p:nvPr/>
          </p:nvSpPr>
          <p:spPr>
            <a:xfrm>
              <a:off x="6279306" y="4157234"/>
              <a:ext cx="959161" cy="1076754"/>
            </a:xfrm>
            <a:prstGeom prst="roundRect">
              <a:avLst>
                <a:gd name="adj" fmla="val 9818"/>
              </a:avLst>
            </a:prstGeom>
            <a:solidFill>
              <a:srgbClr val="BEFFC0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dirty="0">
                  <a:solidFill>
                    <a:schemeClr val="tx1"/>
                  </a:solidFill>
                </a:rPr>
                <a:t>Servidor </a:t>
              </a:r>
            </a:p>
          </p:txBody>
        </p:sp>
        <p:sp>
          <p:nvSpPr>
            <p:cNvPr id="22" name="Rectángulo redondeado 21">
              <a:extLst>
                <a:ext uri="{FF2B5EF4-FFF2-40B4-BE49-F238E27FC236}">
                  <a16:creationId xmlns:a16="http://schemas.microsoft.com/office/drawing/2014/main" id="{941C4A9F-F99C-61C3-A7AC-E68EEC56D642}"/>
                </a:ext>
              </a:extLst>
            </p:cNvPr>
            <p:cNvSpPr/>
            <p:nvPr/>
          </p:nvSpPr>
          <p:spPr>
            <a:xfrm>
              <a:off x="5765302" y="4532568"/>
              <a:ext cx="634966" cy="300537"/>
            </a:xfrm>
            <a:prstGeom prst="roundRect">
              <a:avLst>
                <a:gd name="adj" fmla="val 9818"/>
              </a:avLst>
            </a:prstGeom>
            <a:solidFill>
              <a:srgbClr val="BFBFF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dirty="0">
                  <a:solidFill>
                    <a:schemeClr val="tx1"/>
                  </a:solidFill>
                </a:rPr>
                <a:t>REST</a:t>
              </a:r>
            </a:p>
          </p:txBody>
        </p: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E72F34B7-8F43-1EF2-10C5-32082EA7C403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1" y="4695103"/>
              <a:ext cx="297179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E65BD571-598E-28A4-50F5-30F9537D5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6655" y="4379331"/>
              <a:ext cx="153003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Rectángulo redondeado 19">
              <a:extLst>
                <a:ext uri="{FF2B5EF4-FFF2-40B4-BE49-F238E27FC236}">
                  <a16:creationId xmlns:a16="http://schemas.microsoft.com/office/drawing/2014/main" id="{80D4A8BF-DB39-12A5-3969-1122A00D9BFB}"/>
                </a:ext>
              </a:extLst>
            </p:cNvPr>
            <p:cNvSpPr/>
            <p:nvPr/>
          </p:nvSpPr>
          <p:spPr>
            <a:xfrm>
              <a:off x="2142125" y="4226702"/>
              <a:ext cx="959161" cy="933583"/>
            </a:xfrm>
            <a:prstGeom prst="roundRect">
              <a:avLst>
                <a:gd name="adj" fmla="val 9818"/>
              </a:avLst>
            </a:prstGeom>
            <a:solidFill>
              <a:srgbClr val="BFBFF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dirty="0">
                  <a:solidFill>
                    <a:schemeClr val="tx1"/>
                  </a:solidFill>
                </a:rPr>
                <a:t>Cliente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C28D95DA-1163-F749-2511-69E7873B7669}"/>
                </a:ext>
              </a:extLst>
            </p:cNvPr>
            <p:cNvSpPr/>
            <p:nvPr/>
          </p:nvSpPr>
          <p:spPr>
            <a:xfrm>
              <a:off x="4413394" y="4136304"/>
              <a:ext cx="463405" cy="463405"/>
            </a:xfrm>
            <a:prstGeom prst="ellipse">
              <a:avLst/>
            </a:prstGeom>
            <a:solidFill>
              <a:srgbClr val="FFBFB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50" dirty="0"/>
                <a:t>Datos 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E64A885-3BA5-FE60-2F0F-8C926CB294B8}"/>
                </a:ext>
              </a:extLst>
            </p:cNvPr>
            <p:cNvSpPr/>
            <p:nvPr/>
          </p:nvSpPr>
          <p:spPr>
            <a:xfrm>
              <a:off x="5024829" y="4136304"/>
              <a:ext cx="463405" cy="463405"/>
            </a:xfrm>
            <a:prstGeom prst="ellipse">
              <a:avLst/>
            </a:prstGeom>
            <a:solidFill>
              <a:srgbClr val="FFBFB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50" dirty="0"/>
                <a:t>Datos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6561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384550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TIPOS DE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SERVICIOS REST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B02091F6-05E9-E6D4-477D-5AD069BE12A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TIPOS DE SERVICIOS REST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F3E45E-C6DB-A7CD-0982-640048F870E1}"/>
              </a:ext>
            </a:extLst>
          </p:cNvPr>
          <p:cNvSpPr/>
          <p:nvPr/>
        </p:nvSpPr>
        <p:spPr>
          <a:xfrm>
            <a:off x="503238" y="916472"/>
            <a:ext cx="7975744" cy="43242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Public</a:t>
            </a:r>
            <a:r>
              <a:rPr lang="es-ES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 REST </a:t>
            </a: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br>
              <a:rPr lang="es-ES" sz="1600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(</a:t>
            </a:r>
            <a:r>
              <a:rPr lang="es-ES" sz="1600" b="1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 REST Públicas)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Descripción: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Estas 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APIs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 son accesibles públicamente y están diseñadas para ser utilizadas por cualquier desarrollador que quiera integrar su aplicación con los servicios ofrecidos por la API.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Ejemplos típicos incluyen 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APIs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 de servicios populares como Google 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Maps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, Twitter, Facebook, y muchas más.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Características: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Documentación Completa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Autenticación y Autorización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Versionado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Ejemplo: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GET 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maps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/api/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geocode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json?address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=1600+Amphitheatre+Parkway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943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C316DBB0-BCF1-A052-87CF-C1F2D1E2318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TIPOS DE SERVICIOS REST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A9CBD50-47EE-225E-8810-A1AEDD16E5A0}"/>
              </a:ext>
            </a:extLst>
          </p:cNvPr>
          <p:cNvSpPr/>
          <p:nvPr/>
        </p:nvSpPr>
        <p:spPr>
          <a:xfrm>
            <a:off x="503238" y="916472"/>
            <a:ext cx="7975744" cy="43242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Private</a:t>
            </a:r>
            <a:r>
              <a:rPr lang="es-ES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 REST </a:t>
            </a: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(</a:t>
            </a:r>
            <a:r>
              <a:rPr lang="es-ES" sz="1600" b="1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 REST Privadas)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Descripción: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Estas 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APIs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 son utilizadas internamente dentro de una organización para conectar diferentes servicios y aplicaciones internas. 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No están expuestas al público y solo los desarrolladores dentro de la organización tienen acceso a ellas.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Características: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Seguridad Interna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Flexibilidad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Menor Necesidad de Documentación Extensa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Ejemplo: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GET 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internal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/api/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employees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/12345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537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791BAB03-2141-E311-895D-A297BD6C98E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TIPOS DE SERVICIOS REST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F41B8A1-EA7F-371D-1A02-EA7A4F955FB8}"/>
              </a:ext>
            </a:extLst>
          </p:cNvPr>
          <p:cNvSpPr/>
          <p:nvPr/>
        </p:nvSpPr>
        <p:spPr>
          <a:xfrm>
            <a:off x="503239" y="916472"/>
            <a:ext cx="7421562" cy="43242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Partner</a:t>
            </a:r>
            <a:r>
              <a:rPr lang="es-ES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 REST </a:t>
            </a:r>
            <a:r>
              <a:rPr lang="es-ES" sz="1600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(</a:t>
            </a:r>
            <a:r>
              <a:rPr lang="es-ES" sz="1600" b="1" dirty="0" err="1">
                <a:solidFill>
                  <a:srgbClr val="EE4639"/>
                </a:solidFill>
                <a:latin typeface="Calibri" charset="0"/>
                <a:cs typeface="Calibri" charset="0"/>
              </a:rPr>
              <a:t>APIs</a:t>
            </a: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 REST para Socios)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Descripción: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Estas 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APIs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 están destinadas a ser utilizadas por socios comerciales específicos bajo acuerdos comerciales.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Calibri" charset="0"/>
              <a:ea typeface="Calibri" charset="0"/>
              <a:cs typeface="Calibri" charset="0"/>
            </a:endParaRP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Permiten a los socios acceder a ciertos servicios y datos para integrarlos con sus propios sistemas.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Características: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Acceso Restringido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Documentación Detallada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Acuerdos de Nivel de Servicio (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SLAs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)</a:t>
            </a: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Calibri" charset="0"/>
              <a:ea typeface="Calibri" charset="0"/>
              <a:cs typeface="Calibri" charset="0"/>
            </a:endParaRPr>
          </a:p>
          <a:p>
            <a:pPr marL="179388" indent="-168275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Calibri" charset="0"/>
                <a:ea typeface="Calibri" charset="0"/>
                <a:cs typeface="Calibri" charset="0"/>
              </a:rPr>
              <a:t>Ejemplo:</a:t>
            </a:r>
          </a:p>
          <a:p>
            <a:pPr marL="358775" indent="-179388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GET 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partner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/api/</a:t>
            </a:r>
            <a:r>
              <a:rPr lang="es-ES" sz="1600" dirty="0" err="1">
                <a:latin typeface="Calibri" charset="0"/>
                <a:ea typeface="Calibri" charset="0"/>
                <a:cs typeface="Calibri" charset="0"/>
              </a:rPr>
              <a:t>orders</a:t>
            </a:r>
            <a:r>
              <a:rPr lang="es-ES" sz="1600" dirty="0">
                <a:latin typeface="Calibri" charset="0"/>
                <a:ea typeface="Calibri" charset="0"/>
                <a:cs typeface="Calibri" charset="0"/>
              </a:rPr>
              <a:t>/67890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653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>
            <a:extLst>
              <a:ext uri="{FF2B5EF4-FFF2-40B4-BE49-F238E27FC236}">
                <a16:creationId xmlns:a16="http://schemas.microsoft.com/office/drawing/2014/main" id="{2264DC41-C937-8445-EF73-3DBB03CED6F5}"/>
              </a:ext>
            </a:extLst>
          </p:cNvPr>
          <p:cNvSpPr txBox="1"/>
          <p:nvPr/>
        </p:nvSpPr>
        <p:spPr>
          <a:xfrm>
            <a:off x="509825" y="919740"/>
            <a:ext cx="7765576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" sz="16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COMPARACIÓN DE TIPOS DE SERVICIOS REST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ES" sz="1600" b="1" spc="-10" dirty="0">
              <a:solidFill>
                <a:srgbClr val="262626"/>
              </a:solidFill>
              <a:cs typeface="Source Sans Pro"/>
            </a:endParaRPr>
          </a:p>
          <a:p>
            <a:pPr marL="468925" lvl="1">
              <a:buSzPct val="100000"/>
              <a:tabLst>
                <a:tab pos="121285" algn="l"/>
              </a:tabLst>
            </a:pPr>
            <a:endParaRPr lang="es-ES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BFFB01-17C3-F0F0-2B01-D34E8B844501}"/>
              </a:ext>
            </a:extLst>
          </p:cNvPr>
          <p:cNvSpPr/>
          <p:nvPr/>
        </p:nvSpPr>
        <p:spPr>
          <a:xfrm>
            <a:off x="506796" y="5080473"/>
            <a:ext cx="598344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s-ES_tradnl" sz="1000" b="1" dirty="0">
                <a:solidFill>
                  <a:schemeClr val="bg1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Fuente: </a:t>
            </a:r>
            <a:r>
              <a:rPr lang="es-ES_tradnl" sz="1000" dirty="0">
                <a:solidFill>
                  <a:schemeClr val="bg1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Elaboración propia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79D74-3931-1014-C54A-319018CE3EA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TIPOS DE SERVICIOS REST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0781A20-A84D-D012-AA63-456201096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98152"/>
              </p:ext>
            </p:extLst>
          </p:nvPr>
        </p:nvGraphicFramePr>
        <p:xfrm>
          <a:off x="506555" y="1386610"/>
          <a:ext cx="8172452" cy="2595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4944">
                  <a:extLst>
                    <a:ext uri="{9D8B030D-6E8A-4147-A177-3AD203B41FA5}">
                      <a16:colId xmlns:a16="http://schemas.microsoft.com/office/drawing/2014/main" val="1472642627"/>
                    </a:ext>
                  </a:extLst>
                </a:gridCol>
                <a:gridCol w="2230582">
                  <a:extLst>
                    <a:ext uri="{9D8B030D-6E8A-4147-A177-3AD203B41FA5}">
                      <a16:colId xmlns:a16="http://schemas.microsoft.com/office/drawing/2014/main" val="1908299113"/>
                    </a:ext>
                  </a:extLst>
                </a:gridCol>
                <a:gridCol w="1995054">
                  <a:extLst>
                    <a:ext uri="{9D8B030D-6E8A-4147-A177-3AD203B41FA5}">
                      <a16:colId xmlns:a16="http://schemas.microsoft.com/office/drawing/2014/main" val="1429943308"/>
                    </a:ext>
                  </a:extLst>
                </a:gridCol>
                <a:gridCol w="2371872">
                  <a:extLst>
                    <a:ext uri="{9D8B030D-6E8A-4147-A177-3AD203B41FA5}">
                      <a16:colId xmlns:a16="http://schemas.microsoft.com/office/drawing/2014/main" val="2695806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1" noProof="0" dirty="0">
                          <a:solidFill>
                            <a:schemeClr val="bg1"/>
                          </a:solidFill>
                        </a:rPr>
                        <a:t>Características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1" noProof="0" dirty="0" err="1">
                          <a:solidFill>
                            <a:schemeClr val="bg1"/>
                          </a:solidFill>
                        </a:rPr>
                        <a:t>APIs</a:t>
                      </a:r>
                      <a:r>
                        <a:rPr lang="es-ES_tradnl" sz="1200" b="1" noProof="0" dirty="0">
                          <a:solidFill>
                            <a:schemeClr val="bg1"/>
                          </a:solidFill>
                        </a:rPr>
                        <a:t> REST Públicas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0" dirty="0" err="1">
                          <a:solidFill>
                            <a:schemeClr val="bg1"/>
                          </a:solidFill>
                        </a:rPr>
                        <a:t>APIs</a:t>
                      </a:r>
                      <a:r>
                        <a:rPr lang="es-ES_tradnl" sz="1200" b="1" noProof="0" dirty="0">
                          <a:solidFill>
                            <a:schemeClr val="bg1"/>
                          </a:solidFill>
                        </a:rPr>
                        <a:t> REST Privadas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0" dirty="0" err="1">
                          <a:solidFill>
                            <a:schemeClr val="bg1"/>
                          </a:solidFill>
                        </a:rPr>
                        <a:t>APIs</a:t>
                      </a:r>
                      <a:r>
                        <a:rPr lang="es-ES_tradnl" sz="1200" b="1" noProof="0" dirty="0">
                          <a:solidFill>
                            <a:schemeClr val="bg1"/>
                          </a:solidFill>
                        </a:rPr>
                        <a:t> REST para Socios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65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Acceso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Público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Interno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Restringido a socios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93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Documentación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Extensa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Completa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21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Seguridad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es-ES_tradnl" sz="1200" noProof="0" dirty="0" err="1">
                          <a:solidFill>
                            <a:schemeClr val="tx1"/>
                          </a:solidFill>
                        </a:rPr>
                        <a:t>Keys</a:t>
                      </a:r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, OAuth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Autenticación interna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Credenciales específicas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52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Uso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Integración abierta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Integración interna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Integración con socios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35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Versionado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Común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Opcional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Común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4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Ejemplos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Google </a:t>
                      </a:r>
                      <a:r>
                        <a:rPr lang="es-ES_tradnl" sz="1200" noProof="0" dirty="0" err="1">
                          <a:solidFill>
                            <a:schemeClr val="tx1"/>
                          </a:solidFill>
                        </a:rPr>
                        <a:t>Maps</a:t>
                      </a:r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 API, Twitter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 err="1">
                          <a:solidFill>
                            <a:schemeClr val="tx1"/>
                          </a:solidFill>
                        </a:rPr>
                        <a:t>APIs</a:t>
                      </a:r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 internas de empresas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200" noProof="0" dirty="0" err="1">
                          <a:solidFill>
                            <a:schemeClr val="tx1"/>
                          </a:solidFill>
                        </a:rPr>
                        <a:t>APIs</a:t>
                      </a:r>
                      <a:r>
                        <a:rPr lang="es-ES_tradnl" sz="1200" noProof="0" dirty="0">
                          <a:solidFill>
                            <a:schemeClr val="tx1"/>
                          </a:solidFill>
                        </a:rPr>
                        <a:t> de integración con </a:t>
                      </a:r>
                      <a:r>
                        <a:rPr lang="es-ES_tradnl" sz="1200" noProof="0" dirty="0" err="1">
                          <a:solidFill>
                            <a:schemeClr val="tx1"/>
                          </a:solidFill>
                        </a:rPr>
                        <a:t>partners</a:t>
                      </a:r>
                      <a:endParaRPr lang="es-ES_tradnl" sz="12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64902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58311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654655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Son buenas prácticas en la gestión de servicios REST:</a:t>
            </a:r>
          </a:p>
          <a:p>
            <a:pPr marL="227013" indent="-227013">
              <a:buClr>
                <a:srgbClr val="654E97"/>
              </a:buClr>
              <a:buFont typeface="+mj-lt"/>
              <a:buAutoNum type="arabicPeriod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Documentar adecuadamente las APIs utilizando herramientas como Swagger para facilitar la comprensión y el uso de los servicios por parte de los desarrolladores.</a:t>
            </a:r>
          </a:p>
          <a:p>
            <a:pPr marL="227013" indent="-227013">
              <a:buClr>
                <a:srgbClr val="654E97"/>
              </a:buClr>
              <a:buFont typeface="+mj-lt"/>
              <a:buAutoNum type="arabicPeriod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Implementar versiones de APIs para mantener la compatibilidad y permitir mejoras sin romper integraciones existentes.</a:t>
            </a:r>
          </a:p>
          <a:p>
            <a:pPr marL="227013" indent="-227013">
              <a:buClr>
                <a:srgbClr val="654E97"/>
              </a:buClr>
              <a:buFont typeface="+mj-lt"/>
              <a:buAutoNum type="arabicPeriod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Asegurar la autenticación y autorización de las APIs para proteger los datos y recursos.</a:t>
            </a: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Las pruebas de servicios REST son cruciales para asegurar la funcionalidad y fiabilidad de las APIs.</a:t>
            </a: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Herramientas como Postman, SoapUI y frameworks de prueba en Java facilitan la validación y automatización de pruebas.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891072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51086C-6070-CA1C-9C41-F0EE346E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527631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dirty="0"/>
              <a:t>Richardson, L., &amp; Ruby, S. RESTful Web Services.</a:t>
            </a:r>
          </a:p>
          <a:p>
            <a:endParaRPr lang="en-US" sz="1400" dirty="0"/>
          </a:p>
          <a:p>
            <a:r>
              <a:rPr lang="en-US" sz="1400" dirty="0"/>
              <a:t>Postman Documentation.</a:t>
            </a:r>
          </a:p>
          <a:p>
            <a:endParaRPr lang="en-US" sz="1400" dirty="0"/>
          </a:p>
          <a:p>
            <a:r>
              <a:rPr lang="en-US" sz="1400" dirty="0"/>
              <a:t>SoapUI Documentation.</a:t>
            </a:r>
          </a:p>
          <a:p>
            <a:endParaRPr lang="en-US" sz="1400" dirty="0"/>
          </a:p>
          <a:p>
            <a:r>
              <a:rPr lang="en-US" sz="1400" dirty="0"/>
              <a:t>Spring Framework Documentation.</a:t>
            </a:r>
            <a:endParaRPr lang="es" sz="1400" dirty="0">
              <a:solidFill>
                <a:srgbClr val="006621"/>
              </a:solidFill>
              <a:latin typeface="Calibri"/>
              <a:cs typeface="Calibri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398446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11A020-6FF6-973C-C11A-60A787D56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814753"/>
            <a:ext cx="103867" cy="1069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D7DF5F-5B3E-29A5-2D37-84DB4A404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250991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14312</TotalTime>
  <Words>1282</Words>
  <Application>Microsoft Macintosh PowerPoint</Application>
  <PresentationFormat>Presentación en pantalla (16:10)</PresentationFormat>
  <Paragraphs>238</Paragraphs>
  <Slides>25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Graphik Bold</vt:lpstr>
      <vt:lpstr>Graphik Medium</vt:lpstr>
      <vt:lpstr>Graphik Regular</vt:lpstr>
      <vt:lpstr>Graphik-Medium</vt:lpstr>
      <vt:lpstr>Söhne</vt:lpstr>
      <vt:lpstr>ui-sans-serif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Microsoft Office User</cp:lastModifiedBy>
  <cp:revision>498</cp:revision>
  <cp:lastPrinted>2018-01-16T21:42:59Z</cp:lastPrinted>
  <dcterms:created xsi:type="dcterms:W3CDTF">2016-10-06T14:52:02Z</dcterms:created>
  <dcterms:modified xsi:type="dcterms:W3CDTF">2024-10-01T21:35:33Z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