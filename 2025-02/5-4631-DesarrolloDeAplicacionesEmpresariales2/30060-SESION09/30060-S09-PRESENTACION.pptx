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662" r:id="rId2"/>
    <p:sldId id="627" r:id="rId3"/>
    <p:sldId id="628" r:id="rId4"/>
    <p:sldId id="742" r:id="rId5"/>
    <p:sldId id="259" r:id="rId6"/>
    <p:sldId id="260" r:id="rId7"/>
    <p:sldId id="261" r:id="rId8"/>
    <p:sldId id="262" r:id="rId9"/>
    <p:sldId id="263" r:id="rId10"/>
    <p:sldId id="264" r:id="rId11"/>
    <p:sldId id="743" r:id="rId12"/>
    <p:sldId id="266" r:id="rId13"/>
    <p:sldId id="267" r:id="rId14"/>
    <p:sldId id="268" r:id="rId15"/>
    <p:sldId id="269" r:id="rId16"/>
    <p:sldId id="270" r:id="rId17"/>
    <p:sldId id="271" r:id="rId18"/>
    <p:sldId id="744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588" r:id="rId27"/>
    <p:sldId id="589" r:id="rId28"/>
    <p:sldId id="745" r:id="rId29"/>
    <p:sldId id="590" r:id="rId30"/>
    <p:sldId id="591" r:id="rId31"/>
    <p:sldId id="593" r:id="rId32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65">
          <p15:clr>
            <a:srgbClr val="A4A3A4"/>
          </p15:clr>
        </p15:guide>
        <p15:guide id="3" pos="317">
          <p15:clr>
            <a:srgbClr val="A4A3A4"/>
          </p15:clr>
        </p15:guide>
        <p15:guide id="4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EmeZTi7WCaw7j5gzuu3Ctom36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3"/>
    <p:restoredTop sz="94740"/>
  </p:normalViewPr>
  <p:slideViewPr>
    <p:cSldViewPr snapToGrid="0">
      <p:cViewPr varScale="1">
        <p:scale>
          <a:sx n="100" d="100"/>
          <a:sy n="100" d="100"/>
        </p:scale>
        <p:origin x="96" y="462"/>
      </p:cViewPr>
      <p:guideLst>
        <p:guide pos="5465"/>
        <p:guide pos="317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2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2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2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2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3F65-F098-56A8-5CFA-CC2E7449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9CF023-0468-A485-782A-2C4F158E1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384A16-B2E3-3D14-24E8-0AAD86C7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B850C-CFFA-06A2-4A80-759794FA8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57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2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666D64-512E-A903-B7A5-85EB6FB2C855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3F1AE23-15CE-6906-B380-B52F8C6D93C0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09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971E17-3B1B-ED47-FD0F-5F5359DE3F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575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317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3297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8" y="2177570"/>
            <a:ext cx="3168111" cy="7201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26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RECONOCIMIENTO </a:t>
            </a:r>
          </a:p>
          <a:p>
            <a:pPr lvl="0">
              <a:lnSpc>
                <a:spcPct val="90000"/>
              </a:lnSpc>
            </a:pPr>
            <a:r>
              <a:rPr lang="es-PE" sz="26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DE LIBRERÍAS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642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Eficiencia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Librerías Spring JDBC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Consultas con Spring JDBC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09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9" y="918372"/>
            <a:ext cx="5324758" cy="4093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dirty="0">
                <a:latin typeface="Calibri" charset="0"/>
                <a:cs typeface="Calibri" charset="0"/>
              </a:rPr>
              <a:t>Java Database Connectivity (JDBC) es una API estándar proporcionada por Java que permite a las aplicaciones Java </a:t>
            </a:r>
            <a:r>
              <a:rPr lang="es-PE" sz="1400" b="1" dirty="0">
                <a:latin typeface="Calibri" charset="0"/>
                <a:cs typeface="Calibri" charset="0"/>
              </a:rPr>
              <a:t>interactuar con bases de datos relacionales. 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cs typeface="Calibri" charset="0"/>
              </a:rPr>
              <a:t>JDBC proporciona un conjunto de interfaces y clases que permiten a los desarrolladores ejecutar sentencias SQL, actualizar datos y recuperar resultados desde una base de datos.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b="1" dirty="0">
                <a:latin typeface="Calibri" charset="0"/>
                <a:cs typeface="Calibri" charset="0"/>
              </a:rPr>
              <a:t>Componentes Clave de JDBC:</a:t>
            </a: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1400" b="1" dirty="0">
                <a:latin typeface="Calibri" charset="0"/>
                <a:cs typeface="Calibri" charset="0"/>
              </a:rPr>
              <a:t>DriverManager: </a:t>
            </a:r>
            <a:r>
              <a:rPr lang="es-PE" sz="1400" dirty="0">
                <a:latin typeface="Calibri" charset="0"/>
                <a:cs typeface="Calibri" charset="0"/>
              </a:rPr>
              <a:t>Gestiona los controladores de bases de datos y establece conexiones a bases de datos.</a:t>
            </a: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1400" dirty="0">
              <a:latin typeface="Calibri" charset="0"/>
              <a:cs typeface="Calibri" charset="0"/>
            </a:endParaRP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1400" b="1" dirty="0">
                <a:latin typeface="Calibri" charset="0"/>
                <a:cs typeface="Calibri" charset="0"/>
              </a:rPr>
              <a:t>Connection: </a:t>
            </a:r>
            <a:r>
              <a:rPr lang="es-PE" sz="1400" dirty="0">
                <a:latin typeface="Calibri" charset="0"/>
                <a:cs typeface="Calibri" charset="0"/>
              </a:rPr>
              <a:t>Representa una conexión a una base de datos específica.</a:t>
            </a: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1400" dirty="0">
              <a:latin typeface="Calibri" charset="0"/>
              <a:cs typeface="Calibri" charset="0"/>
            </a:endParaRP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1400" b="1" dirty="0">
                <a:latin typeface="Calibri" charset="0"/>
                <a:cs typeface="Calibri" charset="0"/>
              </a:rPr>
              <a:t>Statement: </a:t>
            </a:r>
            <a:r>
              <a:rPr lang="es-PE" sz="1400" dirty="0">
                <a:latin typeface="Calibri" charset="0"/>
                <a:cs typeface="Calibri" charset="0"/>
              </a:rPr>
              <a:t>Se utiliza para ejecutar consultas SQL y enviar comandos a la base de datos.</a:t>
            </a: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PE" sz="1400" dirty="0">
              <a:latin typeface="Calibri" charset="0"/>
              <a:cs typeface="Calibri" charset="0"/>
            </a:endParaRPr>
          </a:p>
          <a:p>
            <a:pPr marL="184150" indent="-1841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PE" sz="1400" b="1" dirty="0">
                <a:latin typeface="Calibri" charset="0"/>
                <a:cs typeface="Calibri" charset="0"/>
              </a:rPr>
              <a:t>ResultSet: </a:t>
            </a:r>
            <a:r>
              <a:rPr lang="es-PE" sz="1400" dirty="0">
                <a:latin typeface="Calibri" charset="0"/>
                <a:cs typeface="Calibri" charset="0"/>
              </a:rPr>
              <a:t>Mantiene los resultados que se obtienen de una consulta SQL y permite iterar sobre ellos.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1821949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666226"/>
            <a:ext cx="117851" cy="121369"/>
          </a:xfrm>
          <a:prstGeom prst="rect">
            <a:avLst/>
          </a:prstGeom>
        </p:spPr>
      </p:pic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EFICIENCIA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505788" y="920207"/>
            <a:ext cx="3886826" cy="289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VENTAJAS DE USAR JDBC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</a:t>
            </a:r>
          </a:p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endParaRPr lang="es-ES"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0975" marR="0" lvl="0" indent="-180975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Portabilidad: 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JDBC es parte del estándar Java, lo que garantiza su portabilidad en diferentes plataformas y sistemas de bases de datos.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0975" marR="0" lvl="0" indent="-180975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Flexibilidad: 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Permite un control detallado sobre las operaciones de base de datos, incluyendo la gestión de conexiones y transacciones.</a:t>
            </a:r>
            <a:endParaRPr sz="1600" i="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90C2099-A7BF-5B5C-3F32-3E3370CA12E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344F26-BFC4-C83E-D25C-0F7A15DBFF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" r="4504"/>
          <a:stretch/>
        </p:blipFill>
        <p:spPr>
          <a:xfrm>
            <a:off x="4751388" y="912813"/>
            <a:ext cx="3924300" cy="2867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505787" y="920207"/>
            <a:ext cx="4066213" cy="293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EFICIENCIA EN EL USO DE SPRING JDBC</a:t>
            </a:r>
          </a:p>
          <a:p>
            <a:pPr>
              <a:spcAft>
                <a:spcPts val="600"/>
              </a:spcAft>
            </a:pPr>
            <a:endParaRPr lang="es-ES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Reducción del Código </a:t>
            </a:r>
            <a:r>
              <a:rPr lang="es-ES" sz="16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Boilerplate</a:t>
            </a: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Java JDBC:</a:t>
            </a:r>
            <a:b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Requiere mucho código repetitivo para gestionar conexiones, sentencias y resultados.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Spring JDBC:</a:t>
            </a:r>
            <a:b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Simplifica la gestión de conexiones y recursos, reduciendo significativamente el código necesario.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0B1A5E2-6EE4-E009-8BBB-9332F2ED3966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758873-EE4E-6407-3C44-6759E294F9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" r="4504"/>
          <a:stretch/>
        </p:blipFill>
        <p:spPr>
          <a:xfrm>
            <a:off x="4751388" y="912813"/>
            <a:ext cx="3924300" cy="2867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5130B18-A09E-B189-6C22-304E1935375F}"/>
              </a:ext>
            </a:extLst>
          </p:cNvPr>
          <p:cNvSpPr/>
          <p:nvPr/>
        </p:nvSpPr>
        <p:spPr>
          <a:xfrm>
            <a:off x="503238" y="1964117"/>
            <a:ext cx="3889375" cy="257386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9538C9-5512-0833-93F4-D4B85A7A9521}"/>
              </a:ext>
            </a:extLst>
          </p:cNvPr>
          <p:cNvSpPr/>
          <p:nvPr/>
        </p:nvSpPr>
        <p:spPr>
          <a:xfrm>
            <a:off x="4781972" y="1964117"/>
            <a:ext cx="3889375" cy="257386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239" y="2033348"/>
            <a:ext cx="3738475" cy="2391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6"/>
          <p:cNvPicPr preferRelativeResize="0"/>
          <p:nvPr/>
        </p:nvPicPr>
        <p:blipFill rotWithShape="1">
          <a:blip r:embed="rId4">
            <a:alphaModFix/>
          </a:blip>
          <a:srcRect l="1993" r="10923"/>
          <a:stretch/>
        </p:blipFill>
        <p:spPr>
          <a:xfrm>
            <a:off x="4896166" y="2148494"/>
            <a:ext cx="3651780" cy="12667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37ED31F3-46E1-FDB5-C726-7BBE732B358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16FCE80-07C9-F202-04B8-B8AE9F064E9E}"/>
              </a:ext>
            </a:extLst>
          </p:cNvPr>
          <p:cNvSpPr/>
          <p:nvPr/>
        </p:nvSpPr>
        <p:spPr>
          <a:xfrm>
            <a:off x="1219201" y="1283579"/>
            <a:ext cx="2590800" cy="40419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Ejemplo de Java JDBC: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4304B4B-A751-0D65-10DB-A9BD29D22A83}"/>
              </a:ext>
            </a:extLst>
          </p:cNvPr>
          <p:cNvSpPr/>
          <p:nvPr/>
        </p:nvSpPr>
        <p:spPr>
          <a:xfrm>
            <a:off x="5351239" y="1283579"/>
            <a:ext cx="2590800" cy="40419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Ejemplo de </a:t>
            </a:r>
            <a:r>
              <a:rPr lang="es-ES" b="1">
                <a:latin typeface="Calibri" panose="020F0502020204030204" pitchFamily="34" charset="0"/>
                <a:cs typeface="Calibri" panose="020F0502020204030204" pitchFamily="34" charset="0"/>
              </a:rPr>
              <a:t>Spring JDBC: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/>
        </p:nvSpPr>
        <p:spPr>
          <a:xfrm>
            <a:off x="505787" y="920207"/>
            <a:ext cx="7924800" cy="335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spcAft>
                <a:spcPts val="600"/>
              </a:spcAft>
              <a:buClr>
                <a:schemeClr val="tx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MANEJO SIMPLIFICADO DE EXCEPCIONES:</a:t>
            </a:r>
            <a:endParaRPr lang="es-ES" sz="1600" i="0" u="sng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Java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Los desarrolladores deben manejar manualmente las excepciones SQL y las posibles fugas de recursos.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Spring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Utiliza “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DataAccessException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 para un manejo de excepciones más uniforme y simplificado.</a:t>
            </a:r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</a:pP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>
              <a:spcAft>
                <a:spcPts val="600"/>
              </a:spcAft>
              <a:buClr>
                <a:schemeClr val="tx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GESTIÓN AUTOMÁTICA DE RECURSOS:</a:t>
            </a:r>
            <a:endParaRPr lang="es-ES" sz="1600" i="0" u="sng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Java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Requiere cerrar manualmente conexiones, sentencias y 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ResultSet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lang="es-ES"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Spring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Gestiona automáticamente la apertura y cierre de recursos, evitando fugas de recursos y errores comunes.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9FBBE7F-BFAB-82EC-ADB5-D039E68C5BB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/>
        </p:nvSpPr>
        <p:spPr>
          <a:xfrm>
            <a:off x="505787" y="920207"/>
            <a:ext cx="814643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INTEGRACIÓN CON OTROS COMPONENTES DE SPRING:</a:t>
            </a:r>
          </a:p>
          <a:p>
            <a:pPr lvl="1">
              <a:spcAft>
                <a:spcPts val="600"/>
              </a:spcAft>
              <a:buClr>
                <a:srgbClr val="374151"/>
              </a:buClr>
              <a:buSzPts val="1600"/>
            </a:pPr>
            <a:endParaRPr lang="es-ES" sz="1600" i="0" u="sng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Java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 proporciona integración directa con otros componentes.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Spring JDBC: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 integra fácilmente con otros módulos de Spring, como Spring </a:t>
            </a: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y Spring Security, proporcionando una solución completa para el desarrollo de aplicaciones.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5634A06-2FD1-CC0E-D42B-82457860FB1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505787" y="920207"/>
            <a:ext cx="72044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BENEFICIOS EN TÉRMINOS DE TIEMPO DE DESARROLLO Y MANTENIBILIDAD: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B26EBE0-4FD7-EE8D-382D-55E42B58705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0EF1BFB-B2D9-433D-D902-2A26C36FFEC2}"/>
              </a:ext>
            </a:extLst>
          </p:cNvPr>
          <p:cNvCxnSpPr>
            <a:cxnSpLocks/>
          </p:cNvCxnSpPr>
          <p:nvPr/>
        </p:nvCxnSpPr>
        <p:spPr>
          <a:xfrm>
            <a:off x="722046" y="1706794"/>
            <a:ext cx="0" cy="705102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3A1463DE-0FE2-417F-1FC7-2D1AF460AEA5}"/>
              </a:ext>
            </a:extLst>
          </p:cNvPr>
          <p:cNvGrpSpPr/>
          <p:nvPr/>
        </p:nvGrpSpPr>
        <p:grpSpPr>
          <a:xfrm>
            <a:off x="645704" y="1517176"/>
            <a:ext cx="7067061" cy="646331"/>
            <a:chOff x="645704" y="1517176"/>
            <a:chExt cx="7067061" cy="64633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723B3EE-E143-EC9B-65AE-7350F0B15F1B}"/>
                </a:ext>
              </a:extLst>
            </p:cNvPr>
            <p:cNvSpPr/>
            <p:nvPr/>
          </p:nvSpPr>
          <p:spPr>
            <a:xfrm>
              <a:off x="936447" y="1517176"/>
              <a:ext cx="6776318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</a:pPr>
              <a:r>
                <a:rPr lang="es-ES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ACELERACIÓN DEL DESARROLLO:</a:t>
              </a:r>
              <a:endParaRPr lang="es-ES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 reducción del código repetitivo y la simplificación de la gestión de excepciones aceleran el proceso de desarrollo, permitiendo a los desarrolladores centrarse en la lógica de negocio.</a:t>
              </a:r>
            </a:p>
          </p:txBody>
        </p:sp>
        <p:sp>
          <p:nvSpPr>
            <p:cNvPr id="7" name="Más 6">
              <a:extLst>
                <a:ext uri="{FF2B5EF4-FFF2-40B4-BE49-F238E27FC236}">
                  <a16:creationId xmlns:a16="http://schemas.microsoft.com/office/drawing/2014/main" id="{C4880D32-0683-BD5E-47AF-639FB733292F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52BAD348-1A44-F201-1F3B-A71C96FA3498}"/>
              </a:ext>
            </a:extLst>
          </p:cNvPr>
          <p:cNvGrpSpPr/>
          <p:nvPr/>
        </p:nvGrpSpPr>
        <p:grpSpPr>
          <a:xfrm>
            <a:off x="645704" y="2437981"/>
            <a:ext cx="7000800" cy="861774"/>
            <a:chOff x="645704" y="1517176"/>
            <a:chExt cx="7000800" cy="86177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DE8E00D8-2FA8-D071-7281-D0A2570D7E95}"/>
                </a:ext>
              </a:extLst>
            </p:cNvPr>
            <p:cNvSpPr/>
            <p:nvPr/>
          </p:nvSpPr>
          <p:spPr>
            <a:xfrm>
              <a:off x="936447" y="1517176"/>
              <a:ext cx="6710057" cy="86177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</a:pPr>
              <a:r>
                <a:rPr lang="es-ES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MEJOR MANTENIBILIDAD:</a:t>
              </a:r>
              <a:endParaRPr lang="es-ES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Menos código repetitivo y una gestión de excepciones más uniforme facilitan el mantenimiento del código a largo plazo, reduciendo el costo y el esfuerzo asociados con las actualizaciones y modificaciones.</a:t>
              </a:r>
            </a:p>
          </p:txBody>
        </p:sp>
        <p:sp>
          <p:nvSpPr>
            <p:cNvPr id="10" name="Más 9">
              <a:extLst>
                <a:ext uri="{FF2B5EF4-FFF2-40B4-BE49-F238E27FC236}">
                  <a16:creationId xmlns:a16="http://schemas.microsoft.com/office/drawing/2014/main" id="{FE131D20-97F4-C0DB-5FAE-D4621CA196DC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C274F50-A47D-B320-99B2-051C8EF3B314}"/>
              </a:ext>
            </a:extLst>
          </p:cNvPr>
          <p:cNvGrpSpPr/>
          <p:nvPr/>
        </p:nvGrpSpPr>
        <p:grpSpPr>
          <a:xfrm>
            <a:off x="645704" y="3574228"/>
            <a:ext cx="7006885" cy="861774"/>
            <a:chOff x="645704" y="1517176"/>
            <a:chExt cx="7006885" cy="86177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0DA361D-8C8C-2F6D-6DE5-0F65E24218B3}"/>
                </a:ext>
              </a:extLst>
            </p:cNvPr>
            <p:cNvSpPr/>
            <p:nvPr/>
          </p:nvSpPr>
          <p:spPr>
            <a:xfrm>
              <a:off x="936447" y="1517176"/>
              <a:ext cx="6716142" cy="86177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</a:pPr>
              <a:r>
                <a:rPr lang="es-ES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ESCALABILIDAD:</a:t>
              </a:r>
              <a:endParaRPr lang="es-ES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r>
                <a:rPr lang="es-E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 capacidad de integrar fácilmente Spring JDBC con otros componentes de Spring permite a las aplicaciones escalar de manera más eficiente, adaptándose a las necesidades cambiantes del negocio.</a:t>
              </a:r>
            </a:p>
          </p:txBody>
        </p:sp>
        <p:sp>
          <p:nvSpPr>
            <p:cNvPr id="13" name="Más 12">
              <a:extLst>
                <a:ext uri="{FF2B5EF4-FFF2-40B4-BE49-F238E27FC236}">
                  <a16:creationId xmlns:a16="http://schemas.microsoft.com/office/drawing/2014/main" id="{758BF273-1E81-CD13-9BF9-866B7B93790E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2D0954F-780E-CCFC-0DBC-F4DB90AC1FE6}"/>
              </a:ext>
            </a:extLst>
          </p:cNvPr>
          <p:cNvCxnSpPr>
            <a:cxnSpLocks/>
          </p:cNvCxnSpPr>
          <p:nvPr/>
        </p:nvCxnSpPr>
        <p:spPr>
          <a:xfrm>
            <a:off x="722046" y="2628224"/>
            <a:ext cx="0" cy="92998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2683913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LIBRERÍAS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SPRING JDBC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0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FC43D6A-52D4-D71B-EDEF-53AF2C0D7A49}"/>
              </a:ext>
            </a:extLst>
          </p:cNvPr>
          <p:cNvSpPr/>
          <p:nvPr/>
        </p:nvSpPr>
        <p:spPr>
          <a:xfrm>
            <a:off x="503238" y="3122507"/>
            <a:ext cx="8172450" cy="2111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7" name="Google Shape;117;p11"/>
          <p:cNvSpPr txBox="1"/>
          <p:nvPr/>
        </p:nvSpPr>
        <p:spPr>
          <a:xfrm>
            <a:off x="505787" y="920207"/>
            <a:ext cx="7458900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CONCEPTOS BÁSICOS DE JAVA JDBC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Componentes de Java JDBC: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DriverManager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Gestiona la lista de controladores de bases de datos.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Representa una conexión a la base de datos.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Ejecuta sentencias SQL contra la base de datos.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ResultSet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Mantiene los datos que se obtienen de una consulta SQL.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1140127" y="3482013"/>
            <a:ext cx="6865955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Connection conn = DriverManager.getConnection("jdbc:mysql://localhost:3306/dbname", "user", "password");</a:t>
            </a: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Statement stmt = conn.createStatement();</a:t>
            </a: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ResultSet rs = stmt.executeQuery("SELECT * FROM table");</a:t>
            </a: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while (rs.next()) {</a:t>
            </a:r>
          </a:p>
          <a:p>
            <a:pPr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System.out.println(rs.getString("column_name"));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F37C3E-741A-A12C-204B-4873D94C0AD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/>
        </p:nvSpPr>
        <p:spPr>
          <a:xfrm>
            <a:off x="505787" y="920207"/>
            <a:ext cx="7458900" cy="52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t" anchorCtr="0">
            <a:spAutoFit/>
          </a:bodyPr>
          <a:lstStyle/>
          <a:p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INTRODUCCIÓN A SPRING JDBC</a:t>
            </a:r>
          </a:p>
          <a:p>
            <a:pPr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0D4EB77-A22C-73F9-EF99-F58338D56BD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390E1FF-EF53-D65B-1F4C-D5671E0849F9}"/>
              </a:ext>
            </a:extLst>
          </p:cNvPr>
          <p:cNvGrpSpPr/>
          <p:nvPr/>
        </p:nvGrpSpPr>
        <p:grpSpPr>
          <a:xfrm>
            <a:off x="1219720" y="1837653"/>
            <a:ext cx="6501362" cy="2280530"/>
            <a:chOff x="297001" y="1543608"/>
            <a:chExt cx="6501362" cy="228053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32F44355-567C-0081-13F7-54934F30EAE1}"/>
                </a:ext>
              </a:extLst>
            </p:cNvPr>
            <p:cNvGrpSpPr/>
            <p:nvPr/>
          </p:nvGrpSpPr>
          <p:grpSpPr>
            <a:xfrm>
              <a:off x="3596106" y="1543608"/>
              <a:ext cx="3202257" cy="2280530"/>
              <a:chOff x="3681756" y="1543608"/>
              <a:chExt cx="3202257" cy="2280530"/>
            </a:xfrm>
          </p:grpSpPr>
          <p:sp>
            <p:nvSpPr>
              <p:cNvPr id="13" name="Google Shape;333;p23">
                <a:extLst>
                  <a:ext uri="{FF2B5EF4-FFF2-40B4-BE49-F238E27FC236}">
                    <a16:creationId xmlns:a16="http://schemas.microsoft.com/office/drawing/2014/main" id="{746D1B1A-2CEF-FFCE-C742-2722BA8AAD0B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2986491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5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Ventajas de Spring JDBC:</a:t>
                </a:r>
                <a:endParaRPr lang="es-ES" sz="15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335;p23">
                <a:extLst>
                  <a:ext uri="{FF2B5EF4-FFF2-40B4-BE49-F238E27FC236}">
                    <a16:creationId xmlns:a16="http://schemas.microsoft.com/office/drawing/2014/main" id="{6486A9E2-AA7C-CB5C-7E6A-0465B1B406D6}"/>
                  </a:ext>
                </a:extLst>
              </p:cNvPr>
              <p:cNvSpPr/>
              <p:nvPr/>
            </p:nvSpPr>
            <p:spPr>
              <a:xfrm>
                <a:off x="3897522" y="2118159"/>
                <a:ext cx="2986491" cy="1705979"/>
              </a:xfrm>
              <a:prstGeom prst="roundRect">
                <a:avLst>
                  <a:gd name="adj" fmla="val 2748"/>
                </a:avLst>
              </a:prstGeom>
              <a:solidFill>
                <a:srgbClr val="FFD7C1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5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Reduce el código </a:t>
                </a:r>
                <a:r>
                  <a:rPr lang="es-ES_tradnl" sz="1500" dirty="0" err="1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boilerplate</a:t>
                </a:r>
                <a:r>
                  <a:rPr lang="es-ES_tradnl" sz="15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5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Maneja automáticamente la apertura y cierre de conexiones.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5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Simplifica el manejo de excepciones.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sz="15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15" name="Agrupar 9">
                <a:extLst>
                  <a:ext uri="{FF2B5EF4-FFF2-40B4-BE49-F238E27FC236}">
                    <a16:creationId xmlns:a16="http://schemas.microsoft.com/office/drawing/2014/main" id="{15EB782D-FEFC-C8BA-1683-0B40B90CB9C1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55A3AB0C-EF9C-10B4-C9B4-DDBAE463990E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C65C1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30250F8F-C524-8D03-EB11-40A0A7E7B7A0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CD3D5817-6679-118C-1E3B-661A7709A5C3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181B00-1043-E16D-1A01-108E47B3EA4A}"/>
                </a:ext>
              </a:extLst>
            </p:cNvPr>
            <p:cNvGrpSpPr/>
            <p:nvPr/>
          </p:nvGrpSpPr>
          <p:grpSpPr>
            <a:xfrm>
              <a:off x="297001" y="1543608"/>
              <a:ext cx="3201406" cy="2280530"/>
              <a:chOff x="297001" y="1543608"/>
              <a:chExt cx="3201406" cy="2280530"/>
            </a:xfrm>
          </p:grpSpPr>
          <p:sp>
            <p:nvSpPr>
              <p:cNvPr id="7" name="Google Shape;332;p23">
                <a:extLst>
                  <a:ext uri="{FF2B5EF4-FFF2-40B4-BE49-F238E27FC236}">
                    <a16:creationId xmlns:a16="http://schemas.microsoft.com/office/drawing/2014/main" id="{7777ADAD-9804-D859-FF1E-B9395AD390C8}"/>
                  </a:ext>
                </a:extLst>
              </p:cNvPr>
              <p:cNvSpPr/>
              <p:nvPr/>
            </p:nvSpPr>
            <p:spPr>
              <a:xfrm>
                <a:off x="511916" y="1543608"/>
                <a:ext cx="2986491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5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Definición de Spring JDBC: </a:t>
                </a:r>
                <a:endParaRPr lang="es-ES" sz="15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334;p23">
                <a:extLst>
                  <a:ext uri="{FF2B5EF4-FFF2-40B4-BE49-F238E27FC236}">
                    <a16:creationId xmlns:a16="http://schemas.microsoft.com/office/drawing/2014/main" id="{7D841637-5BEF-2913-B138-8F6FB206AF30}"/>
                  </a:ext>
                </a:extLst>
              </p:cNvPr>
              <p:cNvSpPr/>
              <p:nvPr/>
            </p:nvSpPr>
            <p:spPr>
              <a:xfrm>
                <a:off x="511916" y="2118159"/>
                <a:ext cx="2986491" cy="1705979"/>
              </a:xfrm>
              <a:prstGeom prst="roundRect">
                <a:avLst>
                  <a:gd name="adj" fmla="val 2748"/>
                </a:avLst>
              </a:prstGeom>
              <a:solidFill>
                <a:srgbClr val="FFD7C1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sz="1500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Una extensión del </a:t>
                </a:r>
                <a:r>
                  <a:rPr lang="es-ES_tradnl" sz="1500" dirty="0" err="1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framework</a:t>
                </a:r>
                <a:r>
                  <a:rPr lang="es-ES_tradnl" sz="1500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 Spring que simplifica la interacción con bases de datos.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sz="1500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4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sz="1500" dirty="0">
                  <a:solidFill>
                    <a:srgbClr val="262626"/>
                  </a:solidFill>
                  <a:latin typeface="Calibri"/>
                  <a:ea typeface="+mn-ea"/>
                  <a:cs typeface="Calibri"/>
                </a:endParaRPr>
              </a:p>
            </p:txBody>
          </p:sp>
          <p:grpSp>
            <p:nvGrpSpPr>
              <p:cNvPr id="9" name="Agrupar 4">
                <a:extLst>
                  <a:ext uri="{FF2B5EF4-FFF2-40B4-BE49-F238E27FC236}">
                    <a16:creationId xmlns:a16="http://schemas.microsoft.com/office/drawing/2014/main" id="{D627C365-8253-B751-A3D9-DAAE229BD05D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4FFD204E-DD32-E1DD-217F-1E8FE2123C1C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C65C1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7514D326-F202-5540-9A1D-0AE7836CEB09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Triángulo 11">
                  <a:extLst>
                    <a:ext uri="{FF2B5EF4-FFF2-40B4-BE49-F238E27FC236}">
                      <a16:creationId xmlns:a16="http://schemas.microsoft.com/office/drawing/2014/main" id="{5E776429-EE79-9AFB-9DA0-6FE431DA2524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6F84CC2-DD5B-8145-AB63-E4CB632DD009}"/>
              </a:ext>
            </a:extLst>
          </p:cNvPr>
          <p:cNvSpPr/>
          <p:nvPr/>
        </p:nvSpPr>
        <p:spPr>
          <a:xfrm>
            <a:off x="503238" y="2079414"/>
            <a:ext cx="8172450" cy="315457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3" name="Google Shape;133;p13"/>
          <p:cNvSpPr txBox="1"/>
          <p:nvPr/>
        </p:nvSpPr>
        <p:spPr>
          <a:xfrm>
            <a:off x="505787" y="920207"/>
            <a:ext cx="4572000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MANEJO DE EXCEPCIONES EN SPRING JDBC</a:t>
            </a:r>
          </a:p>
          <a:p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DataAccessException</a:t>
            </a:r>
            <a:endParaRPr lang="es-ES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412" y="2825820"/>
            <a:ext cx="6775074" cy="15971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57B2C49-F37B-2106-BCEF-1FF5214E597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505787" y="920207"/>
            <a:ext cx="7879882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INTEGRACIÓN CON LIBRERÍAS: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JDBC: Es una extensión de Spring Framework que simplifica el uso de JDBC mediante la reducción del código </a:t>
            </a:r>
            <a:r>
              <a:rPr lang="es-ES" sz="1600" i="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boilerplate</a:t>
            </a:r>
            <a:r>
              <a:rPr lang="es-ES" sz="160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y la gestión automática de recursos.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153535B-0199-281E-809F-3E4BCD81827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3C42EDF-BEC9-F887-44AC-4DE160937745}"/>
              </a:ext>
            </a:extLst>
          </p:cNvPr>
          <p:cNvCxnSpPr>
            <a:cxnSpLocks/>
          </p:cNvCxnSpPr>
          <p:nvPr/>
        </p:nvCxnSpPr>
        <p:spPr>
          <a:xfrm>
            <a:off x="722046" y="2316390"/>
            <a:ext cx="0" cy="797870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F04EF03A-2509-22C7-708A-09109FB5A14A}"/>
              </a:ext>
            </a:extLst>
          </p:cNvPr>
          <p:cNvGrpSpPr/>
          <p:nvPr/>
        </p:nvGrpSpPr>
        <p:grpSpPr>
          <a:xfrm>
            <a:off x="645704" y="2113520"/>
            <a:ext cx="6281870" cy="692497"/>
            <a:chOff x="645704" y="1517176"/>
            <a:chExt cx="6281870" cy="69249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7414721-0009-C964-3734-C2A03D6C8751}"/>
                </a:ext>
              </a:extLst>
            </p:cNvPr>
            <p:cNvSpPr/>
            <p:nvPr/>
          </p:nvSpPr>
          <p:spPr>
            <a:xfrm>
              <a:off x="936447" y="1517176"/>
              <a:ext cx="5991127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CONFIGURACIÓN SIMPLIFICADA: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Con Spring JDBC, la configuración de conexiones y la ejecución de consultas se vuelve más sencilla y manejable.</a:t>
              </a:r>
              <a:endParaRPr lang="es-E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Más 7">
              <a:extLst>
                <a:ext uri="{FF2B5EF4-FFF2-40B4-BE49-F238E27FC236}">
                  <a16:creationId xmlns:a16="http://schemas.microsoft.com/office/drawing/2014/main" id="{87349091-3370-41B6-48D8-D108F2E75B17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2BEDE2E8-B270-918F-3CEA-07CF978225CC}"/>
              </a:ext>
            </a:extLst>
          </p:cNvPr>
          <p:cNvGrpSpPr/>
          <p:nvPr/>
        </p:nvGrpSpPr>
        <p:grpSpPr>
          <a:xfrm>
            <a:off x="645704" y="3131568"/>
            <a:ext cx="6281870" cy="461665"/>
            <a:chOff x="645704" y="1517176"/>
            <a:chExt cx="6281870" cy="46166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3D3E793-6D55-A5F2-36CC-86CCFF22397F}"/>
                </a:ext>
              </a:extLst>
            </p:cNvPr>
            <p:cNvSpPr/>
            <p:nvPr/>
          </p:nvSpPr>
          <p:spPr>
            <a:xfrm>
              <a:off x="936447" y="1517176"/>
              <a:ext cx="5991127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MANEJO DE EXCEPCIONES: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Utiliza </a:t>
              </a:r>
              <a:r>
                <a:rPr lang="es-ES" sz="15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DataAccessException</a:t>
              </a: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para simplificar el manejo de excepciones.</a:t>
              </a:r>
              <a:endParaRPr lang="es-E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DC0B4693-9424-AE01-5B82-135AB52F6583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477003E0-60E5-1F86-A0A5-251099ADB7E6}"/>
              </a:ext>
            </a:extLst>
          </p:cNvPr>
          <p:cNvGrpSpPr/>
          <p:nvPr/>
        </p:nvGrpSpPr>
        <p:grpSpPr>
          <a:xfrm>
            <a:off x="645704" y="3918784"/>
            <a:ext cx="7006885" cy="692497"/>
            <a:chOff x="645704" y="1517176"/>
            <a:chExt cx="7006885" cy="692497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5D28718-FA4E-51F3-F665-1484B72E91BE}"/>
                </a:ext>
              </a:extLst>
            </p:cNvPr>
            <p:cNvSpPr/>
            <p:nvPr/>
          </p:nvSpPr>
          <p:spPr>
            <a:xfrm>
              <a:off x="936447" y="1517176"/>
              <a:ext cx="6716142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INTEGRACIÓN:</a:t>
              </a:r>
            </a:p>
            <a:p>
              <a:pPr marR="0" lvl="1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Se integra perfectamente con otros componentes de Spring, como Spring Security, Spring MVC y Spring </a:t>
              </a:r>
              <a:r>
                <a:rPr lang="es-ES" sz="15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Boot</a:t>
              </a:r>
              <a:r>
                <a:rPr lang="es-ES" sz="15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.</a:t>
              </a:r>
              <a:endParaRPr lang="es-E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5B4949F5-3608-0E8F-2FC3-F5229B0B7C63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5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9505EF4-EB62-1F93-716D-940F5D957132}"/>
              </a:ext>
            </a:extLst>
          </p:cNvPr>
          <p:cNvCxnSpPr>
            <a:cxnSpLocks/>
          </p:cNvCxnSpPr>
          <p:nvPr/>
        </p:nvCxnSpPr>
        <p:spPr>
          <a:xfrm>
            <a:off x="722046" y="3326294"/>
            <a:ext cx="0" cy="563619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460A8A2-7A75-8F9A-6929-8CF867B13707}"/>
              </a:ext>
            </a:extLst>
          </p:cNvPr>
          <p:cNvSpPr/>
          <p:nvPr/>
        </p:nvSpPr>
        <p:spPr>
          <a:xfrm>
            <a:off x="503238" y="1431235"/>
            <a:ext cx="8172450" cy="38027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9" name="Google Shape;149;p15"/>
          <p:cNvSpPr txBox="1"/>
          <p:nvPr/>
        </p:nvSpPr>
        <p:spPr>
          <a:xfrm>
            <a:off x="505787" y="920207"/>
            <a:ext cx="5816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CÓDIGO BÁSICO CON JAVA JDBC: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91585" y="1716952"/>
            <a:ext cx="7486567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try {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Connection conn =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DriverManager.getConnection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("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jdbc:mysql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://localhost:3306/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dbname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", "user", "password");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Statement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stmt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=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conn.createStatement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ResultSet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rs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=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stmt.executeQuery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("SELECT * FROM table");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while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rs.next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()) {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 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System.out.println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rs.getString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("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column_name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"));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}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} catch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SQLException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e) {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e.printStackTrace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} finally {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try { if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rs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!= null)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rs.close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 catch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SQLException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e) {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e.printStackTrace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try { if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stmt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!= null)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stmt.close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 catch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SQLException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e) {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e.printStackTrace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   try { if (conn != null)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conn.close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 catch (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SQLException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e) {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e.printStackTrace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(); }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}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0D20896-A68F-8657-ACE5-39C63D53BEF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E51FB1B-02CA-D63D-8959-D87EE34D7BF0}"/>
              </a:ext>
            </a:extLst>
          </p:cNvPr>
          <p:cNvSpPr/>
          <p:nvPr/>
        </p:nvSpPr>
        <p:spPr>
          <a:xfrm>
            <a:off x="503238" y="3147390"/>
            <a:ext cx="8172450" cy="2086597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6" name="Google Shape;156;p16"/>
          <p:cNvSpPr txBox="1"/>
          <p:nvPr/>
        </p:nvSpPr>
        <p:spPr>
          <a:xfrm>
            <a:off x="505787" y="920207"/>
            <a:ext cx="8176567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OTRAS LIBRERÍAS DE SPRING JDBC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1" indent="-1778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NamedParameterJdbcTemplate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Facilita el uso de parámetros con nombre en lugar de parámetros de posición.</a:t>
            </a:r>
          </a:p>
          <a:p>
            <a:pPr marL="177800" marR="0" lvl="1" indent="-1778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SimpleJdbcInsert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y </a:t>
            </a: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SimpleJdbcCall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Simplifican la inserción y llamada a procedimientos almacenados.</a:t>
            </a:r>
          </a:p>
          <a:p>
            <a:pPr marL="177800" marR="0" lvl="1" indent="-1778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RowMapper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y </a:t>
            </a:r>
            <a:r>
              <a:rPr lang="es-ES" sz="1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ResultSetExtractor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Facilitan la conversión de </a:t>
            </a:r>
            <a:r>
              <a:rPr lang="es-ES" sz="1600" b="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ResultSet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en objetos Java.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t="3668" b="1969"/>
          <a:stretch/>
        </p:blipFill>
        <p:spPr>
          <a:xfrm>
            <a:off x="2416986" y="3260034"/>
            <a:ext cx="4310027" cy="18751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6A98BB4-8C83-B53B-91E4-04537567FAD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LIBRERÍAS SPRING JDBC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743325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CONSULTAS CON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SPRING JDBC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3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CONFIGURACIÓN INICIAL DE SPRING JDBC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0" indent="-179388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Configuración básica de Spring JDBC.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0" indent="-179388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Definición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DataSource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JdbcTemplate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9388" marR="0" lvl="0" indent="-179388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1ADD8-9556-23A3-F3DE-AEF8DB969FDB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t="2211" b="1997"/>
          <a:stretch/>
        </p:blipFill>
        <p:spPr>
          <a:xfrm>
            <a:off x="2251896" y="2512907"/>
            <a:ext cx="4640208" cy="266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A434D8D-7266-7DE0-9915-8BC72365D89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DED7B44-158B-B359-304B-D17D57DA57A9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2" name="Google Shape;182;p19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CONSULTAS SIMPLES CON SPRING JDBC</a:t>
            </a:r>
            <a:endParaRPr lang="es-ES"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JdbcTemplate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para ejecutar consultas simples.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 de una consulta SELECT básica.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1010" y="2714255"/>
            <a:ext cx="5835525" cy="222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E9BB9C0-C8CA-8EAE-FD3F-0E643D7FA53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40ED89-8041-6701-7465-C76C21006B6A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1" name="Google Shape;191;p20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CONSULTAS CON PARÁMETROS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JdbcTemplate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ejecutar consultas con parámetros.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una consulta SELECT con parámetros.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835" y="3070485"/>
            <a:ext cx="7102329" cy="14176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3C9D78D-826E-B4E9-60EF-43215E1423F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58FE53-ACB1-9331-E2CD-9C794323508D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0" name="Google Shape;200;p21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b="1" i="0" dirty="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NamedParameterJdbcTemplate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Ventajas de usar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NamedParameterJdbcTemplate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una consulta con parámetros nombrados.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 t="2896" b="2464"/>
          <a:stretch/>
        </p:blipFill>
        <p:spPr>
          <a:xfrm>
            <a:off x="1318931" y="2573865"/>
            <a:ext cx="6506138" cy="25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007D80E-E720-B3F3-9461-E4599E771CD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58B61E-052D-6B58-1BEF-CBE1D796EC4F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9" name="Google Shape;209;p22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b="1" i="0" dirty="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RowMapper</a:t>
            </a: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PARA CONSULTAS PERSONALIZADAS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Implementación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RowMapper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mapear resultados a objetos personalizados.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uso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RowMapper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3689" y="2511154"/>
            <a:ext cx="3956622" cy="26551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7EE4B2E4-D7C5-9354-8FB6-DE31FE6F555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376D292-70F1-C676-16A5-18D751DACD53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8" name="Google Shape;218;p23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CONSULTAS DE ACTUALIZACIÓN Y ELIMINACIÓN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JdbcTemplate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realizar operaciones de actualización y eliminación.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consultas UPDATE y DELETE.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3"/>
          <p:cNvPicPr preferRelativeResize="0"/>
          <p:nvPr/>
        </p:nvPicPr>
        <p:blipFill rotWithShape="1">
          <a:blip r:embed="rId3">
            <a:alphaModFix/>
          </a:blip>
          <a:srcRect t="4752" b="2122"/>
          <a:stretch/>
        </p:blipFill>
        <p:spPr>
          <a:xfrm>
            <a:off x="2051147" y="2492586"/>
            <a:ext cx="5041705" cy="26890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E69EB28-BC38-9186-2C2D-C8B4977292F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7FB62CD-9DFE-8996-F614-0ED27F607CDE}"/>
              </a:ext>
            </a:extLst>
          </p:cNvPr>
          <p:cNvSpPr/>
          <p:nvPr/>
        </p:nvSpPr>
        <p:spPr>
          <a:xfrm>
            <a:off x="503238" y="2424852"/>
            <a:ext cx="8172450" cy="28091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7" name="Google Shape;227;p24"/>
          <p:cNvSpPr txBox="1"/>
          <p:nvPr/>
        </p:nvSpPr>
        <p:spPr>
          <a:xfrm>
            <a:off x="505787" y="920207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MANEJO DE EXCEPCIONES EN CONSULTAS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DataAccessException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para manejar excepciones en consultas.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 de manejo de excepciones.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6940" y="2639318"/>
            <a:ext cx="5730120" cy="23504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C97A901-F77F-CD34-DC4A-A8E2F0FC2B3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CONSULTAS CON SPRING JDBC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705454" cy="387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Un proyecto que utiliza Java JDBC experimenta una reducción del 40% en el tiempo de desarrollo y una disminución del 50% en la cantidad de código necesario al migrar a Spring JDBC.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Son ventajas de usar JDBC la portabilidad (JDBC es parte del estándar Java, lo que garantiza su portabilidad en diferentes plataformas y sistemas de bases de datos) y la flexibilidad (permite un control detallado sobre las operaciones de base de datos, incluyendo la gestión de conexiones y transacciones).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Utilizar Spring JDBC mejora la eficiencia de las consultas mediante el uso de mejores prácticas como el pooling de conexiones, la optimización de índices y la implementación de paginación en consultas. Esto resulta en una ejecución de consultas más rápida y un mejor rendimiento general de la aplicación.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Spring JDBC proporciona interfaces como RowMapper y ResultSetExtractor que facilitan el mapeo de resultados de consultas a objetos Java. Esto no solo simplifica el código, sino que también mejora la mantenibilidad y legibilidad del mismo.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13648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AD5131-5D49-4645-D50E-4B412879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878125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B8F7AE-E400-D024-3C4E-4D29994ED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944495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0418-B2C8-7222-6FBF-37194270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607E2F5-2542-DF04-4734-3065B71BB684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5FA654D0-1B67-8A1B-7DEC-305F7A687C1A}"/>
              </a:ext>
            </a:extLst>
          </p:cNvPr>
          <p:cNvSpPr txBox="1"/>
          <p:nvPr/>
        </p:nvSpPr>
        <p:spPr>
          <a:xfrm>
            <a:off x="1279545" y="912813"/>
            <a:ext cx="5705454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Con Spring JDBC, el manejo de excepciones se vuelve más uniforme y simplificado gracias a DataAccessException. Esto mejora la robustez del código y reduce los errores relacionados con la base de datos, permitiendo una gestión más eficaz de las transacciones y operaciones de base de datos.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339B4F-6909-25C5-D2EA-9E3B5A5CF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D293B4D9-86CB-65DA-204A-E7BD98C41EC9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71A201-8040-C774-B8DE-79103FB6C81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066A1F56-D2DE-405A-58BC-83E8EF92092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</p:spTree>
    <p:extLst>
      <p:ext uri="{BB962C8B-B14F-4D97-AF65-F5344CB8AC3E}">
        <p14:creationId xmlns:p14="http://schemas.microsoft.com/office/powerpoint/2010/main" val="212985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Sierra, K., &amp; Bates, B. OCA/OCP Java SE 7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Programmer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 y II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Study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Guide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Exams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1Z0-803 y 1Z0-804).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Professional Java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Spring Framework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: 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spring.io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projects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spring-framework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33608D-DFE6-A72E-D8D1-58E109E37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034654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1521</Words>
  <Application>Microsoft Office PowerPoint</Application>
  <PresentationFormat>Presentación en pantalla (16:10)</PresentationFormat>
  <Paragraphs>209</Paragraphs>
  <Slides>31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Arial</vt:lpstr>
      <vt:lpstr>Calibri</vt:lpstr>
      <vt:lpstr>Graphik Bold</vt:lpstr>
      <vt:lpstr>Graphik Medium</vt:lpstr>
      <vt:lpstr>Graphik Regular</vt:lpstr>
      <vt:lpstr>Graphik-Medium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7</cp:revision>
  <dcterms:created xsi:type="dcterms:W3CDTF">2016-10-06T14:52:02Z</dcterms:created>
  <dcterms:modified xsi:type="dcterms:W3CDTF">2024-10-18T12:31:01Z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