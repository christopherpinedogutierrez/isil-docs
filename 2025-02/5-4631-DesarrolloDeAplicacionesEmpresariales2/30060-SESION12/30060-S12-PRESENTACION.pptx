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662" r:id="rId2"/>
    <p:sldId id="627" r:id="rId3"/>
    <p:sldId id="628" r:id="rId4"/>
    <p:sldId id="742" r:id="rId5"/>
    <p:sldId id="259" r:id="rId6"/>
    <p:sldId id="260" r:id="rId7"/>
    <p:sldId id="261" r:id="rId8"/>
    <p:sldId id="743" r:id="rId9"/>
    <p:sldId id="263" r:id="rId10"/>
    <p:sldId id="264" r:id="rId11"/>
    <p:sldId id="265" r:id="rId12"/>
    <p:sldId id="266" r:id="rId13"/>
    <p:sldId id="267" r:id="rId14"/>
    <p:sldId id="268" r:id="rId15"/>
    <p:sldId id="269" r:id="rId16"/>
    <p:sldId id="744" r:id="rId17"/>
    <p:sldId id="271" r:id="rId18"/>
    <p:sldId id="272" r:id="rId19"/>
    <p:sldId id="273" r:id="rId20"/>
    <p:sldId id="588" r:id="rId21"/>
    <p:sldId id="589" r:id="rId22"/>
    <p:sldId id="590" r:id="rId23"/>
    <p:sldId id="591" r:id="rId24"/>
    <p:sldId id="593" r:id="rId25"/>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R3kJ0u12pUNhEHxQTJmXZDyq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A86"/>
    <a:srgbClr val="654E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77"/>
    <p:restoredTop sz="94660"/>
  </p:normalViewPr>
  <p:slideViewPr>
    <p:cSldViewPr snapToGrid="0">
      <p:cViewPr varScale="1">
        <p:scale>
          <a:sx n="221" d="100"/>
          <a:sy n="221" d="100"/>
        </p:scale>
        <p:origin x="192" y="320"/>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2" name="Google Shape;52;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0" name="Google Shape;60;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9" name="Google Shape;69;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8</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 name="Google Shape;84;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5" name="Google Shape;85;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5" name="Google Shape;95;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02" name="Google Shape;102;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1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09" name="Google Shape;109;p1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16" name="Google Shape;116;p1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24" name="Google Shape;124;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32" name="Google Shape;132;p1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16</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48" name="Google Shape;148;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55" name="Google Shape;155;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62" name="Google Shape;162;p1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21</a:t>
            </a:fld>
            <a:endParaRPr lang="es-ES" dirty="0"/>
          </a:p>
        </p:txBody>
      </p:sp>
    </p:spTree>
    <p:extLst>
      <p:ext uri="{BB962C8B-B14F-4D97-AF65-F5344CB8AC3E}">
        <p14:creationId xmlns:p14="http://schemas.microsoft.com/office/powerpoint/2010/main" val="179657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431DC42-303B-F545-9789-3724F9E97760}"/>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6" name="TextBox 7">
            <a:extLst>
              <a:ext uri="{FF2B5EF4-FFF2-40B4-BE49-F238E27FC236}">
                <a16:creationId xmlns:a16="http://schemas.microsoft.com/office/drawing/2014/main" id="{9372701D-0A84-0448-9BAF-91437343CCCB}"/>
              </a:ext>
            </a:extLst>
          </p:cNvPr>
          <p:cNvSpPr txBox="1"/>
          <p:nvPr userDrawn="1"/>
        </p:nvSpPr>
        <p:spPr>
          <a:xfrm>
            <a:off x="876300" y="5343295"/>
            <a:ext cx="322716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GESTIÓN DE PROCESOS, SIMULACIÓN Y MEJORA CONTINUA</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01</a:t>
            </a:r>
            <a:endParaRPr lang="en-US" sz="800" dirty="0">
              <a:solidFill>
                <a:schemeClr val="bg1">
                  <a:lumMod val="50000"/>
                </a:schemeClr>
              </a:solidFill>
              <a:latin typeface="Calibri"/>
              <a:cs typeface="Calibri"/>
            </a:endParaRPr>
          </a:p>
        </p:txBody>
      </p:sp>
      <p:pic>
        <p:nvPicPr>
          <p:cNvPr id="10" name="Imagen 9">
            <a:extLst>
              <a:ext uri="{FF2B5EF4-FFF2-40B4-BE49-F238E27FC236}">
                <a16:creationId xmlns:a16="http://schemas.microsoft.com/office/drawing/2014/main" id="{7E0D14F7-6E9D-9E40-BFFD-243BDDA808DD}"/>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extLst>
      <p:ext uri="{BB962C8B-B14F-4D97-AF65-F5344CB8AC3E}">
        <p14:creationId xmlns:p14="http://schemas.microsoft.com/office/powerpoint/2010/main" val="16648543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2" name="Rectangle 3">
            <a:extLst>
              <a:ext uri="{FF2B5EF4-FFF2-40B4-BE49-F238E27FC236}">
                <a16:creationId xmlns:a16="http://schemas.microsoft.com/office/drawing/2014/main" id="{DF181924-F39F-A39C-AE7D-F32EB685451E}"/>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3" name="TextBox 7">
            <a:extLst>
              <a:ext uri="{FF2B5EF4-FFF2-40B4-BE49-F238E27FC236}">
                <a16:creationId xmlns:a16="http://schemas.microsoft.com/office/drawing/2014/main" id="{E7B93CC0-08A4-37E7-CA7A-AB33B3B8856D}"/>
              </a:ext>
            </a:extLst>
          </p:cNvPr>
          <p:cNvSpPr txBox="1"/>
          <p:nvPr userDrawn="1"/>
        </p:nvSpPr>
        <p:spPr>
          <a:xfrm>
            <a:off x="876300" y="5343295"/>
            <a:ext cx="2762295" cy="215444"/>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kern="1200" dirty="0">
                <a:solidFill>
                  <a:schemeClr val="bg1">
                    <a:lumMod val="50000"/>
                  </a:schemeClr>
                </a:solidFill>
                <a:latin typeface="Calibri"/>
                <a:ea typeface="+mn-ea"/>
                <a:cs typeface="Calibri"/>
                <a:sym typeface="Wingdings"/>
              </a:rPr>
              <a:t>DESARROLLO DE APLICACIONES EMPRESARIALES II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12</a:t>
            </a:r>
            <a:endParaRPr lang="en-US" sz="800" dirty="0">
              <a:solidFill>
                <a:schemeClr val="bg1">
                  <a:lumMod val="50000"/>
                </a:schemeClr>
              </a:solidFill>
              <a:latin typeface="Calibri"/>
              <a:cs typeface="Calibri"/>
            </a:endParaRPr>
          </a:p>
        </p:txBody>
      </p:sp>
      <p:pic>
        <p:nvPicPr>
          <p:cNvPr id="4" name="Imagen 3">
            <a:extLst>
              <a:ext uri="{FF2B5EF4-FFF2-40B4-BE49-F238E27FC236}">
                <a16:creationId xmlns:a16="http://schemas.microsoft.com/office/drawing/2014/main" id="{BFBD8394-A284-86BD-F8E0-CEA8F593B889}"/>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575" userDrawn="1">
          <p15:clr>
            <a:srgbClr val="F26B43"/>
          </p15:clr>
        </p15:guide>
        <p15:guide id="3" pos="2562" userDrawn="1">
          <p15:clr>
            <a:srgbClr val="F26B43"/>
          </p15:clr>
        </p15:guide>
        <p15:guide id="4" pos="2313" userDrawn="1">
          <p15:clr>
            <a:srgbClr val="F26B43"/>
          </p15:clr>
        </p15:guide>
        <p15:guide id="5" pos="317" userDrawn="1">
          <p15:clr>
            <a:srgbClr val="F26B43"/>
          </p15:clr>
        </p15:guide>
        <p15:guide id="6" orient="horz" pos="3297" userDrawn="1">
          <p15:clr>
            <a:srgbClr val="F26B43"/>
          </p15:clr>
        </p15:guide>
        <p15:guide id="7" pos="2767" userDrawn="1">
          <p15:clr>
            <a:srgbClr val="F26B43"/>
          </p15:clr>
        </p15:guide>
        <p15:guide id="8" pos="2993" userDrawn="1">
          <p15:clr>
            <a:srgbClr val="F26B43"/>
          </p15:clr>
        </p15:guide>
        <p15:guide id="9" pos="5465" userDrawn="1">
          <p15:clr>
            <a:srgbClr val="F26B43"/>
          </p15:clr>
        </p15:guide>
        <p15:guide id="10" orient="horz" pos="3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chemeClr val="bg1">
                    <a:lumMod val="50000"/>
                  </a:schemeClr>
                </a:solidFill>
                <a:latin typeface="Calibri" charset="0"/>
                <a:cs typeface="Calibri" charset="0"/>
              </a:rPr>
              <a:t>DESARROLLO DE APLICACIONES EMPRESARIALES II </a:t>
            </a:r>
          </a:p>
        </p:txBody>
      </p:sp>
      <p:sp>
        <p:nvSpPr>
          <p:cNvPr id="25" name="Rectángulo 24"/>
          <p:cNvSpPr/>
          <p:nvPr/>
        </p:nvSpPr>
        <p:spPr>
          <a:xfrm>
            <a:off x="503238" y="2177570"/>
            <a:ext cx="3168111" cy="886397"/>
          </a:xfrm>
          <a:prstGeom prst="rect">
            <a:avLst/>
          </a:prstGeom>
        </p:spPr>
        <p:txBody>
          <a:bodyPr wrap="square" lIns="0" tIns="0" rIns="0" bIns="0">
            <a:spAutoFit/>
          </a:bodyPr>
          <a:lstStyle/>
          <a:p>
            <a:pPr>
              <a:lnSpc>
                <a:spcPct val="90000"/>
              </a:lnSpc>
            </a:pPr>
            <a:r>
              <a:rPr lang="es-PE" sz="3200" dirty="0">
                <a:latin typeface="Graphik Medium" panose="020B0503030202060203" pitchFamily="34" charset="77"/>
                <a:ea typeface="Graphik-Medium" charset="0"/>
                <a:cs typeface="Graphik-Medium" charset="0"/>
              </a:rPr>
              <a:t>SERVICIOS</a:t>
            </a:r>
            <a:r>
              <a:rPr lang="es-PE" sz="3200" b="1" dirty="0">
                <a:latin typeface="Graphik Bold" panose="020B0503030202060203" pitchFamily="34" charset="77"/>
                <a:ea typeface="Graphik-Medium" charset="0"/>
                <a:cs typeface="Graphik-Medium" charset="0"/>
              </a:rPr>
              <a:t> </a:t>
            </a:r>
          </a:p>
          <a:p>
            <a:pPr>
              <a:lnSpc>
                <a:spcPct val="90000"/>
              </a:lnSpc>
            </a:pPr>
            <a:r>
              <a:rPr lang="es-PE" sz="3200" b="1" dirty="0">
                <a:latin typeface="Graphik Bold" panose="020B0503030202060203" pitchFamily="34" charset="77"/>
                <a:ea typeface="Graphik-Medium" charset="0"/>
                <a:cs typeface="Graphik-Medium" charset="0"/>
              </a:rPr>
              <a:t>WEB</a:t>
            </a:r>
          </a:p>
        </p:txBody>
      </p:sp>
      <p:sp>
        <p:nvSpPr>
          <p:cNvPr id="27" name="Rectángulo 26"/>
          <p:cNvSpPr/>
          <p:nvPr/>
        </p:nvSpPr>
        <p:spPr>
          <a:xfrm>
            <a:off x="503238" y="3219842"/>
            <a:ext cx="2845526" cy="642484"/>
          </a:xfrm>
          <a:prstGeom prst="rect">
            <a:avLst/>
          </a:prstGeom>
        </p:spPr>
        <p:txBody>
          <a:bodyPr wrap="square" lIns="0" tIns="0" rIns="0" bIns="0">
            <a:spAutoFit/>
          </a:bodyPr>
          <a:lstStyle/>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Eficiencia</a:t>
            </a:r>
          </a:p>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Conceptos de arquitectura</a:t>
            </a:r>
          </a:p>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Tipos de servicios web</a:t>
            </a:r>
          </a:p>
        </p:txBody>
      </p:sp>
      <p:sp>
        <p:nvSpPr>
          <p:cNvPr id="28" name="CuadroTexto 27">
            <a:extLst>
              <a:ext uri="{FF2B5EF4-FFF2-40B4-BE49-F238E27FC236}">
                <a16:creationId xmlns:a16="http://schemas.microsoft.com/office/drawing/2014/main" id="{93FC3217-3DCC-0941-BA6B-6CEEC9F1D080}"/>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0B6AB0"/>
                </a:solidFill>
                <a:latin typeface="Calibri" charset="0"/>
                <a:ea typeface="Calibri" charset="0"/>
                <a:cs typeface="Calibri" charset="0"/>
              </a:rPr>
              <a:t>TEMA 12</a:t>
            </a:r>
          </a:p>
        </p:txBody>
      </p:sp>
      <p:pic>
        <p:nvPicPr>
          <p:cNvPr id="29" name="Imagen 28"/>
          <p:cNvPicPr>
            <a:picLocks noChangeAspect="1"/>
          </p:cNvPicPr>
          <p:nvPr/>
        </p:nvPicPr>
        <p:blipFill>
          <a:blip r:embed="rId3"/>
          <a:stretch>
            <a:fillRect/>
          </a:stretch>
        </p:blipFill>
        <p:spPr>
          <a:xfrm>
            <a:off x="507464" y="1883411"/>
            <a:ext cx="166865" cy="170453"/>
          </a:xfrm>
          <a:prstGeom prst="rect">
            <a:avLst/>
          </a:prstGeom>
        </p:spPr>
      </p:pic>
      <p:pic>
        <p:nvPicPr>
          <p:cNvPr id="4" name="Imagen 3">
            <a:extLst>
              <a:ext uri="{FF2B5EF4-FFF2-40B4-BE49-F238E27FC236}">
                <a16:creationId xmlns:a16="http://schemas.microsoft.com/office/drawing/2014/main" id="{4ABCD739-0A62-0FD3-2175-DE895833E28F}"/>
              </a:ext>
            </a:extLst>
          </p:cNvPr>
          <p:cNvPicPr>
            <a:picLocks noChangeAspect="1"/>
          </p:cNvPicPr>
          <p:nvPr/>
        </p:nvPicPr>
        <p:blipFill>
          <a:blip r:embed="rId4"/>
          <a:stretch>
            <a:fillRect/>
          </a:stretch>
        </p:blipFill>
        <p:spPr>
          <a:xfrm>
            <a:off x="3752850" y="0"/>
            <a:ext cx="5391150" cy="5715000"/>
          </a:xfrm>
          <a:prstGeom prst="rect">
            <a:avLst/>
          </a:prstGeom>
        </p:spPr>
      </p:pic>
    </p:spTree>
    <p:extLst>
      <p:ext uri="{BB962C8B-B14F-4D97-AF65-F5344CB8AC3E}">
        <p14:creationId xmlns:p14="http://schemas.microsoft.com/office/powerpoint/2010/main" val="90920982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object 7"/>
          <p:cNvSpPr txBox="1"/>
          <p:nvPr/>
        </p:nvSpPr>
        <p:spPr>
          <a:xfrm>
            <a:off x="1282298" y="918372"/>
            <a:ext cx="5521727" cy="3662541"/>
          </a:xfrm>
          <a:prstGeom prst="rect">
            <a:avLst/>
          </a:prstGeom>
        </p:spPr>
        <p:txBody>
          <a:bodyPr vert="horz" wrap="square" lIns="0" tIns="0" rIns="0" bIns="0" rtlCol="0">
            <a:spAutoFit/>
          </a:bodyPr>
          <a:lstStyle/>
          <a:p>
            <a:pPr lvl="0"/>
            <a:r>
              <a:rPr lang="es-PE" sz="1400" dirty="0">
                <a:latin typeface="Calibri" charset="0"/>
                <a:cs typeface="Calibri" charset="0"/>
              </a:rPr>
              <a:t>En esta sesión, nos enfocaremos en tres pilares fundamentales del desarrollo de software moderno: la eficiencia, los conceptos de arquitectura y los tipos de servicios web. Comprender estos temas es esencial para construir aplicaciones que no solo funcionen correctamente, sino que también sean escalables y sostenibles en el tiempo.</a:t>
            </a:r>
          </a:p>
          <a:p>
            <a:pPr lvl="0"/>
            <a:endParaRPr lang="es-PE" sz="1400" dirty="0">
              <a:latin typeface="Calibri" charset="0"/>
              <a:cs typeface="Calibri" charset="0"/>
            </a:endParaRPr>
          </a:p>
          <a:p>
            <a:pPr lvl="0"/>
            <a:r>
              <a:rPr lang="es-PE" sz="1400" dirty="0">
                <a:latin typeface="Calibri" charset="0"/>
                <a:cs typeface="Calibri" charset="0"/>
              </a:rPr>
              <a:t>Abordaremos la eficiencia desde una perspectiva integral, analizando cómo optimizar el rendimiento de las aplicaciones en cada capa de desarrollo, desde la lógica de negocio hasta la interacción con el usuario final. Veremos cómo las decisiones arquitectónicas impactan directamente en la eficiencia y cómo elegir la mejor estructura para nuestras soluciones.</a:t>
            </a:r>
          </a:p>
          <a:p>
            <a:pPr lvl="0"/>
            <a:endParaRPr lang="es-PE" sz="1400" dirty="0">
              <a:latin typeface="Calibri" charset="0"/>
              <a:cs typeface="Calibri" charset="0"/>
            </a:endParaRPr>
          </a:p>
          <a:p>
            <a:pPr lvl="0"/>
            <a:r>
              <a:rPr lang="es-PE" sz="1400" dirty="0">
                <a:latin typeface="Calibri" charset="0"/>
                <a:cs typeface="Calibri" charset="0"/>
              </a:rPr>
              <a:t>Finalmente, exploramos los distintos tipos de servicios web, como SOAP y REST, y discutiremos sus características y diferencias. Este conocimiento será clave para seleccionar el tipo de servicio adecuado según los requisitos específicos de cada proyecto.</a:t>
            </a:r>
          </a:p>
          <a:p>
            <a:pPr lvl="0"/>
            <a:endParaRPr lang="en-GB" sz="1400" spc="-10" dirty="0">
              <a:solidFill>
                <a:srgbClr val="262626"/>
              </a:solidFill>
              <a:latin typeface="Calibri" charset="0"/>
              <a:ea typeface="Calibri" charset="0"/>
              <a:cs typeface="Calibri" charset="0"/>
            </a:endParaRPr>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pic>
        <p:nvPicPr>
          <p:cNvPr id="10" name="Imagen 9"/>
          <p:cNvPicPr>
            <a:picLocks noChangeAspect="1"/>
          </p:cNvPicPr>
          <p:nvPr/>
        </p:nvPicPr>
        <p:blipFill>
          <a:blip r:embed="rId3"/>
          <a:stretch>
            <a:fillRect/>
          </a:stretch>
        </p:blipFill>
        <p:spPr>
          <a:xfrm>
            <a:off x="1010839" y="2239389"/>
            <a:ext cx="117851" cy="121369"/>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p:cNvPicPr>
            <a:picLocks noChangeAspect="1"/>
          </p:cNvPicPr>
          <p:nvPr/>
        </p:nvPicPr>
        <p:blipFill>
          <a:blip r:embed="rId3"/>
          <a:stretch>
            <a:fillRect/>
          </a:stretch>
        </p:blipFill>
        <p:spPr>
          <a:xfrm>
            <a:off x="1010839" y="3526798"/>
            <a:ext cx="117851" cy="121369"/>
          </a:xfrm>
          <a:prstGeom prst="rect">
            <a:avLst/>
          </a:prstGeom>
        </p:spPr>
      </p:pic>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extLst>
      <p:ext uri="{BB962C8B-B14F-4D97-AF65-F5344CB8AC3E}">
        <p14:creationId xmlns:p14="http://schemas.microsoft.com/office/powerpoint/2010/main" val="78323994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charset="0"/>
                <a:ea typeface="Graphik Bold" charset="0"/>
                <a:cs typeface="Graphik Bold" charset="0"/>
              </a:rPr>
              <a:t>EFICIENCIA</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69892938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4"/>
          <p:cNvSpPr txBox="1"/>
          <p:nvPr/>
        </p:nvSpPr>
        <p:spPr>
          <a:xfrm>
            <a:off x="509344" y="921277"/>
            <a:ext cx="3883270" cy="3031599"/>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None/>
            </a:pPr>
            <a:r>
              <a:rPr lang="es-ES" sz="1600" b="1" dirty="0">
                <a:solidFill>
                  <a:schemeClr val="tx1"/>
                </a:solidFill>
                <a:latin typeface="Calibri" panose="020F0502020204030204" pitchFamily="34" charset="0"/>
                <a:ea typeface="Calibri"/>
                <a:cs typeface="Calibri" panose="020F0502020204030204" pitchFamily="34" charset="0"/>
                <a:sym typeface="Calibri"/>
              </a:rPr>
              <a:t>SERVICIOS WEB</a:t>
            </a:r>
            <a:endParaRPr sz="1600" b="1"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0"/>
              </a:spcBef>
              <a:spcAft>
                <a:spcPts val="0"/>
              </a:spcAft>
              <a:buSzPct val="100000"/>
              <a:buFont typeface="Arial" panose="020B0604020202020204" pitchFamily="34" charset="0"/>
              <a:buChar char="•"/>
            </a:pPr>
            <a:r>
              <a:rPr lang="es-ES" sz="1600" dirty="0">
                <a:solidFill>
                  <a:schemeClr val="tx1"/>
                </a:solidFill>
                <a:latin typeface="Calibri" panose="020F0502020204030204" pitchFamily="34" charset="0"/>
                <a:ea typeface="Calibri"/>
                <a:cs typeface="Calibri" panose="020F0502020204030204" pitchFamily="34" charset="0"/>
                <a:sym typeface="Calibri"/>
              </a:rPr>
              <a:t>Son aplicaciones que permiten la comunicación e intercambio de datos entre sistemas a través de una red, típicamente internet.</a:t>
            </a:r>
            <a:endParaRPr sz="1600" dirty="0">
              <a:solidFill>
                <a:schemeClr val="tx1"/>
              </a:solidFill>
              <a:latin typeface="Calibri" panose="020F0502020204030204" pitchFamily="34" charset="0"/>
              <a:cs typeface="Calibri" panose="020F0502020204030204" pitchFamily="34" charset="0"/>
            </a:endParaRPr>
          </a:p>
          <a:p>
            <a:pPr marL="180975" marR="0" lvl="0" indent="-180975" algn="l" rtl="0">
              <a:spcBef>
                <a:spcPts val="0"/>
              </a:spcBef>
              <a:spcAft>
                <a:spcPts val="0"/>
              </a:spcAft>
              <a:buClr>
                <a:schemeClr val="dk1"/>
              </a:buClr>
              <a:buSzPct val="100000"/>
              <a:buFont typeface="Arial" panose="020B0604020202020204" pitchFamily="34" charset="0"/>
              <a:buChar char="•"/>
            </a:pPr>
            <a:endParaRPr sz="1600"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0"/>
              </a:spcBef>
              <a:spcAft>
                <a:spcPts val="0"/>
              </a:spcAft>
              <a:buSzPct val="100000"/>
              <a:buFont typeface="Arial" panose="020B0604020202020204" pitchFamily="34" charset="0"/>
              <a:buChar char="•"/>
            </a:pPr>
            <a:r>
              <a:rPr lang="es-ES" sz="1600" b="1" dirty="0">
                <a:solidFill>
                  <a:schemeClr val="tx1"/>
                </a:solidFill>
                <a:latin typeface="Calibri" panose="020F0502020204030204" pitchFamily="34" charset="0"/>
                <a:ea typeface="Calibri"/>
                <a:cs typeface="Calibri" panose="020F0502020204030204" pitchFamily="34" charset="0"/>
                <a:sym typeface="Calibri"/>
              </a:rPr>
              <a:t>Funcionalidad: </a:t>
            </a:r>
            <a:endParaRPr sz="1600" dirty="0">
              <a:solidFill>
                <a:schemeClr val="tx1"/>
              </a:solidFill>
              <a:latin typeface="Calibri" panose="020F0502020204030204" pitchFamily="34" charset="0"/>
              <a:cs typeface="Calibri" panose="020F0502020204030204" pitchFamily="34" charset="0"/>
            </a:endParaRPr>
          </a:p>
          <a:p>
            <a:pPr marL="355600" marR="0" lvl="0" indent="-174625" algn="l" rtl="0">
              <a:spcBef>
                <a:spcPts val="0"/>
              </a:spcBef>
              <a:spcAft>
                <a:spcPts val="0"/>
              </a:spcAft>
              <a:buSzPct val="100000"/>
              <a:buFont typeface="Arial" panose="020B0604020202020204" pitchFamily="34" charset="0"/>
              <a:buChar char="•"/>
            </a:pPr>
            <a:r>
              <a:rPr lang="es-ES" sz="1600" dirty="0">
                <a:solidFill>
                  <a:schemeClr val="tx1"/>
                </a:solidFill>
                <a:latin typeface="Calibri" panose="020F0502020204030204" pitchFamily="34" charset="0"/>
                <a:ea typeface="Calibri"/>
                <a:cs typeface="Calibri" panose="020F0502020204030204" pitchFamily="34" charset="0"/>
                <a:sym typeface="Calibri"/>
              </a:rPr>
              <a:t>Permiten a las aplicaciones comunicarse y compartir datos y servicios, independientemente de las plataformas y lenguajes de programación en los que estén implementadas.</a:t>
            </a:r>
            <a:endParaRPr sz="1600" b="1"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3" name="Rectangle 5">
            <a:extLst>
              <a:ext uri="{FF2B5EF4-FFF2-40B4-BE49-F238E27FC236}">
                <a16:creationId xmlns:a16="http://schemas.microsoft.com/office/drawing/2014/main" id="{F3F5E768-64FA-9AA2-B79F-DEC070DEE43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pic>
        <p:nvPicPr>
          <p:cNvPr id="5" name="Imagen 4">
            <a:extLst>
              <a:ext uri="{FF2B5EF4-FFF2-40B4-BE49-F238E27FC236}">
                <a16:creationId xmlns:a16="http://schemas.microsoft.com/office/drawing/2014/main" id="{BF81FF1D-81E5-11C4-5ADC-0223720FDB33}"/>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4751388" y="912813"/>
            <a:ext cx="3924300" cy="40260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4" name="Google Shape;64;p5"/>
          <p:cNvSpPr txBox="1"/>
          <p:nvPr/>
        </p:nvSpPr>
        <p:spPr>
          <a:xfrm>
            <a:off x="509343" y="921277"/>
            <a:ext cx="4019906" cy="3277820"/>
          </a:xfrm>
          <a:prstGeom prst="rect">
            <a:avLst/>
          </a:prstGeom>
          <a:noFill/>
          <a:ln>
            <a:noFill/>
          </a:ln>
        </p:spPr>
        <p:txBody>
          <a:bodyPr spcFirstLastPara="1" wrap="square" lIns="0" tIns="0" rIns="0" bIns="0" anchor="t" anchorCtr="0">
            <a:spAutoFit/>
          </a:bodyPr>
          <a:lstStyle/>
          <a:p>
            <a:pPr>
              <a:spcAft>
                <a:spcPts val="600"/>
              </a:spcAft>
              <a:buClr>
                <a:srgbClr val="558ED5"/>
              </a:buClr>
              <a:buSzPts val="1600"/>
            </a:pPr>
            <a:r>
              <a:rPr lang="es-ES" sz="1600" b="1"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IMPORTANCIA DE LOS SERVICIOS WEB EN LA INTEGRACIÓN DE APLICACIONES</a:t>
            </a:r>
            <a:endParaRPr lang="es-ES" sz="1600" b="1"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0"/>
              </a:spcBef>
              <a:spcAft>
                <a:spcPts val="0"/>
              </a:spcAft>
              <a:buClr>
                <a:schemeClr val="accent5"/>
              </a:buClr>
              <a:buSzPts val="1600"/>
              <a:buFont typeface="Arial" panose="020B0604020202020204" pitchFamily="34" charset="0"/>
              <a:buChar char="•"/>
            </a:pPr>
            <a:r>
              <a:rPr lang="es-ES" sz="1600" b="1" dirty="0">
                <a:solidFill>
                  <a:schemeClr val="accent5"/>
                </a:solidFill>
                <a:latin typeface="Calibri" panose="020F0502020204030204" pitchFamily="34" charset="0"/>
                <a:ea typeface="Calibri"/>
                <a:cs typeface="Calibri" panose="020F0502020204030204" pitchFamily="34" charset="0"/>
                <a:sym typeface="Calibri"/>
              </a:rPr>
              <a:t>Interoperabilidad: </a:t>
            </a:r>
            <a:r>
              <a:rPr lang="es-ES" sz="1600" dirty="0">
                <a:solidFill>
                  <a:schemeClr val="tx1"/>
                </a:solidFill>
                <a:latin typeface="Calibri" panose="020F0502020204030204" pitchFamily="34" charset="0"/>
                <a:ea typeface="Calibri"/>
                <a:cs typeface="Calibri" panose="020F0502020204030204" pitchFamily="34" charset="0"/>
                <a:sym typeface="Calibri"/>
              </a:rPr>
              <a:t>Permiten la comunicación entre sistemas heterogéneos, facilitando la integración de aplicaciones desarrolladas en diferentes plataformas y lenguajes de programación.</a:t>
            </a:r>
            <a:endParaRPr sz="1600" dirty="0">
              <a:solidFill>
                <a:schemeClr val="tx1"/>
              </a:solidFill>
              <a:latin typeface="Calibri" panose="020F0502020204030204" pitchFamily="34" charset="0"/>
              <a:cs typeface="Calibri" panose="020F0502020204030204" pitchFamily="34" charset="0"/>
            </a:endParaRPr>
          </a:p>
          <a:p>
            <a:pPr marL="180975" marR="0" lvl="0" indent="-180975" algn="l" rtl="0">
              <a:spcBef>
                <a:spcPts val="0"/>
              </a:spcBef>
              <a:spcAft>
                <a:spcPts val="0"/>
              </a:spcAft>
              <a:buClr>
                <a:schemeClr val="accent5"/>
              </a:buClr>
              <a:buSzPts val="1600"/>
              <a:buFont typeface="Arial" panose="020B0604020202020204" pitchFamily="34" charset="0"/>
              <a:buChar char="•"/>
            </a:pPr>
            <a:endParaRPr sz="1600" dirty="0">
              <a:solidFill>
                <a:schemeClr val="tx1"/>
              </a:solidFill>
              <a:latin typeface="Calibri" panose="020F0502020204030204" pitchFamily="34" charset="0"/>
              <a:ea typeface="Calibri"/>
              <a:cs typeface="Calibri" panose="020F0502020204030204" pitchFamily="34" charset="0"/>
              <a:sym typeface="Calibri"/>
            </a:endParaRPr>
          </a:p>
          <a:p>
            <a:pPr marL="180975" marR="0" lvl="0" indent="-180975" algn="l" rtl="0">
              <a:spcBef>
                <a:spcPts val="0"/>
              </a:spcBef>
              <a:spcAft>
                <a:spcPts val="0"/>
              </a:spcAft>
              <a:buClr>
                <a:schemeClr val="accent5"/>
              </a:buClr>
              <a:buSzPts val="1600"/>
              <a:buFont typeface="Arial" panose="020B0604020202020204" pitchFamily="34" charset="0"/>
              <a:buChar char="•"/>
            </a:pPr>
            <a:r>
              <a:rPr lang="es-ES" sz="1600" b="1" dirty="0">
                <a:solidFill>
                  <a:schemeClr val="accent5"/>
                </a:solidFill>
                <a:latin typeface="Calibri" panose="020F0502020204030204" pitchFamily="34" charset="0"/>
                <a:ea typeface="Calibri"/>
                <a:cs typeface="Calibri" panose="020F0502020204030204" pitchFamily="34" charset="0"/>
                <a:sym typeface="Calibri"/>
              </a:rPr>
              <a:t>Flexibilidad: </a:t>
            </a:r>
            <a:r>
              <a:rPr lang="es-ES" sz="1600" dirty="0">
                <a:solidFill>
                  <a:schemeClr val="tx1"/>
                </a:solidFill>
                <a:latin typeface="Calibri" panose="020F0502020204030204" pitchFamily="34" charset="0"/>
                <a:ea typeface="Calibri"/>
                <a:cs typeface="Calibri" panose="020F0502020204030204" pitchFamily="34" charset="0"/>
                <a:sym typeface="Calibri"/>
              </a:rPr>
              <a:t>Los servicios web pueden ser consumidos por cualquier cliente capaz de enviar y recibir mensajes HTTP, ya sea un navegador web, una aplicación móvil, o cualquier otro sistema.</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74D62377-E4D2-751B-2CDC-FDA27F2013C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pic>
        <p:nvPicPr>
          <p:cNvPr id="4" name="Imagen 3">
            <a:extLst>
              <a:ext uri="{FF2B5EF4-FFF2-40B4-BE49-F238E27FC236}">
                <a16:creationId xmlns:a16="http://schemas.microsoft.com/office/drawing/2014/main" id="{197C904F-C006-AFBF-BA49-98B7A2786899}"/>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4751388" y="912813"/>
            <a:ext cx="3924300" cy="40260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3" name="Google Shape;73;p6"/>
          <p:cNvSpPr txBox="1"/>
          <p:nvPr/>
        </p:nvSpPr>
        <p:spPr>
          <a:xfrm>
            <a:off x="509343" y="921277"/>
            <a:ext cx="3771109" cy="1061829"/>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dirty="0">
                <a:solidFill>
                  <a:schemeClr val="tx1"/>
                </a:solidFill>
                <a:highlight>
                  <a:srgbClr val="FFFFFF"/>
                </a:highlight>
                <a:latin typeface="Calibri"/>
                <a:ea typeface="Calibri"/>
                <a:cs typeface="Calibri"/>
                <a:sym typeface="Calibri"/>
              </a:rPr>
              <a:t>VENTAJAS DE USAR SERVICIOS WEB</a:t>
            </a:r>
            <a:endParaRPr lang="es-ES" sz="1600" dirty="0">
              <a:solidFill>
                <a:schemeClr val="tx1"/>
              </a:solidFill>
              <a:latin typeface="Calibri"/>
              <a:ea typeface="Calibri"/>
              <a:cs typeface="Calibri"/>
              <a:sym typeface="Calibri"/>
            </a:endParaRPr>
          </a:p>
          <a:p>
            <a:pPr marL="180975" marR="0" lvl="0" indent="-180975" algn="l" rtl="0">
              <a:spcBef>
                <a:spcPts val="0"/>
              </a:spcBef>
              <a:spcAft>
                <a:spcPts val="0"/>
              </a:spcAft>
              <a:buClr>
                <a:schemeClr val="tx1"/>
              </a:buClr>
              <a:buSzPts val="1600"/>
              <a:buFont typeface="Arial" panose="020B0604020202020204" pitchFamily="34" charset="0"/>
              <a:buChar char="•"/>
            </a:pPr>
            <a:r>
              <a:rPr lang="es-ES" sz="1600" dirty="0">
                <a:solidFill>
                  <a:schemeClr val="tx1"/>
                </a:solidFill>
                <a:latin typeface="Calibri"/>
                <a:ea typeface="Calibri"/>
                <a:cs typeface="Calibri"/>
                <a:sym typeface="Calibri"/>
              </a:rPr>
              <a:t>Reutilización de Componentes</a:t>
            </a:r>
            <a:endParaRPr sz="1600" dirty="0">
              <a:solidFill>
                <a:schemeClr val="tx1"/>
              </a:solidFill>
            </a:endParaRPr>
          </a:p>
          <a:p>
            <a:pPr marL="180975" marR="0" lvl="0" indent="-180975" algn="l" rtl="0">
              <a:spcBef>
                <a:spcPts val="0"/>
              </a:spcBef>
              <a:spcAft>
                <a:spcPts val="0"/>
              </a:spcAft>
              <a:buClr>
                <a:schemeClr val="tx1"/>
              </a:buClr>
              <a:buSzPts val="1600"/>
              <a:buFont typeface="Arial" panose="020B0604020202020204" pitchFamily="34" charset="0"/>
              <a:buChar char="•"/>
            </a:pPr>
            <a:r>
              <a:rPr lang="es-ES" sz="1600" dirty="0">
                <a:solidFill>
                  <a:schemeClr val="tx1"/>
                </a:solidFill>
                <a:latin typeface="Calibri"/>
                <a:ea typeface="Calibri"/>
                <a:cs typeface="Calibri"/>
                <a:sym typeface="Calibri"/>
              </a:rPr>
              <a:t>Escalabilidad</a:t>
            </a:r>
            <a:endParaRPr sz="1600" dirty="0">
              <a:solidFill>
                <a:schemeClr val="tx1"/>
              </a:solidFill>
            </a:endParaRPr>
          </a:p>
          <a:p>
            <a:pPr marL="180975" marR="0" lvl="0" indent="-180975" algn="l" rtl="0">
              <a:spcBef>
                <a:spcPts val="0"/>
              </a:spcBef>
              <a:spcAft>
                <a:spcPts val="0"/>
              </a:spcAft>
              <a:buClr>
                <a:schemeClr val="tx1"/>
              </a:buClr>
              <a:buSzPts val="1600"/>
              <a:buFont typeface="Arial" panose="020B0604020202020204" pitchFamily="34" charset="0"/>
              <a:buChar char="•"/>
            </a:pPr>
            <a:r>
              <a:rPr lang="es-ES" sz="1600" dirty="0">
                <a:solidFill>
                  <a:schemeClr val="tx1"/>
                </a:solidFill>
                <a:latin typeface="Calibri"/>
                <a:ea typeface="Calibri"/>
                <a:cs typeface="Calibri"/>
                <a:sym typeface="Calibri"/>
              </a:rPr>
              <a:t>Mantenibilidad</a:t>
            </a:r>
            <a:endParaRPr sz="1600" dirty="0">
              <a:solidFill>
                <a:schemeClr val="tx1"/>
              </a:solidFill>
            </a:endParaRPr>
          </a:p>
        </p:txBody>
      </p:sp>
      <p:sp>
        <p:nvSpPr>
          <p:cNvPr id="2" name="Rectangle 5">
            <a:extLst>
              <a:ext uri="{FF2B5EF4-FFF2-40B4-BE49-F238E27FC236}">
                <a16:creationId xmlns:a16="http://schemas.microsoft.com/office/drawing/2014/main" id="{8000E7B1-F8A0-1793-F893-D9AC1BBB993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pic>
        <p:nvPicPr>
          <p:cNvPr id="4" name="Imagen 3">
            <a:extLst>
              <a:ext uri="{FF2B5EF4-FFF2-40B4-BE49-F238E27FC236}">
                <a16:creationId xmlns:a16="http://schemas.microsoft.com/office/drawing/2014/main" id="{F91161F3-4E80-C88E-A863-6CD58F2514C0}"/>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4751388" y="912813"/>
            <a:ext cx="3924300" cy="40260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4537972"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CONCEPTOS DE </a:t>
            </a:r>
            <a:r>
              <a:rPr lang="es-PE" sz="2800" b="1" dirty="0">
                <a:solidFill>
                  <a:schemeClr val="bg1"/>
                </a:solidFill>
                <a:latin typeface="Graphik Bold" panose="020B0503030202060203" pitchFamily="34" charset="77"/>
                <a:ea typeface="Graphik Regular" charset="0"/>
                <a:cs typeface="Graphik Regular" charset="0"/>
              </a:rPr>
              <a:t>ARQUITECTURA</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37853328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9" name="Google Shape;89;p8"/>
          <p:cNvSpPr/>
          <p:nvPr/>
        </p:nvSpPr>
        <p:spPr>
          <a:xfrm>
            <a:off x="509343" y="920630"/>
            <a:ext cx="8026440" cy="1554272"/>
          </a:xfrm>
          <a:prstGeom prst="rect">
            <a:avLst/>
          </a:prstGeom>
          <a:noFill/>
          <a:ln>
            <a:noFill/>
          </a:ln>
        </p:spPr>
        <p:txBody>
          <a:bodyPr spcFirstLastPara="1" wrap="square" lIns="0" tIns="0" rIns="0" bIns="0" anchor="ctr" anchorCtr="0">
            <a:spAutoFit/>
          </a:bodyPr>
          <a:lstStyle/>
          <a:p>
            <a:pPr>
              <a:spcAft>
                <a:spcPts val="600"/>
              </a:spcAft>
            </a:pPr>
            <a:r>
              <a:rPr lang="es-ES" sz="1600" b="1" dirty="0">
                <a:solidFill>
                  <a:schemeClr val="tx1"/>
                </a:solidFill>
                <a:highlight>
                  <a:srgbClr val="FFFFFF"/>
                </a:highlight>
                <a:latin typeface="Calibri"/>
                <a:ea typeface="Calibri"/>
                <a:cs typeface="Calibri"/>
                <a:sym typeface="Calibri"/>
              </a:rPr>
              <a:t>CONCEPTOS DE ARQUITECTURA REST</a:t>
            </a:r>
            <a:endParaRPr lang="es-ES" sz="1600" dirty="0">
              <a:solidFill>
                <a:schemeClr val="tx1"/>
              </a:solidFill>
              <a:latin typeface="Calibri"/>
              <a:ea typeface="Calibri"/>
              <a:cs typeface="Calibri"/>
              <a:sym typeface="Calibri"/>
            </a:endParaRPr>
          </a:p>
          <a:p>
            <a:pPr marR="0" lvl="0" indent="0" algn="l" rtl="0">
              <a:lnSpc>
                <a:spcPct val="100000"/>
              </a:lnSpc>
              <a:spcBef>
                <a:spcPts val="0"/>
              </a:spcBef>
              <a:spcAft>
                <a:spcPts val="0"/>
              </a:spcAft>
              <a:buNone/>
            </a:pPr>
            <a:r>
              <a:rPr lang="es-ES" sz="1600" dirty="0">
                <a:solidFill>
                  <a:schemeClr val="tx1"/>
                </a:solidFill>
                <a:latin typeface="Calibri"/>
                <a:ea typeface="Calibri"/>
                <a:cs typeface="Calibri"/>
                <a:sym typeface="Calibri"/>
              </a:rPr>
              <a:t>La arquitectura web se refiere a la estructura y organización de los componentes, tanto lógicos como físicos, que forman una aplicación web. Incluye la disposición de servidores, servicios, bases de datos y otros componentes necesarios para el funcionamiento de la aplicación.</a:t>
            </a:r>
          </a:p>
          <a:p>
            <a:pPr marR="0" lvl="0" indent="0" algn="l" rtl="0">
              <a:lnSpc>
                <a:spcPct val="100000"/>
              </a:lnSpc>
              <a:spcBef>
                <a:spcPts val="0"/>
              </a:spcBef>
              <a:spcAft>
                <a:spcPts val="0"/>
              </a:spcAft>
              <a:buNone/>
            </a:pPr>
            <a:endParaRPr lang="es-ES" sz="1600" dirty="0">
              <a:solidFill>
                <a:schemeClr val="tx1"/>
              </a:solidFill>
              <a:latin typeface="Calibri"/>
              <a:ea typeface="Calibri"/>
              <a:cs typeface="Calibri"/>
              <a:sym typeface="Calibri"/>
            </a:endParaRPr>
          </a:p>
          <a:p>
            <a:pPr marL="177800" indent="-177800">
              <a:buFont typeface="Arial" panose="020B0604020202020204" pitchFamily="34" charset="0"/>
              <a:buChar char="•"/>
            </a:pPr>
            <a:r>
              <a:rPr lang="es-ES" sz="1600" b="1" dirty="0">
                <a:solidFill>
                  <a:schemeClr val="tx1"/>
                </a:solidFill>
                <a:highlight>
                  <a:srgbClr val="FFFFFF"/>
                </a:highlight>
                <a:latin typeface="Calibri"/>
                <a:ea typeface="Calibri"/>
                <a:cs typeface="Calibri"/>
                <a:sym typeface="Calibri"/>
              </a:rPr>
              <a:t>COMPONENTES CLAVE DE UNA ARQUITECTURA WEB:</a:t>
            </a:r>
            <a:endParaRPr lang="es-ES" sz="1600" dirty="0">
              <a:solidFill>
                <a:schemeClr val="tx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DD652555-724F-7B2B-65FD-03D3D31D160C}"/>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grpSp>
        <p:nvGrpSpPr>
          <p:cNvPr id="8" name="Grupo 7">
            <a:extLst>
              <a:ext uri="{FF2B5EF4-FFF2-40B4-BE49-F238E27FC236}">
                <a16:creationId xmlns:a16="http://schemas.microsoft.com/office/drawing/2014/main" id="{63C179A6-317D-1356-75AE-E18A421ECDCE}"/>
              </a:ext>
            </a:extLst>
          </p:cNvPr>
          <p:cNvGrpSpPr/>
          <p:nvPr/>
        </p:nvGrpSpPr>
        <p:grpSpPr>
          <a:xfrm>
            <a:off x="360135" y="2700891"/>
            <a:ext cx="2267178" cy="338009"/>
            <a:chOff x="328697" y="912813"/>
            <a:chExt cx="2711938" cy="404317"/>
          </a:xfrm>
        </p:grpSpPr>
        <p:sp>
          <p:nvSpPr>
            <p:cNvPr id="9" name="Rectángulo redondeado 8">
              <a:extLst>
                <a:ext uri="{FF2B5EF4-FFF2-40B4-BE49-F238E27FC236}">
                  <a16:creationId xmlns:a16="http://schemas.microsoft.com/office/drawing/2014/main" id="{2702EA08-E5ED-FCF0-6A15-F1B5F50E6F47}"/>
                </a:ext>
              </a:extLst>
            </p:cNvPr>
            <p:cNvSpPr/>
            <p:nvPr/>
          </p:nvSpPr>
          <p:spPr>
            <a:xfrm>
              <a:off x="503237" y="912813"/>
              <a:ext cx="2537398"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1</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ES" sz="1400" b="1" i="0" dirty="0">
                  <a:solidFill>
                    <a:schemeClr val="bg1"/>
                  </a:solidFill>
                  <a:latin typeface="Calibri"/>
                  <a:ea typeface="Calibri"/>
                  <a:cs typeface="Calibri"/>
                  <a:sym typeface="Calibri"/>
                </a:rPr>
                <a:t>Cliente (</a:t>
              </a:r>
              <a:r>
                <a:rPr lang="es-ES" sz="1400" b="1" i="0" dirty="0" err="1">
                  <a:solidFill>
                    <a:schemeClr val="bg1"/>
                  </a:solidFill>
                  <a:latin typeface="Calibri"/>
                  <a:ea typeface="Calibri"/>
                  <a:cs typeface="Calibri"/>
                  <a:sym typeface="Calibri"/>
                </a:rPr>
                <a:t>Frontend</a:t>
              </a:r>
              <a:r>
                <a:rPr lang="es-ES" sz="1400" b="1" i="0" dirty="0">
                  <a:solidFill>
                    <a:schemeClr val="bg1"/>
                  </a:solidFill>
                  <a:latin typeface="Calibri"/>
                  <a:ea typeface="Calibri"/>
                  <a:cs typeface="Calibri"/>
                  <a:sym typeface="Calibri"/>
                </a:rPr>
                <a:t>)</a:t>
              </a:r>
              <a:endParaRPr lang="es-ES" dirty="0">
                <a:solidFill>
                  <a:schemeClr val="bg1"/>
                </a:solidFill>
              </a:endParaRPr>
            </a:p>
          </p:txBody>
        </p:sp>
        <p:grpSp>
          <p:nvGrpSpPr>
            <p:cNvPr id="10" name="Agrupar 14">
              <a:extLst>
                <a:ext uri="{FF2B5EF4-FFF2-40B4-BE49-F238E27FC236}">
                  <a16:creationId xmlns:a16="http://schemas.microsoft.com/office/drawing/2014/main" id="{33710F29-32E3-30AD-B679-F90BB1EDB7B7}"/>
                </a:ext>
              </a:extLst>
            </p:cNvPr>
            <p:cNvGrpSpPr/>
            <p:nvPr/>
          </p:nvGrpSpPr>
          <p:grpSpPr>
            <a:xfrm>
              <a:off x="328697" y="951828"/>
              <a:ext cx="371254" cy="326288"/>
              <a:chOff x="5892512" y="2805541"/>
              <a:chExt cx="459474" cy="403823"/>
            </a:xfrm>
          </p:grpSpPr>
          <p:sp>
            <p:nvSpPr>
              <p:cNvPr id="11" name="Elipse 10">
                <a:extLst>
                  <a:ext uri="{FF2B5EF4-FFF2-40B4-BE49-F238E27FC236}">
                    <a16:creationId xmlns:a16="http://schemas.microsoft.com/office/drawing/2014/main" id="{563408A6-B9D6-B779-61F1-6C178FA7378A}"/>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2" name="Elipse 11">
                <a:extLst>
                  <a:ext uri="{FF2B5EF4-FFF2-40B4-BE49-F238E27FC236}">
                    <a16:creationId xmlns:a16="http://schemas.microsoft.com/office/drawing/2014/main" id="{DED767B9-AC3E-6359-DE81-43C7167DFA8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3" name="Triángulo 12">
                <a:extLst>
                  <a:ext uri="{FF2B5EF4-FFF2-40B4-BE49-F238E27FC236}">
                    <a16:creationId xmlns:a16="http://schemas.microsoft.com/office/drawing/2014/main" id="{1A5023FC-6581-1531-A1B5-25D491C2BEDC}"/>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4" name="Google Shape;55;p4">
            <a:extLst>
              <a:ext uri="{FF2B5EF4-FFF2-40B4-BE49-F238E27FC236}">
                <a16:creationId xmlns:a16="http://schemas.microsoft.com/office/drawing/2014/main" id="{4B610203-C680-8D2D-0EE2-C8FA3D136BD0}"/>
              </a:ext>
            </a:extLst>
          </p:cNvPr>
          <p:cNvSpPr txBox="1"/>
          <p:nvPr/>
        </p:nvSpPr>
        <p:spPr>
          <a:xfrm>
            <a:off x="509343" y="3295072"/>
            <a:ext cx="7441052" cy="984885"/>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La interfaz de usuario de la aplicación web. Es la parte con la que interactúan los usuarios.</a:t>
            </a:r>
          </a:p>
          <a:p>
            <a:pPr marL="184150" lvl="1" indent="-184150">
              <a:buClr>
                <a:schemeClr val="accent3"/>
              </a:buClr>
              <a:buSzPct val="100000"/>
              <a:buFont typeface="Arial" panose="020B0604020202020204" pitchFamily="34" charset="0"/>
              <a:buChar char="•"/>
            </a:pPr>
            <a:endPar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Tecnologías Comunes: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HTML, CSS, JavaScript, frameworks como Angular, React, Vue.js.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2" name="Rectangle 5">
            <a:extLst>
              <a:ext uri="{FF2B5EF4-FFF2-40B4-BE49-F238E27FC236}">
                <a16:creationId xmlns:a16="http://schemas.microsoft.com/office/drawing/2014/main" id="{5071C796-6DC9-59E5-B756-D34C377DEEA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grpSp>
        <p:nvGrpSpPr>
          <p:cNvPr id="4" name="Grupo 3">
            <a:extLst>
              <a:ext uri="{FF2B5EF4-FFF2-40B4-BE49-F238E27FC236}">
                <a16:creationId xmlns:a16="http://schemas.microsoft.com/office/drawing/2014/main" id="{085B659E-AC34-4696-0679-022C62BC7F94}"/>
              </a:ext>
            </a:extLst>
          </p:cNvPr>
          <p:cNvGrpSpPr/>
          <p:nvPr/>
        </p:nvGrpSpPr>
        <p:grpSpPr>
          <a:xfrm>
            <a:off x="360135" y="921475"/>
            <a:ext cx="2267178" cy="338009"/>
            <a:chOff x="328697" y="912813"/>
            <a:chExt cx="2711937" cy="404317"/>
          </a:xfrm>
        </p:grpSpPr>
        <p:sp>
          <p:nvSpPr>
            <p:cNvPr id="5" name="Rectángulo redondeado 4">
              <a:extLst>
                <a:ext uri="{FF2B5EF4-FFF2-40B4-BE49-F238E27FC236}">
                  <a16:creationId xmlns:a16="http://schemas.microsoft.com/office/drawing/2014/main" id="{955B2E37-536C-24F6-9B38-46307A530144}"/>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11725" marR="0" lvl="0" indent="0" algn="ctr" rtl="0">
                <a:spcBef>
                  <a:spcPts val="0"/>
                </a:spcBef>
                <a:spcAft>
                  <a:spcPts val="0"/>
                </a:spcAft>
                <a:buNone/>
              </a:pPr>
              <a:r>
                <a:rPr lang="es-ES" b="1" dirty="0">
                  <a:solidFill>
                    <a:schemeClr val="bg1"/>
                  </a:solidFill>
                  <a:latin typeface="Calibri"/>
                  <a:ea typeface="Calibri"/>
                  <a:cs typeface="Calibri"/>
                  <a:sym typeface="Calibri"/>
                </a:rPr>
                <a:t>2. Servidor (</a:t>
              </a:r>
              <a:r>
                <a:rPr lang="es-ES" b="1" dirty="0" err="1">
                  <a:solidFill>
                    <a:schemeClr val="bg1"/>
                  </a:solidFill>
                  <a:latin typeface="Calibri"/>
                  <a:ea typeface="Calibri"/>
                  <a:cs typeface="Calibri"/>
                  <a:sym typeface="Calibri"/>
                </a:rPr>
                <a:t>Backend</a:t>
              </a:r>
              <a:r>
                <a:rPr lang="es-ES" b="1" dirty="0">
                  <a:solidFill>
                    <a:schemeClr val="bg1"/>
                  </a:solidFill>
                  <a:latin typeface="Calibri"/>
                  <a:ea typeface="Calibri"/>
                  <a:cs typeface="Calibri"/>
                  <a:sym typeface="Calibri"/>
                </a:rPr>
                <a:t>)</a:t>
              </a:r>
              <a:endParaRPr lang="es-ES" dirty="0">
                <a:solidFill>
                  <a:schemeClr val="bg1"/>
                </a:solidFill>
                <a:latin typeface="Calibri"/>
                <a:ea typeface="Calibri"/>
                <a:cs typeface="Calibri"/>
                <a:sym typeface="Calibri"/>
              </a:endParaRPr>
            </a:p>
          </p:txBody>
        </p:sp>
        <p:grpSp>
          <p:nvGrpSpPr>
            <p:cNvPr id="6" name="Agrupar 14">
              <a:extLst>
                <a:ext uri="{FF2B5EF4-FFF2-40B4-BE49-F238E27FC236}">
                  <a16:creationId xmlns:a16="http://schemas.microsoft.com/office/drawing/2014/main" id="{74A26655-495B-F440-8D6F-E70B909760EC}"/>
                </a:ext>
              </a:extLst>
            </p:cNvPr>
            <p:cNvGrpSpPr/>
            <p:nvPr/>
          </p:nvGrpSpPr>
          <p:grpSpPr>
            <a:xfrm>
              <a:off x="328697" y="951828"/>
              <a:ext cx="371254" cy="326288"/>
              <a:chOff x="5892512" y="2805541"/>
              <a:chExt cx="459474" cy="403823"/>
            </a:xfrm>
          </p:grpSpPr>
          <p:sp>
            <p:nvSpPr>
              <p:cNvPr id="7" name="Elipse 6">
                <a:extLst>
                  <a:ext uri="{FF2B5EF4-FFF2-40B4-BE49-F238E27FC236}">
                    <a16:creationId xmlns:a16="http://schemas.microsoft.com/office/drawing/2014/main" id="{F1C4922C-09A3-B09F-6366-91862B2FE3E3}"/>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Elipse 7">
                <a:extLst>
                  <a:ext uri="{FF2B5EF4-FFF2-40B4-BE49-F238E27FC236}">
                    <a16:creationId xmlns:a16="http://schemas.microsoft.com/office/drawing/2014/main" id="{CDFA1DE5-3802-2E20-CD31-30EB2EE8C798}"/>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9" name="Triángulo 8">
                <a:extLst>
                  <a:ext uri="{FF2B5EF4-FFF2-40B4-BE49-F238E27FC236}">
                    <a16:creationId xmlns:a16="http://schemas.microsoft.com/office/drawing/2014/main" id="{ED993F25-EB9B-F8E7-53D7-D9E484963BB6}"/>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0" name="Google Shape;55;p4">
            <a:extLst>
              <a:ext uri="{FF2B5EF4-FFF2-40B4-BE49-F238E27FC236}">
                <a16:creationId xmlns:a16="http://schemas.microsoft.com/office/drawing/2014/main" id="{7A1C16AF-8698-5E9F-2B31-ECB16229C334}"/>
              </a:ext>
            </a:extLst>
          </p:cNvPr>
          <p:cNvSpPr txBox="1"/>
          <p:nvPr/>
        </p:nvSpPr>
        <p:spPr>
          <a:xfrm>
            <a:off x="509342" y="1515656"/>
            <a:ext cx="7350310" cy="984885"/>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El componente que procesa las solicitudes del cliente, ejecuta la lógica de negocio y maneja la comunicación con la base de datos.</a:t>
            </a:r>
          </a:p>
          <a:p>
            <a:pPr marL="184150" lvl="1" indent="-184150">
              <a:buClr>
                <a:schemeClr val="accent3"/>
              </a:buClr>
              <a:buSzPct val="100000"/>
              <a:buFont typeface="Arial" panose="020B0604020202020204" pitchFamily="34" charset="0"/>
              <a:buChar char="•"/>
            </a:pPr>
            <a:endPar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Tecnologías Comunes: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Java (Spring), Node.js, Python (Django, Flask), Ruby on Rails.</a:t>
            </a:r>
          </a:p>
        </p:txBody>
      </p:sp>
      <p:grpSp>
        <p:nvGrpSpPr>
          <p:cNvPr id="13" name="Grupo 12">
            <a:extLst>
              <a:ext uri="{FF2B5EF4-FFF2-40B4-BE49-F238E27FC236}">
                <a16:creationId xmlns:a16="http://schemas.microsoft.com/office/drawing/2014/main" id="{891E84C8-6807-75AE-6A00-1A8667442C0A}"/>
              </a:ext>
            </a:extLst>
          </p:cNvPr>
          <p:cNvGrpSpPr/>
          <p:nvPr/>
        </p:nvGrpSpPr>
        <p:grpSpPr>
          <a:xfrm>
            <a:off x="360135" y="2954180"/>
            <a:ext cx="2267178" cy="338009"/>
            <a:chOff x="328697" y="912813"/>
            <a:chExt cx="2711937" cy="404317"/>
          </a:xfrm>
        </p:grpSpPr>
        <p:sp>
          <p:nvSpPr>
            <p:cNvPr id="15" name="Rectángulo redondeado 14">
              <a:extLst>
                <a:ext uri="{FF2B5EF4-FFF2-40B4-BE49-F238E27FC236}">
                  <a16:creationId xmlns:a16="http://schemas.microsoft.com/office/drawing/2014/main" id="{35A02EDC-459F-9BF7-CBAC-74686EB9224A}"/>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11725" marR="0" lvl="0" indent="0" algn="ctr" rtl="0">
                <a:spcBef>
                  <a:spcPts val="0"/>
                </a:spcBef>
                <a:spcAft>
                  <a:spcPts val="0"/>
                </a:spcAft>
                <a:buNone/>
              </a:pPr>
              <a:r>
                <a:rPr lang="es-ES" b="1" dirty="0">
                  <a:solidFill>
                    <a:schemeClr val="bg1"/>
                  </a:solidFill>
                  <a:latin typeface="Calibri"/>
                  <a:ea typeface="Calibri"/>
                  <a:cs typeface="Calibri"/>
                  <a:sym typeface="Calibri"/>
                </a:rPr>
                <a:t>3. Base de Datos</a:t>
              </a:r>
              <a:endParaRPr lang="es-ES" dirty="0">
                <a:solidFill>
                  <a:schemeClr val="bg1"/>
                </a:solidFill>
                <a:latin typeface="Calibri"/>
                <a:ea typeface="Calibri"/>
                <a:cs typeface="Calibri"/>
                <a:sym typeface="Calibri"/>
              </a:endParaRPr>
            </a:p>
          </p:txBody>
        </p:sp>
        <p:grpSp>
          <p:nvGrpSpPr>
            <p:cNvPr id="16" name="Agrupar 14">
              <a:extLst>
                <a:ext uri="{FF2B5EF4-FFF2-40B4-BE49-F238E27FC236}">
                  <a16:creationId xmlns:a16="http://schemas.microsoft.com/office/drawing/2014/main" id="{8F531F5B-0E38-6F8D-6F90-DFE535AC77C4}"/>
                </a:ext>
              </a:extLst>
            </p:cNvPr>
            <p:cNvGrpSpPr/>
            <p:nvPr/>
          </p:nvGrpSpPr>
          <p:grpSpPr>
            <a:xfrm>
              <a:off x="328697" y="951828"/>
              <a:ext cx="371254" cy="326288"/>
              <a:chOff x="5892512" y="2805541"/>
              <a:chExt cx="459474" cy="403823"/>
            </a:xfrm>
          </p:grpSpPr>
          <p:sp>
            <p:nvSpPr>
              <p:cNvPr id="17" name="Elipse 16">
                <a:extLst>
                  <a:ext uri="{FF2B5EF4-FFF2-40B4-BE49-F238E27FC236}">
                    <a16:creationId xmlns:a16="http://schemas.microsoft.com/office/drawing/2014/main" id="{9F3FCBF1-FFED-0944-F972-A1D8D3B06E1E}"/>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8" name="Elipse 17">
                <a:extLst>
                  <a:ext uri="{FF2B5EF4-FFF2-40B4-BE49-F238E27FC236}">
                    <a16:creationId xmlns:a16="http://schemas.microsoft.com/office/drawing/2014/main" id="{C58D22E4-3C08-C478-BD68-698FFE591E7E}"/>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9" name="Triángulo 18">
                <a:extLst>
                  <a:ext uri="{FF2B5EF4-FFF2-40B4-BE49-F238E27FC236}">
                    <a16:creationId xmlns:a16="http://schemas.microsoft.com/office/drawing/2014/main" id="{87B2A3E0-8A1D-796D-8F0C-80A3636268F0}"/>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4" name="Google Shape;55;p4">
            <a:extLst>
              <a:ext uri="{FF2B5EF4-FFF2-40B4-BE49-F238E27FC236}">
                <a16:creationId xmlns:a16="http://schemas.microsoft.com/office/drawing/2014/main" id="{388663B8-C9ED-4EDE-845C-CE231E75B29F}"/>
              </a:ext>
            </a:extLst>
          </p:cNvPr>
          <p:cNvSpPr txBox="1"/>
          <p:nvPr/>
        </p:nvSpPr>
        <p:spPr>
          <a:xfrm>
            <a:off x="509342" y="3548361"/>
            <a:ext cx="7350310" cy="1231106"/>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Almacena y gestiona los datos de la aplicación.</a:t>
            </a:r>
          </a:p>
          <a:p>
            <a:pPr marL="184150" lvl="1" indent="-184150">
              <a:buClr>
                <a:schemeClr val="accent3"/>
              </a:buClr>
              <a:buSzPct val="100000"/>
              <a:buFont typeface="Arial" panose="020B0604020202020204" pitchFamily="34" charset="0"/>
              <a:buChar char="•"/>
            </a:pPr>
            <a:endPar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Tipos:</a:t>
            </a:r>
          </a:p>
          <a:p>
            <a:pPr marL="403225" lvl="1" indent="-222250">
              <a:buClr>
                <a:schemeClr val="accent3"/>
              </a:buClr>
              <a:buSzPct val="100000"/>
              <a:buFont typeface="+mj-lt"/>
              <a:buAutoNum type="alphaLcPeriod"/>
            </a:pP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Relacional: MySQL, PostgreSQL, Oracle.</a:t>
            </a:r>
          </a:p>
          <a:p>
            <a:pPr marL="403225" lvl="1" indent="-222250">
              <a:buClr>
                <a:schemeClr val="accent3"/>
              </a:buClr>
              <a:buSzPct val="100000"/>
              <a:buFont typeface="+mj-lt"/>
              <a:buAutoNum type="alphaLcPeriod"/>
            </a:pP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NoSQL: MongoDB, Cassandra, Redis.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Rectangle 5">
            <a:extLst>
              <a:ext uri="{FF2B5EF4-FFF2-40B4-BE49-F238E27FC236}">
                <a16:creationId xmlns:a16="http://schemas.microsoft.com/office/drawing/2014/main" id="{AE53C1F4-9AC1-9DA7-4168-158D6D6BD92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sp>
        <p:nvSpPr>
          <p:cNvPr id="4" name="Rectángulo redondeado 3">
            <a:extLst>
              <a:ext uri="{FF2B5EF4-FFF2-40B4-BE49-F238E27FC236}">
                <a16:creationId xmlns:a16="http://schemas.microsoft.com/office/drawing/2014/main" id="{F4928A8F-3BFB-CA59-94FF-CA29170DF0C7}"/>
              </a:ext>
            </a:extLst>
          </p:cNvPr>
          <p:cNvSpPr/>
          <p:nvPr/>
        </p:nvSpPr>
        <p:spPr>
          <a:xfrm>
            <a:off x="506050" y="921475"/>
            <a:ext cx="2337163" cy="46337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11725" algn="ctr"/>
            <a:r>
              <a:rPr lang="es-ES" sz="1200" b="1" dirty="0">
                <a:solidFill>
                  <a:schemeClr val="bg1"/>
                </a:solidFill>
                <a:latin typeface="Calibri"/>
                <a:ea typeface="Calibri"/>
                <a:cs typeface="Calibri"/>
                <a:sym typeface="Calibri"/>
              </a:rPr>
              <a:t>4. API (Interfaz de</a:t>
            </a:r>
            <a:br>
              <a:rPr lang="es-ES" sz="1200" b="1" dirty="0">
                <a:solidFill>
                  <a:schemeClr val="bg1"/>
                </a:solidFill>
                <a:latin typeface="Calibri"/>
                <a:ea typeface="Calibri"/>
                <a:cs typeface="Calibri"/>
                <a:sym typeface="Calibri"/>
              </a:rPr>
            </a:br>
            <a:r>
              <a:rPr lang="es-ES" sz="1200" b="1" dirty="0">
                <a:solidFill>
                  <a:schemeClr val="bg1"/>
                </a:solidFill>
                <a:latin typeface="Calibri"/>
                <a:ea typeface="Calibri"/>
                <a:cs typeface="Calibri"/>
                <a:sym typeface="Calibri"/>
              </a:rPr>
              <a:t>Programación de Aplicaciones)</a:t>
            </a:r>
          </a:p>
        </p:txBody>
      </p:sp>
      <p:grpSp>
        <p:nvGrpSpPr>
          <p:cNvPr id="5" name="Agrupar 14">
            <a:extLst>
              <a:ext uri="{FF2B5EF4-FFF2-40B4-BE49-F238E27FC236}">
                <a16:creationId xmlns:a16="http://schemas.microsoft.com/office/drawing/2014/main" id="{1F2363C7-6B71-C951-1B58-E299C728B61E}"/>
              </a:ext>
            </a:extLst>
          </p:cNvPr>
          <p:cNvGrpSpPr/>
          <p:nvPr/>
        </p:nvGrpSpPr>
        <p:grpSpPr>
          <a:xfrm>
            <a:off x="360135" y="1016775"/>
            <a:ext cx="310368" cy="272777"/>
            <a:chOff x="5892512" y="2805541"/>
            <a:chExt cx="459474" cy="403823"/>
          </a:xfrm>
        </p:grpSpPr>
        <p:sp>
          <p:nvSpPr>
            <p:cNvPr id="6" name="Elipse 5">
              <a:extLst>
                <a:ext uri="{FF2B5EF4-FFF2-40B4-BE49-F238E27FC236}">
                  <a16:creationId xmlns:a16="http://schemas.microsoft.com/office/drawing/2014/main" id="{5407254B-4BF9-D5DD-1B74-9E824A67DE44}"/>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69F20C84-B4F6-F917-381E-FFC4075228B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ABEA9452-72C8-9E37-EFE5-54C060FFC533}"/>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sp>
        <p:nvSpPr>
          <p:cNvPr id="9" name="Google Shape;55;p4">
            <a:extLst>
              <a:ext uri="{FF2B5EF4-FFF2-40B4-BE49-F238E27FC236}">
                <a16:creationId xmlns:a16="http://schemas.microsoft.com/office/drawing/2014/main" id="{E81DEF40-4320-4F1C-0C49-DC137B797C9B}"/>
              </a:ext>
            </a:extLst>
          </p:cNvPr>
          <p:cNvSpPr txBox="1"/>
          <p:nvPr/>
        </p:nvSpPr>
        <p:spPr>
          <a:xfrm>
            <a:off x="509342" y="1621672"/>
            <a:ext cx="6756997" cy="1231106"/>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Define cómo interactúan los diferentes componentes de la aplicación. En el contexto de servicios web, se refiere a las interfaces REST o SOAP que permiten la comunicación entre el frontend y el backend.</a:t>
            </a:r>
          </a:p>
          <a:p>
            <a:pPr marL="184150" lvl="1" indent="-184150">
              <a:buClr>
                <a:schemeClr val="accent3"/>
              </a:buClr>
              <a:buSzPct val="100000"/>
              <a:buFont typeface="Arial" panose="020B0604020202020204" pitchFamily="34" charset="0"/>
              <a:buChar char="•"/>
            </a:pPr>
            <a:endPar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Ejemplo de API REST: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GET /api/products</a:t>
            </a:r>
          </a:p>
        </p:txBody>
      </p:sp>
      <p:grpSp>
        <p:nvGrpSpPr>
          <p:cNvPr id="10" name="Grupo 9">
            <a:extLst>
              <a:ext uri="{FF2B5EF4-FFF2-40B4-BE49-F238E27FC236}">
                <a16:creationId xmlns:a16="http://schemas.microsoft.com/office/drawing/2014/main" id="{873F8737-7133-767D-E2AA-8EE38B9C3D3A}"/>
              </a:ext>
            </a:extLst>
          </p:cNvPr>
          <p:cNvGrpSpPr/>
          <p:nvPr/>
        </p:nvGrpSpPr>
        <p:grpSpPr>
          <a:xfrm>
            <a:off x="360135" y="3225846"/>
            <a:ext cx="2483078" cy="338009"/>
            <a:chOff x="328697" y="912813"/>
            <a:chExt cx="2970191" cy="404317"/>
          </a:xfrm>
        </p:grpSpPr>
        <p:sp>
          <p:nvSpPr>
            <p:cNvPr id="11" name="Rectángulo redondeado 10">
              <a:extLst>
                <a:ext uri="{FF2B5EF4-FFF2-40B4-BE49-F238E27FC236}">
                  <a16:creationId xmlns:a16="http://schemas.microsoft.com/office/drawing/2014/main" id="{B3E283B1-1B9B-0912-37BA-1F36AEA69B8F}"/>
                </a:ext>
              </a:extLst>
            </p:cNvPr>
            <p:cNvSpPr/>
            <p:nvPr/>
          </p:nvSpPr>
          <p:spPr>
            <a:xfrm>
              <a:off x="503237" y="912813"/>
              <a:ext cx="2795651"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11725" algn="ctr"/>
              <a:r>
                <a:rPr lang="es-ES" b="1" dirty="0">
                  <a:solidFill>
                    <a:schemeClr val="bg1"/>
                  </a:solidFill>
                  <a:latin typeface="Calibri"/>
                  <a:ea typeface="Calibri"/>
                  <a:cs typeface="Calibri"/>
                  <a:sym typeface="Calibri"/>
                </a:rPr>
                <a:t>5. </a:t>
              </a:r>
              <a:r>
                <a:rPr lang="es-ES" sz="1400" b="1" i="0" dirty="0">
                  <a:solidFill>
                    <a:schemeClr val="bg1"/>
                  </a:solidFill>
                  <a:latin typeface="Calibri"/>
                  <a:ea typeface="Calibri"/>
                  <a:cs typeface="Calibri"/>
                  <a:sym typeface="Calibri"/>
                </a:rPr>
                <a:t>Servidor Web:</a:t>
              </a:r>
              <a:endParaRPr lang="es-ES" dirty="0">
                <a:solidFill>
                  <a:schemeClr val="bg1"/>
                </a:solidFill>
              </a:endParaRPr>
            </a:p>
          </p:txBody>
        </p:sp>
        <p:grpSp>
          <p:nvGrpSpPr>
            <p:cNvPr id="12" name="Agrupar 14">
              <a:extLst>
                <a:ext uri="{FF2B5EF4-FFF2-40B4-BE49-F238E27FC236}">
                  <a16:creationId xmlns:a16="http://schemas.microsoft.com/office/drawing/2014/main" id="{E4D50AC2-3818-ED3B-F88F-F3934B7A64AF}"/>
                </a:ext>
              </a:extLst>
            </p:cNvPr>
            <p:cNvGrpSpPr/>
            <p:nvPr/>
          </p:nvGrpSpPr>
          <p:grpSpPr>
            <a:xfrm>
              <a:off x="328697" y="951828"/>
              <a:ext cx="371254" cy="326288"/>
              <a:chOff x="5892512" y="2805541"/>
              <a:chExt cx="459474" cy="403823"/>
            </a:xfrm>
          </p:grpSpPr>
          <p:sp>
            <p:nvSpPr>
              <p:cNvPr id="13" name="Elipse 12">
                <a:extLst>
                  <a:ext uri="{FF2B5EF4-FFF2-40B4-BE49-F238E27FC236}">
                    <a16:creationId xmlns:a16="http://schemas.microsoft.com/office/drawing/2014/main" id="{98C9FC8C-C25C-4E20-DB01-776DC8B2B2CD}"/>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4" name="Elipse 13">
                <a:extLst>
                  <a:ext uri="{FF2B5EF4-FFF2-40B4-BE49-F238E27FC236}">
                    <a16:creationId xmlns:a16="http://schemas.microsoft.com/office/drawing/2014/main" id="{C2DDAE2D-594B-A76C-105A-EBD819C80BD2}"/>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5" name="Triángulo 14">
                <a:extLst>
                  <a:ext uri="{FF2B5EF4-FFF2-40B4-BE49-F238E27FC236}">
                    <a16:creationId xmlns:a16="http://schemas.microsoft.com/office/drawing/2014/main" id="{29326BF5-0782-77FF-ADCB-6A06EC398A6A}"/>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6" name="Google Shape;55;p4">
            <a:extLst>
              <a:ext uri="{FF2B5EF4-FFF2-40B4-BE49-F238E27FC236}">
                <a16:creationId xmlns:a16="http://schemas.microsoft.com/office/drawing/2014/main" id="{A46DEDA7-6241-97AE-853C-30858CC72681}"/>
              </a:ext>
            </a:extLst>
          </p:cNvPr>
          <p:cNvSpPr txBox="1"/>
          <p:nvPr/>
        </p:nvSpPr>
        <p:spPr>
          <a:xfrm>
            <a:off x="509342" y="3820027"/>
            <a:ext cx="6756997" cy="984885"/>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Maneja las solicitudes HTTP del cliente y puede servir contenido estático o pasar solicitudes al backend.</a:t>
            </a:r>
          </a:p>
          <a:p>
            <a:pPr marL="184150" lvl="1" indent="-184150">
              <a:buClr>
                <a:schemeClr val="accent3"/>
              </a:buClr>
              <a:buSzPct val="100000"/>
              <a:buFont typeface="Arial" panose="020B0604020202020204" pitchFamily="34" charset="0"/>
              <a:buChar char="•"/>
            </a:pPr>
            <a:endPar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Ejemplos: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Apache, Nginx.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2" name="Rectangle 5">
            <a:extLst>
              <a:ext uri="{FF2B5EF4-FFF2-40B4-BE49-F238E27FC236}">
                <a16:creationId xmlns:a16="http://schemas.microsoft.com/office/drawing/2014/main" id="{CFC9EC08-DE3A-4279-F97A-44B8A3956239}"/>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grpSp>
        <p:nvGrpSpPr>
          <p:cNvPr id="3" name="Grupo 2">
            <a:extLst>
              <a:ext uri="{FF2B5EF4-FFF2-40B4-BE49-F238E27FC236}">
                <a16:creationId xmlns:a16="http://schemas.microsoft.com/office/drawing/2014/main" id="{6C2F5160-2279-C535-334B-7D4E9294BB42}"/>
              </a:ext>
            </a:extLst>
          </p:cNvPr>
          <p:cNvGrpSpPr/>
          <p:nvPr/>
        </p:nvGrpSpPr>
        <p:grpSpPr>
          <a:xfrm>
            <a:off x="360135" y="921475"/>
            <a:ext cx="2483078" cy="338009"/>
            <a:chOff x="328697" y="912813"/>
            <a:chExt cx="2970191" cy="404317"/>
          </a:xfrm>
        </p:grpSpPr>
        <p:sp>
          <p:nvSpPr>
            <p:cNvPr id="4" name="Rectángulo redondeado 3">
              <a:extLst>
                <a:ext uri="{FF2B5EF4-FFF2-40B4-BE49-F238E27FC236}">
                  <a16:creationId xmlns:a16="http://schemas.microsoft.com/office/drawing/2014/main" id="{2F35265F-3ACB-CB0B-979D-34D049DD8E26}"/>
                </a:ext>
              </a:extLst>
            </p:cNvPr>
            <p:cNvSpPr/>
            <p:nvPr/>
          </p:nvSpPr>
          <p:spPr>
            <a:xfrm>
              <a:off x="503237" y="912813"/>
              <a:ext cx="2795651"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marL="11725" algn="ctr"/>
              <a:r>
                <a:rPr lang="es-ES" b="1" dirty="0">
                  <a:solidFill>
                    <a:schemeClr val="bg1"/>
                  </a:solidFill>
                  <a:latin typeface="Calibri"/>
                  <a:ea typeface="Calibri"/>
                  <a:cs typeface="Calibri"/>
                  <a:sym typeface="Calibri"/>
                </a:rPr>
                <a:t>6. Servidor de Aplicaciones</a:t>
              </a:r>
            </a:p>
          </p:txBody>
        </p:sp>
        <p:grpSp>
          <p:nvGrpSpPr>
            <p:cNvPr id="5" name="Agrupar 14">
              <a:extLst>
                <a:ext uri="{FF2B5EF4-FFF2-40B4-BE49-F238E27FC236}">
                  <a16:creationId xmlns:a16="http://schemas.microsoft.com/office/drawing/2014/main" id="{6E2FAA9B-4EB9-4A4A-07B9-F420C7AD9369}"/>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515694FD-15E0-ECCB-52CC-58F0C8472BEA}"/>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5AE313E9-C528-D054-1B47-C280EEB4D52B}"/>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65E659E6-91C6-CA69-431F-9B6D8F40A728}"/>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05DC5D68-85E1-2A3D-1FE3-C652D7EAAE92}"/>
              </a:ext>
            </a:extLst>
          </p:cNvPr>
          <p:cNvSpPr txBox="1"/>
          <p:nvPr/>
        </p:nvSpPr>
        <p:spPr>
          <a:xfrm>
            <a:off x="509342" y="1515656"/>
            <a:ext cx="7350310" cy="492443"/>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Ejecuta las aplicaciones web y maneja la lógica de negocio.</a:t>
            </a: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Ejemplos: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Tomcat, Jetty, JBoss.</a:t>
            </a:r>
          </a:p>
        </p:txBody>
      </p:sp>
      <p:grpSp>
        <p:nvGrpSpPr>
          <p:cNvPr id="10" name="Grupo 9">
            <a:extLst>
              <a:ext uri="{FF2B5EF4-FFF2-40B4-BE49-F238E27FC236}">
                <a16:creationId xmlns:a16="http://schemas.microsoft.com/office/drawing/2014/main" id="{8089B784-DCFE-3951-F073-BDAC5AAEAD11}"/>
              </a:ext>
            </a:extLst>
          </p:cNvPr>
          <p:cNvGrpSpPr/>
          <p:nvPr/>
        </p:nvGrpSpPr>
        <p:grpSpPr>
          <a:xfrm>
            <a:off x="360135" y="2437347"/>
            <a:ext cx="2267178" cy="338009"/>
            <a:chOff x="328697" y="912813"/>
            <a:chExt cx="2711937" cy="404317"/>
          </a:xfrm>
        </p:grpSpPr>
        <p:sp>
          <p:nvSpPr>
            <p:cNvPr id="11" name="Rectángulo redondeado 10">
              <a:extLst>
                <a:ext uri="{FF2B5EF4-FFF2-40B4-BE49-F238E27FC236}">
                  <a16:creationId xmlns:a16="http://schemas.microsoft.com/office/drawing/2014/main" id="{6F26A002-1E17-9254-6112-4609E386260C}"/>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11725" algn="ctr"/>
              <a:r>
                <a:rPr lang="es-ES" b="1" dirty="0">
                  <a:solidFill>
                    <a:schemeClr val="bg1"/>
                  </a:solidFill>
                  <a:latin typeface="Calibri"/>
                  <a:ea typeface="Calibri"/>
                  <a:cs typeface="Calibri"/>
                  <a:sym typeface="Calibri"/>
                </a:rPr>
                <a:t>7. Capa de Seguridad:</a:t>
              </a:r>
            </a:p>
          </p:txBody>
        </p:sp>
        <p:grpSp>
          <p:nvGrpSpPr>
            <p:cNvPr id="12" name="Agrupar 14">
              <a:extLst>
                <a:ext uri="{FF2B5EF4-FFF2-40B4-BE49-F238E27FC236}">
                  <a16:creationId xmlns:a16="http://schemas.microsoft.com/office/drawing/2014/main" id="{709FCFFD-0572-C10E-5EBB-85E380B9167C}"/>
                </a:ext>
              </a:extLst>
            </p:cNvPr>
            <p:cNvGrpSpPr/>
            <p:nvPr/>
          </p:nvGrpSpPr>
          <p:grpSpPr>
            <a:xfrm>
              <a:off x="328697" y="951828"/>
              <a:ext cx="371254" cy="326288"/>
              <a:chOff x="5892512" y="2805541"/>
              <a:chExt cx="459474" cy="403823"/>
            </a:xfrm>
          </p:grpSpPr>
          <p:sp>
            <p:nvSpPr>
              <p:cNvPr id="13" name="Elipse 12">
                <a:extLst>
                  <a:ext uri="{FF2B5EF4-FFF2-40B4-BE49-F238E27FC236}">
                    <a16:creationId xmlns:a16="http://schemas.microsoft.com/office/drawing/2014/main" id="{EA15BF6B-2E1D-1F6E-6644-E12E3F764710}"/>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4" name="Elipse 13">
                <a:extLst>
                  <a:ext uri="{FF2B5EF4-FFF2-40B4-BE49-F238E27FC236}">
                    <a16:creationId xmlns:a16="http://schemas.microsoft.com/office/drawing/2014/main" id="{6B150CBC-58E5-A791-CBB0-EC95EE5E75B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5" name="Triángulo 14">
                <a:extLst>
                  <a:ext uri="{FF2B5EF4-FFF2-40B4-BE49-F238E27FC236}">
                    <a16:creationId xmlns:a16="http://schemas.microsoft.com/office/drawing/2014/main" id="{917631DD-FA75-831E-9808-65EC6E0DE405}"/>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6" name="Google Shape;55;p4">
            <a:extLst>
              <a:ext uri="{FF2B5EF4-FFF2-40B4-BE49-F238E27FC236}">
                <a16:creationId xmlns:a16="http://schemas.microsoft.com/office/drawing/2014/main" id="{31439737-7D3D-0369-427C-E36A193F175F}"/>
              </a:ext>
            </a:extLst>
          </p:cNvPr>
          <p:cNvSpPr txBox="1"/>
          <p:nvPr/>
        </p:nvSpPr>
        <p:spPr>
          <a:xfrm>
            <a:off x="509342" y="3031528"/>
            <a:ext cx="7350310" cy="492443"/>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Protege la aplicación web contra amenazas y vulnerabilidades.</a:t>
            </a:r>
          </a:p>
          <a:p>
            <a:pPr marL="184150" lvl="1" indent="-184150">
              <a:buClr>
                <a:schemeClr val="accent3"/>
              </a:buClr>
              <a:buSzPct val="100000"/>
              <a:buFont typeface="Arial" panose="020B0604020202020204" pitchFamily="34" charset="0"/>
              <a:buChar char="•"/>
            </a:pPr>
            <a:r>
              <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Tecnologías: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HTTPS, Firewalls, OAuth, JWT.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p12"/>
          <p:cNvSpPr txBox="1"/>
          <p:nvPr/>
        </p:nvSpPr>
        <p:spPr>
          <a:xfrm>
            <a:off x="509343" y="921277"/>
            <a:ext cx="8026441" cy="246221"/>
          </a:xfrm>
          <a:prstGeom prst="rect">
            <a:avLst/>
          </a:prstGeom>
          <a:noFill/>
          <a:ln>
            <a:noFill/>
          </a:ln>
        </p:spPr>
        <p:txBody>
          <a:bodyPr spcFirstLastPara="1" wrap="square" lIns="0" tIns="0" rIns="0" bIns="0" anchor="t" anchorCtr="0">
            <a:spAutoFit/>
          </a:bodyPr>
          <a:lstStyle/>
          <a:p>
            <a:pPr marL="177800" marR="0" lvl="0" indent="-177800" algn="l" rtl="0">
              <a:spcBef>
                <a:spcPts val="0"/>
              </a:spcBef>
              <a:spcAft>
                <a:spcPts val="0"/>
              </a:spcAft>
              <a:buFont typeface="Arial" panose="020B0604020202020204" pitchFamily="34" charset="0"/>
              <a:buChar char="•"/>
            </a:pPr>
            <a:r>
              <a:rPr lang="es-ES" sz="1600" b="1" dirty="0">
                <a:solidFill>
                  <a:schemeClr val="dk1"/>
                </a:solidFill>
                <a:latin typeface="Calibri"/>
                <a:ea typeface="Calibri"/>
                <a:cs typeface="Calibri"/>
                <a:sym typeface="Calibri"/>
              </a:rPr>
              <a:t>PATRONES DE ARQUITECTURA COMUNES</a:t>
            </a:r>
            <a:r>
              <a:rPr lang="es-ES" sz="1600" dirty="0">
                <a:solidFill>
                  <a:schemeClr val="dk1"/>
                </a:solidFill>
                <a:latin typeface="Calibri"/>
                <a:ea typeface="Calibri"/>
                <a:cs typeface="Calibri"/>
                <a:sym typeface="Calibri"/>
              </a:rPr>
              <a:t>:</a:t>
            </a:r>
            <a:endParaRPr lang="es-ES" sz="1800"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CC537CBC-2B2D-49D9-7803-5C701FD7296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grpSp>
        <p:nvGrpSpPr>
          <p:cNvPr id="4" name="Grupo 3">
            <a:extLst>
              <a:ext uri="{FF2B5EF4-FFF2-40B4-BE49-F238E27FC236}">
                <a16:creationId xmlns:a16="http://schemas.microsoft.com/office/drawing/2014/main" id="{5515F53B-6D65-BAAA-B478-62DE31966556}"/>
              </a:ext>
            </a:extLst>
          </p:cNvPr>
          <p:cNvGrpSpPr/>
          <p:nvPr/>
        </p:nvGrpSpPr>
        <p:grpSpPr>
          <a:xfrm>
            <a:off x="360135" y="1369875"/>
            <a:ext cx="3290839" cy="338009"/>
            <a:chOff x="328697" y="912813"/>
            <a:chExt cx="3936415" cy="404317"/>
          </a:xfrm>
        </p:grpSpPr>
        <p:sp>
          <p:nvSpPr>
            <p:cNvPr id="5" name="Rectángulo redondeado 4">
              <a:extLst>
                <a:ext uri="{FF2B5EF4-FFF2-40B4-BE49-F238E27FC236}">
                  <a16:creationId xmlns:a16="http://schemas.microsoft.com/office/drawing/2014/main" id="{BEBABE70-07AE-FF66-04AC-E80743F5DDD8}"/>
                </a:ext>
              </a:extLst>
            </p:cNvPr>
            <p:cNvSpPr/>
            <p:nvPr/>
          </p:nvSpPr>
          <p:spPr>
            <a:xfrm>
              <a:off x="503237" y="912813"/>
              <a:ext cx="3761875"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1</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ES" sz="1400" b="1" i="0" dirty="0">
                  <a:solidFill>
                    <a:schemeClr val="bg1"/>
                  </a:solidFill>
                  <a:latin typeface="Calibri"/>
                  <a:ea typeface="Calibri"/>
                  <a:cs typeface="Calibri"/>
                  <a:sym typeface="Calibri"/>
                </a:rPr>
                <a:t>MVC (</a:t>
              </a:r>
              <a:r>
                <a:rPr lang="es-ES" sz="1400" b="1" i="0" dirty="0" err="1">
                  <a:solidFill>
                    <a:schemeClr val="bg1"/>
                  </a:solidFill>
                  <a:latin typeface="Calibri"/>
                  <a:ea typeface="Calibri"/>
                  <a:cs typeface="Calibri"/>
                  <a:sym typeface="Calibri"/>
                </a:rPr>
                <a:t>Model</a:t>
              </a:r>
              <a:r>
                <a:rPr lang="es-ES" sz="1400" b="1" i="0" dirty="0">
                  <a:solidFill>
                    <a:schemeClr val="bg1"/>
                  </a:solidFill>
                  <a:latin typeface="Calibri"/>
                  <a:ea typeface="Calibri"/>
                  <a:cs typeface="Calibri"/>
                  <a:sym typeface="Calibri"/>
                </a:rPr>
                <a:t>-View-</a:t>
              </a:r>
              <a:r>
                <a:rPr lang="es-ES" sz="1400" b="1" i="0" dirty="0" err="1">
                  <a:solidFill>
                    <a:schemeClr val="bg1"/>
                  </a:solidFill>
                  <a:latin typeface="Calibri"/>
                  <a:ea typeface="Calibri"/>
                  <a:cs typeface="Calibri"/>
                  <a:sym typeface="Calibri"/>
                </a:rPr>
                <a:t>Controller</a:t>
              </a:r>
              <a:r>
                <a:rPr lang="es-ES" sz="1400" b="1" i="0" dirty="0">
                  <a:solidFill>
                    <a:schemeClr val="bg1"/>
                  </a:solidFill>
                  <a:latin typeface="Calibri"/>
                  <a:ea typeface="Calibri"/>
                  <a:cs typeface="Calibri"/>
                  <a:sym typeface="Calibri"/>
                </a:rPr>
                <a:t>)</a:t>
              </a:r>
            </a:p>
          </p:txBody>
        </p:sp>
        <p:grpSp>
          <p:nvGrpSpPr>
            <p:cNvPr id="6" name="Agrupar 14">
              <a:extLst>
                <a:ext uri="{FF2B5EF4-FFF2-40B4-BE49-F238E27FC236}">
                  <a16:creationId xmlns:a16="http://schemas.microsoft.com/office/drawing/2014/main" id="{07BD10AD-6A66-22B6-258E-385317444F31}"/>
                </a:ext>
              </a:extLst>
            </p:cNvPr>
            <p:cNvGrpSpPr/>
            <p:nvPr/>
          </p:nvGrpSpPr>
          <p:grpSpPr>
            <a:xfrm>
              <a:off x="328697" y="951828"/>
              <a:ext cx="371254" cy="326288"/>
              <a:chOff x="5892512" y="2805541"/>
              <a:chExt cx="459474" cy="403823"/>
            </a:xfrm>
          </p:grpSpPr>
          <p:sp>
            <p:nvSpPr>
              <p:cNvPr id="7" name="Elipse 6">
                <a:extLst>
                  <a:ext uri="{FF2B5EF4-FFF2-40B4-BE49-F238E27FC236}">
                    <a16:creationId xmlns:a16="http://schemas.microsoft.com/office/drawing/2014/main" id="{8C478F3A-3DA0-EC75-BB88-FF009CBAC649}"/>
                  </a:ext>
                </a:extLst>
              </p:cNvPr>
              <p:cNvSpPr/>
              <p:nvPr/>
            </p:nvSpPr>
            <p:spPr>
              <a:xfrm>
                <a:off x="5956277" y="2824919"/>
                <a:ext cx="395709" cy="376075"/>
              </a:xfrm>
              <a:prstGeom prst="ellipse">
                <a:avLst/>
              </a:prstGeom>
              <a:solidFill>
                <a:srgbClr val="007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Elipse 7">
                <a:extLst>
                  <a:ext uri="{FF2B5EF4-FFF2-40B4-BE49-F238E27FC236}">
                    <a16:creationId xmlns:a16="http://schemas.microsoft.com/office/drawing/2014/main" id="{0666C901-4A59-DE7E-B05D-726DB77F1067}"/>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9" name="Triángulo 8">
                <a:extLst>
                  <a:ext uri="{FF2B5EF4-FFF2-40B4-BE49-F238E27FC236}">
                    <a16:creationId xmlns:a16="http://schemas.microsoft.com/office/drawing/2014/main" id="{49CDE69F-0F07-154C-18B6-9611C19A8C57}"/>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0" name="Google Shape;55;p4">
            <a:extLst>
              <a:ext uri="{FF2B5EF4-FFF2-40B4-BE49-F238E27FC236}">
                <a16:creationId xmlns:a16="http://schemas.microsoft.com/office/drawing/2014/main" id="{85A86D35-6EFE-CED6-FF51-913269CFD2D4}"/>
              </a:ext>
            </a:extLst>
          </p:cNvPr>
          <p:cNvSpPr txBox="1"/>
          <p:nvPr/>
        </p:nvSpPr>
        <p:spPr>
          <a:xfrm>
            <a:off x="509343" y="1964056"/>
            <a:ext cx="7441052" cy="984885"/>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Separa la aplicación en tres componentes principales: Modelo (datos), Vista (interfaz de usuario) y Controlador (lógica de negocio).</a:t>
            </a:r>
          </a:p>
          <a:p>
            <a:pPr marL="184150" lvl="1" indent="-184150">
              <a:buClr>
                <a:schemeClr val="accent5"/>
              </a:buClr>
              <a:buSzPct val="100000"/>
              <a:buFont typeface="Arial" panose="020B0604020202020204" pitchFamily="34" charset="0"/>
              <a:buChar char="•"/>
            </a:pPr>
            <a:endParaRPr lang="es-PE" sz="1600" b="1" i="0" u="none" strike="noStrike" cap="none" dirty="0">
              <a:solidFill>
                <a:schemeClr val="accent3"/>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Beneficios: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Facilita la mantenibilidad y escalabilidad.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2" name="Rectangle 5">
            <a:extLst>
              <a:ext uri="{FF2B5EF4-FFF2-40B4-BE49-F238E27FC236}">
                <a16:creationId xmlns:a16="http://schemas.microsoft.com/office/drawing/2014/main" id="{70216107-3944-10D6-397B-F56E4164D76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sp>
        <p:nvSpPr>
          <p:cNvPr id="5" name="Google Shape;119;p12">
            <a:extLst>
              <a:ext uri="{FF2B5EF4-FFF2-40B4-BE49-F238E27FC236}">
                <a16:creationId xmlns:a16="http://schemas.microsoft.com/office/drawing/2014/main" id="{272CF9B7-55D5-5898-93CB-EC50DCA74667}"/>
              </a:ext>
            </a:extLst>
          </p:cNvPr>
          <p:cNvSpPr txBox="1"/>
          <p:nvPr/>
        </p:nvSpPr>
        <p:spPr>
          <a:xfrm>
            <a:off x="509343" y="921277"/>
            <a:ext cx="8026441"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dk1"/>
                </a:solidFill>
                <a:latin typeface="Calibri"/>
                <a:ea typeface="Calibri"/>
                <a:cs typeface="Calibri"/>
                <a:sym typeface="Calibri"/>
              </a:rPr>
              <a:t>PATRONES DE ARQUITECTURA COMUNES</a:t>
            </a:r>
            <a:r>
              <a:rPr lang="es-ES" sz="1600" dirty="0">
                <a:solidFill>
                  <a:schemeClr val="dk1"/>
                </a:solidFill>
                <a:latin typeface="Calibri"/>
                <a:ea typeface="Calibri"/>
                <a:cs typeface="Calibri"/>
                <a:sym typeface="Calibri"/>
              </a:rPr>
              <a:t>:</a:t>
            </a:r>
            <a:endParaRPr lang="es-ES" sz="1800" dirty="0">
              <a:solidFill>
                <a:schemeClr val="dk1"/>
              </a:solidFill>
              <a:latin typeface="Calibri"/>
              <a:ea typeface="Calibri"/>
              <a:cs typeface="Calibri"/>
              <a:sym typeface="Calibri"/>
            </a:endParaRPr>
          </a:p>
        </p:txBody>
      </p:sp>
      <p:grpSp>
        <p:nvGrpSpPr>
          <p:cNvPr id="6" name="Grupo 5">
            <a:extLst>
              <a:ext uri="{FF2B5EF4-FFF2-40B4-BE49-F238E27FC236}">
                <a16:creationId xmlns:a16="http://schemas.microsoft.com/office/drawing/2014/main" id="{EDFDF771-9429-E5AB-EECA-2F8FEA517E70}"/>
              </a:ext>
            </a:extLst>
          </p:cNvPr>
          <p:cNvGrpSpPr/>
          <p:nvPr/>
        </p:nvGrpSpPr>
        <p:grpSpPr>
          <a:xfrm>
            <a:off x="360135" y="1369875"/>
            <a:ext cx="2483078" cy="338009"/>
            <a:chOff x="328697" y="912813"/>
            <a:chExt cx="2970193" cy="404317"/>
          </a:xfrm>
        </p:grpSpPr>
        <p:sp>
          <p:nvSpPr>
            <p:cNvPr id="7" name="Rectángulo redondeado 6">
              <a:extLst>
                <a:ext uri="{FF2B5EF4-FFF2-40B4-BE49-F238E27FC236}">
                  <a16:creationId xmlns:a16="http://schemas.microsoft.com/office/drawing/2014/main" id="{FCCBD83E-9C2A-CD50-2441-1D4CEE469518}"/>
                </a:ext>
              </a:extLst>
            </p:cNvPr>
            <p:cNvSpPr/>
            <p:nvPr/>
          </p:nvSpPr>
          <p:spPr>
            <a:xfrm>
              <a:off x="503237" y="912813"/>
              <a:ext cx="2795653"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i="0" dirty="0">
                  <a:solidFill>
                    <a:schemeClr val="bg1"/>
                  </a:solidFill>
                  <a:latin typeface="Calibri" panose="020F0502020204030204" pitchFamily="34" charset="0"/>
                  <a:ea typeface="Calibri"/>
                  <a:cs typeface="Calibri" panose="020F0502020204030204" pitchFamily="34" charset="0"/>
                  <a:sym typeface="Calibri"/>
                </a:rPr>
                <a:t>2. </a:t>
              </a:r>
              <a:r>
                <a:rPr lang="es-ES" sz="1400" b="1" i="0" dirty="0">
                  <a:solidFill>
                    <a:schemeClr val="bg1"/>
                  </a:solidFill>
                  <a:latin typeface="Calibri"/>
                  <a:ea typeface="Calibri"/>
                  <a:cs typeface="Calibri"/>
                  <a:sym typeface="Calibri"/>
                </a:rPr>
                <a:t>Microservicios</a:t>
              </a:r>
            </a:p>
          </p:txBody>
        </p:sp>
        <p:grpSp>
          <p:nvGrpSpPr>
            <p:cNvPr id="8" name="Agrupar 14">
              <a:extLst>
                <a:ext uri="{FF2B5EF4-FFF2-40B4-BE49-F238E27FC236}">
                  <a16:creationId xmlns:a16="http://schemas.microsoft.com/office/drawing/2014/main" id="{8BC0E38D-A458-56C1-9403-176BF245233D}"/>
                </a:ext>
              </a:extLst>
            </p:cNvPr>
            <p:cNvGrpSpPr/>
            <p:nvPr/>
          </p:nvGrpSpPr>
          <p:grpSpPr>
            <a:xfrm>
              <a:off x="328697" y="951828"/>
              <a:ext cx="371254" cy="326288"/>
              <a:chOff x="5892512" y="2805541"/>
              <a:chExt cx="459474" cy="403823"/>
            </a:xfrm>
          </p:grpSpPr>
          <p:sp>
            <p:nvSpPr>
              <p:cNvPr id="9" name="Elipse 8">
                <a:extLst>
                  <a:ext uri="{FF2B5EF4-FFF2-40B4-BE49-F238E27FC236}">
                    <a16:creationId xmlns:a16="http://schemas.microsoft.com/office/drawing/2014/main" id="{AE9EFBFA-DC5F-13EA-4D24-576A5799EC86}"/>
                  </a:ext>
                </a:extLst>
              </p:cNvPr>
              <p:cNvSpPr/>
              <p:nvPr/>
            </p:nvSpPr>
            <p:spPr>
              <a:xfrm>
                <a:off x="5956277" y="2824919"/>
                <a:ext cx="395709" cy="376075"/>
              </a:xfrm>
              <a:prstGeom prst="ellipse">
                <a:avLst/>
              </a:prstGeom>
              <a:solidFill>
                <a:srgbClr val="007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0" name="Elipse 9">
                <a:extLst>
                  <a:ext uri="{FF2B5EF4-FFF2-40B4-BE49-F238E27FC236}">
                    <a16:creationId xmlns:a16="http://schemas.microsoft.com/office/drawing/2014/main" id="{551BD91D-36DF-15E9-7816-63A7A82DA5B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1" name="Triángulo 10">
                <a:extLst>
                  <a:ext uri="{FF2B5EF4-FFF2-40B4-BE49-F238E27FC236}">
                    <a16:creationId xmlns:a16="http://schemas.microsoft.com/office/drawing/2014/main" id="{FB6E1928-75D5-B12D-B0B3-5436DD40892B}"/>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2" name="Google Shape;55;p4">
            <a:extLst>
              <a:ext uri="{FF2B5EF4-FFF2-40B4-BE49-F238E27FC236}">
                <a16:creationId xmlns:a16="http://schemas.microsoft.com/office/drawing/2014/main" id="{7338A6B7-3F23-4D96-AE0B-67B5449800FF}"/>
              </a:ext>
            </a:extLst>
          </p:cNvPr>
          <p:cNvSpPr txBox="1"/>
          <p:nvPr/>
        </p:nvSpPr>
        <p:spPr>
          <a:xfrm>
            <a:off x="509343" y="1964056"/>
            <a:ext cx="7441052" cy="1231106"/>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Arquitectura que estructura una aplicación como una colección de servicios pequeños y autónomos que se comunican entre sí a través de APIs.</a:t>
            </a:r>
          </a:p>
          <a:p>
            <a:pPr marL="184150" lvl="1" indent="-184150">
              <a:buClr>
                <a:schemeClr val="accent5"/>
              </a:buClr>
              <a:buSzPct val="100000"/>
              <a:buFont typeface="Arial" panose="020B0604020202020204" pitchFamily="34" charset="0"/>
              <a:buChar char="•"/>
            </a:pPr>
            <a:endPar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Beneficios: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Escalabilidad, despliegue independiente, resiliencia.</a:t>
            </a:r>
          </a:p>
          <a:p>
            <a:pPr marL="184150" lvl="1" indent="-184150">
              <a:buClr>
                <a:schemeClr val="accent5"/>
              </a:buClr>
              <a:buSzPct val="100000"/>
              <a:buFont typeface="Arial" panose="020B0604020202020204" pitchFamily="34" charset="0"/>
              <a:buChar char="•"/>
            </a:pPr>
            <a:endPar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p:txBody>
      </p:sp>
      <p:grpSp>
        <p:nvGrpSpPr>
          <p:cNvPr id="20" name="Grupo 19">
            <a:extLst>
              <a:ext uri="{FF2B5EF4-FFF2-40B4-BE49-F238E27FC236}">
                <a16:creationId xmlns:a16="http://schemas.microsoft.com/office/drawing/2014/main" id="{079E4513-BE3A-45D6-01B1-AEC24F2CFCD4}"/>
              </a:ext>
            </a:extLst>
          </p:cNvPr>
          <p:cNvGrpSpPr/>
          <p:nvPr/>
        </p:nvGrpSpPr>
        <p:grpSpPr>
          <a:xfrm>
            <a:off x="360135" y="3271431"/>
            <a:ext cx="2483078" cy="459056"/>
            <a:chOff x="360135" y="3271431"/>
            <a:chExt cx="2483078" cy="459056"/>
          </a:xfrm>
        </p:grpSpPr>
        <p:sp>
          <p:nvSpPr>
            <p:cNvPr id="14" name="Rectángulo redondeado 13">
              <a:extLst>
                <a:ext uri="{FF2B5EF4-FFF2-40B4-BE49-F238E27FC236}">
                  <a16:creationId xmlns:a16="http://schemas.microsoft.com/office/drawing/2014/main" id="{7D6FCBCB-1773-C148-9794-BED850B3C98A}"/>
                </a:ext>
              </a:extLst>
            </p:cNvPr>
            <p:cNvSpPr/>
            <p:nvPr/>
          </p:nvSpPr>
          <p:spPr>
            <a:xfrm>
              <a:off x="506050" y="3271431"/>
              <a:ext cx="2337163" cy="459056"/>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3</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ES" sz="1400" b="1" i="0" dirty="0">
                  <a:solidFill>
                    <a:schemeClr val="bg1"/>
                  </a:solidFill>
                  <a:latin typeface="Calibri"/>
                  <a:ea typeface="Calibri"/>
                  <a:cs typeface="Calibri"/>
                  <a:sym typeface="Calibri"/>
                </a:rPr>
                <a:t>SOA (Arquitectura</a:t>
              </a:r>
              <a:br>
                <a:rPr lang="es-ES" sz="1400" b="1" i="0" dirty="0">
                  <a:solidFill>
                    <a:schemeClr val="bg1"/>
                  </a:solidFill>
                  <a:latin typeface="Calibri"/>
                  <a:ea typeface="Calibri"/>
                  <a:cs typeface="Calibri"/>
                  <a:sym typeface="Calibri"/>
                </a:rPr>
              </a:br>
              <a:r>
                <a:rPr lang="es-ES" sz="1400" b="1" i="0" dirty="0">
                  <a:solidFill>
                    <a:schemeClr val="bg1"/>
                  </a:solidFill>
                  <a:latin typeface="Calibri"/>
                  <a:ea typeface="Calibri"/>
                  <a:cs typeface="Calibri"/>
                  <a:sym typeface="Calibri"/>
                </a:rPr>
                <a:t>Orientada a Servicios)</a:t>
              </a:r>
            </a:p>
          </p:txBody>
        </p:sp>
        <p:grpSp>
          <p:nvGrpSpPr>
            <p:cNvPr id="15" name="Agrupar 14">
              <a:extLst>
                <a:ext uri="{FF2B5EF4-FFF2-40B4-BE49-F238E27FC236}">
                  <a16:creationId xmlns:a16="http://schemas.microsoft.com/office/drawing/2014/main" id="{21370267-043D-BD21-8623-D95BAC6FEEB7}"/>
                </a:ext>
              </a:extLst>
            </p:cNvPr>
            <p:cNvGrpSpPr/>
            <p:nvPr/>
          </p:nvGrpSpPr>
          <p:grpSpPr>
            <a:xfrm>
              <a:off x="360135" y="3364571"/>
              <a:ext cx="310368" cy="272777"/>
              <a:chOff x="5892512" y="2805541"/>
              <a:chExt cx="459474" cy="403823"/>
            </a:xfrm>
          </p:grpSpPr>
          <p:sp>
            <p:nvSpPr>
              <p:cNvPr id="16" name="Elipse 15">
                <a:extLst>
                  <a:ext uri="{FF2B5EF4-FFF2-40B4-BE49-F238E27FC236}">
                    <a16:creationId xmlns:a16="http://schemas.microsoft.com/office/drawing/2014/main" id="{70473E04-CAA8-7FAB-2B71-C733B7E06896}"/>
                  </a:ext>
                </a:extLst>
              </p:cNvPr>
              <p:cNvSpPr/>
              <p:nvPr/>
            </p:nvSpPr>
            <p:spPr>
              <a:xfrm>
                <a:off x="5956277" y="2824919"/>
                <a:ext cx="395709" cy="376075"/>
              </a:xfrm>
              <a:prstGeom prst="ellipse">
                <a:avLst/>
              </a:prstGeom>
              <a:solidFill>
                <a:srgbClr val="007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7" name="Elipse 16">
                <a:extLst>
                  <a:ext uri="{FF2B5EF4-FFF2-40B4-BE49-F238E27FC236}">
                    <a16:creationId xmlns:a16="http://schemas.microsoft.com/office/drawing/2014/main" id="{F494944A-680A-0635-B208-30F79DB92A7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8" name="Triángulo 17">
                <a:extLst>
                  <a:ext uri="{FF2B5EF4-FFF2-40B4-BE49-F238E27FC236}">
                    <a16:creationId xmlns:a16="http://schemas.microsoft.com/office/drawing/2014/main" id="{CC307C4E-D5FB-7779-B0E6-D984ECBE7E2B}"/>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9" name="Google Shape;55;p4">
            <a:extLst>
              <a:ext uri="{FF2B5EF4-FFF2-40B4-BE49-F238E27FC236}">
                <a16:creationId xmlns:a16="http://schemas.microsoft.com/office/drawing/2014/main" id="{9CB2FB1B-686A-CDF3-52F3-72C33BA786CC}"/>
              </a:ext>
            </a:extLst>
          </p:cNvPr>
          <p:cNvSpPr txBox="1"/>
          <p:nvPr/>
        </p:nvSpPr>
        <p:spPr>
          <a:xfrm>
            <a:off x="509343" y="3971628"/>
            <a:ext cx="7441052" cy="984885"/>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Descripción: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Enfoca la arquitectura en servicios reusables que interactúan a través de un bus de servicios.</a:t>
            </a:r>
          </a:p>
          <a:p>
            <a:pPr marL="184150" lvl="1" indent="-184150">
              <a:buClr>
                <a:schemeClr val="accent5"/>
              </a:buClr>
              <a:buSzPct val="100000"/>
              <a:buFont typeface="Arial" panose="020B0604020202020204" pitchFamily="34" charset="0"/>
              <a:buChar char="•"/>
            </a:pPr>
            <a:endPar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6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Beneficios: </a:t>
            </a:r>
            <a:r>
              <a:rPr lang="es-PE" sz="1600" i="0" u="none" strike="noStrike" cap="none" dirty="0">
                <a:solidFill>
                  <a:schemeClr val="tx1"/>
                </a:solidFill>
                <a:latin typeface="Calibri" panose="020F0502020204030204" pitchFamily="34" charset="0"/>
                <a:ea typeface="Calibri"/>
                <a:cs typeface="Calibri" panose="020F0502020204030204" pitchFamily="34" charset="0"/>
                <a:sym typeface="Calibri"/>
              </a:rPr>
              <a:t>Flexibilidad, integración de sistemas heterogéneos.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5" name="Rectángulo 4">
            <a:extLst>
              <a:ext uri="{FF2B5EF4-FFF2-40B4-BE49-F238E27FC236}">
                <a16:creationId xmlns:a16="http://schemas.microsoft.com/office/drawing/2014/main" id="{E393F35D-A52A-38EA-700A-E3E1E760E367}"/>
              </a:ext>
            </a:extLst>
          </p:cNvPr>
          <p:cNvSpPr/>
          <p:nvPr/>
        </p:nvSpPr>
        <p:spPr>
          <a:xfrm>
            <a:off x="503238" y="1340189"/>
            <a:ext cx="8172450" cy="3601759"/>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5" name="Google Shape;135;p14"/>
          <p:cNvSpPr txBox="1"/>
          <p:nvPr/>
        </p:nvSpPr>
        <p:spPr>
          <a:xfrm>
            <a:off x="509343" y="912813"/>
            <a:ext cx="536096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dk1"/>
                </a:solidFill>
                <a:latin typeface="Calibri"/>
                <a:ea typeface="Calibri"/>
                <a:cs typeface="Calibri"/>
                <a:sym typeface="Calibri"/>
              </a:rPr>
              <a:t>EJEMPLO DE ARQUITECTURA DE APLICACIÓN WEB</a:t>
            </a:r>
            <a:r>
              <a:rPr lang="es-ES" sz="1600" dirty="0">
                <a:solidFill>
                  <a:schemeClr val="dk1"/>
                </a:solidFill>
                <a:latin typeface="Calibri"/>
                <a:ea typeface="Calibri"/>
                <a:cs typeface="Calibri"/>
                <a:sym typeface="Calibri"/>
              </a:rPr>
              <a:t>:</a:t>
            </a:r>
            <a:endParaRPr lang="es-ES" sz="1800" dirty="0">
              <a:solidFill>
                <a:schemeClr val="dk1"/>
              </a:solidFill>
              <a:latin typeface="Calibri"/>
              <a:ea typeface="Calibri"/>
              <a:cs typeface="Calibri"/>
              <a:sym typeface="Calibri"/>
            </a:endParaRPr>
          </a:p>
        </p:txBody>
      </p:sp>
      <p:pic>
        <p:nvPicPr>
          <p:cNvPr id="136" name="Google Shape;136;p14"/>
          <p:cNvPicPr preferRelativeResize="0"/>
          <p:nvPr/>
        </p:nvPicPr>
        <p:blipFill rotWithShape="1">
          <a:blip r:embed="rId3">
            <a:alphaModFix/>
          </a:blip>
          <a:srcRect/>
          <a:stretch/>
        </p:blipFill>
        <p:spPr>
          <a:xfrm>
            <a:off x="2147506" y="1465831"/>
            <a:ext cx="4848988" cy="3377947"/>
          </a:xfrm>
          <a:prstGeom prst="rect">
            <a:avLst/>
          </a:prstGeom>
          <a:noFill/>
          <a:ln>
            <a:noFill/>
          </a:ln>
        </p:spPr>
      </p:pic>
      <p:sp>
        <p:nvSpPr>
          <p:cNvPr id="2" name="Rectangle 5">
            <a:extLst>
              <a:ext uri="{FF2B5EF4-FFF2-40B4-BE49-F238E27FC236}">
                <a16:creationId xmlns:a16="http://schemas.microsoft.com/office/drawing/2014/main" id="{731287B2-7864-800D-2201-7B28E5DEA8C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CONCEPTOS DE ARQUITECTURA </a:t>
            </a:r>
          </a:p>
        </p:txBody>
      </p:sp>
      <p:sp>
        <p:nvSpPr>
          <p:cNvPr id="4" name="Rectángulo 3">
            <a:extLst>
              <a:ext uri="{FF2B5EF4-FFF2-40B4-BE49-F238E27FC236}">
                <a16:creationId xmlns:a16="http://schemas.microsoft.com/office/drawing/2014/main" id="{EFCF6C78-E417-63DA-3FFE-43DC2BE0FB37}"/>
              </a:ext>
            </a:extLst>
          </p:cNvPr>
          <p:cNvSpPr/>
          <p:nvPr/>
        </p:nvSpPr>
        <p:spPr>
          <a:xfrm>
            <a:off x="506796" y="5080473"/>
            <a:ext cx="5983449" cy="153888"/>
          </a:xfrm>
          <a:prstGeom prst="rect">
            <a:avLst/>
          </a:prstGeom>
        </p:spPr>
        <p:txBody>
          <a:bodyPr wrap="square" lIns="0" tIns="0" rIns="0" bIns="0">
            <a:spAutoFit/>
          </a:bodyPr>
          <a:lstStyle/>
          <a:p>
            <a:pPr>
              <a:spcAft>
                <a:spcPts val="1200"/>
              </a:spcAft>
              <a:defRPr/>
            </a:pPr>
            <a:r>
              <a:rPr lang="es-ES_tradnl" sz="1000" b="1" dirty="0">
                <a:solidFill>
                  <a:schemeClr val="bg1">
                    <a:lumMod val="50000"/>
                  </a:schemeClr>
                </a:solidFill>
                <a:latin typeface="Calibri" charset="0"/>
                <a:ea typeface="Calibri" charset="0"/>
                <a:cs typeface="Calibri" charset="0"/>
              </a:rPr>
              <a:t>Fuente: </a:t>
            </a:r>
            <a:r>
              <a:rPr lang="es-ES_tradnl" sz="1000" dirty="0">
                <a:solidFill>
                  <a:schemeClr val="bg1">
                    <a:lumMod val="50000"/>
                  </a:schemeClr>
                </a:solidFill>
                <a:latin typeface="Calibri" charset="0"/>
                <a:ea typeface="Calibri" charset="0"/>
                <a:cs typeface="Calibri" charset="0"/>
              </a:rPr>
              <a:t>Propia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3305520"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TIPOS DE </a:t>
            </a:r>
            <a:r>
              <a:rPr lang="es-PE" sz="2800" b="1" dirty="0">
                <a:solidFill>
                  <a:schemeClr val="bg1"/>
                </a:solidFill>
                <a:latin typeface="Graphik Bold" panose="020B0503030202060203" pitchFamily="34" charset="77"/>
                <a:ea typeface="Graphik Regular" charset="0"/>
                <a:cs typeface="Graphik Regular" charset="0"/>
              </a:rPr>
              <a:t>SERVICIOS WEB</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266802009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16"/>
          <p:cNvSpPr txBox="1"/>
          <p:nvPr/>
        </p:nvSpPr>
        <p:spPr>
          <a:xfrm>
            <a:off x="509343" y="912813"/>
            <a:ext cx="7765576" cy="246221"/>
          </a:xfrm>
          <a:prstGeom prst="rect">
            <a:avLst/>
          </a:prstGeom>
          <a:noFill/>
          <a:ln>
            <a:noFill/>
          </a:ln>
        </p:spPr>
        <p:txBody>
          <a:bodyPr spcFirstLastPara="1" wrap="square" lIns="0" tIns="0" rIns="0" bIns="0" anchor="t" anchorCtr="0">
            <a:spAutoFit/>
          </a:bodyPr>
          <a:lstStyle/>
          <a:p>
            <a:pPr marR="0" lvl="0" indent="0" rtl="0">
              <a:spcBef>
                <a:spcPts val="0"/>
              </a:spcBef>
              <a:spcAft>
                <a:spcPts val="0"/>
              </a:spcAft>
              <a:buNone/>
            </a:pPr>
            <a:r>
              <a:rPr lang="es-ES" sz="1600" b="1" i="0" dirty="0">
                <a:solidFill>
                  <a:schemeClr val="tx1"/>
                </a:solidFill>
                <a:highlight>
                  <a:srgbClr val="FFFFFF"/>
                </a:highlight>
                <a:latin typeface="Calibri"/>
                <a:ea typeface="Calibri"/>
                <a:cs typeface="Calibri"/>
                <a:sym typeface="Calibri"/>
              </a:rPr>
              <a:t>TIPOS DE SERVICIOS WEB:</a:t>
            </a:r>
            <a:endParaRPr lang="es-ES" sz="1600" dirty="0">
              <a:solidFill>
                <a:schemeClr val="tx1"/>
              </a:solidFill>
            </a:endParaRPr>
          </a:p>
        </p:txBody>
      </p:sp>
      <p:sp>
        <p:nvSpPr>
          <p:cNvPr id="2" name="Rectangle 5">
            <a:extLst>
              <a:ext uri="{FF2B5EF4-FFF2-40B4-BE49-F238E27FC236}">
                <a16:creationId xmlns:a16="http://schemas.microsoft.com/office/drawing/2014/main" id="{B373293C-5F3D-BDCD-272B-3D50AAB5A82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TIPOS DE SERVICIOS WEB</a:t>
            </a:r>
          </a:p>
        </p:txBody>
      </p:sp>
      <p:sp>
        <p:nvSpPr>
          <p:cNvPr id="5" name="Rectángulo 4">
            <a:extLst>
              <a:ext uri="{FF2B5EF4-FFF2-40B4-BE49-F238E27FC236}">
                <a16:creationId xmlns:a16="http://schemas.microsoft.com/office/drawing/2014/main" id="{828465F0-887D-1974-7690-86AB856994AC}"/>
              </a:ext>
            </a:extLst>
          </p:cNvPr>
          <p:cNvSpPr/>
          <p:nvPr/>
        </p:nvSpPr>
        <p:spPr>
          <a:xfrm>
            <a:off x="503238" y="1327286"/>
            <a:ext cx="6639684" cy="3339376"/>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dirty="0">
                <a:solidFill>
                  <a:srgbClr val="EE4639"/>
                </a:solidFill>
                <a:latin typeface="Calibri" charset="0"/>
                <a:cs typeface="Calibri" charset="0"/>
              </a:rPr>
              <a:t>SOAP</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(Simple </a:t>
            </a:r>
            <a:r>
              <a:rPr lang="es-ES" sz="1600" b="1" dirty="0" err="1">
                <a:solidFill>
                  <a:srgbClr val="EE4639"/>
                </a:solidFill>
                <a:latin typeface="Calibri" charset="0"/>
                <a:cs typeface="Calibri" charset="0"/>
              </a:rPr>
              <a:t>Object</a:t>
            </a:r>
            <a:r>
              <a:rPr lang="es-ES" sz="1600" b="1" dirty="0">
                <a:solidFill>
                  <a:srgbClr val="EE4639"/>
                </a:solidFill>
                <a:latin typeface="Calibri" charset="0"/>
                <a:cs typeface="Calibri" charset="0"/>
              </a:rPr>
              <a:t> Access </a:t>
            </a:r>
            <a:r>
              <a:rPr lang="es-ES" sz="1600" b="1" dirty="0" err="1">
                <a:solidFill>
                  <a:srgbClr val="EE4639"/>
                </a:solidFill>
                <a:latin typeface="Calibri" charset="0"/>
                <a:cs typeface="Calibri" charset="0"/>
              </a:rPr>
              <a:t>Protocol</a:t>
            </a:r>
            <a:r>
              <a:rPr lang="es-ES" sz="1600" b="1" dirty="0">
                <a:solidFill>
                  <a:srgbClr val="EE4639"/>
                </a:solidFill>
                <a:latin typeface="Calibri" charset="0"/>
                <a:cs typeface="Calibri" charset="0"/>
              </a:rPr>
              <a:t>):</a:t>
            </a:r>
            <a:endParaRPr lang="es-PE" sz="1600" b="1" dirty="0">
              <a:solidFill>
                <a:srgbClr val="EE4639"/>
              </a:solidFill>
              <a:latin typeface="Calibri" charset="0"/>
              <a:cs typeface="Calibri" charset="0"/>
            </a:endParaRPr>
          </a:p>
          <a:p>
            <a:pPr marL="184150" indent="-173038">
              <a:buClr>
                <a:schemeClr val="accent2"/>
              </a:buClr>
              <a:buFont typeface="Arial" panose="020B0604020202020204" pitchFamily="34" charset="0"/>
              <a:buChar char="•"/>
            </a:pPr>
            <a:r>
              <a:rPr lang="es-ES" sz="1600" dirty="0">
                <a:latin typeface="Calibri" charset="0"/>
                <a:ea typeface="Calibri" charset="0"/>
                <a:cs typeface="Calibri" charset="0"/>
              </a:rPr>
              <a:t>SOAP es un protocolo basado en XML diseñado para intercambiar información estructurada en la implementación de servicios web.</a:t>
            </a:r>
          </a:p>
          <a:p>
            <a:pPr marL="184150" indent="-173038">
              <a:buClr>
                <a:schemeClr val="accent2"/>
              </a:buClr>
              <a:buFont typeface="Arial" panose="020B0604020202020204" pitchFamily="34" charset="0"/>
              <a:buChar char="•"/>
            </a:pPr>
            <a:endParaRPr lang="es-ES" sz="1600" dirty="0">
              <a:latin typeface="Calibri" charset="0"/>
              <a:ea typeface="Calibri" charset="0"/>
              <a:cs typeface="Calibri" charset="0"/>
            </a:endParaRPr>
          </a:p>
          <a:p>
            <a:pPr marL="184150" indent="-173038">
              <a:buClr>
                <a:schemeClr val="accent2"/>
              </a:buClr>
              <a:buFont typeface="Arial" panose="020B0604020202020204" pitchFamily="34" charset="0"/>
              <a:buChar char="•"/>
            </a:pPr>
            <a:r>
              <a:rPr lang="es-ES" sz="1600" b="1" dirty="0">
                <a:latin typeface="Calibri" charset="0"/>
                <a:ea typeface="Calibri" charset="0"/>
                <a:cs typeface="Calibri" charset="0"/>
              </a:rPr>
              <a:t>Características:</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Utiliza mensajes XML.</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Requiere una especificación formal (WSDL - Web </a:t>
            </a:r>
            <a:r>
              <a:rPr lang="es-ES" sz="1600" dirty="0" err="1">
                <a:latin typeface="Calibri" charset="0"/>
                <a:ea typeface="Calibri" charset="0"/>
                <a:cs typeface="Calibri" charset="0"/>
              </a:rPr>
              <a:t>Services</a:t>
            </a:r>
            <a:r>
              <a:rPr lang="es-ES" sz="1600" dirty="0">
                <a:latin typeface="Calibri" charset="0"/>
                <a:ea typeface="Calibri" charset="0"/>
                <a:cs typeface="Calibri" charset="0"/>
              </a:rPr>
              <a:t> </a:t>
            </a:r>
            <a:r>
              <a:rPr lang="es-ES" sz="1600" dirty="0" err="1">
                <a:latin typeface="Calibri" charset="0"/>
                <a:ea typeface="Calibri" charset="0"/>
                <a:cs typeface="Calibri" charset="0"/>
              </a:rPr>
              <a:t>Description</a:t>
            </a:r>
            <a:r>
              <a:rPr lang="es-ES" sz="1600" dirty="0">
                <a:latin typeface="Calibri" charset="0"/>
                <a:ea typeface="Calibri" charset="0"/>
                <a:cs typeface="Calibri" charset="0"/>
              </a:rPr>
              <a:t> </a:t>
            </a:r>
            <a:r>
              <a:rPr lang="es-ES" sz="1600" dirty="0" err="1">
                <a:latin typeface="Calibri" charset="0"/>
                <a:ea typeface="Calibri" charset="0"/>
                <a:cs typeface="Calibri" charset="0"/>
              </a:rPr>
              <a:t>Language</a:t>
            </a:r>
            <a:r>
              <a:rPr lang="es-ES" sz="1600" dirty="0">
                <a:latin typeface="Calibri" charset="0"/>
                <a:ea typeface="Calibri" charset="0"/>
                <a:cs typeface="Calibri" charset="0"/>
              </a:rPr>
              <a:t>).</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Opera sobre varios protocolos (HTTP, SMTP, etc.).</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Soporta WS-Security para asegurar mensajes.</a:t>
            </a:r>
          </a:p>
          <a:p>
            <a:pPr marL="11113"/>
            <a:endParaRPr lang="es-PE" sz="1600" dirty="0">
              <a:latin typeface="Calibri" charset="0"/>
              <a:ea typeface="Calibri" charset="0"/>
              <a:cs typeface="Calibri"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 name="Rectangle 5">
            <a:extLst>
              <a:ext uri="{FF2B5EF4-FFF2-40B4-BE49-F238E27FC236}">
                <a16:creationId xmlns:a16="http://schemas.microsoft.com/office/drawing/2014/main" id="{BDDE2374-45C6-7071-319E-7799F1CA4EE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TIPOS DE SERVICIOS WEB</a:t>
            </a:r>
          </a:p>
        </p:txBody>
      </p:sp>
      <p:sp>
        <p:nvSpPr>
          <p:cNvPr id="4" name="Rectángulo 3">
            <a:extLst>
              <a:ext uri="{FF2B5EF4-FFF2-40B4-BE49-F238E27FC236}">
                <a16:creationId xmlns:a16="http://schemas.microsoft.com/office/drawing/2014/main" id="{5B4EAA9F-A454-839F-D57C-CB6A388C57BA}"/>
              </a:ext>
            </a:extLst>
          </p:cNvPr>
          <p:cNvSpPr/>
          <p:nvPr/>
        </p:nvSpPr>
        <p:spPr>
          <a:xfrm>
            <a:off x="503238" y="916472"/>
            <a:ext cx="6487284" cy="2846933"/>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ES" sz="1600" dirty="0">
                <a:solidFill>
                  <a:srgbClr val="EE4639"/>
                </a:solidFill>
                <a:latin typeface="Calibri" charset="0"/>
                <a:cs typeface="Calibri" charset="0"/>
              </a:rPr>
              <a:t>REST</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a:t>
            </a:r>
            <a:r>
              <a:rPr lang="es-ES" sz="1600" b="1" dirty="0" err="1">
                <a:solidFill>
                  <a:srgbClr val="EE4639"/>
                </a:solidFill>
                <a:latin typeface="Calibri" charset="0"/>
                <a:cs typeface="Calibri" charset="0"/>
              </a:rPr>
              <a:t>Representational</a:t>
            </a:r>
            <a:r>
              <a:rPr lang="es-ES" sz="1600" b="1" dirty="0">
                <a:solidFill>
                  <a:srgbClr val="EE4639"/>
                </a:solidFill>
                <a:latin typeface="Calibri" charset="0"/>
                <a:cs typeface="Calibri" charset="0"/>
              </a:rPr>
              <a:t> </a:t>
            </a:r>
            <a:r>
              <a:rPr lang="es-ES" sz="1600" b="1" dirty="0" err="1">
                <a:solidFill>
                  <a:srgbClr val="EE4639"/>
                </a:solidFill>
                <a:latin typeface="Calibri" charset="0"/>
                <a:cs typeface="Calibri" charset="0"/>
              </a:rPr>
              <a:t>State</a:t>
            </a:r>
            <a:r>
              <a:rPr lang="es-ES" sz="1600" b="1" dirty="0">
                <a:solidFill>
                  <a:srgbClr val="EE4639"/>
                </a:solidFill>
                <a:latin typeface="Calibri" charset="0"/>
                <a:cs typeface="Calibri" charset="0"/>
              </a:rPr>
              <a:t> Transfer):</a:t>
            </a:r>
            <a:endParaRPr lang="es-PE" sz="1600" b="1" dirty="0">
              <a:solidFill>
                <a:srgbClr val="EE4639"/>
              </a:solidFill>
              <a:latin typeface="Calibri" charset="0"/>
              <a:cs typeface="Calibri" charset="0"/>
            </a:endParaRPr>
          </a:p>
          <a:p>
            <a:pPr marL="184150" indent="-173038">
              <a:buClr>
                <a:schemeClr val="accent2"/>
              </a:buClr>
              <a:buFont typeface="Arial" panose="020B0604020202020204" pitchFamily="34" charset="0"/>
              <a:buChar char="•"/>
            </a:pPr>
            <a:r>
              <a:rPr lang="es-ES" sz="1600" dirty="0">
                <a:latin typeface="Calibri" charset="0"/>
                <a:ea typeface="Calibri" charset="0"/>
                <a:cs typeface="Calibri" charset="0"/>
              </a:rPr>
              <a:t>REST es una arquitectura para servicios web que utiliza el protocolo HTTP.</a:t>
            </a:r>
          </a:p>
          <a:p>
            <a:pPr marL="184150" indent="-173038">
              <a:buClr>
                <a:schemeClr val="accent2"/>
              </a:buClr>
              <a:buFont typeface="Arial" panose="020B0604020202020204" pitchFamily="34" charset="0"/>
              <a:buChar char="•"/>
            </a:pPr>
            <a:endParaRPr lang="es-ES" sz="1600" dirty="0">
              <a:latin typeface="Calibri" charset="0"/>
              <a:ea typeface="Calibri" charset="0"/>
              <a:cs typeface="Calibri" charset="0"/>
            </a:endParaRPr>
          </a:p>
          <a:p>
            <a:pPr marL="184150" indent="-173038">
              <a:buClr>
                <a:schemeClr val="accent2"/>
              </a:buClr>
              <a:buFont typeface="Arial" panose="020B0604020202020204" pitchFamily="34" charset="0"/>
              <a:buChar char="•"/>
            </a:pPr>
            <a:r>
              <a:rPr lang="es-ES" sz="1600" b="1" dirty="0">
                <a:latin typeface="Calibri" charset="0"/>
                <a:ea typeface="Calibri" charset="0"/>
                <a:cs typeface="Calibri" charset="0"/>
              </a:rPr>
              <a:t>Características:</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Basado en recursos, representados por </a:t>
            </a:r>
            <a:r>
              <a:rPr lang="es-ES" sz="1600" dirty="0" err="1">
                <a:latin typeface="Calibri" charset="0"/>
                <a:ea typeface="Calibri" charset="0"/>
                <a:cs typeface="Calibri" charset="0"/>
              </a:rPr>
              <a:t>URLs</a:t>
            </a:r>
            <a:r>
              <a:rPr lang="es-ES" sz="1600" dirty="0">
                <a:latin typeface="Calibri" charset="0"/>
                <a:ea typeface="Calibri" charset="0"/>
                <a:cs typeface="Calibri" charset="0"/>
              </a:rPr>
              <a:t>.</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Utiliza métodos HTTP estándar (GET, POST, PUT, DELETE, etc.).</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Formatos de datos simples como JSON, HTML y XML.</a:t>
            </a:r>
          </a:p>
          <a:p>
            <a:pPr marL="360363" indent="-176213">
              <a:buClr>
                <a:schemeClr val="accent2"/>
              </a:buClr>
              <a:buFont typeface="Arial" panose="020B0604020202020204" pitchFamily="34" charset="0"/>
              <a:buChar char="•"/>
            </a:pPr>
            <a:r>
              <a:rPr lang="es-ES" sz="1600" dirty="0">
                <a:latin typeface="Calibri" charset="0"/>
                <a:ea typeface="Calibri" charset="0"/>
                <a:cs typeface="Calibri" charset="0"/>
              </a:rPr>
              <a:t>Sin estado (</a:t>
            </a:r>
            <a:r>
              <a:rPr lang="es-ES" sz="1600" dirty="0" err="1">
                <a:latin typeface="Calibri" charset="0"/>
                <a:ea typeface="Calibri" charset="0"/>
                <a:cs typeface="Calibri" charset="0"/>
              </a:rPr>
              <a:t>stateless</a:t>
            </a:r>
            <a:r>
              <a:rPr lang="es-ES" sz="1600" dirty="0">
                <a:latin typeface="Calibri" charset="0"/>
                <a:ea typeface="Calibri" charset="0"/>
                <a:cs typeface="Calibri" charset="0"/>
              </a:rPr>
              <a:t>), cada solicitud es independiente.</a:t>
            </a:r>
          </a:p>
          <a:p>
            <a:pPr marL="11113"/>
            <a:endParaRPr lang="es-PE" sz="1600" dirty="0">
              <a:latin typeface="Calibri" charset="0"/>
              <a:ea typeface="Calibri" charset="0"/>
              <a:cs typeface="Calibri"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18"/>
          <p:cNvSpPr txBox="1"/>
          <p:nvPr/>
        </p:nvSpPr>
        <p:spPr>
          <a:xfrm>
            <a:off x="509343" y="912813"/>
            <a:ext cx="8166345" cy="815608"/>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dirty="0">
                <a:solidFill>
                  <a:schemeClr val="tx1"/>
                </a:solidFill>
                <a:latin typeface="Calibri"/>
                <a:ea typeface="Calibri"/>
                <a:cs typeface="Calibri"/>
                <a:sym typeface="Calibri"/>
              </a:rPr>
              <a:t>EJEMPLO DE SERVICIOS WEB:</a:t>
            </a:r>
            <a:endParaRPr lang="es-ES" sz="1600" dirty="0">
              <a:solidFill>
                <a:schemeClr val="tx1"/>
              </a:solidFill>
              <a:latin typeface="Calibri"/>
              <a:ea typeface="Calibri"/>
              <a:cs typeface="Calibri"/>
              <a:sym typeface="Calibri"/>
            </a:endParaRPr>
          </a:p>
          <a:p>
            <a:pPr marL="180975" marR="0" lvl="1" indent="-180975" algn="l" rtl="0">
              <a:spcBef>
                <a:spcPts val="0"/>
              </a:spcBef>
              <a:spcAft>
                <a:spcPts val="0"/>
              </a:spcAft>
              <a:buClr>
                <a:schemeClr val="tx1"/>
              </a:buClr>
              <a:buSzPts val="1600"/>
              <a:buFont typeface="Arial" panose="020B0604020202020204" pitchFamily="34" charset="0"/>
              <a:buChar char="•"/>
            </a:pPr>
            <a:r>
              <a:rPr lang="es-ES" sz="1600" b="1" i="0" u="none" strike="noStrike" cap="none" dirty="0">
                <a:solidFill>
                  <a:schemeClr val="accent2"/>
                </a:solidFill>
                <a:latin typeface="Calibri"/>
                <a:ea typeface="Calibri"/>
                <a:cs typeface="Calibri"/>
                <a:sym typeface="Calibri"/>
              </a:rPr>
              <a:t>Google </a:t>
            </a:r>
            <a:r>
              <a:rPr lang="es-ES" sz="1600" b="1" i="0" u="none" strike="noStrike" cap="none" dirty="0" err="1">
                <a:solidFill>
                  <a:schemeClr val="accent2"/>
                </a:solidFill>
                <a:latin typeface="Calibri"/>
                <a:ea typeface="Calibri"/>
                <a:cs typeface="Calibri"/>
                <a:sym typeface="Calibri"/>
              </a:rPr>
              <a:t>Maps</a:t>
            </a:r>
            <a:r>
              <a:rPr lang="es-ES" sz="1600" b="1" i="0" u="none" strike="noStrike" cap="none" dirty="0">
                <a:solidFill>
                  <a:schemeClr val="accent2"/>
                </a:solidFill>
                <a:latin typeface="Calibri"/>
                <a:ea typeface="Calibri"/>
                <a:cs typeface="Calibri"/>
                <a:sym typeface="Calibri"/>
              </a:rPr>
              <a:t> API: </a:t>
            </a:r>
            <a:r>
              <a:rPr lang="es-ES" sz="1600" b="0" i="0" u="none" strike="noStrike" cap="none" dirty="0">
                <a:solidFill>
                  <a:schemeClr val="tx1"/>
                </a:solidFill>
                <a:latin typeface="Calibri"/>
                <a:ea typeface="Calibri"/>
                <a:cs typeface="Calibri"/>
                <a:sym typeface="Calibri"/>
              </a:rPr>
              <a:t>Proporciona acceso a servicios de mapas y geolocalización.</a:t>
            </a:r>
            <a:endParaRPr sz="1600" b="0" i="0" u="none" strike="noStrike" cap="none" dirty="0">
              <a:solidFill>
                <a:schemeClr val="tx1"/>
              </a:solidFill>
              <a:latin typeface="Calibri"/>
              <a:ea typeface="Calibri"/>
              <a:cs typeface="Calibri"/>
              <a:sym typeface="Calibri"/>
            </a:endParaRPr>
          </a:p>
          <a:p>
            <a:pPr marL="180975" marR="0" lvl="1" indent="-180975" algn="l" rtl="0">
              <a:spcBef>
                <a:spcPts val="0"/>
              </a:spcBef>
              <a:spcAft>
                <a:spcPts val="0"/>
              </a:spcAft>
              <a:buClr>
                <a:schemeClr val="tx1"/>
              </a:buClr>
              <a:buSzPts val="1600"/>
              <a:buFont typeface="Arial" panose="020B0604020202020204" pitchFamily="34" charset="0"/>
              <a:buChar char="•"/>
            </a:pPr>
            <a:r>
              <a:rPr lang="es-ES" sz="1600" b="1" i="0" u="none" strike="noStrike" cap="none" dirty="0">
                <a:solidFill>
                  <a:schemeClr val="accent5"/>
                </a:solidFill>
                <a:latin typeface="Calibri"/>
                <a:ea typeface="Calibri"/>
                <a:cs typeface="Calibri"/>
                <a:sym typeface="Calibri"/>
              </a:rPr>
              <a:t>Twitter API: </a:t>
            </a:r>
            <a:r>
              <a:rPr lang="es-ES" sz="1600" b="0" i="0" u="none" strike="noStrike" cap="none" dirty="0">
                <a:solidFill>
                  <a:schemeClr val="tx1"/>
                </a:solidFill>
                <a:latin typeface="Calibri"/>
                <a:ea typeface="Calibri"/>
                <a:cs typeface="Calibri"/>
                <a:sym typeface="Calibri"/>
              </a:rPr>
              <a:t>Permite interactuar con la plataforma de Twitter para publicar y recuperar tweets.</a:t>
            </a:r>
            <a:endParaRPr sz="1600" dirty="0">
              <a:solidFill>
                <a:schemeClr val="tx1"/>
              </a:solidFill>
            </a:endParaRPr>
          </a:p>
        </p:txBody>
      </p:sp>
      <p:pic>
        <p:nvPicPr>
          <p:cNvPr id="166" name="Google Shape;166;p18" descr="API GOOGLE MAPS EN 10 LINEAS CON JAVASCRIPT"/>
          <p:cNvPicPr preferRelativeResize="0"/>
          <p:nvPr/>
        </p:nvPicPr>
        <p:blipFill rotWithShape="1">
          <a:blip r:embed="rId3">
            <a:alphaModFix/>
          </a:blip>
          <a:srcRect/>
          <a:stretch/>
        </p:blipFill>
        <p:spPr>
          <a:xfrm>
            <a:off x="1703158" y="2006541"/>
            <a:ext cx="5737685" cy="3227448"/>
          </a:xfrm>
          <a:prstGeom prst="rect">
            <a:avLst/>
          </a:prstGeom>
          <a:noFill/>
          <a:ln>
            <a:noFill/>
          </a:ln>
        </p:spPr>
      </p:pic>
      <p:sp>
        <p:nvSpPr>
          <p:cNvPr id="2" name="Rectangle 5">
            <a:extLst>
              <a:ext uri="{FF2B5EF4-FFF2-40B4-BE49-F238E27FC236}">
                <a16:creationId xmlns:a16="http://schemas.microsoft.com/office/drawing/2014/main" id="{5CCBDFA2-D0D6-566F-FAD5-1CF633CE062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TIPOS DE SERVICIOS WEB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210825054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object 7"/>
          <p:cNvSpPr txBox="1"/>
          <p:nvPr/>
        </p:nvSpPr>
        <p:spPr>
          <a:xfrm>
            <a:off x="1279545" y="912813"/>
            <a:ext cx="5705454" cy="3016210"/>
          </a:xfrm>
          <a:prstGeom prst="rect">
            <a:avLst/>
          </a:prstGeom>
        </p:spPr>
        <p:txBody>
          <a:bodyPr vert="horz" wrap="square" lIns="0" tIns="0" rIns="0" bIns="0" rtlCol="0">
            <a:spAutoFit/>
          </a:bodyPr>
          <a:lstStyle/>
          <a:p>
            <a:pPr lvl="0"/>
            <a:r>
              <a:rPr lang="es-PE" sz="1400" dirty="0">
                <a:latin typeface="Calibri" charset="0"/>
                <a:ea typeface="Calibri" charset="0"/>
                <a:cs typeface="Calibri" charset="0"/>
              </a:rPr>
              <a:t>Importancia de una Buena Arquitectura Web:</a:t>
            </a:r>
          </a:p>
          <a:p>
            <a:pPr lvl="0"/>
            <a:endParaRPr lang="es-PE" sz="1400" dirty="0">
              <a:latin typeface="Calibri" charset="0"/>
              <a:ea typeface="Calibri" charset="0"/>
              <a:cs typeface="Calibri" charset="0"/>
            </a:endParaRPr>
          </a:p>
          <a:p>
            <a:pPr marL="184150" lvl="0" indent="-184150">
              <a:buClr>
                <a:srgbClr val="654E97"/>
              </a:buClr>
              <a:buFont typeface="Arial" panose="020B0604020202020204" pitchFamily="34" charset="0"/>
              <a:buChar char="•"/>
            </a:pPr>
            <a:r>
              <a:rPr lang="es-PE" sz="1400" dirty="0">
                <a:latin typeface="Calibri" charset="0"/>
                <a:ea typeface="Calibri" charset="0"/>
                <a:cs typeface="Calibri" charset="0"/>
              </a:rPr>
              <a:t>Rendimiento: Una arquitectura bien diseñada asegura que la aplicación sea rápida y responda eficientemente a las solicitudes de los usuarios.</a:t>
            </a:r>
          </a:p>
          <a:p>
            <a:pPr marL="184150" lvl="0" indent="-184150">
              <a:buClr>
                <a:srgbClr val="654E97"/>
              </a:buClr>
              <a:buFont typeface="Arial" panose="020B0604020202020204" pitchFamily="34" charset="0"/>
              <a:buChar char="•"/>
            </a:pPr>
            <a:endParaRPr lang="es-PE" sz="1400" dirty="0">
              <a:latin typeface="Calibri" charset="0"/>
              <a:ea typeface="Calibri" charset="0"/>
              <a:cs typeface="Calibri" charset="0"/>
            </a:endParaRPr>
          </a:p>
          <a:p>
            <a:pPr marL="184150" lvl="0" indent="-184150">
              <a:buClr>
                <a:srgbClr val="654E97"/>
              </a:buClr>
              <a:buFont typeface="Arial" panose="020B0604020202020204" pitchFamily="34" charset="0"/>
              <a:buChar char="•"/>
            </a:pPr>
            <a:r>
              <a:rPr lang="es-PE" sz="1400" dirty="0">
                <a:latin typeface="Calibri" charset="0"/>
                <a:ea typeface="Calibri" charset="0"/>
                <a:cs typeface="Calibri" charset="0"/>
              </a:rPr>
              <a:t>Escalabilidad: Facilita el crecimiento de la aplicación para manejar un mayor número de usuarios y transacciones.</a:t>
            </a:r>
          </a:p>
          <a:p>
            <a:pPr marL="184150" lvl="0" indent="-184150">
              <a:buClr>
                <a:srgbClr val="654E97"/>
              </a:buClr>
              <a:buFont typeface="Arial" panose="020B0604020202020204" pitchFamily="34" charset="0"/>
              <a:buChar char="•"/>
            </a:pPr>
            <a:endParaRPr lang="es-PE" sz="1400" dirty="0">
              <a:latin typeface="Calibri" charset="0"/>
              <a:ea typeface="Calibri" charset="0"/>
              <a:cs typeface="Calibri" charset="0"/>
            </a:endParaRPr>
          </a:p>
          <a:p>
            <a:pPr marL="184150" lvl="0" indent="-184150">
              <a:buClr>
                <a:srgbClr val="654E97"/>
              </a:buClr>
              <a:buFont typeface="Arial" panose="020B0604020202020204" pitchFamily="34" charset="0"/>
              <a:buChar char="•"/>
            </a:pPr>
            <a:r>
              <a:rPr lang="es-PE" sz="1400" dirty="0">
                <a:latin typeface="Calibri" charset="0"/>
                <a:ea typeface="Calibri" charset="0"/>
                <a:cs typeface="Calibri" charset="0"/>
              </a:rPr>
              <a:t>Seguridad: Protege los datos y las operaciones de la aplicación contra amenazas y vulnerabilidades.</a:t>
            </a:r>
          </a:p>
          <a:p>
            <a:pPr marL="184150" lvl="0" indent="-184150">
              <a:buClr>
                <a:srgbClr val="654E97"/>
              </a:buClr>
              <a:buFont typeface="Arial" panose="020B0604020202020204" pitchFamily="34" charset="0"/>
              <a:buChar char="•"/>
            </a:pPr>
            <a:endParaRPr lang="es-PE" sz="1400" dirty="0">
              <a:latin typeface="Calibri" charset="0"/>
              <a:ea typeface="Calibri" charset="0"/>
              <a:cs typeface="Calibri" charset="0"/>
            </a:endParaRPr>
          </a:p>
          <a:p>
            <a:pPr marL="184150" lvl="0" indent="-184150">
              <a:buClr>
                <a:srgbClr val="654E97"/>
              </a:buClr>
              <a:buFont typeface="Arial" panose="020B0604020202020204" pitchFamily="34" charset="0"/>
              <a:buChar char="•"/>
            </a:pPr>
            <a:r>
              <a:rPr lang="es-PE" sz="1400" dirty="0">
                <a:latin typeface="Calibri" charset="0"/>
                <a:ea typeface="Calibri" charset="0"/>
                <a:cs typeface="Calibri" charset="0"/>
              </a:rPr>
              <a:t>Mantenibilidad: Permite realizar cambios y mejoras en la aplicación de manera más sencilla y menos propensa a errores.</a:t>
            </a:r>
          </a:p>
          <a:p>
            <a:pPr lvl="0"/>
            <a:endParaRPr lang="es-PE" sz="1400" dirty="0">
              <a:latin typeface="Calibri" charset="0"/>
              <a:ea typeface="Calibri" charset="0"/>
              <a:cs typeface="Calibri"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extLst>
      <p:ext uri="{BB962C8B-B14F-4D97-AF65-F5344CB8AC3E}">
        <p14:creationId xmlns:p14="http://schemas.microsoft.com/office/powerpoint/2010/main" val="203418434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 name="object 7"/>
          <p:cNvSpPr txBox="1"/>
          <p:nvPr/>
        </p:nvSpPr>
        <p:spPr>
          <a:xfrm>
            <a:off x="1279009" y="917823"/>
            <a:ext cx="5221182" cy="1723549"/>
          </a:xfrm>
          <a:prstGeom prst="rect">
            <a:avLst/>
          </a:prstGeom>
        </p:spPr>
        <p:txBody>
          <a:bodyPr vert="horz" wrap="square" lIns="0" tIns="0" rIns="0" bIns="0" rtlCol="0">
            <a:spAutoFit/>
          </a:bodyPr>
          <a:lstStyle/>
          <a:p>
            <a:r>
              <a:rPr lang="es-ES" sz="1400" dirty="0">
                <a:latin typeface="Calibri" charset="0"/>
                <a:ea typeface="Calibri" charset="0"/>
                <a:cs typeface="Calibri" charset="0"/>
              </a:rPr>
              <a:t>Richardson, L., &amp; Ruby, S. </a:t>
            </a:r>
            <a:r>
              <a:rPr lang="es-ES" sz="1400" dirty="0" err="1">
                <a:latin typeface="Calibri" charset="0"/>
                <a:ea typeface="Calibri" charset="0"/>
                <a:cs typeface="Calibri" charset="0"/>
              </a:rPr>
              <a:t>RESTful</a:t>
            </a:r>
            <a:r>
              <a:rPr lang="es-ES" sz="1400" dirty="0">
                <a:latin typeface="Calibri" charset="0"/>
                <a:ea typeface="Calibri" charset="0"/>
                <a:cs typeface="Calibri" charset="0"/>
              </a:rPr>
              <a:t> Web </a:t>
            </a:r>
            <a:r>
              <a:rPr lang="es-ES" sz="1400" dirty="0" err="1">
                <a:latin typeface="Calibri" charset="0"/>
                <a:ea typeface="Calibri" charset="0"/>
                <a:cs typeface="Calibri" charset="0"/>
              </a:rPr>
              <a:t>Services</a:t>
            </a:r>
            <a:r>
              <a:rPr lang="es-ES" sz="1400" dirty="0">
                <a:latin typeface="Calibri" charset="0"/>
                <a:ea typeface="Calibri" charset="0"/>
                <a:cs typeface="Calibri" charset="0"/>
              </a:rPr>
              <a:t>.</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Fielding, R. T. (2000). </a:t>
            </a:r>
            <a:r>
              <a:rPr lang="es-ES" sz="1400" dirty="0" err="1">
                <a:latin typeface="Calibri" charset="0"/>
                <a:ea typeface="Calibri" charset="0"/>
                <a:cs typeface="Calibri" charset="0"/>
              </a:rPr>
              <a:t>Architectural</a:t>
            </a:r>
            <a:r>
              <a:rPr lang="es-ES" sz="1400" dirty="0">
                <a:latin typeface="Calibri" charset="0"/>
                <a:ea typeface="Calibri" charset="0"/>
                <a:cs typeface="Calibri" charset="0"/>
              </a:rPr>
              <a:t> </a:t>
            </a:r>
            <a:r>
              <a:rPr lang="es-ES" sz="1400" dirty="0" err="1">
                <a:latin typeface="Calibri" charset="0"/>
                <a:ea typeface="Calibri" charset="0"/>
                <a:cs typeface="Calibri" charset="0"/>
              </a:rPr>
              <a:t>Styles</a:t>
            </a:r>
            <a:r>
              <a:rPr lang="es-ES" sz="1400" dirty="0">
                <a:latin typeface="Calibri" charset="0"/>
                <a:ea typeface="Calibri" charset="0"/>
                <a:cs typeface="Calibri" charset="0"/>
              </a:rPr>
              <a:t> and </a:t>
            </a:r>
            <a:r>
              <a:rPr lang="es-ES" sz="1400" dirty="0" err="1">
                <a:latin typeface="Calibri" charset="0"/>
                <a:ea typeface="Calibri" charset="0"/>
                <a:cs typeface="Calibri" charset="0"/>
              </a:rPr>
              <a:t>the</a:t>
            </a:r>
            <a:r>
              <a:rPr lang="es-ES" sz="1400" dirty="0">
                <a:latin typeface="Calibri" charset="0"/>
                <a:ea typeface="Calibri" charset="0"/>
                <a:cs typeface="Calibri" charset="0"/>
              </a:rPr>
              <a:t> </a:t>
            </a:r>
            <a:r>
              <a:rPr lang="es-ES" sz="1400" dirty="0" err="1">
                <a:latin typeface="Calibri" charset="0"/>
                <a:ea typeface="Calibri" charset="0"/>
                <a:cs typeface="Calibri" charset="0"/>
              </a:rPr>
              <a:t>Design</a:t>
            </a:r>
            <a:r>
              <a:rPr lang="es-ES" sz="1400" dirty="0">
                <a:latin typeface="Calibri" charset="0"/>
                <a:ea typeface="Calibri" charset="0"/>
                <a:cs typeface="Calibri" charset="0"/>
              </a:rPr>
              <a:t> </a:t>
            </a:r>
            <a:r>
              <a:rPr lang="es-ES" sz="1400" dirty="0" err="1">
                <a:latin typeface="Calibri" charset="0"/>
                <a:ea typeface="Calibri" charset="0"/>
                <a:cs typeface="Calibri" charset="0"/>
              </a:rPr>
              <a:t>of</a:t>
            </a:r>
            <a:r>
              <a:rPr lang="es-ES" sz="1400" dirty="0">
                <a:latin typeface="Calibri" charset="0"/>
                <a:ea typeface="Calibri" charset="0"/>
                <a:cs typeface="Calibri" charset="0"/>
              </a:rPr>
              <a:t> Network-</a:t>
            </a:r>
            <a:r>
              <a:rPr lang="es-ES" sz="1400" dirty="0" err="1">
                <a:latin typeface="Calibri" charset="0"/>
                <a:ea typeface="Calibri" charset="0"/>
                <a:cs typeface="Calibri" charset="0"/>
              </a:rPr>
              <a:t>based</a:t>
            </a:r>
            <a:r>
              <a:rPr lang="es-ES" sz="1400" dirty="0">
                <a:latin typeface="Calibri" charset="0"/>
                <a:ea typeface="Calibri" charset="0"/>
                <a:cs typeface="Calibri" charset="0"/>
              </a:rPr>
              <a:t> Software </a:t>
            </a:r>
            <a:r>
              <a:rPr lang="es-ES" sz="1400" dirty="0" err="1">
                <a:latin typeface="Calibri" charset="0"/>
                <a:ea typeface="Calibri" charset="0"/>
                <a:cs typeface="Calibri" charset="0"/>
              </a:rPr>
              <a:t>Architectures</a:t>
            </a:r>
            <a:r>
              <a:rPr lang="es-ES" sz="1400" dirty="0">
                <a:latin typeface="Calibri" charset="0"/>
                <a:ea typeface="Calibri" charset="0"/>
                <a:cs typeface="Calibri" charset="0"/>
              </a:rPr>
              <a:t>.</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Richardson, L., &amp; Ruby, S. </a:t>
            </a:r>
            <a:r>
              <a:rPr lang="es-ES" sz="1400" dirty="0" err="1">
                <a:latin typeface="Calibri" charset="0"/>
                <a:ea typeface="Calibri" charset="0"/>
                <a:cs typeface="Calibri" charset="0"/>
              </a:rPr>
              <a:t>RESTful</a:t>
            </a:r>
            <a:r>
              <a:rPr lang="es-ES" sz="1400" dirty="0">
                <a:latin typeface="Calibri" charset="0"/>
                <a:ea typeface="Calibri" charset="0"/>
                <a:cs typeface="Calibri" charset="0"/>
              </a:rPr>
              <a:t> Web </a:t>
            </a:r>
            <a:r>
              <a:rPr lang="es-ES" sz="1400" dirty="0" err="1">
                <a:latin typeface="Calibri" charset="0"/>
                <a:ea typeface="Calibri" charset="0"/>
                <a:cs typeface="Calibri" charset="0"/>
              </a:rPr>
              <a:t>Services</a:t>
            </a:r>
            <a:r>
              <a:rPr lang="es-ES" sz="1400" dirty="0">
                <a:latin typeface="Calibri" charset="0"/>
                <a:ea typeface="Calibri" charset="0"/>
                <a:cs typeface="Calibri" charset="0"/>
              </a:rPr>
              <a:t>.</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Bass, L., Clements, P., &amp; </a:t>
            </a:r>
            <a:r>
              <a:rPr lang="es-ES" sz="1400" dirty="0" err="1">
                <a:latin typeface="Calibri" charset="0"/>
                <a:ea typeface="Calibri" charset="0"/>
                <a:cs typeface="Calibri" charset="0"/>
              </a:rPr>
              <a:t>Kazman</a:t>
            </a:r>
            <a:r>
              <a:rPr lang="es-ES" sz="1400" dirty="0">
                <a:latin typeface="Calibri" charset="0"/>
                <a:ea typeface="Calibri" charset="0"/>
                <a:cs typeface="Calibri" charset="0"/>
              </a:rPr>
              <a:t>, R. Software </a:t>
            </a:r>
            <a:r>
              <a:rPr lang="es-ES" sz="1400" dirty="0" err="1">
                <a:latin typeface="Calibri" charset="0"/>
                <a:ea typeface="Calibri" charset="0"/>
                <a:cs typeface="Calibri" charset="0"/>
              </a:rPr>
              <a:t>Architecture</a:t>
            </a:r>
            <a:r>
              <a:rPr lang="es-ES" sz="1400" dirty="0">
                <a:latin typeface="Calibri" charset="0"/>
                <a:ea typeface="Calibri" charset="0"/>
                <a:cs typeface="Calibri" charset="0"/>
              </a:rPr>
              <a:t> in </a:t>
            </a:r>
            <a:r>
              <a:rPr lang="es-ES" sz="1400" dirty="0" err="1">
                <a:latin typeface="Calibri" charset="0"/>
                <a:ea typeface="Calibri" charset="0"/>
                <a:cs typeface="Calibri" charset="0"/>
              </a:rPr>
              <a:t>Practice</a:t>
            </a:r>
            <a:r>
              <a:rPr lang="es-ES" sz="1400" dirty="0">
                <a:latin typeface="Calibri" charset="0"/>
                <a:ea typeface="Calibri" charset="0"/>
                <a:cs typeface="Calibri" charset="0"/>
              </a:rPr>
              <a:t>.</a:t>
            </a:r>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381580"/>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5" name="Imagen 4">
            <a:extLst>
              <a:ext uri="{FF2B5EF4-FFF2-40B4-BE49-F238E27FC236}">
                <a16:creationId xmlns:a16="http://schemas.microsoft.com/office/drawing/2014/main" id="{75962488-EFD0-5955-5B50-421E0CC2356D}"/>
              </a:ext>
            </a:extLst>
          </p:cNvPr>
          <p:cNvPicPr>
            <a:picLocks noChangeAspect="1"/>
          </p:cNvPicPr>
          <p:nvPr/>
        </p:nvPicPr>
        <p:blipFill>
          <a:blip r:embed="rId2"/>
          <a:stretch>
            <a:fillRect/>
          </a:stretch>
        </p:blipFill>
        <p:spPr>
          <a:xfrm>
            <a:off x="1008064" y="2019908"/>
            <a:ext cx="103867" cy="106967"/>
          </a:xfrm>
          <a:prstGeom prst="rect">
            <a:avLst/>
          </a:prstGeom>
        </p:spPr>
      </p:pic>
      <p:pic>
        <p:nvPicPr>
          <p:cNvPr id="6" name="Imagen 5">
            <a:extLst>
              <a:ext uri="{FF2B5EF4-FFF2-40B4-BE49-F238E27FC236}">
                <a16:creationId xmlns:a16="http://schemas.microsoft.com/office/drawing/2014/main" id="{78AE0127-0285-4232-D4E8-C84511EB10BC}"/>
              </a:ext>
            </a:extLst>
          </p:cNvPr>
          <p:cNvPicPr>
            <a:picLocks noChangeAspect="1"/>
          </p:cNvPicPr>
          <p:nvPr/>
        </p:nvPicPr>
        <p:blipFill>
          <a:blip r:embed="rId2"/>
          <a:stretch>
            <a:fillRect/>
          </a:stretch>
        </p:blipFill>
        <p:spPr>
          <a:xfrm>
            <a:off x="1008064" y="2451956"/>
            <a:ext cx="103867" cy="106967"/>
          </a:xfrm>
          <a:prstGeom prst="rect">
            <a:avLst/>
          </a:prstGeom>
        </p:spPr>
      </p:pic>
    </p:spTree>
    <p:extLst>
      <p:ext uri="{BB962C8B-B14F-4D97-AF65-F5344CB8AC3E}">
        <p14:creationId xmlns:p14="http://schemas.microsoft.com/office/powerpoint/2010/main" val="174240112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3541635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theme/theme1.xml><?xml version="1.0" encoding="utf-8"?>
<a:theme xmlns:a="http://schemas.openxmlformats.org/drawingml/2006/main" name="Office Theme">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1178</Words>
  <Application>Microsoft Macintosh PowerPoint</Application>
  <PresentationFormat>Presentación en pantalla (16:10)</PresentationFormat>
  <Paragraphs>151</Paragraphs>
  <Slides>24</Slides>
  <Notes>19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Arial</vt:lpstr>
      <vt:lpstr>Calibri</vt:lpstr>
      <vt:lpstr>Graphik Bold</vt:lpstr>
      <vt:lpstr>Graphik Medium</vt:lpstr>
      <vt:lpstr>Graphik Regular</vt:lpstr>
      <vt:lpstr>Graphik-Medium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Microsoft Office User</cp:lastModifiedBy>
  <cp:revision>6</cp:revision>
  <dcterms:created xsi:type="dcterms:W3CDTF">2016-10-06T14:52:02Z</dcterms:created>
  <dcterms:modified xsi:type="dcterms:W3CDTF">2024-10-01T21:35:11Z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