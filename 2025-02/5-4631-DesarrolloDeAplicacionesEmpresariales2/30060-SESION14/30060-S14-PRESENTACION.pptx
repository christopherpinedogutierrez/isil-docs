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Lst>
  <p:sldSz cy="5715000" cx="9144000"/>
  <p:notesSz cx="6797675" cy="992662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jsDiKBpcnqUsc4BuCLCRUS0gCR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customschemas.google.com/relationships/presentationmetadata" Target="metadata"/><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1"/>
            <a:ext cx="2945659" cy="49805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50443" y="1"/>
            <a:ext cx="2945659" cy="498056"/>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28584"/>
            <a:ext cx="2945659" cy="49805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3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3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22" name="Google Shape;22;p3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s-E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40:notes"/>
          <p:cNvSpPr txBox="1"/>
          <p:nvPr>
            <p:ph idx="1" type="body"/>
          </p:nvPr>
        </p:nvSpPr>
        <p:spPr>
          <a:xfrm>
            <a:off x="679768" y="4777194"/>
            <a:ext cx="5438140" cy="390861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 name="Google Shape;33;p4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4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4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44" name="Google Shape;44;p4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s-E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4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4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58" name="Google Shape;58;p4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s-E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66" name="Google Shape;66;p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85" name="Google Shape;85;p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107" name="Google Shape;107;p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129" name="Google Shape;129;p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143" name="Google Shape;143;p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165" name="Google Shape;165;p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1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179" name="Google Shape;179;p1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4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4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201" name="Google Shape;201;p4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s-E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1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209" name="Google Shape;209;p1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1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217" name="Google Shape;217;p1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1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225" name="Google Shape;225;p1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1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233" name="Google Shape;233;p1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p1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241" name="Google Shape;241;p1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1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249" name="Google Shape;249;p1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1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257" name="Google Shape;257;p1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4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4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265" name="Google Shape;265;p4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s-E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2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273" name="Google Shape;273;p2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2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281" name="Google Shape;281;p2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2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289" name="Google Shape;289;p2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2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297" name="Google Shape;297;p2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2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305" name="Google Shape;305;p2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2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313" name="Google Shape;313;p2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2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Arial"/>
              <a:ea typeface="Arial"/>
              <a:cs typeface="Arial"/>
              <a:sym typeface="Arial"/>
            </a:endParaRPr>
          </a:p>
        </p:txBody>
      </p:sp>
      <p:sp>
        <p:nvSpPr>
          <p:cNvPr id="321" name="Google Shape;321;p2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45:notes"/>
          <p:cNvSpPr txBox="1"/>
          <p:nvPr>
            <p:ph idx="1" type="body"/>
          </p:nvPr>
        </p:nvSpPr>
        <p:spPr>
          <a:xfrm>
            <a:off x="679768" y="4777194"/>
            <a:ext cx="5438140" cy="390861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p4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4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p4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338" name="Google Shape;338;p4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s-E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47:notes"/>
          <p:cNvSpPr txBox="1"/>
          <p:nvPr>
            <p:ph idx="1" type="body"/>
          </p:nvPr>
        </p:nvSpPr>
        <p:spPr>
          <a:xfrm>
            <a:off x="679768" y="4777194"/>
            <a:ext cx="5438140" cy="390861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4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48:notes"/>
          <p:cNvSpPr txBox="1"/>
          <p:nvPr>
            <p:ph idx="1" type="body"/>
          </p:nvPr>
        </p:nvSpPr>
        <p:spPr>
          <a:xfrm>
            <a:off x="679768" y="4777194"/>
            <a:ext cx="5438140" cy="390861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p4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49:notes"/>
          <p:cNvSpPr txBox="1"/>
          <p:nvPr>
            <p:ph idx="1" type="body"/>
          </p:nvPr>
        </p:nvSpPr>
        <p:spPr>
          <a:xfrm>
            <a:off x="679768" y="4777194"/>
            <a:ext cx="5438140" cy="3908615"/>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p4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3" name="Shape 13"/>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showMasterSp="0">
  <p:cSld name="Título y objetos">
    <p:spTree>
      <p:nvGrpSpPr>
        <p:cNvPr id="14" name="Shape 14"/>
        <p:cNvGrpSpPr/>
        <p:nvPr/>
      </p:nvGrpSpPr>
      <p:grpSpPr>
        <a:xfrm>
          <a:off x="0" y="0"/>
          <a:ext cx="0" cy="0"/>
          <a:chOff x="0" y="0"/>
          <a:chExt cx="0" cy="0"/>
        </a:xfrm>
      </p:grpSpPr>
      <p:sp>
        <p:nvSpPr>
          <p:cNvPr id="15" name="Google Shape;15;p33"/>
          <p:cNvSpPr/>
          <p:nvPr/>
        </p:nvSpPr>
        <p:spPr>
          <a:xfrm>
            <a:off x="7379148" y="5371562"/>
            <a:ext cx="1369286" cy="1846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0" i="0" lang="es-ES" sz="600" u="none" cap="none" strike="noStrike">
                <a:solidFill>
                  <a:srgbClr val="7F7F7F"/>
                </a:solidFill>
                <a:latin typeface="Calibri"/>
                <a:ea typeface="Calibri"/>
                <a:cs typeface="Calibri"/>
                <a:sym typeface="Calibri"/>
              </a:rPr>
              <a:t>© ISIL. Todos los derechos reservados</a:t>
            </a:r>
            <a:endParaRPr/>
          </a:p>
        </p:txBody>
      </p:sp>
      <p:sp>
        <p:nvSpPr>
          <p:cNvPr id="16" name="Google Shape;16;p33"/>
          <p:cNvSpPr txBox="1"/>
          <p:nvPr/>
        </p:nvSpPr>
        <p:spPr>
          <a:xfrm>
            <a:off x="876300" y="5343295"/>
            <a:ext cx="3227165"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800" u="none" cap="none" strike="noStrike">
                <a:solidFill>
                  <a:srgbClr val="7F7F7F"/>
                </a:solidFill>
                <a:latin typeface="Calibri"/>
                <a:ea typeface="Calibri"/>
                <a:cs typeface="Calibri"/>
                <a:sym typeface="Calibri"/>
              </a:rPr>
              <a:t>GESTIÓN DE PROCESOS, SIMULACIÓN Y MEJORA CONTINUA</a:t>
            </a:r>
            <a:r>
              <a:rPr b="0" i="0" lang="es-ES" sz="800" u="none" cap="none" strike="noStrike">
                <a:solidFill>
                  <a:srgbClr val="7F7F7F"/>
                </a:solidFill>
                <a:latin typeface="Calibri"/>
                <a:ea typeface="Calibri"/>
                <a:cs typeface="Calibri"/>
                <a:sym typeface="Calibri"/>
              </a:rPr>
              <a:t>  </a:t>
            </a:r>
            <a:r>
              <a:rPr b="0" i="0" lang="es-ES" sz="800" u="none" cap="none" strike="noStrike">
                <a:solidFill>
                  <a:srgbClr val="7F7F7F"/>
                </a:solidFill>
                <a:latin typeface="Calibri"/>
                <a:ea typeface="Calibri"/>
                <a:cs typeface="Calibri"/>
                <a:sym typeface="Calibri"/>
              </a:rPr>
              <a:t>•  SESIÓN 01</a:t>
            </a:r>
            <a:endParaRPr b="0" i="0" sz="800" u="none" cap="none" strike="noStrike">
              <a:solidFill>
                <a:srgbClr val="7F7F7F"/>
              </a:solidFill>
              <a:latin typeface="Calibri"/>
              <a:ea typeface="Calibri"/>
              <a:cs typeface="Calibri"/>
              <a:sym typeface="Calibri"/>
            </a:endParaRPr>
          </a:p>
        </p:txBody>
      </p:sp>
      <p:pic>
        <p:nvPicPr>
          <p:cNvPr id="17" name="Google Shape;17;p33"/>
          <p:cNvPicPr preferRelativeResize="0"/>
          <p:nvPr/>
        </p:nvPicPr>
        <p:blipFill rotWithShape="1">
          <a:blip r:embed="rId2">
            <a:alphaModFix amt="20000"/>
          </a:blip>
          <a:srcRect b="0" l="0" r="0" t="0"/>
          <a:stretch/>
        </p:blipFill>
        <p:spPr>
          <a:xfrm>
            <a:off x="506316" y="5349405"/>
            <a:ext cx="369984" cy="206823"/>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8" name="Shape 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9"/>
          <p:cNvSpPr/>
          <p:nvPr/>
        </p:nvSpPr>
        <p:spPr>
          <a:xfrm>
            <a:off x="7379148" y="5371562"/>
            <a:ext cx="1369286" cy="1846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0" i="0" lang="es-ES" sz="600" u="none" cap="none" strike="noStrike">
                <a:solidFill>
                  <a:srgbClr val="7F7F7F"/>
                </a:solidFill>
                <a:latin typeface="Calibri"/>
                <a:ea typeface="Calibri"/>
                <a:cs typeface="Calibri"/>
                <a:sym typeface="Calibri"/>
              </a:rPr>
              <a:t>© ISIL. Todos los derechos reservados</a:t>
            </a:r>
            <a:endParaRPr/>
          </a:p>
        </p:txBody>
      </p:sp>
      <p:sp>
        <p:nvSpPr>
          <p:cNvPr id="11" name="Google Shape;11;p29"/>
          <p:cNvSpPr txBox="1"/>
          <p:nvPr/>
        </p:nvSpPr>
        <p:spPr>
          <a:xfrm>
            <a:off x="876300" y="5343295"/>
            <a:ext cx="2762295"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s-ES" sz="800" u="none" cap="none" strike="noStrike">
                <a:solidFill>
                  <a:srgbClr val="7F7F7F"/>
                </a:solidFill>
                <a:latin typeface="Calibri"/>
                <a:ea typeface="Calibri"/>
                <a:cs typeface="Calibri"/>
                <a:sym typeface="Calibri"/>
              </a:rPr>
              <a:t>DESARROLLO DE APLICACIONES EMPRESARIALES II  •  TEMA 14</a:t>
            </a:r>
            <a:endParaRPr b="0" i="0" sz="800" u="none" cap="none" strike="noStrike">
              <a:solidFill>
                <a:srgbClr val="7F7F7F"/>
              </a:solidFill>
              <a:latin typeface="Calibri"/>
              <a:ea typeface="Calibri"/>
              <a:cs typeface="Calibri"/>
              <a:sym typeface="Calibri"/>
            </a:endParaRPr>
          </a:p>
        </p:txBody>
      </p:sp>
      <p:pic>
        <p:nvPicPr>
          <p:cNvPr id="12" name="Google Shape;12;p29"/>
          <p:cNvPicPr preferRelativeResize="0"/>
          <p:nvPr/>
        </p:nvPicPr>
        <p:blipFill rotWithShape="1">
          <a:blip r:embed="rId1">
            <a:alphaModFix amt="20000"/>
          </a:blip>
          <a:srcRect b="0" l="0" r="0" t="0"/>
          <a:stretch/>
        </p:blipFill>
        <p:spPr>
          <a:xfrm>
            <a:off x="506316" y="5349405"/>
            <a:ext cx="369984" cy="20682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F26B43"/>
          </p15:clr>
        </p15:guide>
        <p15:guide id="2" orient="horz" pos="575">
          <p15:clr>
            <a:srgbClr val="F26B43"/>
          </p15:clr>
        </p15:guide>
        <p15:guide id="3" pos="2767">
          <p15:clr>
            <a:srgbClr val="F26B43"/>
          </p15:clr>
        </p15:guide>
        <p15:guide id="4" pos="317">
          <p15:clr>
            <a:srgbClr val="F26B43"/>
          </p15:clr>
        </p15:guide>
        <p15:guide id="5" pos="2993">
          <p15:clr>
            <a:srgbClr val="F26B43"/>
          </p15:clr>
        </p15:guide>
        <p15:guide id="6" pos="5465">
          <p15:clr>
            <a:srgbClr val="F26B43"/>
          </p15:clr>
        </p15:guide>
        <p15:guide id="7" orient="horz" pos="3297">
          <p15:clr>
            <a:srgbClr val="F26B43"/>
          </p15:clr>
        </p15:guide>
        <p15:guide id="8" orient="horz" pos="30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png"/><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7.png"/><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png"/><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9.png"/><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 name="Shape 23"/>
        <p:cNvGrpSpPr/>
        <p:nvPr/>
      </p:nvGrpSpPr>
      <p:grpSpPr>
        <a:xfrm>
          <a:off x="0" y="0"/>
          <a:ext cx="0" cy="0"/>
          <a:chOff x="0" y="0"/>
          <a:chExt cx="0" cy="0"/>
        </a:xfrm>
      </p:grpSpPr>
      <p:sp>
        <p:nvSpPr>
          <p:cNvPr id="24" name="Google Shape;24;p39"/>
          <p:cNvSpPr/>
          <p:nvPr/>
        </p:nvSpPr>
        <p:spPr>
          <a:xfrm>
            <a:off x="182879" y="5120640"/>
            <a:ext cx="4304965" cy="46201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5" name="Google Shape;25;p39"/>
          <p:cNvSpPr txBox="1"/>
          <p:nvPr/>
        </p:nvSpPr>
        <p:spPr>
          <a:xfrm>
            <a:off x="503238" y="808689"/>
            <a:ext cx="3104743" cy="1384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900" u="none" cap="none" strike="noStrike">
                <a:solidFill>
                  <a:srgbClr val="7F7F7F"/>
                </a:solidFill>
                <a:latin typeface="Calibri"/>
                <a:ea typeface="Calibri"/>
                <a:cs typeface="Calibri"/>
                <a:sym typeface="Calibri"/>
              </a:rPr>
              <a:t>DESARROLLO DE APLICACIONES EMPRESARIALES II </a:t>
            </a:r>
            <a:endParaRPr/>
          </a:p>
        </p:txBody>
      </p:sp>
      <p:sp>
        <p:nvSpPr>
          <p:cNvPr id="26" name="Google Shape;26;p39"/>
          <p:cNvSpPr/>
          <p:nvPr/>
        </p:nvSpPr>
        <p:spPr>
          <a:xfrm>
            <a:off x="503239" y="2177570"/>
            <a:ext cx="3090566" cy="74789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s-ES" sz="2700" u="none" cap="none" strike="noStrike">
                <a:solidFill>
                  <a:srgbClr val="000000"/>
                </a:solidFill>
                <a:latin typeface="Arial"/>
                <a:ea typeface="Arial"/>
                <a:cs typeface="Arial"/>
                <a:sym typeface="Arial"/>
              </a:rPr>
              <a:t>TECNOLOGÍAS DE</a:t>
            </a:r>
            <a:r>
              <a:rPr b="1" i="0" lang="es-ES" sz="2700" u="none" cap="none" strike="noStrike">
                <a:solidFill>
                  <a:srgbClr val="000000"/>
                </a:solidFill>
                <a:latin typeface="Arial"/>
                <a:ea typeface="Arial"/>
                <a:cs typeface="Arial"/>
                <a:sym typeface="Arial"/>
              </a:rPr>
              <a:t> INTEGRACIÓN</a:t>
            </a:r>
            <a:endParaRPr/>
          </a:p>
        </p:txBody>
      </p:sp>
      <p:sp>
        <p:nvSpPr>
          <p:cNvPr id="27" name="Google Shape;27;p39"/>
          <p:cNvSpPr/>
          <p:nvPr/>
        </p:nvSpPr>
        <p:spPr>
          <a:xfrm>
            <a:off x="503238" y="3219842"/>
            <a:ext cx="2845526" cy="642484"/>
          </a:xfrm>
          <a:prstGeom prst="rect">
            <a:avLst/>
          </a:prstGeom>
          <a:noFill/>
          <a:ln>
            <a:noFill/>
          </a:ln>
        </p:spPr>
        <p:txBody>
          <a:bodyPr anchorCtr="0" anchor="t" bIns="0" lIns="0" spcFirstLastPara="1" rIns="0" wrap="square" tIns="0">
            <a:spAutoFit/>
          </a:bodyPr>
          <a:lstStyle/>
          <a:p>
            <a:pPr indent="-177800" lvl="0" marL="177800" marR="0" rtl="0" algn="l">
              <a:lnSpc>
                <a:spcPct val="120000"/>
              </a:lnSpc>
              <a:spcBef>
                <a:spcPts val="0"/>
              </a:spcBef>
              <a:spcAft>
                <a:spcPts val="0"/>
              </a:spcAft>
              <a:buClr>
                <a:srgbClr val="0B6AB0"/>
              </a:buClr>
              <a:buSzPts val="1200"/>
              <a:buFont typeface="Arial"/>
              <a:buChar char="•"/>
            </a:pPr>
            <a:r>
              <a:rPr b="0" i="0" lang="es-ES" sz="1200" u="none" cap="none" strike="noStrike">
                <a:solidFill>
                  <a:srgbClr val="000000"/>
                </a:solidFill>
                <a:latin typeface="Arial"/>
                <a:ea typeface="Arial"/>
                <a:cs typeface="Arial"/>
                <a:sym typeface="Arial"/>
              </a:rPr>
              <a:t>Integración de Aplicaciones</a:t>
            </a:r>
            <a:endParaRPr/>
          </a:p>
          <a:p>
            <a:pPr indent="-177800" lvl="0" marL="177800" marR="0" rtl="0" algn="l">
              <a:lnSpc>
                <a:spcPct val="120000"/>
              </a:lnSpc>
              <a:spcBef>
                <a:spcPts val="0"/>
              </a:spcBef>
              <a:spcAft>
                <a:spcPts val="0"/>
              </a:spcAft>
              <a:buClr>
                <a:srgbClr val="0B6AB0"/>
              </a:buClr>
              <a:buSzPts val="1200"/>
              <a:buFont typeface="Arial"/>
              <a:buChar char="•"/>
            </a:pPr>
            <a:r>
              <a:rPr b="0" i="0" lang="es-ES" sz="1200" u="none" cap="none" strike="noStrike">
                <a:solidFill>
                  <a:srgbClr val="000000"/>
                </a:solidFill>
                <a:latin typeface="Arial"/>
                <a:ea typeface="Arial"/>
                <a:cs typeface="Arial"/>
                <a:sym typeface="Arial"/>
              </a:rPr>
              <a:t>Java</a:t>
            </a:r>
            <a:endParaRPr/>
          </a:p>
          <a:p>
            <a:pPr indent="-177800" lvl="0" marL="177800" marR="0" rtl="0" algn="l">
              <a:lnSpc>
                <a:spcPct val="120000"/>
              </a:lnSpc>
              <a:spcBef>
                <a:spcPts val="0"/>
              </a:spcBef>
              <a:spcAft>
                <a:spcPts val="0"/>
              </a:spcAft>
              <a:buClr>
                <a:srgbClr val="0B6AB0"/>
              </a:buClr>
              <a:buSzPts val="1200"/>
              <a:buFont typeface="Arial"/>
              <a:buChar char="•"/>
            </a:pPr>
            <a:r>
              <a:rPr b="0" i="0" lang="es-ES" sz="1200" u="none" cap="none" strike="noStrike">
                <a:solidFill>
                  <a:srgbClr val="000000"/>
                </a:solidFill>
                <a:latin typeface="Arial"/>
                <a:ea typeface="Arial"/>
                <a:cs typeface="Arial"/>
                <a:sym typeface="Arial"/>
              </a:rPr>
              <a:t>Microsoft</a:t>
            </a:r>
            <a:endParaRPr/>
          </a:p>
        </p:txBody>
      </p:sp>
      <p:sp>
        <p:nvSpPr>
          <p:cNvPr id="28" name="Google Shape;28;p39"/>
          <p:cNvSpPr txBox="1"/>
          <p:nvPr/>
        </p:nvSpPr>
        <p:spPr>
          <a:xfrm>
            <a:off x="743902" y="1819386"/>
            <a:ext cx="1457648"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2000" u="none" cap="none" strike="noStrike">
                <a:solidFill>
                  <a:srgbClr val="0B6AB0"/>
                </a:solidFill>
                <a:latin typeface="Calibri"/>
                <a:ea typeface="Calibri"/>
                <a:cs typeface="Calibri"/>
                <a:sym typeface="Calibri"/>
              </a:rPr>
              <a:t>TEMA 14</a:t>
            </a:r>
            <a:endParaRPr/>
          </a:p>
        </p:txBody>
      </p:sp>
      <p:pic>
        <p:nvPicPr>
          <p:cNvPr id="29" name="Google Shape;29;p39"/>
          <p:cNvPicPr preferRelativeResize="0"/>
          <p:nvPr/>
        </p:nvPicPr>
        <p:blipFill rotWithShape="1">
          <a:blip r:embed="rId3">
            <a:alphaModFix/>
          </a:blip>
          <a:srcRect b="0" l="0" r="0" t="0"/>
          <a:stretch/>
        </p:blipFill>
        <p:spPr>
          <a:xfrm>
            <a:off x="507464" y="1883411"/>
            <a:ext cx="166865" cy="170453"/>
          </a:xfrm>
          <a:prstGeom prst="rect">
            <a:avLst/>
          </a:prstGeom>
          <a:noFill/>
          <a:ln>
            <a:noFill/>
          </a:ln>
        </p:spPr>
      </p:pic>
      <p:pic>
        <p:nvPicPr>
          <p:cNvPr id="30" name="Google Shape;30;p39"/>
          <p:cNvPicPr preferRelativeResize="0"/>
          <p:nvPr/>
        </p:nvPicPr>
        <p:blipFill rotWithShape="1">
          <a:blip r:embed="rId4">
            <a:alphaModFix/>
          </a:blip>
          <a:srcRect b="0" l="0" r="0" t="0"/>
          <a:stretch/>
        </p:blipFill>
        <p:spPr>
          <a:xfrm>
            <a:off x="3752850" y="0"/>
            <a:ext cx="5391150" cy="5715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sp>
        <p:nvSpPr>
          <p:cNvPr id="35" name="Google Shape;35;p40"/>
          <p:cNvSpPr/>
          <p:nvPr/>
        </p:nvSpPr>
        <p:spPr>
          <a:xfrm>
            <a:off x="0" y="1"/>
            <a:ext cx="9144000" cy="5715000"/>
          </a:xfrm>
          <a:prstGeom prst="rect">
            <a:avLst/>
          </a:prstGeom>
          <a:solidFill>
            <a:srgbClr val="ED434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36" name="Google Shape;36;p40"/>
          <p:cNvPicPr preferRelativeResize="0"/>
          <p:nvPr/>
        </p:nvPicPr>
        <p:blipFill rotWithShape="1">
          <a:blip r:embed="rId3">
            <a:alphaModFix/>
          </a:blip>
          <a:srcRect b="0" l="0" r="0" t="0"/>
          <a:stretch/>
        </p:blipFill>
        <p:spPr>
          <a:xfrm>
            <a:off x="1" y="946969"/>
            <a:ext cx="2072213" cy="3898064"/>
          </a:xfrm>
          <a:prstGeom prst="rect">
            <a:avLst/>
          </a:prstGeom>
          <a:noFill/>
          <a:ln>
            <a:noFill/>
          </a:ln>
        </p:spPr>
      </p:pic>
      <p:sp>
        <p:nvSpPr>
          <p:cNvPr id="37" name="Google Shape;37;p40"/>
          <p:cNvSpPr/>
          <p:nvPr/>
        </p:nvSpPr>
        <p:spPr>
          <a:xfrm>
            <a:off x="149817" y="3724759"/>
            <a:ext cx="1037633" cy="1069383"/>
          </a:xfrm>
          <a:prstGeom prst="rect">
            <a:avLst/>
          </a:prstGeom>
          <a:solidFill>
            <a:srgbClr val="ED434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38" name="Google Shape;38;p40"/>
          <p:cNvSpPr txBox="1"/>
          <p:nvPr/>
        </p:nvSpPr>
        <p:spPr>
          <a:xfrm>
            <a:off x="2519363" y="2540738"/>
            <a:ext cx="4581728" cy="81253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0" i="0" lang="es-ES" sz="3300" u="none" cap="none" strike="noStrike">
                <a:solidFill>
                  <a:schemeClr val="lt1"/>
                </a:solidFill>
                <a:latin typeface="Arial"/>
                <a:ea typeface="Arial"/>
                <a:cs typeface="Arial"/>
                <a:sym typeface="Arial"/>
              </a:rPr>
              <a:t>INTRODUCCIÓN</a:t>
            </a:r>
            <a:endParaRPr/>
          </a:p>
          <a:p>
            <a:pPr indent="0" lvl="0" marL="0" marR="0" rtl="0" algn="l">
              <a:lnSpc>
                <a:spcPct val="80000"/>
              </a:lnSpc>
              <a:spcBef>
                <a:spcPts val="0"/>
              </a:spcBef>
              <a:spcAft>
                <a:spcPts val="0"/>
              </a:spcAft>
              <a:buNone/>
            </a:pPr>
            <a:r>
              <a:rPr b="1" i="0" lang="es-ES" sz="3300" u="none" cap="none" strike="noStrike">
                <a:solidFill>
                  <a:schemeClr val="lt1"/>
                </a:solidFill>
                <a:latin typeface="Arial"/>
                <a:ea typeface="Arial"/>
                <a:cs typeface="Arial"/>
                <a:sym typeface="Arial"/>
              </a:rPr>
              <a:t>DE LA SESIÓN</a:t>
            </a:r>
            <a:endParaRPr/>
          </a:p>
        </p:txBody>
      </p:sp>
      <p:pic>
        <p:nvPicPr>
          <p:cNvPr id="39" name="Google Shape;39;p40"/>
          <p:cNvPicPr preferRelativeResize="0"/>
          <p:nvPr/>
        </p:nvPicPr>
        <p:blipFill rotWithShape="1">
          <a:blip r:embed="rId4">
            <a:alphaModFix amt="16000"/>
          </a:blip>
          <a:srcRect b="0" l="0" r="0" t="0"/>
          <a:stretch/>
        </p:blipFill>
        <p:spPr>
          <a:xfrm>
            <a:off x="334433" y="3817749"/>
            <a:ext cx="809264" cy="809264"/>
          </a:xfrm>
          <a:prstGeom prst="rect">
            <a:avLst/>
          </a:prstGeom>
          <a:noFill/>
          <a:ln>
            <a:noFill/>
          </a:ln>
        </p:spPr>
      </p:pic>
      <p:pic>
        <p:nvPicPr>
          <p:cNvPr id="40" name="Google Shape;40;p40"/>
          <p:cNvPicPr preferRelativeResize="0"/>
          <p:nvPr/>
        </p:nvPicPr>
        <p:blipFill rotWithShape="1">
          <a:blip r:embed="rId5">
            <a:alphaModFix/>
          </a:blip>
          <a:srcRect b="0" l="0" r="0" t="0"/>
          <a:stretch/>
        </p:blipFill>
        <p:spPr>
          <a:xfrm>
            <a:off x="2528619" y="2194222"/>
            <a:ext cx="202176" cy="20821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41"/>
          <p:cNvSpPr/>
          <p:nvPr/>
        </p:nvSpPr>
        <p:spPr>
          <a:xfrm>
            <a:off x="6918960" y="5364480"/>
            <a:ext cx="2133600" cy="22445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7" name="Google Shape;47;p41"/>
          <p:cNvSpPr txBox="1"/>
          <p:nvPr/>
        </p:nvSpPr>
        <p:spPr>
          <a:xfrm>
            <a:off x="1282298" y="918372"/>
            <a:ext cx="5521727" cy="366254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Calibri"/>
                <a:ea typeface="Calibri"/>
                <a:cs typeface="Calibri"/>
                <a:sym typeface="Calibri"/>
              </a:rPr>
              <a:t>Las tecnologías de integración son herramientas y enfoques que permiten conectar y coordinar diferentes sistemas, aplicaciones y servicios para trabajar juntos de manera eficiente.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ES" sz="1400" u="none" cap="none" strike="noStrike">
                <a:solidFill>
                  <a:srgbClr val="000000"/>
                </a:solidFill>
                <a:latin typeface="Calibri"/>
                <a:ea typeface="Calibri"/>
                <a:cs typeface="Calibri"/>
                <a:sym typeface="Calibri"/>
              </a:rPr>
              <a:t>Estas tecnologías facilitan la comunicación y el intercambio de datos entre sistemas dispares, mejorando la interoperabilidad, la escalabilidad y la eficiencia operativa.</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ES" sz="1400" u="none" cap="none" strike="noStrike">
                <a:solidFill>
                  <a:srgbClr val="000000"/>
                </a:solidFill>
                <a:latin typeface="Calibri"/>
                <a:ea typeface="Calibri"/>
                <a:cs typeface="Calibri"/>
                <a:sym typeface="Calibri"/>
              </a:rPr>
              <a:t>Entonces, durante esta sesión:</a:t>
            </a:r>
            <a:endParaRPr b="0" i="0" sz="1400" u="none" cap="none" strike="noStrike">
              <a:solidFill>
                <a:srgbClr val="262626"/>
              </a:solidFill>
              <a:latin typeface="Calibri"/>
              <a:ea typeface="Calibri"/>
              <a:cs typeface="Calibri"/>
              <a:sym typeface="Calibri"/>
            </a:endParaRPr>
          </a:p>
          <a:p>
            <a:pPr indent="-165100" lvl="0" marL="177800" marR="0" rtl="0" algn="l">
              <a:lnSpc>
                <a:spcPct val="100000"/>
              </a:lnSpc>
              <a:spcBef>
                <a:spcPts val="0"/>
              </a:spcBef>
              <a:spcAft>
                <a:spcPts val="0"/>
              </a:spcAft>
              <a:buClr>
                <a:srgbClr val="EE4639"/>
              </a:buClr>
              <a:buSzPts val="1400"/>
              <a:buFont typeface="Arial"/>
              <a:buChar char="•"/>
            </a:pPr>
            <a:r>
              <a:rPr b="1" i="0" lang="es-ES" sz="1400" u="none" cap="none" strike="noStrike">
                <a:solidFill>
                  <a:srgbClr val="262626"/>
                </a:solidFill>
                <a:latin typeface="Calibri"/>
                <a:ea typeface="Calibri"/>
                <a:cs typeface="Calibri"/>
                <a:sym typeface="Calibri"/>
              </a:rPr>
              <a:t>Conoceremos</a:t>
            </a:r>
            <a:r>
              <a:rPr b="0" i="0" lang="es-ES" sz="1400" u="none" cap="none" strike="noStrike">
                <a:solidFill>
                  <a:srgbClr val="262626"/>
                </a:solidFill>
                <a:latin typeface="Calibri"/>
                <a:ea typeface="Calibri"/>
                <a:cs typeface="Calibri"/>
                <a:sym typeface="Calibri"/>
              </a:rPr>
              <a:t> las diversas tecnologías y herramientas que existen para integrar aplicaciones.</a:t>
            </a:r>
            <a:endParaRPr/>
          </a:p>
          <a:p>
            <a:pPr indent="-76200" lvl="0" marL="177800" marR="0" rtl="0" algn="l">
              <a:lnSpc>
                <a:spcPct val="100000"/>
              </a:lnSpc>
              <a:spcBef>
                <a:spcPts val="0"/>
              </a:spcBef>
              <a:spcAft>
                <a:spcPts val="0"/>
              </a:spcAft>
              <a:buClr>
                <a:srgbClr val="EE4639"/>
              </a:buClr>
              <a:buSzPts val="1400"/>
              <a:buFont typeface="Arial"/>
              <a:buNone/>
            </a:pPr>
            <a:r>
              <a:t/>
            </a:r>
            <a:endParaRPr b="0" i="0" sz="1400" u="none" cap="none" strike="noStrike">
              <a:solidFill>
                <a:srgbClr val="262626"/>
              </a:solidFill>
              <a:latin typeface="Calibri"/>
              <a:ea typeface="Calibri"/>
              <a:cs typeface="Calibri"/>
              <a:sym typeface="Calibri"/>
            </a:endParaRPr>
          </a:p>
          <a:p>
            <a:pPr indent="-165100" lvl="0" marL="177800" marR="0" rtl="0" algn="l">
              <a:lnSpc>
                <a:spcPct val="100000"/>
              </a:lnSpc>
              <a:spcBef>
                <a:spcPts val="0"/>
              </a:spcBef>
              <a:spcAft>
                <a:spcPts val="0"/>
              </a:spcAft>
              <a:buClr>
                <a:srgbClr val="EE4639"/>
              </a:buClr>
              <a:buSzPts val="1400"/>
              <a:buFont typeface="Arial"/>
              <a:buChar char="•"/>
            </a:pPr>
            <a:r>
              <a:rPr b="1" i="0" lang="es-ES" sz="1400" u="none" cap="none" strike="noStrike">
                <a:solidFill>
                  <a:srgbClr val="262626"/>
                </a:solidFill>
                <a:latin typeface="Calibri"/>
                <a:ea typeface="Calibri"/>
                <a:cs typeface="Calibri"/>
                <a:sym typeface="Calibri"/>
              </a:rPr>
              <a:t>Aprenderemos</a:t>
            </a:r>
            <a:r>
              <a:rPr b="0" i="0" lang="es-ES" sz="1400" u="none" cap="none" strike="noStrike">
                <a:solidFill>
                  <a:srgbClr val="262626"/>
                </a:solidFill>
                <a:latin typeface="Calibri"/>
                <a:ea typeface="Calibri"/>
                <a:cs typeface="Calibri"/>
                <a:sym typeface="Calibri"/>
              </a:rPr>
              <a:t> las estrategias de integración de aplicaciones que podrían utilizar con tecnología Java.</a:t>
            </a:r>
            <a:endParaRPr/>
          </a:p>
          <a:p>
            <a:pPr indent="-76200" lvl="0" marL="177800" marR="0" rtl="0" algn="l">
              <a:lnSpc>
                <a:spcPct val="100000"/>
              </a:lnSpc>
              <a:spcBef>
                <a:spcPts val="0"/>
              </a:spcBef>
              <a:spcAft>
                <a:spcPts val="0"/>
              </a:spcAft>
              <a:buClr>
                <a:srgbClr val="EE4639"/>
              </a:buClr>
              <a:buSzPts val="1400"/>
              <a:buFont typeface="Arial"/>
              <a:buNone/>
            </a:pPr>
            <a:r>
              <a:t/>
            </a:r>
            <a:endParaRPr b="0" i="0" sz="1400" u="none" cap="none" strike="noStrike">
              <a:solidFill>
                <a:srgbClr val="262626"/>
              </a:solidFill>
              <a:latin typeface="Calibri"/>
              <a:ea typeface="Calibri"/>
              <a:cs typeface="Calibri"/>
              <a:sym typeface="Calibri"/>
            </a:endParaRPr>
          </a:p>
          <a:p>
            <a:pPr indent="-165100" lvl="0" marL="177800" marR="0" rtl="0" algn="l">
              <a:lnSpc>
                <a:spcPct val="100000"/>
              </a:lnSpc>
              <a:spcBef>
                <a:spcPts val="0"/>
              </a:spcBef>
              <a:spcAft>
                <a:spcPts val="0"/>
              </a:spcAft>
              <a:buClr>
                <a:srgbClr val="EE4639"/>
              </a:buClr>
              <a:buSzPts val="1400"/>
              <a:buFont typeface="Arial"/>
              <a:buChar char="•"/>
            </a:pPr>
            <a:r>
              <a:rPr b="1" i="0" lang="es-ES" sz="1400" u="none" cap="none" strike="noStrike">
                <a:solidFill>
                  <a:srgbClr val="262626"/>
                </a:solidFill>
                <a:latin typeface="Calibri"/>
                <a:ea typeface="Calibri"/>
                <a:cs typeface="Calibri"/>
                <a:sym typeface="Calibri"/>
              </a:rPr>
              <a:t>Aprenderemos</a:t>
            </a:r>
            <a:r>
              <a:rPr b="0" i="0" lang="es-ES" sz="1400" u="none" cap="none" strike="noStrike">
                <a:solidFill>
                  <a:srgbClr val="262626"/>
                </a:solidFill>
                <a:latin typeface="Calibri"/>
                <a:ea typeface="Calibri"/>
                <a:cs typeface="Calibri"/>
                <a:sym typeface="Calibri"/>
              </a:rPr>
              <a:t> las estrategias de integración de aplicaciones que podrían utilizar con tecnología Microsoft.</a:t>
            </a:r>
            <a:endParaRPr/>
          </a:p>
        </p:txBody>
      </p:sp>
      <p:pic>
        <p:nvPicPr>
          <p:cNvPr id="48" name="Google Shape;48;p41"/>
          <p:cNvPicPr preferRelativeResize="0"/>
          <p:nvPr/>
        </p:nvPicPr>
        <p:blipFill rotWithShape="1">
          <a:blip r:embed="rId3">
            <a:alphaModFix/>
          </a:blip>
          <a:srcRect b="0" l="0" r="0" t="0"/>
          <a:stretch/>
        </p:blipFill>
        <p:spPr>
          <a:xfrm>
            <a:off x="1010839" y="954885"/>
            <a:ext cx="117851" cy="121369"/>
          </a:xfrm>
          <a:prstGeom prst="rect">
            <a:avLst/>
          </a:prstGeom>
          <a:noFill/>
          <a:ln>
            <a:noFill/>
          </a:ln>
        </p:spPr>
      </p:pic>
      <p:sp>
        <p:nvSpPr>
          <p:cNvPr id="49" name="Google Shape;49;p41"/>
          <p:cNvSpPr/>
          <p:nvPr/>
        </p:nvSpPr>
        <p:spPr>
          <a:xfrm>
            <a:off x="8133347" y="163629"/>
            <a:ext cx="808522" cy="754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50" name="Google Shape;50;p41"/>
          <p:cNvPicPr preferRelativeResize="0"/>
          <p:nvPr/>
        </p:nvPicPr>
        <p:blipFill rotWithShape="1">
          <a:blip r:embed="rId4">
            <a:alphaModFix amt="42000"/>
          </a:blip>
          <a:srcRect b="0" l="0" r="0" t="0"/>
          <a:stretch/>
        </p:blipFill>
        <p:spPr>
          <a:xfrm>
            <a:off x="6986661" y="3052731"/>
            <a:ext cx="1689027" cy="2181257"/>
          </a:xfrm>
          <a:prstGeom prst="rect">
            <a:avLst/>
          </a:prstGeom>
          <a:noFill/>
          <a:ln>
            <a:noFill/>
          </a:ln>
        </p:spPr>
      </p:pic>
      <p:pic>
        <p:nvPicPr>
          <p:cNvPr id="51" name="Google Shape;51;p41"/>
          <p:cNvPicPr preferRelativeResize="0"/>
          <p:nvPr/>
        </p:nvPicPr>
        <p:blipFill rotWithShape="1">
          <a:blip r:embed="rId3">
            <a:alphaModFix/>
          </a:blip>
          <a:srcRect b="0" l="0" r="0" t="0"/>
          <a:stretch/>
        </p:blipFill>
        <p:spPr>
          <a:xfrm>
            <a:off x="1010839" y="1820873"/>
            <a:ext cx="117851" cy="121369"/>
          </a:xfrm>
          <a:prstGeom prst="rect">
            <a:avLst/>
          </a:prstGeom>
          <a:noFill/>
          <a:ln>
            <a:noFill/>
          </a:ln>
        </p:spPr>
      </p:pic>
      <p:sp>
        <p:nvSpPr>
          <p:cNvPr id="52" name="Google Shape;52;p41"/>
          <p:cNvSpPr/>
          <p:nvPr/>
        </p:nvSpPr>
        <p:spPr>
          <a:xfrm>
            <a:off x="301556" y="5321030"/>
            <a:ext cx="8453337" cy="29183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53" name="Google Shape;53;p41"/>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INTRODUCCIÓN </a:t>
            </a:r>
            <a:endParaRPr/>
          </a:p>
        </p:txBody>
      </p:sp>
      <p:pic>
        <p:nvPicPr>
          <p:cNvPr id="54" name="Google Shape;54;p41"/>
          <p:cNvPicPr preferRelativeResize="0"/>
          <p:nvPr/>
        </p:nvPicPr>
        <p:blipFill rotWithShape="1">
          <a:blip r:embed="rId3">
            <a:alphaModFix/>
          </a:blip>
          <a:srcRect b="0" l="0" r="0" t="0"/>
          <a:stretch/>
        </p:blipFill>
        <p:spPr>
          <a:xfrm>
            <a:off x="1010839" y="2678044"/>
            <a:ext cx="117851" cy="12136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42"/>
          <p:cNvSpPr/>
          <p:nvPr/>
        </p:nvSpPr>
        <p:spPr>
          <a:xfrm>
            <a:off x="0" y="0"/>
            <a:ext cx="9144000" cy="5715000"/>
          </a:xfrm>
          <a:prstGeom prst="rect">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61" name="Google Shape;61;p42"/>
          <p:cNvSpPr txBox="1"/>
          <p:nvPr/>
        </p:nvSpPr>
        <p:spPr>
          <a:xfrm>
            <a:off x="1008063" y="3169972"/>
            <a:ext cx="4428718" cy="775597"/>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s-ES" sz="2800" u="none" cap="none" strike="noStrike">
                <a:solidFill>
                  <a:schemeClr val="lt1"/>
                </a:solidFill>
                <a:latin typeface="Arial"/>
                <a:ea typeface="Arial"/>
                <a:cs typeface="Arial"/>
                <a:sym typeface="Arial"/>
              </a:rPr>
              <a:t>INTEGRACIÓN DE </a:t>
            </a:r>
            <a:r>
              <a:rPr b="1" i="0" lang="es-ES" sz="2800" u="none" cap="none" strike="noStrike">
                <a:solidFill>
                  <a:schemeClr val="lt1"/>
                </a:solidFill>
                <a:latin typeface="Arial"/>
                <a:ea typeface="Arial"/>
                <a:cs typeface="Arial"/>
                <a:sym typeface="Arial"/>
              </a:rPr>
              <a:t>APLICACIONES</a:t>
            </a:r>
            <a:endParaRPr b="1" i="0" sz="1600" u="none" cap="none" strike="noStrike">
              <a:solidFill>
                <a:schemeClr val="lt1"/>
              </a:solidFill>
              <a:latin typeface="Arial"/>
              <a:ea typeface="Arial"/>
              <a:cs typeface="Arial"/>
              <a:sym typeface="Arial"/>
            </a:endParaRPr>
          </a:p>
        </p:txBody>
      </p:sp>
      <p:pic>
        <p:nvPicPr>
          <p:cNvPr id="62" name="Google Shape;62;p42"/>
          <p:cNvPicPr preferRelativeResize="0"/>
          <p:nvPr/>
        </p:nvPicPr>
        <p:blipFill rotWithShape="1">
          <a:blip r:embed="rId3">
            <a:alphaModFix/>
          </a:blip>
          <a:srcRect b="0" l="0" r="0" t="0"/>
          <a:stretch/>
        </p:blipFill>
        <p:spPr>
          <a:xfrm>
            <a:off x="1008063" y="2869612"/>
            <a:ext cx="195423" cy="20125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4"/>
          <p:cNvSpPr txBox="1"/>
          <p:nvPr/>
        </p:nvSpPr>
        <p:spPr>
          <a:xfrm>
            <a:off x="509864" y="919439"/>
            <a:ext cx="8165824" cy="1292662"/>
          </a:xfrm>
          <a:prstGeom prst="rect">
            <a:avLst/>
          </a:prstGeom>
          <a:noFill/>
          <a:ln>
            <a:noFill/>
          </a:ln>
        </p:spPr>
        <p:txBody>
          <a:bodyPr anchorCtr="0" anchor="t" bIns="0" lIns="0" spcFirstLastPara="1" rIns="0" wrap="square" tIns="0">
            <a:spAutoFit/>
          </a:bodyPr>
          <a:lstStyle/>
          <a:p>
            <a:pPr indent="-177800" lvl="0" marL="177800" marR="0" rtl="0" algn="l">
              <a:lnSpc>
                <a:spcPct val="100000"/>
              </a:lnSpc>
              <a:spcBef>
                <a:spcPts val="0"/>
              </a:spcBef>
              <a:spcAft>
                <a:spcPts val="0"/>
              </a:spcAft>
              <a:buClr>
                <a:schemeClr val="dk1"/>
              </a:buClr>
              <a:buSzPts val="1400"/>
              <a:buFont typeface="Arial"/>
              <a:buChar char="•"/>
            </a:pPr>
            <a:r>
              <a:rPr b="0" i="0" lang="es-ES" sz="1400" u="none" cap="none" strike="noStrike">
                <a:solidFill>
                  <a:schemeClr val="dk1"/>
                </a:solidFill>
                <a:latin typeface="Calibri"/>
                <a:ea typeface="Calibri"/>
                <a:cs typeface="Calibri"/>
                <a:sym typeface="Calibri"/>
              </a:rPr>
              <a:t>La integración de aplicaciones se refiere al proceso de conectar diferentes sistemas de software para que funcionen juntos de manera eficiente. Este proceso puede involucrar la conexión de aplicaciones internas dentro de una organización o la integración con sistemas externos, como servicios de terceros. </a:t>
            </a:r>
            <a:endParaRPr b="0" i="0" sz="1400" u="none" cap="none" strike="noStrike">
              <a:solidFill>
                <a:schemeClr val="dk1"/>
              </a:solidFill>
              <a:latin typeface="Calibri"/>
              <a:ea typeface="Calibri"/>
              <a:cs typeface="Calibri"/>
              <a:sym typeface="Calibri"/>
            </a:endParaRPr>
          </a:p>
          <a:p>
            <a:pPr indent="-88900" lvl="0" marL="17780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Calibri"/>
              <a:ea typeface="Calibri"/>
              <a:cs typeface="Calibri"/>
              <a:sym typeface="Calibri"/>
            </a:endParaRPr>
          </a:p>
          <a:p>
            <a:pPr indent="-177800" lvl="0" marL="177800" marR="0" rtl="0" algn="l">
              <a:lnSpc>
                <a:spcPct val="100000"/>
              </a:lnSpc>
              <a:spcBef>
                <a:spcPts val="0"/>
              </a:spcBef>
              <a:spcAft>
                <a:spcPts val="0"/>
              </a:spcAft>
              <a:buClr>
                <a:schemeClr val="dk1"/>
              </a:buClr>
              <a:buSzPts val="1400"/>
              <a:buFont typeface="Arial"/>
              <a:buChar char="•"/>
            </a:pPr>
            <a:r>
              <a:rPr b="0" i="0" lang="es-ES" sz="1400" u="none" cap="none" strike="noStrike">
                <a:solidFill>
                  <a:schemeClr val="dk1"/>
                </a:solidFill>
                <a:latin typeface="Calibri"/>
                <a:ea typeface="Calibri"/>
                <a:cs typeface="Calibri"/>
                <a:sym typeface="Calibri"/>
              </a:rPr>
              <a:t>El objetivo principal de la integración de aplicaciones es mejorar el flujo de información, optimizar procesos y garantizar que los sistemas interactúen sin problemas.</a:t>
            </a:r>
            <a:endParaRPr b="0" i="0" sz="1400" u="none" cap="none" strike="noStrike">
              <a:solidFill>
                <a:schemeClr val="dk1"/>
              </a:solidFill>
              <a:latin typeface="Calibri"/>
              <a:ea typeface="Calibri"/>
              <a:cs typeface="Calibri"/>
              <a:sym typeface="Calibri"/>
            </a:endParaRPr>
          </a:p>
        </p:txBody>
      </p:sp>
      <p:sp>
        <p:nvSpPr>
          <p:cNvPr id="69" name="Google Shape;69;p4"/>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INTEGRACIÓN DE APLICACIONES </a:t>
            </a:r>
            <a:endParaRPr/>
          </a:p>
        </p:txBody>
      </p:sp>
      <p:grpSp>
        <p:nvGrpSpPr>
          <p:cNvPr id="70" name="Google Shape;70;p4"/>
          <p:cNvGrpSpPr/>
          <p:nvPr/>
        </p:nvGrpSpPr>
        <p:grpSpPr>
          <a:xfrm>
            <a:off x="2647122" y="2308852"/>
            <a:ext cx="3849755" cy="2961069"/>
            <a:chOff x="2653748" y="1917918"/>
            <a:chExt cx="3849755" cy="2961069"/>
          </a:xfrm>
        </p:grpSpPr>
        <p:pic>
          <p:nvPicPr>
            <p:cNvPr id="71" name="Google Shape;71;p4"/>
            <p:cNvPicPr preferRelativeResize="0"/>
            <p:nvPr/>
          </p:nvPicPr>
          <p:blipFill rotWithShape="1">
            <a:blip r:embed="rId3">
              <a:alphaModFix/>
            </a:blip>
            <a:srcRect b="0" l="3206" r="0" t="0"/>
            <a:stretch/>
          </p:blipFill>
          <p:spPr>
            <a:xfrm>
              <a:off x="2653748" y="1917918"/>
              <a:ext cx="3849755" cy="2961069"/>
            </a:xfrm>
            <a:prstGeom prst="rect">
              <a:avLst/>
            </a:prstGeom>
            <a:noFill/>
            <a:ln>
              <a:noFill/>
            </a:ln>
          </p:spPr>
        </p:pic>
        <p:sp>
          <p:nvSpPr>
            <p:cNvPr id="72" name="Google Shape;72;p4"/>
            <p:cNvSpPr/>
            <p:nvPr/>
          </p:nvSpPr>
          <p:spPr>
            <a:xfrm>
              <a:off x="3962400" y="3518451"/>
              <a:ext cx="1126435" cy="642731"/>
            </a:xfrm>
            <a:prstGeom prst="rect">
              <a:avLst/>
            </a:prstGeom>
            <a:solidFill>
              <a:srgbClr val="5DCA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s-ES" sz="1400" u="none" cap="none" strike="noStrike">
                  <a:solidFill>
                    <a:schemeClr val="dk1"/>
                  </a:solidFill>
                  <a:latin typeface="Calibri"/>
                  <a:ea typeface="Calibri"/>
                  <a:cs typeface="Calibri"/>
                  <a:sym typeface="Calibri"/>
                </a:rPr>
                <a:t>Application Integration</a:t>
              </a:r>
              <a:endParaRPr/>
            </a:p>
          </p:txBody>
        </p:sp>
        <p:sp>
          <p:nvSpPr>
            <p:cNvPr id="73" name="Google Shape;73;p4"/>
            <p:cNvSpPr/>
            <p:nvPr/>
          </p:nvSpPr>
          <p:spPr>
            <a:xfrm>
              <a:off x="5735718" y="2749827"/>
              <a:ext cx="689114" cy="689114"/>
            </a:xfrm>
            <a:prstGeom prst="ellipse">
              <a:avLst/>
            </a:prstGeom>
            <a:solidFill>
              <a:srgbClr val="DD4D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s-ES" sz="600" u="none" cap="none" strike="noStrike">
                  <a:solidFill>
                    <a:schemeClr val="lt1"/>
                  </a:solidFill>
                  <a:latin typeface="Calibri"/>
                  <a:ea typeface="Calibri"/>
                  <a:cs typeface="Calibri"/>
                  <a:sym typeface="Calibri"/>
                </a:rPr>
                <a:t>BUSINESS</a:t>
              </a:r>
              <a:endParaRPr/>
            </a:p>
            <a:p>
              <a:pPr indent="0" lvl="0" marL="0" marR="0" rtl="0" algn="ctr">
                <a:lnSpc>
                  <a:spcPct val="100000"/>
                </a:lnSpc>
                <a:spcBef>
                  <a:spcPts val="0"/>
                </a:spcBef>
                <a:spcAft>
                  <a:spcPts val="0"/>
                </a:spcAft>
                <a:buNone/>
              </a:pPr>
              <a:r>
                <a:rPr b="1" i="0" lang="es-ES" sz="600" u="none" cap="none" strike="noStrike">
                  <a:solidFill>
                    <a:schemeClr val="lt1"/>
                  </a:solidFill>
                  <a:latin typeface="Calibri"/>
                  <a:ea typeface="Calibri"/>
                  <a:cs typeface="Calibri"/>
                  <a:sym typeface="Calibri"/>
                </a:rPr>
                <a:t>INTELLIGENCE</a:t>
              </a:r>
              <a:endParaRPr/>
            </a:p>
          </p:txBody>
        </p:sp>
        <p:sp>
          <p:nvSpPr>
            <p:cNvPr id="74" name="Google Shape;74;p4"/>
            <p:cNvSpPr/>
            <p:nvPr/>
          </p:nvSpPr>
          <p:spPr>
            <a:xfrm>
              <a:off x="3736572" y="2297951"/>
              <a:ext cx="768927" cy="768927"/>
            </a:xfrm>
            <a:prstGeom prst="ellipse">
              <a:avLst/>
            </a:prstGeom>
            <a:solidFill>
              <a:srgbClr val="08896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s-ES" sz="700" u="none" cap="none" strike="noStrike">
                  <a:solidFill>
                    <a:schemeClr val="lt1"/>
                  </a:solidFill>
                  <a:latin typeface="Calibri"/>
                  <a:ea typeface="Calibri"/>
                  <a:cs typeface="Calibri"/>
                  <a:sym typeface="Calibri"/>
                </a:rPr>
                <a:t>BUSINESS</a:t>
              </a:r>
              <a:endParaRPr/>
            </a:p>
            <a:p>
              <a:pPr indent="0" lvl="0" marL="0" marR="0" rtl="0" algn="ctr">
                <a:lnSpc>
                  <a:spcPct val="100000"/>
                </a:lnSpc>
                <a:spcBef>
                  <a:spcPts val="0"/>
                </a:spcBef>
                <a:spcAft>
                  <a:spcPts val="0"/>
                </a:spcAft>
                <a:buNone/>
              </a:pPr>
              <a:r>
                <a:rPr b="1" i="0" lang="es-ES" sz="700" u="none" cap="none" strike="noStrike">
                  <a:solidFill>
                    <a:schemeClr val="lt1"/>
                  </a:solidFill>
                  <a:latin typeface="Calibri"/>
                  <a:ea typeface="Calibri"/>
                  <a:cs typeface="Calibri"/>
                  <a:sym typeface="Calibri"/>
                </a:rPr>
                <a:t>INTELLIGENCE</a:t>
              </a:r>
              <a:endParaRPr/>
            </a:p>
          </p:txBody>
        </p:sp>
        <p:sp>
          <p:nvSpPr>
            <p:cNvPr id="75" name="Google Shape;75;p4"/>
            <p:cNvSpPr/>
            <p:nvPr/>
          </p:nvSpPr>
          <p:spPr>
            <a:xfrm>
              <a:off x="2773642" y="4206240"/>
              <a:ext cx="580541" cy="580541"/>
            </a:xfrm>
            <a:prstGeom prst="ellipse">
              <a:avLst/>
            </a:prstGeom>
            <a:solidFill>
              <a:srgbClr val="08896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s-ES" sz="700" u="none" cap="none" strike="noStrike">
                  <a:solidFill>
                    <a:schemeClr val="lt1"/>
                  </a:solidFill>
                  <a:latin typeface="Calibri"/>
                  <a:ea typeface="Calibri"/>
                  <a:cs typeface="Calibri"/>
                  <a:sym typeface="Calibri"/>
                </a:rPr>
                <a:t>INTERNET PORTALS</a:t>
              </a:r>
              <a:endParaRPr/>
            </a:p>
          </p:txBody>
        </p:sp>
        <p:sp>
          <p:nvSpPr>
            <p:cNvPr id="76" name="Google Shape;76;p4"/>
            <p:cNvSpPr/>
            <p:nvPr/>
          </p:nvSpPr>
          <p:spPr>
            <a:xfrm>
              <a:off x="2715452" y="3241965"/>
              <a:ext cx="709392" cy="709392"/>
            </a:xfrm>
            <a:prstGeom prst="ellipse">
              <a:avLst/>
            </a:prstGeom>
            <a:solidFill>
              <a:srgbClr val="2CA1D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s-ES" sz="700" u="none" cap="none" strike="noStrike">
                  <a:solidFill>
                    <a:schemeClr val="lt1"/>
                  </a:solidFill>
                  <a:latin typeface="Calibri"/>
                  <a:ea typeface="Calibri"/>
                  <a:cs typeface="Calibri"/>
                  <a:sym typeface="Calibri"/>
                </a:rPr>
                <a:t>e-COMMERCE</a:t>
              </a:r>
              <a:endParaRPr/>
            </a:p>
          </p:txBody>
        </p:sp>
        <p:sp>
          <p:nvSpPr>
            <p:cNvPr id="77" name="Google Shape;77;p4"/>
            <p:cNvSpPr/>
            <p:nvPr/>
          </p:nvSpPr>
          <p:spPr>
            <a:xfrm>
              <a:off x="5406785" y="2148108"/>
              <a:ext cx="516121" cy="516121"/>
            </a:xfrm>
            <a:prstGeom prst="ellipse">
              <a:avLst/>
            </a:prstGeom>
            <a:solidFill>
              <a:srgbClr val="2CA1D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s-ES" sz="800" u="none" cap="none" strike="noStrike">
                  <a:solidFill>
                    <a:schemeClr val="lt1"/>
                  </a:solidFill>
                  <a:latin typeface="Calibri"/>
                  <a:ea typeface="Calibri"/>
                  <a:cs typeface="Calibri"/>
                  <a:sym typeface="Calibri"/>
                </a:rPr>
                <a:t>WEAR HOUSE</a:t>
              </a:r>
              <a:endParaRPr/>
            </a:p>
          </p:txBody>
        </p:sp>
        <p:sp>
          <p:nvSpPr>
            <p:cNvPr id="78" name="Google Shape;78;p4"/>
            <p:cNvSpPr/>
            <p:nvPr/>
          </p:nvSpPr>
          <p:spPr>
            <a:xfrm>
              <a:off x="4850972" y="2515542"/>
              <a:ext cx="639585" cy="639585"/>
            </a:xfrm>
            <a:prstGeom prst="ellipse">
              <a:avLst/>
            </a:prstGeom>
            <a:solidFill>
              <a:srgbClr val="99BB5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s-ES" sz="700" u="none" cap="none" strike="noStrike">
                  <a:solidFill>
                    <a:schemeClr val="lt1"/>
                  </a:solidFill>
                  <a:latin typeface="Calibri"/>
                  <a:ea typeface="Calibri"/>
                  <a:cs typeface="Calibri"/>
                  <a:sym typeface="Calibri"/>
                </a:rPr>
                <a:t>FINANCIAL SYTEMS</a:t>
              </a:r>
              <a:endParaRPr/>
            </a:p>
          </p:txBody>
        </p:sp>
        <p:sp>
          <p:nvSpPr>
            <p:cNvPr id="79" name="Google Shape;79;p4"/>
            <p:cNvSpPr/>
            <p:nvPr/>
          </p:nvSpPr>
          <p:spPr>
            <a:xfrm>
              <a:off x="4405081" y="1950384"/>
              <a:ext cx="555903" cy="555903"/>
            </a:xfrm>
            <a:prstGeom prst="ellipse">
              <a:avLst/>
            </a:prstGeom>
            <a:solidFill>
              <a:srgbClr val="F6822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s-ES" sz="800" u="none" cap="none" strike="noStrike">
                  <a:solidFill>
                    <a:schemeClr val="lt1"/>
                  </a:solidFill>
                  <a:latin typeface="Calibri"/>
                  <a:ea typeface="Calibri"/>
                  <a:cs typeface="Calibri"/>
                  <a:sym typeface="Calibri"/>
                </a:rPr>
                <a:t>THIRD PARTIES</a:t>
              </a:r>
              <a:endParaRPr/>
            </a:p>
          </p:txBody>
        </p:sp>
        <p:sp>
          <p:nvSpPr>
            <p:cNvPr id="80" name="Google Shape;80;p4"/>
            <p:cNvSpPr/>
            <p:nvPr/>
          </p:nvSpPr>
          <p:spPr>
            <a:xfrm>
              <a:off x="3141716" y="2522612"/>
              <a:ext cx="511534" cy="511534"/>
            </a:xfrm>
            <a:prstGeom prst="ellipse">
              <a:avLst/>
            </a:prstGeom>
            <a:solidFill>
              <a:srgbClr val="FBAA2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s-ES" sz="1050" u="none" cap="none" strike="noStrike">
                  <a:solidFill>
                    <a:schemeClr val="lt1"/>
                  </a:solidFill>
                  <a:latin typeface="Calibri"/>
                  <a:ea typeface="Calibri"/>
                  <a:cs typeface="Calibri"/>
                  <a:sym typeface="Calibri"/>
                </a:rPr>
                <a:t>CRM</a:t>
              </a:r>
              <a:endParaRPr/>
            </a:p>
          </p:txBody>
        </p:sp>
        <p:sp>
          <p:nvSpPr>
            <p:cNvPr id="81" name="Google Shape;81;p4"/>
            <p:cNvSpPr/>
            <p:nvPr/>
          </p:nvSpPr>
          <p:spPr>
            <a:xfrm>
              <a:off x="5750300" y="4198494"/>
              <a:ext cx="595756" cy="595756"/>
            </a:xfrm>
            <a:prstGeom prst="ellipse">
              <a:avLst/>
            </a:prstGeom>
            <a:solidFill>
              <a:srgbClr val="5DCAE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s-ES" sz="800" u="none" cap="none" strike="noStrike">
                  <a:solidFill>
                    <a:schemeClr val="lt1"/>
                  </a:solidFill>
                  <a:latin typeface="Calibri"/>
                  <a:ea typeface="Calibri"/>
                  <a:cs typeface="Calibri"/>
                  <a:sym typeface="Calibri"/>
                </a:rPr>
                <a:t>LEGACY SYSTEMS</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5"/>
          <p:cNvSpPr txBox="1"/>
          <p:nvPr/>
        </p:nvSpPr>
        <p:spPr>
          <a:xfrm>
            <a:off x="509864" y="919439"/>
            <a:ext cx="7994204"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1600" u="none" cap="none" strike="noStrike">
                <a:solidFill>
                  <a:schemeClr val="dk1"/>
                </a:solidFill>
                <a:highlight>
                  <a:srgbClr val="FFFFFF"/>
                </a:highlight>
                <a:latin typeface="Calibri"/>
                <a:ea typeface="Calibri"/>
                <a:cs typeface="Calibri"/>
                <a:sym typeface="Calibri"/>
              </a:rPr>
              <a:t>ESTRATEGIAS DE INTEGRACIÓN</a:t>
            </a:r>
            <a:endParaRPr b="0" i="0" sz="1600" u="none" cap="none" strike="noStrike">
              <a:solidFill>
                <a:schemeClr val="dk1"/>
              </a:solidFill>
              <a:latin typeface="Arial"/>
              <a:ea typeface="Arial"/>
              <a:cs typeface="Arial"/>
              <a:sym typeface="Arial"/>
            </a:endParaRPr>
          </a:p>
        </p:txBody>
      </p:sp>
      <p:sp>
        <p:nvSpPr>
          <p:cNvPr id="88" name="Google Shape;88;p5"/>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INTEGRACIÓN DE APLICACIONES </a:t>
            </a:r>
            <a:endParaRPr/>
          </a:p>
        </p:txBody>
      </p:sp>
      <p:grpSp>
        <p:nvGrpSpPr>
          <p:cNvPr id="89" name="Google Shape;89;p5"/>
          <p:cNvGrpSpPr/>
          <p:nvPr/>
        </p:nvGrpSpPr>
        <p:grpSpPr>
          <a:xfrm>
            <a:off x="961306" y="1585865"/>
            <a:ext cx="7016502" cy="2860243"/>
            <a:chOff x="961306" y="1837653"/>
            <a:chExt cx="7016502" cy="2860243"/>
          </a:xfrm>
        </p:grpSpPr>
        <p:grpSp>
          <p:nvGrpSpPr>
            <p:cNvPr id="90" name="Google Shape;90;p5"/>
            <p:cNvGrpSpPr/>
            <p:nvPr/>
          </p:nvGrpSpPr>
          <p:grpSpPr>
            <a:xfrm>
              <a:off x="4538703" y="1837653"/>
              <a:ext cx="3439105" cy="2860243"/>
              <a:chOff x="3681756" y="1543608"/>
              <a:chExt cx="3439105" cy="2860243"/>
            </a:xfrm>
          </p:grpSpPr>
          <p:sp>
            <p:nvSpPr>
              <p:cNvPr id="91" name="Google Shape;91;p5"/>
              <p:cNvSpPr/>
              <p:nvPr/>
            </p:nvSpPr>
            <p:spPr>
              <a:xfrm>
                <a:off x="3897522" y="1543608"/>
                <a:ext cx="3223339" cy="501005"/>
              </a:xfrm>
              <a:prstGeom prst="roundRect">
                <a:avLst>
                  <a:gd fmla="val 18326" name="adj"/>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s-ES" sz="1500" u="none" cap="none" strike="noStrike">
                    <a:solidFill>
                      <a:schemeClr val="lt1"/>
                    </a:solidFill>
                    <a:latin typeface="Calibri"/>
                    <a:ea typeface="Calibri"/>
                    <a:cs typeface="Calibri"/>
                    <a:sym typeface="Calibri"/>
                  </a:rPr>
                  <a:t>2. Middleware</a:t>
                </a:r>
                <a:endParaRPr b="0" i="0" sz="1500" u="none" cap="none" strike="noStrike">
                  <a:solidFill>
                    <a:schemeClr val="lt1"/>
                  </a:solidFill>
                  <a:latin typeface="Arial"/>
                  <a:ea typeface="Arial"/>
                  <a:cs typeface="Arial"/>
                  <a:sym typeface="Arial"/>
                </a:endParaRPr>
              </a:p>
            </p:txBody>
          </p:sp>
          <p:sp>
            <p:nvSpPr>
              <p:cNvPr id="92" name="Google Shape;92;p5"/>
              <p:cNvSpPr/>
              <p:nvPr/>
            </p:nvSpPr>
            <p:spPr>
              <a:xfrm>
                <a:off x="3897522" y="2118159"/>
                <a:ext cx="3223339" cy="2285692"/>
              </a:xfrm>
              <a:prstGeom prst="roundRect">
                <a:avLst>
                  <a:gd fmla="val 2748" name="adj"/>
                </a:avLst>
              </a:prstGeom>
              <a:solidFill>
                <a:srgbClr val="D1EFF4"/>
              </a:solidFill>
              <a:ln>
                <a:noFill/>
              </a:ln>
            </p:spPr>
            <p:txBody>
              <a:bodyPr anchorCtr="0" anchor="t" bIns="45700" lIns="108000" spcFirstLastPara="1" rIns="108000" wrap="square" tIns="108000">
                <a:noAutofit/>
              </a:bodyPr>
              <a:lstStyle/>
              <a:p>
                <a:pPr indent="-134938" lvl="1" marL="222250" marR="0" rtl="0" algn="l">
                  <a:lnSpc>
                    <a:spcPct val="100000"/>
                  </a:lnSpc>
                  <a:spcBef>
                    <a:spcPts val="0"/>
                  </a:spcBef>
                  <a:spcAft>
                    <a:spcPts val="0"/>
                  </a:spcAft>
                  <a:buClr>
                    <a:schemeClr val="accent5"/>
                  </a:buClr>
                  <a:buSzPts val="1400"/>
                  <a:buFont typeface="Arial"/>
                  <a:buChar char="•"/>
                </a:pPr>
                <a:r>
                  <a:rPr b="1" i="0" lang="es-ES" sz="1400" u="none" cap="none" strike="noStrike">
                    <a:solidFill>
                      <a:srgbClr val="000000"/>
                    </a:solidFill>
                    <a:latin typeface="Calibri"/>
                    <a:ea typeface="Calibri"/>
                    <a:cs typeface="Calibri"/>
                    <a:sym typeface="Calibri"/>
                  </a:rPr>
                  <a:t>Descripción: </a:t>
                </a:r>
                <a:r>
                  <a:rPr b="0" i="0" lang="es-ES" sz="1400" u="none" cap="none" strike="noStrike">
                    <a:solidFill>
                      <a:srgbClr val="000000"/>
                    </a:solidFill>
                    <a:latin typeface="Calibri"/>
                    <a:ea typeface="Calibri"/>
                    <a:cs typeface="Calibri"/>
                    <a:sym typeface="Calibri"/>
                  </a:rPr>
                  <a:t>Software que actúa como intermediario para facilitar la comunicación y la gestión de datos entre aplicaciones. Incluye servidores de aplicaciones, brokers de mensajes, y más.</a:t>
                </a:r>
                <a:endParaRPr/>
              </a:p>
              <a:p>
                <a:pPr indent="-134938" lvl="1" marL="222250" marR="0" rtl="0" algn="l">
                  <a:lnSpc>
                    <a:spcPct val="100000"/>
                  </a:lnSpc>
                  <a:spcBef>
                    <a:spcPts val="300"/>
                  </a:spcBef>
                  <a:spcAft>
                    <a:spcPts val="0"/>
                  </a:spcAft>
                  <a:buClr>
                    <a:schemeClr val="accent5"/>
                  </a:buClr>
                  <a:buSzPts val="1400"/>
                  <a:buFont typeface="Arial"/>
                  <a:buChar char="•"/>
                </a:pPr>
                <a:r>
                  <a:rPr b="1" i="0" lang="es-ES" sz="1400" u="none" cap="none" strike="noStrike">
                    <a:solidFill>
                      <a:srgbClr val="000000"/>
                    </a:solidFill>
                    <a:latin typeface="Calibri"/>
                    <a:ea typeface="Calibri"/>
                    <a:cs typeface="Calibri"/>
                    <a:sym typeface="Calibri"/>
                  </a:rPr>
                  <a:t>Uso: </a:t>
                </a:r>
                <a:r>
                  <a:rPr b="0" i="0" lang="es-ES" sz="1400" u="none" cap="none" strike="noStrike">
                    <a:solidFill>
                      <a:srgbClr val="000000"/>
                    </a:solidFill>
                    <a:latin typeface="Calibri"/>
                    <a:ea typeface="Calibri"/>
                    <a:cs typeface="Calibri"/>
                    <a:sym typeface="Calibri"/>
                  </a:rPr>
                  <a:t>Mejora la interoperabilidad y escalabilidad de los sistemas al manejar la comunicación entre ellos.</a:t>
                </a:r>
                <a:endParaRPr/>
              </a:p>
              <a:p>
                <a:pPr indent="-46038" lvl="1" marL="222250" marR="0" rtl="0" algn="l">
                  <a:lnSpc>
                    <a:spcPct val="100000"/>
                  </a:lnSpc>
                  <a:spcBef>
                    <a:spcPts val="300"/>
                  </a:spcBef>
                  <a:spcAft>
                    <a:spcPts val="300"/>
                  </a:spcAft>
                  <a:buClr>
                    <a:schemeClr val="accent5"/>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nvGrpSpPr>
              <p:cNvPr id="93" name="Google Shape;93;p5"/>
              <p:cNvGrpSpPr/>
              <p:nvPr/>
            </p:nvGrpSpPr>
            <p:grpSpPr>
              <a:xfrm>
                <a:off x="3681756" y="1592237"/>
                <a:ext cx="459474" cy="403823"/>
                <a:chOff x="5892512" y="2805541"/>
                <a:chExt cx="459474" cy="403823"/>
              </a:xfrm>
            </p:grpSpPr>
            <p:sp>
              <p:nvSpPr>
                <p:cNvPr id="94" name="Google Shape;94;p5"/>
                <p:cNvSpPr/>
                <p:nvPr/>
              </p:nvSpPr>
              <p:spPr>
                <a:xfrm>
                  <a:off x="5956277" y="2824919"/>
                  <a:ext cx="395709" cy="376075"/>
                </a:xfrm>
                <a:prstGeom prst="ellipse">
                  <a:avLst/>
                </a:prstGeom>
                <a:solidFill>
                  <a:srgbClr val="0086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sp>
              <p:nvSpPr>
                <p:cNvPr id="95" name="Google Shape;95;p5"/>
                <p:cNvSpPr/>
                <p:nvPr/>
              </p:nvSpPr>
              <p:spPr>
                <a:xfrm>
                  <a:off x="5892512" y="2805541"/>
                  <a:ext cx="424906" cy="40382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sp>
              <p:nvSpPr>
                <p:cNvPr id="96" name="Google Shape;96;p5"/>
                <p:cNvSpPr/>
                <p:nvPr/>
              </p:nvSpPr>
              <p:spPr>
                <a:xfrm rot="5400000">
                  <a:off x="6076285" y="2946262"/>
                  <a:ext cx="186870" cy="122381"/>
                </a:xfrm>
                <a:prstGeom prst="triangle">
                  <a:avLst>
                    <a:gd fmla="val 50000" name="adj"/>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grpSp>
        </p:grpSp>
        <p:grpSp>
          <p:nvGrpSpPr>
            <p:cNvPr id="97" name="Google Shape;97;p5"/>
            <p:cNvGrpSpPr/>
            <p:nvPr/>
          </p:nvGrpSpPr>
          <p:grpSpPr>
            <a:xfrm>
              <a:off x="961306" y="1837653"/>
              <a:ext cx="3438254" cy="2860243"/>
              <a:chOff x="297001" y="1543608"/>
              <a:chExt cx="3438254" cy="2860243"/>
            </a:xfrm>
          </p:grpSpPr>
          <p:sp>
            <p:nvSpPr>
              <p:cNvPr id="98" name="Google Shape;98;p5"/>
              <p:cNvSpPr/>
              <p:nvPr/>
            </p:nvSpPr>
            <p:spPr>
              <a:xfrm>
                <a:off x="511916" y="1543608"/>
                <a:ext cx="3223339" cy="501005"/>
              </a:xfrm>
              <a:prstGeom prst="roundRect">
                <a:avLst>
                  <a:gd fmla="val 18326" name="adj"/>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s-ES" sz="1500" u="none" cap="none" strike="noStrike">
                    <a:solidFill>
                      <a:schemeClr val="lt1"/>
                    </a:solidFill>
                    <a:latin typeface="Calibri"/>
                    <a:ea typeface="Calibri"/>
                    <a:cs typeface="Calibri"/>
                    <a:sym typeface="Calibri"/>
                  </a:rPr>
                  <a:t>1. APIs (Interfaz de</a:t>
                </a:r>
                <a:endParaRPr/>
              </a:p>
              <a:p>
                <a:pPr indent="0" lvl="0" marL="0" marR="0" rtl="0" algn="ctr">
                  <a:lnSpc>
                    <a:spcPct val="100000"/>
                  </a:lnSpc>
                  <a:spcBef>
                    <a:spcPts val="0"/>
                  </a:spcBef>
                  <a:spcAft>
                    <a:spcPts val="0"/>
                  </a:spcAft>
                  <a:buNone/>
                </a:pPr>
                <a:r>
                  <a:rPr b="1" i="0" lang="es-ES" sz="1500" u="none" cap="none" strike="noStrike">
                    <a:solidFill>
                      <a:schemeClr val="lt1"/>
                    </a:solidFill>
                    <a:latin typeface="Calibri"/>
                    <a:ea typeface="Calibri"/>
                    <a:cs typeface="Calibri"/>
                    <a:sym typeface="Calibri"/>
                  </a:rPr>
                  <a:t>Programación de Aplicaciones)</a:t>
                </a:r>
                <a:endParaRPr b="1" i="0" sz="1500" u="none" cap="none" strike="noStrike">
                  <a:solidFill>
                    <a:schemeClr val="lt1"/>
                  </a:solidFill>
                  <a:latin typeface="Calibri"/>
                  <a:ea typeface="Calibri"/>
                  <a:cs typeface="Calibri"/>
                  <a:sym typeface="Calibri"/>
                </a:endParaRPr>
              </a:p>
            </p:txBody>
          </p:sp>
          <p:sp>
            <p:nvSpPr>
              <p:cNvPr id="99" name="Google Shape;99;p5"/>
              <p:cNvSpPr/>
              <p:nvPr/>
            </p:nvSpPr>
            <p:spPr>
              <a:xfrm>
                <a:off x="511916" y="2118159"/>
                <a:ext cx="3223339" cy="2285692"/>
              </a:xfrm>
              <a:prstGeom prst="roundRect">
                <a:avLst>
                  <a:gd fmla="val 2748" name="adj"/>
                </a:avLst>
              </a:prstGeom>
              <a:solidFill>
                <a:srgbClr val="D1EFF4"/>
              </a:solidFill>
              <a:ln>
                <a:noFill/>
              </a:ln>
            </p:spPr>
            <p:txBody>
              <a:bodyPr anchorCtr="0" anchor="t" bIns="45700" lIns="108000" spcFirstLastPara="1" rIns="108000" wrap="square" tIns="108000">
                <a:noAutofit/>
              </a:bodyPr>
              <a:lstStyle/>
              <a:p>
                <a:pPr indent="-128588" lvl="1" marL="138113" marR="0" rtl="0" algn="l">
                  <a:lnSpc>
                    <a:spcPct val="100000"/>
                  </a:lnSpc>
                  <a:spcBef>
                    <a:spcPts val="0"/>
                  </a:spcBef>
                  <a:spcAft>
                    <a:spcPts val="0"/>
                  </a:spcAft>
                  <a:buClr>
                    <a:schemeClr val="accent5"/>
                  </a:buClr>
                  <a:buSzPts val="1400"/>
                  <a:buFont typeface="Arial"/>
                  <a:buChar char="•"/>
                </a:pPr>
                <a:r>
                  <a:rPr b="1" i="0" lang="es-ES" sz="1400" u="none" cap="none" strike="noStrike">
                    <a:solidFill>
                      <a:srgbClr val="262626"/>
                    </a:solidFill>
                    <a:latin typeface="Calibri"/>
                    <a:ea typeface="Calibri"/>
                    <a:cs typeface="Calibri"/>
                    <a:sym typeface="Calibri"/>
                  </a:rPr>
                  <a:t>Descripción: </a:t>
                </a:r>
                <a:r>
                  <a:rPr b="0" i="0" lang="es-ES" sz="1400" u="none" cap="none" strike="noStrike">
                    <a:solidFill>
                      <a:srgbClr val="262626"/>
                    </a:solidFill>
                    <a:latin typeface="Calibri"/>
                    <a:ea typeface="Calibri"/>
                    <a:cs typeface="Calibri"/>
                    <a:sym typeface="Calibri"/>
                  </a:rPr>
                  <a:t>Permiten que aplicaciones diferentes se comuniquen a través de interfaces bien definidas. Las APIs pueden ser RESTful o SOAP, dependiendo de la necesidad.</a:t>
                </a:r>
                <a:endParaRPr/>
              </a:p>
              <a:p>
                <a:pPr indent="-128588" lvl="1" marL="138113" marR="0" rtl="0" algn="l">
                  <a:lnSpc>
                    <a:spcPct val="100000"/>
                  </a:lnSpc>
                  <a:spcBef>
                    <a:spcPts val="300"/>
                  </a:spcBef>
                  <a:spcAft>
                    <a:spcPts val="300"/>
                  </a:spcAft>
                  <a:buClr>
                    <a:schemeClr val="accent5"/>
                  </a:buClr>
                  <a:buSzPts val="1400"/>
                  <a:buFont typeface="Arial"/>
                  <a:buChar char="•"/>
                </a:pPr>
                <a:r>
                  <a:rPr b="1" i="0" lang="es-ES" sz="1400" u="none" cap="none" strike="noStrike">
                    <a:solidFill>
                      <a:srgbClr val="262626"/>
                    </a:solidFill>
                    <a:latin typeface="Calibri"/>
                    <a:ea typeface="Calibri"/>
                    <a:cs typeface="Calibri"/>
                    <a:sym typeface="Calibri"/>
                  </a:rPr>
                  <a:t>Uso: </a:t>
                </a:r>
                <a:r>
                  <a:rPr b="0" i="0" lang="es-ES" sz="1400" u="none" cap="none" strike="noStrike">
                    <a:solidFill>
                      <a:srgbClr val="262626"/>
                    </a:solidFill>
                    <a:latin typeface="Calibri"/>
                    <a:ea typeface="Calibri"/>
                    <a:cs typeface="Calibri"/>
                    <a:sym typeface="Calibri"/>
                  </a:rPr>
                  <a:t>Facilitan la integración de aplicaciones web, móviles y</a:t>
                </a:r>
                <a:br>
                  <a:rPr b="0" i="0" lang="es-ES" sz="1400" u="none" cap="none" strike="noStrike">
                    <a:solidFill>
                      <a:srgbClr val="262626"/>
                    </a:solidFill>
                    <a:latin typeface="Calibri"/>
                    <a:ea typeface="Calibri"/>
                    <a:cs typeface="Calibri"/>
                    <a:sym typeface="Calibri"/>
                  </a:rPr>
                </a:br>
                <a:r>
                  <a:rPr b="0" i="0" lang="es-ES" sz="1400" u="none" cap="none" strike="noStrike">
                    <a:solidFill>
                      <a:srgbClr val="262626"/>
                    </a:solidFill>
                    <a:latin typeface="Calibri"/>
                    <a:ea typeface="Calibri"/>
                    <a:cs typeface="Calibri"/>
                    <a:sym typeface="Calibri"/>
                  </a:rPr>
                  <a:t>servicios externos.</a:t>
                </a:r>
                <a:endParaRPr/>
              </a:p>
            </p:txBody>
          </p:sp>
          <p:grpSp>
            <p:nvGrpSpPr>
              <p:cNvPr id="100" name="Google Shape;100;p5"/>
              <p:cNvGrpSpPr/>
              <p:nvPr/>
            </p:nvGrpSpPr>
            <p:grpSpPr>
              <a:xfrm>
                <a:off x="297001" y="1592237"/>
                <a:ext cx="459474" cy="403823"/>
                <a:chOff x="5892512" y="2805541"/>
                <a:chExt cx="459474" cy="403823"/>
              </a:xfrm>
            </p:grpSpPr>
            <p:sp>
              <p:nvSpPr>
                <p:cNvPr id="101" name="Google Shape;101;p5"/>
                <p:cNvSpPr/>
                <p:nvPr/>
              </p:nvSpPr>
              <p:spPr>
                <a:xfrm>
                  <a:off x="5956277" y="2824919"/>
                  <a:ext cx="395709" cy="376075"/>
                </a:xfrm>
                <a:prstGeom prst="ellipse">
                  <a:avLst/>
                </a:prstGeom>
                <a:solidFill>
                  <a:srgbClr val="0086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sp>
              <p:nvSpPr>
                <p:cNvPr id="102" name="Google Shape;102;p5"/>
                <p:cNvSpPr/>
                <p:nvPr/>
              </p:nvSpPr>
              <p:spPr>
                <a:xfrm>
                  <a:off x="5892512" y="2805541"/>
                  <a:ext cx="424906" cy="40382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sp>
              <p:nvSpPr>
                <p:cNvPr id="103" name="Google Shape;103;p5"/>
                <p:cNvSpPr/>
                <p:nvPr/>
              </p:nvSpPr>
              <p:spPr>
                <a:xfrm rot="5400000">
                  <a:off x="6076285" y="2946262"/>
                  <a:ext cx="186870" cy="122381"/>
                </a:xfrm>
                <a:prstGeom prst="triangle">
                  <a:avLst>
                    <a:gd fmla="val 50000" name="adj"/>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grpSp>
        </p:gr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6"/>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INTEGRACIÓN DE APLICACIONES </a:t>
            </a:r>
            <a:endParaRPr/>
          </a:p>
        </p:txBody>
      </p:sp>
      <p:grpSp>
        <p:nvGrpSpPr>
          <p:cNvPr id="110" name="Google Shape;110;p6"/>
          <p:cNvGrpSpPr/>
          <p:nvPr/>
        </p:nvGrpSpPr>
        <p:grpSpPr>
          <a:xfrm>
            <a:off x="961306" y="1585865"/>
            <a:ext cx="7016502" cy="2860243"/>
            <a:chOff x="961306" y="1837653"/>
            <a:chExt cx="7016502" cy="2860243"/>
          </a:xfrm>
        </p:grpSpPr>
        <p:grpSp>
          <p:nvGrpSpPr>
            <p:cNvPr id="111" name="Google Shape;111;p6"/>
            <p:cNvGrpSpPr/>
            <p:nvPr/>
          </p:nvGrpSpPr>
          <p:grpSpPr>
            <a:xfrm>
              <a:off x="4538703" y="1837653"/>
              <a:ext cx="3439105" cy="2860243"/>
              <a:chOff x="3681756" y="1543608"/>
              <a:chExt cx="3439105" cy="2860243"/>
            </a:xfrm>
          </p:grpSpPr>
          <p:sp>
            <p:nvSpPr>
              <p:cNvPr id="112" name="Google Shape;112;p6"/>
              <p:cNvSpPr/>
              <p:nvPr/>
            </p:nvSpPr>
            <p:spPr>
              <a:xfrm>
                <a:off x="3897522" y="1543608"/>
                <a:ext cx="3223339" cy="501005"/>
              </a:xfrm>
              <a:prstGeom prst="roundRect">
                <a:avLst>
                  <a:gd fmla="val 18326" name="adj"/>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s-ES" sz="1500" u="none" cap="none" strike="noStrike">
                    <a:solidFill>
                      <a:schemeClr val="lt1"/>
                    </a:solidFill>
                    <a:latin typeface="Calibri"/>
                    <a:ea typeface="Calibri"/>
                    <a:cs typeface="Calibri"/>
                    <a:sym typeface="Calibri"/>
                  </a:rPr>
                  <a:t>   4. ETL (Extract, Transform, Load)</a:t>
                </a:r>
                <a:endParaRPr b="0" i="0" sz="1500" u="none" cap="none" strike="noStrike">
                  <a:solidFill>
                    <a:schemeClr val="lt1"/>
                  </a:solidFill>
                  <a:latin typeface="Arial"/>
                  <a:ea typeface="Arial"/>
                  <a:cs typeface="Arial"/>
                  <a:sym typeface="Arial"/>
                </a:endParaRPr>
              </a:p>
            </p:txBody>
          </p:sp>
          <p:sp>
            <p:nvSpPr>
              <p:cNvPr id="113" name="Google Shape;113;p6"/>
              <p:cNvSpPr/>
              <p:nvPr/>
            </p:nvSpPr>
            <p:spPr>
              <a:xfrm>
                <a:off x="3897522" y="2118159"/>
                <a:ext cx="3223339" cy="2285692"/>
              </a:xfrm>
              <a:prstGeom prst="roundRect">
                <a:avLst>
                  <a:gd fmla="val 2748" name="adj"/>
                </a:avLst>
              </a:prstGeom>
              <a:solidFill>
                <a:srgbClr val="D1EFF4"/>
              </a:solidFill>
              <a:ln>
                <a:noFill/>
              </a:ln>
            </p:spPr>
            <p:txBody>
              <a:bodyPr anchorCtr="0" anchor="t" bIns="45700" lIns="108000" spcFirstLastPara="1" rIns="108000" wrap="square" tIns="108000">
                <a:noAutofit/>
              </a:bodyPr>
              <a:lstStyle/>
              <a:p>
                <a:pPr indent="-134938" lvl="1" marL="222250" marR="0" rtl="0" algn="l">
                  <a:lnSpc>
                    <a:spcPct val="100000"/>
                  </a:lnSpc>
                  <a:spcBef>
                    <a:spcPts val="0"/>
                  </a:spcBef>
                  <a:spcAft>
                    <a:spcPts val="0"/>
                  </a:spcAft>
                  <a:buClr>
                    <a:schemeClr val="accent5"/>
                  </a:buClr>
                  <a:buSzPts val="1400"/>
                  <a:buFont typeface="Arial"/>
                  <a:buChar char="•"/>
                </a:pPr>
                <a:r>
                  <a:rPr b="1" i="0" lang="es-ES" sz="1400" u="none" cap="none" strike="noStrike">
                    <a:solidFill>
                      <a:srgbClr val="000000"/>
                    </a:solidFill>
                    <a:latin typeface="Calibri"/>
                    <a:ea typeface="Calibri"/>
                    <a:cs typeface="Calibri"/>
                    <a:sym typeface="Calibri"/>
                  </a:rPr>
                  <a:t>Descripción: </a:t>
                </a:r>
                <a:r>
                  <a:rPr b="0" i="0" lang="es-ES" sz="1400" u="none" cap="none" strike="noStrike">
                    <a:solidFill>
                      <a:srgbClr val="000000"/>
                    </a:solidFill>
                    <a:latin typeface="Calibri"/>
                    <a:ea typeface="Calibri"/>
                    <a:cs typeface="Calibri"/>
                    <a:sym typeface="Calibri"/>
                  </a:rPr>
                  <a:t>Procesos utilizados para extraer datos de diversas fuentes, transformarlos según las reglas de negocio, y cargarlos en sistemas de destino, como almacenes de datos.</a:t>
                </a:r>
                <a:endParaRPr/>
              </a:p>
              <a:p>
                <a:pPr indent="-134938" lvl="1" marL="222250" marR="0" rtl="0" algn="l">
                  <a:lnSpc>
                    <a:spcPct val="100000"/>
                  </a:lnSpc>
                  <a:spcBef>
                    <a:spcPts val="300"/>
                  </a:spcBef>
                  <a:spcAft>
                    <a:spcPts val="0"/>
                  </a:spcAft>
                  <a:buClr>
                    <a:schemeClr val="accent5"/>
                  </a:buClr>
                  <a:buSzPts val="1400"/>
                  <a:buFont typeface="Arial"/>
                  <a:buChar char="•"/>
                </a:pPr>
                <a:r>
                  <a:rPr b="1" i="0" lang="es-ES" sz="1400" u="none" cap="none" strike="noStrike">
                    <a:solidFill>
                      <a:srgbClr val="000000"/>
                    </a:solidFill>
                    <a:latin typeface="Calibri"/>
                    <a:ea typeface="Calibri"/>
                    <a:cs typeface="Calibri"/>
                    <a:sym typeface="Calibri"/>
                  </a:rPr>
                  <a:t>Uso: </a:t>
                </a:r>
                <a:r>
                  <a:rPr b="0" i="0" lang="es-ES" sz="1400" u="none" cap="none" strike="noStrike">
                    <a:solidFill>
                      <a:srgbClr val="000000"/>
                    </a:solidFill>
                    <a:latin typeface="Calibri"/>
                    <a:ea typeface="Calibri"/>
                    <a:cs typeface="Calibri"/>
                    <a:sym typeface="Calibri"/>
                  </a:rPr>
                  <a:t>Facilita la integración de datos entre diferentes sistemas y plataformas.</a:t>
                </a:r>
                <a:endParaRPr/>
              </a:p>
              <a:p>
                <a:pPr indent="-46038" lvl="1" marL="222250" marR="0" rtl="0" algn="l">
                  <a:lnSpc>
                    <a:spcPct val="100000"/>
                  </a:lnSpc>
                  <a:spcBef>
                    <a:spcPts val="300"/>
                  </a:spcBef>
                  <a:spcAft>
                    <a:spcPts val="300"/>
                  </a:spcAft>
                  <a:buClr>
                    <a:schemeClr val="accent5"/>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nvGrpSpPr>
              <p:cNvPr id="114" name="Google Shape;114;p6"/>
              <p:cNvGrpSpPr/>
              <p:nvPr/>
            </p:nvGrpSpPr>
            <p:grpSpPr>
              <a:xfrm>
                <a:off x="3681756" y="1592237"/>
                <a:ext cx="459474" cy="403823"/>
                <a:chOff x="5892512" y="2805541"/>
                <a:chExt cx="459474" cy="403823"/>
              </a:xfrm>
            </p:grpSpPr>
            <p:sp>
              <p:nvSpPr>
                <p:cNvPr id="115" name="Google Shape;115;p6"/>
                <p:cNvSpPr/>
                <p:nvPr/>
              </p:nvSpPr>
              <p:spPr>
                <a:xfrm>
                  <a:off x="5956277" y="2824919"/>
                  <a:ext cx="395709" cy="376075"/>
                </a:xfrm>
                <a:prstGeom prst="ellipse">
                  <a:avLst/>
                </a:prstGeom>
                <a:solidFill>
                  <a:srgbClr val="0086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sp>
              <p:nvSpPr>
                <p:cNvPr id="116" name="Google Shape;116;p6"/>
                <p:cNvSpPr/>
                <p:nvPr/>
              </p:nvSpPr>
              <p:spPr>
                <a:xfrm>
                  <a:off x="5892512" y="2805541"/>
                  <a:ext cx="424906" cy="40382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sp>
              <p:nvSpPr>
                <p:cNvPr id="117" name="Google Shape;117;p6"/>
                <p:cNvSpPr/>
                <p:nvPr/>
              </p:nvSpPr>
              <p:spPr>
                <a:xfrm rot="5400000">
                  <a:off x="6076285" y="2946262"/>
                  <a:ext cx="186870" cy="122381"/>
                </a:xfrm>
                <a:prstGeom prst="triangle">
                  <a:avLst>
                    <a:gd fmla="val 50000" name="adj"/>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grpSp>
        </p:grpSp>
        <p:grpSp>
          <p:nvGrpSpPr>
            <p:cNvPr id="118" name="Google Shape;118;p6"/>
            <p:cNvGrpSpPr/>
            <p:nvPr/>
          </p:nvGrpSpPr>
          <p:grpSpPr>
            <a:xfrm>
              <a:off x="961306" y="1837653"/>
              <a:ext cx="3438254" cy="2860243"/>
              <a:chOff x="297001" y="1543608"/>
              <a:chExt cx="3438254" cy="2860243"/>
            </a:xfrm>
          </p:grpSpPr>
          <p:sp>
            <p:nvSpPr>
              <p:cNvPr id="119" name="Google Shape;119;p6"/>
              <p:cNvSpPr/>
              <p:nvPr/>
            </p:nvSpPr>
            <p:spPr>
              <a:xfrm>
                <a:off x="511916" y="1543608"/>
                <a:ext cx="3223339" cy="501005"/>
              </a:xfrm>
              <a:prstGeom prst="roundRect">
                <a:avLst>
                  <a:gd fmla="val 18326" name="adj"/>
                </a:avLst>
              </a:prstGeom>
              <a:solidFill>
                <a:schemeClr val="accent5"/>
              </a:solidFill>
              <a:ln>
                <a:noFill/>
              </a:ln>
            </p:spPr>
            <p:txBody>
              <a:bodyPr anchorCtr="0" anchor="ctr" bIns="45700" lIns="91425" spcFirstLastPara="1" rIns="91425" wrap="square" tIns="45700">
                <a:noAutofit/>
              </a:bodyPr>
              <a:lstStyle/>
              <a:p>
                <a:pPr indent="-179388" lvl="0" marL="179388" marR="0" rtl="0" algn="ctr">
                  <a:lnSpc>
                    <a:spcPct val="100000"/>
                  </a:lnSpc>
                  <a:spcBef>
                    <a:spcPts val="0"/>
                  </a:spcBef>
                  <a:spcAft>
                    <a:spcPts val="0"/>
                  </a:spcAft>
                  <a:buClr>
                    <a:srgbClr val="000000"/>
                  </a:buClr>
                  <a:buSzPts val="1500"/>
                  <a:buFont typeface="Arial"/>
                  <a:buNone/>
                </a:pPr>
                <a:r>
                  <a:rPr b="1" i="0" lang="es-ES" sz="1500" u="none" cap="none" strike="noStrike">
                    <a:solidFill>
                      <a:schemeClr val="lt1"/>
                    </a:solidFill>
                    <a:latin typeface="Calibri"/>
                    <a:ea typeface="Calibri"/>
                    <a:cs typeface="Calibri"/>
                    <a:sym typeface="Calibri"/>
                  </a:rPr>
                  <a:t>3. Mensajería Asíncrona</a:t>
                </a:r>
                <a:endParaRPr b="1" i="0" sz="1500" u="none" cap="none" strike="noStrike">
                  <a:solidFill>
                    <a:schemeClr val="lt1"/>
                  </a:solidFill>
                  <a:latin typeface="Calibri"/>
                  <a:ea typeface="Calibri"/>
                  <a:cs typeface="Calibri"/>
                  <a:sym typeface="Calibri"/>
                </a:endParaRPr>
              </a:p>
            </p:txBody>
          </p:sp>
          <p:sp>
            <p:nvSpPr>
              <p:cNvPr id="120" name="Google Shape;120;p6"/>
              <p:cNvSpPr/>
              <p:nvPr/>
            </p:nvSpPr>
            <p:spPr>
              <a:xfrm>
                <a:off x="511916" y="2118159"/>
                <a:ext cx="3223339" cy="2285692"/>
              </a:xfrm>
              <a:prstGeom prst="roundRect">
                <a:avLst>
                  <a:gd fmla="val 2748" name="adj"/>
                </a:avLst>
              </a:prstGeom>
              <a:solidFill>
                <a:srgbClr val="D1EFF4"/>
              </a:solidFill>
              <a:ln>
                <a:noFill/>
              </a:ln>
            </p:spPr>
            <p:txBody>
              <a:bodyPr anchorCtr="0" anchor="t" bIns="45700" lIns="108000" spcFirstLastPara="1" rIns="108000" wrap="square" tIns="108000">
                <a:noAutofit/>
              </a:bodyPr>
              <a:lstStyle/>
              <a:p>
                <a:pPr indent="-128588" lvl="1" marL="138113" marR="0" rtl="0" algn="l">
                  <a:lnSpc>
                    <a:spcPct val="100000"/>
                  </a:lnSpc>
                  <a:spcBef>
                    <a:spcPts val="0"/>
                  </a:spcBef>
                  <a:spcAft>
                    <a:spcPts val="0"/>
                  </a:spcAft>
                  <a:buClr>
                    <a:schemeClr val="accent5"/>
                  </a:buClr>
                  <a:buSzPts val="1400"/>
                  <a:buFont typeface="Arial"/>
                  <a:buChar char="•"/>
                </a:pPr>
                <a:r>
                  <a:rPr b="1" i="0" lang="es-ES" sz="1400" u="none" cap="none" strike="noStrike">
                    <a:solidFill>
                      <a:srgbClr val="262626"/>
                    </a:solidFill>
                    <a:latin typeface="Calibri"/>
                    <a:ea typeface="Calibri"/>
                    <a:cs typeface="Calibri"/>
                    <a:sym typeface="Calibri"/>
                  </a:rPr>
                  <a:t>Descripción: </a:t>
                </a:r>
                <a:r>
                  <a:rPr b="0" i="0" lang="es-ES" sz="1400" u="none" cap="none" strike="noStrike">
                    <a:solidFill>
                      <a:srgbClr val="262626"/>
                    </a:solidFill>
                    <a:latin typeface="Calibri"/>
                    <a:ea typeface="Calibri"/>
                    <a:cs typeface="Calibri"/>
                    <a:sym typeface="Calibri"/>
                  </a:rPr>
                  <a:t>Utiliza sistemas de mensajería para enviar datos entre aplicaciones sin requerir una respuesta inmediata, lo que reduce el acoplamiento entre sistemas.</a:t>
                </a:r>
                <a:endParaRPr b="1" i="0" sz="1400" u="none" cap="none" strike="noStrike">
                  <a:solidFill>
                    <a:srgbClr val="262626"/>
                  </a:solidFill>
                  <a:latin typeface="Calibri"/>
                  <a:ea typeface="Calibri"/>
                  <a:cs typeface="Calibri"/>
                  <a:sym typeface="Calibri"/>
                </a:endParaRPr>
              </a:p>
              <a:p>
                <a:pPr indent="-128588" lvl="1" marL="138113" marR="0" rtl="0" algn="l">
                  <a:lnSpc>
                    <a:spcPct val="100000"/>
                  </a:lnSpc>
                  <a:spcBef>
                    <a:spcPts val="300"/>
                  </a:spcBef>
                  <a:spcAft>
                    <a:spcPts val="300"/>
                  </a:spcAft>
                  <a:buClr>
                    <a:schemeClr val="accent5"/>
                  </a:buClr>
                  <a:buSzPts val="1400"/>
                  <a:buFont typeface="Arial"/>
                  <a:buChar char="•"/>
                </a:pPr>
                <a:r>
                  <a:rPr b="1" i="0" lang="es-ES" sz="1400" u="none" cap="none" strike="noStrike">
                    <a:solidFill>
                      <a:srgbClr val="262626"/>
                    </a:solidFill>
                    <a:latin typeface="Calibri"/>
                    <a:ea typeface="Calibri"/>
                    <a:cs typeface="Calibri"/>
                    <a:sym typeface="Calibri"/>
                  </a:rPr>
                  <a:t>Uso: </a:t>
                </a:r>
                <a:r>
                  <a:rPr b="0" i="0" lang="es-ES" sz="1400" u="none" cap="none" strike="noStrike">
                    <a:solidFill>
                      <a:srgbClr val="262626"/>
                    </a:solidFill>
                    <a:latin typeface="Calibri"/>
                    <a:ea typeface="Calibri"/>
                    <a:cs typeface="Calibri"/>
                    <a:sym typeface="Calibri"/>
                  </a:rPr>
                  <a:t>Ideal para la comunicación entre microservicios y sistemas distribuidos.</a:t>
                </a:r>
                <a:endParaRPr/>
              </a:p>
            </p:txBody>
          </p:sp>
          <p:grpSp>
            <p:nvGrpSpPr>
              <p:cNvPr id="121" name="Google Shape;121;p6"/>
              <p:cNvGrpSpPr/>
              <p:nvPr/>
            </p:nvGrpSpPr>
            <p:grpSpPr>
              <a:xfrm>
                <a:off x="297001" y="1592237"/>
                <a:ext cx="459474" cy="403823"/>
                <a:chOff x="5892512" y="2805541"/>
                <a:chExt cx="459474" cy="403823"/>
              </a:xfrm>
            </p:grpSpPr>
            <p:sp>
              <p:nvSpPr>
                <p:cNvPr id="122" name="Google Shape;122;p6"/>
                <p:cNvSpPr/>
                <p:nvPr/>
              </p:nvSpPr>
              <p:spPr>
                <a:xfrm>
                  <a:off x="5956277" y="2824919"/>
                  <a:ext cx="395709" cy="376075"/>
                </a:xfrm>
                <a:prstGeom prst="ellipse">
                  <a:avLst/>
                </a:prstGeom>
                <a:solidFill>
                  <a:srgbClr val="0086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sp>
              <p:nvSpPr>
                <p:cNvPr id="123" name="Google Shape;123;p6"/>
                <p:cNvSpPr/>
                <p:nvPr/>
              </p:nvSpPr>
              <p:spPr>
                <a:xfrm>
                  <a:off x="5892512" y="2805541"/>
                  <a:ext cx="424906" cy="40382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sp>
              <p:nvSpPr>
                <p:cNvPr id="124" name="Google Shape;124;p6"/>
                <p:cNvSpPr/>
                <p:nvPr/>
              </p:nvSpPr>
              <p:spPr>
                <a:xfrm rot="5400000">
                  <a:off x="6076285" y="2946262"/>
                  <a:ext cx="186870" cy="122381"/>
                </a:xfrm>
                <a:prstGeom prst="triangle">
                  <a:avLst>
                    <a:gd fmla="val 50000" name="adj"/>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grpSp>
        </p:grpSp>
      </p:grpSp>
      <p:sp>
        <p:nvSpPr>
          <p:cNvPr id="125" name="Google Shape;125;p6"/>
          <p:cNvSpPr txBox="1"/>
          <p:nvPr/>
        </p:nvSpPr>
        <p:spPr>
          <a:xfrm>
            <a:off x="509864" y="919439"/>
            <a:ext cx="7994204"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1600" u="none" cap="none" strike="noStrike">
                <a:solidFill>
                  <a:schemeClr val="dk1"/>
                </a:solidFill>
                <a:highlight>
                  <a:srgbClr val="FFFFFF"/>
                </a:highlight>
                <a:latin typeface="Calibri"/>
                <a:ea typeface="Calibri"/>
                <a:cs typeface="Calibri"/>
                <a:sym typeface="Calibri"/>
              </a:rPr>
              <a:t>ESTRATEGIAS DE INTEGRACIÓN</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7"/>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INTEGRACIÓN DE APLICACIONES </a:t>
            </a:r>
            <a:endParaRPr/>
          </a:p>
        </p:txBody>
      </p:sp>
      <p:sp>
        <p:nvSpPr>
          <p:cNvPr id="132" name="Google Shape;132;p7"/>
          <p:cNvSpPr txBox="1"/>
          <p:nvPr/>
        </p:nvSpPr>
        <p:spPr>
          <a:xfrm>
            <a:off x="509864" y="919439"/>
            <a:ext cx="7994204"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1600" u="none" cap="none" strike="noStrike">
                <a:solidFill>
                  <a:schemeClr val="dk1"/>
                </a:solidFill>
                <a:highlight>
                  <a:srgbClr val="FFFFFF"/>
                </a:highlight>
                <a:latin typeface="Calibri"/>
                <a:ea typeface="Calibri"/>
                <a:cs typeface="Calibri"/>
                <a:sym typeface="Calibri"/>
              </a:rPr>
              <a:t>ESTRATEGIAS DE INTEGRACIÓN</a:t>
            </a:r>
            <a:endParaRPr b="0" i="0" sz="1600" u="none" cap="none" strike="noStrike">
              <a:solidFill>
                <a:schemeClr val="dk1"/>
              </a:solidFill>
              <a:latin typeface="Arial"/>
              <a:ea typeface="Arial"/>
              <a:cs typeface="Arial"/>
              <a:sym typeface="Arial"/>
            </a:endParaRPr>
          </a:p>
        </p:txBody>
      </p:sp>
      <p:grpSp>
        <p:nvGrpSpPr>
          <p:cNvPr id="133" name="Google Shape;133;p7"/>
          <p:cNvGrpSpPr/>
          <p:nvPr/>
        </p:nvGrpSpPr>
        <p:grpSpPr>
          <a:xfrm>
            <a:off x="2604574" y="1585865"/>
            <a:ext cx="3736589" cy="2310274"/>
            <a:chOff x="297001" y="1543608"/>
            <a:chExt cx="3736589" cy="2310274"/>
          </a:xfrm>
        </p:grpSpPr>
        <p:sp>
          <p:nvSpPr>
            <p:cNvPr id="134" name="Google Shape;134;p7"/>
            <p:cNvSpPr/>
            <p:nvPr/>
          </p:nvSpPr>
          <p:spPr>
            <a:xfrm>
              <a:off x="511916" y="1543608"/>
              <a:ext cx="3521674" cy="501005"/>
            </a:xfrm>
            <a:prstGeom prst="roundRect">
              <a:avLst>
                <a:gd fmla="val 18326" name="adj"/>
              </a:avLst>
            </a:prstGeom>
            <a:solidFill>
              <a:schemeClr val="accent5"/>
            </a:solidFill>
            <a:ln>
              <a:noFill/>
            </a:ln>
          </p:spPr>
          <p:txBody>
            <a:bodyPr anchorCtr="0" anchor="ctr" bIns="45700" lIns="91425" spcFirstLastPara="1" rIns="91425" wrap="square" tIns="45700">
              <a:noAutofit/>
            </a:bodyPr>
            <a:lstStyle/>
            <a:p>
              <a:pPr indent="-179388" lvl="0" marL="179388" marR="0" rtl="0" algn="ctr">
                <a:lnSpc>
                  <a:spcPct val="100000"/>
                </a:lnSpc>
                <a:spcBef>
                  <a:spcPts val="0"/>
                </a:spcBef>
                <a:spcAft>
                  <a:spcPts val="0"/>
                </a:spcAft>
                <a:buClr>
                  <a:srgbClr val="000000"/>
                </a:buClr>
                <a:buSzPts val="1500"/>
                <a:buFont typeface="Arial"/>
                <a:buNone/>
              </a:pPr>
              <a:r>
                <a:rPr b="1" i="0" lang="es-ES" sz="1500" u="none" cap="none" strike="noStrike">
                  <a:solidFill>
                    <a:schemeClr val="lt1"/>
                  </a:solidFill>
                  <a:latin typeface="Calibri"/>
                  <a:ea typeface="Calibri"/>
                  <a:cs typeface="Calibri"/>
                  <a:sym typeface="Calibri"/>
                </a:rPr>
                <a:t>5. Integración Basada en Eventos</a:t>
              </a:r>
              <a:endParaRPr b="1" i="0" sz="1500" u="none" cap="none" strike="noStrike">
                <a:solidFill>
                  <a:schemeClr val="lt1"/>
                </a:solidFill>
                <a:latin typeface="Calibri"/>
                <a:ea typeface="Calibri"/>
                <a:cs typeface="Calibri"/>
                <a:sym typeface="Calibri"/>
              </a:endParaRPr>
            </a:p>
          </p:txBody>
        </p:sp>
        <p:sp>
          <p:nvSpPr>
            <p:cNvPr id="135" name="Google Shape;135;p7"/>
            <p:cNvSpPr/>
            <p:nvPr/>
          </p:nvSpPr>
          <p:spPr>
            <a:xfrm>
              <a:off x="511916" y="2118159"/>
              <a:ext cx="3521674" cy="1735723"/>
            </a:xfrm>
            <a:prstGeom prst="roundRect">
              <a:avLst>
                <a:gd fmla="val 2748" name="adj"/>
              </a:avLst>
            </a:prstGeom>
            <a:solidFill>
              <a:srgbClr val="D1EFF4"/>
            </a:solidFill>
            <a:ln>
              <a:noFill/>
            </a:ln>
          </p:spPr>
          <p:txBody>
            <a:bodyPr anchorCtr="0" anchor="t" bIns="45700" lIns="108000" spcFirstLastPara="1" rIns="108000" wrap="square" tIns="108000">
              <a:noAutofit/>
            </a:bodyPr>
            <a:lstStyle/>
            <a:p>
              <a:pPr indent="-128588" lvl="1" marL="138113" marR="0" rtl="0" algn="l">
                <a:lnSpc>
                  <a:spcPct val="100000"/>
                </a:lnSpc>
                <a:spcBef>
                  <a:spcPts val="0"/>
                </a:spcBef>
                <a:spcAft>
                  <a:spcPts val="0"/>
                </a:spcAft>
                <a:buClr>
                  <a:schemeClr val="accent5"/>
                </a:buClr>
                <a:buSzPts val="1400"/>
                <a:buFont typeface="Arial"/>
                <a:buChar char="•"/>
              </a:pPr>
              <a:r>
                <a:rPr b="1" i="0" lang="es-ES" sz="1400" u="none" cap="none" strike="noStrike">
                  <a:solidFill>
                    <a:srgbClr val="262626"/>
                  </a:solidFill>
                  <a:latin typeface="Calibri"/>
                  <a:ea typeface="Calibri"/>
                  <a:cs typeface="Calibri"/>
                  <a:sym typeface="Calibri"/>
                </a:rPr>
                <a:t>Descripción: </a:t>
              </a:r>
              <a:r>
                <a:rPr b="0" i="0" lang="es-ES" sz="1400" u="none" cap="none" strike="noStrike">
                  <a:solidFill>
                    <a:srgbClr val="262626"/>
                  </a:solidFill>
                  <a:latin typeface="Calibri"/>
                  <a:ea typeface="Calibri"/>
                  <a:cs typeface="Calibri"/>
                  <a:sym typeface="Calibri"/>
                </a:rPr>
                <a:t>Las aplicaciones se integran mediante la publicación y suscripción a eventos. Los sistemas reaccionan a los eventos en tiempo real.</a:t>
              </a:r>
              <a:endParaRPr b="1" i="0" sz="1400" u="none" cap="none" strike="noStrike">
                <a:solidFill>
                  <a:srgbClr val="262626"/>
                </a:solidFill>
                <a:latin typeface="Calibri"/>
                <a:ea typeface="Calibri"/>
                <a:cs typeface="Calibri"/>
                <a:sym typeface="Calibri"/>
              </a:endParaRPr>
            </a:p>
            <a:p>
              <a:pPr indent="-128588" lvl="1" marL="138113" marR="0" rtl="0" algn="l">
                <a:lnSpc>
                  <a:spcPct val="100000"/>
                </a:lnSpc>
                <a:spcBef>
                  <a:spcPts val="300"/>
                </a:spcBef>
                <a:spcAft>
                  <a:spcPts val="0"/>
                </a:spcAft>
                <a:buClr>
                  <a:schemeClr val="accent5"/>
                </a:buClr>
                <a:buSzPts val="1400"/>
                <a:buFont typeface="Arial"/>
                <a:buChar char="•"/>
              </a:pPr>
              <a:r>
                <a:rPr b="1" i="0" lang="es-ES" sz="1400" u="none" cap="none" strike="noStrike">
                  <a:solidFill>
                    <a:srgbClr val="262626"/>
                  </a:solidFill>
                  <a:latin typeface="Calibri"/>
                  <a:ea typeface="Calibri"/>
                  <a:cs typeface="Calibri"/>
                  <a:sym typeface="Calibri"/>
                </a:rPr>
                <a:t>Uso: </a:t>
              </a:r>
              <a:r>
                <a:rPr b="0" i="0" lang="es-ES" sz="1400" u="none" cap="none" strike="noStrike">
                  <a:solidFill>
                    <a:srgbClr val="262626"/>
                  </a:solidFill>
                  <a:latin typeface="Calibri"/>
                  <a:ea typeface="Calibri"/>
                  <a:cs typeface="Calibri"/>
                  <a:sym typeface="Calibri"/>
                </a:rPr>
                <a:t>Mejora la reactividad y la escalabilidad en sistemas distribuidos.</a:t>
              </a:r>
              <a:endParaRPr/>
            </a:p>
            <a:p>
              <a:pPr indent="-39687" lvl="1" marL="138113" marR="0" rtl="0" algn="l">
                <a:lnSpc>
                  <a:spcPct val="100000"/>
                </a:lnSpc>
                <a:spcBef>
                  <a:spcPts val="300"/>
                </a:spcBef>
                <a:spcAft>
                  <a:spcPts val="300"/>
                </a:spcAft>
                <a:buClr>
                  <a:schemeClr val="accent5"/>
                </a:buClr>
                <a:buSzPts val="1400"/>
                <a:buFont typeface="Arial"/>
                <a:buNone/>
              </a:pPr>
              <a:r>
                <a:t/>
              </a:r>
              <a:endParaRPr b="0" i="0" sz="1400" u="none" cap="none" strike="noStrike">
                <a:solidFill>
                  <a:srgbClr val="262626"/>
                </a:solidFill>
                <a:latin typeface="Calibri"/>
                <a:ea typeface="Calibri"/>
                <a:cs typeface="Calibri"/>
                <a:sym typeface="Calibri"/>
              </a:endParaRPr>
            </a:p>
          </p:txBody>
        </p:sp>
        <p:grpSp>
          <p:nvGrpSpPr>
            <p:cNvPr id="136" name="Google Shape;136;p7"/>
            <p:cNvGrpSpPr/>
            <p:nvPr/>
          </p:nvGrpSpPr>
          <p:grpSpPr>
            <a:xfrm>
              <a:off x="297001" y="1592237"/>
              <a:ext cx="459474" cy="403823"/>
              <a:chOff x="5892512" y="2805541"/>
              <a:chExt cx="459474" cy="403823"/>
            </a:xfrm>
          </p:grpSpPr>
          <p:sp>
            <p:nvSpPr>
              <p:cNvPr id="137" name="Google Shape;137;p7"/>
              <p:cNvSpPr/>
              <p:nvPr/>
            </p:nvSpPr>
            <p:spPr>
              <a:xfrm>
                <a:off x="5956277" y="2824919"/>
                <a:ext cx="395709" cy="376075"/>
              </a:xfrm>
              <a:prstGeom prst="ellipse">
                <a:avLst/>
              </a:prstGeom>
              <a:solidFill>
                <a:srgbClr val="0086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sp>
            <p:nvSpPr>
              <p:cNvPr id="138" name="Google Shape;138;p7"/>
              <p:cNvSpPr/>
              <p:nvPr/>
            </p:nvSpPr>
            <p:spPr>
              <a:xfrm>
                <a:off x="5892512" y="2805541"/>
                <a:ext cx="424906" cy="40382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sp>
            <p:nvSpPr>
              <p:cNvPr id="139" name="Google Shape;139;p7"/>
              <p:cNvSpPr/>
              <p:nvPr/>
            </p:nvSpPr>
            <p:spPr>
              <a:xfrm rot="5400000">
                <a:off x="6076285" y="2946262"/>
                <a:ext cx="186870" cy="122381"/>
              </a:xfrm>
              <a:prstGeom prst="triangle">
                <a:avLst>
                  <a:gd fmla="val 50000" name="adj"/>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gr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8"/>
          <p:cNvSpPr txBox="1"/>
          <p:nvPr/>
        </p:nvSpPr>
        <p:spPr>
          <a:xfrm>
            <a:off x="509864" y="919439"/>
            <a:ext cx="7765576"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chemeClr val="dk1"/>
                </a:solidFill>
                <a:highlight>
                  <a:srgbClr val="FFFFFF"/>
                </a:highlight>
                <a:latin typeface="Calibri"/>
                <a:ea typeface="Calibri"/>
                <a:cs typeface="Calibri"/>
                <a:sym typeface="Calibri"/>
              </a:rPr>
              <a:t>TECNOLOGÍAS Y HERRAMIENTAS</a:t>
            </a:r>
            <a:endParaRPr b="0" i="0" sz="1600" u="none" cap="none" strike="noStrike">
              <a:solidFill>
                <a:schemeClr val="dk1"/>
              </a:solidFill>
              <a:latin typeface="Arial"/>
              <a:ea typeface="Arial"/>
              <a:cs typeface="Arial"/>
              <a:sym typeface="Arial"/>
            </a:endParaRPr>
          </a:p>
        </p:txBody>
      </p:sp>
      <p:sp>
        <p:nvSpPr>
          <p:cNvPr id="146" name="Google Shape;146;p8"/>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INTEGRACIÓN DE APLICACIONES </a:t>
            </a:r>
            <a:endParaRPr/>
          </a:p>
        </p:txBody>
      </p:sp>
      <p:grpSp>
        <p:nvGrpSpPr>
          <p:cNvPr id="147" name="Google Shape;147;p8"/>
          <p:cNvGrpSpPr/>
          <p:nvPr/>
        </p:nvGrpSpPr>
        <p:grpSpPr>
          <a:xfrm>
            <a:off x="961306" y="1585865"/>
            <a:ext cx="7016502" cy="3125283"/>
            <a:chOff x="961306" y="1837653"/>
            <a:chExt cx="7016502" cy="3125283"/>
          </a:xfrm>
        </p:grpSpPr>
        <p:grpSp>
          <p:nvGrpSpPr>
            <p:cNvPr id="148" name="Google Shape;148;p8"/>
            <p:cNvGrpSpPr/>
            <p:nvPr/>
          </p:nvGrpSpPr>
          <p:grpSpPr>
            <a:xfrm>
              <a:off x="4538703" y="1837653"/>
              <a:ext cx="3439105" cy="3125283"/>
              <a:chOff x="3681756" y="1543608"/>
              <a:chExt cx="3439105" cy="3125283"/>
            </a:xfrm>
          </p:grpSpPr>
          <p:sp>
            <p:nvSpPr>
              <p:cNvPr id="149" name="Google Shape;149;p8"/>
              <p:cNvSpPr/>
              <p:nvPr/>
            </p:nvSpPr>
            <p:spPr>
              <a:xfrm>
                <a:off x="3897522" y="1543608"/>
                <a:ext cx="3223339" cy="501005"/>
              </a:xfrm>
              <a:prstGeom prst="roundRect">
                <a:avLst>
                  <a:gd fmla="val 18326"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s-ES" sz="1500" u="none" cap="none" strike="noStrike">
                    <a:solidFill>
                      <a:schemeClr val="lt1"/>
                    </a:solidFill>
                    <a:latin typeface="Calibri"/>
                    <a:ea typeface="Calibri"/>
                    <a:cs typeface="Calibri"/>
                    <a:sym typeface="Calibri"/>
                  </a:rPr>
                  <a:t>2. Microsoft</a:t>
                </a:r>
                <a:endParaRPr b="0" i="0" sz="1500" u="none" cap="none" strike="noStrike">
                  <a:solidFill>
                    <a:schemeClr val="lt1"/>
                  </a:solidFill>
                  <a:latin typeface="Arial"/>
                  <a:ea typeface="Arial"/>
                  <a:cs typeface="Arial"/>
                  <a:sym typeface="Arial"/>
                </a:endParaRPr>
              </a:p>
            </p:txBody>
          </p:sp>
          <p:sp>
            <p:nvSpPr>
              <p:cNvPr id="150" name="Google Shape;150;p8"/>
              <p:cNvSpPr/>
              <p:nvPr/>
            </p:nvSpPr>
            <p:spPr>
              <a:xfrm>
                <a:off x="3897522" y="2118159"/>
                <a:ext cx="3223339" cy="2550732"/>
              </a:xfrm>
              <a:prstGeom prst="roundRect">
                <a:avLst>
                  <a:gd fmla="val 2748" name="adj"/>
                </a:avLst>
              </a:prstGeom>
              <a:solidFill>
                <a:srgbClr val="DDEEC7"/>
              </a:solidFill>
              <a:ln>
                <a:noFill/>
              </a:ln>
            </p:spPr>
            <p:txBody>
              <a:bodyPr anchorCtr="0" anchor="t" bIns="45700" lIns="108000" spcFirstLastPara="1" rIns="108000" wrap="square" tIns="108000">
                <a:noAutofit/>
              </a:bodyPr>
              <a:lstStyle/>
              <a:p>
                <a:pPr indent="-134938" lvl="1" marL="222250" marR="0" rtl="0" algn="l">
                  <a:lnSpc>
                    <a:spcPct val="100000"/>
                  </a:lnSpc>
                  <a:spcBef>
                    <a:spcPts val="0"/>
                  </a:spcBef>
                  <a:spcAft>
                    <a:spcPts val="0"/>
                  </a:spcAft>
                  <a:buClr>
                    <a:schemeClr val="accent3"/>
                  </a:buClr>
                  <a:buSzPts val="1400"/>
                  <a:buFont typeface="Arial"/>
                  <a:buChar char="•"/>
                </a:pPr>
                <a:r>
                  <a:rPr b="1" i="0" lang="es-ES" sz="1400" u="none" cap="none" strike="noStrike">
                    <a:solidFill>
                      <a:srgbClr val="000000"/>
                    </a:solidFill>
                    <a:latin typeface="Calibri"/>
                    <a:ea typeface="Calibri"/>
                    <a:cs typeface="Calibri"/>
                    <a:sym typeface="Calibri"/>
                  </a:rPr>
                  <a:t>Azure Logic Apps: </a:t>
                </a:r>
                <a:r>
                  <a:rPr lang="es-ES">
                    <a:latin typeface="Calibri"/>
                    <a:ea typeface="Calibri"/>
                    <a:cs typeface="Calibri"/>
                    <a:sym typeface="Calibri"/>
                  </a:rPr>
                  <a:t>Automatizar</a:t>
                </a:r>
                <a:r>
                  <a:rPr b="0" i="0" lang="es-ES" sz="1400" u="none" cap="none" strike="noStrike">
                    <a:solidFill>
                      <a:srgbClr val="000000"/>
                    </a:solidFill>
                    <a:latin typeface="Calibri"/>
                    <a:ea typeface="Calibri"/>
                    <a:cs typeface="Calibri"/>
                    <a:sym typeface="Calibri"/>
                  </a:rPr>
                  <a:t> flujos de trabajo e integra aplicaciones mediante conectores predefinidos.</a:t>
                </a:r>
                <a:endParaRPr/>
              </a:p>
              <a:p>
                <a:pPr indent="-134938" lvl="1" marL="222250" marR="0" rtl="0" algn="l">
                  <a:lnSpc>
                    <a:spcPct val="100000"/>
                  </a:lnSpc>
                  <a:spcBef>
                    <a:spcPts val="300"/>
                  </a:spcBef>
                  <a:spcAft>
                    <a:spcPts val="0"/>
                  </a:spcAft>
                  <a:buClr>
                    <a:schemeClr val="accent3"/>
                  </a:buClr>
                  <a:buSzPts val="1400"/>
                  <a:buFont typeface="Arial"/>
                  <a:buChar char="•"/>
                </a:pPr>
                <a:r>
                  <a:rPr b="1" i="0" lang="es-ES" sz="1400" u="none" cap="none" strike="noStrike">
                    <a:solidFill>
                      <a:srgbClr val="000000"/>
                    </a:solidFill>
                    <a:latin typeface="Calibri"/>
                    <a:ea typeface="Calibri"/>
                    <a:cs typeface="Calibri"/>
                    <a:sym typeface="Calibri"/>
                  </a:rPr>
                  <a:t>Azure API Management: </a:t>
                </a:r>
                <a:r>
                  <a:rPr b="0" i="0" lang="es-ES" sz="1400" u="none" cap="none" strike="noStrike">
                    <a:solidFill>
                      <a:srgbClr val="000000"/>
                    </a:solidFill>
                    <a:latin typeface="Calibri"/>
                    <a:ea typeface="Calibri"/>
                    <a:cs typeface="Calibri"/>
                    <a:sym typeface="Calibri"/>
                  </a:rPr>
                  <a:t>Publica, protege y gestiona APIs para facilitar la integración.</a:t>
                </a:r>
                <a:endParaRPr/>
              </a:p>
              <a:p>
                <a:pPr indent="-134938" lvl="1" marL="222250" marR="0" rtl="0" algn="l">
                  <a:lnSpc>
                    <a:spcPct val="100000"/>
                  </a:lnSpc>
                  <a:spcBef>
                    <a:spcPts val="300"/>
                  </a:spcBef>
                  <a:spcAft>
                    <a:spcPts val="0"/>
                  </a:spcAft>
                  <a:buClr>
                    <a:schemeClr val="accent3"/>
                  </a:buClr>
                  <a:buSzPts val="1400"/>
                  <a:buFont typeface="Arial"/>
                  <a:buChar char="•"/>
                </a:pPr>
                <a:r>
                  <a:rPr b="1" i="0" lang="es-ES" sz="1400" u="none" cap="none" strike="noStrike">
                    <a:solidFill>
                      <a:srgbClr val="000000"/>
                    </a:solidFill>
                    <a:latin typeface="Calibri"/>
                    <a:ea typeface="Calibri"/>
                    <a:cs typeface="Calibri"/>
                    <a:sym typeface="Calibri"/>
                  </a:rPr>
                  <a:t>BizTalk Server: </a:t>
                </a:r>
                <a:r>
                  <a:rPr b="0" i="0" lang="es-ES" sz="1400" u="none" cap="none" strike="noStrike">
                    <a:solidFill>
                      <a:srgbClr val="000000"/>
                    </a:solidFill>
                    <a:latin typeface="Calibri"/>
                    <a:ea typeface="Calibri"/>
                    <a:cs typeface="Calibri"/>
                    <a:sym typeface="Calibri"/>
                  </a:rPr>
                  <a:t>Ofrece soluciones para la integración de aplicaciones empresariales mediante adaptadores y orquestación de procesos.</a:t>
                </a:r>
                <a:endParaRPr/>
              </a:p>
              <a:p>
                <a:pPr indent="-46038" lvl="1" marL="222250" marR="0" rtl="0" algn="l">
                  <a:lnSpc>
                    <a:spcPct val="100000"/>
                  </a:lnSpc>
                  <a:spcBef>
                    <a:spcPts val="300"/>
                  </a:spcBef>
                  <a:spcAft>
                    <a:spcPts val="300"/>
                  </a:spcAft>
                  <a:buClr>
                    <a:schemeClr val="accent3"/>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nvGrpSpPr>
              <p:cNvPr id="151" name="Google Shape;151;p8"/>
              <p:cNvGrpSpPr/>
              <p:nvPr/>
            </p:nvGrpSpPr>
            <p:grpSpPr>
              <a:xfrm>
                <a:off x="3681756" y="1592237"/>
                <a:ext cx="459474" cy="403823"/>
                <a:chOff x="5892512" y="2805541"/>
                <a:chExt cx="459474" cy="403823"/>
              </a:xfrm>
            </p:grpSpPr>
            <p:sp>
              <p:nvSpPr>
                <p:cNvPr id="152" name="Google Shape;152;p8"/>
                <p:cNvSpPr/>
                <p:nvPr/>
              </p:nvSpPr>
              <p:spPr>
                <a:xfrm>
                  <a:off x="5956277" y="2824919"/>
                  <a:ext cx="395709" cy="376075"/>
                </a:xfrm>
                <a:prstGeom prst="ellipse">
                  <a:avLst/>
                </a:prstGeom>
                <a:solidFill>
                  <a:srgbClr val="72983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sp>
              <p:nvSpPr>
                <p:cNvPr id="153" name="Google Shape;153;p8"/>
                <p:cNvSpPr/>
                <p:nvPr/>
              </p:nvSpPr>
              <p:spPr>
                <a:xfrm>
                  <a:off x="5892512" y="2805541"/>
                  <a:ext cx="424906" cy="40382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sp>
              <p:nvSpPr>
                <p:cNvPr id="154" name="Google Shape;154;p8"/>
                <p:cNvSpPr/>
                <p:nvPr/>
              </p:nvSpPr>
              <p:spPr>
                <a:xfrm rot="5400000">
                  <a:off x="6076285" y="2946262"/>
                  <a:ext cx="186870" cy="122381"/>
                </a:xfrm>
                <a:prstGeom prst="triangle">
                  <a:avLst>
                    <a:gd fmla="val 5000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grpSp>
        </p:grpSp>
        <p:grpSp>
          <p:nvGrpSpPr>
            <p:cNvPr id="155" name="Google Shape;155;p8"/>
            <p:cNvGrpSpPr/>
            <p:nvPr/>
          </p:nvGrpSpPr>
          <p:grpSpPr>
            <a:xfrm>
              <a:off x="961306" y="1837653"/>
              <a:ext cx="3438254" cy="3125283"/>
              <a:chOff x="297001" y="1543608"/>
              <a:chExt cx="3438254" cy="3125283"/>
            </a:xfrm>
          </p:grpSpPr>
          <p:sp>
            <p:nvSpPr>
              <p:cNvPr id="156" name="Google Shape;156;p8"/>
              <p:cNvSpPr/>
              <p:nvPr/>
            </p:nvSpPr>
            <p:spPr>
              <a:xfrm>
                <a:off x="511916" y="1543608"/>
                <a:ext cx="3223339" cy="501005"/>
              </a:xfrm>
              <a:prstGeom prst="roundRect">
                <a:avLst>
                  <a:gd fmla="val 18326" name="adj"/>
                </a:avLst>
              </a:prstGeom>
              <a:solidFill>
                <a:schemeClr val="accent3"/>
              </a:solidFill>
              <a:ln>
                <a:noFill/>
              </a:ln>
            </p:spPr>
            <p:txBody>
              <a:bodyPr anchorCtr="0" anchor="ctr" bIns="45700" lIns="91425" spcFirstLastPara="1" rIns="91425" wrap="square" tIns="45700">
                <a:noAutofit/>
              </a:bodyPr>
              <a:lstStyle/>
              <a:p>
                <a:pPr indent="0" lvl="0" marL="11725" marR="0" rtl="0" algn="ctr">
                  <a:lnSpc>
                    <a:spcPct val="100000"/>
                  </a:lnSpc>
                  <a:spcBef>
                    <a:spcPts val="0"/>
                  </a:spcBef>
                  <a:spcAft>
                    <a:spcPts val="0"/>
                  </a:spcAft>
                  <a:buNone/>
                </a:pPr>
                <a:r>
                  <a:rPr b="1" i="0" lang="es-ES" sz="1500" u="none" cap="none" strike="noStrike">
                    <a:solidFill>
                      <a:schemeClr val="lt1"/>
                    </a:solidFill>
                    <a:latin typeface="Calibri"/>
                    <a:ea typeface="Calibri"/>
                    <a:cs typeface="Calibri"/>
                    <a:sym typeface="Calibri"/>
                  </a:rPr>
                  <a:t>1. Java</a:t>
                </a:r>
                <a:endParaRPr/>
              </a:p>
            </p:txBody>
          </p:sp>
          <p:sp>
            <p:nvSpPr>
              <p:cNvPr id="157" name="Google Shape;157;p8"/>
              <p:cNvSpPr/>
              <p:nvPr/>
            </p:nvSpPr>
            <p:spPr>
              <a:xfrm>
                <a:off x="511916" y="2118159"/>
                <a:ext cx="3223339" cy="2550732"/>
              </a:xfrm>
              <a:prstGeom prst="roundRect">
                <a:avLst>
                  <a:gd fmla="val 2748" name="adj"/>
                </a:avLst>
              </a:prstGeom>
              <a:solidFill>
                <a:srgbClr val="DDEEC7"/>
              </a:solidFill>
              <a:ln>
                <a:noFill/>
              </a:ln>
            </p:spPr>
            <p:txBody>
              <a:bodyPr anchorCtr="0" anchor="t" bIns="45700" lIns="108000" spcFirstLastPara="1" rIns="108000" wrap="square" tIns="108000">
                <a:noAutofit/>
              </a:bodyPr>
              <a:lstStyle/>
              <a:p>
                <a:pPr indent="-128588" lvl="1" marL="138113" marR="0" rtl="0" algn="l">
                  <a:lnSpc>
                    <a:spcPct val="100000"/>
                  </a:lnSpc>
                  <a:spcBef>
                    <a:spcPts val="0"/>
                  </a:spcBef>
                  <a:spcAft>
                    <a:spcPts val="0"/>
                  </a:spcAft>
                  <a:buClr>
                    <a:schemeClr val="accent3"/>
                  </a:buClr>
                  <a:buSzPts val="1400"/>
                  <a:buFont typeface="Arial"/>
                  <a:buChar char="•"/>
                </a:pPr>
                <a:r>
                  <a:rPr b="1" i="0" lang="es-ES" sz="1400" u="none" cap="none" strike="noStrike">
                    <a:solidFill>
                      <a:srgbClr val="262626"/>
                    </a:solidFill>
                    <a:latin typeface="Calibri"/>
                    <a:ea typeface="Calibri"/>
                    <a:cs typeface="Calibri"/>
                    <a:sym typeface="Calibri"/>
                  </a:rPr>
                  <a:t>Spring Boot: </a:t>
                </a:r>
                <a:r>
                  <a:rPr b="0" i="0" lang="es-ES" sz="1400" u="none" cap="none" strike="noStrike">
                    <a:solidFill>
                      <a:srgbClr val="262626"/>
                    </a:solidFill>
                    <a:latin typeface="Calibri"/>
                    <a:ea typeface="Calibri"/>
                    <a:cs typeface="Calibri"/>
                    <a:sym typeface="Calibri"/>
                  </a:rPr>
                  <a:t>Facilita la creación de APIs RESTful y la integración con otros sistemas.</a:t>
                </a:r>
                <a:endParaRPr/>
              </a:p>
              <a:p>
                <a:pPr indent="-128588" lvl="1" marL="138113" marR="0" rtl="0" algn="l">
                  <a:lnSpc>
                    <a:spcPct val="100000"/>
                  </a:lnSpc>
                  <a:spcBef>
                    <a:spcPts val="300"/>
                  </a:spcBef>
                  <a:spcAft>
                    <a:spcPts val="0"/>
                  </a:spcAft>
                  <a:buClr>
                    <a:schemeClr val="accent3"/>
                  </a:buClr>
                  <a:buSzPts val="1400"/>
                  <a:buFont typeface="Arial"/>
                  <a:buChar char="•"/>
                </a:pPr>
                <a:r>
                  <a:rPr b="1" i="0" lang="es-ES" sz="1400" u="none" cap="none" strike="noStrike">
                    <a:solidFill>
                      <a:srgbClr val="262626"/>
                    </a:solidFill>
                    <a:latin typeface="Calibri"/>
                    <a:ea typeface="Calibri"/>
                    <a:cs typeface="Calibri"/>
                    <a:sym typeface="Calibri"/>
                  </a:rPr>
                  <a:t>Apache Camel: </a:t>
                </a:r>
                <a:r>
                  <a:rPr b="0" i="0" lang="es-ES" sz="1400" u="none" cap="none" strike="noStrike">
                    <a:solidFill>
                      <a:srgbClr val="262626"/>
                    </a:solidFill>
                    <a:latin typeface="Calibri"/>
                    <a:ea typeface="Calibri"/>
                    <a:cs typeface="Calibri"/>
                    <a:sym typeface="Calibri"/>
                  </a:rPr>
                  <a:t>Proporciona patrones de integración empresarial para conectar aplicaciones mediante rutas de mensajes.</a:t>
                </a:r>
                <a:endParaRPr/>
              </a:p>
              <a:p>
                <a:pPr indent="-128588" lvl="1" marL="138113" marR="0" rtl="0" algn="l">
                  <a:lnSpc>
                    <a:spcPct val="100000"/>
                  </a:lnSpc>
                  <a:spcBef>
                    <a:spcPts val="300"/>
                  </a:spcBef>
                  <a:spcAft>
                    <a:spcPts val="0"/>
                  </a:spcAft>
                  <a:buClr>
                    <a:schemeClr val="accent3"/>
                  </a:buClr>
                  <a:buSzPts val="1400"/>
                  <a:buFont typeface="Arial"/>
                  <a:buChar char="•"/>
                </a:pPr>
                <a:r>
                  <a:rPr b="1" i="0" lang="es-ES" sz="1400" u="none" cap="none" strike="noStrike">
                    <a:solidFill>
                      <a:srgbClr val="262626"/>
                    </a:solidFill>
                    <a:latin typeface="Calibri"/>
                    <a:ea typeface="Calibri"/>
                    <a:cs typeface="Calibri"/>
                    <a:sym typeface="Calibri"/>
                  </a:rPr>
                  <a:t>Apache Kafka: </a:t>
                </a:r>
                <a:r>
                  <a:rPr b="0" i="0" lang="es-ES" sz="1400" u="none" cap="none" strike="noStrike">
                    <a:solidFill>
                      <a:srgbClr val="262626"/>
                    </a:solidFill>
                    <a:latin typeface="Calibri"/>
                    <a:ea typeface="Calibri"/>
                    <a:cs typeface="Calibri"/>
                    <a:sym typeface="Calibri"/>
                  </a:rPr>
                  <a:t>Plataforma de mensajería para el procesamiento de eventos y datos en tiempo real.</a:t>
                </a:r>
                <a:endParaRPr/>
              </a:p>
              <a:p>
                <a:pPr indent="-39687" lvl="1" marL="138113" marR="0" rtl="0" algn="l">
                  <a:lnSpc>
                    <a:spcPct val="100000"/>
                  </a:lnSpc>
                  <a:spcBef>
                    <a:spcPts val="300"/>
                  </a:spcBef>
                  <a:spcAft>
                    <a:spcPts val="300"/>
                  </a:spcAft>
                  <a:buClr>
                    <a:schemeClr val="accent3"/>
                  </a:buClr>
                  <a:buSzPts val="1400"/>
                  <a:buFont typeface="Arial"/>
                  <a:buNone/>
                </a:pPr>
                <a:r>
                  <a:t/>
                </a:r>
                <a:endParaRPr b="0" i="0" sz="1400" u="none" cap="none" strike="noStrike">
                  <a:solidFill>
                    <a:srgbClr val="262626"/>
                  </a:solidFill>
                  <a:latin typeface="Calibri"/>
                  <a:ea typeface="Calibri"/>
                  <a:cs typeface="Calibri"/>
                  <a:sym typeface="Calibri"/>
                </a:endParaRPr>
              </a:p>
            </p:txBody>
          </p:sp>
          <p:grpSp>
            <p:nvGrpSpPr>
              <p:cNvPr id="158" name="Google Shape;158;p8"/>
              <p:cNvGrpSpPr/>
              <p:nvPr/>
            </p:nvGrpSpPr>
            <p:grpSpPr>
              <a:xfrm>
                <a:off x="297001" y="1592237"/>
                <a:ext cx="459474" cy="403823"/>
                <a:chOff x="5892512" y="2805541"/>
                <a:chExt cx="459474" cy="403823"/>
              </a:xfrm>
            </p:grpSpPr>
            <p:sp>
              <p:nvSpPr>
                <p:cNvPr id="159" name="Google Shape;159;p8"/>
                <p:cNvSpPr/>
                <p:nvPr/>
              </p:nvSpPr>
              <p:spPr>
                <a:xfrm>
                  <a:off x="5956277" y="2824919"/>
                  <a:ext cx="395709" cy="376075"/>
                </a:xfrm>
                <a:prstGeom prst="ellipse">
                  <a:avLst/>
                </a:prstGeom>
                <a:solidFill>
                  <a:srgbClr val="72983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sp>
              <p:nvSpPr>
                <p:cNvPr id="160" name="Google Shape;160;p8"/>
                <p:cNvSpPr/>
                <p:nvPr/>
              </p:nvSpPr>
              <p:spPr>
                <a:xfrm>
                  <a:off x="5892512" y="2805541"/>
                  <a:ext cx="424906" cy="40382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sp>
              <p:nvSpPr>
                <p:cNvPr id="161" name="Google Shape;161;p8"/>
                <p:cNvSpPr/>
                <p:nvPr/>
              </p:nvSpPr>
              <p:spPr>
                <a:xfrm rot="5400000">
                  <a:off x="6076285" y="2946262"/>
                  <a:ext cx="186870" cy="122381"/>
                </a:xfrm>
                <a:prstGeom prst="triangle">
                  <a:avLst>
                    <a:gd fmla="val 5000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grpSp>
        </p:gr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9"/>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INTEGRACIÓN DE APLICACIONES </a:t>
            </a:r>
            <a:endParaRPr/>
          </a:p>
        </p:txBody>
      </p:sp>
      <p:grpSp>
        <p:nvGrpSpPr>
          <p:cNvPr id="168" name="Google Shape;168;p9"/>
          <p:cNvGrpSpPr/>
          <p:nvPr/>
        </p:nvGrpSpPr>
        <p:grpSpPr>
          <a:xfrm>
            <a:off x="2067870" y="1585866"/>
            <a:ext cx="4783507" cy="2747595"/>
            <a:chOff x="297001" y="1543609"/>
            <a:chExt cx="4783507" cy="2747595"/>
          </a:xfrm>
        </p:grpSpPr>
        <p:sp>
          <p:nvSpPr>
            <p:cNvPr id="169" name="Google Shape;169;p9"/>
            <p:cNvSpPr/>
            <p:nvPr/>
          </p:nvSpPr>
          <p:spPr>
            <a:xfrm>
              <a:off x="511915" y="1543609"/>
              <a:ext cx="4568593" cy="465518"/>
            </a:xfrm>
            <a:prstGeom prst="roundRect">
              <a:avLst>
                <a:gd fmla="val 18326" name="adj"/>
              </a:avLst>
            </a:prstGeom>
            <a:solidFill>
              <a:schemeClr val="accent3"/>
            </a:solidFill>
            <a:ln>
              <a:noFill/>
            </a:ln>
          </p:spPr>
          <p:txBody>
            <a:bodyPr anchorCtr="0" anchor="ctr" bIns="45700" lIns="91425" spcFirstLastPara="1" rIns="91425" wrap="square" tIns="45700">
              <a:noAutofit/>
            </a:bodyPr>
            <a:lstStyle/>
            <a:p>
              <a:pPr indent="0" lvl="0" marL="11725" marR="0" rtl="0" algn="ctr">
                <a:lnSpc>
                  <a:spcPct val="100000"/>
                </a:lnSpc>
                <a:spcBef>
                  <a:spcPts val="0"/>
                </a:spcBef>
                <a:spcAft>
                  <a:spcPts val="0"/>
                </a:spcAft>
                <a:buNone/>
              </a:pPr>
              <a:r>
                <a:rPr b="1" i="0" lang="es-ES" sz="1500" u="none" cap="none" strike="noStrike">
                  <a:solidFill>
                    <a:schemeClr val="lt1"/>
                  </a:solidFill>
                  <a:latin typeface="Calibri"/>
                  <a:ea typeface="Calibri"/>
                  <a:cs typeface="Calibri"/>
                  <a:sym typeface="Calibri"/>
                </a:rPr>
                <a:t>3. General</a:t>
              </a:r>
              <a:endParaRPr/>
            </a:p>
          </p:txBody>
        </p:sp>
        <p:sp>
          <p:nvSpPr>
            <p:cNvPr id="170" name="Google Shape;170;p9"/>
            <p:cNvSpPr/>
            <p:nvPr/>
          </p:nvSpPr>
          <p:spPr>
            <a:xfrm>
              <a:off x="511915" y="2118159"/>
              <a:ext cx="4568593" cy="2173045"/>
            </a:xfrm>
            <a:prstGeom prst="roundRect">
              <a:avLst>
                <a:gd fmla="val 2748" name="adj"/>
              </a:avLst>
            </a:prstGeom>
            <a:solidFill>
              <a:srgbClr val="DDEEC7"/>
            </a:solidFill>
            <a:ln>
              <a:noFill/>
            </a:ln>
          </p:spPr>
          <p:txBody>
            <a:bodyPr anchorCtr="0" anchor="t" bIns="45700" lIns="108000" spcFirstLastPara="1" rIns="108000" wrap="square" tIns="108000">
              <a:noAutofit/>
            </a:bodyPr>
            <a:lstStyle/>
            <a:p>
              <a:pPr indent="-128588" lvl="1" marL="138113" marR="0" rtl="0" algn="l">
                <a:lnSpc>
                  <a:spcPct val="100000"/>
                </a:lnSpc>
                <a:spcBef>
                  <a:spcPts val="0"/>
                </a:spcBef>
                <a:spcAft>
                  <a:spcPts val="0"/>
                </a:spcAft>
                <a:buClr>
                  <a:schemeClr val="accent3"/>
                </a:buClr>
                <a:buSzPts val="1400"/>
                <a:buFont typeface="Arial"/>
                <a:buChar char="•"/>
              </a:pPr>
              <a:r>
                <a:rPr b="1" i="0" lang="es-ES" sz="1400" u="none" cap="none" strike="noStrike">
                  <a:solidFill>
                    <a:srgbClr val="262626"/>
                  </a:solidFill>
                  <a:latin typeface="Calibri"/>
                  <a:ea typeface="Calibri"/>
                  <a:cs typeface="Calibri"/>
                  <a:sym typeface="Calibri"/>
                </a:rPr>
                <a:t>RESTful APIs: </a:t>
              </a:r>
              <a:r>
                <a:rPr b="0" i="0" lang="es-ES" sz="1400" u="none" cap="none" strike="noStrike">
                  <a:solidFill>
                    <a:srgbClr val="262626"/>
                  </a:solidFill>
                  <a:latin typeface="Calibri"/>
                  <a:ea typeface="Calibri"/>
                  <a:cs typeface="Calibri"/>
                  <a:sym typeface="Calibri"/>
                </a:rPr>
                <a:t>Utilizan HTTP para la comunicación entre sistemas y son ampliamente adoptadas por su simplicidad y flexibilidad.</a:t>
              </a:r>
              <a:endParaRPr/>
            </a:p>
            <a:p>
              <a:pPr indent="-128588" lvl="1" marL="138113" marR="0" rtl="0" algn="l">
                <a:lnSpc>
                  <a:spcPct val="100000"/>
                </a:lnSpc>
                <a:spcBef>
                  <a:spcPts val="300"/>
                </a:spcBef>
                <a:spcAft>
                  <a:spcPts val="0"/>
                </a:spcAft>
                <a:buClr>
                  <a:schemeClr val="accent3"/>
                </a:buClr>
                <a:buSzPts val="1400"/>
                <a:buFont typeface="Arial"/>
                <a:buChar char="•"/>
              </a:pPr>
              <a:r>
                <a:rPr b="1" i="0" lang="es-ES" sz="1400" u="none" cap="none" strike="noStrike">
                  <a:solidFill>
                    <a:srgbClr val="262626"/>
                  </a:solidFill>
                  <a:latin typeface="Calibri"/>
                  <a:ea typeface="Calibri"/>
                  <a:cs typeface="Calibri"/>
                  <a:sym typeface="Calibri"/>
                </a:rPr>
                <a:t>SOAP (Simple Object Access Protocol): </a:t>
              </a:r>
              <a:r>
                <a:rPr b="0" i="0" lang="es-ES" sz="1400" u="none" cap="none" strike="noStrike">
                  <a:solidFill>
                    <a:srgbClr val="262626"/>
                  </a:solidFill>
                  <a:latin typeface="Calibri"/>
                  <a:ea typeface="Calibri"/>
                  <a:cs typeface="Calibri"/>
                  <a:sym typeface="Calibri"/>
                </a:rPr>
                <a:t>Protocolo basado en XML para servicios web que requiere mayor estructura y seguridad.</a:t>
              </a:r>
              <a:endParaRPr/>
            </a:p>
            <a:p>
              <a:pPr indent="-128588" lvl="1" marL="138113" marR="0" rtl="0" algn="l">
                <a:lnSpc>
                  <a:spcPct val="100000"/>
                </a:lnSpc>
                <a:spcBef>
                  <a:spcPts val="300"/>
                </a:spcBef>
                <a:spcAft>
                  <a:spcPts val="0"/>
                </a:spcAft>
                <a:buClr>
                  <a:schemeClr val="accent3"/>
                </a:buClr>
                <a:buSzPts val="1400"/>
                <a:buFont typeface="Arial"/>
                <a:buChar char="•"/>
              </a:pPr>
              <a:r>
                <a:rPr b="1" i="0" lang="es-ES" sz="1400" u="none" cap="none" strike="noStrike">
                  <a:solidFill>
                    <a:srgbClr val="262626"/>
                  </a:solidFill>
                  <a:latin typeface="Calibri"/>
                  <a:ea typeface="Calibri"/>
                  <a:cs typeface="Calibri"/>
                  <a:sym typeface="Calibri"/>
                </a:rPr>
                <a:t>GraphQL: </a:t>
              </a:r>
              <a:r>
                <a:rPr b="0" i="0" lang="es-ES" sz="1400" u="none" cap="none" strike="noStrike">
                  <a:solidFill>
                    <a:srgbClr val="262626"/>
                  </a:solidFill>
                  <a:latin typeface="Calibri"/>
                  <a:ea typeface="Calibri"/>
                  <a:cs typeface="Calibri"/>
                  <a:sym typeface="Calibri"/>
                </a:rPr>
                <a:t>Un lenguaje de consulta para APIs que permite a los clientes solicitar </a:t>
              </a:r>
              <a:r>
                <a:rPr lang="es-ES">
                  <a:solidFill>
                    <a:srgbClr val="262626"/>
                  </a:solidFill>
                  <a:latin typeface="Calibri"/>
                  <a:ea typeface="Calibri"/>
                  <a:cs typeface="Calibri"/>
                  <a:sym typeface="Calibri"/>
                </a:rPr>
                <a:t>sólo</a:t>
              </a:r>
              <a:r>
                <a:rPr b="0" i="0" lang="es-ES" sz="1400" u="none" cap="none" strike="noStrike">
                  <a:solidFill>
                    <a:srgbClr val="262626"/>
                  </a:solidFill>
                  <a:latin typeface="Calibri"/>
                  <a:ea typeface="Calibri"/>
                  <a:cs typeface="Calibri"/>
                  <a:sym typeface="Calibri"/>
                </a:rPr>
                <a:t> los datos que necesitan.</a:t>
              </a:r>
              <a:endParaRPr/>
            </a:p>
            <a:p>
              <a:pPr indent="-39687" lvl="1" marL="138113" marR="0" rtl="0" algn="l">
                <a:lnSpc>
                  <a:spcPct val="100000"/>
                </a:lnSpc>
                <a:spcBef>
                  <a:spcPts val="300"/>
                </a:spcBef>
                <a:spcAft>
                  <a:spcPts val="300"/>
                </a:spcAft>
                <a:buClr>
                  <a:schemeClr val="accent3"/>
                </a:buClr>
                <a:buSzPts val="1400"/>
                <a:buFont typeface="Arial"/>
                <a:buNone/>
              </a:pPr>
              <a:r>
                <a:t/>
              </a:r>
              <a:endParaRPr b="0" i="0" sz="1400" u="none" cap="none" strike="noStrike">
                <a:solidFill>
                  <a:srgbClr val="262626"/>
                </a:solidFill>
                <a:latin typeface="Calibri"/>
                <a:ea typeface="Calibri"/>
                <a:cs typeface="Calibri"/>
                <a:sym typeface="Calibri"/>
              </a:endParaRPr>
            </a:p>
          </p:txBody>
        </p:sp>
        <p:grpSp>
          <p:nvGrpSpPr>
            <p:cNvPr id="171" name="Google Shape;171;p9"/>
            <p:cNvGrpSpPr/>
            <p:nvPr/>
          </p:nvGrpSpPr>
          <p:grpSpPr>
            <a:xfrm>
              <a:off x="297001" y="1592237"/>
              <a:ext cx="459474" cy="403823"/>
              <a:chOff x="5892512" y="2805541"/>
              <a:chExt cx="459474" cy="403823"/>
            </a:xfrm>
          </p:grpSpPr>
          <p:sp>
            <p:nvSpPr>
              <p:cNvPr id="172" name="Google Shape;172;p9"/>
              <p:cNvSpPr/>
              <p:nvPr/>
            </p:nvSpPr>
            <p:spPr>
              <a:xfrm>
                <a:off x="5956277" y="2824919"/>
                <a:ext cx="395709" cy="376075"/>
              </a:xfrm>
              <a:prstGeom prst="ellipse">
                <a:avLst/>
              </a:prstGeom>
              <a:solidFill>
                <a:srgbClr val="72983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sp>
            <p:nvSpPr>
              <p:cNvPr id="173" name="Google Shape;173;p9"/>
              <p:cNvSpPr/>
              <p:nvPr/>
            </p:nvSpPr>
            <p:spPr>
              <a:xfrm>
                <a:off x="5892512" y="2805541"/>
                <a:ext cx="424906" cy="403823"/>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sp>
            <p:nvSpPr>
              <p:cNvPr id="174" name="Google Shape;174;p9"/>
              <p:cNvSpPr/>
              <p:nvPr/>
            </p:nvSpPr>
            <p:spPr>
              <a:xfrm rot="5400000">
                <a:off x="6076285" y="2946262"/>
                <a:ext cx="186870" cy="122381"/>
              </a:xfrm>
              <a:prstGeom prst="triangle">
                <a:avLst>
                  <a:gd fmla="val 50000" name="adj"/>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300" u="none" cap="none" strike="noStrike">
                  <a:solidFill>
                    <a:schemeClr val="lt1"/>
                  </a:solidFill>
                  <a:latin typeface="Calibri"/>
                  <a:ea typeface="Calibri"/>
                  <a:cs typeface="Calibri"/>
                  <a:sym typeface="Calibri"/>
                </a:endParaRPr>
              </a:p>
            </p:txBody>
          </p:sp>
        </p:grpSp>
      </p:grpSp>
      <p:sp>
        <p:nvSpPr>
          <p:cNvPr id="175" name="Google Shape;175;p9"/>
          <p:cNvSpPr txBox="1"/>
          <p:nvPr/>
        </p:nvSpPr>
        <p:spPr>
          <a:xfrm>
            <a:off x="509864" y="919439"/>
            <a:ext cx="7765576"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chemeClr val="dk1"/>
                </a:solidFill>
                <a:highlight>
                  <a:srgbClr val="FFFFFF"/>
                </a:highlight>
                <a:latin typeface="Calibri"/>
                <a:ea typeface="Calibri"/>
                <a:cs typeface="Calibri"/>
                <a:sym typeface="Calibri"/>
              </a:rPr>
              <a:t>TECNOLOGÍAS Y HERRAMIENTAS</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0"/>
          <p:cNvSpPr txBox="1"/>
          <p:nvPr/>
        </p:nvSpPr>
        <p:spPr>
          <a:xfrm>
            <a:off x="509864" y="919439"/>
            <a:ext cx="7765576"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1600" u="none" cap="none" strike="noStrike">
                <a:solidFill>
                  <a:schemeClr val="dk1"/>
                </a:solidFill>
                <a:highlight>
                  <a:srgbClr val="FFFFFF"/>
                </a:highlight>
                <a:latin typeface="Calibri"/>
                <a:ea typeface="Calibri"/>
                <a:cs typeface="Calibri"/>
                <a:sym typeface="Calibri"/>
              </a:rPr>
              <a:t>BENEFICIOS DE LA INTEGRACIÓN DE APLICACIONES</a:t>
            </a:r>
            <a:endParaRPr b="0" i="0" sz="1600" u="none" cap="none" strike="noStrike">
              <a:solidFill>
                <a:srgbClr val="000000"/>
              </a:solidFill>
              <a:latin typeface="Calibri"/>
              <a:ea typeface="Calibri"/>
              <a:cs typeface="Calibri"/>
              <a:sym typeface="Calibri"/>
            </a:endParaRPr>
          </a:p>
        </p:txBody>
      </p:sp>
      <p:sp>
        <p:nvSpPr>
          <p:cNvPr id="182" name="Google Shape;182;p10"/>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INTEGRACIÓN DE APLICACIONES </a:t>
            </a:r>
            <a:endParaRPr/>
          </a:p>
        </p:txBody>
      </p:sp>
      <p:cxnSp>
        <p:nvCxnSpPr>
          <p:cNvPr id="183" name="Google Shape;183;p10"/>
          <p:cNvCxnSpPr/>
          <p:nvPr/>
        </p:nvCxnSpPr>
        <p:spPr>
          <a:xfrm>
            <a:off x="722046" y="1706797"/>
            <a:ext cx="0" cy="652090"/>
          </a:xfrm>
          <a:prstGeom prst="straightConnector1">
            <a:avLst/>
          </a:prstGeom>
          <a:noFill/>
          <a:ln cap="flat" cmpd="sng" w="9525">
            <a:solidFill>
              <a:srgbClr val="EE4639"/>
            </a:solidFill>
            <a:prstDash val="solid"/>
            <a:round/>
            <a:headEnd len="sm" w="sm" type="none"/>
            <a:tailEnd len="sm" w="sm" type="none"/>
          </a:ln>
        </p:spPr>
      </p:cxnSp>
      <p:cxnSp>
        <p:nvCxnSpPr>
          <p:cNvPr id="184" name="Google Shape;184;p10"/>
          <p:cNvCxnSpPr/>
          <p:nvPr/>
        </p:nvCxnSpPr>
        <p:spPr>
          <a:xfrm>
            <a:off x="722046" y="2579217"/>
            <a:ext cx="0" cy="640643"/>
          </a:xfrm>
          <a:prstGeom prst="straightConnector1">
            <a:avLst/>
          </a:prstGeom>
          <a:noFill/>
          <a:ln cap="flat" cmpd="sng" w="9525">
            <a:solidFill>
              <a:srgbClr val="EE4639"/>
            </a:solidFill>
            <a:prstDash val="solid"/>
            <a:round/>
            <a:headEnd len="sm" w="sm" type="none"/>
            <a:tailEnd len="sm" w="sm" type="none"/>
          </a:ln>
        </p:spPr>
      </p:cxnSp>
      <p:grpSp>
        <p:nvGrpSpPr>
          <p:cNvPr id="185" name="Google Shape;185;p10"/>
          <p:cNvGrpSpPr/>
          <p:nvPr/>
        </p:nvGrpSpPr>
        <p:grpSpPr>
          <a:xfrm>
            <a:off x="645704" y="1503927"/>
            <a:ext cx="6265306" cy="646331"/>
            <a:chOff x="645704" y="1503927"/>
            <a:chExt cx="6265306" cy="646331"/>
          </a:xfrm>
        </p:grpSpPr>
        <p:sp>
          <p:nvSpPr>
            <p:cNvPr id="186" name="Google Shape;186;p10"/>
            <p:cNvSpPr/>
            <p:nvPr/>
          </p:nvSpPr>
          <p:spPr>
            <a:xfrm>
              <a:off x="936448" y="1503927"/>
              <a:ext cx="5974562" cy="64633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1400" u="none" cap="none" strike="noStrike">
                  <a:solidFill>
                    <a:schemeClr val="accent2"/>
                  </a:solidFill>
                  <a:latin typeface="Calibri"/>
                  <a:ea typeface="Calibri"/>
                  <a:cs typeface="Calibri"/>
                  <a:sym typeface="Calibri"/>
                </a:rPr>
                <a:t>MEJORA DEL FLUJO DE INFORMACIÓN:</a:t>
              </a:r>
              <a:endParaRPr b="1" i="0" sz="1400" u="none" cap="none" strike="noStrike">
                <a:solidFill>
                  <a:schemeClr val="accent2"/>
                </a:solidFill>
                <a:latin typeface="Calibri"/>
                <a:ea typeface="Calibri"/>
                <a:cs typeface="Calibri"/>
                <a:sym typeface="Calibri"/>
              </a:endParaRPr>
            </a:p>
            <a:p>
              <a:pPr indent="0" lvl="0" marL="0" marR="0" rtl="0" algn="l">
                <a:lnSpc>
                  <a:spcPct val="100000"/>
                </a:lnSpc>
                <a:spcBef>
                  <a:spcPts val="0"/>
                </a:spcBef>
                <a:spcAft>
                  <a:spcPts val="0"/>
                </a:spcAft>
                <a:buNone/>
              </a:pPr>
              <a:r>
                <a:rPr b="0" i="0" lang="es-ES" sz="1400" u="none" cap="none" strike="noStrike">
                  <a:solidFill>
                    <a:schemeClr val="dk1"/>
                  </a:solidFill>
                  <a:latin typeface="Calibri"/>
                  <a:ea typeface="Calibri"/>
                  <a:cs typeface="Calibri"/>
                  <a:sym typeface="Calibri"/>
                </a:rPr>
                <a:t>Facilita el intercambio de datos entre sistemas, asegurando que la información esté disponible donde se necesita.</a:t>
              </a:r>
              <a:endParaRPr b="0" i="0" sz="1400" u="none" cap="none" strike="noStrike">
                <a:solidFill>
                  <a:srgbClr val="000000"/>
                </a:solidFill>
                <a:latin typeface="Calibri"/>
                <a:ea typeface="Calibri"/>
                <a:cs typeface="Calibri"/>
                <a:sym typeface="Calibri"/>
              </a:endParaRPr>
            </a:p>
          </p:txBody>
        </p:sp>
        <p:sp>
          <p:nvSpPr>
            <p:cNvPr id="187" name="Google Shape;187;p10"/>
            <p:cNvSpPr/>
            <p:nvPr/>
          </p:nvSpPr>
          <p:spPr>
            <a:xfrm>
              <a:off x="645704" y="1513699"/>
              <a:ext cx="152683" cy="152683"/>
            </a:xfrm>
            <a:prstGeom prst="mathPlus">
              <a:avLst>
                <a:gd fmla="val 15202" name="adj1"/>
              </a:avLst>
            </a:prstGeom>
            <a:solidFill>
              <a:srgbClr val="EE46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grpSp>
      <p:grpSp>
        <p:nvGrpSpPr>
          <p:cNvPr id="188" name="Google Shape;188;p10"/>
          <p:cNvGrpSpPr/>
          <p:nvPr/>
        </p:nvGrpSpPr>
        <p:grpSpPr>
          <a:xfrm>
            <a:off x="645704" y="2375537"/>
            <a:ext cx="6265306" cy="646331"/>
            <a:chOff x="645704" y="2571526"/>
            <a:chExt cx="6265306" cy="646331"/>
          </a:xfrm>
        </p:grpSpPr>
        <p:sp>
          <p:nvSpPr>
            <p:cNvPr id="189" name="Google Shape;189;p10"/>
            <p:cNvSpPr/>
            <p:nvPr/>
          </p:nvSpPr>
          <p:spPr>
            <a:xfrm>
              <a:off x="936448" y="2571526"/>
              <a:ext cx="5974562" cy="64633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1400" u="none" cap="none" strike="noStrike">
                  <a:solidFill>
                    <a:schemeClr val="accent2"/>
                  </a:solidFill>
                  <a:latin typeface="Calibri"/>
                  <a:ea typeface="Calibri"/>
                  <a:cs typeface="Calibri"/>
                  <a:sym typeface="Calibri"/>
                </a:rPr>
                <a:t>AUTOMATIZACIÓN DE PROCESOS:</a:t>
              </a:r>
              <a:endParaRPr b="1" i="0" sz="1400" u="none" cap="none" strike="noStrike">
                <a:solidFill>
                  <a:schemeClr val="accent2"/>
                </a:solidFill>
                <a:latin typeface="Calibri"/>
                <a:ea typeface="Calibri"/>
                <a:cs typeface="Calibri"/>
                <a:sym typeface="Calibri"/>
              </a:endParaRPr>
            </a:p>
            <a:p>
              <a:pPr indent="0" lvl="0" marL="0" marR="0" rtl="0" algn="l">
                <a:lnSpc>
                  <a:spcPct val="100000"/>
                </a:lnSpc>
                <a:spcBef>
                  <a:spcPts val="0"/>
                </a:spcBef>
                <a:spcAft>
                  <a:spcPts val="0"/>
                </a:spcAft>
                <a:buNone/>
              </a:pPr>
              <a:r>
                <a:rPr b="0" i="0" lang="es-ES" sz="1400" u="none" cap="none" strike="noStrike">
                  <a:solidFill>
                    <a:schemeClr val="dk1"/>
                  </a:solidFill>
                  <a:latin typeface="Calibri"/>
                  <a:ea typeface="Calibri"/>
                  <a:cs typeface="Calibri"/>
                  <a:sym typeface="Calibri"/>
                </a:rPr>
                <a:t>Reduce la necesidad de intervención manual y errores al automatizar flujos de trabajo.</a:t>
              </a:r>
              <a:endParaRPr b="0" i="0" sz="1400" u="none" cap="none" strike="noStrike">
                <a:solidFill>
                  <a:srgbClr val="000000"/>
                </a:solidFill>
                <a:latin typeface="Calibri"/>
                <a:ea typeface="Calibri"/>
                <a:cs typeface="Calibri"/>
                <a:sym typeface="Calibri"/>
              </a:endParaRPr>
            </a:p>
          </p:txBody>
        </p:sp>
        <p:sp>
          <p:nvSpPr>
            <p:cNvPr id="190" name="Google Shape;190;p10"/>
            <p:cNvSpPr/>
            <p:nvPr/>
          </p:nvSpPr>
          <p:spPr>
            <a:xfrm>
              <a:off x="645704" y="2582414"/>
              <a:ext cx="152683" cy="152683"/>
            </a:xfrm>
            <a:prstGeom prst="mathPlus">
              <a:avLst>
                <a:gd fmla="val 15202" name="adj1"/>
              </a:avLst>
            </a:prstGeom>
            <a:solidFill>
              <a:srgbClr val="EE46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grpSp>
      <p:grpSp>
        <p:nvGrpSpPr>
          <p:cNvPr id="191" name="Google Shape;191;p10"/>
          <p:cNvGrpSpPr/>
          <p:nvPr/>
        </p:nvGrpSpPr>
        <p:grpSpPr>
          <a:xfrm>
            <a:off x="645704" y="3247147"/>
            <a:ext cx="6265306" cy="646331"/>
            <a:chOff x="645704" y="3530639"/>
            <a:chExt cx="6265306" cy="646331"/>
          </a:xfrm>
        </p:grpSpPr>
        <p:sp>
          <p:nvSpPr>
            <p:cNvPr id="192" name="Google Shape;192;p10"/>
            <p:cNvSpPr/>
            <p:nvPr/>
          </p:nvSpPr>
          <p:spPr>
            <a:xfrm>
              <a:off x="936448" y="3530639"/>
              <a:ext cx="5974562" cy="64633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1400" u="none" cap="none" strike="noStrike">
                  <a:solidFill>
                    <a:schemeClr val="accent2"/>
                  </a:solidFill>
                  <a:latin typeface="Calibri"/>
                  <a:ea typeface="Calibri"/>
                  <a:cs typeface="Calibri"/>
                  <a:sym typeface="Calibri"/>
                </a:rPr>
                <a:t>ESCALABILIDAD Y FLEXIBILIDAD:</a:t>
              </a:r>
              <a:endParaRPr b="1" i="0" sz="1400" u="none" cap="none" strike="noStrike">
                <a:solidFill>
                  <a:schemeClr val="accent2"/>
                </a:solidFill>
                <a:latin typeface="Calibri"/>
                <a:ea typeface="Calibri"/>
                <a:cs typeface="Calibri"/>
                <a:sym typeface="Calibri"/>
              </a:endParaRPr>
            </a:p>
            <a:p>
              <a:pPr indent="0" lvl="0" marL="0" marR="0" rtl="0" algn="l">
                <a:lnSpc>
                  <a:spcPct val="100000"/>
                </a:lnSpc>
                <a:spcBef>
                  <a:spcPts val="0"/>
                </a:spcBef>
                <a:spcAft>
                  <a:spcPts val="0"/>
                </a:spcAft>
                <a:buNone/>
              </a:pPr>
              <a:r>
                <a:rPr b="0" i="0" lang="es-ES" sz="1400" u="none" cap="none" strike="noStrike">
                  <a:solidFill>
                    <a:schemeClr val="dk1"/>
                  </a:solidFill>
                  <a:latin typeface="Calibri"/>
                  <a:ea typeface="Calibri"/>
                  <a:cs typeface="Calibri"/>
                  <a:sym typeface="Calibri"/>
                </a:rPr>
                <a:t>Permite a las organizaciones adaptar y escalar sus sistemas según las necesidades del negocio.</a:t>
              </a:r>
              <a:endParaRPr b="0" i="0" sz="1400" u="none" cap="none" strike="noStrike">
                <a:solidFill>
                  <a:srgbClr val="000000"/>
                </a:solidFill>
                <a:latin typeface="Calibri"/>
                <a:ea typeface="Calibri"/>
                <a:cs typeface="Calibri"/>
                <a:sym typeface="Calibri"/>
              </a:endParaRPr>
            </a:p>
          </p:txBody>
        </p:sp>
        <p:sp>
          <p:nvSpPr>
            <p:cNvPr id="193" name="Google Shape;193;p10"/>
            <p:cNvSpPr/>
            <p:nvPr/>
          </p:nvSpPr>
          <p:spPr>
            <a:xfrm>
              <a:off x="645704" y="3530639"/>
              <a:ext cx="152683" cy="152683"/>
            </a:xfrm>
            <a:prstGeom prst="mathPlus">
              <a:avLst>
                <a:gd fmla="val 15202" name="adj1"/>
              </a:avLst>
            </a:prstGeom>
            <a:solidFill>
              <a:srgbClr val="EE46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grpSp>
      <p:grpSp>
        <p:nvGrpSpPr>
          <p:cNvPr id="194" name="Google Shape;194;p10"/>
          <p:cNvGrpSpPr/>
          <p:nvPr/>
        </p:nvGrpSpPr>
        <p:grpSpPr>
          <a:xfrm>
            <a:off x="645704" y="4118758"/>
            <a:ext cx="6265306" cy="430887"/>
            <a:chOff x="645704" y="3530639"/>
            <a:chExt cx="6265306" cy="430887"/>
          </a:xfrm>
        </p:grpSpPr>
        <p:sp>
          <p:nvSpPr>
            <p:cNvPr id="195" name="Google Shape;195;p10"/>
            <p:cNvSpPr/>
            <p:nvPr/>
          </p:nvSpPr>
          <p:spPr>
            <a:xfrm>
              <a:off x="936448" y="3530639"/>
              <a:ext cx="5974562" cy="43088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1400" u="none" cap="none" strike="noStrike">
                  <a:solidFill>
                    <a:schemeClr val="accent2"/>
                  </a:solidFill>
                  <a:latin typeface="Calibri"/>
                  <a:ea typeface="Calibri"/>
                  <a:cs typeface="Calibri"/>
                  <a:sym typeface="Calibri"/>
                </a:rPr>
                <a:t>EFICIENCIA OPERATIVA: </a:t>
              </a:r>
              <a:r>
                <a:rPr b="0" i="0" lang="es-ES" sz="1400" u="none" cap="none" strike="noStrike">
                  <a:solidFill>
                    <a:schemeClr val="dk1"/>
                  </a:solidFill>
                  <a:latin typeface="Calibri"/>
                  <a:ea typeface="Calibri"/>
                  <a:cs typeface="Calibri"/>
                  <a:sym typeface="Calibri"/>
                </a:rPr>
                <a:t>Optimiza el uso de recursos al integrar y consolidar procesos y datos.</a:t>
              </a:r>
              <a:endParaRPr/>
            </a:p>
          </p:txBody>
        </p:sp>
        <p:sp>
          <p:nvSpPr>
            <p:cNvPr id="196" name="Google Shape;196;p10"/>
            <p:cNvSpPr/>
            <p:nvPr/>
          </p:nvSpPr>
          <p:spPr>
            <a:xfrm>
              <a:off x="645704" y="3530639"/>
              <a:ext cx="152683" cy="152683"/>
            </a:xfrm>
            <a:prstGeom prst="mathPlus">
              <a:avLst>
                <a:gd fmla="val 15202" name="adj1"/>
              </a:avLst>
            </a:prstGeom>
            <a:solidFill>
              <a:srgbClr val="EE463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grpSp>
      <p:cxnSp>
        <p:nvCxnSpPr>
          <p:cNvPr id="197" name="Google Shape;197;p10"/>
          <p:cNvCxnSpPr/>
          <p:nvPr/>
        </p:nvCxnSpPr>
        <p:spPr>
          <a:xfrm>
            <a:off x="722046" y="3440190"/>
            <a:ext cx="0" cy="640643"/>
          </a:xfrm>
          <a:prstGeom prst="straightConnector1">
            <a:avLst/>
          </a:prstGeom>
          <a:noFill/>
          <a:ln cap="flat" cmpd="sng" w="9525">
            <a:solidFill>
              <a:srgbClr val="EE4639"/>
            </a:solidFill>
            <a:prstDash val="solid"/>
            <a:round/>
            <a:headEnd len="sm" w="sm" type="none"/>
            <a:tailEnd len="sm" w="sm"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43"/>
          <p:cNvSpPr/>
          <p:nvPr/>
        </p:nvSpPr>
        <p:spPr>
          <a:xfrm>
            <a:off x="0" y="0"/>
            <a:ext cx="9144000" cy="5715000"/>
          </a:xfrm>
          <a:prstGeom prst="rect">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04" name="Google Shape;204;p43"/>
          <p:cNvSpPr txBox="1"/>
          <p:nvPr/>
        </p:nvSpPr>
        <p:spPr>
          <a:xfrm>
            <a:off x="1008063" y="3169972"/>
            <a:ext cx="2188793" cy="387798"/>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s-ES" sz="2800" u="none" cap="none" strike="noStrike">
                <a:solidFill>
                  <a:schemeClr val="lt1"/>
                </a:solidFill>
                <a:latin typeface="Arial"/>
                <a:ea typeface="Arial"/>
                <a:cs typeface="Arial"/>
                <a:sym typeface="Arial"/>
              </a:rPr>
              <a:t>JAVA</a:t>
            </a:r>
            <a:endParaRPr/>
          </a:p>
        </p:txBody>
      </p:sp>
      <p:pic>
        <p:nvPicPr>
          <p:cNvPr id="205" name="Google Shape;205;p43"/>
          <p:cNvPicPr preferRelativeResize="0"/>
          <p:nvPr/>
        </p:nvPicPr>
        <p:blipFill rotWithShape="1">
          <a:blip r:embed="rId3">
            <a:alphaModFix/>
          </a:blip>
          <a:srcRect b="0" l="0" r="0" t="0"/>
          <a:stretch/>
        </p:blipFill>
        <p:spPr>
          <a:xfrm>
            <a:off x="1008063" y="2869612"/>
            <a:ext cx="195423" cy="20125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2"/>
          <p:cNvSpPr txBox="1"/>
          <p:nvPr/>
        </p:nvSpPr>
        <p:spPr>
          <a:xfrm>
            <a:off x="509864" y="919439"/>
            <a:ext cx="3882749" cy="253915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rgbClr val="0D0D0D"/>
                </a:solidFill>
                <a:highlight>
                  <a:srgbClr val="FFFFFF"/>
                </a:highlight>
                <a:latin typeface="Calibri"/>
                <a:ea typeface="Calibri"/>
                <a:cs typeface="Calibri"/>
                <a:sym typeface="Calibri"/>
              </a:rPr>
              <a:t>INTEGRACIÓN DE APLICACIONES CON JAVA</a:t>
            </a:r>
            <a:endParaRPr b="0" i="0" sz="1600" u="none" cap="none" strike="noStrike">
              <a:solidFill>
                <a:srgbClr val="374151"/>
              </a:solidFill>
              <a:latin typeface="Calibri"/>
              <a:ea typeface="Calibri"/>
              <a:cs typeface="Calibri"/>
              <a:sym typeface="Calibri"/>
            </a:endParaRPr>
          </a:p>
          <a:p>
            <a:pPr indent="-177800" lvl="0" marL="177800" marR="0" rtl="0" algn="l">
              <a:lnSpc>
                <a:spcPct val="100000"/>
              </a:lnSpc>
              <a:spcBef>
                <a:spcPts val="600"/>
              </a:spcBef>
              <a:spcAft>
                <a:spcPts val="0"/>
              </a:spcAft>
              <a:buClr>
                <a:schemeClr val="dk1"/>
              </a:buClr>
              <a:buSzPts val="1600"/>
              <a:buFont typeface="Arial"/>
              <a:buChar char="•"/>
            </a:pPr>
            <a:r>
              <a:rPr b="0" i="0" lang="es-ES" sz="1600" u="none" cap="none" strike="noStrike">
                <a:solidFill>
                  <a:schemeClr val="dk1"/>
                </a:solidFill>
                <a:latin typeface="Calibri"/>
                <a:ea typeface="Calibri"/>
                <a:cs typeface="Calibri"/>
                <a:sym typeface="Calibri"/>
              </a:rPr>
              <a:t>La integración de aplicaciones con Java implica conectar múltiples sistemas o componentes para que trabajen juntos como un sistema unificado. </a:t>
            </a:r>
            <a:endParaRPr b="0" i="0" sz="1600" u="none" cap="none" strike="noStrike">
              <a:solidFill>
                <a:srgbClr val="000000"/>
              </a:solidFill>
              <a:latin typeface="Calibri"/>
              <a:ea typeface="Calibri"/>
              <a:cs typeface="Calibri"/>
              <a:sym typeface="Calibri"/>
            </a:endParaRPr>
          </a:p>
          <a:p>
            <a:pPr indent="-76200" lvl="0" marL="17780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Calibri"/>
              <a:ea typeface="Calibri"/>
              <a:cs typeface="Calibri"/>
              <a:sym typeface="Calibri"/>
            </a:endParaRPr>
          </a:p>
          <a:p>
            <a:pPr indent="-177800" lvl="0" marL="177800" marR="0" rtl="0" algn="l">
              <a:lnSpc>
                <a:spcPct val="100000"/>
              </a:lnSpc>
              <a:spcBef>
                <a:spcPts val="0"/>
              </a:spcBef>
              <a:spcAft>
                <a:spcPts val="0"/>
              </a:spcAft>
              <a:buClr>
                <a:schemeClr val="dk1"/>
              </a:buClr>
              <a:buSzPts val="1600"/>
              <a:buFont typeface="Arial"/>
              <a:buChar char="•"/>
            </a:pPr>
            <a:r>
              <a:rPr b="0" i="0" lang="es-ES" sz="1600" u="none" cap="none" strike="noStrike">
                <a:solidFill>
                  <a:schemeClr val="dk1"/>
                </a:solidFill>
                <a:latin typeface="Calibri"/>
                <a:ea typeface="Calibri"/>
                <a:cs typeface="Calibri"/>
                <a:sym typeface="Calibri"/>
              </a:rPr>
              <a:t>Java ofrece un conjunto robusto de herramientas, frameworks y tecnologías que facilitan la integración de aplicaciones tanto en entornos locales como en la nube.</a:t>
            </a:r>
            <a:endParaRPr b="1" i="0" sz="1600" u="none" cap="none" strike="noStrike">
              <a:solidFill>
                <a:srgbClr val="262626"/>
              </a:solidFill>
              <a:latin typeface="Calibri"/>
              <a:ea typeface="Calibri"/>
              <a:cs typeface="Calibri"/>
              <a:sym typeface="Calibri"/>
            </a:endParaRPr>
          </a:p>
        </p:txBody>
      </p:sp>
      <p:sp>
        <p:nvSpPr>
          <p:cNvPr id="212" name="Google Shape;212;p12"/>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JAVA</a:t>
            </a:r>
            <a:endParaRPr/>
          </a:p>
        </p:txBody>
      </p:sp>
      <p:pic>
        <p:nvPicPr>
          <p:cNvPr id="213" name="Google Shape;213;p12"/>
          <p:cNvPicPr preferRelativeResize="0"/>
          <p:nvPr/>
        </p:nvPicPr>
        <p:blipFill rotWithShape="1">
          <a:blip r:embed="rId3">
            <a:alphaModFix/>
          </a:blip>
          <a:srcRect b="0" l="33247" r="33077" t="0"/>
          <a:stretch/>
        </p:blipFill>
        <p:spPr>
          <a:xfrm>
            <a:off x="5552662" y="866431"/>
            <a:ext cx="2445026" cy="4084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3"/>
          <p:cNvSpPr txBox="1"/>
          <p:nvPr/>
        </p:nvSpPr>
        <p:spPr>
          <a:xfrm>
            <a:off x="509864" y="919439"/>
            <a:ext cx="3975997"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chemeClr val="dk1"/>
                </a:solidFill>
                <a:highlight>
                  <a:srgbClr val="FFFFFF"/>
                </a:highlight>
                <a:latin typeface="Calibri"/>
                <a:ea typeface="Calibri"/>
                <a:cs typeface="Calibri"/>
                <a:sym typeface="Calibri"/>
              </a:rPr>
              <a:t>ESTRATEGIAS DE INTEGRACIÓN</a:t>
            </a:r>
            <a:endParaRPr b="0" i="0" sz="1400" u="none" cap="none" strike="noStrike">
              <a:solidFill>
                <a:schemeClr val="dk1"/>
              </a:solidFill>
              <a:latin typeface="Arial"/>
              <a:ea typeface="Arial"/>
              <a:cs typeface="Arial"/>
              <a:sym typeface="Arial"/>
            </a:endParaRPr>
          </a:p>
        </p:txBody>
      </p:sp>
      <p:sp>
        <p:nvSpPr>
          <p:cNvPr id="220" name="Google Shape;220;p13"/>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JAVA</a:t>
            </a:r>
            <a:endParaRPr/>
          </a:p>
        </p:txBody>
      </p:sp>
      <p:sp>
        <p:nvSpPr>
          <p:cNvPr id="221" name="Google Shape;221;p13"/>
          <p:cNvSpPr/>
          <p:nvPr/>
        </p:nvSpPr>
        <p:spPr>
          <a:xfrm>
            <a:off x="503237" y="1294154"/>
            <a:ext cx="7057127" cy="358559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2000" u="none" cap="none" strike="noStrike">
                <a:solidFill>
                  <a:srgbClr val="EE4639"/>
                </a:solidFill>
                <a:latin typeface="Arial"/>
                <a:ea typeface="Arial"/>
                <a:cs typeface="Arial"/>
                <a:sym typeface="Arial"/>
              </a:rPr>
              <a:t>+ 01.</a:t>
            </a:r>
            <a:br>
              <a:rPr b="1" i="0" lang="es-ES" sz="1600" u="none" cap="none" strike="noStrike">
                <a:solidFill>
                  <a:srgbClr val="EE4639"/>
                </a:solidFill>
                <a:latin typeface="Calibri"/>
                <a:ea typeface="Calibri"/>
                <a:cs typeface="Calibri"/>
                <a:sym typeface="Calibri"/>
              </a:rPr>
            </a:br>
            <a:r>
              <a:rPr b="1" i="0" lang="es-ES" sz="1600" u="none" cap="none" strike="noStrike">
                <a:solidFill>
                  <a:srgbClr val="EE4639"/>
                </a:solidFill>
                <a:latin typeface="Calibri"/>
                <a:ea typeface="Calibri"/>
                <a:cs typeface="Calibri"/>
                <a:sym typeface="Calibri"/>
              </a:rPr>
              <a:t>INTEGRACIÓN BASADA EN APIS RESTFUL</a:t>
            </a:r>
            <a:endParaRPr b="1" i="0" sz="1600" u="none" cap="none" strike="noStrike">
              <a:solidFill>
                <a:srgbClr val="EE4639"/>
              </a:solidFill>
              <a:latin typeface="Calibri"/>
              <a:ea typeface="Calibri"/>
              <a:cs typeface="Calibri"/>
              <a:sym typeface="Calibri"/>
            </a:endParaRPr>
          </a:p>
          <a:p>
            <a:pPr indent="-166688" lvl="0" marL="177800" marR="0" rtl="0" algn="l">
              <a:lnSpc>
                <a:spcPct val="100000"/>
              </a:lnSpc>
              <a:spcBef>
                <a:spcPts val="600"/>
              </a:spcBef>
              <a:spcAft>
                <a:spcPts val="0"/>
              </a:spcAft>
              <a:buClr>
                <a:schemeClr val="accent2"/>
              </a:buClr>
              <a:buSzPts val="1600"/>
              <a:buFont typeface="Arial"/>
              <a:buChar char="•"/>
            </a:pPr>
            <a:r>
              <a:rPr b="1" i="0" lang="es-ES" sz="1600" u="none" cap="none" strike="noStrike">
                <a:solidFill>
                  <a:srgbClr val="000000"/>
                </a:solidFill>
                <a:latin typeface="Calibri"/>
                <a:ea typeface="Calibri"/>
                <a:cs typeface="Calibri"/>
                <a:sym typeface="Calibri"/>
              </a:rPr>
              <a:t>Descripción: </a:t>
            </a:r>
            <a:r>
              <a:rPr b="0" i="0" lang="es-ES" sz="1600" u="none" cap="none" strike="noStrike">
                <a:solidFill>
                  <a:srgbClr val="000000"/>
                </a:solidFill>
                <a:latin typeface="Calibri"/>
                <a:ea typeface="Calibri"/>
                <a:cs typeface="Calibri"/>
                <a:sym typeface="Calibri"/>
              </a:rPr>
              <a:t>Las APIs RESTful permiten la comunicación entre sistemas a través de HTTP, utilizando un enfoque de solicitud-respuesta. </a:t>
            </a:r>
            <a:endParaRPr/>
          </a:p>
          <a:p>
            <a:pPr indent="-65087" lvl="0" marL="177800" marR="0" rtl="0" algn="l">
              <a:lnSpc>
                <a:spcPct val="100000"/>
              </a:lnSpc>
              <a:spcBef>
                <a:spcPts val="0"/>
              </a:spcBef>
              <a:spcAft>
                <a:spcPts val="0"/>
              </a:spcAft>
              <a:buClr>
                <a:schemeClr val="accent2"/>
              </a:buClr>
              <a:buSzPts val="1600"/>
              <a:buFont typeface="Arial"/>
              <a:buNone/>
            </a:pPr>
            <a:r>
              <a:t/>
            </a:r>
            <a:endParaRPr b="0" i="0" sz="1600" u="none" cap="none" strike="noStrike">
              <a:solidFill>
                <a:srgbClr val="000000"/>
              </a:solidFill>
              <a:latin typeface="Calibri"/>
              <a:ea typeface="Calibri"/>
              <a:cs typeface="Calibri"/>
              <a:sym typeface="Calibri"/>
            </a:endParaRPr>
          </a:p>
          <a:p>
            <a:pPr indent="-179388" lvl="0" marL="357188" marR="0" rtl="0" algn="l">
              <a:lnSpc>
                <a:spcPct val="100000"/>
              </a:lnSpc>
              <a:spcBef>
                <a:spcPts val="0"/>
              </a:spcBef>
              <a:spcAft>
                <a:spcPts val="0"/>
              </a:spcAft>
              <a:buClr>
                <a:schemeClr val="accent2"/>
              </a:buClr>
              <a:buSzPts val="1600"/>
              <a:buFont typeface="Arial"/>
              <a:buChar char="•"/>
            </a:pPr>
            <a:r>
              <a:rPr b="0" i="0" lang="es-ES" sz="1600" u="none" cap="none" strike="noStrike">
                <a:solidFill>
                  <a:srgbClr val="000000"/>
                </a:solidFill>
                <a:latin typeface="Calibri"/>
                <a:ea typeface="Calibri"/>
                <a:cs typeface="Calibri"/>
                <a:sym typeface="Calibri"/>
              </a:rPr>
              <a:t>Es una estrategia común para integrar aplicaciones web, microservicios y sistemas móviles.</a:t>
            </a:r>
            <a:endParaRPr/>
          </a:p>
          <a:p>
            <a:pPr indent="-65087" lvl="0" marL="177800" marR="0" rtl="0" algn="l">
              <a:lnSpc>
                <a:spcPct val="100000"/>
              </a:lnSpc>
              <a:spcBef>
                <a:spcPts val="0"/>
              </a:spcBef>
              <a:spcAft>
                <a:spcPts val="0"/>
              </a:spcAft>
              <a:buClr>
                <a:schemeClr val="accent2"/>
              </a:buClr>
              <a:buSzPts val="1600"/>
              <a:buFont typeface="Arial"/>
              <a:buNone/>
            </a:pPr>
            <a:r>
              <a:t/>
            </a:r>
            <a:endParaRPr b="0" i="0" sz="1600" u="none" cap="none" strike="noStrike">
              <a:solidFill>
                <a:srgbClr val="000000"/>
              </a:solidFill>
              <a:latin typeface="Calibri"/>
              <a:ea typeface="Calibri"/>
              <a:cs typeface="Calibri"/>
              <a:sym typeface="Calibri"/>
            </a:endParaRPr>
          </a:p>
          <a:p>
            <a:pPr indent="-166688" lvl="0" marL="177800" marR="0" rtl="0" algn="l">
              <a:lnSpc>
                <a:spcPct val="100000"/>
              </a:lnSpc>
              <a:spcBef>
                <a:spcPts val="0"/>
              </a:spcBef>
              <a:spcAft>
                <a:spcPts val="0"/>
              </a:spcAft>
              <a:buClr>
                <a:schemeClr val="accent2"/>
              </a:buClr>
              <a:buSzPts val="1600"/>
              <a:buFont typeface="Arial"/>
              <a:buChar char="•"/>
            </a:pPr>
            <a:r>
              <a:rPr b="1" i="0" lang="es-ES" sz="1600" u="none" cap="none" strike="noStrike">
                <a:solidFill>
                  <a:srgbClr val="000000"/>
                </a:solidFill>
                <a:latin typeface="Calibri"/>
                <a:ea typeface="Calibri"/>
                <a:cs typeface="Calibri"/>
                <a:sym typeface="Calibri"/>
              </a:rPr>
              <a:t>Tecnologías:</a:t>
            </a:r>
            <a:endParaRPr b="0" i="0" sz="1600" u="none" cap="none" strike="noStrike">
              <a:solidFill>
                <a:srgbClr val="000000"/>
              </a:solidFill>
              <a:latin typeface="Calibri"/>
              <a:ea typeface="Calibri"/>
              <a:cs typeface="Calibri"/>
              <a:sym typeface="Calibri"/>
            </a:endParaRPr>
          </a:p>
          <a:p>
            <a:pPr indent="-179388" lvl="0" marL="357188" marR="0" rtl="0" algn="l">
              <a:lnSpc>
                <a:spcPct val="100000"/>
              </a:lnSpc>
              <a:spcBef>
                <a:spcPts val="0"/>
              </a:spcBef>
              <a:spcAft>
                <a:spcPts val="0"/>
              </a:spcAft>
              <a:buClr>
                <a:schemeClr val="accent2"/>
              </a:buClr>
              <a:buSzPts val="1600"/>
              <a:buFont typeface="Arial"/>
              <a:buChar char="•"/>
            </a:pPr>
            <a:r>
              <a:rPr b="1" i="0" lang="es-ES" sz="1600" u="none" cap="none" strike="noStrike">
                <a:solidFill>
                  <a:srgbClr val="000000"/>
                </a:solidFill>
                <a:latin typeface="Calibri"/>
                <a:ea typeface="Calibri"/>
                <a:cs typeface="Calibri"/>
                <a:sym typeface="Calibri"/>
              </a:rPr>
              <a:t>Spring Boot: </a:t>
            </a:r>
            <a:r>
              <a:rPr b="0" i="0" lang="es-ES" sz="1600" u="none" cap="none" strike="noStrike">
                <a:solidFill>
                  <a:srgbClr val="000000"/>
                </a:solidFill>
                <a:latin typeface="Calibri"/>
                <a:ea typeface="Calibri"/>
                <a:cs typeface="Calibri"/>
                <a:sym typeface="Calibri"/>
              </a:rPr>
              <a:t>Facilita la creación de APIs RESTful en Java de manera rápida y sencilla.</a:t>
            </a:r>
            <a:endParaRPr/>
          </a:p>
          <a:p>
            <a:pPr indent="-77788" lvl="0" marL="357188" marR="0" rtl="0" algn="l">
              <a:lnSpc>
                <a:spcPct val="100000"/>
              </a:lnSpc>
              <a:spcBef>
                <a:spcPts val="0"/>
              </a:spcBef>
              <a:spcAft>
                <a:spcPts val="0"/>
              </a:spcAft>
              <a:buClr>
                <a:schemeClr val="accent2"/>
              </a:buClr>
              <a:buSzPts val="1600"/>
              <a:buFont typeface="Arial"/>
              <a:buNone/>
            </a:pPr>
            <a:r>
              <a:t/>
            </a:r>
            <a:endParaRPr b="0" i="0" sz="1600" u="none" cap="none" strike="noStrike">
              <a:solidFill>
                <a:srgbClr val="000000"/>
              </a:solidFill>
              <a:latin typeface="Calibri"/>
              <a:ea typeface="Calibri"/>
              <a:cs typeface="Calibri"/>
              <a:sym typeface="Calibri"/>
            </a:endParaRPr>
          </a:p>
          <a:p>
            <a:pPr indent="-179388" lvl="0" marL="357188" marR="0" rtl="0" algn="l">
              <a:lnSpc>
                <a:spcPct val="100000"/>
              </a:lnSpc>
              <a:spcBef>
                <a:spcPts val="0"/>
              </a:spcBef>
              <a:spcAft>
                <a:spcPts val="0"/>
              </a:spcAft>
              <a:buClr>
                <a:schemeClr val="accent2"/>
              </a:buClr>
              <a:buSzPts val="1600"/>
              <a:buFont typeface="Arial"/>
              <a:buChar char="•"/>
            </a:pPr>
            <a:r>
              <a:rPr b="1" i="0" lang="es-ES" sz="1600" u="none" cap="none" strike="noStrike">
                <a:solidFill>
                  <a:srgbClr val="000000"/>
                </a:solidFill>
                <a:latin typeface="Calibri"/>
                <a:ea typeface="Calibri"/>
                <a:cs typeface="Calibri"/>
                <a:sym typeface="Calibri"/>
              </a:rPr>
              <a:t>JAX-RS (Java API for RESTful Web Services): </a:t>
            </a:r>
            <a:r>
              <a:rPr b="0" i="0" lang="es-ES" sz="1600" u="none" cap="none" strike="noStrike">
                <a:solidFill>
                  <a:srgbClr val="000000"/>
                </a:solidFill>
                <a:latin typeface="Calibri"/>
                <a:ea typeface="Calibri"/>
                <a:cs typeface="Calibri"/>
                <a:sym typeface="Calibri"/>
              </a:rPr>
              <a:t>Parte de Java EE (ahora Jakarta EE) para desarrollar servicios RESTful.</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4"/>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JAVA</a:t>
            </a:r>
            <a:endParaRPr/>
          </a:p>
        </p:txBody>
      </p:sp>
      <p:sp>
        <p:nvSpPr>
          <p:cNvPr id="228" name="Google Shape;228;p14"/>
          <p:cNvSpPr txBox="1"/>
          <p:nvPr/>
        </p:nvSpPr>
        <p:spPr>
          <a:xfrm>
            <a:off x="509864" y="919439"/>
            <a:ext cx="3975997"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chemeClr val="dk1"/>
                </a:solidFill>
                <a:highlight>
                  <a:srgbClr val="FFFFFF"/>
                </a:highlight>
                <a:latin typeface="Calibri"/>
                <a:ea typeface="Calibri"/>
                <a:cs typeface="Calibri"/>
                <a:sym typeface="Calibri"/>
              </a:rPr>
              <a:t>ESTRATEGIAS DE INTEGRACIÓN</a:t>
            </a:r>
            <a:endParaRPr b="0" i="0" sz="1400" u="none" cap="none" strike="noStrike">
              <a:solidFill>
                <a:schemeClr val="dk1"/>
              </a:solidFill>
              <a:latin typeface="Arial"/>
              <a:ea typeface="Arial"/>
              <a:cs typeface="Arial"/>
              <a:sym typeface="Arial"/>
            </a:endParaRPr>
          </a:p>
        </p:txBody>
      </p:sp>
      <p:sp>
        <p:nvSpPr>
          <p:cNvPr id="229" name="Google Shape;229;p14"/>
          <p:cNvSpPr/>
          <p:nvPr/>
        </p:nvSpPr>
        <p:spPr>
          <a:xfrm>
            <a:off x="503237" y="1294154"/>
            <a:ext cx="7056437" cy="33393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2000" u="none" cap="none" strike="noStrike">
                <a:solidFill>
                  <a:srgbClr val="EE4639"/>
                </a:solidFill>
                <a:latin typeface="Arial"/>
                <a:ea typeface="Arial"/>
                <a:cs typeface="Arial"/>
                <a:sym typeface="Arial"/>
              </a:rPr>
              <a:t>+ 02.</a:t>
            </a:r>
            <a:br>
              <a:rPr b="1" i="0" lang="es-ES" sz="1600" u="none" cap="none" strike="noStrike">
                <a:solidFill>
                  <a:srgbClr val="EE4639"/>
                </a:solidFill>
                <a:latin typeface="Calibri"/>
                <a:ea typeface="Calibri"/>
                <a:cs typeface="Calibri"/>
                <a:sym typeface="Calibri"/>
              </a:rPr>
            </a:br>
            <a:r>
              <a:rPr b="1" i="0" lang="es-ES" sz="1600" u="none" cap="none" strike="noStrike">
                <a:solidFill>
                  <a:srgbClr val="EE4639"/>
                </a:solidFill>
                <a:latin typeface="Calibri"/>
                <a:ea typeface="Calibri"/>
                <a:cs typeface="Calibri"/>
                <a:sym typeface="Calibri"/>
              </a:rPr>
              <a:t>INTEGRACIÓN A TRAVÉS DE MENSAJERÍA ASÍNCRONA</a:t>
            </a:r>
            <a:endParaRPr b="1" i="0" sz="1600" u="none" cap="none" strike="noStrike">
              <a:solidFill>
                <a:srgbClr val="EE4639"/>
              </a:solidFill>
              <a:latin typeface="Calibri"/>
              <a:ea typeface="Calibri"/>
              <a:cs typeface="Calibri"/>
              <a:sym typeface="Calibri"/>
            </a:endParaRPr>
          </a:p>
          <a:p>
            <a:pPr indent="-166688" lvl="0" marL="177800" marR="0" rtl="0" algn="l">
              <a:lnSpc>
                <a:spcPct val="100000"/>
              </a:lnSpc>
              <a:spcBef>
                <a:spcPts val="600"/>
              </a:spcBef>
              <a:spcAft>
                <a:spcPts val="0"/>
              </a:spcAft>
              <a:buClr>
                <a:schemeClr val="accent2"/>
              </a:buClr>
              <a:buSzPts val="1600"/>
              <a:buFont typeface="Arial"/>
              <a:buChar char="•"/>
            </a:pPr>
            <a:r>
              <a:rPr b="1" i="0" lang="es-ES" sz="1600" u="none" cap="none" strike="noStrike">
                <a:solidFill>
                  <a:srgbClr val="000000"/>
                </a:solidFill>
                <a:latin typeface="Calibri"/>
                <a:ea typeface="Calibri"/>
                <a:cs typeface="Calibri"/>
                <a:sym typeface="Calibri"/>
              </a:rPr>
              <a:t>Descripción: </a:t>
            </a:r>
            <a:r>
              <a:rPr b="0" i="0" lang="es-ES" sz="1600" u="none" cap="none" strike="noStrike">
                <a:solidFill>
                  <a:srgbClr val="000000"/>
                </a:solidFill>
                <a:latin typeface="Calibri"/>
                <a:ea typeface="Calibri"/>
                <a:cs typeface="Calibri"/>
                <a:sym typeface="Calibri"/>
              </a:rPr>
              <a:t>Los sistemas se comunican a través de colas de mensajes o sistemas de mensajería, lo que permite la comunicación asíncrona y desacopla los sistemas, mejorando la resiliencia y escalabilidad.</a:t>
            </a:r>
            <a:endParaRPr/>
          </a:p>
          <a:p>
            <a:pPr indent="-65087" lvl="0" marL="177800" marR="0" rtl="0" algn="l">
              <a:lnSpc>
                <a:spcPct val="100000"/>
              </a:lnSpc>
              <a:spcBef>
                <a:spcPts val="0"/>
              </a:spcBef>
              <a:spcAft>
                <a:spcPts val="0"/>
              </a:spcAft>
              <a:buClr>
                <a:schemeClr val="accent2"/>
              </a:buClr>
              <a:buSzPts val="1600"/>
              <a:buFont typeface="Arial"/>
              <a:buNone/>
            </a:pPr>
            <a:r>
              <a:t/>
            </a:r>
            <a:endParaRPr b="1" i="0" sz="1600" u="none" cap="none" strike="noStrike">
              <a:solidFill>
                <a:srgbClr val="000000"/>
              </a:solidFill>
              <a:latin typeface="Calibri"/>
              <a:ea typeface="Calibri"/>
              <a:cs typeface="Calibri"/>
              <a:sym typeface="Calibri"/>
            </a:endParaRPr>
          </a:p>
          <a:p>
            <a:pPr indent="-166688" lvl="0" marL="177800" marR="0" rtl="0" algn="l">
              <a:lnSpc>
                <a:spcPct val="100000"/>
              </a:lnSpc>
              <a:spcBef>
                <a:spcPts val="0"/>
              </a:spcBef>
              <a:spcAft>
                <a:spcPts val="0"/>
              </a:spcAft>
              <a:buClr>
                <a:schemeClr val="accent2"/>
              </a:buClr>
              <a:buSzPts val="1600"/>
              <a:buFont typeface="Arial"/>
              <a:buChar char="•"/>
            </a:pPr>
            <a:r>
              <a:rPr b="1" i="0" lang="es-ES" sz="1600" u="none" cap="none" strike="noStrike">
                <a:solidFill>
                  <a:srgbClr val="000000"/>
                </a:solidFill>
                <a:latin typeface="Calibri"/>
                <a:ea typeface="Calibri"/>
                <a:cs typeface="Calibri"/>
                <a:sym typeface="Calibri"/>
              </a:rPr>
              <a:t>Tecnologías:</a:t>
            </a:r>
            <a:endParaRPr/>
          </a:p>
          <a:p>
            <a:pPr indent="-179388" lvl="0" marL="357188" marR="0" rtl="0" algn="l">
              <a:lnSpc>
                <a:spcPct val="100000"/>
              </a:lnSpc>
              <a:spcBef>
                <a:spcPts val="0"/>
              </a:spcBef>
              <a:spcAft>
                <a:spcPts val="0"/>
              </a:spcAft>
              <a:buClr>
                <a:schemeClr val="accent2"/>
              </a:buClr>
              <a:buSzPts val="1600"/>
              <a:buFont typeface="Arial"/>
              <a:buChar char="•"/>
            </a:pPr>
            <a:r>
              <a:rPr b="1" i="0" lang="es-ES" sz="1600" u="none" cap="none" strike="noStrike">
                <a:solidFill>
                  <a:srgbClr val="000000"/>
                </a:solidFill>
                <a:latin typeface="Calibri"/>
                <a:ea typeface="Calibri"/>
                <a:cs typeface="Calibri"/>
                <a:sym typeface="Calibri"/>
              </a:rPr>
              <a:t>JMS (Java Message Service): </a:t>
            </a:r>
            <a:r>
              <a:rPr b="0" i="0" lang="es-ES" sz="1600" u="none" cap="none" strike="noStrike">
                <a:solidFill>
                  <a:srgbClr val="000000"/>
                </a:solidFill>
                <a:latin typeface="Calibri"/>
                <a:ea typeface="Calibri"/>
                <a:cs typeface="Calibri"/>
                <a:sym typeface="Calibri"/>
              </a:rPr>
              <a:t>Proporciona una API estándar para enviar y recibir mensajes.</a:t>
            </a:r>
            <a:endParaRPr/>
          </a:p>
          <a:p>
            <a:pPr indent="-77788" lvl="0" marL="357188" marR="0" rtl="0" algn="l">
              <a:lnSpc>
                <a:spcPct val="100000"/>
              </a:lnSpc>
              <a:spcBef>
                <a:spcPts val="0"/>
              </a:spcBef>
              <a:spcAft>
                <a:spcPts val="0"/>
              </a:spcAft>
              <a:buClr>
                <a:schemeClr val="accent2"/>
              </a:buClr>
              <a:buSzPts val="1600"/>
              <a:buFont typeface="Arial"/>
              <a:buNone/>
            </a:pPr>
            <a:r>
              <a:t/>
            </a:r>
            <a:endParaRPr b="1" i="0" sz="1600" u="none" cap="none" strike="noStrike">
              <a:solidFill>
                <a:srgbClr val="000000"/>
              </a:solidFill>
              <a:latin typeface="Calibri"/>
              <a:ea typeface="Calibri"/>
              <a:cs typeface="Calibri"/>
              <a:sym typeface="Calibri"/>
            </a:endParaRPr>
          </a:p>
          <a:p>
            <a:pPr indent="-179388" lvl="0" marL="357188" marR="0" rtl="0" algn="l">
              <a:lnSpc>
                <a:spcPct val="100000"/>
              </a:lnSpc>
              <a:spcBef>
                <a:spcPts val="0"/>
              </a:spcBef>
              <a:spcAft>
                <a:spcPts val="0"/>
              </a:spcAft>
              <a:buClr>
                <a:schemeClr val="accent2"/>
              </a:buClr>
              <a:buSzPts val="1600"/>
              <a:buFont typeface="Arial"/>
              <a:buChar char="•"/>
            </a:pPr>
            <a:r>
              <a:rPr b="1" i="0" lang="es-ES" sz="1600" u="none" cap="none" strike="noStrike">
                <a:solidFill>
                  <a:srgbClr val="000000"/>
                </a:solidFill>
                <a:latin typeface="Calibri"/>
                <a:ea typeface="Calibri"/>
                <a:cs typeface="Calibri"/>
                <a:sym typeface="Calibri"/>
              </a:rPr>
              <a:t>Apache Kafka, RabbitMQ: </a:t>
            </a:r>
            <a:r>
              <a:rPr b="0" i="0" lang="es-ES" sz="1600" u="none" cap="none" strike="noStrike">
                <a:solidFill>
                  <a:srgbClr val="000000"/>
                </a:solidFill>
                <a:latin typeface="Calibri"/>
                <a:ea typeface="Calibri"/>
                <a:cs typeface="Calibri"/>
                <a:sym typeface="Calibri"/>
              </a:rPr>
              <a:t>Plataformas de mensajería populares que pueden integrarse fácilmente con aplicaciones Java utilizando clientes nativos o Spring Cloud Stream.</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5"/>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JAVA</a:t>
            </a:r>
            <a:endParaRPr/>
          </a:p>
        </p:txBody>
      </p:sp>
      <p:sp>
        <p:nvSpPr>
          <p:cNvPr id="236" name="Google Shape;236;p15"/>
          <p:cNvSpPr txBox="1"/>
          <p:nvPr/>
        </p:nvSpPr>
        <p:spPr>
          <a:xfrm>
            <a:off x="509864" y="919439"/>
            <a:ext cx="3975997"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chemeClr val="dk1"/>
                </a:solidFill>
                <a:highlight>
                  <a:srgbClr val="FFFFFF"/>
                </a:highlight>
                <a:latin typeface="Calibri"/>
                <a:ea typeface="Calibri"/>
                <a:cs typeface="Calibri"/>
                <a:sym typeface="Calibri"/>
              </a:rPr>
              <a:t>ESTRATEGIAS DE INTEGRACIÓN</a:t>
            </a:r>
            <a:endParaRPr b="0" i="0" sz="1400" u="none" cap="none" strike="noStrike">
              <a:solidFill>
                <a:schemeClr val="dk1"/>
              </a:solidFill>
              <a:latin typeface="Arial"/>
              <a:ea typeface="Arial"/>
              <a:cs typeface="Arial"/>
              <a:sym typeface="Arial"/>
            </a:endParaRPr>
          </a:p>
        </p:txBody>
      </p:sp>
      <p:sp>
        <p:nvSpPr>
          <p:cNvPr id="237" name="Google Shape;237;p15"/>
          <p:cNvSpPr/>
          <p:nvPr/>
        </p:nvSpPr>
        <p:spPr>
          <a:xfrm>
            <a:off x="503237" y="1294154"/>
            <a:ext cx="7056437" cy="26007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2000" u="none" cap="none" strike="noStrike">
                <a:solidFill>
                  <a:srgbClr val="EE4639"/>
                </a:solidFill>
                <a:latin typeface="Arial"/>
                <a:ea typeface="Arial"/>
                <a:cs typeface="Arial"/>
                <a:sym typeface="Arial"/>
              </a:rPr>
              <a:t>+ 03.</a:t>
            </a:r>
            <a:br>
              <a:rPr b="1" i="0" lang="es-ES" sz="1600" u="none" cap="none" strike="noStrike">
                <a:solidFill>
                  <a:srgbClr val="EE4639"/>
                </a:solidFill>
                <a:latin typeface="Calibri"/>
                <a:ea typeface="Calibri"/>
                <a:cs typeface="Calibri"/>
                <a:sym typeface="Calibri"/>
              </a:rPr>
            </a:br>
            <a:r>
              <a:rPr b="1" i="0" lang="es-ES" sz="1600" u="none" cap="none" strike="noStrike">
                <a:solidFill>
                  <a:srgbClr val="EE4639"/>
                </a:solidFill>
                <a:latin typeface="Calibri"/>
                <a:ea typeface="Calibri"/>
                <a:cs typeface="Calibri"/>
                <a:sym typeface="Calibri"/>
              </a:rPr>
              <a:t>INTEGRACIÓN MEDIANTE SOA (ARQUITECTURA ORIENTADA A SERVICIOS)</a:t>
            </a:r>
            <a:endParaRPr b="1" i="0" sz="1600" u="none" cap="none" strike="noStrike">
              <a:solidFill>
                <a:srgbClr val="EE4639"/>
              </a:solidFill>
              <a:latin typeface="Calibri"/>
              <a:ea typeface="Calibri"/>
              <a:cs typeface="Calibri"/>
              <a:sym typeface="Calibri"/>
            </a:endParaRPr>
          </a:p>
          <a:p>
            <a:pPr indent="-166688" lvl="0" marL="177800" marR="0" rtl="0" algn="l">
              <a:lnSpc>
                <a:spcPct val="100000"/>
              </a:lnSpc>
              <a:spcBef>
                <a:spcPts val="600"/>
              </a:spcBef>
              <a:spcAft>
                <a:spcPts val="0"/>
              </a:spcAft>
              <a:buClr>
                <a:schemeClr val="accent2"/>
              </a:buClr>
              <a:buSzPts val="1600"/>
              <a:buFont typeface="Arial"/>
              <a:buChar char="•"/>
            </a:pPr>
            <a:r>
              <a:rPr b="1" i="0" lang="es-ES" sz="1600" u="none" cap="none" strike="noStrike">
                <a:solidFill>
                  <a:srgbClr val="000000"/>
                </a:solidFill>
                <a:latin typeface="Calibri"/>
                <a:ea typeface="Calibri"/>
                <a:cs typeface="Calibri"/>
                <a:sym typeface="Calibri"/>
              </a:rPr>
              <a:t>Descripción: </a:t>
            </a:r>
            <a:r>
              <a:rPr b="0" i="0" lang="es-ES" sz="1600" u="none" cap="none" strike="noStrike">
                <a:solidFill>
                  <a:srgbClr val="000000"/>
                </a:solidFill>
                <a:latin typeface="Calibri"/>
                <a:ea typeface="Calibri"/>
                <a:cs typeface="Calibri"/>
                <a:sym typeface="Calibri"/>
              </a:rPr>
              <a:t>SOA organiza la funcionalidad del software como servicios reutilizables y modulares que pueden ser consumidos por diferentes aplicaciones.</a:t>
            </a:r>
            <a:endParaRPr/>
          </a:p>
          <a:p>
            <a:pPr indent="-65087" lvl="0" marL="177800" marR="0" rtl="0" algn="l">
              <a:lnSpc>
                <a:spcPct val="100000"/>
              </a:lnSpc>
              <a:spcBef>
                <a:spcPts val="0"/>
              </a:spcBef>
              <a:spcAft>
                <a:spcPts val="0"/>
              </a:spcAft>
              <a:buClr>
                <a:schemeClr val="accent2"/>
              </a:buClr>
              <a:buSzPts val="1600"/>
              <a:buFont typeface="Arial"/>
              <a:buNone/>
            </a:pPr>
            <a:r>
              <a:t/>
            </a:r>
            <a:endParaRPr b="1" i="0" sz="1600" u="none" cap="none" strike="noStrike">
              <a:solidFill>
                <a:srgbClr val="000000"/>
              </a:solidFill>
              <a:latin typeface="Calibri"/>
              <a:ea typeface="Calibri"/>
              <a:cs typeface="Calibri"/>
              <a:sym typeface="Calibri"/>
            </a:endParaRPr>
          </a:p>
          <a:p>
            <a:pPr indent="-166688" lvl="0" marL="177800" marR="0" rtl="0" algn="l">
              <a:lnSpc>
                <a:spcPct val="100000"/>
              </a:lnSpc>
              <a:spcBef>
                <a:spcPts val="0"/>
              </a:spcBef>
              <a:spcAft>
                <a:spcPts val="0"/>
              </a:spcAft>
              <a:buClr>
                <a:schemeClr val="accent2"/>
              </a:buClr>
              <a:buSzPts val="1600"/>
              <a:buFont typeface="Arial"/>
              <a:buChar char="•"/>
            </a:pPr>
            <a:r>
              <a:rPr b="1" i="0" lang="es-ES" sz="1600" u="none" cap="none" strike="noStrike">
                <a:solidFill>
                  <a:srgbClr val="000000"/>
                </a:solidFill>
                <a:latin typeface="Calibri"/>
                <a:ea typeface="Calibri"/>
                <a:cs typeface="Calibri"/>
                <a:sym typeface="Calibri"/>
              </a:rPr>
              <a:t>Tecnologías:</a:t>
            </a:r>
            <a:endParaRPr/>
          </a:p>
          <a:p>
            <a:pPr indent="-179388" lvl="0" marL="357188" marR="0" rtl="0" algn="l">
              <a:lnSpc>
                <a:spcPct val="100000"/>
              </a:lnSpc>
              <a:spcBef>
                <a:spcPts val="0"/>
              </a:spcBef>
              <a:spcAft>
                <a:spcPts val="0"/>
              </a:spcAft>
              <a:buClr>
                <a:schemeClr val="accent2"/>
              </a:buClr>
              <a:buSzPts val="1600"/>
              <a:buFont typeface="Arial"/>
              <a:buChar char="•"/>
            </a:pPr>
            <a:r>
              <a:rPr b="1" i="0" lang="es-ES" sz="1600" u="none" cap="none" strike="noStrike">
                <a:solidFill>
                  <a:srgbClr val="000000"/>
                </a:solidFill>
                <a:latin typeface="Calibri"/>
                <a:ea typeface="Calibri"/>
                <a:cs typeface="Calibri"/>
                <a:sym typeface="Calibri"/>
              </a:rPr>
              <a:t>Apache CXF, Axis2: </a:t>
            </a:r>
            <a:r>
              <a:rPr b="0" i="0" lang="es-ES" sz="1600" u="none" cap="none" strike="noStrike">
                <a:solidFill>
                  <a:srgbClr val="000000"/>
                </a:solidFill>
                <a:latin typeface="Calibri"/>
                <a:ea typeface="Calibri"/>
                <a:cs typeface="Calibri"/>
                <a:sym typeface="Calibri"/>
              </a:rPr>
              <a:t>Frameworks que permiten construir y consumir servicios web basados en SOAP.</a:t>
            </a:r>
            <a:endParaRPr/>
          </a:p>
          <a:p>
            <a:pPr indent="-77788" lvl="0" marL="357188" marR="0" rtl="0" algn="l">
              <a:lnSpc>
                <a:spcPct val="100000"/>
              </a:lnSpc>
              <a:spcBef>
                <a:spcPts val="0"/>
              </a:spcBef>
              <a:spcAft>
                <a:spcPts val="0"/>
              </a:spcAft>
              <a:buClr>
                <a:schemeClr val="accent2"/>
              </a:buClr>
              <a:buSzPts val="1600"/>
              <a:buFont typeface="Arial"/>
              <a:buNone/>
            </a:pPr>
            <a:r>
              <a:t/>
            </a:r>
            <a:endParaRPr b="1" i="0" sz="1600" u="none" cap="none" strike="noStrike">
              <a:solidFill>
                <a:srgbClr val="000000"/>
              </a:solidFill>
              <a:latin typeface="Calibri"/>
              <a:ea typeface="Calibri"/>
              <a:cs typeface="Calibri"/>
              <a:sym typeface="Calibri"/>
            </a:endParaRPr>
          </a:p>
          <a:p>
            <a:pPr indent="-179388" lvl="0" marL="357188" marR="0" rtl="0" algn="l">
              <a:lnSpc>
                <a:spcPct val="100000"/>
              </a:lnSpc>
              <a:spcBef>
                <a:spcPts val="0"/>
              </a:spcBef>
              <a:spcAft>
                <a:spcPts val="0"/>
              </a:spcAft>
              <a:buClr>
                <a:schemeClr val="accent2"/>
              </a:buClr>
              <a:buSzPts val="1600"/>
              <a:buFont typeface="Arial"/>
              <a:buChar char="•"/>
            </a:pPr>
            <a:r>
              <a:rPr b="1" i="0" lang="es-ES" sz="1600" u="none" cap="none" strike="noStrike">
                <a:solidFill>
                  <a:srgbClr val="000000"/>
                </a:solidFill>
                <a:latin typeface="Calibri"/>
                <a:ea typeface="Calibri"/>
                <a:cs typeface="Calibri"/>
                <a:sym typeface="Calibri"/>
              </a:rPr>
              <a:t>Spring Web Services: </a:t>
            </a:r>
            <a:r>
              <a:rPr b="0" i="0" lang="es-ES" sz="1600" u="none" cap="none" strike="noStrike">
                <a:solidFill>
                  <a:srgbClr val="000000"/>
                </a:solidFill>
                <a:latin typeface="Calibri"/>
                <a:ea typeface="Calibri"/>
                <a:cs typeface="Calibri"/>
                <a:sym typeface="Calibri"/>
              </a:rPr>
              <a:t>Permite crear servicios web contract-first en Spring.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6"/>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JAVA</a:t>
            </a:r>
            <a:endParaRPr/>
          </a:p>
        </p:txBody>
      </p:sp>
      <p:sp>
        <p:nvSpPr>
          <p:cNvPr id="244" name="Google Shape;244;p16"/>
          <p:cNvSpPr txBox="1"/>
          <p:nvPr/>
        </p:nvSpPr>
        <p:spPr>
          <a:xfrm>
            <a:off x="509864" y="919439"/>
            <a:ext cx="3975997"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chemeClr val="dk1"/>
                </a:solidFill>
                <a:highlight>
                  <a:srgbClr val="FFFFFF"/>
                </a:highlight>
                <a:latin typeface="Calibri"/>
                <a:ea typeface="Calibri"/>
                <a:cs typeface="Calibri"/>
                <a:sym typeface="Calibri"/>
              </a:rPr>
              <a:t>ESTRATEGIAS DE INTEGRACIÓN</a:t>
            </a:r>
            <a:endParaRPr b="0" i="0" sz="1400" u="none" cap="none" strike="noStrike">
              <a:solidFill>
                <a:schemeClr val="dk1"/>
              </a:solidFill>
              <a:latin typeface="Arial"/>
              <a:ea typeface="Arial"/>
              <a:cs typeface="Arial"/>
              <a:sym typeface="Arial"/>
            </a:endParaRPr>
          </a:p>
        </p:txBody>
      </p:sp>
      <p:sp>
        <p:nvSpPr>
          <p:cNvPr id="245" name="Google Shape;245;p16"/>
          <p:cNvSpPr/>
          <p:nvPr/>
        </p:nvSpPr>
        <p:spPr>
          <a:xfrm>
            <a:off x="503237" y="1294154"/>
            <a:ext cx="6964363" cy="358559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2000" u="none" cap="none" strike="noStrike">
                <a:solidFill>
                  <a:srgbClr val="EE4639"/>
                </a:solidFill>
                <a:latin typeface="Arial"/>
                <a:ea typeface="Arial"/>
                <a:cs typeface="Arial"/>
                <a:sym typeface="Arial"/>
              </a:rPr>
              <a:t>+ 04.</a:t>
            </a:r>
            <a:br>
              <a:rPr b="1" i="0" lang="es-ES" sz="1600" u="none" cap="none" strike="noStrike">
                <a:solidFill>
                  <a:srgbClr val="EE4639"/>
                </a:solidFill>
                <a:latin typeface="Calibri"/>
                <a:ea typeface="Calibri"/>
                <a:cs typeface="Calibri"/>
                <a:sym typeface="Calibri"/>
              </a:rPr>
            </a:br>
            <a:r>
              <a:rPr b="1" i="0" lang="es-ES" sz="1600" u="none" cap="none" strike="noStrike">
                <a:solidFill>
                  <a:srgbClr val="EE4639"/>
                </a:solidFill>
                <a:latin typeface="Calibri"/>
                <a:ea typeface="Calibri"/>
                <a:cs typeface="Calibri"/>
                <a:sym typeface="Calibri"/>
              </a:rPr>
              <a:t>INTEGRACIÓN A TRAVÉS DE MIDDLEWARE</a:t>
            </a:r>
            <a:endParaRPr b="1" i="0" sz="1600" u="none" cap="none" strike="noStrike">
              <a:solidFill>
                <a:srgbClr val="EE4639"/>
              </a:solidFill>
              <a:latin typeface="Calibri"/>
              <a:ea typeface="Calibri"/>
              <a:cs typeface="Calibri"/>
              <a:sym typeface="Calibri"/>
            </a:endParaRPr>
          </a:p>
          <a:p>
            <a:pPr indent="-166688" lvl="0" marL="177800" marR="0" rtl="0" algn="l">
              <a:lnSpc>
                <a:spcPct val="100000"/>
              </a:lnSpc>
              <a:spcBef>
                <a:spcPts val="600"/>
              </a:spcBef>
              <a:spcAft>
                <a:spcPts val="0"/>
              </a:spcAft>
              <a:buClr>
                <a:schemeClr val="accent2"/>
              </a:buClr>
              <a:buSzPts val="1600"/>
              <a:buFont typeface="Arial"/>
              <a:buChar char="•"/>
            </a:pPr>
            <a:r>
              <a:rPr b="1" i="0" lang="es-ES" sz="1600" u="none" cap="none" strike="noStrike">
                <a:solidFill>
                  <a:srgbClr val="000000"/>
                </a:solidFill>
                <a:latin typeface="Calibri"/>
                <a:ea typeface="Calibri"/>
                <a:cs typeface="Calibri"/>
                <a:sym typeface="Calibri"/>
              </a:rPr>
              <a:t>Descripción: </a:t>
            </a:r>
            <a:r>
              <a:rPr b="0" i="0" lang="es-ES" sz="1600" u="none" cap="none" strike="noStrike">
                <a:solidFill>
                  <a:srgbClr val="000000"/>
                </a:solidFill>
                <a:latin typeface="Calibri"/>
                <a:ea typeface="Calibri"/>
                <a:cs typeface="Calibri"/>
                <a:sym typeface="Calibri"/>
              </a:rPr>
              <a:t>El middleware facilita la comunicación y gestión de datos entre aplicaciones dispares. Es útil en entornos empresariales donde las aplicaciones deben trabajar juntas de manera confiable.</a:t>
            </a:r>
            <a:endParaRPr/>
          </a:p>
          <a:p>
            <a:pPr indent="-65087" lvl="0" marL="177800" marR="0" rtl="0" algn="l">
              <a:lnSpc>
                <a:spcPct val="100000"/>
              </a:lnSpc>
              <a:spcBef>
                <a:spcPts val="0"/>
              </a:spcBef>
              <a:spcAft>
                <a:spcPts val="0"/>
              </a:spcAft>
              <a:buClr>
                <a:schemeClr val="accent2"/>
              </a:buClr>
              <a:buSzPts val="1600"/>
              <a:buFont typeface="Arial"/>
              <a:buNone/>
            </a:pPr>
            <a:r>
              <a:t/>
            </a:r>
            <a:endParaRPr b="1" i="0" sz="1600" u="none" cap="none" strike="noStrike">
              <a:solidFill>
                <a:srgbClr val="000000"/>
              </a:solidFill>
              <a:latin typeface="Calibri"/>
              <a:ea typeface="Calibri"/>
              <a:cs typeface="Calibri"/>
              <a:sym typeface="Calibri"/>
            </a:endParaRPr>
          </a:p>
          <a:p>
            <a:pPr indent="-166688" lvl="0" marL="177800" marR="0" rtl="0" algn="l">
              <a:lnSpc>
                <a:spcPct val="100000"/>
              </a:lnSpc>
              <a:spcBef>
                <a:spcPts val="0"/>
              </a:spcBef>
              <a:spcAft>
                <a:spcPts val="0"/>
              </a:spcAft>
              <a:buClr>
                <a:schemeClr val="accent2"/>
              </a:buClr>
              <a:buSzPts val="1600"/>
              <a:buFont typeface="Arial"/>
              <a:buChar char="•"/>
            </a:pPr>
            <a:r>
              <a:rPr b="1" i="0" lang="es-ES" sz="1600" u="none" cap="none" strike="noStrike">
                <a:solidFill>
                  <a:srgbClr val="000000"/>
                </a:solidFill>
                <a:latin typeface="Calibri"/>
                <a:ea typeface="Calibri"/>
                <a:cs typeface="Calibri"/>
                <a:sym typeface="Calibri"/>
              </a:rPr>
              <a:t>Tecnologías:</a:t>
            </a:r>
            <a:endParaRPr/>
          </a:p>
          <a:p>
            <a:pPr indent="-179388" lvl="0" marL="357188" marR="0" rtl="0" algn="l">
              <a:lnSpc>
                <a:spcPct val="100000"/>
              </a:lnSpc>
              <a:spcBef>
                <a:spcPts val="0"/>
              </a:spcBef>
              <a:spcAft>
                <a:spcPts val="0"/>
              </a:spcAft>
              <a:buClr>
                <a:schemeClr val="accent2"/>
              </a:buClr>
              <a:buSzPts val="1600"/>
              <a:buFont typeface="Arial"/>
              <a:buChar char="•"/>
            </a:pPr>
            <a:r>
              <a:rPr b="1" i="0" lang="es-ES" sz="1600" u="none" cap="none" strike="noStrike">
                <a:solidFill>
                  <a:srgbClr val="000000"/>
                </a:solidFill>
                <a:latin typeface="Calibri"/>
                <a:ea typeface="Calibri"/>
                <a:cs typeface="Calibri"/>
                <a:sym typeface="Calibri"/>
              </a:rPr>
              <a:t>Apache Camel: </a:t>
            </a:r>
            <a:r>
              <a:rPr b="0" i="0" lang="es-ES" sz="1600" u="none" cap="none" strike="noStrike">
                <a:solidFill>
                  <a:srgbClr val="000000"/>
                </a:solidFill>
                <a:latin typeface="Calibri"/>
                <a:ea typeface="Calibri"/>
                <a:cs typeface="Calibri"/>
                <a:sym typeface="Calibri"/>
              </a:rPr>
              <a:t>Un framework de integración que implementa patrones de integración empresarial (EIP) y conecta aplicaciones a través de rutas de mensajes.</a:t>
            </a:r>
            <a:endParaRPr/>
          </a:p>
          <a:p>
            <a:pPr indent="-77788" lvl="0" marL="357188" marR="0" rtl="0" algn="l">
              <a:lnSpc>
                <a:spcPct val="100000"/>
              </a:lnSpc>
              <a:spcBef>
                <a:spcPts val="0"/>
              </a:spcBef>
              <a:spcAft>
                <a:spcPts val="0"/>
              </a:spcAft>
              <a:buClr>
                <a:schemeClr val="accent2"/>
              </a:buClr>
              <a:buSzPts val="1600"/>
              <a:buFont typeface="Arial"/>
              <a:buNone/>
            </a:pPr>
            <a:r>
              <a:t/>
            </a:r>
            <a:endParaRPr b="1" i="0" sz="1600" u="none" cap="none" strike="noStrike">
              <a:solidFill>
                <a:srgbClr val="000000"/>
              </a:solidFill>
              <a:latin typeface="Calibri"/>
              <a:ea typeface="Calibri"/>
              <a:cs typeface="Calibri"/>
              <a:sym typeface="Calibri"/>
            </a:endParaRPr>
          </a:p>
          <a:p>
            <a:pPr indent="-179388" lvl="0" marL="357188" marR="0" rtl="0" algn="l">
              <a:lnSpc>
                <a:spcPct val="100000"/>
              </a:lnSpc>
              <a:spcBef>
                <a:spcPts val="0"/>
              </a:spcBef>
              <a:spcAft>
                <a:spcPts val="0"/>
              </a:spcAft>
              <a:buClr>
                <a:schemeClr val="accent2"/>
              </a:buClr>
              <a:buSzPts val="1600"/>
              <a:buFont typeface="Arial"/>
              <a:buChar char="•"/>
            </a:pPr>
            <a:r>
              <a:rPr b="1" i="0" lang="es-ES" sz="1600" u="none" cap="none" strike="noStrike">
                <a:solidFill>
                  <a:srgbClr val="000000"/>
                </a:solidFill>
                <a:latin typeface="Calibri"/>
                <a:ea typeface="Calibri"/>
                <a:cs typeface="Calibri"/>
                <a:sym typeface="Calibri"/>
              </a:rPr>
              <a:t>Spring Integration: </a:t>
            </a:r>
            <a:r>
              <a:rPr b="0" i="0" lang="es-ES" sz="1600" u="none" cap="none" strike="noStrike">
                <a:solidFill>
                  <a:srgbClr val="000000"/>
                </a:solidFill>
                <a:latin typeface="Calibri"/>
                <a:ea typeface="Calibri"/>
                <a:cs typeface="Calibri"/>
                <a:sym typeface="Calibri"/>
              </a:rPr>
              <a:t>Un módulo de Spring que proporciona una implementación de patrones de integración empresarial para construir soluciones integradas con facilidad.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7"/>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JAVA</a:t>
            </a:r>
            <a:endParaRPr/>
          </a:p>
        </p:txBody>
      </p:sp>
      <p:sp>
        <p:nvSpPr>
          <p:cNvPr id="252" name="Google Shape;252;p17"/>
          <p:cNvSpPr txBox="1"/>
          <p:nvPr/>
        </p:nvSpPr>
        <p:spPr>
          <a:xfrm>
            <a:off x="509864" y="919439"/>
            <a:ext cx="3975997"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chemeClr val="dk1"/>
                </a:solidFill>
                <a:highlight>
                  <a:srgbClr val="FFFFFF"/>
                </a:highlight>
                <a:latin typeface="Calibri"/>
                <a:ea typeface="Calibri"/>
                <a:cs typeface="Calibri"/>
                <a:sym typeface="Calibri"/>
              </a:rPr>
              <a:t>ESTRATEGIAS DE INTEGRACIÓN</a:t>
            </a:r>
            <a:endParaRPr b="0" i="0" sz="1400" u="none" cap="none" strike="noStrike">
              <a:solidFill>
                <a:schemeClr val="dk1"/>
              </a:solidFill>
              <a:latin typeface="Arial"/>
              <a:ea typeface="Arial"/>
              <a:cs typeface="Arial"/>
              <a:sym typeface="Arial"/>
            </a:endParaRPr>
          </a:p>
        </p:txBody>
      </p:sp>
      <p:sp>
        <p:nvSpPr>
          <p:cNvPr id="253" name="Google Shape;253;p17"/>
          <p:cNvSpPr/>
          <p:nvPr/>
        </p:nvSpPr>
        <p:spPr>
          <a:xfrm>
            <a:off x="503237" y="1294154"/>
            <a:ext cx="7056437" cy="33393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2000" u="none" cap="none" strike="noStrike">
                <a:solidFill>
                  <a:srgbClr val="EE4639"/>
                </a:solidFill>
                <a:latin typeface="Arial"/>
                <a:ea typeface="Arial"/>
                <a:cs typeface="Arial"/>
                <a:sym typeface="Arial"/>
              </a:rPr>
              <a:t>+ 05.</a:t>
            </a:r>
            <a:br>
              <a:rPr b="1" i="0" lang="es-ES" sz="1600" u="none" cap="none" strike="noStrike">
                <a:solidFill>
                  <a:srgbClr val="EE4639"/>
                </a:solidFill>
                <a:latin typeface="Calibri"/>
                <a:ea typeface="Calibri"/>
                <a:cs typeface="Calibri"/>
                <a:sym typeface="Calibri"/>
              </a:rPr>
            </a:br>
            <a:r>
              <a:rPr b="1" i="0" lang="es-ES" sz="1600" u="none" cap="none" strike="noStrike">
                <a:solidFill>
                  <a:srgbClr val="EE4639"/>
                </a:solidFill>
                <a:latin typeface="Calibri"/>
                <a:ea typeface="Calibri"/>
                <a:cs typeface="Calibri"/>
                <a:sym typeface="Calibri"/>
              </a:rPr>
              <a:t>INTEGRACIÓN BASADA EN MICROSERVICIOS</a:t>
            </a:r>
            <a:endParaRPr b="1" i="0" sz="1600" u="none" cap="none" strike="noStrike">
              <a:solidFill>
                <a:srgbClr val="EE4639"/>
              </a:solidFill>
              <a:latin typeface="Calibri"/>
              <a:ea typeface="Calibri"/>
              <a:cs typeface="Calibri"/>
              <a:sym typeface="Calibri"/>
            </a:endParaRPr>
          </a:p>
          <a:p>
            <a:pPr indent="-166688" lvl="0" marL="177800" marR="0" rtl="0" algn="l">
              <a:lnSpc>
                <a:spcPct val="100000"/>
              </a:lnSpc>
              <a:spcBef>
                <a:spcPts val="600"/>
              </a:spcBef>
              <a:spcAft>
                <a:spcPts val="0"/>
              </a:spcAft>
              <a:buClr>
                <a:schemeClr val="accent2"/>
              </a:buClr>
              <a:buSzPts val="1600"/>
              <a:buFont typeface="Arial"/>
              <a:buChar char="•"/>
            </a:pPr>
            <a:r>
              <a:rPr b="1" i="0" lang="es-ES" sz="1600" u="none" cap="none" strike="noStrike">
                <a:solidFill>
                  <a:srgbClr val="000000"/>
                </a:solidFill>
                <a:latin typeface="Calibri"/>
                <a:ea typeface="Calibri"/>
                <a:cs typeface="Calibri"/>
                <a:sym typeface="Calibri"/>
              </a:rPr>
              <a:t>Descripción: </a:t>
            </a:r>
            <a:r>
              <a:rPr b="0" i="0" lang="es-ES" sz="1600" u="none" cap="none" strike="noStrike">
                <a:solidFill>
                  <a:srgbClr val="000000"/>
                </a:solidFill>
                <a:latin typeface="Calibri"/>
                <a:ea typeface="Calibri"/>
                <a:cs typeface="Calibri"/>
                <a:sym typeface="Calibri"/>
              </a:rPr>
              <a:t>La arquitectura de microservicios divide las aplicaciones en servicios independientes que pueden integrarse mediante APIs RESTful, eventos o mensajería.</a:t>
            </a:r>
            <a:endParaRPr/>
          </a:p>
          <a:p>
            <a:pPr indent="-65087" lvl="0" marL="177800" marR="0" rtl="0" algn="l">
              <a:lnSpc>
                <a:spcPct val="100000"/>
              </a:lnSpc>
              <a:spcBef>
                <a:spcPts val="0"/>
              </a:spcBef>
              <a:spcAft>
                <a:spcPts val="0"/>
              </a:spcAft>
              <a:buClr>
                <a:schemeClr val="accent2"/>
              </a:buClr>
              <a:buSzPts val="1600"/>
              <a:buFont typeface="Arial"/>
              <a:buNone/>
            </a:pPr>
            <a:r>
              <a:t/>
            </a:r>
            <a:endParaRPr b="1" i="0" sz="1600" u="none" cap="none" strike="noStrike">
              <a:solidFill>
                <a:srgbClr val="000000"/>
              </a:solidFill>
              <a:latin typeface="Calibri"/>
              <a:ea typeface="Calibri"/>
              <a:cs typeface="Calibri"/>
              <a:sym typeface="Calibri"/>
            </a:endParaRPr>
          </a:p>
          <a:p>
            <a:pPr indent="-166688" lvl="0" marL="177800" marR="0" rtl="0" algn="l">
              <a:lnSpc>
                <a:spcPct val="100000"/>
              </a:lnSpc>
              <a:spcBef>
                <a:spcPts val="0"/>
              </a:spcBef>
              <a:spcAft>
                <a:spcPts val="0"/>
              </a:spcAft>
              <a:buClr>
                <a:schemeClr val="accent2"/>
              </a:buClr>
              <a:buSzPts val="1600"/>
              <a:buFont typeface="Arial"/>
              <a:buChar char="•"/>
            </a:pPr>
            <a:r>
              <a:rPr b="1" i="0" lang="es-ES" sz="1600" u="none" cap="none" strike="noStrike">
                <a:solidFill>
                  <a:srgbClr val="000000"/>
                </a:solidFill>
                <a:latin typeface="Calibri"/>
                <a:ea typeface="Calibri"/>
                <a:cs typeface="Calibri"/>
                <a:sym typeface="Calibri"/>
              </a:rPr>
              <a:t>Tecnologías:</a:t>
            </a:r>
            <a:endParaRPr/>
          </a:p>
          <a:p>
            <a:pPr indent="-179388" lvl="0" marL="357188" marR="0" rtl="0" algn="l">
              <a:lnSpc>
                <a:spcPct val="100000"/>
              </a:lnSpc>
              <a:spcBef>
                <a:spcPts val="0"/>
              </a:spcBef>
              <a:spcAft>
                <a:spcPts val="0"/>
              </a:spcAft>
              <a:buClr>
                <a:schemeClr val="accent2"/>
              </a:buClr>
              <a:buSzPts val="1600"/>
              <a:buFont typeface="Arial"/>
              <a:buChar char="•"/>
            </a:pPr>
            <a:r>
              <a:rPr b="1" i="0" lang="es-ES" sz="1600" u="none" cap="none" strike="noStrike">
                <a:solidFill>
                  <a:srgbClr val="000000"/>
                </a:solidFill>
                <a:latin typeface="Calibri"/>
                <a:ea typeface="Calibri"/>
                <a:cs typeface="Calibri"/>
                <a:sym typeface="Calibri"/>
              </a:rPr>
              <a:t>Spring Cloud: </a:t>
            </a:r>
            <a:r>
              <a:rPr b="0" i="0" lang="es-ES" sz="1600" u="none" cap="none" strike="noStrike">
                <a:solidFill>
                  <a:srgbClr val="000000"/>
                </a:solidFill>
                <a:latin typeface="Calibri"/>
                <a:ea typeface="Calibri"/>
                <a:cs typeface="Calibri"/>
                <a:sym typeface="Calibri"/>
              </a:rPr>
              <a:t>Extiende Spring Boot para la construcción y despliegue de microservicios con capacidades como descubrimiento de servicios, balanceo de carga y configuración centralizada.</a:t>
            </a:r>
            <a:endParaRPr/>
          </a:p>
          <a:p>
            <a:pPr indent="-77788" lvl="0" marL="357188" marR="0" rtl="0" algn="l">
              <a:lnSpc>
                <a:spcPct val="100000"/>
              </a:lnSpc>
              <a:spcBef>
                <a:spcPts val="0"/>
              </a:spcBef>
              <a:spcAft>
                <a:spcPts val="0"/>
              </a:spcAft>
              <a:buClr>
                <a:schemeClr val="accent2"/>
              </a:buClr>
              <a:buSzPts val="1600"/>
              <a:buFont typeface="Arial"/>
              <a:buNone/>
            </a:pPr>
            <a:r>
              <a:t/>
            </a:r>
            <a:endParaRPr b="0" i="0" sz="1600" u="none" cap="none" strike="noStrike">
              <a:solidFill>
                <a:srgbClr val="000000"/>
              </a:solidFill>
              <a:latin typeface="Calibri"/>
              <a:ea typeface="Calibri"/>
              <a:cs typeface="Calibri"/>
              <a:sym typeface="Calibri"/>
            </a:endParaRPr>
          </a:p>
          <a:p>
            <a:pPr indent="-179388" lvl="0" marL="357188" marR="0" rtl="0" algn="l">
              <a:lnSpc>
                <a:spcPct val="100000"/>
              </a:lnSpc>
              <a:spcBef>
                <a:spcPts val="0"/>
              </a:spcBef>
              <a:spcAft>
                <a:spcPts val="0"/>
              </a:spcAft>
              <a:buClr>
                <a:schemeClr val="accent2"/>
              </a:buClr>
              <a:buSzPts val="1600"/>
              <a:buFont typeface="Arial"/>
              <a:buChar char="•"/>
            </a:pPr>
            <a:r>
              <a:rPr b="1" i="0" lang="es-ES" sz="1600" u="none" cap="none" strike="noStrike">
                <a:solidFill>
                  <a:srgbClr val="000000"/>
                </a:solidFill>
                <a:latin typeface="Calibri"/>
                <a:ea typeface="Calibri"/>
                <a:cs typeface="Calibri"/>
                <a:sym typeface="Calibri"/>
              </a:rPr>
              <a:t>Netflix OSS: </a:t>
            </a:r>
            <a:r>
              <a:rPr b="0" i="0" lang="es-ES" sz="1600" u="none" cap="none" strike="noStrike">
                <a:solidFill>
                  <a:srgbClr val="000000"/>
                </a:solidFill>
                <a:latin typeface="Calibri"/>
                <a:ea typeface="Calibri"/>
                <a:cs typeface="Calibri"/>
                <a:sym typeface="Calibri"/>
              </a:rPr>
              <a:t>Conjunto de herramientas (como Eureka, Ribbon, Zuul) para crear y gestionar microservicios.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8"/>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JAVA</a:t>
            </a:r>
            <a:endParaRPr/>
          </a:p>
        </p:txBody>
      </p:sp>
      <p:sp>
        <p:nvSpPr>
          <p:cNvPr id="260" name="Google Shape;260;p18"/>
          <p:cNvSpPr txBox="1"/>
          <p:nvPr/>
        </p:nvSpPr>
        <p:spPr>
          <a:xfrm>
            <a:off x="509864" y="919439"/>
            <a:ext cx="3975997"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chemeClr val="dk1"/>
                </a:solidFill>
                <a:highlight>
                  <a:srgbClr val="FFFFFF"/>
                </a:highlight>
                <a:latin typeface="Calibri"/>
                <a:ea typeface="Calibri"/>
                <a:cs typeface="Calibri"/>
                <a:sym typeface="Calibri"/>
              </a:rPr>
              <a:t>ESTRATEGIAS DE INTEGRACIÓN</a:t>
            </a:r>
            <a:endParaRPr b="0" i="0" sz="1400" u="none" cap="none" strike="noStrike">
              <a:solidFill>
                <a:schemeClr val="dk1"/>
              </a:solidFill>
              <a:latin typeface="Arial"/>
              <a:ea typeface="Arial"/>
              <a:cs typeface="Arial"/>
              <a:sym typeface="Arial"/>
            </a:endParaRPr>
          </a:p>
        </p:txBody>
      </p:sp>
      <p:sp>
        <p:nvSpPr>
          <p:cNvPr id="261" name="Google Shape;261;p18"/>
          <p:cNvSpPr/>
          <p:nvPr/>
        </p:nvSpPr>
        <p:spPr>
          <a:xfrm>
            <a:off x="503237" y="1294154"/>
            <a:ext cx="7010083" cy="309315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2000" u="none" cap="none" strike="noStrike">
                <a:solidFill>
                  <a:srgbClr val="EE4639"/>
                </a:solidFill>
                <a:latin typeface="Arial"/>
                <a:ea typeface="Arial"/>
                <a:cs typeface="Arial"/>
                <a:sym typeface="Arial"/>
              </a:rPr>
              <a:t>+ 06.</a:t>
            </a:r>
            <a:br>
              <a:rPr b="1" i="0" lang="es-ES" sz="1600" u="none" cap="none" strike="noStrike">
                <a:solidFill>
                  <a:srgbClr val="EE4639"/>
                </a:solidFill>
                <a:latin typeface="Calibri"/>
                <a:ea typeface="Calibri"/>
                <a:cs typeface="Calibri"/>
                <a:sym typeface="Calibri"/>
              </a:rPr>
            </a:br>
            <a:r>
              <a:rPr b="1" i="0" lang="es-ES" sz="1600" u="none" cap="none" strike="noStrike">
                <a:solidFill>
                  <a:srgbClr val="EE4639"/>
                </a:solidFill>
                <a:latin typeface="Calibri"/>
                <a:ea typeface="Calibri"/>
                <a:cs typeface="Calibri"/>
                <a:sym typeface="Calibri"/>
              </a:rPr>
              <a:t>INTEGRACIÓN MEDIANTE ETL (EXTRACT, TRANSFORM, LOAD)</a:t>
            </a:r>
            <a:endParaRPr b="1" i="0" sz="1600" u="none" cap="none" strike="noStrike">
              <a:solidFill>
                <a:srgbClr val="EE4639"/>
              </a:solidFill>
              <a:latin typeface="Calibri"/>
              <a:ea typeface="Calibri"/>
              <a:cs typeface="Calibri"/>
              <a:sym typeface="Calibri"/>
            </a:endParaRPr>
          </a:p>
          <a:p>
            <a:pPr indent="-166688" lvl="0" marL="177800" marR="0" rtl="0" algn="l">
              <a:lnSpc>
                <a:spcPct val="100000"/>
              </a:lnSpc>
              <a:spcBef>
                <a:spcPts val="600"/>
              </a:spcBef>
              <a:spcAft>
                <a:spcPts val="0"/>
              </a:spcAft>
              <a:buClr>
                <a:schemeClr val="accent2"/>
              </a:buClr>
              <a:buSzPts val="1600"/>
              <a:buFont typeface="Arial"/>
              <a:buChar char="•"/>
            </a:pPr>
            <a:r>
              <a:rPr b="1" i="0" lang="es-ES" sz="1600" u="none" cap="none" strike="noStrike">
                <a:solidFill>
                  <a:srgbClr val="000000"/>
                </a:solidFill>
                <a:latin typeface="Calibri"/>
                <a:ea typeface="Calibri"/>
                <a:cs typeface="Calibri"/>
                <a:sym typeface="Calibri"/>
              </a:rPr>
              <a:t>Descripción: </a:t>
            </a:r>
            <a:r>
              <a:rPr b="0" i="0" lang="es-ES" sz="1600" u="none" cap="none" strike="noStrike">
                <a:solidFill>
                  <a:srgbClr val="000000"/>
                </a:solidFill>
                <a:latin typeface="Calibri"/>
                <a:ea typeface="Calibri"/>
                <a:cs typeface="Calibri"/>
                <a:sym typeface="Calibri"/>
              </a:rPr>
              <a:t>La integración de datos entre diferentes fuentes y destinos mediante procesos de extracción, transformación y carga es común en entornos empresariales.</a:t>
            </a:r>
            <a:endParaRPr/>
          </a:p>
          <a:p>
            <a:pPr indent="-65087" lvl="0" marL="177800" marR="0" rtl="0" algn="l">
              <a:lnSpc>
                <a:spcPct val="100000"/>
              </a:lnSpc>
              <a:spcBef>
                <a:spcPts val="0"/>
              </a:spcBef>
              <a:spcAft>
                <a:spcPts val="0"/>
              </a:spcAft>
              <a:buClr>
                <a:schemeClr val="accent2"/>
              </a:buClr>
              <a:buSzPts val="1600"/>
              <a:buFont typeface="Arial"/>
              <a:buNone/>
            </a:pPr>
            <a:r>
              <a:t/>
            </a:r>
            <a:endParaRPr b="1" i="0" sz="1600" u="none" cap="none" strike="noStrike">
              <a:solidFill>
                <a:srgbClr val="000000"/>
              </a:solidFill>
              <a:latin typeface="Calibri"/>
              <a:ea typeface="Calibri"/>
              <a:cs typeface="Calibri"/>
              <a:sym typeface="Calibri"/>
            </a:endParaRPr>
          </a:p>
          <a:p>
            <a:pPr indent="-166688" lvl="0" marL="177800" marR="0" rtl="0" algn="l">
              <a:lnSpc>
                <a:spcPct val="100000"/>
              </a:lnSpc>
              <a:spcBef>
                <a:spcPts val="0"/>
              </a:spcBef>
              <a:spcAft>
                <a:spcPts val="0"/>
              </a:spcAft>
              <a:buClr>
                <a:schemeClr val="accent2"/>
              </a:buClr>
              <a:buSzPts val="1600"/>
              <a:buFont typeface="Arial"/>
              <a:buChar char="•"/>
            </a:pPr>
            <a:r>
              <a:rPr b="1" i="0" lang="es-ES" sz="1600" u="none" cap="none" strike="noStrike">
                <a:solidFill>
                  <a:srgbClr val="000000"/>
                </a:solidFill>
                <a:latin typeface="Calibri"/>
                <a:ea typeface="Calibri"/>
                <a:cs typeface="Calibri"/>
                <a:sym typeface="Calibri"/>
              </a:rPr>
              <a:t>Tecnologías:</a:t>
            </a:r>
            <a:endParaRPr/>
          </a:p>
          <a:p>
            <a:pPr indent="-179388" lvl="0" marL="357188" marR="0" rtl="0" algn="l">
              <a:lnSpc>
                <a:spcPct val="100000"/>
              </a:lnSpc>
              <a:spcBef>
                <a:spcPts val="0"/>
              </a:spcBef>
              <a:spcAft>
                <a:spcPts val="0"/>
              </a:spcAft>
              <a:buClr>
                <a:schemeClr val="accent2"/>
              </a:buClr>
              <a:buSzPts val="1600"/>
              <a:buFont typeface="Arial"/>
              <a:buChar char="•"/>
            </a:pPr>
            <a:r>
              <a:rPr b="1" i="0" lang="es-ES" sz="1600" u="none" cap="none" strike="noStrike">
                <a:solidFill>
                  <a:srgbClr val="000000"/>
                </a:solidFill>
                <a:latin typeface="Calibri"/>
                <a:ea typeface="Calibri"/>
                <a:cs typeface="Calibri"/>
                <a:sym typeface="Calibri"/>
              </a:rPr>
              <a:t>Apache Camel con Spring Batch: </a:t>
            </a:r>
            <a:r>
              <a:rPr b="0" i="0" lang="es-ES" sz="1600" u="none" cap="none" strike="noStrike">
                <a:solidFill>
                  <a:srgbClr val="000000"/>
                </a:solidFill>
                <a:latin typeface="Calibri"/>
                <a:ea typeface="Calibri"/>
                <a:cs typeface="Calibri"/>
                <a:sym typeface="Calibri"/>
              </a:rPr>
              <a:t>Combinación poderosa para realizar operaciones de ETL en un entorno Java.</a:t>
            </a:r>
            <a:endParaRPr/>
          </a:p>
          <a:p>
            <a:pPr indent="-77788" lvl="0" marL="357188" marR="0" rtl="0" algn="l">
              <a:lnSpc>
                <a:spcPct val="100000"/>
              </a:lnSpc>
              <a:spcBef>
                <a:spcPts val="0"/>
              </a:spcBef>
              <a:spcAft>
                <a:spcPts val="0"/>
              </a:spcAft>
              <a:buClr>
                <a:schemeClr val="accent2"/>
              </a:buClr>
              <a:buSzPts val="1600"/>
              <a:buFont typeface="Arial"/>
              <a:buNone/>
            </a:pPr>
            <a:r>
              <a:t/>
            </a:r>
            <a:endParaRPr b="1" i="0" sz="1600" u="none" cap="none" strike="noStrike">
              <a:solidFill>
                <a:srgbClr val="000000"/>
              </a:solidFill>
              <a:latin typeface="Calibri"/>
              <a:ea typeface="Calibri"/>
              <a:cs typeface="Calibri"/>
              <a:sym typeface="Calibri"/>
            </a:endParaRPr>
          </a:p>
          <a:p>
            <a:pPr indent="-179388" lvl="0" marL="357188" marR="0" rtl="0" algn="l">
              <a:lnSpc>
                <a:spcPct val="100000"/>
              </a:lnSpc>
              <a:spcBef>
                <a:spcPts val="0"/>
              </a:spcBef>
              <a:spcAft>
                <a:spcPts val="0"/>
              </a:spcAft>
              <a:buClr>
                <a:schemeClr val="accent2"/>
              </a:buClr>
              <a:buSzPts val="1600"/>
              <a:buFont typeface="Arial"/>
              <a:buChar char="•"/>
            </a:pPr>
            <a:r>
              <a:rPr b="1" i="0" lang="es-ES" sz="1600" u="none" cap="none" strike="noStrike">
                <a:solidFill>
                  <a:srgbClr val="000000"/>
                </a:solidFill>
                <a:latin typeface="Calibri"/>
                <a:ea typeface="Calibri"/>
                <a:cs typeface="Calibri"/>
                <a:sym typeface="Calibri"/>
              </a:rPr>
              <a:t>Talend, Apache Nifi: </a:t>
            </a:r>
            <a:r>
              <a:rPr b="0" i="0" lang="es-ES" sz="1600" u="none" cap="none" strike="noStrike">
                <a:solidFill>
                  <a:srgbClr val="000000"/>
                </a:solidFill>
                <a:latin typeface="Calibri"/>
                <a:ea typeface="Calibri"/>
                <a:cs typeface="Calibri"/>
                <a:sym typeface="Calibri"/>
              </a:rPr>
              <a:t>Herramientas de integración de datos que pueden interactuar con aplicaciones Java.</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4"/>
          <p:cNvSpPr/>
          <p:nvPr/>
        </p:nvSpPr>
        <p:spPr>
          <a:xfrm>
            <a:off x="0" y="0"/>
            <a:ext cx="9144000" cy="5715000"/>
          </a:xfrm>
          <a:prstGeom prst="rect">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68" name="Google Shape;268;p44"/>
          <p:cNvSpPr txBox="1"/>
          <p:nvPr/>
        </p:nvSpPr>
        <p:spPr>
          <a:xfrm>
            <a:off x="1008063" y="3169972"/>
            <a:ext cx="3384550" cy="387798"/>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i="0" lang="es-ES" sz="2800" u="none" cap="none" strike="noStrike">
                <a:solidFill>
                  <a:schemeClr val="lt1"/>
                </a:solidFill>
                <a:latin typeface="Arial"/>
                <a:ea typeface="Arial"/>
                <a:cs typeface="Arial"/>
                <a:sym typeface="Arial"/>
              </a:rPr>
              <a:t>MICROSOFT</a:t>
            </a:r>
            <a:endParaRPr/>
          </a:p>
        </p:txBody>
      </p:sp>
      <p:pic>
        <p:nvPicPr>
          <p:cNvPr id="269" name="Google Shape;269;p44"/>
          <p:cNvPicPr preferRelativeResize="0"/>
          <p:nvPr/>
        </p:nvPicPr>
        <p:blipFill rotWithShape="1">
          <a:blip r:embed="rId3">
            <a:alphaModFix/>
          </a:blip>
          <a:srcRect b="0" l="0" r="0" t="0"/>
          <a:stretch/>
        </p:blipFill>
        <p:spPr>
          <a:xfrm>
            <a:off x="1008063" y="2869612"/>
            <a:ext cx="195423" cy="20125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0"/>
          <p:cNvSpPr txBox="1"/>
          <p:nvPr/>
        </p:nvSpPr>
        <p:spPr>
          <a:xfrm>
            <a:off x="509863" y="919439"/>
            <a:ext cx="8110675" cy="180049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s-ES" sz="1600" u="none" cap="none" strike="noStrike">
                <a:solidFill>
                  <a:schemeClr val="dk1"/>
                </a:solidFill>
                <a:highlight>
                  <a:srgbClr val="FFFFFF"/>
                </a:highlight>
                <a:latin typeface="Calibri"/>
                <a:ea typeface="Calibri"/>
                <a:cs typeface="Calibri"/>
                <a:sym typeface="Calibri"/>
              </a:rPr>
              <a:t>INTEGRACIÓN DE APLICACIONES CON MICROSOFT</a:t>
            </a:r>
            <a:endParaRPr b="0" i="0" sz="1600" u="none" cap="none" strike="noStrike">
              <a:solidFill>
                <a:schemeClr val="dk1"/>
              </a:solidFill>
              <a:latin typeface="Calibri"/>
              <a:ea typeface="Calibri"/>
              <a:cs typeface="Calibri"/>
              <a:sym typeface="Calibri"/>
            </a:endParaRPr>
          </a:p>
          <a:p>
            <a:pPr indent="-177800" lvl="0" marL="177800" marR="0" rtl="0" algn="l">
              <a:lnSpc>
                <a:spcPct val="100000"/>
              </a:lnSpc>
              <a:spcBef>
                <a:spcPts val="600"/>
              </a:spcBef>
              <a:spcAft>
                <a:spcPts val="0"/>
              </a:spcAft>
              <a:buClr>
                <a:srgbClr val="000000"/>
              </a:buClr>
              <a:buSzPts val="1600"/>
              <a:buFont typeface="Arial"/>
              <a:buChar char="•"/>
            </a:pPr>
            <a:r>
              <a:rPr b="0" i="0" lang="es-ES" sz="1600" u="none" cap="none" strike="noStrike">
                <a:solidFill>
                  <a:schemeClr val="dk1"/>
                </a:solidFill>
                <a:latin typeface="Calibri"/>
                <a:ea typeface="Calibri"/>
                <a:cs typeface="Calibri"/>
                <a:sym typeface="Calibri"/>
              </a:rPr>
              <a:t>La integración de aplicaciones con tecnologías de Microsoft abarca una amplia gama de herramientas, plataformas y servicios que permiten conectar sistemas, aplicaciones y datos tanto en entornos on-premises como en la nube. </a:t>
            </a:r>
            <a:endParaRPr b="0" i="0" sz="1600" u="none" cap="none" strike="noStrike">
              <a:solidFill>
                <a:schemeClr val="dk1"/>
              </a:solidFill>
              <a:latin typeface="Calibri"/>
              <a:ea typeface="Calibri"/>
              <a:cs typeface="Calibri"/>
              <a:sym typeface="Calibri"/>
            </a:endParaRPr>
          </a:p>
          <a:p>
            <a:pPr indent="-76200" lvl="0" marL="17780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177800" lvl="0" marL="177800" marR="0" rtl="0" algn="l">
              <a:lnSpc>
                <a:spcPct val="100000"/>
              </a:lnSpc>
              <a:spcBef>
                <a:spcPts val="0"/>
              </a:spcBef>
              <a:spcAft>
                <a:spcPts val="0"/>
              </a:spcAft>
              <a:buClr>
                <a:srgbClr val="000000"/>
              </a:buClr>
              <a:buSzPts val="1600"/>
              <a:buFont typeface="Arial"/>
              <a:buChar char="•"/>
            </a:pPr>
            <a:r>
              <a:rPr b="0" i="0" lang="es-ES" sz="1600" u="none" cap="none" strike="noStrike">
                <a:solidFill>
                  <a:schemeClr val="dk1"/>
                </a:solidFill>
                <a:latin typeface="Calibri"/>
                <a:ea typeface="Calibri"/>
                <a:cs typeface="Calibri"/>
                <a:sym typeface="Calibri"/>
              </a:rPr>
              <a:t>Microsoft ofrece soluciones integrales para la integración de aplicaciones empresariales, desde la creación de APIs y servicios hasta la gestión de datos y la automatización de procesos.</a:t>
            </a:r>
            <a:endParaRPr b="1" i="0" sz="1600" u="none" cap="none" strike="noStrike">
              <a:solidFill>
                <a:schemeClr val="dk1"/>
              </a:solidFill>
              <a:latin typeface="Calibri"/>
              <a:ea typeface="Calibri"/>
              <a:cs typeface="Calibri"/>
              <a:sym typeface="Calibri"/>
            </a:endParaRPr>
          </a:p>
        </p:txBody>
      </p:sp>
      <p:sp>
        <p:nvSpPr>
          <p:cNvPr id="276" name="Google Shape;276;p20"/>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MICROSOFT</a:t>
            </a:r>
            <a:endParaRPr/>
          </a:p>
        </p:txBody>
      </p:sp>
      <p:pic>
        <p:nvPicPr>
          <p:cNvPr id="277" name="Google Shape;277;p20"/>
          <p:cNvPicPr preferRelativeResize="0"/>
          <p:nvPr/>
        </p:nvPicPr>
        <p:blipFill rotWithShape="1">
          <a:blip r:embed="rId3">
            <a:alphaModFix/>
          </a:blip>
          <a:srcRect b="28635" l="0" r="0" t="29384"/>
          <a:stretch/>
        </p:blipFill>
        <p:spPr>
          <a:xfrm>
            <a:off x="1679713" y="3348637"/>
            <a:ext cx="5797826" cy="136913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1"/>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MICROSOFT</a:t>
            </a:r>
            <a:endParaRPr/>
          </a:p>
        </p:txBody>
      </p:sp>
      <p:sp>
        <p:nvSpPr>
          <p:cNvPr id="284" name="Google Shape;284;p21"/>
          <p:cNvSpPr txBox="1"/>
          <p:nvPr/>
        </p:nvSpPr>
        <p:spPr>
          <a:xfrm>
            <a:off x="509864" y="919439"/>
            <a:ext cx="3975997"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1600" u="none" cap="none" strike="noStrike">
                <a:solidFill>
                  <a:schemeClr val="dk1"/>
                </a:solidFill>
                <a:highlight>
                  <a:srgbClr val="FFFFFF"/>
                </a:highlight>
                <a:latin typeface="Calibri"/>
                <a:ea typeface="Calibri"/>
                <a:cs typeface="Calibri"/>
                <a:sym typeface="Calibri"/>
              </a:rPr>
              <a:t>ESTRATEGIAS DE INTEGRACIÓN</a:t>
            </a:r>
            <a:endParaRPr b="0" i="0" sz="1400" u="none" cap="none" strike="noStrike">
              <a:solidFill>
                <a:schemeClr val="dk1"/>
              </a:solidFill>
              <a:latin typeface="Arial"/>
              <a:ea typeface="Arial"/>
              <a:cs typeface="Arial"/>
              <a:sym typeface="Arial"/>
            </a:endParaRPr>
          </a:p>
        </p:txBody>
      </p:sp>
      <p:sp>
        <p:nvSpPr>
          <p:cNvPr id="285" name="Google Shape;285;p21"/>
          <p:cNvSpPr/>
          <p:nvPr/>
        </p:nvSpPr>
        <p:spPr>
          <a:xfrm>
            <a:off x="503237" y="1294154"/>
            <a:ext cx="7056438" cy="33393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2000" u="none" cap="none" strike="noStrike">
                <a:solidFill>
                  <a:schemeClr val="accent5"/>
                </a:solidFill>
                <a:latin typeface="Arial"/>
                <a:ea typeface="Arial"/>
                <a:cs typeface="Arial"/>
                <a:sym typeface="Arial"/>
              </a:rPr>
              <a:t>+ 01.</a:t>
            </a:r>
            <a:br>
              <a:rPr b="1" i="0" lang="es-ES" sz="1600" u="none" cap="none" strike="noStrike">
                <a:solidFill>
                  <a:schemeClr val="accent5"/>
                </a:solidFill>
                <a:latin typeface="Calibri"/>
                <a:ea typeface="Calibri"/>
                <a:cs typeface="Calibri"/>
                <a:sym typeface="Calibri"/>
              </a:rPr>
            </a:br>
            <a:r>
              <a:rPr b="1" i="0" lang="es-ES" sz="1600" u="none" cap="none" strike="noStrike">
                <a:solidFill>
                  <a:schemeClr val="accent5"/>
                </a:solidFill>
                <a:latin typeface="Calibri"/>
                <a:ea typeface="Calibri"/>
                <a:cs typeface="Calibri"/>
                <a:sym typeface="Calibri"/>
              </a:rPr>
              <a:t>INTEGRACIÓN BASADA EN APIS RESTFUL Y SOAP</a:t>
            </a:r>
            <a:endParaRPr b="1" i="0" sz="1600" u="none" cap="none" strike="noStrike">
              <a:solidFill>
                <a:schemeClr val="accent5"/>
              </a:solidFill>
              <a:latin typeface="Calibri"/>
              <a:ea typeface="Calibri"/>
              <a:cs typeface="Calibri"/>
              <a:sym typeface="Calibri"/>
            </a:endParaRPr>
          </a:p>
          <a:p>
            <a:pPr indent="-166688" lvl="0" marL="177800" marR="0" rtl="0" algn="l">
              <a:lnSpc>
                <a:spcPct val="100000"/>
              </a:lnSpc>
              <a:spcBef>
                <a:spcPts val="600"/>
              </a:spcBef>
              <a:spcAft>
                <a:spcPts val="0"/>
              </a:spcAft>
              <a:buClr>
                <a:schemeClr val="accent5"/>
              </a:buClr>
              <a:buSzPts val="1600"/>
              <a:buFont typeface="Arial"/>
              <a:buChar char="•"/>
            </a:pPr>
            <a:r>
              <a:rPr b="1" i="0" lang="es-ES" sz="1600" u="none" cap="none" strike="noStrike">
                <a:solidFill>
                  <a:srgbClr val="000000"/>
                </a:solidFill>
                <a:latin typeface="Calibri"/>
                <a:ea typeface="Calibri"/>
                <a:cs typeface="Calibri"/>
                <a:sym typeface="Calibri"/>
              </a:rPr>
              <a:t>Descripción: </a:t>
            </a:r>
            <a:r>
              <a:rPr b="0" i="0" lang="es-ES" sz="1600" u="none" cap="none" strike="noStrike">
                <a:solidFill>
                  <a:srgbClr val="000000"/>
                </a:solidFill>
                <a:latin typeface="Calibri"/>
                <a:ea typeface="Calibri"/>
                <a:cs typeface="Calibri"/>
                <a:sym typeface="Calibri"/>
              </a:rPr>
              <a:t>Microsoft proporciona herramientas para crear y consumir APIs RESTful y servicios web SOAP, que son fundamentales para la comunicación entre aplicaciones.</a:t>
            </a:r>
            <a:endParaRPr/>
          </a:p>
          <a:p>
            <a:pPr indent="-65087" lvl="0" marL="177800" marR="0" rtl="0" algn="l">
              <a:lnSpc>
                <a:spcPct val="100000"/>
              </a:lnSpc>
              <a:spcBef>
                <a:spcPts val="0"/>
              </a:spcBef>
              <a:spcAft>
                <a:spcPts val="0"/>
              </a:spcAft>
              <a:buClr>
                <a:schemeClr val="accent5"/>
              </a:buClr>
              <a:buSzPts val="1600"/>
              <a:buFont typeface="Arial"/>
              <a:buNone/>
            </a:pPr>
            <a:r>
              <a:t/>
            </a:r>
            <a:endParaRPr b="0" i="0" sz="1600" u="none" cap="none" strike="noStrike">
              <a:solidFill>
                <a:srgbClr val="000000"/>
              </a:solidFill>
              <a:latin typeface="Calibri"/>
              <a:ea typeface="Calibri"/>
              <a:cs typeface="Calibri"/>
              <a:sym typeface="Calibri"/>
            </a:endParaRPr>
          </a:p>
          <a:p>
            <a:pPr indent="-166688" lvl="0" marL="177800" marR="0" rtl="0" algn="l">
              <a:lnSpc>
                <a:spcPct val="100000"/>
              </a:lnSpc>
              <a:spcBef>
                <a:spcPts val="0"/>
              </a:spcBef>
              <a:spcAft>
                <a:spcPts val="0"/>
              </a:spcAft>
              <a:buClr>
                <a:schemeClr val="accent5"/>
              </a:buClr>
              <a:buSzPts val="1600"/>
              <a:buFont typeface="Arial"/>
              <a:buChar char="•"/>
            </a:pPr>
            <a:r>
              <a:rPr b="1" i="0" lang="es-ES" sz="1600" u="none" cap="none" strike="noStrike">
                <a:solidFill>
                  <a:srgbClr val="000000"/>
                </a:solidFill>
                <a:latin typeface="Calibri"/>
                <a:ea typeface="Calibri"/>
                <a:cs typeface="Calibri"/>
                <a:sym typeface="Calibri"/>
              </a:rPr>
              <a:t>Tecnologías:</a:t>
            </a:r>
            <a:endParaRPr/>
          </a:p>
          <a:p>
            <a:pPr indent="-179388" lvl="0" marL="357188" marR="0" rtl="0" algn="l">
              <a:lnSpc>
                <a:spcPct val="100000"/>
              </a:lnSpc>
              <a:spcBef>
                <a:spcPts val="0"/>
              </a:spcBef>
              <a:spcAft>
                <a:spcPts val="0"/>
              </a:spcAft>
              <a:buClr>
                <a:schemeClr val="accent5"/>
              </a:buClr>
              <a:buSzPts val="1600"/>
              <a:buFont typeface="Arial"/>
              <a:buChar char="•"/>
            </a:pPr>
            <a:r>
              <a:rPr b="1" i="0" lang="es-ES" sz="1600" u="none" cap="none" strike="noStrike">
                <a:solidFill>
                  <a:srgbClr val="000000"/>
                </a:solidFill>
                <a:latin typeface="Calibri"/>
                <a:ea typeface="Calibri"/>
                <a:cs typeface="Calibri"/>
                <a:sym typeface="Calibri"/>
              </a:rPr>
              <a:t>ASP.NET Core y Web API: </a:t>
            </a:r>
            <a:r>
              <a:rPr b="0" i="0" lang="es-ES" sz="1600" u="none" cap="none" strike="noStrike">
                <a:solidFill>
                  <a:srgbClr val="000000"/>
                </a:solidFill>
                <a:latin typeface="Calibri"/>
                <a:ea typeface="Calibri"/>
                <a:cs typeface="Calibri"/>
                <a:sym typeface="Calibri"/>
              </a:rPr>
              <a:t>Permite desarrollar APIs RESTful con .NET, facilitando la integración con otras aplicaciones.</a:t>
            </a:r>
            <a:endParaRPr/>
          </a:p>
          <a:p>
            <a:pPr indent="-77788" lvl="0" marL="357188" marR="0" rtl="0" algn="l">
              <a:lnSpc>
                <a:spcPct val="100000"/>
              </a:lnSpc>
              <a:spcBef>
                <a:spcPts val="0"/>
              </a:spcBef>
              <a:spcAft>
                <a:spcPts val="0"/>
              </a:spcAft>
              <a:buClr>
                <a:schemeClr val="accent5"/>
              </a:buClr>
              <a:buSzPts val="1600"/>
              <a:buFont typeface="Arial"/>
              <a:buNone/>
            </a:pPr>
            <a:r>
              <a:t/>
            </a:r>
            <a:endParaRPr b="1" i="0" sz="1600" u="none" cap="none" strike="noStrike">
              <a:solidFill>
                <a:srgbClr val="000000"/>
              </a:solidFill>
              <a:latin typeface="Calibri"/>
              <a:ea typeface="Calibri"/>
              <a:cs typeface="Calibri"/>
              <a:sym typeface="Calibri"/>
            </a:endParaRPr>
          </a:p>
          <a:p>
            <a:pPr indent="-179388" lvl="0" marL="357188" marR="0" rtl="0" algn="l">
              <a:lnSpc>
                <a:spcPct val="100000"/>
              </a:lnSpc>
              <a:spcBef>
                <a:spcPts val="0"/>
              </a:spcBef>
              <a:spcAft>
                <a:spcPts val="0"/>
              </a:spcAft>
              <a:buClr>
                <a:schemeClr val="accent5"/>
              </a:buClr>
              <a:buSzPts val="1600"/>
              <a:buFont typeface="Arial"/>
              <a:buChar char="•"/>
            </a:pPr>
            <a:r>
              <a:rPr b="1" i="0" lang="es-ES" sz="1600" u="none" cap="none" strike="noStrike">
                <a:solidFill>
                  <a:srgbClr val="000000"/>
                </a:solidFill>
                <a:latin typeface="Calibri"/>
                <a:ea typeface="Calibri"/>
                <a:cs typeface="Calibri"/>
                <a:sym typeface="Calibri"/>
              </a:rPr>
              <a:t>WCF (Windows Communication Foundation): </a:t>
            </a:r>
            <a:r>
              <a:rPr b="0" i="0" lang="es-ES" sz="1600" u="none" cap="none" strike="noStrike">
                <a:solidFill>
                  <a:srgbClr val="000000"/>
                </a:solidFill>
                <a:latin typeface="Calibri"/>
                <a:ea typeface="Calibri"/>
                <a:cs typeface="Calibri"/>
                <a:sym typeface="Calibri"/>
              </a:rPr>
              <a:t>Framework de Microsoft para construir servicios SOAP interoperables y seguros.</a:t>
            </a:r>
            <a:endParaRPr/>
          </a:p>
          <a:p>
            <a:pPr indent="-65087" lvl="0" marL="177800" marR="0" rtl="0" algn="l">
              <a:lnSpc>
                <a:spcPct val="100000"/>
              </a:lnSpc>
              <a:spcBef>
                <a:spcPts val="0"/>
              </a:spcBef>
              <a:spcAft>
                <a:spcPts val="0"/>
              </a:spcAft>
              <a:buClr>
                <a:schemeClr val="accent5"/>
              </a:buClr>
              <a:buSzPts val="1600"/>
              <a:buFont typeface="Arial"/>
              <a:buNone/>
            </a:pPr>
            <a:r>
              <a:t/>
            </a:r>
            <a:endParaRPr b="0" i="0" sz="1600" u="none" cap="none" strike="noStrike">
              <a:solidFill>
                <a:srgbClr val="000000"/>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2"/>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MICROSOFT</a:t>
            </a:r>
            <a:endParaRPr/>
          </a:p>
        </p:txBody>
      </p:sp>
      <p:sp>
        <p:nvSpPr>
          <p:cNvPr id="292" name="Google Shape;292;p22"/>
          <p:cNvSpPr txBox="1"/>
          <p:nvPr/>
        </p:nvSpPr>
        <p:spPr>
          <a:xfrm>
            <a:off x="509864" y="919439"/>
            <a:ext cx="3975997"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1600" u="none" cap="none" strike="noStrike">
                <a:solidFill>
                  <a:schemeClr val="dk1"/>
                </a:solidFill>
                <a:highlight>
                  <a:srgbClr val="FFFFFF"/>
                </a:highlight>
                <a:latin typeface="Calibri"/>
                <a:ea typeface="Calibri"/>
                <a:cs typeface="Calibri"/>
                <a:sym typeface="Calibri"/>
              </a:rPr>
              <a:t>ESTRATEGIAS DE INTEGRACIÓN</a:t>
            </a:r>
            <a:endParaRPr b="0" i="0" sz="1400" u="none" cap="none" strike="noStrike">
              <a:solidFill>
                <a:schemeClr val="dk1"/>
              </a:solidFill>
              <a:latin typeface="Arial"/>
              <a:ea typeface="Arial"/>
              <a:cs typeface="Arial"/>
              <a:sym typeface="Arial"/>
            </a:endParaRPr>
          </a:p>
        </p:txBody>
      </p:sp>
      <p:sp>
        <p:nvSpPr>
          <p:cNvPr id="293" name="Google Shape;293;p22"/>
          <p:cNvSpPr/>
          <p:nvPr/>
        </p:nvSpPr>
        <p:spPr>
          <a:xfrm>
            <a:off x="503237" y="1294154"/>
            <a:ext cx="7408312" cy="38625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2000" u="none" cap="none" strike="noStrike">
                <a:solidFill>
                  <a:schemeClr val="accent5"/>
                </a:solidFill>
                <a:latin typeface="Arial"/>
                <a:ea typeface="Arial"/>
                <a:cs typeface="Arial"/>
                <a:sym typeface="Arial"/>
              </a:rPr>
              <a:t>+ 02.</a:t>
            </a:r>
            <a:br>
              <a:rPr b="1" i="0" lang="es-ES" sz="1600" u="none" cap="none" strike="noStrike">
                <a:solidFill>
                  <a:schemeClr val="accent5"/>
                </a:solidFill>
                <a:latin typeface="Calibri"/>
                <a:ea typeface="Calibri"/>
                <a:cs typeface="Calibri"/>
                <a:sym typeface="Calibri"/>
              </a:rPr>
            </a:br>
            <a:r>
              <a:rPr b="1" i="0" lang="es-ES" sz="1600" u="none" cap="none" strike="noStrike">
                <a:solidFill>
                  <a:schemeClr val="accent5"/>
                </a:solidFill>
                <a:latin typeface="Calibri"/>
                <a:ea typeface="Calibri"/>
                <a:cs typeface="Calibri"/>
                <a:sym typeface="Calibri"/>
              </a:rPr>
              <a:t>INTEGRACIÓN A TRAVÉS DE AZURE INTEGRATION SERVICES</a:t>
            </a:r>
            <a:endParaRPr b="1" i="0" sz="1600" u="none" cap="none" strike="noStrike">
              <a:solidFill>
                <a:schemeClr val="accent5"/>
              </a:solidFill>
              <a:latin typeface="Calibri"/>
              <a:ea typeface="Calibri"/>
              <a:cs typeface="Calibri"/>
              <a:sym typeface="Calibri"/>
            </a:endParaRPr>
          </a:p>
          <a:p>
            <a:pPr indent="-166688" lvl="0" marL="177800" marR="0" rtl="0" algn="l">
              <a:lnSpc>
                <a:spcPct val="100000"/>
              </a:lnSpc>
              <a:spcBef>
                <a:spcPts val="600"/>
              </a:spcBef>
              <a:spcAft>
                <a:spcPts val="0"/>
              </a:spcAft>
              <a:buClr>
                <a:schemeClr val="accent5"/>
              </a:buClr>
              <a:buSzPts val="1400"/>
              <a:buFont typeface="Arial"/>
              <a:buChar char="•"/>
            </a:pPr>
            <a:r>
              <a:rPr b="1" i="0" lang="es-ES" sz="1400" u="none" cap="none" strike="noStrike">
                <a:solidFill>
                  <a:srgbClr val="000000"/>
                </a:solidFill>
                <a:latin typeface="Calibri"/>
                <a:ea typeface="Calibri"/>
                <a:cs typeface="Calibri"/>
                <a:sym typeface="Calibri"/>
              </a:rPr>
              <a:t>Descripción: </a:t>
            </a:r>
            <a:r>
              <a:rPr b="0" i="0" lang="es-ES" sz="1400" u="none" cap="none" strike="noStrike">
                <a:solidFill>
                  <a:srgbClr val="000000"/>
                </a:solidFill>
                <a:latin typeface="Calibri"/>
                <a:ea typeface="Calibri"/>
                <a:cs typeface="Calibri"/>
                <a:sym typeface="Calibri"/>
              </a:rPr>
              <a:t>Azure Integration Services es un conjunto de servicios en la nube de Microsoft diseñados para conectar aplicaciones y datos a nivel empresarial.</a:t>
            </a:r>
            <a:endParaRPr/>
          </a:p>
          <a:p>
            <a:pPr indent="-77788" lvl="0" marL="177800" marR="0" rtl="0" algn="l">
              <a:lnSpc>
                <a:spcPct val="100000"/>
              </a:lnSpc>
              <a:spcBef>
                <a:spcPts val="0"/>
              </a:spcBef>
              <a:spcAft>
                <a:spcPts val="0"/>
              </a:spcAft>
              <a:buClr>
                <a:schemeClr val="accent5"/>
              </a:buClr>
              <a:buSzPts val="1400"/>
              <a:buFont typeface="Arial"/>
              <a:buNone/>
            </a:pPr>
            <a:r>
              <a:t/>
            </a:r>
            <a:endParaRPr b="0" i="0" sz="1400" u="none" cap="none" strike="noStrike">
              <a:solidFill>
                <a:srgbClr val="000000"/>
              </a:solidFill>
              <a:latin typeface="Calibri"/>
              <a:ea typeface="Calibri"/>
              <a:cs typeface="Calibri"/>
              <a:sym typeface="Calibri"/>
            </a:endParaRPr>
          </a:p>
          <a:p>
            <a:pPr indent="-166688" lvl="0" marL="177800" marR="0" rtl="0" algn="l">
              <a:lnSpc>
                <a:spcPct val="100000"/>
              </a:lnSpc>
              <a:spcBef>
                <a:spcPts val="0"/>
              </a:spcBef>
              <a:spcAft>
                <a:spcPts val="0"/>
              </a:spcAft>
              <a:buClr>
                <a:schemeClr val="accent5"/>
              </a:buClr>
              <a:buSzPts val="1400"/>
              <a:buFont typeface="Arial"/>
              <a:buChar char="•"/>
            </a:pPr>
            <a:r>
              <a:rPr b="1" i="0" lang="es-ES" sz="1400" u="none" cap="none" strike="noStrike">
                <a:solidFill>
                  <a:srgbClr val="000000"/>
                </a:solidFill>
                <a:latin typeface="Calibri"/>
                <a:ea typeface="Calibri"/>
                <a:cs typeface="Calibri"/>
                <a:sym typeface="Calibri"/>
              </a:rPr>
              <a:t>Componentes:</a:t>
            </a:r>
            <a:endParaRPr/>
          </a:p>
          <a:p>
            <a:pPr indent="-179388" lvl="0" marL="357188" marR="0" rtl="0" algn="l">
              <a:lnSpc>
                <a:spcPct val="100000"/>
              </a:lnSpc>
              <a:spcBef>
                <a:spcPts val="0"/>
              </a:spcBef>
              <a:spcAft>
                <a:spcPts val="0"/>
              </a:spcAft>
              <a:buClr>
                <a:schemeClr val="accent5"/>
              </a:buClr>
              <a:buSzPts val="1400"/>
              <a:buFont typeface="Arial"/>
              <a:buChar char="•"/>
            </a:pPr>
            <a:r>
              <a:rPr b="1" i="0" lang="es-ES" sz="1400" u="none" cap="none" strike="noStrike">
                <a:solidFill>
                  <a:srgbClr val="000000"/>
                </a:solidFill>
                <a:latin typeface="Calibri"/>
                <a:ea typeface="Calibri"/>
                <a:cs typeface="Calibri"/>
                <a:sym typeface="Calibri"/>
              </a:rPr>
              <a:t>Azure Logic Apps: </a:t>
            </a:r>
            <a:r>
              <a:rPr b="0" i="0" lang="es-ES" sz="1400" u="none" cap="none" strike="noStrike">
                <a:solidFill>
                  <a:srgbClr val="000000"/>
                </a:solidFill>
                <a:latin typeface="Calibri"/>
                <a:ea typeface="Calibri"/>
                <a:cs typeface="Calibri"/>
                <a:sym typeface="Calibri"/>
              </a:rPr>
              <a:t>Herramienta para automatizar flujos de trabajo e integrar aplicaciones y servicios en la nube mediante conectores predefinidos (SQL Server, Salesforce, SharePoint, etc.).</a:t>
            </a:r>
            <a:endParaRPr/>
          </a:p>
          <a:p>
            <a:pPr indent="-90488" lvl="0" marL="357188" marR="0" rtl="0" algn="l">
              <a:lnSpc>
                <a:spcPct val="100000"/>
              </a:lnSpc>
              <a:spcBef>
                <a:spcPts val="0"/>
              </a:spcBef>
              <a:spcAft>
                <a:spcPts val="0"/>
              </a:spcAft>
              <a:buClr>
                <a:schemeClr val="accent5"/>
              </a:buClr>
              <a:buSzPts val="1400"/>
              <a:buFont typeface="Arial"/>
              <a:buNone/>
            </a:pPr>
            <a:r>
              <a:t/>
            </a:r>
            <a:endParaRPr b="0" i="0" sz="1400" u="none" cap="none" strike="noStrike">
              <a:solidFill>
                <a:srgbClr val="000000"/>
              </a:solidFill>
              <a:latin typeface="Calibri"/>
              <a:ea typeface="Calibri"/>
              <a:cs typeface="Calibri"/>
              <a:sym typeface="Calibri"/>
            </a:endParaRPr>
          </a:p>
          <a:p>
            <a:pPr indent="-179388" lvl="0" marL="357188" marR="0" rtl="0" algn="l">
              <a:lnSpc>
                <a:spcPct val="100000"/>
              </a:lnSpc>
              <a:spcBef>
                <a:spcPts val="0"/>
              </a:spcBef>
              <a:spcAft>
                <a:spcPts val="0"/>
              </a:spcAft>
              <a:buClr>
                <a:schemeClr val="accent5"/>
              </a:buClr>
              <a:buSzPts val="1400"/>
              <a:buFont typeface="Arial"/>
              <a:buChar char="•"/>
            </a:pPr>
            <a:r>
              <a:rPr b="1" i="0" lang="es-ES" sz="1400" u="none" cap="none" strike="noStrike">
                <a:solidFill>
                  <a:srgbClr val="000000"/>
                </a:solidFill>
                <a:latin typeface="Calibri"/>
                <a:ea typeface="Calibri"/>
                <a:cs typeface="Calibri"/>
                <a:sym typeface="Calibri"/>
              </a:rPr>
              <a:t>Azure API Management: </a:t>
            </a:r>
            <a:r>
              <a:rPr b="0" i="0" lang="es-ES" sz="1400" u="none" cap="none" strike="noStrike">
                <a:solidFill>
                  <a:srgbClr val="000000"/>
                </a:solidFill>
                <a:latin typeface="Calibri"/>
                <a:ea typeface="Calibri"/>
                <a:cs typeface="Calibri"/>
                <a:sym typeface="Calibri"/>
              </a:rPr>
              <a:t>Plataforma para publicar, proteger y gestionar APIs, facilitando la integración de aplicaciones mediante APIs.</a:t>
            </a:r>
            <a:endParaRPr/>
          </a:p>
          <a:p>
            <a:pPr indent="-90488" lvl="0" marL="357188" marR="0" rtl="0" algn="l">
              <a:lnSpc>
                <a:spcPct val="100000"/>
              </a:lnSpc>
              <a:spcBef>
                <a:spcPts val="0"/>
              </a:spcBef>
              <a:spcAft>
                <a:spcPts val="0"/>
              </a:spcAft>
              <a:buClr>
                <a:schemeClr val="accent5"/>
              </a:buClr>
              <a:buSzPts val="1400"/>
              <a:buFont typeface="Arial"/>
              <a:buNone/>
            </a:pPr>
            <a:r>
              <a:t/>
            </a:r>
            <a:endParaRPr b="0" i="0" sz="1400" u="none" cap="none" strike="noStrike">
              <a:solidFill>
                <a:srgbClr val="000000"/>
              </a:solidFill>
              <a:latin typeface="Calibri"/>
              <a:ea typeface="Calibri"/>
              <a:cs typeface="Calibri"/>
              <a:sym typeface="Calibri"/>
            </a:endParaRPr>
          </a:p>
          <a:p>
            <a:pPr indent="-179388" lvl="0" marL="357188" marR="0" rtl="0" algn="l">
              <a:lnSpc>
                <a:spcPct val="100000"/>
              </a:lnSpc>
              <a:spcBef>
                <a:spcPts val="0"/>
              </a:spcBef>
              <a:spcAft>
                <a:spcPts val="0"/>
              </a:spcAft>
              <a:buClr>
                <a:schemeClr val="accent5"/>
              </a:buClr>
              <a:buSzPts val="1400"/>
              <a:buFont typeface="Arial"/>
              <a:buChar char="•"/>
            </a:pPr>
            <a:r>
              <a:rPr b="1" i="0" lang="es-ES" sz="1400" u="none" cap="none" strike="noStrike">
                <a:solidFill>
                  <a:srgbClr val="000000"/>
                </a:solidFill>
                <a:latin typeface="Calibri"/>
                <a:ea typeface="Calibri"/>
                <a:cs typeface="Calibri"/>
                <a:sym typeface="Calibri"/>
              </a:rPr>
              <a:t>Azure Service Bus: </a:t>
            </a:r>
            <a:r>
              <a:rPr b="0" i="0" lang="es-ES" sz="1400" u="none" cap="none" strike="noStrike">
                <a:solidFill>
                  <a:srgbClr val="000000"/>
                </a:solidFill>
                <a:latin typeface="Calibri"/>
                <a:ea typeface="Calibri"/>
                <a:cs typeface="Calibri"/>
                <a:sym typeface="Calibri"/>
              </a:rPr>
              <a:t>Middleware de mensajería para la comunicación asíncrona y desacoplada entre aplicaciones.</a:t>
            </a:r>
            <a:endParaRPr/>
          </a:p>
          <a:p>
            <a:pPr indent="-90488" lvl="0" marL="357188" marR="0" rtl="0" algn="l">
              <a:lnSpc>
                <a:spcPct val="100000"/>
              </a:lnSpc>
              <a:spcBef>
                <a:spcPts val="0"/>
              </a:spcBef>
              <a:spcAft>
                <a:spcPts val="0"/>
              </a:spcAft>
              <a:buClr>
                <a:schemeClr val="accent5"/>
              </a:buClr>
              <a:buSzPts val="1400"/>
              <a:buFont typeface="Arial"/>
              <a:buNone/>
            </a:pPr>
            <a:r>
              <a:t/>
            </a:r>
            <a:endParaRPr b="0" i="0" sz="1400" u="none" cap="none" strike="noStrike">
              <a:solidFill>
                <a:srgbClr val="000000"/>
              </a:solidFill>
              <a:latin typeface="Calibri"/>
              <a:ea typeface="Calibri"/>
              <a:cs typeface="Calibri"/>
              <a:sym typeface="Calibri"/>
            </a:endParaRPr>
          </a:p>
          <a:p>
            <a:pPr indent="-179388" lvl="0" marL="357188" marR="0" rtl="0" algn="l">
              <a:lnSpc>
                <a:spcPct val="100000"/>
              </a:lnSpc>
              <a:spcBef>
                <a:spcPts val="0"/>
              </a:spcBef>
              <a:spcAft>
                <a:spcPts val="0"/>
              </a:spcAft>
              <a:buClr>
                <a:schemeClr val="accent5"/>
              </a:buClr>
              <a:buSzPts val="1400"/>
              <a:buFont typeface="Arial"/>
              <a:buChar char="•"/>
            </a:pPr>
            <a:r>
              <a:rPr b="1" i="0" lang="es-ES" sz="1400" u="none" cap="none" strike="noStrike">
                <a:solidFill>
                  <a:srgbClr val="000000"/>
                </a:solidFill>
                <a:latin typeface="Calibri"/>
                <a:ea typeface="Calibri"/>
                <a:cs typeface="Calibri"/>
                <a:sym typeface="Calibri"/>
              </a:rPr>
              <a:t>Azure Event Grid y Event Hub: </a:t>
            </a:r>
            <a:r>
              <a:rPr b="0" i="0" lang="es-ES" sz="1400" u="none" cap="none" strike="noStrike">
                <a:solidFill>
                  <a:srgbClr val="000000"/>
                </a:solidFill>
                <a:latin typeface="Calibri"/>
                <a:ea typeface="Calibri"/>
                <a:cs typeface="Calibri"/>
                <a:sym typeface="Calibri"/>
              </a:rPr>
              <a:t>Servicios para la gestión de eventos y la integración basada en la publicación y suscripción de eventos en tiempo real.</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3"/>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MICROSOFT</a:t>
            </a:r>
            <a:endParaRPr/>
          </a:p>
        </p:txBody>
      </p:sp>
      <p:sp>
        <p:nvSpPr>
          <p:cNvPr id="300" name="Google Shape;300;p23"/>
          <p:cNvSpPr txBox="1"/>
          <p:nvPr/>
        </p:nvSpPr>
        <p:spPr>
          <a:xfrm>
            <a:off x="509864" y="919439"/>
            <a:ext cx="3975997"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1600" u="none" cap="none" strike="noStrike">
                <a:solidFill>
                  <a:schemeClr val="dk1"/>
                </a:solidFill>
                <a:highlight>
                  <a:srgbClr val="FFFFFF"/>
                </a:highlight>
                <a:latin typeface="Calibri"/>
                <a:ea typeface="Calibri"/>
                <a:cs typeface="Calibri"/>
                <a:sym typeface="Calibri"/>
              </a:rPr>
              <a:t>ESTRATEGIAS DE INTEGRACIÓN</a:t>
            </a:r>
            <a:endParaRPr b="0" i="0" sz="1400" u="none" cap="none" strike="noStrike">
              <a:solidFill>
                <a:schemeClr val="dk1"/>
              </a:solidFill>
              <a:latin typeface="Arial"/>
              <a:ea typeface="Arial"/>
              <a:cs typeface="Arial"/>
              <a:sym typeface="Arial"/>
            </a:endParaRPr>
          </a:p>
        </p:txBody>
      </p:sp>
      <p:sp>
        <p:nvSpPr>
          <p:cNvPr id="301" name="Google Shape;301;p23"/>
          <p:cNvSpPr/>
          <p:nvPr/>
        </p:nvSpPr>
        <p:spPr>
          <a:xfrm>
            <a:off x="503224" y="1294150"/>
            <a:ext cx="7798200" cy="3831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2000" u="none" cap="none" strike="noStrike">
                <a:solidFill>
                  <a:schemeClr val="accent5"/>
                </a:solidFill>
                <a:latin typeface="Arial"/>
                <a:ea typeface="Arial"/>
                <a:cs typeface="Arial"/>
                <a:sym typeface="Arial"/>
              </a:rPr>
              <a:t>+ 03.</a:t>
            </a:r>
            <a:br>
              <a:rPr b="1" i="0" lang="es-ES" sz="1600" u="none" cap="none" strike="noStrike">
                <a:solidFill>
                  <a:schemeClr val="accent5"/>
                </a:solidFill>
                <a:latin typeface="Calibri"/>
                <a:ea typeface="Calibri"/>
                <a:cs typeface="Calibri"/>
                <a:sym typeface="Calibri"/>
              </a:rPr>
            </a:br>
            <a:r>
              <a:rPr b="1" i="0" lang="es-ES" sz="1600" u="none" cap="none" strike="noStrike">
                <a:solidFill>
                  <a:schemeClr val="accent5"/>
                </a:solidFill>
                <a:latin typeface="Calibri"/>
                <a:ea typeface="Calibri"/>
                <a:cs typeface="Calibri"/>
                <a:sym typeface="Calibri"/>
              </a:rPr>
              <a:t>INTEGRACIÓN DE APLICACIONES CON BIZTALK SERVER</a:t>
            </a:r>
            <a:endParaRPr b="1" i="0" sz="1600" u="none" cap="none" strike="noStrike">
              <a:solidFill>
                <a:schemeClr val="accent5"/>
              </a:solidFill>
              <a:latin typeface="Calibri"/>
              <a:ea typeface="Calibri"/>
              <a:cs typeface="Calibri"/>
              <a:sym typeface="Calibri"/>
            </a:endParaRPr>
          </a:p>
          <a:p>
            <a:pPr indent="-166688" lvl="0" marL="177800" marR="0" rtl="0" algn="l">
              <a:lnSpc>
                <a:spcPct val="100000"/>
              </a:lnSpc>
              <a:spcBef>
                <a:spcPts val="600"/>
              </a:spcBef>
              <a:spcAft>
                <a:spcPts val="0"/>
              </a:spcAft>
              <a:buClr>
                <a:schemeClr val="accent5"/>
              </a:buClr>
              <a:buSzPts val="1600"/>
              <a:buFont typeface="Arial"/>
              <a:buChar char="•"/>
            </a:pPr>
            <a:r>
              <a:rPr b="1" i="0" lang="es-ES" sz="1600" u="none" cap="none" strike="noStrike">
                <a:solidFill>
                  <a:srgbClr val="000000"/>
                </a:solidFill>
                <a:latin typeface="Calibri"/>
                <a:ea typeface="Calibri"/>
                <a:cs typeface="Calibri"/>
                <a:sym typeface="Calibri"/>
              </a:rPr>
              <a:t>Descripción: </a:t>
            </a:r>
            <a:r>
              <a:rPr b="0" i="0" lang="es-ES" sz="1600" u="none" cap="none" strike="noStrike">
                <a:solidFill>
                  <a:srgbClr val="000000"/>
                </a:solidFill>
                <a:latin typeface="Calibri"/>
                <a:ea typeface="Calibri"/>
                <a:cs typeface="Calibri"/>
                <a:sym typeface="Calibri"/>
              </a:rPr>
              <a:t>BizTalk Server es una solución on-premises de Microsoft para la integración de aplicaciones empresariales. Ofrece capacidades para transformar datos, orquestar procesos y conectar aplicaciones dispares.</a:t>
            </a:r>
            <a:endParaRPr/>
          </a:p>
          <a:p>
            <a:pPr indent="-65087" lvl="0" marL="177800" marR="0" rtl="0" algn="l">
              <a:lnSpc>
                <a:spcPct val="100000"/>
              </a:lnSpc>
              <a:spcBef>
                <a:spcPts val="0"/>
              </a:spcBef>
              <a:spcAft>
                <a:spcPts val="0"/>
              </a:spcAft>
              <a:buClr>
                <a:schemeClr val="accent5"/>
              </a:buClr>
              <a:buSzPts val="1600"/>
              <a:buFont typeface="Arial"/>
              <a:buNone/>
            </a:pPr>
            <a:r>
              <a:t/>
            </a:r>
            <a:endParaRPr b="1" i="0" sz="1600" u="none" cap="none" strike="noStrike">
              <a:solidFill>
                <a:srgbClr val="000000"/>
              </a:solidFill>
              <a:latin typeface="Calibri"/>
              <a:ea typeface="Calibri"/>
              <a:cs typeface="Calibri"/>
              <a:sym typeface="Calibri"/>
            </a:endParaRPr>
          </a:p>
          <a:p>
            <a:pPr indent="-166688" lvl="0" marL="177800" marR="0" rtl="0" algn="l">
              <a:lnSpc>
                <a:spcPct val="100000"/>
              </a:lnSpc>
              <a:spcBef>
                <a:spcPts val="0"/>
              </a:spcBef>
              <a:spcAft>
                <a:spcPts val="0"/>
              </a:spcAft>
              <a:buClr>
                <a:schemeClr val="accent5"/>
              </a:buClr>
              <a:buSzPts val="1600"/>
              <a:buFont typeface="Arial"/>
              <a:buChar char="•"/>
            </a:pPr>
            <a:r>
              <a:rPr b="1" i="0" lang="es-ES" sz="1600" u="none" cap="none" strike="noStrike">
                <a:solidFill>
                  <a:srgbClr val="000000"/>
                </a:solidFill>
                <a:latin typeface="Calibri"/>
                <a:ea typeface="Calibri"/>
                <a:cs typeface="Calibri"/>
                <a:sym typeface="Calibri"/>
              </a:rPr>
              <a:t>Características:</a:t>
            </a:r>
            <a:endParaRPr/>
          </a:p>
          <a:p>
            <a:pPr indent="-179388" lvl="0" marL="357188" marR="0" rtl="0" algn="l">
              <a:lnSpc>
                <a:spcPct val="100000"/>
              </a:lnSpc>
              <a:spcBef>
                <a:spcPts val="0"/>
              </a:spcBef>
              <a:spcAft>
                <a:spcPts val="0"/>
              </a:spcAft>
              <a:buClr>
                <a:schemeClr val="accent5"/>
              </a:buClr>
              <a:buSzPts val="1600"/>
              <a:buFont typeface="Arial"/>
              <a:buChar char="•"/>
            </a:pPr>
            <a:r>
              <a:rPr b="1" i="0" lang="es-ES" sz="1600" u="none" cap="none" strike="noStrike">
                <a:solidFill>
                  <a:srgbClr val="000000"/>
                </a:solidFill>
                <a:latin typeface="Calibri"/>
                <a:ea typeface="Calibri"/>
                <a:cs typeface="Calibri"/>
                <a:sym typeface="Calibri"/>
              </a:rPr>
              <a:t>Adaptadores: </a:t>
            </a:r>
            <a:r>
              <a:rPr b="0" i="0" lang="es-ES" sz="1600" u="none" cap="none" strike="noStrike">
                <a:solidFill>
                  <a:srgbClr val="000000"/>
                </a:solidFill>
                <a:latin typeface="Calibri"/>
                <a:ea typeface="Calibri"/>
                <a:cs typeface="Calibri"/>
                <a:sym typeface="Calibri"/>
              </a:rPr>
              <a:t>BizTalk ofrece adaptadores para integrar una amplia gama de sistemas, incluyendo bases de datos, SAP, Oracle, y servicios web.</a:t>
            </a:r>
            <a:endParaRPr/>
          </a:p>
          <a:p>
            <a:pPr indent="-77788" lvl="0" marL="357188" marR="0" rtl="0" algn="l">
              <a:lnSpc>
                <a:spcPct val="100000"/>
              </a:lnSpc>
              <a:spcBef>
                <a:spcPts val="0"/>
              </a:spcBef>
              <a:spcAft>
                <a:spcPts val="0"/>
              </a:spcAft>
              <a:buClr>
                <a:schemeClr val="accent5"/>
              </a:buClr>
              <a:buSzPts val="1600"/>
              <a:buFont typeface="Arial"/>
              <a:buNone/>
            </a:pPr>
            <a:r>
              <a:t/>
            </a:r>
            <a:endParaRPr b="0" i="0" sz="1600" u="none" cap="none" strike="noStrike">
              <a:solidFill>
                <a:srgbClr val="000000"/>
              </a:solidFill>
              <a:latin typeface="Calibri"/>
              <a:ea typeface="Calibri"/>
              <a:cs typeface="Calibri"/>
              <a:sym typeface="Calibri"/>
            </a:endParaRPr>
          </a:p>
          <a:p>
            <a:pPr indent="-179388" lvl="0" marL="357188" marR="0" rtl="0" algn="l">
              <a:lnSpc>
                <a:spcPct val="100000"/>
              </a:lnSpc>
              <a:spcBef>
                <a:spcPts val="0"/>
              </a:spcBef>
              <a:spcAft>
                <a:spcPts val="0"/>
              </a:spcAft>
              <a:buClr>
                <a:schemeClr val="accent5"/>
              </a:buClr>
              <a:buSzPts val="1600"/>
              <a:buFont typeface="Arial"/>
              <a:buChar char="•"/>
            </a:pPr>
            <a:r>
              <a:rPr b="1" i="0" lang="es-ES" sz="1600" u="none" cap="none" strike="noStrike">
                <a:solidFill>
                  <a:srgbClr val="000000"/>
                </a:solidFill>
                <a:latin typeface="Calibri"/>
                <a:ea typeface="Calibri"/>
                <a:cs typeface="Calibri"/>
                <a:sym typeface="Calibri"/>
              </a:rPr>
              <a:t>Mensajería y Transformación: </a:t>
            </a:r>
            <a:r>
              <a:rPr b="0" i="0" lang="es-ES" sz="1600" u="none" cap="none" strike="noStrike">
                <a:solidFill>
                  <a:srgbClr val="000000"/>
                </a:solidFill>
                <a:latin typeface="Calibri"/>
                <a:ea typeface="Calibri"/>
                <a:cs typeface="Calibri"/>
                <a:sym typeface="Calibri"/>
              </a:rPr>
              <a:t>Permite transformar mensajes XML entre diferentes formatos y protocolos, facilitando la interoperabilidad.</a:t>
            </a:r>
            <a:endParaRPr/>
          </a:p>
          <a:p>
            <a:pPr indent="-77788" lvl="0" marL="357188" marR="0" rtl="0" algn="l">
              <a:lnSpc>
                <a:spcPct val="100000"/>
              </a:lnSpc>
              <a:spcBef>
                <a:spcPts val="0"/>
              </a:spcBef>
              <a:spcAft>
                <a:spcPts val="0"/>
              </a:spcAft>
              <a:buClr>
                <a:schemeClr val="accent5"/>
              </a:buClr>
              <a:buSzPts val="1600"/>
              <a:buFont typeface="Arial"/>
              <a:buNone/>
            </a:pPr>
            <a:r>
              <a:t/>
            </a:r>
            <a:endParaRPr b="0" i="0" sz="1600" u="none" cap="none" strike="noStrike">
              <a:solidFill>
                <a:srgbClr val="000000"/>
              </a:solidFill>
              <a:latin typeface="Calibri"/>
              <a:ea typeface="Calibri"/>
              <a:cs typeface="Calibri"/>
              <a:sym typeface="Calibri"/>
            </a:endParaRPr>
          </a:p>
          <a:p>
            <a:pPr indent="-179388" lvl="0" marL="357188" marR="0" rtl="0" algn="l">
              <a:lnSpc>
                <a:spcPct val="100000"/>
              </a:lnSpc>
              <a:spcBef>
                <a:spcPts val="0"/>
              </a:spcBef>
              <a:spcAft>
                <a:spcPts val="0"/>
              </a:spcAft>
              <a:buClr>
                <a:schemeClr val="accent5"/>
              </a:buClr>
              <a:buSzPts val="1600"/>
              <a:buFont typeface="Arial"/>
              <a:buChar char="•"/>
            </a:pPr>
            <a:r>
              <a:rPr b="1" i="0" lang="es-ES" sz="1600" u="none" cap="none" strike="noStrike">
                <a:solidFill>
                  <a:srgbClr val="000000"/>
                </a:solidFill>
                <a:latin typeface="Calibri"/>
                <a:ea typeface="Calibri"/>
                <a:cs typeface="Calibri"/>
                <a:sym typeface="Calibri"/>
              </a:rPr>
              <a:t>Orquestación: </a:t>
            </a:r>
            <a:r>
              <a:rPr b="0" i="0" lang="es-ES" sz="1600" u="none" cap="none" strike="noStrike">
                <a:solidFill>
                  <a:srgbClr val="000000"/>
                </a:solidFill>
                <a:latin typeface="Calibri"/>
                <a:ea typeface="Calibri"/>
                <a:cs typeface="Calibri"/>
                <a:sym typeface="Calibri"/>
              </a:rPr>
              <a:t>Define y ejecuta flujos de trabajo complejos entre sistemas mediante orquestación de procesos.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4"/>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MICROSOFT</a:t>
            </a:r>
            <a:endParaRPr/>
          </a:p>
        </p:txBody>
      </p:sp>
      <p:sp>
        <p:nvSpPr>
          <p:cNvPr id="308" name="Google Shape;308;p24"/>
          <p:cNvSpPr txBox="1"/>
          <p:nvPr/>
        </p:nvSpPr>
        <p:spPr>
          <a:xfrm>
            <a:off x="509864" y="919439"/>
            <a:ext cx="3975997"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1600" u="none" cap="none" strike="noStrike">
                <a:solidFill>
                  <a:schemeClr val="dk1"/>
                </a:solidFill>
                <a:highlight>
                  <a:srgbClr val="FFFFFF"/>
                </a:highlight>
                <a:latin typeface="Calibri"/>
                <a:ea typeface="Calibri"/>
                <a:cs typeface="Calibri"/>
                <a:sym typeface="Calibri"/>
              </a:rPr>
              <a:t>ESTRATEGIAS DE INTEGRACIÓN</a:t>
            </a:r>
            <a:endParaRPr b="0" i="0" sz="1400" u="none" cap="none" strike="noStrike">
              <a:solidFill>
                <a:schemeClr val="dk1"/>
              </a:solidFill>
              <a:latin typeface="Arial"/>
              <a:ea typeface="Arial"/>
              <a:cs typeface="Arial"/>
              <a:sym typeface="Arial"/>
            </a:endParaRPr>
          </a:p>
        </p:txBody>
      </p:sp>
      <p:sp>
        <p:nvSpPr>
          <p:cNvPr id="309" name="Google Shape;309;p24"/>
          <p:cNvSpPr/>
          <p:nvPr/>
        </p:nvSpPr>
        <p:spPr>
          <a:xfrm>
            <a:off x="503224" y="1294150"/>
            <a:ext cx="7896900" cy="3585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2000" u="none" cap="none" strike="noStrike">
                <a:solidFill>
                  <a:schemeClr val="accent5"/>
                </a:solidFill>
                <a:latin typeface="Arial"/>
                <a:ea typeface="Arial"/>
                <a:cs typeface="Arial"/>
                <a:sym typeface="Arial"/>
              </a:rPr>
              <a:t>+ 04.</a:t>
            </a:r>
            <a:br>
              <a:rPr b="1" i="0" lang="es-ES" sz="1600" u="none" cap="none" strike="noStrike">
                <a:solidFill>
                  <a:schemeClr val="accent5"/>
                </a:solidFill>
                <a:latin typeface="Calibri"/>
                <a:ea typeface="Calibri"/>
                <a:cs typeface="Calibri"/>
                <a:sym typeface="Calibri"/>
              </a:rPr>
            </a:br>
            <a:r>
              <a:rPr b="1" i="0" lang="es-ES" sz="1600" u="none" cap="none" strike="noStrike">
                <a:solidFill>
                  <a:schemeClr val="accent5"/>
                </a:solidFill>
                <a:latin typeface="Calibri"/>
                <a:ea typeface="Calibri"/>
                <a:cs typeface="Calibri"/>
                <a:sym typeface="Calibri"/>
              </a:rPr>
              <a:t>INTEGRACIÓN A TRAVÉS DE MICROSOFT POWER PLATFORM</a:t>
            </a:r>
            <a:endParaRPr b="1" i="0" sz="1600" u="none" cap="none" strike="noStrike">
              <a:solidFill>
                <a:schemeClr val="accent5"/>
              </a:solidFill>
              <a:latin typeface="Calibri"/>
              <a:ea typeface="Calibri"/>
              <a:cs typeface="Calibri"/>
              <a:sym typeface="Calibri"/>
            </a:endParaRPr>
          </a:p>
          <a:p>
            <a:pPr indent="-166688" lvl="0" marL="177800" marR="0" rtl="0" algn="l">
              <a:lnSpc>
                <a:spcPct val="100000"/>
              </a:lnSpc>
              <a:spcBef>
                <a:spcPts val="600"/>
              </a:spcBef>
              <a:spcAft>
                <a:spcPts val="0"/>
              </a:spcAft>
              <a:buClr>
                <a:schemeClr val="accent5"/>
              </a:buClr>
              <a:buSzPts val="1600"/>
              <a:buFont typeface="Arial"/>
              <a:buChar char="•"/>
            </a:pPr>
            <a:r>
              <a:rPr b="1" i="0" lang="es-ES" sz="1600" u="none" cap="none" strike="noStrike">
                <a:solidFill>
                  <a:srgbClr val="000000"/>
                </a:solidFill>
                <a:latin typeface="Calibri"/>
                <a:ea typeface="Calibri"/>
                <a:cs typeface="Calibri"/>
                <a:sym typeface="Calibri"/>
              </a:rPr>
              <a:t>Descripción: </a:t>
            </a:r>
            <a:r>
              <a:rPr b="0" i="0" lang="es-ES" sz="1600" u="none" cap="none" strike="noStrike">
                <a:solidFill>
                  <a:srgbClr val="000000"/>
                </a:solidFill>
                <a:latin typeface="Calibri"/>
                <a:ea typeface="Calibri"/>
                <a:cs typeface="Calibri"/>
                <a:sym typeface="Calibri"/>
              </a:rPr>
              <a:t>Microsoft Power Platform permite la integración de aplicaciones a través de herramientas de bajo código/no código.</a:t>
            </a:r>
            <a:endParaRPr/>
          </a:p>
          <a:p>
            <a:pPr indent="-65087" lvl="0" marL="177800" marR="0" rtl="0" algn="l">
              <a:lnSpc>
                <a:spcPct val="100000"/>
              </a:lnSpc>
              <a:spcBef>
                <a:spcPts val="0"/>
              </a:spcBef>
              <a:spcAft>
                <a:spcPts val="0"/>
              </a:spcAft>
              <a:buClr>
                <a:schemeClr val="accent5"/>
              </a:buClr>
              <a:buSzPts val="1600"/>
              <a:buFont typeface="Arial"/>
              <a:buNone/>
            </a:pPr>
            <a:r>
              <a:t/>
            </a:r>
            <a:endParaRPr b="0" i="0" sz="1600" u="none" cap="none" strike="noStrike">
              <a:solidFill>
                <a:srgbClr val="000000"/>
              </a:solidFill>
              <a:latin typeface="Calibri"/>
              <a:ea typeface="Calibri"/>
              <a:cs typeface="Calibri"/>
              <a:sym typeface="Calibri"/>
            </a:endParaRPr>
          </a:p>
          <a:p>
            <a:pPr indent="-166688" lvl="0" marL="177800" marR="0" rtl="0" algn="l">
              <a:lnSpc>
                <a:spcPct val="100000"/>
              </a:lnSpc>
              <a:spcBef>
                <a:spcPts val="0"/>
              </a:spcBef>
              <a:spcAft>
                <a:spcPts val="0"/>
              </a:spcAft>
              <a:buClr>
                <a:schemeClr val="accent5"/>
              </a:buClr>
              <a:buSzPts val="1600"/>
              <a:buFont typeface="Arial"/>
              <a:buChar char="•"/>
            </a:pPr>
            <a:r>
              <a:rPr b="1" i="0" lang="es-ES" sz="1600" u="none" cap="none" strike="noStrike">
                <a:solidFill>
                  <a:srgbClr val="000000"/>
                </a:solidFill>
                <a:latin typeface="Calibri"/>
                <a:ea typeface="Calibri"/>
                <a:cs typeface="Calibri"/>
                <a:sym typeface="Calibri"/>
              </a:rPr>
              <a:t>Componentes:</a:t>
            </a:r>
            <a:endParaRPr/>
          </a:p>
          <a:p>
            <a:pPr indent="-179388" lvl="0" marL="357188" marR="0" rtl="0" algn="l">
              <a:lnSpc>
                <a:spcPct val="100000"/>
              </a:lnSpc>
              <a:spcBef>
                <a:spcPts val="0"/>
              </a:spcBef>
              <a:spcAft>
                <a:spcPts val="0"/>
              </a:spcAft>
              <a:buClr>
                <a:schemeClr val="accent5"/>
              </a:buClr>
              <a:buSzPts val="1600"/>
              <a:buFont typeface="Arial"/>
              <a:buChar char="•"/>
            </a:pPr>
            <a:r>
              <a:rPr b="1" i="0" lang="es-ES" sz="1600" u="none" cap="none" strike="noStrike">
                <a:solidFill>
                  <a:srgbClr val="000000"/>
                </a:solidFill>
                <a:latin typeface="Calibri"/>
                <a:ea typeface="Calibri"/>
                <a:cs typeface="Calibri"/>
                <a:sym typeface="Calibri"/>
              </a:rPr>
              <a:t>Power Automate (anteriormente Microsoft Flow): </a:t>
            </a:r>
            <a:r>
              <a:rPr lang="es-ES" sz="1600">
                <a:latin typeface="Calibri"/>
                <a:ea typeface="Calibri"/>
                <a:cs typeface="Calibri"/>
                <a:sym typeface="Calibri"/>
              </a:rPr>
              <a:t>Automatizar</a:t>
            </a:r>
            <a:r>
              <a:rPr b="0" i="0" lang="es-ES" sz="1600" u="none" cap="none" strike="noStrike">
                <a:solidFill>
                  <a:srgbClr val="000000"/>
                </a:solidFill>
                <a:latin typeface="Calibri"/>
                <a:ea typeface="Calibri"/>
                <a:cs typeface="Calibri"/>
                <a:sym typeface="Calibri"/>
              </a:rPr>
              <a:t> flujos de trabajo e integra aplicaciones utilizando conectores predefinidos o personalizados.</a:t>
            </a:r>
            <a:endParaRPr/>
          </a:p>
          <a:p>
            <a:pPr indent="-77788" lvl="0" marL="357188" marR="0" rtl="0" algn="l">
              <a:lnSpc>
                <a:spcPct val="100000"/>
              </a:lnSpc>
              <a:spcBef>
                <a:spcPts val="0"/>
              </a:spcBef>
              <a:spcAft>
                <a:spcPts val="0"/>
              </a:spcAft>
              <a:buClr>
                <a:schemeClr val="accent5"/>
              </a:buClr>
              <a:buSzPts val="1600"/>
              <a:buFont typeface="Arial"/>
              <a:buNone/>
            </a:pPr>
            <a:r>
              <a:t/>
            </a:r>
            <a:endParaRPr b="0" i="0" sz="1600" u="none" cap="none" strike="noStrike">
              <a:solidFill>
                <a:srgbClr val="000000"/>
              </a:solidFill>
              <a:latin typeface="Calibri"/>
              <a:ea typeface="Calibri"/>
              <a:cs typeface="Calibri"/>
              <a:sym typeface="Calibri"/>
            </a:endParaRPr>
          </a:p>
          <a:p>
            <a:pPr indent="-179388" lvl="0" marL="357188" marR="0" rtl="0" algn="l">
              <a:lnSpc>
                <a:spcPct val="100000"/>
              </a:lnSpc>
              <a:spcBef>
                <a:spcPts val="0"/>
              </a:spcBef>
              <a:spcAft>
                <a:spcPts val="0"/>
              </a:spcAft>
              <a:buClr>
                <a:schemeClr val="accent5"/>
              </a:buClr>
              <a:buSzPts val="1600"/>
              <a:buFont typeface="Arial"/>
              <a:buChar char="•"/>
            </a:pPr>
            <a:r>
              <a:rPr b="1" i="0" lang="es-ES" sz="1600" u="none" cap="none" strike="noStrike">
                <a:solidFill>
                  <a:srgbClr val="000000"/>
                </a:solidFill>
                <a:latin typeface="Calibri"/>
                <a:ea typeface="Calibri"/>
                <a:cs typeface="Calibri"/>
                <a:sym typeface="Calibri"/>
              </a:rPr>
              <a:t>Power Apps: </a:t>
            </a:r>
            <a:r>
              <a:rPr b="0" i="0" lang="es-ES" sz="1600" u="none" cap="none" strike="noStrike">
                <a:solidFill>
                  <a:srgbClr val="000000"/>
                </a:solidFill>
                <a:latin typeface="Calibri"/>
                <a:ea typeface="Calibri"/>
                <a:cs typeface="Calibri"/>
                <a:sym typeface="Calibri"/>
              </a:rPr>
              <a:t>Plataforma para crear aplicaciones empresariales que se integran con datos y servicios de Microsoft y terceros.</a:t>
            </a:r>
            <a:endParaRPr/>
          </a:p>
          <a:p>
            <a:pPr indent="-77788" lvl="0" marL="357188" marR="0" rtl="0" algn="l">
              <a:lnSpc>
                <a:spcPct val="100000"/>
              </a:lnSpc>
              <a:spcBef>
                <a:spcPts val="0"/>
              </a:spcBef>
              <a:spcAft>
                <a:spcPts val="0"/>
              </a:spcAft>
              <a:buClr>
                <a:schemeClr val="accent5"/>
              </a:buClr>
              <a:buSzPts val="1600"/>
              <a:buFont typeface="Arial"/>
              <a:buNone/>
            </a:pPr>
            <a:r>
              <a:t/>
            </a:r>
            <a:endParaRPr b="0" i="0" sz="1600" u="none" cap="none" strike="noStrike">
              <a:solidFill>
                <a:srgbClr val="000000"/>
              </a:solidFill>
              <a:latin typeface="Calibri"/>
              <a:ea typeface="Calibri"/>
              <a:cs typeface="Calibri"/>
              <a:sym typeface="Calibri"/>
            </a:endParaRPr>
          </a:p>
          <a:p>
            <a:pPr indent="-179388" lvl="0" marL="357188" marR="0" rtl="0" algn="l">
              <a:lnSpc>
                <a:spcPct val="100000"/>
              </a:lnSpc>
              <a:spcBef>
                <a:spcPts val="0"/>
              </a:spcBef>
              <a:spcAft>
                <a:spcPts val="0"/>
              </a:spcAft>
              <a:buClr>
                <a:schemeClr val="accent5"/>
              </a:buClr>
              <a:buSzPts val="1600"/>
              <a:buFont typeface="Arial"/>
              <a:buChar char="•"/>
            </a:pPr>
            <a:r>
              <a:rPr b="1" i="0" lang="es-ES" sz="1600" u="none" cap="none" strike="noStrike">
                <a:solidFill>
                  <a:srgbClr val="000000"/>
                </a:solidFill>
                <a:latin typeface="Calibri"/>
                <a:ea typeface="Calibri"/>
                <a:cs typeface="Calibri"/>
                <a:sym typeface="Calibri"/>
              </a:rPr>
              <a:t>Power BI: </a:t>
            </a:r>
            <a:r>
              <a:rPr b="0" i="0" lang="es-ES" sz="1600" u="none" cap="none" strike="noStrike">
                <a:solidFill>
                  <a:srgbClr val="000000"/>
                </a:solidFill>
                <a:latin typeface="Calibri"/>
                <a:ea typeface="Calibri"/>
                <a:cs typeface="Calibri"/>
                <a:sym typeface="Calibri"/>
              </a:rPr>
              <a:t>Permite la integración y visualización de datos desde múltiples fuentes para generar informes y dashboards.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5"/>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MICROSOFT</a:t>
            </a:r>
            <a:endParaRPr/>
          </a:p>
        </p:txBody>
      </p:sp>
      <p:sp>
        <p:nvSpPr>
          <p:cNvPr id="316" name="Google Shape;316;p25"/>
          <p:cNvSpPr txBox="1"/>
          <p:nvPr/>
        </p:nvSpPr>
        <p:spPr>
          <a:xfrm>
            <a:off x="509864" y="919439"/>
            <a:ext cx="3975997"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1600" u="none" cap="none" strike="noStrike">
                <a:solidFill>
                  <a:schemeClr val="dk1"/>
                </a:solidFill>
                <a:highlight>
                  <a:srgbClr val="FFFFFF"/>
                </a:highlight>
                <a:latin typeface="Calibri"/>
                <a:ea typeface="Calibri"/>
                <a:cs typeface="Calibri"/>
                <a:sym typeface="Calibri"/>
              </a:rPr>
              <a:t>ESTRATEGIAS DE INTEGRACIÓN</a:t>
            </a:r>
            <a:endParaRPr b="0" i="0" sz="1400" u="none" cap="none" strike="noStrike">
              <a:solidFill>
                <a:schemeClr val="dk1"/>
              </a:solidFill>
              <a:latin typeface="Arial"/>
              <a:ea typeface="Arial"/>
              <a:cs typeface="Arial"/>
              <a:sym typeface="Arial"/>
            </a:endParaRPr>
          </a:p>
        </p:txBody>
      </p:sp>
      <p:sp>
        <p:nvSpPr>
          <p:cNvPr id="317" name="Google Shape;317;p25"/>
          <p:cNvSpPr/>
          <p:nvPr/>
        </p:nvSpPr>
        <p:spPr>
          <a:xfrm>
            <a:off x="503224" y="1294150"/>
            <a:ext cx="7863900" cy="3831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2000" u="none" cap="none" strike="noStrike">
                <a:solidFill>
                  <a:schemeClr val="accent5"/>
                </a:solidFill>
                <a:latin typeface="Arial"/>
                <a:ea typeface="Arial"/>
                <a:cs typeface="Arial"/>
                <a:sym typeface="Arial"/>
              </a:rPr>
              <a:t>+ 05.</a:t>
            </a:r>
            <a:br>
              <a:rPr b="1" i="0" lang="es-ES" sz="1600" u="none" cap="none" strike="noStrike">
                <a:solidFill>
                  <a:schemeClr val="accent5"/>
                </a:solidFill>
                <a:latin typeface="Calibri"/>
                <a:ea typeface="Calibri"/>
                <a:cs typeface="Calibri"/>
                <a:sym typeface="Calibri"/>
              </a:rPr>
            </a:br>
            <a:r>
              <a:rPr b="1" i="0" lang="es-ES" sz="1600" u="none" cap="none" strike="noStrike">
                <a:solidFill>
                  <a:schemeClr val="accent5"/>
                </a:solidFill>
                <a:latin typeface="Calibri"/>
                <a:ea typeface="Calibri"/>
                <a:cs typeface="Calibri"/>
                <a:sym typeface="Calibri"/>
              </a:rPr>
              <a:t>INTEGRACIÓN MEDIANTE MICROSOFT DYNAMICS 365</a:t>
            </a:r>
            <a:endParaRPr b="1" i="0" sz="1600" u="none" cap="none" strike="noStrike">
              <a:solidFill>
                <a:schemeClr val="accent5"/>
              </a:solidFill>
              <a:latin typeface="Calibri"/>
              <a:ea typeface="Calibri"/>
              <a:cs typeface="Calibri"/>
              <a:sym typeface="Calibri"/>
            </a:endParaRPr>
          </a:p>
          <a:p>
            <a:pPr indent="-166688" lvl="0" marL="177800" marR="0" rtl="0" algn="l">
              <a:lnSpc>
                <a:spcPct val="100000"/>
              </a:lnSpc>
              <a:spcBef>
                <a:spcPts val="600"/>
              </a:spcBef>
              <a:spcAft>
                <a:spcPts val="0"/>
              </a:spcAft>
              <a:buClr>
                <a:schemeClr val="accent5"/>
              </a:buClr>
              <a:buSzPts val="1600"/>
              <a:buFont typeface="Arial"/>
              <a:buChar char="•"/>
            </a:pPr>
            <a:r>
              <a:rPr b="1" i="0" lang="es-ES" sz="1600" u="none" cap="none" strike="noStrike">
                <a:solidFill>
                  <a:srgbClr val="000000"/>
                </a:solidFill>
                <a:latin typeface="Calibri"/>
                <a:ea typeface="Calibri"/>
                <a:cs typeface="Calibri"/>
                <a:sym typeface="Calibri"/>
              </a:rPr>
              <a:t>Descripción: </a:t>
            </a:r>
            <a:r>
              <a:rPr b="0" i="0" lang="es-ES" sz="1600" u="none" cap="none" strike="noStrike">
                <a:solidFill>
                  <a:srgbClr val="000000"/>
                </a:solidFill>
                <a:latin typeface="Calibri"/>
                <a:ea typeface="Calibri"/>
                <a:cs typeface="Calibri"/>
                <a:sym typeface="Calibri"/>
              </a:rPr>
              <a:t>Microsoft Dynamics 365 combina CRM y ERP en una plataforma única que se integra con otros sistemas y aplicaciones.</a:t>
            </a:r>
            <a:endParaRPr/>
          </a:p>
          <a:p>
            <a:pPr indent="-65087" lvl="0" marL="177800" marR="0" rtl="0" algn="l">
              <a:lnSpc>
                <a:spcPct val="100000"/>
              </a:lnSpc>
              <a:spcBef>
                <a:spcPts val="0"/>
              </a:spcBef>
              <a:spcAft>
                <a:spcPts val="0"/>
              </a:spcAft>
              <a:buClr>
                <a:schemeClr val="accent5"/>
              </a:buClr>
              <a:buSzPts val="1600"/>
              <a:buFont typeface="Arial"/>
              <a:buNone/>
            </a:pPr>
            <a:r>
              <a:t/>
            </a:r>
            <a:endParaRPr b="1" i="0" sz="1600" u="none" cap="none" strike="noStrike">
              <a:solidFill>
                <a:srgbClr val="000000"/>
              </a:solidFill>
              <a:latin typeface="Calibri"/>
              <a:ea typeface="Calibri"/>
              <a:cs typeface="Calibri"/>
              <a:sym typeface="Calibri"/>
            </a:endParaRPr>
          </a:p>
          <a:p>
            <a:pPr indent="-166688" lvl="0" marL="177800" marR="0" rtl="0" algn="l">
              <a:lnSpc>
                <a:spcPct val="100000"/>
              </a:lnSpc>
              <a:spcBef>
                <a:spcPts val="0"/>
              </a:spcBef>
              <a:spcAft>
                <a:spcPts val="0"/>
              </a:spcAft>
              <a:buClr>
                <a:schemeClr val="accent5"/>
              </a:buClr>
              <a:buSzPts val="1600"/>
              <a:buFont typeface="Arial"/>
              <a:buChar char="•"/>
            </a:pPr>
            <a:r>
              <a:rPr b="1" i="0" lang="es-ES" sz="1600" u="none" cap="none" strike="noStrike">
                <a:solidFill>
                  <a:srgbClr val="000000"/>
                </a:solidFill>
                <a:latin typeface="Calibri"/>
                <a:ea typeface="Calibri"/>
                <a:cs typeface="Calibri"/>
                <a:sym typeface="Calibri"/>
              </a:rPr>
              <a:t>Características:</a:t>
            </a:r>
            <a:endParaRPr/>
          </a:p>
          <a:p>
            <a:pPr indent="-225425" lvl="0" marL="403225" marR="0" rtl="0" algn="l">
              <a:lnSpc>
                <a:spcPct val="100000"/>
              </a:lnSpc>
              <a:spcBef>
                <a:spcPts val="0"/>
              </a:spcBef>
              <a:spcAft>
                <a:spcPts val="0"/>
              </a:spcAft>
              <a:buClr>
                <a:schemeClr val="accent5"/>
              </a:buClr>
              <a:buSzPts val="1600"/>
              <a:buFont typeface="Arial"/>
              <a:buChar char="•"/>
            </a:pPr>
            <a:r>
              <a:rPr b="1" i="0" lang="es-ES" sz="1600" u="none" cap="none" strike="noStrike">
                <a:solidFill>
                  <a:srgbClr val="000000"/>
                </a:solidFill>
                <a:latin typeface="Calibri"/>
                <a:ea typeface="Calibri"/>
                <a:cs typeface="Calibri"/>
                <a:sym typeface="Calibri"/>
              </a:rPr>
              <a:t>Conectores Predefinidos: </a:t>
            </a:r>
            <a:r>
              <a:rPr b="0" i="0" lang="es-ES" sz="1600" u="none" cap="none" strike="noStrike">
                <a:solidFill>
                  <a:srgbClr val="000000"/>
                </a:solidFill>
                <a:latin typeface="Calibri"/>
                <a:ea typeface="Calibri"/>
                <a:cs typeface="Calibri"/>
                <a:sym typeface="Calibri"/>
              </a:rPr>
              <a:t>Dynamics 365 ofrece conectores para integrarse con servicios como Office 365, SharePoint, y Azure.</a:t>
            </a:r>
            <a:endParaRPr/>
          </a:p>
          <a:p>
            <a:pPr indent="-123825" lvl="0" marL="403225" marR="0" rtl="0" algn="l">
              <a:lnSpc>
                <a:spcPct val="100000"/>
              </a:lnSpc>
              <a:spcBef>
                <a:spcPts val="0"/>
              </a:spcBef>
              <a:spcAft>
                <a:spcPts val="0"/>
              </a:spcAft>
              <a:buClr>
                <a:schemeClr val="accent5"/>
              </a:buClr>
              <a:buSzPts val="1600"/>
              <a:buFont typeface="Arial"/>
              <a:buNone/>
            </a:pPr>
            <a:r>
              <a:t/>
            </a:r>
            <a:endParaRPr b="0" i="0" sz="1600" u="none" cap="none" strike="noStrike">
              <a:solidFill>
                <a:srgbClr val="000000"/>
              </a:solidFill>
              <a:latin typeface="Calibri"/>
              <a:ea typeface="Calibri"/>
              <a:cs typeface="Calibri"/>
              <a:sym typeface="Calibri"/>
            </a:endParaRPr>
          </a:p>
          <a:p>
            <a:pPr indent="-225425" lvl="0" marL="403225" marR="0" rtl="0" algn="l">
              <a:lnSpc>
                <a:spcPct val="100000"/>
              </a:lnSpc>
              <a:spcBef>
                <a:spcPts val="0"/>
              </a:spcBef>
              <a:spcAft>
                <a:spcPts val="0"/>
              </a:spcAft>
              <a:buClr>
                <a:schemeClr val="accent5"/>
              </a:buClr>
              <a:buSzPts val="1600"/>
              <a:buFont typeface="Arial"/>
              <a:buChar char="•"/>
            </a:pPr>
            <a:r>
              <a:rPr b="1" i="0" lang="es-ES" sz="1600" u="none" cap="none" strike="noStrike">
                <a:solidFill>
                  <a:srgbClr val="000000"/>
                </a:solidFill>
                <a:latin typeface="Calibri"/>
                <a:ea typeface="Calibri"/>
                <a:cs typeface="Calibri"/>
                <a:sym typeface="Calibri"/>
              </a:rPr>
              <a:t>APIs y Webhooks: </a:t>
            </a:r>
            <a:r>
              <a:rPr b="0" i="0" lang="es-ES" sz="1600" u="none" cap="none" strike="noStrike">
                <a:solidFill>
                  <a:srgbClr val="000000"/>
                </a:solidFill>
                <a:latin typeface="Calibri"/>
                <a:ea typeface="Calibri"/>
                <a:cs typeface="Calibri"/>
                <a:sym typeface="Calibri"/>
              </a:rPr>
              <a:t>Permiten extender y personalizar la integración con aplicaciones externas.</a:t>
            </a:r>
            <a:endParaRPr/>
          </a:p>
          <a:p>
            <a:pPr indent="-123825" lvl="0" marL="403225" marR="0" rtl="0" algn="l">
              <a:lnSpc>
                <a:spcPct val="100000"/>
              </a:lnSpc>
              <a:spcBef>
                <a:spcPts val="0"/>
              </a:spcBef>
              <a:spcAft>
                <a:spcPts val="0"/>
              </a:spcAft>
              <a:buClr>
                <a:schemeClr val="accent5"/>
              </a:buClr>
              <a:buSzPts val="1600"/>
              <a:buFont typeface="Arial"/>
              <a:buNone/>
            </a:pPr>
            <a:r>
              <a:t/>
            </a:r>
            <a:endParaRPr b="0" i="0" sz="1600" u="none" cap="none" strike="noStrike">
              <a:solidFill>
                <a:srgbClr val="000000"/>
              </a:solidFill>
              <a:latin typeface="Calibri"/>
              <a:ea typeface="Calibri"/>
              <a:cs typeface="Calibri"/>
              <a:sym typeface="Calibri"/>
            </a:endParaRPr>
          </a:p>
          <a:p>
            <a:pPr indent="-225425" lvl="0" marL="403225" marR="0" rtl="0" algn="l">
              <a:lnSpc>
                <a:spcPct val="100000"/>
              </a:lnSpc>
              <a:spcBef>
                <a:spcPts val="0"/>
              </a:spcBef>
              <a:spcAft>
                <a:spcPts val="0"/>
              </a:spcAft>
              <a:buClr>
                <a:schemeClr val="accent5"/>
              </a:buClr>
              <a:buSzPts val="1600"/>
              <a:buFont typeface="Arial"/>
              <a:buChar char="•"/>
            </a:pPr>
            <a:r>
              <a:rPr b="1" i="0" lang="es-ES" sz="1600" u="none" cap="none" strike="noStrike">
                <a:solidFill>
                  <a:srgbClr val="000000"/>
                </a:solidFill>
                <a:latin typeface="Calibri"/>
                <a:ea typeface="Calibri"/>
                <a:cs typeface="Calibri"/>
                <a:sym typeface="Calibri"/>
              </a:rPr>
              <a:t>Common Data Service (Dataverse): </a:t>
            </a:r>
            <a:r>
              <a:rPr b="0" i="0" lang="es-ES" sz="1600" u="none" cap="none" strike="noStrike">
                <a:solidFill>
                  <a:srgbClr val="000000"/>
                </a:solidFill>
                <a:latin typeface="Calibri"/>
                <a:ea typeface="Calibri"/>
                <a:cs typeface="Calibri"/>
                <a:sym typeface="Calibri"/>
              </a:rPr>
              <a:t>Centraliza los datos y facilita su integración entre aplicaciones de Dynamics 365 y otras plataformas.</a:t>
            </a:r>
            <a:endParaRPr/>
          </a:p>
          <a:p>
            <a:pPr indent="-65087" lvl="0" marL="177800" marR="0" rtl="0" algn="l">
              <a:lnSpc>
                <a:spcPct val="100000"/>
              </a:lnSpc>
              <a:spcBef>
                <a:spcPts val="0"/>
              </a:spcBef>
              <a:spcAft>
                <a:spcPts val="0"/>
              </a:spcAft>
              <a:buClr>
                <a:schemeClr val="accent5"/>
              </a:buClr>
              <a:buSzPts val="1600"/>
              <a:buFont typeface="Arial"/>
              <a:buNone/>
            </a:pPr>
            <a:r>
              <a:t/>
            </a:r>
            <a:endParaRPr b="0" i="0" sz="1600" u="none" cap="none" strike="noStrike">
              <a:solidFill>
                <a:srgbClr val="000000"/>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6"/>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MICROSOFT</a:t>
            </a:r>
            <a:endParaRPr/>
          </a:p>
        </p:txBody>
      </p:sp>
      <p:sp>
        <p:nvSpPr>
          <p:cNvPr id="324" name="Google Shape;324;p26"/>
          <p:cNvSpPr txBox="1"/>
          <p:nvPr/>
        </p:nvSpPr>
        <p:spPr>
          <a:xfrm>
            <a:off x="509864" y="919439"/>
            <a:ext cx="3975997"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1600" u="none" cap="none" strike="noStrike">
                <a:solidFill>
                  <a:schemeClr val="dk1"/>
                </a:solidFill>
                <a:highlight>
                  <a:srgbClr val="FFFFFF"/>
                </a:highlight>
                <a:latin typeface="Calibri"/>
                <a:ea typeface="Calibri"/>
                <a:cs typeface="Calibri"/>
                <a:sym typeface="Calibri"/>
              </a:rPr>
              <a:t>ESTRATEGIAS DE INTEGRACIÓN</a:t>
            </a:r>
            <a:endParaRPr b="0" i="0" sz="1400" u="none" cap="none" strike="noStrike">
              <a:solidFill>
                <a:schemeClr val="dk1"/>
              </a:solidFill>
              <a:latin typeface="Arial"/>
              <a:ea typeface="Arial"/>
              <a:cs typeface="Arial"/>
              <a:sym typeface="Arial"/>
            </a:endParaRPr>
          </a:p>
        </p:txBody>
      </p:sp>
      <p:sp>
        <p:nvSpPr>
          <p:cNvPr id="325" name="Google Shape;325;p26"/>
          <p:cNvSpPr/>
          <p:nvPr/>
        </p:nvSpPr>
        <p:spPr>
          <a:xfrm>
            <a:off x="503224" y="1294150"/>
            <a:ext cx="7814700" cy="3093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s-ES" sz="2000" u="none" cap="none" strike="noStrike">
                <a:solidFill>
                  <a:schemeClr val="accent5"/>
                </a:solidFill>
                <a:latin typeface="Arial"/>
                <a:ea typeface="Arial"/>
                <a:cs typeface="Arial"/>
                <a:sym typeface="Arial"/>
              </a:rPr>
              <a:t>+ 06.</a:t>
            </a:r>
            <a:br>
              <a:rPr b="1" i="0" lang="es-ES" sz="1600" u="none" cap="none" strike="noStrike">
                <a:solidFill>
                  <a:schemeClr val="accent5"/>
                </a:solidFill>
                <a:latin typeface="Calibri"/>
                <a:ea typeface="Calibri"/>
                <a:cs typeface="Calibri"/>
                <a:sym typeface="Calibri"/>
              </a:rPr>
            </a:br>
            <a:r>
              <a:rPr b="1" i="0" lang="es-ES" sz="1600" u="none" cap="none" strike="noStrike">
                <a:solidFill>
                  <a:schemeClr val="accent5"/>
                </a:solidFill>
                <a:latin typeface="Calibri"/>
                <a:ea typeface="Calibri"/>
                <a:cs typeface="Calibri"/>
                <a:sym typeface="Calibri"/>
              </a:rPr>
              <a:t>INTEGRACIÓN DE DATOS CON SQL SERVER INTEGRATION SERVICES (SSIS)</a:t>
            </a:r>
            <a:endParaRPr b="1" i="0" sz="1600" u="none" cap="none" strike="noStrike">
              <a:solidFill>
                <a:schemeClr val="accent5"/>
              </a:solidFill>
              <a:latin typeface="Calibri"/>
              <a:ea typeface="Calibri"/>
              <a:cs typeface="Calibri"/>
              <a:sym typeface="Calibri"/>
            </a:endParaRPr>
          </a:p>
          <a:p>
            <a:pPr indent="-166688" lvl="0" marL="177800" marR="0" rtl="0" algn="l">
              <a:lnSpc>
                <a:spcPct val="100000"/>
              </a:lnSpc>
              <a:spcBef>
                <a:spcPts val="600"/>
              </a:spcBef>
              <a:spcAft>
                <a:spcPts val="0"/>
              </a:spcAft>
              <a:buClr>
                <a:schemeClr val="accent5"/>
              </a:buClr>
              <a:buSzPts val="1600"/>
              <a:buFont typeface="Arial"/>
              <a:buChar char="•"/>
            </a:pPr>
            <a:r>
              <a:rPr b="1" i="0" lang="es-ES" sz="1600" u="none" cap="none" strike="noStrike">
                <a:solidFill>
                  <a:srgbClr val="000000"/>
                </a:solidFill>
                <a:latin typeface="Calibri"/>
                <a:ea typeface="Calibri"/>
                <a:cs typeface="Calibri"/>
                <a:sym typeface="Calibri"/>
              </a:rPr>
              <a:t>Descripción: </a:t>
            </a:r>
            <a:r>
              <a:rPr b="0" i="0" lang="es-ES" sz="1600" u="none" cap="none" strike="noStrike">
                <a:solidFill>
                  <a:srgbClr val="000000"/>
                </a:solidFill>
                <a:latin typeface="Calibri"/>
                <a:ea typeface="Calibri"/>
                <a:cs typeface="Calibri"/>
                <a:sym typeface="Calibri"/>
              </a:rPr>
              <a:t>SSIS es una plataforma de ETL (Extract, Transform, Load) para la integración y transformación de datos.</a:t>
            </a:r>
            <a:endParaRPr/>
          </a:p>
          <a:p>
            <a:pPr indent="-65087" lvl="0" marL="177800" marR="0" rtl="0" algn="l">
              <a:lnSpc>
                <a:spcPct val="100000"/>
              </a:lnSpc>
              <a:spcBef>
                <a:spcPts val="0"/>
              </a:spcBef>
              <a:spcAft>
                <a:spcPts val="0"/>
              </a:spcAft>
              <a:buClr>
                <a:schemeClr val="accent5"/>
              </a:buClr>
              <a:buSzPts val="1600"/>
              <a:buFont typeface="Arial"/>
              <a:buNone/>
            </a:pPr>
            <a:r>
              <a:t/>
            </a:r>
            <a:endParaRPr b="1" i="0" sz="1600" u="none" cap="none" strike="noStrike">
              <a:solidFill>
                <a:srgbClr val="000000"/>
              </a:solidFill>
              <a:latin typeface="Calibri"/>
              <a:ea typeface="Calibri"/>
              <a:cs typeface="Calibri"/>
              <a:sym typeface="Calibri"/>
            </a:endParaRPr>
          </a:p>
          <a:p>
            <a:pPr indent="-166688" lvl="0" marL="177800" marR="0" rtl="0" algn="l">
              <a:lnSpc>
                <a:spcPct val="100000"/>
              </a:lnSpc>
              <a:spcBef>
                <a:spcPts val="0"/>
              </a:spcBef>
              <a:spcAft>
                <a:spcPts val="0"/>
              </a:spcAft>
              <a:buClr>
                <a:schemeClr val="accent5"/>
              </a:buClr>
              <a:buSzPts val="1600"/>
              <a:buFont typeface="Arial"/>
              <a:buChar char="•"/>
            </a:pPr>
            <a:r>
              <a:rPr b="1" i="0" lang="es-ES" sz="1600" u="none" cap="none" strike="noStrike">
                <a:solidFill>
                  <a:srgbClr val="000000"/>
                </a:solidFill>
                <a:latin typeface="Calibri"/>
                <a:ea typeface="Calibri"/>
                <a:cs typeface="Calibri"/>
                <a:sym typeface="Calibri"/>
              </a:rPr>
              <a:t>Características:</a:t>
            </a:r>
            <a:endParaRPr/>
          </a:p>
          <a:p>
            <a:pPr indent="-179388" lvl="0" marL="357188" marR="0" rtl="0" algn="l">
              <a:lnSpc>
                <a:spcPct val="100000"/>
              </a:lnSpc>
              <a:spcBef>
                <a:spcPts val="0"/>
              </a:spcBef>
              <a:spcAft>
                <a:spcPts val="0"/>
              </a:spcAft>
              <a:buClr>
                <a:schemeClr val="accent5"/>
              </a:buClr>
              <a:buSzPts val="1600"/>
              <a:buFont typeface="Arial"/>
              <a:buChar char="•"/>
            </a:pPr>
            <a:r>
              <a:rPr b="1" i="0" lang="es-ES" sz="1600" u="none" cap="none" strike="noStrike">
                <a:solidFill>
                  <a:srgbClr val="000000"/>
                </a:solidFill>
                <a:latin typeface="Calibri"/>
                <a:ea typeface="Calibri"/>
                <a:cs typeface="Calibri"/>
                <a:sym typeface="Calibri"/>
              </a:rPr>
              <a:t>ETL: </a:t>
            </a:r>
            <a:r>
              <a:rPr b="0" i="0" lang="es-ES" sz="1600" u="none" cap="none" strike="noStrike">
                <a:solidFill>
                  <a:srgbClr val="000000"/>
                </a:solidFill>
                <a:latin typeface="Calibri"/>
                <a:ea typeface="Calibri"/>
                <a:cs typeface="Calibri"/>
                <a:sym typeface="Calibri"/>
              </a:rPr>
              <a:t>Extrae datos de diferentes fuentes, los transforma según las reglas de negocio, y los carga en almacenes de datos.</a:t>
            </a:r>
            <a:endParaRPr/>
          </a:p>
          <a:p>
            <a:pPr indent="-77788" lvl="0" marL="357188" marR="0" rtl="0" algn="l">
              <a:lnSpc>
                <a:spcPct val="100000"/>
              </a:lnSpc>
              <a:spcBef>
                <a:spcPts val="0"/>
              </a:spcBef>
              <a:spcAft>
                <a:spcPts val="0"/>
              </a:spcAft>
              <a:buClr>
                <a:schemeClr val="accent5"/>
              </a:buClr>
              <a:buSzPts val="1600"/>
              <a:buFont typeface="Arial"/>
              <a:buNone/>
            </a:pPr>
            <a:r>
              <a:t/>
            </a:r>
            <a:endParaRPr b="1" i="0" sz="1600" u="none" cap="none" strike="noStrike">
              <a:solidFill>
                <a:srgbClr val="000000"/>
              </a:solidFill>
              <a:latin typeface="Calibri"/>
              <a:ea typeface="Calibri"/>
              <a:cs typeface="Calibri"/>
              <a:sym typeface="Calibri"/>
            </a:endParaRPr>
          </a:p>
          <a:p>
            <a:pPr indent="-179388" lvl="0" marL="357188" marR="0" rtl="0" algn="l">
              <a:lnSpc>
                <a:spcPct val="100000"/>
              </a:lnSpc>
              <a:spcBef>
                <a:spcPts val="0"/>
              </a:spcBef>
              <a:spcAft>
                <a:spcPts val="0"/>
              </a:spcAft>
              <a:buClr>
                <a:schemeClr val="accent5"/>
              </a:buClr>
              <a:buSzPts val="1600"/>
              <a:buFont typeface="Arial"/>
              <a:buChar char="•"/>
            </a:pPr>
            <a:r>
              <a:rPr b="1" i="0" lang="es-ES" sz="1600" u="none" cap="none" strike="noStrike">
                <a:solidFill>
                  <a:srgbClr val="000000"/>
                </a:solidFill>
                <a:latin typeface="Calibri"/>
                <a:ea typeface="Calibri"/>
                <a:cs typeface="Calibri"/>
                <a:sym typeface="Calibri"/>
              </a:rPr>
              <a:t>Conectividad: </a:t>
            </a:r>
            <a:r>
              <a:rPr b="0" i="0" lang="es-ES" sz="1600" u="none" cap="none" strike="noStrike">
                <a:solidFill>
                  <a:srgbClr val="000000"/>
                </a:solidFill>
                <a:latin typeface="Calibri"/>
                <a:ea typeface="Calibri"/>
                <a:cs typeface="Calibri"/>
                <a:sym typeface="Calibri"/>
              </a:rPr>
              <a:t>Se conecta a una amplia variedad de fuentes de datos, incluyendo bases de datos, archivos planos, XML, y aplicaciones empresariales.</a:t>
            </a:r>
            <a:endParaRPr/>
          </a:p>
          <a:p>
            <a:pPr indent="-65087" lvl="0" marL="177800" marR="0" rtl="0" algn="l">
              <a:lnSpc>
                <a:spcPct val="100000"/>
              </a:lnSpc>
              <a:spcBef>
                <a:spcPts val="0"/>
              </a:spcBef>
              <a:spcAft>
                <a:spcPts val="0"/>
              </a:spcAft>
              <a:buClr>
                <a:schemeClr val="accent5"/>
              </a:buClr>
              <a:buSzPts val="1600"/>
              <a:buFont typeface="Arial"/>
              <a:buNone/>
            </a:pPr>
            <a:r>
              <a:t/>
            </a:r>
            <a:endParaRPr b="0" i="0" sz="1600" u="none" cap="none" strike="noStrike">
              <a:solidFill>
                <a:srgbClr val="000000"/>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5"/>
          <p:cNvSpPr/>
          <p:nvPr/>
        </p:nvSpPr>
        <p:spPr>
          <a:xfrm>
            <a:off x="0" y="0"/>
            <a:ext cx="9144000" cy="5715000"/>
          </a:xfrm>
          <a:prstGeom prst="rect">
            <a:avLst/>
          </a:prstGeom>
          <a:solidFill>
            <a:srgbClr val="654E9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grpSp>
        <p:nvGrpSpPr>
          <p:cNvPr id="331" name="Google Shape;331;p45"/>
          <p:cNvGrpSpPr/>
          <p:nvPr/>
        </p:nvGrpSpPr>
        <p:grpSpPr>
          <a:xfrm>
            <a:off x="2506315" y="2194222"/>
            <a:ext cx="4581728" cy="1326557"/>
            <a:chOff x="2403187" y="2211377"/>
            <a:chExt cx="4581728" cy="1326557"/>
          </a:xfrm>
        </p:grpSpPr>
        <p:sp>
          <p:nvSpPr>
            <p:cNvPr id="332" name="Google Shape;332;p45"/>
            <p:cNvSpPr txBox="1"/>
            <p:nvPr/>
          </p:nvSpPr>
          <p:spPr>
            <a:xfrm>
              <a:off x="2403187" y="2540738"/>
              <a:ext cx="4581728" cy="997196"/>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s-ES" sz="3600" u="none" cap="none" strike="noStrike">
                  <a:solidFill>
                    <a:schemeClr val="lt1"/>
                  </a:solidFill>
                  <a:latin typeface="Arial"/>
                  <a:ea typeface="Arial"/>
                  <a:cs typeface="Arial"/>
                  <a:sym typeface="Arial"/>
                </a:rPr>
                <a:t>CONCLUSIONES</a:t>
              </a:r>
              <a:br>
                <a:rPr b="0" i="0" lang="es-ES" sz="3600" u="none" cap="none" strike="noStrike">
                  <a:solidFill>
                    <a:schemeClr val="lt1"/>
                  </a:solidFill>
                  <a:latin typeface="Arial"/>
                  <a:ea typeface="Arial"/>
                  <a:cs typeface="Arial"/>
                  <a:sym typeface="Arial"/>
                </a:rPr>
              </a:br>
              <a:r>
                <a:rPr b="1" i="0" lang="es-ES" sz="3600" u="none" cap="none" strike="noStrike">
                  <a:solidFill>
                    <a:schemeClr val="lt1"/>
                  </a:solidFill>
                  <a:latin typeface="Arial"/>
                  <a:ea typeface="Arial"/>
                  <a:cs typeface="Arial"/>
                  <a:sym typeface="Arial"/>
                </a:rPr>
                <a:t>MÁS REFERENCIAS</a:t>
              </a:r>
              <a:endParaRPr/>
            </a:p>
          </p:txBody>
        </p:sp>
        <p:pic>
          <p:nvPicPr>
            <p:cNvPr id="333" name="Google Shape;333;p45"/>
            <p:cNvPicPr preferRelativeResize="0"/>
            <p:nvPr/>
          </p:nvPicPr>
          <p:blipFill rotWithShape="1">
            <a:blip r:embed="rId3">
              <a:alphaModFix/>
            </a:blip>
            <a:srcRect b="0" l="0" r="0" t="0"/>
            <a:stretch/>
          </p:blipFill>
          <p:spPr>
            <a:xfrm>
              <a:off x="2425491" y="2211377"/>
              <a:ext cx="202176" cy="208211"/>
            </a:xfrm>
            <a:prstGeom prst="rect">
              <a:avLst/>
            </a:prstGeom>
            <a:noFill/>
            <a:ln>
              <a:noFill/>
            </a:ln>
          </p:spPr>
        </p:pic>
      </p:grpSp>
      <p:pic>
        <p:nvPicPr>
          <p:cNvPr id="334" name="Google Shape;334;p45"/>
          <p:cNvPicPr preferRelativeResize="0"/>
          <p:nvPr/>
        </p:nvPicPr>
        <p:blipFill rotWithShape="1">
          <a:blip r:embed="rId4">
            <a:alphaModFix/>
          </a:blip>
          <a:srcRect b="0" l="0" r="0" t="0"/>
          <a:stretch/>
        </p:blipFill>
        <p:spPr>
          <a:xfrm>
            <a:off x="-1253" y="946969"/>
            <a:ext cx="2072214" cy="389806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6"/>
          <p:cNvSpPr/>
          <p:nvPr/>
        </p:nvSpPr>
        <p:spPr>
          <a:xfrm>
            <a:off x="301556" y="5321030"/>
            <a:ext cx="8453337" cy="29183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341" name="Google Shape;341;p46"/>
          <p:cNvSpPr txBox="1"/>
          <p:nvPr/>
        </p:nvSpPr>
        <p:spPr>
          <a:xfrm>
            <a:off x="1279545" y="912813"/>
            <a:ext cx="5705454" cy="40934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Calibri"/>
                <a:ea typeface="Calibri"/>
                <a:cs typeface="Calibri"/>
                <a:sym typeface="Calibri"/>
              </a:rPr>
              <a:t>La integración de aplicaciones es clave para conectar sistemas, automatizar procesos y mejorar la eficiencia operativa. Con las tecnologías y estrategias adecuadas, se superan desafíos de interoperabilidad, escalabilidad y seguridad, optimizando el flujo de información y permitiendo a las empresas adaptarse ágilmente a cambios tecnológicos y de negocio.</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ES" sz="1400" u="none" cap="none" strike="noStrike">
                <a:solidFill>
                  <a:srgbClr val="000000"/>
                </a:solidFill>
                <a:latin typeface="Calibri"/>
                <a:ea typeface="Calibri"/>
                <a:cs typeface="Calibri"/>
                <a:sym typeface="Calibri"/>
              </a:rPr>
              <a:t>La integración de aplicaciones con Java, desde simples conexiones hasta sistemas distribuidos complejos, es facilitada por su ecosistema maduro y herramientas como Spring Boot, Apache Camel y Kafka. Java sigue siendo una opción sólida para proyectos de integración, permitiendo construir soluciones escalables, resilientes y eficientes en diversas industrias.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ES" sz="1400" u="none" cap="none" strike="noStrike">
                <a:solidFill>
                  <a:srgbClr val="000000"/>
                </a:solidFill>
                <a:latin typeface="Calibri"/>
                <a:ea typeface="Calibri"/>
                <a:cs typeface="Calibri"/>
                <a:sym typeface="Calibri"/>
              </a:rPr>
              <a:t>Microsoft ofrece herramientas y plataformas robustas para la integración de aplicaciones tanto en la nube como on-premises, facilitando la conexión de sistemas, la automatización de procesos y la gestión de datos de manera segura y eficiente. Su ecosistema flexible y escalable se adapta a diversas necesidades empresariales, permitiendo elegir la tecnología adecuada según los requisitos del proyecto.</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pic>
        <p:nvPicPr>
          <p:cNvPr id="342" name="Google Shape;342;p46"/>
          <p:cNvPicPr preferRelativeResize="0"/>
          <p:nvPr/>
        </p:nvPicPr>
        <p:blipFill rotWithShape="1">
          <a:blip r:embed="rId3">
            <a:alphaModFix/>
          </a:blip>
          <a:srcRect b="0" l="0" r="0" t="0"/>
          <a:stretch/>
        </p:blipFill>
        <p:spPr>
          <a:xfrm>
            <a:off x="1011260" y="954885"/>
            <a:ext cx="114138" cy="117546"/>
          </a:xfrm>
          <a:prstGeom prst="rect">
            <a:avLst/>
          </a:prstGeom>
          <a:noFill/>
          <a:ln>
            <a:noFill/>
          </a:ln>
        </p:spPr>
      </p:pic>
      <p:pic>
        <p:nvPicPr>
          <p:cNvPr id="343" name="Google Shape;343;p46"/>
          <p:cNvPicPr preferRelativeResize="0"/>
          <p:nvPr/>
        </p:nvPicPr>
        <p:blipFill rotWithShape="1">
          <a:blip r:embed="rId3">
            <a:alphaModFix/>
          </a:blip>
          <a:srcRect b="0" l="0" r="0" t="0"/>
          <a:stretch/>
        </p:blipFill>
        <p:spPr>
          <a:xfrm>
            <a:off x="1011260" y="2239910"/>
            <a:ext cx="114138" cy="117546"/>
          </a:xfrm>
          <a:prstGeom prst="rect">
            <a:avLst/>
          </a:prstGeom>
          <a:noFill/>
          <a:ln>
            <a:noFill/>
          </a:ln>
        </p:spPr>
      </p:pic>
      <p:sp>
        <p:nvSpPr>
          <p:cNvPr id="344" name="Google Shape;344;p46"/>
          <p:cNvSpPr/>
          <p:nvPr/>
        </p:nvSpPr>
        <p:spPr>
          <a:xfrm>
            <a:off x="8133347" y="163629"/>
            <a:ext cx="808522" cy="754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345" name="Google Shape;345;p46"/>
          <p:cNvPicPr preferRelativeResize="0"/>
          <p:nvPr/>
        </p:nvPicPr>
        <p:blipFill rotWithShape="1">
          <a:blip r:embed="rId4">
            <a:alphaModFix amt="42000"/>
          </a:blip>
          <a:srcRect b="0" l="0" r="0" t="0"/>
          <a:stretch/>
        </p:blipFill>
        <p:spPr>
          <a:xfrm>
            <a:off x="6984999" y="3048772"/>
            <a:ext cx="1690689" cy="2185216"/>
          </a:xfrm>
          <a:prstGeom prst="rect">
            <a:avLst/>
          </a:prstGeom>
          <a:noFill/>
          <a:ln>
            <a:noFill/>
          </a:ln>
        </p:spPr>
      </p:pic>
      <p:sp>
        <p:nvSpPr>
          <p:cNvPr id="346" name="Google Shape;346;p46"/>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CONCLUSIONES </a:t>
            </a:r>
            <a:endParaRPr/>
          </a:p>
        </p:txBody>
      </p:sp>
      <p:pic>
        <p:nvPicPr>
          <p:cNvPr id="347" name="Google Shape;347;p46"/>
          <p:cNvPicPr preferRelativeResize="0"/>
          <p:nvPr/>
        </p:nvPicPr>
        <p:blipFill rotWithShape="1">
          <a:blip r:embed="rId3">
            <a:alphaModFix/>
          </a:blip>
          <a:srcRect b="0" l="0" r="0" t="0"/>
          <a:stretch/>
        </p:blipFill>
        <p:spPr>
          <a:xfrm>
            <a:off x="1011260" y="3525450"/>
            <a:ext cx="114138" cy="11754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7"/>
          <p:cNvSpPr/>
          <p:nvPr/>
        </p:nvSpPr>
        <p:spPr>
          <a:xfrm>
            <a:off x="0" y="0"/>
            <a:ext cx="9144000" cy="5715000"/>
          </a:xfrm>
          <a:prstGeom prst="rect">
            <a:avLst/>
          </a:prstGeom>
          <a:solidFill>
            <a:srgbClr val="8DCB6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353" name="Google Shape;353;p47"/>
          <p:cNvSpPr txBox="1"/>
          <p:nvPr/>
        </p:nvSpPr>
        <p:spPr>
          <a:xfrm>
            <a:off x="2519363" y="2540738"/>
            <a:ext cx="4581728" cy="997196"/>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s-ES" sz="3600" u="none" cap="none" strike="noStrike">
                <a:solidFill>
                  <a:schemeClr val="lt1"/>
                </a:solidFill>
                <a:latin typeface="Arial"/>
                <a:ea typeface="Arial"/>
                <a:cs typeface="Arial"/>
                <a:sym typeface="Arial"/>
              </a:rPr>
              <a:t>BIBLIOGRAFÍA</a:t>
            </a:r>
            <a:br>
              <a:rPr b="0" i="0" lang="es-ES" sz="3600" u="none" cap="none" strike="noStrike">
                <a:solidFill>
                  <a:schemeClr val="lt1"/>
                </a:solidFill>
                <a:latin typeface="Arial"/>
                <a:ea typeface="Arial"/>
                <a:cs typeface="Arial"/>
                <a:sym typeface="Arial"/>
              </a:rPr>
            </a:br>
            <a:r>
              <a:rPr b="1" i="0" lang="es-ES" sz="3600" u="none" cap="none" strike="noStrike">
                <a:solidFill>
                  <a:schemeClr val="lt1"/>
                </a:solidFill>
                <a:latin typeface="Arial"/>
                <a:ea typeface="Arial"/>
                <a:cs typeface="Arial"/>
                <a:sym typeface="Arial"/>
              </a:rPr>
              <a:t>MÁS REFERENCIAS</a:t>
            </a:r>
            <a:endParaRPr/>
          </a:p>
        </p:txBody>
      </p:sp>
      <p:pic>
        <p:nvPicPr>
          <p:cNvPr id="354" name="Google Shape;354;p47"/>
          <p:cNvPicPr preferRelativeResize="0"/>
          <p:nvPr/>
        </p:nvPicPr>
        <p:blipFill rotWithShape="1">
          <a:blip r:embed="rId3">
            <a:alphaModFix/>
          </a:blip>
          <a:srcRect b="0" l="0" r="0" t="0"/>
          <a:stretch/>
        </p:blipFill>
        <p:spPr>
          <a:xfrm>
            <a:off x="2528619" y="2194222"/>
            <a:ext cx="202176" cy="208211"/>
          </a:xfrm>
          <a:prstGeom prst="rect">
            <a:avLst/>
          </a:prstGeom>
          <a:noFill/>
          <a:ln>
            <a:noFill/>
          </a:ln>
        </p:spPr>
      </p:pic>
      <p:pic>
        <p:nvPicPr>
          <p:cNvPr id="355" name="Google Shape;355;p47"/>
          <p:cNvPicPr preferRelativeResize="0"/>
          <p:nvPr/>
        </p:nvPicPr>
        <p:blipFill rotWithShape="1">
          <a:blip r:embed="rId4">
            <a:alphaModFix/>
          </a:blip>
          <a:srcRect b="0" l="0" r="0" t="0"/>
          <a:stretch/>
        </p:blipFill>
        <p:spPr>
          <a:xfrm>
            <a:off x="0" y="946970"/>
            <a:ext cx="2072061" cy="389806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8"/>
          <p:cNvSpPr/>
          <p:nvPr/>
        </p:nvSpPr>
        <p:spPr>
          <a:xfrm>
            <a:off x="301556" y="5321030"/>
            <a:ext cx="8453337" cy="29183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361" name="Google Shape;361;p48"/>
          <p:cNvSpPr txBox="1"/>
          <p:nvPr/>
        </p:nvSpPr>
        <p:spPr>
          <a:xfrm>
            <a:off x="1279009" y="917823"/>
            <a:ext cx="4774320" cy="215443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Calibri"/>
                <a:ea typeface="Calibri"/>
                <a:cs typeface="Calibri"/>
                <a:sym typeface="Calibri"/>
              </a:rPr>
              <a:t>Enterprise Integration Patterns: Designing, Building, and Deploying Messaging Solutions - Gregor Hohpe, Bobby Woolf</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ES" sz="1400" u="none" cap="none" strike="noStrike">
                <a:solidFill>
                  <a:srgbClr val="000000"/>
                </a:solidFill>
                <a:latin typeface="Calibri"/>
                <a:ea typeface="Calibri"/>
                <a:cs typeface="Calibri"/>
                <a:sym typeface="Calibri"/>
              </a:rPr>
              <a:t>Microsoft Azure Integration Services Documentation: https://docs.microsoft.com/en-us/azure/architecture/integration-services/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ES" sz="1400" u="none" cap="none" strike="noStrike">
                <a:solidFill>
                  <a:srgbClr val="000000"/>
                </a:solidFill>
                <a:latin typeface="Calibri"/>
                <a:ea typeface="Calibri"/>
                <a:cs typeface="Calibri"/>
                <a:sym typeface="Calibri"/>
              </a:rPr>
              <a:t>Spring Integration Documentation: https://spring.io/projects/spring-integration</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Calibri"/>
              <a:ea typeface="Calibri"/>
              <a:cs typeface="Calibri"/>
              <a:sym typeface="Calibri"/>
            </a:endParaRPr>
          </a:p>
        </p:txBody>
      </p:sp>
      <p:pic>
        <p:nvPicPr>
          <p:cNvPr id="362" name="Google Shape;362;p48"/>
          <p:cNvPicPr preferRelativeResize="0"/>
          <p:nvPr/>
        </p:nvPicPr>
        <p:blipFill rotWithShape="1">
          <a:blip r:embed="rId3">
            <a:alphaModFix/>
          </a:blip>
          <a:srcRect b="0" l="0" r="0" t="0"/>
          <a:stretch/>
        </p:blipFill>
        <p:spPr>
          <a:xfrm>
            <a:off x="1008064" y="959114"/>
            <a:ext cx="103867" cy="106967"/>
          </a:xfrm>
          <a:prstGeom prst="rect">
            <a:avLst/>
          </a:prstGeom>
          <a:noFill/>
          <a:ln>
            <a:noFill/>
          </a:ln>
        </p:spPr>
      </p:pic>
      <p:pic>
        <p:nvPicPr>
          <p:cNvPr id="363" name="Google Shape;363;p48"/>
          <p:cNvPicPr preferRelativeResize="0"/>
          <p:nvPr/>
        </p:nvPicPr>
        <p:blipFill rotWithShape="1">
          <a:blip r:embed="rId3">
            <a:alphaModFix/>
          </a:blip>
          <a:srcRect b="0" l="0" r="0" t="0"/>
          <a:stretch/>
        </p:blipFill>
        <p:spPr>
          <a:xfrm>
            <a:off x="1008064" y="1620119"/>
            <a:ext cx="103867" cy="106967"/>
          </a:xfrm>
          <a:prstGeom prst="rect">
            <a:avLst/>
          </a:prstGeom>
          <a:noFill/>
          <a:ln>
            <a:noFill/>
          </a:ln>
        </p:spPr>
      </p:pic>
      <p:sp>
        <p:nvSpPr>
          <p:cNvPr id="364" name="Google Shape;364;p48"/>
          <p:cNvSpPr/>
          <p:nvPr/>
        </p:nvSpPr>
        <p:spPr>
          <a:xfrm>
            <a:off x="8133347" y="163629"/>
            <a:ext cx="808522" cy="7547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365" name="Google Shape;365;p48"/>
          <p:cNvPicPr preferRelativeResize="0"/>
          <p:nvPr/>
        </p:nvPicPr>
        <p:blipFill rotWithShape="1">
          <a:blip r:embed="rId4">
            <a:alphaModFix amt="42000"/>
          </a:blip>
          <a:srcRect b="0" l="0" r="0" t="0"/>
          <a:stretch/>
        </p:blipFill>
        <p:spPr>
          <a:xfrm>
            <a:off x="6985000" y="3036889"/>
            <a:ext cx="1690688" cy="2197100"/>
          </a:xfrm>
          <a:prstGeom prst="rect">
            <a:avLst/>
          </a:prstGeom>
          <a:noFill/>
          <a:ln>
            <a:noFill/>
          </a:ln>
        </p:spPr>
      </p:pic>
      <p:sp>
        <p:nvSpPr>
          <p:cNvPr id="366" name="Google Shape;366;p48"/>
          <p:cNvSpPr/>
          <p:nvPr/>
        </p:nvSpPr>
        <p:spPr>
          <a:xfrm>
            <a:off x="503238" y="376836"/>
            <a:ext cx="2430462" cy="138499"/>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es-ES" sz="1000" u="none" cap="none" strike="noStrike">
                <a:solidFill>
                  <a:srgbClr val="7F7F7F"/>
                </a:solidFill>
                <a:latin typeface="Calibri"/>
                <a:ea typeface="Calibri"/>
                <a:cs typeface="Calibri"/>
                <a:sym typeface="Calibri"/>
              </a:rPr>
              <a:t>+ </a:t>
            </a:r>
            <a:r>
              <a:rPr b="0" i="0" lang="es-ES" sz="1000" u="none" cap="none" strike="noStrike">
                <a:solidFill>
                  <a:srgbClr val="A5A5A5"/>
                </a:solidFill>
                <a:latin typeface="Calibri"/>
                <a:ea typeface="Calibri"/>
                <a:cs typeface="Calibri"/>
                <a:sym typeface="Calibri"/>
              </a:rPr>
              <a:t>BIBLIOGRAFÍA</a:t>
            </a:r>
            <a:endParaRPr/>
          </a:p>
        </p:txBody>
      </p:sp>
      <p:pic>
        <p:nvPicPr>
          <p:cNvPr id="367" name="Google Shape;367;p48"/>
          <p:cNvPicPr preferRelativeResize="0"/>
          <p:nvPr/>
        </p:nvPicPr>
        <p:blipFill rotWithShape="1">
          <a:blip r:embed="rId3">
            <a:alphaModFix/>
          </a:blip>
          <a:srcRect b="0" l="0" r="0" t="0"/>
          <a:stretch/>
        </p:blipFill>
        <p:spPr>
          <a:xfrm>
            <a:off x="1008064" y="2477582"/>
            <a:ext cx="103867" cy="10696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9"/>
          <p:cNvSpPr/>
          <p:nvPr/>
        </p:nvSpPr>
        <p:spPr>
          <a:xfrm>
            <a:off x="0" y="0"/>
            <a:ext cx="9144000" cy="5715000"/>
          </a:xfrm>
          <a:prstGeom prst="rect">
            <a:avLst/>
          </a:prstGeom>
          <a:solidFill>
            <a:srgbClr val="8087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373" name="Google Shape;373;p49"/>
          <p:cNvPicPr preferRelativeResize="0"/>
          <p:nvPr/>
        </p:nvPicPr>
        <p:blipFill rotWithShape="1">
          <a:blip r:embed="rId3">
            <a:alphaModFix/>
          </a:blip>
          <a:srcRect b="0" l="0" r="0" t="0"/>
          <a:stretch/>
        </p:blipFill>
        <p:spPr>
          <a:xfrm>
            <a:off x="3924199" y="2666298"/>
            <a:ext cx="1295601" cy="38680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Personalizados 4 ISIL">
      <a:dk1>
        <a:srgbClr val="000000"/>
      </a:dk1>
      <a:lt1>
        <a:srgbClr val="FFFFFF"/>
      </a:lt1>
      <a:dk2>
        <a:srgbClr val="1F497D"/>
      </a:dk2>
      <a:lt2>
        <a:srgbClr val="EEECE1"/>
      </a:lt2>
      <a:accent1>
        <a:srgbClr val="FDC212"/>
      </a:accent1>
      <a:accent2>
        <a:srgbClr val="EE4638"/>
      </a:accent2>
      <a:accent3>
        <a:srgbClr val="92C14E"/>
      </a:accent3>
      <a:accent4>
        <a:srgbClr val="FE7828"/>
      </a:accent4>
      <a:accent5>
        <a:srgbClr val="00B1C2"/>
      </a:accent5>
      <a:accent6>
        <a:srgbClr val="808799"/>
      </a:accent6>
      <a:hlink>
        <a:srgbClr val="7150A0"/>
      </a:hlink>
      <a:folHlink>
        <a:srgbClr val="00B1C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2016-10-06T14:52:02Z</dcterms:created>
  <dc:creator>ISIL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