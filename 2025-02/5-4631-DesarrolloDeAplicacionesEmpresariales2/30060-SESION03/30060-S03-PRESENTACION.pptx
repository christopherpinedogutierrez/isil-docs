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y="5715000" cx="9144000"/>
  <p:notesSz cx="6797675" cy="9926625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5465">
          <p15:clr>
            <a:srgbClr val="A4A3A4"/>
          </p15:clr>
        </p15:guide>
        <p15:guide id="2" orient="horz" pos="3093">
          <p15:clr>
            <a:srgbClr val="A4A3A4"/>
          </p15:clr>
        </p15:guide>
      </p15:sldGuideLst>
    </p:ext>
    <p:ext uri="GoogleSlidesCustomDataVersion2">
      <go:slidesCustomData xmlns:go="http://customooxmlschemas.google.com/" r:id="rId32" roundtripDataSignature="AMtx7mi4d6oTA9TGI3JpHzj1U7S5OUqhf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465"/>
        <p:guide pos="3093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1"/>
            <a:ext cx="2945659" cy="4980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50443" y="1"/>
            <a:ext cx="2945659" cy="4980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719138" y="1241425"/>
            <a:ext cx="5359400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3:notes"/>
          <p:cNvSpPr/>
          <p:nvPr>
            <p:ph idx="2" type="sldImg"/>
          </p:nvPr>
        </p:nvSpPr>
        <p:spPr>
          <a:xfrm>
            <a:off x="719138" y="1241425"/>
            <a:ext cx="5359400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" name="Google Shape;18;p33:notes"/>
          <p:cNvSpPr txBox="1"/>
          <p:nvPr>
            <p:ph idx="1" type="body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" name="Google Shape;19;p33:notes"/>
          <p:cNvSpPr txBox="1"/>
          <p:nvPr>
            <p:ph idx="12" type="sldNum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4:notes"/>
          <p:cNvSpPr txBox="1"/>
          <p:nvPr>
            <p:ph idx="1" type="body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34:notes"/>
          <p:cNvSpPr/>
          <p:nvPr>
            <p:ph idx="2" type="sldImg"/>
          </p:nvPr>
        </p:nvSpPr>
        <p:spPr>
          <a:xfrm>
            <a:off x="719138" y="1241425"/>
            <a:ext cx="5359400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5:notes"/>
          <p:cNvSpPr/>
          <p:nvPr>
            <p:ph idx="2" type="sldImg"/>
          </p:nvPr>
        </p:nvSpPr>
        <p:spPr>
          <a:xfrm>
            <a:off x="719138" y="1241425"/>
            <a:ext cx="5359400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" name="Google Shape;40;p35:notes"/>
          <p:cNvSpPr txBox="1"/>
          <p:nvPr>
            <p:ph idx="1" type="body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" name="Google Shape;41;p35:notes"/>
          <p:cNvSpPr txBox="1"/>
          <p:nvPr>
            <p:ph idx="12" type="sldNum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6:notes"/>
          <p:cNvSpPr/>
          <p:nvPr>
            <p:ph idx="2" type="sldImg"/>
          </p:nvPr>
        </p:nvSpPr>
        <p:spPr>
          <a:xfrm>
            <a:off x="719138" y="1241425"/>
            <a:ext cx="5359400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36:notes"/>
          <p:cNvSpPr txBox="1"/>
          <p:nvPr>
            <p:ph idx="1" type="body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ES">
                <a:latin typeface="Arial"/>
                <a:ea typeface="Arial"/>
                <a:cs typeface="Arial"/>
                <a:sym typeface="Arial"/>
              </a:rPr>
              <a:t>Cada SUBTEMA de la sesión será presentado con una diapositiva diferenciada según este modelo.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" name="Google Shape;55;p36:notes"/>
          <p:cNvSpPr txBox="1"/>
          <p:nvPr>
            <p:ph idx="12" type="sldNum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:notes"/>
          <p:cNvSpPr/>
          <p:nvPr>
            <p:ph idx="2" type="sldImg"/>
          </p:nvPr>
        </p:nvSpPr>
        <p:spPr>
          <a:xfrm>
            <a:off x="719138" y="1241425"/>
            <a:ext cx="5359400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4:notes"/>
          <p:cNvSpPr txBox="1"/>
          <p:nvPr>
            <p:ph idx="1" type="body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4:notes"/>
          <p:cNvSpPr txBox="1"/>
          <p:nvPr>
            <p:ph idx="12" type="sldNum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:notes"/>
          <p:cNvSpPr/>
          <p:nvPr>
            <p:ph idx="2" type="sldImg"/>
          </p:nvPr>
        </p:nvSpPr>
        <p:spPr>
          <a:xfrm>
            <a:off x="719138" y="1241425"/>
            <a:ext cx="5359400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5:notes"/>
          <p:cNvSpPr txBox="1"/>
          <p:nvPr>
            <p:ph idx="1" type="body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5:notes"/>
          <p:cNvSpPr txBox="1"/>
          <p:nvPr>
            <p:ph idx="12" type="sldNum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6:notes"/>
          <p:cNvSpPr/>
          <p:nvPr>
            <p:ph idx="2" type="sldImg"/>
          </p:nvPr>
        </p:nvSpPr>
        <p:spPr>
          <a:xfrm>
            <a:off x="719138" y="1241425"/>
            <a:ext cx="5359400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6:notes"/>
          <p:cNvSpPr txBox="1"/>
          <p:nvPr>
            <p:ph idx="1" type="body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6:notes"/>
          <p:cNvSpPr txBox="1"/>
          <p:nvPr>
            <p:ph idx="12" type="sldNum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7:notes"/>
          <p:cNvSpPr/>
          <p:nvPr>
            <p:ph idx="2" type="sldImg"/>
          </p:nvPr>
        </p:nvSpPr>
        <p:spPr>
          <a:xfrm>
            <a:off x="719138" y="1241425"/>
            <a:ext cx="5359400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37:notes"/>
          <p:cNvSpPr txBox="1"/>
          <p:nvPr>
            <p:ph idx="1" type="body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ES">
                <a:latin typeface="Arial"/>
                <a:ea typeface="Arial"/>
                <a:cs typeface="Arial"/>
                <a:sym typeface="Arial"/>
              </a:rPr>
              <a:t>Cada SUBTEMA de la sesión será presentado con una diapositiva diferenciada según este modelo.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2" name="Google Shape;102;p37:notes"/>
          <p:cNvSpPr txBox="1"/>
          <p:nvPr>
            <p:ph idx="12" type="sldNum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8:notes"/>
          <p:cNvSpPr/>
          <p:nvPr>
            <p:ph idx="2" type="sldImg"/>
          </p:nvPr>
        </p:nvSpPr>
        <p:spPr>
          <a:xfrm>
            <a:off x="719138" y="1241425"/>
            <a:ext cx="5359400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8:notes"/>
          <p:cNvSpPr txBox="1"/>
          <p:nvPr>
            <p:ph idx="1" type="body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8:notes"/>
          <p:cNvSpPr txBox="1"/>
          <p:nvPr>
            <p:ph idx="12" type="sldNum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9:notes"/>
          <p:cNvSpPr/>
          <p:nvPr>
            <p:ph idx="2" type="sldImg"/>
          </p:nvPr>
        </p:nvSpPr>
        <p:spPr>
          <a:xfrm>
            <a:off x="719138" y="1241425"/>
            <a:ext cx="5359400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9:notes"/>
          <p:cNvSpPr txBox="1"/>
          <p:nvPr>
            <p:ph idx="1" type="body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9:notes"/>
          <p:cNvSpPr txBox="1"/>
          <p:nvPr>
            <p:ph idx="12" type="sldNum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0:notes"/>
          <p:cNvSpPr/>
          <p:nvPr>
            <p:ph idx="2" type="sldImg"/>
          </p:nvPr>
        </p:nvSpPr>
        <p:spPr>
          <a:xfrm>
            <a:off x="719138" y="1241425"/>
            <a:ext cx="5359400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p10:notes"/>
          <p:cNvSpPr txBox="1"/>
          <p:nvPr>
            <p:ph idx="1" type="body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0:notes"/>
          <p:cNvSpPr txBox="1"/>
          <p:nvPr>
            <p:ph idx="12" type="sldNum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1:notes"/>
          <p:cNvSpPr/>
          <p:nvPr>
            <p:ph idx="2" type="sldImg"/>
          </p:nvPr>
        </p:nvSpPr>
        <p:spPr>
          <a:xfrm>
            <a:off x="719138" y="1241425"/>
            <a:ext cx="5359400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11:notes"/>
          <p:cNvSpPr txBox="1"/>
          <p:nvPr>
            <p:ph idx="1" type="body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1:notes"/>
          <p:cNvSpPr txBox="1"/>
          <p:nvPr>
            <p:ph idx="12" type="sldNum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2:notes"/>
          <p:cNvSpPr/>
          <p:nvPr>
            <p:ph idx="2" type="sldImg"/>
          </p:nvPr>
        </p:nvSpPr>
        <p:spPr>
          <a:xfrm>
            <a:off x="719138" y="1241425"/>
            <a:ext cx="5359400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12:notes"/>
          <p:cNvSpPr txBox="1"/>
          <p:nvPr>
            <p:ph idx="1" type="body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2:notes"/>
          <p:cNvSpPr txBox="1"/>
          <p:nvPr>
            <p:ph idx="12" type="sldNum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3:notes"/>
          <p:cNvSpPr/>
          <p:nvPr>
            <p:ph idx="2" type="sldImg"/>
          </p:nvPr>
        </p:nvSpPr>
        <p:spPr>
          <a:xfrm>
            <a:off x="719138" y="1241425"/>
            <a:ext cx="5359400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13:notes"/>
          <p:cNvSpPr txBox="1"/>
          <p:nvPr>
            <p:ph idx="1" type="body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3:notes"/>
          <p:cNvSpPr txBox="1"/>
          <p:nvPr>
            <p:ph idx="12" type="sldNum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4:notes"/>
          <p:cNvSpPr/>
          <p:nvPr>
            <p:ph idx="2" type="sldImg"/>
          </p:nvPr>
        </p:nvSpPr>
        <p:spPr>
          <a:xfrm>
            <a:off x="719138" y="1241425"/>
            <a:ext cx="5359400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14:notes"/>
          <p:cNvSpPr txBox="1"/>
          <p:nvPr>
            <p:ph idx="1" type="body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4:notes"/>
          <p:cNvSpPr txBox="1"/>
          <p:nvPr>
            <p:ph idx="12" type="sldNum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5:notes"/>
          <p:cNvSpPr/>
          <p:nvPr>
            <p:ph idx="2" type="sldImg"/>
          </p:nvPr>
        </p:nvSpPr>
        <p:spPr>
          <a:xfrm>
            <a:off x="719138" y="1241425"/>
            <a:ext cx="5359400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p15:notes"/>
          <p:cNvSpPr txBox="1"/>
          <p:nvPr>
            <p:ph idx="1" type="body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5:notes"/>
          <p:cNvSpPr txBox="1"/>
          <p:nvPr>
            <p:ph idx="12" type="sldNum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8:notes"/>
          <p:cNvSpPr/>
          <p:nvPr>
            <p:ph idx="2" type="sldImg"/>
          </p:nvPr>
        </p:nvSpPr>
        <p:spPr>
          <a:xfrm>
            <a:off x="719138" y="1241425"/>
            <a:ext cx="5359400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p38:notes"/>
          <p:cNvSpPr txBox="1"/>
          <p:nvPr>
            <p:ph idx="1" type="body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ES">
                <a:latin typeface="Arial"/>
                <a:ea typeface="Arial"/>
                <a:cs typeface="Arial"/>
                <a:sym typeface="Arial"/>
              </a:rPr>
              <a:t>Cada SUBTEMA de la sesión será presentado con una diapositiva diferenciada según este modelo.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8" name="Google Shape;198;p38:notes"/>
          <p:cNvSpPr txBox="1"/>
          <p:nvPr>
            <p:ph idx="12" type="sldNum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7:notes"/>
          <p:cNvSpPr/>
          <p:nvPr>
            <p:ph idx="2" type="sldImg"/>
          </p:nvPr>
        </p:nvSpPr>
        <p:spPr>
          <a:xfrm>
            <a:off x="719138" y="1241425"/>
            <a:ext cx="5359400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p17:notes"/>
          <p:cNvSpPr txBox="1"/>
          <p:nvPr>
            <p:ph idx="1" type="body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7:notes"/>
          <p:cNvSpPr txBox="1"/>
          <p:nvPr>
            <p:ph idx="12" type="sldNum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8:notes"/>
          <p:cNvSpPr/>
          <p:nvPr>
            <p:ph idx="2" type="sldImg"/>
          </p:nvPr>
        </p:nvSpPr>
        <p:spPr>
          <a:xfrm>
            <a:off x="719138" y="1241425"/>
            <a:ext cx="5359400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p18:notes"/>
          <p:cNvSpPr txBox="1"/>
          <p:nvPr>
            <p:ph idx="1" type="body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8:notes"/>
          <p:cNvSpPr txBox="1"/>
          <p:nvPr>
            <p:ph idx="12" type="sldNum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9:notes"/>
          <p:cNvSpPr/>
          <p:nvPr>
            <p:ph idx="2" type="sldImg"/>
          </p:nvPr>
        </p:nvSpPr>
        <p:spPr>
          <a:xfrm>
            <a:off x="719138" y="1241425"/>
            <a:ext cx="5359400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p19:notes"/>
          <p:cNvSpPr txBox="1"/>
          <p:nvPr>
            <p:ph idx="1" type="body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19:notes"/>
          <p:cNvSpPr txBox="1"/>
          <p:nvPr>
            <p:ph idx="12" type="sldNum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0:notes"/>
          <p:cNvSpPr/>
          <p:nvPr>
            <p:ph idx="2" type="sldImg"/>
          </p:nvPr>
        </p:nvSpPr>
        <p:spPr>
          <a:xfrm>
            <a:off x="719138" y="1241425"/>
            <a:ext cx="5359400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p20:notes"/>
          <p:cNvSpPr txBox="1"/>
          <p:nvPr>
            <p:ph idx="1" type="body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20:notes"/>
          <p:cNvSpPr txBox="1"/>
          <p:nvPr>
            <p:ph idx="12" type="sldNum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9:notes"/>
          <p:cNvSpPr txBox="1"/>
          <p:nvPr>
            <p:ph idx="1" type="body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39:notes"/>
          <p:cNvSpPr/>
          <p:nvPr>
            <p:ph idx="2" type="sldImg"/>
          </p:nvPr>
        </p:nvSpPr>
        <p:spPr>
          <a:xfrm>
            <a:off x="719138" y="1241425"/>
            <a:ext cx="5359400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0:notes"/>
          <p:cNvSpPr/>
          <p:nvPr>
            <p:ph idx="2" type="sldImg"/>
          </p:nvPr>
        </p:nvSpPr>
        <p:spPr>
          <a:xfrm>
            <a:off x="719138" y="1241425"/>
            <a:ext cx="5359400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p40:notes"/>
          <p:cNvSpPr txBox="1"/>
          <p:nvPr>
            <p:ph idx="1" type="body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2" name="Google Shape;262;p40:notes"/>
          <p:cNvSpPr txBox="1"/>
          <p:nvPr>
            <p:ph idx="12" type="sldNum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1:notes"/>
          <p:cNvSpPr txBox="1"/>
          <p:nvPr>
            <p:ph idx="1" type="body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41:notes"/>
          <p:cNvSpPr/>
          <p:nvPr>
            <p:ph idx="2" type="sldImg"/>
          </p:nvPr>
        </p:nvSpPr>
        <p:spPr>
          <a:xfrm>
            <a:off x="719138" y="1241425"/>
            <a:ext cx="5359400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2:notes"/>
          <p:cNvSpPr txBox="1"/>
          <p:nvPr>
            <p:ph idx="1" type="body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42:notes"/>
          <p:cNvSpPr/>
          <p:nvPr>
            <p:ph idx="2" type="sldImg"/>
          </p:nvPr>
        </p:nvSpPr>
        <p:spPr>
          <a:xfrm>
            <a:off x="719138" y="1241425"/>
            <a:ext cx="5359400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3:notes"/>
          <p:cNvSpPr txBox="1"/>
          <p:nvPr>
            <p:ph idx="1" type="body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43:notes"/>
          <p:cNvSpPr/>
          <p:nvPr>
            <p:ph idx="2" type="sldImg"/>
          </p:nvPr>
        </p:nvSpPr>
        <p:spPr>
          <a:xfrm>
            <a:off x="719138" y="1241425"/>
            <a:ext cx="5359400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>
  <p:cSld name="Título y objetos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ema - 1 Imagen A">
  <p:cSld name="Subtema - 1 Imagen A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/>
          <p:nvPr/>
        </p:nvSpPr>
        <p:spPr>
          <a:xfrm>
            <a:off x="7379148" y="5371562"/>
            <a:ext cx="1369286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© ISIL. Todos los derechos reservados</a:t>
            </a:r>
            <a:endParaRPr/>
          </a:p>
        </p:txBody>
      </p:sp>
      <p:sp>
        <p:nvSpPr>
          <p:cNvPr id="11" name="Google Shape;11;p23"/>
          <p:cNvSpPr txBox="1"/>
          <p:nvPr/>
        </p:nvSpPr>
        <p:spPr>
          <a:xfrm>
            <a:off x="876300" y="5343295"/>
            <a:ext cx="2762295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-ES" sz="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DESARROLLO DE APLICACIONES EMPRESARIALES II  •  TEMA 03</a:t>
            </a:r>
            <a:endParaRPr b="0" i="0" sz="8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12;p23"/>
          <p:cNvPicPr preferRelativeResize="0"/>
          <p:nvPr/>
        </p:nvPicPr>
        <p:blipFill rotWithShape="1">
          <a:blip r:embed="rId1">
            <a:alphaModFix amt="20000"/>
          </a:blip>
          <a:srcRect b="0" l="0" r="0" t="0"/>
          <a:stretch/>
        </p:blipFill>
        <p:spPr>
          <a:xfrm>
            <a:off x="506316" y="5349405"/>
            <a:ext cx="369984" cy="206823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880">
          <p15:clr>
            <a:srgbClr val="F26B43"/>
          </p15:clr>
        </p15:guide>
        <p15:guide id="2" orient="horz" pos="575">
          <p15:clr>
            <a:srgbClr val="F26B43"/>
          </p15:clr>
        </p15:guide>
        <p15:guide id="3" pos="2562">
          <p15:clr>
            <a:srgbClr val="F26B43"/>
          </p15:clr>
        </p15:guide>
        <p15:guide id="4" pos="2313">
          <p15:clr>
            <a:srgbClr val="F26B43"/>
          </p15:clr>
        </p15:guide>
        <p15:guide id="5" pos="2767">
          <p15:clr>
            <a:srgbClr val="F26B43"/>
          </p15:clr>
        </p15:guide>
        <p15:guide id="6" pos="2993">
          <p15:clr>
            <a:srgbClr val="F26B43"/>
          </p15:clr>
        </p15:guide>
        <p15:guide id="7" pos="5465">
          <p15:clr>
            <a:srgbClr val="F26B43"/>
          </p15:clr>
        </p15:guide>
        <p15:guide id="8" pos="317">
          <p15:clr>
            <a:srgbClr val="F26B43"/>
          </p15:clr>
        </p15:guide>
        <p15:guide id="9" orient="horz" pos="3297">
          <p15:clr>
            <a:srgbClr val="F26B43"/>
          </p15:clr>
        </p15:guide>
        <p15:guide id="10" orient="horz" pos="30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4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28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0.png"/><Relationship Id="rId4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2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9.jpg"/><Relationship Id="rId4" Type="http://schemas.openxmlformats.org/officeDocument/2006/relationships/image" Target="../media/image30.png"/><Relationship Id="rId5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5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7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6.png"/><Relationship Id="rId4" Type="http://schemas.openxmlformats.org/officeDocument/2006/relationships/image" Target="../media/image1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4.png"/><Relationship Id="rId4" Type="http://schemas.openxmlformats.org/officeDocument/2006/relationships/image" Target="../media/image2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6.png"/><Relationship Id="rId4" Type="http://schemas.openxmlformats.org/officeDocument/2006/relationships/image" Target="../media/image2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2.png"/><Relationship Id="rId4" Type="http://schemas.openxmlformats.org/officeDocument/2006/relationships/image" Target="../media/image2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3"/>
          <p:cNvSpPr/>
          <p:nvPr/>
        </p:nvSpPr>
        <p:spPr>
          <a:xfrm>
            <a:off x="182879" y="5120640"/>
            <a:ext cx="4304965" cy="46201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3"/>
          <p:cNvSpPr txBox="1"/>
          <p:nvPr/>
        </p:nvSpPr>
        <p:spPr>
          <a:xfrm>
            <a:off x="503238" y="808689"/>
            <a:ext cx="3104743" cy="138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9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DESARROLLO DE APLICACIONES EMPRESARIALES II </a:t>
            </a:r>
            <a:endParaRPr/>
          </a:p>
        </p:txBody>
      </p:sp>
      <p:sp>
        <p:nvSpPr>
          <p:cNvPr id="23" name="Google Shape;23;p33"/>
          <p:cNvSpPr/>
          <p:nvPr/>
        </p:nvSpPr>
        <p:spPr>
          <a:xfrm>
            <a:off x="503239" y="2177570"/>
            <a:ext cx="3213718" cy="8863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APLICATIVOS</a:t>
            </a:r>
            <a:r>
              <a:rPr b="1" i="0" lang="es-E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WEB</a:t>
            </a:r>
            <a:endParaRPr/>
          </a:p>
        </p:txBody>
      </p:sp>
      <p:sp>
        <p:nvSpPr>
          <p:cNvPr id="24" name="Google Shape;24;p33"/>
          <p:cNvSpPr/>
          <p:nvPr/>
        </p:nvSpPr>
        <p:spPr>
          <a:xfrm>
            <a:off x="503238" y="3219842"/>
            <a:ext cx="2845526" cy="648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77800" lvl="0" marL="1778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B6AB0"/>
              </a:buClr>
              <a:buSzPts val="1200"/>
              <a:buFont typeface="Arial"/>
              <a:buChar char="•"/>
            </a:pPr>
            <a:r>
              <a:rPr b="0" i="0" lang="es-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Eficiencia</a:t>
            </a:r>
            <a:endParaRPr/>
          </a:p>
          <a:p>
            <a:pPr indent="-177800" lvl="0" marL="1778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B6AB0"/>
              </a:buClr>
              <a:buSzPts val="1200"/>
              <a:buFont typeface="Arial"/>
              <a:buChar char="•"/>
            </a:pPr>
            <a:r>
              <a:rPr b="0" i="0" lang="es-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Tipos de aplicativos</a:t>
            </a:r>
            <a:endParaRPr/>
          </a:p>
          <a:p>
            <a:pPr indent="-177800" lvl="0" marL="1778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B6AB0"/>
              </a:buClr>
              <a:buSzPts val="1200"/>
              <a:buFont typeface="Arial"/>
              <a:buChar char="•"/>
            </a:pPr>
            <a:r>
              <a:rPr b="0" i="0" lang="es-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Componentes empresariales</a:t>
            </a:r>
            <a:endParaRPr/>
          </a:p>
        </p:txBody>
      </p:sp>
      <p:sp>
        <p:nvSpPr>
          <p:cNvPr id="25" name="Google Shape;25;p33"/>
          <p:cNvSpPr txBox="1"/>
          <p:nvPr/>
        </p:nvSpPr>
        <p:spPr>
          <a:xfrm>
            <a:off x="743902" y="1819386"/>
            <a:ext cx="145764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000" u="none" cap="none" strike="noStrike">
                <a:solidFill>
                  <a:srgbClr val="0B6AB0"/>
                </a:solidFill>
                <a:latin typeface="Calibri"/>
                <a:ea typeface="Calibri"/>
                <a:cs typeface="Calibri"/>
                <a:sym typeface="Calibri"/>
              </a:rPr>
              <a:t>TEMA 03</a:t>
            </a:r>
            <a:endParaRPr/>
          </a:p>
        </p:txBody>
      </p:sp>
      <p:pic>
        <p:nvPicPr>
          <p:cNvPr id="26" name="Google Shape;26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7464" y="1883411"/>
            <a:ext cx="166865" cy="1704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52850" y="0"/>
            <a:ext cx="539115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4"/>
          <p:cNvSpPr/>
          <p:nvPr/>
        </p:nvSpPr>
        <p:spPr>
          <a:xfrm>
            <a:off x="0" y="1"/>
            <a:ext cx="9144000" cy="5715000"/>
          </a:xfrm>
          <a:prstGeom prst="rect">
            <a:avLst/>
          </a:prstGeom>
          <a:solidFill>
            <a:srgbClr val="ED434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" name="Google Shape;33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946969"/>
            <a:ext cx="2072213" cy="3898064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34"/>
          <p:cNvSpPr/>
          <p:nvPr/>
        </p:nvSpPr>
        <p:spPr>
          <a:xfrm>
            <a:off x="149817" y="3724759"/>
            <a:ext cx="1037633" cy="1069383"/>
          </a:xfrm>
          <a:prstGeom prst="rect">
            <a:avLst/>
          </a:prstGeom>
          <a:solidFill>
            <a:srgbClr val="ED434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34"/>
          <p:cNvSpPr txBox="1"/>
          <p:nvPr/>
        </p:nvSpPr>
        <p:spPr>
          <a:xfrm>
            <a:off x="2519363" y="2540738"/>
            <a:ext cx="4581728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3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INTRODUCCIÓN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3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 LA SESIÓN</a:t>
            </a:r>
            <a:endParaRPr/>
          </a:p>
        </p:txBody>
      </p:sp>
      <p:pic>
        <p:nvPicPr>
          <p:cNvPr id="36" name="Google Shape;36;p34"/>
          <p:cNvPicPr preferRelativeResize="0"/>
          <p:nvPr/>
        </p:nvPicPr>
        <p:blipFill rotWithShape="1">
          <a:blip r:embed="rId4">
            <a:alphaModFix amt="16000"/>
          </a:blip>
          <a:srcRect b="0" l="0" r="0" t="0"/>
          <a:stretch/>
        </p:blipFill>
        <p:spPr>
          <a:xfrm>
            <a:off x="334433" y="3817749"/>
            <a:ext cx="809264" cy="8092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28619" y="2194222"/>
            <a:ext cx="202176" cy="2082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5"/>
          <p:cNvSpPr/>
          <p:nvPr/>
        </p:nvSpPr>
        <p:spPr>
          <a:xfrm>
            <a:off x="6918960" y="5364480"/>
            <a:ext cx="2133600" cy="22445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35"/>
          <p:cNvSpPr txBox="1"/>
          <p:nvPr/>
        </p:nvSpPr>
        <p:spPr>
          <a:xfrm>
            <a:off x="1282299" y="918372"/>
            <a:ext cx="5368532" cy="34470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 la actualidad, las aplicaciones web se han convertido en elementos esenciales en diversos aspectos de nuestra vida, desde las compras en línea y las redes sociales hasta las operaciones comerciales y los servicios gubernamentales.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El desarrollo de aplicaciones web implica la combinación de tecnologías front-end y back-end para crear experiencias web interactivas y funcionales.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Durante esta sesión aprenderemos a:</a:t>
            </a:r>
            <a:endParaRPr b="0" i="0" sz="1400" u="none" cap="none" strike="noStrike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5100" lvl="1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4639"/>
              </a:buClr>
              <a:buSzPts val="1400"/>
              <a:buFont typeface="Arial"/>
              <a:buChar char="•"/>
            </a:pPr>
            <a:r>
              <a:rPr b="0" i="0" lang="es-ES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Conceptualizar y explicar el concepto de eficiencia en aplicaciones web.</a:t>
            </a:r>
            <a:endParaRPr/>
          </a:p>
          <a:p>
            <a:pPr indent="-165100" lvl="1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4639"/>
              </a:buClr>
              <a:buSzPts val="1400"/>
              <a:buFont typeface="Arial"/>
              <a:buChar char="•"/>
            </a:pPr>
            <a:r>
              <a:rPr b="0" i="0" lang="es-ES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Identificar y describir los diferentes tipos de aplicaciones web.</a:t>
            </a:r>
            <a:endParaRPr/>
          </a:p>
          <a:p>
            <a:pPr indent="-165100" lvl="1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4639"/>
              </a:buClr>
              <a:buSzPts val="1400"/>
              <a:buFont typeface="Arial"/>
              <a:buChar char="•"/>
            </a:pPr>
            <a:r>
              <a:rPr b="0" i="0" lang="es-ES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Enumerar y explicar los componentes comunes de las aplicaciones empresariales.</a:t>
            </a:r>
            <a:endParaRPr/>
          </a:p>
          <a:p>
            <a:pPr indent="-165100" lvl="1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4639"/>
              </a:buClr>
              <a:buSzPts val="1400"/>
              <a:buFont typeface="Arial"/>
              <a:buChar char="•"/>
            </a:pPr>
            <a:r>
              <a:rPr b="0" i="0" lang="es-ES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Desarrollar proyectos web funcionales y eficientes utilizando tecnologías front-end y back-end.</a:t>
            </a:r>
            <a:endParaRPr/>
          </a:p>
        </p:txBody>
      </p:sp>
      <p:pic>
        <p:nvPicPr>
          <p:cNvPr id="45" name="Google Shape;45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0839" y="954885"/>
            <a:ext cx="117851" cy="121369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35"/>
          <p:cNvSpPr/>
          <p:nvPr/>
        </p:nvSpPr>
        <p:spPr>
          <a:xfrm>
            <a:off x="8133347" y="163629"/>
            <a:ext cx="808522" cy="7547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7" name="Google Shape;47;p35"/>
          <p:cNvPicPr preferRelativeResize="0"/>
          <p:nvPr/>
        </p:nvPicPr>
        <p:blipFill rotWithShape="1">
          <a:blip r:embed="rId4">
            <a:alphaModFix amt="42000"/>
          </a:blip>
          <a:srcRect b="0" l="0" r="0" t="0"/>
          <a:stretch/>
        </p:blipFill>
        <p:spPr>
          <a:xfrm>
            <a:off x="6986661" y="3052731"/>
            <a:ext cx="1689027" cy="2181257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4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0839" y="2042283"/>
            <a:ext cx="117851" cy="121369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35"/>
          <p:cNvSpPr/>
          <p:nvPr/>
        </p:nvSpPr>
        <p:spPr>
          <a:xfrm>
            <a:off x="301556" y="5321030"/>
            <a:ext cx="8453337" cy="29183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5"/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b="0" i="0" lang="es-ES" sz="1000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INTRODUCCIÓN </a:t>
            </a:r>
            <a:endParaRPr/>
          </a:p>
        </p:txBody>
      </p:sp>
      <p:pic>
        <p:nvPicPr>
          <p:cNvPr id="51" name="Google Shape;51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0839" y="2890630"/>
            <a:ext cx="117851" cy="1213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6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087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6"/>
          <p:cNvSpPr txBox="1"/>
          <p:nvPr/>
        </p:nvSpPr>
        <p:spPr>
          <a:xfrm>
            <a:off x="1008063" y="3169972"/>
            <a:ext cx="5993558" cy="3877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EFICIENCIA</a:t>
            </a:r>
            <a:endParaRPr/>
          </a:p>
        </p:txBody>
      </p:sp>
      <p:pic>
        <p:nvPicPr>
          <p:cNvPr id="59" name="Google Shape;59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8063" y="2869612"/>
            <a:ext cx="195423" cy="2012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"/>
          <p:cNvSpPr txBox="1"/>
          <p:nvPr/>
        </p:nvSpPr>
        <p:spPr>
          <a:xfrm>
            <a:off x="509864" y="920861"/>
            <a:ext cx="3989249" cy="37702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CONCEPTO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s-E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eficiencia en aplicaciones web se refiere a la capacidad de una aplicación web para funcionar de manera óptima en términos de: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9388" lvl="0" marL="3571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s-E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Rendimiento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9388" lvl="0" marL="3571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s-E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Escalabilidad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9388" lvl="0" marL="3571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s-E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Uso de recursos. 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Esto significa que la aplicación debe </a:t>
            </a:r>
            <a:r>
              <a:rPr b="1" i="0" lang="es-E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cargarse rápidamente</a:t>
            </a:r>
            <a:r>
              <a:rPr b="0" i="0" lang="es-E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i="0" lang="es-E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manejar un gran número de usuarios </a:t>
            </a:r>
            <a:r>
              <a:rPr b="0" i="0" lang="es-E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 </a:t>
            </a:r>
            <a:r>
              <a:rPr b="1" i="0" lang="es-E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consumir la menor cantidad de recursos </a:t>
            </a:r>
            <a:r>
              <a:rPr b="0" i="0" lang="es-E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del servidor posible.</a:t>
            </a:r>
            <a:br>
              <a:rPr b="0" i="0" lang="es-E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s-E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b="0" i="0" lang="es-ES" sz="1000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EFICIENCIA </a:t>
            </a:r>
            <a:endParaRPr/>
          </a:p>
        </p:txBody>
      </p:sp>
      <p:pic>
        <p:nvPicPr>
          <p:cNvPr id="67" name="Google Shape;6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51389" y="487639"/>
            <a:ext cx="3924300" cy="4746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"/>
          <p:cNvSpPr txBox="1"/>
          <p:nvPr/>
        </p:nvSpPr>
        <p:spPr>
          <a:xfrm>
            <a:off x="509863" y="920861"/>
            <a:ext cx="4241525" cy="25391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FACTORES QUE AFECTAN LA EFICIENCIA: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s-E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Existen diversos factores que pueden afectar la eficiencia de una aplicación web, incluyendo: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1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s-E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Optimización de código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1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s-E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Uso de caché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1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s-E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Optimización de imágenes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1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s-E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Uso de una red de entrega de contenido (CDN)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1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s-E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Arquitectura escalable</a:t>
            </a:r>
            <a:br>
              <a:rPr b="1" i="0" lang="es-E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b="0" i="0" lang="es-ES" sz="1000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EFICIENCIA </a:t>
            </a:r>
            <a:endParaRPr/>
          </a:p>
        </p:txBody>
      </p:sp>
      <p:pic>
        <p:nvPicPr>
          <p:cNvPr id="75" name="Google Shape;7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51388" y="481013"/>
            <a:ext cx="3924300" cy="4752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6"/>
          <p:cNvSpPr txBox="1"/>
          <p:nvPr/>
        </p:nvSpPr>
        <p:spPr>
          <a:xfrm>
            <a:off x="509864" y="920861"/>
            <a:ext cx="8165824" cy="10618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BENEFICIOS DE LA EFICIENCIA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s-E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Implementar medidas para mejorar la eficiencia en aplicaciones web puede traer consigo diversos beneficios, como: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b="0" i="0" lang="es-ES" sz="1000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EFICIENCIA </a:t>
            </a:r>
            <a:endParaRPr/>
          </a:p>
        </p:txBody>
      </p:sp>
      <p:grpSp>
        <p:nvGrpSpPr>
          <p:cNvPr id="83" name="Google Shape;83;p6"/>
          <p:cNvGrpSpPr/>
          <p:nvPr/>
        </p:nvGrpSpPr>
        <p:grpSpPr>
          <a:xfrm>
            <a:off x="611560" y="1934627"/>
            <a:ext cx="5053744" cy="646331"/>
            <a:chOff x="645704" y="2802636"/>
            <a:chExt cx="5053744" cy="646331"/>
          </a:xfrm>
        </p:grpSpPr>
        <p:sp>
          <p:nvSpPr>
            <p:cNvPr id="84" name="Google Shape;84;p6"/>
            <p:cNvSpPr/>
            <p:nvPr/>
          </p:nvSpPr>
          <p:spPr>
            <a:xfrm>
              <a:off x="936446" y="2802636"/>
              <a:ext cx="4763002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ES" sz="1400" u="none" cap="none" strike="noStrike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MEJOR EXPERIENCIA DE USUARIO: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ES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Los usuarios experimentan tiempos de carga más rápidos y un mejor rendimiento general de la aplicación.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6"/>
            <p:cNvSpPr/>
            <p:nvPr/>
          </p:nvSpPr>
          <p:spPr>
            <a:xfrm>
              <a:off x="645704" y="2812408"/>
              <a:ext cx="152683" cy="152683"/>
            </a:xfrm>
            <a:prstGeom prst="mathPlus">
              <a:avLst>
                <a:gd fmla="val 15202" name="adj1"/>
              </a:avLst>
            </a:prstGeom>
            <a:solidFill>
              <a:srgbClr val="EE46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6" name="Google Shape;86;p6"/>
          <p:cNvGrpSpPr/>
          <p:nvPr/>
        </p:nvGrpSpPr>
        <p:grpSpPr>
          <a:xfrm>
            <a:off x="611560" y="2802699"/>
            <a:ext cx="5053744" cy="646331"/>
            <a:chOff x="645704" y="2802636"/>
            <a:chExt cx="5053744" cy="646331"/>
          </a:xfrm>
        </p:grpSpPr>
        <p:sp>
          <p:nvSpPr>
            <p:cNvPr id="87" name="Google Shape;87;p6"/>
            <p:cNvSpPr/>
            <p:nvPr/>
          </p:nvSpPr>
          <p:spPr>
            <a:xfrm>
              <a:off x="936446" y="2802636"/>
              <a:ext cx="4763002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ES" sz="1400" u="none" cap="none" strike="noStrike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MAYOR ESCALABILIDAD: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ES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La aplicación podrá manejar un mayor número de usuarios sin experimentar problemas de rendimiento.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6"/>
            <p:cNvSpPr/>
            <p:nvPr/>
          </p:nvSpPr>
          <p:spPr>
            <a:xfrm>
              <a:off x="645704" y="2812408"/>
              <a:ext cx="152683" cy="152683"/>
            </a:xfrm>
            <a:prstGeom prst="mathPlus">
              <a:avLst>
                <a:gd fmla="val 15202" name="adj1"/>
              </a:avLst>
            </a:prstGeom>
            <a:solidFill>
              <a:srgbClr val="EE46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9" name="Google Shape;89;p6"/>
          <p:cNvGrpSpPr/>
          <p:nvPr/>
        </p:nvGrpSpPr>
        <p:grpSpPr>
          <a:xfrm>
            <a:off x="611560" y="3670771"/>
            <a:ext cx="5053744" cy="646331"/>
            <a:chOff x="645704" y="2802636"/>
            <a:chExt cx="5053744" cy="646331"/>
          </a:xfrm>
        </p:grpSpPr>
        <p:sp>
          <p:nvSpPr>
            <p:cNvPr id="90" name="Google Shape;90;p6"/>
            <p:cNvSpPr/>
            <p:nvPr/>
          </p:nvSpPr>
          <p:spPr>
            <a:xfrm>
              <a:off x="936446" y="2802636"/>
              <a:ext cx="4763002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ES" sz="1400" u="none" cap="none" strike="noStrike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MENOR COSTO: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ES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 reducirán los costos de infraestructura y alojamiento al utilizar menos recursos del servidor.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6"/>
            <p:cNvSpPr/>
            <p:nvPr/>
          </p:nvSpPr>
          <p:spPr>
            <a:xfrm>
              <a:off x="645704" y="2812408"/>
              <a:ext cx="152683" cy="152683"/>
            </a:xfrm>
            <a:prstGeom prst="mathPlus">
              <a:avLst>
                <a:gd fmla="val 15202" name="adj1"/>
              </a:avLst>
            </a:prstGeom>
            <a:solidFill>
              <a:srgbClr val="EE46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2" name="Google Shape;92;p6"/>
          <p:cNvGrpSpPr/>
          <p:nvPr/>
        </p:nvGrpSpPr>
        <p:grpSpPr>
          <a:xfrm>
            <a:off x="611560" y="4538842"/>
            <a:ext cx="5053744" cy="646331"/>
            <a:chOff x="645704" y="2802636"/>
            <a:chExt cx="5053744" cy="646331"/>
          </a:xfrm>
        </p:grpSpPr>
        <p:sp>
          <p:nvSpPr>
            <p:cNvPr id="93" name="Google Shape;93;p6"/>
            <p:cNvSpPr/>
            <p:nvPr/>
          </p:nvSpPr>
          <p:spPr>
            <a:xfrm>
              <a:off x="936446" y="2802636"/>
              <a:ext cx="4763002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ES" sz="1400" u="none" cap="none" strike="noStrike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MAYOR SATISFACCIÓN DEL CLIENTE: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ES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Los usuarios satisfechos con el rendimiento de la aplicación son más propensos  a regresar y recomendarla a otros.</a:t>
              </a:r>
              <a:endParaRPr/>
            </a:p>
          </p:txBody>
        </p:sp>
        <p:sp>
          <p:nvSpPr>
            <p:cNvPr id="94" name="Google Shape;94;p6"/>
            <p:cNvSpPr/>
            <p:nvPr/>
          </p:nvSpPr>
          <p:spPr>
            <a:xfrm>
              <a:off x="645704" y="2812408"/>
              <a:ext cx="152683" cy="152683"/>
            </a:xfrm>
            <a:prstGeom prst="mathPlus">
              <a:avLst>
                <a:gd fmla="val 15202" name="adj1"/>
              </a:avLst>
            </a:prstGeom>
            <a:solidFill>
              <a:srgbClr val="EE46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95" name="Google Shape;95;p6"/>
          <p:cNvPicPr preferRelativeResize="0"/>
          <p:nvPr/>
        </p:nvPicPr>
        <p:blipFill rotWithShape="1">
          <a:blip r:embed="rId3">
            <a:alphaModFix/>
          </a:blip>
          <a:srcRect b="0" l="10373" r="9139" t="0"/>
          <a:stretch/>
        </p:blipFill>
        <p:spPr>
          <a:xfrm>
            <a:off x="5972244" y="1875183"/>
            <a:ext cx="2703444" cy="335880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6" name="Google Shape;96;p6"/>
          <p:cNvCxnSpPr/>
          <p:nvPr/>
        </p:nvCxnSpPr>
        <p:spPr>
          <a:xfrm>
            <a:off x="683568" y="2130866"/>
            <a:ext cx="0" cy="638838"/>
          </a:xfrm>
          <a:prstGeom prst="straightConnector1">
            <a:avLst/>
          </a:prstGeom>
          <a:noFill/>
          <a:ln cap="flat" cmpd="sng" w="12700">
            <a:solidFill>
              <a:srgbClr val="EE463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7" name="Google Shape;97;p6"/>
          <p:cNvCxnSpPr/>
          <p:nvPr/>
        </p:nvCxnSpPr>
        <p:spPr>
          <a:xfrm>
            <a:off x="683568" y="3001516"/>
            <a:ext cx="0" cy="638838"/>
          </a:xfrm>
          <a:prstGeom prst="straightConnector1">
            <a:avLst/>
          </a:prstGeom>
          <a:noFill/>
          <a:ln cap="flat" cmpd="sng" w="12700">
            <a:solidFill>
              <a:srgbClr val="EE463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8" name="Google Shape;98;p6"/>
          <p:cNvCxnSpPr/>
          <p:nvPr/>
        </p:nvCxnSpPr>
        <p:spPr>
          <a:xfrm>
            <a:off x="683568" y="3865612"/>
            <a:ext cx="0" cy="638838"/>
          </a:xfrm>
          <a:prstGeom prst="straightConnector1">
            <a:avLst/>
          </a:prstGeom>
          <a:noFill/>
          <a:ln cap="flat" cmpd="sng" w="12700">
            <a:solidFill>
              <a:srgbClr val="EE463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7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087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7"/>
          <p:cNvSpPr txBox="1"/>
          <p:nvPr/>
        </p:nvSpPr>
        <p:spPr>
          <a:xfrm>
            <a:off x="1008063" y="3169972"/>
            <a:ext cx="3510928" cy="7755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TIPOS DE </a:t>
            </a:r>
            <a:r>
              <a:rPr b="1" i="0" lang="es-E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APLICATIVOS</a:t>
            </a:r>
            <a:endParaRPr b="1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6" name="Google Shape;106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8063" y="2869612"/>
            <a:ext cx="195423" cy="2012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8"/>
          <p:cNvSpPr txBox="1"/>
          <p:nvPr/>
        </p:nvSpPr>
        <p:spPr>
          <a:xfrm>
            <a:off x="509864" y="920861"/>
            <a:ext cx="8061642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s-E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panorama de las aplicaciones web es diverso y abarca una amplia gama de funcionalidades y propósitos.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89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s-E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Cada tipo de aplicación web está diseñado para satisfacer necesidades específicas de los usuarios y abordar diferentes escenarios de uso.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8"/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b="0" i="0" lang="es-ES" sz="1000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TIPOS DE APLICATIVOS </a:t>
            </a:r>
            <a:endParaRPr/>
          </a:p>
        </p:txBody>
      </p:sp>
      <p:sp>
        <p:nvSpPr>
          <p:cNvPr id="114" name="Google Shape;114;p8"/>
          <p:cNvSpPr/>
          <p:nvPr/>
        </p:nvSpPr>
        <p:spPr>
          <a:xfrm>
            <a:off x="506796" y="5080473"/>
            <a:ext cx="5983449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Fuente: </a:t>
            </a:r>
            <a:r>
              <a:rPr b="0" i="0" lang="es-ES" sz="1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https://einatec.com/wp-content/uploads/2019/02/aplicaciones-web-mas-utilizadas-e1536305286922.jpg</a:t>
            </a:r>
            <a:endParaRPr/>
          </a:p>
        </p:txBody>
      </p:sp>
      <p:pic>
        <p:nvPicPr>
          <p:cNvPr id="115" name="Google Shape;11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2594" y="1926521"/>
            <a:ext cx="6398812" cy="29915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9"/>
          <p:cNvSpPr txBox="1"/>
          <p:nvPr/>
        </p:nvSpPr>
        <p:spPr>
          <a:xfrm>
            <a:off x="509863" y="920861"/>
            <a:ext cx="3882750" cy="2292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E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APLICACIONES WEB PROGRESIVAS (PWAS):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s-E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 PWAs combinan las capacidades de las aplicaciones web tradicionales con las características de las aplicaciones nativas, ofreciendo una experiencia similar a la de una app que se puede instalar en dispositivos móviles y acceder sin conexión. 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62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s-E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Ejemplos: Spotify, Pinterest, Flipkart.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9"/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b="0" i="0" lang="es-ES" sz="1000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TIPOS DE APLICATIVOS </a:t>
            </a:r>
            <a:endParaRPr/>
          </a:p>
        </p:txBody>
      </p:sp>
      <p:sp>
        <p:nvSpPr>
          <p:cNvPr id="123" name="Google Shape;123;p9"/>
          <p:cNvSpPr txBox="1"/>
          <p:nvPr/>
        </p:nvSpPr>
        <p:spPr>
          <a:xfrm>
            <a:off x="802371" y="5062466"/>
            <a:ext cx="7785038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https://tecnosoluciones.com/que-son-las-aplicaciones-web-progresivas-y-por-que-son-ideales-para-su-portal-web-o-comercio-electronico/</a:t>
            </a:r>
            <a:endParaRPr/>
          </a:p>
        </p:txBody>
      </p:sp>
      <p:grpSp>
        <p:nvGrpSpPr>
          <p:cNvPr id="124" name="Google Shape;124;p9"/>
          <p:cNvGrpSpPr/>
          <p:nvPr/>
        </p:nvGrpSpPr>
        <p:grpSpPr>
          <a:xfrm>
            <a:off x="503239" y="5019245"/>
            <a:ext cx="220662" cy="215445"/>
            <a:chOff x="503239" y="4891031"/>
            <a:chExt cx="220662" cy="215445"/>
          </a:xfrm>
        </p:grpSpPr>
        <p:sp>
          <p:nvSpPr>
            <p:cNvPr id="125" name="Google Shape;125;p9"/>
            <p:cNvSpPr/>
            <p:nvPr/>
          </p:nvSpPr>
          <p:spPr>
            <a:xfrm>
              <a:off x="503239" y="4891031"/>
              <a:ext cx="220662" cy="215445"/>
            </a:xfrm>
            <a:prstGeom prst="ellipse">
              <a:avLst/>
            </a:prstGeom>
            <a:solidFill>
              <a:srgbClr val="80879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26" name="Google Shape;126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1367991">
              <a:off x="564417" y="4929371"/>
              <a:ext cx="85606" cy="12606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27" name="Google Shape;127;p9"/>
          <p:cNvPicPr preferRelativeResize="0"/>
          <p:nvPr/>
        </p:nvPicPr>
        <p:blipFill rotWithShape="1">
          <a:blip r:embed="rId4">
            <a:alphaModFix/>
          </a:blip>
          <a:srcRect b="0" l="0" r="4058" t="0"/>
          <a:stretch/>
        </p:blipFill>
        <p:spPr>
          <a:xfrm>
            <a:off x="4751387" y="912813"/>
            <a:ext cx="3924301" cy="399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0"/>
          <p:cNvSpPr txBox="1"/>
          <p:nvPr/>
        </p:nvSpPr>
        <p:spPr>
          <a:xfrm>
            <a:off x="509863" y="920861"/>
            <a:ext cx="3882749" cy="25391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E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APLICACIONES WEB DE UNA SOLA PÁGINA (SPAS): 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s-E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Estas aplicaciones cargan una única página HTML que se actualiza dinámicamente en respuesta a las acciones del usuario, proporcionando una experiencia fluida y similar a la de una aplicación nativa. 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62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s-E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Ejemplos: Gmail, Facebook, Twitter.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0"/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b="0" i="0" lang="es-ES" sz="1000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TIPOS DE APLICATIVOS </a:t>
            </a:r>
            <a:endParaRPr/>
          </a:p>
        </p:txBody>
      </p:sp>
      <p:pic>
        <p:nvPicPr>
          <p:cNvPr id="135" name="Google Shape;135;p10"/>
          <p:cNvPicPr preferRelativeResize="0"/>
          <p:nvPr/>
        </p:nvPicPr>
        <p:blipFill rotWithShape="1">
          <a:blip r:embed="rId3">
            <a:alphaModFix/>
          </a:blip>
          <a:srcRect b="0" l="27168" r="19331" t="0"/>
          <a:stretch/>
        </p:blipFill>
        <p:spPr>
          <a:xfrm>
            <a:off x="4751388" y="917838"/>
            <a:ext cx="3924300" cy="4316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1"/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b="0" i="0" lang="es-ES" sz="1000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TIPOS DE APLICATIVOS </a:t>
            </a:r>
            <a:endParaRPr/>
          </a:p>
        </p:txBody>
      </p:sp>
      <p:sp>
        <p:nvSpPr>
          <p:cNvPr id="142" name="Google Shape;142;p11"/>
          <p:cNvSpPr/>
          <p:nvPr/>
        </p:nvSpPr>
        <p:spPr>
          <a:xfrm>
            <a:off x="503238" y="912813"/>
            <a:ext cx="8172450" cy="3997325"/>
          </a:xfrm>
          <a:prstGeom prst="rect">
            <a:avLst/>
          </a:prstGeom>
          <a:solidFill>
            <a:srgbClr val="FAF8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1"/>
          <p:cNvSpPr/>
          <p:nvPr/>
        </p:nvSpPr>
        <p:spPr>
          <a:xfrm>
            <a:off x="506796" y="5080473"/>
            <a:ext cx="5983449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Fuente: </a:t>
            </a:r>
            <a:r>
              <a:rPr b="0" i="0" lang="es-ES" sz="1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https://www.omatech.com/blog/2022/08/31/que-es-una-web-spa/</a:t>
            </a:r>
            <a:endParaRPr b="0" i="0" sz="10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4" name="Google Shape;14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28826" y="1071837"/>
            <a:ext cx="5299599" cy="37854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2"/>
          <p:cNvSpPr txBox="1"/>
          <p:nvPr/>
        </p:nvSpPr>
        <p:spPr>
          <a:xfrm>
            <a:off x="509864" y="920861"/>
            <a:ext cx="3882749" cy="2292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E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APLICACIONES WEB COMERCIALES (WebApps): </a:t>
            </a:r>
            <a:endParaRPr/>
          </a:p>
          <a:p>
            <a:pPr indent="-171450" lvl="0" marL="177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s-E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Estas aplicaciones están diseñadas para automatizar tareas comerciales, gestionar procesos y apoyar la toma de decisiones en el ámbito empresarial. 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6985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s-E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Ejemplos: Salesforce, SAP Concur, Oracle NetSuite.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utomate Real-Time Data Exchange Between GAINS and SAP, Oracle NetSuite,  and Salesforce" id="151" name="Google Shape;151;p12"/>
          <p:cNvPicPr preferRelativeResize="0"/>
          <p:nvPr/>
        </p:nvPicPr>
        <p:blipFill rotWithShape="1">
          <a:blip r:embed="rId3">
            <a:alphaModFix/>
          </a:blip>
          <a:srcRect b="0" l="2356" r="16216" t="0"/>
          <a:stretch/>
        </p:blipFill>
        <p:spPr>
          <a:xfrm>
            <a:off x="4718258" y="912813"/>
            <a:ext cx="3992001" cy="3867063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2"/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b="0" i="0" lang="es-ES" sz="1000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TIPOS DE APLICATIVOS </a:t>
            </a:r>
            <a:endParaRPr/>
          </a:p>
        </p:txBody>
      </p:sp>
      <p:sp>
        <p:nvSpPr>
          <p:cNvPr id="153" name="Google Shape;153;p12"/>
          <p:cNvSpPr txBox="1"/>
          <p:nvPr/>
        </p:nvSpPr>
        <p:spPr>
          <a:xfrm>
            <a:off x="802371" y="5062466"/>
            <a:ext cx="7071690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https://gainsystems.com/platform/gains-connect-api/</a:t>
            </a:r>
            <a:endParaRPr/>
          </a:p>
        </p:txBody>
      </p:sp>
      <p:grpSp>
        <p:nvGrpSpPr>
          <p:cNvPr id="154" name="Google Shape;154;p12"/>
          <p:cNvGrpSpPr/>
          <p:nvPr/>
        </p:nvGrpSpPr>
        <p:grpSpPr>
          <a:xfrm>
            <a:off x="503239" y="5019245"/>
            <a:ext cx="220662" cy="215445"/>
            <a:chOff x="503239" y="4891031"/>
            <a:chExt cx="220662" cy="215445"/>
          </a:xfrm>
        </p:grpSpPr>
        <p:sp>
          <p:nvSpPr>
            <p:cNvPr id="155" name="Google Shape;155;p12"/>
            <p:cNvSpPr/>
            <p:nvPr/>
          </p:nvSpPr>
          <p:spPr>
            <a:xfrm>
              <a:off x="503239" y="4891031"/>
              <a:ext cx="220662" cy="215445"/>
            </a:xfrm>
            <a:prstGeom prst="ellipse">
              <a:avLst/>
            </a:prstGeom>
            <a:solidFill>
              <a:srgbClr val="80879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56" name="Google Shape;156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rot="1367991">
              <a:off x="564417" y="4929371"/>
              <a:ext cx="85606" cy="12606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3"/>
          <p:cNvSpPr txBox="1"/>
          <p:nvPr/>
        </p:nvSpPr>
        <p:spPr>
          <a:xfrm>
            <a:off x="509864" y="920861"/>
            <a:ext cx="7862859" cy="10618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E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APLICACIONES WEB DE REDES SOCIALES: 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s-E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Permiten a los usuarios conectarse, compartir contenido, interactuar y construir comunidades en línea. 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s-E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Ejemplos: Facebook, Instagram, Twitter.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iferencias entre Facebook, Instagram y Twitter ¿Qué tipo de contenido es  mejor para cada uno?" id="163" name="Google Shape;16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10706" y="2165143"/>
            <a:ext cx="5522589" cy="2744995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3"/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b="0" i="0" lang="es-ES" sz="1000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TIPOS DE APLICATIVOS </a:t>
            </a:r>
            <a:endParaRPr/>
          </a:p>
        </p:txBody>
      </p:sp>
      <p:sp>
        <p:nvSpPr>
          <p:cNvPr id="165" name="Google Shape;165;p13"/>
          <p:cNvSpPr txBox="1"/>
          <p:nvPr/>
        </p:nvSpPr>
        <p:spPr>
          <a:xfrm>
            <a:off x="802371" y="5062466"/>
            <a:ext cx="7071690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https://www.juancmejia.com/y-bloggers-invitados/facebook-twitter-e-instagram-que-tipo-de-contenido-es-mejor-para-cada-uno/</a:t>
            </a:r>
            <a:endParaRPr/>
          </a:p>
        </p:txBody>
      </p:sp>
      <p:grpSp>
        <p:nvGrpSpPr>
          <p:cNvPr id="166" name="Google Shape;166;p13"/>
          <p:cNvGrpSpPr/>
          <p:nvPr/>
        </p:nvGrpSpPr>
        <p:grpSpPr>
          <a:xfrm>
            <a:off x="503239" y="5019245"/>
            <a:ext cx="220662" cy="215445"/>
            <a:chOff x="503239" y="4891031"/>
            <a:chExt cx="220662" cy="215445"/>
          </a:xfrm>
        </p:grpSpPr>
        <p:sp>
          <p:nvSpPr>
            <p:cNvPr id="167" name="Google Shape;167;p13"/>
            <p:cNvSpPr/>
            <p:nvPr/>
          </p:nvSpPr>
          <p:spPr>
            <a:xfrm>
              <a:off x="503239" y="4891031"/>
              <a:ext cx="220662" cy="215445"/>
            </a:xfrm>
            <a:prstGeom prst="ellipse">
              <a:avLst/>
            </a:prstGeom>
            <a:solidFill>
              <a:srgbClr val="80879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68" name="Google Shape;168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rot="1367991">
              <a:off x="564417" y="4929371"/>
              <a:ext cx="85606" cy="12606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4"/>
          <p:cNvSpPr txBox="1"/>
          <p:nvPr/>
        </p:nvSpPr>
        <p:spPr>
          <a:xfrm>
            <a:off x="509864" y="920861"/>
            <a:ext cx="8165824" cy="815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E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APLICACIONES WEB DE MEDIOS: </a:t>
            </a:r>
            <a:endParaRPr/>
          </a:p>
          <a:p>
            <a:pPr indent="-171450" lvl="0" marL="177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s-E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Ofrecen acceso a contenido multimedia como videos, música, podcasts y noticias. 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s-E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Ejemplos: YouTube, Netflix, Spotify.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4"/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b="0" i="0" lang="es-ES" sz="1000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TIPOS DE APLICATIVOS </a:t>
            </a:r>
            <a:endParaRPr/>
          </a:p>
        </p:txBody>
      </p:sp>
      <p:sp>
        <p:nvSpPr>
          <p:cNvPr id="176" name="Google Shape;176;p14"/>
          <p:cNvSpPr txBox="1"/>
          <p:nvPr/>
        </p:nvSpPr>
        <p:spPr>
          <a:xfrm>
            <a:off x="802371" y="5062466"/>
            <a:ext cx="7071690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https://es.slideshare.net/EnmerGenaroLeandroRi/streaming-248749286</a:t>
            </a:r>
            <a:endParaRPr/>
          </a:p>
        </p:txBody>
      </p:sp>
      <p:grpSp>
        <p:nvGrpSpPr>
          <p:cNvPr id="177" name="Google Shape;177;p14"/>
          <p:cNvGrpSpPr/>
          <p:nvPr/>
        </p:nvGrpSpPr>
        <p:grpSpPr>
          <a:xfrm>
            <a:off x="503239" y="5019245"/>
            <a:ext cx="220662" cy="215445"/>
            <a:chOff x="503239" y="4891031"/>
            <a:chExt cx="220662" cy="215445"/>
          </a:xfrm>
        </p:grpSpPr>
        <p:sp>
          <p:nvSpPr>
            <p:cNvPr id="178" name="Google Shape;178;p14"/>
            <p:cNvSpPr/>
            <p:nvPr/>
          </p:nvSpPr>
          <p:spPr>
            <a:xfrm>
              <a:off x="503239" y="4891031"/>
              <a:ext cx="220662" cy="215445"/>
            </a:xfrm>
            <a:prstGeom prst="ellipse">
              <a:avLst/>
            </a:prstGeom>
            <a:solidFill>
              <a:srgbClr val="80879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79" name="Google Shape;179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1367991">
              <a:off x="564417" y="4929371"/>
              <a:ext cx="85606" cy="12606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80" name="Google Shape;180;p14"/>
          <p:cNvPicPr preferRelativeResize="0"/>
          <p:nvPr/>
        </p:nvPicPr>
        <p:blipFill rotWithShape="1">
          <a:blip r:embed="rId4">
            <a:alphaModFix/>
          </a:blip>
          <a:srcRect b="15336" l="0" r="0" t="0"/>
          <a:stretch/>
        </p:blipFill>
        <p:spPr>
          <a:xfrm>
            <a:off x="2250060" y="1836403"/>
            <a:ext cx="4643879" cy="30737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" name="Google Shape;186;p15"/>
          <p:cNvGrpSpPr/>
          <p:nvPr/>
        </p:nvGrpSpPr>
        <p:grpSpPr>
          <a:xfrm>
            <a:off x="2252866" y="1979740"/>
            <a:ext cx="4642515" cy="2970154"/>
            <a:chOff x="2443049" y="2301832"/>
            <a:chExt cx="4076927" cy="2608306"/>
          </a:xfrm>
        </p:grpSpPr>
        <p:pic>
          <p:nvPicPr>
            <p:cNvPr descr="Recursos educativos en línea: Coursera, Udemy, edX y Khan Academy" id="187" name="Google Shape;187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443049" y="2301832"/>
              <a:ext cx="4076927" cy="26083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8" name="Google Shape;188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459357" y="2436743"/>
              <a:ext cx="1663148" cy="935521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pic>
      </p:grpSp>
      <p:sp>
        <p:nvSpPr>
          <p:cNvPr id="189" name="Google Shape;189;p15"/>
          <p:cNvSpPr txBox="1"/>
          <p:nvPr/>
        </p:nvSpPr>
        <p:spPr>
          <a:xfrm>
            <a:off x="509864" y="920861"/>
            <a:ext cx="8117301" cy="10618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E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APLICACIONES WEB EDUCATIVAS: </a:t>
            </a:r>
            <a:endParaRPr/>
          </a:p>
          <a:p>
            <a:pPr indent="-177800" lvl="0" marL="177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s-E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Facilitan el aprendizaje en línea, proporcionando acceso a cursos, materiales de estudio y herramientas de evaluación. 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s-E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Ejemplos: Khan Academy, Coursera, edX.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5"/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b="0" i="0" lang="es-ES" sz="1000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TIPOS DE APLICATIVOS </a:t>
            </a:r>
            <a:endParaRPr/>
          </a:p>
        </p:txBody>
      </p:sp>
      <p:sp>
        <p:nvSpPr>
          <p:cNvPr id="191" name="Google Shape;191;p15"/>
          <p:cNvSpPr txBox="1"/>
          <p:nvPr/>
        </p:nvSpPr>
        <p:spPr>
          <a:xfrm>
            <a:off x="802371" y="5062466"/>
            <a:ext cx="7071690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https://multitemasonline.com/recursos-educativos-en-linea-coursera-udemy-edx-y-khan-academy/</a:t>
            </a:r>
            <a:endParaRPr/>
          </a:p>
        </p:txBody>
      </p:sp>
      <p:grpSp>
        <p:nvGrpSpPr>
          <p:cNvPr id="192" name="Google Shape;192;p15"/>
          <p:cNvGrpSpPr/>
          <p:nvPr/>
        </p:nvGrpSpPr>
        <p:grpSpPr>
          <a:xfrm>
            <a:off x="503239" y="5019245"/>
            <a:ext cx="220662" cy="215445"/>
            <a:chOff x="503239" y="4891031"/>
            <a:chExt cx="220662" cy="215445"/>
          </a:xfrm>
        </p:grpSpPr>
        <p:sp>
          <p:nvSpPr>
            <p:cNvPr id="193" name="Google Shape;193;p15"/>
            <p:cNvSpPr/>
            <p:nvPr/>
          </p:nvSpPr>
          <p:spPr>
            <a:xfrm>
              <a:off x="503239" y="4891031"/>
              <a:ext cx="220662" cy="215445"/>
            </a:xfrm>
            <a:prstGeom prst="ellipse">
              <a:avLst/>
            </a:prstGeom>
            <a:solidFill>
              <a:srgbClr val="80879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94" name="Google Shape;194;p1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rot="1367991">
              <a:off x="564417" y="4929371"/>
              <a:ext cx="85606" cy="12606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8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087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38"/>
          <p:cNvSpPr txBox="1"/>
          <p:nvPr/>
        </p:nvSpPr>
        <p:spPr>
          <a:xfrm>
            <a:off x="1008063" y="3169972"/>
            <a:ext cx="4922285" cy="7755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COMPONENTES </a:t>
            </a:r>
            <a:r>
              <a:rPr b="1" i="0" lang="es-E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EMPRESARIALES</a:t>
            </a:r>
            <a:endParaRPr/>
          </a:p>
        </p:txBody>
      </p:sp>
      <p:pic>
        <p:nvPicPr>
          <p:cNvPr id="202" name="Google Shape;202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8063" y="2869612"/>
            <a:ext cx="195423" cy="2012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7"/>
          <p:cNvSpPr/>
          <p:nvPr/>
        </p:nvSpPr>
        <p:spPr>
          <a:xfrm>
            <a:off x="4751388" y="912813"/>
            <a:ext cx="3924300" cy="4321175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7"/>
          <p:cNvSpPr txBox="1"/>
          <p:nvPr/>
        </p:nvSpPr>
        <p:spPr>
          <a:xfrm>
            <a:off x="509864" y="920861"/>
            <a:ext cx="4060800" cy="35240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ARQUITECTURAS DE COMPONENTES EMPRESARIALES: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s-E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arquitectura de componentes es aplicable en una amplia variedad de contextos de desarrollo de software debido a sus ventajas en términos de modularidad, reutilización y mantenibilidad.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62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Existen diversas arquitecturas para implementar componentes empresariales: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62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9388" lvl="0" marL="3571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600"/>
              <a:buFont typeface="Arial"/>
              <a:buChar char="•"/>
            </a:pPr>
            <a:r>
              <a:rPr b="0" i="0" lang="es-E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Arquitectura orientada a servicios (SOA)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9388" lvl="0" marL="3571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600"/>
              <a:buFont typeface="Arial"/>
              <a:buChar char="•"/>
            </a:pPr>
            <a:r>
              <a:rPr b="0" i="0" lang="es-E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Arquitectura de componentes distribuidos (DCA)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9388" lvl="0" marL="3571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600"/>
              <a:buFont typeface="Arial"/>
              <a:buChar char="•"/>
            </a:pPr>
            <a:r>
              <a:rPr b="0" i="0" lang="es-E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Arquitectura de microservicios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plicabilidad" id="210" name="Google Shape;210;p17"/>
          <p:cNvPicPr preferRelativeResize="0"/>
          <p:nvPr/>
        </p:nvPicPr>
        <p:blipFill rotWithShape="1">
          <a:blip r:embed="rId3">
            <a:alphaModFix/>
          </a:blip>
          <a:srcRect b="0" l="0" r="0" t="16543"/>
          <a:stretch/>
        </p:blipFill>
        <p:spPr>
          <a:xfrm>
            <a:off x="4751388" y="1254717"/>
            <a:ext cx="3924300" cy="3294752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7"/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b="0" i="0" lang="es-ES" sz="1000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COMPONENTES EMPRESARIALES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8"/>
          <p:cNvSpPr txBox="1"/>
          <p:nvPr/>
        </p:nvSpPr>
        <p:spPr>
          <a:xfrm>
            <a:off x="509864" y="920861"/>
            <a:ext cx="8164347" cy="15542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COMPONENTES EMPRESARIALES - CONCEPTO: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s-E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Son módulos de software reutilizables que encapsulan funcionalidades específicas de negocio. Estos componentes están diseñados para ser independientes, interoperables y escalables, lo que facilita su integración en arquitecturas de aplicaciones web complejas.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6200" lvl="0" marL="1778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Algunos ejemplos comunes de componentes empresariales incluyen: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8"/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b="0" i="0" lang="es-ES" sz="1000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COMPONENTES EMPRESARIALES</a:t>
            </a:r>
            <a:endParaRPr/>
          </a:p>
        </p:txBody>
      </p:sp>
      <p:cxnSp>
        <p:nvCxnSpPr>
          <p:cNvPr id="219" name="Google Shape;219;p18"/>
          <p:cNvCxnSpPr/>
          <p:nvPr/>
        </p:nvCxnSpPr>
        <p:spPr>
          <a:xfrm>
            <a:off x="722046" y="2932620"/>
            <a:ext cx="0" cy="446684"/>
          </a:xfrm>
          <a:prstGeom prst="straightConnector1">
            <a:avLst/>
          </a:prstGeom>
          <a:noFill/>
          <a:ln cap="flat" cmpd="sng" w="12700">
            <a:solidFill>
              <a:srgbClr val="EE4639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20" name="Google Shape;220;p18"/>
          <p:cNvGrpSpPr/>
          <p:nvPr/>
        </p:nvGrpSpPr>
        <p:grpSpPr>
          <a:xfrm>
            <a:off x="645704" y="2729750"/>
            <a:ext cx="7689913" cy="430887"/>
            <a:chOff x="645704" y="2802636"/>
            <a:chExt cx="7689913" cy="430887"/>
          </a:xfrm>
        </p:grpSpPr>
        <p:sp>
          <p:nvSpPr>
            <p:cNvPr id="221" name="Google Shape;221;p18"/>
            <p:cNvSpPr/>
            <p:nvPr/>
          </p:nvSpPr>
          <p:spPr>
            <a:xfrm>
              <a:off x="936447" y="2802636"/>
              <a:ext cx="7399170" cy="4308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ES" sz="1400" u="none" cap="none" strike="noStrike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SERVICIOS WEB: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ES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Proporcionan interfaces estandarizadas para acceder a funcionalidades de negocio a través de redes.</a:t>
              </a:r>
              <a:endParaRPr/>
            </a:p>
          </p:txBody>
        </p:sp>
        <p:sp>
          <p:nvSpPr>
            <p:cNvPr id="222" name="Google Shape;222;p18"/>
            <p:cNvSpPr/>
            <p:nvPr/>
          </p:nvSpPr>
          <p:spPr>
            <a:xfrm>
              <a:off x="645704" y="2812408"/>
              <a:ext cx="152683" cy="152683"/>
            </a:xfrm>
            <a:prstGeom prst="mathPlus">
              <a:avLst>
                <a:gd fmla="val 15202" name="adj1"/>
              </a:avLst>
            </a:prstGeom>
            <a:solidFill>
              <a:srgbClr val="EE46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3" name="Google Shape;223;p18"/>
          <p:cNvGrpSpPr/>
          <p:nvPr/>
        </p:nvGrpSpPr>
        <p:grpSpPr>
          <a:xfrm>
            <a:off x="645704" y="3401557"/>
            <a:ext cx="7689913" cy="430887"/>
            <a:chOff x="645704" y="2802636"/>
            <a:chExt cx="7689913" cy="430887"/>
          </a:xfrm>
        </p:grpSpPr>
        <p:sp>
          <p:nvSpPr>
            <p:cNvPr id="224" name="Google Shape;224;p18"/>
            <p:cNvSpPr/>
            <p:nvPr/>
          </p:nvSpPr>
          <p:spPr>
            <a:xfrm>
              <a:off x="936447" y="2802636"/>
              <a:ext cx="7399170" cy="4308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ES" sz="1400" u="none" cap="none" strike="noStrike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COMPONENTES DE MENSAJERÍA: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ES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Facilitan la comunicación asincrónica entre componentes.</a:t>
              </a:r>
              <a:endParaRPr/>
            </a:p>
          </p:txBody>
        </p:sp>
        <p:sp>
          <p:nvSpPr>
            <p:cNvPr id="225" name="Google Shape;225;p18"/>
            <p:cNvSpPr/>
            <p:nvPr/>
          </p:nvSpPr>
          <p:spPr>
            <a:xfrm>
              <a:off x="645704" y="2812408"/>
              <a:ext cx="152683" cy="152683"/>
            </a:xfrm>
            <a:prstGeom prst="mathPlus">
              <a:avLst>
                <a:gd fmla="val 15202" name="adj1"/>
              </a:avLst>
            </a:prstGeom>
            <a:solidFill>
              <a:srgbClr val="EE46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6" name="Google Shape;226;p18"/>
          <p:cNvGrpSpPr/>
          <p:nvPr/>
        </p:nvGrpSpPr>
        <p:grpSpPr>
          <a:xfrm>
            <a:off x="645704" y="4073364"/>
            <a:ext cx="7689913" cy="430887"/>
            <a:chOff x="645704" y="2802636"/>
            <a:chExt cx="7689913" cy="430887"/>
          </a:xfrm>
        </p:grpSpPr>
        <p:sp>
          <p:nvSpPr>
            <p:cNvPr id="227" name="Google Shape;227;p18"/>
            <p:cNvSpPr/>
            <p:nvPr/>
          </p:nvSpPr>
          <p:spPr>
            <a:xfrm>
              <a:off x="936447" y="2802636"/>
              <a:ext cx="7399170" cy="4308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ES" sz="1400" u="none" cap="none" strike="noStrike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FRAMEWORKS DE PERSISTENCIA: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ES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Abstraen el acceso a bases de datos, simplificando el manejo de datos.</a:t>
              </a:r>
              <a:endParaRPr/>
            </a:p>
          </p:txBody>
        </p:sp>
        <p:sp>
          <p:nvSpPr>
            <p:cNvPr id="228" name="Google Shape;228;p18"/>
            <p:cNvSpPr/>
            <p:nvPr/>
          </p:nvSpPr>
          <p:spPr>
            <a:xfrm>
              <a:off x="645704" y="2812408"/>
              <a:ext cx="152683" cy="152683"/>
            </a:xfrm>
            <a:prstGeom prst="mathPlus">
              <a:avLst>
                <a:gd fmla="val 15202" name="adj1"/>
              </a:avLst>
            </a:prstGeom>
            <a:solidFill>
              <a:srgbClr val="EE46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9" name="Google Shape;229;p18"/>
          <p:cNvGrpSpPr/>
          <p:nvPr/>
        </p:nvGrpSpPr>
        <p:grpSpPr>
          <a:xfrm>
            <a:off x="645704" y="4745172"/>
            <a:ext cx="7689913" cy="430887"/>
            <a:chOff x="645704" y="2802636"/>
            <a:chExt cx="7689913" cy="430887"/>
          </a:xfrm>
        </p:grpSpPr>
        <p:sp>
          <p:nvSpPr>
            <p:cNvPr id="230" name="Google Shape;230;p18"/>
            <p:cNvSpPr/>
            <p:nvPr/>
          </p:nvSpPr>
          <p:spPr>
            <a:xfrm>
              <a:off x="936447" y="2802636"/>
              <a:ext cx="7399170" cy="4308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ES" sz="1400" u="none" cap="none" strike="noStrike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MOTORES DE REGLAS DE NEGOCIO: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ES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Implementan reglas y lógica de negocio de manera centralizada.</a:t>
              </a:r>
              <a:endParaRPr/>
            </a:p>
          </p:txBody>
        </p:sp>
        <p:sp>
          <p:nvSpPr>
            <p:cNvPr id="231" name="Google Shape;231;p18"/>
            <p:cNvSpPr/>
            <p:nvPr/>
          </p:nvSpPr>
          <p:spPr>
            <a:xfrm>
              <a:off x="645704" y="2812408"/>
              <a:ext cx="152683" cy="152683"/>
            </a:xfrm>
            <a:prstGeom prst="mathPlus">
              <a:avLst>
                <a:gd fmla="val 15202" name="adj1"/>
              </a:avLst>
            </a:prstGeom>
            <a:solidFill>
              <a:srgbClr val="EE46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32" name="Google Shape;232;p18"/>
          <p:cNvCxnSpPr/>
          <p:nvPr/>
        </p:nvCxnSpPr>
        <p:spPr>
          <a:xfrm>
            <a:off x="722046" y="3596580"/>
            <a:ext cx="0" cy="446684"/>
          </a:xfrm>
          <a:prstGeom prst="straightConnector1">
            <a:avLst/>
          </a:prstGeom>
          <a:noFill/>
          <a:ln cap="flat" cmpd="sng" w="12700">
            <a:solidFill>
              <a:srgbClr val="EE463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3" name="Google Shape;233;p18"/>
          <p:cNvCxnSpPr/>
          <p:nvPr/>
        </p:nvCxnSpPr>
        <p:spPr>
          <a:xfrm>
            <a:off x="722046" y="4265408"/>
            <a:ext cx="0" cy="446684"/>
          </a:xfrm>
          <a:prstGeom prst="straightConnector1">
            <a:avLst/>
          </a:prstGeom>
          <a:noFill/>
          <a:ln cap="flat" cmpd="sng" w="12700">
            <a:solidFill>
              <a:srgbClr val="EE463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9"/>
          <p:cNvSpPr txBox="1"/>
          <p:nvPr/>
        </p:nvSpPr>
        <p:spPr>
          <a:xfrm>
            <a:off x="509864" y="920861"/>
            <a:ext cx="3882749" cy="1308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TECNOLOGÍAS PARA DESARROLLAR COMPONENTES EMPRESARIALES:</a:t>
            </a:r>
            <a:endParaRPr/>
          </a:p>
          <a:p>
            <a:pPr indent="-177800" lvl="0" marL="177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s-E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Java Enterprise Edition (JEE)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s-E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.NET Framework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s-E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Spring Framework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9"/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b="0" i="0" lang="es-ES" sz="1000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COMPONENTES EMPRESARIALES</a:t>
            </a:r>
            <a:endParaRPr/>
          </a:p>
        </p:txBody>
      </p:sp>
      <p:pic>
        <p:nvPicPr>
          <p:cNvPr id="241" name="Google Shape;241;p19"/>
          <p:cNvPicPr preferRelativeResize="0"/>
          <p:nvPr/>
        </p:nvPicPr>
        <p:blipFill rotWithShape="1">
          <a:blip r:embed="rId3">
            <a:alphaModFix/>
          </a:blip>
          <a:srcRect b="3780" l="16498" r="12420" t="4636"/>
          <a:stretch/>
        </p:blipFill>
        <p:spPr>
          <a:xfrm>
            <a:off x="4611757" y="870601"/>
            <a:ext cx="4063931" cy="43633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0"/>
          <p:cNvSpPr txBox="1"/>
          <p:nvPr/>
        </p:nvSpPr>
        <p:spPr>
          <a:xfrm>
            <a:off x="509864" y="920861"/>
            <a:ext cx="3882749" cy="18004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HERRAMIENTAS PARA DESARROLLAR COMPONENTES EMPRESARIALES: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s-E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Herramientas de desarrollo integradas (IDE)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s-E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Herramientas de gestión de ciclo de vida del software (ALM)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s-E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Herramientas de pruebas unitarias y de integración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0"/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b="0" i="0" lang="es-ES" sz="1000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COMPONENTES EMPRESARIALES</a:t>
            </a:r>
            <a:endParaRPr/>
          </a:p>
        </p:txBody>
      </p:sp>
      <p:pic>
        <p:nvPicPr>
          <p:cNvPr id="249" name="Google Shape;24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51388" y="0"/>
            <a:ext cx="4392612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9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654E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5" name="Google Shape;255;p39"/>
          <p:cNvGrpSpPr/>
          <p:nvPr/>
        </p:nvGrpSpPr>
        <p:grpSpPr>
          <a:xfrm>
            <a:off x="2506315" y="2194222"/>
            <a:ext cx="4581728" cy="1326557"/>
            <a:chOff x="2403187" y="2211377"/>
            <a:chExt cx="4581728" cy="1326557"/>
          </a:xfrm>
        </p:grpSpPr>
        <p:sp>
          <p:nvSpPr>
            <p:cNvPr id="256" name="Google Shape;256;p39"/>
            <p:cNvSpPr txBox="1"/>
            <p:nvPr/>
          </p:nvSpPr>
          <p:spPr>
            <a:xfrm>
              <a:off x="2403187" y="2540738"/>
              <a:ext cx="4581728" cy="9971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ES" sz="3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CONCLUSIONES</a:t>
              </a:r>
              <a:br>
                <a:rPr b="0" i="0" lang="es-ES" sz="3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1" i="0" lang="es-ES" sz="3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MÁS REFERENCIAS</a:t>
              </a:r>
              <a:endParaRPr/>
            </a:p>
          </p:txBody>
        </p:sp>
        <p:pic>
          <p:nvPicPr>
            <p:cNvPr id="257" name="Google Shape;257;p3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425491" y="2211377"/>
              <a:ext cx="202176" cy="20821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58" name="Google Shape;258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253" y="946969"/>
            <a:ext cx="2072214" cy="38980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0"/>
          <p:cNvSpPr/>
          <p:nvPr/>
        </p:nvSpPr>
        <p:spPr>
          <a:xfrm>
            <a:off x="301556" y="5321030"/>
            <a:ext cx="8453337" cy="29183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40"/>
          <p:cNvSpPr txBox="1"/>
          <p:nvPr/>
        </p:nvSpPr>
        <p:spPr>
          <a:xfrm>
            <a:off x="1279545" y="912813"/>
            <a:ext cx="5419429" cy="45243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 elección de las tecnologías adecuadas para desarrollar componentes empresariales es crucial para el éxito del proyecto. Se deben considerar factores como: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4E97"/>
              </a:buClr>
              <a:buSzPts val="1400"/>
              <a:buFont typeface="Arial"/>
              <a:buAutoNum type="romanLcPeriod"/>
            </a:pPr>
            <a:r>
              <a:rPr b="0" i="0" lang="es-E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Funcionalidad requerida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4E97"/>
              </a:buClr>
              <a:buSzPts val="1400"/>
              <a:buFont typeface="Arial"/>
              <a:buAutoNum type="romanLcPeriod"/>
            </a:pPr>
            <a:r>
              <a:rPr b="0" i="0" lang="es-E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Escalabilidad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4E97"/>
              </a:buClr>
              <a:buSzPts val="1400"/>
              <a:buFont typeface="Arial"/>
              <a:buAutoNum type="romanLcPeriod"/>
            </a:pPr>
            <a:r>
              <a:rPr b="0" i="0" lang="es-E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Seguridad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4E97"/>
              </a:buClr>
              <a:buSzPts val="1400"/>
              <a:buFont typeface="Arial"/>
              <a:buAutoNum type="romanLcPeriod"/>
            </a:pPr>
            <a:r>
              <a:rPr b="0" i="0" lang="es-E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Rendimiento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4E97"/>
              </a:buClr>
              <a:buSzPts val="1400"/>
              <a:buFont typeface="Arial"/>
              <a:buAutoNum type="romanLcPeriod"/>
            </a:pPr>
            <a:r>
              <a:rPr b="0" i="0" lang="es-E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Experiencia del equipo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 importante gestionar las dependencias entre los componentes empresariales para evitar conflictos y garantizar la compatibilidad. Se pueden utilizar herramientas de gestión de dependencias para automatizar este proceso.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Las pruebas son fundamentales para garantizar la calidad y el correcto funcionamiento de los componentes empresariales.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Los componentes empresariales deben implementarse en un entorno de producción adecuado y monitorearse para detectar y resolver problemas de manera oportuna.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6" name="Google Shape;26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260" y="954885"/>
            <a:ext cx="114138" cy="1175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260" y="2876015"/>
            <a:ext cx="114138" cy="117546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40"/>
          <p:cNvSpPr/>
          <p:nvPr/>
        </p:nvSpPr>
        <p:spPr>
          <a:xfrm>
            <a:off x="8133347" y="163629"/>
            <a:ext cx="808522" cy="7547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9" name="Google Shape;269;p40"/>
          <p:cNvPicPr preferRelativeResize="0"/>
          <p:nvPr/>
        </p:nvPicPr>
        <p:blipFill rotWithShape="1">
          <a:blip r:embed="rId4">
            <a:alphaModFix amt="42000"/>
          </a:blip>
          <a:srcRect b="0" l="0" r="0" t="0"/>
          <a:stretch/>
        </p:blipFill>
        <p:spPr>
          <a:xfrm>
            <a:off x="6984999" y="3048772"/>
            <a:ext cx="1690689" cy="2185216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40"/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b="0" i="0" lang="es-ES" sz="1000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CONCLUSIONES </a:t>
            </a:r>
            <a:endParaRPr/>
          </a:p>
        </p:txBody>
      </p:sp>
      <p:pic>
        <p:nvPicPr>
          <p:cNvPr id="271" name="Google Shape;271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260" y="3937620"/>
            <a:ext cx="114138" cy="1175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260" y="4585692"/>
            <a:ext cx="114138" cy="1175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1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DCB6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41"/>
          <p:cNvSpPr txBox="1"/>
          <p:nvPr/>
        </p:nvSpPr>
        <p:spPr>
          <a:xfrm>
            <a:off x="2519363" y="2540738"/>
            <a:ext cx="4581728" cy="997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BIBLIOGRAFÍA</a:t>
            </a:r>
            <a:br>
              <a:rPr b="0" i="0" lang="es-ES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s-ES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MÁS REFERENCIAS</a:t>
            </a:r>
            <a:endParaRPr/>
          </a:p>
        </p:txBody>
      </p:sp>
      <p:pic>
        <p:nvPicPr>
          <p:cNvPr id="279" name="Google Shape;27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28619" y="2194222"/>
            <a:ext cx="202176" cy="20821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946970"/>
            <a:ext cx="2072061" cy="38980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2"/>
          <p:cNvSpPr/>
          <p:nvPr/>
        </p:nvSpPr>
        <p:spPr>
          <a:xfrm>
            <a:off x="301556" y="5321030"/>
            <a:ext cx="8453337" cy="29183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42"/>
          <p:cNvSpPr txBox="1"/>
          <p:nvPr/>
        </p:nvSpPr>
        <p:spPr>
          <a:xfrm>
            <a:off x="1279009" y="917823"/>
            <a:ext cx="4774200" cy="45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Nieto, A. (2015). Arquitectura por </a:t>
            </a:r>
            <a:r>
              <a:rPr lang="es-ES">
                <a:latin typeface="Calibri"/>
                <a:ea typeface="Calibri"/>
                <a:cs typeface="Calibri"/>
                <a:sym typeface="Calibri"/>
              </a:rPr>
              <a:t>componentes</a:t>
            </a:r>
            <a:r>
              <a:rPr b="0" i="0" lang="es-E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JEE, un caso práctico. Revista Gerencia Tecnológica Informática, 14(38), 31-41. ISSN 1657-8236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Guía de optimización de rendimiento de aplicaciones web. Google. Recuperado de https://developers.google.com/speed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Técnicas para mejorar la eficiencia de las aplicaciones web. Microsoft. Recuperado de https://learn.microsoft.com/en-us/windows-server/administration/performance-tuning/role/web-server/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Cómo optimizar el rendimiento de las aplicaciones web. Recuperado de https://aws.amazon.com/blogs/aws/improving-global-application-performance/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https://www.ionos.es/cloud/cloud-apps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https://www.hubspot.es/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7" name="Google Shape;287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8064" y="959114"/>
            <a:ext cx="103867" cy="106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8064" y="1825528"/>
            <a:ext cx="103867" cy="106967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42"/>
          <p:cNvSpPr/>
          <p:nvPr/>
        </p:nvSpPr>
        <p:spPr>
          <a:xfrm>
            <a:off x="8133347" y="163629"/>
            <a:ext cx="808522" cy="7547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0" name="Google Shape;290;p42"/>
          <p:cNvPicPr preferRelativeResize="0"/>
          <p:nvPr/>
        </p:nvPicPr>
        <p:blipFill rotWithShape="1">
          <a:blip r:embed="rId4">
            <a:alphaModFix amt="42000"/>
          </a:blip>
          <a:srcRect b="0" l="0" r="0" t="0"/>
          <a:stretch/>
        </p:blipFill>
        <p:spPr>
          <a:xfrm>
            <a:off x="6985000" y="3036889"/>
            <a:ext cx="1690688" cy="219710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42"/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b="0" i="0" lang="es-ES" sz="1000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BIBLIOGRAFÍA</a:t>
            </a:r>
            <a:endParaRPr/>
          </a:p>
        </p:txBody>
      </p:sp>
      <p:pic>
        <p:nvPicPr>
          <p:cNvPr id="292" name="Google Shape;29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8064" y="2471834"/>
            <a:ext cx="103867" cy="106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8064" y="3537824"/>
            <a:ext cx="103867" cy="106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8064" y="4376294"/>
            <a:ext cx="103867" cy="106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8064" y="4801716"/>
            <a:ext cx="103867" cy="1069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3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087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1" name="Google Shape;30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24199" y="2666298"/>
            <a:ext cx="1295601" cy="3868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Personalizados 4 ISIL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FDC212"/>
      </a:accent1>
      <a:accent2>
        <a:srgbClr val="EE4638"/>
      </a:accent2>
      <a:accent3>
        <a:srgbClr val="92C14E"/>
      </a:accent3>
      <a:accent4>
        <a:srgbClr val="FE7828"/>
      </a:accent4>
      <a:accent5>
        <a:srgbClr val="00B1C2"/>
      </a:accent5>
      <a:accent6>
        <a:srgbClr val="808799"/>
      </a:accent6>
      <a:hlink>
        <a:srgbClr val="7150A0"/>
      </a:hlink>
      <a:folHlink>
        <a:srgbClr val="00B1C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2016-10-06T14:52:02Z</dcterms:created>
  <dc:creator>ISIL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5400A83D-B4FE-497C-9E2F-ACF3BA8DEF15</vt:lpwstr>
  </property>
  <property fmtid="{D5CDD505-2E9C-101B-9397-08002B2CF9AE}" pid="3" name="ArticulatePath">
    <vt:lpwstr>plantilla_cursos_presenciales-v3.1.6</vt:lpwstr>
  </property>
</Properties>
</file>