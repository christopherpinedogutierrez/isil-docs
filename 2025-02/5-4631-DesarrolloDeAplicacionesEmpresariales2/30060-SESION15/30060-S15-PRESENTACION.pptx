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662" r:id="rId2"/>
    <p:sldId id="627" r:id="rId3"/>
    <p:sldId id="628" r:id="rId4"/>
    <p:sldId id="742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743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588" r:id="rId24"/>
    <p:sldId id="589" r:id="rId25"/>
    <p:sldId id="590" r:id="rId26"/>
    <p:sldId id="591" r:id="rId27"/>
    <p:sldId id="593" r:id="rId28"/>
  </p:sldIdLst>
  <p:sldSz cx="9144000" cy="5715000" type="screen16x1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465">
          <p15:clr>
            <a:srgbClr val="A4A3A4"/>
          </p15:clr>
        </p15:guide>
        <p15:guide id="2" orient="horz" pos="180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i4tSgXtvCqZ5i002obq3lrZC0V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01"/>
    <p:restoredTop sz="94740"/>
  </p:normalViewPr>
  <p:slideViewPr>
    <p:cSldViewPr snapToGrid="0">
      <p:cViewPr varScale="1">
        <p:scale>
          <a:sx n="102" d="100"/>
          <a:sy n="102" d="100"/>
        </p:scale>
        <p:origin x="108" y="444"/>
      </p:cViewPr>
      <p:guideLst>
        <p:guide pos="5465"/>
        <p:guide orient="horz" pos="1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3296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86432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469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4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7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7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8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8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9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9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0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0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1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1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12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2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94691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14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4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5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1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7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7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18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19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20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2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1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96571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431DC42-303B-F545-9789-3724F9E97760}"/>
              </a:ext>
            </a:extLst>
          </p:cNvPr>
          <p:cNvSpPr/>
          <p:nvPr userDrawn="1"/>
        </p:nvSpPr>
        <p:spPr>
          <a:xfrm>
            <a:off x="7379148" y="5371562"/>
            <a:ext cx="13692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b="0" i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© ISIL. Todos los derechos reservados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9372701D-0A84-0448-9BAF-91437343CCCB}"/>
              </a:ext>
            </a:extLst>
          </p:cNvPr>
          <p:cNvSpPr txBox="1"/>
          <p:nvPr userDrawn="1"/>
        </p:nvSpPr>
        <p:spPr>
          <a:xfrm>
            <a:off x="876300" y="5343295"/>
            <a:ext cx="32271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GESTIÓN DE PROCESOS, SIMULACIÓN Y MEJORA CONTINUA</a:t>
            </a:r>
            <a:r>
              <a:rPr lang="en-US" sz="800" kern="1200" baseline="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SESIÓN 01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E0D14F7-6E9D-9E40-BFFD-243BDDA808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2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034C274B-BBEA-5041-03BF-2684E2D9ADDA}"/>
              </a:ext>
            </a:extLst>
          </p:cNvPr>
          <p:cNvSpPr/>
          <p:nvPr userDrawn="1"/>
        </p:nvSpPr>
        <p:spPr>
          <a:xfrm>
            <a:off x="7379148" y="5371562"/>
            <a:ext cx="136928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b="0" i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© ISIL. Todos los derechos reservados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CFBDA68D-212A-201E-121F-F819F5A15121}"/>
              </a:ext>
            </a:extLst>
          </p:cNvPr>
          <p:cNvSpPr txBox="1"/>
          <p:nvPr userDrawn="1"/>
        </p:nvSpPr>
        <p:spPr>
          <a:xfrm>
            <a:off x="876300" y="5343295"/>
            <a:ext cx="27622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DESARROLLO DE APLICACIONES EMPRESARIALES II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TEMA 15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C6A180D-811C-823D-A7DF-16A1543F2C1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5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317" userDrawn="1">
          <p15:clr>
            <a:srgbClr val="F26B43"/>
          </p15:clr>
        </p15:guide>
        <p15:guide id="5" pos="2993" userDrawn="1">
          <p15:clr>
            <a:srgbClr val="F26B43"/>
          </p15:clr>
        </p15:guide>
        <p15:guide id="6" pos="5465" userDrawn="1">
          <p15:clr>
            <a:srgbClr val="F26B43"/>
          </p15:clr>
        </p15:guide>
        <p15:guide id="7" orient="horz" pos="3297" userDrawn="1">
          <p15:clr>
            <a:srgbClr val="F26B43"/>
          </p15:clr>
        </p15:guide>
        <p15:guide id="8" orient="horz" pos="3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0376003-8003-B944-8B01-9A232A7A385C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900" b="1" dirty="0">
                <a:solidFill>
                  <a:schemeClr val="bg1">
                    <a:lumMod val="50000"/>
                  </a:schemeClr>
                </a:solidFill>
                <a:latin typeface="Calibri" charset="0"/>
                <a:cs typeface="Calibri" charset="0"/>
              </a:rPr>
              <a:t>DESARROLLO DE APLICACIONES EMPRESARIALES II 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503239" y="2177570"/>
            <a:ext cx="3090566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90000"/>
              </a:lnSpc>
            </a:pPr>
            <a:r>
              <a:rPr lang="es-PE" sz="3200" dirty="0">
                <a:latin typeface="Graphik Medium" panose="020B0503030202060203" pitchFamily="34" charset="77"/>
                <a:ea typeface="Graphik-Medium" charset="0"/>
                <a:cs typeface="Graphik-Medium" charset="0"/>
              </a:rPr>
              <a:t>MICRO</a:t>
            </a:r>
          </a:p>
          <a:p>
            <a:pPr lvl="0">
              <a:lnSpc>
                <a:spcPct val="90000"/>
              </a:lnSpc>
            </a:pPr>
            <a:r>
              <a:rPr lang="es-PE" sz="3200" b="1" dirty="0">
                <a:latin typeface="Graphik Bold" panose="020B0503030202060203" pitchFamily="34" charset="77"/>
                <a:ea typeface="Graphik-Medium" charset="0"/>
                <a:cs typeface="Graphik-Medium" charset="0"/>
              </a:rPr>
              <a:t>SERVICIOS</a:t>
            </a:r>
          </a:p>
        </p:txBody>
      </p:sp>
      <p:sp>
        <p:nvSpPr>
          <p:cNvPr id="27" name="Rectángulo 26"/>
          <p:cNvSpPr/>
          <p:nvPr/>
        </p:nvSpPr>
        <p:spPr>
          <a:xfrm>
            <a:off x="503238" y="3219842"/>
            <a:ext cx="2845526" cy="420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Arquitectura microservicios</a:t>
            </a:r>
          </a:p>
          <a:p>
            <a:pPr marL="177800" indent="-177800">
              <a:lnSpc>
                <a:spcPct val="120000"/>
              </a:lnSpc>
              <a:buClr>
                <a:srgbClr val="0B6AB0"/>
              </a:buClr>
              <a:buSzPct val="100000"/>
              <a:buFont typeface="Arial"/>
              <a:buChar char="•"/>
            </a:pPr>
            <a:r>
              <a:rPr lang="es-MX" sz="1200" dirty="0">
                <a:latin typeface="Graphik-Medium" charset="0"/>
                <a:ea typeface="Graphik-Medium" charset="0"/>
                <a:cs typeface="Graphik-Medium" charset="0"/>
              </a:rPr>
              <a:t>Spring para microservicios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3FC3217-3DCC-0941-BA6B-6CEEC9F1D080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0B6AB0"/>
                </a:solidFill>
                <a:latin typeface="Calibri" charset="0"/>
                <a:ea typeface="Calibri" charset="0"/>
                <a:cs typeface="Calibri" charset="0"/>
              </a:rPr>
              <a:t>TEMA 15</a:t>
            </a:r>
          </a:p>
        </p:txBody>
      </p:sp>
      <p:pic>
        <p:nvPicPr>
          <p:cNvPr id="29" name="Imagen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ABCD739-0A62-0FD3-2175-DE895833E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0"/>
            <a:ext cx="53911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0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2298" y="918372"/>
            <a:ext cx="5521727" cy="2585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PE" sz="1400" dirty="0">
                <a:latin typeface="Calibri" charset="0"/>
                <a:cs typeface="Calibri" charset="0"/>
              </a:rPr>
              <a:t>La arquitectura de microservicios, es un estilo de arquitectura de software que estructura una aplicación como un conjunto de servicios pequeños e independientes, cada uno de los cuales implementa una funcionalidad específica y se comunica con otros servicios a través de APIs. </a:t>
            </a:r>
          </a:p>
          <a:p>
            <a:pPr lvl="0"/>
            <a:endParaRPr lang="es-PE" sz="1400" dirty="0">
              <a:latin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cs typeface="Calibri" charset="0"/>
              </a:rPr>
              <a:t>Este enfoque contrasta con la arquitectura monolítica, en la que todas las funcionalidades están integradas en una sola aplicación.</a:t>
            </a:r>
          </a:p>
          <a:p>
            <a:pPr lvl="0"/>
            <a:endParaRPr lang="es-PE" sz="1400" dirty="0">
              <a:latin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cs typeface="Calibri" charset="0"/>
              </a:rPr>
              <a:t>Entonces, durante esta sesión:</a:t>
            </a:r>
            <a:endParaRPr lang="es-PE" sz="1400" spc="-10" dirty="0">
              <a:solidFill>
                <a:srgbClr val="262626"/>
              </a:solidFill>
              <a:latin typeface="Calibri" charset="0"/>
              <a:ea typeface="Calibri" charset="0"/>
              <a:cs typeface="Calibri" charset="0"/>
            </a:endParaRPr>
          </a:p>
          <a:p>
            <a:pPr marL="177800" indent="-165100">
              <a:buClr>
                <a:srgbClr val="EE4639"/>
              </a:buClr>
              <a:buFont typeface="Arial" charset="0"/>
              <a:buChar char="•"/>
              <a:tabLst>
                <a:tab pos="120650" algn="l"/>
              </a:tabLst>
            </a:pPr>
            <a:r>
              <a:rPr lang="es-ES_tradnl" sz="1400" b="1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Aprenderemos</a:t>
            </a:r>
            <a:r>
              <a:rPr lang="es-ES_tradnl" sz="1400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 los conceptos básicos de la arquitectura de microservicios.</a:t>
            </a:r>
          </a:p>
          <a:p>
            <a:pPr marL="177800" indent="-165100">
              <a:buClr>
                <a:srgbClr val="EE4639"/>
              </a:buClr>
              <a:buFont typeface="Arial" charset="0"/>
              <a:buChar char="•"/>
              <a:tabLst>
                <a:tab pos="120650" algn="l"/>
              </a:tabLst>
            </a:pPr>
            <a:r>
              <a:rPr lang="es-ES_tradnl" sz="1400" b="1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Conoceremos </a:t>
            </a:r>
            <a:r>
              <a:rPr lang="es-ES_tradnl" sz="1400" spc="-10" dirty="0">
                <a:solidFill>
                  <a:srgbClr val="262626"/>
                </a:solidFill>
                <a:latin typeface="Calibri" charset="0"/>
                <a:ea typeface="Calibri" charset="0"/>
                <a:cs typeface="Calibri" charset="0"/>
              </a:rPr>
              <a:t>los componentes claves de Spring Framework para desarrollar microservicios.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954885"/>
            <a:ext cx="117851" cy="121369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1" y="3052731"/>
            <a:ext cx="1689027" cy="2181257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2040609"/>
            <a:ext cx="117851" cy="121369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2666229"/>
            <a:ext cx="117851" cy="121369"/>
          </a:xfrm>
          <a:prstGeom prst="rect">
            <a:avLst/>
          </a:prstGeom>
        </p:spPr>
      </p:pic>
      <p:sp>
        <p:nvSpPr>
          <p:cNvPr id="15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INTRODUCCIÓN </a:t>
            </a:r>
          </a:p>
        </p:txBody>
      </p:sp>
    </p:spTree>
    <p:extLst>
      <p:ext uri="{BB962C8B-B14F-4D97-AF65-F5344CB8AC3E}">
        <p14:creationId xmlns:p14="http://schemas.microsoft.com/office/powerpoint/2010/main" val="78323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4948789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ARQUITECTURA </a:t>
            </a: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  <a:ea typeface="Graphik Regular" charset="0"/>
                <a:cs typeface="Graphik Regular" charset="0"/>
              </a:rPr>
              <a:t>MICROSERVICIOS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29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/>
        </p:nvSpPr>
        <p:spPr>
          <a:xfrm>
            <a:off x="509344" y="921277"/>
            <a:ext cx="3797613" cy="426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600"/>
              </a:spcAft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FUNDAMENTOS DE ARQUITECTURA DE MICROSERVICIOS</a:t>
            </a:r>
            <a:endParaRPr sz="1600" b="1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 arquitectura de Microservicios es un enfoque de desarrollo de una aplicación como un conjunto de servicios más pequeños, cada uno se ejecuta en su propio proceso y se exponen, normalmente, a través de protocolos HTTP mediante </a:t>
            </a:r>
            <a:r>
              <a:rPr lang="es-ES" sz="1500" dirty="0" err="1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APIs</a:t>
            </a:r>
            <a:r>
              <a:rPr lang="es-ES" sz="15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s-ES" sz="1500" dirty="0" err="1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RESTFull</a:t>
            </a:r>
            <a:r>
              <a:rPr lang="es-ES" sz="15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. </a:t>
            </a:r>
            <a:endParaRPr sz="1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5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Estos servicios están construidos alrededor de capacidades o funcionalidades de negocio y con independencia de despliegue a través de un sistema de automatización. </a:t>
            </a:r>
            <a:endParaRPr sz="1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5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Además, pueden estar escritos en diferentes lenguajes de programación y utilizar diferentes tecnologías de almacenamiento de base de datos </a:t>
            </a:r>
            <a:endParaRPr sz="15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C4CFB96-E8C2-2FC8-DB7D-D30D75918F8D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ARQUITECTURA MICROSERVICIOS </a:t>
            </a: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A27E9482-8CB1-9239-CF5D-68DAB953AFC8}"/>
              </a:ext>
            </a:extLst>
          </p:cNvPr>
          <p:cNvGrpSpPr/>
          <p:nvPr/>
        </p:nvGrpSpPr>
        <p:grpSpPr>
          <a:xfrm>
            <a:off x="5830956" y="1262897"/>
            <a:ext cx="1596887" cy="3252553"/>
            <a:chOff x="5830956" y="1415295"/>
            <a:chExt cx="1596887" cy="3252553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CAF76983-0050-6B99-05A8-A4E61CAC89FB}"/>
                </a:ext>
              </a:extLst>
            </p:cNvPr>
            <p:cNvGrpSpPr/>
            <p:nvPr/>
          </p:nvGrpSpPr>
          <p:grpSpPr>
            <a:xfrm>
              <a:off x="5913782" y="1415295"/>
              <a:ext cx="1431235" cy="926800"/>
              <a:chOff x="5830956" y="617952"/>
              <a:chExt cx="1431235" cy="926800"/>
            </a:xfrm>
          </p:grpSpPr>
          <p:grpSp>
            <p:nvGrpSpPr>
              <p:cNvPr id="8" name="Grupo 7">
                <a:extLst>
                  <a:ext uri="{FF2B5EF4-FFF2-40B4-BE49-F238E27FC236}">
                    <a16:creationId xmlns:a16="http://schemas.microsoft.com/office/drawing/2014/main" id="{BB090597-9B41-4C7B-5BAD-00574BF1EE34}"/>
                  </a:ext>
                </a:extLst>
              </p:cNvPr>
              <p:cNvGrpSpPr/>
              <p:nvPr/>
            </p:nvGrpSpPr>
            <p:grpSpPr>
              <a:xfrm>
                <a:off x="5830956" y="617952"/>
                <a:ext cx="1431235" cy="589722"/>
                <a:chOff x="5857460" y="979074"/>
                <a:chExt cx="1431235" cy="589722"/>
              </a:xfrm>
            </p:grpSpPr>
            <p:sp>
              <p:nvSpPr>
                <p:cNvPr id="4" name="Rectángulo redondeado 3">
                  <a:extLst>
                    <a:ext uri="{FF2B5EF4-FFF2-40B4-BE49-F238E27FC236}">
                      <a16:creationId xmlns:a16="http://schemas.microsoft.com/office/drawing/2014/main" id="{ADDFA5A0-8B6B-3DEC-4774-7F6008EBF317}"/>
                    </a:ext>
                  </a:extLst>
                </p:cNvPr>
                <p:cNvSpPr/>
                <p:nvPr/>
              </p:nvSpPr>
              <p:spPr>
                <a:xfrm>
                  <a:off x="5857460" y="979074"/>
                  <a:ext cx="1431235" cy="589722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/>
                </a:p>
              </p:txBody>
            </p:sp>
            <p:pic>
              <p:nvPicPr>
                <p:cNvPr id="5" name="Imagen 4">
                  <a:extLst>
                    <a:ext uri="{FF2B5EF4-FFF2-40B4-BE49-F238E27FC236}">
                      <a16:creationId xmlns:a16="http://schemas.microsoft.com/office/drawing/2014/main" id="{1642BB2E-AD79-4FDE-238B-203DC658C9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flipH="1">
                  <a:off x="6030568" y="1095583"/>
                  <a:ext cx="407053" cy="356705"/>
                </a:xfrm>
                <a:prstGeom prst="rect">
                  <a:avLst/>
                </a:prstGeom>
              </p:spPr>
            </p:pic>
            <p:sp>
              <p:nvSpPr>
                <p:cNvPr id="6" name="Google Shape;55;p4">
                  <a:extLst>
                    <a:ext uri="{FF2B5EF4-FFF2-40B4-BE49-F238E27FC236}">
                      <a16:creationId xmlns:a16="http://schemas.microsoft.com/office/drawing/2014/main" id="{DC6CBE3A-0268-06DF-C0EB-8DA8873840FF}"/>
                    </a:ext>
                  </a:extLst>
                </p:cNvPr>
                <p:cNvSpPr txBox="1"/>
                <p:nvPr/>
              </p:nvSpPr>
              <p:spPr>
                <a:xfrm>
                  <a:off x="6582478" y="1174123"/>
                  <a:ext cx="553819" cy="292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R="0" lvl="0" algn="l" rtl="0">
                    <a:spcBef>
                      <a:spcPts val="0"/>
                    </a:spcBef>
                    <a:spcAft>
                      <a:spcPts val="600"/>
                    </a:spcAft>
                  </a:pPr>
                  <a:r>
                    <a:rPr lang="en-US" i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/>
                      <a:cs typeface="Calibri" panose="020F0502020204030204" pitchFamily="34" charset="0"/>
                      <a:sym typeface="Calibri"/>
                    </a:rPr>
                    <a:t>Users</a:t>
                  </a:r>
                </a:p>
              </p:txBody>
            </p:sp>
          </p:grpSp>
          <p:sp>
            <p:nvSpPr>
              <p:cNvPr id="7" name="Google Shape;55;p4">
                <a:extLst>
                  <a:ext uri="{FF2B5EF4-FFF2-40B4-BE49-F238E27FC236}">
                    <a16:creationId xmlns:a16="http://schemas.microsoft.com/office/drawing/2014/main" id="{EEEC16B5-5CCD-DF4A-DC60-4098E443F190}"/>
                  </a:ext>
                </a:extLst>
              </p:cNvPr>
              <p:cNvSpPr txBox="1"/>
              <p:nvPr/>
            </p:nvSpPr>
            <p:spPr>
              <a:xfrm>
                <a:off x="6017467" y="1252364"/>
                <a:ext cx="1058213" cy="292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R="0" lvl="0" algn="ctr" rtl="0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i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Users Service</a:t>
                </a:r>
              </a:p>
            </p:txBody>
          </p:sp>
        </p:grpSp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A2F279E0-C54C-E68B-FB9E-7B3E570D4B59}"/>
                </a:ext>
              </a:extLst>
            </p:cNvPr>
            <p:cNvGrpSpPr/>
            <p:nvPr/>
          </p:nvGrpSpPr>
          <p:grpSpPr>
            <a:xfrm>
              <a:off x="5830956" y="2578171"/>
              <a:ext cx="1596887" cy="926800"/>
              <a:chOff x="7222434" y="697260"/>
              <a:chExt cx="1596887" cy="926800"/>
            </a:xfrm>
          </p:grpSpPr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70A21C38-7F67-1834-94DD-AAC5D8D737A7}"/>
                  </a:ext>
                </a:extLst>
              </p:cNvPr>
              <p:cNvGrpSpPr/>
              <p:nvPr/>
            </p:nvGrpSpPr>
            <p:grpSpPr>
              <a:xfrm>
                <a:off x="7222434" y="697260"/>
                <a:ext cx="1596887" cy="926800"/>
                <a:chOff x="5745086" y="617952"/>
                <a:chExt cx="1596887" cy="926800"/>
              </a:xfrm>
            </p:grpSpPr>
            <p:grpSp>
              <p:nvGrpSpPr>
                <p:cNvPr id="11" name="Grupo 10">
                  <a:extLst>
                    <a:ext uri="{FF2B5EF4-FFF2-40B4-BE49-F238E27FC236}">
                      <a16:creationId xmlns:a16="http://schemas.microsoft.com/office/drawing/2014/main" id="{8F986D3A-B54B-5E9F-3027-46EB3518E8AD}"/>
                    </a:ext>
                  </a:extLst>
                </p:cNvPr>
                <p:cNvGrpSpPr/>
                <p:nvPr/>
              </p:nvGrpSpPr>
              <p:grpSpPr>
                <a:xfrm>
                  <a:off x="5830956" y="617952"/>
                  <a:ext cx="1431235" cy="589722"/>
                  <a:chOff x="5857460" y="979074"/>
                  <a:chExt cx="1431235" cy="589722"/>
                </a:xfrm>
              </p:grpSpPr>
              <p:sp>
                <p:nvSpPr>
                  <p:cNvPr id="13" name="Rectángulo redondeado 12">
                    <a:extLst>
                      <a:ext uri="{FF2B5EF4-FFF2-40B4-BE49-F238E27FC236}">
                        <a16:creationId xmlns:a16="http://schemas.microsoft.com/office/drawing/2014/main" id="{950BEDA1-0631-4C82-5650-02AC0383DE45}"/>
                      </a:ext>
                    </a:extLst>
                  </p:cNvPr>
                  <p:cNvSpPr/>
                  <p:nvPr/>
                </p:nvSpPr>
                <p:spPr>
                  <a:xfrm>
                    <a:off x="5857460" y="979074"/>
                    <a:ext cx="1431235" cy="589722"/>
                  </a:xfrm>
                  <a:prstGeom prst="round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_tradnl"/>
                  </a:p>
                </p:txBody>
              </p:sp>
              <p:sp>
                <p:nvSpPr>
                  <p:cNvPr id="15" name="Google Shape;55;p4">
                    <a:extLst>
                      <a:ext uri="{FF2B5EF4-FFF2-40B4-BE49-F238E27FC236}">
                        <a16:creationId xmlns:a16="http://schemas.microsoft.com/office/drawing/2014/main" id="{F5836467-1A4A-3F1F-49BE-B2B872A63F88}"/>
                      </a:ext>
                    </a:extLst>
                  </p:cNvPr>
                  <p:cNvSpPr txBox="1"/>
                  <p:nvPr/>
                </p:nvSpPr>
                <p:spPr>
                  <a:xfrm>
                    <a:off x="6582478" y="1174123"/>
                    <a:ext cx="642366" cy="2923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spAutoFit/>
                  </a:bodyPr>
                  <a:lstStyle/>
                  <a:p>
                    <a:pPr marR="0" lvl="0" algn="l" rtl="0">
                      <a:spcBef>
                        <a:spcPts val="0"/>
                      </a:spcBef>
                      <a:spcAft>
                        <a:spcPts val="600"/>
                      </a:spcAft>
                    </a:pPr>
                    <a:r>
                      <a:rPr lang="en-US" i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rPr>
                      <a:t>Threads </a:t>
                    </a:r>
                  </a:p>
                </p:txBody>
              </p:sp>
            </p:grpSp>
            <p:sp>
              <p:nvSpPr>
                <p:cNvPr id="12" name="Google Shape;55;p4">
                  <a:extLst>
                    <a:ext uri="{FF2B5EF4-FFF2-40B4-BE49-F238E27FC236}">
                      <a16:creationId xmlns:a16="http://schemas.microsoft.com/office/drawing/2014/main" id="{82B07AFA-78DE-063A-5931-1B5D54EB321B}"/>
                    </a:ext>
                  </a:extLst>
                </p:cNvPr>
                <p:cNvSpPr txBox="1"/>
                <p:nvPr/>
              </p:nvSpPr>
              <p:spPr>
                <a:xfrm>
                  <a:off x="5745086" y="1252364"/>
                  <a:ext cx="1596887" cy="292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US" i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/>
                      <a:cs typeface="Calibri" panose="020F0502020204030204" pitchFamily="34" charset="0"/>
                      <a:sym typeface="Calibri"/>
                    </a:rPr>
                    <a:t>Threads Service</a:t>
                  </a:r>
                </a:p>
              </p:txBody>
            </p:sp>
          </p:grpSp>
          <p:grpSp>
            <p:nvGrpSpPr>
              <p:cNvPr id="23" name="Grupo 22">
                <a:extLst>
                  <a:ext uri="{FF2B5EF4-FFF2-40B4-BE49-F238E27FC236}">
                    <a16:creationId xmlns:a16="http://schemas.microsoft.com/office/drawing/2014/main" id="{3CC47FA4-E3C8-DF24-9D3E-F91BBD639330}"/>
                  </a:ext>
                </a:extLst>
              </p:cNvPr>
              <p:cNvGrpSpPr/>
              <p:nvPr/>
            </p:nvGrpSpPr>
            <p:grpSpPr>
              <a:xfrm>
                <a:off x="7454957" y="847518"/>
                <a:ext cx="450574" cy="294569"/>
                <a:chOff x="7236296" y="324057"/>
                <a:chExt cx="450574" cy="294569"/>
              </a:xfrm>
            </p:grpSpPr>
            <p:cxnSp>
              <p:nvCxnSpPr>
                <p:cNvPr id="17" name="Conector recto 16">
                  <a:extLst>
                    <a:ext uri="{FF2B5EF4-FFF2-40B4-BE49-F238E27FC236}">
                      <a16:creationId xmlns:a16="http://schemas.microsoft.com/office/drawing/2014/main" id="{FCA1EBF7-8094-A8E9-0B80-7F6659E141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6296" y="324057"/>
                  <a:ext cx="45057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Conector recto 19">
                  <a:extLst>
                    <a:ext uri="{FF2B5EF4-FFF2-40B4-BE49-F238E27FC236}">
                      <a16:creationId xmlns:a16="http://schemas.microsoft.com/office/drawing/2014/main" id="{30D0B326-E98F-ED6D-40C5-05CBA19D1A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6296" y="422247"/>
                  <a:ext cx="45057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Conector recto 20">
                  <a:extLst>
                    <a:ext uri="{FF2B5EF4-FFF2-40B4-BE49-F238E27FC236}">
                      <a16:creationId xmlns:a16="http://schemas.microsoft.com/office/drawing/2014/main" id="{BD272E01-8DF0-A450-584B-282FDE5B34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6296" y="520437"/>
                  <a:ext cx="45057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Conector recto 21">
                  <a:extLst>
                    <a:ext uri="{FF2B5EF4-FFF2-40B4-BE49-F238E27FC236}">
                      <a16:creationId xmlns:a16="http://schemas.microsoft.com/office/drawing/2014/main" id="{E8AE76B0-95F1-EDBE-528C-F87752F625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36296" y="618626"/>
                  <a:ext cx="45057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9FA61C6C-3A16-AE63-7AF1-6038EFD404BC}"/>
                </a:ext>
              </a:extLst>
            </p:cNvPr>
            <p:cNvGrpSpPr/>
            <p:nvPr/>
          </p:nvGrpSpPr>
          <p:grpSpPr>
            <a:xfrm>
              <a:off x="5913782" y="3741048"/>
              <a:ext cx="1431235" cy="926800"/>
              <a:chOff x="7911547" y="3277221"/>
              <a:chExt cx="1431235" cy="926800"/>
            </a:xfrm>
          </p:grpSpPr>
          <p:grpSp>
            <p:nvGrpSpPr>
              <p:cNvPr id="25" name="Grupo 24">
                <a:extLst>
                  <a:ext uri="{FF2B5EF4-FFF2-40B4-BE49-F238E27FC236}">
                    <a16:creationId xmlns:a16="http://schemas.microsoft.com/office/drawing/2014/main" id="{58A418E9-EDEF-44F1-4FF6-574ECCBA17F5}"/>
                  </a:ext>
                </a:extLst>
              </p:cNvPr>
              <p:cNvGrpSpPr/>
              <p:nvPr/>
            </p:nvGrpSpPr>
            <p:grpSpPr>
              <a:xfrm>
                <a:off x="7911547" y="3277221"/>
                <a:ext cx="1431235" cy="926800"/>
                <a:chOff x="5830956" y="617952"/>
                <a:chExt cx="1431235" cy="926800"/>
              </a:xfrm>
            </p:grpSpPr>
            <p:grpSp>
              <p:nvGrpSpPr>
                <p:cNvPr id="26" name="Grupo 25">
                  <a:extLst>
                    <a:ext uri="{FF2B5EF4-FFF2-40B4-BE49-F238E27FC236}">
                      <a16:creationId xmlns:a16="http://schemas.microsoft.com/office/drawing/2014/main" id="{726DB6CE-42C4-8F67-CD73-E89D84168DC2}"/>
                    </a:ext>
                  </a:extLst>
                </p:cNvPr>
                <p:cNvGrpSpPr/>
                <p:nvPr/>
              </p:nvGrpSpPr>
              <p:grpSpPr>
                <a:xfrm>
                  <a:off x="5830956" y="617952"/>
                  <a:ext cx="1431235" cy="589722"/>
                  <a:chOff x="5857460" y="979074"/>
                  <a:chExt cx="1431235" cy="589722"/>
                </a:xfrm>
              </p:grpSpPr>
              <p:sp>
                <p:nvSpPr>
                  <p:cNvPr id="28" name="Rectángulo redondeado 27">
                    <a:extLst>
                      <a:ext uri="{FF2B5EF4-FFF2-40B4-BE49-F238E27FC236}">
                        <a16:creationId xmlns:a16="http://schemas.microsoft.com/office/drawing/2014/main" id="{9C0782A1-3EF8-2633-FB53-B7C8CE829D31}"/>
                      </a:ext>
                    </a:extLst>
                  </p:cNvPr>
                  <p:cNvSpPr/>
                  <p:nvPr/>
                </p:nvSpPr>
                <p:spPr>
                  <a:xfrm>
                    <a:off x="5857460" y="979074"/>
                    <a:ext cx="1431235" cy="589722"/>
                  </a:xfrm>
                  <a:prstGeom prst="round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_tradnl"/>
                  </a:p>
                </p:txBody>
              </p:sp>
              <p:sp>
                <p:nvSpPr>
                  <p:cNvPr id="30" name="Google Shape;55;p4">
                    <a:extLst>
                      <a:ext uri="{FF2B5EF4-FFF2-40B4-BE49-F238E27FC236}">
                        <a16:creationId xmlns:a16="http://schemas.microsoft.com/office/drawing/2014/main" id="{9B61B5FE-A3F2-1F26-5F78-E62742D5FD90}"/>
                      </a:ext>
                    </a:extLst>
                  </p:cNvPr>
                  <p:cNvSpPr txBox="1"/>
                  <p:nvPr/>
                </p:nvSpPr>
                <p:spPr>
                  <a:xfrm>
                    <a:off x="6582478" y="1174123"/>
                    <a:ext cx="553819" cy="2923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0" tIns="0" rIns="0" bIns="0" anchor="ctr" anchorCtr="0">
                    <a:spAutoFit/>
                  </a:bodyPr>
                  <a:lstStyle/>
                  <a:p>
                    <a:pPr marR="0" lvl="0" algn="l" rtl="0">
                      <a:spcBef>
                        <a:spcPts val="0"/>
                      </a:spcBef>
                      <a:spcAft>
                        <a:spcPts val="600"/>
                      </a:spcAft>
                    </a:pPr>
                    <a:r>
                      <a:rPr lang="en-US" i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/>
                        <a:cs typeface="Calibri" panose="020F0502020204030204" pitchFamily="34" charset="0"/>
                        <a:sym typeface="Calibri"/>
                      </a:rPr>
                      <a:t>Posts</a:t>
                    </a:r>
                  </a:p>
                </p:txBody>
              </p:sp>
            </p:grpSp>
            <p:sp>
              <p:nvSpPr>
                <p:cNvPr id="27" name="Google Shape;55;p4">
                  <a:extLst>
                    <a:ext uri="{FF2B5EF4-FFF2-40B4-BE49-F238E27FC236}">
                      <a16:creationId xmlns:a16="http://schemas.microsoft.com/office/drawing/2014/main" id="{5D2C8FD8-BCB7-53ED-58DA-E755F2DCE562}"/>
                    </a:ext>
                  </a:extLst>
                </p:cNvPr>
                <p:cNvSpPr txBox="1"/>
                <p:nvPr/>
              </p:nvSpPr>
              <p:spPr>
                <a:xfrm>
                  <a:off x="6017467" y="1252364"/>
                  <a:ext cx="1058213" cy="292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US" i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/>
                      <a:cs typeface="Calibri" panose="020F0502020204030204" pitchFamily="34" charset="0"/>
                      <a:sym typeface="Calibri"/>
                    </a:rPr>
                    <a:t>Posts Service</a:t>
                  </a:r>
                </a:p>
              </p:txBody>
            </p:sp>
          </p:grpSp>
          <p:pic>
            <p:nvPicPr>
              <p:cNvPr id="31" name="Imagen 30">
                <a:extLst>
                  <a:ext uri="{FF2B5EF4-FFF2-40B4-BE49-F238E27FC236}">
                    <a16:creationId xmlns:a16="http://schemas.microsoft.com/office/drawing/2014/main" id="{79A39A26-B6F1-189D-286C-B77C6BD508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15198" y="3398406"/>
                <a:ext cx="372820" cy="361897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F0C38F6-C923-D461-F3CC-47A97E756A85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ARQUITECTURA MICROSERVICIOS </a:t>
            </a:r>
          </a:p>
        </p:txBody>
      </p:sp>
      <p:sp>
        <p:nvSpPr>
          <p:cNvPr id="4" name="Google Shape;55;p4">
            <a:extLst>
              <a:ext uri="{FF2B5EF4-FFF2-40B4-BE49-F238E27FC236}">
                <a16:creationId xmlns:a16="http://schemas.microsoft.com/office/drawing/2014/main" id="{39A32A1F-1207-7EB6-381A-77CC60C1A351}"/>
              </a:ext>
            </a:extLst>
          </p:cNvPr>
          <p:cNvSpPr txBox="1"/>
          <p:nvPr/>
        </p:nvSpPr>
        <p:spPr>
          <a:xfrm>
            <a:off x="509344" y="921277"/>
            <a:ext cx="640166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FUNDAMENTOS DE ARQUITECTURA DE MICROSERVICIOS</a:t>
            </a:r>
          </a:p>
        </p:txBody>
      </p:sp>
      <p:grpSp>
        <p:nvGrpSpPr>
          <p:cNvPr id="59" name="Grupo 58">
            <a:extLst>
              <a:ext uri="{FF2B5EF4-FFF2-40B4-BE49-F238E27FC236}">
                <a16:creationId xmlns:a16="http://schemas.microsoft.com/office/drawing/2014/main" id="{D65B766D-611A-C82C-4BDE-0149C83A76AB}"/>
              </a:ext>
            </a:extLst>
          </p:cNvPr>
          <p:cNvGrpSpPr/>
          <p:nvPr/>
        </p:nvGrpSpPr>
        <p:grpSpPr>
          <a:xfrm>
            <a:off x="1967713" y="1670050"/>
            <a:ext cx="5082646" cy="3186088"/>
            <a:chOff x="1967713" y="1603790"/>
            <a:chExt cx="5082646" cy="3186088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3074ABDD-938D-0A7A-57C7-926EE93209A3}"/>
                </a:ext>
              </a:extLst>
            </p:cNvPr>
            <p:cNvGrpSpPr/>
            <p:nvPr/>
          </p:nvGrpSpPr>
          <p:grpSpPr>
            <a:xfrm>
              <a:off x="2060241" y="1603790"/>
              <a:ext cx="4890997" cy="781601"/>
              <a:chOff x="2054088" y="1603790"/>
              <a:chExt cx="4890997" cy="781601"/>
            </a:xfrm>
          </p:grpSpPr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6452D530-A2F7-6BD7-2B42-1815D1C43C95}"/>
                  </a:ext>
                </a:extLst>
              </p:cNvPr>
              <p:cNvGrpSpPr/>
              <p:nvPr/>
            </p:nvGrpSpPr>
            <p:grpSpPr>
              <a:xfrm>
                <a:off x="2054088" y="1603790"/>
                <a:ext cx="1292087" cy="781601"/>
                <a:chOff x="2054088" y="1630294"/>
                <a:chExt cx="1292087" cy="781601"/>
              </a:xfrm>
            </p:grpSpPr>
            <p:sp>
              <p:nvSpPr>
                <p:cNvPr id="5" name="Rectángulo redondeado 4">
                  <a:extLst>
                    <a:ext uri="{FF2B5EF4-FFF2-40B4-BE49-F238E27FC236}">
                      <a16:creationId xmlns:a16="http://schemas.microsoft.com/office/drawing/2014/main" id="{76552202-CD72-D889-C023-6C87FC034CEA}"/>
                    </a:ext>
                  </a:extLst>
                </p:cNvPr>
                <p:cNvSpPr/>
                <p:nvPr/>
              </p:nvSpPr>
              <p:spPr>
                <a:xfrm>
                  <a:off x="2054088" y="1630294"/>
                  <a:ext cx="1292087" cy="384036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_tradnl" sz="12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Petición Cliente</a:t>
                  </a:r>
                </a:p>
              </p:txBody>
            </p:sp>
            <p:cxnSp>
              <p:nvCxnSpPr>
                <p:cNvPr id="7" name="Conector recto de flecha 6">
                  <a:extLst>
                    <a:ext uri="{FF2B5EF4-FFF2-40B4-BE49-F238E27FC236}">
                      <a16:creationId xmlns:a16="http://schemas.microsoft.com/office/drawing/2014/main" id="{E4E7C3F4-A5EA-A9AB-3F5E-035CA176B8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00131" y="2047460"/>
                  <a:ext cx="0" cy="364435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Grupo 10">
                <a:extLst>
                  <a:ext uri="{FF2B5EF4-FFF2-40B4-BE49-F238E27FC236}">
                    <a16:creationId xmlns:a16="http://schemas.microsoft.com/office/drawing/2014/main" id="{BAABEC7E-2429-DE7B-3064-076FBACC5747}"/>
                  </a:ext>
                </a:extLst>
              </p:cNvPr>
              <p:cNvGrpSpPr/>
              <p:nvPr/>
            </p:nvGrpSpPr>
            <p:grpSpPr>
              <a:xfrm>
                <a:off x="3853543" y="1603790"/>
                <a:ext cx="1292087" cy="781601"/>
                <a:chOff x="2054088" y="1630294"/>
                <a:chExt cx="1292087" cy="781601"/>
              </a:xfrm>
            </p:grpSpPr>
            <p:sp>
              <p:nvSpPr>
                <p:cNvPr id="12" name="Rectángulo redondeado 11">
                  <a:extLst>
                    <a:ext uri="{FF2B5EF4-FFF2-40B4-BE49-F238E27FC236}">
                      <a16:creationId xmlns:a16="http://schemas.microsoft.com/office/drawing/2014/main" id="{37A2DD50-1BAF-9D57-9FF0-F2CAEF89A601}"/>
                    </a:ext>
                  </a:extLst>
                </p:cNvPr>
                <p:cNvSpPr/>
                <p:nvPr/>
              </p:nvSpPr>
              <p:spPr>
                <a:xfrm>
                  <a:off x="2054088" y="1630294"/>
                  <a:ext cx="1292087" cy="384036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_tradnl" sz="12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Petición Cliente</a:t>
                  </a:r>
                </a:p>
              </p:txBody>
            </p:sp>
            <p:cxnSp>
              <p:nvCxnSpPr>
                <p:cNvPr id="13" name="Conector recto de flecha 12">
                  <a:extLst>
                    <a:ext uri="{FF2B5EF4-FFF2-40B4-BE49-F238E27FC236}">
                      <a16:creationId xmlns:a16="http://schemas.microsoft.com/office/drawing/2014/main" id="{5AD00EF7-95BA-B11C-1E49-6AD3701D7F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00131" y="2047460"/>
                  <a:ext cx="0" cy="364435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F660F483-6AD6-1B90-B003-1FE7FAB7B135}"/>
                  </a:ext>
                </a:extLst>
              </p:cNvPr>
              <p:cNvGrpSpPr/>
              <p:nvPr/>
            </p:nvGrpSpPr>
            <p:grpSpPr>
              <a:xfrm>
                <a:off x="5652998" y="1603790"/>
                <a:ext cx="1292087" cy="781601"/>
                <a:chOff x="2054088" y="1630294"/>
                <a:chExt cx="1292087" cy="781601"/>
              </a:xfrm>
            </p:grpSpPr>
            <p:sp>
              <p:nvSpPr>
                <p:cNvPr id="15" name="Rectángulo redondeado 14">
                  <a:extLst>
                    <a:ext uri="{FF2B5EF4-FFF2-40B4-BE49-F238E27FC236}">
                      <a16:creationId xmlns:a16="http://schemas.microsoft.com/office/drawing/2014/main" id="{1CD9F0BB-1E85-DED4-5912-F023EAEE7342}"/>
                    </a:ext>
                  </a:extLst>
                </p:cNvPr>
                <p:cNvSpPr/>
                <p:nvPr/>
              </p:nvSpPr>
              <p:spPr>
                <a:xfrm>
                  <a:off x="2054088" y="1630294"/>
                  <a:ext cx="1292087" cy="384036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_tradnl" sz="12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Petición Cliente</a:t>
                  </a:r>
                </a:p>
              </p:txBody>
            </p:sp>
            <p:cxnSp>
              <p:nvCxnSpPr>
                <p:cNvPr id="16" name="Conector recto de flecha 15">
                  <a:extLst>
                    <a:ext uri="{FF2B5EF4-FFF2-40B4-BE49-F238E27FC236}">
                      <a16:creationId xmlns:a16="http://schemas.microsoft.com/office/drawing/2014/main" id="{58F4D14C-BD31-C6B2-9FBB-E9EEEDCEC3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00131" y="2047460"/>
                  <a:ext cx="0" cy="364435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AF31D17B-42B1-BD99-26A9-248E79FFB84B}"/>
                </a:ext>
              </a:extLst>
            </p:cNvPr>
            <p:cNvGrpSpPr/>
            <p:nvPr/>
          </p:nvGrpSpPr>
          <p:grpSpPr>
            <a:xfrm>
              <a:off x="2064398" y="2399016"/>
              <a:ext cx="4882683" cy="589350"/>
              <a:chOff x="2074707" y="2432146"/>
              <a:chExt cx="4882683" cy="589350"/>
            </a:xfrm>
          </p:grpSpPr>
          <p:sp>
            <p:nvSpPr>
              <p:cNvPr id="18" name="Rectángulo redondeado 17">
                <a:extLst>
                  <a:ext uri="{FF2B5EF4-FFF2-40B4-BE49-F238E27FC236}">
                    <a16:creationId xmlns:a16="http://schemas.microsoft.com/office/drawing/2014/main" id="{D62B2DCE-26BB-A2AC-58E7-72F9B605245A}"/>
                  </a:ext>
                </a:extLst>
              </p:cNvPr>
              <p:cNvSpPr/>
              <p:nvPr/>
            </p:nvSpPr>
            <p:spPr>
              <a:xfrm>
                <a:off x="2074707" y="2432146"/>
                <a:ext cx="4882683" cy="58935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2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Rectángulo redondeado 16">
                <a:extLst>
                  <a:ext uri="{FF2B5EF4-FFF2-40B4-BE49-F238E27FC236}">
                    <a16:creationId xmlns:a16="http://schemas.microsoft.com/office/drawing/2014/main" id="{1A3F0EED-56E6-BB00-181C-AACD92046BBE}"/>
                  </a:ext>
                </a:extLst>
              </p:cNvPr>
              <p:cNvSpPr/>
              <p:nvPr/>
            </p:nvSpPr>
            <p:spPr>
              <a:xfrm>
                <a:off x="2336066" y="2534803"/>
                <a:ext cx="4359964" cy="384036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12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Capa de interfaz de usuario</a:t>
                </a:r>
              </a:p>
            </p:txBody>
          </p:sp>
        </p:grp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31166516-0CA0-EAD6-6179-35C2281B40DF}"/>
                </a:ext>
              </a:extLst>
            </p:cNvPr>
            <p:cNvGrpSpPr/>
            <p:nvPr/>
          </p:nvGrpSpPr>
          <p:grpSpPr>
            <a:xfrm>
              <a:off x="2706284" y="3016725"/>
              <a:ext cx="3598910" cy="364435"/>
              <a:chOff x="2700131" y="2020956"/>
              <a:chExt cx="3598910" cy="364435"/>
            </a:xfrm>
          </p:grpSpPr>
          <p:cxnSp>
            <p:nvCxnSpPr>
              <p:cNvPr id="30" name="Conector recto de flecha 29">
                <a:extLst>
                  <a:ext uri="{FF2B5EF4-FFF2-40B4-BE49-F238E27FC236}">
                    <a16:creationId xmlns:a16="http://schemas.microsoft.com/office/drawing/2014/main" id="{CF874C9B-8FDC-03D4-1665-F8C0A46ED3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00131" y="2020956"/>
                <a:ext cx="0" cy="36443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de flecha 27">
                <a:extLst>
                  <a:ext uri="{FF2B5EF4-FFF2-40B4-BE49-F238E27FC236}">
                    <a16:creationId xmlns:a16="http://schemas.microsoft.com/office/drawing/2014/main" id="{10788675-FEAA-C5D9-A1BC-C19F645C20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99586" y="2020956"/>
                <a:ext cx="0" cy="36443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cto de flecha 25">
                <a:extLst>
                  <a:ext uri="{FF2B5EF4-FFF2-40B4-BE49-F238E27FC236}">
                    <a16:creationId xmlns:a16="http://schemas.microsoft.com/office/drawing/2014/main" id="{B16CAF2B-B9CB-FD2E-12B4-AAE46FCD7A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99041" y="2020956"/>
                <a:ext cx="0" cy="36443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21E29853-4EE2-D1B9-C300-5CC06EC52270}"/>
                </a:ext>
              </a:extLst>
            </p:cNvPr>
            <p:cNvGrpSpPr/>
            <p:nvPr/>
          </p:nvGrpSpPr>
          <p:grpSpPr>
            <a:xfrm>
              <a:off x="1967713" y="3438433"/>
              <a:ext cx="1471464" cy="1351445"/>
              <a:chOff x="3789886" y="3459093"/>
              <a:chExt cx="1471464" cy="1351445"/>
            </a:xfrm>
          </p:grpSpPr>
          <p:sp>
            <p:nvSpPr>
              <p:cNvPr id="31" name="Rectángulo redondeado 30">
                <a:extLst>
                  <a:ext uri="{FF2B5EF4-FFF2-40B4-BE49-F238E27FC236}">
                    <a16:creationId xmlns:a16="http://schemas.microsoft.com/office/drawing/2014/main" id="{5F058074-3483-AD34-5CE7-6D2D66C403D2}"/>
                  </a:ext>
                </a:extLst>
              </p:cNvPr>
              <p:cNvSpPr/>
              <p:nvPr/>
            </p:nvSpPr>
            <p:spPr>
              <a:xfrm>
                <a:off x="3789886" y="3459093"/>
                <a:ext cx="1471464" cy="1351445"/>
              </a:xfrm>
              <a:prstGeom prst="roundRect">
                <a:avLst>
                  <a:gd name="adj" fmla="val 686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2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Rectángulo redondeado 31">
                <a:extLst>
                  <a:ext uri="{FF2B5EF4-FFF2-40B4-BE49-F238E27FC236}">
                    <a16:creationId xmlns:a16="http://schemas.microsoft.com/office/drawing/2014/main" id="{1CF77533-09B4-6B53-2E3F-5CD23CDB30B8}"/>
                  </a:ext>
                </a:extLst>
              </p:cNvPr>
              <p:cNvSpPr/>
              <p:nvPr/>
            </p:nvSpPr>
            <p:spPr>
              <a:xfrm>
                <a:off x="3883727" y="3545329"/>
                <a:ext cx="1283783" cy="1179072"/>
              </a:xfrm>
              <a:prstGeom prst="roundRect">
                <a:avLst>
                  <a:gd name="adj" fmla="val 6861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_tradnl" sz="105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Componente de Servicio</a:t>
                </a:r>
              </a:p>
            </p:txBody>
          </p:sp>
          <p:grpSp>
            <p:nvGrpSpPr>
              <p:cNvPr id="36" name="Grupo 35">
                <a:extLst>
                  <a:ext uri="{FF2B5EF4-FFF2-40B4-BE49-F238E27FC236}">
                    <a16:creationId xmlns:a16="http://schemas.microsoft.com/office/drawing/2014/main" id="{B67E0158-412D-8238-FE01-FB6B22502345}"/>
                  </a:ext>
                </a:extLst>
              </p:cNvPr>
              <p:cNvGrpSpPr/>
              <p:nvPr/>
            </p:nvGrpSpPr>
            <p:grpSpPr>
              <a:xfrm>
                <a:off x="3967812" y="3991981"/>
                <a:ext cx="1115612" cy="321602"/>
                <a:chOff x="2248950" y="3932347"/>
                <a:chExt cx="1115612" cy="321602"/>
              </a:xfrm>
            </p:grpSpPr>
            <p:sp>
              <p:nvSpPr>
                <p:cNvPr id="33" name="Rectángulo redondeado 32">
                  <a:extLst>
                    <a:ext uri="{FF2B5EF4-FFF2-40B4-BE49-F238E27FC236}">
                      <a16:creationId xmlns:a16="http://schemas.microsoft.com/office/drawing/2014/main" id="{A1E7A2E2-A01A-B1EE-AC19-902743BB8A51}"/>
                    </a:ext>
                  </a:extLst>
                </p:cNvPr>
                <p:cNvSpPr/>
                <p:nvPr/>
              </p:nvSpPr>
              <p:spPr>
                <a:xfrm>
                  <a:off x="2248950" y="3932347"/>
                  <a:ext cx="520754" cy="321602"/>
                </a:xfrm>
                <a:prstGeom prst="roundRect">
                  <a:avLst>
                    <a:gd name="adj" fmla="val 14609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_tradnl" sz="7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Módulo </a:t>
                  </a:r>
                </a:p>
              </p:txBody>
            </p:sp>
            <p:sp>
              <p:nvSpPr>
                <p:cNvPr id="34" name="Rectángulo redondeado 33">
                  <a:extLst>
                    <a:ext uri="{FF2B5EF4-FFF2-40B4-BE49-F238E27FC236}">
                      <a16:creationId xmlns:a16="http://schemas.microsoft.com/office/drawing/2014/main" id="{D7E3CD5F-C592-CE1A-2053-1FCABA740F07}"/>
                    </a:ext>
                  </a:extLst>
                </p:cNvPr>
                <p:cNvSpPr/>
                <p:nvPr/>
              </p:nvSpPr>
              <p:spPr>
                <a:xfrm>
                  <a:off x="2843808" y="3932347"/>
                  <a:ext cx="520754" cy="321602"/>
                </a:xfrm>
                <a:prstGeom prst="roundRect">
                  <a:avLst>
                    <a:gd name="adj" fmla="val 14609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_tradnl" sz="7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Módulo </a:t>
                  </a:r>
                </a:p>
              </p:txBody>
            </p:sp>
          </p:grpSp>
          <p:grpSp>
            <p:nvGrpSpPr>
              <p:cNvPr id="37" name="Grupo 36">
                <a:extLst>
                  <a:ext uri="{FF2B5EF4-FFF2-40B4-BE49-F238E27FC236}">
                    <a16:creationId xmlns:a16="http://schemas.microsoft.com/office/drawing/2014/main" id="{CB1E5143-2630-3E51-5641-E552F86E36A3}"/>
                  </a:ext>
                </a:extLst>
              </p:cNvPr>
              <p:cNvGrpSpPr/>
              <p:nvPr/>
            </p:nvGrpSpPr>
            <p:grpSpPr>
              <a:xfrm>
                <a:off x="3967812" y="4350668"/>
                <a:ext cx="1115612" cy="321602"/>
                <a:chOff x="2248950" y="3932347"/>
                <a:chExt cx="1115612" cy="321602"/>
              </a:xfrm>
            </p:grpSpPr>
            <p:sp>
              <p:nvSpPr>
                <p:cNvPr id="38" name="Rectángulo redondeado 37">
                  <a:extLst>
                    <a:ext uri="{FF2B5EF4-FFF2-40B4-BE49-F238E27FC236}">
                      <a16:creationId xmlns:a16="http://schemas.microsoft.com/office/drawing/2014/main" id="{3CBF924A-D3B7-32DB-F9F8-F26AD139A52A}"/>
                    </a:ext>
                  </a:extLst>
                </p:cNvPr>
                <p:cNvSpPr/>
                <p:nvPr/>
              </p:nvSpPr>
              <p:spPr>
                <a:xfrm>
                  <a:off x="2248950" y="3932347"/>
                  <a:ext cx="520754" cy="321602"/>
                </a:xfrm>
                <a:prstGeom prst="roundRect">
                  <a:avLst>
                    <a:gd name="adj" fmla="val 14609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_tradnl" sz="7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Módulo </a:t>
                  </a:r>
                </a:p>
              </p:txBody>
            </p:sp>
            <p:sp>
              <p:nvSpPr>
                <p:cNvPr id="39" name="Rectángulo redondeado 38">
                  <a:extLst>
                    <a:ext uri="{FF2B5EF4-FFF2-40B4-BE49-F238E27FC236}">
                      <a16:creationId xmlns:a16="http://schemas.microsoft.com/office/drawing/2014/main" id="{D44416EE-8BAC-5AA5-29C3-C54DAE4C73ED}"/>
                    </a:ext>
                  </a:extLst>
                </p:cNvPr>
                <p:cNvSpPr/>
                <p:nvPr/>
              </p:nvSpPr>
              <p:spPr>
                <a:xfrm>
                  <a:off x="2843808" y="3932347"/>
                  <a:ext cx="520754" cy="321602"/>
                </a:xfrm>
                <a:prstGeom prst="roundRect">
                  <a:avLst>
                    <a:gd name="adj" fmla="val 14609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_tradnl" sz="7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Módulo </a:t>
                  </a:r>
                </a:p>
              </p:txBody>
            </p:sp>
          </p:grpSp>
        </p:grpSp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51B743FC-E8D3-7168-8C40-435A2C2FBB32}"/>
                </a:ext>
              </a:extLst>
            </p:cNvPr>
            <p:cNvGrpSpPr/>
            <p:nvPr/>
          </p:nvGrpSpPr>
          <p:grpSpPr>
            <a:xfrm>
              <a:off x="3774368" y="3438433"/>
              <a:ext cx="1471464" cy="1351445"/>
              <a:chOff x="3789886" y="3459093"/>
              <a:chExt cx="1471464" cy="1351445"/>
            </a:xfrm>
          </p:grpSpPr>
          <p:sp>
            <p:nvSpPr>
              <p:cNvPr id="42" name="Rectángulo redondeado 41">
                <a:extLst>
                  <a:ext uri="{FF2B5EF4-FFF2-40B4-BE49-F238E27FC236}">
                    <a16:creationId xmlns:a16="http://schemas.microsoft.com/office/drawing/2014/main" id="{20B4A719-10B1-EE6C-A840-6BC429622B71}"/>
                  </a:ext>
                </a:extLst>
              </p:cNvPr>
              <p:cNvSpPr/>
              <p:nvPr/>
            </p:nvSpPr>
            <p:spPr>
              <a:xfrm>
                <a:off x="3789886" y="3459093"/>
                <a:ext cx="1471464" cy="1351445"/>
              </a:xfrm>
              <a:prstGeom prst="roundRect">
                <a:avLst>
                  <a:gd name="adj" fmla="val 686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2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" name="Rectángulo redondeado 42">
                <a:extLst>
                  <a:ext uri="{FF2B5EF4-FFF2-40B4-BE49-F238E27FC236}">
                    <a16:creationId xmlns:a16="http://schemas.microsoft.com/office/drawing/2014/main" id="{96EF1676-4247-85D9-5098-E39207FD73AD}"/>
                  </a:ext>
                </a:extLst>
              </p:cNvPr>
              <p:cNvSpPr/>
              <p:nvPr/>
            </p:nvSpPr>
            <p:spPr>
              <a:xfrm>
                <a:off x="3883727" y="3545329"/>
                <a:ext cx="1283783" cy="1179072"/>
              </a:xfrm>
              <a:prstGeom prst="roundRect">
                <a:avLst>
                  <a:gd name="adj" fmla="val 6861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_tradnl" sz="105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Componente de Servicio</a:t>
                </a:r>
              </a:p>
            </p:txBody>
          </p:sp>
          <p:grpSp>
            <p:nvGrpSpPr>
              <p:cNvPr id="44" name="Grupo 43">
                <a:extLst>
                  <a:ext uri="{FF2B5EF4-FFF2-40B4-BE49-F238E27FC236}">
                    <a16:creationId xmlns:a16="http://schemas.microsoft.com/office/drawing/2014/main" id="{4EA90610-0D39-BD71-8F46-15C0EA09ECC6}"/>
                  </a:ext>
                </a:extLst>
              </p:cNvPr>
              <p:cNvGrpSpPr/>
              <p:nvPr/>
            </p:nvGrpSpPr>
            <p:grpSpPr>
              <a:xfrm>
                <a:off x="3967812" y="3991981"/>
                <a:ext cx="1115612" cy="321602"/>
                <a:chOff x="2248950" y="3932347"/>
                <a:chExt cx="1115612" cy="321602"/>
              </a:xfrm>
            </p:grpSpPr>
            <p:sp>
              <p:nvSpPr>
                <p:cNvPr id="48" name="Rectángulo redondeado 47">
                  <a:extLst>
                    <a:ext uri="{FF2B5EF4-FFF2-40B4-BE49-F238E27FC236}">
                      <a16:creationId xmlns:a16="http://schemas.microsoft.com/office/drawing/2014/main" id="{5BB95A93-F885-0C98-2841-5A608CB45CA2}"/>
                    </a:ext>
                  </a:extLst>
                </p:cNvPr>
                <p:cNvSpPr/>
                <p:nvPr/>
              </p:nvSpPr>
              <p:spPr>
                <a:xfrm>
                  <a:off x="2248950" y="3932347"/>
                  <a:ext cx="520754" cy="321602"/>
                </a:xfrm>
                <a:prstGeom prst="roundRect">
                  <a:avLst>
                    <a:gd name="adj" fmla="val 14609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_tradnl" sz="7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Módulo </a:t>
                  </a:r>
                </a:p>
              </p:txBody>
            </p:sp>
            <p:sp>
              <p:nvSpPr>
                <p:cNvPr id="49" name="Rectángulo redondeado 48">
                  <a:extLst>
                    <a:ext uri="{FF2B5EF4-FFF2-40B4-BE49-F238E27FC236}">
                      <a16:creationId xmlns:a16="http://schemas.microsoft.com/office/drawing/2014/main" id="{8BCA3CD9-124A-B35C-E201-0C47993AF52A}"/>
                    </a:ext>
                  </a:extLst>
                </p:cNvPr>
                <p:cNvSpPr/>
                <p:nvPr/>
              </p:nvSpPr>
              <p:spPr>
                <a:xfrm>
                  <a:off x="2843808" y="3932347"/>
                  <a:ext cx="520754" cy="321602"/>
                </a:xfrm>
                <a:prstGeom prst="roundRect">
                  <a:avLst>
                    <a:gd name="adj" fmla="val 14609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_tradnl" sz="7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Módulo </a:t>
                  </a:r>
                </a:p>
              </p:txBody>
            </p:sp>
          </p:grpSp>
        </p:grpSp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41CE4232-F97D-DD61-81B8-EEEB001BE4A8}"/>
                </a:ext>
              </a:extLst>
            </p:cNvPr>
            <p:cNvGrpSpPr/>
            <p:nvPr/>
          </p:nvGrpSpPr>
          <p:grpSpPr>
            <a:xfrm>
              <a:off x="5578895" y="3438433"/>
              <a:ext cx="1471464" cy="1351445"/>
              <a:chOff x="3789886" y="3459093"/>
              <a:chExt cx="1471464" cy="1351445"/>
            </a:xfrm>
          </p:grpSpPr>
          <p:sp>
            <p:nvSpPr>
              <p:cNvPr id="51" name="Rectángulo redondeado 50">
                <a:extLst>
                  <a:ext uri="{FF2B5EF4-FFF2-40B4-BE49-F238E27FC236}">
                    <a16:creationId xmlns:a16="http://schemas.microsoft.com/office/drawing/2014/main" id="{C2778846-283F-842F-416D-EC9695D6A38E}"/>
                  </a:ext>
                </a:extLst>
              </p:cNvPr>
              <p:cNvSpPr/>
              <p:nvPr/>
            </p:nvSpPr>
            <p:spPr>
              <a:xfrm>
                <a:off x="3789886" y="3459093"/>
                <a:ext cx="1471464" cy="1351445"/>
              </a:xfrm>
              <a:prstGeom prst="roundRect">
                <a:avLst>
                  <a:gd name="adj" fmla="val 686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2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" name="Rectángulo redondeado 51">
                <a:extLst>
                  <a:ext uri="{FF2B5EF4-FFF2-40B4-BE49-F238E27FC236}">
                    <a16:creationId xmlns:a16="http://schemas.microsoft.com/office/drawing/2014/main" id="{9DB40016-E20B-4025-7B99-B3F45E132151}"/>
                  </a:ext>
                </a:extLst>
              </p:cNvPr>
              <p:cNvSpPr/>
              <p:nvPr/>
            </p:nvSpPr>
            <p:spPr>
              <a:xfrm>
                <a:off x="3883727" y="3545329"/>
                <a:ext cx="1283783" cy="1179072"/>
              </a:xfrm>
              <a:prstGeom prst="roundRect">
                <a:avLst>
                  <a:gd name="adj" fmla="val 6861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_tradnl" sz="105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Componente de Servicio</a:t>
                </a:r>
              </a:p>
            </p:txBody>
          </p:sp>
          <p:grpSp>
            <p:nvGrpSpPr>
              <p:cNvPr id="53" name="Grupo 52">
                <a:extLst>
                  <a:ext uri="{FF2B5EF4-FFF2-40B4-BE49-F238E27FC236}">
                    <a16:creationId xmlns:a16="http://schemas.microsoft.com/office/drawing/2014/main" id="{EA3AA42D-464C-C693-30C2-19000541DB45}"/>
                  </a:ext>
                </a:extLst>
              </p:cNvPr>
              <p:cNvGrpSpPr/>
              <p:nvPr/>
            </p:nvGrpSpPr>
            <p:grpSpPr>
              <a:xfrm>
                <a:off x="3967812" y="3991981"/>
                <a:ext cx="1115612" cy="321602"/>
                <a:chOff x="2248950" y="3932347"/>
                <a:chExt cx="1115612" cy="321602"/>
              </a:xfrm>
            </p:grpSpPr>
            <p:sp>
              <p:nvSpPr>
                <p:cNvPr id="57" name="Rectángulo redondeado 56">
                  <a:extLst>
                    <a:ext uri="{FF2B5EF4-FFF2-40B4-BE49-F238E27FC236}">
                      <a16:creationId xmlns:a16="http://schemas.microsoft.com/office/drawing/2014/main" id="{3C22D228-E90A-0F7E-B9F6-42DC51E6E2D6}"/>
                    </a:ext>
                  </a:extLst>
                </p:cNvPr>
                <p:cNvSpPr/>
                <p:nvPr/>
              </p:nvSpPr>
              <p:spPr>
                <a:xfrm>
                  <a:off x="2248950" y="3932347"/>
                  <a:ext cx="520754" cy="321602"/>
                </a:xfrm>
                <a:prstGeom prst="roundRect">
                  <a:avLst>
                    <a:gd name="adj" fmla="val 14609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_tradnl" sz="7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Módulo </a:t>
                  </a:r>
                </a:p>
              </p:txBody>
            </p:sp>
            <p:sp>
              <p:nvSpPr>
                <p:cNvPr id="58" name="Rectángulo redondeado 57">
                  <a:extLst>
                    <a:ext uri="{FF2B5EF4-FFF2-40B4-BE49-F238E27FC236}">
                      <a16:creationId xmlns:a16="http://schemas.microsoft.com/office/drawing/2014/main" id="{73653AD2-1838-EA4F-F0C1-BF4D79B8D536}"/>
                    </a:ext>
                  </a:extLst>
                </p:cNvPr>
                <p:cNvSpPr/>
                <p:nvPr/>
              </p:nvSpPr>
              <p:spPr>
                <a:xfrm>
                  <a:off x="2843808" y="3932347"/>
                  <a:ext cx="520754" cy="321602"/>
                </a:xfrm>
                <a:prstGeom prst="roundRect">
                  <a:avLst>
                    <a:gd name="adj" fmla="val 14609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_tradnl" sz="700" b="1" dirty="0">
                      <a:solidFill>
                        <a:schemeClr val="tx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Módulo </a:t>
                  </a:r>
                </a:p>
              </p:txBody>
            </p:sp>
          </p:grpSp>
          <p:sp>
            <p:nvSpPr>
              <p:cNvPr id="55" name="Rectángulo redondeado 54">
                <a:extLst>
                  <a:ext uri="{FF2B5EF4-FFF2-40B4-BE49-F238E27FC236}">
                    <a16:creationId xmlns:a16="http://schemas.microsoft.com/office/drawing/2014/main" id="{52861C8B-B92C-C365-C15F-ABEB7B5C42D3}"/>
                  </a:ext>
                </a:extLst>
              </p:cNvPr>
              <p:cNvSpPr/>
              <p:nvPr/>
            </p:nvSpPr>
            <p:spPr>
              <a:xfrm>
                <a:off x="3967812" y="4350668"/>
                <a:ext cx="520754" cy="321602"/>
              </a:xfrm>
              <a:prstGeom prst="roundRect">
                <a:avLst>
                  <a:gd name="adj" fmla="val 14609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_tradnl" sz="7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Módulo 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/>
        </p:nvSpPr>
        <p:spPr>
          <a:xfrm>
            <a:off x="509342" y="921277"/>
            <a:ext cx="3883271" cy="229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FUNDAMENTOS DE ARQUITECTURA DE MICROSERVICIOS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Una arquitectura de microservicios consta de una colección de servicios autónomos y pequeños. 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Los servicios son independientes entre sí y cada uno debe implementar una funcionalidad de negocio individual.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40E5E34B-5B0E-06F1-2A1E-4B069CD4DD68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ARQUITECTURA MICROSERVICIOS </a:t>
            </a:r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77A59FDF-4DA5-AB68-3C83-F86E77E53E5E}"/>
              </a:ext>
            </a:extLst>
          </p:cNvPr>
          <p:cNvGrpSpPr/>
          <p:nvPr/>
        </p:nvGrpSpPr>
        <p:grpSpPr>
          <a:xfrm>
            <a:off x="4751388" y="912813"/>
            <a:ext cx="3911048" cy="3687010"/>
            <a:chOff x="4751388" y="912813"/>
            <a:chExt cx="3911048" cy="3687010"/>
          </a:xfrm>
        </p:grpSpPr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998955D7-5921-65AF-A69A-0F59FB770FCB}"/>
                </a:ext>
              </a:extLst>
            </p:cNvPr>
            <p:cNvCxnSpPr>
              <a:cxnSpLocks/>
            </p:cNvCxnSpPr>
            <p:nvPr/>
          </p:nvCxnSpPr>
          <p:spPr>
            <a:xfrm>
              <a:off x="4751388" y="2010966"/>
              <a:ext cx="3133658" cy="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ángulo redondeado 3">
              <a:extLst>
                <a:ext uri="{FF2B5EF4-FFF2-40B4-BE49-F238E27FC236}">
                  <a16:creationId xmlns:a16="http://schemas.microsoft.com/office/drawing/2014/main" id="{DEE1A63B-B9A1-88DB-E0E3-965C0A5ED250}"/>
                </a:ext>
              </a:extLst>
            </p:cNvPr>
            <p:cNvSpPr/>
            <p:nvPr/>
          </p:nvSpPr>
          <p:spPr>
            <a:xfrm>
              <a:off x="5042452" y="912813"/>
              <a:ext cx="1094115" cy="313013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100" b="1" dirty="0">
                  <a:latin typeface="Calibri" panose="020F0502020204030204" pitchFamily="34" charset="0"/>
                  <a:cs typeface="Calibri" panose="020F0502020204030204" pitchFamily="34" charset="0"/>
                </a:rPr>
                <a:t>Web Client</a:t>
              </a:r>
            </a:p>
          </p:txBody>
        </p:sp>
        <p:sp>
          <p:nvSpPr>
            <p:cNvPr id="5" name="Rectángulo redondeado 4">
              <a:extLst>
                <a:ext uri="{FF2B5EF4-FFF2-40B4-BE49-F238E27FC236}">
                  <a16:creationId xmlns:a16="http://schemas.microsoft.com/office/drawing/2014/main" id="{48708B32-20A6-8831-8F7B-E3479F385BAB}"/>
                </a:ext>
              </a:extLst>
            </p:cNvPr>
            <p:cNvSpPr/>
            <p:nvPr/>
          </p:nvSpPr>
          <p:spPr>
            <a:xfrm>
              <a:off x="6240963" y="912813"/>
              <a:ext cx="1094115" cy="313013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100" b="1" dirty="0">
                  <a:latin typeface="Calibri" panose="020F0502020204030204" pitchFamily="34" charset="0"/>
                  <a:cs typeface="Calibri" panose="020F0502020204030204" pitchFamily="34" charset="0"/>
                </a:rPr>
                <a:t>Mobile  Client</a:t>
              </a:r>
            </a:p>
          </p:txBody>
        </p:sp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B1133EA6-3509-A947-A9C6-D2AC75F84F61}"/>
                </a:ext>
              </a:extLst>
            </p:cNvPr>
            <p:cNvSpPr/>
            <p:nvPr/>
          </p:nvSpPr>
          <p:spPr>
            <a:xfrm>
              <a:off x="5567401" y="1298949"/>
              <a:ext cx="1094115" cy="313013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1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IoT</a:t>
              </a:r>
              <a:endParaRPr lang="es-ES_tradnl" sz="11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C7B97FDC-4EBD-E2FA-E704-A3EC801E637C}"/>
                </a:ext>
              </a:extLst>
            </p:cNvPr>
            <p:cNvCxnSpPr>
              <a:cxnSpLocks/>
            </p:cNvCxnSpPr>
            <p:nvPr/>
          </p:nvCxnSpPr>
          <p:spPr>
            <a:xfrm>
              <a:off x="6728319" y="1711998"/>
              <a:ext cx="0" cy="57647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F18BA308-7EA1-C461-A7DD-DE38669F8F8F}"/>
                </a:ext>
              </a:extLst>
            </p:cNvPr>
            <p:cNvCxnSpPr>
              <a:cxnSpLocks/>
            </p:cNvCxnSpPr>
            <p:nvPr/>
          </p:nvCxnSpPr>
          <p:spPr>
            <a:xfrm>
              <a:off x="6084168" y="1711998"/>
              <a:ext cx="0" cy="57647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de flecha 10">
              <a:extLst>
                <a:ext uri="{FF2B5EF4-FFF2-40B4-BE49-F238E27FC236}">
                  <a16:creationId xmlns:a16="http://schemas.microsoft.com/office/drawing/2014/main" id="{A6940813-2522-5D75-C68F-2010E4735DA8}"/>
                </a:ext>
              </a:extLst>
            </p:cNvPr>
            <p:cNvCxnSpPr>
              <a:cxnSpLocks/>
            </p:cNvCxnSpPr>
            <p:nvPr/>
          </p:nvCxnSpPr>
          <p:spPr>
            <a:xfrm>
              <a:off x="5436096" y="1711998"/>
              <a:ext cx="0" cy="57647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Google Shape;55;p4">
              <a:extLst>
                <a:ext uri="{FF2B5EF4-FFF2-40B4-BE49-F238E27FC236}">
                  <a16:creationId xmlns:a16="http://schemas.microsoft.com/office/drawing/2014/main" id="{4AED1C17-0DF9-4639-C57B-1AC143D50C42}"/>
                </a:ext>
              </a:extLst>
            </p:cNvPr>
            <p:cNvSpPr txBox="1"/>
            <p:nvPr/>
          </p:nvSpPr>
          <p:spPr>
            <a:xfrm>
              <a:off x="5464188" y="1847156"/>
              <a:ext cx="380022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R="0" lvl="0" rtl="0">
                <a:spcBef>
                  <a:spcPts val="0"/>
                </a:spcBef>
                <a:spcAft>
                  <a:spcPts val="600"/>
                </a:spcAft>
              </a:pPr>
              <a:r>
                <a:rPr lang="en-US" sz="8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JSON</a:t>
              </a:r>
            </a:p>
          </p:txBody>
        </p:sp>
        <p:sp>
          <p:nvSpPr>
            <p:cNvPr id="18" name="Google Shape;55;p4">
              <a:extLst>
                <a:ext uri="{FF2B5EF4-FFF2-40B4-BE49-F238E27FC236}">
                  <a16:creationId xmlns:a16="http://schemas.microsoft.com/office/drawing/2014/main" id="{388958D8-8D03-812F-8E46-88E284F985C8}"/>
                </a:ext>
              </a:extLst>
            </p:cNvPr>
            <p:cNvSpPr txBox="1"/>
            <p:nvPr/>
          </p:nvSpPr>
          <p:spPr>
            <a:xfrm>
              <a:off x="6118719" y="1847156"/>
              <a:ext cx="633264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R="0" lvl="0" rtl="0">
                <a:spcBef>
                  <a:spcPts val="0"/>
                </a:spcBef>
                <a:spcAft>
                  <a:spcPts val="600"/>
                </a:spcAft>
              </a:pPr>
              <a:r>
                <a:rPr lang="en-US" sz="8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Notifications </a:t>
              </a:r>
            </a:p>
          </p:txBody>
        </p:sp>
        <p:sp>
          <p:nvSpPr>
            <p:cNvPr id="19" name="Google Shape;55;p4">
              <a:extLst>
                <a:ext uri="{FF2B5EF4-FFF2-40B4-BE49-F238E27FC236}">
                  <a16:creationId xmlns:a16="http://schemas.microsoft.com/office/drawing/2014/main" id="{21CDFF8B-6AC6-1083-ADAA-3B9539854733}"/>
                </a:ext>
              </a:extLst>
            </p:cNvPr>
            <p:cNvSpPr txBox="1"/>
            <p:nvPr/>
          </p:nvSpPr>
          <p:spPr>
            <a:xfrm>
              <a:off x="6760096" y="1847156"/>
              <a:ext cx="833399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R="0" lvl="0" rtl="0">
                <a:spcBef>
                  <a:spcPts val="0"/>
                </a:spcBef>
                <a:spcAft>
                  <a:spcPts val="600"/>
                </a:spcAft>
              </a:pPr>
              <a:r>
                <a:rPr lang="en-US" sz="8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HTTP, WebSocket</a:t>
              </a:r>
            </a:p>
          </p:txBody>
        </p:sp>
        <p:sp>
          <p:nvSpPr>
            <p:cNvPr id="23" name="Google Shape;55;p4">
              <a:extLst>
                <a:ext uri="{FF2B5EF4-FFF2-40B4-BE49-F238E27FC236}">
                  <a16:creationId xmlns:a16="http://schemas.microsoft.com/office/drawing/2014/main" id="{D7F4928A-25DE-D962-5A11-B9ECE39DD859}"/>
                </a:ext>
              </a:extLst>
            </p:cNvPr>
            <p:cNvSpPr txBox="1"/>
            <p:nvPr/>
          </p:nvSpPr>
          <p:spPr>
            <a:xfrm>
              <a:off x="7943033" y="1670050"/>
              <a:ext cx="71940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R="0" lvl="0" rtl="0">
                <a:spcBef>
                  <a:spcPts val="0"/>
                </a:spcBef>
                <a:spcAft>
                  <a:spcPts val="60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Client side</a:t>
              </a:r>
            </a:p>
          </p:txBody>
        </p:sp>
        <p:sp>
          <p:nvSpPr>
            <p:cNvPr id="24" name="Google Shape;55;p4">
              <a:extLst>
                <a:ext uri="{FF2B5EF4-FFF2-40B4-BE49-F238E27FC236}">
                  <a16:creationId xmlns:a16="http://schemas.microsoft.com/office/drawing/2014/main" id="{DE427336-3BAF-9C06-46D3-911C8BEA9829}"/>
                </a:ext>
              </a:extLst>
            </p:cNvPr>
            <p:cNvSpPr txBox="1"/>
            <p:nvPr/>
          </p:nvSpPr>
          <p:spPr>
            <a:xfrm>
              <a:off x="7943033" y="2114026"/>
              <a:ext cx="71940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R="0" lvl="0" rtl="0">
                <a:spcBef>
                  <a:spcPts val="0"/>
                </a:spcBef>
                <a:spcAft>
                  <a:spcPts val="600"/>
                </a:spcAft>
              </a:pPr>
              <a:r>
                <a:rPr lang="en-US" sz="12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Server side</a:t>
              </a:r>
            </a:p>
          </p:txBody>
        </p: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1DA32125-49A4-31C2-339B-67F252C09727}"/>
                </a:ext>
              </a:extLst>
            </p:cNvPr>
            <p:cNvGrpSpPr/>
            <p:nvPr/>
          </p:nvGrpSpPr>
          <p:grpSpPr>
            <a:xfrm>
              <a:off x="4863549" y="2505033"/>
              <a:ext cx="674440" cy="1366155"/>
              <a:chOff x="2799083" y="3541339"/>
              <a:chExt cx="674440" cy="1366155"/>
            </a:xfrm>
          </p:grpSpPr>
          <p:grpSp>
            <p:nvGrpSpPr>
              <p:cNvPr id="28" name="Grupo 27">
                <a:extLst>
                  <a:ext uri="{FF2B5EF4-FFF2-40B4-BE49-F238E27FC236}">
                    <a16:creationId xmlns:a16="http://schemas.microsoft.com/office/drawing/2014/main" id="{1A9F2FF0-32F1-D731-1195-62A0F9B237EC}"/>
                  </a:ext>
                </a:extLst>
              </p:cNvPr>
              <p:cNvGrpSpPr/>
              <p:nvPr/>
            </p:nvGrpSpPr>
            <p:grpSpPr>
              <a:xfrm>
                <a:off x="3136303" y="3541339"/>
                <a:ext cx="0" cy="1004158"/>
                <a:chOff x="3136303" y="3673163"/>
                <a:chExt cx="0" cy="796290"/>
              </a:xfrm>
            </p:grpSpPr>
            <p:cxnSp>
              <p:nvCxnSpPr>
                <p:cNvPr id="13" name="Conector recto de flecha 12">
                  <a:extLst>
                    <a:ext uri="{FF2B5EF4-FFF2-40B4-BE49-F238E27FC236}">
                      <a16:creationId xmlns:a16="http://schemas.microsoft.com/office/drawing/2014/main" id="{2FBC58BF-9805-F360-638B-71801DD9F4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36303" y="3673163"/>
                  <a:ext cx="0" cy="27528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Conector recto de flecha 14">
                  <a:extLst>
                    <a:ext uri="{FF2B5EF4-FFF2-40B4-BE49-F238E27FC236}">
                      <a16:creationId xmlns:a16="http://schemas.microsoft.com/office/drawing/2014/main" id="{370D115B-1497-7BE4-C1B5-CE58698AC1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36303" y="4194166"/>
                  <a:ext cx="0" cy="27528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" name="Rectángulo redondeado 15">
                <a:extLst>
                  <a:ext uri="{FF2B5EF4-FFF2-40B4-BE49-F238E27FC236}">
                    <a16:creationId xmlns:a16="http://schemas.microsoft.com/office/drawing/2014/main" id="{B39509B8-58E9-E059-4108-FCD6BF6F8FAE}"/>
                  </a:ext>
                </a:extLst>
              </p:cNvPr>
              <p:cNvSpPr/>
              <p:nvPr/>
            </p:nvSpPr>
            <p:spPr>
              <a:xfrm>
                <a:off x="2799083" y="4594481"/>
                <a:ext cx="674440" cy="313013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1100" b="1">
                    <a:latin typeface="Calibri" panose="020F0502020204030204" pitchFamily="34" charset="0"/>
                    <a:cs typeface="Calibri" panose="020F0502020204030204" pitchFamily="34" charset="0"/>
                  </a:rPr>
                  <a:t>Service </a:t>
                </a:r>
              </a:p>
            </p:txBody>
          </p:sp>
          <p:sp>
            <p:nvSpPr>
              <p:cNvPr id="27" name="Google Shape;55;p4">
                <a:extLst>
                  <a:ext uri="{FF2B5EF4-FFF2-40B4-BE49-F238E27FC236}">
                    <a16:creationId xmlns:a16="http://schemas.microsoft.com/office/drawing/2014/main" id="{EC0ECA6D-899E-0E4A-C764-2A030064538F}"/>
                  </a:ext>
                </a:extLst>
              </p:cNvPr>
              <p:cNvSpPr txBox="1"/>
              <p:nvPr/>
            </p:nvSpPr>
            <p:spPr>
              <a:xfrm>
                <a:off x="3216694" y="4299418"/>
                <a:ext cx="238370" cy="20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R="0" lvl="0" rtl="0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8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HTTP</a:t>
                </a:r>
              </a:p>
            </p:txBody>
          </p:sp>
          <p:sp>
            <p:nvSpPr>
              <p:cNvPr id="12" name="Rectángulo redondeado 11">
                <a:extLst>
                  <a:ext uri="{FF2B5EF4-FFF2-40B4-BE49-F238E27FC236}">
                    <a16:creationId xmlns:a16="http://schemas.microsoft.com/office/drawing/2014/main" id="{54469125-379A-6A7A-47EC-D4087A7800D2}"/>
                  </a:ext>
                </a:extLst>
              </p:cNvPr>
              <p:cNvSpPr/>
              <p:nvPr/>
            </p:nvSpPr>
            <p:spPr>
              <a:xfrm>
                <a:off x="2799083" y="3915150"/>
                <a:ext cx="674440" cy="313013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11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Service </a:t>
                </a:r>
              </a:p>
            </p:txBody>
          </p:sp>
        </p:grpSp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F0D12683-EA4E-6406-479F-657B68B60CDC}"/>
                </a:ext>
              </a:extLst>
            </p:cNvPr>
            <p:cNvGrpSpPr/>
            <p:nvPr/>
          </p:nvGrpSpPr>
          <p:grpSpPr>
            <a:xfrm>
              <a:off x="5772574" y="2505033"/>
              <a:ext cx="674440" cy="1366155"/>
              <a:chOff x="2799083" y="3541339"/>
              <a:chExt cx="674440" cy="1366155"/>
            </a:xfrm>
          </p:grpSpPr>
          <p:grpSp>
            <p:nvGrpSpPr>
              <p:cNvPr id="31" name="Grupo 30">
                <a:extLst>
                  <a:ext uri="{FF2B5EF4-FFF2-40B4-BE49-F238E27FC236}">
                    <a16:creationId xmlns:a16="http://schemas.microsoft.com/office/drawing/2014/main" id="{5027BCE1-02F0-10D4-2E35-A04355AD3703}"/>
                  </a:ext>
                </a:extLst>
              </p:cNvPr>
              <p:cNvGrpSpPr/>
              <p:nvPr/>
            </p:nvGrpSpPr>
            <p:grpSpPr>
              <a:xfrm>
                <a:off x="3136303" y="3541339"/>
                <a:ext cx="0" cy="1004158"/>
                <a:chOff x="3136303" y="3673163"/>
                <a:chExt cx="0" cy="796290"/>
              </a:xfrm>
            </p:grpSpPr>
            <p:cxnSp>
              <p:nvCxnSpPr>
                <p:cNvPr id="35" name="Conector recto de flecha 34">
                  <a:extLst>
                    <a:ext uri="{FF2B5EF4-FFF2-40B4-BE49-F238E27FC236}">
                      <a16:creationId xmlns:a16="http://schemas.microsoft.com/office/drawing/2014/main" id="{2C8CC56F-1FF3-7F73-2848-39352AD0A7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36303" y="3673163"/>
                  <a:ext cx="0" cy="27528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Conector recto de flecha 35">
                  <a:extLst>
                    <a:ext uri="{FF2B5EF4-FFF2-40B4-BE49-F238E27FC236}">
                      <a16:creationId xmlns:a16="http://schemas.microsoft.com/office/drawing/2014/main" id="{FB77481B-B8F6-D068-E987-B8D8E9183A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36303" y="4194166"/>
                  <a:ext cx="0" cy="27528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Rectángulo redondeado 31">
                <a:extLst>
                  <a:ext uri="{FF2B5EF4-FFF2-40B4-BE49-F238E27FC236}">
                    <a16:creationId xmlns:a16="http://schemas.microsoft.com/office/drawing/2014/main" id="{FC286C04-FD4F-06B8-AF4F-74D58049392B}"/>
                  </a:ext>
                </a:extLst>
              </p:cNvPr>
              <p:cNvSpPr/>
              <p:nvPr/>
            </p:nvSpPr>
            <p:spPr>
              <a:xfrm>
                <a:off x="2799083" y="4594481"/>
                <a:ext cx="674440" cy="313013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11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Service </a:t>
                </a:r>
              </a:p>
            </p:txBody>
          </p:sp>
          <p:sp>
            <p:nvSpPr>
              <p:cNvPr id="33" name="Google Shape;55;p4">
                <a:extLst>
                  <a:ext uri="{FF2B5EF4-FFF2-40B4-BE49-F238E27FC236}">
                    <a16:creationId xmlns:a16="http://schemas.microsoft.com/office/drawing/2014/main" id="{5C0FF9AB-A823-5123-F756-7E0F95574F9E}"/>
                  </a:ext>
                </a:extLst>
              </p:cNvPr>
              <p:cNvSpPr txBox="1"/>
              <p:nvPr/>
            </p:nvSpPr>
            <p:spPr>
              <a:xfrm>
                <a:off x="3216694" y="4299418"/>
                <a:ext cx="244388" cy="20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R="0" lvl="0" rtl="0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sz="8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/>
                    <a:cs typeface="Calibri" panose="020F0502020204030204" pitchFamily="34" charset="0"/>
                    <a:sym typeface="Calibri"/>
                  </a:rPr>
                  <a:t>HTTP</a:t>
                </a:r>
              </a:p>
            </p:txBody>
          </p:sp>
          <p:sp>
            <p:nvSpPr>
              <p:cNvPr id="34" name="Rectángulo redondeado 33">
                <a:extLst>
                  <a:ext uri="{FF2B5EF4-FFF2-40B4-BE49-F238E27FC236}">
                    <a16:creationId xmlns:a16="http://schemas.microsoft.com/office/drawing/2014/main" id="{BDC3DE0D-3864-F35F-D391-177D18A67909}"/>
                  </a:ext>
                </a:extLst>
              </p:cNvPr>
              <p:cNvSpPr/>
              <p:nvPr/>
            </p:nvSpPr>
            <p:spPr>
              <a:xfrm>
                <a:off x="2799083" y="3915150"/>
                <a:ext cx="674440" cy="313013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11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Service </a:t>
                </a:r>
              </a:p>
            </p:txBody>
          </p:sp>
        </p:grpSp>
        <p:grpSp>
          <p:nvGrpSpPr>
            <p:cNvPr id="37" name="Grupo 36">
              <a:extLst>
                <a:ext uri="{FF2B5EF4-FFF2-40B4-BE49-F238E27FC236}">
                  <a16:creationId xmlns:a16="http://schemas.microsoft.com/office/drawing/2014/main" id="{AF600ADB-7D87-9367-D2C9-B21DA76E4476}"/>
                </a:ext>
              </a:extLst>
            </p:cNvPr>
            <p:cNvGrpSpPr/>
            <p:nvPr/>
          </p:nvGrpSpPr>
          <p:grpSpPr>
            <a:xfrm>
              <a:off x="6667060" y="2505033"/>
              <a:ext cx="1125218" cy="1450741"/>
              <a:chOff x="2799083" y="3541339"/>
              <a:chExt cx="1125218" cy="1450741"/>
            </a:xfrm>
          </p:grpSpPr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D6D9AF90-6621-9893-1B6B-DAD67601C4F7}"/>
                  </a:ext>
                </a:extLst>
              </p:cNvPr>
              <p:cNvGrpSpPr/>
              <p:nvPr/>
            </p:nvGrpSpPr>
            <p:grpSpPr>
              <a:xfrm>
                <a:off x="3089414" y="3541339"/>
                <a:ext cx="834887" cy="1450741"/>
                <a:chOff x="3089414" y="3673163"/>
                <a:chExt cx="834887" cy="1150427"/>
              </a:xfrm>
            </p:grpSpPr>
            <p:cxnSp>
              <p:nvCxnSpPr>
                <p:cNvPr id="43" name="Conector recto de flecha 42">
                  <a:extLst>
                    <a:ext uri="{FF2B5EF4-FFF2-40B4-BE49-F238E27FC236}">
                      <a16:creationId xmlns:a16="http://schemas.microsoft.com/office/drawing/2014/main" id="{925D5236-E97C-45DF-8742-BCA04D7825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89414" y="4194166"/>
                  <a:ext cx="73393" cy="629424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onector recto de flecha 41">
                  <a:extLst>
                    <a:ext uri="{FF2B5EF4-FFF2-40B4-BE49-F238E27FC236}">
                      <a16:creationId xmlns:a16="http://schemas.microsoft.com/office/drawing/2014/main" id="{F60066B6-DDBC-78DD-586C-601C2502A7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36303" y="3673163"/>
                  <a:ext cx="0" cy="27528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Conector recto de flecha 46">
                  <a:extLst>
                    <a:ext uri="{FF2B5EF4-FFF2-40B4-BE49-F238E27FC236}">
                      <a16:creationId xmlns:a16="http://schemas.microsoft.com/office/drawing/2014/main" id="{349781C4-285C-452B-EB43-4298300CC3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78088" y="4093141"/>
                  <a:ext cx="546213" cy="26280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Rectángulo redondeado 40">
                <a:extLst>
                  <a:ext uri="{FF2B5EF4-FFF2-40B4-BE49-F238E27FC236}">
                    <a16:creationId xmlns:a16="http://schemas.microsoft.com/office/drawing/2014/main" id="{5B0A89F3-2CF8-42B0-72F3-73FCF10C8B48}"/>
                  </a:ext>
                </a:extLst>
              </p:cNvPr>
              <p:cNvSpPr/>
              <p:nvPr/>
            </p:nvSpPr>
            <p:spPr>
              <a:xfrm>
                <a:off x="2799083" y="3915150"/>
                <a:ext cx="674440" cy="313013"/>
              </a:xfrm>
              <a:prstGeom prst="round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1100" b="1">
                    <a:latin typeface="Calibri" panose="020F0502020204030204" pitchFamily="34" charset="0"/>
                    <a:cs typeface="Calibri" panose="020F0502020204030204" pitchFamily="34" charset="0"/>
                  </a:rPr>
                  <a:t>Service </a:t>
                </a:r>
              </a:p>
            </p:txBody>
          </p:sp>
        </p:grp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7B4C0376-15AA-4897-7830-06608CD48E7E}"/>
                </a:ext>
              </a:extLst>
            </p:cNvPr>
            <p:cNvCxnSpPr>
              <a:cxnSpLocks/>
            </p:cNvCxnSpPr>
            <p:nvPr/>
          </p:nvCxnSpPr>
          <p:spPr>
            <a:xfrm>
              <a:off x="6492774" y="3712278"/>
              <a:ext cx="129950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Google Shape;55;p4">
              <a:extLst>
                <a:ext uri="{FF2B5EF4-FFF2-40B4-BE49-F238E27FC236}">
                  <a16:creationId xmlns:a16="http://schemas.microsoft.com/office/drawing/2014/main" id="{397C01CF-56E7-AAAF-4CC8-94B0152A8220}"/>
                </a:ext>
              </a:extLst>
            </p:cNvPr>
            <p:cNvSpPr txBox="1"/>
            <p:nvPr/>
          </p:nvSpPr>
          <p:spPr>
            <a:xfrm>
              <a:off x="7237071" y="3773320"/>
              <a:ext cx="508824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R="0" lvl="0" rtl="0">
                <a:spcBef>
                  <a:spcPts val="0"/>
                </a:spcBef>
                <a:spcAft>
                  <a:spcPts val="600"/>
                </a:spcAft>
              </a:pPr>
              <a:r>
                <a:rPr lang="en-US" sz="8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Subscribe </a:t>
              </a:r>
            </a:p>
          </p:txBody>
        </p:sp>
        <p:sp>
          <p:nvSpPr>
            <p:cNvPr id="50" name="Google Shape;55;p4">
              <a:extLst>
                <a:ext uri="{FF2B5EF4-FFF2-40B4-BE49-F238E27FC236}">
                  <a16:creationId xmlns:a16="http://schemas.microsoft.com/office/drawing/2014/main" id="{1EBE706B-0E49-2838-E7C5-E3EF1DB347B3}"/>
                </a:ext>
              </a:extLst>
            </p:cNvPr>
            <p:cNvSpPr txBox="1"/>
            <p:nvPr/>
          </p:nvSpPr>
          <p:spPr>
            <a:xfrm>
              <a:off x="7445694" y="3002057"/>
              <a:ext cx="508824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R="0" lvl="0" rtl="0">
                <a:spcBef>
                  <a:spcPts val="0"/>
                </a:spcBef>
                <a:spcAft>
                  <a:spcPts val="600"/>
                </a:spcAft>
              </a:pPr>
              <a:r>
                <a:rPr lang="en-US" sz="8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Publish  </a:t>
              </a:r>
            </a:p>
          </p:txBody>
        </p:sp>
        <p:sp>
          <p:nvSpPr>
            <p:cNvPr id="51" name="Recortar rectángulo de una esquina 50">
              <a:extLst>
                <a:ext uri="{FF2B5EF4-FFF2-40B4-BE49-F238E27FC236}">
                  <a16:creationId xmlns:a16="http://schemas.microsoft.com/office/drawing/2014/main" id="{C183B68E-CF07-734D-FD8E-C62D65129DBD}"/>
                </a:ext>
              </a:extLst>
            </p:cNvPr>
            <p:cNvSpPr/>
            <p:nvPr/>
          </p:nvSpPr>
          <p:spPr>
            <a:xfrm>
              <a:off x="7825408" y="3187144"/>
              <a:ext cx="742121" cy="689113"/>
            </a:xfrm>
            <a:prstGeom prst="snip1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900" dirty="0">
                  <a:latin typeface="Calibri" panose="020F0502020204030204" pitchFamily="34" charset="0"/>
                  <a:cs typeface="Calibri" panose="020F0502020204030204" pitchFamily="34" charset="0"/>
                </a:rPr>
                <a:t>Message Queue</a:t>
              </a:r>
            </a:p>
          </p:txBody>
        </p:sp>
        <p:sp>
          <p:nvSpPr>
            <p:cNvPr id="52" name="Cilindro 51">
              <a:extLst>
                <a:ext uri="{FF2B5EF4-FFF2-40B4-BE49-F238E27FC236}">
                  <a16:creationId xmlns:a16="http://schemas.microsoft.com/office/drawing/2014/main" id="{0A671916-5DB2-613A-CB89-418FDF101A0D}"/>
                </a:ext>
              </a:extLst>
            </p:cNvPr>
            <p:cNvSpPr/>
            <p:nvPr/>
          </p:nvSpPr>
          <p:spPr>
            <a:xfrm>
              <a:off x="4910608" y="4056484"/>
              <a:ext cx="580323" cy="543339"/>
            </a:xfrm>
            <a:prstGeom prst="can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100" dirty="0">
                  <a:latin typeface="Calibri" panose="020F0502020204030204" pitchFamily="34" charset="0"/>
                  <a:cs typeface="Calibri" panose="020F0502020204030204" pitchFamily="34" charset="0"/>
                </a:rPr>
                <a:t>SQL</a:t>
              </a:r>
            </a:p>
          </p:txBody>
        </p:sp>
        <p:sp>
          <p:nvSpPr>
            <p:cNvPr id="53" name="Cilindro 52">
              <a:extLst>
                <a:ext uri="{FF2B5EF4-FFF2-40B4-BE49-F238E27FC236}">
                  <a16:creationId xmlns:a16="http://schemas.microsoft.com/office/drawing/2014/main" id="{77A26678-C25A-F2CF-AABE-D72E2BC0FD17}"/>
                </a:ext>
              </a:extLst>
            </p:cNvPr>
            <p:cNvSpPr/>
            <p:nvPr/>
          </p:nvSpPr>
          <p:spPr>
            <a:xfrm>
              <a:off x="5819633" y="4056484"/>
              <a:ext cx="580323" cy="543339"/>
            </a:xfrm>
            <a:prstGeom prst="can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100" dirty="0">
                  <a:latin typeface="Calibri" panose="020F0502020204030204" pitchFamily="34" charset="0"/>
                  <a:cs typeface="Calibri" panose="020F0502020204030204" pitchFamily="34" charset="0"/>
                </a:rPr>
                <a:t>SQL</a:t>
              </a:r>
            </a:p>
          </p:txBody>
        </p:sp>
        <p:sp>
          <p:nvSpPr>
            <p:cNvPr id="54" name="Cilindro 53">
              <a:extLst>
                <a:ext uri="{FF2B5EF4-FFF2-40B4-BE49-F238E27FC236}">
                  <a16:creationId xmlns:a16="http://schemas.microsoft.com/office/drawing/2014/main" id="{06F8B69C-975D-3AB8-ACF7-B5446BA680EB}"/>
                </a:ext>
              </a:extLst>
            </p:cNvPr>
            <p:cNvSpPr/>
            <p:nvPr/>
          </p:nvSpPr>
          <p:spPr>
            <a:xfrm>
              <a:off x="6661988" y="4056484"/>
              <a:ext cx="580323" cy="543339"/>
            </a:xfrm>
            <a:prstGeom prst="can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100" dirty="0">
                  <a:latin typeface="Calibri" panose="020F0502020204030204" pitchFamily="34" charset="0"/>
                  <a:cs typeface="Calibri" panose="020F0502020204030204" pitchFamily="34" charset="0"/>
                </a:rPr>
                <a:t>NoSQL</a:t>
              </a: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72AA4638-384A-183D-C1C7-B29C4C0FD0C2}"/>
                </a:ext>
              </a:extLst>
            </p:cNvPr>
            <p:cNvSpPr/>
            <p:nvPr/>
          </p:nvSpPr>
          <p:spPr>
            <a:xfrm>
              <a:off x="4863549" y="2350402"/>
              <a:ext cx="2564296" cy="313013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100" b="1" dirty="0">
                  <a:latin typeface="Calibri" panose="020F0502020204030204" pitchFamily="34" charset="0"/>
                  <a:cs typeface="Calibri" panose="020F0502020204030204" pitchFamily="34" charset="0"/>
                </a:rPr>
                <a:t>API Gateway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 txBox="1"/>
          <p:nvPr/>
        </p:nvSpPr>
        <p:spPr>
          <a:xfrm>
            <a:off x="509342" y="921277"/>
            <a:ext cx="8166345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ESCALABILIDAD DE UNA ARQUITECTURA DE MICROSERVICIOS</a:t>
            </a:r>
            <a:endParaRPr sz="1600" b="1" dirty="0">
              <a:solidFill>
                <a:schemeClr val="tx1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sz="1600" i="1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Una arquitectura de microservicios coloca cada elemento de funcionalidad en un servicio separado…</a:t>
            </a:r>
          </a:p>
          <a:p>
            <a:pPr marL="177800" marR="0" lvl="0" indent="-1778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i="1" dirty="0">
              <a:solidFill>
                <a:schemeClr val="tx1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s-ES" sz="1600" i="1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… y escala distribuyendo estos servicios entre servidores, replicando según sea necesario.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88256F1B-F035-FC43-EBCD-F5CB2EE06894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ARQUITECTURA MICROSERVICIOS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07465B0-9EFC-346C-AC84-998E6E612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4230" y="2447598"/>
            <a:ext cx="4595539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/>
          <p:nvPr/>
        </p:nvSpPr>
        <p:spPr>
          <a:xfrm>
            <a:off x="509343" y="921277"/>
            <a:ext cx="80352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 CLAVE DE LA ARQUITECTURA DE MICROSERVICIOS</a:t>
            </a:r>
            <a:endParaRPr sz="1600"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4AD814A-65E8-2FAA-AC07-9E8D0CC25206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ARQUITECTURA MICROSERVICIOS 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5ECB0EB-0F56-81B9-674C-C67DD11B2779}"/>
              </a:ext>
            </a:extLst>
          </p:cNvPr>
          <p:cNvGrpSpPr/>
          <p:nvPr/>
        </p:nvGrpSpPr>
        <p:grpSpPr>
          <a:xfrm>
            <a:off x="961306" y="1585865"/>
            <a:ext cx="7016502" cy="2495597"/>
            <a:chOff x="961306" y="1837653"/>
            <a:chExt cx="7016502" cy="2495597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5FBDAAB3-521D-CDAA-4E8B-B29584FE7E2C}"/>
                </a:ext>
              </a:extLst>
            </p:cNvPr>
            <p:cNvGrpSpPr/>
            <p:nvPr/>
          </p:nvGrpSpPr>
          <p:grpSpPr>
            <a:xfrm>
              <a:off x="4538703" y="1837653"/>
              <a:ext cx="3439105" cy="2495597"/>
              <a:chOff x="3681756" y="1543608"/>
              <a:chExt cx="3439105" cy="2495597"/>
            </a:xfrm>
          </p:grpSpPr>
          <p:sp>
            <p:nvSpPr>
              <p:cNvPr id="14" name="Google Shape;333;p23">
                <a:extLst>
                  <a:ext uri="{FF2B5EF4-FFF2-40B4-BE49-F238E27FC236}">
                    <a16:creationId xmlns:a16="http://schemas.microsoft.com/office/drawing/2014/main" id="{BDE17229-960D-CF05-2E00-740CA5CE8CA8}"/>
                  </a:ext>
                </a:extLst>
              </p:cNvPr>
              <p:cNvSpPr/>
              <p:nvPr/>
            </p:nvSpPr>
            <p:spPr>
              <a:xfrm>
                <a:off x="3897522" y="1543608"/>
                <a:ext cx="3223339" cy="501005"/>
              </a:xfrm>
              <a:prstGeom prst="roundRect">
                <a:avLst>
                  <a:gd name="adj" fmla="val 18326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R="0" lvl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</a:pPr>
                <a:r>
                  <a:rPr lang="es-ES" sz="14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Independencia</a:t>
                </a:r>
              </a:p>
              <a:p>
                <a:pPr marR="0" lvl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</a:pPr>
                <a:r>
                  <a:rPr lang="es-ES" sz="14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 Despliegue</a:t>
                </a:r>
                <a:endParaRPr lang="es-E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Google Shape;335;p23">
                <a:extLst>
                  <a:ext uri="{FF2B5EF4-FFF2-40B4-BE49-F238E27FC236}">
                    <a16:creationId xmlns:a16="http://schemas.microsoft.com/office/drawing/2014/main" id="{4356563F-1936-2DD3-2B37-4E95E111D629}"/>
                  </a:ext>
                </a:extLst>
              </p:cNvPr>
              <p:cNvSpPr/>
              <p:nvPr/>
            </p:nvSpPr>
            <p:spPr>
              <a:xfrm>
                <a:off x="3897522" y="2118158"/>
                <a:ext cx="3223339" cy="1921047"/>
              </a:xfrm>
              <a:prstGeom prst="roundRect">
                <a:avLst>
                  <a:gd name="adj" fmla="val 2748"/>
                </a:avLst>
              </a:prstGeom>
              <a:solidFill>
                <a:srgbClr val="D1EFF4"/>
              </a:solidFill>
              <a:ln>
                <a:noFill/>
              </a:ln>
            </p:spPr>
            <p:txBody>
              <a:bodyPr spcFirstLastPara="1" wrap="square" lIns="108000" tIns="108000" rIns="108000" bIns="45700" anchor="t" anchorCtr="0">
                <a:noAutofit/>
              </a:bodyPr>
              <a:lstStyle/>
              <a:p>
                <a:pPr marL="222250" lvl="1" indent="-134938">
                  <a:spcAft>
                    <a:spcPts val="300"/>
                  </a:spcAft>
                  <a:buClr>
                    <a:schemeClr val="accent5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s-ES_tradnl" dirty="0">
                    <a:latin typeface="Calibri" panose="020F0502020204030204" pitchFamily="34" charset="0"/>
                    <a:ea typeface="+mj-lt"/>
                    <a:cs typeface="Calibri" panose="020F0502020204030204" pitchFamily="34" charset="0"/>
                    <a:sym typeface="Calibri"/>
                  </a:rPr>
                  <a:t>Los microservicios pueden desarrollarse, probarse, desplegarse y actualizarse de manera independiente sin afectar a otros servicios. Esto permite un ciclo de desarrollo más ágil y continuo.</a:t>
                </a:r>
              </a:p>
              <a:p>
                <a:pPr marL="222250" lvl="1" indent="-134938">
                  <a:spcAft>
                    <a:spcPts val="300"/>
                  </a:spcAft>
                  <a:buClr>
                    <a:schemeClr val="accent5"/>
                  </a:buClr>
                  <a:buSzPct val="100000"/>
                  <a:buFont typeface="Arial" panose="020B0604020202020204" pitchFamily="34" charset="0"/>
                  <a:buChar char="•"/>
                </a:pPr>
                <a:endParaRPr lang="es-ES_tradnl" dirty="0">
                  <a:latin typeface="Calibri" panose="020F0502020204030204" pitchFamily="34" charset="0"/>
                  <a:ea typeface="+mj-lt"/>
                  <a:cs typeface="Calibri" panose="020F0502020204030204" pitchFamily="34" charset="0"/>
                  <a:sym typeface="Calibri"/>
                </a:endParaRPr>
              </a:p>
            </p:txBody>
          </p:sp>
          <p:grpSp>
            <p:nvGrpSpPr>
              <p:cNvPr id="16" name="Agrupar 9">
                <a:extLst>
                  <a:ext uri="{FF2B5EF4-FFF2-40B4-BE49-F238E27FC236}">
                    <a16:creationId xmlns:a16="http://schemas.microsoft.com/office/drawing/2014/main" id="{DD9DAAA3-CC5A-A33C-E0C3-841D2D167496}"/>
                  </a:ext>
                </a:extLst>
              </p:cNvPr>
              <p:cNvGrpSpPr/>
              <p:nvPr/>
            </p:nvGrpSpPr>
            <p:grpSpPr>
              <a:xfrm>
                <a:off x="3681756" y="1592237"/>
                <a:ext cx="459474" cy="403823"/>
                <a:chOff x="5892512" y="2805541"/>
                <a:chExt cx="459474" cy="403823"/>
              </a:xfrm>
            </p:grpSpPr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33782DB5-5FDD-3AF8-87C4-489EAC938C6B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00869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8" name="Elipse 17">
                  <a:extLst>
                    <a:ext uri="{FF2B5EF4-FFF2-40B4-BE49-F238E27FC236}">
                      <a16:creationId xmlns:a16="http://schemas.microsoft.com/office/drawing/2014/main" id="{31DD47FF-B27C-F2F8-479C-324FDF6DB199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9" name="Triángulo 18">
                  <a:extLst>
                    <a:ext uri="{FF2B5EF4-FFF2-40B4-BE49-F238E27FC236}">
                      <a16:creationId xmlns:a16="http://schemas.microsoft.com/office/drawing/2014/main" id="{2BD3A333-F8F7-F814-8A4E-98B7727A8F38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3BFE4910-45BB-2A51-7F18-AAD17682B8C1}"/>
                </a:ext>
              </a:extLst>
            </p:cNvPr>
            <p:cNvGrpSpPr/>
            <p:nvPr/>
          </p:nvGrpSpPr>
          <p:grpSpPr>
            <a:xfrm>
              <a:off x="961306" y="1837653"/>
              <a:ext cx="3438254" cy="2495597"/>
              <a:chOff x="297001" y="1543608"/>
              <a:chExt cx="3438254" cy="2495597"/>
            </a:xfrm>
          </p:grpSpPr>
          <p:sp>
            <p:nvSpPr>
              <p:cNvPr id="8" name="Google Shape;332;p23">
                <a:extLst>
                  <a:ext uri="{FF2B5EF4-FFF2-40B4-BE49-F238E27FC236}">
                    <a16:creationId xmlns:a16="http://schemas.microsoft.com/office/drawing/2014/main" id="{1B062973-1591-FD4F-130F-69055659C9A4}"/>
                  </a:ext>
                </a:extLst>
              </p:cNvPr>
              <p:cNvSpPr/>
              <p:nvPr/>
            </p:nvSpPr>
            <p:spPr>
              <a:xfrm>
                <a:off x="511916" y="1543608"/>
                <a:ext cx="3223339" cy="501005"/>
              </a:xfrm>
              <a:prstGeom prst="roundRect">
                <a:avLst>
                  <a:gd name="adj" fmla="val 18326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R="0" lvl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</a:pPr>
                <a:r>
                  <a:rPr lang="es-ES" sz="1400" b="1" i="0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Descomposición</a:t>
                </a:r>
              </a:p>
              <a:p>
                <a:pPr marR="0" lvl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</a:pPr>
                <a:r>
                  <a:rPr lang="es-ES" sz="1400" b="1" i="0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 Servicios Pequeños</a:t>
                </a:r>
                <a:endParaRPr lang="es-E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Google Shape;334;p23">
                <a:extLst>
                  <a:ext uri="{FF2B5EF4-FFF2-40B4-BE49-F238E27FC236}">
                    <a16:creationId xmlns:a16="http://schemas.microsoft.com/office/drawing/2014/main" id="{BB203C43-942B-2D56-C119-492EFA380238}"/>
                  </a:ext>
                </a:extLst>
              </p:cNvPr>
              <p:cNvSpPr/>
              <p:nvPr/>
            </p:nvSpPr>
            <p:spPr>
              <a:xfrm>
                <a:off x="511916" y="2118158"/>
                <a:ext cx="3223339" cy="1921047"/>
              </a:xfrm>
              <a:prstGeom prst="roundRect">
                <a:avLst>
                  <a:gd name="adj" fmla="val 2748"/>
                </a:avLst>
              </a:prstGeom>
              <a:solidFill>
                <a:srgbClr val="D1EFF4"/>
              </a:solidFill>
              <a:ln>
                <a:noFill/>
              </a:ln>
            </p:spPr>
            <p:txBody>
              <a:bodyPr spcFirstLastPara="1" wrap="square" lIns="108000" tIns="108000" rIns="108000" bIns="45700" anchor="t" anchorCtr="0">
                <a:noAutofit/>
              </a:bodyPr>
              <a:lstStyle/>
              <a:p>
                <a:pPr marL="138113" lvl="1" indent="-128588" defTabSz="457200">
                  <a:spcAft>
                    <a:spcPts val="300"/>
                  </a:spcAft>
                  <a:buClr>
                    <a:schemeClr val="accent5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3228975" algn="l"/>
                  </a:tabLst>
                </a:pPr>
                <a:r>
                  <a:rPr lang="es-ES_tradnl" dirty="0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Cada microservicio se enfoca en una funcionalidad o módulo específico, como la gestión de usuarios, procesamiento de pagos, o gestión de inventarios. Esto permite a los equipos desarrollar, desplegar y escalar servicios de manera independiente.</a:t>
                </a:r>
              </a:p>
              <a:p>
                <a:pPr marL="138113" lvl="1" indent="-128588" defTabSz="457200">
                  <a:spcAft>
                    <a:spcPts val="300"/>
                  </a:spcAft>
                  <a:buClr>
                    <a:schemeClr val="accent5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3228975" algn="l"/>
                  </a:tabLst>
                </a:pPr>
                <a:endParaRPr lang="es-ES_tradnl" dirty="0">
                  <a:solidFill>
                    <a:srgbClr val="262626"/>
                  </a:solidFill>
                  <a:latin typeface="Calibri"/>
                  <a:ea typeface="+mn-ea"/>
                  <a:cs typeface="Calibri"/>
                  <a:sym typeface="Calibri"/>
                </a:endParaRPr>
              </a:p>
            </p:txBody>
          </p:sp>
          <p:grpSp>
            <p:nvGrpSpPr>
              <p:cNvPr id="10" name="Agrupar 4">
                <a:extLst>
                  <a:ext uri="{FF2B5EF4-FFF2-40B4-BE49-F238E27FC236}">
                    <a16:creationId xmlns:a16="http://schemas.microsoft.com/office/drawing/2014/main" id="{3D45042B-3D3B-E2E2-4939-2944CEE9AEF7}"/>
                  </a:ext>
                </a:extLst>
              </p:cNvPr>
              <p:cNvGrpSpPr/>
              <p:nvPr/>
            </p:nvGrpSpPr>
            <p:grpSpPr>
              <a:xfrm>
                <a:off x="297001" y="1592237"/>
                <a:ext cx="459474" cy="403823"/>
                <a:chOff x="5892512" y="2805541"/>
                <a:chExt cx="459474" cy="403823"/>
              </a:xfrm>
            </p:grpSpPr>
            <p:sp>
              <p:nvSpPr>
                <p:cNvPr id="11" name="Elipse 10">
                  <a:extLst>
                    <a:ext uri="{FF2B5EF4-FFF2-40B4-BE49-F238E27FC236}">
                      <a16:creationId xmlns:a16="http://schemas.microsoft.com/office/drawing/2014/main" id="{568CCD5F-7715-82CE-56F6-333749781A68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00869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2" name="Elipse 11">
                  <a:extLst>
                    <a:ext uri="{FF2B5EF4-FFF2-40B4-BE49-F238E27FC236}">
                      <a16:creationId xmlns:a16="http://schemas.microsoft.com/office/drawing/2014/main" id="{37A65369-9DEB-8338-E54C-BC990225B6DF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3" name="Triángulo 12">
                  <a:extLst>
                    <a:ext uri="{FF2B5EF4-FFF2-40B4-BE49-F238E27FC236}">
                      <a16:creationId xmlns:a16="http://schemas.microsoft.com/office/drawing/2014/main" id="{A35EFC61-E2A6-A8B6-730B-184FBC19427A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B902B5DE-2A12-EE34-F4C3-C2EA9366B88F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ARQUITECTURA MICROSERVICIOS </a:t>
            </a:r>
          </a:p>
        </p:txBody>
      </p:sp>
      <p:sp>
        <p:nvSpPr>
          <p:cNvPr id="3" name="Google Shape;88;p8">
            <a:extLst>
              <a:ext uri="{FF2B5EF4-FFF2-40B4-BE49-F238E27FC236}">
                <a16:creationId xmlns:a16="http://schemas.microsoft.com/office/drawing/2014/main" id="{64F36ACD-02A0-430D-4488-D64A08257B58}"/>
              </a:ext>
            </a:extLst>
          </p:cNvPr>
          <p:cNvSpPr txBox="1"/>
          <p:nvPr/>
        </p:nvSpPr>
        <p:spPr>
          <a:xfrm>
            <a:off x="509343" y="921277"/>
            <a:ext cx="80352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 CLAVE DE LA ARQUITECTURA DE MICROSERVICIOS</a:t>
            </a:r>
            <a:endParaRPr sz="1600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1E1B768B-3A06-2591-963B-968AD29A366B}"/>
              </a:ext>
            </a:extLst>
          </p:cNvPr>
          <p:cNvGrpSpPr/>
          <p:nvPr/>
        </p:nvGrpSpPr>
        <p:grpSpPr>
          <a:xfrm>
            <a:off x="961306" y="1585865"/>
            <a:ext cx="7016502" cy="2495598"/>
            <a:chOff x="961306" y="1837653"/>
            <a:chExt cx="7016502" cy="2495598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24B3011F-C3E7-280F-7B6B-0D21CCD8A59C}"/>
                </a:ext>
              </a:extLst>
            </p:cNvPr>
            <p:cNvGrpSpPr/>
            <p:nvPr/>
          </p:nvGrpSpPr>
          <p:grpSpPr>
            <a:xfrm>
              <a:off x="4538703" y="1837653"/>
              <a:ext cx="3439105" cy="2495598"/>
              <a:chOff x="3681756" y="1543608"/>
              <a:chExt cx="3439105" cy="2495598"/>
            </a:xfrm>
          </p:grpSpPr>
          <p:sp>
            <p:nvSpPr>
              <p:cNvPr id="13" name="Google Shape;333;p23">
                <a:extLst>
                  <a:ext uri="{FF2B5EF4-FFF2-40B4-BE49-F238E27FC236}">
                    <a16:creationId xmlns:a16="http://schemas.microsoft.com/office/drawing/2014/main" id="{06D6A1C0-1745-FE13-FBD0-27DE19EE4555}"/>
                  </a:ext>
                </a:extLst>
              </p:cNvPr>
              <p:cNvSpPr/>
              <p:nvPr/>
            </p:nvSpPr>
            <p:spPr>
              <a:xfrm>
                <a:off x="3897522" y="1543608"/>
                <a:ext cx="3223339" cy="501005"/>
              </a:xfrm>
              <a:prstGeom prst="roundRect">
                <a:avLst>
                  <a:gd name="adj" fmla="val 18326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11113" marR="0" lvl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</a:pPr>
                <a:r>
                  <a:rPr lang="es-ES" sz="14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Descentralización de Datos</a:t>
                </a:r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Google Shape;335;p23">
                <a:extLst>
                  <a:ext uri="{FF2B5EF4-FFF2-40B4-BE49-F238E27FC236}">
                    <a16:creationId xmlns:a16="http://schemas.microsoft.com/office/drawing/2014/main" id="{370C9D23-B77A-7F2B-6CDD-923525DEB4B6}"/>
                  </a:ext>
                </a:extLst>
              </p:cNvPr>
              <p:cNvSpPr/>
              <p:nvPr/>
            </p:nvSpPr>
            <p:spPr>
              <a:xfrm>
                <a:off x="3897522" y="2118159"/>
                <a:ext cx="3223339" cy="1921047"/>
              </a:xfrm>
              <a:prstGeom prst="roundRect">
                <a:avLst>
                  <a:gd name="adj" fmla="val 2748"/>
                </a:avLst>
              </a:prstGeom>
              <a:solidFill>
                <a:srgbClr val="D1EFF4"/>
              </a:solidFill>
              <a:ln>
                <a:noFill/>
              </a:ln>
            </p:spPr>
            <p:txBody>
              <a:bodyPr spcFirstLastPara="1" wrap="square" lIns="108000" tIns="108000" rIns="108000" bIns="45700" anchor="t" anchorCtr="0">
                <a:noAutofit/>
              </a:bodyPr>
              <a:lstStyle/>
              <a:p>
                <a:pPr marL="222250" lvl="1" indent="-134938">
                  <a:spcAft>
                    <a:spcPts val="300"/>
                  </a:spcAft>
                  <a:buClr>
                    <a:schemeClr val="accent5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s-ES_tradnl" dirty="0">
                    <a:latin typeface="Calibri" panose="020F0502020204030204" pitchFamily="34" charset="0"/>
                    <a:ea typeface="+mj-lt"/>
                    <a:cs typeface="Calibri" panose="020F0502020204030204" pitchFamily="34" charset="0"/>
                    <a:sym typeface="Calibri"/>
                  </a:rPr>
                  <a:t>Cada microservicio puede tener su propia base de datos o almacenamiento, lo que reduce la dependencia de un modelo de datos compartido y permite la optimización de la persistencia según las necesidades del servicio.</a:t>
                </a:r>
              </a:p>
              <a:p>
                <a:pPr marL="222250" lvl="1" indent="-134938">
                  <a:spcAft>
                    <a:spcPts val="300"/>
                  </a:spcAft>
                  <a:buClr>
                    <a:schemeClr val="accent5"/>
                  </a:buClr>
                  <a:buSzPct val="100000"/>
                  <a:buFont typeface="Arial" panose="020B0604020202020204" pitchFamily="34" charset="0"/>
                  <a:buChar char="•"/>
                </a:pPr>
                <a:endParaRPr lang="es-ES_tradnl" dirty="0">
                  <a:latin typeface="Calibri" panose="020F0502020204030204" pitchFamily="34" charset="0"/>
                  <a:ea typeface="+mj-lt"/>
                  <a:cs typeface="Calibri" panose="020F0502020204030204" pitchFamily="34" charset="0"/>
                  <a:sym typeface="Calibri"/>
                </a:endParaRPr>
              </a:p>
            </p:txBody>
          </p:sp>
          <p:grpSp>
            <p:nvGrpSpPr>
              <p:cNvPr id="15" name="Agrupar 9">
                <a:extLst>
                  <a:ext uri="{FF2B5EF4-FFF2-40B4-BE49-F238E27FC236}">
                    <a16:creationId xmlns:a16="http://schemas.microsoft.com/office/drawing/2014/main" id="{C68E6A3D-8934-5D9D-9AB6-6BC39E76664C}"/>
                  </a:ext>
                </a:extLst>
              </p:cNvPr>
              <p:cNvGrpSpPr/>
              <p:nvPr/>
            </p:nvGrpSpPr>
            <p:grpSpPr>
              <a:xfrm>
                <a:off x="3681756" y="1592237"/>
                <a:ext cx="459474" cy="403823"/>
                <a:chOff x="5892512" y="2805541"/>
                <a:chExt cx="459474" cy="403823"/>
              </a:xfrm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370A8BAB-79EC-CC60-BE2D-9D57D76D3650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00869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D1BC011A-D1FB-5F69-1A9B-52AB9AC3B46C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8" name="Triángulo 17">
                  <a:extLst>
                    <a:ext uri="{FF2B5EF4-FFF2-40B4-BE49-F238E27FC236}">
                      <a16:creationId xmlns:a16="http://schemas.microsoft.com/office/drawing/2014/main" id="{C2B5EF8A-847E-8448-A44A-B2190619C4D9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12980A1-06AE-F7C2-4A30-6409A8047248}"/>
                </a:ext>
              </a:extLst>
            </p:cNvPr>
            <p:cNvGrpSpPr/>
            <p:nvPr/>
          </p:nvGrpSpPr>
          <p:grpSpPr>
            <a:xfrm>
              <a:off x="961306" y="1837653"/>
              <a:ext cx="3438254" cy="2495598"/>
              <a:chOff x="297001" y="1543608"/>
              <a:chExt cx="3438254" cy="2495598"/>
            </a:xfrm>
          </p:grpSpPr>
          <p:sp>
            <p:nvSpPr>
              <p:cNvPr id="7" name="Google Shape;332;p23">
                <a:extLst>
                  <a:ext uri="{FF2B5EF4-FFF2-40B4-BE49-F238E27FC236}">
                    <a16:creationId xmlns:a16="http://schemas.microsoft.com/office/drawing/2014/main" id="{93A7BEF2-4509-F514-E3F7-CEF4FAC0F64A}"/>
                  </a:ext>
                </a:extLst>
              </p:cNvPr>
              <p:cNvSpPr/>
              <p:nvPr/>
            </p:nvSpPr>
            <p:spPr>
              <a:xfrm>
                <a:off x="511916" y="1543608"/>
                <a:ext cx="3223339" cy="501005"/>
              </a:xfrm>
              <a:prstGeom prst="roundRect">
                <a:avLst>
                  <a:gd name="adj" fmla="val 18326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11113" marR="0" lvl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</a:pPr>
                <a:r>
                  <a:rPr lang="es-ES" sz="1400" b="1" i="0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Comunicación Basada en </a:t>
                </a:r>
                <a:r>
                  <a:rPr lang="es-ES" sz="1400" b="1" i="0" dirty="0" err="1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APIs</a:t>
                </a:r>
                <a:endParaRPr lang="es-ES" sz="1400" b="1" i="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" name="Google Shape;334;p23">
                <a:extLst>
                  <a:ext uri="{FF2B5EF4-FFF2-40B4-BE49-F238E27FC236}">
                    <a16:creationId xmlns:a16="http://schemas.microsoft.com/office/drawing/2014/main" id="{C91FE82F-FA25-9E91-C543-0645F0D46BC9}"/>
                  </a:ext>
                </a:extLst>
              </p:cNvPr>
              <p:cNvSpPr/>
              <p:nvPr/>
            </p:nvSpPr>
            <p:spPr>
              <a:xfrm>
                <a:off x="511916" y="2118159"/>
                <a:ext cx="3223339" cy="1921047"/>
              </a:xfrm>
              <a:prstGeom prst="roundRect">
                <a:avLst>
                  <a:gd name="adj" fmla="val 2748"/>
                </a:avLst>
              </a:prstGeom>
              <a:solidFill>
                <a:srgbClr val="D1EFF4"/>
              </a:solidFill>
              <a:ln>
                <a:noFill/>
              </a:ln>
            </p:spPr>
            <p:txBody>
              <a:bodyPr spcFirstLastPara="1" wrap="square" lIns="108000" tIns="108000" rIns="108000" bIns="45700" anchor="t" anchorCtr="0">
                <a:noAutofit/>
              </a:bodyPr>
              <a:lstStyle/>
              <a:p>
                <a:pPr marL="138113" lvl="1" indent="-128588" defTabSz="457200">
                  <a:spcAft>
                    <a:spcPts val="300"/>
                  </a:spcAft>
                  <a:buClr>
                    <a:schemeClr val="accent5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3228975" algn="l"/>
                  </a:tabLst>
                </a:pPr>
                <a:r>
                  <a:rPr lang="es-ES_tradnl" dirty="0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Los microservicios se comunican entre sí a través de </a:t>
                </a:r>
                <a:r>
                  <a:rPr lang="es-ES_tradnl" dirty="0" err="1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APIs</a:t>
                </a:r>
                <a:r>
                  <a:rPr lang="es-ES_tradnl" dirty="0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, generalmente usando protocolos ligeros como HTTP/REST o mensajería asíncrona a través de colas de mensajes o sistemas de </a:t>
                </a:r>
                <a:r>
                  <a:rPr lang="es-ES_tradnl" dirty="0" err="1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streaming</a:t>
                </a:r>
                <a:r>
                  <a:rPr lang="es-ES_tradnl" dirty="0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 como </a:t>
                </a:r>
                <a:r>
                  <a:rPr lang="es-ES_tradnl" dirty="0" err="1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RabbitMQ</a:t>
                </a:r>
                <a:r>
                  <a:rPr lang="es-ES_tradnl" dirty="0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 o Apache Kafka.</a:t>
                </a:r>
              </a:p>
              <a:p>
                <a:pPr marL="138113" lvl="1" indent="-128588" defTabSz="457200">
                  <a:spcAft>
                    <a:spcPts val="300"/>
                  </a:spcAft>
                  <a:buClr>
                    <a:schemeClr val="accent5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3228975" algn="l"/>
                  </a:tabLst>
                </a:pPr>
                <a:endParaRPr lang="es-ES_tradnl" dirty="0">
                  <a:solidFill>
                    <a:srgbClr val="262626"/>
                  </a:solidFill>
                  <a:latin typeface="Calibri"/>
                  <a:ea typeface="+mn-ea"/>
                  <a:cs typeface="Calibri"/>
                  <a:sym typeface="Calibri"/>
                </a:endParaRPr>
              </a:p>
            </p:txBody>
          </p:sp>
          <p:grpSp>
            <p:nvGrpSpPr>
              <p:cNvPr id="9" name="Agrupar 4">
                <a:extLst>
                  <a:ext uri="{FF2B5EF4-FFF2-40B4-BE49-F238E27FC236}">
                    <a16:creationId xmlns:a16="http://schemas.microsoft.com/office/drawing/2014/main" id="{6F355887-301C-AC2B-85AD-62BDC05C1204}"/>
                  </a:ext>
                </a:extLst>
              </p:cNvPr>
              <p:cNvGrpSpPr/>
              <p:nvPr/>
            </p:nvGrpSpPr>
            <p:grpSpPr>
              <a:xfrm>
                <a:off x="297001" y="1592237"/>
                <a:ext cx="459474" cy="403823"/>
                <a:chOff x="5892512" y="2805541"/>
                <a:chExt cx="459474" cy="403823"/>
              </a:xfrm>
            </p:grpSpPr>
            <p:sp>
              <p:nvSpPr>
                <p:cNvPr id="10" name="Elipse 9">
                  <a:extLst>
                    <a:ext uri="{FF2B5EF4-FFF2-40B4-BE49-F238E27FC236}">
                      <a16:creationId xmlns:a16="http://schemas.microsoft.com/office/drawing/2014/main" id="{5C1556DB-FF98-C1CF-30F3-173C655EA859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00869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1" name="Elipse 10">
                  <a:extLst>
                    <a:ext uri="{FF2B5EF4-FFF2-40B4-BE49-F238E27FC236}">
                      <a16:creationId xmlns:a16="http://schemas.microsoft.com/office/drawing/2014/main" id="{9AEF42D5-820E-4385-76F8-163F92601462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2" name="Triángulo 11">
                  <a:extLst>
                    <a:ext uri="{FF2B5EF4-FFF2-40B4-BE49-F238E27FC236}">
                      <a16:creationId xmlns:a16="http://schemas.microsoft.com/office/drawing/2014/main" id="{5874032A-C5D8-6B1F-0E7A-E1AF336A6274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8A14A2E-1299-17E8-A7A2-B697CA3ED117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ARQUITECTURA MICROSERVICIOS </a:t>
            </a:r>
          </a:p>
        </p:txBody>
      </p:sp>
      <p:sp>
        <p:nvSpPr>
          <p:cNvPr id="3" name="Google Shape;88;p8">
            <a:extLst>
              <a:ext uri="{FF2B5EF4-FFF2-40B4-BE49-F238E27FC236}">
                <a16:creationId xmlns:a16="http://schemas.microsoft.com/office/drawing/2014/main" id="{44F32581-51D1-7E52-63D5-91C7C1EEABE5}"/>
              </a:ext>
            </a:extLst>
          </p:cNvPr>
          <p:cNvSpPr txBox="1"/>
          <p:nvPr/>
        </p:nvSpPr>
        <p:spPr>
          <a:xfrm>
            <a:off x="509343" y="921277"/>
            <a:ext cx="80352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 CLAVE DE LA ARQUITECTURA DE MICROSERVICIOS</a:t>
            </a:r>
            <a:endParaRPr sz="1600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2A617D9-9ABE-33F1-B1D7-D998A816A281}"/>
              </a:ext>
            </a:extLst>
          </p:cNvPr>
          <p:cNvGrpSpPr/>
          <p:nvPr/>
        </p:nvGrpSpPr>
        <p:grpSpPr>
          <a:xfrm>
            <a:off x="961306" y="1585865"/>
            <a:ext cx="7016502" cy="2495598"/>
            <a:chOff x="961306" y="1837653"/>
            <a:chExt cx="7016502" cy="2495598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9EACBB35-870B-BB31-B78B-C06C46041363}"/>
                </a:ext>
              </a:extLst>
            </p:cNvPr>
            <p:cNvGrpSpPr/>
            <p:nvPr/>
          </p:nvGrpSpPr>
          <p:grpSpPr>
            <a:xfrm>
              <a:off x="4538703" y="1837653"/>
              <a:ext cx="3439105" cy="2495598"/>
              <a:chOff x="3681756" y="1543608"/>
              <a:chExt cx="3439105" cy="2495598"/>
            </a:xfrm>
          </p:grpSpPr>
          <p:sp>
            <p:nvSpPr>
              <p:cNvPr id="13" name="Google Shape;333;p23">
                <a:extLst>
                  <a:ext uri="{FF2B5EF4-FFF2-40B4-BE49-F238E27FC236}">
                    <a16:creationId xmlns:a16="http://schemas.microsoft.com/office/drawing/2014/main" id="{AC767D41-0717-E512-F282-9AB8F3EFAE44}"/>
                  </a:ext>
                </a:extLst>
              </p:cNvPr>
              <p:cNvSpPr/>
              <p:nvPr/>
            </p:nvSpPr>
            <p:spPr>
              <a:xfrm>
                <a:off x="3897522" y="1543608"/>
                <a:ext cx="3223339" cy="501005"/>
              </a:xfrm>
              <a:prstGeom prst="roundRect">
                <a:avLst>
                  <a:gd name="adj" fmla="val 18326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11113" marR="0" lvl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</a:pPr>
                <a:r>
                  <a:rPr lang="es-ES" sz="14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Propiedad de los Servicios</a:t>
                </a:r>
              </a:p>
              <a:p>
                <a:pPr marL="11113" marR="0" lvl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</a:pPr>
                <a:r>
                  <a:rPr lang="es-ES" sz="14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por Equipos Pequeños</a:t>
                </a:r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Google Shape;335;p23">
                <a:extLst>
                  <a:ext uri="{FF2B5EF4-FFF2-40B4-BE49-F238E27FC236}">
                    <a16:creationId xmlns:a16="http://schemas.microsoft.com/office/drawing/2014/main" id="{440A2219-A01C-28B6-F6F9-29E151FACA0B}"/>
                  </a:ext>
                </a:extLst>
              </p:cNvPr>
              <p:cNvSpPr/>
              <p:nvPr/>
            </p:nvSpPr>
            <p:spPr>
              <a:xfrm>
                <a:off x="3897522" y="2118159"/>
                <a:ext cx="3223339" cy="1921047"/>
              </a:xfrm>
              <a:prstGeom prst="roundRect">
                <a:avLst>
                  <a:gd name="adj" fmla="val 2748"/>
                </a:avLst>
              </a:prstGeom>
              <a:solidFill>
                <a:srgbClr val="D1EFF4"/>
              </a:solidFill>
              <a:ln>
                <a:noFill/>
              </a:ln>
            </p:spPr>
            <p:txBody>
              <a:bodyPr spcFirstLastPara="1" wrap="square" lIns="108000" tIns="108000" rIns="108000" bIns="45700" anchor="t" anchorCtr="0">
                <a:noAutofit/>
              </a:bodyPr>
              <a:lstStyle/>
              <a:p>
                <a:pPr marL="222250" lvl="1" indent="-134938">
                  <a:spcAft>
                    <a:spcPts val="300"/>
                  </a:spcAft>
                  <a:buClr>
                    <a:schemeClr val="accent5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es-ES_tradnl" dirty="0">
                    <a:latin typeface="Calibri" panose="020F0502020204030204" pitchFamily="34" charset="0"/>
                    <a:ea typeface="+mj-lt"/>
                    <a:cs typeface="Calibri" panose="020F0502020204030204" pitchFamily="34" charset="0"/>
                    <a:sym typeface="Calibri"/>
                  </a:rPr>
                  <a:t>Cada equipo es responsable de uno o más microservicios, lo que mejora la propiedad del código y la responsabilidad en todo el ciclo de vida del software.</a:t>
                </a:r>
              </a:p>
              <a:p>
                <a:pPr marL="222250" lvl="1" indent="-134938">
                  <a:spcAft>
                    <a:spcPts val="300"/>
                  </a:spcAft>
                  <a:buClr>
                    <a:schemeClr val="accent5"/>
                  </a:buClr>
                  <a:buSzPct val="100000"/>
                  <a:buFont typeface="Arial" panose="020B0604020202020204" pitchFamily="34" charset="0"/>
                  <a:buChar char="•"/>
                </a:pPr>
                <a:endParaRPr lang="es-ES_tradnl" dirty="0">
                  <a:latin typeface="Calibri" panose="020F0502020204030204" pitchFamily="34" charset="0"/>
                  <a:ea typeface="+mj-lt"/>
                  <a:cs typeface="Calibri" panose="020F0502020204030204" pitchFamily="34" charset="0"/>
                  <a:sym typeface="Calibri"/>
                </a:endParaRPr>
              </a:p>
            </p:txBody>
          </p:sp>
          <p:grpSp>
            <p:nvGrpSpPr>
              <p:cNvPr id="15" name="Agrupar 9">
                <a:extLst>
                  <a:ext uri="{FF2B5EF4-FFF2-40B4-BE49-F238E27FC236}">
                    <a16:creationId xmlns:a16="http://schemas.microsoft.com/office/drawing/2014/main" id="{70E76CFA-440C-C704-2A23-CF1B0B7A8F2D}"/>
                  </a:ext>
                </a:extLst>
              </p:cNvPr>
              <p:cNvGrpSpPr/>
              <p:nvPr/>
            </p:nvGrpSpPr>
            <p:grpSpPr>
              <a:xfrm>
                <a:off x="3681756" y="1592237"/>
                <a:ext cx="459474" cy="403823"/>
                <a:chOff x="5892512" y="2805541"/>
                <a:chExt cx="459474" cy="403823"/>
              </a:xfrm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1CE37EFB-1C45-8647-EE09-73E30FC02E00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00869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EFA503C7-FF2F-7547-6D3B-619EF8FECB2F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8" name="Triángulo 17">
                  <a:extLst>
                    <a:ext uri="{FF2B5EF4-FFF2-40B4-BE49-F238E27FC236}">
                      <a16:creationId xmlns:a16="http://schemas.microsoft.com/office/drawing/2014/main" id="{E8963DE0-35DB-0D24-E04B-46C3A196DE2E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2A2C60A-DD56-11BA-0E4B-73811487F005}"/>
                </a:ext>
              </a:extLst>
            </p:cNvPr>
            <p:cNvGrpSpPr/>
            <p:nvPr/>
          </p:nvGrpSpPr>
          <p:grpSpPr>
            <a:xfrm>
              <a:off x="961306" y="1837653"/>
              <a:ext cx="3438254" cy="2495598"/>
              <a:chOff x="297001" y="1543608"/>
              <a:chExt cx="3438254" cy="2495598"/>
            </a:xfrm>
          </p:grpSpPr>
          <p:sp>
            <p:nvSpPr>
              <p:cNvPr id="7" name="Google Shape;332;p23">
                <a:extLst>
                  <a:ext uri="{FF2B5EF4-FFF2-40B4-BE49-F238E27FC236}">
                    <a16:creationId xmlns:a16="http://schemas.microsoft.com/office/drawing/2014/main" id="{E686ECC2-B34E-DB16-6A2D-439842691C4D}"/>
                  </a:ext>
                </a:extLst>
              </p:cNvPr>
              <p:cNvSpPr/>
              <p:nvPr/>
            </p:nvSpPr>
            <p:spPr>
              <a:xfrm>
                <a:off x="511916" y="1543608"/>
                <a:ext cx="3223339" cy="501005"/>
              </a:xfrm>
              <a:prstGeom prst="roundRect">
                <a:avLst>
                  <a:gd name="adj" fmla="val 18326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11113" marR="0" lvl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</a:pPr>
                <a:r>
                  <a:rPr lang="es-ES" sz="1400" b="1" i="0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Resiliencia y Escalabilidad</a:t>
                </a:r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Google Shape;334;p23">
                <a:extLst>
                  <a:ext uri="{FF2B5EF4-FFF2-40B4-BE49-F238E27FC236}">
                    <a16:creationId xmlns:a16="http://schemas.microsoft.com/office/drawing/2014/main" id="{93100E6A-3E71-22C0-688C-0716F0D363EB}"/>
                  </a:ext>
                </a:extLst>
              </p:cNvPr>
              <p:cNvSpPr/>
              <p:nvPr/>
            </p:nvSpPr>
            <p:spPr>
              <a:xfrm>
                <a:off x="511916" y="2118159"/>
                <a:ext cx="3223339" cy="1921047"/>
              </a:xfrm>
              <a:prstGeom prst="roundRect">
                <a:avLst>
                  <a:gd name="adj" fmla="val 2748"/>
                </a:avLst>
              </a:prstGeom>
              <a:solidFill>
                <a:srgbClr val="D1EFF4"/>
              </a:solidFill>
              <a:ln>
                <a:noFill/>
              </a:ln>
            </p:spPr>
            <p:txBody>
              <a:bodyPr spcFirstLastPara="1" wrap="square" lIns="108000" tIns="108000" rIns="108000" bIns="45700" anchor="t" anchorCtr="0">
                <a:noAutofit/>
              </a:bodyPr>
              <a:lstStyle/>
              <a:p>
                <a:pPr marL="138113" lvl="1" indent="-128588" defTabSz="457200">
                  <a:spcAft>
                    <a:spcPts val="300"/>
                  </a:spcAft>
                  <a:buClr>
                    <a:schemeClr val="accent5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3228975" algn="l"/>
                  </a:tabLst>
                </a:pPr>
                <a:r>
                  <a:rPr lang="es-ES_tradnl" dirty="0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Los microservicios pueden diseñarse para manejar fallos mediante técnicas como el "</a:t>
                </a:r>
                <a:r>
                  <a:rPr lang="es-ES_tradnl" dirty="0" err="1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circuit</a:t>
                </a:r>
                <a:r>
                  <a:rPr lang="es-ES_tradnl" dirty="0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 breaker" o la replicación de servicios. </a:t>
                </a:r>
              </a:p>
              <a:p>
                <a:pPr marL="138113" lvl="1" indent="-128588" defTabSz="457200">
                  <a:spcAft>
                    <a:spcPts val="300"/>
                  </a:spcAft>
                  <a:buClr>
                    <a:schemeClr val="accent5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3228975" algn="l"/>
                  </a:tabLst>
                </a:pPr>
                <a:r>
                  <a:rPr lang="es-ES_tradnl" dirty="0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Además, pueden escalarse de manera independiente para satisfacer demandas específicas.</a:t>
                </a:r>
              </a:p>
              <a:p>
                <a:pPr marL="138113" lvl="1" indent="-128588" defTabSz="457200">
                  <a:spcAft>
                    <a:spcPts val="300"/>
                  </a:spcAft>
                  <a:buClr>
                    <a:schemeClr val="accent5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3228975" algn="l"/>
                  </a:tabLst>
                </a:pPr>
                <a:endParaRPr lang="es-ES_tradnl" dirty="0">
                  <a:solidFill>
                    <a:srgbClr val="262626"/>
                  </a:solidFill>
                  <a:latin typeface="Calibri"/>
                  <a:ea typeface="+mn-ea"/>
                  <a:cs typeface="Calibri"/>
                  <a:sym typeface="Calibri"/>
                </a:endParaRPr>
              </a:p>
            </p:txBody>
          </p:sp>
          <p:grpSp>
            <p:nvGrpSpPr>
              <p:cNvPr id="9" name="Agrupar 4">
                <a:extLst>
                  <a:ext uri="{FF2B5EF4-FFF2-40B4-BE49-F238E27FC236}">
                    <a16:creationId xmlns:a16="http://schemas.microsoft.com/office/drawing/2014/main" id="{EA3F245E-CA8E-8D71-C558-BF0275EB8F86}"/>
                  </a:ext>
                </a:extLst>
              </p:cNvPr>
              <p:cNvGrpSpPr/>
              <p:nvPr/>
            </p:nvGrpSpPr>
            <p:grpSpPr>
              <a:xfrm>
                <a:off x="297001" y="1592237"/>
                <a:ext cx="459474" cy="403823"/>
                <a:chOff x="5892512" y="2805541"/>
                <a:chExt cx="459474" cy="403823"/>
              </a:xfrm>
            </p:grpSpPr>
            <p:sp>
              <p:nvSpPr>
                <p:cNvPr id="10" name="Elipse 9">
                  <a:extLst>
                    <a:ext uri="{FF2B5EF4-FFF2-40B4-BE49-F238E27FC236}">
                      <a16:creationId xmlns:a16="http://schemas.microsoft.com/office/drawing/2014/main" id="{2538AD87-0C3B-2A5D-3711-2EFA58CC1D98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00869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1" name="Elipse 10">
                  <a:extLst>
                    <a:ext uri="{FF2B5EF4-FFF2-40B4-BE49-F238E27FC236}">
                      <a16:creationId xmlns:a16="http://schemas.microsoft.com/office/drawing/2014/main" id="{5E3C75FB-C138-7E22-1DF2-38D25CD44045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2" name="Triángulo 11">
                  <a:extLst>
                    <a:ext uri="{FF2B5EF4-FFF2-40B4-BE49-F238E27FC236}">
                      <a16:creationId xmlns:a16="http://schemas.microsoft.com/office/drawing/2014/main" id="{FD73461D-7D75-44CF-56DE-6DCB6FC2E374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EAA9F84-688A-4E5E-BFB7-A3352A77B1C2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ARQUITECTURA MICROSERVICIOS </a:t>
            </a:r>
          </a:p>
        </p:txBody>
      </p:sp>
      <p:sp>
        <p:nvSpPr>
          <p:cNvPr id="4" name="Google Shape;88;p8">
            <a:extLst>
              <a:ext uri="{FF2B5EF4-FFF2-40B4-BE49-F238E27FC236}">
                <a16:creationId xmlns:a16="http://schemas.microsoft.com/office/drawing/2014/main" id="{99D5DF2C-7BCD-60D8-1B6A-C8AFD8AFA6A8}"/>
              </a:ext>
            </a:extLst>
          </p:cNvPr>
          <p:cNvSpPr txBox="1"/>
          <p:nvPr/>
        </p:nvSpPr>
        <p:spPr>
          <a:xfrm>
            <a:off x="509343" y="921277"/>
            <a:ext cx="80352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E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VENTAJAS DE LA ARQUITECTURA DE MICROSERVICIOS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61EDBF0F-4D79-5050-0919-D71AC8DA9885}"/>
              </a:ext>
            </a:extLst>
          </p:cNvPr>
          <p:cNvGrpSpPr/>
          <p:nvPr/>
        </p:nvGrpSpPr>
        <p:grpSpPr>
          <a:xfrm>
            <a:off x="323131" y="1681115"/>
            <a:ext cx="8360941" cy="2195560"/>
            <a:chOff x="323131" y="1681115"/>
            <a:chExt cx="8360941" cy="2195560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A2936DD2-AFC5-29D7-F63B-3073CCD58E43}"/>
                </a:ext>
              </a:extLst>
            </p:cNvPr>
            <p:cNvGrpSpPr/>
            <p:nvPr/>
          </p:nvGrpSpPr>
          <p:grpSpPr>
            <a:xfrm>
              <a:off x="3122117" y="1681115"/>
              <a:ext cx="2762970" cy="2195560"/>
              <a:chOff x="297001" y="1543608"/>
              <a:chExt cx="2762970" cy="2195560"/>
            </a:xfrm>
          </p:grpSpPr>
          <p:sp>
            <p:nvSpPr>
              <p:cNvPr id="13" name="Google Shape;332;p23">
                <a:extLst>
                  <a:ext uri="{FF2B5EF4-FFF2-40B4-BE49-F238E27FC236}">
                    <a16:creationId xmlns:a16="http://schemas.microsoft.com/office/drawing/2014/main" id="{84A4870E-C49B-7C47-1330-51D88862906B}"/>
                  </a:ext>
                </a:extLst>
              </p:cNvPr>
              <p:cNvSpPr/>
              <p:nvPr/>
            </p:nvSpPr>
            <p:spPr>
              <a:xfrm>
                <a:off x="511917" y="1543608"/>
                <a:ext cx="2548054" cy="501005"/>
              </a:xfrm>
              <a:prstGeom prst="roundRect">
                <a:avLst>
                  <a:gd name="adj" fmla="val 18326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11113" marR="0" lvl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</a:pPr>
                <a:r>
                  <a:rPr lang="es-ES" sz="14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Desarrollo Ágil y</a:t>
                </a:r>
              </a:p>
              <a:p>
                <a:pPr marL="11113" marR="0" lvl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</a:pPr>
                <a:r>
                  <a:rPr lang="es-ES" sz="14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Despliegue Continuo</a:t>
                </a:r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Google Shape;334;p23">
                <a:extLst>
                  <a:ext uri="{FF2B5EF4-FFF2-40B4-BE49-F238E27FC236}">
                    <a16:creationId xmlns:a16="http://schemas.microsoft.com/office/drawing/2014/main" id="{A9EA7E20-FDC2-3AC5-B01E-B275D6149C7B}"/>
                  </a:ext>
                </a:extLst>
              </p:cNvPr>
              <p:cNvSpPr/>
              <p:nvPr/>
            </p:nvSpPr>
            <p:spPr>
              <a:xfrm>
                <a:off x="511917" y="2118159"/>
                <a:ext cx="2548054" cy="1621009"/>
              </a:xfrm>
              <a:prstGeom prst="roundRect">
                <a:avLst>
                  <a:gd name="adj" fmla="val 2748"/>
                </a:avLst>
              </a:prstGeom>
              <a:solidFill>
                <a:srgbClr val="DDEEC7"/>
              </a:solidFill>
              <a:ln>
                <a:noFill/>
              </a:ln>
            </p:spPr>
            <p:txBody>
              <a:bodyPr spcFirstLastPara="1" wrap="square" lIns="108000" tIns="108000" rIns="108000" bIns="45700" anchor="t" anchorCtr="0">
                <a:noAutofit/>
              </a:bodyPr>
              <a:lstStyle/>
              <a:p>
                <a:pPr marL="138113" lvl="1" indent="-128588" defTabSz="457200">
                  <a:spcAft>
                    <a:spcPts val="300"/>
                  </a:spcAft>
                  <a:buClr>
                    <a:schemeClr val="accent3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3228975" algn="l"/>
                  </a:tabLst>
                </a:pPr>
                <a:r>
                  <a:rPr lang="es-ES_tradnl" dirty="0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Los equipos pueden trabajar en diferentes microservicios de forma paralela, acelerando el tiempo de desarrollo y permitiendo entregas continuas.</a:t>
                </a:r>
              </a:p>
            </p:txBody>
          </p:sp>
          <p:grpSp>
            <p:nvGrpSpPr>
              <p:cNvPr id="15" name="Agrupar 4">
                <a:extLst>
                  <a:ext uri="{FF2B5EF4-FFF2-40B4-BE49-F238E27FC236}">
                    <a16:creationId xmlns:a16="http://schemas.microsoft.com/office/drawing/2014/main" id="{BEEE8AA0-4C95-DA9C-3A97-A44E045478FC}"/>
                  </a:ext>
                </a:extLst>
              </p:cNvPr>
              <p:cNvGrpSpPr/>
              <p:nvPr/>
            </p:nvGrpSpPr>
            <p:grpSpPr>
              <a:xfrm>
                <a:off x="297001" y="1592237"/>
                <a:ext cx="459474" cy="403823"/>
                <a:chOff x="5892512" y="2805541"/>
                <a:chExt cx="459474" cy="403823"/>
              </a:xfrm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98F051B6-C6AD-66F2-15FB-BAA525A2D427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72983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7DC8BAEC-D3DD-B017-D6AC-3269816D6F41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8" name="Triángulo 17">
                  <a:extLst>
                    <a:ext uri="{FF2B5EF4-FFF2-40B4-BE49-F238E27FC236}">
                      <a16:creationId xmlns:a16="http://schemas.microsoft.com/office/drawing/2014/main" id="{A8D7881E-8D1F-421C-6F34-0939D58C4757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13BF02C4-DEF6-F2BB-B20C-FAEE362DC41E}"/>
                </a:ext>
              </a:extLst>
            </p:cNvPr>
            <p:cNvGrpSpPr/>
            <p:nvPr/>
          </p:nvGrpSpPr>
          <p:grpSpPr>
            <a:xfrm>
              <a:off x="323131" y="1681115"/>
              <a:ext cx="2762970" cy="2195560"/>
              <a:chOff x="297001" y="1543608"/>
              <a:chExt cx="2762970" cy="2195560"/>
            </a:xfrm>
          </p:grpSpPr>
          <p:sp>
            <p:nvSpPr>
              <p:cNvPr id="6" name="Google Shape;332;p23">
                <a:extLst>
                  <a:ext uri="{FF2B5EF4-FFF2-40B4-BE49-F238E27FC236}">
                    <a16:creationId xmlns:a16="http://schemas.microsoft.com/office/drawing/2014/main" id="{94C39E89-42F3-99D1-47DC-8622E0D19A90}"/>
                  </a:ext>
                </a:extLst>
              </p:cNvPr>
              <p:cNvSpPr/>
              <p:nvPr/>
            </p:nvSpPr>
            <p:spPr>
              <a:xfrm>
                <a:off x="511917" y="1543608"/>
                <a:ext cx="2548054" cy="501005"/>
              </a:xfrm>
              <a:prstGeom prst="roundRect">
                <a:avLst>
                  <a:gd name="adj" fmla="val 18326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11113" marR="0" lvl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</a:pPr>
                <a:r>
                  <a:rPr lang="es-PE" sz="1400" b="1" i="0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Escalabilidad</a:t>
                </a:r>
              </a:p>
              <a:p>
                <a:pPr marL="11113" marR="0" lvl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</a:pPr>
                <a:r>
                  <a:rPr lang="es-PE" sz="1400" b="1" i="0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Independiente</a:t>
                </a:r>
                <a:endParaRPr lang="es-PE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Google Shape;334;p23">
                <a:extLst>
                  <a:ext uri="{FF2B5EF4-FFF2-40B4-BE49-F238E27FC236}">
                    <a16:creationId xmlns:a16="http://schemas.microsoft.com/office/drawing/2014/main" id="{0A1EB138-62D5-38EE-3F15-D61DF1B87E57}"/>
                  </a:ext>
                </a:extLst>
              </p:cNvPr>
              <p:cNvSpPr/>
              <p:nvPr/>
            </p:nvSpPr>
            <p:spPr>
              <a:xfrm>
                <a:off x="511917" y="2118159"/>
                <a:ext cx="2548054" cy="1621009"/>
              </a:xfrm>
              <a:prstGeom prst="roundRect">
                <a:avLst>
                  <a:gd name="adj" fmla="val 2748"/>
                </a:avLst>
              </a:prstGeom>
              <a:solidFill>
                <a:srgbClr val="DDEEC7"/>
              </a:solidFill>
              <a:ln>
                <a:noFill/>
              </a:ln>
            </p:spPr>
            <p:txBody>
              <a:bodyPr spcFirstLastPara="1" wrap="square" lIns="108000" tIns="108000" rIns="108000" bIns="45700" anchor="t" anchorCtr="0">
                <a:noAutofit/>
              </a:bodyPr>
              <a:lstStyle/>
              <a:p>
                <a:pPr marL="138113" lvl="1" indent="-128588" defTabSz="457200">
                  <a:spcAft>
                    <a:spcPts val="300"/>
                  </a:spcAft>
                  <a:buClr>
                    <a:schemeClr val="accent3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3228975" algn="l"/>
                  </a:tabLst>
                </a:pPr>
                <a:r>
                  <a:rPr lang="es-ES_tradnl" dirty="0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Los microservicios permiten escalar solo aquellas partes de la aplicación que lo requieren, optimizando el uso de recursos.</a:t>
                </a:r>
              </a:p>
              <a:p>
                <a:pPr marL="9525" lvl="1" defTabSz="457200">
                  <a:spcAft>
                    <a:spcPts val="300"/>
                  </a:spcAft>
                  <a:buClr>
                    <a:schemeClr val="accent3"/>
                  </a:buClr>
                  <a:buSzPct val="100000"/>
                  <a:tabLst>
                    <a:tab pos="3228975" algn="l"/>
                  </a:tabLst>
                </a:pPr>
                <a:endParaRPr lang="es-ES_tradnl" dirty="0">
                  <a:solidFill>
                    <a:srgbClr val="262626"/>
                  </a:solidFill>
                  <a:latin typeface="Calibri"/>
                  <a:ea typeface="+mn-ea"/>
                  <a:cs typeface="Calibri"/>
                  <a:sym typeface="Calibri"/>
                </a:endParaRPr>
              </a:p>
            </p:txBody>
          </p:sp>
          <p:grpSp>
            <p:nvGrpSpPr>
              <p:cNvPr id="8" name="Agrupar 4">
                <a:extLst>
                  <a:ext uri="{FF2B5EF4-FFF2-40B4-BE49-F238E27FC236}">
                    <a16:creationId xmlns:a16="http://schemas.microsoft.com/office/drawing/2014/main" id="{64168F87-555D-609F-CDAA-0AA49452D39F}"/>
                  </a:ext>
                </a:extLst>
              </p:cNvPr>
              <p:cNvGrpSpPr/>
              <p:nvPr/>
            </p:nvGrpSpPr>
            <p:grpSpPr>
              <a:xfrm>
                <a:off x="297001" y="1592237"/>
                <a:ext cx="459474" cy="403823"/>
                <a:chOff x="5892512" y="2805541"/>
                <a:chExt cx="459474" cy="403823"/>
              </a:xfrm>
            </p:grpSpPr>
            <p:sp>
              <p:nvSpPr>
                <p:cNvPr id="9" name="Elipse 8">
                  <a:extLst>
                    <a:ext uri="{FF2B5EF4-FFF2-40B4-BE49-F238E27FC236}">
                      <a16:creationId xmlns:a16="http://schemas.microsoft.com/office/drawing/2014/main" id="{80D3094B-A01B-1AC2-692A-AD11F67DE17E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72983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0" name="Elipse 9">
                  <a:extLst>
                    <a:ext uri="{FF2B5EF4-FFF2-40B4-BE49-F238E27FC236}">
                      <a16:creationId xmlns:a16="http://schemas.microsoft.com/office/drawing/2014/main" id="{1B55D04D-2D99-BAC7-ACB6-2AF2BF7F33C6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1" name="Triángulo 10">
                  <a:extLst>
                    <a:ext uri="{FF2B5EF4-FFF2-40B4-BE49-F238E27FC236}">
                      <a16:creationId xmlns:a16="http://schemas.microsoft.com/office/drawing/2014/main" id="{223573D5-E492-DD19-9F54-88B9C4381460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E670DB19-69A8-A7BB-3C89-AA65B6F60D77}"/>
                </a:ext>
              </a:extLst>
            </p:cNvPr>
            <p:cNvGrpSpPr/>
            <p:nvPr/>
          </p:nvGrpSpPr>
          <p:grpSpPr>
            <a:xfrm>
              <a:off x="5921102" y="1681115"/>
              <a:ext cx="2762970" cy="2195560"/>
              <a:chOff x="297001" y="1543608"/>
              <a:chExt cx="2762970" cy="2195560"/>
            </a:xfrm>
          </p:grpSpPr>
          <p:sp>
            <p:nvSpPr>
              <p:cNvPr id="20" name="Google Shape;332;p23">
                <a:extLst>
                  <a:ext uri="{FF2B5EF4-FFF2-40B4-BE49-F238E27FC236}">
                    <a16:creationId xmlns:a16="http://schemas.microsoft.com/office/drawing/2014/main" id="{F8624AE6-A5B0-931A-13E9-EF984DD14FBF}"/>
                  </a:ext>
                </a:extLst>
              </p:cNvPr>
              <p:cNvSpPr/>
              <p:nvPr/>
            </p:nvSpPr>
            <p:spPr>
              <a:xfrm>
                <a:off x="511917" y="1543608"/>
                <a:ext cx="2548054" cy="501005"/>
              </a:xfrm>
              <a:prstGeom prst="roundRect">
                <a:avLst>
                  <a:gd name="adj" fmla="val 18326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11113" marR="0" lvl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</a:pPr>
                <a:r>
                  <a:rPr lang="es-ES" sz="14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Flexibilidad</a:t>
                </a:r>
              </a:p>
              <a:p>
                <a:pPr marL="11113" marR="0" lvl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</a:pPr>
                <a:r>
                  <a:rPr lang="es-ES" sz="1400" b="1" dirty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Tecnológica</a:t>
                </a:r>
                <a:endParaRPr lang="es-E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Google Shape;334;p23">
                <a:extLst>
                  <a:ext uri="{FF2B5EF4-FFF2-40B4-BE49-F238E27FC236}">
                    <a16:creationId xmlns:a16="http://schemas.microsoft.com/office/drawing/2014/main" id="{9A61061E-21F2-2C36-DACE-3CE8B26B5238}"/>
                  </a:ext>
                </a:extLst>
              </p:cNvPr>
              <p:cNvSpPr/>
              <p:nvPr/>
            </p:nvSpPr>
            <p:spPr>
              <a:xfrm>
                <a:off x="511917" y="2118159"/>
                <a:ext cx="2548054" cy="1621009"/>
              </a:xfrm>
              <a:prstGeom prst="roundRect">
                <a:avLst>
                  <a:gd name="adj" fmla="val 2748"/>
                </a:avLst>
              </a:prstGeom>
              <a:solidFill>
                <a:srgbClr val="DDEEC7"/>
              </a:solidFill>
              <a:ln>
                <a:noFill/>
              </a:ln>
            </p:spPr>
            <p:txBody>
              <a:bodyPr spcFirstLastPara="1" wrap="square" lIns="108000" tIns="108000" rIns="108000" bIns="45700" anchor="t" anchorCtr="0">
                <a:noAutofit/>
              </a:bodyPr>
              <a:lstStyle/>
              <a:p>
                <a:pPr marL="138113" lvl="1" indent="-128588" defTabSz="457200">
                  <a:spcAft>
                    <a:spcPts val="300"/>
                  </a:spcAft>
                  <a:buClr>
                    <a:schemeClr val="accent3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3228975" algn="l"/>
                  </a:tabLst>
                </a:pPr>
                <a:r>
                  <a:rPr lang="es-ES_tradnl" dirty="0">
                    <a:solidFill>
                      <a:srgbClr val="262626"/>
                    </a:solidFill>
                    <a:latin typeface="Calibri"/>
                    <a:ea typeface="+mn-ea"/>
                    <a:cs typeface="Calibri"/>
                    <a:sym typeface="Calibri"/>
                  </a:rPr>
                  <a:t>Los microservicios permiten el uso de diferentes tecnologías, lenguajes de programación y bases de datos para cada servicio, según sea más adecuado.</a:t>
                </a:r>
              </a:p>
              <a:p>
                <a:pPr marL="138113" lvl="1" indent="-128588" defTabSz="457200">
                  <a:spcAft>
                    <a:spcPts val="300"/>
                  </a:spcAft>
                  <a:buClr>
                    <a:schemeClr val="accent3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3228975" algn="l"/>
                  </a:tabLst>
                </a:pPr>
                <a:endParaRPr lang="es-ES_tradnl" dirty="0">
                  <a:solidFill>
                    <a:srgbClr val="262626"/>
                  </a:solidFill>
                  <a:latin typeface="Calibri"/>
                  <a:ea typeface="+mn-ea"/>
                  <a:cs typeface="Calibri"/>
                  <a:sym typeface="Calibri"/>
                </a:endParaRPr>
              </a:p>
            </p:txBody>
          </p:sp>
          <p:grpSp>
            <p:nvGrpSpPr>
              <p:cNvPr id="22" name="Agrupar 4">
                <a:extLst>
                  <a:ext uri="{FF2B5EF4-FFF2-40B4-BE49-F238E27FC236}">
                    <a16:creationId xmlns:a16="http://schemas.microsoft.com/office/drawing/2014/main" id="{92DFBE55-D8F6-E1DB-4F13-AFEC2197B456}"/>
                  </a:ext>
                </a:extLst>
              </p:cNvPr>
              <p:cNvGrpSpPr/>
              <p:nvPr/>
            </p:nvGrpSpPr>
            <p:grpSpPr>
              <a:xfrm>
                <a:off x="297001" y="1592237"/>
                <a:ext cx="459474" cy="403823"/>
                <a:chOff x="5892512" y="2805541"/>
                <a:chExt cx="459474" cy="403823"/>
              </a:xfrm>
            </p:grpSpPr>
            <p:sp>
              <p:nvSpPr>
                <p:cNvPr id="23" name="Elipse 22">
                  <a:extLst>
                    <a:ext uri="{FF2B5EF4-FFF2-40B4-BE49-F238E27FC236}">
                      <a16:creationId xmlns:a16="http://schemas.microsoft.com/office/drawing/2014/main" id="{17CFE8AD-1A45-AD29-DF16-A89447F4DF19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72983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24" name="Elipse 23">
                  <a:extLst>
                    <a:ext uri="{FF2B5EF4-FFF2-40B4-BE49-F238E27FC236}">
                      <a16:creationId xmlns:a16="http://schemas.microsoft.com/office/drawing/2014/main" id="{00512504-3EE9-2D97-71C5-81218594FFD6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25" name="Triángulo 24">
                  <a:extLst>
                    <a:ext uri="{FF2B5EF4-FFF2-40B4-BE49-F238E27FC236}">
                      <a16:creationId xmlns:a16="http://schemas.microsoft.com/office/drawing/2014/main" id="{38864D8C-7077-7A6D-9E27-F78E31D1DB0E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B4E2FEC4-884A-E5E2-47D1-28F6C7CB6E2E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ARQUITECTURA MICROSERVICIOS </a:t>
            </a:r>
          </a:p>
        </p:txBody>
      </p:sp>
      <p:sp>
        <p:nvSpPr>
          <p:cNvPr id="5" name="Google Shape;88;p8">
            <a:extLst>
              <a:ext uri="{FF2B5EF4-FFF2-40B4-BE49-F238E27FC236}">
                <a16:creationId xmlns:a16="http://schemas.microsoft.com/office/drawing/2014/main" id="{E4727B77-C713-18AD-1622-14BFC18ED991}"/>
              </a:ext>
            </a:extLst>
          </p:cNvPr>
          <p:cNvSpPr txBox="1"/>
          <p:nvPr/>
        </p:nvSpPr>
        <p:spPr>
          <a:xfrm>
            <a:off x="509343" y="921277"/>
            <a:ext cx="80352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E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VENTAJAS DE LA ARQUITECTURA DE MICROSERVICIOS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A185B87-A627-FE56-1E6B-38434537FB65}"/>
              </a:ext>
            </a:extLst>
          </p:cNvPr>
          <p:cNvGrpSpPr/>
          <p:nvPr/>
        </p:nvGrpSpPr>
        <p:grpSpPr>
          <a:xfrm>
            <a:off x="4538703" y="1678629"/>
            <a:ext cx="3439105" cy="2062210"/>
            <a:chOff x="3681756" y="1543608"/>
            <a:chExt cx="3439105" cy="2062210"/>
          </a:xfrm>
        </p:grpSpPr>
        <p:sp>
          <p:nvSpPr>
            <p:cNvPr id="15" name="Google Shape;333;p23">
              <a:extLst>
                <a:ext uri="{FF2B5EF4-FFF2-40B4-BE49-F238E27FC236}">
                  <a16:creationId xmlns:a16="http://schemas.microsoft.com/office/drawing/2014/main" id="{0D512852-C2EF-BC3C-B106-A6DECB27F035}"/>
                </a:ext>
              </a:extLst>
            </p:cNvPr>
            <p:cNvSpPr/>
            <p:nvPr/>
          </p:nvSpPr>
          <p:spPr>
            <a:xfrm>
              <a:off x="3897522" y="1543608"/>
              <a:ext cx="3223339" cy="501005"/>
            </a:xfrm>
            <a:prstGeom prst="roundRect">
              <a:avLst>
                <a:gd name="adj" fmla="val 18326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1113" marR="0" lvl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400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Mantenimiento y</a:t>
              </a:r>
            </a:p>
            <a:p>
              <a:pPr marL="11113" marR="0" lvl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400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Evolución Sencillos</a:t>
              </a:r>
              <a:endParaRPr lang="es-ES" sz="1600" dirty="0">
                <a:solidFill>
                  <a:schemeClr val="bg1"/>
                </a:solidFill>
              </a:endParaRPr>
            </a:p>
          </p:txBody>
        </p:sp>
        <p:sp>
          <p:nvSpPr>
            <p:cNvPr id="16" name="Google Shape;335;p23">
              <a:extLst>
                <a:ext uri="{FF2B5EF4-FFF2-40B4-BE49-F238E27FC236}">
                  <a16:creationId xmlns:a16="http://schemas.microsoft.com/office/drawing/2014/main" id="{4411D207-8C2B-7E27-F01B-56A05232B94E}"/>
                </a:ext>
              </a:extLst>
            </p:cNvPr>
            <p:cNvSpPr/>
            <p:nvPr/>
          </p:nvSpPr>
          <p:spPr>
            <a:xfrm>
              <a:off x="3897522" y="2118159"/>
              <a:ext cx="3223339" cy="1487659"/>
            </a:xfrm>
            <a:prstGeom prst="roundRect">
              <a:avLst>
                <a:gd name="adj" fmla="val 2748"/>
              </a:avLst>
            </a:prstGeom>
            <a:solidFill>
              <a:srgbClr val="DDEEC7"/>
            </a:solidFill>
            <a:ln>
              <a:noFill/>
            </a:ln>
          </p:spPr>
          <p:txBody>
            <a:bodyPr spcFirstLastPara="1" wrap="square" lIns="108000" tIns="108000" rIns="108000" bIns="45700" anchor="t" anchorCtr="0">
              <a:noAutofit/>
            </a:bodyPr>
            <a:lstStyle/>
            <a:p>
              <a:pPr marL="222250" lvl="1" indent="-134938">
                <a:spcAft>
                  <a:spcPts val="300"/>
                </a:spcAft>
                <a:buClr>
                  <a:schemeClr val="accent3"/>
                </a:buClr>
                <a:buSzPct val="100000"/>
                <a:buFont typeface="Arial" panose="020B0604020202020204" pitchFamily="34" charset="0"/>
                <a:buChar char="•"/>
              </a:pPr>
              <a:r>
                <a:rPr lang="es-ES_tradnl" dirty="0">
                  <a:latin typeface="Calibri" panose="020F0502020204030204" pitchFamily="34" charset="0"/>
                  <a:ea typeface="+mj-lt"/>
                  <a:cs typeface="Calibri" panose="020F0502020204030204" pitchFamily="34" charset="0"/>
                  <a:sym typeface="Calibri"/>
                </a:rPr>
                <a:t>Los microservicios son más fáciles de mantener, actualizar y reemplazar debido a su menor tamaño y enfoque en una única funcionalidad.</a:t>
              </a:r>
            </a:p>
            <a:p>
              <a:pPr marL="222250" lvl="1" indent="-134938">
                <a:spcAft>
                  <a:spcPts val="300"/>
                </a:spcAft>
                <a:buClr>
                  <a:schemeClr val="accent3"/>
                </a:buClr>
                <a:buSzPct val="100000"/>
                <a:buFont typeface="Arial" panose="020B0604020202020204" pitchFamily="34" charset="0"/>
                <a:buChar char="•"/>
              </a:pPr>
              <a:endParaRPr lang="es-ES_tradnl" dirty="0">
                <a:latin typeface="Calibri" panose="020F0502020204030204" pitchFamily="34" charset="0"/>
                <a:ea typeface="+mj-lt"/>
                <a:cs typeface="Calibri" panose="020F0502020204030204" pitchFamily="34" charset="0"/>
                <a:sym typeface="Calibri"/>
              </a:endParaRPr>
            </a:p>
          </p:txBody>
        </p:sp>
        <p:grpSp>
          <p:nvGrpSpPr>
            <p:cNvPr id="17" name="Agrupar 9">
              <a:extLst>
                <a:ext uri="{FF2B5EF4-FFF2-40B4-BE49-F238E27FC236}">
                  <a16:creationId xmlns:a16="http://schemas.microsoft.com/office/drawing/2014/main" id="{AC45C411-A509-AC7F-9F78-2108883ED819}"/>
                </a:ext>
              </a:extLst>
            </p:cNvPr>
            <p:cNvGrpSpPr/>
            <p:nvPr/>
          </p:nvGrpSpPr>
          <p:grpSpPr>
            <a:xfrm>
              <a:off x="3681756" y="1592237"/>
              <a:ext cx="459474" cy="403823"/>
              <a:chOff x="5892512" y="2805541"/>
              <a:chExt cx="459474" cy="403823"/>
            </a:xfrm>
          </p:grpSpPr>
          <p:sp>
            <p:nvSpPr>
              <p:cNvPr id="18" name="Elipse 17">
                <a:extLst>
                  <a:ext uri="{FF2B5EF4-FFF2-40B4-BE49-F238E27FC236}">
                    <a16:creationId xmlns:a16="http://schemas.microsoft.com/office/drawing/2014/main" id="{9B558EA8-F42F-F1A4-2690-E9E0A4243684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7298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17180AB6-4584-E829-250C-DAAEDC95C4AB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0" name="Triángulo 19">
                <a:extLst>
                  <a:ext uri="{FF2B5EF4-FFF2-40B4-BE49-F238E27FC236}">
                    <a16:creationId xmlns:a16="http://schemas.microsoft.com/office/drawing/2014/main" id="{96F6C72B-C24B-AB81-3CAD-9C5CA20DCAD7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6AE52072-2550-1879-076B-CC1C507680F2}"/>
              </a:ext>
            </a:extLst>
          </p:cNvPr>
          <p:cNvGrpSpPr/>
          <p:nvPr/>
        </p:nvGrpSpPr>
        <p:grpSpPr>
          <a:xfrm>
            <a:off x="961306" y="1678629"/>
            <a:ext cx="3438254" cy="2062210"/>
            <a:chOff x="297001" y="1543608"/>
            <a:chExt cx="3438254" cy="2062210"/>
          </a:xfrm>
        </p:grpSpPr>
        <p:sp>
          <p:nvSpPr>
            <p:cNvPr id="9" name="Google Shape;332;p23">
              <a:extLst>
                <a:ext uri="{FF2B5EF4-FFF2-40B4-BE49-F238E27FC236}">
                  <a16:creationId xmlns:a16="http://schemas.microsoft.com/office/drawing/2014/main" id="{ACAEFB55-4658-653B-F14D-B953BD42301B}"/>
                </a:ext>
              </a:extLst>
            </p:cNvPr>
            <p:cNvSpPr/>
            <p:nvPr/>
          </p:nvSpPr>
          <p:spPr>
            <a:xfrm>
              <a:off x="511916" y="1543608"/>
              <a:ext cx="3223339" cy="501005"/>
            </a:xfrm>
            <a:prstGeom prst="roundRect">
              <a:avLst>
                <a:gd name="adj" fmla="val 18326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1113" marR="0" lvl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400" b="1" i="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Resiliencia Mejorada</a:t>
              </a:r>
              <a:endParaRPr lang="es-ES" sz="1600" dirty="0">
                <a:solidFill>
                  <a:schemeClr val="bg1"/>
                </a:solidFill>
              </a:endParaRPr>
            </a:p>
          </p:txBody>
        </p:sp>
        <p:sp>
          <p:nvSpPr>
            <p:cNvPr id="10" name="Google Shape;334;p23">
              <a:extLst>
                <a:ext uri="{FF2B5EF4-FFF2-40B4-BE49-F238E27FC236}">
                  <a16:creationId xmlns:a16="http://schemas.microsoft.com/office/drawing/2014/main" id="{2C0B7822-6E86-9E70-5246-D78E3E2116A0}"/>
                </a:ext>
              </a:extLst>
            </p:cNvPr>
            <p:cNvSpPr/>
            <p:nvPr/>
          </p:nvSpPr>
          <p:spPr>
            <a:xfrm>
              <a:off x="511916" y="2118159"/>
              <a:ext cx="3223339" cy="1487659"/>
            </a:xfrm>
            <a:prstGeom prst="roundRect">
              <a:avLst>
                <a:gd name="adj" fmla="val 2748"/>
              </a:avLst>
            </a:prstGeom>
            <a:solidFill>
              <a:srgbClr val="DDEEC7"/>
            </a:solidFill>
            <a:ln>
              <a:noFill/>
            </a:ln>
          </p:spPr>
          <p:txBody>
            <a:bodyPr spcFirstLastPara="1" wrap="square" lIns="108000" tIns="108000" rIns="108000" bIns="45700" anchor="t" anchorCtr="0">
              <a:noAutofit/>
            </a:bodyPr>
            <a:lstStyle/>
            <a:p>
              <a:pPr marL="138113" lvl="1" indent="-128588" defTabSz="457200">
                <a:spcAft>
                  <a:spcPts val="300"/>
                </a:spcAft>
                <a:buClr>
                  <a:schemeClr val="accent3"/>
                </a:buClr>
                <a:buSzPct val="100000"/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r>
                <a:rPr lang="es-ES_tradnl" dirty="0">
                  <a:solidFill>
                    <a:srgbClr val="262626"/>
                  </a:solidFill>
                  <a:latin typeface="Calibri"/>
                  <a:ea typeface="+mn-ea"/>
                  <a:cs typeface="Calibri"/>
                  <a:sym typeface="Calibri"/>
                </a:rPr>
                <a:t>Un fallo en un microservicio no necesariamente afecta a toda la aplicación, lo que mejora la disponibilidad y confiabilidad del sistema.</a:t>
              </a:r>
            </a:p>
            <a:p>
              <a:pPr marL="138113" lvl="1" indent="-128588" defTabSz="457200">
                <a:spcAft>
                  <a:spcPts val="300"/>
                </a:spcAft>
                <a:buClr>
                  <a:schemeClr val="accent3"/>
                </a:buClr>
                <a:buSzPct val="100000"/>
                <a:buFont typeface="Arial" panose="020B0604020202020204" pitchFamily="34" charset="0"/>
                <a:buChar char="•"/>
                <a:tabLst>
                  <a:tab pos="3228975" algn="l"/>
                </a:tabLst>
              </a:pPr>
              <a:endParaRPr lang="es-ES_tradnl" dirty="0">
                <a:solidFill>
                  <a:srgbClr val="262626"/>
                </a:solidFill>
                <a:latin typeface="Calibri"/>
                <a:ea typeface="+mn-ea"/>
                <a:cs typeface="Calibri"/>
                <a:sym typeface="Calibri"/>
              </a:endParaRPr>
            </a:p>
          </p:txBody>
        </p:sp>
        <p:grpSp>
          <p:nvGrpSpPr>
            <p:cNvPr id="11" name="Agrupar 4">
              <a:extLst>
                <a:ext uri="{FF2B5EF4-FFF2-40B4-BE49-F238E27FC236}">
                  <a16:creationId xmlns:a16="http://schemas.microsoft.com/office/drawing/2014/main" id="{4325BFBE-9905-1049-9875-395159E0ACA7}"/>
                </a:ext>
              </a:extLst>
            </p:cNvPr>
            <p:cNvGrpSpPr/>
            <p:nvPr/>
          </p:nvGrpSpPr>
          <p:grpSpPr>
            <a:xfrm>
              <a:off x="297001" y="1592237"/>
              <a:ext cx="459474" cy="403823"/>
              <a:chOff x="5892512" y="2805541"/>
              <a:chExt cx="459474" cy="403823"/>
            </a:xfrm>
          </p:grpSpPr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9620B1DA-F4B0-4A2C-FC3C-8955C5F6A6FA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7298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37250BA0-113C-A247-6F9E-885D71167FD9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4" name="Triángulo 13">
                <a:extLst>
                  <a:ext uri="{FF2B5EF4-FFF2-40B4-BE49-F238E27FC236}">
                    <a16:creationId xmlns:a16="http://schemas.microsoft.com/office/drawing/2014/main" id="{4C2BE75F-3E8F-96FC-3977-9E077F1DB6D9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4100650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SPRING PARA </a:t>
            </a: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  <a:ea typeface="Graphik Regular" charset="0"/>
                <a:cs typeface="Graphik Regular" charset="0"/>
              </a:rPr>
              <a:t>MICROSERVICIOS</a:t>
            </a:r>
            <a:endParaRPr lang="es-ES" sz="1600" b="1" dirty="0">
              <a:solidFill>
                <a:schemeClr val="bg1"/>
              </a:solidFill>
              <a:latin typeface="Graphik Bold" panose="020B0503030202060203" pitchFamily="34" charset="77"/>
              <a:cs typeface="Calibri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900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/>
        </p:nvSpPr>
        <p:spPr>
          <a:xfrm>
            <a:off x="509342" y="921277"/>
            <a:ext cx="8166345" cy="204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SPRING FRAMEWORK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Spring Framework es una de las herramientas más populares y eficaces para construir microservicios debido a su modularidad, escalabilidad y el ecosistema robusto que ofrece. </a:t>
            </a:r>
            <a:endParaRPr sz="1600" dirty="0">
              <a:solidFill>
                <a:schemeClr val="tx1"/>
              </a:solidFill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El enfoque de microservicios implica descomponer aplicaciones monolíticas en servicios pequeños, independientes y autónomos, cada uno de los cuales cumple con una funcionalidad específica del negocio. Spring Framework, junto con Spring </a:t>
            </a:r>
            <a:r>
              <a:rPr lang="es-ES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Boot</a:t>
            </a:r>
            <a:r>
              <a:rPr lang="es-ES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y Spring Cloud, proporciona un conjunto completo de herramientas para desarrollar, desplegar y gestionar microservicios.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0BE94029-120C-FC3E-D1BF-45DB087D19A8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SPRING PARA MICROSERVICIOS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C82A1A-5A97-CE81-B284-60669A585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452" y="3458232"/>
            <a:ext cx="5168348" cy="13284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/>
        </p:nvSpPr>
        <p:spPr>
          <a:xfrm>
            <a:off x="509342" y="921277"/>
            <a:ext cx="79057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COMPONENTES CLAVES DE SPRING PARA MICROSERVICIOS</a:t>
            </a:r>
            <a:endParaRPr sz="1600" b="0" i="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D2125797-5BA4-FCFC-B8D4-D9D56BA360A3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SPRING PARA MICROSERVICIOS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DC0AF514-1169-09EA-76EB-CCE2FFAFACFC}"/>
              </a:ext>
            </a:extLst>
          </p:cNvPr>
          <p:cNvGrpSpPr/>
          <p:nvPr/>
        </p:nvGrpSpPr>
        <p:grpSpPr>
          <a:xfrm>
            <a:off x="360135" y="1448560"/>
            <a:ext cx="2267178" cy="338009"/>
            <a:chOff x="328697" y="912813"/>
            <a:chExt cx="2711938" cy="404317"/>
          </a:xfrm>
        </p:grpSpPr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46FA87B7-8BF9-D56B-AAE1-0FA07BCA9670}"/>
                </a:ext>
              </a:extLst>
            </p:cNvPr>
            <p:cNvSpPr/>
            <p:nvPr/>
          </p:nvSpPr>
          <p:spPr>
            <a:xfrm>
              <a:off x="503237" y="912813"/>
              <a:ext cx="2537398" cy="404317"/>
            </a:xfrm>
            <a:prstGeom prst="roundRect">
              <a:avLst>
                <a:gd name="adj" fmla="val 1879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>
                <a:buClr>
                  <a:srgbClr val="374151"/>
                </a:buClr>
                <a:buSzPts val="1600"/>
              </a:pPr>
              <a:r>
                <a:rPr lang="es-PE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1</a:t>
              </a:r>
              <a:r>
                <a:rPr lang="es-PE" b="1" i="0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. </a:t>
              </a:r>
              <a:r>
                <a:rPr lang="es-E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Spring </a:t>
              </a:r>
              <a:r>
                <a:rPr lang="es-ES" sz="1400" b="1" dirty="0" err="1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Boot</a:t>
              </a:r>
              <a:endParaRPr lang="es-ES" sz="1400" b="1" i="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  <p:grpSp>
          <p:nvGrpSpPr>
            <p:cNvPr id="7" name="Agrupar 14">
              <a:extLst>
                <a:ext uri="{FF2B5EF4-FFF2-40B4-BE49-F238E27FC236}">
                  <a16:creationId xmlns:a16="http://schemas.microsoft.com/office/drawing/2014/main" id="{7192C12A-6B2D-DB8A-0406-2CC2BF792348}"/>
                </a:ext>
              </a:extLst>
            </p:cNvPr>
            <p:cNvGrpSpPr/>
            <p:nvPr/>
          </p:nvGrpSpPr>
          <p:grpSpPr>
            <a:xfrm>
              <a:off x="328697" y="951828"/>
              <a:ext cx="371254" cy="326288"/>
              <a:chOff x="5892512" y="2805541"/>
              <a:chExt cx="459474" cy="403823"/>
            </a:xfrm>
          </p:grpSpPr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7F28088E-B14A-04E5-EFEA-2093E6EA4EC3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63843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52F5FD81-750D-0AE5-AFA8-635D0073131E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0" name="Triángulo 9">
                <a:extLst>
                  <a:ext uri="{FF2B5EF4-FFF2-40B4-BE49-F238E27FC236}">
                    <a16:creationId xmlns:a16="http://schemas.microsoft.com/office/drawing/2014/main" id="{9FF3A76C-F522-5D0A-7C97-989FE2A0AA55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11" name="Google Shape;55;p4">
            <a:extLst>
              <a:ext uri="{FF2B5EF4-FFF2-40B4-BE49-F238E27FC236}">
                <a16:creationId xmlns:a16="http://schemas.microsoft.com/office/drawing/2014/main" id="{18FAD53E-7EC2-9490-2228-4AC1CB343B0F}"/>
              </a:ext>
            </a:extLst>
          </p:cNvPr>
          <p:cNvSpPr txBox="1"/>
          <p:nvPr/>
        </p:nvSpPr>
        <p:spPr>
          <a:xfrm>
            <a:off x="509343" y="2042741"/>
            <a:ext cx="7441052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4150" lvl="1" indent="-184150"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600" b="1" i="0" u="none" strike="noStrike" cap="none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Creación Rápida de Microservicios: </a:t>
            </a:r>
            <a:r>
              <a:rPr lang="es-PE" sz="16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Spring Boot simplifica la creación de aplicaciones Spring al proporcionar convenciones y dependencias preconfiguradas. Esto permite a los desarrolladores centrarse en la lógica de negocio en lugar de en la configuración del entorno.</a:t>
            </a:r>
          </a:p>
          <a:p>
            <a:pPr marL="184150" lvl="1" indent="-184150"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endParaRPr lang="es-PE" sz="1600" b="1" i="0" u="none" strike="noStrike" cap="none" dirty="0">
              <a:solidFill>
                <a:schemeClr val="accent3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84150" lvl="1" indent="-184150"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600" b="1" i="0" u="none" strike="noStrike" cap="none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Autoconfiguración: </a:t>
            </a:r>
            <a:r>
              <a:rPr lang="es-PE" sz="16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Spring Boot autoconfigura muchos aspectos del desarrollo de microservicios, como bases de datos, seguridad, y servidores web (Tomcat, Jetty), lo que acelera el desarrollo y reduce la cantidad de código repetitivo.</a:t>
            </a:r>
          </a:p>
          <a:p>
            <a:pPr marL="184150" lvl="1" indent="-184150"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endParaRPr lang="es-PE" sz="1600" b="1" i="0" u="none" strike="noStrike" cap="none" dirty="0">
              <a:solidFill>
                <a:schemeClr val="accent3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84150" lvl="1" indent="-184150"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600" b="1" i="0" u="none" strike="noStrike" cap="none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Independencia: </a:t>
            </a:r>
            <a:r>
              <a:rPr lang="es-PE" sz="16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Cada microservicio puede ejecutarse de manera independiente con su propio contenedor embebido (por ejemplo, Tomcat, Jetty), lo que facilita el despliegue en diferentes entornos.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C2B560D-E10A-E776-E4DA-080E1CEC4A68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SPRING PARA MICROSERVICIOS</a:t>
            </a:r>
          </a:p>
        </p:txBody>
      </p:sp>
      <p:sp>
        <p:nvSpPr>
          <p:cNvPr id="3" name="Google Shape;138;p15">
            <a:extLst>
              <a:ext uri="{FF2B5EF4-FFF2-40B4-BE49-F238E27FC236}">
                <a16:creationId xmlns:a16="http://schemas.microsoft.com/office/drawing/2014/main" id="{922C6B14-7104-C0C9-EE4F-1CFAFBF44DA6}"/>
              </a:ext>
            </a:extLst>
          </p:cNvPr>
          <p:cNvSpPr txBox="1"/>
          <p:nvPr/>
        </p:nvSpPr>
        <p:spPr>
          <a:xfrm>
            <a:off x="509342" y="921277"/>
            <a:ext cx="79057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COMPONENTES CLAVES DE SPRING PARA MICROSERVICIOS</a:t>
            </a:r>
            <a:endParaRPr sz="1600" b="0" i="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7C067A0-7D9E-CC48-03E8-F63CD340CFFA}"/>
              </a:ext>
            </a:extLst>
          </p:cNvPr>
          <p:cNvGrpSpPr/>
          <p:nvPr/>
        </p:nvGrpSpPr>
        <p:grpSpPr>
          <a:xfrm>
            <a:off x="360135" y="1448560"/>
            <a:ext cx="2267178" cy="338009"/>
            <a:chOff x="328697" y="912813"/>
            <a:chExt cx="2711938" cy="404317"/>
          </a:xfrm>
        </p:grpSpPr>
        <p:sp>
          <p:nvSpPr>
            <p:cNvPr id="5" name="Rectángulo redondeado 4">
              <a:extLst>
                <a:ext uri="{FF2B5EF4-FFF2-40B4-BE49-F238E27FC236}">
                  <a16:creationId xmlns:a16="http://schemas.microsoft.com/office/drawing/2014/main" id="{4F5E266D-C8C5-13A6-F192-59CA1400D18F}"/>
                </a:ext>
              </a:extLst>
            </p:cNvPr>
            <p:cNvSpPr/>
            <p:nvPr/>
          </p:nvSpPr>
          <p:spPr>
            <a:xfrm>
              <a:off x="503237" y="912813"/>
              <a:ext cx="2537398" cy="404317"/>
            </a:xfrm>
            <a:prstGeom prst="roundRect">
              <a:avLst>
                <a:gd name="adj" fmla="val 1879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>
                <a:buClr>
                  <a:srgbClr val="374151"/>
                </a:buClr>
                <a:buSzPts val="1600"/>
              </a:pPr>
              <a:r>
                <a:rPr lang="es-PE" b="1" i="0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2. </a:t>
              </a:r>
              <a:r>
                <a:rPr lang="es-ES" sz="1400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Spring Cloud</a:t>
              </a:r>
              <a:endParaRPr lang="es-ES" sz="1400" b="1" i="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  <p:grpSp>
          <p:nvGrpSpPr>
            <p:cNvPr id="6" name="Agrupar 14">
              <a:extLst>
                <a:ext uri="{FF2B5EF4-FFF2-40B4-BE49-F238E27FC236}">
                  <a16:creationId xmlns:a16="http://schemas.microsoft.com/office/drawing/2014/main" id="{8E25B2C8-DC46-226B-3F68-C7B5272F326B}"/>
                </a:ext>
              </a:extLst>
            </p:cNvPr>
            <p:cNvGrpSpPr/>
            <p:nvPr/>
          </p:nvGrpSpPr>
          <p:grpSpPr>
            <a:xfrm>
              <a:off x="328697" y="951828"/>
              <a:ext cx="371254" cy="326288"/>
              <a:chOff x="5892512" y="2805541"/>
              <a:chExt cx="459474" cy="403823"/>
            </a:xfrm>
          </p:grpSpPr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999A612E-E61E-E33A-C7E7-992A0D98621F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63843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3D64E607-9F10-ACC7-46A3-8828919DDCC2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9" name="Triángulo 8">
                <a:extLst>
                  <a:ext uri="{FF2B5EF4-FFF2-40B4-BE49-F238E27FC236}">
                    <a16:creationId xmlns:a16="http://schemas.microsoft.com/office/drawing/2014/main" id="{AF6FDAB0-DB11-5700-E39C-96B78E71E9C2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10" name="Google Shape;55;p4">
            <a:extLst>
              <a:ext uri="{FF2B5EF4-FFF2-40B4-BE49-F238E27FC236}">
                <a16:creationId xmlns:a16="http://schemas.microsoft.com/office/drawing/2014/main" id="{91DA80B3-CD80-C717-B9C6-F0F9B79C126F}"/>
              </a:ext>
            </a:extLst>
          </p:cNvPr>
          <p:cNvSpPr txBox="1"/>
          <p:nvPr/>
        </p:nvSpPr>
        <p:spPr>
          <a:xfrm>
            <a:off x="509343" y="2042741"/>
            <a:ext cx="7441052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4150" lvl="1" indent="-184150"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600" b="1" i="0" u="none" strike="noStrike" cap="none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Gestión de Configuración Centralizada: </a:t>
            </a:r>
            <a:r>
              <a:rPr lang="es-PE" sz="16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Spring Cloud Config permite centralizar y gestionar configuraciones para todos los microservicios desde un único repositorio, facilitando la gestión y actualización de configuraciones en tiempo real.</a:t>
            </a:r>
          </a:p>
          <a:p>
            <a:pPr marL="184150" lvl="1" indent="-184150"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endParaRPr lang="es-PE" sz="1600" b="1" i="0" u="none" strike="noStrike" cap="none" dirty="0">
              <a:solidFill>
                <a:schemeClr val="accent3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84150" lvl="1" indent="-184150"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600" b="1" i="0" u="none" strike="noStrike" cap="none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Registro y Descubrimiento de Servicios</a:t>
            </a:r>
            <a:r>
              <a:rPr lang="es-PE" sz="16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Con Spring Cloud Netflix Eureka o Spring Cloud Kubernetes, los microservicios pueden registrarse y descubrirse entre sí dinámicamente, lo que es esencial para un entorno distribuido y escalable.</a:t>
            </a:r>
          </a:p>
          <a:p>
            <a:pPr marL="184150" lvl="1" indent="-184150"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endParaRPr lang="es-PE" sz="1600" b="1" i="0" u="none" strike="noStrike" cap="none" dirty="0">
              <a:solidFill>
                <a:schemeClr val="accent3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84150" lvl="1" indent="-184150"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600" b="1" i="0" u="none" strike="noStrike" cap="none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Balanceo de Carga y Resiliencia: </a:t>
            </a:r>
            <a:r>
              <a:rPr lang="es-PE" sz="16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Spring Cloud Ribbon permite balanceo de carga entre instancias de microservicios, mientras que Spring Cloud Hystrix proporciona circuit breakers para manejar fallos en los servicios y prevenir fallas en cascada.</a:t>
            </a:r>
          </a:p>
          <a:p>
            <a:pPr marL="184150" lvl="1" indent="-184150"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endParaRPr lang="es-PE" sz="160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B542D73F-A567-D5AF-5D12-313C10A49DE8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SPRING PARA MICROSERVICIOS</a:t>
            </a:r>
          </a:p>
        </p:txBody>
      </p:sp>
      <p:sp>
        <p:nvSpPr>
          <p:cNvPr id="3" name="Google Shape;138;p15">
            <a:extLst>
              <a:ext uri="{FF2B5EF4-FFF2-40B4-BE49-F238E27FC236}">
                <a16:creationId xmlns:a16="http://schemas.microsoft.com/office/drawing/2014/main" id="{152E2F7F-5A39-3405-A712-9D6793F700C7}"/>
              </a:ext>
            </a:extLst>
          </p:cNvPr>
          <p:cNvSpPr txBox="1"/>
          <p:nvPr/>
        </p:nvSpPr>
        <p:spPr>
          <a:xfrm>
            <a:off x="509342" y="921277"/>
            <a:ext cx="79057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COMPONENTES CLAVES DE SPRING PARA MICROSERVICIOS</a:t>
            </a:r>
            <a:endParaRPr sz="1600" b="0" i="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7050AF93-DB7E-65A3-0DE8-5FB7C8DFD367}"/>
              </a:ext>
            </a:extLst>
          </p:cNvPr>
          <p:cNvGrpSpPr/>
          <p:nvPr/>
        </p:nvGrpSpPr>
        <p:grpSpPr>
          <a:xfrm>
            <a:off x="360135" y="1448560"/>
            <a:ext cx="2267178" cy="338009"/>
            <a:chOff x="328697" y="912813"/>
            <a:chExt cx="2711938" cy="404317"/>
          </a:xfrm>
        </p:grpSpPr>
        <p:sp>
          <p:nvSpPr>
            <p:cNvPr id="5" name="Rectángulo redondeado 4">
              <a:extLst>
                <a:ext uri="{FF2B5EF4-FFF2-40B4-BE49-F238E27FC236}">
                  <a16:creationId xmlns:a16="http://schemas.microsoft.com/office/drawing/2014/main" id="{1FAF4922-F82C-F9C4-C17F-D458E69CCF1F}"/>
                </a:ext>
              </a:extLst>
            </p:cNvPr>
            <p:cNvSpPr/>
            <p:nvPr/>
          </p:nvSpPr>
          <p:spPr>
            <a:xfrm>
              <a:off x="503237" y="912813"/>
              <a:ext cx="2537398" cy="404317"/>
            </a:xfrm>
            <a:prstGeom prst="roundRect">
              <a:avLst>
                <a:gd name="adj" fmla="val 1879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>
                <a:buClr>
                  <a:srgbClr val="374151"/>
                </a:buClr>
                <a:buSzPts val="1600"/>
              </a:pPr>
              <a:r>
                <a:rPr lang="es-PE" b="1" i="0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2. </a:t>
              </a:r>
              <a:r>
                <a:rPr lang="es-ES" sz="1400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Spring Cloud</a:t>
              </a:r>
              <a:endParaRPr lang="es-ES" sz="1400" b="1" i="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  <p:grpSp>
          <p:nvGrpSpPr>
            <p:cNvPr id="6" name="Agrupar 14">
              <a:extLst>
                <a:ext uri="{FF2B5EF4-FFF2-40B4-BE49-F238E27FC236}">
                  <a16:creationId xmlns:a16="http://schemas.microsoft.com/office/drawing/2014/main" id="{4B764988-E3A4-4C5B-C3B9-81FD0B575877}"/>
                </a:ext>
              </a:extLst>
            </p:cNvPr>
            <p:cNvGrpSpPr/>
            <p:nvPr/>
          </p:nvGrpSpPr>
          <p:grpSpPr>
            <a:xfrm>
              <a:off x="328697" y="951828"/>
              <a:ext cx="371254" cy="326288"/>
              <a:chOff x="5892512" y="2805541"/>
              <a:chExt cx="459474" cy="403823"/>
            </a:xfrm>
          </p:grpSpPr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C56B5224-3B6D-14BE-C5A2-586258435FE7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63843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BE7D7392-FB94-6A59-2431-0E2329C4BF56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9" name="Triángulo 8">
                <a:extLst>
                  <a:ext uri="{FF2B5EF4-FFF2-40B4-BE49-F238E27FC236}">
                    <a16:creationId xmlns:a16="http://schemas.microsoft.com/office/drawing/2014/main" id="{E1DEB45D-CD3B-0E79-CC46-E1AAA78FC2AB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10" name="Google Shape;55;p4">
            <a:extLst>
              <a:ext uri="{FF2B5EF4-FFF2-40B4-BE49-F238E27FC236}">
                <a16:creationId xmlns:a16="http://schemas.microsoft.com/office/drawing/2014/main" id="{EA9A3CC8-A1E4-2FE2-CE2B-025141342E8E}"/>
              </a:ext>
            </a:extLst>
          </p:cNvPr>
          <p:cNvSpPr txBox="1"/>
          <p:nvPr/>
        </p:nvSpPr>
        <p:spPr>
          <a:xfrm>
            <a:off x="509343" y="2042741"/>
            <a:ext cx="7441052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4150" lvl="1" indent="-184150"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600" b="1" i="0" u="none" strike="noStrike" cap="none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Gateway API: </a:t>
            </a:r>
            <a:r>
              <a:rPr lang="es-PE" sz="16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Spring Cloud Gateway o Netflix Zuul actúan como puertas de enlace que manejan todas las solicitudes de los clientes y las redirigen a los microservicios apropiados, implementando funciones como enrutamiento dinámico, seguridad, y filtrado de solicitudes.</a:t>
            </a:r>
          </a:p>
          <a:p>
            <a:pPr marL="184150" lvl="1" indent="-184150"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endParaRPr lang="es-PE" sz="1600" b="1" i="0" u="none" strike="noStrike" cap="none" dirty="0">
              <a:solidFill>
                <a:schemeClr val="accent3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84150" lvl="1" indent="-184150"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600" b="1" i="0" u="none" strike="noStrike" cap="none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Mensajería y Comunicación Asíncrona: </a:t>
            </a:r>
            <a:r>
              <a:rPr lang="es-PE" sz="16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Spring Cloud Stream permite implementar comunicación asíncrona entre microservicios utilizando middleware de mensajería como RabbitMQ o Apache Kafka, facilitando la construcción de sistemas reactivos y escalables.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FDF4B470-5C11-A4C0-B964-0E84DC43B926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SPRING PARA MICROSERVICIOS</a:t>
            </a:r>
          </a:p>
        </p:txBody>
      </p:sp>
      <p:sp>
        <p:nvSpPr>
          <p:cNvPr id="3" name="Google Shape;138;p15">
            <a:extLst>
              <a:ext uri="{FF2B5EF4-FFF2-40B4-BE49-F238E27FC236}">
                <a16:creationId xmlns:a16="http://schemas.microsoft.com/office/drawing/2014/main" id="{2C97AB70-72AF-6D2F-FE6E-1F003111F777}"/>
              </a:ext>
            </a:extLst>
          </p:cNvPr>
          <p:cNvSpPr txBox="1"/>
          <p:nvPr/>
        </p:nvSpPr>
        <p:spPr>
          <a:xfrm>
            <a:off x="509342" y="921277"/>
            <a:ext cx="79057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COMPONENTES CLAVES DE SPRING PARA MICROSERVICIOS</a:t>
            </a:r>
            <a:endParaRPr sz="1600" b="0" i="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07CBDDA7-0EC4-A005-152D-E374736A6C4C}"/>
              </a:ext>
            </a:extLst>
          </p:cNvPr>
          <p:cNvGrpSpPr/>
          <p:nvPr/>
        </p:nvGrpSpPr>
        <p:grpSpPr>
          <a:xfrm>
            <a:off x="360135" y="1448560"/>
            <a:ext cx="2267178" cy="338009"/>
            <a:chOff x="328697" y="912813"/>
            <a:chExt cx="2711938" cy="404317"/>
          </a:xfrm>
        </p:grpSpPr>
        <p:sp>
          <p:nvSpPr>
            <p:cNvPr id="5" name="Rectángulo redondeado 4">
              <a:extLst>
                <a:ext uri="{FF2B5EF4-FFF2-40B4-BE49-F238E27FC236}">
                  <a16:creationId xmlns:a16="http://schemas.microsoft.com/office/drawing/2014/main" id="{ACCCD8C4-AEC0-50EB-BDAE-318B866341D9}"/>
                </a:ext>
              </a:extLst>
            </p:cNvPr>
            <p:cNvSpPr/>
            <p:nvPr/>
          </p:nvSpPr>
          <p:spPr>
            <a:xfrm>
              <a:off x="503237" y="912813"/>
              <a:ext cx="2537398" cy="404317"/>
            </a:xfrm>
            <a:prstGeom prst="roundRect">
              <a:avLst>
                <a:gd name="adj" fmla="val 1879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>
                <a:buClr>
                  <a:srgbClr val="374151"/>
                </a:buClr>
                <a:buSzPts val="1600"/>
              </a:pPr>
              <a:r>
                <a:rPr lang="es-PE" b="1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3</a:t>
              </a:r>
              <a:r>
                <a:rPr lang="es-PE" b="1" i="0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. </a:t>
              </a:r>
              <a:r>
                <a:rPr lang="es-ES" sz="1400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Spring Data</a:t>
              </a:r>
              <a:endParaRPr lang="es-ES" sz="1400" b="1" i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" name="Agrupar 14">
              <a:extLst>
                <a:ext uri="{FF2B5EF4-FFF2-40B4-BE49-F238E27FC236}">
                  <a16:creationId xmlns:a16="http://schemas.microsoft.com/office/drawing/2014/main" id="{9E6D6D44-2DA7-17B6-1F1F-2967CEF7897E}"/>
                </a:ext>
              </a:extLst>
            </p:cNvPr>
            <p:cNvGrpSpPr/>
            <p:nvPr/>
          </p:nvGrpSpPr>
          <p:grpSpPr>
            <a:xfrm>
              <a:off x="328697" y="951828"/>
              <a:ext cx="371254" cy="326288"/>
              <a:chOff x="5892512" y="2805541"/>
              <a:chExt cx="459474" cy="403823"/>
            </a:xfrm>
          </p:grpSpPr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F9D75380-CC66-B2B6-F0A5-4B4C258BA767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63843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D874C801-9EAA-9B48-4434-635571AE378B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9" name="Triángulo 8">
                <a:extLst>
                  <a:ext uri="{FF2B5EF4-FFF2-40B4-BE49-F238E27FC236}">
                    <a16:creationId xmlns:a16="http://schemas.microsoft.com/office/drawing/2014/main" id="{D4B71DE4-B146-714D-EEE8-F0A98AA0883B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10" name="Google Shape;55;p4">
            <a:extLst>
              <a:ext uri="{FF2B5EF4-FFF2-40B4-BE49-F238E27FC236}">
                <a16:creationId xmlns:a16="http://schemas.microsoft.com/office/drawing/2014/main" id="{FBEB4C9C-F099-74FD-EE7D-353FD9E1991F}"/>
              </a:ext>
            </a:extLst>
          </p:cNvPr>
          <p:cNvSpPr txBox="1"/>
          <p:nvPr/>
        </p:nvSpPr>
        <p:spPr>
          <a:xfrm>
            <a:off x="509343" y="2042741"/>
            <a:ext cx="7441052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4150" lvl="1" indent="-184150"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600" b="1" i="0" u="none" strike="noStrike" cap="none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Gestión Simplificada de Bases de Datos: </a:t>
            </a:r>
            <a:r>
              <a:rPr lang="es-PE" sz="16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Spring Data simplifica el acceso a las bases de datos mediante la abstracción de la lógica de acceso a datos, permitiendo a los microservicios centrarse en la lógica de negocio. Es compatible con bases de datos SQL, NoSQL y otros almacenes de datos.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0A21997E-AA45-4EA2-9DE7-4D1C81A0EBA0}"/>
              </a:ext>
            </a:extLst>
          </p:cNvPr>
          <p:cNvGrpSpPr/>
          <p:nvPr/>
        </p:nvGrpSpPr>
        <p:grpSpPr>
          <a:xfrm>
            <a:off x="360135" y="3333423"/>
            <a:ext cx="2267178" cy="338009"/>
            <a:chOff x="328697" y="912813"/>
            <a:chExt cx="2711938" cy="404317"/>
          </a:xfrm>
        </p:grpSpPr>
        <p:sp>
          <p:nvSpPr>
            <p:cNvPr id="12" name="Rectángulo redondeado 11">
              <a:extLst>
                <a:ext uri="{FF2B5EF4-FFF2-40B4-BE49-F238E27FC236}">
                  <a16:creationId xmlns:a16="http://schemas.microsoft.com/office/drawing/2014/main" id="{6D8B5FDB-3ADC-9922-E6E9-0C1AFE7CDC59}"/>
                </a:ext>
              </a:extLst>
            </p:cNvPr>
            <p:cNvSpPr/>
            <p:nvPr/>
          </p:nvSpPr>
          <p:spPr>
            <a:xfrm>
              <a:off x="503237" y="912813"/>
              <a:ext cx="2537398" cy="404317"/>
            </a:xfrm>
            <a:prstGeom prst="roundRect">
              <a:avLst>
                <a:gd name="adj" fmla="val 1879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>
                <a:buClr>
                  <a:srgbClr val="374151"/>
                </a:buClr>
                <a:buSzPts val="1600"/>
              </a:pPr>
              <a:r>
                <a:rPr lang="es-PE" b="1" i="0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4. </a:t>
              </a:r>
              <a:r>
                <a:rPr lang="es-ES" sz="1400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Spring Security</a:t>
              </a:r>
              <a:endParaRPr lang="es-ES" sz="1400" b="1" i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" name="Agrupar 14">
              <a:extLst>
                <a:ext uri="{FF2B5EF4-FFF2-40B4-BE49-F238E27FC236}">
                  <a16:creationId xmlns:a16="http://schemas.microsoft.com/office/drawing/2014/main" id="{4B3233DB-4194-967A-6BC2-E8507BEEEED3}"/>
                </a:ext>
              </a:extLst>
            </p:cNvPr>
            <p:cNvGrpSpPr/>
            <p:nvPr/>
          </p:nvGrpSpPr>
          <p:grpSpPr>
            <a:xfrm>
              <a:off x="328697" y="951828"/>
              <a:ext cx="371254" cy="326288"/>
              <a:chOff x="5892512" y="2805541"/>
              <a:chExt cx="459474" cy="403823"/>
            </a:xfrm>
          </p:grpSpPr>
          <p:sp>
            <p:nvSpPr>
              <p:cNvPr id="14" name="Elipse 13">
                <a:extLst>
                  <a:ext uri="{FF2B5EF4-FFF2-40B4-BE49-F238E27FC236}">
                    <a16:creationId xmlns:a16="http://schemas.microsoft.com/office/drawing/2014/main" id="{8E7FE957-D1DE-05A0-96C2-DC3F81E7E673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63843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5" name="Elipse 14">
                <a:extLst>
                  <a:ext uri="{FF2B5EF4-FFF2-40B4-BE49-F238E27FC236}">
                    <a16:creationId xmlns:a16="http://schemas.microsoft.com/office/drawing/2014/main" id="{1BF9AA75-4903-C6E6-A762-CFC86166BEB5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6" name="Triángulo 15">
                <a:extLst>
                  <a:ext uri="{FF2B5EF4-FFF2-40B4-BE49-F238E27FC236}">
                    <a16:creationId xmlns:a16="http://schemas.microsoft.com/office/drawing/2014/main" id="{0E657E35-B38C-9F9C-C179-CE6841E880B9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17" name="Google Shape;55;p4">
            <a:extLst>
              <a:ext uri="{FF2B5EF4-FFF2-40B4-BE49-F238E27FC236}">
                <a16:creationId xmlns:a16="http://schemas.microsoft.com/office/drawing/2014/main" id="{A589B8C0-5168-EED7-2618-CD685B226F6E}"/>
              </a:ext>
            </a:extLst>
          </p:cNvPr>
          <p:cNvSpPr txBox="1"/>
          <p:nvPr/>
        </p:nvSpPr>
        <p:spPr>
          <a:xfrm>
            <a:off x="509343" y="3927604"/>
            <a:ext cx="7441052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4150" lvl="1" indent="-184150"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600" b="1" i="0" u="none" strike="noStrike" cap="none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Seguridad en Microservicios: </a:t>
            </a:r>
            <a:r>
              <a:rPr lang="es-PE" sz="16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Spring Security proporciona autenticación y autorización para microservicios, permitiendo implementar seguridad basada en OAuth2, JWT, y OpenID Connect. Esto asegura que solo usuarios o servicios autorizados puedan acceder a los microservicios.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7720BFD0-A26B-B9E8-0B2C-714064770136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SPRING PARA MICROSERVICIOS</a:t>
            </a:r>
          </a:p>
        </p:txBody>
      </p:sp>
      <p:sp>
        <p:nvSpPr>
          <p:cNvPr id="3" name="Google Shape;138;p15">
            <a:extLst>
              <a:ext uri="{FF2B5EF4-FFF2-40B4-BE49-F238E27FC236}">
                <a16:creationId xmlns:a16="http://schemas.microsoft.com/office/drawing/2014/main" id="{722C1202-18F3-3142-B241-69AD99E6E66C}"/>
              </a:ext>
            </a:extLst>
          </p:cNvPr>
          <p:cNvSpPr txBox="1"/>
          <p:nvPr/>
        </p:nvSpPr>
        <p:spPr>
          <a:xfrm>
            <a:off x="509342" y="921277"/>
            <a:ext cx="79057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COMPONENTES CLAVES DE SPRING PARA MICROSERVICIOS</a:t>
            </a:r>
            <a:endParaRPr sz="1600" b="0" i="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38FDC31-3510-37C1-6B4C-CB8A1C386B7D}"/>
              </a:ext>
            </a:extLst>
          </p:cNvPr>
          <p:cNvGrpSpPr/>
          <p:nvPr/>
        </p:nvGrpSpPr>
        <p:grpSpPr>
          <a:xfrm>
            <a:off x="360135" y="1448560"/>
            <a:ext cx="2267178" cy="338009"/>
            <a:chOff x="328697" y="912813"/>
            <a:chExt cx="2711938" cy="404317"/>
          </a:xfrm>
        </p:grpSpPr>
        <p:sp>
          <p:nvSpPr>
            <p:cNvPr id="5" name="Rectángulo redondeado 4">
              <a:extLst>
                <a:ext uri="{FF2B5EF4-FFF2-40B4-BE49-F238E27FC236}">
                  <a16:creationId xmlns:a16="http://schemas.microsoft.com/office/drawing/2014/main" id="{58D3F310-FA78-E238-CC6D-553D29A54BB2}"/>
                </a:ext>
              </a:extLst>
            </p:cNvPr>
            <p:cNvSpPr/>
            <p:nvPr/>
          </p:nvSpPr>
          <p:spPr>
            <a:xfrm>
              <a:off x="503237" y="912813"/>
              <a:ext cx="2537398" cy="404317"/>
            </a:xfrm>
            <a:prstGeom prst="roundRect">
              <a:avLst>
                <a:gd name="adj" fmla="val 1879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tlCol="0" anchor="ctr"/>
            <a:lstStyle/>
            <a:p>
              <a:pPr algn="ctr">
                <a:buClr>
                  <a:srgbClr val="374151"/>
                </a:buClr>
                <a:buSzPts val="1600"/>
              </a:pPr>
              <a:r>
                <a:rPr lang="es-PE" b="1" i="0" dirty="0">
                  <a:solidFill>
                    <a:schemeClr val="bg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5. </a:t>
              </a:r>
              <a:r>
                <a:rPr lang="es-ES" sz="1400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Spring </a:t>
              </a:r>
              <a:r>
                <a:rPr lang="es-ES" sz="1400" b="1" dirty="0" err="1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Actuator</a:t>
              </a:r>
              <a:endParaRPr lang="es-ES" sz="1400" b="1" i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" name="Agrupar 14">
              <a:extLst>
                <a:ext uri="{FF2B5EF4-FFF2-40B4-BE49-F238E27FC236}">
                  <a16:creationId xmlns:a16="http://schemas.microsoft.com/office/drawing/2014/main" id="{2AF506EE-E7FC-F6CE-72CE-6462AB69FBC7}"/>
                </a:ext>
              </a:extLst>
            </p:cNvPr>
            <p:cNvGrpSpPr/>
            <p:nvPr/>
          </p:nvGrpSpPr>
          <p:grpSpPr>
            <a:xfrm>
              <a:off x="328697" y="951828"/>
              <a:ext cx="371254" cy="326288"/>
              <a:chOff x="5892512" y="2805541"/>
              <a:chExt cx="459474" cy="403823"/>
            </a:xfrm>
          </p:grpSpPr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33273225-9218-0CB7-0730-4F6E5FD0C061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63843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30D5DE33-C0B1-4CDD-0D63-EA0859ACA9EC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9" name="Triángulo 8">
                <a:extLst>
                  <a:ext uri="{FF2B5EF4-FFF2-40B4-BE49-F238E27FC236}">
                    <a16:creationId xmlns:a16="http://schemas.microsoft.com/office/drawing/2014/main" id="{CF664BA6-6DA6-E8AF-5118-EA4BEB7E42A3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10" name="Google Shape;55;p4">
            <a:extLst>
              <a:ext uri="{FF2B5EF4-FFF2-40B4-BE49-F238E27FC236}">
                <a16:creationId xmlns:a16="http://schemas.microsoft.com/office/drawing/2014/main" id="{B248B11E-0C80-2F35-67EE-BE62DFD3EB25}"/>
              </a:ext>
            </a:extLst>
          </p:cNvPr>
          <p:cNvSpPr txBox="1"/>
          <p:nvPr/>
        </p:nvSpPr>
        <p:spPr>
          <a:xfrm>
            <a:off x="509343" y="2042741"/>
            <a:ext cx="744105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4150" lvl="1" indent="-184150"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1600" b="1" i="0" u="none" strike="noStrike" cap="none" dirty="0">
                <a:solidFill>
                  <a:schemeClr val="accent3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Monitoreo y Gestión: </a:t>
            </a:r>
            <a:r>
              <a:rPr lang="es-PE" sz="16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Spring Boot Actuator añade puntos de acceso para monitorear y gestionar las aplicaciones, proporcionando métricas, estado de la aplicación, y más.</a:t>
            </a:r>
            <a:br>
              <a:rPr lang="es-PE" sz="16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r>
              <a:rPr lang="es-PE" sz="16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Esto es esencial para el monitoreo de microservicios en producción.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8A11B06B-098D-9640-D7E4-75356DCBAB46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SPRING PARA MICROSERVICIOS</a:t>
            </a:r>
          </a:p>
        </p:txBody>
      </p:sp>
      <p:sp>
        <p:nvSpPr>
          <p:cNvPr id="3" name="Google Shape;138;p15">
            <a:extLst>
              <a:ext uri="{FF2B5EF4-FFF2-40B4-BE49-F238E27FC236}">
                <a16:creationId xmlns:a16="http://schemas.microsoft.com/office/drawing/2014/main" id="{F2D9BE19-07AC-1F9C-6037-A543D92C2C05}"/>
              </a:ext>
            </a:extLst>
          </p:cNvPr>
          <p:cNvSpPr txBox="1"/>
          <p:nvPr/>
        </p:nvSpPr>
        <p:spPr>
          <a:xfrm>
            <a:off x="509342" y="921277"/>
            <a:ext cx="79057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VENTAJAS DE USAR SPRING PARA MICROSERVICIOS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D40C806-A72F-29B8-3C79-9F5CEFA78277}"/>
              </a:ext>
            </a:extLst>
          </p:cNvPr>
          <p:cNvSpPr/>
          <p:nvPr/>
        </p:nvSpPr>
        <p:spPr>
          <a:xfrm>
            <a:off x="1356793" y="1543682"/>
            <a:ext cx="5965033" cy="5816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defTabSz="977900">
              <a:lnSpc>
                <a:spcPct val="90000"/>
              </a:lnSpc>
              <a:spcAft>
                <a:spcPct val="35000"/>
              </a:spcAft>
            </a:pPr>
            <a:r>
              <a:rPr lang="es-ES" sz="14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DESARROLLO RÁPIDO</a:t>
            </a:r>
            <a:br>
              <a:rPr lang="es-ES" sz="1400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</a:b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Spring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Boot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y sus capacidades de autoconfiguración permiten a los desarrolladores construir y desplegar microservicios de manera rápida y eficiente.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9F81CC0-504E-6082-39E3-5E31418D9144}"/>
              </a:ext>
            </a:extLst>
          </p:cNvPr>
          <p:cNvSpPr/>
          <p:nvPr/>
        </p:nvSpPr>
        <p:spPr>
          <a:xfrm>
            <a:off x="552228" y="1445636"/>
            <a:ext cx="40081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s-ES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rPr>
              <a:t>01</a:t>
            </a:r>
            <a:endParaRPr lang="es-PE" sz="2800" b="1" dirty="0">
              <a:solidFill>
                <a:srgbClr val="7150A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A020B996-531D-1C17-4839-197EDD830860}"/>
              </a:ext>
            </a:extLst>
          </p:cNvPr>
          <p:cNvCxnSpPr>
            <a:cxnSpLocks/>
          </p:cNvCxnSpPr>
          <p:nvPr/>
        </p:nvCxnSpPr>
        <p:spPr>
          <a:xfrm>
            <a:off x="1139343" y="1623391"/>
            <a:ext cx="0" cy="972000"/>
          </a:xfrm>
          <a:prstGeom prst="line">
            <a:avLst/>
          </a:prstGeom>
          <a:ln w="12700">
            <a:solidFill>
              <a:srgbClr val="715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10539D9E-3703-DB55-0BA4-293105C2F7D3}"/>
              </a:ext>
            </a:extLst>
          </p:cNvPr>
          <p:cNvGrpSpPr/>
          <p:nvPr/>
        </p:nvGrpSpPr>
        <p:grpSpPr>
          <a:xfrm>
            <a:off x="552228" y="2401162"/>
            <a:ext cx="6736468" cy="1073599"/>
            <a:chOff x="552228" y="2507178"/>
            <a:chExt cx="6736468" cy="1073599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0F9E804-1BBF-6968-6327-168E6A2AF36D}"/>
                </a:ext>
              </a:extLst>
            </p:cNvPr>
            <p:cNvSpPr/>
            <p:nvPr/>
          </p:nvSpPr>
          <p:spPr>
            <a:xfrm>
              <a:off x="552228" y="2507178"/>
              <a:ext cx="400819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ES" sz="2800" b="1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rPr>
                <a:t>02</a:t>
              </a:r>
              <a:endParaRPr lang="es-PE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01600A92-60EE-AA92-357B-06436A979558}"/>
                </a:ext>
              </a:extLst>
            </p:cNvPr>
            <p:cNvSpPr/>
            <p:nvPr/>
          </p:nvSpPr>
          <p:spPr>
            <a:xfrm>
              <a:off x="1356793" y="2611281"/>
              <a:ext cx="5931903" cy="96949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defTabSz="977900">
                <a:lnSpc>
                  <a:spcPct val="90000"/>
                </a:lnSpc>
              </a:pPr>
              <a:r>
                <a:rPr lang="es-ES" sz="1400" b="1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rPr>
                <a:t>ECOSISTEMA INTEGRADO </a:t>
              </a:r>
              <a:br>
                <a:rPr lang="es-ES" sz="1400" b="1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rPr>
              </a:br>
              <a:r>
                <a:rPr lang="es-ES" sz="1400" dirty="0">
                  <a:latin typeface="Calibri" charset="0"/>
                  <a:ea typeface="Calibri" charset="0"/>
                  <a:cs typeface="Calibri" charset="0"/>
                </a:rPr>
                <a:t>Con Spring Cloud, se puede gestionar de manera efectiva la complejidad de un sistema de microservicios distribuido, incluyendo la gestión de configuraciones, resiliencia, descubrimiento de servicios, y comunicación entre servicios.</a:t>
              </a:r>
            </a:p>
            <a:p>
              <a:pPr defTabSz="977900">
                <a:lnSpc>
                  <a:spcPct val="90000"/>
                </a:lnSpc>
              </a:pPr>
              <a:endParaRPr lang="es-ES" sz="1400" dirty="0"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11" name="Agrupar 16">
              <a:extLst>
                <a:ext uri="{FF2B5EF4-FFF2-40B4-BE49-F238E27FC236}">
                  <a16:creationId xmlns:a16="http://schemas.microsoft.com/office/drawing/2014/main" id="{EAFC7299-733F-F434-F96B-3DDB30EC266A}"/>
                </a:ext>
              </a:extLst>
            </p:cNvPr>
            <p:cNvGrpSpPr/>
            <p:nvPr/>
          </p:nvGrpSpPr>
          <p:grpSpPr>
            <a:xfrm>
              <a:off x="1071996" y="2616020"/>
              <a:ext cx="140792" cy="140258"/>
              <a:chOff x="3427964" y="2244682"/>
              <a:chExt cx="225891" cy="225034"/>
            </a:xfrm>
          </p:grpSpPr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8C215AC3-4A97-6EA3-C162-E90026E186A1}"/>
                  </a:ext>
                </a:extLst>
              </p:cNvPr>
              <p:cNvSpPr/>
              <p:nvPr/>
            </p:nvSpPr>
            <p:spPr>
              <a:xfrm>
                <a:off x="3427964" y="2244682"/>
                <a:ext cx="225891" cy="22503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714F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36295369-4C6A-BA92-29EF-E4525CA94FE0}"/>
                  </a:ext>
                </a:extLst>
              </p:cNvPr>
              <p:cNvSpPr/>
              <p:nvPr/>
            </p:nvSpPr>
            <p:spPr>
              <a:xfrm>
                <a:off x="3482167" y="2298680"/>
                <a:ext cx="117483" cy="117037"/>
              </a:xfrm>
              <a:prstGeom prst="ellipse">
                <a:avLst/>
              </a:prstGeom>
              <a:solidFill>
                <a:srgbClr val="714FA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7" name="Agrupar 29">
            <a:extLst>
              <a:ext uri="{FF2B5EF4-FFF2-40B4-BE49-F238E27FC236}">
                <a16:creationId xmlns:a16="http://schemas.microsoft.com/office/drawing/2014/main" id="{833DCC43-16E9-EE01-830C-22D5D6704763}"/>
              </a:ext>
            </a:extLst>
          </p:cNvPr>
          <p:cNvGrpSpPr/>
          <p:nvPr/>
        </p:nvGrpSpPr>
        <p:grpSpPr>
          <a:xfrm>
            <a:off x="1071996" y="1560827"/>
            <a:ext cx="140792" cy="140258"/>
            <a:chOff x="3427964" y="2244682"/>
            <a:chExt cx="225891" cy="225034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669B7115-0F01-9393-7A85-944583ABCC55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714F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C4BD23CD-06F4-FAEE-5CF3-6399038C82C7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5B09E43D-7F02-5F46-6CC8-408B5AFD5D7D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SPRING PARA MICROSERVICIOS</a:t>
            </a:r>
          </a:p>
        </p:txBody>
      </p:sp>
      <p:sp>
        <p:nvSpPr>
          <p:cNvPr id="3" name="Google Shape;138;p15">
            <a:extLst>
              <a:ext uri="{FF2B5EF4-FFF2-40B4-BE49-F238E27FC236}">
                <a16:creationId xmlns:a16="http://schemas.microsoft.com/office/drawing/2014/main" id="{B9CE0503-A2AC-4E33-F9DE-055C8482D813}"/>
              </a:ext>
            </a:extLst>
          </p:cNvPr>
          <p:cNvSpPr txBox="1"/>
          <p:nvPr/>
        </p:nvSpPr>
        <p:spPr>
          <a:xfrm>
            <a:off x="509342" y="921277"/>
            <a:ext cx="79057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b="1" i="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VENTAJAS DE USAR SPRING PARA MICROSERVICIOS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5B21A52-E5F0-A644-3760-06CA34ED529D}"/>
              </a:ext>
            </a:extLst>
          </p:cNvPr>
          <p:cNvCxnSpPr>
            <a:cxnSpLocks/>
          </p:cNvCxnSpPr>
          <p:nvPr/>
        </p:nvCxnSpPr>
        <p:spPr>
          <a:xfrm>
            <a:off x="1139343" y="1623391"/>
            <a:ext cx="0" cy="2160000"/>
          </a:xfrm>
          <a:prstGeom prst="line">
            <a:avLst/>
          </a:prstGeom>
          <a:ln w="12700">
            <a:solidFill>
              <a:srgbClr val="715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upo 14">
            <a:extLst>
              <a:ext uri="{FF2B5EF4-FFF2-40B4-BE49-F238E27FC236}">
                <a16:creationId xmlns:a16="http://schemas.microsoft.com/office/drawing/2014/main" id="{EE7CA7DC-D790-30D4-CFF7-BCBBF94C1249}"/>
              </a:ext>
            </a:extLst>
          </p:cNvPr>
          <p:cNvGrpSpPr/>
          <p:nvPr/>
        </p:nvGrpSpPr>
        <p:grpSpPr>
          <a:xfrm>
            <a:off x="552228" y="1445636"/>
            <a:ext cx="6769598" cy="679744"/>
            <a:chOff x="552228" y="1445636"/>
            <a:chExt cx="6769598" cy="679744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E3D252B4-A057-C577-F4EB-98B2996BC051}"/>
                </a:ext>
              </a:extLst>
            </p:cNvPr>
            <p:cNvSpPr/>
            <p:nvPr/>
          </p:nvSpPr>
          <p:spPr>
            <a:xfrm>
              <a:off x="1356793" y="1543682"/>
              <a:ext cx="5965033" cy="5816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defTabSz="977900">
                <a:lnSpc>
                  <a:spcPct val="90000"/>
                </a:lnSpc>
                <a:spcAft>
                  <a:spcPct val="35000"/>
                </a:spcAft>
              </a:pPr>
              <a:r>
                <a:rPr lang="es-ES" sz="1400" b="1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rPr>
                <a:t>Escalabilidad y Resiliencia</a:t>
              </a:r>
              <a:br>
                <a:rPr lang="es-ES" sz="1400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rPr>
              </a:br>
              <a:r>
                <a:rPr lang="es-ES" sz="1400" dirty="0">
                  <a:latin typeface="Calibri" charset="0"/>
                  <a:ea typeface="Calibri" charset="0"/>
                  <a:cs typeface="Calibri" charset="0"/>
                </a:rPr>
                <a:t>Spring </a:t>
              </a:r>
              <a:r>
                <a:rPr lang="es-ES" sz="1400" dirty="0" err="1">
                  <a:latin typeface="Calibri" charset="0"/>
                  <a:ea typeface="Calibri" charset="0"/>
                  <a:cs typeface="Calibri" charset="0"/>
                </a:rPr>
                <a:t>Boot</a:t>
              </a:r>
              <a:r>
                <a:rPr lang="es-ES" sz="1400" dirty="0">
                  <a:latin typeface="Calibri" charset="0"/>
                  <a:ea typeface="Calibri" charset="0"/>
                  <a:cs typeface="Calibri" charset="0"/>
                </a:rPr>
                <a:t> y sus capacidades de autoconfiguración permiten a los desarrolladores construir y desplegar microservicios de manera rápida y eficiente.</a:t>
              </a:r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A694998D-0699-315A-4FD3-391E172FEBC1}"/>
                </a:ext>
              </a:extLst>
            </p:cNvPr>
            <p:cNvSpPr/>
            <p:nvPr/>
          </p:nvSpPr>
          <p:spPr>
            <a:xfrm>
              <a:off x="552228" y="1445636"/>
              <a:ext cx="400819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ES" sz="2800" b="1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rPr>
                <a:t>03</a:t>
              </a:r>
              <a:endParaRPr lang="es-PE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12" name="Agrupar 29">
              <a:extLst>
                <a:ext uri="{FF2B5EF4-FFF2-40B4-BE49-F238E27FC236}">
                  <a16:creationId xmlns:a16="http://schemas.microsoft.com/office/drawing/2014/main" id="{B5203956-06AC-2740-FF59-D4D5776F2197}"/>
                </a:ext>
              </a:extLst>
            </p:cNvPr>
            <p:cNvGrpSpPr/>
            <p:nvPr/>
          </p:nvGrpSpPr>
          <p:grpSpPr>
            <a:xfrm>
              <a:off x="1071996" y="1560827"/>
              <a:ext cx="140792" cy="140258"/>
              <a:chOff x="3427964" y="2244682"/>
              <a:chExt cx="225891" cy="225034"/>
            </a:xfrm>
          </p:grpSpPr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56BC7F10-8E19-646A-22C6-48BB8A5D7545}"/>
                  </a:ext>
                </a:extLst>
              </p:cNvPr>
              <p:cNvSpPr/>
              <p:nvPr/>
            </p:nvSpPr>
            <p:spPr>
              <a:xfrm>
                <a:off x="3427964" y="2244682"/>
                <a:ext cx="225891" cy="22503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714F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4" name="Elipse 13">
                <a:extLst>
                  <a:ext uri="{FF2B5EF4-FFF2-40B4-BE49-F238E27FC236}">
                    <a16:creationId xmlns:a16="http://schemas.microsoft.com/office/drawing/2014/main" id="{02FBA2B3-2D33-DED2-6573-562DBAF41712}"/>
                  </a:ext>
                </a:extLst>
              </p:cNvPr>
              <p:cNvSpPr/>
              <p:nvPr/>
            </p:nvSpPr>
            <p:spPr>
              <a:xfrm>
                <a:off x="3482167" y="2298680"/>
                <a:ext cx="117483" cy="117037"/>
              </a:xfrm>
              <a:prstGeom prst="ellipse">
                <a:avLst/>
              </a:prstGeom>
              <a:solidFill>
                <a:srgbClr val="714FA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CD19994-E0B5-A04F-1E91-1B906791EA36}"/>
              </a:ext>
            </a:extLst>
          </p:cNvPr>
          <p:cNvGrpSpPr/>
          <p:nvPr/>
        </p:nvGrpSpPr>
        <p:grpSpPr>
          <a:xfrm>
            <a:off x="552228" y="3588198"/>
            <a:ext cx="6736468" cy="685801"/>
            <a:chOff x="552228" y="2507178"/>
            <a:chExt cx="6736468" cy="685801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A99CE832-01D0-EB9D-628D-44CA907EA06E}"/>
                </a:ext>
              </a:extLst>
            </p:cNvPr>
            <p:cNvSpPr/>
            <p:nvPr/>
          </p:nvSpPr>
          <p:spPr>
            <a:xfrm>
              <a:off x="552228" y="2507178"/>
              <a:ext cx="400819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ES" sz="2800" b="1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rPr>
                <a:t>05</a:t>
              </a:r>
              <a:endParaRPr lang="es-PE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7BADD30C-DC2D-BF20-9796-6E7A67ADA76F}"/>
                </a:ext>
              </a:extLst>
            </p:cNvPr>
            <p:cNvSpPr/>
            <p:nvPr/>
          </p:nvSpPr>
          <p:spPr>
            <a:xfrm>
              <a:off x="1356793" y="2611281"/>
              <a:ext cx="5931903" cy="5816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defTabSz="977900">
                <a:lnSpc>
                  <a:spcPct val="90000"/>
                </a:lnSpc>
              </a:pPr>
              <a:r>
                <a:rPr lang="es-ES" sz="1400" b="1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rPr>
                <a:t>COMUNIDAD Y SOPORTE</a:t>
              </a:r>
              <a:br>
                <a:rPr lang="es-ES" sz="1400" b="1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rPr>
              </a:br>
              <a:r>
                <a:rPr lang="es-ES"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comunidad de Spring es una de las más grandes y activas en el mundo Java, lo que significa que hay abundante documentación, ejemplos, y soporte disponible.</a:t>
              </a:r>
              <a:endParaRPr lang="es-ES" sz="1200" dirty="0"/>
            </a:p>
          </p:txBody>
        </p:sp>
        <p:grpSp>
          <p:nvGrpSpPr>
            <p:cNvPr id="20" name="Agrupar 16">
              <a:extLst>
                <a:ext uri="{FF2B5EF4-FFF2-40B4-BE49-F238E27FC236}">
                  <a16:creationId xmlns:a16="http://schemas.microsoft.com/office/drawing/2014/main" id="{2288B1E0-5A71-788C-5D7B-B02CD007803B}"/>
                </a:ext>
              </a:extLst>
            </p:cNvPr>
            <p:cNvGrpSpPr/>
            <p:nvPr/>
          </p:nvGrpSpPr>
          <p:grpSpPr>
            <a:xfrm>
              <a:off x="1071996" y="2616020"/>
              <a:ext cx="140792" cy="140258"/>
              <a:chOff x="3427964" y="2244682"/>
              <a:chExt cx="225891" cy="225034"/>
            </a:xfrm>
          </p:grpSpPr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EEFC84E4-34F7-3283-0463-F4A2A843B238}"/>
                  </a:ext>
                </a:extLst>
              </p:cNvPr>
              <p:cNvSpPr/>
              <p:nvPr/>
            </p:nvSpPr>
            <p:spPr>
              <a:xfrm>
                <a:off x="3427964" y="2244682"/>
                <a:ext cx="225891" cy="22503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714F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2" name="Elipse 21">
                <a:extLst>
                  <a:ext uri="{FF2B5EF4-FFF2-40B4-BE49-F238E27FC236}">
                    <a16:creationId xmlns:a16="http://schemas.microsoft.com/office/drawing/2014/main" id="{80F70C96-D845-AD05-83E0-35D228AD931D}"/>
                  </a:ext>
                </a:extLst>
              </p:cNvPr>
              <p:cNvSpPr/>
              <p:nvPr/>
            </p:nvSpPr>
            <p:spPr>
              <a:xfrm>
                <a:off x="3482167" y="2298680"/>
                <a:ext cx="117483" cy="117037"/>
              </a:xfrm>
              <a:prstGeom prst="ellipse">
                <a:avLst/>
              </a:prstGeom>
              <a:solidFill>
                <a:srgbClr val="714FA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8F1A783F-F058-422B-DE8B-04EE77A1FF1B}"/>
              </a:ext>
            </a:extLst>
          </p:cNvPr>
          <p:cNvGrpSpPr/>
          <p:nvPr/>
        </p:nvGrpSpPr>
        <p:grpSpPr>
          <a:xfrm>
            <a:off x="552228" y="2401162"/>
            <a:ext cx="6736468" cy="1073599"/>
            <a:chOff x="552228" y="2507178"/>
            <a:chExt cx="6736468" cy="1073599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69739B1D-C3F6-B0F2-8D3B-1161C702866B}"/>
                </a:ext>
              </a:extLst>
            </p:cNvPr>
            <p:cNvSpPr/>
            <p:nvPr/>
          </p:nvSpPr>
          <p:spPr>
            <a:xfrm>
              <a:off x="552228" y="2507178"/>
              <a:ext cx="400819" cy="43088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ES" sz="2800" b="1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rPr>
                <a:t>04</a:t>
              </a:r>
              <a:endParaRPr lang="es-PE" sz="2800" b="1" dirty="0">
                <a:solidFill>
                  <a:srgbClr val="7150A0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D88AEFBD-0085-146E-E1E1-F375FD5DF5D5}"/>
                </a:ext>
              </a:extLst>
            </p:cNvPr>
            <p:cNvSpPr/>
            <p:nvPr/>
          </p:nvSpPr>
          <p:spPr>
            <a:xfrm>
              <a:off x="1356793" y="2611281"/>
              <a:ext cx="5931903" cy="96949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defTabSz="977900">
                <a:lnSpc>
                  <a:spcPct val="90000"/>
                </a:lnSpc>
              </a:pPr>
              <a:r>
                <a:rPr lang="es-ES" sz="1400" b="1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rPr>
                <a:t>FLEXIBILIDAD</a:t>
              </a:r>
              <a:br>
                <a:rPr lang="es-ES" sz="1400" b="1" dirty="0">
                  <a:solidFill>
                    <a:srgbClr val="7150A0"/>
                  </a:solidFill>
                  <a:latin typeface="Calibri" charset="0"/>
                  <a:ea typeface="Calibri" charset="0"/>
                  <a:cs typeface="Calibri" charset="0"/>
                </a:rPr>
              </a:br>
              <a:r>
                <a:rPr lang="es-ES" sz="1400" dirty="0">
                  <a:latin typeface="Calibri" charset="0"/>
                  <a:ea typeface="Calibri" charset="0"/>
                  <a:cs typeface="Calibri" charset="0"/>
                </a:rPr>
                <a:t>La arquitectura modular de Spring permite a los equipos elegir y usar solo los componentes que necesitan para sus microservicios, lo que reduce la sobrecarga y optimiza los recursos.</a:t>
              </a:r>
            </a:p>
            <a:p>
              <a:pPr defTabSz="977900">
                <a:lnSpc>
                  <a:spcPct val="90000"/>
                </a:lnSpc>
              </a:pPr>
              <a:endParaRPr lang="es-ES" sz="1400" dirty="0"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26" name="Agrupar 16">
              <a:extLst>
                <a:ext uri="{FF2B5EF4-FFF2-40B4-BE49-F238E27FC236}">
                  <a16:creationId xmlns:a16="http://schemas.microsoft.com/office/drawing/2014/main" id="{C4A27BD3-B997-3137-E140-9689F2210159}"/>
                </a:ext>
              </a:extLst>
            </p:cNvPr>
            <p:cNvGrpSpPr/>
            <p:nvPr/>
          </p:nvGrpSpPr>
          <p:grpSpPr>
            <a:xfrm>
              <a:off x="1071996" y="2616020"/>
              <a:ext cx="140792" cy="140258"/>
              <a:chOff x="3427964" y="2244682"/>
              <a:chExt cx="225891" cy="225034"/>
            </a:xfrm>
          </p:grpSpPr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7BFF93A6-230E-C4F1-8D94-F258D0ACF128}"/>
                  </a:ext>
                </a:extLst>
              </p:cNvPr>
              <p:cNvSpPr/>
              <p:nvPr/>
            </p:nvSpPr>
            <p:spPr>
              <a:xfrm>
                <a:off x="3427964" y="2244682"/>
                <a:ext cx="225891" cy="22503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714F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28" name="Elipse 27">
                <a:extLst>
                  <a:ext uri="{FF2B5EF4-FFF2-40B4-BE49-F238E27FC236}">
                    <a16:creationId xmlns:a16="http://schemas.microsoft.com/office/drawing/2014/main" id="{1C13E42B-E0C4-681F-83EE-115B19B6FED5}"/>
                  </a:ext>
                </a:extLst>
              </p:cNvPr>
              <p:cNvSpPr/>
              <p:nvPr/>
            </p:nvSpPr>
            <p:spPr>
              <a:xfrm>
                <a:off x="3482167" y="2298680"/>
                <a:ext cx="117483" cy="117037"/>
              </a:xfrm>
              <a:prstGeom prst="ellipse">
                <a:avLst/>
              </a:prstGeom>
              <a:solidFill>
                <a:srgbClr val="714FA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Calibri" panose="020F050202020403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A495D6D-73E7-D64C-AD5A-8212D6B1E2F3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82CC9F8-A9FF-BF41-B987-57AFB7D160FE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  <a:ea typeface="Graphik Bold" charset="0"/>
                  <a:cs typeface="Graphik Bold" charset="0"/>
                </a:rPr>
                <a:t>MÁS REFERENCIAS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CD7628C-6304-5D4B-BA7D-591238143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5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4" name="object 7"/>
          <p:cNvSpPr txBox="1"/>
          <p:nvPr/>
        </p:nvSpPr>
        <p:spPr>
          <a:xfrm>
            <a:off x="1279545" y="912813"/>
            <a:ext cx="5525446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La arquitectura de microservicios permite descomponer una aplicación en servicios más pequeños e independientes, lo que facilita su escalabilidad y el despliegue ágil de nuevas funcionalidades sin afectar a otros componentes del sistema​.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Spring Framework, con herramientas como Spring Boot y Spring Cloud, es una solución ideal para el desarrollo de microservicios, proporcionando configuraciones automáticas, gestión centralizada de configuraciones y herramientas de resiliencia y balanceo de carga.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La comunicación entre microservicios se realiza generalmente a través de APIs REST, lo que promueve una comunicación ligera y eficiente entre los diferentes componentes del sistema.</a:t>
            </a:r>
          </a:p>
          <a:p>
            <a:pPr lvl="0"/>
            <a:endParaRPr lang="es-PE" sz="1400" dirty="0">
              <a:latin typeface="Calibri" charset="0"/>
              <a:ea typeface="Calibri" charset="0"/>
              <a:cs typeface="Calibri" charset="0"/>
            </a:endParaRPr>
          </a:p>
          <a:p>
            <a:pPr lvl="0"/>
            <a:r>
              <a:rPr lang="es-PE" sz="1400" dirty="0">
                <a:latin typeface="Calibri" charset="0"/>
                <a:ea typeface="Calibri" charset="0"/>
                <a:cs typeface="Calibri" charset="0"/>
              </a:rPr>
              <a:t>La documentación clara de las APIs, la implementación de versiones y la seguridad son aspectos fundamentales para asegurar la fiabilidad y compatibilidad de los servicios en un entorno distribuido​.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954885"/>
            <a:ext cx="114138" cy="117546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2041127"/>
            <a:ext cx="114138" cy="117546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8772"/>
            <a:ext cx="1690689" cy="2185216"/>
          </a:xfrm>
          <a:prstGeom prst="rect">
            <a:avLst/>
          </a:prstGeom>
        </p:spPr>
      </p:pic>
      <p:sp>
        <p:nvSpPr>
          <p:cNvPr id="9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AAB192-8E91-A1DB-2102-8AD267B95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3093402"/>
            <a:ext cx="114138" cy="11754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A835213-06A6-FB5E-6FCD-991428A9C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3944246"/>
            <a:ext cx="114138" cy="11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8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9F27E8-E0F0-CF48-B2E7-A2617B9B1DEA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BIBLIOGRAFÍA</a:t>
            </a:r>
            <a:b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</a:br>
            <a:r>
              <a: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MÁS REFERENCIAS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970"/>
            <a:ext cx="2072061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67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" name="object 7"/>
          <p:cNvSpPr txBox="1"/>
          <p:nvPr/>
        </p:nvSpPr>
        <p:spPr>
          <a:xfrm>
            <a:off x="1279009" y="917823"/>
            <a:ext cx="4774320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Richardson, L., &amp; Ruby, S.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RESTful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Web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Services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Postman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Documentation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SoapUI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Documentation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endParaRPr lang="es-ES" sz="14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Spring Framework </a:t>
            </a:r>
            <a:r>
              <a:rPr lang="es-ES" sz="1400" dirty="0" err="1">
                <a:latin typeface="Calibri" charset="0"/>
                <a:ea typeface="Calibri" charset="0"/>
                <a:cs typeface="Calibri" charset="0"/>
              </a:rPr>
              <a:t>Documentation</a:t>
            </a:r>
            <a:r>
              <a:rPr lang="es-ES" sz="1400" dirty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endParaRPr lang="es-PE" sz="1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959114"/>
            <a:ext cx="103867" cy="10696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0016DFD-D096-A245-9591-9C15FD675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1832154"/>
            <a:ext cx="103867" cy="106967"/>
          </a:xfrm>
          <a:prstGeom prst="rect">
            <a:avLst/>
          </a:prstGeom>
        </p:spPr>
      </p:pic>
      <p:sp>
        <p:nvSpPr>
          <p:cNvPr id="19" name="Rectángulo 18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3036889"/>
            <a:ext cx="1690688" cy="219710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BIBLIOGRAFÍA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E70AAC-49DC-4519-8C2D-4FF8290EB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1404088"/>
            <a:ext cx="103867" cy="10696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A98AE82-DE2D-FBD1-2DB5-930497835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2249184"/>
            <a:ext cx="103867" cy="1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0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theme/theme1.xml><?xml version="1.0" encoding="utf-8"?>
<a:theme xmlns:a="http://schemas.openxmlformats.org/drawingml/2006/main" name="Office Theme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1735</Words>
  <Application>Microsoft Office PowerPoint</Application>
  <PresentationFormat>Presentación en pantalla (16:10)</PresentationFormat>
  <Paragraphs>212</Paragraphs>
  <Slides>27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5" baseType="lpstr">
      <vt:lpstr>Arial</vt:lpstr>
      <vt:lpstr>Calibri</vt:lpstr>
      <vt:lpstr>Graphik Bold</vt:lpstr>
      <vt:lpstr>Graphik Medium</vt:lpstr>
      <vt:lpstr>Graphik Regular</vt:lpstr>
      <vt:lpstr>Graphik-Medium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ISIL</dc:creator>
  <cp:lastModifiedBy>Medalith Luzquiños Ancaya</cp:lastModifiedBy>
  <cp:revision>9</cp:revision>
  <dcterms:created xsi:type="dcterms:W3CDTF">2016-10-06T14:52:02Z</dcterms:created>
  <dcterms:modified xsi:type="dcterms:W3CDTF">2024-10-20T22:01:33Z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