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662" r:id="rId2"/>
    <p:sldId id="627" r:id="rId3"/>
    <p:sldId id="628" r:id="rId4"/>
    <p:sldId id="742" r:id="rId5"/>
    <p:sldId id="259" r:id="rId6"/>
    <p:sldId id="260" r:id="rId7"/>
    <p:sldId id="743" r:id="rId8"/>
    <p:sldId id="262" r:id="rId9"/>
    <p:sldId id="263" r:id="rId10"/>
    <p:sldId id="264" r:id="rId11"/>
    <p:sldId id="744" r:id="rId12"/>
    <p:sldId id="266" r:id="rId13"/>
    <p:sldId id="267" r:id="rId14"/>
    <p:sldId id="268" r:id="rId15"/>
    <p:sldId id="269" r:id="rId16"/>
    <p:sldId id="270" r:id="rId17"/>
    <p:sldId id="271" r:id="rId18"/>
    <p:sldId id="588" r:id="rId19"/>
    <p:sldId id="589" r:id="rId20"/>
    <p:sldId id="590" r:id="rId21"/>
    <p:sldId id="591" r:id="rId22"/>
    <p:sldId id="593" r:id="rId23"/>
  </p:sldIdLst>
  <p:sldSz cx="9144000" cy="5715000" type="screen16x1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06" userDrawn="1">
          <p15:clr>
            <a:srgbClr val="A4A3A4"/>
          </p15:clr>
        </p15:guide>
        <p15:guide id="2" pos="4218" userDrawn="1">
          <p15:clr>
            <a:srgbClr val="A4A3A4"/>
          </p15:clr>
        </p15:guide>
        <p15:guide id="3" orient="horz" pos="3047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j/pliTwcWdlpM2M6QKlhPj58fo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E392C"/>
    <a:srgbClr val="B7551C"/>
    <a:srgbClr val="008895"/>
    <a:srgbClr val="6A8F3A"/>
    <a:srgbClr val="654E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65"/>
    <p:restoredTop sz="94707"/>
  </p:normalViewPr>
  <p:slideViewPr>
    <p:cSldViewPr snapToGrid="0">
      <p:cViewPr varScale="1">
        <p:scale>
          <a:sx n="100" d="100"/>
          <a:sy n="100" d="100"/>
        </p:scale>
        <p:origin x="84" y="462"/>
      </p:cViewPr>
      <p:guideLst>
        <p:guide orient="horz" pos="1006"/>
        <p:guide pos="4218"/>
        <p:guide orient="horz" pos="304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1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3296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86432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59469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4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5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5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59469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7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7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8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8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9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9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594691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1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1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2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2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13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3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14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4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15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5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1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6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17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96571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ema - 1 Imagen A">
  <p:cSld name="Subtema - 1 Imagen A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E431DC42-303B-F545-9789-3724F9E97760}"/>
              </a:ext>
            </a:extLst>
          </p:cNvPr>
          <p:cNvSpPr/>
          <p:nvPr userDrawn="1"/>
        </p:nvSpPr>
        <p:spPr>
          <a:xfrm>
            <a:off x="7379148" y="5371562"/>
            <a:ext cx="136928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_tradnl" sz="600" b="0" i="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© ISIL. Todos los derechos reservados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9372701D-0A84-0448-9BAF-91437343CCCB}"/>
              </a:ext>
            </a:extLst>
          </p:cNvPr>
          <p:cNvSpPr txBox="1"/>
          <p:nvPr userDrawn="1"/>
        </p:nvSpPr>
        <p:spPr>
          <a:xfrm>
            <a:off x="876300" y="5343295"/>
            <a:ext cx="32271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GESTIÓN DE PROCESOS, SIMULACIÓN Y MEJORA CONTINUA</a:t>
            </a:r>
            <a:r>
              <a:rPr lang="en-US" sz="800" kern="1200" baseline="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ea typeface="Wingdings"/>
                <a:cs typeface="Calibri"/>
                <a:sym typeface="Wingdings"/>
              </a:rPr>
              <a:t></a:t>
            </a:r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  SESIÓN 01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E0D14F7-6E9D-9E40-BFFD-243BDDA808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316" y="5349405"/>
            <a:ext cx="369984" cy="20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780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5DFEB945-3AEB-190F-0E04-0B7BEFCB5F65}"/>
              </a:ext>
            </a:extLst>
          </p:cNvPr>
          <p:cNvSpPr/>
          <p:nvPr userDrawn="1"/>
        </p:nvSpPr>
        <p:spPr>
          <a:xfrm>
            <a:off x="7379148" y="5371562"/>
            <a:ext cx="136928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_tradnl" sz="600" b="0" i="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© ISIL. Todos los derechos reservados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ACCA2410-961F-70CC-682E-2F7D4CBFDD1A}"/>
              </a:ext>
            </a:extLst>
          </p:cNvPr>
          <p:cNvSpPr txBox="1"/>
          <p:nvPr userDrawn="1"/>
        </p:nvSpPr>
        <p:spPr>
          <a:xfrm>
            <a:off x="876300" y="5343295"/>
            <a:ext cx="27622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DESARROLLO DE APLICACIONES EMPRESARIALES II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ea typeface="Wingdings"/>
                <a:cs typeface="Calibri"/>
                <a:sym typeface="Wingdings"/>
              </a:rPr>
              <a:t></a:t>
            </a:r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  TEMA 02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6217F75-30F5-6D06-384A-709ED85FE1F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316" y="5349405"/>
            <a:ext cx="369984" cy="206823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3297" userDrawn="1">
          <p15:clr>
            <a:srgbClr val="F26B43"/>
          </p15:clr>
        </p15:guide>
        <p15:guide id="3" pos="2767" userDrawn="1">
          <p15:clr>
            <a:srgbClr val="F26B43"/>
          </p15:clr>
        </p15:guide>
        <p15:guide id="4" pos="317" userDrawn="1">
          <p15:clr>
            <a:srgbClr val="F26B43"/>
          </p15:clr>
        </p15:guide>
        <p15:guide id="5" pos="2993" userDrawn="1">
          <p15:clr>
            <a:srgbClr val="F26B43"/>
          </p15:clr>
        </p15:guide>
        <p15:guide id="6" pos="5465" userDrawn="1">
          <p15:clr>
            <a:srgbClr val="F26B43"/>
          </p15:clr>
        </p15:guide>
        <p15:guide id="7" orient="horz" pos="575" userDrawn="1">
          <p15:clr>
            <a:srgbClr val="F26B43"/>
          </p15:clr>
        </p15:guide>
        <p15:guide id="8" orient="horz" pos="303" userDrawn="1">
          <p15:clr>
            <a:srgbClr val="F26B43"/>
          </p15:clr>
        </p15:guide>
        <p15:guide id="9" pos="2562" userDrawn="1">
          <p15:clr>
            <a:srgbClr val="F26B43"/>
          </p15:clr>
        </p15:guide>
        <p15:guide id="10" pos="231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ángulo 40"/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0376003-8003-B944-8B01-9A232A7A385C}"/>
              </a:ext>
            </a:extLst>
          </p:cNvPr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900" b="1" dirty="0">
                <a:solidFill>
                  <a:schemeClr val="bg1">
                    <a:lumMod val="50000"/>
                  </a:schemeClr>
                </a:solidFill>
                <a:latin typeface="Calibri" charset="0"/>
                <a:cs typeface="Calibri" charset="0"/>
              </a:rPr>
              <a:t>DESARROLLO DE APLICACIONES EMPRESARIALES II </a:t>
            </a:r>
          </a:p>
        </p:txBody>
      </p:sp>
      <p:sp>
        <p:nvSpPr>
          <p:cNvPr id="25" name="Rectángulo 24"/>
          <p:cNvSpPr/>
          <p:nvPr/>
        </p:nvSpPr>
        <p:spPr>
          <a:xfrm>
            <a:off x="503239" y="2177570"/>
            <a:ext cx="3213718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s-PE" sz="2800" b="1" dirty="0">
                <a:latin typeface="Graphik Bold" panose="020B0503030202060203" pitchFamily="34" charset="77"/>
                <a:ea typeface="Graphik-Medium" charset="0"/>
                <a:cs typeface="Graphik-Medium" charset="0"/>
              </a:rPr>
              <a:t>COMPONENTES </a:t>
            </a:r>
          </a:p>
        </p:txBody>
      </p:sp>
      <p:sp>
        <p:nvSpPr>
          <p:cNvPr id="27" name="Rectángulo 26"/>
          <p:cNvSpPr/>
          <p:nvPr/>
        </p:nvSpPr>
        <p:spPr>
          <a:xfrm>
            <a:off x="503238" y="3219842"/>
            <a:ext cx="2845526" cy="6424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7800" indent="-177800">
              <a:lnSpc>
                <a:spcPct val="120000"/>
              </a:lnSpc>
              <a:buClr>
                <a:srgbClr val="0B6AB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Eficiencia</a:t>
            </a:r>
          </a:p>
          <a:p>
            <a:pPr marL="177800" indent="-177800">
              <a:lnSpc>
                <a:spcPct val="120000"/>
              </a:lnSpc>
              <a:buClr>
                <a:srgbClr val="0B6AB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Uso de componentes</a:t>
            </a:r>
          </a:p>
          <a:p>
            <a:pPr marL="177800" indent="-177800">
              <a:lnSpc>
                <a:spcPct val="120000"/>
              </a:lnSpc>
              <a:buClr>
                <a:srgbClr val="0B6AB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Aplicaciones empresariales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3FC3217-3DCC-0941-BA6B-6CEEC9F1D080}"/>
              </a:ext>
            </a:extLst>
          </p:cNvPr>
          <p:cNvSpPr txBox="1"/>
          <p:nvPr/>
        </p:nvSpPr>
        <p:spPr>
          <a:xfrm>
            <a:off x="743902" y="1819386"/>
            <a:ext cx="14576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2000" b="1" dirty="0">
                <a:solidFill>
                  <a:srgbClr val="0B6AB0"/>
                </a:solidFill>
                <a:latin typeface="Calibri" charset="0"/>
                <a:ea typeface="Calibri" charset="0"/>
                <a:cs typeface="Calibri" charset="0"/>
              </a:rPr>
              <a:t>TEMA 02</a:t>
            </a:r>
          </a:p>
        </p:txBody>
      </p:sp>
      <p:pic>
        <p:nvPicPr>
          <p:cNvPr id="29" name="Imagen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64" y="1883411"/>
            <a:ext cx="166865" cy="17045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ABCD739-0A62-0FD3-2175-DE895833E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850" y="0"/>
            <a:ext cx="539115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209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46969"/>
            <a:ext cx="2072213" cy="3898064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ES_tradnl" sz="33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INTRODUCCIÓN</a:t>
            </a:r>
          </a:p>
          <a:p>
            <a:pPr>
              <a:lnSpc>
                <a:spcPct val="80000"/>
              </a:lnSpc>
            </a:pPr>
            <a:r>
              <a:rPr lang="es-ES_tradnl" sz="33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DE LA SESIÓN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334433" y="3817749"/>
            <a:ext cx="809264" cy="80926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CD7628C-6304-5D4B-BA7D-591238143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59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82299" y="918372"/>
            <a:ext cx="5368532" cy="2154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s-PE" sz="1400" dirty="0">
                <a:latin typeface="Calibri" charset="0"/>
                <a:cs typeface="Calibri" charset="0"/>
              </a:rPr>
              <a:t>Java EE (Enterprise Edition) es una plataforma de desarrollo de aplicaciones empresariales que proporciona un conjunto de componentes para el desarrollo, implementación y gestión de aplicaciones escalables y de alta disponibilidad.</a:t>
            </a:r>
          </a:p>
          <a:p>
            <a:pPr lvl="0"/>
            <a:endParaRPr lang="es-PE" sz="1400" dirty="0">
              <a:latin typeface="Calibri" charset="0"/>
              <a:cs typeface="Calibri" charset="0"/>
            </a:endParaRPr>
          </a:p>
          <a:p>
            <a:pPr lvl="0"/>
            <a:r>
              <a:rPr lang="es-PE" sz="1400" dirty="0">
                <a:latin typeface="Calibri" charset="0"/>
                <a:cs typeface="Calibri" charset="0"/>
              </a:rPr>
              <a:t>Entonces, durante esta sesión aprenderá:</a:t>
            </a:r>
          </a:p>
          <a:p>
            <a:pPr lvl="0"/>
            <a:endParaRPr lang="es-PE" sz="1400" spc="-10" dirty="0">
              <a:solidFill>
                <a:srgbClr val="262626"/>
              </a:solidFill>
              <a:latin typeface="Calibri" charset="0"/>
              <a:ea typeface="Calibri" charset="0"/>
              <a:cs typeface="Calibri" charset="0"/>
            </a:endParaRPr>
          </a:p>
          <a:p>
            <a:pPr marL="177800" lvl="1" indent="-165100">
              <a:buClr>
                <a:srgbClr val="EE4639"/>
              </a:buClr>
              <a:buFont typeface="Arial" charset="0"/>
              <a:buChar char="•"/>
              <a:tabLst>
                <a:tab pos="120650" algn="l"/>
              </a:tabLst>
            </a:pPr>
            <a:r>
              <a:rPr lang="es-ES_tradnl" sz="1400" spc="-1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La eficiencia del uso de componentes de la plataforma Java EE.</a:t>
            </a:r>
          </a:p>
          <a:p>
            <a:pPr marL="177800" lvl="1" indent="-165100">
              <a:buClr>
                <a:srgbClr val="EE4639"/>
              </a:buClr>
              <a:buFont typeface="Arial" charset="0"/>
              <a:buChar char="•"/>
              <a:tabLst>
                <a:tab pos="120650" algn="l"/>
              </a:tabLst>
            </a:pPr>
            <a:r>
              <a:rPr lang="es-ES_tradnl" sz="1400" spc="-1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Cómo utilizar los componentes de la plataforma Java EE en una aplicación empresarial.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954885"/>
            <a:ext cx="117851" cy="121369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661" y="3052731"/>
            <a:ext cx="1689027" cy="2181257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2042283"/>
            <a:ext cx="117851" cy="121369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5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INTRODUCCIÓN </a:t>
            </a:r>
          </a:p>
        </p:txBody>
      </p:sp>
    </p:spTree>
    <p:extLst>
      <p:ext uri="{BB962C8B-B14F-4D97-AF65-F5344CB8AC3E}">
        <p14:creationId xmlns:p14="http://schemas.microsoft.com/office/powerpoint/2010/main" val="783239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993558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EFICIENCIA 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29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 txBox="1"/>
          <p:nvPr/>
        </p:nvSpPr>
        <p:spPr>
          <a:xfrm>
            <a:off x="504344" y="919957"/>
            <a:ext cx="8164200" cy="344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Los componentes de Java EE (Enterprise </a:t>
            </a:r>
            <a:r>
              <a:rPr lang="es-ES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Edition</a:t>
            </a: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) se han creado para ser eficientes en cuanto a su rendimiento y escalabilidad.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4150" marR="0" lvl="0" indent="-18415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R="0" lvl="0" rtl="0"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Estos componentes se ejecutan dentro de contenedores suministrados por la plataforma, que proveen servicios esenciales como: 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4150" marR="0" lvl="0" indent="-18415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360363" marR="0" lvl="0" indent="-17621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Seguridad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60363" marR="0" lvl="0" indent="-17621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Gestión de sesiones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60363" marR="0" lvl="0" indent="-17621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Transacciones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60363" marR="0" lvl="0" indent="-17621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Conexión con bases de datos.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b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</a:br>
            <a:b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</a:b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56" name="Google Shape;5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67175" y="2351453"/>
            <a:ext cx="2032000" cy="1116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39512" y="2387171"/>
            <a:ext cx="1928828" cy="944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23262" y="3712843"/>
            <a:ext cx="1703319" cy="115582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9934390E-6E39-C468-8E9C-EEEA4F1B92B7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EFICIENCIA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/>
        </p:nvSpPr>
        <p:spPr>
          <a:xfrm>
            <a:off x="504344" y="919957"/>
            <a:ext cx="816420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4150" marR="0" lvl="0" indent="-1841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Otra característica importante de los componentes de Java EE es que están diseñados para ser reutilizables y modulares, lo que significa que se pueden utilizar en diferentes secciones de la aplicación sin necesidad de volver a escribir el código. 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4150" marR="0" lvl="0" indent="-1841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4150" marR="0" lvl="0" indent="-1841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Esto ahorra tiempo y reduce la posibilidad de cometer errores. </a:t>
            </a: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Los componentes también son altamente configurables, lo que permite a los desarrolladores ajustar el comportamiento de los componentes para satisfacer las necesidades específicas de la aplicación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90070" y="3090217"/>
            <a:ext cx="2958671" cy="14365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72A4D584-B51B-FB5F-BDEF-64DDCDA6629E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EFICIENCIA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34B91E8-CC1F-7C6D-599D-9902FB7966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779" y="3193162"/>
            <a:ext cx="3183834" cy="14645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3856831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USO DE </a:t>
            </a:r>
            <a:r>
              <a:rPr lang="es-PE" sz="2800" b="1" dirty="0">
                <a:solidFill>
                  <a:schemeClr val="bg1"/>
                </a:solidFill>
                <a:latin typeface="Graphik Bold" panose="020B0503030202060203" pitchFamily="34" charset="77"/>
                <a:ea typeface="Graphik Regular" charset="0"/>
                <a:cs typeface="Graphik Regular" charset="0"/>
              </a:rPr>
              <a:t>COMPONENTES</a:t>
            </a:r>
            <a:endParaRPr lang="es-ES" sz="1600" b="1" dirty="0">
              <a:solidFill>
                <a:schemeClr val="bg1"/>
              </a:solidFill>
              <a:latin typeface="Graphik Bold" panose="020B0503030202060203" pitchFamily="34" charset="77"/>
              <a:cs typeface="Calibri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369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 txBox="1"/>
          <p:nvPr/>
        </p:nvSpPr>
        <p:spPr>
          <a:xfrm>
            <a:off x="504344" y="919957"/>
            <a:ext cx="8164347" cy="56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600"/>
              </a:spcAft>
            </a:pPr>
            <a:r>
              <a:rPr lang="es-ES" sz="1600" b="1" dirty="0">
                <a:solidFill>
                  <a:srgbClr val="262626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CAPAS DE APLICACIONES JAVA EE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s-ES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Las aplicaciones J2EE se dividen en 4 capas, que utilizan los siguientes componentes</a:t>
            </a:r>
            <a:r>
              <a:rPr lang="es-ES" sz="1600" b="0" i="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: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Google Shape;83;p7"/>
          <p:cNvSpPr txBox="1"/>
          <p:nvPr/>
        </p:nvSpPr>
        <p:spPr>
          <a:xfrm>
            <a:off x="4578545" y="4796671"/>
            <a:ext cx="3234617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Java EE - Componentes</a:t>
            </a:r>
            <a:endParaRPr sz="1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302FBABD-AD59-5BE8-09D3-1BA3AF635C87}"/>
              </a:ext>
            </a:extLst>
          </p:cNvPr>
          <p:cNvSpPr/>
          <p:nvPr/>
        </p:nvSpPr>
        <p:spPr>
          <a:xfrm>
            <a:off x="503238" y="384619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USO DE COMPONENTES 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93F640D6-0713-C1B5-8679-213B99CFF489}"/>
              </a:ext>
            </a:extLst>
          </p:cNvPr>
          <p:cNvGrpSpPr/>
          <p:nvPr/>
        </p:nvGrpSpPr>
        <p:grpSpPr>
          <a:xfrm>
            <a:off x="724332" y="3277809"/>
            <a:ext cx="2431715" cy="500394"/>
            <a:chOff x="792046" y="3926925"/>
            <a:chExt cx="2431715" cy="500394"/>
          </a:xfrm>
        </p:grpSpPr>
        <p:sp>
          <p:nvSpPr>
            <p:cNvPr id="6" name="Rectángulo redondeado 5">
              <a:extLst>
                <a:ext uri="{FF2B5EF4-FFF2-40B4-BE49-F238E27FC236}">
                  <a16:creationId xmlns:a16="http://schemas.microsoft.com/office/drawing/2014/main" id="{8B10586C-4FE5-480C-AAA6-9F40921C7971}"/>
                </a:ext>
              </a:extLst>
            </p:cNvPr>
            <p:cNvSpPr/>
            <p:nvPr/>
          </p:nvSpPr>
          <p:spPr>
            <a:xfrm>
              <a:off x="1008063" y="3926925"/>
              <a:ext cx="2215698" cy="500394"/>
            </a:xfrm>
            <a:prstGeom prst="roundRect">
              <a:avLst>
                <a:gd name="adj" fmla="val 2420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</a:pPr>
              <a:r>
                <a:rPr lang="es-ES_tradnl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     </a:t>
              </a:r>
              <a:r>
                <a:rPr lang="es-ES" b="1" dirty="0">
                  <a:solidFill>
                    <a:schemeClr val="bg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CAPA NEGOCIO</a:t>
              </a:r>
              <a:endParaRPr lang="es-E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7" name="Agrupar 4">
              <a:extLst>
                <a:ext uri="{FF2B5EF4-FFF2-40B4-BE49-F238E27FC236}">
                  <a16:creationId xmlns:a16="http://schemas.microsoft.com/office/drawing/2014/main" id="{5C39FE90-AD64-2DEC-5C1B-498C62440A5F}"/>
                </a:ext>
              </a:extLst>
            </p:cNvPr>
            <p:cNvGrpSpPr/>
            <p:nvPr/>
          </p:nvGrpSpPr>
          <p:grpSpPr>
            <a:xfrm>
              <a:off x="792046" y="3975211"/>
              <a:ext cx="459474" cy="403823"/>
              <a:chOff x="5892512" y="2805541"/>
              <a:chExt cx="459474" cy="403823"/>
            </a:xfrm>
          </p:grpSpPr>
          <p:sp>
            <p:nvSpPr>
              <p:cNvPr id="8" name="Elipse 7">
                <a:extLst>
                  <a:ext uri="{FF2B5EF4-FFF2-40B4-BE49-F238E27FC236}">
                    <a16:creationId xmlns:a16="http://schemas.microsoft.com/office/drawing/2014/main" id="{C60B52C9-BFF8-7E21-5418-9C21559A4D4F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B7551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9" name="Elipse 8">
                <a:extLst>
                  <a:ext uri="{FF2B5EF4-FFF2-40B4-BE49-F238E27FC236}">
                    <a16:creationId xmlns:a16="http://schemas.microsoft.com/office/drawing/2014/main" id="{A5F00A4F-6BC2-FD55-A5D5-58F09B6F8342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0" name="Triángulo 9">
                <a:extLst>
                  <a:ext uri="{FF2B5EF4-FFF2-40B4-BE49-F238E27FC236}">
                    <a16:creationId xmlns:a16="http://schemas.microsoft.com/office/drawing/2014/main" id="{68F337AB-4C14-CA8A-B251-BE608A101273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2E609F54-399C-F98F-1F1F-2F7F50F8C430}"/>
              </a:ext>
            </a:extLst>
          </p:cNvPr>
          <p:cNvGrpSpPr/>
          <p:nvPr/>
        </p:nvGrpSpPr>
        <p:grpSpPr>
          <a:xfrm>
            <a:off x="724332" y="2637430"/>
            <a:ext cx="2431715" cy="500394"/>
            <a:chOff x="792046" y="3303503"/>
            <a:chExt cx="2431715" cy="500394"/>
          </a:xfrm>
        </p:grpSpPr>
        <p:sp>
          <p:nvSpPr>
            <p:cNvPr id="12" name="Rectángulo redondeado 11">
              <a:extLst>
                <a:ext uri="{FF2B5EF4-FFF2-40B4-BE49-F238E27FC236}">
                  <a16:creationId xmlns:a16="http://schemas.microsoft.com/office/drawing/2014/main" id="{48D2FE20-E2E2-467D-2C8D-3E59C11B26C8}"/>
                </a:ext>
              </a:extLst>
            </p:cNvPr>
            <p:cNvSpPr/>
            <p:nvPr/>
          </p:nvSpPr>
          <p:spPr>
            <a:xfrm>
              <a:off x="1008063" y="3303503"/>
              <a:ext cx="2215698" cy="500394"/>
            </a:xfrm>
            <a:prstGeom prst="roundRect">
              <a:avLst>
                <a:gd name="adj" fmla="val 26745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6350" indent="-1588" algn="ctr">
                <a:tabLst>
                  <a:tab pos="569913" algn="l"/>
                </a:tabLst>
              </a:pPr>
              <a:r>
                <a:rPr lang="es-ES_tradnl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     </a:t>
              </a:r>
              <a:r>
                <a:rPr lang="es-ES" b="1" dirty="0">
                  <a:solidFill>
                    <a:schemeClr val="bg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CAPA WEB</a:t>
              </a:r>
              <a:endParaRPr lang="es-E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3" name="Agrupar 9">
              <a:extLst>
                <a:ext uri="{FF2B5EF4-FFF2-40B4-BE49-F238E27FC236}">
                  <a16:creationId xmlns:a16="http://schemas.microsoft.com/office/drawing/2014/main" id="{E14BCFB0-2A4A-6BB8-C543-9949D1DCCBC8}"/>
                </a:ext>
              </a:extLst>
            </p:cNvPr>
            <p:cNvGrpSpPr/>
            <p:nvPr/>
          </p:nvGrpSpPr>
          <p:grpSpPr>
            <a:xfrm>
              <a:off x="792046" y="3351789"/>
              <a:ext cx="459474" cy="403823"/>
              <a:chOff x="5892512" y="2805541"/>
              <a:chExt cx="459474" cy="403823"/>
            </a:xfrm>
          </p:grpSpPr>
          <p:sp>
            <p:nvSpPr>
              <p:cNvPr id="14" name="Elipse 13">
                <a:extLst>
                  <a:ext uri="{FF2B5EF4-FFF2-40B4-BE49-F238E27FC236}">
                    <a16:creationId xmlns:a16="http://schemas.microsoft.com/office/drawing/2014/main" id="{C0EB5ACF-9C88-62E2-FDF8-F7035B059A7C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00889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5" name="Elipse 14">
                <a:extLst>
                  <a:ext uri="{FF2B5EF4-FFF2-40B4-BE49-F238E27FC236}">
                    <a16:creationId xmlns:a16="http://schemas.microsoft.com/office/drawing/2014/main" id="{84B253EC-7988-7465-B071-FAC437E2F0D6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6" name="Triángulo 15">
                <a:extLst>
                  <a:ext uri="{FF2B5EF4-FFF2-40B4-BE49-F238E27FC236}">
                    <a16:creationId xmlns:a16="http://schemas.microsoft.com/office/drawing/2014/main" id="{022C6685-E712-4176-D5F5-097EC4D0CAB4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71CCA88B-2D41-4EF6-288D-8C4D1F869DD4}"/>
              </a:ext>
            </a:extLst>
          </p:cNvPr>
          <p:cNvGrpSpPr/>
          <p:nvPr/>
        </p:nvGrpSpPr>
        <p:grpSpPr>
          <a:xfrm>
            <a:off x="724332" y="1997051"/>
            <a:ext cx="2431715" cy="500394"/>
            <a:chOff x="792046" y="2675842"/>
            <a:chExt cx="2431715" cy="500394"/>
          </a:xfrm>
        </p:grpSpPr>
        <p:sp>
          <p:nvSpPr>
            <p:cNvPr id="18" name="Rectángulo redondeado 17">
              <a:extLst>
                <a:ext uri="{FF2B5EF4-FFF2-40B4-BE49-F238E27FC236}">
                  <a16:creationId xmlns:a16="http://schemas.microsoft.com/office/drawing/2014/main" id="{F34EE4C1-16CC-B571-7D36-D85678E7293E}"/>
                </a:ext>
              </a:extLst>
            </p:cNvPr>
            <p:cNvSpPr/>
            <p:nvPr/>
          </p:nvSpPr>
          <p:spPr>
            <a:xfrm>
              <a:off x="1008063" y="2675842"/>
              <a:ext cx="2215698" cy="500394"/>
            </a:xfrm>
            <a:prstGeom prst="roundRect">
              <a:avLst>
                <a:gd name="adj" fmla="val 2484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6350" indent="-1588" algn="ctr">
                <a:tabLst>
                  <a:tab pos="569913" algn="l"/>
                </a:tabLst>
              </a:pPr>
              <a:r>
                <a:rPr lang="es-ES_tradnl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    CAPA CLIENTE</a:t>
              </a:r>
            </a:p>
          </p:txBody>
        </p:sp>
        <p:grpSp>
          <p:nvGrpSpPr>
            <p:cNvPr id="19" name="Agrupar 14">
              <a:extLst>
                <a:ext uri="{FF2B5EF4-FFF2-40B4-BE49-F238E27FC236}">
                  <a16:creationId xmlns:a16="http://schemas.microsoft.com/office/drawing/2014/main" id="{D824FECD-631E-309F-C433-1FE86A1DF1CA}"/>
                </a:ext>
              </a:extLst>
            </p:cNvPr>
            <p:cNvGrpSpPr/>
            <p:nvPr/>
          </p:nvGrpSpPr>
          <p:grpSpPr>
            <a:xfrm>
              <a:off x="792046" y="2724128"/>
              <a:ext cx="459474" cy="403823"/>
              <a:chOff x="5892512" y="2805541"/>
              <a:chExt cx="459474" cy="403823"/>
            </a:xfrm>
          </p:grpSpPr>
          <p:sp>
            <p:nvSpPr>
              <p:cNvPr id="20" name="Elipse 19">
                <a:extLst>
                  <a:ext uri="{FF2B5EF4-FFF2-40B4-BE49-F238E27FC236}">
                    <a16:creationId xmlns:a16="http://schemas.microsoft.com/office/drawing/2014/main" id="{85F21DE5-55F9-4381-F4D3-177AD59543C8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6A8F3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50D3AD30-DE29-72E5-33D8-3D6D53269C57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22" name="Triángulo 21">
                <a:extLst>
                  <a:ext uri="{FF2B5EF4-FFF2-40B4-BE49-F238E27FC236}">
                    <a16:creationId xmlns:a16="http://schemas.microsoft.com/office/drawing/2014/main" id="{7FBDAFFD-6CF8-B31D-AF18-5E138E75A7EE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6D5E8F9C-657B-F02E-E227-F5B418BAE8BD}"/>
              </a:ext>
            </a:extLst>
          </p:cNvPr>
          <p:cNvGrpSpPr/>
          <p:nvPr/>
        </p:nvGrpSpPr>
        <p:grpSpPr>
          <a:xfrm>
            <a:off x="724332" y="3918188"/>
            <a:ext cx="2431715" cy="500394"/>
            <a:chOff x="792046" y="3926925"/>
            <a:chExt cx="2431715" cy="500394"/>
          </a:xfrm>
        </p:grpSpPr>
        <p:sp>
          <p:nvSpPr>
            <p:cNvPr id="24" name="Rectángulo redondeado 23">
              <a:extLst>
                <a:ext uri="{FF2B5EF4-FFF2-40B4-BE49-F238E27FC236}">
                  <a16:creationId xmlns:a16="http://schemas.microsoft.com/office/drawing/2014/main" id="{48034EEF-2F9D-791E-03B3-1202D211403F}"/>
                </a:ext>
              </a:extLst>
            </p:cNvPr>
            <p:cNvSpPr/>
            <p:nvPr/>
          </p:nvSpPr>
          <p:spPr>
            <a:xfrm>
              <a:off x="1008063" y="3926925"/>
              <a:ext cx="2215698" cy="500394"/>
            </a:xfrm>
            <a:prstGeom prst="roundRect">
              <a:avLst>
                <a:gd name="adj" fmla="val 2420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</a:pPr>
              <a:r>
                <a:rPr lang="es-ES_tradnl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     </a:t>
              </a:r>
              <a:r>
                <a:rPr lang="es-ES" b="1" dirty="0">
                  <a:solidFill>
                    <a:schemeClr val="bg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CAPA DATOS</a:t>
              </a:r>
            </a:p>
          </p:txBody>
        </p:sp>
        <p:grpSp>
          <p:nvGrpSpPr>
            <p:cNvPr id="25" name="Agrupar 4">
              <a:extLst>
                <a:ext uri="{FF2B5EF4-FFF2-40B4-BE49-F238E27FC236}">
                  <a16:creationId xmlns:a16="http://schemas.microsoft.com/office/drawing/2014/main" id="{19F88930-AF21-396D-EE05-5C1347DE70E5}"/>
                </a:ext>
              </a:extLst>
            </p:cNvPr>
            <p:cNvGrpSpPr/>
            <p:nvPr/>
          </p:nvGrpSpPr>
          <p:grpSpPr>
            <a:xfrm>
              <a:off x="792046" y="3975211"/>
              <a:ext cx="459474" cy="403823"/>
              <a:chOff x="5892512" y="2805541"/>
              <a:chExt cx="459474" cy="403823"/>
            </a:xfrm>
          </p:grpSpPr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BEA7CE1D-A2E7-3FB5-0FFA-F3F06A141CDC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BE392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27" name="Elipse 26">
                <a:extLst>
                  <a:ext uri="{FF2B5EF4-FFF2-40B4-BE49-F238E27FC236}">
                    <a16:creationId xmlns:a16="http://schemas.microsoft.com/office/drawing/2014/main" id="{B0F2030B-AEC6-8ED7-07D0-120C0E8B9727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28" name="Triángulo 27">
                <a:extLst>
                  <a:ext uri="{FF2B5EF4-FFF2-40B4-BE49-F238E27FC236}">
                    <a16:creationId xmlns:a16="http://schemas.microsoft.com/office/drawing/2014/main" id="{B6CA3C26-F0AB-5A52-C4B6-E6747C073DBF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A391E36D-E713-5E06-B2B6-ED0D6696450A}"/>
              </a:ext>
            </a:extLst>
          </p:cNvPr>
          <p:cNvGrpSpPr/>
          <p:nvPr/>
        </p:nvGrpSpPr>
        <p:grpSpPr>
          <a:xfrm>
            <a:off x="4013704" y="1900646"/>
            <a:ext cx="846201" cy="2728580"/>
            <a:chOff x="3979086" y="1863749"/>
            <a:chExt cx="846201" cy="2728580"/>
          </a:xfrm>
        </p:grpSpPr>
        <p:sp>
          <p:nvSpPr>
            <p:cNvPr id="33" name="Google Shape;80;p7">
              <a:extLst>
                <a:ext uri="{FF2B5EF4-FFF2-40B4-BE49-F238E27FC236}">
                  <a16:creationId xmlns:a16="http://schemas.microsoft.com/office/drawing/2014/main" id="{6F60C7D5-8E07-01F8-D9B8-DD7A49686DC1}"/>
                </a:ext>
              </a:extLst>
            </p:cNvPr>
            <p:cNvSpPr txBox="1"/>
            <p:nvPr/>
          </p:nvSpPr>
          <p:spPr>
            <a:xfrm>
              <a:off x="3979086" y="1863749"/>
              <a:ext cx="84620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R="0" lvl="0" algn="ctr" rtl="0">
                <a:spcBef>
                  <a:spcPts val="0"/>
                </a:spcBef>
              </a:pPr>
              <a:r>
                <a:rPr lang="es-ES" sz="1100" b="1" dirty="0">
                  <a:solidFill>
                    <a:schemeClr val="accent3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Capa</a:t>
              </a:r>
            </a:p>
            <a:p>
              <a:pPr marR="0" lvl="0" algn="ctr" rtl="0">
                <a:spcBef>
                  <a:spcPts val="0"/>
                </a:spcBef>
              </a:pPr>
              <a:r>
                <a:rPr lang="es-ES" sz="1100" b="1" dirty="0">
                  <a:solidFill>
                    <a:schemeClr val="accent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/>
                </a:rPr>
                <a:t>Cliente</a:t>
              </a:r>
              <a:endParaRPr sz="11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C4AA6AA2-D2BE-CB82-5E0A-03AC212DF566}"/>
                </a:ext>
              </a:extLst>
            </p:cNvPr>
            <p:cNvSpPr/>
            <p:nvPr/>
          </p:nvSpPr>
          <p:spPr>
            <a:xfrm>
              <a:off x="4060080" y="2224575"/>
              <a:ext cx="684213" cy="94949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t"/>
            <a:lstStyle/>
            <a:p>
              <a:pPr algn="ctr"/>
              <a:r>
                <a:rPr lang="es-ES_tradnl" sz="8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Browser </a:t>
              </a:r>
            </a:p>
          </p:txBody>
        </p:sp>
        <p:sp>
          <p:nvSpPr>
            <p:cNvPr id="35" name="Rectángulo 34">
              <a:extLst>
                <a:ext uri="{FF2B5EF4-FFF2-40B4-BE49-F238E27FC236}">
                  <a16:creationId xmlns:a16="http://schemas.microsoft.com/office/drawing/2014/main" id="{3AE134FD-B6F1-277A-8A69-290EAC716618}"/>
                </a:ext>
              </a:extLst>
            </p:cNvPr>
            <p:cNvSpPr/>
            <p:nvPr/>
          </p:nvSpPr>
          <p:spPr>
            <a:xfrm>
              <a:off x="4060080" y="3255447"/>
              <a:ext cx="684213" cy="6223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t"/>
            <a:lstStyle/>
            <a:p>
              <a:pPr algn="ctr"/>
              <a:r>
                <a:rPr lang="es-ES_tradnl" sz="8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Desktop </a:t>
              </a:r>
            </a:p>
          </p:txBody>
        </p:sp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B148F1BF-6EDA-5420-D285-00CBA200548D}"/>
                </a:ext>
              </a:extLst>
            </p:cNvPr>
            <p:cNvSpPr/>
            <p:nvPr/>
          </p:nvSpPr>
          <p:spPr>
            <a:xfrm>
              <a:off x="4060080" y="3969953"/>
              <a:ext cx="684213" cy="6223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t"/>
            <a:lstStyle/>
            <a:p>
              <a:pPr algn="ctr"/>
              <a:r>
                <a:rPr lang="es-ES_tradnl" sz="8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Dispositivo </a:t>
              </a:r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D0CC7214-AC9F-10CC-F81C-7EE6B3431014}"/>
                </a:ext>
              </a:extLst>
            </p:cNvPr>
            <p:cNvSpPr/>
            <p:nvPr/>
          </p:nvSpPr>
          <p:spPr>
            <a:xfrm>
              <a:off x="4102972" y="2432017"/>
              <a:ext cx="598429" cy="3159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8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HTML</a:t>
              </a:r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0F3B5A23-B67F-2B38-F13F-4C641527B8BC}"/>
                </a:ext>
              </a:extLst>
            </p:cNvPr>
            <p:cNvSpPr/>
            <p:nvPr/>
          </p:nvSpPr>
          <p:spPr>
            <a:xfrm>
              <a:off x="4102972" y="2819397"/>
              <a:ext cx="598429" cy="3159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8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Applet</a:t>
              </a:r>
            </a:p>
            <a:p>
              <a:pPr algn="ctr"/>
              <a:r>
                <a:rPr lang="es-ES_tradnl" sz="8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Java</a:t>
              </a:r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6C82AE04-228C-5D1E-AAD6-720FAE8121CF}"/>
                </a:ext>
              </a:extLst>
            </p:cNvPr>
            <p:cNvSpPr/>
            <p:nvPr/>
          </p:nvSpPr>
          <p:spPr>
            <a:xfrm>
              <a:off x="4102972" y="3448910"/>
              <a:ext cx="598429" cy="38103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8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Aplicación </a:t>
              </a:r>
            </a:p>
            <a:p>
              <a:pPr algn="ctr"/>
              <a:r>
                <a:rPr lang="es-ES_tradnl" sz="8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Java</a:t>
              </a:r>
            </a:p>
          </p:txBody>
        </p: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F725CFF8-C041-25E2-6777-5B90C0CBB9A5}"/>
                </a:ext>
              </a:extLst>
            </p:cNvPr>
            <p:cNvSpPr/>
            <p:nvPr/>
          </p:nvSpPr>
          <p:spPr>
            <a:xfrm>
              <a:off x="4102972" y="4158431"/>
              <a:ext cx="598429" cy="38103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8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Cliente </a:t>
              </a:r>
            </a:p>
            <a:p>
              <a:pPr algn="ctr"/>
              <a:r>
                <a:rPr lang="es-ES_tradnl" sz="8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J2EE</a:t>
              </a:r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2B21CA9D-A4A3-4549-3664-2927E5276C70}"/>
              </a:ext>
            </a:extLst>
          </p:cNvPr>
          <p:cNvGrpSpPr/>
          <p:nvPr/>
        </p:nvGrpSpPr>
        <p:grpSpPr>
          <a:xfrm>
            <a:off x="5200190" y="1900646"/>
            <a:ext cx="846201" cy="2713038"/>
            <a:chOff x="5165572" y="1863749"/>
            <a:chExt cx="846201" cy="2713038"/>
          </a:xfrm>
        </p:grpSpPr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5F2BC62A-D581-DD29-66A1-7FEBAE069C50}"/>
                </a:ext>
              </a:extLst>
            </p:cNvPr>
            <p:cNvGrpSpPr/>
            <p:nvPr/>
          </p:nvGrpSpPr>
          <p:grpSpPr>
            <a:xfrm>
              <a:off x="5165572" y="1863749"/>
              <a:ext cx="846201" cy="2713038"/>
              <a:chOff x="5371431" y="2241158"/>
              <a:chExt cx="846201" cy="2713038"/>
            </a:xfrm>
          </p:grpSpPr>
          <p:sp>
            <p:nvSpPr>
              <p:cNvPr id="38" name="Google Shape;80;p7">
                <a:extLst>
                  <a:ext uri="{FF2B5EF4-FFF2-40B4-BE49-F238E27FC236}">
                    <a16:creationId xmlns:a16="http://schemas.microsoft.com/office/drawing/2014/main" id="{57495791-2694-023C-B4D7-4B2AF394D7AC}"/>
                  </a:ext>
                </a:extLst>
              </p:cNvPr>
              <p:cNvSpPr txBox="1"/>
              <p:nvPr/>
            </p:nvSpPr>
            <p:spPr>
              <a:xfrm>
                <a:off x="5371431" y="2241158"/>
                <a:ext cx="84620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R="0" lvl="0" algn="ctr" rtl="0">
                  <a:spcBef>
                    <a:spcPts val="0"/>
                  </a:spcBef>
                </a:pPr>
                <a:r>
                  <a:rPr lang="es-ES" sz="1100" b="1" dirty="0">
                    <a:solidFill>
                      <a:schemeClr val="accent5"/>
                    </a:solidFill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  <a:sym typeface="Calibri"/>
                  </a:rPr>
                  <a:t>Capa</a:t>
                </a:r>
              </a:p>
              <a:p>
                <a:pPr marR="0" lvl="0" algn="ctr" rtl="0">
                  <a:spcBef>
                    <a:spcPts val="0"/>
                  </a:spcBef>
                </a:pPr>
                <a:r>
                  <a:rPr lang="es-ES" sz="1100" b="1" dirty="0">
                    <a:solidFill>
                      <a:schemeClr val="accent5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Web</a:t>
                </a:r>
                <a:endParaRPr sz="1100" dirty="0">
                  <a:solidFill>
                    <a:schemeClr val="accent5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9" name="Rectángulo 38">
                <a:extLst>
                  <a:ext uri="{FF2B5EF4-FFF2-40B4-BE49-F238E27FC236}">
                    <a16:creationId xmlns:a16="http://schemas.microsoft.com/office/drawing/2014/main" id="{3CC392F7-40B9-0E16-2D13-77E3AC02809B}"/>
                  </a:ext>
                </a:extLst>
              </p:cNvPr>
              <p:cNvSpPr/>
              <p:nvPr/>
            </p:nvSpPr>
            <p:spPr>
              <a:xfrm>
                <a:off x="5452425" y="2601984"/>
                <a:ext cx="684213" cy="235221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0" rtlCol="0" anchor="t"/>
              <a:lstStyle/>
              <a:p>
                <a:pPr algn="ctr"/>
                <a:r>
                  <a:rPr lang="es-ES_tradnl" sz="8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Servidor</a:t>
                </a:r>
              </a:p>
              <a:p>
                <a:pPr algn="ctr"/>
                <a:r>
                  <a:rPr lang="es-ES_tradnl" sz="8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Web</a:t>
                </a:r>
              </a:p>
            </p:txBody>
          </p:sp>
        </p:grpSp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A371BCD4-B1B6-C463-B4D2-8AE0099A6193}"/>
                </a:ext>
              </a:extLst>
            </p:cNvPr>
            <p:cNvSpPr/>
            <p:nvPr/>
          </p:nvSpPr>
          <p:spPr>
            <a:xfrm>
              <a:off x="5289458" y="2900388"/>
              <a:ext cx="598429" cy="3159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8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JSP</a:t>
              </a:r>
            </a:p>
          </p:txBody>
        </p:sp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8CDBFB19-E740-CB2A-A37F-1F34F2D48FAF}"/>
                </a:ext>
              </a:extLst>
            </p:cNvPr>
            <p:cNvSpPr/>
            <p:nvPr/>
          </p:nvSpPr>
          <p:spPr>
            <a:xfrm>
              <a:off x="5289458" y="3706055"/>
              <a:ext cx="598429" cy="3159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8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Java</a:t>
              </a:r>
            </a:p>
            <a:p>
              <a:pPr algn="ctr"/>
              <a:r>
                <a:rPr lang="es-ES_tradnl" sz="8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Servlet</a:t>
              </a:r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A0B88B9F-8418-422A-F118-82F004B16305}"/>
              </a:ext>
            </a:extLst>
          </p:cNvPr>
          <p:cNvGrpSpPr/>
          <p:nvPr/>
        </p:nvGrpSpPr>
        <p:grpSpPr>
          <a:xfrm>
            <a:off x="6365499" y="1900646"/>
            <a:ext cx="846201" cy="2713038"/>
            <a:chOff x="6330881" y="1863749"/>
            <a:chExt cx="846201" cy="2713038"/>
          </a:xfrm>
        </p:grpSpPr>
        <p:grpSp>
          <p:nvGrpSpPr>
            <p:cNvPr id="45" name="Grupo 44">
              <a:extLst>
                <a:ext uri="{FF2B5EF4-FFF2-40B4-BE49-F238E27FC236}">
                  <a16:creationId xmlns:a16="http://schemas.microsoft.com/office/drawing/2014/main" id="{940F20C4-E072-59EF-7D2F-8BDE5296945A}"/>
                </a:ext>
              </a:extLst>
            </p:cNvPr>
            <p:cNvGrpSpPr/>
            <p:nvPr/>
          </p:nvGrpSpPr>
          <p:grpSpPr>
            <a:xfrm>
              <a:off x="6330881" y="1863749"/>
              <a:ext cx="846201" cy="2713038"/>
              <a:chOff x="5371431" y="2241158"/>
              <a:chExt cx="846201" cy="2713038"/>
            </a:xfrm>
          </p:grpSpPr>
          <p:sp>
            <p:nvSpPr>
              <p:cNvPr id="48" name="Google Shape;80;p7">
                <a:extLst>
                  <a:ext uri="{FF2B5EF4-FFF2-40B4-BE49-F238E27FC236}">
                    <a16:creationId xmlns:a16="http://schemas.microsoft.com/office/drawing/2014/main" id="{A4992FD1-F409-ED0D-D5A2-8E3DCF7D4A78}"/>
                  </a:ext>
                </a:extLst>
              </p:cNvPr>
              <p:cNvSpPr txBox="1"/>
              <p:nvPr/>
            </p:nvSpPr>
            <p:spPr>
              <a:xfrm>
                <a:off x="5371431" y="2241158"/>
                <a:ext cx="84620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R="0" lvl="0" algn="ctr" rtl="0">
                  <a:spcBef>
                    <a:spcPts val="0"/>
                  </a:spcBef>
                </a:pPr>
                <a:r>
                  <a:rPr lang="es-ES" sz="1100" b="1" dirty="0">
                    <a:solidFill>
                      <a:schemeClr val="accent4"/>
                    </a:solidFill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  <a:sym typeface="Calibri"/>
                  </a:rPr>
                  <a:t>Capa</a:t>
                </a:r>
              </a:p>
              <a:p>
                <a:pPr marR="0" lvl="0" algn="ctr" rtl="0">
                  <a:spcBef>
                    <a:spcPts val="0"/>
                  </a:spcBef>
                </a:pPr>
                <a:r>
                  <a:rPr lang="es-ES" sz="1100" b="1" dirty="0">
                    <a:solidFill>
                      <a:schemeClr val="accent4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Negocio</a:t>
                </a:r>
                <a:endParaRPr sz="1100" dirty="0">
                  <a:solidFill>
                    <a:schemeClr val="accent4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9" name="Rectángulo 48">
                <a:extLst>
                  <a:ext uri="{FF2B5EF4-FFF2-40B4-BE49-F238E27FC236}">
                    <a16:creationId xmlns:a16="http://schemas.microsoft.com/office/drawing/2014/main" id="{EFCA96B8-B4BF-0CD4-192D-DFDDEDAF513C}"/>
                  </a:ext>
                </a:extLst>
              </p:cNvPr>
              <p:cNvSpPr/>
              <p:nvPr/>
            </p:nvSpPr>
            <p:spPr>
              <a:xfrm>
                <a:off x="5452425" y="2601984"/>
                <a:ext cx="684213" cy="235221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0" rtlCol="0" anchor="t"/>
              <a:lstStyle/>
              <a:p>
                <a:pPr algn="ctr"/>
                <a:r>
                  <a:rPr lang="es-ES_tradnl" sz="8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Container</a:t>
                </a:r>
              </a:p>
              <a:p>
                <a:pPr algn="ctr"/>
                <a:r>
                  <a:rPr lang="es-ES_tradnl" sz="8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EJB</a:t>
                </a:r>
              </a:p>
            </p:txBody>
          </p:sp>
        </p:grpSp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315CBDB2-FB18-0A0C-B8EB-869C5F7689DB}"/>
                </a:ext>
              </a:extLst>
            </p:cNvPr>
            <p:cNvSpPr/>
            <p:nvPr/>
          </p:nvSpPr>
          <p:spPr>
            <a:xfrm>
              <a:off x="6454767" y="2775915"/>
              <a:ext cx="598429" cy="3159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8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EJB</a:t>
              </a:r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2F9484E4-23A6-6571-A2C7-01C7BECD2CD8}"/>
                </a:ext>
              </a:extLst>
            </p:cNvPr>
            <p:cNvSpPr/>
            <p:nvPr/>
          </p:nvSpPr>
          <p:spPr>
            <a:xfrm>
              <a:off x="6454767" y="3385297"/>
              <a:ext cx="598429" cy="3159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8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EJB</a:t>
              </a:r>
            </a:p>
          </p:txBody>
        </p:sp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CB4D36D7-BD91-A22E-BCC6-8377022AAF32}"/>
                </a:ext>
              </a:extLst>
            </p:cNvPr>
            <p:cNvSpPr/>
            <p:nvPr/>
          </p:nvSpPr>
          <p:spPr>
            <a:xfrm>
              <a:off x="6454767" y="3990673"/>
              <a:ext cx="598429" cy="3159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8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EJB</a:t>
              </a: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384E87E8-560F-9194-2E06-6E9BFC61C6B9}"/>
              </a:ext>
            </a:extLst>
          </p:cNvPr>
          <p:cNvGrpSpPr/>
          <p:nvPr/>
        </p:nvGrpSpPr>
        <p:grpSpPr>
          <a:xfrm>
            <a:off x="7531802" y="1900646"/>
            <a:ext cx="846201" cy="2640400"/>
            <a:chOff x="8100392" y="1863749"/>
            <a:chExt cx="846201" cy="2640400"/>
          </a:xfrm>
        </p:grpSpPr>
        <p:sp>
          <p:nvSpPr>
            <p:cNvPr id="57" name="Google Shape;80;p7">
              <a:extLst>
                <a:ext uri="{FF2B5EF4-FFF2-40B4-BE49-F238E27FC236}">
                  <a16:creationId xmlns:a16="http://schemas.microsoft.com/office/drawing/2014/main" id="{42FA9D5F-B76C-3C1C-848E-7410102A756F}"/>
                </a:ext>
              </a:extLst>
            </p:cNvPr>
            <p:cNvSpPr txBox="1"/>
            <p:nvPr/>
          </p:nvSpPr>
          <p:spPr>
            <a:xfrm>
              <a:off x="8100392" y="1863749"/>
              <a:ext cx="84620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R="0" lvl="0" algn="ctr" rtl="0">
                <a:spcBef>
                  <a:spcPts val="0"/>
                </a:spcBef>
              </a:pPr>
              <a:r>
                <a:rPr lang="es-ES" sz="1100" b="1" dirty="0">
                  <a:solidFill>
                    <a:schemeClr val="accent2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Capa</a:t>
              </a:r>
            </a:p>
            <a:p>
              <a:pPr marR="0" lvl="0" algn="ctr" rtl="0">
                <a:spcBef>
                  <a:spcPts val="0"/>
                </a:spcBef>
              </a:pPr>
              <a:r>
                <a:rPr lang="es-ES" sz="1100" b="1" dirty="0">
                  <a:solidFill>
                    <a:schemeClr val="accent2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/>
                </a:rPr>
                <a:t>Datos</a:t>
              </a:r>
              <a:endParaRPr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61" name="Grupo 60">
              <a:extLst>
                <a:ext uri="{FF2B5EF4-FFF2-40B4-BE49-F238E27FC236}">
                  <a16:creationId xmlns:a16="http://schemas.microsoft.com/office/drawing/2014/main" id="{4B0B768D-EF39-756F-9F84-1EB0B82DE491}"/>
                </a:ext>
              </a:extLst>
            </p:cNvPr>
            <p:cNvGrpSpPr/>
            <p:nvPr/>
          </p:nvGrpSpPr>
          <p:grpSpPr>
            <a:xfrm>
              <a:off x="8224278" y="2561076"/>
              <a:ext cx="598429" cy="639519"/>
              <a:chOff x="8224278" y="2561076"/>
              <a:chExt cx="598429" cy="639519"/>
            </a:xfrm>
          </p:grpSpPr>
          <p:sp>
            <p:nvSpPr>
              <p:cNvPr id="54" name="Rectángulo 53">
                <a:extLst>
                  <a:ext uri="{FF2B5EF4-FFF2-40B4-BE49-F238E27FC236}">
                    <a16:creationId xmlns:a16="http://schemas.microsoft.com/office/drawing/2014/main" id="{D23E9426-5E91-C65F-6806-F4369A2A0C74}"/>
                  </a:ext>
                </a:extLst>
              </p:cNvPr>
              <p:cNvSpPr/>
              <p:nvPr/>
            </p:nvSpPr>
            <p:spPr>
              <a:xfrm>
                <a:off x="8224278" y="2561076"/>
                <a:ext cx="598429" cy="50766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s-ES_tradnl" sz="8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" name="Cilindro 58">
                <a:extLst>
                  <a:ext uri="{FF2B5EF4-FFF2-40B4-BE49-F238E27FC236}">
                    <a16:creationId xmlns:a16="http://schemas.microsoft.com/office/drawing/2014/main" id="{55441390-0AC6-61A1-E8C9-E4FC56B006A0}"/>
                  </a:ext>
                </a:extLst>
              </p:cNvPr>
              <p:cNvSpPr/>
              <p:nvPr/>
            </p:nvSpPr>
            <p:spPr>
              <a:xfrm>
                <a:off x="8329933" y="2603568"/>
                <a:ext cx="387118" cy="422685"/>
              </a:xfrm>
              <a:prstGeom prst="can">
                <a:avLst>
                  <a:gd name="adj" fmla="val 32574"/>
                </a:avLst>
              </a:prstGeom>
              <a:solidFill>
                <a:schemeClr val="bg1">
                  <a:lumMod val="5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60" name="Google Shape;80;p7">
                <a:extLst>
                  <a:ext uri="{FF2B5EF4-FFF2-40B4-BE49-F238E27FC236}">
                    <a16:creationId xmlns:a16="http://schemas.microsoft.com/office/drawing/2014/main" id="{88091740-0367-F0B9-19AE-73F147652F6F}"/>
                  </a:ext>
                </a:extLst>
              </p:cNvPr>
              <p:cNvSpPr txBox="1"/>
              <p:nvPr/>
            </p:nvSpPr>
            <p:spPr>
              <a:xfrm>
                <a:off x="8263138" y="3092873"/>
                <a:ext cx="520708" cy="1077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R="0" lvl="0" algn="ctr" rtl="0">
                  <a:spcBef>
                    <a:spcPts val="0"/>
                  </a:spcBef>
                </a:pPr>
                <a:r>
                  <a:rPr lang="es-ES" sz="700" b="1" dirty="0">
                    <a:solidFill>
                      <a:srgbClr val="262626"/>
                    </a:solidFill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  <a:sym typeface="Calibri"/>
                  </a:rPr>
                  <a:t>ERP</a:t>
                </a:r>
                <a:endParaRPr sz="7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BF2B7B28-5B64-DACC-BED1-AC1E862F2869}"/>
                </a:ext>
              </a:extLst>
            </p:cNvPr>
            <p:cNvGrpSpPr/>
            <p:nvPr/>
          </p:nvGrpSpPr>
          <p:grpSpPr>
            <a:xfrm>
              <a:off x="8224278" y="3202982"/>
              <a:ext cx="598429" cy="639519"/>
              <a:chOff x="8224278" y="2561076"/>
              <a:chExt cx="598429" cy="639519"/>
            </a:xfrm>
          </p:grpSpPr>
          <p:sp>
            <p:nvSpPr>
              <p:cNvPr id="63" name="Rectángulo 62">
                <a:extLst>
                  <a:ext uri="{FF2B5EF4-FFF2-40B4-BE49-F238E27FC236}">
                    <a16:creationId xmlns:a16="http://schemas.microsoft.com/office/drawing/2014/main" id="{7F39C2C9-94A5-EC2D-56CF-DA7002B74540}"/>
                  </a:ext>
                </a:extLst>
              </p:cNvPr>
              <p:cNvSpPr/>
              <p:nvPr/>
            </p:nvSpPr>
            <p:spPr>
              <a:xfrm>
                <a:off x="8224278" y="2561076"/>
                <a:ext cx="598429" cy="50766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s-ES_tradnl" sz="8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4" name="Cilindro 63">
                <a:extLst>
                  <a:ext uri="{FF2B5EF4-FFF2-40B4-BE49-F238E27FC236}">
                    <a16:creationId xmlns:a16="http://schemas.microsoft.com/office/drawing/2014/main" id="{68478F80-38A1-9BE7-BD62-4E88F2CD1DD4}"/>
                  </a:ext>
                </a:extLst>
              </p:cNvPr>
              <p:cNvSpPr/>
              <p:nvPr/>
            </p:nvSpPr>
            <p:spPr>
              <a:xfrm>
                <a:off x="8329933" y="2603568"/>
                <a:ext cx="387118" cy="422685"/>
              </a:xfrm>
              <a:prstGeom prst="can">
                <a:avLst>
                  <a:gd name="adj" fmla="val 32574"/>
                </a:avLst>
              </a:prstGeom>
              <a:solidFill>
                <a:schemeClr val="bg1">
                  <a:lumMod val="5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65" name="Google Shape;80;p7">
                <a:extLst>
                  <a:ext uri="{FF2B5EF4-FFF2-40B4-BE49-F238E27FC236}">
                    <a16:creationId xmlns:a16="http://schemas.microsoft.com/office/drawing/2014/main" id="{F3992A89-55AC-F4E0-E300-74F61CBF6A4B}"/>
                  </a:ext>
                </a:extLst>
              </p:cNvPr>
              <p:cNvSpPr txBox="1"/>
              <p:nvPr/>
            </p:nvSpPr>
            <p:spPr>
              <a:xfrm>
                <a:off x="8263138" y="3092873"/>
                <a:ext cx="520708" cy="1077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R="0" lvl="0" algn="ctr" rtl="0">
                  <a:spcBef>
                    <a:spcPts val="0"/>
                  </a:spcBef>
                </a:pPr>
                <a:r>
                  <a:rPr lang="es-ES" sz="700" b="1" dirty="0" err="1">
                    <a:solidFill>
                      <a:srgbClr val="262626"/>
                    </a:solidFill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  <a:sym typeface="Calibri"/>
                  </a:rPr>
                  <a:t>Sist</a:t>
                </a:r>
                <a:r>
                  <a:rPr lang="es-ES" sz="700" b="1" dirty="0">
                    <a:solidFill>
                      <a:srgbClr val="262626"/>
                    </a:solidFill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  <a:sym typeface="Calibri"/>
                  </a:rPr>
                  <a:t>. Legados</a:t>
                </a:r>
                <a:endParaRPr sz="7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06CD970B-489F-C32B-AE54-FF2CBE61C0F4}"/>
                </a:ext>
              </a:extLst>
            </p:cNvPr>
            <p:cNvGrpSpPr/>
            <p:nvPr/>
          </p:nvGrpSpPr>
          <p:grpSpPr>
            <a:xfrm>
              <a:off x="8224278" y="3864630"/>
              <a:ext cx="598429" cy="639519"/>
              <a:chOff x="8224278" y="2561076"/>
              <a:chExt cx="598429" cy="639519"/>
            </a:xfrm>
          </p:grpSpPr>
          <p:sp>
            <p:nvSpPr>
              <p:cNvPr id="67" name="Rectángulo 66">
                <a:extLst>
                  <a:ext uri="{FF2B5EF4-FFF2-40B4-BE49-F238E27FC236}">
                    <a16:creationId xmlns:a16="http://schemas.microsoft.com/office/drawing/2014/main" id="{94547A44-9B64-22B3-29DC-D8F1549722E0}"/>
                  </a:ext>
                </a:extLst>
              </p:cNvPr>
              <p:cNvSpPr/>
              <p:nvPr/>
            </p:nvSpPr>
            <p:spPr>
              <a:xfrm>
                <a:off x="8224278" y="2561076"/>
                <a:ext cx="598429" cy="50766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s-ES_tradnl" sz="8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8" name="Cilindro 67">
                <a:extLst>
                  <a:ext uri="{FF2B5EF4-FFF2-40B4-BE49-F238E27FC236}">
                    <a16:creationId xmlns:a16="http://schemas.microsoft.com/office/drawing/2014/main" id="{FE4B928E-A7B1-BF0C-84D1-CA85AF96F863}"/>
                  </a:ext>
                </a:extLst>
              </p:cNvPr>
              <p:cNvSpPr/>
              <p:nvPr/>
            </p:nvSpPr>
            <p:spPr>
              <a:xfrm>
                <a:off x="8329933" y="2603568"/>
                <a:ext cx="387118" cy="422685"/>
              </a:xfrm>
              <a:prstGeom prst="can">
                <a:avLst>
                  <a:gd name="adj" fmla="val 32574"/>
                </a:avLst>
              </a:prstGeom>
              <a:solidFill>
                <a:schemeClr val="bg1">
                  <a:lumMod val="5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69" name="Google Shape;80;p7">
                <a:extLst>
                  <a:ext uri="{FF2B5EF4-FFF2-40B4-BE49-F238E27FC236}">
                    <a16:creationId xmlns:a16="http://schemas.microsoft.com/office/drawing/2014/main" id="{AFE1A46A-8733-CC65-5E31-1A02B750324A}"/>
                  </a:ext>
                </a:extLst>
              </p:cNvPr>
              <p:cNvSpPr txBox="1"/>
              <p:nvPr/>
            </p:nvSpPr>
            <p:spPr>
              <a:xfrm>
                <a:off x="8263138" y="3092873"/>
                <a:ext cx="520708" cy="1077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R="0" lvl="0" algn="ctr" rtl="0">
                  <a:spcBef>
                    <a:spcPts val="0"/>
                  </a:spcBef>
                </a:pPr>
                <a:r>
                  <a:rPr lang="es-ES" sz="700" b="1" dirty="0">
                    <a:solidFill>
                      <a:srgbClr val="262626"/>
                    </a:solidFill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  <a:sym typeface="Calibri"/>
                  </a:rPr>
                  <a:t>RDBMS</a:t>
                </a:r>
                <a:endParaRPr sz="7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D4257F8A-5F25-E366-AA5B-5B3292C1667F}"/>
              </a:ext>
            </a:extLst>
          </p:cNvPr>
          <p:cNvCxnSpPr>
            <a:cxnSpLocks/>
          </p:cNvCxnSpPr>
          <p:nvPr/>
        </p:nvCxnSpPr>
        <p:spPr>
          <a:xfrm>
            <a:off x="5006663" y="2286991"/>
            <a:ext cx="0" cy="2259669"/>
          </a:xfrm>
          <a:prstGeom prst="line">
            <a:avLst/>
          </a:prstGeom>
          <a:ln w="19050">
            <a:solidFill>
              <a:schemeClr val="tx1"/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CBEDB5F4-91BE-EEFB-DDD8-3F1425D08715}"/>
              </a:ext>
            </a:extLst>
          </p:cNvPr>
          <p:cNvCxnSpPr>
            <a:cxnSpLocks/>
          </p:cNvCxnSpPr>
          <p:nvPr/>
        </p:nvCxnSpPr>
        <p:spPr>
          <a:xfrm>
            <a:off x="6202371" y="2286991"/>
            <a:ext cx="0" cy="2259669"/>
          </a:xfrm>
          <a:prstGeom prst="line">
            <a:avLst/>
          </a:prstGeom>
          <a:ln w="19050">
            <a:solidFill>
              <a:schemeClr val="tx1"/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F237866A-5FFF-4271-8C60-978E50C1FC88}"/>
              </a:ext>
            </a:extLst>
          </p:cNvPr>
          <p:cNvCxnSpPr>
            <a:cxnSpLocks/>
          </p:cNvCxnSpPr>
          <p:nvPr/>
        </p:nvCxnSpPr>
        <p:spPr>
          <a:xfrm>
            <a:off x="7388008" y="2286991"/>
            <a:ext cx="0" cy="2259669"/>
          </a:xfrm>
          <a:prstGeom prst="line">
            <a:avLst/>
          </a:prstGeom>
          <a:ln w="19050">
            <a:solidFill>
              <a:schemeClr val="tx1"/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Flecha izquierda y derecha 75">
            <a:extLst>
              <a:ext uri="{FF2B5EF4-FFF2-40B4-BE49-F238E27FC236}">
                <a16:creationId xmlns:a16="http://schemas.microsoft.com/office/drawing/2014/main" id="{E3CAAA72-11AA-4787-B6BD-54B8FA110640}"/>
              </a:ext>
            </a:extLst>
          </p:cNvPr>
          <p:cNvSpPr/>
          <p:nvPr/>
        </p:nvSpPr>
        <p:spPr>
          <a:xfrm>
            <a:off x="4831922" y="2737011"/>
            <a:ext cx="349482" cy="239372"/>
          </a:xfrm>
          <a:prstGeom prst="leftRightArrow">
            <a:avLst>
              <a:gd name="adj1" fmla="val 62000"/>
              <a:gd name="adj2" fmla="val 34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7" name="Flecha izquierda y derecha 76">
            <a:extLst>
              <a:ext uri="{FF2B5EF4-FFF2-40B4-BE49-F238E27FC236}">
                <a16:creationId xmlns:a16="http://schemas.microsoft.com/office/drawing/2014/main" id="{80066549-AD46-7070-A060-6B0B6F658463}"/>
              </a:ext>
            </a:extLst>
          </p:cNvPr>
          <p:cNvSpPr/>
          <p:nvPr/>
        </p:nvSpPr>
        <p:spPr>
          <a:xfrm>
            <a:off x="4831922" y="3484822"/>
            <a:ext cx="349482" cy="239372"/>
          </a:xfrm>
          <a:prstGeom prst="leftRightArrow">
            <a:avLst>
              <a:gd name="adj1" fmla="val 62000"/>
              <a:gd name="adj2" fmla="val 34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8" name="Flecha izquierda y derecha 77">
            <a:extLst>
              <a:ext uri="{FF2B5EF4-FFF2-40B4-BE49-F238E27FC236}">
                <a16:creationId xmlns:a16="http://schemas.microsoft.com/office/drawing/2014/main" id="{973DACB7-E503-7E51-C3A5-BB26D28865AF}"/>
              </a:ext>
            </a:extLst>
          </p:cNvPr>
          <p:cNvSpPr/>
          <p:nvPr/>
        </p:nvSpPr>
        <p:spPr>
          <a:xfrm>
            <a:off x="4831922" y="4137681"/>
            <a:ext cx="349482" cy="239372"/>
          </a:xfrm>
          <a:prstGeom prst="leftRightArrow">
            <a:avLst>
              <a:gd name="adj1" fmla="val 62000"/>
              <a:gd name="adj2" fmla="val 34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9" name="Flecha izquierda y derecha 78">
            <a:extLst>
              <a:ext uri="{FF2B5EF4-FFF2-40B4-BE49-F238E27FC236}">
                <a16:creationId xmlns:a16="http://schemas.microsoft.com/office/drawing/2014/main" id="{AE724E6F-A03A-5295-1495-DB1D3A796E20}"/>
              </a:ext>
            </a:extLst>
          </p:cNvPr>
          <p:cNvSpPr/>
          <p:nvPr/>
        </p:nvSpPr>
        <p:spPr>
          <a:xfrm>
            <a:off x="6027630" y="3801576"/>
            <a:ext cx="349482" cy="239372"/>
          </a:xfrm>
          <a:prstGeom prst="leftRightArrow">
            <a:avLst>
              <a:gd name="adj1" fmla="val 62000"/>
              <a:gd name="adj2" fmla="val 34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4" name="Flecha izquierda y derecha 83">
            <a:extLst>
              <a:ext uri="{FF2B5EF4-FFF2-40B4-BE49-F238E27FC236}">
                <a16:creationId xmlns:a16="http://schemas.microsoft.com/office/drawing/2014/main" id="{B69C9DA0-6CE2-16B0-91D6-3FC83E4D1B3D}"/>
              </a:ext>
            </a:extLst>
          </p:cNvPr>
          <p:cNvSpPr/>
          <p:nvPr/>
        </p:nvSpPr>
        <p:spPr>
          <a:xfrm>
            <a:off x="6027630" y="2990340"/>
            <a:ext cx="349482" cy="239372"/>
          </a:xfrm>
          <a:prstGeom prst="leftRightArrow">
            <a:avLst>
              <a:gd name="adj1" fmla="val 62000"/>
              <a:gd name="adj2" fmla="val 34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5" name="Flecha izquierda y derecha 84">
            <a:extLst>
              <a:ext uri="{FF2B5EF4-FFF2-40B4-BE49-F238E27FC236}">
                <a16:creationId xmlns:a16="http://schemas.microsoft.com/office/drawing/2014/main" id="{2B3D76F9-3294-D0A7-0C4A-4305CE1024C8}"/>
              </a:ext>
            </a:extLst>
          </p:cNvPr>
          <p:cNvSpPr/>
          <p:nvPr/>
        </p:nvSpPr>
        <p:spPr>
          <a:xfrm>
            <a:off x="7213267" y="2822389"/>
            <a:ext cx="349482" cy="239372"/>
          </a:xfrm>
          <a:prstGeom prst="leftRightArrow">
            <a:avLst>
              <a:gd name="adj1" fmla="val 62000"/>
              <a:gd name="adj2" fmla="val 34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7" name="Flecha izquierda y derecha 86">
            <a:extLst>
              <a:ext uri="{FF2B5EF4-FFF2-40B4-BE49-F238E27FC236}">
                <a16:creationId xmlns:a16="http://schemas.microsoft.com/office/drawing/2014/main" id="{AE8C0C6A-2EDF-9912-4643-8102F71196D2}"/>
              </a:ext>
            </a:extLst>
          </p:cNvPr>
          <p:cNvSpPr/>
          <p:nvPr/>
        </p:nvSpPr>
        <p:spPr>
          <a:xfrm>
            <a:off x="7213267" y="3470461"/>
            <a:ext cx="349482" cy="239372"/>
          </a:xfrm>
          <a:prstGeom prst="leftRightArrow">
            <a:avLst>
              <a:gd name="adj1" fmla="val 62000"/>
              <a:gd name="adj2" fmla="val 34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8" name="Flecha izquierda y derecha 87">
            <a:extLst>
              <a:ext uri="{FF2B5EF4-FFF2-40B4-BE49-F238E27FC236}">
                <a16:creationId xmlns:a16="http://schemas.microsoft.com/office/drawing/2014/main" id="{8FDE45D6-B5FB-D76E-9986-6018A0B00CB8}"/>
              </a:ext>
            </a:extLst>
          </p:cNvPr>
          <p:cNvSpPr/>
          <p:nvPr/>
        </p:nvSpPr>
        <p:spPr>
          <a:xfrm>
            <a:off x="7213267" y="4046525"/>
            <a:ext cx="349482" cy="239372"/>
          </a:xfrm>
          <a:prstGeom prst="leftRightArrow">
            <a:avLst>
              <a:gd name="adj1" fmla="val 62000"/>
              <a:gd name="adj2" fmla="val 34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E8DA8192-832F-6426-A0C3-ED35E7DC6D04}"/>
              </a:ext>
            </a:extLst>
          </p:cNvPr>
          <p:cNvSpPr/>
          <p:nvPr/>
        </p:nvSpPr>
        <p:spPr>
          <a:xfrm>
            <a:off x="3895407" y="1774994"/>
            <a:ext cx="4600893" cy="297988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t"/>
          <a:lstStyle/>
          <a:p>
            <a:pPr algn="ctr"/>
            <a:endParaRPr lang="es-ES_tradnl" sz="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 txBox="1"/>
          <p:nvPr/>
        </p:nvSpPr>
        <p:spPr>
          <a:xfrm>
            <a:off x="509864" y="1603651"/>
            <a:ext cx="3882749" cy="3000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4150" marR="0" lvl="0" indent="-18415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Es la parte de la aplicación que se encuentra en el ordenador del usuario y que proporciona la interfaz gráfica con la que el usuario interactúa.</a:t>
            </a:r>
            <a:endParaRPr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4150" marR="0" lvl="0" indent="-18415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</a:pPr>
            <a:endParaRPr sz="15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84150" marR="0" lvl="0" indent="-18415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En J2EE, se brinda soporte para distintos tipos de clientes, , lo que permite a los usuarios interactuar con la aplicación a través de diversos dispositivos y plataformas. Entre los principales tipos de clientes tenemos a:</a:t>
            </a:r>
            <a:endParaRPr sz="1500" dirty="0">
              <a:solidFill>
                <a:srgbClr val="262626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84150" marR="0" lvl="0" indent="-18415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</a:pPr>
            <a:endParaRPr sz="1500" dirty="0">
              <a:solidFill>
                <a:srgbClr val="262626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360363" marR="0" lvl="0" indent="-17621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262626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HTML</a:t>
            </a:r>
            <a:endParaRPr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60363" marR="0" lvl="0" indent="-17621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262626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Aplicaciones Java</a:t>
            </a:r>
            <a:endParaRPr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60363" marR="0" lvl="0" indent="-17621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262626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Applets</a:t>
            </a:r>
            <a:endParaRPr sz="1500" dirty="0">
              <a:solidFill>
                <a:srgbClr val="262626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2A1B459F-8CC2-EDDB-9CEB-27D9D44920DF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USO DE COMPONENTES 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FDA89448-BBDD-1AF5-0CAE-3EE4B7D2A764}"/>
              </a:ext>
            </a:extLst>
          </p:cNvPr>
          <p:cNvGrpSpPr/>
          <p:nvPr/>
        </p:nvGrpSpPr>
        <p:grpSpPr>
          <a:xfrm>
            <a:off x="289991" y="919439"/>
            <a:ext cx="2431715" cy="500394"/>
            <a:chOff x="792046" y="2675842"/>
            <a:chExt cx="2431715" cy="500394"/>
          </a:xfrm>
        </p:grpSpPr>
        <p:sp>
          <p:nvSpPr>
            <p:cNvPr id="6" name="Rectángulo redondeado 5">
              <a:extLst>
                <a:ext uri="{FF2B5EF4-FFF2-40B4-BE49-F238E27FC236}">
                  <a16:creationId xmlns:a16="http://schemas.microsoft.com/office/drawing/2014/main" id="{35B7729D-2F8E-41AC-0E01-53DA7DD49A5B}"/>
                </a:ext>
              </a:extLst>
            </p:cNvPr>
            <p:cNvSpPr/>
            <p:nvPr/>
          </p:nvSpPr>
          <p:spPr>
            <a:xfrm>
              <a:off x="1008063" y="2675842"/>
              <a:ext cx="2215698" cy="500394"/>
            </a:xfrm>
            <a:prstGeom prst="roundRect">
              <a:avLst>
                <a:gd name="adj" fmla="val 2484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6350" indent="-1588" algn="ctr">
                <a:tabLst>
                  <a:tab pos="569913" algn="l"/>
                </a:tabLst>
              </a:pPr>
              <a:r>
                <a:rPr lang="es-ES_tradnl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    CAPA CLIENTE</a:t>
              </a:r>
            </a:p>
          </p:txBody>
        </p:sp>
        <p:grpSp>
          <p:nvGrpSpPr>
            <p:cNvPr id="7" name="Agrupar 14">
              <a:extLst>
                <a:ext uri="{FF2B5EF4-FFF2-40B4-BE49-F238E27FC236}">
                  <a16:creationId xmlns:a16="http://schemas.microsoft.com/office/drawing/2014/main" id="{28FACB1E-5BD6-0766-9B16-A4CE3A5B3B8D}"/>
                </a:ext>
              </a:extLst>
            </p:cNvPr>
            <p:cNvGrpSpPr/>
            <p:nvPr/>
          </p:nvGrpSpPr>
          <p:grpSpPr>
            <a:xfrm>
              <a:off x="792046" y="2724128"/>
              <a:ext cx="459474" cy="403823"/>
              <a:chOff x="5892512" y="2805541"/>
              <a:chExt cx="459474" cy="403823"/>
            </a:xfrm>
          </p:grpSpPr>
          <p:sp>
            <p:nvSpPr>
              <p:cNvPr id="8" name="Elipse 7">
                <a:extLst>
                  <a:ext uri="{FF2B5EF4-FFF2-40B4-BE49-F238E27FC236}">
                    <a16:creationId xmlns:a16="http://schemas.microsoft.com/office/drawing/2014/main" id="{93BFFE85-CA1E-EA51-D748-06F74A15FD6D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6A8F3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9" name="Elipse 8">
                <a:extLst>
                  <a:ext uri="{FF2B5EF4-FFF2-40B4-BE49-F238E27FC236}">
                    <a16:creationId xmlns:a16="http://schemas.microsoft.com/office/drawing/2014/main" id="{C4F3431C-59AA-DFE3-AED4-BEA4F8ABB99E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0" name="Triángulo 9">
                <a:extLst>
                  <a:ext uri="{FF2B5EF4-FFF2-40B4-BE49-F238E27FC236}">
                    <a16:creationId xmlns:a16="http://schemas.microsoft.com/office/drawing/2014/main" id="{51F95447-1053-DD88-6245-35D0C0AFCE3D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AF69AB5A-F5FF-B27F-BA16-072555FA0920}"/>
              </a:ext>
            </a:extLst>
          </p:cNvPr>
          <p:cNvGrpSpPr/>
          <p:nvPr/>
        </p:nvGrpSpPr>
        <p:grpSpPr>
          <a:xfrm>
            <a:off x="6132063" y="1112520"/>
            <a:ext cx="1155089" cy="3724593"/>
            <a:chOff x="3979086" y="1863749"/>
            <a:chExt cx="846201" cy="2728580"/>
          </a:xfrm>
        </p:grpSpPr>
        <p:sp>
          <p:nvSpPr>
            <p:cNvPr id="13" name="Google Shape;80;p7">
              <a:extLst>
                <a:ext uri="{FF2B5EF4-FFF2-40B4-BE49-F238E27FC236}">
                  <a16:creationId xmlns:a16="http://schemas.microsoft.com/office/drawing/2014/main" id="{9FDCEF0F-9B41-ADDE-CB9E-89767BFE7FA4}"/>
                </a:ext>
              </a:extLst>
            </p:cNvPr>
            <p:cNvSpPr txBox="1"/>
            <p:nvPr/>
          </p:nvSpPr>
          <p:spPr>
            <a:xfrm>
              <a:off x="3979086" y="1863749"/>
              <a:ext cx="846201" cy="318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R="0" lvl="0" algn="ctr" rtl="0">
                <a:spcBef>
                  <a:spcPts val="0"/>
                </a:spcBef>
              </a:pPr>
              <a:r>
                <a:rPr lang="es-ES" b="1" dirty="0">
                  <a:solidFill>
                    <a:schemeClr val="accent3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Capa</a:t>
              </a:r>
            </a:p>
            <a:p>
              <a:pPr marR="0" lvl="0" algn="ctr" rtl="0">
                <a:spcBef>
                  <a:spcPts val="0"/>
                </a:spcBef>
              </a:pPr>
              <a:r>
                <a:rPr lang="es-ES" b="1" dirty="0">
                  <a:solidFill>
                    <a:schemeClr val="accent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/>
                </a:rPr>
                <a:t>Cliente</a:t>
              </a:r>
              <a:endParaRPr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5804C55B-28C2-8B1D-5D5F-BEA1A84C25B8}"/>
                </a:ext>
              </a:extLst>
            </p:cNvPr>
            <p:cNvSpPr/>
            <p:nvPr/>
          </p:nvSpPr>
          <p:spPr>
            <a:xfrm>
              <a:off x="4060080" y="2224575"/>
              <a:ext cx="684213" cy="94949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t"/>
            <a:lstStyle/>
            <a:p>
              <a:pPr algn="ctr"/>
              <a:r>
                <a:rPr lang="es-ES_tradnl" sz="10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Browser </a:t>
              </a: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9FD57D87-8E9E-CB98-03AC-D3E3AA287BC3}"/>
                </a:ext>
              </a:extLst>
            </p:cNvPr>
            <p:cNvSpPr/>
            <p:nvPr/>
          </p:nvSpPr>
          <p:spPr>
            <a:xfrm>
              <a:off x="4060080" y="3255447"/>
              <a:ext cx="684213" cy="6223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t"/>
            <a:lstStyle/>
            <a:p>
              <a:pPr algn="ctr"/>
              <a:r>
                <a:rPr lang="es-ES_tradnl" sz="10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Desktop </a:t>
              </a:r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6650E5DD-A0A9-8159-CC76-6F06AE7CDB9A}"/>
                </a:ext>
              </a:extLst>
            </p:cNvPr>
            <p:cNvSpPr/>
            <p:nvPr/>
          </p:nvSpPr>
          <p:spPr>
            <a:xfrm>
              <a:off x="4060080" y="3969953"/>
              <a:ext cx="684213" cy="6223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t"/>
            <a:lstStyle/>
            <a:p>
              <a:pPr algn="ctr"/>
              <a:r>
                <a:rPr lang="es-ES_tradnl" sz="10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Dispositivo </a:t>
              </a:r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3063FE03-AA0A-B1F5-9917-4E426D67FC46}"/>
                </a:ext>
              </a:extLst>
            </p:cNvPr>
            <p:cNvSpPr/>
            <p:nvPr/>
          </p:nvSpPr>
          <p:spPr>
            <a:xfrm>
              <a:off x="4102972" y="2432017"/>
              <a:ext cx="598429" cy="3159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10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HTML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2B5ABEA9-FACB-6D5F-F705-17196B5CD20A}"/>
                </a:ext>
              </a:extLst>
            </p:cNvPr>
            <p:cNvSpPr/>
            <p:nvPr/>
          </p:nvSpPr>
          <p:spPr>
            <a:xfrm>
              <a:off x="4102972" y="2819397"/>
              <a:ext cx="598429" cy="3159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10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Applet</a:t>
              </a:r>
            </a:p>
            <a:p>
              <a:pPr algn="ctr"/>
              <a:r>
                <a:rPr lang="es-ES_tradnl" sz="10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Java</a:t>
              </a:r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B0D64F46-C896-317A-97CA-729552AA1AEC}"/>
                </a:ext>
              </a:extLst>
            </p:cNvPr>
            <p:cNvSpPr/>
            <p:nvPr/>
          </p:nvSpPr>
          <p:spPr>
            <a:xfrm>
              <a:off x="4102972" y="3448910"/>
              <a:ext cx="598429" cy="38103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10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Aplicación </a:t>
              </a:r>
            </a:p>
            <a:p>
              <a:pPr algn="ctr"/>
              <a:r>
                <a:rPr lang="es-ES_tradnl" sz="10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Java</a:t>
              </a:r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15414A07-3528-007C-F226-9C0EFBAF25BB}"/>
                </a:ext>
              </a:extLst>
            </p:cNvPr>
            <p:cNvSpPr/>
            <p:nvPr/>
          </p:nvSpPr>
          <p:spPr>
            <a:xfrm>
              <a:off x="4102972" y="4158431"/>
              <a:ext cx="598429" cy="38103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10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Cliente </a:t>
              </a:r>
            </a:p>
            <a:p>
              <a:pPr algn="ctr"/>
              <a:r>
                <a:rPr lang="es-ES_tradnl" sz="10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J2EE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31202B75-59D7-CB80-AFC6-4568D7C5BF40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USO DE COMPONENTES 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385D96B4-B057-F030-E167-CE091A738EFB}"/>
              </a:ext>
            </a:extLst>
          </p:cNvPr>
          <p:cNvGrpSpPr/>
          <p:nvPr/>
        </p:nvGrpSpPr>
        <p:grpSpPr>
          <a:xfrm>
            <a:off x="289992" y="919439"/>
            <a:ext cx="2431715" cy="500394"/>
            <a:chOff x="792046" y="3303503"/>
            <a:chExt cx="2431715" cy="500394"/>
          </a:xfrm>
        </p:grpSpPr>
        <p:sp>
          <p:nvSpPr>
            <p:cNvPr id="5" name="Rectángulo redondeado 4">
              <a:extLst>
                <a:ext uri="{FF2B5EF4-FFF2-40B4-BE49-F238E27FC236}">
                  <a16:creationId xmlns:a16="http://schemas.microsoft.com/office/drawing/2014/main" id="{AC6AFD63-8AC9-2EC6-AB8B-3C7839A74FA2}"/>
                </a:ext>
              </a:extLst>
            </p:cNvPr>
            <p:cNvSpPr/>
            <p:nvPr/>
          </p:nvSpPr>
          <p:spPr>
            <a:xfrm>
              <a:off x="1008063" y="3303503"/>
              <a:ext cx="2215698" cy="500394"/>
            </a:xfrm>
            <a:prstGeom prst="roundRect">
              <a:avLst>
                <a:gd name="adj" fmla="val 26745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6350" indent="-1588" algn="ctr">
                <a:tabLst>
                  <a:tab pos="569913" algn="l"/>
                </a:tabLst>
              </a:pPr>
              <a:r>
                <a:rPr lang="es-ES_tradnl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     </a:t>
              </a:r>
              <a:r>
                <a:rPr lang="es-ES" b="1" dirty="0">
                  <a:solidFill>
                    <a:schemeClr val="bg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CAPA WEB</a:t>
              </a:r>
              <a:endParaRPr lang="es-E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6" name="Agrupar 9">
              <a:extLst>
                <a:ext uri="{FF2B5EF4-FFF2-40B4-BE49-F238E27FC236}">
                  <a16:creationId xmlns:a16="http://schemas.microsoft.com/office/drawing/2014/main" id="{62DDD9B3-68B1-B8A1-684C-F33F4A44DA66}"/>
                </a:ext>
              </a:extLst>
            </p:cNvPr>
            <p:cNvGrpSpPr/>
            <p:nvPr/>
          </p:nvGrpSpPr>
          <p:grpSpPr>
            <a:xfrm>
              <a:off x="792046" y="3351789"/>
              <a:ext cx="459474" cy="403823"/>
              <a:chOff x="5892512" y="2805541"/>
              <a:chExt cx="459474" cy="403823"/>
            </a:xfrm>
          </p:grpSpPr>
          <p:sp>
            <p:nvSpPr>
              <p:cNvPr id="7" name="Elipse 6">
                <a:extLst>
                  <a:ext uri="{FF2B5EF4-FFF2-40B4-BE49-F238E27FC236}">
                    <a16:creationId xmlns:a16="http://schemas.microsoft.com/office/drawing/2014/main" id="{33D1877A-080D-8577-218D-0EB917185C2F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00889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8" name="Elipse 7">
                <a:extLst>
                  <a:ext uri="{FF2B5EF4-FFF2-40B4-BE49-F238E27FC236}">
                    <a16:creationId xmlns:a16="http://schemas.microsoft.com/office/drawing/2014/main" id="{18409D4D-9B9F-2082-97A8-C7F06E8C178F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9" name="Triángulo 8">
                <a:extLst>
                  <a:ext uri="{FF2B5EF4-FFF2-40B4-BE49-F238E27FC236}">
                    <a16:creationId xmlns:a16="http://schemas.microsoft.com/office/drawing/2014/main" id="{AA0F8303-3E9D-3DE7-1300-5B751200AE31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sp>
        <p:nvSpPr>
          <p:cNvPr id="10" name="Google Shape;89;p8">
            <a:extLst>
              <a:ext uri="{FF2B5EF4-FFF2-40B4-BE49-F238E27FC236}">
                <a16:creationId xmlns:a16="http://schemas.microsoft.com/office/drawing/2014/main" id="{986C9B48-5398-7F0B-01CB-D155AE418055}"/>
              </a:ext>
            </a:extLst>
          </p:cNvPr>
          <p:cNvSpPr txBox="1"/>
          <p:nvPr/>
        </p:nvSpPr>
        <p:spPr>
          <a:xfrm>
            <a:off x="509864" y="1603651"/>
            <a:ext cx="3882749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chemeClr val="accent5"/>
              </a:buClr>
              <a:buSzPct val="100000"/>
            </a:pPr>
            <a:r>
              <a:rPr lang="es-ES" sz="15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Es la parte de la aplicación que se encuentra en el servidor web (contenedor web).</a:t>
            </a:r>
          </a:p>
          <a:p>
            <a:pPr marL="184150" indent="-18415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</a:pPr>
            <a:endParaRPr lang="es-ES" sz="15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>
              <a:buClr>
                <a:schemeClr val="accent5"/>
              </a:buClr>
              <a:buSzPct val="100000"/>
            </a:pPr>
            <a:r>
              <a:rPr lang="es-ES" sz="15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Contiene la lógica necesaria para generar una respuesta que será enviada al cliente, en base a los datos recibidos desde la “capa cliente”.</a:t>
            </a:r>
          </a:p>
          <a:p>
            <a:pPr marL="184150" indent="-18415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</a:pPr>
            <a:endParaRPr lang="es-ES" sz="15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>
              <a:buClr>
                <a:schemeClr val="accent5"/>
              </a:buClr>
              <a:buSzPct val="100000"/>
            </a:pPr>
            <a:r>
              <a:rPr lang="es-ES" sz="15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Los componentes más utilizados son: </a:t>
            </a:r>
          </a:p>
          <a:p>
            <a:pPr marL="184150" indent="-18415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</a:pPr>
            <a:endParaRPr lang="es-ES" sz="15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360363" indent="-176213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Java </a:t>
            </a:r>
            <a:r>
              <a:rPr lang="es-ES" sz="1500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Servlets</a:t>
            </a:r>
            <a:r>
              <a:rPr lang="es-ES" sz="15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.</a:t>
            </a:r>
          </a:p>
          <a:p>
            <a:pPr marL="360363" indent="-176213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500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JavaServer</a:t>
            </a:r>
            <a:r>
              <a:rPr lang="es-ES" sz="15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Pages (JSP).</a:t>
            </a:r>
          </a:p>
          <a:p>
            <a:pPr marL="360363" indent="-176213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500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JavaServer</a:t>
            </a:r>
            <a:r>
              <a:rPr lang="es-ES" sz="15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Faces (JSF).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1928F150-465A-31B7-A863-9F19CEC44F17}"/>
              </a:ext>
            </a:extLst>
          </p:cNvPr>
          <p:cNvGrpSpPr/>
          <p:nvPr/>
        </p:nvGrpSpPr>
        <p:grpSpPr>
          <a:xfrm>
            <a:off x="6122210" y="1109943"/>
            <a:ext cx="1162510" cy="3727169"/>
            <a:chOff x="5165572" y="1863749"/>
            <a:chExt cx="846201" cy="2713038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040C9B07-41E4-C618-B17C-91AB300D92A4}"/>
                </a:ext>
              </a:extLst>
            </p:cNvPr>
            <p:cNvGrpSpPr/>
            <p:nvPr/>
          </p:nvGrpSpPr>
          <p:grpSpPr>
            <a:xfrm>
              <a:off x="5165572" y="1863749"/>
              <a:ext cx="846201" cy="2713038"/>
              <a:chOff x="5371431" y="2241158"/>
              <a:chExt cx="846201" cy="2713038"/>
            </a:xfrm>
          </p:grpSpPr>
          <p:sp>
            <p:nvSpPr>
              <p:cNvPr id="15" name="Google Shape;80;p7">
                <a:extLst>
                  <a:ext uri="{FF2B5EF4-FFF2-40B4-BE49-F238E27FC236}">
                    <a16:creationId xmlns:a16="http://schemas.microsoft.com/office/drawing/2014/main" id="{09AE1B54-70F1-322D-F4D0-50A87391C61F}"/>
                  </a:ext>
                </a:extLst>
              </p:cNvPr>
              <p:cNvSpPr txBox="1"/>
              <p:nvPr/>
            </p:nvSpPr>
            <p:spPr>
              <a:xfrm>
                <a:off x="5371431" y="2241158"/>
                <a:ext cx="846201" cy="3136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R="0" lvl="0" algn="ctr" rtl="0">
                  <a:spcBef>
                    <a:spcPts val="0"/>
                  </a:spcBef>
                </a:pPr>
                <a:r>
                  <a:rPr lang="es-ES" b="1" dirty="0">
                    <a:solidFill>
                      <a:schemeClr val="accent5"/>
                    </a:solidFill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  <a:sym typeface="Calibri"/>
                  </a:rPr>
                  <a:t>Capa</a:t>
                </a:r>
              </a:p>
              <a:p>
                <a:pPr marR="0" lvl="0" algn="ctr" rtl="0">
                  <a:spcBef>
                    <a:spcPts val="0"/>
                  </a:spcBef>
                </a:pPr>
                <a:r>
                  <a:rPr lang="es-ES" b="1" dirty="0">
                    <a:solidFill>
                      <a:schemeClr val="accent5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Web</a:t>
                </a:r>
                <a:endParaRPr dirty="0">
                  <a:solidFill>
                    <a:schemeClr val="accent5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EBF9F88A-0874-8D09-5B0B-FF9F77A9AA02}"/>
                  </a:ext>
                </a:extLst>
              </p:cNvPr>
              <p:cNvSpPr/>
              <p:nvPr/>
            </p:nvSpPr>
            <p:spPr>
              <a:xfrm>
                <a:off x="5452425" y="2601984"/>
                <a:ext cx="684213" cy="235221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0" rtlCol="0" anchor="t"/>
              <a:lstStyle/>
              <a:p>
                <a:pPr algn="ctr"/>
                <a:r>
                  <a:rPr lang="es-ES_tradnl" sz="10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Servidor</a:t>
                </a:r>
              </a:p>
              <a:p>
                <a:pPr algn="ctr"/>
                <a:r>
                  <a:rPr lang="es-ES_tradnl" sz="10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Web</a:t>
                </a:r>
              </a:p>
            </p:txBody>
          </p:sp>
        </p:grp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78632920-1151-93B3-F581-406A56321E15}"/>
                </a:ext>
              </a:extLst>
            </p:cNvPr>
            <p:cNvSpPr/>
            <p:nvPr/>
          </p:nvSpPr>
          <p:spPr>
            <a:xfrm>
              <a:off x="5289458" y="2900388"/>
              <a:ext cx="598429" cy="3159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10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JSP</a:t>
              </a:r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4B3626BE-7BF1-B9EB-B93A-7ED938EB2A8C}"/>
                </a:ext>
              </a:extLst>
            </p:cNvPr>
            <p:cNvSpPr/>
            <p:nvPr/>
          </p:nvSpPr>
          <p:spPr>
            <a:xfrm>
              <a:off x="5289458" y="3706055"/>
              <a:ext cx="598429" cy="3159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10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Java</a:t>
              </a:r>
            </a:p>
            <a:p>
              <a:pPr algn="ctr"/>
              <a:r>
                <a:rPr lang="es-ES_tradnl" sz="10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Servlet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4614068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APLICACIONES </a:t>
            </a:r>
            <a:r>
              <a:rPr lang="es-PE" sz="2800" b="1" dirty="0">
                <a:solidFill>
                  <a:schemeClr val="bg1"/>
                </a:solidFill>
                <a:latin typeface="Graphik Bold" panose="020B0503030202060203" pitchFamily="34" charset="77"/>
                <a:ea typeface="Graphik Regular" charset="0"/>
                <a:cs typeface="Graphik Regular" charset="0"/>
              </a:rPr>
              <a:t>EMPRESARIALES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183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7803" y="2569823"/>
            <a:ext cx="4934465" cy="2664165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9D02F2FB-B87A-6A82-DC01-058F5C7C8C5E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APLICACIONES EMPRESARIALES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0A3AD63-D857-3527-E939-1DA9CB013878}"/>
              </a:ext>
            </a:extLst>
          </p:cNvPr>
          <p:cNvGrpSpPr/>
          <p:nvPr/>
        </p:nvGrpSpPr>
        <p:grpSpPr>
          <a:xfrm>
            <a:off x="289992" y="919439"/>
            <a:ext cx="2431715" cy="500394"/>
            <a:chOff x="792046" y="3303503"/>
            <a:chExt cx="2431715" cy="500394"/>
          </a:xfrm>
        </p:grpSpPr>
        <p:sp>
          <p:nvSpPr>
            <p:cNvPr id="4" name="Rectángulo redondeado 3">
              <a:extLst>
                <a:ext uri="{FF2B5EF4-FFF2-40B4-BE49-F238E27FC236}">
                  <a16:creationId xmlns:a16="http://schemas.microsoft.com/office/drawing/2014/main" id="{68AE2CC5-D79D-8836-1788-8B08DD8B28EE}"/>
                </a:ext>
              </a:extLst>
            </p:cNvPr>
            <p:cNvSpPr/>
            <p:nvPr/>
          </p:nvSpPr>
          <p:spPr>
            <a:xfrm>
              <a:off x="1008063" y="3303503"/>
              <a:ext cx="2215698" cy="500394"/>
            </a:xfrm>
            <a:prstGeom prst="roundRect">
              <a:avLst>
                <a:gd name="adj" fmla="val 26745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6350" indent="-1588" algn="ctr">
                <a:tabLst>
                  <a:tab pos="569913" algn="l"/>
                </a:tabLst>
              </a:pPr>
              <a:r>
                <a:rPr lang="es-ES_tradnl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     </a:t>
              </a:r>
              <a:r>
                <a:rPr lang="es-ES" b="1" dirty="0">
                  <a:solidFill>
                    <a:schemeClr val="bg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CAPA WEB</a:t>
              </a:r>
              <a:endParaRPr lang="es-E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5" name="Agrupar 9">
              <a:extLst>
                <a:ext uri="{FF2B5EF4-FFF2-40B4-BE49-F238E27FC236}">
                  <a16:creationId xmlns:a16="http://schemas.microsoft.com/office/drawing/2014/main" id="{997E0B3B-CB2D-82FE-5977-E894F98CB055}"/>
                </a:ext>
              </a:extLst>
            </p:cNvPr>
            <p:cNvGrpSpPr/>
            <p:nvPr/>
          </p:nvGrpSpPr>
          <p:grpSpPr>
            <a:xfrm>
              <a:off x="792046" y="3351789"/>
              <a:ext cx="459474" cy="403823"/>
              <a:chOff x="5892512" y="2805541"/>
              <a:chExt cx="459474" cy="403823"/>
            </a:xfrm>
          </p:grpSpPr>
          <p:sp>
            <p:nvSpPr>
              <p:cNvPr id="6" name="Elipse 5">
                <a:extLst>
                  <a:ext uri="{FF2B5EF4-FFF2-40B4-BE49-F238E27FC236}">
                    <a16:creationId xmlns:a16="http://schemas.microsoft.com/office/drawing/2014/main" id="{E2464EDB-56CC-F8E4-9AAF-476F813B2F15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00889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7" name="Elipse 6">
                <a:extLst>
                  <a:ext uri="{FF2B5EF4-FFF2-40B4-BE49-F238E27FC236}">
                    <a16:creationId xmlns:a16="http://schemas.microsoft.com/office/drawing/2014/main" id="{CF2E067B-6D1A-8B81-4DB9-470CDEC3531A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8" name="Triángulo 7">
                <a:extLst>
                  <a:ext uri="{FF2B5EF4-FFF2-40B4-BE49-F238E27FC236}">
                    <a16:creationId xmlns:a16="http://schemas.microsoft.com/office/drawing/2014/main" id="{8A8421E2-2BC3-9DF8-1026-D8E19344B12D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sp>
        <p:nvSpPr>
          <p:cNvPr id="9" name="Google Shape;89;p8">
            <a:extLst>
              <a:ext uri="{FF2B5EF4-FFF2-40B4-BE49-F238E27FC236}">
                <a16:creationId xmlns:a16="http://schemas.microsoft.com/office/drawing/2014/main" id="{1EC50F32-C2F3-4F35-4B17-212D8E2C5908}"/>
              </a:ext>
            </a:extLst>
          </p:cNvPr>
          <p:cNvSpPr txBox="1"/>
          <p:nvPr/>
        </p:nvSpPr>
        <p:spPr>
          <a:xfrm>
            <a:off x="509864" y="1603651"/>
            <a:ext cx="7587214" cy="1923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2250" lvl="0" indent="-222250">
              <a:spcAft>
                <a:spcPts val="600"/>
              </a:spcAft>
              <a:buClr>
                <a:schemeClr val="accent5"/>
              </a:buClr>
              <a:buSzPct val="100000"/>
              <a:buFont typeface="+mj-lt"/>
              <a:buAutoNum type="arabicPeriod"/>
            </a:pPr>
            <a:r>
              <a:rPr lang="es-ES" sz="1500" b="1" dirty="0">
                <a:solidFill>
                  <a:schemeClr val="accent5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Java </a:t>
            </a:r>
            <a:r>
              <a:rPr lang="es-ES" sz="1500" b="1" dirty="0" err="1">
                <a:solidFill>
                  <a:schemeClr val="accent5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Servlets</a:t>
            </a:r>
            <a:r>
              <a:rPr lang="es-ES" sz="1500" b="1" dirty="0">
                <a:solidFill>
                  <a:schemeClr val="accent5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.</a:t>
            </a:r>
          </a:p>
          <a:p>
            <a:pPr marL="222250" lvl="0">
              <a:buClr>
                <a:schemeClr val="accent5"/>
              </a:buClr>
              <a:buSzPct val="100000"/>
            </a:pPr>
            <a:r>
              <a:rPr lang="es-ES" sz="15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Son clases que procesan peticiones HTTP y construyen respuestas para el cliente. Presenta las 4 operaciones elementales:</a:t>
            </a:r>
          </a:p>
          <a:p>
            <a:pPr marL="222250" lvl="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</a:pPr>
            <a:endParaRPr lang="es-ES" sz="15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400050" lvl="0" indent="-1778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500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DoGet</a:t>
            </a:r>
            <a:endParaRPr lang="es-ES" sz="15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400050" lvl="0" indent="-1778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500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DoPost</a:t>
            </a:r>
            <a:endParaRPr lang="es-ES" sz="15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400050" lvl="0" indent="-1778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500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DoPut</a:t>
            </a:r>
            <a:endParaRPr lang="es-ES" sz="15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400050" lvl="0" indent="-1778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500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DoDelete</a:t>
            </a:r>
            <a:endParaRPr lang="es-ES" sz="15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1388" y="2419046"/>
            <a:ext cx="3924299" cy="151675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219DA21A-9CAB-108E-3B88-D0A8C56DD815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APLICACIONES EMPRESARIALES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C8534B8-EE35-388F-D8E9-86D00160CBEC}"/>
              </a:ext>
            </a:extLst>
          </p:cNvPr>
          <p:cNvGrpSpPr/>
          <p:nvPr/>
        </p:nvGrpSpPr>
        <p:grpSpPr>
          <a:xfrm>
            <a:off x="289992" y="919439"/>
            <a:ext cx="2431715" cy="500394"/>
            <a:chOff x="792046" y="3303503"/>
            <a:chExt cx="2431715" cy="500394"/>
          </a:xfrm>
        </p:grpSpPr>
        <p:sp>
          <p:nvSpPr>
            <p:cNvPr id="4" name="Rectángulo redondeado 3">
              <a:extLst>
                <a:ext uri="{FF2B5EF4-FFF2-40B4-BE49-F238E27FC236}">
                  <a16:creationId xmlns:a16="http://schemas.microsoft.com/office/drawing/2014/main" id="{5C860F6F-8FCC-7397-8D9A-D36A02376F36}"/>
                </a:ext>
              </a:extLst>
            </p:cNvPr>
            <p:cNvSpPr/>
            <p:nvPr/>
          </p:nvSpPr>
          <p:spPr>
            <a:xfrm>
              <a:off x="1008063" y="3303503"/>
              <a:ext cx="2215698" cy="500394"/>
            </a:xfrm>
            <a:prstGeom prst="roundRect">
              <a:avLst>
                <a:gd name="adj" fmla="val 26745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6350" indent="-1588" algn="ctr">
                <a:tabLst>
                  <a:tab pos="569913" algn="l"/>
                </a:tabLst>
              </a:pPr>
              <a:r>
                <a:rPr lang="es-ES_tradnl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     </a:t>
              </a:r>
              <a:r>
                <a:rPr lang="es-ES" b="1" dirty="0">
                  <a:solidFill>
                    <a:schemeClr val="bg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CAPA WEB</a:t>
              </a:r>
              <a:endParaRPr lang="es-E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5" name="Agrupar 9">
              <a:extLst>
                <a:ext uri="{FF2B5EF4-FFF2-40B4-BE49-F238E27FC236}">
                  <a16:creationId xmlns:a16="http://schemas.microsoft.com/office/drawing/2014/main" id="{D980979B-FFBC-7D2F-0FF5-13D0F115E2AD}"/>
                </a:ext>
              </a:extLst>
            </p:cNvPr>
            <p:cNvGrpSpPr/>
            <p:nvPr/>
          </p:nvGrpSpPr>
          <p:grpSpPr>
            <a:xfrm>
              <a:off x="792046" y="3351789"/>
              <a:ext cx="459474" cy="403823"/>
              <a:chOff x="5892512" y="2805541"/>
              <a:chExt cx="459474" cy="403823"/>
            </a:xfrm>
          </p:grpSpPr>
          <p:sp>
            <p:nvSpPr>
              <p:cNvPr id="6" name="Elipse 5">
                <a:extLst>
                  <a:ext uri="{FF2B5EF4-FFF2-40B4-BE49-F238E27FC236}">
                    <a16:creationId xmlns:a16="http://schemas.microsoft.com/office/drawing/2014/main" id="{735035DF-491F-6D13-18A0-2152C50BA78A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00889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7" name="Elipse 6">
                <a:extLst>
                  <a:ext uri="{FF2B5EF4-FFF2-40B4-BE49-F238E27FC236}">
                    <a16:creationId xmlns:a16="http://schemas.microsoft.com/office/drawing/2014/main" id="{9F4D5353-21EC-3C4B-1977-D9E9C6EBB0E9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8" name="Triángulo 7">
                <a:extLst>
                  <a:ext uri="{FF2B5EF4-FFF2-40B4-BE49-F238E27FC236}">
                    <a16:creationId xmlns:a16="http://schemas.microsoft.com/office/drawing/2014/main" id="{A54FAC78-2A95-0237-4736-40CD3BCEFEA8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sp>
        <p:nvSpPr>
          <p:cNvPr id="9" name="Google Shape;89;p8">
            <a:extLst>
              <a:ext uri="{FF2B5EF4-FFF2-40B4-BE49-F238E27FC236}">
                <a16:creationId xmlns:a16="http://schemas.microsoft.com/office/drawing/2014/main" id="{32E624C1-57CD-A0C6-CFBD-7284CAF652DF}"/>
              </a:ext>
            </a:extLst>
          </p:cNvPr>
          <p:cNvSpPr txBox="1"/>
          <p:nvPr/>
        </p:nvSpPr>
        <p:spPr>
          <a:xfrm>
            <a:off x="509864" y="1603651"/>
            <a:ext cx="3882749" cy="3093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2250" indent="-222250">
              <a:spcAft>
                <a:spcPts val="600"/>
              </a:spcAft>
              <a:buClr>
                <a:schemeClr val="accent5"/>
              </a:buClr>
              <a:buSzPct val="100000"/>
              <a:buFont typeface="+mj-lt"/>
              <a:buAutoNum type="arabicPeriod" startAt="2"/>
            </a:pPr>
            <a:r>
              <a:rPr lang="es-ES" b="1" dirty="0" err="1">
                <a:solidFill>
                  <a:schemeClr val="accent5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JavaServer</a:t>
            </a:r>
            <a:r>
              <a:rPr lang="es-ES" b="1" dirty="0">
                <a:solidFill>
                  <a:schemeClr val="accent5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Pages (JSP).</a:t>
            </a:r>
            <a:endParaRPr lang="es-ES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222250" lvl="0">
              <a:buClr>
                <a:schemeClr val="accent5"/>
              </a:buClr>
              <a:buSzPct val="100000"/>
            </a:pPr>
            <a:r>
              <a:rPr lang="es-E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Los archivos JSP son una herramienta útil para implementar contenido dinámico en páginas web desde el lado del servidor.</a:t>
            </a:r>
          </a:p>
          <a:p>
            <a:pPr marL="400050" lvl="0" indent="-1778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</a:pPr>
            <a:endParaRPr lang="es-ES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222250" lvl="0">
              <a:buClr>
                <a:schemeClr val="accent5"/>
              </a:buClr>
              <a:buSzPct val="100000"/>
            </a:pPr>
            <a:r>
              <a:rPr lang="es-E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Con los archivos JSP, un servidor web, como Apache Tomcat, puede agregar contenido dinámico a las páginas HTML antes de enviarlas al navegador que las solicita.</a:t>
            </a:r>
          </a:p>
          <a:p>
            <a:pPr marL="400050" lvl="0" indent="-1778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</a:pPr>
            <a:endParaRPr lang="es-ES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222250" lvl="0">
              <a:buClr>
                <a:schemeClr val="accent5"/>
              </a:buClr>
              <a:buSzPct val="100000"/>
            </a:pPr>
            <a:r>
              <a:rPr lang="es-E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De esta manera, los archivos JSP permiten a los desarrolladores de aplicaciones web crear páginas web más interactivas y personalizadas para los usuarios.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3"/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026660" y="1451269"/>
            <a:ext cx="3363766" cy="378271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BCA00992-A814-3E63-ECFE-4F83A24C93BE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APLICACIONES EMPRESARIALES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2E97F911-59E9-8FCE-80A0-A6D5AB9348FE}"/>
              </a:ext>
            </a:extLst>
          </p:cNvPr>
          <p:cNvGrpSpPr/>
          <p:nvPr/>
        </p:nvGrpSpPr>
        <p:grpSpPr>
          <a:xfrm>
            <a:off x="289992" y="919439"/>
            <a:ext cx="2431715" cy="500394"/>
            <a:chOff x="792046" y="3303503"/>
            <a:chExt cx="2431715" cy="500394"/>
          </a:xfrm>
        </p:grpSpPr>
        <p:sp>
          <p:nvSpPr>
            <p:cNvPr id="4" name="Rectángulo redondeado 3">
              <a:extLst>
                <a:ext uri="{FF2B5EF4-FFF2-40B4-BE49-F238E27FC236}">
                  <a16:creationId xmlns:a16="http://schemas.microsoft.com/office/drawing/2014/main" id="{BCB8348F-2833-AA23-0032-BB5BDC711A89}"/>
                </a:ext>
              </a:extLst>
            </p:cNvPr>
            <p:cNvSpPr/>
            <p:nvPr/>
          </p:nvSpPr>
          <p:spPr>
            <a:xfrm>
              <a:off x="1008063" y="3303503"/>
              <a:ext cx="2215698" cy="500394"/>
            </a:xfrm>
            <a:prstGeom prst="roundRect">
              <a:avLst>
                <a:gd name="adj" fmla="val 26745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6350" indent="-1588" algn="ctr">
                <a:tabLst>
                  <a:tab pos="569913" algn="l"/>
                </a:tabLst>
              </a:pPr>
              <a:r>
                <a:rPr lang="es-ES_tradnl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     </a:t>
              </a:r>
              <a:r>
                <a:rPr lang="es-ES" b="1" dirty="0">
                  <a:solidFill>
                    <a:schemeClr val="bg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CAPA WEB</a:t>
              </a:r>
              <a:endParaRPr lang="es-E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5" name="Agrupar 9">
              <a:extLst>
                <a:ext uri="{FF2B5EF4-FFF2-40B4-BE49-F238E27FC236}">
                  <a16:creationId xmlns:a16="http://schemas.microsoft.com/office/drawing/2014/main" id="{2141DF91-5EBF-AC49-4BC6-35EF1CDE90CB}"/>
                </a:ext>
              </a:extLst>
            </p:cNvPr>
            <p:cNvGrpSpPr/>
            <p:nvPr/>
          </p:nvGrpSpPr>
          <p:grpSpPr>
            <a:xfrm>
              <a:off x="792046" y="3351789"/>
              <a:ext cx="459474" cy="403823"/>
              <a:chOff x="5892512" y="2805541"/>
              <a:chExt cx="459474" cy="403823"/>
            </a:xfrm>
          </p:grpSpPr>
          <p:sp>
            <p:nvSpPr>
              <p:cNvPr id="6" name="Elipse 5">
                <a:extLst>
                  <a:ext uri="{FF2B5EF4-FFF2-40B4-BE49-F238E27FC236}">
                    <a16:creationId xmlns:a16="http://schemas.microsoft.com/office/drawing/2014/main" id="{DAC08B55-5535-3E1F-766D-6C0C5B4133CD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00889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7" name="Elipse 6">
                <a:extLst>
                  <a:ext uri="{FF2B5EF4-FFF2-40B4-BE49-F238E27FC236}">
                    <a16:creationId xmlns:a16="http://schemas.microsoft.com/office/drawing/2014/main" id="{7D4C6378-4B46-9A0B-FC0E-E4CF9C12AB37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8" name="Triángulo 7">
                <a:extLst>
                  <a:ext uri="{FF2B5EF4-FFF2-40B4-BE49-F238E27FC236}">
                    <a16:creationId xmlns:a16="http://schemas.microsoft.com/office/drawing/2014/main" id="{E6B2926E-7F69-0CB7-D181-5B5F2BF5D6F5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sp>
        <p:nvSpPr>
          <p:cNvPr id="9" name="Google Shape;89;p8">
            <a:extLst>
              <a:ext uri="{FF2B5EF4-FFF2-40B4-BE49-F238E27FC236}">
                <a16:creationId xmlns:a16="http://schemas.microsoft.com/office/drawing/2014/main" id="{03D386F2-B97C-D4BE-6042-FA0BEC179395}"/>
              </a:ext>
            </a:extLst>
          </p:cNvPr>
          <p:cNvSpPr txBox="1"/>
          <p:nvPr/>
        </p:nvSpPr>
        <p:spPr>
          <a:xfrm>
            <a:off x="509864" y="1603651"/>
            <a:ext cx="3882749" cy="72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2250" indent="-222250">
              <a:spcAft>
                <a:spcPts val="600"/>
              </a:spcAft>
              <a:buClr>
                <a:schemeClr val="accent5"/>
              </a:buClr>
              <a:buSzPct val="100000"/>
              <a:buFont typeface="+mj-lt"/>
              <a:buAutoNum type="arabicPeriod" startAt="3"/>
            </a:pPr>
            <a:r>
              <a:rPr lang="es-ES" b="1" dirty="0" err="1">
                <a:solidFill>
                  <a:schemeClr val="accent5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JavaServer</a:t>
            </a:r>
            <a:r>
              <a:rPr lang="es-ES" b="1" dirty="0">
                <a:solidFill>
                  <a:schemeClr val="accent5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Faces (JSF).</a:t>
            </a:r>
            <a:endParaRPr lang="es-ES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222250">
              <a:buClr>
                <a:schemeClr val="accent5"/>
              </a:buClr>
              <a:buSzPct val="100000"/>
            </a:pPr>
            <a:r>
              <a:rPr lang="es-E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Componentes de interfaz de usuario para aplicaciones web.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6646" y="3549066"/>
            <a:ext cx="3572647" cy="143655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746DFAFE-7E94-1603-1F43-6E39C12D55B8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APLICACIONES EMPRESARIALES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DB738437-61A8-B7E5-9BF2-2A91D32271C8}"/>
              </a:ext>
            </a:extLst>
          </p:cNvPr>
          <p:cNvGrpSpPr/>
          <p:nvPr/>
        </p:nvGrpSpPr>
        <p:grpSpPr>
          <a:xfrm>
            <a:off x="289992" y="919439"/>
            <a:ext cx="2431715" cy="500394"/>
            <a:chOff x="792046" y="3926925"/>
            <a:chExt cx="2431715" cy="500394"/>
          </a:xfrm>
        </p:grpSpPr>
        <p:sp>
          <p:nvSpPr>
            <p:cNvPr id="4" name="Rectángulo redondeado 3">
              <a:extLst>
                <a:ext uri="{FF2B5EF4-FFF2-40B4-BE49-F238E27FC236}">
                  <a16:creationId xmlns:a16="http://schemas.microsoft.com/office/drawing/2014/main" id="{CC469CEC-67B6-4818-5B48-B778C936683A}"/>
                </a:ext>
              </a:extLst>
            </p:cNvPr>
            <p:cNvSpPr/>
            <p:nvPr/>
          </p:nvSpPr>
          <p:spPr>
            <a:xfrm>
              <a:off x="1008063" y="3926925"/>
              <a:ext cx="2215698" cy="500394"/>
            </a:xfrm>
            <a:prstGeom prst="roundRect">
              <a:avLst>
                <a:gd name="adj" fmla="val 2420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</a:pPr>
              <a:r>
                <a:rPr lang="es-ES_tradnl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     </a:t>
              </a:r>
              <a:r>
                <a:rPr lang="es-ES" b="1" dirty="0">
                  <a:solidFill>
                    <a:schemeClr val="bg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CAPA NEGOCIO</a:t>
              </a:r>
              <a:endParaRPr lang="es-E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A96D087D-A448-3579-E108-44F1101359A2}"/>
                </a:ext>
              </a:extLst>
            </p:cNvPr>
            <p:cNvGrpSpPr/>
            <p:nvPr/>
          </p:nvGrpSpPr>
          <p:grpSpPr>
            <a:xfrm>
              <a:off x="792046" y="3975211"/>
              <a:ext cx="459474" cy="403823"/>
              <a:chOff x="5892512" y="2805541"/>
              <a:chExt cx="459474" cy="403823"/>
            </a:xfrm>
          </p:grpSpPr>
          <p:sp>
            <p:nvSpPr>
              <p:cNvPr id="6" name="Elipse 5">
                <a:extLst>
                  <a:ext uri="{FF2B5EF4-FFF2-40B4-BE49-F238E27FC236}">
                    <a16:creationId xmlns:a16="http://schemas.microsoft.com/office/drawing/2014/main" id="{011BF410-4F64-9812-F3CE-1656AC11D1CD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B7551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7" name="Elipse 6">
                <a:extLst>
                  <a:ext uri="{FF2B5EF4-FFF2-40B4-BE49-F238E27FC236}">
                    <a16:creationId xmlns:a16="http://schemas.microsoft.com/office/drawing/2014/main" id="{F0054E80-919E-4A63-4F58-87DDB3929F69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8" name="Triángulo 7">
                <a:extLst>
                  <a:ext uri="{FF2B5EF4-FFF2-40B4-BE49-F238E27FC236}">
                    <a16:creationId xmlns:a16="http://schemas.microsoft.com/office/drawing/2014/main" id="{19962C4E-7152-68B9-670E-F9B9FDC50F3C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sp>
        <p:nvSpPr>
          <p:cNvPr id="9" name="Google Shape;89;p8">
            <a:extLst>
              <a:ext uri="{FF2B5EF4-FFF2-40B4-BE49-F238E27FC236}">
                <a16:creationId xmlns:a16="http://schemas.microsoft.com/office/drawing/2014/main" id="{59E97F62-878D-0E2A-1ACF-F6194E669E2D}"/>
              </a:ext>
            </a:extLst>
          </p:cNvPr>
          <p:cNvSpPr txBox="1"/>
          <p:nvPr/>
        </p:nvSpPr>
        <p:spPr>
          <a:xfrm>
            <a:off x="509864" y="1603651"/>
            <a:ext cx="3882749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accent4"/>
              </a:buClr>
              <a:buSzPct val="100000"/>
            </a:pPr>
            <a:r>
              <a:rPr lang="es-ES" sz="15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Es la parte de la aplicación que se encuentra en el servidor de aplicaciones. Contiene la lógica de negocio. </a:t>
            </a:r>
          </a:p>
          <a:p>
            <a:pPr marL="184150" lvl="0" indent="-184150"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</a:pPr>
            <a:endParaRPr lang="es-ES" sz="15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buClr>
                <a:schemeClr val="accent4"/>
              </a:buClr>
              <a:buSzPct val="100000"/>
            </a:pPr>
            <a:r>
              <a:rPr lang="es-ES" sz="15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Los componentes de negocio interactúan con la capa de datos y la capa de negocio se implementa normalmente como EJB.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35F5F9E9-6ED1-1A1F-E070-8E05810780CA}"/>
              </a:ext>
            </a:extLst>
          </p:cNvPr>
          <p:cNvGrpSpPr/>
          <p:nvPr/>
        </p:nvGrpSpPr>
        <p:grpSpPr>
          <a:xfrm>
            <a:off x="6121659" y="1104900"/>
            <a:ext cx="1164084" cy="3732213"/>
            <a:chOff x="6330881" y="1863749"/>
            <a:chExt cx="846201" cy="2713038"/>
          </a:xfrm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510CCB37-5C2C-C6E7-9976-46769E731575}"/>
                </a:ext>
              </a:extLst>
            </p:cNvPr>
            <p:cNvGrpSpPr/>
            <p:nvPr/>
          </p:nvGrpSpPr>
          <p:grpSpPr>
            <a:xfrm>
              <a:off x="6330881" y="1863749"/>
              <a:ext cx="846201" cy="2713038"/>
              <a:chOff x="5371431" y="2241158"/>
              <a:chExt cx="846201" cy="2713038"/>
            </a:xfrm>
          </p:grpSpPr>
          <p:sp>
            <p:nvSpPr>
              <p:cNvPr id="15" name="Google Shape;80;p7">
                <a:extLst>
                  <a:ext uri="{FF2B5EF4-FFF2-40B4-BE49-F238E27FC236}">
                    <a16:creationId xmlns:a16="http://schemas.microsoft.com/office/drawing/2014/main" id="{57DC5D01-4378-18BC-72F2-2E1EF4B16989}"/>
                  </a:ext>
                </a:extLst>
              </p:cNvPr>
              <p:cNvSpPr txBox="1"/>
              <p:nvPr/>
            </p:nvSpPr>
            <p:spPr>
              <a:xfrm>
                <a:off x="5371431" y="2241158"/>
                <a:ext cx="846201" cy="3132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R="0" lvl="0" algn="ctr" rtl="0">
                  <a:spcBef>
                    <a:spcPts val="0"/>
                  </a:spcBef>
                </a:pPr>
                <a:r>
                  <a:rPr lang="es-ES" b="1" dirty="0">
                    <a:solidFill>
                      <a:schemeClr val="accent4"/>
                    </a:solidFill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  <a:sym typeface="Calibri"/>
                  </a:rPr>
                  <a:t>Capa</a:t>
                </a:r>
              </a:p>
              <a:p>
                <a:pPr marR="0" lvl="0" algn="ctr" rtl="0">
                  <a:spcBef>
                    <a:spcPts val="0"/>
                  </a:spcBef>
                </a:pPr>
                <a:r>
                  <a:rPr lang="es-ES" b="1" dirty="0">
                    <a:solidFill>
                      <a:schemeClr val="accent4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Negocio</a:t>
                </a:r>
                <a:endParaRPr dirty="0">
                  <a:solidFill>
                    <a:schemeClr val="accent4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55F5C54D-ED9D-8597-8B1A-D7B3074B4CA2}"/>
                  </a:ext>
                </a:extLst>
              </p:cNvPr>
              <p:cNvSpPr/>
              <p:nvPr/>
            </p:nvSpPr>
            <p:spPr>
              <a:xfrm>
                <a:off x="5452425" y="2601984"/>
                <a:ext cx="684213" cy="235221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0" rtlCol="0" anchor="t"/>
              <a:lstStyle/>
              <a:p>
                <a:pPr algn="ctr"/>
                <a:r>
                  <a:rPr lang="es-ES_tradnl" sz="10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Container</a:t>
                </a:r>
              </a:p>
              <a:p>
                <a:pPr algn="ctr"/>
                <a:r>
                  <a:rPr lang="es-ES_tradnl" sz="10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EJB</a:t>
                </a:r>
              </a:p>
            </p:txBody>
          </p:sp>
        </p:grp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B7082DE7-A5CE-E6D5-8653-58CEF3597C0E}"/>
                </a:ext>
              </a:extLst>
            </p:cNvPr>
            <p:cNvSpPr/>
            <p:nvPr/>
          </p:nvSpPr>
          <p:spPr>
            <a:xfrm>
              <a:off x="6454767" y="2775915"/>
              <a:ext cx="598429" cy="3159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10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EJB</a:t>
              </a:r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A7AEDCE-D984-38AA-0FF6-D7E33B430B85}"/>
                </a:ext>
              </a:extLst>
            </p:cNvPr>
            <p:cNvSpPr/>
            <p:nvPr/>
          </p:nvSpPr>
          <p:spPr>
            <a:xfrm>
              <a:off x="6454767" y="3385297"/>
              <a:ext cx="598429" cy="3159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10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EJB</a:t>
              </a:r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A4996734-FBBD-3E0A-D21C-383CD767F642}"/>
                </a:ext>
              </a:extLst>
            </p:cNvPr>
            <p:cNvSpPr/>
            <p:nvPr/>
          </p:nvSpPr>
          <p:spPr>
            <a:xfrm>
              <a:off x="6454767" y="3990673"/>
              <a:ext cx="598429" cy="3159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10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EJB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5"/>
          <p:cNvPicPr preferRelativeResize="0"/>
          <p:nvPr/>
        </p:nvPicPr>
        <p:blipFill rotWithShape="1">
          <a:blip r:embed="rId3">
            <a:alphaModFix/>
          </a:blip>
          <a:srcRect l="1259" t="2799" r="2500" b="2619"/>
          <a:stretch/>
        </p:blipFill>
        <p:spPr>
          <a:xfrm>
            <a:off x="4751388" y="1597025"/>
            <a:ext cx="3924300" cy="3154109"/>
          </a:xfrm>
          <a:prstGeom prst="rect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BE99CF55-0089-606C-E32C-763F9501611F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APLICACIONES EMPRESARIALES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BE263EA1-A4EE-DB57-FED7-A92C0D66A418}"/>
              </a:ext>
            </a:extLst>
          </p:cNvPr>
          <p:cNvGrpSpPr/>
          <p:nvPr/>
        </p:nvGrpSpPr>
        <p:grpSpPr>
          <a:xfrm>
            <a:off x="289992" y="919439"/>
            <a:ext cx="2431715" cy="500394"/>
            <a:chOff x="792046" y="3926925"/>
            <a:chExt cx="2431715" cy="500394"/>
          </a:xfrm>
        </p:grpSpPr>
        <p:sp>
          <p:nvSpPr>
            <p:cNvPr id="4" name="Rectángulo redondeado 3">
              <a:extLst>
                <a:ext uri="{FF2B5EF4-FFF2-40B4-BE49-F238E27FC236}">
                  <a16:creationId xmlns:a16="http://schemas.microsoft.com/office/drawing/2014/main" id="{11E49512-00C5-C21B-B932-25883338231E}"/>
                </a:ext>
              </a:extLst>
            </p:cNvPr>
            <p:cNvSpPr/>
            <p:nvPr/>
          </p:nvSpPr>
          <p:spPr>
            <a:xfrm>
              <a:off x="1008063" y="3926925"/>
              <a:ext cx="2215698" cy="500394"/>
            </a:xfrm>
            <a:prstGeom prst="roundRect">
              <a:avLst>
                <a:gd name="adj" fmla="val 2420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</a:pPr>
              <a:r>
                <a:rPr lang="es-ES_tradnl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     </a:t>
              </a:r>
              <a:r>
                <a:rPr lang="es-ES" b="1" dirty="0">
                  <a:solidFill>
                    <a:schemeClr val="bg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CAPA NEGOCIO</a:t>
              </a:r>
              <a:endParaRPr lang="es-E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10658AA2-4F39-FCA0-3AE2-6F37EF72E032}"/>
                </a:ext>
              </a:extLst>
            </p:cNvPr>
            <p:cNvGrpSpPr/>
            <p:nvPr/>
          </p:nvGrpSpPr>
          <p:grpSpPr>
            <a:xfrm>
              <a:off x="792046" y="3975211"/>
              <a:ext cx="459474" cy="403823"/>
              <a:chOff x="5892512" y="2805541"/>
              <a:chExt cx="459474" cy="403823"/>
            </a:xfrm>
          </p:grpSpPr>
          <p:sp>
            <p:nvSpPr>
              <p:cNvPr id="6" name="Elipse 5">
                <a:extLst>
                  <a:ext uri="{FF2B5EF4-FFF2-40B4-BE49-F238E27FC236}">
                    <a16:creationId xmlns:a16="http://schemas.microsoft.com/office/drawing/2014/main" id="{78BD5E2A-11B4-DCBB-A05A-B28836BF6745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B7551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7" name="Elipse 6">
                <a:extLst>
                  <a:ext uri="{FF2B5EF4-FFF2-40B4-BE49-F238E27FC236}">
                    <a16:creationId xmlns:a16="http://schemas.microsoft.com/office/drawing/2014/main" id="{DD1E005D-030A-A910-2BAE-7A8955B9802E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8" name="Triángulo 7">
                <a:extLst>
                  <a:ext uri="{FF2B5EF4-FFF2-40B4-BE49-F238E27FC236}">
                    <a16:creationId xmlns:a16="http://schemas.microsoft.com/office/drawing/2014/main" id="{C0AF8AE0-F28D-A437-B426-9E39F651D885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sp>
        <p:nvSpPr>
          <p:cNvPr id="9" name="Google Shape;89;p8">
            <a:extLst>
              <a:ext uri="{FF2B5EF4-FFF2-40B4-BE49-F238E27FC236}">
                <a16:creationId xmlns:a16="http://schemas.microsoft.com/office/drawing/2014/main" id="{09ACBE01-1109-A374-F695-5EAF1BF9FA38}"/>
              </a:ext>
            </a:extLst>
          </p:cNvPr>
          <p:cNvSpPr txBox="1"/>
          <p:nvPr/>
        </p:nvSpPr>
        <p:spPr>
          <a:xfrm>
            <a:off x="509864" y="1603651"/>
            <a:ext cx="3962745" cy="2385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2250" indent="-222250">
              <a:spcAft>
                <a:spcPts val="600"/>
              </a:spcAft>
              <a:buClr>
                <a:schemeClr val="accent4"/>
              </a:buClr>
              <a:buSzPct val="100000"/>
              <a:buFont typeface="+mj-lt"/>
              <a:buAutoNum type="arabicPeriod"/>
            </a:pPr>
            <a:r>
              <a:rPr lang="es-ES" sz="1500" b="1" dirty="0">
                <a:solidFill>
                  <a:schemeClr val="accent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Enterprise Java </a:t>
            </a:r>
            <a:r>
              <a:rPr lang="es-ES" sz="1500" b="1" dirty="0" err="1">
                <a:solidFill>
                  <a:schemeClr val="accent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Beans</a:t>
            </a:r>
            <a:r>
              <a:rPr lang="es-ES" sz="1500" b="1" dirty="0">
                <a:solidFill>
                  <a:schemeClr val="accent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(EJB).</a:t>
            </a:r>
            <a:endParaRPr lang="es-ES" sz="15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222250">
              <a:buClr>
                <a:schemeClr val="accent4"/>
              </a:buClr>
              <a:buSzPct val="100000"/>
            </a:pPr>
            <a:r>
              <a:rPr lang="es-ES" sz="15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Pueden procesar datos recibidos del lado cliente y enviarlos al nivel de sistema de información para su almacenamiento.</a:t>
            </a:r>
          </a:p>
          <a:p>
            <a:pPr marL="400050" indent="-177800"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</a:pPr>
            <a:endParaRPr lang="es-ES" sz="15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222250">
              <a:buClr>
                <a:schemeClr val="accent4"/>
              </a:buClr>
              <a:buSzPct val="100000"/>
            </a:pPr>
            <a:r>
              <a:rPr lang="es-ES" sz="15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Pueden recuperar datos del sistema de información, procesarlos y enviarlos al cliente</a:t>
            </a:r>
          </a:p>
          <a:p>
            <a:pPr marL="400050" indent="-177800"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</a:pPr>
            <a:endParaRPr lang="es-ES" sz="15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400050" indent="-177800"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</a:pPr>
            <a:endParaRPr lang="es-ES" sz="15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84150" indent="-184150"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</a:pPr>
            <a:endParaRPr lang="es-ES" sz="15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1C622F91-2E71-3B79-24A0-79FE2F37E410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APLICACIONES EMPRESARIALES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DDF8F293-0710-D392-0875-DAE2A3268B9B}"/>
              </a:ext>
            </a:extLst>
          </p:cNvPr>
          <p:cNvGrpSpPr/>
          <p:nvPr/>
        </p:nvGrpSpPr>
        <p:grpSpPr>
          <a:xfrm>
            <a:off x="289991" y="919439"/>
            <a:ext cx="2431715" cy="500394"/>
            <a:chOff x="792046" y="3926925"/>
            <a:chExt cx="2431715" cy="500394"/>
          </a:xfrm>
        </p:grpSpPr>
        <p:sp>
          <p:nvSpPr>
            <p:cNvPr id="4" name="Rectángulo redondeado 3">
              <a:extLst>
                <a:ext uri="{FF2B5EF4-FFF2-40B4-BE49-F238E27FC236}">
                  <a16:creationId xmlns:a16="http://schemas.microsoft.com/office/drawing/2014/main" id="{DCE6FE66-456F-F936-C8AD-148E8CEF791D}"/>
                </a:ext>
              </a:extLst>
            </p:cNvPr>
            <p:cNvSpPr/>
            <p:nvPr/>
          </p:nvSpPr>
          <p:spPr>
            <a:xfrm>
              <a:off x="1008063" y="3926925"/>
              <a:ext cx="2215698" cy="500394"/>
            </a:xfrm>
            <a:prstGeom prst="roundRect">
              <a:avLst>
                <a:gd name="adj" fmla="val 2420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</a:pPr>
              <a:r>
                <a:rPr lang="es-ES_tradnl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     </a:t>
              </a:r>
              <a:r>
                <a:rPr lang="es-ES" b="1" dirty="0">
                  <a:solidFill>
                    <a:schemeClr val="bg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CAPA DATOS</a:t>
              </a:r>
            </a:p>
          </p:txBody>
        </p:sp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7BC05B28-2D65-ED0D-A486-733C272D0BCF}"/>
                </a:ext>
              </a:extLst>
            </p:cNvPr>
            <p:cNvGrpSpPr/>
            <p:nvPr/>
          </p:nvGrpSpPr>
          <p:grpSpPr>
            <a:xfrm>
              <a:off x="792046" y="3975211"/>
              <a:ext cx="459474" cy="403823"/>
              <a:chOff x="5892512" y="2805541"/>
              <a:chExt cx="459474" cy="403823"/>
            </a:xfrm>
          </p:grpSpPr>
          <p:sp>
            <p:nvSpPr>
              <p:cNvPr id="6" name="Elipse 5">
                <a:extLst>
                  <a:ext uri="{FF2B5EF4-FFF2-40B4-BE49-F238E27FC236}">
                    <a16:creationId xmlns:a16="http://schemas.microsoft.com/office/drawing/2014/main" id="{686F9C96-51B7-FA93-A8BD-A0C739BBC19D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BE392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7" name="Elipse 6">
                <a:extLst>
                  <a:ext uri="{FF2B5EF4-FFF2-40B4-BE49-F238E27FC236}">
                    <a16:creationId xmlns:a16="http://schemas.microsoft.com/office/drawing/2014/main" id="{F5A8A080-F057-CB60-C67C-618A00BB61DC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8" name="Triángulo 7">
                <a:extLst>
                  <a:ext uri="{FF2B5EF4-FFF2-40B4-BE49-F238E27FC236}">
                    <a16:creationId xmlns:a16="http://schemas.microsoft.com/office/drawing/2014/main" id="{8CCD11ED-5EB7-E2B3-7BE5-87A5C88071FC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b="1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sp>
        <p:nvSpPr>
          <p:cNvPr id="9" name="Google Shape;89;p8">
            <a:extLst>
              <a:ext uri="{FF2B5EF4-FFF2-40B4-BE49-F238E27FC236}">
                <a16:creationId xmlns:a16="http://schemas.microsoft.com/office/drawing/2014/main" id="{BAAB0EA9-6D94-353D-19F7-49E26C043767}"/>
              </a:ext>
            </a:extLst>
          </p:cNvPr>
          <p:cNvSpPr txBox="1"/>
          <p:nvPr/>
        </p:nvSpPr>
        <p:spPr>
          <a:xfrm>
            <a:off x="509864" y="1603651"/>
            <a:ext cx="3882749" cy="344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accent2"/>
              </a:buClr>
              <a:buSzPct val="100000"/>
            </a:pPr>
            <a:r>
              <a:rPr lang="es-E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La capa de datos es donde se encuentra el sistema de información de la empresa (EIS, Enterprise </a:t>
            </a:r>
            <a:r>
              <a:rPr lang="es-E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Information</a:t>
            </a:r>
            <a:r>
              <a:rPr lang="es-E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s-ES" dirty="0" err="1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System</a:t>
            </a:r>
            <a:r>
              <a:rPr lang="es-E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), que comprende la base de datos, el sistema de procesamiento de datos, sistemas legados y sistemas de planificación de recursos.</a:t>
            </a:r>
          </a:p>
          <a:p>
            <a:pPr marL="184150" lvl="0" indent="-184150"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endParaRPr lang="es-ES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84150" lvl="0" indent="-184150"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En esta capa, se almacena toda la información necesaria para la aplicación, y se accede a ella desde la capa de lógica de negocios para llevar a cabo operaciones y procesos.</a:t>
            </a:r>
          </a:p>
          <a:p>
            <a:pPr marL="184150" lvl="0" indent="-184150"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endParaRPr lang="es-ES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84150" lvl="0" indent="-184150"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La capa de datos es crítica para el funcionamiento de la aplicación y su correcta gestión es esencial para garantizar la fiabilidad y seguridad de la información.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DD880058-F043-0D39-8C7B-2C0E5742303D}"/>
              </a:ext>
            </a:extLst>
          </p:cNvPr>
          <p:cNvGrpSpPr/>
          <p:nvPr/>
        </p:nvGrpSpPr>
        <p:grpSpPr>
          <a:xfrm>
            <a:off x="6091621" y="1036320"/>
            <a:ext cx="1216133" cy="3783813"/>
            <a:chOff x="8100392" y="1863749"/>
            <a:chExt cx="846201" cy="2632827"/>
          </a:xfrm>
        </p:grpSpPr>
        <p:sp>
          <p:nvSpPr>
            <p:cNvPr id="11" name="Google Shape;80;p7">
              <a:extLst>
                <a:ext uri="{FF2B5EF4-FFF2-40B4-BE49-F238E27FC236}">
                  <a16:creationId xmlns:a16="http://schemas.microsoft.com/office/drawing/2014/main" id="{BC4D2865-FBB1-C8D0-8B6E-ABFDA1E2677A}"/>
                </a:ext>
              </a:extLst>
            </p:cNvPr>
            <p:cNvSpPr txBox="1"/>
            <p:nvPr/>
          </p:nvSpPr>
          <p:spPr>
            <a:xfrm>
              <a:off x="8100392" y="1863749"/>
              <a:ext cx="846201" cy="3115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R="0" lvl="0" algn="ctr" rtl="0">
                <a:spcBef>
                  <a:spcPts val="0"/>
                </a:spcBef>
              </a:pPr>
              <a:r>
                <a:rPr lang="es-ES" b="1" dirty="0">
                  <a:solidFill>
                    <a:schemeClr val="accent2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Capa</a:t>
              </a:r>
            </a:p>
            <a:p>
              <a:pPr marR="0" lvl="0" algn="ctr" rtl="0">
                <a:spcBef>
                  <a:spcPts val="0"/>
                </a:spcBef>
              </a:pPr>
              <a:r>
                <a:rPr lang="es-ES" b="1" dirty="0">
                  <a:solidFill>
                    <a:schemeClr val="accent2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/>
                </a:rPr>
                <a:t>Datos</a:t>
              </a:r>
              <a:endParaRPr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BB3CB297-A2BD-3001-738F-1F4F725FBE22}"/>
                </a:ext>
              </a:extLst>
            </p:cNvPr>
            <p:cNvGrpSpPr/>
            <p:nvPr/>
          </p:nvGrpSpPr>
          <p:grpSpPr>
            <a:xfrm>
              <a:off x="8224278" y="2561076"/>
              <a:ext cx="598429" cy="631946"/>
              <a:chOff x="8224278" y="2561076"/>
              <a:chExt cx="598429" cy="631946"/>
            </a:xfrm>
          </p:grpSpPr>
          <p:sp>
            <p:nvSpPr>
              <p:cNvPr id="21" name="Rectángulo 20">
                <a:extLst>
                  <a:ext uri="{FF2B5EF4-FFF2-40B4-BE49-F238E27FC236}">
                    <a16:creationId xmlns:a16="http://schemas.microsoft.com/office/drawing/2014/main" id="{148CF467-1822-C271-F45C-56C1B37CCDA9}"/>
                  </a:ext>
                </a:extLst>
              </p:cNvPr>
              <p:cNvSpPr/>
              <p:nvPr/>
            </p:nvSpPr>
            <p:spPr>
              <a:xfrm>
                <a:off x="8224278" y="2561076"/>
                <a:ext cx="598429" cy="50766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s-ES_tradnl" sz="10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" name="Cilindro 21">
                <a:extLst>
                  <a:ext uri="{FF2B5EF4-FFF2-40B4-BE49-F238E27FC236}">
                    <a16:creationId xmlns:a16="http://schemas.microsoft.com/office/drawing/2014/main" id="{CA6E280C-3F74-CBC9-6A3E-9709F5547C3E}"/>
                  </a:ext>
                </a:extLst>
              </p:cNvPr>
              <p:cNvSpPr/>
              <p:nvPr/>
            </p:nvSpPr>
            <p:spPr>
              <a:xfrm>
                <a:off x="8329933" y="2603568"/>
                <a:ext cx="387118" cy="422685"/>
              </a:xfrm>
              <a:prstGeom prst="can">
                <a:avLst>
                  <a:gd name="adj" fmla="val 32574"/>
                </a:avLst>
              </a:prstGeom>
              <a:solidFill>
                <a:schemeClr val="bg1">
                  <a:lumMod val="5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800"/>
              </a:p>
            </p:txBody>
          </p:sp>
          <p:sp>
            <p:nvSpPr>
              <p:cNvPr id="23" name="Google Shape;80;p7">
                <a:extLst>
                  <a:ext uri="{FF2B5EF4-FFF2-40B4-BE49-F238E27FC236}">
                    <a16:creationId xmlns:a16="http://schemas.microsoft.com/office/drawing/2014/main" id="{37F966DF-A286-EDC0-620E-F632CF5A4A4B}"/>
                  </a:ext>
                </a:extLst>
              </p:cNvPr>
              <p:cNvSpPr txBox="1"/>
              <p:nvPr/>
            </p:nvSpPr>
            <p:spPr>
              <a:xfrm>
                <a:off x="8263138" y="3092873"/>
                <a:ext cx="520708" cy="1001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R="0" lvl="0" algn="ctr" rtl="0">
                  <a:spcBef>
                    <a:spcPts val="0"/>
                  </a:spcBef>
                </a:pPr>
                <a:r>
                  <a:rPr lang="es-ES" sz="900" b="1" dirty="0">
                    <a:solidFill>
                      <a:srgbClr val="262626"/>
                    </a:solidFill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  <a:sym typeface="Calibri"/>
                  </a:rPr>
                  <a:t>ERP</a:t>
                </a:r>
                <a:endParaRPr sz="9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BA0EBCD4-4482-632C-E501-97451F2DFC7A}"/>
                </a:ext>
              </a:extLst>
            </p:cNvPr>
            <p:cNvGrpSpPr/>
            <p:nvPr/>
          </p:nvGrpSpPr>
          <p:grpSpPr>
            <a:xfrm>
              <a:off x="8224278" y="3202982"/>
              <a:ext cx="598429" cy="631946"/>
              <a:chOff x="8224278" y="2561076"/>
              <a:chExt cx="598429" cy="631946"/>
            </a:xfrm>
          </p:grpSpPr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C4823B09-2328-133E-FDC3-09FF9D5DD4C5}"/>
                  </a:ext>
                </a:extLst>
              </p:cNvPr>
              <p:cNvSpPr/>
              <p:nvPr/>
            </p:nvSpPr>
            <p:spPr>
              <a:xfrm>
                <a:off x="8224278" y="2561076"/>
                <a:ext cx="598429" cy="50766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s-ES_tradnl" sz="10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" name="Cilindro 18">
                <a:extLst>
                  <a:ext uri="{FF2B5EF4-FFF2-40B4-BE49-F238E27FC236}">
                    <a16:creationId xmlns:a16="http://schemas.microsoft.com/office/drawing/2014/main" id="{DB8D615B-7F5E-0C86-70B0-F67CC43E2EB2}"/>
                  </a:ext>
                </a:extLst>
              </p:cNvPr>
              <p:cNvSpPr/>
              <p:nvPr/>
            </p:nvSpPr>
            <p:spPr>
              <a:xfrm>
                <a:off x="8329933" y="2603568"/>
                <a:ext cx="387118" cy="422685"/>
              </a:xfrm>
              <a:prstGeom prst="can">
                <a:avLst>
                  <a:gd name="adj" fmla="val 32574"/>
                </a:avLst>
              </a:prstGeom>
              <a:solidFill>
                <a:schemeClr val="bg1">
                  <a:lumMod val="5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800"/>
              </a:p>
            </p:txBody>
          </p:sp>
          <p:sp>
            <p:nvSpPr>
              <p:cNvPr id="20" name="Google Shape;80;p7">
                <a:extLst>
                  <a:ext uri="{FF2B5EF4-FFF2-40B4-BE49-F238E27FC236}">
                    <a16:creationId xmlns:a16="http://schemas.microsoft.com/office/drawing/2014/main" id="{8C61380A-7CA7-39DC-C94B-DDE6EE69BCC8}"/>
                  </a:ext>
                </a:extLst>
              </p:cNvPr>
              <p:cNvSpPr txBox="1"/>
              <p:nvPr/>
            </p:nvSpPr>
            <p:spPr>
              <a:xfrm>
                <a:off x="8263138" y="3092873"/>
                <a:ext cx="520708" cy="1001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R="0" lvl="0" algn="ctr" rtl="0">
                  <a:spcBef>
                    <a:spcPts val="0"/>
                  </a:spcBef>
                </a:pPr>
                <a:r>
                  <a:rPr lang="es-ES" sz="900" b="1" dirty="0" err="1">
                    <a:solidFill>
                      <a:srgbClr val="262626"/>
                    </a:solidFill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  <a:sym typeface="Calibri"/>
                  </a:rPr>
                  <a:t>Sist</a:t>
                </a:r>
                <a:r>
                  <a:rPr lang="es-ES" sz="900" b="1" dirty="0">
                    <a:solidFill>
                      <a:srgbClr val="262626"/>
                    </a:solidFill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  <a:sym typeface="Calibri"/>
                  </a:rPr>
                  <a:t>. Legados</a:t>
                </a:r>
                <a:endParaRPr sz="9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C72A5F7E-D6A5-D189-373E-62A6E5F9317D}"/>
                </a:ext>
              </a:extLst>
            </p:cNvPr>
            <p:cNvGrpSpPr/>
            <p:nvPr/>
          </p:nvGrpSpPr>
          <p:grpSpPr>
            <a:xfrm>
              <a:off x="8224278" y="3864630"/>
              <a:ext cx="598429" cy="631946"/>
              <a:chOff x="8224278" y="2561076"/>
              <a:chExt cx="598429" cy="631946"/>
            </a:xfrm>
          </p:grpSpPr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F87575F9-2825-6841-2219-3238570BDAE0}"/>
                  </a:ext>
                </a:extLst>
              </p:cNvPr>
              <p:cNvSpPr/>
              <p:nvPr/>
            </p:nvSpPr>
            <p:spPr>
              <a:xfrm>
                <a:off x="8224278" y="2561076"/>
                <a:ext cx="598429" cy="50766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s-ES_tradnl" sz="10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" name="Cilindro 15">
                <a:extLst>
                  <a:ext uri="{FF2B5EF4-FFF2-40B4-BE49-F238E27FC236}">
                    <a16:creationId xmlns:a16="http://schemas.microsoft.com/office/drawing/2014/main" id="{1572378B-CA9F-2288-67EE-30772E40481C}"/>
                  </a:ext>
                </a:extLst>
              </p:cNvPr>
              <p:cNvSpPr/>
              <p:nvPr/>
            </p:nvSpPr>
            <p:spPr>
              <a:xfrm>
                <a:off x="8329933" y="2603568"/>
                <a:ext cx="387118" cy="422685"/>
              </a:xfrm>
              <a:prstGeom prst="can">
                <a:avLst>
                  <a:gd name="adj" fmla="val 32574"/>
                </a:avLst>
              </a:prstGeom>
              <a:solidFill>
                <a:schemeClr val="bg1">
                  <a:lumMod val="5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800"/>
              </a:p>
            </p:txBody>
          </p:sp>
          <p:sp>
            <p:nvSpPr>
              <p:cNvPr id="17" name="Google Shape;80;p7">
                <a:extLst>
                  <a:ext uri="{FF2B5EF4-FFF2-40B4-BE49-F238E27FC236}">
                    <a16:creationId xmlns:a16="http://schemas.microsoft.com/office/drawing/2014/main" id="{3A5EC12A-8DEF-2343-E5A4-0E52334B3D81}"/>
                  </a:ext>
                </a:extLst>
              </p:cNvPr>
              <p:cNvSpPr txBox="1"/>
              <p:nvPr/>
            </p:nvSpPr>
            <p:spPr>
              <a:xfrm>
                <a:off x="8263138" y="3092873"/>
                <a:ext cx="520708" cy="1001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R="0" lvl="0" algn="ctr" rtl="0">
                  <a:spcBef>
                    <a:spcPts val="0"/>
                  </a:spcBef>
                </a:pPr>
                <a:r>
                  <a:rPr lang="es-ES" sz="900" b="1" dirty="0">
                    <a:solidFill>
                      <a:srgbClr val="262626"/>
                    </a:solidFill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  <a:sym typeface="Calibri"/>
                  </a:rPr>
                  <a:t>RDBMS</a:t>
                </a:r>
                <a:endParaRPr sz="9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8A495D6D-73E7-D64C-AD5A-8212D6B1E2F3}"/>
              </a:ext>
            </a:extLst>
          </p:cNvPr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682CC9F8-A9FF-BF41-B987-57AFB7D160FE}"/>
                </a:ext>
              </a:extLst>
            </p:cNvPr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  <a:t>CONCLUSIONES</a:t>
              </a:r>
              <a:b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</a:br>
              <a:r>
                <a:rPr lang="es-ES_tradnl" sz="3600" b="1" dirty="0">
                  <a:solidFill>
                    <a:schemeClr val="bg1"/>
                  </a:solidFill>
                  <a:latin typeface="Graphik Bold" charset="0"/>
                  <a:ea typeface="Graphik Bold" charset="0"/>
                  <a:cs typeface="Graphik Bold" charset="0"/>
                </a:rPr>
                <a:t>MÁS REFERENCIAS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2CD7628C-6304-5D4B-BA7D-591238143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</p:spPr>
        </p:pic>
      </p:grpSp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3" y="946969"/>
            <a:ext cx="2072214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25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4" name="object 7"/>
          <p:cNvSpPr txBox="1"/>
          <p:nvPr/>
        </p:nvSpPr>
        <p:spPr>
          <a:xfrm>
            <a:off x="1279545" y="912813"/>
            <a:ext cx="5705454" cy="2154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Los </a:t>
            </a:r>
            <a:r>
              <a:rPr lang="es-PE" sz="1400" b="1" dirty="0">
                <a:latin typeface="Calibri" charset="0"/>
                <a:ea typeface="Calibri" charset="0"/>
                <a:cs typeface="Calibri" charset="0"/>
              </a:rPr>
              <a:t>componentes Java EE</a:t>
            </a:r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 son altamente configurables, lo que permite a los desarrolladores ajustar el comportamiento de los componentes para satisfacer las necesidades específicas de la aplicación.</a:t>
            </a:r>
          </a:p>
          <a:p>
            <a:pPr lvl="0"/>
            <a:endParaRPr lang="es-PE" sz="1400" dirty="0">
              <a:latin typeface="Calibri" charset="0"/>
              <a:ea typeface="Calibri" charset="0"/>
              <a:cs typeface="Calibri" charset="0"/>
            </a:endParaRPr>
          </a:p>
          <a:p>
            <a:pPr lvl="0"/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Las aplicaciones J2EE se dividen en 4 capas:</a:t>
            </a:r>
          </a:p>
          <a:p>
            <a:pPr marL="184150" lvl="0" indent="-184150">
              <a:buClr>
                <a:srgbClr val="654E97"/>
              </a:buClr>
              <a:buFont typeface="Arial" panose="020B0604020202020204" pitchFamily="34" charset="0"/>
              <a:buChar char="•"/>
            </a:pPr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Cliente</a:t>
            </a:r>
          </a:p>
          <a:p>
            <a:pPr marL="184150" lvl="0" indent="-184150">
              <a:buClr>
                <a:srgbClr val="654E97"/>
              </a:buClr>
              <a:buFont typeface="Arial" panose="020B0604020202020204" pitchFamily="34" charset="0"/>
              <a:buChar char="•"/>
            </a:pPr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Web</a:t>
            </a:r>
          </a:p>
          <a:p>
            <a:pPr marL="184150" lvl="0" indent="-184150">
              <a:buClr>
                <a:srgbClr val="654E97"/>
              </a:buClr>
              <a:buFont typeface="Arial" panose="020B0604020202020204" pitchFamily="34" charset="0"/>
              <a:buChar char="•"/>
            </a:pPr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Negocio</a:t>
            </a:r>
          </a:p>
          <a:p>
            <a:pPr marL="184150" lvl="0" indent="-184150">
              <a:buClr>
                <a:srgbClr val="654E97"/>
              </a:buClr>
              <a:buFont typeface="Arial" panose="020B0604020202020204" pitchFamily="34" charset="0"/>
              <a:buChar char="•"/>
            </a:pPr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Datos</a:t>
            </a:r>
          </a:p>
          <a:p>
            <a:pPr lvl="0">
              <a:buClr>
                <a:srgbClr val="654E97"/>
              </a:buClr>
            </a:pPr>
            <a:endParaRPr lang="es-PE" sz="14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954885"/>
            <a:ext cx="114138" cy="117546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1818428"/>
            <a:ext cx="114138" cy="117546"/>
          </a:xfrm>
          <a:prstGeom prst="rect">
            <a:avLst/>
          </a:prstGeom>
        </p:spPr>
      </p:pic>
      <p:sp>
        <p:nvSpPr>
          <p:cNvPr id="16" name="Rectángulo 15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999" y="3048772"/>
            <a:ext cx="1690689" cy="2185216"/>
          </a:xfrm>
          <a:prstGeom prst="rect">
            <a:avLst/>
          </a:prstGeom>
        </p:spPr>
      </p:pic>
      <p:sp>
        <p:nvSpPr>
          <p:cNvPr id="9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CONCLUSIONES </a:t>
            </a:r>
          </a:p>
        </p:txBody>
      </p:sp>
    </p:spTree>
    <p:extLst>
      <p:ext uri="{BB962C8B-B14F-4D97-AF65-F5344CB8AC3E}">
        <p14:creationId xmlns:p14="http://schemas.microsoft.com/office/powerpoint/2010/main" val="2034184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DC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C9F27E8-E0F0-CF48-B2E7-A2617B9B1DEA}"/>
              </a:ext>
            </a:extLst>
          </p:cNvPr>
          <p:cNvSpPr txBox="1"/>
          <p:nvPr/>
        </p:nvSpPr>
        <p:spPr>
          <a:xfrm>
            <a:off x="2519363" y="2540738"/>
            <a:ext cx="4581728" cy="997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ES_tradnl" sz="36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BIBLIOGRAFÍA</a:t>
            </a:r>
            <a:br>
              <a:rPr lang="es-ES_tradnl" sz="36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</a:br>
            <a:r>
              <a:rPr lang="es-ES_tradnl" sz="36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MÁS REFERENCIAS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CD7628C-6304-5D4B-BA7D-591238143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6970"/>
            <a:ext cx="2072061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676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" name="object 7"/>
          <p:cNvSpPr txBox="1"/>
          <p:nvPr/>
        </p:nvSpPr>
        <p:spPr>
          <a:xfrm>
            <a:off x="1279009" y="917823"/>
            <a:ext cx="4774320" cy="236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Java EE Tutorial. Recuperado de http://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docs.oracle.com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/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javaee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/6/tutorial/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doc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/ </a:t>
            </a:r>
          </a:p>
          <a:p>
            <a:endParaRPr lang="es-ES" sz="1400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Nieto, A. (2015). Arquitectura por componentes JEE, un caso práctico. Revista Gerencia Tecnológica Informática, 14(38), 31-41. ISSN 1657-8236</a:t>
            </a:r>
          </a:p>
          <a:p>
            <a:endParaRPr lang="es-ES" sz="1400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Pavon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, J. (2012). Java EE, Aplicaciones Web/Sistemas Web. Universidad Complutense Madrid.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Dep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. Ingeniería del Software e Inteligencia Artificial. Facultad de Informática. Recuperado de https://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www.fdi.ucm.es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/profesor/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jpavon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/web/41-J2EE.pdf 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959114"/>
            <a:ext cx="103867" cy="106967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0016DFD-D096-A245-9591-9C15FD675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1620119"/>
            <a:ext cx="103867" cy="106967"/>
          </a:xfrm>
          <a:prstGeom prst="rect">
            <a:avLst/>
          </a:prstGeom>
        </p:spPr>
      </p:pic>
      <p:sp>
        <p:nvSpPr>
          <p:cNvPr id="19" name="Rectángulo 18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0" y="3036889"/>
            <a:ext cx="1690688" cy="2197100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BIBLIOGRAFÍA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60D58BD-5B65-7DAC-F78B-49B78512C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2461740"/>
            <a:ext cx="103867" cy="10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0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199" y="2666298"/>
            <a:ext cx="1295601" cy="38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16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theme/theme1.xml><?xml version="1.0" encoding="utf-8"?>
<a:theme xmlns:a="http://schemas.openxmlformats.org/drawingml/2006/main" name="Office Theme">
  <a:themeElements>
    <a:clrScheme name="Personalizados 4 ISIL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DC212"/>
      </a:accent1>
      <a:accent2>
        <a:srgbClr val="EE4638"/>
      </a:accent2>
      <a:accent3>
        <a:srgbClr val="92C14E"/>
      </a:accent3>
      <a:accent4>
        <a:srgbClr val="FE7828"/>
      </a:accent4>
      <a:accent5>
        <a:srgbClr val="00B1C2"/>
      </a:accent5>
      <a:accent6>
        <a:srgbClr val="808799"/>
      </a:accent6>
      <a:hlink>
        <a:srgbClr val="7150A0"/>
      </a:hlink>
      <a:folHlink>
        <a:srgbClr val="00B1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1010</Words>
  <Application>Microsoft Office PowerPoint</Application>
  <PresentationFormat>Presentación en pantalla (16:10)</PresentationFormat>
  <Paragraphs>196</Paragraphs>
  <Slides>22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30" baseType="lpstr">
      <vt:lpstr>Arial</vt:lpstr>
      <vt:lpstr>Calibri</vt:lpstr>
      <vt:lpstr>Graphik Bold</vt:lpstr>
      <vt:lpstr>Graphik Regular</vt:lpstr>
      <vt:lpstr>Graphik-Medium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ISIL</dc:creator>
  <cp:lastModifiedBy>Medalith Luzquiños Ancaya</cp:lastModifiedBy>
  <cp:revision>6</cp:revision>
  <dcterms:created xsi:type="dcterms:W3CDTF">2016-10-06T14:52:02Z</dcterms:created>
  <dcterms:modified xsi:type="dcterms:W3CDTF">2024-10-17T15:24:28Z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