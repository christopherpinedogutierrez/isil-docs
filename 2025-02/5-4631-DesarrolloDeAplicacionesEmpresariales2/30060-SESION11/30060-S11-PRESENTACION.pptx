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662" r:id="rId2"/>
    <p:sldId id="627" r:id="rId3"/>
    <p:sldId id="628" r:id="rId4"/>
    <p:sldId id="742" r:id="rId5"/>
    <p:sldId id="259" r:id="rId6"/>
    <p:sldId id="260" r:id="rId7"/>
    <p:sldId id="261" r:id="rId8"/>
    <p:sldId id="262" r:id="rId9"/>
    <p:sldId id="263" r:id="rId10"/>
    <p:sldId id="264" r:id="rId11"/>
    <p:sldId id="265" r:id="rId12"/>
    <p:sldId id="743" r:id="rId13"/>
    <p:sldId id="267" r:id="rId14"/>
    <p:sldId id="268" r:id="rId15"/>
    <p:sldId id="269" r:id="rId16"/>
    <p:sldId id="270" r:id="rId17"/>
    <p:sldId id="271" r:id="rId18"/>
    <p:sldId id="272" r:id="rId19"/>
    <p:sldId id="273" r:id="rId20"/>
    <p:sldId id="274" r:id="rId21"/>
    <p:sldId id="275" r:id="rId22"/>
    <p:sldId id="588" r:id="rId23"/>
    <p:sldId id="589" r:id="rId24"/>
    <p:sldId id="590" r:id="rId25"/>
    <p:sldId id="591" r:id="rId26"/>
    <p:sldId id="593" r:id="rId27"/>
  </p:sldIdLst>
  <p:sldSz cx="9144000" cy="5715000" type="screen16x1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465">
          <p15:clr>
            <a:srgbClr val="A4A3A4"/>
          </p15:clr>
        </p15:guide>
        <p15:guide id="2" orient="horz" pos="180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U+0UxS47m2tZrfgJIqFN68TKg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D0D0D"/>
    <a:srgbClr val="638435"/>
    <a:srgbClr val="007D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74"/>
    <p:restoredTop sz="94652"/>
  </p:normalViewPr>
  <p:slideViewPr>
    <p:cSldViewPr snapToGrid="0">
      <p:cViewPr varScale="1">
        <p:scale>
          <a:sx n="102" d="100"/>
          <a:sy n="102" d="100"/>
        </p:scale>
        <p:origin x="114" y="444"/>
      </p:cViewPr>
      <p:guideLst>
        <p:guide pos="5465"/>
        <p:guide orient="horz" pos="1800"/>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45659" cy="49805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1"/>
            <a:ext cx="2945659" cy="498056"/>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45659" cy="49805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174329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2" name="Google Shape;52;p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0" name="Google Shape;60;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8" name="Google Shape;68;p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p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75" name="Google Shape;75;p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84" name="Google Shape;84;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92" name="Google Shape;92;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01" name="Google Shape;101;p1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12</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1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17" name="Google Shape;117;p1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1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26" name="Google Shape;126;p1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1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34" name="Google Shape;134;p1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1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141" name="Google Shape;141;p1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1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48" name="Google Shape;148;p1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56" name="Google Shape;156;p1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65" name="Google Shape;165;p1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74" name="Google Shape;174;p1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2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83" name="Google Shape;183;p2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23</a:t>
            </a:fld>
            <a:endParaRPr lang="es-ES" dirty="0"/>
          </a:p>
        </p:txBody>
      </p:sp>
    </p:spTree>
    <p:extLst>
      <p:ext uri="{BB962C8B-B14F-4D97-AF65-F5344CB8AC3E}">
        <p14:creationId xmlns:p14="http://schemas.microsoft.com/office/powerpoint/2010/main" val="1796571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ema - 1 Imagen A">
  <p:cSld name="Subtema - 1 Imagen A">
    <p:spTree>
      <p:nvGrpSpPr>
        <p:cNvPr id="1"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Título y objetos">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431DC42-303B-F545-9789-3724F9E97760}"/>
              </a:ext>
            </a:extLst>
          </p:cNvPr>
          <p:cNvSpPr/>
          <p:nvPr userDrawn="1"/>
        </p:nvSpPr>
        <p:spPr>
          <a:xfrm>
            <a:off x="7379148" y="5371562"/>
            <a:ext cx="1369286" cy="184666"/>
          </a:xfrm>
          <a:prstGeom prst="rect">
            <a:avLst/>
          </a:prstGeom>
        </p:spPr>
        <p:txBody>
          <a:bodyPr wrap="none">
            <a:spAutoFit/>
          </a:bodyPr>
          <a:lstStyle/>
          <a:p>
            <a:pPr algn="r"/>
            <a:r>
              <a:rPr lang="es-ES_tradnl" sz="600" b="0" i="0" dirty="0">
                <a:solidFill>
                  <a:schemeClr val="bg1">
                    <a:lumMod val="50000"/>
                  </a:schemeClr>
                </a:solidFill>
                <a:latin typeface="Calibri" panose="020F0502020204030204" pitchFamily="34" charset="0"/>
              </a:rPr>
              <a:t>© ISIL. Todos los derechos reservados</a:t>
            </a:r>
          </a:p>
        </p:txBody>
      </p:sp>
      <p:sp>
        <p:nvSpPr>
          <p:cNvPr id="6" name="TextBox 7">
            <a:extLst>
              <a:ext uri="{FF2B5EF4-FFF2-40B4-BE49-F238E27FC236}">
                <a16:creationId xmlns:a16="http://schemas.microsoft.com/office/drawing/2014/main" id="{9372701D-0A84-0448-9BAF-91437343CCCB}"/>
              </a:ext>
            </a:extLst>
          </p:cNvPr>
          <p:cNvSpPr txBox="1"/>
          <p:nvPr userDrawn="1"/>
        </p:nvSpPr>
        <p:spPr>
          <a:xfrm>
            <a:off x="876300" y="5343295"/>
            <a:ext cx="322716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GESTIÓN DE PROCESOS, SIMULACIÓN Y MEJORA CONTINUA</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01</a:t>
            </a:r>
            <a:endParaRPr lang="en-US" sz="800" dirty="0">
              <a:solidFill>
                <a:schemeClr val="bg1">
                  <a:lumMod val="50000"/>
                </a:schemeClr>
              </a:solidFill>
              <a:latin typeface="Calibri"/>
              <a:cs typeface="Calibri"/>
            </a:endParaRPr>
          </a:p>
        </p:txBody>
      </p:sp>
      <p:pic>
        <p:nvPicPr>
          <p:cNvPr id="10" name="Imagen 9">
            <a:extLst>
              <a:ext uri="{FF2B5EF4-FFF2-40B4-BE49-F238E27FC236}">
                <a16:creationId xmlns:a16="http://schemas.microsoft.com/office/drawing/2014/main" id="{7E0D14F7-6E9D-9E40-BFFD-243BDDA808DD}"/>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extLst>
      <p:ext uri="{BB962C8B-B14F-4D97-AF65-F5344CB8AC3E}">
        <p14:creationId xmlns:p14="http://schemas.microsoft.com/office/powerpoint/2010/main" val="23818146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2" name="Rectangle 3">
            <a:extLst>
              <a:ext uri="{FF2B5EF4-FFF2-40B4-BE49-F238E27FC236}">
                <a16:creationId xmlns:a16="http://schemas.microsoft.com/office/drawing/2014/main" id="{4F0626AD-AA02-E579-7837-7201AFFD98C9}"/>
              </a:ext>
            </a:extLst>
          </p:cNvPr>
          <p:cNvSpPr/>
          <p:nvPr userDrawn="1"/>
        </p:nvSpPr>
        <p:spPr>
          <a:xfrm>
            <a:off x="7379148" y="5371562"/>
            <a:ext cx="1369286" cy="184666"/>
          </a:xfrm>
          <a:prstGeom prst="rect">
            <a:avLst/>
          </a:prstGeom>
        </p:spPr>
        <p:txBody>
          <a:bodyPr wrap="none">
            <a:spAutoFit/>
          </a:bodyPr>
          <a:lstStyle/>
          <a:p>
            <a:pPr algn="r"/>
            <a:r>
              <a:rPr lang="es-ES_tradnl" sz="600" b="0" i="0" dirty="0">
                <a:solidFill>
                  <a:schemeClr val="bg1">
                    <a:lumMod val="50000"/>
                  </a:schemeClr>
                </a:solidFill>
                <a:latin typeface="Calibri" panose="020F0502020204030204" pitchFamily="34" charset="0"/>
              </a:rPr>
              <a:t>© ISIL. Todos los derechos reservados</a:t>
            </a:r>
          </a:p>
        </p:txBody>
      </p:sp>
      <p:sp>
        <p:nvSpPr>
          <p:cNvPr id="3" name="TextBox 7">
            <a:extLst>
              <a:ext uri="{FF2B5EF4-FFF2-40B4-BE49-F238E27FC236}">
                <a16:creationId xmlns:a16="http://schemas.microsoft.com/office/drawing/2014/main" id="{AEEAF605-6B57-62EF-DE36-8E9397335B0D}"/>
              </a:ext>
            </a:extLst>
          </p:cNvPr>
          <p:cNvSpPr txBox="1"/>
          <p:nvPr userDrawn="1"/>
        </p:nvSpPr>
        <p:spPr>
          <a:xfrm>
            <a:off x="876300" y="5343295"/>
            <a:ext cx="2762295" cy="215444"/>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kern="1200" dirty="0">
                <a:solidFill>
                  <a:schemeClr val="bg1">
                    <a:lumMod val="50000"/>
                  </a:schemeClr>
                </a:solidFill>
                <a:latin typeface="Calibri"/>
                <a:ea typeface="+mn-ea"/>
                <a:cs typeface="Calibri"/>
                <a:sym typeface="Wingdings"/>
              </a:rPr>
              <a:t>DESARROLLO DE APLICACIONES EMPRESARIALES II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11</a:t>
            </a:r>
            <a:endParaRPr lang="en-US" sz="800" dirty="0">
              <a:solidFill>
                <a:schemeClr val="bg1">
                  <a:lumMod val="50000"/>
                </a:schemeClr>
              </a:solidFill>
              <a:latin typeface="Calibri"/>
              <a:cs typeface="Calibri"/>
            </a:endParaRPr>
          </a:p>
        </p:txBody>
      </p:sp>
      <p:pic>
        <p:nvPicPr>
          <p:cNvPr id="4" name="Imagen 3">
            <a:extLst>
              <a:ext uri="{FF2B5EF4-FFF2-40B4-BE49-F238E27FC236}">
                <a16:creationId xmlns:a16="http://schemas.microsoft.com/office/drawing/2014/main" id="{6F3F14E0-ADB9-499D-F594-1AD906DD7598}"/>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575" userDrawn="1">
          <p15:clr>
            <a:srgbClr val="F26B43"/>
          </p15:clr>
        </p15:guide>
        <p15:guide id="3" pos="2767" userDrawn="1">
          <p15:clr>
            <a:srgbClr val="F26B43"/>
          </p15:clr>
        </p15:guide>
        <p15:guide id="4" pos="2993" userDrawn="1">
          <p15:clr>
            <a:srgbClr val="F26B43"/>
          </p15:clr>
        </p15:guide>
        <p15:guide id="5" pos="317" userDrawn="1">
          <p15:clr>
            <a:srgbClr val="F26B43"/>
          </p15:clr>
        </p15:guide>
        <p15:guide id="6" pos="5465" userDrawn="1">
          <p15:clr>
            <a:srgbClr val="F26B43"/>
          </p15:clr>
        </p15:guide>
        <p15:guide id="7" orient="horz" pos="3297" userDrawn="1">
          <p15:clr>
            <a:srgbClr val="F26B43"/>
          </p15:clr>
        </p15:guide>
        <p15:guide id="8" orient="horz" pos="30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chemeClr val="bg1">
                    <a:lumMod val="50000"/>
                  </a:schemeClr>
                </a:solidFill>
                <a:latin typeface="Calibri" charset="0"/>
                <a:cs typeface="Calibri" charset="0"/>
              </a:rPr>
              <a:t>DESARROLLO DE APLICACIONES EMPRESARIALES II </a:t>
            </a:r>
          </a:p>
        </p:txBody>
      </p:sp>
      <p:sp>
        <p:nvSpPr>
          <p:cNvPr id="25" name="Rectángulo 24"/>
          <p:cNvSpPr/>
          <p:nvPr/>
        </p:nvSpPr>
        <p:spPr>
          <a:xfrm>
            <a:off x="503238" y="2177570"/>
            <a:ext cx="3168111" cy="443198"/>
          </a:xfrm>
          <a:prstGeom prst="rect">
            <a:avLst/>
          </a:prstGeom>
        </p:spPr>
        <p:txBody>
          <a:bodyPr wrap="square" lIns="0" tIns="0" rIns="0" bIns="0">
            <a:spAutoFit/>
          </a:bodyPr>
          <a:lstStyle/>
          <a:p>
            <a:pPr>
              <a:lnSpc>
                <a:spcPct val="90000"/>
              </a:lnSpc>
            </a:pPr>
            <a:r>
              <a:rPr lang="es-PE" sz="3200" b="1" dirty="0">
                <a:latin typeface="Graphik Bold" panose="020B0503030202060203" pitchFamily="34" charset="77"/>
                <a:ea typeface="Graphik-Medium" charset="0"/>
                <a:cs typeface="Graphik-Medium" charset="0"/>
              </a:rPr>
              <a:t>INTEGRACIÓN</a:t>
            </a:r>
          </a:p>
        </p:txBody>
      </p:sp>
      <p:sp>
        <p:nvSpPr>
          <p:cNvPr id="27" name="Rectángulo 26"/>
          <p:cNvSpPr/>
          <p:nvPr/>
        </p:nvSpPr>
        <p:spPr>
          <a:xfrm>
            <a:off x="503238" y="3219842"/>
            <a:ext cx="2845526" cy="420884"/>
          </a:xfrm>
          <a:prstGeom prst="rect">
            <a:avLst/>
          </a:prstGeom>
        </p:spPr>
        <p:txBody>
          <a:bodyPr wrap="square" lIns="0" tIns="0" rIns="0" bIns="0">
            <a:spAutoFit/>
          </a:bodyPr>
          <a:lstStyle/>
          <a:p>
            <a:pPr marL="17780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Spring MVC</a:t>
            </a:r>
          </a:p>
          <a:p>
            <a:pPr marL="17780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Spring JDBC</a:t>
            </a:r>
          </a:p>
        </p:txBody>
      </p:sp>
      <p:sp>
        <p:nvSpPr>
          <p:cNvPr id="28" name="CuadroTexto 27">
            <a:extLst>
              <a:ext uri="{FF2B5EF4-FFF2-40B4-BE49-F238E27FC236}">
                <a16:creationId xmlns:a16="http://schemas.microsoft.com/office/drawing/2014/main" id="{93FC3217-3DCC-0941-BA6B-6CEEC9F1D080}"/>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0B6AB0"/>
                </a:solidFill>
                <a:latin typeface="Calibri" charset="0"/>
                <a:ea typeface="Calibri" charset="0"/>
                <a:cs typeface="Calibri" charset="0"/>
              </a:rPr>
              <a:t>TEMA 11</a:t>
            </a:r>
          </a:p>
        </p:txBody>
      </p:sp>
      <p:pic>
        <p:nvPicPr>
          <p:cNvPr id="29" name="Imagen 28"/>
          <p:cNvPicPr>
            <a:picLocks noChangeAspect="1"/>
          </p:cNvPicPr>
          <p:nvPr/>
        </p:nvPicPr>
        <p:blipFill>
          <a:blip r:embed="rId3"/>
          <a:stretch>
            <a:fillRect/>
          </a:stretch>
        </p:blipFill>
        <p:spPr>
          <a:xfrm>
            <a:off x="507464" y="1883411"/>
            <a:ext cx="166865" cy="170453"/>
          </a:xfrm>
          <a:prstGeom prst="rect">
            <a:avLst/>
          </a:prstGeom>
        </p:spPr>
      </p:pic>
      <p:pic>
        <p:nvPicPr>
          <p:cNvPr id="4" name="Imagen 3">
            <a:extLst>
              <a:ext uri="{FF2B5EF4-FFF2-40B4-BE49-F238E27FC236}">
                <a16:creationId xmlns:a16="http://schemas.microsoft.com/office/drawing/2014/main" id="{4ABCD739-0A62-0FD3-2175-DE895833E28F}"/>
              </a:ext>
            </a:extLst>
          </p:cNvPr>
          <p:cNvPicPr>
            <a:picLocks noChangeAspect="1"/>
          </p:cNvPicPr>
          <p:nvPr/>
        </p:nvPicPr>
        <p:blipFill>
          <a:blip r:embed="rId4"/>
          <a:stretch>
            <a:fillRect/>
          </a:stretch>
        </p:blipFill>
        <p:spPr>
          <a:xfrm>
            <a:off x="3752850" y="0"/>
            <a:ext cx="5391150" cy="5715000"/>
          </a:xfrm>
          <a:prstGeom prst="rect">
            <a:avLst/>
          </a:prstGeom>
        </p:spPr>
      </p:pic>
    </p:spTree>
    <p:extLst>
      <p:ext uri="{BB962C8B-B14F-4D97-AF65-F5344CB8AC3E}">
        <p14:creationId xmlns:p14="http://schemas.microsoft.com/office/powerpoint/2010/main" val="90920982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4155990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object 7"/>
          <p:cNvSpPr txBox="1"/>
          <p:nvPr/>
        </p:nvSpPr>
        <p:spPr>
          <a:xfrm>
            <a:off x="1282298" y="918372"/>
            <a:ext cx="5521727" cy="3877985"/>
          </a:xfrm>
          <a:prstGeom prst="rect">
            <a:avLst/>
          </a:prstGeom>
        </p:spPr>
        <p:txBody>
          <a:bodyPr vert="horz" wrap="square" lIns="0" tIns="0" rIns="0" bIns="0" rtlCol="0">
            <a:spAutoFit/>
          </a:bodyPr>
          <a:lstStyle/>
          <a:p>
            <a:pPr lvl="0"/>
            <a:r>
              <a:rPr lang="es-PE" sz="1400" dirty="0">
                <a:latin typeface="Calibri" charset="0"/>
                <a:cs typeface="Calibri" charset="0"/>
              </a:rPr>
              <a:t>En esta sesión, exploramos dos componentes clave del ecosistema Spring Framework: Spring MVC y Spring JDBC. Ambos juegan un papel fundamental en el desarrollo de aplicaciones Java robustas y escalables, permitiendo una gestión eficiente de la lógica de negocio y la interacción con bases de datos.</a:t>
            </a:r>
          </a:p>
          <a:p>
            <a:pPr lvl="0"/>
            <a:endParaRPr lang="es-PE" sz="1400" dirty="0">
              <a:latin typeface="Calibri" charset="0"/>
              <a:cs typeface="Calibri" charset="0"/>
            </a:endParaRPr>
          </a:p>
          <a:p>
            <a:pPr lvl="0"/>
            <a:r>
              <a:rPr lang="es-PE" sz="1400" dirty="0">
                <a:latin typeface="Calibri" charset="0"/>
                <a:cs typeface="Calibri" charset="0"/>
              </a:rPr>
              <a:t>Spring MVC (Model-View-Controller) es un poderoso marco que facilita la creación de aplicaciones web. A través de su arquitectura basada en controladores, permite la separación clara de las responsabilidades entre la presentación, la lógica de negocio y el acceso a datos, lo que resulta en aplicaciones más mantenibles y flexibles.</a:t>
            </a:r>
          </a:p>
          <a:p>
            <a:pPr lvl="0"/>
            <a:endParaRPr lang="es-PE" sz="1400" dirty="0">
              <a:latin typeface="Calibri" charset="0"/>
              <a:cs typeface="Calibri" charset="0"/>
            </a:endParaRPr>
          </a:p>
          <a:p>
            <a:pPr lvl="0"/>
            <a:r>
              <a:rPr lang="es-PE" sz="1400" dirty="0">
                <a:latin typeface="Calibri" charset="0"/>
                <a:cs typeface="Calibri" charset="0"/>
              </a:rPr>
              <a:t>Por otro lado, Spring JDBC simplifica el acceso a bases de datos relacionales, permitiendo la ejecución eficiente de consultas SQL sin necesidad de código excesivo. Veremos cómo aprovechar su integración con Spring MVC para construir aplicaciones completas, desde la capa de presentación hasta la persistencia de datos.</a:t>
            </a:r>
          </a:p>
          <a:p>
            <a:pPr lvl="0"/>
            <a:endParaRPr lang="en-GB" sz="1400" spc="-10" dirty="0">
              <a:solidFill>
                <a:srgbClr val="262626"/>
              </a:solidFill>
              <a:latin typeface="Calibri" charset="0"/>
              <a:ea typeface="Calibri" charset="0"/>
              <a:cs typeface="Calibri" charset="0"/>
            </a:endParaRPr>
          </a:p>
        </p:txBody>
      </p:sp>
      <p:pic>
        <p:nvPicPr>
          <p:cNvPr id="6" name="Imagen 5"/>
          <p:cNvPicPr>
            <a:picLocks noChangeAspect="1"/>
          </p:cNvPicPr>
          <p:nvPr/>
        </p:nvPicPr>
        <p:blipFill>
          <a:blip r:embed="rId3"/>
          <a:stretch>
            <a:fillRect/>
          </a:stretch>
        </p:blipFill>
        <p:spPr>
          <a:xfrm>
            <a:off x="1010839" y="954885"/>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7" name="Imagen 16"/>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pic>
        <p:nvPicPr>
          <p:cNvPr id="10" name="Imagen 9"/>
          <p:cNvPicPr>
            <a:picLocks noChangeAspect="1"/>
          </p:cNvPicPr>
          <p:nvPr/>
        </p:nvPicPr>
        <p:blipFill>
          <a:blip r:embed="rId3"/>
          <a:stretch>
            <a:fillRect/>
          </a:stretch>
        </p:blipFill>
        <p:spPr>
          <a:xfrm>
            <a:off x="1010839" y="2246017"/>
            <a:ext cx="117851" cy="121369"/>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2" name="Imagen 11"/>
          <p:cNvPicPr>
            <a:picLocks noChangeAspect="1"/>
          </p:cNvPicPr>
          <p:nvPr/>
        </p:nvPicPr>
        <p:blipFill>
          <a:blip r:embed="rId3"/>
          <a:stretch>
            <a:fillRect/>
          </a:stretch>
        </p:blipFill>
        <p:spPr>
          <a:xfrm>
            <a:off x="1010839" y="3526798"/>
            <a:ext cx="117851" cy="121369"/>
          </a:xfrm>
          <a:prstGeom prst="rect">
            <a:avLst/>
          </a:prstGeom>
        </p:spPr>
      </p:pic>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Tree>
    <p:extLst>
      <p:ext uri="{BB962C8B-B14F-4D97-AF65-F5344CB8AC3E}">
        <p14:creationId xmlns:p14="http://schemas.microsoft.com/office/powerpoint/2010/main" val="78323994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387798"/>
          </a:xfrm>
          <a:prstGeom prst="rect">
            <a:avLst/>
          </a:prstGeom>
          <a:noFill/>
        </p:spPr>
        <p:txBody>
          <a:bodyPr wrap="square" lIns="0" tIns="0" rIns="0" bIns="0" rtlCol="0">
            <a:spAutoFit/>
          </a:bodyPr>
          <a:lstStyle/>
          <a:p>
            <a:pPr>
              <a:lnSpc>
                <a:spcPct val="90000"/>
              </a:lnSpc>
              <a:spcBef>
                <a:spcPts val="1000"/>
              </a:spcBef>
              <a:defRPr/>
            </a:pPr>
            <a:r>
              <a:rPr lang="es-PE" sz="2800" b="1" dirty="0">
                <a:solidFill>
                  <a:schemeClr val="bg1"/>
                </a:solidFill>
                <a:latin typeface="Graphik Bold" charset="0"/>
                <a:ea typeface="Graphik Bold" charset="0"/>
                <a:cs typeface="Graphik Bold" charset="0"/>
              </a:rPr>
              <a:t>SPRING MVC</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69892938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4"/>
          <p:cNvSpPr txBox="1"/>
          <p:nvPr/>
        </p:nvSpPr>
        <p:spPr>
          <a:xfrm>
            <a:off x="509343" y="921277"/>
            <a:ext cx="7584175" cy="1800493"/>
          </a:xfrm>
          <a:prstGeom prst="rect">
            <a:avLst/>
          </a:prstGeom>
          <a:noFill/>
          <a:ln>
            <a:noFill/>
          </a:ln>
        </p:spPr>
        <p:txBody>
          <a:bodyPr spcFirstLastPara="1" wrap="square" lIns="0" tIns="0" rIns="0" bIns="0" anchor="t" anchorCtr="0">
            <a:spAutoFit/>
          </a:bodyPr>
          <a:lstStyle/>
          <a:p>
            <a:pPr marR="0" lvl="0" indent="0" rtl="0">
              <a:spcBef>
                <a:spcPts val="0"/>
              </a:spcBef>
              <a:spcAft>
                <a:spcPts val="600"/>
              </a:spcAft>
              <a:buNone/>
            </a:pPr>
            <a:r>
              <a:rPr lang="es-PE" sz="1600" b="1" dirty="0">
                <a:solidFill>
                  <a:schemeClr val="tx1"/>
                </a:solidFill>
                <a:latin typeface="Calibri" panose="020F0502020204030204" pitchFamily="34" charset="0"/>
                <a:ea typeface="Calibri"/>
                <a:cs typeface="Calibri" panose="020F0502020204030204" pitchFamily="34" charset="0"/>
                <a:sym typeface="Calibri"/>
              </a:rPr>
              <a:t>INTEGRACIÓN DE FRAMEWORKS</a:t>
            </a:r>
          </a:p>
          <a:p>
            <a:pPr marR="0" lvl="0" indent="0" rtl="0">
              <a:spcBef>
                <a:spcPts val="0"/>
              </a:spcBef>
              <a:spcAft>
                <a:spcPts val="0"/>
              </a:spcAft>
              <a:buNone/>
            </a:pPr>
            <a:r>
              <a:rPr lang="es-PE" sz="1600" dirty="0">
                <a:solidFill>
                  <a:schemeClr val="tx1"/>
                </a:solidFill>
                <a:latin typeface="Calibri" panose="020F0502020204030204" pitchFamily="34" charset="0"/>
                <a:ea typeface="Calibri"/>
                <a:cs typeface="Calibri" panose="020F0502020204030204" pitchFamily="34" charset="0"/>
                <a:sym typeface="Calibri"/>
              </a:rPr>
              <a:t>Se refiere al proceso de combinar diferentes herramientas y tecnologías para crear una solución unificada. En este caso, integrar Spring MVC y Spring JDBC permite desarrollar aplicaciones web que puedan gestionar eficientemente tanto la presentación (vista) como la lógica de acceso a datos (persistencia) dentro de un marco cohesivo.</a:t>
            </a:r>
          </a:p>
          <a:p>
            <a:pPr marR="0" lvl="0" indent="0" rtl="0">
              <a:spcBef>
                <a:spcPts val="0"/>
              </a:spcBef>
              <a:spcAft>
                <a:spcPts val="0"/>
              </a:spcAft>
              <a:buNone/>
            </a:pPr>
            <a:endParaRPr lang="es-PE" sz="1600" dirty="0">
              <a:solidFill>
                <a:schemeClr val="tx1"/>
              </a:solidFill>
              <a:latin typeface="Calibri" panose="020F0502020204030204" pitchFamily="34" charset="0"/>
              <a:ea typeface="Calibri"/>
              <a:cs typeface="Calibri" panose="020F0502020204030204" pitchFamily="34" charset="0"/>
              <a:sym typeface="Calibri"/>
            </a:endParaRPr>
          </a:p>
          <a:p>
            <a:pPr marR="0" lvl="0" indent="0" rtl="0">
              <a:spcBef>
                <a:spcPts val="0"/>
              </a:spcBef>
              <a:spcAft>
                <a:spcPts val="0"/>
              </a:spcAft>
              <a:buNone/>
            </a:pPr>
            <a:r>
              <a:rPr lang="es-PE" sz="1600" b="1" i="0" dirty="0">
                <a:solidFill>
                  <a:schemeClr val="tx1"/>
                </a:solidFill>
                <a:highlight>
                  <a:srgbClr val="FFFFFF"/>
                </a:highlight>
                <a:latin typeface="Calibri" panose="020F0502020204030204" pitchFamily="34" charset="0"/>
                <a:ea typeface="Calibri"/>
                <a:cs typeface="Calibri" panose="020F0502020204030204" pitchFamily="34" charset="0"/>
                <a:sym typeface="Calibri"/>
              </a:rPr>
              <a:t>IMPORTANCIA DE LA INTEGRACIÓN DE SPRING MVC Y SPRING JDBC</a:t>
            </a:r>
            <a:endParaRPr lang="es-PE"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94534344-00E6-1971-F849-4A2D87631DE9}"/>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MVC </a:t>
            </a:r>
          </a:p>
        </p:txBody>
      </p:sp>
      <p:grpSp>
        <p:nvGrpSpPr>
          <p:cNvPr id="4" name="Grupo 3">
            <a:extLst>
              <a:ext uri="{FF2B5EF4-FFF2-40B4-BE49-F238E27FC236}">
                <a16:creationId xmlns:a16="http://schemas.microsoft.com/office/drawing/2014/main" id="{9B6C3B41-C0FA-C5DE-A1DC-E702F3E508BC}"/>
              </a:ext>
            </a:extLst>
          </p:cNvPr>
          <p:cNvGrpSpPr/>
          <p:nvPr/>
        </p:nvGrpSpPr>
        <p:grpSpPr>
          <a:xfrm>
            <a:off x="360135" y="2857398"/>
            <a:ext cx="3111935" cy="338009"/>
            <a:chOff x="328697" y="912813"/>
            <a:chExt cx="3722413" cy="404317"/>
          </a:xfrm>
        </p:grpSpPr>
        <p:sp>
          <p:nvSpPr>
            <p:cNvPr id="5" name="Rectángulo redondeado 4">
              <a:extLst>
                <a:ext uri="{FF2B5EF4-FFF2-40B4-BE49-F238E27FC236}">
                  <a16:creationId xmlns:a16="http://schemas.microsoft.com/office/drawing/2014/main" id="{D6CB8F48-F151-EFF6-6C46-3C408944FA3F}"/>
                </a:ext>
              </a:extLst>
            </p:cNvPr>
            <p:cNvSpPr/>
            <p:nvPr/>
          </p:nvSpPr>
          <p:spPr>
            <a:xfrm>
              <a:off x="503237" y="912813"/>
              <a:ext cx="3547873" cy="404317"/>
            </a:xfrm>
            <a:prstGeom prst="roundRect">
              <a:avLst>
                <a:gd name="adj" fmla="val 187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marR="0" lvl="0" algn="ctr" rtl="0">
                <a:spcBef>
                  <a:spcPts val="0"/>
                </a:spcBef>
                <a:spcAft>
                  <a:spcPts val="0"/>
                </a:spcAft>
                <a:buClr>
                  <a:srgbClr val="374151"/>
                </a:buClr>
                <a:buSzPts val="1600"/>
              </a:pPr>
              <a:r>
                <a:rPr lang="es-PE" b="1" i="0" dirty="0">
                  <a:solidFill>
                    <a:schemeClr val="bg1"/>
                  </a:solidFill>
                  <a:latin typeface="Calibri" panose="020F0502020204030204" pitchFamily="34" charset="0"/>
                  <a:ea typeface="Calibri"/>
                  <a:cs typeface="Calibri" panose="020F0502020204030204" pitchFamily="34" charset="0"/>
                  <a:sym typeface="Calibri"/>
                </a:rPr>
                <a:t>1. EFICIENCIA Y PRODUCTIVIDAD</a:t>
              </a:r>
              <a:endParaRPr lang="es-PE" dirty="0">
                <a:solidFill>
                  <a:schemeClr val="bg1"/>
                </a:solidFill>
                <a:latin typeface="Calibri" panose="020F0502020204030204" pitchFamily="34" charset="0"/>
                <a:cs typeface="Calibri" panose="020F0502020204030204" pitchFamily="34" charset="0"/>
              </a:endParaRPr>
            </a:p>
          </p:txBody>
        </p:sp>
        <p:grpSp>
          <p:nvGrpSpPr>
            <p:cNvPr id="6" name="Agrupar 14">
              <a:extLst>
                <a:ext uri="{FF2B5EF4-FFF2-40B4-BE49-F238E27FC236}">
                  <a16:creationId xmlns:a16="http://schemas.microsoft.com/office/drawing/2014/main" id="{2FCE452D-BEEB-D4C3-E3EB-565B97143A1D}"/>
                </a:ext>
              </a:extLst>
            </p:cNvPr>
            <p:cNvGrpSpPr/>
            <p:nvPr/>
          </p:nvGrpSpPr>
          <p:grpSpPr>
            <a:xfrm>
              <a:off x="328697" y="951828"/>
              <a:ext cx="371254" cy="326288"/>
              <a:chOff x="5892512" y="2805541"/>
              <a:chExt cx="459474" cy="403823"/>
            </a:xfrm>
          </p:grpSpPr>
          <p:sp>
            <p:nvSpPr>
              <p:cNvPr id="7" name="Elipse 6">
                <a:extLst>
                  <a:ext uri="{FF2B5EF4-FFF2-40B4-BE49-F238E27FC236}">
                    <a16:creationId xmlns:a16="http://schemas.microsoft.com/office/drawing/2014/main" id="{C59E50EA-16B1-A1B1-B061-B961F4B3B8D2}"/>
                  </a:ext>
                </a:extLst>
              </p:cNvPr>
              <p:cNvSpPr/>
              <p:nvPr/>
            </p:nvSpPr>
            <p:spPr>
              <a:xfrm>
                <a:off x="5956277" y="2824919"/>
                <a:ext cx="395709" cy="376075"/>
              </a:xfrm>
              <a:prstGeom prst="ellipse">
                <a:avLst/>
              </a:prstGeom>
              <a:solidFill>
                <a:srgbClr val="007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8" name="Elipse 7">
                <a:extLst>
                  <a:ext uri="{FF2B5EF4-FFF2-40B4-BE49-F238E27FC236}">
                    <a16:creationId xmlns:a16="http://schemas.microsoft.com/office/drawing/2014/main" id="{696005F7-B715-459E-B5F4-FA4A3322F250}"/>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9" name="Triángulo 8">
                <a:extLst>
                  <a:ext uri="{FF2B5EF4-FFF2-40B4-BE49-F238E27FC236}">
                    <a16:creationId xmlns:a16="http://schemas.microsoft.com/office/drawing/2014/main" id="{F7C94D47-35A6-8F2E-3720-FFEC34FF48D3}"/>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0" name="Google Shape;55;p4">
            <a:extLst>
              <a:ext uri="{FF2B5EF4-FFF2-40B4-BE49-F238E27FC236}">
                <a16:creationId xmlns:a16="http://schemas.microsoft.com/office/drawing/2014/main" id="{2470E183-72D5-81CB-6F9D-68CF38F34E21}"/>
              </a:ext>
            </a:extLst>
          </p:cNvPr>
          <p:cNvSpPr txBox="1"/>
          <p:nvPr/>
        </p:nvSpPr>
        <p:spPr>
          <a:xfrm>
            <a:off x="509343" y="3451579"/>
            <a:ext cx="7090779" cy="1154162"/>
          </a:xfrm>
          <a:prstGeom prst="rect">
            <a:avLst/>
          </a:prstGeom>
          <a:noFill/>
          <a:ln>
            <a:noFill/>
          </a:ln>
        </p:spPr>
        <p:txBody>
          <a:bodyPr spcFirstLastPara="1" wrap="square" lIns="0" tIns="0" rIns="0" bIns="0" anchor="t" anchorCtr="0">
            <a:spAutoFit/>
          </a:bodyPr>
          <a:lstStyle/>
          <a:p>
            <a:pPr marL="184150" marR="0" lvl="1" indent="-184150" rtl="0">
              <a:spcBef>
                <a:spcPts val="0"/>
              </a:spcBef>
              <a:spcAft>
                <a:spcPts val="0"/>
              </a:spcAft>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Menos Código Repetitivo: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Spring MVC maneja la capa web y Spring JDBC la capa de persistencia, reduciendo el código repetitivo y mejorando la mantenibilidad.</a:t>
            </a:r>
          </a:p>
          <a:p>
            <a:pPr marL="184150" marR="0" lvl="1" indent="-184150" rtl="0">
              <a:spcBef>
                <a:spcPts val="0"/>
              </a:spcBef>
              <a:spcAft>
                <a:spcPts val="0"/>
              </a:spcAft>
              <a:buClr>
                <a:schemeClr val="accent5"/>
              </a:buClr>
              <a:buSzPct val="100000"/>
              <a:buFont typeface="Arial" panose="020B0604020202020204" pitchFamily="34" charset="0"/>
              <a:buChar char="•"/>
            </a:pPr>
            <a:endParaRPr lang="es-PE" sz="1500" dirty="0">
              <a:solidFill>
                <a:schemeClr val="tx1"/>
              </a:solidFill>
              <a:latin typeface="Calibri" panose="020F0502020204030204" pitchFamily="34" charset="0"/>
              <a:cs typeface="Calibri" panose="020F0502020204030204" pitchFamily="34" charset="0"/>
            </a:endParaRPr>
          </a:p>
          <a:p>
            <a:pPr marL="184150" marR="0" lvl="1" indent="-184150" rtl="0">
              <a:spcBef>
                <a:spcPts val="0"/>
              </a:spcBef>
              <a:spcAft>
                <a:spcPts val="0"/>
              </a:spcAft>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Configuración Simplificada: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Utilizando las capacidades de configuración de Spring, es posible configurar tanto MVC como JDBC de manera coherente y centralizada.</a:t>
            </a:r>
            <a:endParaRPr lang="es-PE" sz="15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2" name="Rectangle 5">
            <a:extLst>
              <a:ext uri="{FF2B5EF4-FFF2-40B4-BE49-F238E27FC236}">
                <a16:creationId xmlns:a16="http://schemas.microsoft.com/office/drawing/2014/main" id="{1BCCA1BD-4B69-4B97-656E-852B1D886BA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MVC </a:t>
            </a:r>
          </a:p>
        </p:txBody>
      </p:sp>
      <p:grpSp>
        <p:nvGrpSpPr>
          <p:cNvPr id="3" name="Grupo 2">
            <a:extLst>
              <a:ext uri="{FF2B5EF4-FFF2-40B4-BE49-F238E27FC236}">
                <a16:creationId xmlns:a16="http://schemas.microsoft.com/office/drawing/2014/main" id="{09848892-7AB4-571F-366F-D3F8FEB5D052}"/>
              </a:ext>
            </a:extLst>
          </p:cNvPr>
          <p:cNvGrpSpPr/>
          <p:nvPr/>
        </p:nvGrpSpPr>
        <p:grpSpPr>
          <a:xfrm>
            <a:off x="360135" y="919441"/>
            <a:ext cx="3383603" cy="338009"/>
            <a:chOff x="328697" y="912813"/>
            <a:chExt cx="4047375" cy="404317"/>
          </a:xfrm>
        </p:grpSpPr>
        <p:sp>
          <p:nvSpPr>
            <p:cNvPr id="4" name="Rectángulo redondeado 3">
              <a:extLst>
                <a:ext uri="{FF2B5EF4-FFF2-40B4-BE49-F238E27FC236}">
                  <a16:creationId xmlns:a16="http://schemas.microsoft.com/office/drawing/2014/main" id="{C6E7531F-0652-78F8-32DF-92137497C9FC}"/>
                </a:ext>
              </a:extLst>
            </p:cNvPr>
            <p:cNvSpPr/>
            <p:nvPr/>
          </p:nvSpPr>
          <p:spPr>
            <a:xfrm>
              <a:off x="503235" y="912813"/>
              <a:ext cx="3872837" cy="404317"/>
            </a:xfrm>
            <a:prstGeom prst="roundRect">
              <a:avLst>
                <a:gd name="adj" fmla="val 187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2</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PE" b="1" i="0" dirty="0">
                  <a:solidFill>
                    <a:schemeClr val="bg1"/>
                  </a:solidFill>
                  <a:latin typeface="Calibri"/>
                  <a:ea typeface="Calibri"/>
                  <a:cs typeface="Calibri"/>
                  <a:sym typeface="Calibri"/>
                </a:rPr>
                <a:t>CONSISTENCIA Y MANTENIBILIDAD</a:t>
              </a:r>
              <a:endParaRPr lang="es-PE" dirty="0">
                <a:solidFill>
                  <a:schemeClr val="bg1"/>
                </a:solidFill>
              </a:endParaRPr>
            </a:p>
          </p:txBody>
        </p:sp>
        <p:grpSp>
          <p:nvGrpSpPr>
            <p:cNvPr id="5" name="Agrupar 14">
              <a:extLst>
                <a:ext uri="{FF2B5EF4-FFF2-40B4-BE49-F238E27FC236}">
                  <a16:creationId xmlns:a16="http://schemas.microsoft.com/office/drawing/2014/main" id="{28DF3405-5094-215B-32D4-E1A64F69C888}"/>
                </a:ext>
              </a:extLst>
            </p:cNvPr>
            <p:cNvGrpSpPr/>
            <p:nvPr/>
          </p:nvGrpSpPr>
          <p:grpSpPr>
            <a:xfrm>
              <a:off x="328697" y="951828"/>
              <a:ext cx="371254" cy="326288"/>
              <a:chOff x="5892512" y="2805541"/>
              <a:chExt cx="459474" cy="403823"/>
            </a:xfrm>
          </p:grpSpPr>
          <p:sp>
            <p:nvSpPr>
              <p:cNvPr id="6" name="Elipse 5">
                <a:extLst>
                  <a:ext uri="{FF2B5EF4-FFF2-40B4-BE49-F238E27FC236}">
                    <a16:creationId xmlns:a16="http://schemas.microsoft.com/office/drawing/2014/main" id="{470EFDB9-84D4-8C01-1644-FAAC45CE1FA5}"/>
                  </a:ext>
                </a:extLst>
              </p:cNvPr>
              <p:cNvSpPr/>
              <p:nvPr/>
            </p:nvSpPr>
            <p:spPr>
              <a:xfrm>
                <a:off x="5956277" y="2824919"/>
                <a:ext cx="395709" cy="376075"/>
              </a:xfrm>
              <a:prstGeom prst="ellipse">
                <a:avLst/>
              </a:prstGeom>
              <a:solidFill>
                <a:srgbClr val="007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7" name="Elipse 6">
                <a:extLst>
                  <a:ext uri="{FF2B5EF4-FFF2-40B4-BE49-F238E27FC236}">
                    <a16:creationId xmlns:a16="http://schemas.microsoft.com/office/drawing/2014/main" id="{5D72C6E9-369E-6AAF-B5F3-3B0473592C81}"/>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Triángulo 7">
                <a:extLst>
                  <a:ext uri="{FF2B5EF4-FFF2-40B4-BE49-F238E27FC236}">
                    <a16:creationId xmlns:a16="http://schemas.microsoft.com/office/drawing/2014/main" id="{6DAF51A0-6FC2-E936-D36C-18D09478E61F}"/>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9" name="Google Shape;55;p4">
            <a:extLst>
              <a:ext uri="{FF2B5EF4-FFF2-40B4-BE49-F238E27FC236}">
                <a16:creationId xmlns:a16="http://schemas.microsoft.com/office/drawing/2014/main" id="{C7068A37-C07C-4AC1-6794-65810D6DF9C7}"/>
              </a:ext>
            </a:extLst>
          </p:cNvPr>
          <p:cNvSpPr txBox="1"/>
          <p:nvPr/>
        </p:nvSpPr>
        <p:spPr>
          <a:xfrm>
            <a:off x="509343" y="1513622"/>
            <a:ext cx="7342570" cy="1384995"/>
          </a:xfrm>
          <a:prstGeom prst="rect">
            <a:avLst/>
          </a:prstGeom>
          <a:noFill/>
          <a:ln>
            <a:noFill/>
          </a:ln>
        </p:spPr>
        <p:txBody>
          <a:bodyPr spcFirstLastPara="1" wrap="square" lIns="0" tIns="0" rIns="0" bIns="0" anchor="t" anchorCtr="0">
            <a:spAutoFit/>
          </a:bodyPr>
          <a:lstStyle/>
          <a:p>
            <a:pPr marL="184150" lvl="1" indent="-184150">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Gestión Centralizada de Transacciones: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Al integrar Spring JDBC con Spring MVC, las transacciones pueden ser gestionadas de manera centralizada, asegurando la consistencia de los datos.</a:t>
            </a:r>
          </a:p>
          <a:p>
            <a:pPr marL="184150" lvl="1" indent="-184150">
              <a:buClr>
                <a:schemeClr val="accent5"/>
              </a:buClr>
              <a:buSzPct val="100000"/>
              <a:buFont typeface="Arial" panose="020B0604020202020204" pitchFamily="34" charset="0"/>
              <a:buChar char="•"/>
            </a:pPr>
            <a:endPar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Facilidad de Mantenimiento: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Una arquitectura unificada facilita la identificación y solución de problemas, y simplifica la implementación de nuevas funcionalidades.</a:t>
            </a:r>
          </a:p>
        </p:txBody>
      </p:sp>
      <p:grpSp>
        <p:nvGrpSpPr>
          <p:cNvPr id="10" name="Grupo 9">
            <a:extLst>
              <a:ext uri="{FF2B5EF4-FFF2-40B4-BE49-F238E27FC236}">
                <a16:creationId xmlns:a16="http://schemas.microsoft.com/office/drawing/2014/main" id="{81146E3C-FCF2-1E09-4BF8-A433B6AAC658}"/>
              </a:ext>
            </a:extLst>
          </p:cNvPr>
          <p:cNvGrpSpPr/>
          <p:nvPr/>
        </p:nvGrpSpPr>
        <p:grpSpPr>
          <a:xfrm>
            <a:off x="360135" y="3263448"/>
            <a:ext cx="3383188" cy="338009"/>
            <a:chOff x="328697" y="912813"/>
            <a:chExt cx="4046879" cy="404317"/>
          </a:xfrm>
        </p:grpSpPr>
        <p:sp>
          <p:nvSpPr>
            <p:cNvPr id="11" name="Rectángulo redondeado 10">
              <a:extLst>
                <a:ext uri="{FF2B5EF4-FFF2-40B4-BE49-F238E27FC236}">
                  <a16:creationId xmlns:a16="http://schemas.microsoft.com/office/drawing/2014/main" id="{EECC46ED-F340-B6F0-6110-87FC877A8B21}"/>
                </a:ext>
              </a:extLst>
            </p:cNvPr>
            <p:cNvSpPr/>
            <p:nvPr/>
          </p:nvSpPr>
          <p:spPr>
            <a:xfrm>
              <a:off x="503235" y="912813"/>
              <a:ext cx="3872341" cy="404317"/>
            </a:xfrm>
            <a:prstGeom prst="roundRect">
              <a:avLst>
                <a:gd name="adj" fmla="val 187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3</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PE" b="1" i="0" dirty="0">
                  <a:solidFill>
                    <a:schemeClr val="bg1"/>
                  </a:solidFill>
                  <a:latin typeface="Calibri"/>
                  <a:ea typeface="Calibri"/>
                  <a:cs typeface="Calibri"/>
                  <a:sym typeface="Calibri"/>
                </a:rPr>
                <a:t>MEJORA DEL RENDIMIENTO</a:t>
              </a:r>
              <a:endParaRPr lang="es-PE" dirty="0">
                <a:solidFill>
                  <a:schemeClr val="bg1"/>
                </a:solidFill>
              </a:endParaRPr>
            </a:p>
          </p:txBody>
        </p:sp>
        <p:grpSp>
          <p:nvGrpSpPr>
            <p:cNvPr id="12" name="Agrupar 14">
              <a:extLst>
                <a:ext uri="{FF2B5EF4-FFF2-40B4-BE49-F238E27FC236}">
                  <a16:creationId xmlns:a16="http://schemas.microsoft.com/office/drawing/2014/main" id="{A7135CAE-0A8D-80F8-7A18-53C9333063D7}"/>
                </a:ext>
              </a:extLst>
            </p:cNvPr>
            <p:cNvGrpSpPr/>
            <p:nvPr/>
          </p:nvGrpSpPr>
          <p:grpSpPr>
            <a:xfrm>
              <a:off x="328697" y="951828"/>
              <a:ext cx="371254" cy="326288"/>
              <a:chOff x="5892512" y="2805541"/>
              <a:chExt cx="459474" cy="403823"/>
            </a:xfrm>
          </p:grpSpPr>
          <p:sp>
            <p:nvSpPr>
              <p:cNvPr id="13" name="Elipse 12">
                <a:extLst>
                  <a:ext uri="{FF2B5EF4-FFF2-40B4-BE49-F238E27FC236}">
                    <a16:creationId xmlns:a16="http://schemas.microsoft.com/office/drawing/2014/main" id="{2C3CA742-3F63-2D72-1327-09306F624877}"/>
                  </a:ext>
                </a:extLst>
              </p:cNvPr>
              <p:cNvSpPr/>
              <p:nvPr/>
            </p:nvSpPr>
            <p:spPr>
              <a:xfrm>
                <a:off x="5956277" y="2824919"/>
                <a:ext cx="395709" cy="376075"/>
              </a:xfrm>
              <a:prstGeom prst="ellipse">
                <a:avLst/>
              </a:prstGeom>
              <a:solidFill>
                <a:srgbClr val="007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4" name="Elipse 13">
                <a:extLst>
                  <a:ext uri="{FF2B5EF4-FFF2-40B4-BE49-F238E27FC236}">
                    <a16:creationId xmlns:a16="http://schemas.microsoft.com/office/drawing/2014/main" id="{A97E43C1-83D2-A50D-46F0-337652968C2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15" name="Triángulo 14">
                <a:extLst>
                  <a:ext uri="{FF2B5EF4-FFF2-40B4-BE49-F238E27FC236}">
                    <a16:creationId xmlns:a16="http://schemas.microsoft.com/office/drawing/2014/main" id="{A147BF9B-0AD5-D867-E95E-2B7E514D1A32}"/>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6" name="Google Shape;55;p4">
            <a:extLst>
              <a:ext uri="{FF2B5EF4-FFF2-40B4-BE49-F238E27FC236}">
                <a16:creationId xmlns:a16="http://schemas.microsoft.com/office/drawing/2014/main" id="{A2A11041-3DB0-AA9B-9BBD-B2880EE554C1}"/>
              </a:ext>
            </a:extLst>
          </p:cNvPr>
          <p:cNvSpPr txBox="1"/>
          <p:nvPr/>
        </p:nvSpPr>
        <p:spPr>
          <a:xfrm>
            <a:off x="509343" y="3857629"/>
            <a:ext cx="7342570" cy="1384995"/>
          </a:xfrm>
          <a:prstGeom prst="rect">
            <a:avLst/>
          </a:prstGeom>
          <a:noFill/>
          <a:ln>
            <a:noFill/>
          </a:ln>
        </p:spPr>
        <p:txBody>
          <a:bodyPr spcFirstLastPara="1" wrap="square" lIns="0" tIns="0" rIns="0" bIns="0" anchor="t" anchorCtr="0">
            <a:spAutoFit/>
          </a:bodyPr>
          <a:lstStyle/>
          <a:p>
            <a:pPr marL="184150" lvl="1" indent="-184150">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Optimización del Acceso a Datos: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Spring JDBC optimiza el acceso a bases de datos y Spring MVC gestiona eficazmente las solicitudes HTTP, lo que mejora el rendimiento general de la aplicación.</a:t>
            </a:r>
          </a:p>
          <a:p>
            <a:pPr marL="184150" lvl="1" indent="-184150">
              <a:buClr>
                <a:schemeClr val="accent5"/>
              </a:buClr>
              <a:buSzPct val="100000"/>
              <a:buFont typeface="Arial" panose="020B0604020202020204" pitchFamily="34" charset="0"/>
              <a:buChar char="•"/>
            </a:pPr>
            <a:endPar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Pooling de Conexiones: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La integración permite el uso de pools de conexiones, mejorando la eficiencia en la gestión de recursos.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2" name="Rectangle 5">
            <a:extLst>
              <a:ext uri="{FF2B5EF4-FFF2-40B4-BE49-F238E27FC236}">
                <a16:creationId xmlns:a16="http://schemas.microsoft.com/office/drawing/2014/main" id="{44B0C915-E908-B689-A348-9A67379C6C0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MVC </a:t>
            </a:r>
          </a:p>
        </p:txBody>
      </p:sp>
      <p:grpSp>
        <p:nvGrpSpPr>
          <p:cNvPr id="3" name="Grupo 2">
            <a:extLst>
              <a:ext uri="{FF2B5EF4-FFF2-40B4-BE49-F238E27FC236}">
                <a16:creationId xmlns:a16="http://schemas.microsoft.com/office/drawing/2014/main" id="{3274505C-4943-C9BF-8225-2C387B09E0E0}"/>
              </a:ext>
            </a:extLst>
          </p:cNvPr>
          <p:cNvGrpSpPr/>
          <p:nvPr/>
        </p:nvGrpSpPr>
        <p:grpSpPr>
          <a:xfrm>
            <a:off x="360135" y="919441"/>
            <a:ext cx="3383603" cy="338009"/>
            <a:chOff x="328697" y="912813"/>
            <a:chExt cx="4047375" cy="404317"/>
          </a:xfrm>
        </p:grpSpPr>
        <p:sp>
          <p:nvSpPr>
            <p:cNvPr id="4" name="Rectángulo redondeado 3">
              <a:extLst>
                <a:ext uri="{FF2B5EF4-FFF2-40B4-BE49-F238E27FC236}">
                  <a16:creationId xmlns:a16="http://schemas.microsoft.com/office/drawing/2014/main" id="{AA5C30D2-0D0C-1AB9-26D9-D51AD0E86456}"/>
                </a:ext>
              </a:extLst>
            </p:cNvPr>
            <p:cNvSpPr/>
            <p:nvPr/>
          </p:nvSpPr>
          <p:spPr>
            <a:xfrm>
              <a:off x="503235" y="912813"/>
              <a:ext cx="3872837" cy="404317"/>
            </a:xfrm>
            <a:prstGeom prst="roundRect">
              <a:avLst>
                <a:gd name="adj" fmla="val 187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i="0" dirty="0">
                  <a:solidFill>
                    <a:schemeClr val="bg1"/>
                  </a:solidFill>
                  <a:latin typeface="Calibri" panose="020F0502020204030204" pitchFamily="34" charset="0"/>
                  <a:ea typeface="Calibri"/>
                  <a:cs typeface="Calibri" panose="020F0502020204030204" pitchFamily="34" charset="0"/>
                  <a:sym typeface="Calibri"/>
                </a:rPr>
                <a:t>4. </a:t>
              </a:r>
              <a:r>
                <a:rPr lang="es-PE" sz="1400" b="1" i="0" dirty="0">
                  <a:solidFill>
                    <a:schemeClr val="bg1"/>
                  </a:solidFill>
                  <a:latin typeface="Calibri"/>
                  <a:ea typeface="Calibri"/>
                  <a:cs typeface="Calibri"/>
                  <a:sym typeface="Calibri"/>
                </a:rPr>
                <a:t>SEGURIDAD Y ESCALABILIDAD</a:t>
              </a:r>
              <a:endParaRPr lang="es-PE" dirty="0">
                <a:solidFill>
                  <a:schemeClr val="bg1"/>
                </a:solidFill>
                <a:latin typeface="Calibri"/>
                <a:ea typeface="Calibri"/>
                <a:cs typeface="Calibri"/>
                <a:sym typeface="Calibri"/>
              </a:endParaRPr>
            </a:p>
          </p:txBody>
        </p:sp>
        <p:grpSp>
          <p:nvGrpSpPr>
            <p:cNvPr id="5" name="Agrupar 14">
              <a:extLst>
                <a:ext uri="{FF2B5EF4-FFF2-40B4-BE49-F238E27FC236}">
                  <a16:creationId xmlns:a16="http://schemas.microsoft.com/office/drawing/2014/main" id="{8AE5F88C-7C7C-6CD7-E8BE-FCD4B4D11D8A}"/>
                </a:ext>
              </a:extLst>
            </p:cNvPr>
            <p:cNvGrpSpPr/>
            <p:nvPr/>
          </p:nvGrpSpPr>
          <p:grpSpPr>
            <a:xfrm>
              <a:off x="328697" y="951828"/>
              <a:ext cx="371254" cy="326288"/>
              <a:chOff x="5892512" y="2805541"/>
              <a:chExt cx="459474" cy="403823"/>
            </a:xfrm>
          </p:grpSpPr>
          <p:sp>
            <p:nvSpPr>
              <p:cNvPr id="6" name="Elipse 5">
                <a:extLst>
                  <a:ext uri="{FF2B5EF4-FFF2-40B4-BE49-F238E27FC236}">
                    <a16:creationId xmlns:a16="http://schemas.microsoft.com/office/drawing/2014/main" id="{DB3D2443-13A5-6EFC-2124-6A1AE5B6BB93}"/>
                  </a:ext>
                </a:extLst>
              </p:cNvPr>
              <p:cNvSpPr/>
              <p:nvPr/>
            </p:nvSpPr>
            <p:spPr>
              <a:xfrm>
                <a:off x="5956277" y="2824919"/>
                <a:ext cx="395709" cy="376075"/>
              </a:xfrm>
              <a:prstGeom prst="ellipse">
                <a:avLst/>
              </a:prstGeom>
              <a:solidFill>
                <a:srgbClr val="007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7" name="Elipse 6">
                <a:extLst>
                  <a:ext uri="{FF2B5EF4-FFF2-40B4-BE49-F238E27FC236}">
                    <a16:creationId xmlns:a16="http://schemas.microsoft.com/office/drawing/2014/main" id="{D6434E54-E1AC-13A6-F737-AE666832D4CF}"/>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Triángulo 7">
                <a:extLst>
                  <a:ext uri="{FF2B5EF4-FFF2-40B4-BE49-F238E27FC236}">
                    <a16:creationId xmlns:a16="http://schemas.microsoft.com/office/drawing/2014/main" id="{B2A7D995-103A-8B6A-FAC7-27F42785B6B1}"/>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9" name="Google Shape;55;p4">
            <a:extLst>
              <a:ext uri="{FF2B5EF4-FFF2-40B4-BE49-F238E27FC236}">
                <a16:creationId xmlns:a16="http://schemas.microsoft.com/office/drawing/2014/main" id="{0E3085B2-215F-9ACC-269D-D8E062A8CD20}"/>
              </a:ext>
            </a:extLst>
          </p:cNvPr>
          <p:cNvSpPr txBox="1"/>
          <p:nvPr/>
        </p:nvSpPr>
        <p:spPr>
          <a:xfrm>
            <a:off x="509343" y="1513622"/>
            <a:ext cx="7342570" cy="1384995"/>
          </a:xfrm>
          <a:prstGeom prst="rect">
            <a:avLst/>
          </a:prstGeom>
          <a:noFill/>
          <a:ln>
            <a:noFill/>
          </a:ln>
        </p:spPr>
        <p:txBody>
          <a:bodyPr spcFirstLastPara="1" wrap="square" lIns="0" tIns="0" rIns="0" bIns="0" anchor="t" anchorCtr="0">
            <a:spAutoFit/>
          </a:bodyPr>
          <a:lstStyle/>
          <a:p>
            <a:pPr marL="184150" lvl="1" indent="-184150">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Manejo de Excepciones y Seguridad: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Spring proporciona herramientas robustas para el manejo de excepciones y la gestión de seguridad en ambos niveles (MVC y JDBC).</a:t>
            </a:r>
          </a:p>
          <a:p>
            <a:pPr marL="184150" lvl="1" indent="-184150">
              <a:buClr>
                <a:schemeClr val="accent5"/>
              </a:buClr>
              <a:buSzPct val="100000"/>
              <a:buFont typeface="Arial" panose="020B0604020202020204" pitchFamily="34" charset="0"/>
              <a:buChar char="•"/>
            </a:pPr>
            <a:endPar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5"/>
              </a:buClr>
              <a:buSzPct val="100000"/>
              <a:buFont typeface="Arial" panose="020B0604020202020204" pitchFamily="34" charset="0"/>
              <a:buChar char="•"/>
            </a:pPr>
            <a:r>
              <a:rPr lang="es-PE" sz="1500" b="1" i="0" u="none" strike="noStrike" cap="none" dirty="0">
                <a:solidFill>
                  <a:schemeClr val="accent5"/>
                </a:solidFill>
                <a:latin typeface="Calibri" panose="020F0502020204030204" pitchFamily="34" charset="0"/>
                <a:ea typeface="Calibri"/>
                <a:cs typeface="Calibri" panose="020F0502020204030204" pitchFamily="34" charset="0"/>
                <a:sym typeface="Calibri"/>
              </a:rPr>
              <a:t>Escalabilidad: </a:t>
            </a:r>
            <a:r>
              <a:rPr lang="es-PE" sz="1500" b="0" i="0" u="none" strike="noStrike" cap="none" dirty="0">
                <a:solidFill>
                  <a:schemeClr val="tx1"/>
                </a:solidFill>
                <a:latin typeface="Calibri" panose="020F0502020204030204" pitchFamily="34" charset="0"/>
                <a:ea typeface="Calibri"/>
                <a:cs typeface="Calibri" panose="020F0502020204030204" pitchFamily="34" charset="0"/>
                <a:sym typeface="Calibri"/>
              </a:rPr>
              <a:t>La arquitectura modular de Spring facilita la escalabilidad de la aplicación, permitiendo manejar un gran número de usuarios y transacciones sin degradar el rendimiento.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11" name="Rectángulo 10">
            <a:extLst>
              <a:ext uri="{FF2B5EF4-FFF2-40B4-BE49-F238E27FC236}">
                <a16:creationId xmlns:a16="http://schemas.microsoft.com/office/drawing/2014/main" id="{E9D2F29A-CD20-2371-4B58-3C02ED4DDB78}"/>
              </a:ext>
            </a:extLst>
          </p:cNvPr>
          <p:cNvSpPr/>
          <p:nvPr/>
        </p:nvSpPr>
        <p:spPr>
          <a:xfrm>
            <a:off x="503238" y="3147391"/>
            <a:ext cx="8172450" cy="2086597"/>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8" name="Google Shape;78;p7"/>
          <p:cNvSpPr txBox="1"/>
          <p:nvPr/>
        </p:nvSpPr>
        <p:spPr>
          <a:xfrm>
            <a:off x="509344" y="921277"/>
            <a:ext cx="5334866"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tx1"/>
                </a:solidFill>
                <a:highlight>
                  <a:srgbClr val="FFFFFF"/>
                </a:highlight>
                <a:latin typeface="Calibri"/>
                <a:ea typeface="Calibri"/>
                <a:cs typeface="Calibri"/>
                <a:sym typeface="Calibri"/>
              </a:rPr>
              <a:t>COMPONENTES CLAVE DE SPRING MVC</a:t>
            </a:r>
            <a:endParaRPr lang="es-PE" sz="1800" dirty="0">
              <a:solidFill>
                <a:schemeClr val="tx1"/>
              </a:solidFill>
              <a:latin typeface="Calibri"/>
              <a:ea typeface="Calibri"/>
              <a:cs typeface="Calibri"/>
              <a:sym typeface="Calibri"/>
            </a:endParaRPr>
          </a:p>
        </p:txBody>
      </p:sp>
      <p:pic>
        <p:nvPicPr>
          <p:cNvPr id="80" name="Google Shape;80;p7"/>
          <p:cNvPicPr preferRelativeResize="0"/>
          <p:nvPr/>
        </p:nvPicPr>
        <p:blipFill rotWithShape="1">
          <a:blip r:embed="rId3">
            <a:alphaModFix/>
          </a:blip>
          <a:srcRect/>
          <a:stretch/>
        </p:blipFill>
        <p:spPr>
          <a:xfrm>
            <a:off x="1768359" y="3252110"/>
            <a:ext cx="5620534" cy="1895740"/>
          </a:xfrm>
          <a:prstGeom prst="rect">
            <a:avLst/>
          </a:prstGeom>
          <a:noFill/>
          <a:ln>
            <a:noFill/>
          </a:ln>
        </p:spPr>
      </p:pic>
      <p:sp>
        <p:nvSpPr>
          <p:cNvPr id="2" name="Rectangle 5">
            <a:extLst>
              <a:ext uri="{FF2B5EF4-FFF2-40B4-BE49-F238E27FC236}">
                <a16:creationId xmlns:a16="http://schemas.microsoft.com/office/drawing/2014/main" id="{CCCC0CF9-7DFA-69D3-979E-4739520E6107}"/>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MVC </a:t>
            </a:r>
          </a:p>
        </p:txBody>
      </p:sp>
      <p:grpSp>
        <p:nvGrpSpPr>
          <p:cNvPr id="4" name="Grupo 3">
            <a:extLst>
              <a:ext uri="{FF2B5EF4-FFF2-40B4-BE49-F238E27FC236}">
                <a16:creationId xmlns:a16="http://schemas.microsoft.com/office/drawing/2014/main" id="{C392710E-6CAF-43FF-1DC6-5E79749441A8}"/>
              </a:ext>
            </a:extLst>
          </p:cNvPr>
          <p:cNvGrpSpPr/>
          <p:nvPr/>
        </p:nvGrpSpPr>
        <p:grpSpPr>
          <a:xfrm>
            <a:off x="360135" y="1266028"/>
            <a:ext cx="2267178" cy="338009"/>
            <a:chOff x="328697" y="912813"/>
            <a:chExt cx="2711938" cy="404317"/>
          </a:xfrm>
        </p:grpSpPr>
        <p:sp>
          <p:nvSpPr>
            <p:cNvPr id="5" name="Rectángulo redondeado 4">
              <a:extLst>
                <a:ext uri="{FF2B5EF4-FFF2-40B4-BE49-F238E27FC236}">
                  <a16:creationId xmlns:a16="http://schemas.microsoft.com/office/drawing/2014/main" id="{9B0A8AF3-F205-49C5-B512-E9A34FA1A57E}"/>
                </a:ext>
              </a:extLst>
            </p:cNvPr>
            <p:cNvSpPr/>
            <p:nvPr/>
          </p:nvSpPr>
          <p:spPr>
            <a:xfrm>
              <a:off x="503237" y="912813"/>
              <a:ext cx="2537398"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1</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PE" b="1" dirty="0">
                  <a:solidFill>
                    <a:schemeClr val="bg1"/>
                  </a:solidFill>
                  <a:latin typeface="Calibri"/>
                  <a:ea typeface="Calibri"/>
                  <a:cs typeface="Calibri"/>
                  <a:sym typeface="Calibri"/>
                </a:rPr>
                <a:t>DispatcherServlet:</a:t>
              </a:r>
              <a:endParaRPr lang="es-PE" dirty="0">
                <a:solidFill>
                  <a:schemeClr val="bg1"/>
                </a:solidFill>
              </a:endParaRPr>
            </a:p>
          </p:txBody>
        </p:sp>
        <p:grpSp>
          <p:nvGrpSpPr>
            <p:cNvPr id="6" name="Agrupar 14">
              <a:extLst>
                <a:ext uri="{FF2B5EF4-FFF2-40B4-BE49-F238E27FC236}">
                  <a16:creationId xmlns:a16="http://schemas.microsoft.com/office/drawing/2014/main" id="{51E5D2E6-8F8A-198C-5263-AB6563917163}"/>
                </a:ext>
              </a:extLst>
            </p:cNvPr>
            <p:cNvGrpSpPr/>
            <p:nvPr/>
          </p:nvGrpSpPr>
          <p:grpSpPr>
            <a:xfrm>
              <a:off x="328697" y="951828"/>
              <a:ext cx="371254" cy="326288"/>
              <a:chOff x="5892512" y="2805541"/>
              <a:chExt cx="459474" cy="403823"/>
            </a:xfrm>
          </p:grpSpPr>
          <p:sp>
            <p:nvSpPr>
              <p:cNvPr id="7" name="Elipse 6">
                <a:extLst>
                  <a:ext uri="{FF2B5EF4-FFF2-40B4-BE49-F238E27FC236}">
                    <a16:creationId xmlns:a16="http://schemas.microsoft.com/office/drawing/2014/main" id="{E8E4229E-CA35-7A3A-CCD5-B1EAB77AB90D}"/>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Elipse 7">
                <a:extLst>
                  <a:ext uri="{FF2B5EF4-FFF2-40B4-BE49-F238E27FC236}">
                    <a16:creationId xmlns:a16="http://schemas.microsoft.com/office/drawing/2014/main" id="{825568C1-49DB-7491-6335-DB3FE3FE598A}"/>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9" name="Triángulo 8">
                <a:extLst>
                  <a:ext uri="{FF2B5EF4-FFF2-40B4-BE49-F238E27FC236}">
                    <a16:creationId xmlns:a16="http://schemas.microsoft.com/office/drawing/2014/main" id="{A9EFFB96-A78F-FD82-CD1B-99CB65E32F19}"/>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10" name="Google Shape;55;p4">
            <a:extLst>
              <a:ext uri="{FF2B5EF4-FFF2-40B4-BE49-F238E27FC236}">
                <a16:creationId xmlns:a16="http://schemas.microsoft.com/office/drawing/2014/main" id="{2DC58F57-5C6B-D654-1F13-F923A4481E75}"/>
              </a:ext>
            </a:extLst>
          </p:cNvPr>
          <p:cNvSpPr txBox="1"/>
          <p:nvPr/>
        </p:nvSpPr>
        <p:spPr>
          <a:xfrm>
            <a:off x="509342" y="1860209"/>
            <a:ext cx="8166345" cy="1077218"/>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Es el componente central en Spring MVC que actúa como el controlador principal (front controller). Se encarga de recibir todas las solicitudes HTTP y delegarlas a los controladores correspondientes.</a:t>
            </a:r>
          </a:p>
          <a:p>
            <a:pPr marL="184150" lvl="1" indent="-184150">
              <a:buClr>
                <a:schemeClr val="accent3"/>
              </a:buClr>
              <a:buSzPct val="100000"/>
              <a:buFont typeface="Arial" panose="020B0604020202020204" pitchFamily="34" charset="0"/>
              <a:buChar char="•"/>
            </a:pPr>
            <a:endParaRPr lang="es-PE"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b="1" i="0" u="none" strike="noStrike" cap="none" dirty="0">
                <a:solidFill>
                  <a:schemeClr val="accent3"/>
                </a:solidFill>
                <a:latin typeface="Calibri" panose="020F0502020204030204" pitchFamily="34" charset="0"/>
                <a:ea typeface="Calibri"/>
                <a:cs typeface="Calibri" panose="020F0502020204030204" pitchFamily="34" charset="0"/>
                <a:sym typeface="Calibri"/>
              </a:rPr>
              <a:t>Funcionamiento: </a:t>
            </a: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Intercepta las solicitudes entrantes, las mapea a los controladores específicos y devuelve las respuestas adecuadas.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10" name="Rectángulo 9">
            <a:extLst>
              <a:ext uri="{FF2B5EF4-FFF2-40B4-BE49-F238E27FC236}">
                <a16:creationId xmlns:a16="http://schemas.microsoft.com/office/drawing/2014/main" id="{E0CEDEB8-9048-E001-22E3-127011597FB7}"/>
              </a:ext>
            </a:extLst>
          </p:cNvPr>
          <p:cNvSpPr/>
          <p:nvPr/>
        </p:nvSpPr>
        <p:spPr>
          <a:xfrm>
            <a:off x="503238" y="3147391"/>
            <a:ext cx="8172450" cy="2086597"/>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88" name="Google Shape;88;p8"/>
          <p:cNvPicPr preferRelativeResize="0"/>
          <p:nvPr/>
        </p:nvPicPr>
        <p:blipFill rotWithShape="1">
          <a:blip r:embed="rId3">
            <a:alphaModFix/>
          </a:blip>
          <a:srcRect t="5609"/>
          <a:stretch/>
        </p:blipFill>
        <p:spPr>
          <a:xfrm>
            <a:off x="2774888" y="3193775"/>
            <a:ext cx="3594223" cy="2007083"/>
          </a:xfrm>
          <a:prstGeom prst="rect">
            <a:avLst/>
          </a:prstGeom>
          <a:noFill/>
          <a:ln>
            <a:noFill/>
          </a:ln>
        </p:spPr>
      </p:pic>
      <p:sp>
        <p:nvSpPr>
          <p:cNvPr id="2" name="Rectangle 5">
            <a:extLst>
              <a:ext uri="{FF2B5EF4-FFF2-40B4-BE49-F238E27FC236}">
                <a16:creationId xmlns:a16="http://schemas.microsoft.com/office/drawing/2014/main" id="{51FF3F24-5994-8DF1-45CF-72952BCB4840}"/>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MVC </a:t>
            </a:r>
          </a:p>
        </p:txBody>
      </p:sp>
      <p:grpSp>
        <p:nvGrpSpPr>
          <p:cNvPr id="3" name="Grupo 2">
            <a:extLst>
              <a:ext uri="{FF2B5EF4-FFF2-40B4-BE49-F238E27FC236}">
                <a16:creationId xmlns:a16="http://schemas.microsoft.com/office/drawing/2014/main" id="{0DD3BC92-57B9-6293-0801-0EBDC00AF96C}"/>
              </a:ext>
            </a:extLst>
          </p:cNvPr>
          <p:cNvGrpSpPr/>
          <p:nvPr/>
        </p:nvGrpSpPr>
        <p:grpSpPr>
          <a:xfrm>
            <a:off x="360135" y="921475"/>
            <a:ext cx="2267178" cy="338009"/>
            <a:chOff x="328697" y="912813"/>
            <a:chExt cx="2711937" cy="404317"/>
          </a:xfrm>
        </p:grpSpPr>
        <p:sp>
          <p:nvSpPr>
            <p:cNvPr id="4" name="Rectángulo redondeado 3">
              <a:extLst>
                <a:ext uri="{FF2B5EF4-FFF2-40B4-BE49-F238E27FC236}">
                  <a16:creationId xmlns:a16="http://schemas.microsoft.com/office/drawing/2014/main" id="{AFF394F9-58CF-3B88-CE5E-F0A4A74B0EF8}"/>
                </a:ext>
              </a:extLst>
            </p:cNvPr>
            <p:cNvSpPr/>
            <p:nvPr/>
          </p:nvSpPr>
          <p:spPr>
            <a:xfrm>
              <a:off x="503237" y="912813"/>
              <a:ext cx="2537397"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i="0" dirty="0">
                  <a:solidFill>
                    <a:schemeClr val="bg1"/>
                  </a:solidFill>
                  <a:latin typeface="Calibri" panose="020F0502020204030204" pitchFamily="34" charset="0"/>
                  <a:ea typeface="Calibri"/>
                  <a:cs typeface="Calibri" panose="020F0502020204030204" pitchFamily="34" charset="0"/>
                  <a:sym typeface="Calibri"/>
                </a:rPr>
                <a:t>2. </a:t>
              </a:r>
              <a:r>
                <a:rPr lang="es-PE" b="1" dirty="0">
                  <a:solidFill>
                    <a:schemeClr val="bg1"/>
                  </a:solidFill>
                  <a:latin typeface="Calibri"/>
                  <a:ea typeface="Calibri"/>
                  <a:cs typeface="Calibri"/>
                  <a:sym typeface="Calibri"/>
                </a:rPr>
                <a:t>Controllers:</a:t>
              </a:r>
              <a:endParaRPr lang="es-PE" dirty="0">
                <a:solidFill>
                  <a:schemeClr val="bg1"/>
                </a:solidFill>
              </a:endParaRPr>
            </a:p>
          </p:txBody>
        </p:sp>
        <p:grpSp>
          <p:nvGrpSpPr>
            <p:cNvPr id="5" name="Agrupar 14">
              <a:extLst>
                <a:ext uri="{FF2B5EF4-FFF2-40B4-BE49-F238E27FC236}">
                  <a16:creationId xmlns:a16="http://schemas.microsoft.com/office/drawing/2014/main" id="{E464CF79-6EFD-3E55-8DF0-F16B6105B5E8}"/>
                </a:ext>
              </a:extLst>
            </p:cNvPr>
            <p:cNvGrpSpPr/>
            <p:nvPr/>
          </p:nvGrpSpPr>
          <p:grpSpPr>
            <a:xfrm>
              <a:off x="328697" y="951828"/>
              <a:ext cx="371254" cy="326288"/>
              <a:chOff x="5892512" y="2805541"/>
              <a:chExt cx="459474" cy="403823"/>
            </a:xfrm>
          </p:grpSpPr>
          <p:sp>
            <p:nvSpPr>
              <p:cNvPr id="6" name="Elipse 5">
                <a:extLst>
                  <a:ext uri="{FF2B5EF4-FFF2-40B4-BE49-F238E27FC236}">
                    <a16:creationId xmlns:a16="http://schemas.microsoft.com/office/drawing/2014/main" id="{E4D860E9-0C73-F786-AF45-80008D9EB2BE}"/>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7" name="Elipse 6">
                <a:extLst>
                  <a:ext uri="{FF2B5EF4-FFF2-40B4-BE49-F238E27FC236}">
                    <a16:creationId xmlns:a16="http://schemas.microsoft.com/office/drawing/2014/main" id="{E22CD445-0395-A87D-F26A-B89D7D2D5E92}"/>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Triángulo 7">
                <a:extLst>
                  <a:ext uri="{FF2B5EF4-FFF2-40B4-BE49-F238E27FC236}">
                    <a16:creationId xmlns:a16="http://schemas.microsoft.com/office/drawing/2014/main" id="{9A21B73F-4F30-FF16-DD19-6F9DE332A8C8}"/>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9" name="Google Shape;55;p4">
            <a:extLst>
              <a:ext uri="{FF2B5EF4-FFF2-40B4-BE49-F238E27FC236}">
                <a16:creationId xmlns:a16="http://schemas.microsoft.com/office/drawing/2014/main" id="{A21515B8-B5ED-8D25-AC30-60CE96C0BFD4}"/>
              </a:ext>
            </a:extLst>
          </p:cNvPr>
          <p:cNvSpPr txBox="1"/>
          <p:nvPr/>
        </p:nvSpPr>
        <p:spPr>
          <a:xfrm>
            <a:off x="509342" y="1515656"/>
            <a:ext cx="8166345" cy="1615827"/>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sz="15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sz="1500" i="0" u="none" strike="noStrike" cap="none" dirty="0">
                <a:solidFill>
                  <a:schemeClr val="tx1"/>
                </a:solidFill>
                <a:latin typeface="Calibri" panose="020F0502020204030204" pitchFamily="34" charset="0"/>
                <a:ea typeface="Calibri"/>
                <a:cs typeface="Calibri" panose="020F0502020204030204" pitchFamily="34" charset="0"/>
                <a:sym typeface="Calibri"/>
              </a:rPr>
              <a:t>Los controladores manejan las solicitudes HTTP, procesan la lógica de negocio y determinan la vista que se debe mostrar como respuesta.</a:t>
            </a:r>
          </a:p>
          <a:p>
            <a:pPr marL="184150" lvl="1" indent="-184150">
              <a:buClr>
                <a:schemeClr val="accent3"/>
              </a:buClr>
              <a:buSzPct val="100000"/>
              <a:buFont typeface="Arial" panose="020B0604020202020204" pitchFamily="34" charset="0"/>
              <a:buChar char="•"/>
            </a:pPr>
            <a:endParaRPr lang="es-PE" sz="150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sz="1500" b="1" i="0" u="none" strike="noStrike" cap="none" dirty="0">
                <a:solidFill>
                  <a:schemeClr val="accent3"/>
                </a:solidFill>
                <a:latin typeface="Calibri" panose="020F0502020204030204" pitchFamily="34" charset="0"/>
                <a:ea typeface="Calibri"/>
                <a:cs typeface="Calibri" panose="020F0502020204030204" pitchFamily="34" charset="0"/>
                <a:sym typeface="Calibri"/>
              </a:rPr>
              <a:t>Anotaciones Principales:</a:t>
            </a:r>
          </a:p>
          <a:p>
            <a:pPr marL="360363" lvl="1" indent="-176213">
              <a:buClr>
                <a:schemeClr val="accent3"/>
              </a:buClr>
              <a:buSzPct val="100000"/>
              <a:buFont typeface="Arial" panose="020B0604020202020204" pitchFamily="34" charset="0"/>
              <a:buChar char="•"/>
            </a:pPr>
            <a:r>
              <a:rPr lang="es-PE" sz="1500" i="0" u="none" strike="noStrike" cap="none" dirty="0">
                <a:solidFill>
                  <a:schemeClr val="tx1"/>
                </a:solidFill>
                <a:latin typeface="Calibri" panose="020F0502020204030204" pitchFamily="34" charset="0"/>
                <a:ea typeface="Calibri"/>
                <a:cs typeface="Calibri" panose="020F0502020204030204" pitchFamily="34" charset="0"/>
                <a:sym typeface="Calibri"/>
              </a:rPr>
              <a:t>@Controller: Indica que una clase es un controlador.</a:t>
            </a:r>
          </a:p>
          <a:p>
            <a:pPr marL="360363" lvl="1" indent="-176213">
              <a:buClr>
                <a:schemeClr val="accent3"/>
              </a:buClr>
              <a:buSzPct val="100000"/>
              <a:buFont typeface="Arial" panose="020B0604020202020204" pitchFamily="34" charset="0"/>
              <a:buChar char="•"/>
            </a:pPr>
            <a:r>
              <a:rPr lang="es-PE" sz="1500" i="0" u="none" strike="noStrike" cap="none" dirty="0">
                <a:solidFill>
                  <a:schemeClr val="tx1"/>
                </a:solidFill>
                <a:latin typeface="Calibri" panose="020F0502020204030204" pitchFamily="34" charset="0"/>
                <a:ea typeface="Calibri"/>
                <a:cs typeface="Calibri" panose="020F0502020204030204" pitchFamily="34" charset="0"/>
                <a:sym typeface="Calibri"/>
              </a:rPr>
              <a:t>@RequestMapping: Mapea las solicitudes HTTP a métodos específicos en el controlador.</a:t>
            </a:r>
          </a:p>
          <a:p>
            <a:pPr marL="184150" lvl="1" indent="-184150">
              <a:buClr>
                <a:schemeClr val="accent3"/>
              </a:buClr>
              <a:buSzPct val="100000"/>
              <a:buFont typeface="Arial" panose="020B0604020202020204" pitchFamily="34" charset="0"/>
              <a:buChar char="•"/>
            </a:pPr>
            <a:endParaRPr lang="es-PE" sz="1500" i="0" u="none" strike="noStrike" cap="none" dirty="0">
              <a:solidFill>
                <a:schemeClr val="tx1"/>
              </a:solidFill>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10" name="Rectángulo 9">
            <a:extLst>
              <a:ext uri="{FF2B5EF4-FFF2-40B4-BE49-F238E27FC236}">
                <a16:creationId xmlns:a16="http://schemas.microsoft.com/office/drawing/2014/main" id="{2A1C6818-DB99-36AC-1E29-630B2A31D671}"/>
              </a:ext>
            </a:extLst>
          </p:cNvPr>
          <p:cNvSpPr/>
          <p:nvPr/>
        </p:nvSpPr>
        <p:spPr>
          <a:xfrm>
            <a:off x="503238" y="3624470"/>
            <a:ext cx="8172450" cy="1609518"/>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97" name="Google Shape;97;p9"/>
          <p:cNvPicPr preferRelativeResize="0"/>
          <p:nvPr/>
        </p:nvPicPr>
        <p:blipFill rotWithShape="1">
          <a:blip r:embed="rId3">
            <a:alphaModFix/>
          </a:blip>
          <a:srcRect/>
          <a:stretch/>
        </p:blipFill>
        <p:spPr>
          <a:xfrm>
            <a:off x="1779244" y="3693498"/>
            <a:ext cx="5585511" cy="1500734"/>
          </a:xfrm>
          <a:prstGeom prst="rect">
            <a:avLst/>
          </a:prstGeom>
          <a:noFill/>
          <a:ln>
            <a:noFill/>
          </a:ln>
        </p:spPr>
      </p:pic>
      <p:sp>
        <p:nvSpPr>
          <p:cNvPr id="2" name="Rectangle 5">
            <a:extLst>
              <a:ext uri="{FF2B5EF4-FFF2-40B4-BE49-F238E27FC236}">
                <a16:creationId xmlns:a16="http://schemas.microsoft.com/office/drawing/2014/main" id="{796696A5-2A09-F53B-2E49-CCF8700D2E0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MVC </a:t>
            </a:r>
          </a:p>
        </p:txBody>
      </p:sp>
      <p:grpSp>
        <p:nvGrpSpPr>
          <p:cNvPr id="3" name="Grupo 2">
            <a:extLst>
              <a:ext uri="{FF2B5EF4-FFF2-40B4-BE49-F238E27FC236}">
                <a16:creationId xmlns:a16="http://schemas.microsoft.com/office/drawing/2014/main" id="{818018EC-9360-5EA4-B162-CFEAC51C0EC2}"/>
              </a:ext>
            </a:extLst>
          </p:cNvPr>
          <p:cNvGrpSpPr/>
          <p:nvPr/>
        </p:nvGrpSpPr>
        <p:grpSpPr>
          <a:xfrm>
            <a:off x="360135" y="921475"/>
            <a:ext cx="2267178" cy="338009"/>
            <a:chOff x="328697" y="912813"/>
            <a:chExt cx="2711937" cy="404317"/>
          </a:xfrm>
        </p:grpSpPr>
        <p:sp>
          <p:nvSpPr>
            <p:cNvPr id="4" name="Rectángulo redondeado 3">
              <a:extLst>
                <a:ext uri="{FF2B5EF4-FFF2-40B4-BE49-F238E27FC236}">
                  <a16:creationId xmlns:a16="http://schemas.microsoft.com/office/drawing/2014/main" id="{64D937C2-6FDB-10BD-18FD-3F7BAE38AD32}"/>
                </a:ext>
              </a:extLst>
            </p:cNvPr>
            <p:cNvSpPr/>
            <p:nvPr/>
          </p:nvSpPr>
          <p:spPr>
            <a:xfrm>
              <a:off x="503237" y="912813"/>
              <a:ext cx="2537397"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3</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PE" sz="1400" b="1" dirty="0">
                  <a:solidFill>
                    <a:schemeClr val="bg1"/>
                  </a:solidFill>
                  <a:latin typeface="Calibri"/>
                  <a:ea typeface="Calibri"/>
                  <a:cs typeface="Calibri"/>
                  <a:sym typeface="Calibri"/>
                </a:rPr>
                <a:t>ViewResolvers:</a:t>
              </a:r>
              <a:endParaRPr lang="es-PE" dirty="0">
                <a:solidFill>
                  <a:schemeClr val="bg1"/>
                </a:solidFill>
              </a:endParaRPr>
            </a:p>
          </p:txBody>
        </p:sp>
        <p:grpSp>
          <p:nvGrpSpPr>
            <p:cNvPr id="5" name="Agrupar 14">
              <a:extLst>
                <a:ext uri="{FF2B5EF4-FFF2-40B4-BE49-F238E27FC236}">
                  <a16:creationId xmlns:a16="http://schemas.microsoft.com/office/drawing/2014/main" id="{7EB422CD-2567-6A03-6263-FC111B92D4DE}"/>
                </a:ext>
              </a:extLst>
            </p:cNvPr>
            <p:cNvGrpSpPr/>
            <p:nvPr/>
          </p:nvGrpSpPr>
          <p:grpSpPr>
            <a:xfrm>
              <a:off x="328697" y="951828"/>
              <a:ext cx="371254" cy="326288"/>
              <a:chOff x="5892512" y="2805541"/>
              <a:chExt cx="459474" cy="403823"/>
            </a:xfrm>
          </p:grpSpPr>
          <p:sp>
            <p:nvSpPr>
              <p:cNvPr id="6" name="Elipse 5">
                <a:extLst>
                  <a:ext uri="{FF2B5EF4-FFF2-40B4-BE49-F238E27FC236}">
                    <a16:creationId xmlns:a16="http://schemas.microsoft.com/office/drawing/2014/main" id="{B5F08C7F-3D4B-7B0F-173D-01D9858648CD}"/>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7" name="Elipse 6">
                <a:extLst>
                  <a:ext uri="{FF2B5EF4-FFF2-40B4-BE49-F238E27FC236}">
                    <a16:creationId xmlns:a16="http://schemas.microsoft.com/office/drawing/2014/main" id="{C9BB8160-58F8-61C2-7B52-95702C94E23E}"/>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Triángulo 7">
                <a:extLst>
                  <a:ext uri="{FF2B5EF4-FFF2-40B4-BE49-F238E27FC236}">
                    <a16:creationId xmlns:a16="http://schemas.microsoft.com/office/drawing/2014/main" id="{0C650140-489A-217F-8C45-EA0EF52F7549}"/>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9" name="Google Shape;55;p4">
            <a:extLst>
              <a:ext uri="{FF2B5EF4-FFF2-40B4-BE49-F238E27FC236}">
                <a16:creationId xmlns:a16="http://schemas.microsoft.com/office/drawing/2014/main" id="{8D129512-5403-34EB-33BB-286C31365C6B}"/>
              </a:ext>
            </a:extLst>
          </p:cNvPr>
          <p:cNvSpPr txBox="1"/>
          <p:nvPr/>
        </p:nvSpPr>
        <p:spPr>
          <a:xfrm>
            <a:off x="509342" y="1515656"/>
            <a:ext cx="7740136" cy="1938992"/>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Los resolutores de vista son responsables de resolver las vistas que se deben renderizar como respuesta a las solicitudes. Mapean el nombre de la vista devuelta por el controlador a un recurso físico, como una página JSP.</a:t>
            </a:r>
          </a:p>
          <a:p>
            <a:pPr marL="184150" lvl="1" indent="-184150">
              <a:buClr>
                <a:schemeClr val="accent3"/>
              </a:buClr>
              <a:buSzPct val="100000"/>
              <a:buFont typeface="Arial" panose="020B0604020202020204" pitchFamily="34" charset="0"/>
              <a:buChar char="•"/>
            </a:pPr>
            <a:endParaRPr lang="es-PE"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b="1" i="0" u="none" strike="noStrike" cap="none" dirty="0">
                <a:solidFill>
                  <a:schemeClr val="accent3"/>
                </a:solidFill>
                <a:latin typeface="Calibri" panose="020F0502020204030204" pitchFamily="34" charset="0"/>
                <a:ea typeface="Calibri"/>
                <a:cs typeface="Calibri" panose="020F0502020204030204" pitchFamily="34" charset="0"/>
                <a:sym typeface="Calibri"/>
              </a:rPr>
              <a:t>Tipos Comunes:</a:t>
            </a:r>
          </a:p>
          <a:p>
            <a:pPr marL="360363" lvl="1" indent="-176213">
              <a:buClr>
                <a:schemeClr val="accent3"/>
              </a:buClr>
              <a:buSzPct val="100000"/>
              <a:buFont typeface="Arial" panose="020B0604020202020204" pitchFamily="34" charset="0"/>
              <a:buChar char="•"/>
            </a:pP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InternalResourceViewResolver: Resuelve vistas internas como JSPs.</a:t>
            </a:r>
          </a:p>
          <a:p>
            <a:pPr marL="360363" lvl="1" indent="-176213">
              <a:buClr>
                <a:schemeClr val="accent3"/>
              </a:buClr>
              <a:buSzPct val="100000"/>
              <a:buFont typeface="Arial" panose="020B0604020202020204" pitchFamily="34" charset="0"/>
              <a:buChar char="•"/>
            </a:pP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ThymeleafViewResolver: Resuelve vistas utilizando Thymeleaf.</a:t>
            </a:r>
          </a:p>
          <a:p>
            <a:pPr marL="360363" lvl="1" indent="-176213">
              <a:buClr>
                <a:schemeClr val="accent3"/>
              </a:buClr>
              <a:buSzPct val="100000"/>
              <a:buFont typeface="Arial" panose="020B0604020202020204" pitchFamily="34" charset="0"/>
              <a:buChar char="•"/>
            </a:pPr>
            <a:endParaRPr lang="es-PE" dirty="0">
              <a:solidFill>
                <a:schemeClr val="tx1"/>
              </a:solidFill>
              <a:latin typeface="Calibri" panose="020F0502020204030204" pitchFamily="34" charset="0"/>
              <a:ea typeface="Calibri"/>
              <a:cs typeface="Calibri" panose="020F0502020204030204" pitchFamily="34" charset="0"/>
              <a:sym typeface="Calibri"/>
            </a:endParaRPr>
          </a:p>
          <a:p>
            <a:pPr marL="6350" lvl="1">
              <a:buClr>
                <a:schemeClr val="accent3"/>
              </a:buClr>
              <a:buSzPct val="100000"/>
            </a:pP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Ejemplo de Configuración de InternalResourceViewResolver: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 name="Rectángulo 9">
            <a:extLst>
              <a:ext uri="{FF2B5EF4-FFF2-40B4-BE49-F238E27FC236}">
                <a16:creationId xmlns:a16="http://schemas.microsoft.com/office/drawing/2014/main" id="{454D96DC-414E-B76C-0B21-3F3A164BCDD9}"/>
              </a:ext>
            </a:extLst>
          </p:cNvPr>
          <p:cNvSpPr/>
          <p:nvPr/>
        </p:nvSpPr>
        <p:spPr>
          <a:xfrm>
            <a:off x="503238" y="3147391"/>
            <a:ext cx="8172450" cy="2086597"/>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06" name="Google Shape;106;p10"/>
          <p:cNvPicPr preferRelativeResize="0"/>
          <p:nvPr/>
        </p:nvPicPr>
        <p:blipFill rotWithShape="1">
          <a:blip r:embed="rId3">
            <a:alphaModFix/>
          </a:blip>
          <a:srcRect/>
          <a:stretch/>
        </p:blipFill>
        <p:spPr>
          <a:xfrm>
            <a:off x="2368516" y="3187902"/>
            <a:ext cx="4420217" cy="2019582"/>
          </a:xfrm>
          <a:prstGeom prst="rect">
            <a:avLst/>
          </a:prstGeom>
          <a:noFill/>
          <a:ln>
            <a:noFill/>
          </a:ln>
        </p:spPr>
      </p:pic>
      <p:sp>
        <p:nvSpPr>
          <p:cNvPr id="2" name="Rectangle 5">
            <a:extLst>
              <a:ext uri="{FF2B5EF4-FFF2-40B4-BE49-F238E27FC236}">
                <a16:creationId xmlns:a16="http://schemas.microsoft.com/office/drawing/2014/main" id="{1A92DF28-E698-5D18-B880-EA25749AD2B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MVC </a:t>
            </a:r>
          </a:p>
        </p:txBody>
      </p:sp>
      <p:grpSp>
        <p:nvGrpSpPr>
          <p:cNvPr id="3" name="Grupo 2">
            <a:extLst>
              <a:ext uri="{FF2B5EF4-FFF2-40B4-BE49-F238E27FC236}">
                <a16:creationId xmlns:a16="http://schemas.microsoft.com/office/drawing/2014/main" id="{9A8D9C53-35F8-B3E0-7C2E-6BD0758C7E0A}"/>
              </a:ext>
            </a:extLst>
          </p:cNvPr>
          <p:cNvGrpSpPr/>
          <p:nvPr/>
        </p:nvGrpSpPr>
        <p:grpSpPr>
          <a:xfrm>
            <a:off x="360135" y="921475"/>
            <a:ext cx="2267178" cy="338009"/>
            <a:chOff x="328697" y="912813"/>
            <a:chExt cx="2711937" cy="404317"/>
          </a:xfrm>
        </p:grpSpPr>
        <p:sp>
          <p:nvSpPr>
            <p:cNvPr id="4" name="Rectángulo redondeado 3">
              <a:extLst>
                <a:ext uri="{FF2B5EF4-FFF2-40B4-BE49-F238E27FC236}">
                  <a16:creationId xmlns:a16="http://schemas.microsoft.com/office/drawing/2014/main" id="{44DA2A17-87EF-A78D-06FB-667E957089DE}"/>
                </a:ext>
              </a:extLst>
            </p:cNvPr>
            <p:cNvSpPr/>
            <p:nvPr/>
          </p:nvSpPr>
          <p:spPr>
            <a:xfrm>
              <a:off x="503237" y="912813"/>
              <a:ext cx="2537397" cy="404317"/>
            </a:xfrm>
            <a:prstGeom prst="roundRect">
              <a:avLst>
                <a:gd name="adj" fmla="val 1879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buClr>
                  <a:srgbClr val="374151"/>
                </a:buClr>
                <a:buSzPts val="1600"/>
              </a:pPr>
              <a:r>
                <a:rPr lang="es-PE" b="1" dirty="0">
                  <a:solidFill>
                    <a:schemeClr val="bg1"/>
                  </a:solidFill>
                  <a:latin typeface="Calibri" panose="020F0502020204030204" pitchFamily="34" charset="0"/>
                  <a:ea typeface="Calibri"/>
                  <a:cs typeface="Calibri" panose="020F0502020204030204" pitchFamily="34" charset="0"/>
                  <a:sym typeface="Calibri"/>
                </a:rPr>
                <a:t>4</a:t>
              </a:r>
              <a:r>
                <a:rPr lang="es-PE" b="1" i="0" dirty="0">
                  <a:solidFill>
                    <a:schemeClr val="bg1"/>
                  </a:solidFill>
                  <a:latin typeface="Calibri" panose="020F0502020204030204" pitchFamily="34" charset="0"/>
                  <a:ea typeface="Calibri"/>
                  <a:cs typeface="Calibri" panose="020F0502020204030204" pitchFamily="34" charset="0"/>
                  <a:sym typeface="Calibri"/>
                </a:rPr>
                <a:t>. </a:t>
              </a:r>
              <a:r>
                <a:rPr lang="es-PE" sz="1400" b="1" dirty="0">
                  <a:solidFill>
                    <a:schemeClr val="bg1"/>
                  </a:solidFill>
                  <a:latin typeface="Calibri"/>
                  <a:ea typeface="Calibri"/>
                  <a:cs typeface="Calibri"/>
                  <a:sym typeface="Calibri"/>
                </a:rPr>
                <a:t>ModelAndView:</a:t>
              </a:r>
              <a:endParaRPr lang="es-PE" dirty="0">
                <a:solidFill>
                  <a:schemeClr val="bg1"/>
                </a:solidFill>
              </a:endParaRPr>
            </a:p>
          </p:txBody>
        </p:sp>
        <p:grpSp>
          <p:nvGrpSpPr>
            <p:cNvPr id="5" name="Agrupar 14">
              <a:extLst>
                <a:ext uri="{FF2B5EF4-FFF2-40B4-BE49-F238E27FC236}">
                  <a16:creationId xmlns:a16="http://schemas.microsoft.com/office/drawing/2014/main" id="{C8276E89-7280-A7E3-6C5C-D88EA970EC12}"/>
                </a:ext>
              </a:extLst>
            </p:cNvPr>
            <p:cNvGrpSpPr/>
            <p:nvPr/>
          </p:nvGrpSpPr>
          <p:grpSpPr>
            <a:xfrm>
              <a:off x="328697" y="951828"/>
              <a:ext cx="371254" cy="326288"/>
              <a:chOff x="5892512" y="2805541"/>
              <a:chExt cx="459474" cy="403823"/>
            </a:xfrm>
          </p:grpSpPr>
          <p:sp>
            <p:nvSpPr>
              <p:cNvPr id="6" name="Elipse 5">
                <a:extLst>
                  <a:ext uri="{FF2B5EF4-FFF2-40B4-BE49-F238E27FC236}">
                    <a16:creationId xmlns:a16="http://schemas.microsoft.com/office/drawing/2014/main" id="{4DD96E8F-D361-292D-9D18-A699A531873C}"/>
                  </a:ext>
                </a:extLst>
              </p:cNvPr>
              <p:cNvSpPr/>
              <p:nvPr/>
            </p:nvSpPr>
            <p:spPr>
              <a:xfrm>
                <a:off x="5956277" y="2824919"/>
                <a:ext cx="395709" cy="376075"/>
              </a:xfrm>
              <a:prstGeom prst="ellipse">
                <a:avLst/>
              </a:prstGeom>
              <a:solidFill>
                <a:srgbClr val="6384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7" name="Elipse 6">
                <a:extLst>
                  <a:ext uri="{FF2B5EF4-FFF2-40B4-BE49-F238E27FC236}">
                    <a16:creationId xmlns:a16="http://schemas.microsoft.com/office/drawing/2014/main" id="{74849446-B70D-D8F0-D084-4730CB89AAB5}"/>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sp>
            <p:nvSpPr>
              <p:cNvPr id="8" name="Triángulo 7">
                <a:extLst>
                  <a:ext uri="{FF2B5EF4-FFF2-40B4-BE49-F238E27FC236}">
                    <a16:creationId xmlns:a16="http://schemas.microsoft.com/office/drawing/2014/main" id="{60DB8FA3-4340-6D63-1DCD-E82CC3B63516}"/>
                  </a:ext>
                </a:extLst>
              </p:cNvPr>
              <p:cNvSpPr/>
              <p:nvPr/>
            </p:nvSpPr>
            <p:spPr>
              <a:xfrm rot="5400000">
                <a:off x="6076285" y="2946262"/>
                <a:ext cx="186870" cy="122381"/>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solidFill>
                    <a:schemeClr val="bg1"/>
                  </a:solidFill>
                  <a:latin typeface="Calibri" panose="020F0502020204030204" pitchFamily="34" charset="0"/>
                </a:endParaRPr>
              </a:p>
            </p:txBody>
          </p:sp>
        </p:grpSp>
      </p:grpSp>
      <p:sp>
        <p:nvSpPr>
          <p:cNvPr id="9" name="Google Shape;55;p4">
            <a:extLst>
              <a:ext uri="{FF2B5EF4-FFF2-40B4-BE49-F238E27FC236}">
                <a16:creationId xmlns:a16="http://schemas.microsoft.com/office/drawing/2014/main" id="{5D1B9C58-B39B-9AD2-ADEA-587AE19ACCEA}"/>
              </a:ext>
            </a:extLst>
          </p:cNvPr>
          <p:cNvSpPr txBox="1"/>
          <p:nvPr/>
        </p:nvSpPr>
        <p:spPr>
          <a:xfrm>
            <a:off x="509342" y="1515656"/>
            <a:ext cx="7740136" cy="1508105"/>
          </a:xfrm>
          <a:prstGeom prst="rect">
            <a:avLst/>
          </a:prstGeom>
          <a:noFill/>
          <a:ln>
            <a:noFill/>
          </a:ln>
        </p:spPr>
        <p:txBody>
          <a:bodyPr spcFirstLastPara="1" wrap="square" lIns="0" tIns="0" rIns="0" bIns="0" anchor="t" anchorCtr="0">
            <a:spAutoFit/>
          </a:bodyPr>
          <a:lstStyle/>
          <a:p>
            <a:pPr marL="184150" lvl="1" indent="-184150">
              <a:buClr>
                <a:schemeClr val="accent3"/>
              </a:buClr>
              <a:buSzPct val="100000"/>
              <a:buFont typeface="Arial" panose="020B0604020202020204" pitchFamily="34" charset="0"/>
              <a:buChar char="•"/>
            </a:pPr>
            <a:r>
              <a:rPr lang="es-PE" b="1" i="0" u="none" strike="noStrike" cap="none" dirty="0">
                <a:solidFill>
                  <a:schemeClr val="accent3"/>
                </a:solidFill>
                <a:latin typeface="Calibri" panose="020F0502020204030204" pitchFamily="34" charset="0"/>
                <a:ea typeface="Calibri"/>
                <a:cs typeface="Calibri" panose="020F0502020204030204" pitchFamily="34" charset="0"/>
                <a:sym typeface="Calibri"/>
              </a:rPr>
              <a:t>Descripción: </a:t>
            </a: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Es una clase que combina el modelo y la vista. Se utiliza en los controladores para pasar datos y definir la vista que se debe renderizar.</a:t>
            </a:r>
          </a:p>
          <a:p>
            <a:pPr marL="184150" lvl="1" indent="-184150">
              <a:buClr>
                <a:schemeClr val="accent3"/>
              </a:buClr>
              <a:buSzPct val="100000"/>
              <a:buFont typeface="Arial" panose="020B0604020202020204" pitchFamily="34" charset="0"/>
              <a:buChar char="•"/>
            </a:pPr>
            <a:endParaRPr lang="es-PE"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marL="184150" lvl="1" indent="-184150">
              <a:buClr>
                <a:schemeClr val="accent3"/>
              </a:buClr>
              <a:buSzPct val="100000"/>
              <a:buFont typeface="Arial" panose="020B0604020202020204" pitchFamily="34" charset="0"/>
              <a:buChar char="•"/>
            </a:pPr>
            <a:r>
              <a:rPr lang="es-PE" b="1" i="0" u="none" strike="noStrike" cap="none" dirty="0">
                <a:solidFill>
                  <a:schemeClr val="accent3"/>
                </a:solidFill>
                <a:latin typeface="Calibri" panose="020F0502020204030204" pitchFamily="34" charset="0"/>
                <a:ea typeface="Calibri"/>
                <a:cs typeface="Calibri" panose="020F0502020204030204" pitchFamily="34" charset="0"/>
                <a:sym typeface="Calibri"/>
              </a:rPr>
              <a:t>Uso: </a:t>
            </a: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Los métodos del controlador pueden devolver un objeto ModelAndView que contiene tanto los datos del modelo como la información sobre la vista que se debe mostrar.</a:t>
            </a:r>
          </a:p>
          <a:p>
            <a:pPr marL="184150" lvl="1" indent="-184150">
              <a:buClr>
                <a:schemeClr val="accent3"/>
              </a:buClr>
              <a:buSzPct val="100000"/>
              <a:buFont typeface="Arial" panose="020B0604020202020204" pitchFamily="34" charset="0"/>
              <a:buChar char="•"/>
            </a:pPr>
            <a:endParaRPr lang="es-PE" i="0" u="none" strike="noStrike" cap="none" dirty="0">
              <a:solidFill>
                <a:schemeClr val="tx1"/>
              </a:solidFill>
              <a:latin typeface="Calibri" panose="020F0502020204030204" pitchFamily="34" charset="0"/>
              <a:ea typeface="Calibri"/>
              <a:cs typeface="Calibri" panose="020F0502020204030204" pitchFamily="34" charset="0"/>
              <a:sym typeface="Calibri"/>
            </a:endParaRPr>
          </a:p>
          <a:p>
            <a:pPr lvl="1">
              <a:buClr>
                <a:schemeClr val="accent3"/>
              </a:buClr>
              <a:buSzPct val="100000"/>
            </a:pPr>
            <a:r>
              <a:rPr lang="es-PE" i="0" u="none" strike="noStrike" cap="none" dirty="0">
                <a:solidFill>
                  <a:schemeClr val="tx1"/>
                </a:solidFill>
                <a:latin typeface="Calibri" panose="020F0502020204030204" pitchFamily="34" charset="0"/>
                <a:ea typeface="Calibri"/>
                <a:cs typeface="Calibri" panose="020F0502020204030204" pitchFamily="34" charset="0"/>
                <a:sym typeface="Calibri"/>
              </a:rPr>
              <a:t>Ejemplo de Uso de ModelAndView: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387798"/>
          </a:xfrm>
          <a:prstGeom prst="rect">
            <a:avLst/>
          </a:prstGeom>
          <a:noFill/>
        </p:spPr>
        <p:txBody>
          <a:bodyPr wrap="square" lIns="0" tIns="0" rIns="0" bIns="0" rtlCol="0">
            <a:spAutoFit/>
          </a:bodyPr>
          <a:lstStyle/>
          <a:p>
            <a:pPr>
              <a:lnSpc>
                <a:spcPct val="90000"/>
              </a:lnSpc>
              <a:spcBef>
                <a:spcPts val="1000"/>
              </a:spcBef>
              <a:defRPr/>
            </a:pPr>
            <a:r>
              <a:rPr lang="es-PE" sz="2800" b="1" dirty="0">
                <a:solidFill>
                  <a:schemeClr val="bg1"/>
                </a:solidFill>
                <a:latin typeface="Graphik Bold" panose="020B0503030202060203" pitchFamily="34" charset="77"/>
                <a:ea typeface="Graphik Regular" charset="0"/>
                <a:cs typeface="Graphik Regular" charset="0"/>
              </a:rPr>
              <a:t>SPRING JDBC</a:t>
            </a:r>
            <a:endParaRPr lang="es-ES" sz="1600" b="1" dirty="0">
              <a:solidFill>
                <a:schemeClr val="bg1"/>
              </a:solidFill>
              <a:latin typeface="Graphik Bold" panose="020B0503030202060203" pitchFamily="34" charset="77"/>
              <a:cs typeface="Calibri"/>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110563828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5" name="Rectángulo 4">
            <a:extLst>
              <a:ext uri="{FF2B5EF4-FFF2-40B4-BE49-F238E27FC236}">
                <a16:creationId xmlns:a16="http://schemas.microsoft.com/office/drawing/2014/main" id="{61E02B6F-6909-1C22-95C8-3D077E768E5C}"/>
              </a:ext>
            </a:extLst>
          </p:cNvPr>
          <p:cNvSpPr/>
          <p:nvPr/>
        </p:nvSpPr>
        <p:spPr>
          <a:xfrm>
            <a:off x="503238" y="2948609"/>
            <a:ext cx="8172450" cy="2285379"/>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0" name="Google Shape;120;p12"/>
          <p:cNvSpPr txBox="1"/>
          <p:nvPr/>
        </p:nvSpPr>
        <p:spPr>
          <a:xfrm>
            <a:off x="509344" y="921277"/>
            <a:ext cx="471864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rgbClr val="0D0D0D"/>
                </a:solidFill>
                <a:highlight>
                  <a:srgbClr val="FFFFFF"/>
                </a:highlight>
                <a:latin typeface="Calibri"/>
                <a:ea typeface="Calibri"/>
                <a:cs typeface="Calibri"/>
                <a:sym typeface="Calibri"/>
              </a:rPr>
              <a:t>COMPONENTES CLAVE DE SPRING JDBC</a:t>
            </a:r>
            <a:endParaRPr lang="es-PE" sz="1800" dirty="0">
              <a:solidFill>
                <a:schemeClr val="dk1"/>
              </a:solidFill>
              <a:latin typeface="Calibri"/>
              <a:ea typeface="Calibri"/>
              <a:cs typeface="Calibri"/>
              <a:sym typeface="Calibri"/>
            </a:endParaRPr>
          </a:p>
        </p:txBody>
      </p:sp>
      <p:pic>
        <p:nvPicPr>
          <p:cNvPr id="122" name="Google Shape;122;p12"/>
          <p:cNvPicPr preferRelativeResize="0"/>
          <p:nvPr/>
        </p:nvPicPr>
        <p:blipFill rotWithShape="1">
          <a:blip r:embed="rId3">
            <a:alphaModFix/>
          </a:blip>
          <a:srcRect/>
          <a:stretch/>
        </p:blipFill>
        <p:spPr>
          <a:xfrm>
            <a:off x="2070952" y="3079446"/>
            <a:ext cx="5015348" cy="2029710"/>
          </a:xfrm>
          <a:prstGeom prst="rect">
            <a:avLst/>
          </a:prstGeom>
          <a:noFill/>
          <a:ln>
            <a:noFill/>
          </a:ln>
        </p:spPr>
      </p:pic>
      <p:sp>
        <p:nvSpPr>
          <p:cNvPr id="2" name="Rectangle 5">
            <a:extLst>
              <a:ext uri="{FF2B5EF4-FFF2-40B4-BE49-F238E27FC236}">
                <a16:creationId xmlns:a16="http://schemas.microsoft.com/office/drawing/2014/main" id="{20F04A69-41CB-92E8-EE5C-9946E54220B8}"/>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
        <p:nvSpPr>
          <p:cNvPr id="4" name="Rectángulo 3">
            <a:extLst>
              <a:ext uri="{FF2B5EF4-FFF2-40B4-BE49-F238E27FC236}">
                <a16:creationId xmlns:a16="http://schemas.microsoft.com/office/drawing/2014/main" id="{D4EC16D5-1433-4405-4CE5-FE041F0FB53B}"/>
              </a:ext>
            </a:extLst>
          </p:cNvPr>
          <p:cNvSpPr/>
          <p:nvPr/>
        </p:nvSpPr>
        <p:spPr>
          <a:xfrm>
            <a:off x="503238" y="1314678"/>
            <a:ext cx="6036710" cy="1369606"/>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ES" sz="1600" b="1" dirty="0" err="1">
                <a:solidFill>
                  <a:srgbClr val="EE4639"/>
                </a:solidFill>
                <a:latin typeface="Calibri" charset="0"/>
                <a:cs typeface="Calibri" charset="0"/>
              </a:rPr>
              <a:t>DispatcherServlet</a:t>
            </a:r>
            <a:r>
              <a:rPr lang="es-ES" sz="1600" b="1" dirty="0">
                <a:solidFill>
                  <a:srgbClr val="EE4639"/>
                </a:solidFill>
                <a:latin typeface="Calibri" charset="0"/>
                <a:cs typeface="Calibri" charset="0"/>
              </a:rPr>
              <a:t>:</a:t>
            </a:r>
            <a:endParaRPr lang="es-PE" sz="1600" b="1" dirty="0">
              <a:solidFill>
                <a:srgbClr val="EE4639"/>
              </a:solidFill>
              <a:latin typeface="Calibri" charset="0"/>
              <a:cs typeface="Calibri" charset="0"/>
            </a:endParaRPr>
          </a:p>
          <a:p>
            <a:pPr marL="11113"/>
            <a:r>
              <a:rPr lang="es-ES" sz="1600" dirty="0" err="1">
                <a:latin typeface="Calibri" charset="0"/>
                <a:ea typeface="Calibri" charset="0"/>
                <a:cs typeface="Calibri" charset="0"/>
              </a:rPr>
              <a:t>JdbcTemplate</a:t>
            </a:r>
            <a:r>
              <a:rPr lang="es-ES" sz="1600" dirty="0">
                <a:latin typeface="Calibri" charset="0"/>
                <a:ea typeface="Calibri" charset="0"/>
                <a:cs typeface="Calibri" charset="0"/>
              </a:rPr>
              <a:t> es la clase central en Spring JDBC que simplifica la ejecución de sentencias SQL, la interacción con la base de datos y el manejo de resultados.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5" name="Rectángulo 4">
            <a:extLst>
              <a:ext uri="{FF2B5EF4-FFF2-40B4-BE49-F238E27FC236}">
                <a16:creationId xmlns:a16="http://schemas.microsoft.com/office/drawing/2014/main" id="{1BE20890-674D-F5AF-596C-36945F2223DF}"/>
              </a:ext>
            </a:extLst>
          </p:cNvPr>
          <p:cNvSpPr/>
          <p:nvPr/>
        </p:nvSpPr>
        <p:spPr>
          <a:xfrm>
            <a:off x="503238" y="2948609"/>
            <a:ext cx="8172450" cy="2285379"/>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30" name="Google Shape;130;p13"/>
          <p:cNvPicPr preferRelativeResize="0"/>
          <p:nvPr/>
        </p:nvPicPr>
        <p:blipFill rotWithShape="1">
          <a:blip r:embed="rId3">
            <a:alphaModFix/>
          </a:blip>
          <a:srcRect/>
          <a:stretch/>
        </p:blipFill>
        <p:spPr>
          <a:xfrm>
            <a:off x="2041438" y="3041373"/>
            <a:ext cx="5062092" cy="2113721"/>
          </a:xfrm>
          <a:prstGeom prst="rect">
            <a:avLst/>
          </a:prstGeom>
          <a:noFill/>
          <a:ln>
            <a:noFill/>
          </a:ln>
        </p:spPr>
      </p:pic>
      <p:sp>
        <p:nvSpPr>
          <p:cNvPr id="2" name="Rectangle 5">
            <a:extLst>
              <a:ext uri="{FF2B5EF4-FFF2-40B4-BE49-F238E27FC236}">
                <a16:creationId xmlns:a16="http://schemas.microsoft.com/office/drawing/2014/main" id="{A2875ECE-0B59-2FDA-FE2C-576937EB05D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
        <p:nvSpPr>
          <p:cNvPr id="4" name="Rectángulo 3">
            <a:extLst>
              <a:ext uri="{FF2B5EF4-FFF2-40B4-BE49-F238E27FC236}">
                <a16:creationId xmlns:a16="http://schemas.microsoft.com/office/drawing/2014/main" id="{584FA293-35B4-5177-F1D2-6BFA9E1683C7}"/>
              </a:ext>
            </a:extLst>
          </p:cNvPr>
          <p:cNvSpPr/>
          <p:nvPr/>
        </p:nvSpPr>
        <p:spPr>
          <a:xfrm>
            <a:off x="503238" y="916472"/>
            <a:ext cx="6474032" cy="1369606"/>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ES" sz="1600" b="1" dirty="0" err="1">
                <a:solidFill>
                  <a:srgbClr val="EE4639"/>
                </a:solidFill>
                <a:latin typeface="Calibri" charset="0"/>
                <a:cs typeface="Calibri" charset="0"/>
              </a:rPr>
              <a:t>NamedParameterJdbcTemplate</a:t>
            </a:r>
            <a:endParaRPr lang="es-PE" sz="1600" b="1" dirty="0">
              <a:solidFill>
                <a:srgbClr val="EE4639"/>
              </a:solidFill>
              <a:latin typeface="Calibri" charset="0"/>
              <a:cs typeface="Calibri" charset="0"/>
            </a:endParaRPr>
          </a:p>
          <a:p>
            <a:pPr marL="11113"/>
            <a:r>
              <a:rPr lang="es-ES" sz="1600" dirty="0" err="1">
                <a:latin typeface="Calibri" charset="0"/>
                <a:ea typeface="Calibri" charset="0"/>
                <a:cs typeface="Calibri" charset="0"/>
              </a:rPr>
              <a:t>NamedParameterJdbcTemplate</a:t>
            </a:r>
            <a:r>
              <a:rPr lang="es-ES" sz="1600" dirty="0">
                <a:latin typeface="Calibri" charset="0"/>
                <a:ea typeface="Calibri" charset="0"/>
                <a:cs typeface="Calibri" charset="0"/>
              </a:rPr>
              <a:t> es una extensión de </a:t>
            </a:r>
            <a:r>
              <a:rPr lang="es-ES" sz="1600" dirty="0" err="1">
                <a:latin typeface="Calibri" charset="0"/>
                <a:ea typeface="Calibri" charset="0"/>
                <a:cs typeface="Calibri" charset="0"/>
              </a:rPr>
              <a:t>JdbcTemplate</a:t>
            </a:r>
            <a:r>
              <a:rPr lang="es-ES" sz="1600" dirty="0">
                <a:latin typeface="Calibri" charset="0"/>
                <a:ea typeface="Calibri" charset="0"/>
                <a:cs typeface="Calibri" charset="0"/>
              </a:rPr>
              <a:t> que permite el uso de parámetros con nombre en lugar de parámetros de posición, mejorando la legibilidad y mantenibilidad del código SQL.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2" name="Rectangle 5">
            <a:extLst>
              <a:ext uri="{FF2B5EF4-FFF2-40B4-BE49-F238E27FC236}">
                <a16:creationId xmlns:a16="http://schemas.microsoft.com/office/drawing/2014/main" id="{F3E037C4-B823-2B23-C9BC-F37DEF535AC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
        <p:nvSpPr>
          <p:cNvPr id="3" name="Rectángulo 2">
            <a:extLst>
              <a:ext uri="{FF2B5EF4-FFF2-40B4-BE49-F238E27FC236}">
                <a16:creationId xmlns:a16="http://schemas.microsoft.com/office/drawing/2014/main" id="{81C524EE-5DF7-94D0-CC69-87BD1CE5E164}"/>
              </a:ext>
            </a:extLst>
          </p:cNvPr>
          <p:cNvSpPr/>
          <p:nvPr/>
        </p:nvSpPr>
        <p:spPr>
          <a:xfrm>
            <a:off x="503237" y="916472"/>
            <a:ext cx="5990327" cy="1862048"/>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ES" sz="1600" b="1" dirty="0" err="1">
                <a:solidFill>
                  <a:srgbClr val="EE4639"/>
                </a:solidFill>
                <a:latin typeface="Calibri" charset="0"/>
                <a:cs typeface="Calibri" charset="0"/>
              </a:rPr>
              <a:t>ResultSetExtractor</a:t>
            </a:r>
            <a:r>
              <a:rPr lang="es-ES" sz="1600" b="1" dirty="0">
                <a:solidFill>
                  <a:srgbClr val="EE4639"/>
                </a:solidFill>
                <a:latin typeface="Calibri" charset="0"/>
                <a:cs typeface="Calibri" charset="0"/>
              </a:rPr>
              <a:t>:</a:t>
            </a:r>
            <a:endParaRPr lang="es-PE" sz="1600" b="1" dirty="0">
              <a:solidFill>
                <a:srgbClr val="EE4639"/>
              </a:solidFill>
              <a:latin typeface="Calibri" charset="0"/>
              <a:cs typeface="Calibri" charset="0"/>
            </a:endParaRPr>
          </a:p>
          <a:p>
            <a:pPr marL="184150" indent="-173038">
              <a:buClr>
                <a:schemeClr val="accent2"/>
              </a:buClr>
              <a:buFont typeface="Arial" panose="020B0604020202020204" pitchFamily="34" charset="0"/>
              <a:buChar char="•"/>
            </a:pPr>
            <a:r>
              <a:rPr lang="es-ES" sz="1600" dirty="0" err="1">
                <a:latin typeface="Calibri" charset="0"/>
                <a:ea typeface="Calibri" charset="0"/>
                <a:cs typeface="Calibri" charset="0"/>
              </a:rPr>
              <a:t>ResultSetExtractor</a:t>
            </a:r>
            <a:r>
              <a:rPr lang="es-ES" sz="1600" dirty="0">
                <a:latin typeface="Calibri" charset="0"/>
                <a:ea typeface="Calibri" charset="0"/>
                <a:cs typeface="Calibri" charset="0"/>
              </a:rPr>
              <a:t> es una interfaz que permite personalizar el procesamiento de un </a:t>
            </a:r>
            <a:r>
              <a:rPr lang="es-ES" sz="1600" dirty="0" err="1">
                <a:latin typeface="Calibri" charset="0"/>
                <a:ea typeface="Calibri" charset="0"/>
                <a:cs typeface="Calibri" charset="0"/>
              </a:rPr>
              <a:t>ResultSet</a:t>
            </a:r>
            <a:r>
              <a:rPr lang="es-ES" sz="1600" dirty="0">
                <a:latin typeface="Calibri" charset="0"/>
                <a:ea typeface="Calibri" charset="0"/>
                <a:cs typeface="Calibri" charset="0"/>
              </a:rPr>
              <a:t> entero, útil para consultas complejas que no se ajustan bien al modelo </a:t>
            </a:r>
            <a:r>
              <a:rPr lang="es-ES" sz="1600" dirty="0" err="1">
                <a:latin typeface="Calibri" charset="0"/>
                <a:ea typeface="Calibri" charset="0"/>
                <a:cs typeface="Calibri" charset="0"/>
              </a:rPr>
              <a:t>RowMapper</a:t>
            </a:r>
            <a:r>
              <a:rPr lang="es-ES" sz="1600" dirty="0">
                <a:latin typeface="Calibri" charset="0"/>
                <a:ea typeface="Calibri" charset="0"/>
                <a:cs typeface="Calibri" charset="0"/>
              </a:rPr>
              <a:t>.</a:t>
            </a:r>
          </a:p>
          <a:p>
            <a:pPr marL="184150" indent="-173038">
              <a:buClr>
                <a:schemeClr val="accent2"/>
              </a:buClr>
              <a:buFont typeface="Arial" panose="020B0604020202020204" pitchFamily="34" charset="0"/>
              <a:buChar char="•"/>
            </a:pPr>
            <a:endParaRPr lang="es-ES" sz="1600" dirty="0">
              <a:latin typeface="Calibri" charset="0"/>
              <a:ea typeface="Calibri" charset="0"/>
              <a:cs typeface="Calibri" charset="0"/>
            </a:endParaRPr>
          </a:p>
          <a:p>
            <a:pPr marL="184150" indent="-173038">
              <a:buClr>
                <a:schemeClr val="accent2"/>
              </a:buClr>
              <a:buFont typeface="Arial" panose="020B0604020202020204" pitchFamily="34" charset="0"/>
              <a:buChar char="•"/>
            </a:pPr>
            <a:r>
              <a:rPr lang="es-ES" sz="1600" dirty="0">
                <a:latin typeface="Calibri" charset="0"/>
                <a:ea typeface="Calibri" charset="0"/>
                <a:cs typeface="Calibri" charset="0"/>
              </a:rPr>
              <a:t>Ejemplo de Implementación de </a:t>
            </a:r>
            <a:r>
              <a:rPr lang="es-ES" sz="1600" dirty="0" err="1">
                <a:latin typeface="Calibri" charset="0"/>
                <a:ea typeface="Calibri" charset="0"/>
                <a:cs typeface="Calibri" charset="0"/>
              </a:rPr>
              <a:t>ResultSetExtractor</a:t>
            </a:r>
            <a:r>
              <a:rPr lang="es-ES" sz="1600" dirty="0">
                <a:latin typeface="Calibri" charset="0"/>
                <a:ea typeface="Calibri" charset="0"/>
                <a:cs typeface="Calibri"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3" name="Rectángulo 2">
            <a:extLst>
              <a:ext uri="{FF2B5EF4-FFF2-40B4-BE49-F238E27FC236}">
                <a16:creationId xmlns:a16="http://schemas.microsoft.com/office/drawing/2014/main" id="{09F93F49-7898-6D85-560A-C4ECD9398BC8}"/>
              </a:ext>
            </a:extLst>
          </p:cNvPr>
          <p:cNvSpPr/>
          <p:nvPr/>
        </p:nvSpPr>
        <p:spPr>
          <a:xfrm>
            <a:off x="503238" y="912813"/>
            <a:ext cx="8172450" cy="432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4" name="Google Shape;144;p15"/>
          <p:cNvSpPr txBox="1"/>
          <p:nvPr/>
        </p:nvSpPr>
        <p:spPr>
          <a:xfrm>
            <a:off x="734336" y="1117437"/>
            <a:ext cx="6720014" cy="38471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public class UserResultSetExtractor implements ResultSetExtractor&lt;List&lt;User&gt;&gt; {</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@Override</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public List&lt;User&gt; extractData(ResultSet rs) throws SQLException, DataAccessException {</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List&lt;User&gt; users = new ArrayList&lt;&gt;();</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while (rs.next()) {</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User user = new User();</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user.setId(rs.getInt("id"));</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user.setName(rs.getString("name"));</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user.setEmail(rs.getString("email"));</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users.add(user);</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return users;</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endParaRPr sz="1200" dirty="0">
              <a:solidFill>
                <a:schemeClr val="tx1"/>
              </a:solidFill>
              <a:latin typeface="Graphik Regular" panose="020B0503030202060203" pitchFamily="34" charset="77"/>
              <a:sym typeface="Arial"/>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Uso de ResultSetExtractor en JdbcTemplate</a:t>
            </a:r>
            <a:endParaRPr sz="1200" dirty="0">
              <a:solidFill>
                <a:schemeClr val="tx1"/>
              </a:solidFill>
              <a:latin typeface="Graphik Regular" panose="020B0503030202060203" pitchFamily="34" charset="77"/>
              <a:sym typeface="Arial"/>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public List&lt;User&gt; getAllUsers() {</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String sql = "SELECT * FROM users";</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    return jdbcTemplate.query(sql, new UserResultSetExtractor());</a:t>
            </a:r>
            <a:endParaRPr sz="1200" dirty="0">
              <a:solidFill>
                <a:schemeClr val="tx1"/>
              </a:solidFill>
              <a:latin typeface="Graphik Regular" panose="020B0503030202060203" pitchFamily="34" charset="77"/>
            </a:endParaRPr>
          </a:p>
          <a:p>
            <a:pPr marL="0" marR="0" lvl="0" indent="0" algn="l" rtl="0">
              <a:spcBef>
                <a:spcPts val="0"/>
              </a:spcBef>
              <a:spcAft>
                <a:spcPts val="0"/>
              </a:spcAft>
              <a:buNone/>
            </a:pPr>
            <a:r>
              <a:rPr lang="es-PE" sz="1200" dirty="0">
                <a:solidFill>
                  <a:schemeClr val="tx1"/>
                </a:solidFill>
                <a:latin typeface="Graphik Regular" panose="020B0503030202060203" pitchFamily="34" charset="77"/>
                <a:sym typeface="Arial"/>
              </a:rPr>
              <a:t>}</a:t>
            </a:r>
            <a:endParaRPr sz="1200" dirty="0">
              <a:solidFill>
                <a:schemeClr val="tx1"/>
              </a:solidFill>
              <a:latin typeface="Graphik Regular" panose="020B0503030202060203" pitchFamily="34" charset="77"/>
            </a:endParaRPr>
          </a:p>
        </p:txBody>
      </p:sp>
      <p:sp>
        <p:nvSpPr>
          <p:cNvPr id="2" name="Rectangle 5">
            <a:extLst>
              <a:ext uri="{FF2B5EF4-FFF2-40B4-BE49-F238E27FC236}">
                <a16:creationId xmlns:a16="http://schemas.microsoft.com/office/drawing/2014/main" id="{749781BD-9DEC-B7F6-102B-793C132D7C2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4" name="Rectángulo 3">
            <a:extLst>
              <a:ext uri="{FF2B5EF4-FFF2-40B4-BE49-F238E27FC236}">
                <a16:creationId xmlns:a16="http://schemas.microsoft.com/office/drawing/2014/main" id="{6A4715F3-24BB-6BB6-1C08-9505BF760980}"/>
              </a:ext>
            </a:extLst>
          </p:cNvPr>
          <p:cNvSpPr/>
          <p:nvPr/>
        </p:nvSpPr>
        <p:spPr>
          <a:xfrm>
            <a:off x="503238" y="1349477"/>
            <a:ext cx="8172450" cy="3884511"/>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1" name="Google Shape;151;p16"/>
          <p:cNvSpPr txBox="1"/>
          <p:nvPr/>
        </p:nvSpPr>
        <p:spPr>
          <a:xfrm>
            <a:off x="509345" y="921277"/>
            <a:ext cx="6193798"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tx1"/>
                </a:solidFill>
                <a:highlight>
                  <a:srgbClr val="FFFFFF"/>
                </a:highlight>
                <a:latin typeface="Calibri" panose="020F0502020204030204" pitchFamily="34" charset="0"/>
                <a:cs typeface="Calibri" panose="020F0502020204030204" pitchFamily="34" charset="0"/>
                <a:sym typeface="Arial"/>
              </a:rPr>
              <a:t>EJEMPLO DE CONFIGURACIÓN DE SPRING JDBC</a:t>
            </a:r>
            <a:endParaRPr lang="es-PE" sz="1800" dirty="0">
              <a:solidFill>
                <a:schemeClr val="tx1"/>
              </a:solidFill>
              <a:latin typeface="Calibri" panose="020F0502020204030204" pitchFamily="34" charset="0"/>
              <a:ea typeface="Calibri"/>
              <a:cs typeface="Calibri" panose="020F0502020204030204" pitchFamily="34" charset="0"/>
              <a:sym typeface="Calibri"/>
            </a:endParaRPr>
          </a:p>
        </p:txBody>
      </p:sp>
      <p:pic>
        <p:nvPicPr>
          <p:cNvPr id="152" name="Google Shape;152;p16"/>
          <p:cNvPicPr preferRelativeResize="0"/>
          <p:nvPr/>
        </p:nvPicPr>
        <p:blipFill rotWithShape="1">
          <a:blip r:embed="rId3">
            <a:alphaModFix/>
          </a:blip>
          <a:srcRect t="1897" b="1695"/>
          <a:stretch/>
        </p:blipFill>
        <p:spPr>
          <a:xfrm>
            <a:off x="1366963" y="1445343"/>
            <a:ext cx="6406759" cy="3679724"/>
          </a:xfrm>
          <a:prstGeom prst="rect">
            <a:avLst/>
          </a:prstGeom>
          <a:noFill/>
          <a:ln>
            <a:noFill/>
          </a:ln>
        </p:spPr>
      </p:pic>
      <p:sp>
        <p:nvSpPr>
          <p:cNvPr id="2" name="Rectangle 5">
            <a:extLst>
              <a:ext uri="{FF2B5EF4-FFF2-40B4-BE49-F238E27FC236}">
                <a16:creationId xmlns:a16="http://schemas.microsoft.com/office/drawing/2014/main" id="{94EA4BEA-0AA1-B19E-7D1A-298892ADB71A}"/>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4" name="Rectángulo 3">
            <a:extLst>
              <a:ext uri="{FF2B5EF4-FFF2-40B4-BE49-F238E27FC236}">
                <a16:creationId xmlns:a16="http://schemas.microsoft.com/office/drawing/2014/main" id="{3D7CEF4A-7042-DF20-0652-7AC0E30803C4}"/>
              </a:ext>
            </a:extLst>
          </p:cNvPr>
          <p:cNvSpPr/>
          <p:nvPr/>
        </p:nvSpPr>
        <p:spPr>
          <a:xfrm>
            <a:off x="503238" y="1909916"/>
            <a:ext cx="8172450" cy="3324072"/>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0" name="Google Shape;160;p17"/>
          <p:cNvSpPr txBox="1"/>
          <p:nvPr/>
        </p:nvSpPr>
        <p:spPr>
          <a:xfrm>
            <a:off x="509344" y="921277"/>
            <a:ext cx="7371349" cy="815608"/>
          </a:xfrm>
          <a:prstGeom prst="rect">
            <a:avLst/>
          </a:prstGeom>
          <a:noFill/>
          <a:ln>
            <a:noFill/>
          </a:ln>
        </p:spPr>
        <p:txBody>
          <a:bodyPr spcFirstLastPara="1" wrap="square" lIns="0" tIns="0" rIns="0" bIns="0" anchor="t" anchorCtr="0">
            <a:spAutoFit/>
          </a:bodyPr>
          <a:lstStyle/>
          <a:p>
            <a:pPr>
              <a:spcAft>
                <a:spcPts val="600"/>
              </a:spcAft>
              <a:buClr>
                <a:srgbClr val="374151"/>
              </a:buClr>
              <a:buSzPts val="1600"/>
            </a:pPr>
            <a:r>
              <a:rPr lang="es-PE" sz="1600" b="1" dirty="0">
                <a:solidFill>
                  <a:schemeClr val="tx1"/>
                </a:solidFill>
                <a:highlight>
                  <a:srgbClr val="FFFFFF"/>
                </a:highlight>
                <a:latin typeface="Calibri" panose="020F0502020204030204" pitchFamily="34" charset="0"/>
                <a:cs typeface="Calibri" panose="020F0502020204030204" pitchFamily="34" charset="0"/>
                <a:sym typeface="Arial"/>
              </a:rPr>
              <a:t>CONFIGURACIÓN DE DATASOURCE PARA INTEGRACIÓN</a:t>
            </a:r>
            <a:endParaRPr lang="es-PE" sz="1600" dirty="0">
              <a:solidFill>
                <a:schemeClr val="tx1"/>
              </a:solidFill>
              <a:latin typeface="Calibri" panose="020F0502020204030204" pitchFamily="34" charset="0"/>
              <a:cs typeface="Calibri" panose="020F0502020204030204" pitchFamily="34" charset="0"/>
              <a:sym typeface="Arial"/>
            </a:endParaRPr>
          </a:p>
          <a:p>
            <a:pPr marL="182563" marR="0" lvl="0" indent="-182563" algn="l" rtl="0">
              <a:spcBef>
                <a:spcPts val="0"/>
              </a:spcBef>
              <a:spcAft>
                <a:spcPts val="0"/>
              </a:spcAft>
              <a:buClr>
                <a:schemeClr val="tx1"/>
              </a:buClr>
              <a:buSzPts val="1600"/>
              <a:buFont typeface="Arial" panose="020B0604020202020204" pitchFamily="34" charset="0"/>
              <a:buChar char="•"/>
            </a:pPr>
            <a:r>
              <a:rPr lang="es-PE" sz="1600" dirty="0">
                <a:solidFill>
                  <a:schemeClr val="tx1"/>
                </a:solidFill>
                <a:latin typeface="Calibri" panose="020F0502020204030204" pitchFamily="34" charset="0"/>
                <a:cs typeface="Calibri" panose="020F0502020204030204" pitchFamily="34" charset="0"/>
                <a:sym typeface="Arial"/>
              </a:rPr>
              <a:t>Configuración de un DataSource común para Spring MVC y Spring JDBC.</a:t>
            </a:r>
            <a:endParaRPr sz="1600" dirty="0">
              <a:solidFill>
                <a:schemeClr val="tx1"/>
              </a:solidFill>
              <a:latin typeface="Calibri" panose="020F0502020204030204" pitchFamily="34" charset="0"/>
              <a:cs typeface="Calibri" panose="020F0502020204030204" pitchFamily="34" charset="0"/>
            </a:endParaRPr>
          </a:p>
          <a:p>
            <a:pPr marL="182563" marR="0" lvl="0" indent="-182563" algn="l" rtl="0">
              <a:spcBef>
                <a:spcPts val="0"/>
              </a:spcBef>
              <a:spcAft>
                <a:spcPts val="0"/>
              </a:spcAft>
              <a:buClr>
                <a:schemeClr val="tx1"/>
              </a:buClr>
              <a:buSzPts val="1600"/>
              <a:buFont typeface="Arial" panose="020B0604020202020204" pitchFamily="34" charset="0"/>
              <a:buChar char="•"/>
            </a:pPr>
            <a:r>
              <a:rPr lang="es-PE" sz="1600" dirty="0">
                <a:solidFill>
                  <a:schemeClr val="tx1"/>
                </a:solidFill>
                <a:latin typeface="Calibri" panose="020F0502020204030204" pitchFamily="34" charset="0"/>
                <a:cs typeface="Calibri" panose="020F0502020204030204" pitchFamily="34" charset="0"/>
                <a:sym typeface="Arial"/>
              </a:rPr>
              <a:t>Ejemplo de configuración en Java.</a:t>
            </a:r>
            <a:endParaRPr sz="1600" dirty="0">
              <a:solidFill>
                <a:schemeClr val="tx1"/>
              </a:solidFill>
              <a:latin typeface="Calibri" panose="020F0502020204030204" pitchFamily="34" charset="0"/>
              <a:cs typeface="Calibri" panose="020F0502020204030204" pitchFamily="34" charset="0"/>
              <a:sym typeface="Arial"/>
            </a:endParaRPr>
          </a:p>
        </p:txBody>
      </p:sp>
      <p:pic>
        <p:nvPicPr>
          <p:cNvPr id="161" name="Google Shape;161;p17"/>
          <p:cNvPicPr preferRelativeResize="0"/>
          <p:nvPr/>
        </p:nvPicPr>
        <p:blipFill rotWithShape="1">
          <a:blip r:embed="rId3">
            <a:alphaModFix/>
          </a:blip>
          <a:srcRect/>
          <a:stretch/>
        </p:blipFill>
        <p:spPr>
          <a:xfrm>
            <a:off x="936082" y="2174729"/>
            <a:ext cx="7281767" cy="2831799"/>
          </a:xfrm>
          <a:prstGeom prst="rect">
            <a:avLst/>
          </a:prstGeom>
          <a:noFill/>
          <a:ln>
            <a:noFill/>
          </a:ln>
        </p:spPr>
      </p:pic>
      <p:sp>
        <p:nvSpPr>
          <p:cNvPr id="2" name="Rectangle 5">
            <a:extLst>
              <a:ext uri="{FF2B5EF4-FFF2-40B4-BE49-F238E27FC236}">
                <a16:creationId xmlns:a16="http://schemas.microsoft.com/office/drawing/2014/main" id="{0A2B0855-E5CD-4E60-C27D-F1995967726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4" name="Rectángulo 3">
            <a:extLst>
              <a:ext uri="{FF2B5EF4-FFF2-40B4-BE49-F238E27FC236}">
                <a16:creationId xmlns:a16="http://schemas.microsoft.com/office/drawing/2014/main" id="{234D7B7B-F255-C32C-8561-54BF7C470DA3}"/>
              </a:ext>
            </a:extLst>
          </p:cNvPr>
          <p:cNvSpPr/>
          <p:nvPr/>
        </p:nvSpPr>
        <p:spPr>
          <a:xfrm>
            <a:off x="503238" y="1909916"/>
            <a:ext cx="8172450" cy="3324072"/>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9" name="Google Shape;169;p18"/>
          <p:cNvSpPr txBox="1"/>
          <p:nvPr/>
        </p:nvSpPr>
        <p:spPr>
          <a:xfrm>
            <a:off x="509344" y="921277"/>
            <a:ext cx="7371349" cy="815608"/>
          </a:xfrm>
          <a:prstGeom prst="rect">
            <a:avLst/>
          </a:prstGeom>
          <a:noFill/>
          <a:ln>
            <a:noFill/>
          </a:ln>
        </p:spPr>
        <p:txBody>
          <a:bodyPr spcFirstLastPara="1" wrap="square" lIns="0" tIns="0" rIns="0" bIns="0" anchor="t" anchorCtr="0">
            <a:spAutoFit/>
          </a:bodyPr>
          <a:lstStyle/>
          <a:p>
            <a:pPr>
              <a:spcAft>
                <a:spcPts val="600"/>
              </a:spcAft>
              <a:buClr>
                <a:srgbClr val="374151"/>
              </a:buClr>
              <a:buSzPts val="1600"/>
            </a:pPr>
            <a:r>
              <a:rPr lang="es-PE" sz="1600" b="1" dirty="0">
                <a:solidFill>
                  <a:schemeClr val="tx1"/>
                </a:solidFill>
                <a:highlight>
                  <a:srgbClr val="FFFFFF"/>
                </a:highlight>
                <a:latin typeface="Calibri" panose="020F0502020204030204" pitchFamily="34" charset="0"/>
                <a:cs typeface="Calibri" panose="020F0502020204030204" pitchFamily="34" charset="0"/>
                <a:sym typeface="Arial"/>
              </a:rPr>
              <a:t>CONFIGURACIÓN DE SPRING MVC CON SPRING JDBC</a:t>
            </a:r>
            <a:endParaRPr lang="es-PE" sz="1600" dirty="0">
              <a:solidFill>
                <a:schemeClr val="tx1"/>
              </a:solidFill>
              <a:latin typeface="Calibri" panose="020F0502020204030204" pitchFamily="34" charset="0"/>
              <a:cs typeface="Calibri" panose="020F0502020204030204" pitchFamily="34" charset="0"/>
              <a:sym typeface="Arial"/>
            </a:endParaRPr>
          </a:p>
          <a:p>
            <a:pPr marL="182563" marR="0" lvl="0" indent="-182563" algn="l" rtl="0">
              <a:spcBef>
                <a:spcPts val="0"/>
              </a:spcBef>
              <a:spcAft>
                <a:spcPts val="0"/>
              </a:spcAft>
              <a:buClr>
                <a:schemeClr val="tx1"/>
              </a:buClr>
              <a:buSzPts val="1600"/>
              <a:buFont typeface="Arial" panose="020B0604020202020204" pitchFamily="34" charset="0"/>
              <a:buChar char="•"/>
            </a:pPr>
            <a:r>
              <a:rPr lang="es-PE" sz="1600" dirty="0">
                <a:solidFill>
                  <a:schemeClr val="tx1"/>
                </a:solidFill>
                <a:latin typeface="Calibri" panose="020F0502020204030204" pitchFamily="34" charset="0"/>
                <a:cs typeface="Calibri" panose="020F0502020204030204" pitchFamily="34" charset="0"/>
                <a:sym typeface="Arial"/>
              </a:rPr>
              <a:t>Configuración de Spring MVC para utilizar Spring JDBC en controladores.</a:t>
            </a:r>
            <a:endParaRPr sz="1600" dirty="0">
              <a:solidFill>
                <a:schemeClr val="tx1"/>
              </a:solidFill>
              <a:latin typeface="Calibri" panose="020F0502020204030204" pitchFamily="34" charset="0"/>
              <a:cs typeface="Calibri" panose="020F0502020204030204" pitchFamily="34" charset="0"/>
            </a:endParaRPr>
          </a:p>
          <a:p>
            <a:pPr marL="182563" marR="0" lvl="0" indent="-182563" algn="l" rtl="0">
              <a:spcBef>
                <a:spcPts val="0"/>
              </a:spcBef>
              <a:spcAft>
                <a:spcPts val="0"/>
              </a:spcAft>
              <a:buClr>
                <a:schemeClr val="tx1"/>
              </a:buClr>
              <a:buSzPts val="1600"/>
              <a:buFont typeface="Arial" panose="020B0604020202020204" pitchFamily="34" charset="0"/>
              <a:buChar char="•"/>
            </a:pPr>
            <a:r>
              <a:rPr lang="es-PE" sz="1600" dirty="0">
                <a:solidFill>
                  <a:schemeClr val="tx1"/>
                </a:solidFill>
                <a:latin typeface="Calibri" panose="020F0502020204030204" pitchFamily="34" charset="0"/>
                <a:cs typeface="Calibri" panose="020F0502020204030204" pitchFamily="34" charset="0"/>
                <a:sym typeface="Arial"/>
              </a:rPr>
              <a:t>Ejemplo de integración en un controlador.</a:t>
            </a:r>
            <a:endParaRPr sz="1600" dirty="0">
              <a:solidFill>
                <a:schemeClr val="tx1"/>
              </a:solidFill>
              <a:latin typeface="Calibri" panose="020F0502020204030204" pitchFamily="34" charset="0"/>
              <a:cs typeface="Calibri" panose="020F0502020204030204" pitchFamily="34" charset="0"/>
              <a:sym typeface="Arial"/>
            </a:endParaRPr>
          </a:p>
        </p:txBody>
      </p:sp>
      <p:pic>
        <p:nvPicPr>
          <p:cNvPr id="170" name="Google Shape;170;p18"/>
          <p:cNvPicPr preferRelativeResize="0"/>
          <p:nvPr/>
        </p:nvPicPr>
        <p:blipFill rotWithShape="1">
          <a:blip r:embed="rId3">
            <a:alphaModFix/>
          </a:blip>
          <a:srcRect/>
          <a:stretch/>
        </p:blipFill>
        <p:spPr>
          <a:xfrm>
            <a:off x="893699" y="2082069"/>
            <a:ext cx="7371349" cy="3004436"/>
          </a:xfrm>
          <a:prstGeom prst="rect">
            <a:avLst/>
          </a:prstGeom>
          <a:noFill/>
          <a:ln>
            <a:noFill/>
          </a:ln>
        </p:spPr>
      </p:pic>
      <p:sp>
        <p:nvSpPr>
          <p:cNvPr id="2" name="Rectangle 5">
            <a:extLst>
              <a:ext uri="{FF2B5EF4-FFF2-40B4-BE49-F238E27FC236}">
                <a16:creationId xmlns:a16="http://schemas.microsoft.com/office/drawing/2014/main" id="{7B8FCA38-9620-17A8-D00E-5AA3A9DB19D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4" name="Rectángulo 3">
            <a:extLst>
              <a:ext uri="{FF2B5EF4-FFF2-40B4-BE49-F238E27FC236}">
                <a16:creationId xmlns:a16="http://schemas.microsoft.com/office/drawing/2014/main" id="{73C13CC2-8B00-35A0-21AC-6490A9360C70}"/>
              </a:ext>
            </a:extLst>
          </p:cNvPr>
          <p:cNvSpPr/>
          <p:nvPr/>
        </p:nvSpPr>
        <p:spPr>
          <a:xfrm>
            <a:off x="503238" y="2232991"/>
            <a:ext cx="8172450" cy="30009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8" name="Google Shape;178;p19"/>
          <p:cNvSpPr txBox="1"/>
          <p:nvPr/>
        </p:nvSpPr>
        <p:spPr>
          <a:xfrm>
            <a:off x="509344" y="921277"/>
            <a:ext cx="7371300" cy="815608"/>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PE" sz="1600" b="1" dirty="0">
                <a:solidFill>
                  <a:schemeClr val="tx1"/>
                </a:solidFill>
                <a:highlight>
                  <a:srgbClr val="FFFFFF"/>
                </a:highlight>
                <a:latin typeface="Calibri"/>
                <a:ea typeface="Calibri"/>
                <a:cs typeface="Calibri"/>
                <a:sym typeface="Calibri"/>
              </a:rPr>
              <a:t>MANEJO DE TRANSACCIONES EN LA INTEGRACIÓN</a:t>
            </a:r>
            <a:endParaRPr lang="es-PE" sz="1600" dirty="0">
              <a:solidFill>
                <a:schemeClr val="tx1"/>
              </a:solidFill>
              <a:latin typeface="Calibri"/>
              <a:ea typeface="Calibri"/>
              <a:cs typeface="Calibri"/>
              <a:sym typeface="Calibri"/>
            </a:endParaRPr>
          </a:p>
          <a:p>
            <a:pPr marL="182563" marR="0" lvl="0" indent="-182563" algn="l" rtl="0">
              <a:spcBef>
                <a:spcPts val="0"/>
              </a:spcBef>
              <a:spcAft>
                <a:spcPts val="0"/>
              </a:spcAft>
              <a:buClr>
                <a:srgbClr val="374151"/>
              </a:buClr>
              <a:buSzPts val="1600"/>
              <a:buFont typeface="Arial" panose="020B0604020202020204" pitchFamily="34" charset="0"/>
              <a:buChar char="•"/>
            </a:pPr>
            <a:r>
              <a:rPr lang="es-PE" sz="1600" dirty="0">
                <a:solidFill>
                  <a:schemeClr val="tx1"/>
                </a:solidFill>
                <a:latin typeface="Calibri"/>
                <a:ea typeface="Calibri"/>
                <a:cs typeface="Calibri"/>
                <a:sym typeface="Calibri"/>
              </a:rPr>
              <a:t>Uso de @Transactional en aplicaciones que integran Spring MVC y Spring JDBC.</a:t>
            </a:r>
            <a:endParaRPr sz="1600" dirty="0">
              <a:solidFill>
                <a:schemeClr val="tx1"/>
              </a:solidFill>
              <a:latin typeface="Calibri"/>
              <a:ea typeface="Calibri"/>
              <a:cs typeface="Calibri"/>
              <a:sym typeface="Calibri"/>
            </a:endParaRPr>
          </a:p>
          <a:p>
            <a:pPr marL="182563" marR="0" lvl="0" indent="-182563" algn="l" rtl="0">
              <a:spcBef>
                <a:spcPts val="0"/>
              </a:spcBef>
              <a:spcAft>
                <a:spcPts val="0"/>
              </a:spcAft>
              <a:buClr>
                <a:srgbClr val="374151"/>
              </a:buClr>
              <a:buSzPts val="1600"/>
              <a:buFont typeface="Arial" panose="020B0604020202020204" pitchFamily="34" charset="0"/>
              <a:buChar char="•"/>
            </a:pPr>
            <a:r>
              <a:rPr lang="es-PE" sz="1600" dirty="0">
                <a:solidFill>
                  <a:schemeClr val="tx1"/>
                </a:solidFill>
                <a:latin typeface="Calibri"/>
                <a:ea typeface="Calibri"/>
                <a:cs typeface="Calibri"/>
                <a:sym typeface="Calibri"/>
              </a:rPr>
              <a:t>Ejemplo de transacción en un controlador.</a:t>
            </a:r>
            <a:endParaRPr sz="1600" dirty="0">
              <a:solidFill>
                <a:schemeClr val="tx1"/>
              </a:solidFill>
              <a:latin typeface="Calibri"/>
              <a:ea typeface="Calibri"/>
              <a:cs typeface="Calibri"/>
              <a:sym typeface="Calibri"/>
            </a:endParaRPr>
          </a:p>
        </p:txBody>
      </p:sp>
      <p:sp>
        <p:nvSpPr>
          <p:cNvPr id="179" name="Google Shape;179;p19"/>
          <p:cNvSpPr txBox="1"/>
          <p:nvPr/>
        </p:nvSpPr>
        <p:spPr>
          <a:xfrm>
            <a:off x="884096" y="2485978"/>
            <a:ext cx="7425016" cy="25237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200" dirty="0">
                <a:solidFill>
                  <a:schemeClr val="tx1"/>
                </a:solidFill>
                <a:latin typeface="Calibri"/>
                <a:ea typeface="Calibri"/>
                <a:cs typeface="Calibri"/>
                <a:sym typeface="Calibri"/>
              </a:rPr>
              <a:t>@Controller</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public class OrderController {</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@Autowired</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private JdbcTemplate jdbcTemplate;</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@Transactional</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@RequestMapping("/order")</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public String placeOrder(@RequestParam("productId") int productId, @RequestParam("quantity") int quantity) {</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jdbcTemplate.update("UPDATE products SET stock = stock - ? WHERE id = ?", quantity, productId);</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jdbcTemplate.update("INSERT INTO orders (product_id, quantity) VALUES (?, ?)", productId, quantity);</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return "orderSuccess";</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    }</a:t>
            </a:r>
            <a:endParaRPr sz="1200"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tx1"/>
                </a:solidFill>
                <a:latin typeface="Calibri"/>
                <a:ea typeface="Calibri"/>
                <a:cs typeface="Calibri"/>
                <a:sym typeface="Calibri"/>
              </a:rPr>
              <a:t>}</a:t>
            </a:r>
            <a:endParaRPr sz="1200" dirty="0">
              <a:solidFill>
                <a:schemeClr val="tx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31E6559E-99E9-78A0-BD85-3F87F4FB652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4" name="Rectángulo 3">
            <a:extLst>
              <a:ext uri="{FF2B5EF4-FFF2-40B4-BE49-F238E27FC236}">
                <a16:creationId xmlns:a16="http://schemas.microsoft.com/office/drawing/2014/main" id="{B4974B79-A0A7-C0C7-84E8-FB5C6FC0C1E1}"/>
              </a:ext>
            </a:extLst>
          </p:cNvPr>
          <p:cNvSpPr/>
          <p:nvPr/>
        </p:nvSpPr>
        <p:spPr>
          <a:xfrm>
            <a:off x="503238" y="2232991"/>
            <a:ext cx="8172450" cy="30009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87" name="Google Shape;187;p20"/>
          <p:cNvSpPr txBox="1"/>
          <p:nvPr/>
        </p:nvSpPr>
        <p:spPr>
          <a:xfrm>
            <a:off x="509344" y="921277"/>
            <a:ext cx="7403166" cy="1061829"/>
          </a:xfrm>
          <a:prstGeom prst="rect">
            <a:avLst/>
          </a:prstGeom>
          <a:noFill/>
          <a:ln>
            <a:noFill/>
          </a:ln>
        </p:spPr>
        <p:txBody>
          <a:bodyPr spcFirstLastPara="1" wrap="square" lIns="0" tIns="0" rIns="0" bIns="0" anchor="t" anchorCtr="0">
            <a:spAutoFit/>
          </a:bodyPr>
          <a:lstStyle/>
          <a:p>
            <a:pPr>
              <a:spcAft>
                <a:spcPts val="600"/>
              </a:spcAft>
              <a:buClr>
                <a:srgbClr val="374151"/>
              </a:buClr>
              <a:buSzPts val="1600"/>
            </a:pPr>
            <a:r>
              <a:rPr lang="es-PE" sz="1600" b="1" dirty="0">
                <a:solidFill>
                  <a:schemeClr val="tx1"/>
                </a:solidFill>
                <a:highlight>
                  <a:srgbClr val="FFFFFF"/>
                </a:highlight>
                <a:latin typeface="Calibri"/>
                <a:ea typeface="Calibri"/>
                <a:cs typeface="Calibri"/>
                <a:sym typeface="Calibri"/>
              </a:rPr>
              <a:t>MANEJO DE EXCEPCIONES EN LA INTEGRACIÓN</a:t>
            </a:r>
            <a:endParaRPr lang="es-PE" sz="1600" dirty="0">
              <a:solidFill>
                <a:schemeClr val="tx1"/>
              </a:solidFill>
              <a:latin typeface="Calibri"/>
              <a:ea typeface="Calibri"/>
              <a:cs typeface="Calibri"/>
              <a:sym typeface="Calibri"/>
            </a:endParaRPr>
          </a:p>
          <a:p>
            <a:pPr marL="182563" marR="0" lvl="0" indent="-182563" algn="l" rtl="0">
              <a:spcBef>
                <a:spcPts val="0"/>
              </a:spcBef>
              <a:spcAft>
                <a:spcPts val="0"/>
              </a:spcAft>
              <a:buClr>
                <a:srgbClr val="374151"/>
              </a:buClr>
              <a:buSzPts val="1600"/>
              <a:buFont typeface="Arial" panose="020B0604020202020204" pitchFamily="34" charset="0"/>
              <a:buChar char="•"/>
            </a:pPr>
            <a:r>
              <a:rPr lang="es-PE" sz="1600" dirty="0">
                <a:solidFill>
                  <a:schemeClr val="tx1"/>
                </a:solidFill>
                <a:latin typeface="Calibri"/>
                <a:ea typeface="Calibri"/>
                <a:cs typeface="Calibri"/>
                <a:sym typeface="Calibri"/>
              </a:rPr>
              <a:t>Configuración de manejo de excepciones en una aplicación que utiliza Spring MVC y Spring JDBC.</a:t>
            </a:r>
            <a:endParaRPr sz="1600" dirty="0">
              <a:solidFill>
                <a:schemeClr val="tx1"/>
              </a:solidFill>
              <a:latin typeface="Calibri"/>
              <a:ea typeface="Calibri"/>
              <a:cs typeface="Calibri"/>
              <a:sym typeface="Calibri"/>
            </a:endParaRPr>
          </a:p>
          <a:p>
            <a:pPr marL="182563" marR="0" lvl="0" indent="-182563" algn="l" rtl="0">
              <a:spcBef>
                <a:spcPts val="0"/>
              </a:spcBef>
              <a:spcAft>
                <a:spcPts val="0"/>
              </a:spcAft>
              <a:buClr>
                <a:srgbClr val="374151"/>
              </a:buClr>
              <a:buSzPts val="1600"/>
              <a:buFont typeface="Arial" panose="020B0604020202020204" pitchFamily="34" charset="0"/>
              <a:buChar char="•"/>
            </a:pPr>
            <a:r>
              <a:rPr lang="es-PE" sz="1600" dirty="0">
                <a:solidFill>
                  <a:schemeClr val="tx1"/>
                </a:solidFill>
                <a:latin typeface="Calibri"/>
                <a:ea typeface="Calibri"/>
                <a:cs typeface="Calibri"/>
                <a:sym typeface="Calibri"/>
              </a:rPr>
              <a:t>Ejemplo de manejo de excepciones en un controlador.</a:t>
            </a:r>
            <a:endParaRPr sz="1600" dirty="0">
              <a:solidFill>
                <a:schemeClr val="tx1"/>
              </a:solidFill>
              <a:latin typeface="Calibri"/>
              <a:ea typeface="Calibri"/>
              <a:cs typeface="Calibri"/>
              <a:sym typeface="Calibri"/>
            </a:endParaRPr>
          </a:p>
        </p:txBody>
      </p:sp>
      <p:sp>
        <p:nvSpPr>
          <p:cNvPr id="188" name="Google Shape;188;p20"/>
          <p:cNvSpPr txBox="1"/>
          <p:nvPr/>
        </p:nvSpPr>
        <p:spPr>
          <a:xfrm>
            <a:off x="2288588" y="2332538"/>
            <a:ext cx="4572000" cy="2801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600" dirty="0">
                <a:solidFill>
                  <a:schemeClr val="tx1"/>
                </a:solidFill>
                <a:latin typeface="Calibri"/>
                <a:ea typeface="Calibri"/>
                <a:cs typeface="Calibri"/>
                <a:sym typeface="Calibri"/>
              </a:rPr>
              <a:t>@ControllerAdvice</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public class GlobalExceptionHandler {</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    @ExceptionHandler(Exception.class)</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    public ModelAndView handleException(Exception ex) {</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        ModelAndView mav = new ModelAndView("error");</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        mav.addObject("message", ex.getMessage());</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        return mav;</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    }</a:t>
            </a:r>
            <a:endParaRPr dirty="0">
              <a:solidFill>
                <a:schemeClr val="tx1"/>
              </a:solidFill>
              <a:latin typeface="Calibri"/>
              <a:ea typeface="Calibri"/>
              <a:cs typeface="Calibri"/>
              <a:sym typeface="Calibri"/>
            </a:endParaRPr>
          </a:p>
          <a:p>
            <a:pPr marL="0" marR="0" lvl="0" indent="0" algn="l" rtl="0">
              <a:spcBef>
                <a:spcPts val="0"/>
              </a:spcBef>
              <a:spcAft>
                <a:spcPts val="0"/>
              </a:spcAft>
              <a:buNone/>
            </a:pPr>
            <a:r>
              <a:rPr lang="es-PE" sz="1600" dirty="0">
                <a:solidFill>
                  <a:schemeClr val="tx1"/>
                </a:solidFill>
                <a:latin typeface="Calibri"/>
                <a:ea typeface="Calibri"/>
                <a:cs typeface="Calibri"/>
                <a:sym typeface="Calibri"/>
              </a:rPr>
              <a:t>}</a:t>
            </a:r>
            <a:endParaRPr dirty="0">
              <a:solidFill>
                <a:schemeClr val="tx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842D2DB5-32D5-A4AC-E200-F64F966FB6F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SPRING JDBC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210825054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object 7"/>
          <p:cNvSpPr txBox="1"/>
          <p:nvPr/>
        </p:nvSpPr>
        <p:spPr>
          <a:xfrm>
            <a:off x="1279545" y="912813"/>
            <a:ext cx="5705454" cy="1077218"/>
          </a:xfrm>
          <a:prstGeom prst="rect">
            <a:avLst/>
          </a:prstGeom>
        </p:spPr>
        <p:txBody>
          <a:bodyPr vert="horz" wrap="square" lIns="0" tIns="0" rIns="0" bIns="0" rtlCol="0">
            <a:spAutoFit/>
          </a:bodyPr>
          <a:lstStyle/>
          <a:p>
            <a:pPr lvl="0"/>
            <a:r>
              <a:rPr lang="es-PE" sz="1400" dirty="0">
                <a:latin typeface="Calibri" charset="0"/>
                <a:ea typeface="Calibri" charset="0"/>
                <a:cs typeface="Calibri" charset="0"/>
              </a:rPr>
              <a:t>La integración de Spring MVC con Spring JDBC permite desarrollar aplicaciones web robustas y eficientes.</a:t>
            </a:r>
          </a:p>
          <a:p>
            <a:pPr lvl="0"/>
            <a:endParaRPr lang="es-PE" sz="1400" dirty="0">
              <a:latin typeface="Calibri" charset="0"/>
              <a:ea typeface="Calibri" charset="0"/>
              <a:cs typeface="Calibri" charset="0"/>
            </a:endParaRPr>
          </a:p>
          <a:p>
            <a:pPr lvl="0"/>
            <a:r>
              <a:rPr lang="es-PE" sz="1400" dirty="0">
                <a:latin typeface="Calibri" charset="0"/>
                <a:ea typeface="Calibri" charset="0"/>
                <a:cs typeface="Calibri" charset="0"/>
              </a:rPr>
              <a:t>Proporciona una forma simplificada de manejar la lógica de negocio y el acceso a datos en una sola aplicación.</a:t>
            </a: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pic>
        <p:nvPicPr>
          <p:cNvPr id="15" name="Imagen 14"/>
          <p:cNvPicPr>
            <a:picLocks noChangeAspect="1"/>
          </p:cNvPicPr>
          <p:nvPr/>
        </p:nvPicPr>
        <p:blipFill>
          <a:blip r:embed="rId3"/>
          <a:stretch>
            <a:fillRect/>
          </a:stretch>
        </p:blipFill>
        <p:spPr>
          <a:xfrm>
            <a:off x="1011260" y="1603808"/>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2" name="Imagen 1"/>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spTree>
    <p:extLst>
      <p:ext uri="{BB962C8B-B14F-4D97-AF65-F5344CB8AC3E}">
        <p14:creationId xmlns:p14="http://schemas.microsoft.com/office/powerpoint/2010/main" val="203418434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0"/>
            <a:ext cx="9144000" cy="5715000"/>
          </a:xfrm>
          <a:prstGeom prst="rect">
            <a:avLst/>
          </a:prstGeom>
          <a:solidFill>
            <a:srgbClr val="8DCB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CuadroTexto 6">
            <a:extLst>
              <a:ext uri="{FF2B5EF4-FFF2-40B4-BE49-F238E27FC236}">
                <a16:creationId xmlns:a16="http://schemas.microsoft.com/office/drawing/2014/main" id="{4C9F27E8-E0F0-CF48-B2E7-A2617B9B1DEA}"/>
              </a:ext>
            </a:extLst>
          </p:cNvPr>
          <p:cNvSpPr txBox="1"/>
          <p:nvPr/>
        </p:nvSpPr>
        <p:spPr>
          <a:xfrm>
            <a:off x="2519363"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BIBLIOGRAFÍA</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6" name="Imagen 5">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528619" y="2194222"/>
            <a:ext cx="202176" cy="208211"/>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6970"/>
            <a:ext cx="2072061" cy="3898064"/>
          </a:xfrm>
          <a:prstGeom prst="rect">
            <a:avLst/>
          </a:prstGeom>
        </p:spPr>
      </p:pic>
    </p:spTree>
    <p:extLst>
      <p:ext uri="{BB962C8B-B14F-4D97-AF65-F5344CB8AC3E}">
        <p14:creationId xmlns:p14="http://schemas.microsoft.com/office/powerpoint/2010/main" val="59667659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 name="object 7"/>
          <p:cNvSpPr txBox="1"/>
          <p:nvPr/>
        </p:nvSpPr>
        <p:spPr>
          <a:xfrm>
            <a:off x="1279009" y="917823"/>
            <a:ext cx="4774320" cy="1508105"/>
          </a:xfrm>
          <a:prstGeom prst="rect">
            <a:avLst/>
          </a:prstGeom>
        </p:spPr>
        <p:txBody>
          <a:bodyPr vert="horz" wrap="square" lIns="0" tIns="0" rIns="0" bIns="0" rtlCol="0">
            <a:spAutoFit/>
          </a:bodyPr>
          <a:lstStyle/>
          <a:p>
            <a:r>
              <a:rPr lang="es-ES" sz="1400" dirty="0">
                <a:latin typeface="Calibri" charset="0"/>
                <a:ea typeface="Calibri" charset="0"/>
                <a:cs typeface="Calibri" charset="0"/>
              </a:rPr>
              <a:t>Sierra, K., &amp; Bates, B. OCA/OCP Java SE 7 </a:t>
            </a:r>
            <a:r>
              <a:rPr lang="es-ES" sz="1400" dirty="0" err="1">
                <a:latin typeface="Calibri" charset="0"/>
                <a:ea typeface="Calibri" charset="0"/>
                <a:cs typeface="Calibri" charset="0"/>
              </a:rPr>
              <a:t>Programmer</a:t>
            </a:r>
            <a:r>
              <a:rPr lang="es-ES" sz="1400" dirty="0">
                <a:latin typeface="Calibri" charset="0"/>
                <a:ea typeface="Calibri" charset="0"/>
                <a:cs typeface="Calibri" charset="0"/>
              </a:rPr>
              <a:t> I y II </a:t>
            </a:r>
            <a:r>
              <a:rPr lang="es-ES" sz="1400" dirty="0" err="1">
                <a:latin typeface="Calibri" charset="0"/>
                <a:ea typeface="Calibri" charset="0"/>
                <a:cs typeface="Calibri" charset="0"/>
              </a:rPr>
              <a:t>Study</a:t>
            </a:r>
            <a:r>
              <a:rPr lang="es-ES" sz="1400" dirty="0">
                <a:latin typeface="Calibri" charset="0"/>
                <a:ea typeface="Calibri" charset="0"/>
                <a:cs typeface="Calibri" charset="0"/>
              </a:rPr>
              <a:t> Guide (</a:t>
            </a:r>
            <a:r>
              <a:rPr lang="es-ES" sz="1400" dirty="0" err="1">
                <a:latin typeface="Calibri" charset="0"/>
                <a:ea typeface="Calibri" charset="0"/>
                <a:cs typeface="Calibri" charset="0"/>
              </a:rPr>
              <a:t>Exams</a:t>
            </a:r>
            <a:r>
              <a:rPr lang="es-ES" sz="1400" dirty="0">
                <a:latin typeface="Calibri" charset="0"/>
                <a:ea typeface="Calibri" charset="0"/>
                <a:cs typeface="Calibri" charset="0"/>
              </a:rPr>
              <a:t> 1Z0-803 y 1Z0-804).</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Professional Java </a:t>
            </a:r>
            <a:r>
              <a:rPr lang="es-ES" sz="1400" dirty="0" err="1">
                <a:latin typeface="Calibri" charset="0"/>
                <a:ea typeface="Calibri" charset="0"/>
                <a:cs typeface="Calibri" charset="0"/>
              </a:rPr>
              <a:t>for</a:t>
            </a:r>
            <a:r>
              <a:rPr lang="es-ES" sz="1400" dirty="0">
                <a:latin typeface="Calibri" charset="0"/>
                <a:ea typeface="Calibri" charset="0"/>
                <a:cs typeface="Calibri" charset="0"/>
              </a:rPr>
              <a:t> Web </a:t>
            </a:r>
            <a:r>
              <a:rPr lang="es-ES" sz="1400" dirty="0" err="1">
                <a:latin typeface="Calibri" charset="0"/>
                <a:ea typeface="Calibri" charset="0"/>
                <a:cs typeface="Calibri" charset="0"/>
              </a:rPr>
              <a:t>Applications</a:t>
            </a:r>
            <a:r>
              <a:rPr lang="es-ES" sz="1400" dirty="0">
                <a:latin typeface="Calibri" charset="0"/>
                <a:ea typeface="Calibri" charset="0"/>
                <a:cs typeface="Calibri" charset="0"/>
              </a:rPr>
              <a:t>.</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Spring Framework </a:t>
            </a:r>
            <a:r>
              <a:rPr lang="es-ES" sz="1400" dirty="0" err="1">
                <a:latin typeface="Calibri" charset="0"/>
                <a:ea typeface="Calibri" charset="0"/>
                <a:cs typeface="Calibri" charset="0"/>
              </a:rPr>
              <a:t>Documentation</a:t>
            </a:r>
            <a:r>
              <a:rPr lang="es-ES" sz="1400" dirty="0">
                <a:latin typeface="Calibri" charset="0"/>
                <a:ea typeface="Calibri" charset="0"/>
                <a:cs typeface="Calibri" charset="0"/>
              </a:rPr>
              <a:t>: https://</a:t>
            </a:r>
            <a:r>
              <a:rPr lang="es-ES" sz="1400" dirty="0" err="1">
                <a:latin typeface="Calibri" charset="0"/>
                <a:ea typeface="Calibri" charset="0"/>
                <a:cs typeface="Calibri" charset="0"/>
              </a:rPr>
              <a:t>spring.io</a:t>
            </a:r>
            <a:r>
              <a:rPr lang="es-ES" sz="1400" dirty="0">
                <a:latin typeface="Calibri" charset="0"/>
                <a:ea typeface="Calibri" charset="0"/>
                <a:cs typeface="Calibri" charset="0"/>
              </a:rPr>
              <a:t>/</a:t>
            </a:r>
            <a:r>
              <a:rPr lang="es-ES" sz="1400" dirty="0" err="1">
                <a:latin typeface="Calibri" charset="0"/>
                <a:ea typeface="Calibri" charset="0"/>
                <a:cs typeface="Calibri" charset="0"/>
              </a:rPr>
              <a:t>projects</a:t>
            </a:r>
            <a:r>
              <a:rPr lang="es-ES" sz="1400" dirty="0">
                <a:latin typeface="Calibri" charset="0"/>
                <a:ea typeface="Calibri" charset="0"/>
                <a:cs typeface="Calibri" charset="0"/>
              </a:rPr>
              <a:t>/</a:t>
            </a:r>
            <a:r>
              <a:rPr lang="es-ES" sz="1400" dirty="0" err="1">
                <a:latin typeface="Calibri" charset="0"/>
                <a:ea typeface="Calibri" charset="0"/>
                <a:cs typeface="Calibri" charset="0"/>
              </a:rPr>
              <a:t>spring-framework</a:t>
            </a:r>
            <a:endParaRPr lang="es-ES" sz="1400" dirty="0">
              <a:latin typeface="Calibri" charset="0"/>
              <a:ea typeface="Calibri" charset="0"/>
              <a:cs typeface="Calibri" charset="0"/>
            </a:endParaRPr>
          </a:p>
        </p:txBody>
      </p:sp>
      <p:pic>
        <p:nvPicPr>
          <p:cNvPr id="9" name="Imagen 8"/>
          <p:cNvPicPr>
            <a:picLocks noChangeAspect="1"/>
          </p:cNvPicPr>
          <p:nvPr/>
        </p:nvPicPr>
        <p:blipFill>
          <a:blip r:embed="rId2"/>
          <a:stretch>
            <a:fillRect/>
          </a:stretch>
        </p:blipFill>
        <p:spPr>
          <a:xfrm>
            <a:off x="1008064" y="959114"/>
            <a:ext cx="103867" cy="106967"/>
          </a:xfrm>
          <a:prstGeom prst="rect">
            <a:avLst/>
          </a:prstGeom>
        </p:spPr>
      </p:pic>
      <p:pic>
        <p:nvPicPr>
          <p:cNvPr id="14" name="Imagen 13">
            <a:extLst>
              <a:ext uri="{FF2B5EF4-FFF2-40B4-BE49-F238E27FC236}">
                <a16:creationId xmlns:a16="http://schemas.microsoft.com/office/drawing/2014/main" id="{D0016DFD-D096-A245-9591-9C15FD675265}"/>
              </a:ext>
            </a:extLst>
          </p:cNvPr>
          <p:cNvPicPr>
            <a:picLocks noChangeAspect="1"/>
          </p:cNvPicPr>
          <p:nvPr/>
        </p:nvPicPr>
        <p:blipFill>
          <a:blip r:embed="rId2"/>
          <a:stretch>
            <a:fillRect/>
          </a:stretch>
        </p:blipFill>
        <p:spPr>
          <a:xfrm>
            <a:off x="1008064" y="1620119"/>
            <a:ext cx="103867" cy="106967"/>
          </a:xfrm>
          <a:prstGeom prst="rect">
            <a:avLst/>
          </a:prstGeom>
        </p:spPr>
      </p:pic>
      <p:sp>
        <p:nvSpPr>
          <p:cNvPr id="19" name="Rectángulo 18"/>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6985000" y="3036889"/>
            <a:ext cx="1690688" cy="2197100"/>
          </a:xfrm>
          <a:prstGeom prst="rect">
            <a:avLst/>
          </a:prstGeom>
        </p:spPr>
      </p:pic>
      <p:sp>
        <p:nvSpPr>
          <p:cNvPr id="8"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BIBLIOGRAFÍA</a:t>
            </a:r>
          </a:p>
        </p:txBody>
      </p:sp>
      <p:pic>
        <p:nvPicPr>
          <p:cNvPr id="5" name="Imagen 4">
            <a:extLst>
              <a:ext uri="{FF2B5EF4-FFF2-40B4-BE49-F238E27FC236}">
                <a16:creationId xmlns:a16="http://schemas.microsoft.com/office/drawing/2014/main" id="{1B134A8C-9F02-6279-103E-08FBF39CE342}"/>
              </a:ext>
            </a:extLst>
          </p:cNvPr>
          <p:cNvPicPr>
            <a:picLocks noChangeAspect="1"/>
          </p:cNvPicPr>
          <p:nvPr/>
        </p:nvPicPr>
        <p:blipFill>
          <a:blip r:embed="rId2"/>
          <a:stretch>
            <a:fillRect/>
          </a:stretch>
        </p:blipFill>
        <p:spPr>
          <a:xfrm>
            <a:off x="1008064" y="2045534"/>
            <a:ext cx="103867" cy="106967"/>
          </a:xfrm>
          <a:prstGeom prst="rect">
            <a:avLst/>
          </a:prstGeom>
        </p:spPr>
      </p:pic>
    </p:spTree>
    <p:extLst>
      <p:ext uri="{BB962C8B-B14F-4D97-AF65-F5344CB8AC3E}">
        <p14:creationId xmlns:p14="http://schemas.microsoft.com/office/powerpoint/2010/main" val="174240112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23541635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theme/theme1.xml><?xml version="1.0" encoding="utf-8"?>
<a:theme xmlns:a="http://schemas.openxmlformats.org/drawingml/2006/main" name="Office Theme">
  <a:themeElements>
    <a:clrScheme name="Personalizados 4 ISIL">
      <a:dk1>
        <a:srgbClr val="000000"/>
      </a:dk1>
      <a:lt1>
        <a:srgbClr val="FFFFFF"/>
      </a:lt1>
      <a:dk2>
        <a:srgbClr val="1F497D"/>
      </a:dk2>
      <a:lt2>
        <a:srgbClr val="EEECE1"/>
      </a:lt2>
      <a:accent1>
        <a:srgbClr val="FDC212"/>
      </a:accent1>
      <a:accent2>
        <a:srgbClr val="EE4638"/>
      </a:accent2>
      <a:accent3>
        <a:srgbClr val="92C14E"/>
      </a:accent3>
      <a:accent4>
        <a:srgbClr val="FE7828"/>
      </a:accent4>
      <a:accent5>
        <a:srgbClr val="00B1C2"/>
      </a:accent5>
      <a:accent6>
        <a:srgbClr val="808799"/>
      </a:accent6>
      <a:hlink>
        <a:srgbClr val="7150A0"/>
      </a:hlink>
      <a:folHlink>
        <a:srgbClr val="00B1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1419</Words>
  <Application>Microsoft Office PowerPoint</Application>
  <PresentationFormat>Presentación en pantalla (16:10)</PresentationFormat>
  <Paragraphs>173</Paragraphs>
  <Slides>26</Slides>
  <Notes>21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Arial</vt:lpstr>
      <vt:lpstr>Calibri</vt:lpstr>
      <vt:lpstr>Graphik Bold</vt:lpstr>
      <vt:lpstr>Graphik Regular</vt:lpstr>
      <vt:lpstr>Graphik-Medium</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Medalith Luzquiños Ancaya</cp:lastModifiedBy>
  <cp:revision>3</cp:revision>
  <dcterms:created xsi:type="dcterms:W3CDTF">2016-10-06T14:52:02Z</dcterms:created>
  <dcterms:modified xsi:type="dcterms:W3CDTF">2024-10-18T12:35:34Z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