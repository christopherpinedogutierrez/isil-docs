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662" r:id="rId2"/>
    <p:sldId id="627" r:id="rId3"/>
    <p:sldId id="628" r:id="rId4"/>
    <p:sldId id="742" r:id="rId5"/>
    <p:sldId id="259" r:id="rId6"/>
    <p:sldId id="260" r:id="rId7"/>
    <p:sldId id="261" r:id="rId8"/>
    <p:sldId id="262" r:id="rId9"/>
    <p:sldId id="263" r:id="rId10"/>
    <p:sldId id="74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588" r:id="rId19"/>
    <p:sldId id="589" r:id="rId20"/>
    <p:sldId id="590" r:id="rId21"/>
    <p:sldId id="591" r:id="rId22"/>
    <p:sldId id="593" r:id="rId23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3" pos="317">
          <p15:clr>
            <a:srgbClr val="A4A3A4"/>
          </p15:clr>
        </p15:guide>
        <p15:guide id="4" orient="horz" pos="152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yLm656685KqaLRDSRAPem8VdE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01"/>
    <p:restoredTop sz="94728"/>
  </p:normalViewPr>
  <p:slideViewPr>
    <p:cSldViewPr snapToGrid="0">
      <p:cViewPr varScale="1">
        <p:scale>
          <a:sx n="102" d="100"/>
          <a:sy n="102" d="100"/>
        </p:scale>
        <p:origin x="108" y="444"/>
      </p:cViewPr>
      <p:guideLst>
        <p:guide pos="317"/>
        <p:guide orient="horz" pos="15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431DC42-303B-F545-9789-3724F9E9776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72701D-0A84-0448-9BAF-91437343CCCB}"/>
              </a:ext>
            </a:extLst>
          </p:cNvPr>
          <p:cNvSpPr txBox="1"/>
          <p:nvPr userDrawn="1"/>
        </p:nvSpPr>
        <p:spPr>
          <a:xfrm>
            <a:off x="876300" y="5343295"/>
            <a:ext cx="3227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GESTIÓN DE PROCESOS, SIMULACIÓN Y MEJORA CONTINUA</a:t>
            </a:r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SESIÓN 01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0D14F7-6E9D-9E40-BFFD-243BDDA8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3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55C4905-BB1D-10CD-653F-07861A4E8E28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F292424-A444-F85B-070B-9C76BC6FFC00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10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6B8C2A-F252-B080-BCFA-A26D8247E70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575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317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3297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8" y="2177570"/>
            <a:ext cx="3168111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dirty="0">
                <a:latin typeface="Graphik Medium" panose="020B0503030202060203" pitchFamily="34" charset="77"/>
                <a:ea typeface="Graphik-Medium" charset="0"/>
                <a:cs typeface="Graphik-Medium" charset="0"/>
              </a:rPr>
              <a:t>GESTIÓN DE </a:t>
            </a:r>
          </a:p>
          <a:p>
            <a:pPr>
              <a:lnSpc>
                <a:spcPct val="90000"/>
              </a:lnSpc>
            </a:pPr>
            <a:r>
              <a:rPr lang="es-PE" sz="32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CONSULTAS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420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lvl="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Eficiencia</a:t>
            </a:r>
          </a:p>
          <a:p>
            <a:pPr marL="177800" lvl="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Transacciones con Spring JDBC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10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8" y="918372"/>
            <a:ext cx="5521727" cy="4093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cs typeface="Calibri" charset="0"/>
              </a:rPr>
              <a:t>La gestión de consultas en Spring JDBC se refiere al proceso de ejecutar y manejar consultas SQL de manera eficiente utilizando el framework Spring. 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Spring JDBC proporciona una abstracción sobre JDBC, facilitando la ejecución de consultas sin necesidad de escribir código boilerplate para la gestión de conexiones, manejo de excepciones y procesamiento de resultados. En esta sesión conoceremos los conceptos:</a:t>
            </a:r>
          </a:p>
          <a:p>
            <a:endParaRPr lang="es-PE" sz="1400" b="1" dirty="0">
              <a:latin typeface="Calibri" charset="0"/>
              <a:cs typeface="Calibri" charset="0"/>
            </a:endParaRP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JdbcTemplate</a:t>
            </a: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Una clase central en Spring JDBC que simplifica la ejecución de sentencias SQL y la interacción con bases de datos.</a:t>
            </a: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endParaRPr lang="es-ES_tradnl" sz="1400" spc="-1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NamedParameterJdbcTemplate</a:t>
            </a: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Extensión de </a:t>
            </a:r>
            <a:r>
              <a:rPr lang="es-ES_tradnl" sz="1400" spc="-1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JdbcTemplate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 que permite el uso de parámetros con nombre, mejorando la legibilidad y mantenibilidad del código.</a:t>
            </a: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endParaRPr lang="es-ES_tradnl" sz="1400" spc="-1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RowMapper</a:t>
            </a: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 y </a:t>
            </a:r>
            <a:r>
              <a:rPr lang="es-ES_tradnl" sz="1400" b="1" spc="-10" dirty="0" err="1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ResultSetExtractor</a:t>
            </a: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Interfaces que facilitan el mapeo de resultados de consultas a objetos Java, permitiendo un procesamiento más intuitivo y personalizado de los datos.</a:t>
            </a: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endParaRPr lang="es-ES_tradnl" sz="1400" spc="-1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162113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EFICIENCIA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510010" y="920268"/>
            <a:ext cx="814373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IMPORTANCIA DE LA EFICIENCIA EN LA EJECUCIÓN DE CONSULTAS: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b="0" i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eficiencia en la ejecución de consultas es crucial para el rendimiento general de una aplicación. Consultas mal optimizadas pueden llevar a tiempos de respuesta lentos, sobrecarga en el servidor de bases de datos y una experiencia de usuario deficiente. Utilizar Spring JDBC mejora la eficiencia mediante: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857CAA0-82BB-E683-2E3A-51AF4377D6F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98AC06B-E320-0E8B-16AC-F9700633C8DD}"/>
              </a:ext>
            </a:extLst>
          </p:cNvPr>
          <p:cNvCxnSpPr>
            <a:cxnSpLocks/>
          </p:cNvCxnSpPr>
          <p:nvPr/>
        </p:nvCxnSpPr>
        <p:spPr>
          <a:xfrm>
            <a:off x="722046" y="2254054"/>
            <a:ext cx="0" cy="47451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FC3E5943-10A1-9D99-73A3-9E8253E4B8EF}"/>
              </a:ext>
            </a:extLst>
          </p:cNvPr>
          <p:cNvGrpSpPr/>
          <p:nvPr/>
        </p:nvGrpSpPr>
        <p:grpSpPr>
          <a:xfrm>
            <a:off x="645704" y="2065814"/>
            <a:ext cx="6281870" cy="430887"/>
            <a:chOff x="645704" y="1517176"/>
            <a:chExt cx="6281870" cy="430887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B682939-6BE1-0E20-3B3E-F424E1F426AF}"/>
                </a:ext>
              </a:extLst>
            </p:cNvPr>
            <p:cNvSpPr/>
            <p:nvPr/>
          </p:nvSpPr>
          <p:spPr>
            <a:xfrm>
              <a:off x="936447" y="1517176"/>
              <a:ext cx="5991127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REDUCCIÓN DEL CÓDIGO BOILERPLATE:</a:t>
              </a:r>
            </a:p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Menos código permite centrarse en la lógica de negocio.</a:t>
              </a:r>
              <a:endParaRPr lang="es-E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Más 7">
              <a:extLst>
                <a:ext uri="{FF2B5EF4-FFF2-40B4-BE49-F238E27FC236}">
                  <a16:creationId xmlns:a16="http://schemas.microsoft.com/office/drawing/2014/main" id="{E626197D-1543-7ACF-B859-32EE0AE75C6D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4E22C5D1-A429-23A7-8CDB-D4AB5534A1D2}"/>
              </a:ext>
            </a:extLst>
          </p:cNvPr>
          <p:cNvGrpSpPr/>
          <p:nvPr/>
        </p:nvGrpSpPr>
        <p:grpSpPr>
          <a:xfrm>
            <a:off x="645704" y="2753002"/>
            <a:ext cx="6281870" cy="646331"/>
            <a:chOff x="645704" y="1517176"/>
            <a:chExt cx="6281870" cy="646331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B622B119-7501-F832-2EFB-A3BD8CE49CD8}"/>
                </a:ext>
              </a:extLst>
            </p:cNvPr>
            <p:cNvSpPr/>
            <p:nvPr/>
          </p:nvSpPr>
          <p:spPr>
            <a:xfrm>
              <a:off x="936447" y="1517176"/>
              <a:ext cx="5991127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MANEJO AUTOMÁTICO DE RECURSOS:</a:t>
              </a:r>
            </a:p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Spring JDBC gestiona automáticamente la apertura y cierre de conexiones, </a:t>
              </a:r>
              <a:r>
                <a:rPr lang="es-ES" sz="14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statements</a:t>
              </a: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y </a:t>
              </a:r>
              <a:r>
                <a:rPr lang="es-ES" sz="14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resultsets</a:t>
              </a: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, evitando fugas de recursos.</a:t>
              </a:r>
              <a:endParaRPr lang="es-E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0410881C-1770-53A5-5EDF-DE2F3DA080D9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40857A-3814-91E1-AEC5-161022B5C646}"/>
              </a:ext>
            </a:extLst>
          </p:cNvPr>
          <p:cNvGrpSpPr/>
          <p:nvPr/>
        </p:nvGrpSpPr>
        <p:grpSpPr>
          <a:xfrm>
            <a:off x="645704" y="3655634"/>
            <a:ext cx="7006885" cy="646331"/>
            <a:chOff x="645704" y="1517176"/>
            <a:chExt cx="7006885" cy="646331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8D5F6D03-90C9-0564-7178-9D37643DF5FB}"/>
                </a:ext>
              </a:extLst>
            </p:cNvPr>
            <p:cNvSpPr/>
            <p:nvPr/>
          </p:nvSpPr>
          <p:spPr>
            <a:xfrm>
              <a:off x="936447" y="1517176"/>
              <a:ext cx="6716142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MANEJO SIMPLIFICADO DE EXCEPCIONES:</a:t>
              </a:r>
            </a:p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La clase </a:t>
              </a:r>
              <a:r>
                <a:rPr lang="es-ES" sz="14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DataAccessException</a:t>
              </a: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proporciona un manejo uniforme y simplificado de las excepciones relacionadas con la base de datos.</a:t>
              </a:r>
              <a:endParaRPr lang="es-E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Más 13">
              <a:extLst>
                <a:ext uri="{FF2B5EF4-FFF2-40B4-BE49-F238E27FC236}">
                  <a16:creationId xmlns:a16="http://schemas.microsoft.com/office/drawing/2014/main" id="{0AF18611-D34D-E753-BD3E-86BE3EE3C86C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81F119A-B137-9F6F-5B38-7ADEE0F7E652}"/>
              </a:ext>
            </a:extLst>
          </p:cNvPr>
          <p:cNvGrpSpPr/>
          <p:nvPr/>
        </p:nvGrpSpPr>
        <p:grpSpPr>
          <a:xfrm>
            <a:off x="645704" y="4558266"/>
            <a:ext cx="6740934" cy="430887"/>
            <a:chOff x="645704" y="1517176"/>
            <a:chExt cx="6740934" cy="430887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C49E7AC-0420-4814-7108-1DF2C0CFE92C}"/>
                </a:ext>
              </a:extLst>
            </p:cNvPr>
            <p:cNvSpPr/>
            <p:nvPr/>
          </p:nvSpPr>
          <p:spPr>
            <a:xfrm>
              <a:off x="936447" y="1517176"/>
              <a:ext cx="6450191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OPTIMIZACIÓN DE CONSULTAS: </a:t>
              </a:r>
              <a:r>
                <a:rPr lang="es-ES" sz="14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Facilita la implementación de mejores prácticas como el uso de parámetros en consultas, optimización de índices y particionamiento de tablas.</a:t>
              </a:r>
              <a:endParaRPr lang="es-E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Más 16">
              <a:extLst>
                <a:ext uri="{FF2B5EF4-FFF2-40B4-BE49-F238E27FC236}">
                  <a16:creationId xmlns:a16="http://schemas.microsoft.com/office/drawing/2014/main" id="{442454D4-F5EE-EB6A-A7C1-5403A8B2E627}"/>
                </a:ext>
              </a:extLst>
            </p:cNvPr>
            <p:cNvSpPr/>
            <p:nvPr/>
          </p:nvSpPr>
          <p:spPr>
            <a:xfrm>
              <a:off x="645704" y="152694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822112C-76E9-DEF5-2D11-9C9C5756ACDB}"/>
              </a:ext>
            </a:extLst>
          </p:cNvPr>
          <p:cNvCxnSpPr>
            <a:cxnSpLocks/>
          </p:cNvCxnSpPr>
          <p:nvPr/>
        </p:nvCxnSpPr>
        <p:spPr>
          <a:xfrm>
            <a:off x="722046" y="2957408"/>
            <a:ext cx="0" cy="665345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134F5E9-E550-E1FC-F571-0F5200A08E08}"/>
              </a:ext>
            </a:extLst>
          </p:cNvPr>
          <p:cNvCxnSpPr>
            <a:cxnSpLocks/>
          </p:cNvCxnSpPr>
          <p:nvPr/>
        </p:nvCxnSpPr>
        <p:spPr>
          <a:xfrm>
            <a:off x="722046" y="3855110"/>
            <a:ext cx="0" cy="678036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E72661E-5189-760F-AEF5-7F96F38F0339}"/>
              </a:ext>
            </a:extLst>
          </p:cNvPr>
          <p:cNvSpPr/>
          <p:nvPr/>
        </p:nvSpPr>
        <p:spPr>
          <a:xfrm>
            <a:off x="503238" y="2079414"/>
            <a:ext cx="8172450" cy="315457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2" name="Google Shape;62;p5"/>
          <p:cNvSpPr txBox="1"/>
          <p:nvPr/>
        </p:nvSpPr>
        <p:spPr>
          <a:xfrm>
            <a:off x="510010" y="920268"/>
            <a:ext cx="75841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OPERACIONES CRUD CON SPRING JDBC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Ejemplos de operaciones CRUD (Crear, Leer, Actualizar, Eliminar) con Spring JDBC.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097" y="2151480"/>
            <a:ext cx="7279805" cy="303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ACD3420-B1E0-C204-0A83-AEF5B478176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510010" y="920268"/>
            <a:ext cx="7562419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chemeClr val="tx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BENEFICIOS DE USAR SPRING JDBC PARA CONSULTAS</a:t>
            </a: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80975" marR="0" lvl="0" indent="-1809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Reducción del código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boilerplate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>
              <a:solidFill>
                <a:schemeClr val="tx1"/>
              </a:solidFill>
            </a:endParaRPr>
          </a:p>
          <a:p>
            <a:pPr marL="180975" marR="0" lvl="0" indent="-1809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Manejo simplificado de excepciones.</a:t>
            </a:r>
            <a:endParaRPr sz="1600" dirty="0">
              <a:solidFill>
                <a:schemeClr val="tx1"/>
              </a:solidFill>
            </a:endParaRPr>
          </a:p>
          <a:p>
            <a:pPr marL="180975" marR="0" lvl="0" indent="-1809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Gestión automática de recursos.</a:t>
            </a:r>
            <a:endParaRPr sz="1600" dirty="0">
              <a:solidFill>
                <a:schemeClr val="tx1"/>
              </a:solidFill>
            </a:endParaRPr>
          </a:p>
          <a:p>
            <a:pPr marL="180975" marR="0" lvl="0" indent="-1809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Integración con otros componentes de Spring</a:t>
            </a: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i="0" dirty="0">
              <a:solidFill>
                <a:schemeClr val="tx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FD69611-4D22-7C6E-AFA3-F1540B3D04E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510010" y="920268"/>
            <a:ext cx="7562419" cy="358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MEJORES PRÁCTICAS PARA OPTIMIZAR CONSULTAS CON SPRING JDBC:</a:t>
            </a:r>
          </a:p>
          <a:p>
            <a:pPr>
              <a:spcAft>
                <a:spcPts val="600"/>
              </a:spcAft>
              <a:buClr>
                <a:schemeClr val="tx1"/>
              </a:buClr>
              <a:buSzPct val="100000"/>
            </a:pPr>
            <a:endParaRPr lang="es-ES"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es-E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Uso de </a:t>
            </a:r>
            <a:r>
              <a:rPr lang="es-ES" sz="1600" b="1" dirty="0" err="1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JdbcTemplate</a:t>
            </a:r>
            <a:r>
              <a:rPr lang="es-E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y </a:t>
            </a:r>
            <a:r>
              <a:rPr lang="es-ES" sz="1600" b="1" dirty="0" err="1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NamedParameterJdbcTemplate</a:t>
            </a:r>
            <a:r>
              <a:rPr lang="es-E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</a:t>
            </a:r>
          </a:p>
          <a:p>
            <a:pPr marL="357188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Facilitan la ejecución de consultas y manejo de parámetros, reduciendo el código repetitivo y mejorando la legibilidad.</a:t>
            </a:r>
            <a:endParaRPr lang="es-E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es-ES" sz="1600" b="1" dirty="0">
                <a:solidFill>
                  <a:schemeClr val="accent5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Optimización de Consultas SQL:</a:t>
            </a:r>
            <a:endParaRPr sz="1600" b="1" dirty="0">
              <a:solidFill>
                <a:schemeClr val="accent5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Uso de Índices: </a:t>
            </a: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Asegurarse de que las columnas utilizadas en las condiciones WHERE estén indexadas para mejorar el rendimiento de las consultas.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Consultas Pagadas: </a:t>
            </a:r>
            <a:r>
              <a:rPr lang="es-ES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Implementar paginación para limitar el número de resultados devueltos por las consultas, reduciendo la carga en la base de datos y mejorando la velocidad de respuesta.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09DC073-DED8-4CEC-0C2F-266EB459422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510010" y="920268"/>
            <a:ext cx="7562419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MEJORES PRÁCTICAS PARA OPTIMIZAR CONSULTAS CON SPRING JDBC: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100000"/>
            </a:pPr>
            <a:endParaRPr lang="es-ES" sz="1600" b="1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es-ES" sz="1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Gestión Eficiente de Conexiones:</a:t>
            </a: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de Conexiones: Utilizar un pool de conexiones para reutilizar conexiones existentes en lugar de abrir y cerrar nuevas conexiones repetidamente.</a:t>
            </a:r>
          </a:p>
          <a:p>
            <a:pPr marL="180975" marR="0" lvl="1" indent="-180975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ct val="100000"/>
            </a:pPr>
            <a:r>
              <a:rPr lang="es-ES" sz="1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Uso de </a:t>
            </a:r>
            <a:r>
              <a:rPr lang="es-ES" sz="1600" b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RowMapper</a:t>
            </a:r>
            <a:r>
              <a:rPr lang="es-ES" sz="1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ES" sz="1600" b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ResultSetExtractor</a:t>
            </a:r>
            <a:r>
              <a:rPr lang="es-ES" sz="16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600" b="1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6213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Facilitan la conversión de resultados de consultas en objetos Java, permitiendo un procesamiento más intuitivo y personalizado de los datos.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DA8CDBE-752A-3CDB-EE3A-E34742731D2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3563937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TRANSACCIONES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CON SPRING JDBC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3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/>
        </p:nvSpPr>
        <p:spPr>
          <a:xfrm>
            <a:off x="510010" y="920268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CONFIGURACIÓN INICIAL PARA LA GESTIÓN DE TRANSACCIONES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Configuración básica de Spring JDBC.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Uso de 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DataSourceTransactionManager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Ejemplo: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05" name="Google Shape;10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238" y="2414982"/>
            <a:ext cx="817245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A0967AB-CC30-AC27-5236-64E096081F9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1D38EFE-1E40-8B45-B22F-F649C7ED923C}"/>
              </a:ext>
            </a:extLst>
          </p:cNvPr>
          <p:cNvSpPr/>
          <p:nvPr/>
        </p:nvSpPr>
        <p:spPr>
          <a:xfrm>
            <a:off x="503238" y="2414016"/>
            <a:ext cx="8172450" cy="28199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3" name="Google Shape;113;p11"/>
          <p:cNvSpPr txBox="1"/>
          <p:nvPr/>
        </p:nvSpPr>
        <p:spPr>
          <a:xfrm>
            <a:off x="510010" y="920268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DECLARACIÓN DE TRANSACCIONES CON ANOTACIONES</a:t>
            </a:r>
            <a:endParaRPr lang="es-E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Uso de la anotación @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Transactional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para la gestión de transacciones.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Ejemplo de configuración de transacciones con anotaciones.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Ejemplo: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1672" y="2560814"/>
            <a:ext cx="4950181" cy="25488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6C0FC8A-9498-0FD8-3A56-2CFB6B77948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550D22A-4CB8-6DCE-0DEC-10AFEEECC312}"/>
              </a:ext>
            </a:extLst>
          </p:cNvPr>
          <p:cNvSpPr/>
          <p:nvPr/>
        </p:nvSpPr>
        <p:spPr>
          <a:xfrm>
            <a:off x="503238" y="2414016"/>
            <a:ext cx="8172450" cy="281997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2" name="Google Shape;122;p12"/>
          <p:cNvSpPr txBox="1"/>
          <p:nvPr/>
        </p:nvSpPr>
        <p:spPr>
          <a:xfrm>
            <a:off x="510009" y="920268"/>
            <a:ext cx="7895155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7200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GESTIÓN PROGRAMÁTICA DE TRANSACCIONES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Uso de la API de 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TransactionTemplate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para gestionar transacciones programáticamente..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Uso de 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DataSourceTransactionManager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Ejemplo: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23" name="Google Shape;12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5861" y="2528686"/>
            <a:ext cx="5512282" cy="26405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6BB54E64-5E99-A236-D021-2BAFCF485E82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/>
        </p:nvSpPr>
        <p:spPr>
          <a:xfrm>
            <a:off x="510010" y="920268"/>
            <a:ext cx="745895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MANEJO DE TRANSACCIONES DECLARATIVAS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Uso de @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Transactional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en métodos y clases.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Configuración de propiedades de transacciones como aislamiento y propagación.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Ejemplo: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239" y="2414016"/>
            <a:ext cx="8172450" cy="126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38BD22FD-A9E0-5A2A-177E-08780D26644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D9A7BFE-F986-4987-4525-059B484E0E06}"/>
              </a:ext>
            </a:extLst>
          </p:cNvPr>
          <p:cNvSpPr/>
          <p:nvPr/>
        </p:nvSpPr>
        <p:spPr>
          <a:xfrm>
            <a:off x="5193792" y="2425700"/>
            <a:ext cx="3481896" cy="280828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0" name="Google Shape;140;p14"/>
          <p:cNvSpPr txBox="1"/>
          <p:nvPr/>
        </p:nvSpPr>
        <p:spPr>
          <a:xfrm>
            <a:off x="510010" y="920268"/>
            <a:ext cx="8085350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EJEMPLO 1: GESTIÓN DE PEDIDOS EN UN SISTEMA DE COMERCIO ELECTRÓNICO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 un sistema de comercio electrónico, la gestión de pedidos involucra múltiples operaciones en la base de datos, como actualizar el inventario, registrar el pedido y procesar el pago.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Implementación:</a:t>
            </a:r>
            <a:endParaRPr sz="1600" b="1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7750" y="2963762"/>
            <a:ext cx="3105058" cy="16926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3C7390B-5B66-BA7F-6DF0-7D4ABD5E0D1B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F5C1E2-BE56-AB48-CB63-84949745DC55}"/>
              </a:ext>
            </a:extLst>
          </p:cNvPr>
          <p:cNvCxnSpPr>
            <a:cxnSpLocks/>
          </p:cNvCxnSpPr>
          <p:nvPr/>
        </p:nvCxnSpPr>
        <p:spPr>
          <a:xfrm>
            <a:off x="722046" y="2812316"/>
            <a:ext cx="0" cy="240083"/>
          </a:xfrm>
          <a:prstGeom prst="line">
            <a:avLst/>
          </a:prstGeom>
          <a:ln w="12700">
            <a:solidFill>
              <a:srgbClr val="00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E9E023CF-F0DC-BC96-551E-90CACCCBEAAE}"/>
              </a:ext>
            </a:extLst>
          </p:cNvPr>
          <p:cNvGrpSpPr/>
          <p:nvPr/>
        </p:nvGrpSpPr>
        <p:grpSpPr>
          <a:xfrm>
            <a:off x="645704" y="2570888"/>
            <a:ext cx="4596717" cy="246221"/>
            <a:chOff x="645704" y="2724506"/>
            <a:chExt cx="4596717" cy="24622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12EE0CA-3421-4ED1-F64C-C6D6FC2E59D2}"/>
                </a:ext>
              </a:extLst>
            </p:cNvPr>
            <p:cNvSpPr/>
            <p:nvPr/>
          </p:nvSpPr>
          <p:spPr>
            <a:xfrm>
              <a:off x="933466" y="2724506"/>
              <a:ext cx="430895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</a:pPr>
              <a:r>
                <a:rPr lang="es-ES" sz="1600" b="1" i="0" u="none" strike="noStrike" cap="none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Paso 1: 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Verificar la disponibilidad del inventario.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Más 9">
              <a:extLst>
                <a:ext uri="{FF2B5EF4-FFF2-40B4-BE49-F238E27FC236}">
                  <a16:creationId xmlns:a16="http://schemas.microsoft.com/office/drawing/2014/main" id="{B0A5587B-21F7-E39A-71F0-EB792E7E2B50}"/>
                </a:ext>
              </a:extLst>
            </p:cNvPr>
            <p:cNvSpPr/>
            <p:nvPr/>
          </p:nvSpPr>
          <p:spPr>
            <a:xfrm>
              <a:off x="645704" y="277283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576EBC6A-E44A-E223-84B6-FA67A0B97F79}"/>
              </a:ext>
            </a:extLst>
          </p:cNvPr>
          <p:cNvGrpSpPr/>
          <p:nvPr/>
        </p:nvGrpSpPr>
        <p:grpSpPr>
          <a:xfrm>
            <a:off x="645704" y="3052399"/>
            <a:ext cx="4387154" cy="246221"/>
            <a:chOff x="645704" y="3206017"/>
            <a:chExt cx="4387154" cy="24622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D18344F-AA7A-856D-B7C3-E54B71B4E205}"/>
                </a:ext>
              </a:extLst>
            </p:cNvPr>
            <p:cNvSpPr/>
            <p:nvPr/>
          </p:nvSpPr>
          <p:spPr>
            <a:xfrm>
              <a:off x="933467" y="3206017"/>
              <a:ext cx="4099391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</a:pPr>
              <a:r>
                <a:rPr lang="es-ES" sz="1600" b="1" i="0" u="none" strike="noStrike" cap="none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Paso 2: 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Registrar el pedido en la base de datos.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87A32FE3-BA4C-FFD7-E444-4986BC224E8C}"/>
                </a:ext>
              </a:extLst>
            </p:cNvPr>
            <p:cNvSpPr/>
            <p:nvPr/>
          </p:nvSpPr>
          <p:spPr>
            <a:xfrm>
              <a:off x="645704" y="325543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B5CA1C9-8938-696E-2E6A-24955EBA53DE}"/>
              </a:ext>
            </a:extLst>
          </p:cNvPr>
          <p:cNvCxnSpPr>
            <a:cxnSpLocks/>
          </p:cNvCxnSpPr>
          <p:nvPr/>
        </p:nvCxnSpPr>
        <p:spPr>
          <a:xfrm>
            <a:off x="722046" y="3787041"/>
            <a:ext cx="0" cy="240083"/>
          </a:xfrm>
          <a:prstGeom prst="line">
            <a:avLst/>
          </a:prstGeom>
          <a:ln w="12700">
            <a:solidFill>
              <a:srgbClr val="00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CE7726E-1A37-C2FB-CA2B-527B30A63903}"/>
              </a:ext>
            </a:extLst>
          </p:cNvPr>
          <p:cNvGrpSpPr/>
          <p:nvPr/>
        </p:nvGrpSpPr>
        <p:grpSpPr>
          <a:xfrm>
            <a:off x="645704" y="3533910"/>
            <a:ext cx="4292056" cy="246221"/>
            <a:chOff x="645704" y="3687528"/>
            <a:chExt cx="4292056" cy="246221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DA82E33-8C76-5953-B29D-043935E45942}"/>
                </a:ext>
              </a:extLst>
            </p:cNvPr>
            <p:cNvSpPr/>
            <p:nvPr/>
          </p:nvSpPr>
          <p:spPr>
            <a:xfrm>
              <a:off x="933466" y="3687528"/>
              <a:ext cx="4004294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</a:pPr>
              <a:r>
                <a:rPr lang="es-ES" sz="1600" b="1" i="0" u="none" strike="noStrike" cap="none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Paso 3: 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Procesar el pago del cliente.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Más 12">
              <a:extLst>
                <a:ext uri="{FF2B5EF4-FFF2-40B4-BE49-F238E27FC236}">
                  <a16:creationId xmlns:a16="http://schemas.microsoft.com/office/drawing/2014/main" id="{8B75F9C0-FC27-2F8D-F307-18BA603D64BD}"/>
                </a:ext>
              </a:extLst>
            </p:cNvPr>
            <p:cNvSpPr/>
            <p:nvPr/>
          </p:nvSpPr>
          <p:spPr>
            <a:xfrm>
              <a:off x="645704" y="3747561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A81A1CF-5F95-F0A9-2DD8-7A8C6773E6F1}"/>
              </a:ext>
            </a:extLst>
          </p:cNvPr>
          <p:cNvGrpSpPr/>
          <p:nvPr/>
        </p:nvGrpSpPr>
        <p:grpSpPr>
          <a:xfrm>
            <a:off x="645704" y="4015420"/>
            <a:ext cx="4703171" cy="246221"/>
            <a:chOff x="645704" y="4169038"/>
            <a:chExt cx="4703171" cy="24622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FC8A674B-A300-DB3A-F84E-DC61447B607F}"/>
                </a:ext>
              </a:extLst>
            </p:cNvPr>
            <p:cNvSpPr/>
            <p:nvPr/>
          </p:nvSpPr>
          <p:spPr>
            <a:xfrm>
              <a:off x="933467" y="4169038"/>
              <a:ext cx="4415408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</a:pPr>
              <a:r>
                <a:rPr lang="es-ES" sz="1600" b="1" i="0" u="none" strike="noStrike" cap="none" dirty="0">
                  <a:solidFill>
                    <a:schemeClr val="accent5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Paso 4: 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Confirmar y actualizar el inventario.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Más 13">
              <a:extLst>
                <a:ext uri="{FF2B5EF4-FFF2-40B4-BE49-F238E27FC236}">
                  <a16:creationId xmlns:a16="http://schemas.microsoft.com/office/drawing/2014/main" id="{79272200-EC18-D63A-E11E-4D9862C72AA5}"/>
                </a:ext>
              </a:extLst>
            </p:cNvPr>
            <p:cNvSpPr/>
            <p:nvPr/>
          </p:nvSpPr>
          <p:spPr>
            <a:xfrm>
              <a:off x="645704" y="421428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60B7695-3880-AF86-6B90-ABE4D6F252D3}"/>
              </a:ext>
            </a:extLst>
          </p:cNvPr>
          <p:cNvCxnSpPr>
            <a:cxnSpLocks/>
          </p:cNvCxnSpPr>
          <p:nvPr/>
        </p:nvCxnSpPr>
        <p:spPr>
          <a:xfrm>
            <a:off x="722046" y="3291741"/>
            <a:ext cx="0" cy="240083"/>
          </a:xfrm>
          <a:prstGeom prst="line">
            <a:avLst/>
          </a:prstGeom>
          <a:ln w="12700">
            <a:solidFill>
              <a:srgbClr val="00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449191E-D257-5F4A-B1B1-FB1D3CF5FBFF}"/>
              </a:ext>
            </a:extLst>
          </p:cNvPr>
          <p:cNvGrpSpPr/>
          <p:nvPr/>
        </p:nvGrpSpPr>
        <p:grpSpPr>
          <a:xfrm>
            <a:off x="645704" y="4483279"/>
            <a:ext cx="4703171" cy="246221"/>
            <a:chOff x="645704" y="4169038"/>
            <a:chExt cx="4703171" cy="246221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FBA54C5E-F877-CEF2-47E7-5E26DB1F8EEC}"/>
                </a:ext>
              </a:extLst>
            </p:cNvPr>
            <p:cNvSpPr/>
            <p:nvPr/>
          </p:nvSpPr>
          <p:spPr>
            <a:xfrm>
              <a:off x="933467" y="4169038"/>
              <a:ext cx="4415408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SzPct val="100000"/>
              </a:pP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Uso de @</a:t>
              </a:r>
              <a:r>
                <a:rPr lang="es-ES" sz="16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Transactional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Más 18">
              <a:extLst>
                <a:ext uri="{FF2B5EF4-FFF2-40B4-BE49-F238E27FC236}">
                  <a16:creationId xmlns:a16="http://schemas.microsoft.com/office/drawing/2014/main" id="{10AF04EB-689F-DD92-1160-0958AA5B16EB}"/>
                </a:ext>
              </a:extLst>
            </p:cNvPr>
            <p:cNvSpPr/>
            <p:nvPr/>
          </p:nvSpPr>
          <p:spPr>
            <a:xfrm>
              <a:off x="645704" y="421428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F6955CF4-0E32-2479-6F35-BD4D8A8D2B30}"/>
              </a:ext>
            </a:extLst>
          </p:cNvPr>
          <p:cNvCxnSpPr>
            <a:cxnSpLocks/>
          </p:cNvCxnSpPr>
          <p:nvPr/>
        </p:nvCxnSpPr>
        <p:spPr>
          <a:xfrm>
            <a:off x="722046" y="4245310"/>
            <a:ext cx="0" cy="240083"/>
          </a:xfrm>
          <a:prstGeom prst="line">
            <a:avLst/>
          </a:prstGeom>
          <a:ln w="12700">
            <a:solidFill>
              <a:srgbClr val="00B1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0D054A73-8A13-BEFE-F524-91A5E864EE75}"/>
              </a:ext>
            </a:extLst>
          </p:cNvPr>
          <p:cNvSpPr/>
          <p:nvPr/>
        </p:nvSpPr>
        <p:spPr>
          <a:xfrm>
            <a:off x="4392613" y="2516427"/>
            <a:ext cx="4283075" cy="217261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9" name="Google Shape;149;p15"/>
          <p:cNvSpPr txBox="1"/>
          <p:nvPr/>
        </p:nvSpPr>
        <p:spPr>
          <a:xfrm>
            <a:off x="510010" y="920268"/>
            <a:ext cx="8077500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EJEMPLO 2: TRANSFERENCIA DE FONDOS EN UN SISTEMA BANCARIO</a:t>
            </a:r>
            <a:endParaRPr lang="es-ES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 transferencias de fondos entre cuentas requieren que se debite una cuenta y se acredite otra de manera atómica.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Implementación:</a:t>
            </a:r>
            <a:endParaRPr sz="16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8109" y="2735882"/>
            <a:ext cx="4032489" cy="17080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95C1906-E1E2-0928-A630-8D46FF2562B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9D122F0-A664-DC47-7593-652D816A6E41}"/>
              </a:ext>
            </a:extLst>
          </p:cNvPr>
          <p:cNvCxnSpPr>
            <a:cxnSpLocks/>
          </p:cNvCxnSpPr>
          <p:nvPr/>
        </p:nvCxnSpPr>
        <p:spPr>
          <a:xfrm>
            <a:off x="722046" y="2812314"/>
            <a:ext cx="0" cy="24008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9A196EBC-1163-05D0-4ECF-BB2A8F6CC461}"/>
              </a:ext>
            </a:extLst>
          </p:cNvPr>
          <p:cNvGrpSpPr/>
          <p:nvPr/>
        </p:nvGrpSpPr>
        <p:grpSpPr>
          <a:xfrm>
            <a:off x="645704" y="2570886"/>
            <a:ext cx="4596717" cy="246221"/>
            <a:chOff x="645704" y="2724506"/>
            <a:chExt cx="4596717" cy="246221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6CFE34A-1583-E87B-959B-AC813D9BABD9}"/>
                </a:ext>
              </a:extLst>
            </p:cNvPr>
            <p:cNvSpPr/>
            <p:nvPr/>
          </p:nvSpPr>
          <p:spPr>
            <a:xfrm>
              <a:off x="933466" y="2724506"/>
              <a:ext cx="4308955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1" i="0" u="none" strike="noStrike" cap="none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Paso 1: 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Debitar la cuenta de origen.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Más 7">
              <a:extLst>
                <a:ext uri="{FF2B5EF4-FFF2-40B4-BE49-F238E27FC236}">
                  <a16:creationId xmlns:a16="http://schemas.microsoft.com/office/drawing/2014/main" id="{8BA93445-7EA8-ED43-33EB-073F26D5C17F}"/>
                </a:ext>
              </a:extLst>
            </p:cNvPr>
            <p:cNvSpPr/>
            <p:nvPr/>
          </p:nvSpPr>
          <p:spPr>
            <a:xfrm>
              <a:off x="645704" y="277283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BAA0A9D-68D6-113E-1B62-28C8A9AC0067}"/>
              </a:ext>
            </a:extLst>
          </p:cNvPr>
          <p:cNvGrpSpPr/>
          <p:nvPr/>
        </p:nvGrpSpPr>
        <p:grpSpPr>
          <a:xfrm>
            <a:off x="645704" y="3052397"/>
            <a:ext cx="4387154" cy="246221"/>
            <a:chOff x="645704" y="3206017"/>
            <a:chExt cx="4387154" cy="246221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F74BCDE-9C0A-1449-ACCF-60D73363E13B}"/>
                </a:ext>
              </a:extLst>
            </p:cNvPr>
            <p:cNvSpPr/>
            <p:nvPr/>
          </p:nvSpPr>
          <p:spPr>
            <a:xfrm>
              <a:off x="933467" y="3206017"/>
              <a:ext cx="4099391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1" i="0" u="none" strike="noStrike" cap="none" dirty="0">
                  <a:solidFill>
                    <a:schemeClr val="accent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Paso 2: 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Acreditar la cuenta de destino.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Más 10">
              <a:extLst>
                <a:ext uri="{FF2B5EF4-FFF2-40B4-BE49-F238E27FC236}">
                  <a16:creationId xmlns:a16="http://schemas.microsoft.com/office/drawing/2014/main" id="{A4934E59-3B0A-6F5C-FFC1-F90DFC58CA8A}"/>
                </a:ext>
              </a:extLst>
            </p:cNvPr>
            <p:cNvSpPr/>
            <p:nvPr/>
          </p:nvSpPr>
          <p:spPr>
            <a:xfrm>
              <a:off x="645704" y="325543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E932272-3CBD-C38A-1E1D-A767C646C52F}"/>
              </a:ext>
            </a:extLst>
          </p:cNvPr>
          <p:cNvGrpSpPr/>
          <p:nvPr/>
        </p:nvGrpSpPr>
        <p:grpSpPr>
          <a:xfrm>
            <a:off x="645704" y="3533908"/>
            <a:ext cx="4292056" cy="246221"/>
            <a:chOff x="645704" y="3687528"/>
            <a:chExt cx="4292056" cy="24622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5D862D3-C443-0CEB-C13C-C9F7D7CA02C4}"/>
                </a:ext>
              </a:extLst>
            </p:cNvPr>
            <p:cNvSpPr/>
            <p:nvPr/>
          </p:nvSpPr>
          <p:spPr>
            <a:xfrm>
              <a:off x="933466" y="3687528"/>
              <a:ext cx="4004294" cy="24622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Uso de “</a:t>
              </a:r>
              <a:r>
                <a:rPr lang="es-ES" sz="1600" b="0" i="0" u="none" strike="noStrike" cap="none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TransactionTemplate</a:t>
              </a:r>
              <a:r>
                <a:rPr lang="es-ES" sz="1600" b="0" i="0" u="none" strike="noStrike" cap="none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rPr>
                <a:t>”</a:t>
              </a:r>
              <a:endParaRPr lang="es-E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Más 14">
              <a:extLst>
                <a:ext uri="{FF2B5EF4-FFF2-40B4-BE49-F238E27FC236}">
                  <a16:creationId xmlns:a16="http://schemas.microsoft.com/office/drawing/2014/main" id="{77799357-5568-8348-9A3D-452F1316E092}"/>
                </a:ext>
              </a:extLst>
            </p:cNvPr>
            <p:cNvSpPr/>
            <p:nvPr/>
          </p:nvSpPr>
          <p:spPr>
            <a:xfrm>
              <a:off x="645704" y="3747561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A52D72C-D2C1-671E-3F6E-4DAE04585D65}"/>
              </a:ext>
            </a:extLst>
          </p:cNvPr>
          <p:cNvCxnSpPr>
            <a:cxnSpLocks/>
          </p:cNvCxnSpPr>
          <p:nvPr/>
        </p:nvCxnSpPr>
        <p:spPr>
          <a:xfrm>
            <a:off x="722046" y="3291739"/>
            <a:ext cx="0" cy="24008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1094124-3A0C-7078-4B3A-7A4578F119E8}"/>
              </a:ext>
            </a:extLst>
          </p:cNvPr>
          <p:cNvSpPr/>
          <p:nvPr/>
        </p:nvSpPr>
        <p:spPr>
          <a:xfrm>
            <a:off x="512203" y="3818534"/>
            <a:ext cx="8163485" cy="1415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8" name="Google Shape;158;p16"/>
          <p:cNvSpPr txBox="1"/>
          <p:nvPr/>
        </p:nvSpPr>
        <p:spPr>
          <a:xfrm>
            <a:off x="510010" y="920268"/>
            <a:ext cx="816348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74151"/>
              </a:buClr>
              <a:buSzPts val="1600"/>
            </a:pPr>
            <a:r>
              <a:rPr lang="es-ES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PROCESAMIENTO DE FACTURAS EN UN SISTEMA ERP</a:t>
            </a:r>
            <a:endParaRPr lang="es-E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</a:pPr>
            <a:r>
              <a:rPr lang="es-ES" sz="13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Procesar facturas en un sistema ERP implica actualizar múltiples tablas, como facturas, pagos y cuentas por cobrar.</a:t>
            </a: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Implementación:</a:t>
            </a:r>
            <a:endParaRPr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354990" y="3944130"/>
            <a:ext cx="692446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Transactional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isolation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Isolation.SERIALIZABLE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Propagation.REQUIRED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processInvoice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sz="11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saveInvoice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1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updatePaymentStatus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1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adjustAccountsReceivable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12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1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1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4D816AD-F07C-B675-56E5-E5949CD18001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TRANSACCIONES CON SPRING JDBC 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646AFB9-7B5D-20D4-943E-3E2187367EE2}"/>
              </a:ext>
            </a:extLst>
          </p:cNvPr>
          <p:cNvCxnSpPr>
            <a:cxnSpLocks/>
          </p:cNvCxnSpPr>
          <p:nvPr/>
        </p:nvCxnSpPr>
        <p:spPr>
          <a:xfrm>
            <a:off x="722046" y="2274281"/>
            <a:ext cx="0" cy="2070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o 6">
            <a:extLst>
              <a:ext uri="{FF2B5EF4-FFF2-40B4-BE49-F238E27FC236}">
                <a16:creationId xmlns:a16="http://schemas.microsoft.com/office/drawing/2014/main" id="{9255D94A-9FEA-2944-0774-45FD63F2B5FB}"/>
              </a:ext>
            </a:extLst>
          </p:cNvPr>
          <p:cNvGrpSpPr/>
          <p:nvPr/>
        </p:nvGrpSpPr>
        <p:grpSpPr>
          <a:xfrm>
            <a:off x="645704" y="2029566"/>
            <a:ext cx="4596717" cy="215444"/>
            <a:chOff x="645704" y="2724506"/>
            <a:chExt cx="4596717" cy="215444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188CBF96-D0EE-F9D0-E36E-8D7BDDBA5DF4}"/>
                </a:ext>
              </a:extLst>
            </p:cNvPr>
            <p:cNvSpPr/>
            <p:nvPr/>
          </p:nvSpPr>
          <p:spPr>
            <a:xfrm>
              <a:off x="933466" y="2724506"/>
              <a:ext cx="4308955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Paso 1: </a:t>
              </a:r>
              <a:r>
                <a:rPr lang="es-ES" sz="140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Registrar la factura.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Más 8">
              <a:extLst>
                <a:ext uri="{FF2B5EF4-FFF2-40B4-BE49-F238E27FC236}">
                  <a16:creationId xmlns:a16="http://schemas.microsoft.com/office/drawing/2014/main" id="{6FE0C022-9312-A19D-440F-D5DCFEA99FD7}"/>
                </a:ext>
              </a:extLst>
            </p:cNvPr>
            <p:cNvSpPr/>
            <p:nvPr/>
          </p:nvSpPr>
          <p:spPr>
            <a:xfrm>
              <a:off x="645704" y="277283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F28DBDCA-5B0D-2877-DB60-11E3159BD057}"/>
              </a:ext>
            </a:extLst>
          </p:cNvPr>
          <p:cNvGrpSpPr/>
          <p:nvPr/>
        </p:nvGrpSpPr>
        <p:grpSpPr>
          <a:xfrm>
            <a:off x="645704" y="2472063"/>
            <a:ext cx="4387154" cy="215444"/>
            <a:chOff x="645704" y="3206017"/>
            <a:chExt cx="4387154" cy="215444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C8208D0-5295-F570-6D14-B2F0F8A7D9A9}"/>
                </a:ext>
              </a:extLst>
            </p:cNvPr>
            <p:cNvSpPr/>
            <p:nvPr/>
          </p:nvSpPr>
          <p:spPr>
            <a:xfrm>
              <a:off x="933467" y="3206017"/>
              <a:ext cx="4099391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Paso 2: </a:t>
              </a:r>
              <a:r>
                <a:rPr lang="es-ES" sz="140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Actualizar el estado del pago.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Más 11">
              <a:extLst>
                <a:ext uri="{FF2B5EF4-FFF2-40B4-BE49-F238E27FC236}">
                  <a16:creationId xmlns:a16="http://schemas.microsoft.com/office/drawing/2014/main" id="{E7946E88-8303-64B9-D288-1783BAAA3F00}"/>
                </a:ext>
              </a:extLst>
            </p:cNvPr>
            <p:cNvSpPr/>
            <p:nvPr/>
          </p:nvSpPr>
          <p:spPr>
            <a:xfrm>
              <a:off x="645704" y="325543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7D493F5-42B8-6B16-5CBD-34E0B5142F88}"/>
              </a:ext>
            </a:extLst>
          </p:cNvPr>
          <p:cNvGrpSpPr/>
          <p:nvPr/>
        </p:nvGrpSpPr>
        <p:grpSpPr>
          <a:xfrm>
            <a:off x="645704" y="2914560"/>
            <a:ext cx="4292056" cy="215444"/>
            <a:chOff x="645704" y="3687528"/>
            <a:chExt cx="4292056" cy="21544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31288084-A009-8334-BC00-51346E09D8C9}"/>
                </a:ext>
              </a:extLst>
            </p:cNvPr>
            <p:cNvSpPr/>
            <p:nvPr/>
          </p:nvSpPr>
          <p:spPr>
            <a:xfrm>
              <a:off x="933466" y="3687528"/>
              <a:ext cx="4004294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b="1" i="0" u="none" strike="noStrike" cap="none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Paso 3: </a:t>
              </a:r>
              <a:r>
                <a:rPr lang="es-ES" sz="140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Ajustar las cuentas por cobrar.</a:t>
              </a:r>
              <a:endParaRPr lang="es-ES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Más 15">
              <a:extLst>
                <a:ext uri="{FF2B5EF4-FFF2-40B4-BE49-F238E27FC236}">
                  <a16:creationId xmlns:a16="http://schemas.microsoft.com/office/drawing/2014/main" id="{AED0EE62-957C-0BA2-B7EA-8394A9FDCCB5}"/>
                </a:ext>
              </a:extLst>
            </p:cNvPr>
            <p:cNvSpPr/>
            <p:nvPr/>
          </p:nvSpPr>
          <p:spPr>
            <a:xfrm>
              <a:off x="645704" y="3747561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DFFE3313-8A20-B75F-2A80-41FB5AB62457}"/>
              </a:ext>
            </a:extLst>
          </p:cNvPr>
          <p:cNvGrpSpPr/>
          <p:nvPr/>
        </p:nvGrpSpPr>
        <p:grpSpPr>
          <a:xfrm>
            <a:off x="645704" y="3357057"/>
            <a:ext cx="4703171" cy="215444"/>
            <a:chOff x="645704" y="4169038"/>
            <a:chExt cx="4703171" cy="21544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F5A8FFE-2777-70A0-873B-37F7C8CCE4AF}"/>
                </a:ext>
              </a:extLst>
            </p:cNvPr>
            <p:cNvSpPr/>
            <p:nvPr/>
          </p:nvSpPr>
          <p:spPr>
            <a:xfrm>
              <a:off x="933467" y="4169038"/>
              <a:ext cx="4415408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2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ES" sz="140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Uso de @</a:t>
              </a:r>
              <a:r>
                <a:rPr lang="es-ES" sz="1400" i="0" u="none" strike="noStrike" cap="none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Transactional</a:t>
              </a:r>
              <a:r>
                <a:rPr lang="es-ES" sz="1400" i="0" u="none" strike="noStrike" cap="none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 con Propiedades Avanzadas</a:t>
              </a:r>
            </a:p>
          </p:txBody>
        </p:sp>
        <p:sp>
          <p:nvSpPr>
            <p:cNvPr id="19" name="Más 18">
              <a:extLst>
                <a:ext uri="{FF2B5EF4-FFF2-40B4-BE49-F238E27FC236}">
                  <a16:creationId xmlns:a16="http://schemas.microsoft.com/office/drawing/2014/main" id="{A6C87F12-8457-2CFC-47F3-45745C8AB744}"/>
                </a:ext>
              </a:extLst>
            </p:cNvPr>
            <p:cNvSpPr/>
            <p:nvPr/>
          </p:nvSpPr>
          <p:spPr>
            <a:xfrm>
              <a:off x="645704" y="4214286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F394862-330C-6ED2-13D8-6CD3E7823508}"/>
              </a:ext>
            </a:extLst>
          </p:cNvPr>
          <p:cNvCxnSpPr>
            <a:cxnSpLocks/>
          </p:cNvCxnSpPr>
          <p:nvPr/>
        </p:nvCxnSpPr>
        <p:spPr>
          <a:xfrm>
            <a:off x="722046" y="2717512"/>
            <a:ext cx="0" cy="2070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A9C79CF-2DF5-AB30-F263-3F9FE73DF788}"/>
              </a:ext>
            </a:extLst>
          </p:cNvPr>
          <p:cNvCxnSpPr>
            <a:cxnSpLocks/>
          </p:cNvCxnSpPr>
          <p:nvPr/>
        </p:nvCxnSpPr>
        <p:spPr>
          <a:xfrm>
            <a:off x="722046" y="3157616"/>
            <a:ext cx="0" cy="2070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106968" cy="38010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300" dirty="0">
                <a:latin typeface="Calibri" charset="0"/>
                <a:ea typeface="Calibri" charset="0"/>
                <a:cs typeface="Calibri" charset="0"/>
              </a:rPr>
              <a:t>Spring JDBC simplifica significativamente la ejecución y gestión de consultas SQL en aplicaciones Java. Proporciona herramientas como JdbcTemplate y NamedParameterJdbcTemplate que reducen el código repetitivo y facilitan el manejo de parámetros, lo que permite a los desarrolladores centrarse en la lógica de negocio.</a:t>
            </a:r>
          </a:p>
          <a:p>
            <a:pPr lvl="0"/>
            <a:endParaRPr lang="es-PE" sz="13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300" dirty="0">
                <a:latin typeface="Calibri" charset="0"/>
                <a:ea typeface="Calibri" charset="0"/>
                <a:cs typeface="Calibri" charset="0"/>
              </a:rPr>
              <a:t>Consistencia de Datos: Garantiza que todas las operaciones dentro de una transacción se completen correctamente o no se realicen en absoluto, manteniendo la integridad de los datos.</a:t>
            </a:r>
          </a:p>
          <a:p>
            <a:pPr lvl="0"/>
            <a:endParaRPr lang="es-PE" sz="13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300" dirty="0">
                <a:latin typeface="Calibri" charset="0"/>
                <a:ea typeface="Calibri" charset="0"/>
                <a:cs typeface="Calibri" charset="0"/>
              </a:rPr>
              <a:t>Reducción de Errores: Minimiza los riesgos de inconsistencias y errores relacionados con fallos en operaciones múltiples.</a:t>
            </a:r>
          </a:p>
          <a:p>
            <a:pPr lvl="0"/>
            <a:endParaRPr lang="es-PE" sz="13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300" dirty="0">
                <a:latin typeface="Calibri" charset="0"/>
                <a:ea typeface="Calibri" charset="0"/>
                <a:cs typeface="Calibri" charset="0"/>
              </a:rPr>
              <a:t>Mejora del Rendimiento: La gestión eficiente de transacciones y recursos mejora el rendimiento general de la aplicación.</a:t>
            </a:r>
          </a:p>
          <a:p>
            <a:pPr lvl="0"/>
            <a:endParaRPr lang="es-PE" sz="13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300" dirty="0">
                <a:latin typeface="Calibri" charset="0"/>
                <a:ea typeface="Calibri" charset="0"/>
                <a:cs typeface="Calibri" charset="0"/>
              </a:rPr>
              <a:t>Facilidad de Implementación: Spring JDBC proporciona herramientas fáciles de usar como @Transactional y TransactionTemplate, que simplifican la implementación y gestión de transacciones.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147038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66611A-43C1-4A1A-9B0F-DB94EAED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938301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CEA70A-62CA-C8FC-386B-1FDC9FD13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528708"/>
            <a:ext cx="114138" cy="1175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5C0CCF4-63F2-C474-A6B4-911DE881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4133916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Sierra, K., &amp; Bates, B. OCA/OCP Java SE 7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Programmer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 y II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Study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Guide (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Exams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1Z0-803 y 1Z0-804).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Professional Java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Web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Spring Framework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Documentation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: https://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spring.io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projects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spring-framework</a:t>
            </a:r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4E1BA1-1A0A-06D2-7555-B55DDAD1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037294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1122</Words>
  <Application>Microsoft Office PowerPoint</Application>
  <PresentationFormat>Presentación en pantalla (16:10)</PresentationFormat>
  <Paragraphs>149</Paragraphs>
  <Slides>22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Calibri</vt:lpstr>
      <vt:lpstr>Graphik Bold</vt:lpstr>
      <vt:lpstr>Graphik Medium</vt:lpstr>
      <vt:lpstr>Graphik Regular</vt:lpstr>
      <vt:lpstr>Graphik-Medium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Medalith Luzquiños Ancaya</cp:lastModifiedBy>
  <cp:revision>6</cp:revision>
  <dcterms:created xsi:type="dcterms:W3CDTF">2016-10-06T14:52:02Z</dcterms:created>
  <dcterms:modified xsi:type="dcterms:W3CDTF">2024-10-18T12:33:21Z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