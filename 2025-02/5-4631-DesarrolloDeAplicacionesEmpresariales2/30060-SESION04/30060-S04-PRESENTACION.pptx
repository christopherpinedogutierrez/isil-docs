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662" r:id="rId2"/>
    <p:sldId id="627" r:id="rId3"/>
    <p:sldId id="628" r:id="rId4"/>
    <p:sldId id="743" r:id="rId5"/>
    <p:sldId id="259" r:id="rId6"/>
    <p:sldId id="260" r:id="rId7"/>
    <p:sldId id="261" r:id="rId8"/>
    <p:sldId id="262" r:id="rId9"/>
    <p:sldId id="263" r:id="rId10"/>
    <p:sldId id="744" r:id="rId11"/>
    <p:sldId id="265" r:id="rId12"/>
    <p:sldId id="266" r:id="rId13"/>
    <p:sldId id="267" r:id="rId14"/>
    <p:sldId id="268" r:id="rId15"/>
    <p:sldId id="588" r:id="rId16"/>
    <p:sldId id="589" r:id="rId17"/>
    <p:sldId id="590" r:id="rId18"/>
    <p:sldId id="591" r:id="rId19"/>
    <p:sldId id="745" r:id="rId20"/>
    <p:sldId id="593" r:id="rId21"/>
  </p:sldIdLst>
  <p:sldSz cx="9144000" cy="5715000" type="screen16x1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3" pos="2880">
          <p15:clr>
            <a:srgbClr val="A4A3A4"/>
          </p15:clr>
        </p15:guide>
        <p15:guide id="4" orient="horz" pos="180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h1S/lEVqguvaTFMbqfXzwV8HGI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5DCAED"/>
    <a:srgbClr val="FBAA23"/>
    <a:srgbClr val="F68226"/>
    <a:srgbClr val="99BB56"/>
    <a:srgbClr val="2CA1DC"/>
    <a:srgbClr val="088960"/>
    <a:srgbClr val="DD4D5B"/>
    <a:srgbClr val="9BCCD7"/>
    <a:srgbClr val="715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378"/>
    <p:restoredTop sz="94643"/>
  </p:normalViewPr>
  <p:slideViewPr>
    <p:cSldViewPr snapToGrid="0">
      <p:cViewPr varScale="1">
        <p:scale>
          <a:sx n="102" d="100"/>
          <a:sy n="102" d="100"/>
        </p:scale>
        <p:origin x="108" y="444"/>
      </p:cViewPr>
      <p:guideLst>
        <p:guide pos="2880"/>
        <p:guide orient="horz" pos="18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1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3296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864327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594691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4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5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5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6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6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7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8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8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96D60-919E-9E29-E0D5-ED47E3561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CFCCA34-1325-414E-C6BE-4D3FE52C38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AA22051-CAF4-B1C8-8BB0-DD897ED74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8323E32-28BD-13A8-27B6-606934F667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992032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10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0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1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1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12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2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13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3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96571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ema - 1 Imagen A">
  <p:cSld name="Subtema - 1 Imagen A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45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4B0877B-18C7-B031-217C-275943CFB330}"/>
              </a:ext>
            </a:extLst>
          </p:cNvPr>
          <p:cNvSpPr/>
          <p:nvPr userDrawn="1"/>
        </p:nvSpPr>
        <p:spPr>
          <a:xfrm>
            <a:off x="7379148" y="5371562"/>
            <a:ext cx="136928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_tradnl" sz="600" b="0" i="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© ISIL. Todos los derechos reservados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EE7FA8AC-9812-BDE9-BC67-2E0AD5575CF0}"/>
              </a:ext>
            </a:extLst>
          </p:cNvPr>
          <p:cNvSpPr txBox="1"/>
          <p:nvPr userDrawn="1"/>
        </p:nvSpPr>
        <p:spPr>
          <a:xfrm>
            <a:off x="876300" y="5343295"/>
            <a:ext cx="27622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800" kern="120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DESARROLLO DE APLICACIONES EMPRESARIALES II 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ea typeface="Wingdings"/>
                <a:cs typeface="Calibri"/>
                <a:sym typeface="Wingdings"/>
              </a:rPr>
              <a:t></a:t>
            </a:r>
            <a:r>
              <a:rPr lang="en-US" sz="800" kern="120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  TEMA 04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66C9BFD-8845-7C07-356C-5B6FCD3938B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316" y="5349405"/>
            <a:ext cx="369984" cy="206823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8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3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2767" userDrawn="1">
          <p15:clr>
            <a:srgbClr val="F26B43"/>
          </p15:clr>
        </p15:guide>
        <p15:guide id="4" pos="2993" userDrawn="1">
          <p15:clr>
            <a:srgbClr val="F26B43"/>
          </p15:clr>
        </p15:guide>
        <p15:guide id="5" pos="5465" userDrawn="1">
          <p15:clr>
            <a:srgbClr val="F26B43"/>
          </p15:clr>
        </p15:guide>
        <p15:guide id="6" orient="horz" pos="3297" userDrawn="1">
          <p15:clr>
            <a:srgbClr val="F26B43"/>
          </p15:clr>
        </p15:guide>
        <p15:guide id="7" orient="horz" pos="575" userDrawn="1">
          <p15:clr>
            <a:srgbClr val="F26B43"/>
          </p15:clr>
        </p15:guide>
        <p15:guide id="8" pos="31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ángulo 40"/>
          <p:cNvSpPr/>
          <p:nvPr/>
        </p:nvSpPr>
        <p:spPr>
          <a:xfrm>
            <a:off x="182879" y="5120640"/>
            <a:ext cx="4304965" cy="46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0376003-8003-B944-8B01-9A232A7A385C}"/>
              </a:ext>
            </a:extLst>
          </p:cNvPr>
          <p:cNvSpPr txBox="1"/>
          <p:nvPr/>
        </p:nvSpPr>
        <p:spPr>
          <a:xfrm>
            <a:off x="503238" y="808689"/>
            <a:ext cx="310474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900" b="1" dirty="0">
                <a:solidFill>
                  <a:schemeClr val="bg1">
                    <a:lumMod val="50000"/>
                  </a:schemeClr>
                </a:solidFill>
                <a:latin typeface="Calibri" charset="0"/>
                <a:cs typeface="Calibri" charset="0"/>
              </a:rPr>
              <a:t>DESARROLLO DE APLICACIONES EMPRESARIALES II </a:t>
            </a:r>
          </a:p>
        </p:txBody>
      </p:sp>
      <p:sp>
        <p:nvSpPr>
          <p:cNvPr id="25" name="Rectángulo 24"/>
          <p:cNvSpPr/>
          <p:nvPr/>
        </p:nvSpPr>
        <p:spPr>
          <a:xfrm>
            <a:off x="503239" y="2177570"/>
            <a:ext cx="3213718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s-PE" sz="3200" b="1" dirty="0">
                <a:latin typeface="Graphik Bold" panose="020B0503030202060203" pitchFamily="34" charset="77"/>
                <a:ea typeface="Graphik-Medium" charset="0"/>
                <a:cs typeface="Graphik-Medium" charset="0"/>
              </a:rPr>
              <a:t>INTEGRACIÓN</a:t>
            </a:r>
          </a:p>
        </p:txBody>
      </p:sp>
      <p:sp>
        <p:nvSpPr>
          <p:cNvPr id="27" name="Rectángulo 26"/>
          <p:cNvSpPr/>
          <p:nvPr/>
        </p:nvSpPr>
        <p:spPr>
          <a:xfrm>
            <a:off x="503238" y="3219842"/>
            <a:ext cx="2845526" cy="420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7800" lvl="0" indent="-177800">
              <a:lnSpc>
                <a:spcPct val="120000"/>
              </a:lnSpc>
              <a:buClr>
                <a:srgbClr val="0B6AB0"/>
              </a:buClr>
              <a:buSzPct val="100000"/>
              <a:buFont typeface="Arial"/>
              <a:buChar char="•"/>
            </a:pPr>
            <a:r>
              <a:rPr lang="es-MX" sz="1200" dirty="0">
                <a:latin typeface="Graphik-Medium" charset="0"/>
                <a:ea typeface="Graphik-Medium" charset="0"/>
                <a:cs typeface="Graphik-Medium" charset="0"/>
              </a:rPr>
              <a:t>Proceso de integración</a:t>
            </a:r>
          </a:p>
          <a:p>
            <a:pPr marL="177800" lvl="0" indent="-177800">
              <a:lnSpc>
                <a:spcPct val="120000"/>
              </a:lnSpc>
              <a:buClr>
                <a:srgbClr val="0B6AB0"/>
              </a:buClr>
              <a:buSzPct val="100000"/>
              <a:buFont typeface="Arial"/>
              <a:buChar char="•"/>
            </a:pPr>
            <a:r>
              <a:rPr lang="es-MX" sz="1200" dirty="0">
                <a:latin typeface="Graphik-Medium" charset="0"/>
                <a:ea typeface="Graphik-Medium" charset="0"/>
                <a:cs typeface="Graphik-Medium" charset="0"/>
              </a:rPr>
              <a:t>Resultados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3FC3217-3DCC-0941-BA6B-6CEEC9F1D080}"/>
              </a:ext>
            </a:extLst>
          </p:cNvPr>
          <p:cNvSpPr txBox="1"/>
          <p:nvPr/>
        </p:nvSpPr>
        <p:spPr>
          <a:xfrm>
            <a:off x="743902" y="1819386"/>
            <a:ext cx="14576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2000" b="1" dirty="0">
                <a:solidFill>
                  <a:srgbClr val="0B6AB0"/>
                </a:solidFill>
                <a:latin typeface="Calibri" charset="0"/>
                <a:ea typeface="Calibri" charset="0"/>
                <a:cs typeface="Calibri" charset="0"/>
              </a:rPr>
              <a:t>TEMA 04</a:t>
            </a:r>
          </a:p>
        </p:txBody>
      </p:sp>
      <p:pic>
        <p:nvPicPr>
          <p:cNvPr id="29" name="Imagen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64" y="1883411"/>
            <a:ext cx="166865" cy="17045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ABCD739-0A62-0FD3-2175-DE895833E2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850" y="0"/>
            <a:ext cx="539115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209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1"/>
            <a:ext cx="9144000" cy="5715000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46969"/>
            <a:ext cx="2072213" cy="3898064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149817" y="3724759"/>
            <a:ext cx="1037633" cy="1069383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2519363" y="2540738"/>
            <a:ext cx="4581728" cy="812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s-ES_tradnl" sz="33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INTRODUCCIÓN</a:t>
            </a:r>
          </a:p>
          <a:p>
            <a:pPr>
              <a:lnSpc>
                <a:spcPct val="80000"/>
              </a:lnSpc>
            </a:pPr>
            <a:r>
              <a:rPr lang="es-ES_tradnl" sz="33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DE LA SESIÓN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alphaModFix amt="16000"/>
          </a:blip>
          <a:stretch>
            <a:fillRect/>
          </a:stretch>
        </p:blipFill>
        <p:spPr>
          <a:xfrm>
            <a:off x="334433" y="3817749"/>
            <a:ext cx="809264" cy="80926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CD7628C-6304-5D4B-BA7D-591238143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619" y="2194222"/>
            <a:ext cx="202176" cy="20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559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18960" y="5364480"/>
            <a:ext cx="2133600" cy="22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82299" y="918372"/>
            <a:ext cx="4950721" cy="236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s-PE" sz="1400" dirty="0">
                <a:latin typeface="Calibri" charset="0"/>
                <a:cs typeface="Calibri" charset="0"/>
              </a:rPr>
              <a:t>El desarrollo de aplicaciones empresariales modernas requiere la integración efectiva de diversos sistemas y componentes para crear soluciones coherentes y eficientes. Esta integración permite que los aplicativos webs interactúen con bases de datos, servicios externos y otros sistemas empresariales para ofrecer una funcionalidad completa y robusta.</a:t>
            </a:r>
          </a:p>
          <a:p>
            <a:endParaRPr lang="es-PE" sz="1400" dirty="0">
              <a:latin typeface="Calibri" charset="0"/>
              <a:cs typeface="Calibri" charset="0"/>
            </a:endParaRPr>
          </a:p>
          <a:p>
            <a:r>
              <a:rPr lang="es-PE" sz="1400" dirty="0">
                <a:latin typeface="Calibri" charset="0"/>
                <a:cs typeface="Calibri" charset="0"/>
              </a:rPr>
              <a:t>Es por eso la importancia de entender el proceso de integración de aplicativos webs con componentes empresariales y los resultados esperados. En esta sesión, conoceremos el proceso  y los resultados de integración.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39" y="954885"/>
            <a:ext cx="117851" cy="121369"/>
          </a:xfrm>
          <a:prstGeom prst="rect">
            <a:avLst/>
          </a:prstGeom>
        </p:spPr>
      </p:pic>
      <p:sp>
        <p:nvSpPr>
          <p:cNvPr id="2" name="Rectángulo 1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4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661" y="3052731"/>
            <a:ext cx="1689027" cy="2181257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39" y="2462612"/>
            <a:ext cx="117851" cy="121369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5" name="Rectangle 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INTRODUCCIÓN </a:t>
            </a:r>
          </a:p>
        </p:txBody>
      </p:sp>
    </p:spTree>
    <p:extLst>
      <p:ext uri="{BB962C8B-B14F-4D97-AF65-F5344CB8AC3E}">
        <p14:creationId xmlns:p14="http://schemas.microsoft.com/office/powerpoint/2010/main" val="783239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3856831" cy="7755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PROCESO DE </a:t>
            </a:r>
            <a:r>
              <a:rPr lang="es-PE" sz="2800" b="1" dirty="0">
                <a:solidFill>
                  <a:schemeClr val="bg1"/>
                </a:solidFill>
                <a:latin typeface="Graphik Bold" panose="020B0503030202060203" pitchFamily="34" charset="77"/>
                <a:ea typeface="Graphik Regular" charset="0"/>
                <a:cs typeface="Graphik Regular" charset="0"/>
              </a:rPr>
              <a:t>INTEGRACIÓN</a:t>
            </a:r>
            <a:endParaRPr lang="es-ES" sz="1600" b="1" dirty="0">
              <a:solidFill>
                <a:schemeClr val="bg1"/>
              </a:solidFill>
              <a:latin typeface="Graphik Bold" panose="020B0503030202060203" pitchFamily="34" charset="77"/>
              <a:cs typeface="Calibri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369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 txBox="1"/>
          <p:nvPr/>
        </p:nvSpPr>
        <p:spPr>
          <a:xfrm>
            <a:off x="510612" y="918600"/>
            <a:ext cx="8165076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DEFINICIÓN</a:t>
            </a:r>
          </a:p>
          <a:p>
            <a:pPr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600" i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La integración de aplicativos webs con componentes empresariales implica la combinación de varias tecnologías y sistemas para crear una solución empresarial cohesiva.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55C66481-468A-2982-0A91-C7CB986D1014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PROCESO DE INTEGRACIÓN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DBA5498-C4C5-1323-AE0E-4D0DDBC6DDBA}"/>
              </a:ext>
            </a:extLst>
          </p:cNvPr>
          <p:cNvSpPr txBox="1"/>
          <p:nvPr/>
        </p:nvSpPr>
        <p:spPr>
          <a:xfrm>
            <a:off x="802371" y="5062466"/>
            <a:ext cx="707169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ES_tradnl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https://</a:t>
            </a:r>
            <a:r>
              <a:rPr lang="es-ES_tradnl" sz="10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www.astera.com</a:t>
            </a:r>
            <a:r>
              <a:rPr lang="es-ES_tradnl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/es/</a:t>
            </a:r>
            <a:r>
              <a:rPr lang="es-ES_tradnl" sz="10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type</a:t>
            </a:r>
            <a:r>
              <a:rPr lang="es-ES_tradnl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/blog/</a:t>
            </a:r>
            <a:r>
              <a:rPr lang="es-ES_tradnl" sz="10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application-integration</a:t>
            </a:r>
            <a:r>
              <a:rPr lang="es-ES_tradnl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C62C8CD8-E427-6523-2012-8C61BD95E9B0}"/>
              </a:ext>
            </a:extLst>
          </p:cNvPr>
          <p:cNvGrpSpPr/>
          <p:nvPr/>
        </p:nvGrpSpPr>
        <p:grpSpPr>
          <a:xfrm>
            <a:off x="503239" y="5019245"/>
            <a:ext cx="220662" cy="215445"/>
            <a:chOff x="503239" y="4891031"/>
            <a:chExt cx="220662" cy="215445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B7753973-64B1-BC36-9E0A-0BB6775A7B4A}"/>
                </a:ext>
              </a:extLst>
            </p:cNvPr>
            <p:cNvSpPr/>
            <p:nvPr/>
          </p:nvSpPr>
          <p:spPr>
            <a:xfrm>
              <a:off x="503239" y="4891031"/>
              <a:ext cx="220662" cy="215445"/>
            </a:xfrm>
            <a:prstGeom prst="ellipse">
              <a:avLst/>
            </a:prstGeom>
            <a:solidFill>
              <a:srgbClr val="8087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 dirty="0">
                <a:latin typeface="Calibri" panose="020F0502020204030204" pitchFamily="34" charset="0"/>
              </a:endParaRPr>
            </a:p>
          </p:txBody>
        </p:sp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9EC4BC22-F72D-62D0-FAAA-E0AD45ACC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367991">
              <a:off x="564417" y="4929371"/>
              <a:ext cx="85606" cy="126065"/>
            </a:xfrm>
            <a:prstGeom prst="rect">
              <a:avLst/>
            </a:prstGeom>
          </p:spPr>
        </p:pic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D3CE77EE-C1FA-0454-29B2-E8202B51A567}"/>
              </a:ext>
            </a:extLst>
          </p:cNvPr>
          <p:cNvGrpSpPr/>
          <p:nvPr/>
        </p:nvGrpSpPr>
        <p:grpSpPr>
          <a:xfrm>
            <a:off x="2653748" y="1917918"/>
            <a:ext cx="3849755" cy="2961069"/>
            <a:chOff x="2653748" y="1917918"/>
            <a:chExt cx="3849755" cy="2961069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64CED1C4-8C95-DAB3-9E17-D7C8D44C8B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206"/>
            <a:stretch/>
          </p:blipFill>
          <p:spPr>
            <a:xfrm>
              <a:off x="2653748" y="1917918"/>
              <a:ext cx="3849755" cy="2961069"/>
            </a:xfrm>
            <a:prstGeom prst="rect">
              <a:avLst/>
            </a:prstGeom>
          </p:spPr>
        </p:pic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483A7ECA-0483-43DC-9455-A76C70DF0B32}"/>
                </a:ext>
              </a:extLst>
            </p:cNvPr>
            <p:cNvSpPr/>
            <p:nvPr/>
          </p:nvSpPr>
          <p:spPr>
            <a:xfrm>
              <a:off x="3962400" y="3518451"/>
              <a:ext cx="1126435" cy="642731"/>
            </a:xfrm>
            <a:prstGeom prst="rect">
              <a:avLst/>
            </a:prstGeom>
            <a:solidFill>
              <a:srgbClr val="5DCA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Application Integration</a:t>
              </a:r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8EB7F16A-7BBB-CD24-E4B9-5AB86410F0F8}"/>
                </a:ext>
              </a:extLst>
            </p:cNvPr>
            <p:cNvSpPr/>
            <p:nvPr/>
          </p:nvSpPr>
          <p:spPr>
            <a:xfrm>
              <a:off x="5735718" y="2749827"/>
              <a:ext cx="689114" cy="689114"/>
            </a:xfrm>
            <a:prstGeom prst="ellipse">
              <a:avLst/>
            </a:prstGeom>
            <a:solidFill>
              <a:srgbClr val="DD4D5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_tradnl" sz="600" b="1" dirty="0">
                  <a:latin typeface="Calibri" panose="020F0502020204030204" pitchFamily="34" charset="0"/>
                  <a:cs typeface="Calibri" panose="020F0502020204030204" pitchFamily="34" charset="0"/>
                </a:rPr>
                <a:t>BUSINESS</a:t>
              </a:r>
            </a:p>
            <a:p>
              <a:pPr algn="ctr"/>
              <a:r>
                <a:rPr lang="es-ES_tradnl" sz="600" b="1" dirty="0">
                  <a:latin typeface="Calibri" panose="020F0502020204030204" pitchFamily="34" charset="0"/>
                  <a:cs typeface="Calibri" panose="020F0502020204030204" pitchFamily="34" charset="0"/>
                </a:rPr>
                <a:t>INTELLIGENCE</a:t>
              </a: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03474314-3B9F-CB6D-A655-913C5A7F1DF4}"/>
                </a:ext>
              </a:extLst>
            </p:cNvPr>
            <p:cNvSpPr/>
            <p:nvPr/>
          </p:nvSpPr>
          <p:spPr>
            <a:xfrm>
              <a:off x="3736572" y="2297951"/>
              <a:ext cx="768927" cy="768927"/>
            </a:xfrm>
            <a:prstGeom prst="ellipse">
              <a:avLst/>
            </a:prstGeom>
            <a:solidFill>
              <a:srgbClr val="0889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_tradnl" sz="700" b="1" dirty="0">
                  <a:latin typeface="Calibri" panose="020F0502020204030204" pitchFamily="34" charset="0"/>
                  <a:cs typeface="Calibri" panose="020F0502020204030204" pitchFamily="34" charset="0"/>
                </a:rPr>
                <a:t>BUSINESS</a:t>
              </a:r>
            </a:p>
            <a:p>
              <a:pPr algn="ctr"/>
              <a:r>
                <a:rPr lang="es-ES_tradnl" sz="700" b="1" dirty="0">
                  <a:latin typeface="Calibri" panose="020F0502020204030204" pitchFamily="34" charset="0"/>
                  <a:cs typeface="Calibri" panose="020F0502020204030204" pitchFamily="34" charset="0"/>
                </a:rPr>
                <a:t>INTELLIGENCE</a:t>
              </a: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6B177B00-73E8-7EEB-3F72-2827940D1FFF}"/>
                </a:ext>
              </a:extLst>
            </p:cNvPr>
            <p:cNvSpPr/>
            <p:nvPr/>
          </p:nvSpPr>
          <p:spPr>
            <a:xfrm>
              <a:off x="2773642" y="4206240"/>
              <a:ext cx="580541" cy="580541"/>
            </a:xfrm>
            <a:prstGeom prst="ellipse">
              <a:avLst/>
            </a:prstGeom>
            <a:solidFill>
              <a:srgbClr val="0889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_tradnl" sz="700" b="1" dirty="0">
                  <a:latin typeface="Calibri" panose="020F0502020204030204" pitchFamily="34" charset="0"/>
                  <a:cs typeface="Calibri" panose="020F0502020204030204" pitchFamily="34" charset="0"/>
                </a:rPr>
                <a:t>INTERNET PORTALS</a:t>
              </a:r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1FEAD455-A1CB-4D40-941C-B54336640225}"/>
                </a:ext>
              </a:extLst>
            </p:cNvPr>
            <p:cNvSpPr/>
            <p:nvPr/>
          </p:nvSpPr>
          <p:spPr>
            <a:xfrm>
              <a:off x="2715452" y="3241965"/>
              <a:ext cx="709392" cy="709392"/>
            </a:xfrm>
            <a:prstGeom prst="ellipse">
              <a:avLst/>
            </a:prstGeom>
            <a:solidFill>
              <a:srgbClr val="2CA1D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_tradnl" sz="700" b="1" dirty="0">
                  <a:latin typeface="Calibri" panose="020F0502020204030204" pitchFamily="34" charset="0"/>
                  <a:cs typeface="Calibri" panose="020F0502020204030204" pitchFamily="34" charset="0"/>
                </a:rPr>
                <a:t>e-COMMERCE</a:t>
              </a:r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08D413AA-4719-7DC3-67F5-A0E13F4A2755}"/>
                </a:ext>
              </a:extLst>
            </p:cNvPr>
            <p:cNvSpPr/>
            <p:nvPr/>
          </p:nvSpPr>
          <p:spPr>
            <a:xfrm>
              <a:off x="5406785" y="2148108"/>
              <a:ext cx="516121" cy="516121"/>
            </a:xfrm>
            <a:prstGeom prst="ellipse">
              <a:avLst/>
            </a:prstGeom>
            <a:solidFill>
              <a:srgbClr val="2CA1D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_tradnl" sz="800" b="1" dirty="0">
                  <a:latin typeface="Calibri" panose="020F0502020204030204" pitchFamily="34" charset="0"/>
                  <a:cs typeface="Calibri" panose="020F0502020204030204" pitchFamily="34" charset="0"/>
                </a:rPr>
                <a:t>WEAR HOUSE</a:t>
              </a:r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3FA7D417-6CC6-EC70-F78A-2A0E16ED5B43}"/>
                </a:ext>
              </a:extLst>
            </p:cNvPr>
            <p:cNvSpPr/>
            <p:nvPr/>
          </p:nvSpPr>
          <p:spPr>
            <a:xfrm>
              <a:off x="4850972" y="2515542"/>
              <a:ext cx="639585" cy="639585"/>
            </a:xfrm>
            <a:prstGeom prst="ellipse">
              <a:avLst/>
            </a:prstGeom>
            <a:solidFill>
              <a:srgbClr val="99BB5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_tradnl" sz="700" b="1" dirty="0">
                  <a:latin typeface="Calibri" panose="020F0502020204030204" pitchFamily="34" charset="0"/>
                  <a:cs typeface="Calibri" panose="020F0502020204030204" pitchFamily="34" charset="0"/>
                </a:rPr>
                <a:t>FINANCIAL SYTEMS</a:t>
              </a:r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CE299D63-8291-3C9A-B755-3CD364F22DA2}"/>
                </a:ext>
              </a:extLst>
            </p:cNvPr>
            <p:cNvSpPr/>
            <p:nvPr/>
          </p:nvSpPr>
          <p:spPr>
            <a:xfrm>
              <a:off x="4405081" y="1950384"/>
              <a:ext cx="555903" cy="555903"/>
            </a:xfrm>
            <a:prstGeom prst="ellipse">
              <a:avLst/>
            </a:prstGeom>
            <a:solidFill>
              <a:srgbClr val="F682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_tradnl" sz="800" b="1" dirty="0">
                  <a:latin typeface="Calibri" panose="020F0502020204030204" pitchFamily="34" charset="0"/>
                  <a:cs typeface="Calibri" panose="020F0502020204030204" pitchFamily="34" charset="0"/>
                </a:rPr>
                <a:t>THIRD PARTIES</a:t>
              </a: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EF452337-95B2-FE6E-92BE-89903B67FEC1}"/>
                </a:ext>
              </a:extLst>
            </p:cNvPr>
            <p:cNvSpPr/>
            <p:nvPr/>
          </p:nvSpPr>
          <p:spPr>
            <a:xfrm>
              <a:off x="3141716" y="2522612"/>
              <a:ext cx="511534" cy="511534"/>
            </a:xfrm>
            <a:prstGeom prst="ellipse">
              <a:avLst/>
            </a:prstGeom>
            <a:solidFill>
              <a:srgbClr val="FBAA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_tradnl" sz="1050" b="1" dirty="0">
                  <a:latin typeface="Calibri" panose="020F0502020204030204" pitchFamily="34" charset="0"/>
                  <a:cs typeface="Calibri" panose="020F0502020204030204" pitchFamily="34" charset="0"/>
                </a:rPr>
                <a:t>CRM</a:t>
              </a: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2C8A0546-26CA-2D18-F5A7-3292AB1BCD3D}"/>
                </a:ext>
              </a:extLst>
            </p:cNvPr>
            <p:cNvSpPr/>
            <p:nvPr/>
          </p:nvSpPr>
          <p:spPr>
            <a:xfrm>
              <a:off x="5750300" y="4198494"/>
              <a:ext cx="595756" cy="595756"/>
            </a:xfrm>
            <a:prstGeom prst="ellipse">
              <a:avLst/>
            </a:prstGeom>
            <a:solidFill>
              <a:srgbClr val="5DCA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_tradnl" sz="800" b="1" dirty="0">
                  <a:latin typeface="Calibri" panose="020F0502020204030204" pitchFamily="34" charset="0"/>
                  <a:cs typeface="Calibri" panose="020F0502020204030204" pitchFamily="34" charset="0"/>
                </a:rPr>
                <a:t>LEGACY SYSTEMS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 txBox="1"/>
          <p:nvPr/>
        </p:nvSpPr>
        <p:spPr>
          <a:xfrm>
            <a:off x="510612" y="918600"/>
            <a:ext cx="8075400" cy="420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rtl="0">
              <a:spcBef>
                <a:spcPts val="0"/>
              </a:spcBef>
              <a:spcAft>
                <a:spcPts val="600"/>
              </a:spcAft>
            </a:pPr>
            <a:r>
              <a:rPr lang="es-ES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IMPORTANCIA DE LA INTEGRACIÓN</a:t>
            </a: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s-ES" i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La integración de aplicativos webs con componentes empresariales es fundamental para:</a:t>
            </a:r>
            <a:endParaRPr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ES" i="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P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i="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ES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P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P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P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P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P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P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P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P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P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P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endParaRPr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s-ES" i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Esto significa que la aplicación debe cargarse rápidamente, manejar un gran número de usuarios y consumir la menor cantidad de recursos del servidor posible.</a:t>
            </a:r>
            <a:endParaRPr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B0BAF84F-6360-E00F-BA01-7315B98B92DF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PROCESO DE INTEGRACIÓN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0956799E-FDB5-C596-2D8F-23A6CBA34FD4}"/>
              </a:ext>
            </a:extLst>
          </p:cNvPr>
          <p:cNvGrpSpPr/>
          <p:nvPr/>
        </p:nvGrpSpPr>
        <p:grpSpPr>
          <a:xfrm>
            <a:off x="611560" y="1654411"/>
            <a:ext cx="7647536" cy="646331"/>
            <a:chOff x="645704" y="2802636"/>
            <a:chExt cx="7647536" cy="646331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6D70A4EA-670B-A5ED-8841-C5DC35AEDB43}"/>
                </a:ext>
              </a:extLst>
            </p:cNvPr>
            <p:cNvSpPr/>
            <p:nvPr/>
          </p:nvSpPr>
          <p:spPr>
            <a:xfrm>
              <a:off x="936445" y="2802636"/>
              <a:ext cx="7356795" cy="64633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0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400" b="1" i="0" dirty="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MEJORAR LA EFICIENCIA OPERATIVA</a:t>
              </a:r>
              <a:r>
                <a:rPr lang="es-ES" sz="1400" i="0" dirty="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</a:p>
            <a:p>
              <a:pPr marR="0" lvl="0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400" i="0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Al automatizar procesos y asegurar una comunicación fluida entre sistemas, se reduce el tiempo </a:t>
              </a:r>
              <a:r>
                <a:rPr lang="es-ES" sz="1400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y </a:t>
              </a:r>
              <a:r>
                <a:rPr lang="es-ES" sz="1400" i="0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optimiza el uso de recursos .</a:t>
              </a:r>
              <a:endParaRPr lang="es-ES" sz="14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Más 6">
              <a:extLst>
                <a:ext uri="{FF2B5EF4-FFF2-40B4-BE49-F238E27FC236}">
                  <a16:creationId xmlns:a16="http://schemas.microsoft.com/office/drawing/2014/main" id="{70129664-1C4E-B566-5848-5BA057F2E842}"/>
                </a:ext>
              </a:extLst>
            </p:cNvPr>
            <p:cNvSpPr/>
            <p:nvPr/>
          </p:nvSpPr>
          <p:spPr>
            <a:xfrm>
              <a:off x="645704" y="2812408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A14832B7-BB5C-2257-B426-6C2CE0A2CD8B}"/>
              </a:ext>
            </a:extLst>
          </p:cNvPr>
          <p:cNvCxnSpPr>
            <a:cxnSpLocks/>
          </p:cNvCxnSpPr>
          <p:nvPr/>
        </p:nvCxnSpPr>
        <p:spPr>
          <a:xfrm>
            <a:off x="683568" y="1850650"/>
            <a:ext cx="0" cy="479595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upo 8">
            <a:extLst>
              <a:ext uri="{FF2B5EF4-FFF2-40B4-BE49-F238E27FC236}">
                <a16:creationId xmlns:a16="http://schemas.microsoft.com/office/drawing/2014/main" id="{11FE4DCD-AB0D-BAF7-DB7C-07229AB5922F}"/>
              </a:ext>
            </a:extLst>
          </p:cNvPr>
          <p:cNvGrpSpPr/>
          <p:nvPr/>
        </p:nvGrpSpPr>
        <p:grpSpPr>
          <a:xfrm>
            <a:off x="611560" y="2375633"/>
            <a:ext cx="7647536" cy="646331"/>
            <a:chOff x="645704" y="2802636"/>
            <a:chExt cx="7647536" cy="646331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C1A0F73D-EE6C-335C-5D7A-33D1600BAB4A}"/>
                </a:ext>
              </a:extLst>
            </p:cNvPr>
            <p:cNvSpPr/>
            <p:nvPr/>
          </p:nvSpPr>
          <p:spPr>
            <a:xfrm>
              <a:off x="936445" y="2802636"/>
              <a:ext cx="7356795" cy="64633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0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400" b="1" i="0" dirty="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ASEGURAR LA COHERENCIA DE DATOS</a:t>
              </a:r>
              <a:r>
                <a:rPr lang="es-ES" sz="1400" i="0" dirty="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</a:p>
            <a:p>
              <a:pPr marR="0" lvl="0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400" i="0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Al centralizar la información en sistemas integrados, se minimizan los errores y se asegura que todos los componentes trabajen con datos actualizados y consistentes .</a:t>
              </a:r>
              <a:endParaRPr lang="es-ES" sz="14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Más 10">
              <a:extLst>
                <a:ext uri="{FF2B5EF4-FFF2-40B4-BE49-F238E27FC236}">
                  <a16:creationId xmlns:a16="http://schemas.microsoft.com/office/drawing/2014/main" id="{0EF41747-1AF3-F13B-1627-0BEFCFA79F64}"/>
                </a:ext>
              </a:extLst>
            </p:cNvPr>
            <p:cNvSpPr/>
            <p:nvPr/>
          </p:nvSpPr>
          <p:spPr>
            <a:xfrm>
              <a:off x="645704" y="2812408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C2CAB489-5C6C-9649-97D7-D06C597E484D}"/>
              </a:ext>
            </a:extLst>
          </p:cNvPr>
          <p:cNvGrpSpPr/>
          <p:nvPr/>
        </p:nvGrpSpPr>
        <p:grpSpPr>
          <a:xfrm>
            <a:off x="611560" y="3096855"/>
            <a:ext cx="7647536" cy="646331"/>
            <a:chOff x="645704" y="2802636"/>
            <a:chExt cx="7647536" cy="646331"/>
          </a:xfrm>
        </p:grpSpPr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4122EB61-C8E6-A88E-6210-062526C4C45D}"/>
                </a:ext>
              </a:extLst>
            </p:cNvPr>
            <p:cNvSpPr/>
            <p:nvPr/>
          </p:nvSpPr>
          <p:spPr>
            <a:xfrm>
              <a:off x="936445" y="2802636"/>
              <a:ext cx="7356795" cy="64633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0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400" b="1" i="0" dirty="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FACILITAR LA ESCALABILIDAD</a:t>
              </a:r>
              <a:r>
                <a:rPr lang="es-ES" sz="1400" i="0" dirty="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</a:p>
            <a:p>
              <a:pPr marR="0" lvl="0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400" i="0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Las soluciones integradas permiten agregar nuevas funcionalidades y componentes con menor esfuerzo, adaptándose a las necesidades cambiantes de la organización</a:t>
              </a:r>
              <a:endParaRPr lang="es-ES" sz="14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Más 13">
              <a:extLst>
                <a:ext uri="{FF2B5EF4-FFF2-40B4-BE49-F238E27FC236}">
                  <a16:creationId xmlns:a16="http://schemas.microsoft.com/office/drawing/2014/main" id="{2714ADD2-2CFA-EC66-C60A-78658FF98A88}"/>
                </a:ext>
              </a:extLst>
            </p:cNvPr>
            <p:cNvSpPr/>
            <p:nvPr/>
          </p:nvSpPr>
          <p:spPr>
            <a:xfrm>
              <a:off x="645704" y="2812408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9E9D5385-9EF3-C56E-7BDA-98E1F8977390}"/>
              </a:ext>
            </a:extLst>
          </p:cNvPr>
          <p:cNvGrpSpPr/>
          <p:nvPr/>
        </p:nvGrpSpPr>
        <p:grpSpPr>
          <a:xfrm>
            <a:off x="611560" y="3818076"/>
            <a:ext cx="7647536" cy="646331"/>
            <a:chOff x="645704" y="2802636"/>
            <a:chExt cx="7647536" cy="646331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5A4727DD-F0EF-81C7-B2D2-58DA16815F0F}"/>
                </a:ext>
              </a:extLst>
            </p:cNvPr>
            <p:cNvSpPr/>
            <p:nvPr/>
          </p:nvSpPr>
          <p:spPr>
            <a:xfrm>
              <a:off x="936445" y="2802636"/>
              <a:ext cx="7356795" cy="64633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0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400" b="1" i="0" dirty="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GARANTIZAR LA INTEROPERABILIDAD</a:t>
              </a:r>
              <a:r>
                <a:rPr lang="es-ES" sz="1400" i="0" dirty="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</a:p>
            <a:p>
              <a:pPr marR="0" lvl="0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400" i="0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La integración asegura que diferentes sistemas y tecnologías puedan comunicarse y trabajar juntos de manera eficiente .</a:t>
              </a:r>
              <a:endParaRPr lang="es-ES" sz="14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Más 16">
              <a:extLst>
                <a:ext uri="{FF2B5EF4-FFF2-40B4-BE49-F238E27FC236}">
                  <a16:creationId xmlns:a16="http://schemas.microsoft.com/office/drawing/2014/main" id="{0C97DFCF-7E56-343D-A20C-7BFD988C1E46}"/>
                </a:ext>
              </a:extLst>
            </p:cNvPr>
            <p:cNvSpPr/>
            <p:nvPr/>
          </p:nvSpPr>
          <p:spPr>
            <a:xfrm>
              <a:off x="645704" y="2812408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994EE53D-9A8F-8615-F066-FA570495BCCA}"/>
              </a:ext>
            </a:extLst>
          </p:cNvPr>
          <p:cNvCxnSpPr>
            <a:cxnSpLocks/>
          </p:cNvCxnSpPr>
          <p:nvPr/>
        </p:nvCxnSpPr>
        <p:spPr>
          <a:xfrm>
            <a:off x="683568" y="2569468"/>
            <a:ext cx="0" cy="479595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BC4FD1BE-0A17-4712-3A20-DE2CE6C2E2B6}"/>
              </a:ext>
            </a:extLst>
          </p:cNvPr>
          <p:cNvCxnSpPr>
            <a:cxnSpLocks/>
          </p:cNvCxnSpPr>
          <p:nvPr/>
        </p:nvCxnSpPr>
        <p:spPr>
          <a:xfrm>
            <a:off x="683568" y="3296922"/>
            <a:ext cx="0" cy="479595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 txBox="1"/>
          <p:nvPr/>
        </p:nvSpPr>
        <p:spPr>
          <a:xfrm>
            <a:off x="510612" y="918600"/>
            <a:ext cx="720449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ETAPAS</a:t>
            </a:r>
            <a:endParaRPr lang="es-ES" sz="1600" dirty="0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E7085659-CD93-76C9-1ECA-BEF72831BDC4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PROCESO DE INTEGRACIÓN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BB8D355C-DEC1-8B01-DA93-C4FDE270C67E}"/>
              </a:ext>
            </a:extLst>
          </p:cNvPr>
          <p:cNvCxnSpPr>
            <a:cxnSpLocks/>
          </p:cNvCxnSpPr>
          <p:nvPr/>
        </p:nvCxnSpPr>
        <p:spPr>
          <a:xfrm flipH="1">
            <a:off x="2788312" y="1531399"/>
            <a:ext cx="2401" cy="3258959"/>
          </a:xfrm>
          <a:prstGeom prst="line">
            <a:avLst/>
          </a:prstGeom>
          <a:ln w="12700">
            <a:solidFill>
              <a:srgbClr val="715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o 2">
            <a:extLst>
              <a:ext uri="{FF2B5EF4-FFF2-40B4-BE49-F238E27FC236}">
                <a16:creationId xmlns:a16="http://schemas.microsoft.com/office/drawing/2014/main" id="{7D9F08C6-EE55-881A-7B6E-41B3FA50CD2B}"/>
              </a:ext>
            </a:extLst>
          </p:cNvPr>
          <p:cNvGrpSpPr/>
          <p:nvPr/>
        </p:nvGrpSpPr>
        <p:grpSpPr>
          <a:xfrm>
            <a:off x="2198148" y="1338657"/>
            <a:ext cx="5042238" cy="3835947"/>
            <a:chOff x="2181522" y="1338657"/>
            <a:chExt cx="5042238" cy="3835947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54362AE3-4B1A-26F8-F235-56BA05555509}"/>
                </a:ext>
              </a:extLst>
            </p:cNvPr>
            <p:cNvGrpSpPr/>
            <p:nvPr/>
          </p:nvGrpSpPr>
          <p:grpSpPr>
            <a:xfrm>
              <a:off x="2181522" y="1338657"/>
              <a:ext cx="5042238" cy="528933"/>
              <a:chOff x="552228" y="1338657"/>
              <a:chExt cx="5042238" cy="528933"/>
            </a:xfrm>
          </p:grpSpPr>
          <p:sp>
            <p:nvSpPr>
              <p:cNvPr id="5" name="Rectángulo 4">
                <a:extLst>
                  <a:ext uri="{FF2B5EF4-FFF2-40B4-BE49-F238E27FC236}">
                    <a16:creationId xmlns:a16="http://schemas.microsoft.com/office/drawing/2014/main" id="{C98D9F60-D6EE-FD53-0776-9C8F4CFFE069}"/>
                  </a:ext>
                </a:extLst>
              </p:cNvPr>
              <p:cNvSpPr/>
              <p:nvPr/>
            </p:nvSpPr>
            <p:spPr>
              <a:xfrm>
                <a:off x="1356793" y="1436703"/>
                <a:ext cx="4237673" cy="430887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R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 i="0" dirty="0">
                    <a:solidFill>
                      <a:srgbClr val="7150A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PLANIFICACIÓN</a:t>
                </a:r>
                <a:r>
                  <a:rPr lang="es-ES" b="0" i="0" dirty="0">
                    <a:solidFill>
                      <a:srgbClr val="7150A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:</a:t>
                </a:r>
              </a:p>
              <a:p>
                <a:pPr marR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0" i="0" dirty="0">
                    <a:solidFill>
                      <a:srgbClr val="37415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Identificación de sistemas y componentes a integrar.</a:t>
                </a:r>
                <a:endParaRPr lang="es-E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669B3541-08C3-D9DD-ED3D-7C56FA404335}"/>
                  </a:ext>
                </a:extLst>
              </p:cNvPr>
              <p:cNvSpPr/>
              <p:nvPr/>
            </p:nvSpPr>
            <p:spPr>
              <a:xfrm>
                <a:off x="552228" y="1338657"/>
                <a:ext cx="400819" cy="430887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s-ES" sz="2800" b="1" dirty="0">
                    <a:solidFill>
                      <a:srgbClr val="7150A0"/>
                    </a:solidFill>
                    <a:latin typeface="Calibri" charset="0"/>
                    <a:ea typeface="Calibri" charset="0"/>
                    <a:cs typeface="Calibri" charset="0"/>
                  </a:rPr>
                  <a:t>01</a:t>
                </a:r>
                <a:endParaRPr lang="es-PE" sz="2800" b="1" dirty="0">
                  <a:solidFill>
                    <a:srgbClr val="7150A0"/>
                  </a:solidFill>
                  <a:latin typeface="Calibri" charset="0"/>
                  <a:ea typeface="Calibri" charset="0"/>
                  <a:cs typeface="Calibri" charset="0"/>
                </a:endParaRPr>
              </a:p>
            </p:txBody>
          </p:sp>
          <p:grpSp>
            <p:nvGrpSpPr>
              <p:cNvPr id="8" name="Agrupar 29">
                <a:extLst>
                  <a:ext uri="{FF2B5EF4-FFF2-40B4-BE49-F238E27FC236}">
                    <a16:creationId xmlns:a16="http://schemas.microsoft.com/office/drawing/2014/main" id="{2B836F7C-283E-5376-EC82-72BE1E331F73}"/>
                  </a:ext>
                </a:extLst>
              </p:cNvPr>
              <p:cNvGrpSpPr/>
              <p:nvPr/>
            </p:nvGrpSpPr>
            <p:grpSpPr>
              <a:xfrm>
                <a:off x="1071996" y="1453848"/>
                <a:ext cx="140792" cy="140258"/>
                <a:chOff x="3427964" y="2244682"/>
                <a:chExt cx="225891" cy="225034"/>
              </a:xfrm>
            </p:grpSpPr>
            <p:sp>
              <p:nvSpPr>
                <p:cNvPr id="9" name="Elipse 8">
                  <a:extLst>
                    <a:ext uri="{FF2B5EF4-FFF2-40B4-BE49-F238E27FC236}">
                      <a16:creationId xmlns:a16="http://schemas.microsoft.com/office/drawing/2014/main" id="{F2270AC6-50CB-5EF4-A8EA-7A7053AC0740}"/>
                    </a:ext>
                  </a:extLst>
                </p:cNvPr>
                <p:cNvSpPr/>
                <p:nvPr/>
              </p:nvSpPr>
              <p:spPr>
                <a:xfrm>
                  <a:off x="3427964" y="2244682"/>
                  <a:ext cx="225891" cy="225034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714F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0" name="Elipse 9">
                  <a:extLst>
                    <a:ext uri="{FF2B5EF4-FFF2-40B4-BE49-F238E27FC236}">
                      <a16:creationId xmlns:a16="http://schemas.microsoft.com/office/drawing/2014/main" id="{B8F88082-BB43-540F-99A6-B2576E3F0880}"/>
                    </a:ext>
                  </a:extLst>
                </p:cNvPr>
                <p:cNvSpPr/>
                <p:nvPr/>
              </p:nvSpPr>
              <p:spPr>
                <a:xfrm>
                  <a:off x="3482167" y="2298680"/>
                  <a:ext cx="117483" cy="117037"/>
                </a:xfrm>
                <a:prstGeom prst="ellipse">
                  <a:avLst/>
                </a:prstGeom>
                <a:solidFill>
                  <a:srgbClr val="714FA0"/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dirty="0">
                    <a:latin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D419D171-1400-BA70-C57A-752052E7731A}"/>
                </a:ext>
              </a:extLst>
            </p:cNvPr>
            <p:cNvGrpSpPr/>
            <p:nvPr/>
          </p:nvGrpSpPr>
          <p:grpSpPr>
            <a:xfrm>
              <a:off x="2181522" y="2000060"/>
              <a:ext cx="5042238" cy="528933"/>
              <a:chOff x="552228" y="1338657"/>
              <a:chExt cx="5042238" cy="528933"/>
            </a:xfrm>
          </p:grpSpPr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1AECC995-EE10-6575-6462-335B53DE218E}"/>
                  </a:ext>
                </a:extLst>
              </p:cNvPr>
              <p:cNvSpPr/>
              <p:nvPr/>
            </p:nvSpPr>
            <p:spPr>
              <a:xfrm>
                <a:off x="1356793" y="1436703"/>
                <a:ext cx="4237673" cy="430887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R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 i="0" dirty="0">
                    <a:solidFill>
                      <a:srgbClr val="7150A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DISEÑO</a:t>
                </a:r>
                <a:r>
                  <a:rPr lang="es-ES" b="0" i="0" dirty="0">
                    <a:solidFill>
                      <a:srgbClr val="7150A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:</a:t>
                </a:r>
              </a:p>
              <a:p>
                <a:pPr marR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0" i="0" dirty="0">
                    <a:solidFill>
                      <a:srgbClr val="37415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Definición de la arquitectura de integración.</a:t>
                </a:r>
                <a:endParaRPr lang="es-E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A11002B1-561A-CA28-0401-9457A92C4F7D}"/>
                  </a:ext>
                </a:extLst>
              </p:cNvPr>
              <p:cNvSpPr/>
              <p:nvPr/>
            </p:nvSpPr>
            <p:spPr>
              <a:xfrm>
                <a:off x="552228" y="1338657"/>
                <a:ext cx="400819" cy="430887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s-ES" sz="2800" b="1" dirty="0">
                    <a:solidFill>
                      <a:srgbClr val="7150A0"/>
                    </a:solidFill>
                    <a:latin typeface="Calibri" charset="0"/>
                    <a:ea typeface="Calibri" charset="0"/>
                    <a:cs typeface="Calibri" charset="0"/>
                  </a:rPr>
                  <a:t>02</a:t>
                </a:r>
                <a:endParaRPr lang="es-PE" sz="2800" b="1" dirty="0">
                  <a:solidFill>
                    <a:srgbClr val="7150A0"/>
                  </a:solidFill>
                  <a:latin typeface="Calibri" charset="0"/>
                  <a:ea typeface="Calibri" charset="0"/>
                  <a:cs typeface="Calibri" charset="0"/>
                </a:endParaRPr>
              </a:p>
            </p:txBody>
          </p:sp>
          <p:grpSp>
            <p:nvGrpSpPr>
              <p:cNvPr id="16" name="Agrupar 29">
                <a:extLst>
                  <a:ext uri="{FF2B5EF4-FFF2-40B4-BE49-F238E27FC236}">
                    <a16:creationId xmlns:a16="http://schemas.microsoft.com/office/drawing/2014/main" id="{931CA7B2-1E7F-875C-7386-593183FEE4C6}"/>
                  </a:ext>
                </a:extLst>
              </p:cNvPr>
              <p:cNvGrpSpPr/>
              <p:nvPr/>
            </p:nvGrpSpPr>
            <p:grpSpPr>
              <a:xfrm>
                <a:off x="1071996" y="1453848"/>
                <a:ext cx="140792" cy="140258"/>
                <a:chOff x="3427964" y="2244682"/>
                <a:chExt cx="225891" cy="225034"/>
              </a:xfrm>
            </p:grpSpPr>
            <p:sp>
              <p:nvSpPr>
                <p:cNvPr id="17" name="Elipse 16">
                  <a:extLst>
                    <a:ext uri="{FF2B5EF4-FFF2-40B4-BE49-F238E27FC236}">
                      <a16:creationId xmlns:a16="http://schemas.microsoft.com/office/drawing/2014/main" id="{D62CFACD-B842-4CCA-467F-1965A3BA8DA8}"/>
                    </a:ext>
                  </a:extLst>
                </p:cNvPr>
                <p:cNvSpPr/>
                <p:nvPr/>
              </p:nvSpPr>
              <p:spPr>
                <a:xfrm>
                  <a:off x="3427964" y="2244682"/>
                  <a:ext cx="225891" cy="225034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714F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8" name="Elipse 17">
                  <a:extLst>
                    <a:ext uri="{FF2B5EF4-FFF2-40B4-BE49-F238E27FC236}">
                      <a16:creationId xmlns:a16="http://schemas.microsoft.com/office/drawing/2014/main" id="{F6B48CEE-2CAB-0DAF-DF84-2E5FA0159126}"/>
                    </a:ext>
                  </a:extLst>
                </p:cNvPr>
                <p:cNvSpPr/>
                <p:nvPr/>
              </p:nvSpPr>
              <p:spPr>
                <a:xfrm>
                  <a:off x="3482167" y="2298680"/>
                  <a:ext cx="117483" cy="117037"/>
                </a:xfrm>
                <a:prstGeom prst="ellipse">
                  <a:avLst/>
                </a:prstGeom>
                <a:solidFill>
                  <a:srgbClr val="714FA0"/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dirty="0">
                    <a:latin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139772B8-04F7-77AA-CCA7-DA0092D62395}"/>
                </a:ext>
              </a:extLst>
            </p:cNvPr>
            <p:cNvGrpSpPr/>
            <p:nvPr/>
          </p:nvGrpSpPr>
          <p:grpSpPr>
            <a:xfrm>
              <a:off x="2181522" y="2661463"/>
              <a:ext cx="5042238" cy="528933"/>
              <a:chOff x="552228" y="1338657"/>
              <a:chExt cx="5042238" cy="528933"/>
            </a:xfrm>
          </p:grpSpPr>
          <p:sp>
            <p:nvSpPr>
              <p:cNvPr id="20" name="Rectángulo 19">
                <a:extLst>
                  <a:ext uri="{FF2B5EF4-FFF2-40B4-BE49-F238E27FC236}">
                    <a16:creationId xmlns:a16="http://schemas.microsoft.com/office/drawing/2014/main" id="{D43B5FEC-0208-BDCE-7D36-CA9B468E12D1}"/>
                  </a:ext>
                </a:extLst>
              </p:cNvPr>
              <p:cNvSpPr/>
              <p:nvPr/>
            </p:nvSpPr>
            <p:spPr>
              <a:xfrm>
                <a:off x="1356793" y="1436703"/>
                <a:ext cx="4237673" cy="430887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R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 i="0" dirty="0">
                    <a:solidFill>
                      <a:srgbClr val="7150A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DESARROLLO</a:t>
                </a:r>
                <a:r>
                  <a:rPr lang="es-ES" b="0" i="0" dirty="0">
                    <a:solidFill>
                      <a:srgbClr val="7150A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:</a:t>
                </a:r>
              </a:p>
              <a:p>
                <a:pPr marR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0" i="0" dirty="0">
                    <a:solidFill>
                      <a:srgbClr val="37415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Implementación del código necesario para la integración.</a:t>
                </a:r>
                <a:endParaRPr lang="es-E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1" name="Rectángulo 20">
                <a:extLst>
                  <a:ext uri="{FF2B5EF4-FFF2-40B4-BE49-F238E27FC236}">
                    <a16:creationId xmlns:a16="http://schemas.microsoft.com/office/drawing/2014/main" id="{7BA7F649-778D-9EA0-89F3-07E2CD4D525B}"/>
                  </a:ext>
                </a:extLst>
              </p:cNvPr>
              <p:cNvSpPr/>
              <p:nvPr/>
            </p:nvSpPr>
            <p:spPr>
              <a:xfrm>
                <a:off x="552228" y="1338657"/>
                <a:ext cx="400819" cy="430887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s-ES" sz="2800" b="1" dirty="0">
                    <a:solidFill>
                      <a:srgbClr val="7150A0"/>
                    </a:solidFill>
                    <a:latin typeface="Calibri" charset="0"/>
                    <a:ea typeface="Calibri" charset="0"/>
                    <a:cs typeface="Calibri" charset="0"/>
                  </a:rPr>
                  <a:t>03</a:t>
                </a:r>
                <a:endParaRPr lang="es-PE" sz="2800" b="1" dirty="0">
                  <a:solidFill>
                    <a:srgbClr val="7150A0"/>
                  </a:solidFill>
                  <a:latin typeface="Calibri" charset="0"/>
                  <a:ea typeface="Calibri" charset="0"/>
                  <a:cs typeface="Calibri" charset="0"/>
                </a:endParaRPr>
              </a:p>
            </p:txBody>
          </p:sp>
          <p:grpSp>
            <p:nvGrpSpPr>
              <p:cNvPr id="22" name="Agrupar 29">
                <a:extLst>
                  <a:ext uri="{FF2B5EF4-FFF2-40B4-BE49-F238E27FC236}">
                    <a16:creationId xmlns:a16="http://schemas.microsoft.com/office/drawing/2014/main" id="{789C5953-9D38-3DC6-8399-45B2D16F5648}"/>
                  </a:ext>
                </a:extLst>
              </p:cNvPr>
              <p:cNvGrpSpPr/>
              <p:nvPr/>
            </p:nvGrpSpPr>
            <p:grpSpPr>
              <a:xfrm>
                <a:off x="1071996" y="1453848"/>
                <a:ext cx="140792" cy="140258"/>
                <a:chOff x="3427964" y="2244682"/>
                <a:chExt cx="225891" cy="225034"/>
              </a:xfrm>
            </p:grpSpPr>
            <p:sp>
              <p:nvSpPr>
                <p:cNvPr id="23" name="Elipse 22">
                  <a:extLst>
                    <a:ext uri="{FF2B5EF4-FFF2-40B4-BE49-F238E27FC236}">
                      <a16:creationId xmlns:a16="http://schemas.microsoft.com/office/drawing/2014/main" id="{BB3E4D2B-E585-A332-1A39-7A73E0BDEE50}"/>
                    </a:ext>
                  </a:extLst>
                </p:cNvPr>
                <p:cNvSpPr/>
                <p:nvPr/>
              </p:nvSpPr>
              <p:spPr>
                <a:xfrm>
                  <a:off x="3427964" y="2244682"/>
                  <a:ext cx="225891" cy="225034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714F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24" name="Elipse 23">
                  <a:extLst>
                    <a:ext uri="{FF2B5EF4-FFF2-40B4-BE49-F238E27FC236}">
                      <a16:creationId xmlns:a16="http://schemas.microsoft.com/office/drawing/2014/main" id="{586D26E8-80E0-3E11-3999-A09D2C04048E}"/>
                    </a:ext>
                  </a:extLst>
                </p:cNvPr>
                <p:cNvSpPr/>
                <p:nvPr/>
              </p:nvSpPr>
              <p:spPr>
                <a:xfrm>
                  <a:off x="3482167" y="2298680"/>
                  <a:ext cx="117483" cy="117037"/>
                </a:xfrm>
                <a:prstGeom prst="ellipse">
                  <a:avLst/>
                </a:prstGeom>
                <a:solidFill>
                  <a:srgbClr val="714FA0"/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dirty="0">
                    <a:latin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5CCCA212-BF51-0B9A-231E-35A193C3F0C2}"/>
                </a:ext>
              </a:extLst>
            </p:cNvPr>
            <p:cNvGrpSpPr/>
            <p:nvPr/>
          </p:nvGrpSpPr>
          <p:grpSpPr>
            <a:xfrm>
              <a:off x="2181522" y="3322866"/>
              <a:ext cx="5042238" cy="528933"/>
              <a:chOff x="552228" y="1338657"/>
              <a:chExt cx="5042238" cy="528933"/>
            </a:xfrm>
          </p:grpSpPr>
          <p:sp>
            <p:nvSpPr>
              <p:cNvPr id="26" name="Rectángulo 25">
                <a:extLst>
                  <a:ext uri="{FF2B5EF4-FFF2-40B4-BE49-F238E27FC236}">
                    <a16:creationId xmlns:a16="http://schemas.microsoft.com/office/drawing/2014/main" id="{CE607D68-90F4-407B-A9B1-1F9D4FEE10F7}"/>
                  </a:ext>
                </a:extLst>
              </p:cNvPr>
              <p:cNvSpPr/>
              <p:nvPr/>
            </p:nvSpPr>
            <p:spPr>
              <a:xfrm>
                <a:off x="1356793" y="1436703"/>
                <a:ext cx="4237673" cy="430887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R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 i="0" dirty="0">
                    <a:solidFill>
                      <a:srgbClr val="7150A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PRUEBAS:</a:t>
                </a:r>
                <a:endParaRPr lang="es-ES" dirty="0">
                  <a:solidFill>
                    <a:srgbClr val="7150A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R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0" i="0" dirty="0">
                    <a:solidFill>
                      <a:srgbClr val="37415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Verificación de la funcionalidad y la interoperabilidad.</a:t>
                </a:r>
                <a:endParaRPr lang="es-E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7" name="Rectángulo 26">
                <a:extLst>
                  <a:ext uri="{FF2B5EF4-FFF2-40B4-BE49-F238E27FC236}">
                    <a16:creationId xmlns:a16="http://schemas.microsoft.com/office/drawing/2014/main" id="{C3D41805-7014-3793-EC8E-C30AC4EE8E5E}"/>
                  </a:ext>
                </a:extLst>
              </p:cNvPr>
              <p:cNvSpPr/>
              <p:nvPr/>
            </p:nvSpPr>
            <p:spPr>
              <a:xfrm>
                <a:off x="552228" y="1338657"/>
                <a:ext cx="400819" cy="430887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s-ES" sz="2800" b="1" dirty="0">
                    <a:solidFill>
                      <a:srgbClr val="7150A0"/>
                    </a:solidFill>
                    <a:latin typeface="Calibri" charset="0"/>
                    <a:ea typeface="Calibri" charset="0"/>
                    <a:cs typeface="Calibri" charset="0"/>
                  </a:rPr>
                  <a:t>04</a:t>
                </a:r>
                <a:endParaRPr lang="es-PE" sz="2800" b="1" dirty="0">
                  <a:solidFill>
                    <a:srgbClr val="7150A0"/>
                  </a:solidFill>
                  <a:latin typeface="Calibri" charset="0"/>
                  <a:ea typeface="Calibri" charset="0"/>
                  <a:cs typeface="Calibri" charset="0"/>
                </a:endParaRPr>
              </a:p>
            </p:txBody>
          </p:sp>
          <p:grpSp>
            <p:nvGrpSpPr>
              <p:cNvPr id="28" name="Agrupar 29">
                <a:extLst>
                  <a:ext uri="{FF2B5EF4-FFF2-40B4-BE49-F238E27FC236}">
                    <a16:creationId xmlns:a16="http://schemas.microsoft.com/office/drawing/2014/main" id="{9F561CE9-3CD0-D024-4F8D-192C76E9A8C0}"/>
                  </a:ext>
                </a:extLst>
              </p:cNvPr>
              <p:cNvGrpSpPr/>
              <p:nvPr/>
            </p:nvGrpSpPr>
            <p:grpSpPr>
              <a:xfrm>
                <a:off x="1071996" y="1453848"/>
                <a:ext cx="140792" cy="140258"/>
                <a:chOff x="3427964" y="2244682"/>
                <a:chExt cx="225891" cy="225034"/>
              </a:xfrm>
            </p:grpSpPr>
            <p:sp>
              <p:nvSpPr>
                <p:cNvPr id="29" name="Elipse 28">
                  <a:extLst>
                    <a:ext uri="{FF2B5EF4-FFF2-40B4-BE49-F238E27FC236}">
                      <a16:creationId xmlns:a16="http://schemas.microsoft.com/office/drawing/2014/main" id="{CFAA1F6C-A20B-0288-369D-60320588E6BE}"/>
                    </a:ext>
                  </a:extLst>
                </p:cNvPr>
                <p:cNvSpPr/>
                <p:nvPr/>
              </p:nvSpPr>
              <p:spPr>
                <a:xfrm>
                  <a:off x="3427964" y="2244682"/>
                  <a:ext cx="225891" cy="225034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714F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" name="Elipse 29">
                  <a:extLst>
                    <a:ext uri="{FF2B5EF4-FFF2-40B4-BE49-F238E27FC236}">
                      <a16:creationId xmlns:a16="http://schemas.microsoft.com/office/drawing/2014/main" id="{2710456D-A526-97D5-6A5C-BA07839DA197}"/>
                    </a:ext>
                  </a:extLst>
                </p:cNvPr>
                <p:cNvSpPr/>
                <p:nvPr/>
              </p:nvSpPr>
              <p:spPr>
                <a:xfrm>
                  <a:off x="3482167" y="2298680"/>
                  <a:ext cx="117483" cy="117037"/>
                </a:xfrm>
                <a:prstGeom prst="ellipse">
                  <a:avLst/>
                </a:prstGeom>
                <a:solidFill>
                  <a:srgbClr val="714FA0"/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dirty="0">
                    <a:latin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1" name="Grupo 30">
              <a:extLst>
                <a:ext uri="{FF2B5EF4-FFF2-40B4-BE49-F238E27FC236}">
                  <a16:creationId xmlns:a16="http://schemas.microsoft.com/office/drawing/2014/main" id="{A0F1E98A-DA3F-E34C-2243-01041447710F}"/>
                </a:ext>
              </a:extLst>
            </p:cNvPr>
            <p:cNvGrpSpPr/>
            <p:nvPr/>
          </p:nvGrpSpPr>
          <p:grpSpPr>
            <a:xfrm>
              <a:off x="2181522" y="3984269"/>
              <a:ext cx="5042238" cy="528933"/>
              <a:chOff x="552228" y="1338657"/>
              <a:chExt cx="5042238" cy="528933"/>
            </a:xfrm>
          </p:grpSpPr>
          <p:sp>
            <p:nvSpPr>
              <p:cNvPr id="32" name="Rectángulo 31">
                <a:extLst>
                  <a:ext uri="{FF2B5EF4-FFF2-40B4-BE49-F238E27FC236}">
                    <a16:creationId xmlns:a16="http://schemas.microsoft.com/office/drawing/2014/main" id="{9FC1AD07-D396-1F1A-DC48-637CCDC0B14D}"/>
                  </a:ext>
                </a:extLst>
              </p:cNvPr>
              <p:cNvSpPr/>
              <p:nvPr/>
            </p:nvSpPr>
            <p:spPr>
              <a:xfrm>
                <a:off x="1356793" y="1436703"/>
                <a:ext cx="4237673" cy="430887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R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 i="0" dirty="0">
                    <a:solidFill>
                      <a:srgbClr val="7150A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DESPLIEGUE</a:t>
                </a:r>
                <a:r>
                  <a:rPr lang="es-ES" b="0" i="0" dirty="0">
                    <a:solidFill>
                      <a:srgbClr val="7150A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:</a:t>
                </a:r>
              </a:p>
              <a:p>
                <a:pPr marR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0" i="0" dirty="0">
                    <a:solidFill>
                      <a:srgbClr val="37415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Implementación en el entorno de producción.</a:t>
                </a:r>
                <a:endParaRPr lang="es-E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Rectángulo 32">
                <a:extLst>
                  <a:ext uri="{FF2B5EF4-FFF2-40B4-BE49-F238E27FC236}">
                    <a16:creationId xmlns:a16="http://schemas.microsoft.com/office/drawing/2014/main" id="{7589A794-F97B-1593-4241-D721BCBAC6E6}"/>
                  </a:ext>
                </a:extLst>
              </p:cNvPr>
              <p:cNvSpPr/>
              <p:nvPr/>
            </p:nvSpPr>
            <p:spPr>
              <a:xfrm>
                <a:off x="552228" y="1338657"/>
                <a:ext cx="400819" cy="430887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s-ES" sz="2800" b="1" dirty="0">
                    <a:solidFill>
                      <a:srgbClr val="7150A0"/>
                    </a:solidFill>
                    <a:latin typeface="Calibri" charset="0"/>
                    <a:ea typeface="Calibri" charset="0"/>
                    <a:cs typeface="Calibri" charset="0"/>
                  </a:rPr>
                  <a:t>05</a:t>
                </a:r>
                <a:endParaRPr lang="es-PE" sz="2800" b="1" dirty="0">
                  <a:solidFill>
                    <a:srgbClr val="7150A0"/>
                  </a:solidFill>
                  <a:latin typeface="Calibri" charset="0"/>
                  <a:ea typeface="Calibri" charset="0"/>
                  <a:cs typeface="Calibri" charset="0"/>
                </a:endParaRPr>
              </a:p>
            </p:txBody>
          </p:sp>
          <p:grpSp>
            <p:nvGrpSpPr>
              <p:cNvPr id="34" name="Agrupar 29">
                <a:extLst>
                  <a:ext uri="{FF2B5EF4-FFF2-40B4-BE49-F238E27FC236}">
                    <a16:creationId xmlns:a16="http://schemas.microsoft.com/office/drawing/2014/main" id="{AF4F2DBB-DEE0-9B0B-3AFD-8A130F33893B}"/>
                  </a:ext>
                </a:extLst>
              </p:cNvPr>
              <p:cNvGrpSpPr/>
              <p:nvPr/>
            </p:nvGrpSpPr>
            <p:grpSpPr>
              <a:xfrm>
                <a:off x="1071996" y="1453848"/>
                <a:ext cx="140792" cy="140258"/>
                <a:chOff x="3427964" y="2244682"/>
                <a:chExt cx="225891" cy="225034"/>
              </a:xfrm>
            </p:grpSpPr>
            <p:sp>
              <p:nvSpPr>
                <p:cNvPr id="35" name="Elipse 34">
                  <a:extLst>
                    <a:ext uri="{FF2B5EF4-FFF2-40B4-BE49-F238E27FC236}">
                      <a16:creationId xmlns:a16="http://schemas.microsoft.com/office/drawing/2014/main" id="{1ABA719B-7251-06D1-3C02-F4E5BE9FA4F1}"/>
                    </a:ext>
                  </a:extLst>
                </p:cNvPr>
                <p:cNvSpPr/>
                <p:nvPr/>
              </p:nvSpPr>
              <p:spPr>
                <a:xfrm>
                  <a:off x="3427964" y="2244682"/>
                  <a:ext cx="225891" cy="225034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714F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6" name="Elipse 35">
                  <a:extLst>
                    <a:ext uri="{FF2B5EF4-FFF2-40B4-BE49-F238E27FC236}">
                      <a16:creationId xmlns:a16="http://schemas.microsoft.com/office/drawing/2014/main" id="{0DCD2429-9BAE-BC81-103E-86E17DFFB1C6}"/>
                    </a:ext>
                  </a:extLst>
                </p:cNvPr>
                <p:cNvSpPr/>
                <p:nvPr/>
              </p:nvSpPr>
              <p:spPr>
                <a:xfrm>
                  <a:off x="3482167" y="2298680"/>
                  <a:ext cx="117483" cy="117037"/>
                </a:xfrm>
                <a:prstGeom prst="ellipse">
                  <a:avLst/>
                </a:prstGeom>
                <a:solidFill>
                  <a:srgbClr val="714FA0"/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dirty="0">
                    <a:latin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7" name="Grupo 36">
              <a:extLst>
                <a:ext uri="{FF2B5EF4-FFF2-40B4-BE49-F238E27FC236}">
                  <a16:creationId xmlns:a16="http://schemas.microsoft.com/office/drawing/2014/main" id="{26D49B68-33B3-2B5D-052D-96556FA6FE56}"/>
                </a:ext>
              </a:extLst>
            </p:cNvPr>
            <p:cNvGrpSpPr/>
            <p:nvPr/>
          </p:nvGrpSpPr>
          <p:grpSpPr>
            <a:xfrm>
              <a:off x="2181522" y="4645671"/>
              <a:ext cx="5042238" cy="528933"/>
              <a:chOff x="552228" y="1338657"/>
              <a:chExt cx="5042238" cy="528933"/>
            </a:xfrm>
          </p:grpSpPr>
          <p:sp>
            <p:nvSpPr>
              <p:cNvPr id="38" name="Rectángulo 37">
                <a:extLst>
                  <a:ext uri="{FF2B5EF4-FFF2-40B4-BE49-F238E27FC236}">
                    <a16:creationId xmlns:a16="http://schemas.microsoft.com/office/drawing/2014/main" id="{77018FC6-C83B-29F9-E5D6-60B97B5BA042}"/>
                  </a:ext>
                </a:extLst>
              </p:cNvPr>
              <p:cNvSpPr/>
              <p:nvPr/>
            </p:nvSpPr>
            <p:spPr>
              <a:xfrm>
                <a:off x="1356793" y="1436703"/>
                <a:ext cx="4237673" cy="430887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R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 i="0" dirty="0">
                    <a:solidFill>
                      <a:srgbClr val="7150A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MANTENIMIENTO</a:t>
                </a:r>
                <a:r>
                  <a:rPr lang="es-ES" b="0" i="0" dirty="0">
                    <a:solidFill>
                      <a:srgbClr val="7150A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:</a:t>
                </a:r>
              </a:p>
              <a:p>
                <a:pPr marR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0" i="0" dirty="0">
                    <a:solidFill>
                      <a:srgbClr val="37415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Monitorización y actualización continua.</a:t>
                </a:r>
                <a:endParaRPr lang="es-E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9" name="Rectángulo 38">
                <a:extLst>
                  <a:ext uri="{FF2B5EF4-FFF2-40B4-BE49-F238E27FC236}">
                    <a16:creationId xmlns:a16="http://schemas.microsoft.com/office/drawing/2014/main" id="{BAE356A4-030E-8F9B-932A-8D4757A09EC6}"/>
                  </a:ext>
                </a:extLst>
              </p:cNvPr>
              <p:cNvSpPr/>
              <p:nvPr/>
            </p:nvSpPr>
            <p:spPr>
              <a:xfrm>
                <a:off x="552228" y="1338657"/>
                <a:ext cx="400819" cy="430887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s-ES" sz="2800" b="1" dirty="0">
                    <a:solidFill>
                      <a:srgbClr val="7150A0"/>
                    </a:solidFill>
                    <a:latin typeface="Calibri" charset="0"/>
                    <a:ea typeface="Calibri" charset="0"/>
                    <a:cs typeface="Calibri" charset="0"/>
                  </a:rPr>
                  <a:t>06</a:t>
                </a:r>
                <a:endParaRPr lang="es-PE" sz="2800" b="1" dirty="0">
                  <a:solidFill>
                    <a:srgbClr val="7150A0"/>
                  </a:solidFill>
                  <a:latin typeface="Calibri" charset="0"/>
                  <a:ea typeface="Calibri" charset="0"/>
                  <a:cs typeface="Calibri" charset="0"/>
                </a:endParaRPr>
              </a:p>
            </p:txBody>
          </p:sp>
          <p:grpSp>
            <p:nvGrpSpPr>
              <p:cNvPr id="40" name="Agrupar 29">
                <a:extLst>
                  <a:ext uri="{FF2B5EF4-FFF2-40B4-BE49-F238E27FC236}">
                    <a16:creationId xmlns:a16="http://schemas.microsoft.com/office/drawing/2014/main" id="{6C4230FB-92F1-D2BD-5117-CB93534E62F3}"/>
                  </a:ext>
                </a:extLst>
              </p:cNvPr>
              <p:cNvGrpSpPr/>
              <p:nvPr/>
            </p:nvGrpSpPr>
            <p:grpSpPr>
              <a:xfrm>
                <a:off x="1071996" y="1453848"/>
                <a:ext cx="140792" cy="140258"/>
                <a:chOff x="3427964" y="2244682"/>
                <a:chExt cx="225891" cy="225034"/>
              </a:xfrm>
            </p:grpSpPr>
            <p:sp>
              <p:nvSpPr>
                <p:cNvPr id="41" name="Elipse 40">
                  <a:extLst>
                    <a:ext uri="{FF2B5EF4-FFF2-40B4-BE49-F238E27FC236}">
                      <a16:creationId xmlns:a16="http://schemas.microsoft.com/office/drawing/2014/main" id="{C68B4764-3463-A5CE-3D1F-2A1882AA0AFF}"/>
                    </a:ext>
                  </a:extLst>
                </p:cNvPr>
                <p:cNvSpPr/>
                <p:nvPr/>
              </p:nvSpPr>
              <p:spPr>
                <a:xfrm>
                  <a:off x="3427964" y="2244682"/>
                  <a:ext cx="225891" cy="225034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714F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42" name="Elipse 41">
                  <a:extLst>
                    <a:ext uri="{FF2B5EF4-FFF2-40B4-BE49-F238E27FC236}">
                      <a16:creationId xmlns:a16="http://schemas.microsoft.com/office/drawing/2014/main" id="{1220708B-DE9A-8238-648F-50E0CB7C5C84}"/>
                    </a:ext>
                  </a:extLst>
                </p:cNvPr>
                <p:cNvSpPr/>
                <p:nvPr/>
              </p:nvSpPr>
              <p:spPr>
                <a:xfrm>
                  <a:off x="3482167" y="2298680"/>
                  <a:ext cx="117483" cy="117037"/>
                </a:xfrm>
                <a:prstGeom prst="ellipse">
                  <a:avLst/>
                </a:prstGeom>
                <a:solidFill>
                  <a:srgbClr val="714FA0"/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dirty="0">
                    <a:latin typeface="Calibri" panose="020F0502020204030204" pitchFamily="34" charset="0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 txBox="1"/>
          <p:nvPr/>
        </p:nvSpPr>
        <p:spPr>
          <a:xfrm>
            <a:off x="510612" y="918600"/>
            <a:ext cx="7455000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600"/>
              </a:spcAft>
            </a:pPr>
            <a:r>
              <a:rPr lang="es-ES" sz="1600" b="1" i="0" dirty="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IMPORTANCIA DE CADA ETAPA</a:t>
            </a:r>
            <a:r>
              <a:rPr lang="es-ES" sz="1600" i="0" dirty="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R="0" lvl="0" algn="l" rtl="0">
              <a:spcBef>
                <a:spcPts val="0"/>
              </a:spcBef>
              <a:spcAft>
                <a:spcPts val="600"/>
              </a:spcAft>
            </a:pPr>
            <a:endParaRPr lang="es-ES" sz="16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 panose="020B0604020202020204" pitchFamily="34" charset="0"/>
              <a:buChar char="•"/>
            </a:pPr>
            <a:r>
              <a:rPr lang="es-ES" sz="1600" b="1" i="0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Planificación y Diseño: </a:t>
            </a:r>
            <a:r>
              <a:rPr lang="es-ES" sz="1600" i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Estas etapas aseguran que todas las partes interesadas comprendan el objetivo del proyecto y que se seleccionen las tecnologías y enfoques adecuados para la integración.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 panose="020B0604020202020204" pitchFamily="34" charset="0"/>
              <a:buChar char="•"/>
            </a:pPr>
            <a:endParaRPr sz="1600" i="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 panose="020B0604020202020204" pitchFamily="34" charset="0"/>
              <a:buChar char="•"/>
            </a:pPr>
            <a:r>
              <a:rPr lang="es-ES" sz="1600" b="1" i="0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Desarrollo y Pruebas: </a:t>
            </a:r>
            <a:r>
              <a:rPr lang="es-ES" sz="1600" i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Estas fases son esenciales para asegurar que la integración funcione correctamente y cumpla con los requisitos establecidos.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 panose="020B0604020202020204" pitchFamily="34" charset="0"/>
              <a:buChar char="•"/>
            </a:pPr>
            <a:endParaRPr sz="1600" i="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 panose="020B0604020202020204" pitchFamily="34" charset="0"/>
              <a:buChar char="•"/>
            </a:pPr>
            <a:r>
              <a:rPr lang="es-ES" sz="1600" b="1" i="0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Despliegue y Mantenimiento: </a:t>
            </a:r>
            <a:r>
              <a:rPr lang="es-ES" sz="1600" i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Garantizan que la solución integrada se implemente sin problemas y se mantenga actualizada y operativa.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84759376-D58B-1614-D3C1-AB4E99CB3FF1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PROCESO DE INTEGRACIÓN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"/>
          <p:cNvSpPr txBox="1"/>
          <p:nvPr/>
        </p:nvSpPr>
        <p:spPr>
          <a:xfrm>
            <a:off x="510612" y="918600"/>
            <a:ext cx="530260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HERRAMIENTAS COMUNES:</a:t>
            </a:r>
            <a:endParaRPr lang="es-E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" name="Google Shape;92;p8"/>
          <p:cNvSpPr txBox="1"/>
          <p:nvPr/>
        </p:nvSpPr>
        <p:spPr>
          <a:xfrm>
            <a:off x="1536785" y="2782213"/>
            <a:ext cx="24821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https://</a:t>
            </a:r>
            <a:r>
              <a:rPr lang="es-ES" sz="100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www.youtube.com</a:t>
            </a:r>
            <a:r>
              <a:rPr lang="es-ES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s-ES" sz="100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watch?app</a:t>
            </a:r>
            <a:r>
              <a:rPr lang="es-ES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lang="es-ES" sz="100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desktop&amp;v</a:t>
            </a:r>
            <a:r>
              <a:rPr lang="es-ES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=u2Ms34GE14U</a:t>
            </a:r>
            <a:endParaRPr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93" name="Google Shape;93;p8" descr="Spring Framework - ¿Qué es Spring Framework?"/>
          <p:cNvPicPr preferRelativeResize="0"/>
          <p:nvPr/>
        </p:nvPicPr>
        <p:blipFill rotWithShape="1">
          <a:blip r:embed="rId3">
            <a:alphaModFix/>
          </a:blip>
          <a:srcRect l="26420" r="28762"/>
          <a:stretch/>
        </p:blipFill>
        <p:spPr>
          <a:xfrm>
            <a:off x="5554020" y="1489074"/>
            <a:ext cx="1582822" cy="11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8" descr="Spring Jdbc Tutorial | DevGlan"/>
          <p:cNvPicPr preferRelativeResize="0"/>
          <p:nvPr/>
        </p:nvPicPr>
        <p:blipFill rotWithShape="1">
          <a:blip r:embed="rId4">
            <a:alphaModFix/>
          </a:blip>
          <a:srcRect t="22593" b="16881"/>
          <a:stretch/>
        </p:blipFill>
        <p:spPr>
          <a:xfrm>
            <a:off x="5559237" y="3472083"/>
            <a:ext cx="1572388" cy="11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8" descr="Qué diferencias hay entre REST y SOAP y cuál es mejor?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55511" y="3472083"/>
            <a:ext cx="2044699" cy="11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8" descr="Qué es una API? - La mejor explicación en español - YouTub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83424" y="1489074"/>
            <a:ext cx="1988873" cy="11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8"/>
          <p:cNvSpPr txBox="1"/>
          <p:nvPr/>
        </p:nvSpPr>
        <p:spPr>
          <a:xfrm>
            <a:off x="1536785" y="4710960"/>
            <a:ext cx="24821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https://</a:t>
            </a:r>
            <a:r>
              <a:rPr lang="es-ES" sz="100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www.chakray.com</a:t>
            </a:r>
            <a:r>
              <a:rPr lang="es-ES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/es/que-diferencias-hay-entre-</a:t>
            </a:r>
            <a:r>
              <a:rPr lang="es-ES" sz="100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rest</a:t>
            </a:r>
            <a:r>
              <a:rPr lang="es-ES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-y-</a:t>
            </a:r>
            <a:r>
              <a:rPr lang="es-ES" sz="100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soap</a:t>
            </a:r>
            <a:r>
              <a:rPr lang="es-ES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8" name="Google Shape;98;p8"/>
          <p:cNvSpPr txBox="1"/>
          <p:nvPr/>
        </p:nvSpPr>
        <p:spPr>
          <a:xfrm>
            <a:off x="5139687" y="4710960"/>
            <a:ext cx="24114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https://</a:t>
            </a:r>
            <a:r>
              <a:rPr lang="es-ES" sz="100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www.devglan.com</a:t>
            </a:r>
            <a:r>
              <a:rPr lang="es-ES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s-ES" sz="100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tutorials</a:t>
            </a:r>
            <a:r>
              <a:rPr lang="es-ES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s-ES" sz="100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spring-jdbc-tutorial#google_vignette</a:t>
            </a:r>
            <a:endParaRPr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9" name="Google Shape;99;p8"/>
          <p:cNvSpPr txBox="1"/>
          <p:nvPr/>
        </p:nvSpPr>
        <p:spPr>
          <a:xfrm>
            <a:off x="5139687" y="2782213"/>
            <a:ext cx="24114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https://</a:t>
            </a:r>
            <a:r>
              <a:rPr lang="es-ES" sz="100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www.trainingnepal.com</a:t>
            </a:r>
            <a:r>
              <a:rPr lang="es-ES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s-ES" sz="100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courses</a:t>
            </a:r>
            <a:r>
              <a:rPr lang="es-ES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s-ES" sz="100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spring-framework</a:t>
            </a:r>
            <a:r>
              <a:rPr lang="es-ES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AA4CF0F3-A8C7-FA9B-CAB4-5BB1865FB0A3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PROCESO DE INTEGRACIÓN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4DBB3-04CE-A888-7643-2095CCBCD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C2CEDD30-37A1-0F06-5E1C-01425CDD753F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2094A7B-82D8-824D-E644-0482DD4E3983}"/>
              </a:ext>
            </a:extLst>
          </p:cNvPr>
          <p:cNvSpPr txBox="1"/>
          <p:nvPr/>
        </p:nvSpPr>
        <p:spPr>
          <a:xfrm>
            <a:off x="1008063" y="3169972"/>
            <a:ext cx="3856831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Graphik Bold" panose="020B0503030202060203" pitchFamily="34" charset="77"/>
                <a:ea typeface="Graphik Regular" charset="0"/>
                <a:cs typeface="Graphik Regular" charset="0"/>
              </a:rPr>
              <a:t>RESULTADOS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12369DC2-C4EB-B4B6-1966-CE70634C5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163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"/>
          <p:cNvSpPr/>
          <p:nvPr/>
        </p:nvSpPr>
        <p:spPr>
          <a:xfrm>
            <a:off x="510612" y="918600"/>
            <a:ext cx="3882001" cy="3237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6000" anchor="t" anchorCtr="0">
            <a:spAutoFit/>
          </a:bodyPr>
          <a:lstStyle/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uso de </a:t>
            </a:r>
            <a:r>
              <a:rPr lang="es-ES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frameworks</a:t>
            </a:r>
            <a:r>
              <a:rPr lang="es-E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herramientas especializadas, como Spring Framework, </a:t>
            </a:r>
            <a:r>
              <a:rPr lang="es-ES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RESTful</a:t>
            </a:r>
            <a:r>
              <a:rPr lang="es-E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APIs</a:t>
            </a:r>
            <a:r>
              <a:rPr lang="es-E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tecnologías de bases de datos, facilita el proceso de integración al simplificar el desarrollo y la implementación de soluciones integradas. </a:t>
            </a:r>
            <a:endParaRPr sz="1600" dirty="0"/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integración exitosa tiene un impacto positivo en toda la organización, mejorando la eficiencia y la productividad, y permitiendo una mejor toma de decisiones basada en datos integrados y actualizados en tiempo real.</a:t>
            </a:r>
            <a:endParaRPr sz="1600" dirty="0"/>
          </a:p>
        </p:txBody>
      </p:sp>
      <p:pic>
        <p:nvPicPr>
          <p:cNvPr id="114" name="Google Shape;114;p10" descr="Qué es una integración de sistemas web y por qué es importante? - Blog de  Email Marketing: Noticias, Ideas, Caso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1388" y="912812"/>
            <a:ext cx="3926117" cy="343058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FFD7F044-B374-E9AB-6C81-1401FAB1A20E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RESULTADOS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"/>
          <p:cNvSpPr txBox="1"/>
          <p:nvPr/>
        </p:nvSpPr>
        <p:spPr>
          <a:xfrm>
            <a:off x="510612" y="912813"/>
            <a:ext cx="4164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s-ES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BENEFICIOS: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5C944B0B-CC7A-F27D-44B1-897853C56438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RESULTADOS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7652F0BF-6850-C2EE-2DD4-BB9ABCDDE61E}"/>
              </a:ext>
            </a:extLst>
          </p:cNvPr>
          <p:cNvGrpSpPr/>
          <p:nvPr/>
        </p:nvGrpSpPr>
        <p:grpSpPr>
          <a:xfrm>
            <a:off x="611560" y="1654411"/>
            <a:ext cx="3665472" cy="461665"/>
            <a:chOff x="645704" y="2802636"/>
            <a:chExt cx="3665472" cy="461665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FE548886-E861-05EC-1A9D-A7235493CC2F}"/>
                </a:ext>
              </a:extLst>
            </p:cNvPr>
            <p:cNvSpPr/>
            <p:nvPr/>
          </p:nvSpPr>
          <p:spPr>
            <a:xfrm>
              <a:off x="936445" y="2802636"/>
              <a:ext cx="3374731" cy="461665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1" algn="l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500" b="1" i="0" u="none" strike="noStrike" cap="none" dirty="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EFICIENCIA OPERATIVA:</a:t>
              </a:r>
            </a:p>
            <a:p>
              <a:pPr marR="0" lvl="1" algn="l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500" b="0" i="0" u="none" strike="noStrike" cap="none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Automatización y mejora de procesos.</a:t>
              </a:r>
              <a:endParaRPr lang="es-ES" sz="1500" dirty="0">
                <a:solidFill>
                  <a:schemeClr val="tx1"/>
                </a:solidFill>
              </a:endParaRPr>
            </a:p>
          </p:txBody>
        </p:sp>
        <p:sp>
          <p:nvSpPr>
            <p:cNvPr id="8" name="Más 7">
              <a:extLst>
                <a:ext uri="{FF2B5EF4-FFF2-40B4-BE49-F238E27FC236}">
                  <a16:creationId xmlns:a16="http://schemas.microsoft.com/office/drawing/2014/main" id="{BA4618FE-F54E-968B-6E5E-67C7AC44F344}"/>
                </a:ext>
              </a:extLst>
            </p:cNvPr>
            <p:cNvSpPr/>
            <p:nvPr/>
          </p:nvSpPr>
          <p:spPr>
            <a:xfrm>
              <a:off x="645704" y="2812408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500" dirty="0">
                <a:latin typeface="Calibri" panose="020F0502020204030204" pitchFamily="34" charset="0"/>
              </a:endParaRPr>
            </a:p>
          </p:txBody>
        </p:sp>
      </p:grp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F61D5CF3-3505-AA6B-3C62-FF906235F98D}"/>
              </a:ext>
            </a:extLst>
          </p:cNvPr>
          <p:cNvCxnSpPr>
            <a:cxnSpLocks/>
          </p:cNvCxnSpPr>
          <p:nvPr/>
        </p:nvCxnSpPr>
        <p:spPr>
          <a:xfrm>
            <a:off x="683568" y="1872772"/>
            <a:ext cx="0" cy="479595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upo 9">
            <a:extLst>
              <a:ext uri="{FF2B5EF4-FFF2-40B4-BE49-F238E27FC236}">
                <a16:creationId xmlns:a16="http://schemas.microsoft.com/office/drawing/2014/main" id="{6B6A085D-1229-87D8-43F5-E0D932C6E5D0}"/>
              </a:ext>
            </a:extLst>
          </p:cNvPr>
          <p:cNvGrpSpPr/>
          <p:nvPr/>
        </p:nvGrpSpPr>
        <p:grpSpPr>
          <a:xfrm>
            <a:off x="611560" y="2397098"/>
            <a:ext cx="3665472" cy="461665"/>
            <a:chOff x="645704" y="2802636"/>
            <a:chExt cx="3665472" cy="461665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035A9BA1-AC65-60E2-940A-E1551922293A}"/>
                </a:ext>
              </a:extLst>
            </p:cNvPr>
            <p:cNvSpPr/>
            <p:nvPr/>
          </p:nvSpPr>
          <p:spPr>
            <a:xfrm>
              <a:off x="936445" y="2802636"/>
              <a:ext cx="3374731" cy="461665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1" algn="l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500" b="1" i="0" u="none" strike="noStrike" cap="none" dirty="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COHERENCIA DE DATOS:</a:t>
              </a:r>
            </a:p>
            <a:p>
              <a:pPr marR="0" lvl="1" algn="l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500" b="0" i="0" u="none" strike="noStrike" cap="none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Centralización de la información.</a:t>
              </a:r>
              <a:endParaRPr lang="es-ES" sz="1500" dirty="0">
                <a:solidFill>
                  <a:schemeClr val="tx1"/>
                </a:solidFill>
              </a:endParaRPr>
            </a:p>
          </p:txBody>
        </p:sp>
        <p:sp>
          <p:nvSpPr>
            <p:cNvPr id="12" name="Más 11">
              <a:extLst>
                <a:ext uri="{FF2B5EF4-FFF2-40B4-BE49-F238E27FC236}">
                  <a16:creationId xmlns:a16="http://schemas.microsoft.com/office/drawing/2014/main" id="{88A9A67C-DD42-E03D-8090-D279EFAEB30A}"/>
                </a:ext>
              </a:extLst>
            </p:cNvPr>
            <p:cNvSpPr/>
            <p:nvPr/>
          </p:nvSpPr>
          <p:spPr>
            <a:xfrm>
              <a:off x="645704" y="2812408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5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0A3B4A3E-FE93-FF50-9494-2290E08756FF}"/>
              </a:ext>
            </a:extLst>
          </p:cNvPr>
          <p:cNvGrpSpPr/>
          <p:nvPr/>
        </p:nvGrpSpPr>
        <p:grpSpPr>
          <a:xfrm>
            <a:off x="611560" y="3139785"/>
            <a:ext cx="3665472" cy="692497"/>
            <a:chOff x="645704" y="2802636"/>
            <a:chExt cx="3665472" cy="692497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E2EBCA7A-32A1-9989-AF87-2F40277B9697}"/>
                </a:ext>
              </a:extLst>
            </p:cNvPr>
            <p:cNvSpPr/>
            <p:nvPr/>
          </p:nvSpPr>
          <p:spPr>
            <a:xfrm>
              <a:off x="936445" y="2802636"/>
              <a:ext cx="3374731" cy="69249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1" algn="l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500" b="1" i="0" u="none" strike="noStrike" cap="none" dirty="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ESCALABILIDAD:</a:t>
              </a:r>
            </a:p>
            <a:p>
              <a:pPr marR="0" lvl="1" algn="l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500" b="0" i="0" u="none" strike="noStrike" cap="none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Facilidad para añadir nuevas funcionalidades.</a:t>
              </a:r>
              <a:endParaRPr lang="es-ES" sz="1500" dirty="0">
                <a:solidFill>
                  <a:schemeClr val="tx1"/>
                </a:solidFill>
              </a:endParaRPr>
            </a:p>
          </p:txBody>
        </p:sp>
        <p:sp>
          <p:nvSpPr>
            <p:cNvPr id="15" name="Más 14">
              <a:extLst>
                <a:ext uri="{FF2B5EF4-FFF2-40B4-BE49-F238E27FC236}">
                  <a16:creationId xmlns:a16="http://schemas.microsoft.com/office/drawing/2014/main" id="{C58C8597-7B4D-7F15-8FE3-A626A216B285}"/>
                </a:ext>
              </a:extLst>
            </p:cNvPr>
            <p:cNvSpPr/>
            <p:nvPr/>
          </p:nvSpPr>
          <p:spPr>
            <a:xfrm>
              <a:off x="645704" y="2812408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5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B530383F-2318-86BA-C108-73D53FC361B1}"/>
              </a:ext>
            </a:extLst>
          </p:cNvPr>
          <p:cNvGrpSpPr/>
          <p:nvPr/>
        </p:nvGrpSpPr>
        <p:grpSpPr>
          <a:xfrm>
            <a:off x="611560" y="4113304"/>
            <a:ext cx="3665472" cy="692497"/>
            <a:chOff x="645704" y="2802636"/>
            <a:chExt cx="3665472" cy="692497"/>
          </a:xfrm>
        </p:grpSpPr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C9F0E0AE-0E80-99F1-44B3-565302E374E6}"/>
                </a:ext>
              </a:extLst>
            </p:cNvPr>
            <p:cNvSpPr/>
            <p:nvPr/>
          </p:nvSpPr>
          <p:spPr>
            <a:xfrm>
              <a:off x="936445" y="2802636"/>
              <a:ext cx="3374731" cy="69249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1" algn="l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500" b="1" i="0" u="none" strike="noStrike" cap="none" dirty="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INTEROPERABILIDAD:</a:t>
              </a:r>
            </a:p>
            <a:p>
              <a:pPr marR="0" lvl="1" algn="l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500" b="0" i="0" u="none" strike="noStrike" cap="none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Comunicación efectiva entre diferentes sistemas.</a:t>
              </a:r>
              <a:endParaRPr lang="es-ES" sz="1500" dirty="0">
                <a:solidFill>
                  <a:schemeClr val="tx1"/>
                </a:solidFill>
              </a:endParaRPr>
            </a:p>
          </p:txBody>
        </p:sp>
        <p:sp>
          <p:nvSpPr>
            <p:cNvPr id="18" name="Más 17">
              <a:extLst>
                <a:ext uri="{FF2B5EF4-FFF2-40B4-BE49-F238E27FC236}">
                  <a16:creationId xmlns:a16="http://schemas.microsoft.com/office/drawing/2014/main" id="{A127D04A-9F6E-8DDD-6162-383ABD8774F0}"/>
                </a:ext>
              </a:extLst>
            </p:cNvPr>
            <p:cNvSpPr/>
            <p:nvPr/>
          </p:nvSpPr>
          <p:spPr>
            <a:xfrm>
              <a:off x="645704" y="2812408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500" dirty="0">
                <a:latin typeface="Calibri" panose="020F0502020204030204" pitchFamily="34" charset="0"/>
              </a:endParaRPr>
            </a:p>
          </p:txBody>
        </p:sp>
      </p:grp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A20CBE4A-BFE1-72A9-E671-522C193BB096}"/>
              </a:ext>
            </a:extLst>
          </p:cNvPr>
          <p:cNvCxnSpPr>
            <a:cxnSpLocks/>
          </p:cNvCxnSpPr>
          <p:nvPr/>
        </p:nvCxnSpPr>
        <p:spPr>
          <a:xfrm>
            <a:off x="683568" y="2606338"/>
            <a:ext cx="0" cy="479595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id="{F5D4D3AD-6912-2625-F019-56C43779F60C}"/>
              </a:ext>
            </a:extLst>
          </p:cNvPr>
          <p:cNvSpPr/>
          <p:nvPr/>
        </p:nvSpPr>
        <p:spPr>
          <a:xfrm>
            <a:off x="4392613" y="481012"/>
            <a:ext cx="4283075" cy="4752975"/>
          </a:xfrm>
          <a:prstGeom prst="rect">
            <a:avLst/>
          </a:prstGeom>
          <a:solidFill>
            <a:srgbClr val="9BCC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8587A126-5DB2-AA47-661C-A60A631E7388}"/>
              </a:ext>
            </a:extLst>
          </p:cNvPr>
          <p:cNvCxnSpPr>
            <a:cxnSpLocks/>
          </p:cNvCxnSpPr>
          <p:nvPr/>
        </p:nvCxnSpPr>
        <p:spPr>
          <a:xfrm>
            <a:off x="683568" y="3346806"/>
            <a:ext cx="0" cy="723749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Imagen 22">
            <a:extLst>
              <a:ext uri="{FF2B5EF4-FFF2-40B4-BE49-F238E27FC236}">
                <a16:creationId xmlns:a16="http://schemas.microsoft.com/office/drawing/2014/main" id="{ED7F9895-E921-7D78-CD3E-9C4CE565B2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88" r="3011"/>
          <a:stretch/>
        </p:blipFill>
        <p:spPr>
          <a:xfrm>
            <a:off x="4579374" y="823718"/>
            <a:ext cx="3974690" cy="41011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2"/>
          <p:cNvSpPr txBox="1"/>
          <p:nvPr/>
        </p:nvSpPr>
        <p:spPr>
          <a:xfrm>
            <a:off x="510612" y="918600"/>
            <a:ext cx="38235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DESAFÍOS:</a:t>
            </a:r>
            <a:endParaRPr lang="es-E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R="0" lvl="1" indent="-269875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/>
              <a:buChar char="•"/>
            </a:pPr>
            <a:endParaRPr sz="1600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C0930D03-6862-5B0F-E12E-2D7EC99F8B03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RESULTADOS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840F9AC4-48BB-92D4-1BC7-26F292B5E424}"/>
              </a:ext>
            </a:extLst>
          </p:cNvPr>
          <p:cNvGrpSpPr/>
          <p:nvPr/>
        </p:nvGrpSpPr>
        <p:grpSpPr>
          <a:xfrm>
            <a:off x="611560" y="1536426"/>
            <a:ext cx="3665472" cy="984885"/>
            <a:chOff x="645704" y="2802636"/>
            <a:chExt cx="3665472" cy="984885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697ABFF9-9405-9A84-B75A-7F0B61601608}"/>
                </a:ext>
              </a:extLst>
            </p:cNvPr>
            <p:cNvSpPr/>
            <p:nvPr/>
          </p:nvSpPr>
          <p:spPr>
            <a:xfrm>
              <a:off x="936445" y="2802636"/>
              <a:ext cx="3374731" cy="984885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1" algn="l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600" b="1" i="0" u="none" strike="noStrike" cap="none" dirty="0">
                  <a:solidFill>
                    <a:schemeClr val="accent2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COMPATIBILIDAD:</a:t>
              </a:r>
            </a:p>
            <a:p>
              <a:pPr marR="0" lvl="1" algn="l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600" b="0" i="0" u="none" strike="noStrike" cap="none" dirty="0">
                  <a:solidFill>
                    <a:schemeClr val="tx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Asegurar que los diferentes componentes funcionen juntos sin problemas.</a:t>
              </a:r>
              <a:endParaRPr lang="es-E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Más 8">
              <a:extLst>
                <a:ext uri="{FF2B5EF4-FFF2-40B4-BE49-F238E27FC236}">
                  <a16:creationId xmlns:a16="http://schemas.microsoft.com/office/drawing/2014/main" id="{14748572-0F2E-CCCE-6609-185E91CB327B}"/>
                </a:ext>
              </a:extLst>
            </p:cNvPr>
            <p:cNvSpPr/>
            <p:nvPr/>
          </p:nvSpPr>
          <p:spPr>
            <a:xfrm>
              <a:off x="645704" y="2812408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600" dirty="0">
                <a:latin typeface="Calibri" panose="020F0502020204030204" pitchFamily="34" charset="0"/>
              </a:endParaRPr>
            </a:p>
          </p:txBody>
        </p:sp>
      </p:grp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563C0613-0C83-4EF8-F142-922B5B692BF6}"/>
              </a:ext>
            </a:extLst>
          </p:cNvPr>
          <p:cNvCxnSpPr>
            <a:cxnSpLocks/>
          </p:cNvCxnSpPr>
          <p:nvPr/>
        </p:nvCxnSpPr>
        <p:spPr>
          <a:xfrm>
            <a:off x="683568" y="1725291"/>
            <a:ext cx="0" cy="1006850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upo 10">
            <a:extLst>
              <a:ext uri="{FF2B5EF4-FFF2-40B4-BE49-F238E27FC236}">
                <a16:creationId xmlns:a16="http://schemas.microsoft.com/office/drawing/2014/main" id="{AABACA4D-07D9-3F35-0AED-57C74F3DF323}"/>
              </a:ext>
            </a:extLst>
          </p:cNvPr>
          <p:cNvGrpSpPr/>
          <p:nvPr/>
        </p:nvGrpSpPr>
        <p:grpSpPr>
          <a:xfrm>
            <a:off x="611560" y="2750783"/>
            <a:ext cx="3665472" cy="738664"/>
            <a:chOff x="645704" y="2802636"/>
            <a:chExt cx="3665472" cy="738664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D5E59470-B11F-310A-0292-19F9B802DBCF}"/>
                </a:ext>
              </a:extLst>
            </p:cNvPr>
            <p:cNvSpPr/>
            <p:nvPr/>
          </p:nvSpPr>
          <p:spPr>
            <a:xfrm>
              <a:off x="936445" y="2802636"/>
              <a:ext cx="3374731" cy="73866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1" algn="l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600" b="1" i="0" u="none" strike="noStrike" cap="none" dirty="0">
                  <a:solidFill>
                    <a:schemeClr val="accent2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SEGURIDAD:</a:t>
              </a:r>
            </a:p>
            <a:p>
              <a:pPr marR="0" lvl="1" algn="l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600" b="0" i="0" u="none" strike="noStrike" cap="none" dirty="0">
                  <a:solidFill>
                    <a:schemeClr val="tx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Proteger los datos y las comunicaciones entre sistemas.</a:t>
              </a:r>
              <a:endParaRPr lang="es-E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Más 12">
              <a:extLst>
                <a:ext uri="{FF2B5EF4-FFF2-40B4-BE49-F238E27FC236}">
                  <a16:creationId xmlns:a16="http://schemas.microsoft.com/office/drawing/2014/main" id="{D4AAEAB5-2B57-8B38-57DF-78EA0D5D8511}"/>
                </a:ext>
              </a:extLst>
            </p:cNvPr>
            <p:cNvSpPr/>
            <p:nvPr/>
          </p:nvSpPr>
          <p:spPr>
            <a:xfrm>
              <a:off x="645704" y="2812408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6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2C44668C-2FCA-3A5E-23C2-834061B434F2}"/>
              </a:ext>
            </a:extLst>
          </p:cNvPr>
          <p:cNvGrpSpPr/>
          <p:nvPr/>
        </p:nvGrpSpPr>
        <p:grpSpPr>
          <a:xfrm>
            <a:off x="611560" y="3718918"/>
            <a:ext cx="3665472" cy="738664"/>
            <a:chOff x="645704" y="2802636"/>
            <a:chExt cx="3665472" cy="738664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C359AB2B-413E-947E-234D-BE1B6F8ACF0A}"/>
                </a:ext>
              </a:extLst>
            </p:cNvPr>
            <p:cNvSpPr/>
            <p:nvPr/>
          </p:nvSpPr>
          <p:spPr>
            <a:xfrm>
              <a:off x="936445" y="2802636"/>
              <a:ext cx="3374731" cy="73866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1" algn="l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600" b="1" i="0" u="none" strike="noStrike" cap="none" dirty="0">
                  <a:solidFill>
                    <a:schemeClr val="accent2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MANTENIMIENTO:</a:t>
              </a:r>
            </a:p>
            <a:p>
              <a:pPr marR="0" lvl="1" algn="l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600" b="0" i="0" u="none" strike="noStrike" cap="none" dirty="0">
                  <a:solidFill>
                    <a:schemeClr val="tx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Actualizar y gestionar los componentes integrados.</a:t>
              </a:r>
              <a:endParaRPr lang="es-E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Más 15">
              <a:extLst>
                <a:ext uri="{FF2B5EF4-FFF2-40B4-BE49-F238E27FC236}">
                  <a16:creationId xmlns:a16="http://schemas.microsoft.com/office/drawing/2014/main" id="{7B737F6A-7578-EAAD-A481-73C3EA75864A}"/>
                </a:ext>
              </a:extLst>
            </p:cNvPr>
            <p:cNvSpPr/>
            <p:nvPr/>
          </p:nvSpPr>
          <p:spPr>
            <a:xfrm>
              <a:off x="645704" y="2812408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600" dirty="0">
                <a:latin typeface="Calibri" panose="020F0502020204030204" pitchFamily="34" charset="0"/>
              </a:endParaRPr>
            </a:p>
          </p:txBody>
        </p:sp>
      </p:grp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844B7F79-1D93-76A5-8CB5-50A6D5A691C2}"/>
              </a:ext>
            </a:extLst>
          </p:cNvPr>
          <p:cNvCxnSpPr>
            <a:cxnSpLocks/>
          </p:cNvCxnSpPr>
          <p:nvPr/>
        </p:nvCxnSpPr>
        <p:spPr>
          <a:xfrm>
            <a:off x="683568" y="2945553"/>
            <a:ext cx="0" cy="748920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n 16">
            <a:extLst>
              <a:ext uri="{FF2B5EF4-FFF2-40B4-BE49-F238E27FC236}">
                <a16:creationId xmlns:a16="http://schemas.microsoft.com/office/drawing/2014/main" id="{0CFC3CDA-6100-D3FC-6753-75F6B85D5A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687" t="12367" r="10119" b="9480"/>
          <a:stretch/>
        </p:blipFill>
        <p:spPr>
          <a:xfrm>
            <a:off x="4678875" y="1718189"/>
            <a:ext cx="3996813" cy="25957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"/>
          <p:cNvSpPr txBox="1"/>
          <p:nvPr/>
        </p:nvSpPr>
        <p:spPr>
          <a:xfrm>
            <a:off x="510612" y="918600"/>
            <a:ext cx="7669112" cy="3847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1" algn="l" rtl="0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100000"/>
            </a:pPr>
            <a:r>
              <a:rPr lang="es-ES" sz="1600" b="1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MEJORES PRÁCTICAS:</a:t>
            </a:r>
            <a:endParaRPr lang="es-ES" sz="1600" b="0" i="0" u="none" strike="noStrike" cap="none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182563" marR="0" lvl="1" indent="-182563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600" b="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Adoptar mejores prácticas, como el desarrollo ágil y la automatización de pruebas, es crucial para asegurar el éxito del proyecto de integración. </a:t>
            </a:r>
          </a:p>
          <a:p>
            <a:pPr marL="182563" marR="0" lvl="1" indent="-182563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2563" marR="0" lvl="1" indent="-182563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600" b="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Estas prácticas ayudan a mitigar riesgos y a asegurar que la solución final cumpla con los requisitos y expectativas del negocio.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1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</a:pPr>
            <a:endParaRPr sz="1600" b="0" i="0" u="none" strike="noStrike" cap="none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R="0" lvl="1" algn="l" rtl="0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100000"/>
            </a:pPr>
            <a:r>
              <a:rPr lang="es-ES" sz="1600" b="1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FUTURO DE LA INTEGRACIÓN:</a:t>
            </a:r>
            <a:endParaRPr sz="1600" b="1" i="0" u="none" strike="noStrike" cap="none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182563" marR="0" lvl="1" indent="-182563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600" b="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Con la evolución continua de las tecnologías y las metodologías, el futuro de la integración de aplicaciones empresariales promete ser aún más dinámico y eficiente. </a:t>
            </a:r>
          </a:p>
          <a:p>
            <a:pPr marL="182563" marR="0" lvl="1" indent="-182563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2563" marR="0" lvl="1" indent="-182563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600" b="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La adopción de tecnologías emergentes, como la inteligencia artificial y la computación en la nube, continuará transformando la manera en que las empresas integran y gestionan sus sistemas.</a:t>
            </a:r>
            <a:br>
              <a:rPr lang="es-ES" sz="1600" b="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</a:br>
            <a:endParaRPr sz="1600" b="0" i="0" u="none" strike="noStrike" cap="none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35B3E4F7-C6C0-19EE-BC70-F3086A81E52F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RESULTADOS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654E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8A495D6D-73E7-D64C-AD5A-8212D6B1E2F3}"/>
              </a:ext>
            </a:extLst>
          </p:cNvPr>
          <p:cNvGrpSpPr/>
          <p:nvPr/>
        </p:nvGrpSpPr>
        <p:grpSpPr>
          <a:xfrm>
            <a:off x="2506315" y="2194222"/>
            <a:ext cx="4581728" cy="1326557"/>
            <a:chOff x="2403187" y="2211377"/>
            <a:chExt cx="4581728" cy="1326557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682CC9F8-A9FF-BF41-B987-57AFB7D160FE}"/>
                </a:ext>
              </a:extLst>
            </p:cNvPr>
            <p:cNvSpPr txBox="1"/>
            <p:nvPr/>
          </p:nvSpPr>
          <p:spPr>
            <a:xfrm>
              <a:off x="2403187" y="2540738"/>
              <a:ext cx="4581728" cy="9971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ES_tradnl" sz="3600" dirty="0">
                  <a:solidFill>
                    <a:schemeClr val="bg1"/>
                  </a:solidFill>
                  <a:latin typeface="Graphik Regular" charset="0"/>
                  <a:ea typeface="Graphik Regular" charset="0"/>
                  <a:cs typeface="Graphik Regular" charset="0"/>
                </a:rPr>
                <a:t>CONCLUSIONES</a:t>
              </a:r>
              <a:br>
                <a:rPr lang="es-ES_tradnl" sz="3600" dirty="0">
                  <a:solidFill>
                    <a:schemeClr val="bg1"/>
                  </a:solidFill>
                  <a:latin typeface="Graphik Regular" charset="0"/>
                  <a:ea typeface="Graphik Regular" charset="0"/>
                  <a:cs typeface="Graphik Regular" charset="0"/>
                </a:rPr>
              </a:br>
              <a:r>
                <a:rPr lang="es-ES_tradnl" sz="3600" b="1" dirty="0">
                  <a:solidFill>
                    <a:schemeClr val="bg1"/>
                  </a:solidFill>
                  <a:latin typeface="Graphik Bold" charset="0"/>
                  <a:ea typeface="Graphik Bold" charset="0"/>
                  <a:cs typeface="Graphik Bold" charset="0"/>
                </a:rPr>
                <a:t>MÁS REFERENCIAS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2CD7628C-6304-5D4B-BA7D-591238143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5491" y="2211377"/>
              <a:ext cx="202176" cy="208211"/>
            </a:xfrm>
            <a:prstGeom prst="rect">
              <a:avLst/>
            </a:prstGeom>
          </p:spPr>
        </p:pic>
      </p:grpSp>
      <p:pic>
        <p:nvPicPr>
          <p:cNvPr id="10" name="Imagen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3" y="946969"/>
            <a:ext cx="2072214" cy="389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250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4" name="object 7"/>
          <p:cNvSpPr txBox="1"/>
          <p:nvPr/>
        </p:nvSpPr>
        <p:spPr>
          <a:xfrm>
            <a:off x="1279545" y="912813"/>
            <a:ext cx="5705454" cy="34470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La integración de sistemas es esencial para crear soluciones cohesivas y eficientes que mejoren la operatividad y la gestión de datos en las organizaciones. </a:t>
            </a:r>
          </a:p>
          <a:p>
            <a:pPr lvl="0"/>
            <a:endParaRPr lang="es-PE" sz="1400" dirty="0">
              <a:latin typeface="Calibri" charset="0"/>
              <a:ea typeface="Calibri" charset="0"/>
              <a:cs typeface="Calibri" charset="0"/>
            </a:endParaRPr>
          </a:p>
          <a:p>
            <a:pPr lvl="0"/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Este proceso se compone de varias etapas críticas, incluyendo planificación, diseño, desarrollo, pruebas, despliegue y mantenimiento, cada una crucial para asegurar una integración efectiva. </a:t>
            </a:r>
          </a:p>
          <a:p>
            <a:pPr lvl="0"/>
            <a:endParaRPr lang="es-PE" sz="1400" dirty="0">
              <a:latin typeface="Calibri" charset="0"/>
              <a:ea typeface="Calibri" charset="0"/>
              <a:cs typeface="Calibri" charset="0"/>
            </a:endParaRPr>
          </a:p>
          <a:p>
            <a:pPr lvl="0"/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Los beneficios de la integración permiten a las organizaciones responder de manera más ágil a los cambios del mercado y a las necesidades internas. </a:t>
            </a:r>
          </a:p>
          <a:p>
            <a:pPr lvl="0"/>
            <a:endParaRPr lang="es-PE" sz="1400" dirty="0">
              <a:latin typeface="Calibri" charset="0"/>
              <a:ea typeface="Calibri" charset="0"/>
              <a:cs typeface="Calibri" charset="0"/>
            </a:endParaRPr>
          </a:p>
          <a:p>
            <a:pPr lvl="0"/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Sin embargo, también presenta desafíos como la compatibilidad entre diferentes tecnologías, la seguridad de los datos y la necesidad de mantenimiento continuo, que requieren una planificación cuidadosa y el uso de herramientas y metodologías adecuadas.</a:t>
            </a:r>
          </a:p>
          <a:p>
            <a:pPr lvl="0"/>
            <a:endParaRPr lang="es-PE" sz="14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954885"/>
            <a:ext cx="114138" cy="117546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1812206"/>
            <a:ext cx="114138" cy="117546"/>
          </a:xfrm>
          <a:prstGeom prst="rect">
            <a:avLst/>
          </a:prstGeom>
        </p:spPr>
      </p:pic>
      <p:sp>
        <p:nvSpPr>
          <p:cNvPr id="16" name="Rectángulo 15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999" y="3048772"/>
            <a:ext cx="1690689" cy="2185216"/>
          </a:xfrm>
          <a:prstGeom prst="rect">
            <a:avLst/>
          </a:prstGeom>
        </p:spPr>
      </p:pic>
      <p:sp>
        <p:nvSpPr>
          <p:cNvPr id="9" name="Rectangle 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CONCLUSIONES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AF629D6-C49F-F489-2C84-2E3CFD59B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2663598"/>
            <a:ext cx="114138" cy="11754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C107450-AFD6-D531-9BDF-B0A4204C2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3296922"/>
            <a:ext cx="114138" cy="11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184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DCB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C9F27E8-E0F0-CF48-B2E7-A2617B9B1DEA}"/>
              </a:ext>
            </a:extLst>
          </p:cNvPr>
          <p:cNvSpPr txBox="1"/>
          <p:nvPr/>
        </p:nvSpPr>
        <p:spPr>
          <a:xfrm>
            <a:off x="2519363" y="2540738"/>
            <a:ext cx="4581728" cy="9971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s-ES_tradnl" sz="36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BIBLIOGRAFÍA</a:t>
            </a:r>
            <a:br>
              <a:rPr lang="es-ES_tradnl" sz="36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</a:br>
            <a:r>
              <a:rPr lang="es-ES_tradnl" sz="36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MÁS REFERENCIAS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CD7628C-6304-5D4B-BA7D-591238143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619" y="2194222"/>
            <a:ext cx="202176" cy="208211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6970"/>
            <a:ext cx="2072061" cy="389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676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2" name="object 7"/>
          <p:cNvSpPr txBox="1"/>
          <p:nvPr/>
        </p:nvSpPr>
        <p:spPr>
          <a:xfrm>
            <a:off x="1279009" y="917823"/>
            <a:ext cx="4774320" cy="3877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Sierra, K., &amp; Bates, B. (1ª ed.). OCA/OCP Java SE 7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Programmer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I y II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Study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Guide.</a:t>
            </a:r>
          </a:p>
          <a:p>
            <a:endParaRPr lang="es-ES" sz="1400" dirty="0">
              <a:latin typeface="Calibri" charset="0"/>
              <a:ea typeface="Calibri" charset="0"/>
              <a:cs typeface="Calibri" charset="0"/>
            </a:endParaRPr>
          </a:p>
          <a:p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Laddad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, R.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AspectJ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in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Action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.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Practical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Aspect-Oriented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Programming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.</a:t>
            </a:r>
          </a:p>
          <a:p>
            <a:endParaRPr lang="es-ES" sz="1400" dirty="0">
              <a:latin typeface="Calibri" charset="0"/>
              <a:ea typeface="Calibri" charset="0"/>
              <a:cs typeface="Calibri" charset="0"/>
            </a:endParaRPr>
          </a:p>
          <a:p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Wahlin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, D. Angular JS.</a:t>
            </a:r>
          </a:p>
          <a:p>
            <a:endParaRPr lang="es-ES" sz="1400" dirty="0">
              <a:latin typeface="Calibri" charset="0"/>
              <a:ea typeface="Calibri" charset="0"/>
              <a:cs typeface="Calibri" charset="0"/>
            </a:endParaRPr>
          </a:p>
          <a:p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Professional Java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for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Web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Applications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.</a:t>
            </a:r>
          </a:p>
          <a:p>
            <a:endParaRPr lang="es-ES" sz="1400" dirty="0">
              <a:latin typeface="Calibri" charset="0"/>
              <a:ea typeface="Calibri" charset="0"/>
              <a:cs typeface="Calibri" charset="0"/>
            </a:endParaRPr>
          </a:p>
          <a:p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Publicación Reciente: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Journal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of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Systems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and Software, "Enterprise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System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Integration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through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Service-Oriented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Architecture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", 2023.</a:t>
            </a:r>
          </a:p>
          <a:p>
            <a:endParaRPr lang="es-ES" sz="1400" dirty="0">
              <a:latin typeface="Calibri" charset="0"/>
              <a:ea typeface="Calibri" charset="0"/>
              <a:cs typeface="Calibri" charset="0"/>
            </a:endParaRPr>
          </a:p>
          <a:p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Marcinkevicius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, G., &amp;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Vilkas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, M. (2023).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The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affordances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of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digital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technologies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for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business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processes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integration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.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Journal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of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Systems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and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Information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Technology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, 25(1), 74-90. https://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doi.org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/10.1108/JSIT-06-2022-0149​ (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Emerald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Insight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)​. 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64" y="959114"/>
            <a:ext cx="103867" cy="106967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D0016DFD-D096-A245-9591-9C15FD675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64" y="1620119"/>
            <a:ext cx="103867" cy="106967"/>
          </a:xfrm>
          <a:prstGeom prst="rect">
            <a:avLst/>
          </a:prstGeom>
        </p:spPr>
      </p:pic>
      <p:sp>
        <p:nvSpPr>
          <p:cNvPr id="19" name="Rectángulo 18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0" y="3036889"/>
            <a:ext cx="1690688" cy="2197100"/>
          </a:xfrm>
          <a:prstGeom prst="rect">
            <a:avLst/>
          </a:prstGeom>
        </p:spPr>
      </p:pic>
      <p:sp>
        <p:nvSpPr>
          <p:cNvPr id="8" name="Rectangle 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BIBLIOGRAFÍA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FCB601A-C1E8-0440-4A53-FB4D5BB47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64" y="2259314"/>
            <a:ext cx="103867" cy="10696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5195AB2-12E9-DC9B-1C84-F394034DF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64" y="3123410"/>
            <a:ext cx="103867" cy="10696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21BD242-9383-03B8-A1DB-2172EE063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64" y="2670972"/>
            <a:ext cx="103867" cy="10696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B53BB81-FE37-7DC2-2C9E-3D7E329A6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64" y="3959742"/>
            <a:ext cx="103867" cy="10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401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B091C-4CB4-E788-0D26-F21256ADA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23913AD-2A5F-18D6-B505-D13683569F58}"/>
              </a:ext>
            </a:extLst>
          </p:cNvPr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BBD30877-7920-2AEF-B134-6BA16BBF377B}"/>
              </a:ext>
            </a:extLst>
          </p:cNvPr>
          <p:cNvSpPr txBox="1"/>
          <p:nvPr/>
        </p:nvSpPr>
        <p:spPr>
          <a:xfrm>
            <a:off x="1279008" y="917823"/>
            <a:ext cx="5705992" cy="21544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SAP. (2023).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Application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Integration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: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The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Future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of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IT. Recuperado de SAP.</a:t>
            </a:r>
          </a:p>
          <a:p>
            <a:endParaRPr lang="es-ES" sz="1400" dirty="0">
              <a:latin typeface="Calibri" charset="0"/>
              <a:ea typeface="Calibri" charset="0"/>
              <a:cs typeface="Calibri" charset="0"/>
            </a:endParaRPr>
          </a:p>
          <a:p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Xorbix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. (2023). Enterprise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Application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Integration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: A Comprehensive Guide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to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Types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and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Importance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. Recuperado de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Xorbix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.</a:t>
            </a:r>
          </a:p>
          <a:p>
            <a:endParaRPr lang="es-ES" sz="1400" dirty="0">
              <a:latin typeface="Calibri" charset="0"/>
              <a:ea typeface="Calibri" charset="0"/>
              <a:cs typeface="Calibri" charset="0"/>
            </a:endParaRPr>
          </a:p>
          <a:p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IBM. (2023).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What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is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Application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Integration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?. Recuperado de IBM. </a:t>
            </a:r>
          </a:p>
          <a:p>
            <a:endParaRPr lang="es-ES" sz="1400" dirty="0">
              <a:latin typeface="Calibri" charset="0"/>
              <a:ea typeface="Calibri" charset="0"/>
              <a:cs typeface="Calibri" charset="0"/>
            </a:endParaRPr>
          </a:p>
          <a:p>
            <a:endParaRPr lang="es-ES" sz="1400" dirty="0">
              <a:latin typeface="Calibri" charset="0"/>
              <a:ea typeface="Calibri" charset="0"/>
              <a:cs typeface="Calibri" charset="0"/>
            </a:endParaRPr>
          </a:p>
          <a:p>
            <a:endParaRPr lang="es-ES" sz="1400" dirty="0">
              <a:latin typeface="Calibri" charset="0"/>
              <a:ea typeface="Calibri" charset="0"/>
              <a:cs typeface="Calibri" charset="0"/>
            </a:endParaRPr>
          </a:p>
          <a:p>
            <a:endParaRPr lang="es-PE" sz="14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320895F-5E12-DF81-0EB2-0E687B365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64" y="959114"/>
            <a:ext cx="103867" cy="106967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4C0E962-0DFE-0293-17EB-AA0E031B6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64" y="1407055"/>
            <a:ext cx="103867" cy="106967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D3C96477-43BA-6BAF-11A8-18CA0ABFDFDD}"/>
              </a:ext>
            </a:extLst>
          </p:cNvPr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AD629A9-A5B7-0017-83D9-7BD3FF905D9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0" y="3036889"/>
            <a:ext cx="1690688" cy="2197100"/>
          </a:xfrm>
          <a:prstGeom prst="rect">
            <a:avLst/>
          </a:prstGeom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B3C4558B-16BE-258F-28BF-3506B225918F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82DE169-4D90-1839-9644-805EA99AD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64" y="2020658"/>
            <a:ext cx="103867" cy="10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08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199" y="2666298"/>
            <a:ext cx="1295601" cy="38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16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theme/theme1.xml><?xml version="1.0" encoding="utf-8"?>
<a:theme xmlns:a="http://schemas.openxmlformats.org/drawingml/2006/main" name="Office Theme">
  <a:themeElements>
    <a:clrScheme name="Personalizados 4 ISIL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FDC212"/>
      </a:accent1>
      <a:accent2>
        <a:srgbClr val="EE4638"/>
      </a:accent2>
      <a:accent3>
        <a:srgbClr val="92C14E"/>
      </a:accent3>
      <a:accent4>
        <a:srgbClr val="FE7828"/>
      </a:accent4>
      <a:accent5>
        <a:srgbClr val="00B1C2"/>
      </a:accent5>
      <a:accent6>
        <a:srgbClr val="808799"/>
      </a:accent6>
      <a:hlink>
        <a:srgbClr val="7150A0"/>
      </a:hlink>
      <a:folHlink>
        <a:srgbClr val="00B1C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1113</Words>
  <Application>Microsoft Office PowerPoint</Application>
  <PresentationFormat>Presentación en pantalla (16:10)</PresentationFormat>
  <Paragraphs>166</Paragraphs>
  <Slides>20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7" baseType="lpstr">
      <vt:lpstr>Arial</vt:lpstr>
      <vt:lpstr>Calibri</vt:lpstr>
      <vt:lpstr>Graphik Bold</vt:lpstr>
      <vt:lpstr>Graphik Regular</vt:lpstr>
      <vt:lpstr>Graphik-Medium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ISIL</dc:creator>
  <cp:lastModifiedBy>Medalith Luzquiños Ancaya</cp:lastModifiedBy>
  <cp:revision>6</cp:revision>
  <dcterms:created xsi:type="dcterms:W3CDTF">2016-10-06T14:52:02Z</dcterms:created>
  <dcterms:modified xsi:type="dcterms:W3CDTF">2024-10-17T18:17:00Z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