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42" roundtripDataSignature="AMtx7mjzDDBy+l8qmS/fePcFs8vf9ejf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4" name="Google Shape;144;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3" name="Google Shape;153;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2" name="Google Shape;162;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0" name="Google Shape;180;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9" name="Google Shape;189;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8" name="Google Shape;198;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7" name="Google Shape;20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5" name="Google Shape;225;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4" name="Google Shape;23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2" name="Google Shape;252;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0" name="Google Shape;260;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8" name="Google Shape;268;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78" name="Google Shape;278;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5" name="Google Shape;285;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4" name="Google Shape;294;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3" name="Google Shape;303;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2" name="Google Shape;312;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1" name="Google Shape;321;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0" name="Google Shape;330;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9" name="Google Shape;339;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8" name="Google Shape;348;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57" name="Google Shape;357;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365" name="Google Shape;365;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39"/>
          <p:cNvSpPr/>
          <p:nvPr>
            <p:ph idx="2" type="pic"/>
          </p:nvPr>
        </p:nvSpPr>
        <p:spPr>
          <a:xfrm>
            <a:off x="475687" y="2877477"/>
            <a:ext cx="8207375" cy="2394000"/>
          </a:xfrm>
          <a:prstGeom prst="rect">
            <a:avLst/>
          </a:prstGeom>
          <a:noFill/>
          <a:ln>
            <a:noFill/>
          </a:ln>
        </p:spPr>
      </p:sp>
      <p:sp>
        <p:nvSpPr>
          <p:cNvPr id="17" name="Google Shape;17;p3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3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41"/>
          <p:cNvSpPr/>
          <p:nvPr>
            <p:ph idx="2" type="pic"/>
          </p:nvPr>
        </p:nvSpPr>
        <p:spPr>
          <a:xfrm>
            <a:off x="475687" y="2877477"/>
            <a:ext cx="8207375" cy="2394000"/>
          </a:xfrm>
          <a:prstGeom prst="rect">
            <a:avLst/>
          </a:prstGeom>
          <a:noFill/>
          <a:ln>
            <a:noFill/>
          </a:ln>
        </p:spPr>
      </p:sp>
      <p:sp>
        <p:nvSpPr>
          <p:cNvPr id="23" name="Google Shape;23;p41"/>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41"/>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1"/>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6" name="Shape 26"/>
        <p:cNvGrpSpPr/>
        <p:nvPr/>
      </p:nvGrpSpPr>
      <p:grpSpPr>
        <a:xfrm>
          <a:off x="0" y="0"/>
          <a:ext cx="0" cy="0"/>
          <a:chOff x="0" y="0"/>
          <a:chExt cx="0" cy="0"/>
        </a:xfrm>
      </p:grpSpPr>
      <p:sp>
        <p:nvSpPr>
          <p:cNvPr id="27" name="Google Shape;27;p42"/>
          <p:cNvSpPr/>
          <p:nvPr>
            <p:ph idx="2" type="pic"/>
          </p:nvPr>
        </p:nvSpPr>
        <p:spPr>
          <a:xfrm>
            <a:off x="4572000" y="804863"/>
            <a:ext cx="4103688" cy="4463362"/>
          </a:xfrm>
          <a:prstGeom prst="rect">
            <a:avLst/>
          </a:prstGeom>
          <a:noFill/>
          <a:ln>
            <a:noFill/>
          </a:ln>
        </p:spPr>
      </p:sp>
      <p:sp>
        <p:nvSpPr>
          <p:cNvPr id="28" name="Google Shape;28;p4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4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4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4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43"/>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6" name="Shape 36"/>
        <p:cNvGrpSpPr/>
        <p:nvPr/>
      </p:nvGrpSpPr>
      <p:grpSpPr>
        <a:xfrm>
          <a:off x="0" y="0"/>
          <a:ext cx="0" cy="0"/>
          <a:chOff x="0" y="0"/>
          <a:chExt cx="0" cy="0"/>
        </a:xfrm>
      </p:grpSpPr>
      <p:sp>
        <p:nvSpPr>
          <p:cNvPr id="37" name="Google Shape;37;p45"/>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8" name="Google Shape;38;p45"/>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9" name="Google Shape;39;p45"/>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46"/>
          <p:cNvSpPr/>
          <p:nvPr>
            <p:ph idx="2" type="pic"/>
          </p:nvPr>
        </p:nvSpPr>
        <p:spPr>
          <a:xfrm>
            <a:off x="468313" y="1175705"/>
            <a:ext cx="8207375" cy="4096800"/>
          </a:xfrm>
          <a:prstGeom prst="rect">
            <a:avLst/>
          </a:prstGeom>
          <a:noFill/>
          <a:ln>
            <a:noFill/>
          </a:ln>
        </p:spPr>
      </p:sp>
      <p:sp>
        <p:nvSpPr>
          <p:cNvPr id="42" name="Google Shape;42;p46"/>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4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47"/>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4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4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48"/>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49"/>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49"/>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49"/>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7"/>
          <p:cNvGrpSpPr/>
          <p:nvPr/>
        </p:nvGrpSpPr>
        <p:grpSpPr>
          <a:xfrm>
            <a:off x="793745" y="5369051"/>
            <a:ext cx="8104595" cy="215444"/>
            <a:chOff x="793745" y="5369051"/>
            <a:chExt cx="7954689" cy="215444"/>
          </a:xfrm>
        </p:grpSpPr>
        <p:sp>
          <p:nvSpPr>
            <p:cNvPr id="11" name="Google Shape;11;p37"/>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10</a:t>
              </a:r>
              <a:endParaRPr b="0" i="0" sz="800" u="none" cap="none" strike="noStrike">
                <a:solidFill>
                  <a:srgbClr val="7F7F7F"/>
                </a:solidFill>
                <a:latin typeface="Calibri"/>
                <a:ea typeface="Calibri"/>
                <a:cs typeface="Calibri"/>
                <a:sym typeface="Calibri"/>
              </a:endParaRPr>
            </a:p>
          </p:txBody>
        </p:sp>
        <p:sp>
          <p:nvSpPr>
            <p:cNvPr id="12" name="Google Shape;12;p37"/>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7"/>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www.omg.org/spec/UML/2.5/" TargetMode="External"/><Relationship Id="rId4" Type="http://schemas.openxmlformats.org/officeDocument/2006/relationships/hyperlink" Target="https://www.tutorialspoint.com/uml/uml_activity_diagram.htm" TargetMode="External"/><Relationship Id="rId5" Type="http://schemas.openxmlformats.org/officeDocument/2006/relationships/hyperlink" Target="https://www.lucidchart.com/pages/uml-activity-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51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98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10</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364545"/>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DIAGRAMA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DE ACTIVIDAD</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8309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Elementos del diagrama de actividad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Uso del diagrama de actividad</a:t>
            </a:r>
            <a:endParaRPr b="1" i="0" sz="1800" u="none" cap="none" strike="noStrike">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3 – UA3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3212" y="687405"/>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 el contexto del análisis y diseño de sistemas de información, los diagramas de actividades UML sirven para modelar el flujo de trabajo de un sistema, y representan las actividades que se realizan, las relaciones entre ellas, y las condiciones que determinan su ejecución.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conceptos y definiciones clave relacionados a los diagramas de actividad.</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identificar los elementos del diagrama de actividad.</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cuándo es pertinente el apropiado uso del diagrama de actividad.</a:t>
            </a:r>
            <a:endParaRPr b="0" i="0" sz="11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4"/>
          <p:cNvPicPr preferRelativeResize="0"/>
          <p:nvPr>
            <p:ph idx="2" type="pic"/>
          </p:nvPr>
        </p:nvPicPr>
        <p:blipFill rotWithShape="1">
          <a:blip r:embed="rId3">
            <a:alphaModFix/>
          </a:blip>
          <a:srcRect b="28137" l="0" r="0" t="28137"/>
          <a:stretch/>
        </p:blipFill>
        <p:spPr>
          <a:xfrm>
            <a:off x="1165560" y="3177703"/>
            <a:ext cx="6812880" cy="1987241"/>
          </a:xfrm>
          <a:prstGeom prst="rect">
            <a:avLst/>
          </a:prstGeom>
          <a:noFill/>
          <a:ln>
            <a:noFill/>
          </a:ln>
        </p:spPr>
      </p:pic>
      <p:sp>
        <p:nvSpPr>
          <p:cNvPr id="86" name="Google Shape;86;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REQUISITOS</a:t>
            </a:r>
            <a:endParaRPr/>
          </a:p>
        </p:txBody>
      </p:sp>
      <p:sp>
        <p:nvSpPr>
          <p:cNvPr id="87" name="Google Shape;87;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88" name="Google Shape;88;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requisitos son las necesidades o condiciones que un sistema debe satisfacer. Pueden ser funcionales (qué debe hacer el sistema) o no funcionales (cómo debe hacerlo, como rendimiento, seguridad, etc.).</a:t>
            </a:r>
            <a:endParaRPr/>
          </a:p>
          <a:p>
            <a:pPr indent="-266700" lvl="0" marL="266700" rtl="0" algn="l">
              <a:lnSpc>
                <a:spcPct val="100000"/>
              </a:lnSpc>
              <a:spcBef>
                <a:spcPts val="600"/>
              </a:spcBef>
              <a:spcAft>
                <a:spcPts val="0"/>
              </a:spcAft>
              <a:buClr>
                <a:schemeClr val="dk1"/>
              </a:buClr>
              <a:buSzPts val="1200"/>
              <a:buChar char="❑"/>
            </a:pPr>
            <a:r>
              <a:rPr lang="es-ES"/>
              <a:t>En un sistema de reservas de hotel, un requisito funcional podría ser “el sistema debe permitir a los usuarios buscar habitaciones disponibles”, y un requisito no funcional podría ser “el sistema debe cargar los resultados en menos de 2 segundos”.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5"/>
          <p:cNvPicPr preferRelativeResize="0"/>
          <p:nvPr>
            <p:ph idx="2" type="pic"/>
          </p:nvPr>
        </p:nvPicPr>
        <p:blipFill rotWithShape="1">
          <a:blip r:embed="rId3">
            <a:alphaModFix/>
          </a:blip>
          <a:srcRect b="24060" l="0" r="0" t="24059"/>
          <a:stretch/>
        </p:blipFill>
        <p:spPr>
          <a:xfrm>
            <a:off x="1165560" y="2922896"/>
            <a:ext cx="6812880" cy="1987241"/>
          </a:xfrm>
          <a:prstGeom prst="rect">
            <a:avLst/>
          </a:prstGeom>
          <a:noFill/>
          <a:ln>
            <a:noFill/>
          </a:ln>
        </p:spPr>
      </p:pic>
      <p:sp>
        <p:nvSpPr>
          <p:cNvPr id="95" name="Google Shape;95;p5"/>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PROCESO DE NEGOCIO</a:t>
            </a:r>
            <a:endParaRPr/>
          </a:p>
        </p:txBody>
      </p:sp>
      <p:sp>
        <p:nvSpPr>
          <p:cNvPr id="96" name="Google Shape;96;p5"/>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97" name="Google Shape;97;p5"/>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proceso de negocio es una serie de tareas o actividades que se realizan en una organización para lograr un objetivo específico. Entender los procesos de negocio es crucial para modelarlos en diagramas de actividades.</a:t>
            </a:r>
            <a:endParaRPr/>
          </a:p>
          <a:p>
            <a:pPr indent="-266700" lvl="0" marL="266700" rtl="0" algn="l">
              <a:lnSpc>
                <a:spcPct val="100000"/>
              </a:lnSpc>
              <a:spcBef>
                <a:spcPts val="600"/>
              </a:spcBef>
              <a:spcAft>
                <a:spcPts val="0"/>
              </a:spcAft>
              <a:buClr>
                <a:schemeClr val="dk1"/>
              </a:buClr>
              <a:buSzPts val="1200"/>
              <a:buChar char="❑"/>
            </a:pPr>
            <a:r>
              <a:rPr lang="es-ES"/>
              <a:t>El proceso de negocio para la aprobación de un préstamo bancario podría incluir pasos como la verificación de crédito, la evaluación de la solicitud y la aprobación o rechazo de la solicitud.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6"/>
          <p:cNvPicPr preferRelativeResize="0"/>
          <p:nvPr>
            <p:ph idx="2" type="pic"/>
          </p:nvPr>
        </p:nvPicPr>
        <p:blipFill rotWithShape="1">
          <a:blip r:embed="rId3">
            <a:alphaModFix/>
          </a:blip>
          <a:srcRect b="24463" l="0" r="0" t="24464"/>
          <a:stretch/>
        </p:blipFill>
        <p:spPr>
          <a:xfrm>
            <a:off x="1152243" y="3276467"/>
            <a:ext cx="6839513" cy="1995010"/>
          </a:xfrm>
          <a:prstGeom prst="rect">
            <a:avLst/>
          </a:prstGeom>
          <a:noFill/>
          <a:ln>
            <a:noFill/>
          </a:ln>
        </p:spPr>
      </p:pic>
      <p:sp>
        <p:nvSpPr>
          <p:cNvPr id="104" name="Google Shape;104;p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STAKEHOLDERS</a:t>
            </a:r>
            <a:endParaRPr/>
          </a:p>
        </p:txBody>
      </p:sp>
      <p:sp>
        <p:nvSpPr>
          <p:cNvPr id="105" name="Google Shape;105;p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06" name="Google Shape;106;p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Stakeholders son las personas o grupos que tienen un interés en un sistema de información. </a:t>
            </a:r>
            <a:endParaRPr/>
          </a:p>
          <a:p>
            <a:pPr indent="-266700" lvl="0" marL="266700" rtl="0" algn="l">
              <a:lnSpc>
                <a:spcPct val="100000"/>
              </a:lnSpc>
              <a:spcBef>
                <a:spcPts val="600"/>
              </a:spcBef>
              <a:spcAft>
                <a:spcPts val="0"/>
              </a:spcAft>
              <a:buClr>
                <a:schemeClr val="dk1"/>
              </a:buClr>
              <a:buSzPts val="1200"/>
              <a:buChar char="❑"/>
            </a:pPr>
            <a:r>
              <a:rPr lang="es-ES"/>
              <a:t>Los Stakeholders internos son personas o grupos que trabajan dentro de la organización (los empleados, los gerentes y los directivos).</a:t>
            </a:r>
            <a:endParaRPr/>
          </a:p>
          <a:p>
            <a:pPr indent="-266700" lvl="0" marL="266700" rtl="0" algn="l">
              <a:lnSpc>
                <a:spcPct val="100000"/>
              </a:lnSpc>
              <a:spcBef>
                <a:spcPts val="600"/>
              </a:spcBef>
              <a:spcAft>
                <a:spcPts val="0"/>
              </a:spcAft>
              <a:buClr>
                <a:schemeClr val="dk1"/>
              </a:buClr>
              <a:buSzPts val="1200"/>
              <a:buChar char="❑"/>
            </a:pPr>
            <a:r>
              <a:rPr lang="es-ES"/>
              <a:t>Los Stakeholders externos son personas o grupos que no trabajan dentro de la organización (los clientes, los proveedores y los reguladores).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CASOS DE USO</a:t>
            </a:r>
            <a:endParaRPr/>
          </a:p>
        </p:txBody>
      </p:sp>
      <p:sp>
        <p:nvSpPr>
          <p:cNvPr id="113" name="Google Shape;113;p7"/>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14" name="Google Shape;114;p7"/>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caso de uso es una descripción de cómo un usuario interactúa con un sistema para lograr un objetivo específico. Los casos de uso ayudan a entender el contexto en el que se utilizará el sistema.</a:t>
            </a:r>
            <a:endParaRPr/>
          </a:p>
          <a:p>
            <a:pPr indent="-266700" lvl="0" marL="266700" rtl="0" algn="l">
              <a:lnSpc>
                <a:spcPct val="100000"/>
              </a:lnSpc>
              <a:spcBef>
                <a:spcPts val="600"/>
              </a:spcBef>
              <a:spcAft>
                <a:spcPts val="0"/>
              </a:spcAft>
              <a:buClr>
                <a:schemeClr val="dk1"/>
              </a:buClr>
              <a:buSzPts val="1200"/>
              <a:buChar char="❑"/>
            </a:pPr>
            <a:r>
              <a:rPr lang="es-ES"/>
              <a:t>Un caso de uso para un sistema de sueldos en línea podría ser “Renovar contratos”, que describiría todos los pasos desde que el Gerente de personal evalúa al trabajador, hasta la firma del contrato.</a:t>
            </a:r>
            <a:endParaRPr/>
          </a:p>
        </p:txBody>
      </p:sp>
      <p:pic>
        <p:nvPicPr>
          <p:cNvPr id="115" name="Google Shape;115;p7"/>
          <p:cNvPicPr preferRelativeResize="0"/>
          <p:nvPr>
            <p:ph idx="2" type="pic"/>
          </p:nvPr>
        </p:nvPicPr>
        <p:blipFill rotWithShape="1">
          <a:blip r:embed="rId3">
            <a:alphaModFix/>
          </a:blip>
          <a:srcRect b="0" l="564" r="564" t="0"/>
          <a:stretch/>
        </p:blipFill>
        <p:spPr>
          <a:xfrm>
            <a:off x="1098977" y="3121106"/>
            <a:ext cx="6946045" cy="20260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8"/>
          <p:cNvPicPr preferRelativeResize="0"/>
          <p:nvPr>
            <p:ph idx="2" type="pic"/>
          </p:nvPr>
        </p:nvPicPr>
        <p:blipFill rotWithShape="1">
          <a:blip r:embed="rId3">
            <a:alphaModFix/>
          </a:blip>
          <a:srcRect b="0" l="765" r="765" t="0"/>
          <a:stretch/>
        </p:blipFill>
        <p:spPr>
          <a:xfrm>
            <a:off x="866304" y="2840031"/>
            <a:ext cx="7096965" cy="2070106"/>
          </a:xfrm>
          <a:prstGeom prst="rect">
            <a:avLst/>
          </a:prstGeom>
          <a:noFill/>
          <a:ln>
            <a:noFill/>
          </a:ln>
        </p:spPr>
      </p:pic>
      <p:sp>
        <p:nvSpPr>
          <p:cNvPr id="122" name="Google Shape;122;p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FLUJO DE TRABAJO</a:t>
            </a:r>
            <a:endParaRPr/>
          </a:p>
        </p:txBody>
      </p:sp>
      <p:sp>
        <p:nvSpPr>
          <p:cNvPr id="123" name="Google Shape;123;p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24" name="Google Shape;124;p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la secuencia de pasos o actividades que se deben realizar para completar una tarea específica dentro de un sistema o proceso de negocio.</a:t>
            </a:r>
            <a:endParaRPr/>
          </a:p>
          <a:p>
            <a:pPr indent="-266700" lvl="0" marL="266700" rtl="0" algn="l">
              <a:lnSpc>
                <a:spcPct val="100000"/>
              </a:lnSpc>
              <a:spcBef>
                <a:spcPts val="600"/>
              </a:spcBef>
              <a:spcAft>
                <a:spcPts val="0"/>
              </a:spcAft>
              <a:buClr>
                <a:schemeClr val="dk1"/>
              </a:buClr>
              <a:buSzPts val="1200"/>
              <a:buChar char="❑"/>
            </a:pPr>
            <a:r>
              <a:rPr lang="es-ES"/>
              <a:t>En un sistema de atención al cliente, el flujo de trabajo podría incluir recibir una llamada, identificar el problema del cliente, resolverlo y luego cerrar el ticket de servicio.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ph idx="2" type="pic"/>
          </p:nvPr>
        </p:nvPicPr>
        <p:blipFill rotWithShape="1">
          <a:blip r:embed="rId3">
            <a:alphaModFix/>
          </a:blip>
          <a:srcRect b="32220" l="0" r="0" t="32219"/>
          <a:stretch/>
        </p:blipFill>
        <p:spPr>
          <a:xfrm>
            <a:off x="1053461" y="2857500"/>
            <a:ext cx="7037077" cy="2052637"/>
          </a:xfrm>
          <a:prstGeom prst="rect">
            <a:avLst/>
          </a:prstGeom>
          <a:noFill/>
          <a:ln>
            <a:noFill/>
          </a:ln>
        </p:spPr>
      </p:pic>
      <p:sp>
        <p:nvSpPr>
          <p:cNvPr id="131" name="Google Shape;131;p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MODULARIDAD</a:t>
            </a:r>
            <a:endParaRPr/>
          </a:p>
        </p:txBody>
      </p:sp>
      <p:sp>
        <p:nvSpPr>
          <p:cNvPr id="132" name="Google Shape;132;p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33" name="Google Shape;133;p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modularidad se refiere a la división de un sistema en componentes más pequeños e independientes que pueden desarrollarse, probarse y depurarse de manera independiente.</a:t>
            </a:r>
            <a:endParaRPr/>
          </a:p>
          <a:p>
            <a:pPr indent="-266700" lvl="0" marL="266700" rtl="0" algn="l">
              <a:lnSpc>
                <a:spcPct val="100000"/>
              </a:lnSpc>
              <a:spcBef>
                <a:spcPts val="600"/>
              </a:spcBef>
              <a:spcAft>
                <a:spcPts val="0"/>
              </a:spcAft>
              <a:buClr>
                <a:schemeClr val="dk1"/>
              </a:buClr>
              <a:buSzPts val="1200"/>
              <a:buChar char="❑"/>
            </a:pPr>
            <a:r>
              <a:rPr lang="es-ES"/>
              <a:t>En un sistema de gestión de contenido podríamos tener módulos separados para la gestión de usuarios, la creación de contenido y la analítica web.</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40" name="Google Shape;140;p10"/>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ELEMENTOS DEL DIAGRAMA DE ACTIVIDAD</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1"/>
          <p:cNvPicPr preferRelativeResize="0"/>
          <p:nvPr>
            <p:ph idx="2" type="pic"/>
          </p:nvPr>
        </p:nvPicPr>
        <p:blipFill rotWithShape="1">
          <a:blip r:embed="rId3">
            <a:alphaModFix/>
          </a:blip>
          <a:srcRect b="373" l="0" r="0" t="372"/>
          <a:stretch/>
        </p:blipFill>
        <p:spPr>
          <a:xfrm>
            <a:off x="5086710" y="1031255"/>
            <a:ext cx="3358158" cy="3652489"/>
          </a:xfrm>
          <a:prstGeom prst="rect">
            <a:avLst/>
          </a:prstGeom>
          <a:noFill/>
          <a:ln>
            <a:noFill/>
          </a:ln>
        </p:spPr>
      </p:pic>
      <p:sp>
        <p:nvSpPr>
          <p:cNvPr id="147" name="Google Shape;147;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48" name="Google Shape;148;p1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diagramas son especialmente útiles para modelar procesos de negocio, flujos de trabajo y la lógica de algoritmos complejos en el desarrollo de software.</a:t>
            </a:r>
            <a:endParaRPr/>
          </a:p>
          <a:p>
            <a:pPr indent="-266700" lvl="0" marL="266700" rtl="0" algn="l">
              <a:lnSpc>
                <a:spcPct val="100000"/>
              </a:lnSpc>
              <a:spcBef>
                <a:spcPts val="600"/>
              </a:spcBef>
              <a:spcAft>
                <a:spcPts val="0"/>
              </a:spcAft>
              <a:buClr>
                <a:schemeClr val="dk1"/>
              </a:buClr>
              <a:buSzPts val="1200"/>
              <a:buChar char="❑"/>
            </a:pPr>
            <a:r>
              <a:rPr lang="es-ES"/>
              <a:t>Cada elemento en estos diagramas tiene su propio conjunto de reglas y directrices sobre cómo deben usarse para modelar efectivamente un sistema o proceso.</a:t>
            </a:r>
            <a:endParaRPr/>
          </a:p>
          <a:p>
            <a:pPr indent="-266700" lvl="0" marL="266700" rtl="0" algn="l">
              <a:lnSpc>
                <a:spcPct val="100000"/>
              </a:lnSpc>
              <a:spcBef>
                <a:spcPts val="600"/>
              </a:spcBef>
              <a:spcAft>
                <a:spcPts val="0"/>
              </a:spcAft>
              <a:buClr>
                <a:schemeClr val="dk1"/>
              </a:buClr>
              <a:buSzPts val="1200"/>
              <a:buChar char="❑"/>
            </a:pPr>
            <a:r>
              <a:rPr lang="es-ES"/>
              <a:t>Al comprender estos elementos y cómo interactúan entre sí, puedes crear diagramas de actividades UML más precisos y útiles.</a:t>
            </a:r>
            <a:endParaRPr/>
          </a:p>
        </p:txBody>
      </p:sp>
      <p:sp>
        <p:nvSpPr>
          <p:cNvPr id="149" name="Google Shape;149;p1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ACTIVIDAD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2"/>
          <p:cNvPicPr preferRelativeResize="0"/>
          <p:nvPr>
            <p:ph idx="2" type="pic"/>
          </p:nvPr>
        </p:nvPicPr>
        <p:blipFill rotWithShape="1">
          <a:blip r:embed="rId3">
            <a:alphaModFix/>
          </a:blip>
          <a:srcRect b="373" l="0" r="0" t="372"/>
          <a:stretch/>
        </p:blipFill>
        <p:spPr>
          <a:xfrm>
            <a:off x="4874197" y="1100829"/>
            <a:ext cx="3668325" cy="3989841"/>
          </a:xfrm>
          <a:prstGeom prst="rect">
            <a:avLst/>
          </a:prstGeom>
          <a:noFill/>
          <a:ln>
            <a:noFill/>
          </a:ln>
        </p:spPr>
      </p:pic>
      <p:sp>
        <p:nvSpPr>
          <p:cNvPr id="156" name="Google Shape;156;p1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NODO INICIAL</a:t>
            </a:r>
            <a:endParaRPr/>
          </a:p>
        </p:txBody>
      </p:sp>
      <p:sp>
        <p:nvSpPr>
          <p:cNvPr id="157" name="Google Shape;157;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58" name="Google Shape;158;p1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punto de partida de cualquier flujo en el diagrama de actividades.</a:t>
            </a:r>
            <a:endParaRPr/>
          </a:p>
          <a:p>
            <a:pPr indent="-266700" lvl="0" marL="266700" rtl="0" algn="l">
              <a:lnSpc>
                <a:spcPct val="100000"/>
              </a:lnSpc>
              <a:spcBef>
                <a:spcPts val="600"/>
              </a:spcBef>
              <a:spcAft>
                <a:spcPts val="0"/>
              </a:spcAft>
              <a:buClr>
                <a:schemeClr val="dk1"/>
              </a:buClr>
              <a:buSzPts val="1200"/>
              <a:buChar char="❑"/>
            </a:pPr>
            <a:r>
              <a:rPr lang="es-ES"/>
              <a:t>Se representa como un círculo relleno y denota el inicio del flujo de trabajo.</a:t>
            </a:r>
            <a:endParaRPr/>
          </a:p>
          <a:p>
            <a:pPr indent="-266700" lvl="0" marL="266700" rtl="0" algn="l">
              <a:lnSpc>
                <a:spcPct val="100000"/>
              </a:lnSpc>
              <a:spcBef>
                <a:spcPts val="600"/>
              </a:spcBef>
              <a:spcAft>
                <a:spcPts val="0"/>
              </a:spcAft>
              <a:buClr>
                <a:schemeClr val="dk1"/>
              </a:buClr>
              <a:buSzPts val="1200"/>
              <a:buChar char="❑"/>
            </a:pPr>
            <a:r>
              <a:rPr i="1" lang="es-ES"/>
              <a:t>Por ejemplo, </a:t>
            </a:r>
            <a:r>
              <a:rPr lang="es-ES"/>
              <a:t>el momento en que un cliente decide hacer un pedido en línea (punto de partida del flujo de trabajo).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3"/>
          <p:cNvPicPr preferRelativeResize="0"/>
          <p:nvPr>
            <p:ph idx="2" type="pic"/>
          </p:nvPr>
        </p:nvPicPr>
        <p:blipFill rotWithShape="1">
          <a:blip r:embed="rId3">
            <a:alphaModFix/>
          </a:blip>
          <a:srcRect b="373" l="0" r="0" t="372"/>
          <a:stretch/>
        </p:blipFill>
        <p:spPr>
          <a:xfrm>
            <a:off x="4693911" y="809626"/>
            <a:ext cx="3839733" cy="4176272"/>
          </a:xfrm>
          <a:prstGeom prst="rect">
            <a:avLst/>
          </a:prstGeom>
          <a:noFill/>
          <a:ln>
            <a:noFill/>
          </a:ln>
        </p:spPr>
      </p:pic>
      <p:sp>
        <p:nvSpPr>
          <p:cNvPr id="165" name="Google Shape;165;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NODO FINAL</a:t>
            </a:r>
            <a:endParaRPr/>
          </a:p>
        </p:txBody>
      </p:sp>
      <p:sp>
        <p:nvSpPr>
          <p:cNvPr id="166" name="Google Shape;166;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67" name="Google Shape;167;p13"/>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punto donde termina un flujo particular en el diagrama.</a:t>
            </a:r>
            <a:endParaRPr/>
          </a:p>
          <a:p>
            <a:pPr indent="-266700" lvl="0" marL="266700" rtl="0" algn="l">
              <a:lnSpc>
                <a:spcPct val="100000"/>
              </a:lnSpc>
              <a:spcBef>
                <a:spcPts val="600"/>
              </a:spcBef>
              <a:spcAft>
                <a:spcPts val="0"/>
              </a:spcAft>
              <a:buClr>
                <a:schemeClr val="dk1"/>
              </a:buClr>
              <a:buSzPts val="1200"/>
              <a:buChar char="❑"/>
            </a:pPr>
            <a:r>
              <a:rPr lang="es-ES"/>
              <a:t>Se representa como un círculo con un borde más grueso alrededor y significa la conclusión del flujo de actividades.</a:t>
            </a:r>
            <a:endParaRPr/>
          </a:p>
          <a:p>
            <a:pPr indent="-266700" lvl="0" marL="266700" rtl="0" algn="l">
              <a:lnSpc>
                <a:spcPct val="100000"/>
              </a:lnSpc>
              <a:spcBef>
                <a:spcPts val="600"/>
              </a:spcBef>
              <a:spcAft>
                <a:spcPts val="0"/>
              </a:spcAft>
              <a:buClr>
                <a:schemeClr val="dk1"/>
              </a:buClr>
              <a:buSzPts val="1200"/>
              <a:buChar char="❑"/>
            </a:pPr>
            <a:r>
              <a:rPr i="1" lang="es-ES"/>
              <a:t>Por ejemplo, </a:t>
            </a:r>
            <a:r>
              <a:rPr lang="es-ES"/>
              <a:t>el pedido se entrega al cliente y se cierra el proceso de pedido (este sería el nodo final del flujo).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ph idx="2" type="pic"/>
          </p:nvPr>
        </p:nvPicPr>
        <p:blipFill rotWithShape="1">
          <a:blip r:embed="rId3">
            <a:alphaModFix/>
          </a:blip>
          <a:srcRect b="373" l="0" r="0" t="372"/>
          <a:stretch/>
        </p:blipFill>
        <p:spPr>
          <a:xfrm>
            <a:off x="4915000" y="812351"/>
            <a:ext cx="3760687" cy="4090298"/>
          </a:xfrm>
          <a:prstGeom prst="rect">
            <a:avLst/>
          </a:prstGeom>
          <a:noFill/>
          <a:ln>
            <a:noFill/>
          </a:ln>
        </p:spPr>
      </p:pic>
      <p:sp>
        <p:nvSpPr>
          <p:cNvPr id="174" name="Google Shape;174;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ACTIVIDADES</a:t>
            </a:r>
            <a:endParaRPr/>
          </a:p>
        </p:txBody>
      </p:sp>
      <p:sp>
        <p:nvSpPr>
          <p:cNvPr id="175" name="Google Shape;175;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76" name="Google Shape;176;p14"/>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las tareas individuales que se realizan durante el flujo de trabajo.</a:t>
            </a:r>
            <a:endParaRPr/>
          </a:p>
          <a:p>
            <a:pPr indent="-266700" lvl="0" marL="266700" rtl="0" algn="l">
              <a:lnSpc>
                <a:spcPct val="100000"/>
              </a:lnSpc>
              <a:spcBef>
                <a:spcPts val="600"/>
              </a:spcBef>
              <a:spcAft>
                <a:spcPts val="0"/>
              </a:spcAft>
              <a:buClr>
                <a:schemeClr val="dk1"/>
              </a:buClr>
              <a:buSzPts val="1200"/>
              <a:buChar char="❑"/>
            </a:pPr>
            <a:r>
              <a:rPr lang="es-ES"/>
              <a:t>Se representan como rectángulos redondeados y generalmente contienen una breve descripción de la acción que se está realizando.</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algunas de las actividades podrían ser “Seleccionar producto”, “Agregar al carrito”, “Realizar pago”, “Empacar producto” y “Entregar pedido”.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5"/>
          <p:cNvPicPr preferRelativeResize="0"/>
          <p:nvPr>
            <p:ph idx="2" type="pic"/>
          </p:nvPr>
        </p:nvPicPr>
        <p:blipFill rotWithShape="1">
          <a:blip r:embed="rId3">
            <a:alphaModFix/>
          </a:blip>
          <a:srcRect b="373" l="0" r="0" t="372"/>
          <a:stretch/>
        </p:blipFill>
        <p:spPr>
          <a:xfrm>
            <a:off x="4909350" y="1171781"/>
            <a:ext cx="3766337" cy="4096443"/>
          </a:xfrm>
          <a:prstGeom prst="rect">
            <a:avLst/>
          </a:prstGeom>
          <a:noFill/>
          <a:ln>
            <a:noFill/>
          </a:ln>
        </p:spPr>
      </p:pic>
      <p:sp>
        <p:nvSpPr>
          <p:cNvPr id="183" name="Google Shape;183;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TRANSICIONES</a:t>
            </a:r>
            <a:endParaRPr/>
          </a:p>
        </p:txBody>
      </p:sp>
      <p:sp>
        <p:nvSpPr>
          <p:cNvPr id="184" name="Google Shape;184;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85" name="Google Shape;185;p1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las flechas que conectan diferentes elementos en el diagrama, como actividades o decisiones.</a:t>
            </a:r>
            <a:endParaRPr/>
          </a:p>
          <a:p>
            <a:pPr indent="-266700" lvl="0" marL="266700" rtl="0" algn="l">
              <a:lnSpc>
                <a:spcPct val="100000"/>
              </a:lnSpc>
              <a:spcBef>
                <a:spcPts val="600"/>
              </a:spcBef>
              <a:spcAft>
                <a:spcPts val="0"/>
              </a:spcAft>
              <a:buClr>
                <a:schemeClr val="dk1"/>
              </a:buClr>
              <a:buSzPts val="1200"/>
              <a:buChar char="❑"/>
            </a:pPr>
            <a:r>
              <a:rPr lang="es-ES"/>
              <a:t>Indican la secuencia y dirección en la que se ejecutan las actividades.</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una flecha desde “Seleccionar producto” a “Agregar al carrito” indicaría que después de seleccionar un producto, el siguiente paso es agregar al carrito.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6"/>
          <p:cNvPicPr preferRelativeResize="0"/>
          <p:nvPr>
            <p:ph idx="2" type="pic"/>
          </p:nvPr>
        </p:nvPicPr>
        <p:blipFill rotWithShape="1">
          <a:blip r:embed="rId3">
            <a:alphaModFix/>
          </a:blip>
          <a:srcRect b="373" l="0" r="0" t="372"/>
          <a:stretch/>
        </p:blipFill>
        <p:spPr>
          <a:xfrm>
            <a:off x="4821225" y="986632"/>
            <a:ext cx="3570377" cy="3883308"/>
          </a:xfrm>
          <a:prstGeom prst="rect">
            <a:avLst/>
          </a:prstGeom>
          <a:noFill/>
          <a:ln>
            <a:noFill/>
          </a:ln>
        </p:spPr>
      </p:pic>
      <p:sp>
        <p:nvSpPr>
          <p:cNvPr id="192" name="Google Shape;192;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PUNTOS DE DECISIÓN</a:t>
            </a:r>
            <a:endParaRPr/>
          </a:p>
        </p:txBody>
      </p:sp>
      <p:sp>
        <p:nvSpPr>
          <p:cNvPr id="193" name="Google Shape;193;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194" name="Google Shape;194;p16"/>
          <p:cNvSpPr txBox="1"/>
          <p:nvPr>
            <p:ph idx="4" type="body"/>
          </p:nvPr>
        </p:nvSpPr>
        <p:spPr>
          <a:xfrm>
            <a:off x="752398" y="1177927"/>
            <a:ext cx="373082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puntos en el flujo donde se toma una decisión basada en una condición. </a:t>
            </a:r>
            <a:endParaRPr/>
          </a:p>
          <a:p>
            <a:pPr indent="-266700" lvl="0" marL="266700" rtl="0" algn="l">
              <a:lnSpc>
                <a:spcPct val="100000"/>
              </a:lnSpc>
              <a:spcBef>
                <a:spcPts val="600"/>
              </a:spcBef>
              <a:spcAft>
                <a:spcPts val="0"/>
              </a:spcAft>
              <a:buClr>
                <a:schemeClr val="dk1"/>
              </a:buClr>
              <a:buSzPts val="1200"/>
              <a:buChar char="❑"/>
            </a:pPr>
            <a:r>
              <a:rPr lang="es-ES"/>
              <a:t>Se representan como rombos y generalmente tienen transiciones salientes que representan diferentes resultados posibles de la decisión.</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después de “Agregar al carrito”, podría haber un punto de decisión que pregunte “¿Agregar más productos?”. Si la respuesta es sí, el flujo volvería a “Seleccionar producto”.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7"/>
          <p:cNvPicPr preferRelativeResize="0"/>
          <p:nvPr>
            <p:ph idx="2" type="pic"/>
          </p:nvPr>
        </p:nvPicPr>
        <p:blipFill rotWithShape="1">
          <a:blip r:embed="rId3">
            <a:alphaModFix/>
          </a:blip>
          <a:srcRect b="373" l="0" r="0" t="372"/>
          <a:stretch/>
        </p:blipFill>
        <p:spPr>
          <a:xfrm>
            <a:off x="5041313" y="982428"/>
            <a:ext cx="3447943" cy="3750143"/>
          </a:xfrm>
          <a:prstGeom prst="rect">
            <a:avLst/>
          </a:prstGeom>
          <a:noFill/>
          <a:ln>
            <a:noFill/>
          </a:ln>
        </p:spPr>
      </p:pic>
      <p:sp>
        <p:nvSpPr>
          <p:cNvPr id="201" name="Google Shape;201;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PUNTOS DE FUSIÓN</a:t>
            </a:r>
            <a:endParaRPr/>
          </a:p>
        </p:txBody>
      </p:sp>
      <p:sp>
        <p:nvSpPr>
          <p:cNvPr id="202" name="Google Shape;202;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03" name="Google Shape;203;p17"/>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son similares a los puntos de decisión, pero se utilizan para unir diferentes flujos en uno solo.</a:t>
            </a:r>
            <a:endParaRPr/>
          </a:p>
          <a:p>
            <a:pPr indent="-266700" lvl="0" marL="266700" rtl="0" algn="l">
              <a:lnSpc>
                <a:spcPct val="100000"/>
              </a:lnSpc>
              <a:spcBef>
                <a:spcPts val="600"/>
              </a:spcBef>
              <a:spcAft>
                <a:spcPts val="0"/>
              </a:spcAft>
              <a:buClr>
                <a:schemeClr val="dk1"/>
              </a:buClr>
              <a:buSzPts val="1200"/>
              <a:buChar char="❑"/>
            </a:pPr>
            <a:r>
              <a:rPr lang="es-ES"/>
              <a:t>También se representan como rombos.</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si después de empacar el producto hay dos opciones, “Enviar por correo” o “Recoger en tienda”, un punto de fusión podría usarse para unir estos dos flujos en “Actualizar estado del pedido”.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18"/>
          <p:cNvPicPr preferRelativeResize="0"/>
          <p:nvPr>
            <p:ph idx="2" type="pic"/>
          </p:nvPr>
        </p:nvPicPr>
        <p:blipFill rotWithShape="1">
          <a:blip r:embed="rId3">
            <a:alphaModFix/>
          </a:blip>
          <a:srcRect b="373" l="0" r="0" t="372"/>
          <a:stretch/>
        </p:blipFill>
        <p:spPr>
          <a:xfrm>
            <a:off x="4900472" y="986632"/>
            <a:ext cx="3642049" cy="3961262"/>
          </a:xfrm>
          <a:prstGeom prst="rect">
            <a:avLst/>
          </a:prstGeom>
          <a:noFill/>
          <a:ln>
            <a:noFill/>
          </a:ln>
        </p:spPr>
      </p:pic>
      <p:sp>
        <p:nvSpPr>
          <p:cNvPr id="210" name="Google Shape;210;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PUNTOS DE BIFURCACIÓN Y UNIÓN</a:t>
            </a:r>
            <a:endParaRPr/>
          </a:p>
        </p:txBody>
      </p:sp>
      <p:sp>
        <p:nvSpPr>
          <p:cNvPr id="211" name="Google Shape;211;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12" name="Google Shape;212;p18"/>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utilizan para representar el paralelismo en un flujo de trabajo. </a:t>
            </a:r>
            <a:endParaRPr/>
          </a:p>
          <a:p>
            <a:pPr indent="-266700" lvl="0" marL="266700" rtl="0" algn="l">
              <a:lnSpc>
                <a:spcPct val="100000"/>
              </a:lnSpc>
              <a:spcBef>
                <a:spcPts val="600"/>
              </a:spcBef>
              <a:spcAft>
                <a:spcPts val="0"/>
              </a:spcAft>
              <a:buClr>
                <a:schemeClr val="dk1"/>
              </a:buClr>
              <a:buSzPts val="1200"/>
              <a:buChar char="❑"/>
            </a:pPr>
            <a:r>
              <a:rPr lang="es-ES"/>
              <a:t>El punto de bifurcación divide un flujo en múltiples flujos paralelos, y el punto de unión los sincroniza de nuevo en un solo flujo. </a:t>
            </a:r>
            <a:endParaRPr/>
          </a:p>
          <a:p>
            <a:pPr indent="-266700" lvl="0" marL="266700" rtl="0" algn="l">
              <a:lnSpc>
                <a:spcPct val="100000"/>
              </a:lnSpc>
              <a:spcBef>
                <a:spcPts val="600"/>
              </a:spcBef>
              <a:spcAft>
                <a:spcPts val="0"/>
              </a:spcAft>
              <a:buClr>
                <a:schemeClr val="dk1"/>
              </a:buClr>
              <a:buSzPts val="1200"/>
              <a:buChar char="❑"/>
            </a:pPr>
            <a:r>
              <a:rPr lang="es-ES"/>
              <a:t>Se representan como barras horizontales o verticales.</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después de “Realizar pago”, el flujo podría bifurcarse en dos actividades paralelas: “Actualizar inventario” y “Generar factura”. Un punto de unión se utilizaría para sincronizar estos flujos antes de pasar a “Empacar producto”.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SUBACTIVIDADES</a:t>
            </a:r>
            <a:endParaRPr/>
          </a:p>
        </p:txBody>
      </p:sp>
      <p:sp>
        <p:nvSpPr>
          <p:cNvPr id="219" name="Google Shape;219;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20" name="Google Shape;220;p19"/>
          <p:cNvSpPr txBox="1"/>
          <p:nvPr>
            <p:ph idx="4" type="body"/>
          </p:nvPr>
        </p:nvSpPr>
        <p:spPr>
          <a:xfrm>
            <a:off x="956586" y="1182304"/>
            <a:ext cx="3428984"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actividades que, en realidad, son un resumen de un flujo de trabajo más complejo.</a:t>
            </a:r>
            <a:endParaRPr/>
          </a:p>
          <a:p>
            <a:pPr indent="-266700" lvl="0" marL="266700" rtl="0" algn="l">
              <a:lnSpc>
                <a:spcPct val="100000"/>
              </a:lnSpc>
              <a:spcBef>
                <a:spcPts val="600"/>
              </a:spcBef>
              <a:spcAft>
                <a:spcPts val="0"/>
              </a:spcAft>
              <a:buClr>
                <a:schemeClr val="dk1"/>
              </a:buClr>
              <a:buSzPts val="1200"/>
              <a:buChar char="❑"/>
            </a:pPr>
            <a:r>
              <a:rPr lang="es-ES"/>
              <a:t>Se representan como un rectángulo redondeado con un pequeño rectángulo anidado en la esquina inferior.</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“Realizar pago” podría ser una subactividad que incluye varios pasos como “Ingresar detalles de la tarjeta”, “Verificar tarjeta” y “Confirmar pago”.</a:t>
            </a:r>
            <a:endParaRPr/>
          </a:p>
        </p:txBody>
      </p:sp>
      <p:pic>
        <p:nvPicPr>
          <p:cNvPr id="221" name="Google Shape;221;p19"/>
          <p:cNvPicPr preferRelativeResize="0"/>
          <p:nvPr>
            <p:ph idx="2" type="pic"/>
          </p:nvPr>
        </p:nvPicPr>
        <p:blipFill rotWithShape="1">
          <a:blip r:embed="rId3">
            <a:alphaModFix/>
          </a:blip>
          <a:srcRect b="373" l="0" r="0" t="372"/>
          <a:stretch/>
        </p:blipFill>
        <p:spPr>
          <a:xfrm>
            <a:off x="4758431" y="902208"/>
            <a:ext cx="3595455" cy="39105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0"/>
          <p:cNvPicPr preferRelativeResize="0"/>
          <p:nvPr>
            <p:ph idx="2" type="pic"/>
          </p:nvPr>
        </p:nvPicPr>
        <p:blipFill rotWithShape="1">
          <a:blip r:embed="rId3">
            <a:alphaModFix/>
          </a:blip>
          <a:srcRect b="373" l="0" r="0" t="372"/>
          <a:stretch/>
        </p:blipFill>
        <p:spPr>
          <a:xfrm>
            <a:off x="4993770" y="986632"/>
            <a:ext cx="3513242" cy="3821165"/>
          </a:xfrm>
          <a:prstGeom prst="rect">
            <a:avLst/>
          </a:prstGeom>
          <a:noFill/>
          <a:ln>
            <a:noFill/>
          </a:ln>
        </p:spPr>
      </p:pic>
      <p:sp>
        <p:nvSpPr>
          <p:cNvPr id="228" name="Google Shape;228;p2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EVENTOS</a:t>
            </a:r>
            <a:endParaRPr/>
          </a:p>
        </p:txBody>
      </p:sp>
      <p:sp>
        <p:nvSpPr>
          <p:cNvPr id="229" name="Google Shape;229;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30" name="Google Shape;230;p20"/>
          <p:cNvSpPr txBox="1"/>
          <p:nvPr>
            <p:ph idx="4" type="body"/>
          </p:nvPr>
        </p:nvSpPr>
        <p:spPr>
          <a:xfrm>
            <a:off x="1045362" y="1177927"/>
            <a:ext cx="352663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eventos son situaciones externas que afectan al flujo de trabajo.</a:t>
            </a:r>
            <a:endParaRPr/>
          </a:p>
          <a:p>
            <a:pPr indent="-266700" lvl="0" marL="266700" rtl="0" algn="l">
              <a:lnSpc>
                <a:spcPct val="100000"/>
              </a:lnSpc>
              <a:spcBef>
                <a:spcPts val="600"/>
              </a:spcBef>
              <a:spcAft>
                <a:spcPts val="0"/>
              </a:spcAft>
              <a:buClr>
                <a:schemeClr val="dk1"/>
              </a:buClr>
              <a:buSzPts val="1200"/>
              <a:buChar char="❑"/>
            </a:pPr>
            <a:r>
              <a:rPr lang="es-ES"/>
              <a:t>Pueden ser eventos de señal, tiempo, etc., y se representan como un pentágono.</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un evento de tiempo podría ser “Si el pedido no se entrega en 30 minutos, emitir un reembolso”. Este evento afectaría el flujo de actividades.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21"/>
          <p:cNvPicPr preferRelativeResize="0"/>
          <p:nvPr>
            <p:ph idx="2" type="pic"/>
          </p:nvPr>
        </p:nvPicPr>
        <p:blipFill rotWithShape="1">
          <a:blip r:embed="rId3">
            <a:alphaModFix/>
          </a:blip>
          <a:srcRect b="373" l="0" r="0" t="372"/>
          <a:stretch/>
        </p:blipFill>
        <p:spPr>
          <a:xfrm>
            <a:off x="5086904" y="1306770"/>
            <a:ext cx="3420107" cy="3719867"/>
          </a:xfrm>
          <a:prstGeom prst="rect">
            <a:avLst/>
          </a:prstGeom>
          <a:noFill/>
          <a:ln>
            <a:noFill/>
          </a:ln>
        </p:spPr>
      </p:pic>
      <p:sp>
        <p:nvSpPr>
          <p:cNvPr id="237" name="Google Shape;237;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PISCINAS Y CARRILES</a:t>
            </a:r>
            <a:endParaRPr/>
          </a:p>
        </p:txBody>
      </p:sp>
      <p:sp>
        <p:nvSpPr>
          <p:cNvPr id="238" name="Google Shape;238;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39" name="Google Shape;239;p21"/>
          <p:cNvSpPr txBox="1"/>
          <p:nvPr>
            <p:ph idx="4" type="body"/>
          </p:nvPr>
        </p:nvSpPr>
        <p:spPr>
          <a:xfrm>
            <a:off x="761276" y="1200060"/>
            <a:ext cx="3997154"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elementos se utilizan para organizar actividades en diferentes “piscinas” que representan entidades externas y “carriles” que representan diferentes responsabilidades dentro de una entidad. </a:t>
            </a:r>
            <a:endParaRPr/>
          </a:p>
          <a:p>
            <a:pPr indent="-266700" lvl="0" marL="266700" rtl="0" algn="l">
              <a:lnSpc>
                <a:spcPct val="100000"/>
              </a:lnSpc>
              <a:spcBef>
                <a:spcPts val="600"/>
              </a:spcBef>
              <a:spcAft>
                <a:spcPts val="0"/>
              </a:spcAft>
              <a:buClr>
                <a:schemeClr val="dk1"/>
              </a:buClr>
              <a:buSzPts val="1200"/>
              <a:buChar char="❑"/>
            </a:pPr>
            <a:r>
              <a:rPr lang="es-ES"/>
              <a:t>Son útiles para mostrar más detalles sobre quién o qué está realizando las actividades.</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podríamos tener una piscina para “Cliente” y otra para “Sistema de gestión de pedidos”. Dentro de la piscina del sistema, podríamos tener carriles para “Inventario”, “Facturación” y “Logística” para mostrar quién es responsable de qué actividad.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22"/>
          <p:cNvPicPr preferRelativeResize="0"/>
          <p:nvPr>
            <p:ph idx="2" type="pic"/>
          </p:nvPr>
        </p:nvPicPr>
        <p:blipFill rotWithShape="1">
          <a:blip r:embed="rId3">
            <a:alphaModFix/>
          </a:blip>
          <a:srcRect b="373" l="0" r="0" t="372"/>
          <a:stretch/>
        </p:blipFill>
        <p:spPr>
          <a:xfrm>
            <a:off x="4843979" y="986632"/>
            <a:ext cx="3760687" cy="4090298"/>
          </a:xfrm>
          <a:prstGeom prst="rect">
            <a:avLst/>
          </a:prstGeom>
          <a:noFill/>
          <a:ln>
            <a:noFill/>
          </a:ln>
        </p:spPr>
      </p:pic>
      <p:sp>
        <p:nvSpPr>
          <p:cNvPr id="246" name="Google Shape;246;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COMENTARIOS Y ANOTACIONES</a:t>
            </a:r>
            <a:endParaRPr/>
          </a:p>
        </p:txBody>
      </p:sp>
      <p:sp>
        <p:nvSpPr>
          <p:cNvPr id="247" name="Google Shape;247;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ACTIVIDAD</a:t>
            </a:r>
            <a:endParaRPr b="0">
              <a:solidFill>
                <a:srgbClr val="0070C0"/>
              </a:solidFill>
            </a:endParaRPr>
          </a:p>
        </p:txBody>
      </p:sp>
      <p:sp>
        <p:nvSpPr>
          <p:cNvPr id="248" name="Google Shape;248;p22"/>
          <p:cNvSpPr txBox="1"/>
          <p:nvPr>
            <p:ph idx="4" type="body"/>
          </p:nvPr>
        </p:nvSpPr>
        <p:spPr>
          <a:xfrm>
            <a:off x="850054" y="1177927"/>
            <a:ext cx="357990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pueden añadir para proporcionar información adicional o aclaraciones sobre cualquier elemento del diagrama. </a:t>
            </a:r>
            <a:endParaRPr/>
          </a:p>
          <a:p>
            <a:pPr indent="-266700" lvl="0" marL="266700" rtl="0" algn="l">
              <a:lnSpc>
                <a:spcPct val="100000"/>
              </a:lnSpc>
              <a:spcBef>
                <a:spcPts val="600"/>
              </a:spcBef>
              <a:spcAft>
                <a:spcPts val="0"/>
              </a:spcAft>
              <a:buClr>
                <a:schemeClr val="dk1"/>
              </a:buClr>
              <a:buSzPts val="1200"/>
              <a:buChar char="❑"/>
            </a:pPr>
            <a:r>
              <a:rPr lang="es-ES"/>
              <a:t>Se representan como un rectángulo con una esquina doblada.</a:t>
            </a:r>
            <a:endParaRPr/>
          </a:p>
          <a:p>
            <a:pPr indent="-266700" lvl="0" marL="266700" rtl="0" algn="l">
              <a:lnSpc>
                <a:spcPct val="100000"/>
              </a:lnSpc>
              <a:spcBef>
                <a:spcPts val="600"/>
              </a:spcBef>
              <a:spcAft>
                <a:spcPts val="0"/>
              </a:spcAft>
              <a:buClr>
                <a:schemeClr val="dk1"/>
              </a:buClr>
              <a:buSzPts val="1200"/>
              <a:buChar char="❑"/>
            </a:pPr>
            <a:r>
              <a:rPr i="1" lang="es-ES"/>
              <a:t>Por ejemplo,</a:t>
            </a:r>
            <a:r>
              <a:rPr lang="es-ES"/>
              <a:t> junto a la actividad “Empacar producto”, podríamos tener un comentario que diga “Asegúrese de verificar la fecha de vencimiento en caso de productos perecederos”.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ACTIVIDAD, PASO A PASO</a:t>
            </a:r>
            <a:endParaRPr>
              <a:solidFill>
                <a:srgbClr val="A5A5A5"/>
              </a:solidFill>
            </a:endParaRPr>
          </a:p>
        </p:txBody>
      </p:sp>
      <p:sp>
        <p:nvSpPr>
          <p:cNvPr id="255" name="Google Shape;255;p2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ACTIVIDAD</a:t>
            </a:r>
            <a:endParaRPr/>
          </a:p>
        </p:txBody>
      </p:sp>
      <p:sp>
        <p:nvSpPr>
          <p:cNvPr id="256" name="Google Shape;256;p23"/>
          <p:cNvSpPr txBox="1"/>
          <p:nvPr>
            <p:ph idx="3" type="body"/>
          </p:nvPr>
        </p:nvSpPr>
        <p:spPr>
          <a:xfrm>
            <a:off x="468313" y="1174364"/>
            <a:ext cx="8207375" cy="3965808"/>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sz="1375">
                <a:solidFill>
                  <a:srgbClr val="1F85A6"/>
                </a:solidFill>
              </a:rPr>
              <a:t>  Paso 1: Definir el Alcance y Objetivo</a:t>
            </a:r>
            <a:endParaRPr sz="1375"/>
          </a:p>
          <a:p>
            <a:pPr indent="0" lvl="1" marL="92075" rtl="0" algn="just">
              <a:lnSpc>
                <a:spcPct val="83000"/>
              </a:lnSpc>
              <a:spcBef>
                <a:spcPts val="0"/>
              </a:spcBef>
              <a:spcAft>
                <a:spcPts val="0"/>
              </a:spcAft>
              <a:buSzPts val="1600"/>
              <a:buNone/>
            </a:pPr>
            <a:r>
              <a:rPr lang="es-ES" sz="1375">
                <a:solidFill>
                  <a:srgbClr val="1F85A6"/>
                </a:solidFill>
              </a:rPr>
              <a:t>Antes de empezar, es crucial entender qué proceso o flujo de trabajo se intenta modelar y cuál es el objetivo del diagrama.</a:t>
            </a:r>
            <a:endParaRPr sz="1375"/>
          </a:p>
          <a:p>
            <a:pPr indent="0" lvl="0" marL="0" rtl="0" algn="just">
              <a:lnSpc>
                <a:spcPct val="83000"/>
              </a:lnSpc>
              <a:spcBef>
                <a:spcPts val="600"/>
              </a:spcBef>
              <a:spcAft>
                <a:spcPts val="0"/>
              </a:spcAft>
              <a:buSzPts val="1200"/>
              <a:buNone/>
            </a:pPr>
            <a:r>
              <a:rPr b="1" lang="es-ES" sz="1375">
                <a:solidFill>
                  <a:srgbClr val="1F85A6"/>
                </a:solidFill>
              </a:rPr>
              <a:t>  Paso 2: Identificar Stakeholders y Actores</a:t>
            </a:r>
            <a:endParaRPr sz="1375"/>
          </a:p>
          <a:p>
            <a:pPr indent="0" lvl="1" marL="92075" rtl="0" algn="just">
              <a:lnSpc>
                <a:spcPct val="83000"/>
              </a:lnSpc>
              <a:spcBef>
                <a:spcPts val="0"/>
              </a:spcBef>
              <a:spcAft>
                <a:spcPts val="0"/>
              </a:spcAft>
              <a:buSzPts val="1600"/>
              <a:buNone/>
            </a:pPr>
            <a:r>
              <a:rPr lang="es-ES" sz="1375">
                <a:solidFill>
                  <a:srgbClr val="1F85A6"/>
                </a:solidFill>
              </a:rPr>
              <a:t>Determina quiénes son las personas, sistemas o entidades que interactúan con el proceso (son los actores en tu diagrama).</a:t>
            </a:r>
            <a:endParaRPr sz="1375"/>
          </a:p>
          <a:p>
            <a:pPr indent="0" lvl="0" marL="0" rtl="0" algn="just">
              <a:lnSpc>
                <a:spcPct val="83000"/>
              </a:lnSpc>
              <a:spcBef>
                <a:spcPts val="600"/>
              </a:spcBef>
              <a:spcAft>
                <a:spcPts val="0"/>
              </a:spcAft>
              <a:buSzPts val="1200"/>
              <a:buNone/>
            </a:pPr>
            <a:r>
              <a:rPr b="1" lang="es-ES" sz="1375">
                <a:solidFill>
                  <a:srgbClr val="1F85A6"/>
                </a:solidFill>
              </a:rPr>
              <a:t>  Paso 3: Enumerar las Actividades Principales</a:t>
            </a:r>
            <a:endParaRPr sz="1375"/>
          </a:p>
          <a:p>
            <a:pPr indent="0" lvl="1" marL="92075" rtl="0" algn="just">
              <a:lnSpc>
                <a:spcPct val="83000"/>
              </a:lnSpc>
              <a:spcBef>
                <a:spcPts val="0"/>
              </a:spcBef>
              <a:spcAft>
                <a:spcPts val="0"/>
              </a:spcAft>
              <a:buSzPts val="1600"/>
              <a:buNone/>
            </a:pPr>
            <a:r>
              <a:rPr lang="es-ES" sz="1375">
                <a:solidFill>
                  <a:srgbClr val="1F85A6"/>
                </a:solidFill>
              </a:rPr>
              <a:t>Haz una lista de todas las actividades que se realizan desde el inicio hasta el final del proceso. No te preocupes por el orden en este momento.</a:t>
            </a:r>
            <a:endParaRPr sz="1375"/>
          </a:p>
          <a:p>
            <a:pPr indent="0" lvl="0" marL="0" rtl="0" algn="just">
              <a:lnSpc>
                <a:spcPct val="83000"/>
              </a:lnSpc>
              <a:spcBef>
                <a:spcPts val="600"/>
              </a:spcBef>
              <a:spcAft>
                <a:spcPts val="0"/>
              </a:spcAft>
              <a:buSzPts val="1200"/>
              <a:buNone/>
            </a:pPr>
            <a:r>
              <a:rPr b="1" lang="es-ES" sz="1375">
                <a:solidFill>
                  <a:srgbClr val="1F85A6"/>
                </a:solidFill>
              </a:rPr>
              <a:t>   Paso 4: Establecer el Nodo Inicial y Final</a:t>
            </a:r>
            <a:endParaRPr sz="1375"/>
          </a:p>
          <a:p>
            <a:pPr indent="0" lvl="1" marL="92075" rtl="0" algn="just">
              <a:lnSpc>
                <a:spcPct val="83000"/>
              </a:lnSpc>
              <a:spcBef>
                <a:spcPts val="0"/>
              </a:spcBef>
              <a:spcAft>
                <a:spcPts val="0"/>
              </a:spcAft>
              <a:buSzPts val="1600"/>
              <a:buNone/>
            </a:pPr>
            <a:r>
              <a:rPr lang="es-ES" sz="1375">
                <a:solidFill>
                  <a:srgbClr val="1F85A6"/>
                </a:solidFill>
              </a:rPr>
              <a:t>Identifica el punto de inicio y el punto final del proceso. Estos serán los nodos inicial y final en tu diagrama.</a:t>
            </a:r>
            <a:endParaRPr sz="1375"/>
          </a:p>
          <a:p>
            <a:pPr indent="0" lvl="0" marL="0" rtl="0" algn="just">
              <a:lnSpc>
                <a:spcPct val="83000"/>
              </a:lnSpc>
              <a:spcBef>
                <a:spcPts val="600"/>
              </a:spcBef>
              <a:spcAft>
                <a:spcPts val="0"/>
              </a:spcAft>
              <a:buSzPts val="1200"/>
              <a:buNone/>
            </a:pPr>
            <a:r>
              <a:rPr b="1" lang="es-ES" sz="1375">
                <a:solidFill>
                  <a:srgbClr val="1F85A6"/>
                </a:solidFill>
              </a:rPr>
              <a:t>  Paso 5: Organizar las Actividades</a:t>
            </a:r>
            <a:endParaRPr sz="1375"/>
          </a:p>
          <a:p>
            <a:pPr indent="0" lvl="1" marL="92075" rtl="0" algn="just">
              <a:lnSpc>
                <a:spcPct val="83000"/>
              </a:lnSpc>
              <a:spcBef>
                <a:spcPts val="0"/>
              </a:spcBef>
              <a:spcAft>
                <a:spcPts val="0"/>
              </a:spcAft>
              <a:buSzPts val="1600"/>
              <a:buNone/>
            </a:pPr>
            <a:r>
              <a:rPr lang="es-ES" sz="1375">
                <a:solidFill>
                  <a:srgbClr val="1F85A6"/>
                </a:solidFill>
              </a:rPr>
              <a:t>Usa la lista de actividades que creaste y organízalas en el orden en que ocurren. Asegúrate de incluir decisiones, bifurcaciones y puntos de unión donde sea necesario.</a:t>
            </a:r>
            <a:endParaRPr sz="1375"/>
          </a:p>
          <a:p>
            <a:pPr indent="0" lvl="1" marL="82550" rtl="0" algn="just">
              <a:lnSpc>
                <a:spcPct val="83000"/>
              </a:lnSpc>
              <a:spcBef>
                <a:spcPts val="600"/>
              </a:spcBef>
              <a:spcAft>
                <a:spcPts val="0"/>
              </a:spcAft>
              <a:buSzPts val="1600"/>
              <a:buNone/>
            </a:pPr>
            <a:r>
              <a:rPr b="1" lang="es-ES" sz="1375">
                <a:solidFill>
                  <a:srgbClr val="1F85A6"/>
                </a:solidFill>
              </a:rPr>
              <a:t>Paso 6: Añadir Transiciones</a:t>
            </a:r>
            <a:endParaRPr sz="1375"/>
          </a:p>
          <a:p>
            <a:pPr indent="0" lvl="1" marL="92075" rtl="0" algn="just">
              <a:lnSpc>
                <a:spcPct val="83000"/>
              </a:lnSpc>
              <a:spcBef>
                <a:spcPts val="0"/>
              </a:spcBef>
              <a:spcAft>
                <a:spcPts val="0"/>
              </a:spcAft>
              <a:buSzPts val="1600"/>
              <a:buNone/>
            </a:pPr>
            <a:r>
              <a:rPr lang="es-ES" sz="1375">
                <a:solidFill>
                  <a:srgbClr val="1F85A6"/>
                </a:solidFill>
              </a:rPr>
              <a:t>Conecta las actividades y otros elementos con flechas para mostrar el flujo del proceso. Estas son las transiciones.</a:t>
            </a:r>
            <a:endParaRPr sz="1375"/>
          </a:p>
          <a:p>
            <a:pPr indent="0" lvl="0" marL="0" rtl="0" algn="just">
              <a:lnSpc>
                <a:spcPct val="83000"/>
              </a:lnSpc>
              <a:spcBef>
                <a:spcPts val="600"/>
              </a:spcBef>
              <a:spcAft>
                <a:spcPts val="0"/>
              </a:spcAft>
              <a:buSzPts val="1200"/>
              <a:buNone/>
            </a:pPr>
            <a:r>
              <a:rPr b="1" lang="es-ES" sz="1375">
                <a:solidFill>
                  <a:srgbClr val="1F85A6"/>
                </a:solidFill>
              </a:rPr>
              <a:t>  Paso 7: Incorporar Puntos de Decisión y Fusión</a:t>
            </a:r>
            <a:endParaRPr sz="1375"/>
          </a:p>
          <a:p>
            <a:pPr indent="0" lvl="1" marL="92075" rtl="0" algn="just">
              <a:lnSpc>
                <a:spcPct val="83000"/>
              </a:lnSpc>
              <a:spcBef>
                <a:spcPts val="0"/>
              </a:spcBef>
              <a:spcAft>
                <a:spcPts val="0"/>
              </a:spcAft>
              <a:buSzPts val="1600"/>
              <a:buNone/>
            </a:pPr>
            <a:r>
              <a:rPr lang="es-ES" sz="1375">
                <a:solidFill>
                  <a:srgbClr val="1F85A6"/>
                </a:solidFill>
              </a:rPr>
              <a:t>Si hay lugares donde se toman decisiones o varios flujos se combinan en uno, añade puntos de decisión y fusión.</a:t>
            </a:r>
            <a:endParaRPr sz="1375"/>
          </a:p>
          <a:p>
            <a:pPr indent="0" lvl="0" marL="0" rtl="0" algn="just">
              <a:lnSpc>
                <a:spcPct val="83000"/>
              </a:lnSpc>
              <a:spcBef>
                <a:spcPts val="600"/>
              </a:spcBef>
              <a:spcAft>
                <a:spcPts val="0"/>
              </a:spcAft>
              <a:buSzPts val="1050"/>
              <a:buNone/>
            </a:pPr>
            <a:r>
              <a:rPr b="1" lang="es-ES" sz="1375">
                <a:solidFill>
                  <a:srgbClr val="1F85A6"/>
                </a:solidFill>
              </a:rPr>
              <a:t>  </a:t>
            </a:r>
            <a:endParaRPr sz="1375"/>
          </a:p>
          <a:p>
            <a:pPr indent="0" lvl="0" marL="0" rtl="0" algn="just">
              <a:lnSpc>
                <a:spcPct val="83000"/>
              </a:lnSpc>
              <a:spcBef>
                <a:spcPts val="600"/>
              </a:spcBef>
              <a:spcAft>
                <a:spcPts val="0"/>
              </a:spcAft>
              <a:buSzPts val="1050"/>
              <a:buNone/>
            </a:pPr>
            <a:r>
              <a:rPr b="1" lang="es-ES" sz="1375">
                <a:solidFill>
                  <a:schemeClr val="dk1"/>
                </a:solidFill>
              </a:rPr>
              <a:t> </a:t>
            </a:r>
            <a:r>
              <a:rPr b="1" lang="es-ES" sz="1400">
                <a:solidFill>
                  <a:schemeClr val="dk1"/>
                </a:solidFill>
              </a:rPr>
              <a:t> </a:t>
            </a:r>
            <a:endParaRPr sz="12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ACTIVIDAD, PASO A PASO</a:t>
            </a:r>
            <a:endParaRPr>
              <a:solidFill>
                <a:srgbClr val="A5A5A5"/>
              </a:solidFill>
            </a:endParaRPr>
          </a:p>
        </p:txBody>
      </p:sp>
      <p:sp>
        <p:nvSpPr>
          <p:cNvPr id="263" name="Google Shape;263;p2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ACTIVIDAD</a:t>
            </a:r>
            <a:endParaRPr/>
          </a:p>
        </p:txBody>
      </p:sp>
      <p:sp>
        <p:nvSpPr>
          <p:cNvPr id="264" name="Google Shape;264;p24"/>
          <p:cNvSpPr txBox="1"/>
          <p:nvPr>
            <p:ph idx="3" type="body"/>
          </p:nvPr>
        </p:nvSpPr>
        <p:spPr>
          <a:xfrm>
            <a:off x="468313" y="1174363"/>
            <a:ext cx="8207375" cy="4001319"/>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a:solidFill>
                  <a:srgbClr val="1F85A6"/>
                </a:solidFill>
              </a:rPr>
              <a:t>  </a:t>
            </a:r>
            <a:r>
              <a:rPr b="1" lang="es-ES" sz="1400">
                <a:solidFill>
                  <a:schemeClr val="dk1"/>
                </a:solidFill>
              </a:rPr>
              <a:t>Paso 8: Añadir Paralelismo si es Necesario</a:t>
            </a:r>
            <a:endParaRPr sz="1400"/>
          </a:p>
          <a:p>
            <a:pPr indent="0" lvl="1" marL="92075" rtl="0" algn="just">
              <a:lnSpc>
                <a:spcPct val="83000"/>
              </a:lnSpc>
              <a:spcBef>
                <a:spcPts val="0"/>
              </a:spcBef>
              <a:spcAft>
                <a:spcPts val="0"/>
              </a:spcAft>
              <a:buSzPts val="1600"/>
              <a:buNone/>
            </a:pPr>
            <a:r>
              <a:rPr lang="es-ES">
                <a:solidFill>
                  <a:schemeClr val="dk1"/>
                </a:solidFill>
              </a:rPr>
              <a:t>Si hay actividades que ocurren en paralelo, utiliza puntos de bifurcación y unión para representarlas.</a:t>
            </a:r>
            <a:endParaRPr/>
          </a:p>
          <a:p>
            <a:pPr indent="0" lvl="0" marL="0" rtl="0" algn="just">
              <a:lnSpc>
                <a:spcPct val="83000"/>
              </a:lnSpc>
              <a:spcBef>
                <a:spcPts val="600"/>
              </a:spcBef>
              <a:spcAft>
                <a:spcPts val="0"/>
              </a:spcAft>
              <a:buSzPts val="1200"/>
              <a:buNone/>
            </a:pPr>
            <a:r>
              <a:rPr b="1" lang="es-ES" sz="1400">
                <a:solidFill>
                  <a:schemeClr val="dk1"/>
                </a:solidFill>
              </a:rPr>
              <a:t>  Paso 9: Incluir Subactividades</a:t>
            </a:r>
            <a:endParaRPr sz="1400"/>
          </a:p>
          <a:p>
            <a:pPr indent="0" lvl="1" marL="92075" rtl="0" algn="just">
              <a:lnSpc>
                <a:spcPct val="83000"/>
              </a:lnSpc>
              <a:spcBef>
                <a:spcPts val="0"/>
              </a:spcBef>
              <a:spcAft>
                <a:spcPts val="0"/>
              </a:spcAft>
              <a:buSzPts val="1600"/>
              <a:buNone/>
            </a:pPr>
            <a:r>
              <a:rPr lang="es-ES">
                <a:solidFill>
                  <a:schemeClr val="dk1"/>
                </a:solidFill>
              </a:rPr>
              <a:t>Si alguna actividad es en realidad un conjunto de actividades más pequeñas, represéntala como una subactividad.</a:t>
            </a:r>
            <a:endParaRPr/>
          </a:p>
          <a:p>
            <a:pPr indent="0" lvl="0" marL="0" rtl="0" algn="just">
              <a:lnSpc>
                <a:spcPct val="83000"/>
              </a:lnSpc>
              <a:spcBef>
                <a:spcPts val="600"/>
              </a:spcBef>
              <a:spcAft>
                <a:spcPts val="0"/>
              </a:spcAft>
              <a:buSzPts val="1200"/>
              <a:buNone/>
            </a:pPr>
            <a:r>
              <a:rPr b="1" lang="es-ES" sz="1400">
                <a:solidFill>
                  <a:schemeClr val="dk1"/>
                </a:solidFill>
              </a:rPr>
              <a:t>  Paso 10: Añadir Eventos y Anotaciones</a:t>
            </a:r>
            <a:endParaRPr sz="1400"/>
          </a:p>
          <a:p>
            <a:pPr indent="0" lvl="1" marL="92075" rtl="0" algn="just">
              <a:lnSpc>
                <a:spcPct val="83000"/>
              </a:lnSpc>
              <a:spcBef>
                <a:spcPts val="0"/>
              </a:spcBef>
              <a:spcAft>
                <a:spcPts val="0"/>
              </a:spcAft>
              <a:buSzPts val="1600"/>
              <a:buNone/>
            </a:pPr>
            <a:r>
              <a:rPr lang="es-ES">
                <a:solidFill>
                  <a:schemeClr val="dk1"/>
                </a:solidFill>
              </a:rPr>
              <a:t>Si hay eventos externos que afectan el flujo, añádelos al diagrama. También puedes añadir comentarios y anotaciones para aclarar ciertos puntos.</a:t>
            </a:r>
            <a:endParaRPr/>
          </a:p>
          <a:p>
            <a:pPr indent="0" lvl="0" marL="0" rtl="0" algn="just">
              <a:lnSpc>
                <a:spcPct val="83000"/>
              </a:lnSpc>
              <a:spcBef>
                <a:spcPts val="600"/>
              </a:spcBef>
              <a:spcAft>
                <a:spcPts val="0"/>
              </a:spcAft>
              <a:buSzPts val="1200"/>
              <a:buNone/>
            </a:pPr>
            <a:r>
              <a:rPr b="1" lang="es-ES" sz="1400">
                <a:solidFill>
                  <a:schemeClr val="dk1"/>
                </a:solidFill>
              </a:rPr>
              <a:t>  Paso 11: Revisar con Stakeholders</a:t>
            </a:r>
            <a:endParaRPr sz="1400"/>
          </a:p>
          <a:p>
            <a:pPr indent="0" lvl="1" marL="92075" rtl="0" algn="just">
              <a:lnSpc>
                <a:spcPct val="83000"/>
              </a:lnSpc>
              <a:spcBef>
                <a:spcPts val="0"/>
              </a:spcBef>
              <a:spcAft>
                <a:spcPts val="0"/>
              </a:spcAft>
              <a:buSzPts val="1600"/>
              <a:buNone/>
            </a:pPr>
            <a:r>
              <a:rPr lang="es-ES">
                <a:solidFill>
                  <a:schemeClr val="dk1"/>
                </a:solidFill>
              </a:rPr>
              <a:t>Una vez que el diagrama esté completo, revísalo con los stakeholders para asegurarte de que todos los aspectos del proceso están correctamente representados.</a:t>
            </a:r>
            <a:endParaRPr/>
          </a:p>
          <a:p>
            <a:pPr indent="0" lvl="0" marL="0" rtl="0" algn="just">
              <a:lnSpc>
                <a:spcPct val="83000"/>
              </a:lnSpc>
              <a:spcBef>
                <a:spcPts val="600"/>
              </a:spcBef>
              <a:spcAft>
                <a:spcPts val="0"/>
              </a:spcAft>
              <a:buSzPts val="1200"/>
              <a:buNone/>
            </a:pPr>
            <a:r>
              <a:rPr b="1" lang="es-ES" sz="1400">
                <a:solidFill>
                  <a:schemeClr val="dk1"/>
                </a:solidFill>
              </a:rPr>
              <a:t>  Paso 12: Ajustar y Refinar</a:t>
            </a:r>
            <a:endParaRPr sz="1400"/>
          </a:p>
          <a:p>
            <a:pPr indent="0" lvl="1" marL="92075" rtl="0" algn="just">
              <a:lnSpc>
                <a:spcPct val="83000"/>
              </a:lnSpc>
              <a:spcBef>
                <a:spcPts val="0"/>
              </a:spcBef>
              <a:spcAft>
                <a:spcPts val="0"/>
              </a:spcAft>
              <a:buSzPts val="1600"/>
              <a:buNone/>
            </a:pPr>
            <a:r>
              <a:rPr lang="es-ES">
                <a:solidFill>
                  <a:schemeClr val="dk1"/>
                </a:solidFill>
              </a:rPr>
              <a:t>Basándote en los comentarios y la revisión, haz los ajustes necesarios para finalizar el diagrama.</a:t>
            </a:r>
            <a:endParaRPr/>
          </a:p>
          <a:p>
            <a:pPr indent="0" lvl="0" marL="0" rtl="0" algn="just">
              <a:lnSpc>
                <a:spcPct val="83000"/>
              </a:lnSpc>
              <a:spcBef>
                <a:spcPts val="600"/>
              </a:spcBef>
              <a:spcAft>
                <a:spcPts val="0"/>
              </a:spcAft>
              <a:buSzPts val="1200"/>
              <a:buNone/>
            </a:pPr>
            <a:r>
              <a:rPr b="1" lang="es-ES" sz="1400">
                <a:solidFill>
                  <a:schemeClr val="dk1"/>
                </a:solidFill>
              </a:rPr>
              <a:t>  Paso 13: Validar y Confirmar</a:t>
            </a:r>
            <a:endParaRPr sz="1400"/>
          </a:p>
          <a:p>
            <a:pPr indent="0" lvl="1" marL="92075" rtl="0" algn="just">
              <a:lnSpc>
                <a:spcPct val="83000"/>
              </a:lnSpc>
              <a:spcBef>
                <a:spcPts val="0"/>
              </a:spcBef>
              <a:spcAft>
                <a:spcPts val="0"/>
              </a:spcAft>
              <a:buSzPts val="1600"/>
              <a:buNone/>
            </a:pPr>
            <a:r>
              <a:rPr lang="es-ES">
                <a:solidFill>
                  <a:schemeClr val="dk1"/>
                </a:solidFill>
              </a:rPr>
              <a:t>Valida que el diagrama cumpla con los objetivos iniciales y confirma que está listo para ser utilizado como una documentación formal o como una herramienta de análisis.</a:t>
            </a:r>
            <a:endParaRPr/>
          </a:p>
          <a:p>
            <a:pPr indent="0" lvl="0" marL="0" rtl="0" algn="just">
              <a:lnSpc>
                <a:spcPct val="83000"/>
              </a:lnSpc>
              <a:spcBef>
                <a:spcPts val="600"/>
              </a:spcBef>
              <a:spcAft>
                <a:spcPts val="0"/>
              </a:spcAft>
              <a:buSzPts val="1200"/>
              <a:buNone/>
            </a:pPr>
            <a:r>
              <a:rPr b="1" lang="es-ES" sz="1400">
                <a:solidFill>
                  <a:schemeClr val="dk1"/>
                </a:solidFill>
              </a:rPr>
              <a:t>  Paso 14: Documentar y Archivar</a:t>
            </a:r>
            <a:endParaRPr sz="1400"/>
          </a:p>
          <a:p>
            <a:pPr indent="0" lvl="1" marL="92075" rtl="0" algn="just">
              <a:lnSpc>
                <a:spcPct val="83000"/>
              </a:lnSpc>
              <a:spcBef>
                <a:spcPts val="0"/>
              </a:spcBef>
              <a:spcAft>
                <a:spcPts val="0"/>
              </a:spcAft>
              <a:buSzPts val="1600"/>
              <a:buNone/>
            </a:pPr>
            <a:r>
              <a:rPr lang="es-ES">
                <a:solidFill>
                  <a:schemeClr val="dk1"/>
                </a:solidFill>
              </a:rPr>
              <a:t>Finalmente, documenta cualquier detalle adicional que pueda ser útil para la interpretación del diagrama y archívalo de manera adecuada para futuras referencias.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5"/>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ACTIVIDAD, PASO A PASO </a:t>
            </a:r>
            <a:endParaRPr/>
          </a:p>
        </p:txBody>
      </p:sp>
      <p:sp>
        <p:nvSpPr>
          <p:cNvPr id="271" name="Google Shape;271;p2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ACTIVIDAD</a:t>
            </a:r>
            <a:endParaRPr/>
          </a:p>
        </p:txBody>
      </p:sp>
      <p:sp>
        <p:nvSpPr>
          <p:cNvPr id="272" name="Google Shape;272;p25"/>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pic>
        <p:nvPicPr>
          <p:cNvPr id="273" name="Google Shape;273;p25"/>
          <p:cNvPicPr preferRelativeResize="0"/>
          <p:nvPr/>
        </p:nvPicPr>
        <p:blipFill rotWithShape="1">
          <a:blip r:embed="rId3">
            <a:alphaModFix/>
          </a:blip>
          <a:srcRect b="0" l="0" r="0" t="0"/>
          <a:stretch/>
        </p:blipFill>
        <p:spPr>
          <a:xfrm>
            <a:off x="1012699" y="1291091"/>
            <a:ext cx="7647453" cy="4328590"/>
          </a:xfrm>
          <a:prstGeom prst="rect">
            <a:avLst/>
          </a:prstGeom>
          <a:noFill/>
          <a:ln>
            <a:noFill/>
          </a:ln>
        </p:spPr>
      </p:pic>
      <p:sp>
        <p:nvSpPr>
          <p:cNvPr id="274" name="Google Shape;274;p25"/>
          <p:cNvSpPr txBox="1"/>
          <p:nvPr/>
        </p:nvSpPr>
        <p:spPr>
          <a:xfrm>
            <a:off x="14935" y="2754942"/>
            <a:ext cx="3560604" cy="2959593"/>
          </a:xfrm>
          <a:prstGeom prst="rect">
            <a:avLst/>
          </a:prstGeom>
          <a:solidFill>
            <a:srgbClr val="97AD01"/>
          </a:solidFill>
          <a:ln>
            <a:noFill/>
          </a:ln>
        </p:spPr>
        <p:txBody>
          <a:bodyPr anchorCtr="0" anchor="t" bIns="45700" lIns="91425" spcFirstLastPara="1" rIns="91425" wrap="square" tIns="45700">
            <a:spAutoFit/>
          </a:bodyPr>
          <a:lstStyle/>
          <a:p>
            <a:pPr indent="-176213" lvl="0" marL="176213" marR="0" rtl="0" algn="l">
              <a:lnSpc>
                <a:spcPct val="85000"/>
              </a:lnSpc>
              <a:spcBef>
                <a:spcPts val="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Inicio del proceso de hacer un pedido en línea.</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El cliente selecciona un producto para comprar.</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El producto seleccionado se agrega al carrito de compras.</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Aquí hay un punto de decisión para determinar si el cliente desea agregar más productos al carrito.</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Si el cliente decide no agregar más productos, procede a realizar el pago.</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Generar factura y Actualizar inventario ocurren en paralelo después de realizar el pago.</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Una vez que se ha actualizado el inventario y se ha generado la factura, el producto se empaca para la entrega.</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Aquí hay otro punto de decisión donde se elige el método de entrega, ya sea por correo o para recoger en la tienda.</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Dependiendo del método de entrega elegido, se toman las medidas apropiadas.</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Independientemente del método de entrega, el estado del pedido se actualiza en el sistema.</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Termina el proceso de pedido.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81" name="Google Shape;281;p26"/>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USO DEL DIAGRAMA DE ACTIVIDAD</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288" name="Google Shape;288;p27"/>
          <p:cNvSpPr txBox="1"/>
          <p:nvPr>
            <p:ph idx="4" type="body"/>
          </p:nvPr>
        </p:nvSpPr>
        <p:spPr>
          <a:xfrm>
            <a:off x="863369" y="1163638"/>
            <a:ext cx="331357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útiles para cualquier persona involucrada en el análisis, diseño, implementación, optimización o comprensión de procesos complejos. </a:t>
            </a:r>
            <a:endParaRPr/>
          </a:p>
          <a:p>
            <a:pPr indent="-266700" lvl="0" marL="266700" rtl="0" algn="l">
              <a:lnSpc>
                <a:spcPct val="100000"/>
              </a:lnSpc>
              <a:spcBef>
                <a:spcPts val="1200"/>
              </a:spcBef>
              <a:spcAft>
                <a:spcPts val="0"/>
              </a:spcAft>
              <a:buClr>
                <a:schemeClr val="dk1"/>
              </a:buClr>
              <a:buSzPts val="1200"/>
              <a:buChar char="❑"/>
            </a:pPr>
            <a:r>
              <a:rPr lang="es-ES"/>
              <a:t>Permiten una visualización clara y estructurada que facilita tanto la comunicación como la toma de decisiones.</a:t>
            </a:r>
            <a:endParaRPr/>
          </a:p>
        </p:txBody>
      </p:sp>
      <p:sp>
        <p:nvSpPr>
          <p:cNvPr id="289" name="Google Shape;289;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¿CUÁNDO SON ÚTILES?</a:t>
            </a:r>
            <a:endParaRPr/>
          </a:p>
        </p:txBody>
      </p:sp>
      <p:pic>
        <p:nvPicPr>
          <p:cNvPr id="290" name="Google Shape;290;p27"/>
          <p:cNvPicPr preferRelativeResize="0"/>
          <p:nvPr>
            <p:ph idx="2" type="pic"/>
          </p:nvPr>
        </p:nvPicPr>
        <p:blipFill rotWithShape="1">
          <a:blip r:embed="rId3">
            <a:alphaModFix/>
          </a:blip>
          <a:srcRect b="0" l="19338" r="19339" t="0"/>
          <a:stretch/>
        </p:blipFill>
        <p:spPr>
          <a:xfrm>
            <a:off x="4674095" y="986632"/>
            <a:ext cx="3708628" cy="403367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28"/>
          <p:cNvPicPr preferRelativeResize="0"/>
          <p:nvPr>
            <p:ph idx="2" type="pic"/>
          </p:nvPr>
        </p:nvPicPr>
        <p:blipFill rotWithShape="1">
          <a:blip r:embed="rId3">
            <a:alphaModFix/>
          </a:blip>
          <a:srcRect b="0" l="19338" r="19339" t="0"/>
          <a:stretch/>
        </p:blipFill>
        <p:spPr>
          <a:xfrm>
            <a:off x="4909350" y="1085161"/>
            <a:ext cx="3437863" cy="3739180"/>
          </a:xfrm>
          <a:prstGeom prst="rect">
            <a:avLst/>
          </a:prstGeom>
          <a:noFill/>
          <a:ln>
            <a:noFill/>
          </a:ln>
        </p:spPr>
      </p:pic>
      <p:sp>
        <p:nvSpPr>
          <p:cNvPr id="297" name="Google Shape;297;p2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DESARROLLO DE SOFTWARE</a:t>
            </a:r>
            <a:endParaRPr/>
          </a:p>
        </p:txBody>
      </p:sp>
      <p:sp>
        <p:nvSpPr>
          <p:cNvPr id="298" name="Google Shape;298;p2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299" name="Google Shape;299;p28"/>
          <p:cNvSpPr txBox="1"/>
          <p:nvPr>
            <p:ph idx="4" type="body"/>
          </p:nvPr>
        </p:nvSpPr>
        <p:spPr>
          <a:xfrm>
            <a:off x="742419" y="1340387"/>
            <a:ext cx="351776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un equipo de desarrollo está trabajando en un nuevo sistema o aplicación, es crucial entender cómo interactúan los usuarios con el sistema y cómo se procesarán los datos.</a:t>
            </a:r>
            <a:endParaRPr/>
          </a:p>
          <a:p>
            <a:pPr indent="-266700" lvl="0" marL="266700" rtl="0" algn="l">
              <a:lnSpc>
                <a:spcPct val="100000"/>
              </a:lnSpc>
              <a:spcBef>
                <a:spcPts val="600"/>
              </a:spcBef>
              <a:spcAft>
                <a:spcPts val="0"/>
              </a:spcAft>
              <a:buClr>
                <a:schemeClr val="dk1"/>
              </a:buClr>
              <a:buSzPts val="1200"/>
              <a:buChar char="❑"/>
            </a:pPr>
            <a:r>
              <a:rPr lang="es-ES"/>
              <a:t>Ayuda a los desarrolladores y analistas de sistemas a entender el flujo de actividades y decisiones en el sistema, facilitando una implementación más precisa.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29"/>
          <p:cNvPicPr preferRelativeResize="0"/>
          <p:nvPr>
            <p:ph idx="2" type="pic"/>
          </p:nvPr>
        </p:nvPicPr>
        <p:blipFill rotWithShape="1">
          <a:blip r:embed="rId3">
            <a:alphaModFix/>
          </a:blip>
          <a:srcRect b="373" l="0" r="0" t="372"/>
          <a:stretch/>
        </p:blipFill>
        <p:spPr>
          <a:xfrm>
            <a:off x="4998129" y="1242874"/>
            <a:ext cx="3464268" cy="3767899"/>
          </a:xfrm>
          <a:prstGeom prst="rect">
            <a:avLst/>
          </a:prstGeom>
          <a:noFill/>
          <a:ln>
            <a:noFill/>
          </a:ln>
        </p:spPr>
      </p:pic>
      <p:sp>
        <p:nvSpPr>
          <p:cNvPr id="306" name="Google Shape;306;p2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OPTIMIZACIÓN DE PROCESOS DE NEGOCIO</a:t>
            </a:r>
            <a:endParaRPr/>
          </a:p>
        </p:txBody>
      </p:sp>
      <p:sp>
        <p:nvSpPr>
          <p:cNvPr id="307" name="Google Shape;307;p2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08" name="Google Shape;308;p29"/>
          <p:cNvSpPr txBox="1"/>
          <p:nvPr>
            <p:ph idx="4" type="body"/>
          </p:nvPr>
        </p:nvSpPr>
        <p:spPr>
          <a:xfrm>
            <a:off x="894441" y="1248949"/>
            <a:ext cx="367755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una empresa que busca mejorar la eficiencia de sus operaciones, como la cadena de suministro o el servicio al cliente. </a:t>
            </a:r>
            <a:endParaRPr/>
          </a:p>
          <a:p>
            <a:pPr indent="-266700" lvl="0" marL="266700" rtl="0" algn="l">
              <a:lnSpc>
                <a:spcPct val="100000"/>
              </a:lnSpc>
              <a:spcBef>
                <a:spcPts val="600"/>
              </a:spcBef>
              <a:spcAft>
                <a:spcPts val="0"/>
              </a:spcAft>
              <a:buClr>
                <a:schemeClr val="dk1"/>
              </a:buClr>
              <a:buSzPts val="1200"/>
              <a:buChar char="❑"/>
            </a:pPr>
            <a:r>
              <a:rPr lang="es-ES"/>
              <a:t>Los gerentes y analistas de negocio pueden utilizar diagramas de actividades para identificar cuellos de botella o redundancias en los procesos existentes.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DE INTERFACES DE USUARIO (UI)</a:t>
            </a:r>
            <a:endParaRPr/>
          </a:p>
        </p:txBody>
      </p:sp>
      <p:sp>
        <p:nvSpPr>
          <p:cNvPr id="315" name="Google Shape;315;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16" name="Google Shape;316;p30"/>
          <p:cNvSpPr txBox="1"/>
          <p:nvPr>
            <p:ph idx="4" type="body"/>
          </p:nvPr>
        </p:nvSpPr>
        <p:spPr>
          <a:xfrm>
            <a:off x="805666" y="1310951"/>
            <a:ext cx="357990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se está diseñando una nueva interfaz de usuario para una aplicación o sitio web.</a:t>
            </a:r>
            <a:endParaRPr/>
          </a:p>
          <a:p>
            <a:pPr indent="-266700" lvl="0" marL="266700" rtl="0" algn="l">
              <a:lnSpc>
                <a:spcPct val="100000"/>
              </a:lnSpc>
              <a:spcBef>
                <a:spcPts val="600"/>
              </a:spcBef>
              <a:spcAft>
                <a:spcPts val="0"/>
              </a:spcAft>
              <a:buClr>
                <a:schemeClr val="dk1"/>
              </a:buClr>
              <a:buSzPts val="1200"/>
              <a:buChar char="❑"/>
            </a:pPr>
            <a:r>
              <a:rPr lang="es-ES"/>
              <a:t>Los diseñadores de UI/UX pueden utilizar estos diagramas para entender el flujo de interacción del usuario, lo que ayuda a diseñar interfaces más intuitivas.</a:t>
            </a:r>
            <a:endParaRPr/>
          </a:p>
        </p:txBody>
      </p:sp>
      <p:pic>
        <p:nvPicPr>
          <p:cNvPr id="317" name="Google Shape;317;p30"/>
          <p:cNvPicPr preferRelativeResize="0"/>
          <p:nvPr>
            <p:ph idx="2" type="pic"/>
          </p:nvPr>
        </p:nvPicPr>
        <p:blipFill rotWithShape="1">
          <a:blip r:embed="rId3">
            <a:alphaModFix/>
          </a:blip>
          <a:srcRect b="0" l="7988" r="7989" t="0"/>
          <a:stretch/>
        </p:blipFill>
        <p:spPr>
          <a:xfrm>
            <a:off x="5042514" y="1163638"/>
            <a:ext cx="3295820" cy="35846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PLANIFICACIÓN DE PROYECTOS</a:t>
            </a:r>
            <a:endParaRPr/>
          </a:p>
        </p:txBody>
      </p:sp>
      <p:sp>
        <p:nvSpPr>
          <p:cNvPr id="324" name="Google Shape;324;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25" name="Google Shape;325;p31"/>
          <p:cNvSpPr txBox="1"/>
          <p:nvPr>
            <p:ph idx="4" type="body"/>
          </p:nvPr>
        </p:nvSpPr>
        <p:spPr>
          <a:xfrm>
            <a:off x="903319" y="1178590"/>
            <a:ext cx="341122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la gestión de proyectos, especialmente aquellos que son complejos y tienen múltiples flujos de trabajo que necesitan ser coordinados.</a:t>
            </a:r>
            <a:endParaRPr/>
          </a:p>
          <a:p>
            <a:pPr indent="-266700" lvl="0" marL="266700" rtl="0" algn="l">
              <a:lnSpc>
                <a:spcPct val="100000"/>
              </a:lnSpc>
              <a:spcBef>
                <a:spcPts val="600"/>
              </a:spcBef>
              <a:spcAft>
                <a:spcPts val="0"/>
              </a:spcAft>
              <a:buClr>
                <a:schemeClr val="dk1"/>
              </a:buClr>
              <a:buSzPts val="1200"/>
              <a:buChar char="❑"/>
            </a:pPr>
            <a:r>
              <a:rPr lang="es-ES"/>
              <a:t>Los jefes de proyecto pueden utilizar diagramas de actividades para planificar y visualizar las tareas, lo que facilita la asignación de recursos y la estimación del tiempo.</a:t>
            </a:r>
            <a:endParaRPr/>
          </a:p>
        </p:txBody>
      </p:sp>
      <p:pic>
        <p:nvPicPr>
          <p:cNvPr id="326" name="Google Shape;326;p31"/>
          <p:cNvPicPr preferRelativeResize="0"/>
          <p:nvPr>
            <p:ph idx="2" type="pic"/>
          </p:nvPr>
        </p:nvPicPr>
        <p:blipFill rotWithShape="1">
          <a:blip r:embed="rId3">
            <a:alphaModFix/>
          </a:blip>
          <a:srcRect b="0" l="24248" r="24247" t="0"/>
          <a:stretch/>
        </p:blipFill>
        <p:spPr>
          <a:xfrm>
            <a:off x="4829454" y="986632"/>
            <a:ext cx="3278065" cy="35653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2"/>
          <p:cNvPicPr preferRelativeResize="0"/>
          <p:nvPr>
            <p:ph idx="2" type="pic"/>
          </p:nvPr>
        </p:nvPicPr>
        <p:blipFill rotWithShape="1">
          <a:blip r:embed="rId3">
            <a:alphaModFix/>
          </a:blip>
          <a:srcRect b="0" l="22779" r="22779" t="0"/>
          <a:stretch/>
        </p:blipFill>
        <p:spPr>
          <a:xfrm>
            <a:off x="4900476" y="1267368"/>
            <a:ext cx="3198165" cy="3478473"/>
          </a:xfrm>
          <a:prstGeom prst="rect">
            <a:avLst/>
          </a:prstGeom>
          <a:noFill/>
          <a:ln>
            <a:noFill/>
          </a:ln>
        </p:spPr>
      </p:pic>
      <p:sp>
        <p:nvSpPr>
          <p:cNvPr id="333" name="Google Shape;333;p3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FORMACIÓN Y CAPACITACIÓN</a:t>
            </a:r>
            <a:endParaRPr/>
          </a:p>
        </p:txBody>
      </p:sp>
      <p:sp>
        <p:nvSpPr>
          <p:cNvPr id="334" name="Google Shape;334;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35" name="Google Shape;335;p32"/>
          <p:cNvSpPr txBox="1"/>
          <p:nvPr>
            <p:ph idx="4" type="body"/>
          </p:nvPr>
        </p:nvSpPr>
        <p:spPr>
          <a:xfrm>
            <a:off x="921073" y="1267368"/>
            <a:ext cx="319816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entorno educativo o de formación, en el cual se necesita enseñar un proceso o sistema complejo.</a:t>
            </a:r>
            <a:endParaRPr/>
          </a:p>
          <a:p>
            <a:pPr indent="-266700" lvl="0" marL="266700" rtl="0" algn="l">
              <a:lnSpc>
                <a:spcPct val="100000"/>
              </a:lnSpc>
              <a:spcBef>
                <a:spcPts val="600"/>
              </a:spcBef>
              <a:spcAft>
                <a:spcPts val="0"/>
              </a:spcAft>
              <a:buClr>
                <a:schemeClr val="dk1"/>
              </a:buClr>
              <a:buSzPts val="1200"/>
              <a:buChar char="❑"/>
            </a:pPr>
            <a:r>
              <a:rPr lang="es-ES"/>
              <a:t>Los educadores y formadores pueden utilizar estos diagramas como herramientas pedagógicas para explicar flujos de trabajo de manera más visual y fácil de entender.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33"/>
          <p:cNvPicPr preferRelativeResize="0"/>
          <p:nvPr>
            <p:ph idx="2" type="pic"/>
          </p:nvPr>
        </p:nvPicPr>
        <p:blipFill rotWithShape="1">
          <a:blip r:embed="rId3">
            <a:alphaModFix/>
          </a:blip>
          <a:srcRect b="0" l="19338" r="19339" t="0"/>
          <a:stretch/>
        </p:blipFill>
        <p:spPr>
          <a:xfrm>
            <a:off x="5051392" y="1074812"/>
            <a:ext cx="3278065" cy="3565376"/>
          </a:xfrm>
          <a:prstGeom prst="rect">
            <a:avLst/>
          </a:prstGeom>
          <a:noFill/>
          <a:ln>
            <a:noFill/>
          </a:ln>
        </p:spPr>
      </p:pic>
      <p:sp>
        <p:nvSpPr>
          <p:cNvPr id="342" name="Google Shape;342;p3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 DE SISTEMAS</a:t>
            </a:r>
            <a:endParaRPr/>
          </a:p>
        </p:txBody>
      </p:sp>
      <p:sp>
        <p:nvSpPr>
          <p:cNvPr id="343" name="Google Shape;343;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44" name="Google Shape;344;p33"/>
          <p:cNvSpPr txBox="1"/>
          <p:nvPr>
            <p:ph idx="4" type="body"/>
          </p:nvPr>
        </p:nvSpPr>
        <p:spPr>
          <a:xfrm>
            <a:off x="1036484" y="1173179"/>
            <a:ext cx="353551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se necesita crear documentación detallada para un sistema o proceso, ya sea para cumplimiento regulatorio o para referencia interna.</a:t>
            </a:r>
            <a:endParaRPr/>
          </a:p>
          <a:p>
            <a:pPr indent="-266700" lvl="0" marL="266700" rtl="0" algn="l">
              <a:lnSpc>
                <a:spcPct val="100000"/>
              </a:lnSpc>
              <a:spcBef>
                <a:spcPts val="600"/>
              </a:spcBef>
              <a:spcAft>
                <a:spcPts val="0"/>
              </a:spcAft>
              <a:buClr>
                <a:schemeClr val="dk1"/>
              </a:buClr>
              <a:buSzPts val="1200"/>
              <a:buChar char="❑"/>
            </a:pPr>
            <a:r>
              <a:rPr lang="es-ES"/>
              <a:t>Ayuda a crear una documentación más completa y fácil de entender, beneficiando tanto a los auditores externos como a los miembros del equipo que puedan necesitar referirse a ella en el futuro.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34"/>
          <p:cNvPicPr preferRelativeResize="0"/>
          <p:nvPr>
            <p:ph idx="2" type="pic"/>
          </p:nvPr>
        </p:nvPicPr>
        <p:blipFill rotWithShape="1">
          <a:blip r:embed="rId3">
            <a:alphaModFix/>
          </a:blip>
          <a:srcRect b="0" l="19338" r="19339" t="0"/>
          <a:stretch/>
        </p:blipFill>
        <p:spPr>
          <a:xfrm>
            <a:off x="4998127" y="1163638"/>
            <a:ext cx="3278065" cy="3565376"/>
          </a:xfrm>
          <a:prstGeom prst="rect">
            <a:avLst/>
          </a:prstGeom>
          <a:noFill/>
          <a:ln>
            <a:noFill/>
          </a:ln>
        </p:spPr>
      </p:pic>
      <p:sp>
        <p:nvSpPr>
          <p:cNvPr id="351" name="Google Shape;351;p3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ANÁLISIS DE RIESGOS Y CONTINGENCIAS</a:t>
            </a:r>
            <a:endParaRPr/>
          </a:p>
        </p:txBody>
      </p:sp>
      <p:sp>
        <p:nvSpPr>
          <p:cNvPr id="352" name="Google Shape;352;p3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ACTIVIDAD</a:t>
            </a:r>
            <a:endParaRPr b="0">
              <a:solidFill>
                <a:srgbClr val="0070C0"/>
              </a:solidFill>
            </a:endParaRPr>
          </a:p>
        </p:txBody>
      </p:sp>
      <p:sp>
        <p:nvSpPr>
          <p:cNvPr id="353" name="Google Shape;353;p34"/>
          <p:cNvSpPr txBox="1"/>
          <p:nvPr>
            <p:ph idx="4" type="body"/>
          </p:nvPr>
        </p:nvSpPr>
        <p:spPr>
          <a:xfrm>
            <a:off x="734644" y="1455938"/>
            <a:ext cx="3482250" cy="3845422"/>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escenarios donde se requiere un análisis detallado de riesgos, como en la industria de la salud o en la gestión de emergencias.</a:t>
            </a:r>
            <a:endParaRPr/>
          </a:p>
          <a:p>
            <a:pPr indent="-266700" lvl="0" marL="266700" rtl="0" algn="l">
              <a:lnSpc>
                <a:spcPct val="100000"/>
              </a:lnSpc>
              <a:spcBef>
                <a:spcPts val="600"/>
              </a:spcBef>
              <a:spcAft>
                <a:spcPts val="0"/>
              </a:spcAft>
              <a:buClr>
                <a:schemeClr val="dk1"/>
              </a:buClr>
              <a:buSzPts val="1200"/>
              <a:buChar char="❑"/>
            </a:pPr>
            <a:r>
              <a:rPr lang="es-ES"/>
              <a:t>Los diagramas pueden ayudar a identificar puntos críticos donde podrían ocurrir fallos o donde se requieren planes de contingencia, beneficiando a los responsables de la toma de decisiones en estos campos.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60" name="Google Shape;360;p35"/>
          <p:cNvSpPr/>
          <p:nvPr/>
        </p:nvSpPr>
        <p:spPr>
          <a:xfrm>
            <a:off x="1276149" y="788890"/>
            <a:ext cx="7204492" cy="427805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actividades ofrecen una representación visual detallada de flujos de trabajo, facilitando la comprensión y el desarrollo de sistemas complejos.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actividades no son útiles sólo en el desarrollo de software; también son valiosos en la optimización de procesos de negocio, diseño de UI, planificación de proyectos y más.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Estos diagramas sirven como excelentes recursos educativos y de comunicación, haciendo que los procesos complejos sean más accesibles y comprensibles para diferentes stakeholders.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Elaborar un diagrama de actividades es un proceso estructurado que requiere una planificación cuidadosa, desde la definición del alcance hasta la validación con stakeholders, asegurando así que el diagrama cumpla con sus objetivos.</a:t>
            </a:r>
            <a:endParaRPr b="0" i="0" sz="1400" u="none" cap="none" strike="noStrike">
              <a:solidFill>
                <a:srgbClr val="000000"/>
              </a:solidFill>
              <a:latin typeface="Arial"/>
              <a:ea typeface="Arial"/>
              <a:cs typeface="Arial"/>
              <a:sym typeface="Arial"/>
            </a:endParaRPr>
          </a:p>
        </p:txBody>
      </p:sp>
      <p:sp>
        <p:nvSpPr>
          <p:cNvPr id="361" name="Google Shape;361;p3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nvSpPr>
        <p:spPr>
          <a:xfrm>
            <a:off x="625625" y="742971"/>
            <a:ext cx="7892750" cy="422905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Dennis, A., Wixom, B. H., &amp; Tegarden, D. (2015). Systems Analysis and Design: An Object-Oriented Approach with UML. Wiley.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Jacobson, I., Christerson, M., Jonsson, P., &amp; Övergaard, G. (1992). Object-Oriented Software Engineering: A Use Case Driven Approach.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Dumas, M., La Rosa, M., Mendling, J., &amp; Reijers, H. A. (2013). Fundamentals of Business Process Management. Springer. DOI: 10.1007/978-3-642-33143-5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Object Management Group. (2017).</a:t>
            </a:r>
            <a:endParaRPr b="0" i="0" sz="1400" u="none" cap="none" strike="noStrike">
              <a:solidFill>
                <a:srgbClr val="000000"/>
              </a:solidFill>
              <a:latin typeface="Arial"/>
              <a:ea typeface="Arial"/>
              <a:cs typeface="Arial"/>
              <a:sym typeface="Arial"/>
            </a:endParaRPr>
          </a:p>
          <a:p>
            <a:pPr indent="0" lvl="0" marL="263525" marR="0" rtl="0" algn="l">
              <a:lnSpc>
                <a:spcPct val="100000"/>
              </a:lnSpc>
              <a:spcBef>
                <a:spcPts val="0"/>
              </a:spcBef>
              <a:spcAft>
                <a:spcPts val="0"/>
              </a:spcAft>
              <a:buClr>
                <a:schemeClr val="dk1"/>
              </a:buClr>
              <a:buSzPts val="1600"/>
              <a:buFont typeface="Calibri"/>
              <a:buNone/>
            </a:pPr>
            <a:r>
              <a:rPr b="0" i="0" lang="es-ES" sz="1600" u="none" cap="none" strike="noStrike">
                <a:solidFill>
                  <a:schemeClr val="dk1"/>
                </a:solidFill>
                <a:latin typeface="Calibri"/>
                <a:ea typeface="Calibri"/>
                <a:cs typeface="Calibri"/>
                <a:sym typeface="Calibri"/>
              </a:rPr>
              <a:t>UML 2.5. </a:t>
            </a: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https://www.omg.org/spec/UML/2.5/</a:t>
            </a:r>
            <a:endParaRPr b="0" i="0" sz="1600" u="none" cap="none" strike="noStrike">
              <a:solidFill>
                <a:schemeClr val="dk1"/>
              </a:solidFill>
              <a:latin typeface="Calibri"/>
              <a:ea typeface="Calibri"/>
              <a:cs typeface="Calibri"/>
              <a:sym typeface="Calibri"/>
            </a:endParaRPr>
          </a:p>
          <a:p>
            <a:pPr indent="0" lvl="0" marL="26352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Activity Diagrams. </a:t>
            </a: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https://www.tutorialspoint.com/uml/uml_activity_diagram.htm</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How to Make an Activity Diagram.</a:t>
            </a:r>
            <a:endParaRPr b="0" i="0" sz="1400" u="none" cap="none" strike="noStrike">
              <a:solidFill>
                <a:srgbClr val="000000"/>
              </a:solidFill>
              <a:latin typeface="Arial"/>
              <a:ea typeface="Arial"/>
              <a:cs typeface="Arial"/>
              <a:sym typeface="Arial"/>
            </a:endParaRPr>
          </a:p>
          <a:p>
            <a:pPr indent="0" lvl="0" marL="263525" marR="0" rtl="0" algn="l">
              <a:lnSpc>
                <a:spcPct val="100000"/>
              </a:lnSpc>
              <a:spcBef>
                <a:spcPts val="0"/>
              </a:spcBef>
              <a:spcAft>
                <a:spcPts val="0"/>
              </a:spcAft>
              <a:buClr>
                <a:srgbClr val="000000"/>
              </a:buClr>
              <a:buSzPts val="1600"/>
              <a:buFont typeface="Arial"/>
              <a:buNone/>
            </a:pP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https://www.lucidchart.com/pages/uml-activity-diagram</a:t>
            </a:r>
            <a:endParaRPr b="0" i="0" sz="1600" u="none" cap="none" strike="noStrike">
              <a:solidFill>
                <a:schemeClr val="dk1"/>
              </a:solidFill>
              <a:latin typeface="Calibri"/>
              <a:ea typeface="Calibri"/>
              <a:cs typeface="Calibri"/>
              <a:sym typeface="Calibri"/>
            </a:endParaRPr>
          </a:p>
          <a:p>
            <a:pPr indent="0" lvl="0" marL="263525"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368" name="Google Shape;368;p36"/>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