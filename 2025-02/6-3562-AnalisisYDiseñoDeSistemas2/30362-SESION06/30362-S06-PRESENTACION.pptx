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Lst>
  <p:sldSz cy="5715000" cx="9144000"/>
  <p:notesSz cx="6797675" cy="9926625"/>
  <p:embeddedFontLst>
    <p:embeddedFont>
      <p:font typeface="Quattrocento Sans"/>
      <p:regular r:id="rId62"/>
      <p:bold r:id="rId63"/>
      <p:italic r:id="rId64"/>
      <p:boldItalic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2D200454-40CA-4A62-9FC3-DE9A4176ACB9}">
      <p15:notesGuideLst>
        <p15:guide id="1" orient="horz" pos="3126">
          <p15:clr>
            <a:srgbClr val="A4A3A4"/>
          </p15:clr>
        </p15:guide>
        <p15:guide id="2" pos="2141">
          <p15:clr>
            <a:srgbClr val="A4A3A4"/>
          </p15:clr>
        </p15:guide>
      </p15:notesGuideLst>
    </p:ext>
    <p:ext uri="GoogleSlidesCustomDataVersion2">
      <go:slidesCustomData xmlns:go="http://customooxmlschemas.google.com/" r:id="rId66" roundtripDataSignature="AMtx7mhvEzbauwbV502tTztybkajoKcG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notesViewPr>
    <p:cSldViewPr snapToGrid="0">
      <p:cViewPr varScale="1">
        <p:scale>
          <a:sx n="100" d="100"/>
          <a:sy n="100" d="100"/>
        </p:scale>
        <p:origin x="0" y="0"/>
      </p:cViewPr>
      <p:guideLst>
        <p:guide pos="3126" orient="horz"/>
        <p:guide pos="2141"/>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QuattrocentoSans-regular.fntdata"/><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font" Target="fonts/QuattrocentoSans-italic.fntdata"/><Relationship Id="rId63" Type="http://schemas.openxmlformats.org/officeDocument/2006/relationships/font" Target="fonts/QuattrocentoSans-bold.fntdata"/><Relationship Id="rId22" Type="http://schemas.openxmlformats.org/officeDocument/2006/relationships/slide" Target="slides/slide17.xml"/><Relationship Id="rId66" Type="http://customschemas.google.com/relationships/presentationmetadata" Target="metadata"/><Relationship Id="rId21" Type="http://schemas.openxmlformats.org/officeDocument/2006/relationships/slide" Target="slides/slide16.xml"/><Relationship Id="rId65" Type="http://schemas.openxmlformats.org/officeDocument/2006/relationships/font" Target="fonts/QuattrocentoSans-boldItalic.fntdata"/><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1"/>
            <a:ext cx="2945659" cy="49805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50443" y="1"/>
            <a:ext cx="2945659" cy="498056"/>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428584"/>
            <a:ext cx="2945659" cy="49805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Arial"/>
              <a:buNone/>
            </a:pPr>
            <a:r>
              <a:t/>
            </a:r>
            <a:endParaRPr>
              <a:latin typeface="Arial"/>
              <a:ea typeface="Arial"/>
              <a:cs typeface="Arial"/>
              <a:sym typeface="Arial"/>
            </a:endParaRPr>
          </a:p>
        </p:txBody>
      </p:sp>
      <p:sp>
        <p:nvSpPr>
          <p:cNvPr id="57" name="Google Shape;57;p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69" name="Google Shape;69;p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p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76" name="Google Shape;76;p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83" name="Google Shape;83;p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92" name="Google Shape;92;p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01" name="Google Shape;101;p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10" name="Google Shape;110;p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19" name="Google Shape;119;p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28" name="Google Shape;128;p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1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37" name="Google Shape;137;p1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1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46" name="Google Shape;146;p1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1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55" name="Google Shape;155;p1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p1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164" name="Google Shape;164;p1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1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71" name="Google Shape;171;p1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1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80" name="Google Shape;180;p1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1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89" name="Google Shape;189;p1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1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98" name="Google Shape;198;p1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1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07" name="Google Shape;207;p1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p1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16" name="Google Shape;216;p1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2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24" name="Google Shape;224;p2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p2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33" name="Google Shape;233;p2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p2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41" name="Google Shape;241;p2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p2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50" name="Google Shape;250;p2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2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258" name="Google Shape;258;p2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2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65" name="Google Shape;265;p2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p2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74" name="Google Shape;274;p2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p2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83" name="Google Shape;283;p2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p2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92" name="Google Shape;292;p2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p2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01" name="Google Shape;301;p2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3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p3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10" name="Google Shape;310;p3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3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p3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19" name="Google Shape;319;p3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7" name="Google Shape;327;p3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28" name="Google Shape;328;p3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3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 name="Google Shape;336;p3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37" name="Google Shape;337;p3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3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5" name="Google Shape;345;p3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346" name="Google Shape;346;p3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3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p3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53" name="Google Shape;353;p3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3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1" name="Google Shape;361;p3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62" name="Google Shape;362;p3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3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p3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71" name="Google Shape;371;p3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3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p3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80" name="Google Shape;380;p3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3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8" name="Google Shape;388;p3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89" name="Google Shape;389;p3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4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7" name="Google Shape;397;p4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98" name="Google Shape;398;p4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4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 name="Google Shape;406;p4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407" name="Google Shape;407;p4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4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5" name="Google Shape;415;p4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416" name="Google Shape;416;p4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4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4" name="Google Shape;424;p4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425" name="Google Shape;425;p4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4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3" name="Google Shape;433;p4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434" name="Google Shape;434;p4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4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2" name="Google Shape;442;p4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443" name="Google Shape;443;p4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4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9" name="Google Shape;449;p4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450" name="Google Shape;450;p4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4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4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459" name="Google Shape;459;p4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4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 name="Google Shape;467;p4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468" name="Google Shape;468;p4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4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6" name="Google Shape;476;p4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477" name="Google Shape;477;p4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5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5" name="Google Shape;485;p5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486" name="Google Shape;486;p5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5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4" name="Google Shape;494;p5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495" name="Google Shape;495;p5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5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3" name="Google Shape;503;p5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504" name="Google Shape;504;p5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5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 name="Google Shape;512;p5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513" name="Google Shape;513;p5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5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0" name="Google Shape;520;p5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521" name="Google Shape;521;p5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5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8" name="Google Shape;528;p5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b="0" sz="1200">
              <a:latin typeface="Arial"/>
              <a:ea typeface="Arial"/>
              <a:cs typeface="Arial"/>
              <a:sym typeface="Arial"/>
            </a:endParaRPr>
          </a:p>
        </p:txBody>
      </p:sp>
      <p:sp>
        <p:nvSpPr>
          <p:cNvPr id="529" name="Google Shape;529;p5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5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6" name="Google Shape;536;p5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3" marL="0" marR="0" rtl="0" algn="l">
              <a:lnSpc>
                <a:spcPct val="100000"/>
              </a:lnSpc>
              <a:spcBef>
                <a:spcPts val="0"/>
              </a:spcBef>
              <a:spcAft>
                <a:spcPts val="0"/>
              </a:spcAft>
              <a:buClr>
                <a:schemeClr val="dk1"/>
              </a:buClr>
              <a:buSzPts val="1200"/>
              <a:buFont typeface="Arial"/>
              <a:buNone/>
            </a:pPr>
            <a:r>
              <a:rPr lang="es-ES" sz="1200">
                <a:solidFill>
                  <a:schemeClr val="dk1"/>
                </a:solidFill>
                <a:latin typeface="Arial"/>
                <a:ea typeface="Arial"/>
                <a:cs typeface="Arial"/>
                <a:sym typeface="Arial"/>
              </a:rPr>
              <a:t> </a:t>
            </a:r>
            <a:endParaRPr/>
          </a:p>
          <a:p>
            <a:pPr indent="0" lvl="0" marL="0" rtl="0" algn="l">
              <a:lnSpc>
                <a:spcPct val="100000"/>
              </a:lnSpc>
              <a:spcBef>
                <a:spcPts val="0"/>
              </a:spcBef>
              <a:spcAft>
                <a:spcPts val="0"/>
              </a:spcAft>
              <a:buClr>
                <a:schemeClr val="dk1"/>
              </a:buClr>
              <a:buSzPts val="1200"/>
              <a:buFont typeface="Calibri"/>
              <a:buNone/>
            </a:pPr>
            <a:r>
              <a:t/>
            </a:r>
            <a:endParaRPr sz="1200">
              <a:latin typeface="Arial"/>
              <a:ea typeface="Arial"/>
              <a:cs typeface="Arial"/>
              <a:sym typeface="Arial"/>
            </a:endParaRPr>
          </a:p>
        </p:txBody>
      </p:sp>
      <p:sp>
        <p:nvSpPr>
          <p:cNvPr id="537" name="Google Shape;537;p5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p:cSld name="Diapositiva de título">
    <p:spTree>
      <p:nvGrpSpPr>
        <p:cNvPr id="14" name="Shape 14"/>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con Imagen Horizontal">
  <p:cSld name="1_Diapo_Subtema con Imagen Horizontal">
    <p:spTree>
      <p:nvGrpSpPr>
        <p:cNvPr id="15" name="Shape 15"/>
        <p:cNvGrpSpPr/>
        <p:nvPr/>
      </p:nvGrpSpPr>
      <p:grpSpPr>
        <a:xfrm>
          <a:off x="0" y="0"/>
          <a:ext cx="0" cy="0"/>
          <a:chOff x="0" y="0"/>
          <a:chExt cx="0" cy="0"/>
        </a:xfrm>
      </p:grpSpPr>
      <p:sp>
        <p:nvSpPr>
          <p:cNvPr id="16" name="Google Shape;16;p59"/>
          <p:cNvSpPr/>
          <p:nvPr>
            <p:ph idx="2" type="pic"/>
          </p:nvPr>
        </p:nvSpPr>
        <p:spPr>
          <a:xfrm>
            <a:off x="475687" y="2877477"/>
            <a:ext cx="8207375" cy="2394000"/>
          </a:xfrm>
          <a:prstGeom prst="rect">
            <a:avLst/>
          </a:prstGeom>
          <a:noFill/>
          <a:ln>
            <a:noFill/>
          </a:ln>
        </p:spPr>
      </p:sp>
      <p:sp>
        <p:nvSpPr>
          <p:cNvPr id="17" name="Google Shape;17;p59"/>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8" name="Google Shape;18;p59"/>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lnSpc>
                <a:spcPct val="100000"/>
              </a:lnSpc>
              <a:spcBef>
                <a:spcPts val="360"/>
              </a:spcBef>
              <a:spcAft>
                <a:spcPts val="0"/>
              </a:spcAft>
              <a:buClr>
                <a:srgbClr val="1F85A6"/>
              </a:buClr>
              <a:buSzPts val="1800"/>
              <a:buFont typeface="Arial"/>
              <a:buNone/>
              <a:defRPr b="1" i="0" sz="1800" u="none" cap="none" strike="noStrike">
                <a:solidFill>
                  <a:srgbClr val="1F85A6"/>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9" name="Google Shape;19;p59"/>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lvl1pPr indent="-304800" lvl="0" marL="457200" marR="0" rtl="0" algn="just">
              <a:lnSpc>
                <a:spcPct val="100000"/>
              </a:lnSpc>
              <a:spcBef>
                <a:spcPts val="0"/>
              </a:spcBef>
              <a:spcAft>
                <a:spcPts val="0"/>
              </a:spcAft>
              <a:buClr>
                <a:schemeClr val="dk1"/>
              </a:buClr>
              <a:buSzPts val="1200"/>
              <a:buFont typeface="Noto Sans Symbols"/>
              <a:buChar char="❑"/>
              <a:defRPr b="0" i="0" sz="1600" u="none" cap="none" strike="noStrike">
                <a:solidFill>
                  <a:schemeClr val="dk1"/>
                </a:solidFill>
                <a:latin typeface="Calibri"/>
                <a:ea typeface="Calibri"/>
                <a:cs typeface="Calibri"/>
                <a:sym typeface="Calibri"/>
              </a:defRPr>
            </a:lvl1pPr>
            <a:lvl2pPr indent="-330200" lvl="1" marL="914400" marR="0" rtl="0" algn="just">
              <a:lnSpc>
                <a:spcPct val="100000"/>
              </a:lnSpc>
              <a:spcBef>
                <a:spcPts val="1200"/>
              </a:spcBef>
              <a:spcAft>
                <a:spcPts val="0"/>
              </a:spcAft>
              <a:buClr>
                <a:schemeClr val="dk1"/>
              </a:buClr>
              <a:buSzPts val="1600"/>
              <a:buFont typeface="Delius"/>
              <a:buChar char="→"/>
              <a:defRPr b="0" i="0" sz="1600" u="none" cap="none" strike="noStrike">
                <a:solidFill>
                  <a:schemeClr val="dk1"/>
                </a:solidFill>
                <a:latin typeface="Calibri"/>
                <a:ea typeface="Calibri"/>
                <a:cs typeface="Calibri"/>
                <a:sym typeface="Calibri"/>
              </a:defRPr>
            </a:lvl2pPr>
            <a:lvl3pPr indent="-330200" lvl="2" marL="1371600" marR="0" rtl="0" algn="just">
              <a:lnSpc>
                <a:spcPct val="100000"/>
              </a:lnSpc>
              <a:spcBef>
                <a:spcPts val="120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0" name="Shape 20"/>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con Imagen Vertical">
  <p:cSld name="Diapo_Subtema con Imagen Vertical">
    <p:spTree>
      <p:nvGrpSpPr>
        <p:cNvPr id="21" name="Shape 21"/>
        <p:cNvGrpSpPr/>
        <p:nvPr/>
      </p:nvGrpSpPr>
      <p:grpSpPr>
        <a:xfrm>
          <a:off x="0" y="0"/>
          <a:ext cx="0" cy="0"/>
          <a:chOff x="0" y="0"/>
          <a:chExt cx="0" cy="0"/>
        </a:xfrm>
      </p:grpSpPr>
      <p:sp>
        <p:nvSpPr>
          <p:cNvPr id="22" name="Google Shape;22;p61"/>
          <p:cNvSpPr/>
          <p:nvPr>
            <p:ph idx="2" type="pic"/>
          </p:nvPr>
        </p:nvSpPr>
        <p:spPr>
          <a:xfrm>
            <a:off x="4572000" y="804863"/>
            <a:ext cx="4103688" cy="4463362"/>
          </a:xfrm>
          <a:prstGeom prst="rect">
            <a:avLst/>
          </a:prstGeom>
          <a:noFill/>
          <a:ln>
            <a:noFill/>
          </a:ln>
        </p:spPr>
      </p:sp>
      <p:sp>
        <p:nvSpPr>
          <p:cNvPr id="23" name="Google Shape;23;p61"/>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4" name="Google Shape;24;p61"/>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lnSpc>
                <a:spcPct val="100000"/>
              </a:lnSpc>
              <a:spcBef>
                <a:spcPts val="360"/>
              </a:spcBef>
              <a:spcAft>
                <a:spcPts val="0"/>
              </a:spcAft>
              <a:buClr>
                <a:srgbClr val="1F85A6"/>
              </a:buClr>
              <a:buSzPts val="1800"/>
              <a:buFont typeface="Arial"/>
              <a:buNone/>
              <a:defRPr b="1" i="0" sz="1800" u="none" cap="none" strike="noStrike">
                <a:solidFill>
                  <a:srgbClr val="1F85A6"/>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5" name="Google Shape;25;p61"/>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lvl1pPr indent="-304800" lvl="0" marL="457200" marR="0" rtl="0" algn="just">
              <a:lnSpc>
                <a:spcPct val="100000"/>
              </a:lnSpc>
              <a:spcBef>
                <a:spcPts val="0"/>
              </a:spcBef>
              <a:spcAft>
                <a:spcPts val="0"/>
              </a:spcAft>
              <a:buClr>
                <a:schemeClr val="dk1"/>
              </a:buClr>
              <a:buSzPts val="1200"/>
              <a:buFont typeface="Noto Sans Symbols"/>
              <a:buChar char="❑"/>
              <a:defRPr b="0" i="0" sz="1600" u="none" cap="none" strike="noStrike">
                <a:solidFill>
                  <a:schemeClr val="dk1"/>
                </a:solidFill>
                <a:latin typeface="Calibri"/>
                <a:ea typeface="Calibri"/>
                <a:cs typeface="Calibri"/>
                <a:sym typeface="Calibri"/>
              </a:defRPr>
            </a:lvl1pPr>
            <a:lvl2pPr indent="-330200" lvl="1" marL="914400" marR="0" rtl="0" algn="just">
              <a:lnSpc>
                <a:spcPct val="100000"/>
              </a:lnSpc>
              <a:spcBef>
                <a:spcPts val="1200"/>
              </a:spcBef>
              <a:spcAft>
                <a:spcPts val="0"/>
              </a:spcAft>
              <a:buClr>
                <a:schemeClr val="dk1"/>
              </a:buClr>
              <a:buSzPts val="1600"/>
              <a:buFont typeface="Delius"/>
              <a:buChar char="→"/>
              <a:defRPr b="0" i="0" sz="1600" u="none" cap="none" strike="noStrike">
                <a:solidFill>
                  <a:schemeClr val="dk1"/>
                </a:solidFill>
                <a:latin typeface="Calibri"/>
                <a:ea typeface="Calibri"/>
                <a:cs typeface="Calibri"/>
                <a:sym typeface="Calibri"/>
              </a:defRPr>
            </a:lvl2pPr>
            <a:lvl3pPr indent="-330200" lvl="2" marL="1371600" marR="0" rtl="0" algn="just">
              <a:lnSpc>
                <a:spcPct val="100000"/>
              </a:lnSpc>
              <a:spcBef>
                <a:spcPts val="120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Full texto">
  <p:cSld name="Diapo_Full texto">
    <p:bg>
      <p:bgPr>
        <a:blipFill>
          <a:blip r:embed="rId2">
            <a:alphaModFix/>
          </a:blip>
          <a:stretch>
            <a:fillRect/>
          </a:stretch>
        </a:blipFill>
      </p:bgPr>
    </p:bg>
    <p:spTree>
      <p:nvGrpSpPr>
        <p:cNvPr id="26" name="Shape 26"/>
        <p:cNvGrpSpPr/>
        <p:nvPr/>
      </p:nvGrpSpPr>
      <p:grpSpPr>
        <a:xfrm>
          <a:off x="0" y="0"/>
          <a:ext cx="0" cy="0"/>
          <a:chOff x="0" y="0"/>
          <a:chExt cx="0" cy="0"/>
        </a:xfrm>
      </p:grpSpPr>
      <p:sp>
        <p:nvSpPr>
          <p:cNvPr id="27" name="Google Shape;27;p62"/>
          <p:cNvSpPr txBox="1"/>
          <p:nvPr>
            <p:ph idx="1" type="body"/>
          </p:nvPr>
        </p:nvSpPr>
        <p:spPr>
          <a:xfrm>
            <a:off x="468313" y="810473"/>
            <a:ext cx="8207375" cy="354012"/>
          </a:xfrm>
          <a:prstGeom prst="rect">
            <a:avLst/>
          </a:prstGeom>
          <a:solidFill>
            <a:srgbClr val="FFFFCC"/>
          </a:solid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rgbClr val="3F3F3F"/>
              </a:buClr>
              <a:buSzPts val="1600"/>
              <a:buFont typeface="Arial"/>
              <a:buNone/>
              <a:defRPr b="1" i="0" sz="1600" u="none" cap="none" strike="noStrike">
                <a:solidFill>
                  <a:srgbClr val="3F3F3F"/>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8" name="Google Shape;28;p62"/>
          <p:cNvSpPr txBox="1"/>
          <p:nvPr>
            <p:ph idx="2"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lnSpc>
                <a:spcPct val="100000"/>
              </a:lnSpc>
              <a:spcBef>
                <a:spcPts val="360"/>
              </a:spcBef>
              <a:spcAft>
                <a:spcPts val="0"/>
              </a:spcAft>
              <a:buClr>
                <a:schemeClr val="lt1"/>
              </a:buClr>
              <a:buSzPts val="1800"/>
              <a:buFont typeface="Arial"/>
              <a:buNone/>
              <a:defRPr b="1" i="0" sz="1800" u="none" cap="none" strike="noStrike">
                <a:solidFill>
                  <a:schemeClr val="lt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9" name="Google Shape;29;p62"/>
          <p:cNvSpPr txBox="1"/>
          <p:nvPr>
            <p:ph idx="3" type="body"/>
          </p:nvPr>
        </p:nvSpPr>
        <p:spPr>
          <a:xfrm>
            <a:off x="468313" y="1174363"/>
            <a:ext cx="8207375" cy="4540637"/>
          </a:xfrm>
          <a:prstGeom prst="rect">
            <a:avLst/>
          </a:prstGeom>
          <a:solidFill>
            <a:srgbClr val="FFFFCC"/>
          </a:solidFill>
          <a:ln>
            <a:noFill/>
          </a:ln>
        </p:spPr>
        <p:txBody>
          <a:bodyPr anchorCtr="0" anchor="t" bIns="45700" lIns="91425" spcFirstLastPara="1" rIns="91425" wrap="square" tIns="45700">
            <a:noAutofit/>
          </a:bodyPr>
          <a:lstStyle>
            <a:lvl1pPr indent="-304800" lvl="0" marL="457200" marR="0" rtl="0" algn="just">
              <a:lnSpc>
                <a:spcPct val="90000"/>
              </a:lnSpc>
              <a:spcBef>
                <a:spcPts val="0"/>
              </a:spcBef>
              <a:spcAft>
                <a:spcPts val="0"/>
              </a:spcAft>
              <a:buClr>
                <a:srgbClr val="3F3F3F"/>
              </a:buClr>
              <a:buSzPts val="1200"/>
              <a:buFont typeface="Noto Sans Symbols"/>
              <a:buChar char="❑"/>
              <a:defRPr b="0" i="1" sz="1600" u="none" cap="none" strike="noStrike">
                <a:solidFill>
                  <a:srgbClr val="7F7F7F"/>
                </a:solidFill>
                <a:latin typeface="Calibri"/>
                <a:ea typeface="Calibri"/>
                <a:cs typeface="Calibri"/>
                <a:sym typeface="Calibri"/>
              </a:defRPr>
            </a:lvl1pPr>
            <a:lvl2pPr indent="-317500" lvl="1" marL="914400" marR="0" rtl="0" algn="just">
              <a:lnSpc>
                <a:spcPct val="90000"/>
              </a:lnSpc>
              <a:spcBef>
                <a:spcPts val="600"/>
              </a:spcBef>
              <a:spcAft>
                <a:spcPts val="0"/>
              </a:spcAft>
              <a:buClr>
                <a:srgbClr val="3F3F3F"/>
              </a:buClr>
              <a:buSzPts val="1400"/>
              <a:buFont typeface="Noto Sans Symbols"/>
              <a:buChar char="▪"/>
              <a:defRPr b="0" i="1" sz="1400" u="none" cap="none" strike="noStrike">
                <a:solidFill>
                  <a:srgbClr val="7F7F7F"/>
                </a:solidFill>
                <a:latin typeface="Calibri"/>
                <a:ea typeface="Calibri"/>
                <a:cs typeface="Calibri"/>
                <a:sym typeface="Calibri"/>
              </a:defRPr>
            </a:lvl2pPr>
            <a:lvl3pPr indent="-317500" lvl="2" marL="1371600" marR="0" rtl="0" algn="just">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3pPr>
            <a:lvl4pPr indent="-317500" lvl="3" marL="1828800" marR="0" rtl="0" algn="just">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just">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6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0" name="Shape 30"/>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Introduccion">
  <p:cSld name="Diapo_Introduccion">
    <p:bg>
      <p:bgPr>
        <a:solidFill>
          <a:srgbClr val="F2F2F2"/>
        </a:solidFill>
      </p:bgPr>
    </p:bg>
    <p:spTree>
      <p:nvGrpSpPr>
        <p:cNvPr id="31" name="Shape 31"/>
        <p:cNvGrpSpPr/>
        <p:nvPr/>
      </p:nvGrpSpPr>
      <p:grpSpPr>
        <a:xfrm>
          <a:off x="0" y="0"/>
          <a:ext cx="0" cy="0"/>
          <a:chOff x="0" y="0"/>
          <a:chExt cx="0" cy="0"/>
        </a:xfrm>
      </p:grpSpPr>
      <p:sp>
        <p:nvSpPr>
          <p:cNvPr id="32" name="Google Shape;32;p64"/>
          <p:cNvSpPr/>
          <p:nvPr/>
        </p:nvSpPr>
        <p:spPr>
          <a:xfrm>
            <a:off x="503238" y="997483"/>
            <a:ext cx="1945800" cy="2492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620"/>
              <a:buFont typeface="Calibri"/>
              <a:buNone/>
            </a:pPr>
            <a:r>
              <a:rPr b="1" i="0" lang="es-ES" sz="1620" u="none" cap="none" strike="noStrike">
                <a:solidFill>
                  <a:schemeClr val="dk1"/>
                </a:solidFill>
                <a:latin typeface="Calibri"/>
                <a:ea typeface="Calibri"/>
                <a:cs typeface="Calibri"/>
                <a:sym typeface="Calibri"/>
              </a:rPr>
              <a:t>INTRODUCCIÓN</a:t>
            </a:r>
            <a:endParaRPr b="0" i="0" sz="1400" u="none" cap="none" strike="noStrike">
              <a:solidFill>
                <a:srgbClr val="000000"/>
              </a:solidFill>
              <a:latin typeface="Arial"/>
              <a:ea typeface="Arial"/>
              <a:cs typeface="Arial"/>
              <a:sym typeface="Arial"/>
            </a:endParaRPr>
          </a:p>
        </p:txBody>
      </p:sp>
      <p:pic>
        <p:nvPicPr>
          <p:cNvPr id="33" name="Google Shape;33;p64"/>
          <p:cNvPicPr preferRelativeResize="0"/>
          <p:nvPr/>
        </p:nvPicPr>
        <p:blipFill rotWithShape="1">
          <a:blip r:embed="rId2">
            <a:alphaModFix/>
          </a:blip>
          <a:srcRect b="0" l="0" r="0" t="0"/>
          <a:stretch/>
        </p:blipFill>
        <p:spPr>
          <a:xfrm>
            <a:off x="503239" y="573356"/>
            <a:ext cx="424127" cy="424127"/>
          </a:xfrm>
          <a:prstGeom prst="rect">
            <a:avLst/>
          </a:prstGeom>
          <a:solidFill>
            <a:srgbClr val="F2F2F2"/>
          </a:solidFill>
          <a:ln>
            <a:noFill/>
          </a:ln>
        </p:spPr>
      </p:pic>
      <p:sp>
        <p:nvSpPr>
          <p:cNvPr id="34" name="Google Shape;34;p64"/>
          <p:cNvSpPr txBox="1"/>
          <p:nvPr>
            <p:ph idx="1" type="body"/>
          </p:nvPr>
        </p:nvSpPr>
        <p:spPr>
          <a:xfrm>
            <a:off x="503238" y="1670050"/>
            <a:ext cx="8137525" cy="3563938"/>
          </a:xfrm>
          <a:prstGeom prst="rect">
            <a:avLst/>
          </a:prstGeom>
          <a:noFill/>
          <a:ln>
            <a:noFill/>
          </a:ln>
        </p:spPr>
        <p:txBody>
          <a:bodyPr anchorCtr="0" anchor="t" bIns="45700" lIns="91425" spcFirstLastPara="1" rIns="91425" wrap="square" tIns="45700">
            <a:noAutofit/>
          </a:bodyPr>
          <a:lstStyle>
            <a:lvl1pPr indent="-304800" lvl="0" marL="457200" marR="0" rtl="0" algn="just">
              <a:lnSpc>
                <a:spcPct val="100000"/>
              </a:lnSpc>
              <a:spcBef>
                <a:spcPts val="0"/>
              </a:spcBef>
              <a:spcAft>
                <a:spcPts val="0"/>
              </a:spcAft>
              <a:buClr>
                <a:schemeClr val="dk1"/>
              </a:buClr>
              <a:buSzPts val="1200"/>
              <a:buFont typeface="Noto Sans Symbols"/>
              <a:buChar char="❑"/>
              <a:defRPr b="0" i="0" sz="1600" u="none" cap="none" strike="noStrike">
                <a:solidFill>
                  <a:schemeClr val="dk1"/>
                </a:solidFill>
                <a:latin typeface="Calibri"/>
                <a:ea typeface="Calibri"/>
                <a:cs typeface="Calibri"/>
                <a:sym typeface="Calibri"/>
              </a:defRPr>
            </a:lvl1pPr>
            <a:lvl2pPr indent="-330200" lvl="1" marL="914400" marR="0" rtl="0" algn="just">
              <a:lnSpc>
                <a:spcPct val="100000"/>
              </a:lnSpc>
              <a:spcBef>
                <a:spcPts val="1200"/>
              </a:spcBef>
              <a:spcAft>
                <a:spcPts val="0"/>
              </a:spcAft>
              <a:buClr>
                <a:schemeClr val="dk1"/>
              </a:buClr>
              <a:buSzPts val="1600"/>
              <a:buFont typeface="Delius"/>
              <a:buChar char="→"/>
              <a:defRPr b="0" i="0" sz="1600" u="none" cap="none" strike="noStrike">
                <a:solidFill>
                  <a:schemeClr val="dk1"/>
                </a:solidFill>
                <a:latin typeface="Calibri"/>
                <a:ea typeface="Calibri"/>
                <a:cs typeface="Calibri"/>
                <a:sym typeface="Calibri"/>
              </a:defRPr>
            </a:lvl2pPr>
            <a:lvl3pPr indent="-330200" lvl="2" marL="1371600" marR="0" rtl="0" algn="just">
              <a:lnSpc>
                <a:spcPct val="100000"/>
              </a:lnSpc>
              <a:spcBef>
                <a:spcPts val="120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3pPr>
            <a:lvl4pPr indent="-330200" lvl="3" marL="1828800" marR="0" rtl="0" algn="l">
              <a:lnSpc>
                <a:spcPct val="85000"/>
              </a:lnSpc>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85000"/>
              </a:lnSpc>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orient="horz" pos="1052">
          <p15:clr>
            <a:srgbClr val="FBAE40"/>
          </p15:clr>
        </p15:guide>
        <p15:guide id="2" pos="317">
          <p15:clr>
            <a:srgbClr val="FBAE40"/>
          </p15:clr>
        </p15:guide>
        <p15:guide id="3" pos="5443">
          <p15:clr>
            <a:srgbClr val="FBAE40"/>
          </p15:clr>
        </p15:guide>
        <p15:guide id="4" orient="horz" pos="3297">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con Imagen Horizontal">
  <p:cSld name="Diapo_Subtema con Imagen Horizontal">
    <p:spTree>
      <p:nvGrpSpPr>
        <p:cNvPr id="35" name="Shape 35"/>
        <p:cNvGrpSpPr/>
        <p:nvPr/>
      </p:nvGrpSpPr>
      <p:grpSpPr>
        <a:xfrm>
          <a:off x="0" y="0"/>
          <a:ext cx="0" cy="0"/>
          <a:chOff x="0" y="0"/>
          <a:chExt cx="0" cy="0"/>
        </a:xfrm>
      </p:grpSpPr>
      <p:sp>
        <p:nvSpPr>
          <p:cNvPr id="36" name="Google Shape;36;p65"/>
          <p:cNvSpPr/>
          <p:nvPr>
            <p:ph idx="2" type="pic"/>
          </p:nvPr>
        </p:nvSpPr>
        <p:spPr>
          <a:xfrm>
            <a:off x="475687" y="2877477"/>
            <a:ext cx="8207375" cy="2394000"/>
          </a:xfrm>
          <a:prstGeom prst="rect">
            <a:avLst/>
          </a:prstGeom>
          <a:noFill/>
          <a:ln>
            <a:noFill/>
          </a:ln>
        </p:spPr>
      </p:sp>
      <p:sp>
        <p:nvSpPr>
          <p:cNvPr id="37" name="Google Shape;37;p65"/>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8" name="Google Shape;38;p65"/>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lnSpc>
                <a:spcPct val="100000"/>
              </a:lnSpc>
              <a:spcBef>
                <a:spcPts val="360"/>
              </a:spcBef>
              <a:spcAft>
                <a:spcPts val="0"/>
              </a:spcAft>
              <a:buClr>
                <a:srgbClr val="1F85A6"/>
              </a:buClr>
              <a:buSzPts val="1800"/>
              <a:buFont typeface="Arial"/>
              <a:buNone/>
              <a:defRPr b="1" i="0" sz="1800" u="none" cap="none" strike="noStrike">
                <a:solidFill>
                  <a:srgbClr val="1F85A6"/>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9" name="Google Shape;39;p65"/>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lvl1pPr indent="-304800" lvl="0" marL="457200" marR="0" rtl="0" algn="just">
              <a:lnSpc>
                <a:spcPct val="100000"/>
              </a:lnSpc>
              <a:spcBef>
                <a:spcPts val="0"/>
              </a:spcBef>
              <a:spcAft>
                <a:spcPts val="0"/>
              </a:spcAft>
              <a:buClr>
                <a:schemeClr val="dk1"/>
              </a:buClr>
              <a:buSzPts val="1200"/>
              <a:buFont typeface="Noto Sans Symbols"/>
              <a:buChar char="❑"/>
              <a:defRPr b="0" i="0" sz="1600" u="none" cap="none" strike="noStrike">
                <a:solidFill>
                  <a:schemeClr val="dk1"/>
                </a:solidFill>
                <a:latin typeface="Calibri"/>
                <a:ea typeface="Calibri"/>
                <a:cs typeface="Calibri"/>
                <a:sym typeface="Calibri"/>
              </a:defRPr>
            </a:lvl1pPr>
            <a:lvl2pPr indent="-330200" lvl="1" marL="914400" marR="0" rtl="0" algn="just">
              <a:lnSpc>
                <a:spcPct val="100000"/>
              </a:lnSpc>
              <a:spcBef>
                <a:spcPts val="1200"/>
              </a:spcBef>
              <a:spcAft>
                <a:spcPts val="0"/>
              </a:spcAft>
              <a:buClr>
                <a:schemeClr val="dk1"/>
              </a:buClr>
              <a:buSzPts val="1600"/>
              <a:buFont typeface="Delius"/>
              <a:buChar char="→"/>
              <a:defRPr b="0" i="0" sz="1600" u="none" cap="none" strike="noStrike">
                <a:solidFill>
                  <a:schemeClr val="dk1"/>
                </a:solidFill>
                <a:latin typeface="Calibri"/>
                <a:ea typeface="Calibri"/>
                <a:cs typeface="Calibri"/>
                <a:sym typeface="Calibri"/>
              </a:defRPr>
            </a:lvl2pPr>
            <a:lvl3pPr indent="-330200" lvl="2" marL="1371600" marR="0" rtl="0" algn="just">
              <a:lnSpc>
                <a:spcPct val="100000"/>
              </a:lnSpc>
              <a:spcBef>
                <a:spcPts val="120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con Cuadro">
  <p:cSld name="Diapo_Subtema con Cuadro">
    <p:spTree>
      <p:nvGrpSpPr>
        <p:cNvPr id="40" name="Shape 40"/>
        <p:cNvGrpSpPr/>
        <p:nvPr/>
      </p:nvGrpSpPr>
      <p:grpSpPr>
        <a:xfrm>
          <a:off x="0" y="0"/>
          <a:ext cx="0" cy="0"/>
          <a:chOff x="0" y="0"/>
          <a:chExt cx="0" cy="0"/>
        </a:xfrm>
      </p:grpSpPr>
      <p:sp>
        <p:nvSpPr>
          <p:cNvPr id="41" name="Google Shape;41;p66"/>
          <p:cNvSpPr/>
          <p:nvPr>
            <p:ph idx="2" type="pic"/>
          </p:nvPr>
        </p:nvSpPr>
        <p:spPr>
          <a:xfrm>
            <a:off x="468313" y="1175705"/>
            <a:ext cx="8207375" cy="4096800"/>
          </a:xfrm>
          <a:prstGeom prst="rect">
            <a:avLst/>
          </a:prstGeom>
          <a:noFill/>
          <a:ln>
            <a:noFill/>
          </a:ln>
        </p:spPr>
      </p:sp>
      <p:sp>
        <p:nvSpPr>
          <p:cNvPr id="42" name="Google Shape;42;p66"/>
          <p:cNvSpPr txBox="1"/>
          <p:nvPr>
            <p:ph idx="1" type="body"/>
          </p:nvPr>
        </p:nvSpPr>
        <p:spPr>
          <a:xfrm>
            <a:off x="468313" y="810473"/>
            <a:ext cx="8207375" cy="354012"/>
          </a:xfrm>
          <a:prstGeom prst="rect">
            <a:avLst/>
          </a:prstGeom>
          <a:no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43" name="Google Shape;43;p66"/>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lnSpc>
                <a:spcPct val="100000"/>
              </a:lnSpc>
              <a:spcBef>
                <a:spcPts val="360"/>
              </a:spcBef>
              <a:spcAft>
                <a:spcPts val="0"/>
              </a:spcAft>
              <a:buClr>
                <a:srgbClr val="1F85A6"/>
              </a:buClr>
              <a:buSzPts val="1800"/>
              <a:buFont typeface="Arial"/>
              <a:buNone/>
              <a:defRPr b="1" i="0" sz="1800" u="none" cap="none" strike="noStrike">
                <a:solidFill>
                  <a:srgbClr val="1F85A6"/>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p:cSld name="Diapo_Subtema">
    <p:bg>
      <p:bgPr>
        <a:blipFill>
          <a:blip r:embed="rId2">
            <a:alphaModFix/>
          </a:blip>
          <a:stretch>
            <a:fillRect/>
          </a:stretch>
        </a:blipFill>
      </p:bgPr>
    </p:bg>
    <p:spTree>
      <p:nvGrpSpPr>
        <p:cNvPr id="44" name="Shape 44"/>
        <p:cNvGrpSpPr/>
        <p:nvPr/>
      </p:nvGrpSpPr>
      <p:grpSpPr>
        <a:xfrm>
          <a:off x="0" y="0"/>
          <a:ext cx="0" cy="0"/>
          <a:chOff x="0" y="0"/>
          <a:chExt cx="0" cy="0"/>
        </a:xfrm>
      </p:grpSpPr>
      <p:sp>
        <p:nvSpPr>
          <p:cNvPr id="45" name="Google Shape;45;p67"/>
          <p:cNvSpPr txBox="1"/>
          <p:nvPr>
            <p:ph idx="1" type="body"/>
          </p:nvPr>
        </p:nvSpPr>
        <p:spPr>
          <a:xfrm>
            <a:off x="468314" y="3714841"/>
            <a:ext cx="5543549" cy="8100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85000"/>
              </a:lnSpc>
              <a:spcBef>
                <a:spcPts val="0"/>
              </a:spcBef>
              <a:spcAft>
                <a:spcPts val="0"/>
              </a:spcAft>
              <a:buClr>
                <a:schemeClr val="lt1"/>
              </a:buClr>
              <a:buSzPts val="2800"/>
              <a:buFont typeface="Arial"/>
              <a:buNone/>
              <a:defRPr b="1" i="0" sz="2800" u="none" cap="none" strike="noStrike">
                <a:solidFill>
                  <a:schemeClr val="lt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378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Conclusiones">
  <p:cSld name="Diapo_Conclusiones">
    <p:bg>
      <p:bgPr>
        <a:blipFill>
          <a:blip r:embed="rId2">
            <a:alphaModFix/>
          </a:blip>
          <a:stretch>
            <a:fillRect/>
          </a:stretch>
        </a:blipFill>
      </p:bgPr>
    </p:bg>
    <p:spTree>
      <p:nvGrpSpPr>
        <p:cNvPr id="46" name="Shape 46"/>
        <p:cNvGrpSpPr/>
        <p:nvPr/>
      </p:nvGrpSpPr>
      <p:grpSpPr>
        <a:xfrm>
          <a:off x="0" y="0"/>
          <a:ext cx="0" cy="0"/>
          <a:chOff x="0" y="0"/>
          <a:chExt cx="0" cy="0"/>
        </a:xfrm>
      </p:grpSpPr>
      <p:sp>
        <p:nvSpPr>
          <p:cNvPr id="47" name="Google Shape;47;p68"/>
          <p:cNvSpPr/>
          <p:nvPr/>
        </p:nvSpPr>
        <p:spPr>
          <a:xfrm>
            <a:off x="503238" y="997483"/>
            <a:ext cx="1945800" cy="2492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1620"/>
              <a:buFont typeface="Calibri"/>
              <a:buNone/>
            </a:pPr>
            <a:r>
              <a:rPr b="1" i="0" lang="es-ES" sz="1620" u="none" cap="none" strike="noStrike">
                <a:solidFill>
                  <a:srgbClr val="FFFFFF"/>
                </a:solidFill>
                <a:latin typeface="Calibri"/>
                <a:ea typeface="Calibri"/>
                <a:cs typeface="Calibri"/>
                <a:sym typeface="Calibri"/>
              </a:rPr>
              <a:t>CONCLUSIONES</a:t>
            </a:r>
            <a:endParaRPr b="0" i="0" sz="1400" u="none" cap="none" strike="noStrike">
              <a:solidFill>
                <a:srgbClr val="000000"/>
              </a:solidFill>
              <a:latin typeface="Arial"/>
              <a:ea typeface="Arial"/>
              <a:cs typeface="Arial"/>
              <a:sym typeface="Arial"/>
            </a:endParaRPr>
          </a:p>
        </p:txBody>
      </p:sp>
      <p:pic>
        <p:nvPicPr>
          <p:cNvPr id="48" name="Google Shape;48;p68"/>
          <p:cNvPicPr preferRelativeResize="0"/>
          <p:nvPr/>
        </p:nvPicPr>
        <p:blipFill rotWithShape="1">
          <a:blip r:embed="rId3">
            <a:alphaModFix/>
          </a:blip>
          <a:srcRect b="0" l="0" r="0" t="0"/>
          <a:stretch/>
        </p:blipFill>
        <p:spPr>
          <a:xfrm>
            <a:off x="503239" y="573356"/>
            <a:ext cx="424127" cy="424127"/>
          </a:xfrm>
          <a:prstGeom prst="rect">
            <a:avLst/>
          </a:prstGeom>
          <a:noFill/>
          <a:ln>
            <a:noFill/>
          </a:ln>
        </p:spPr>
      </p:pic>
      <p:sp>
        <p:nvSpPr>
          <p:cNvPr id="49" name="Google Shape;49;p68"/>
          <p:cNvSpPr txBox="1"/>
          <p:nvPr>
            <p:ph idx="1" type="body"/>
          </p:nvPr>
        </p:nvSpPr>
        <p:spPr>
          <a:xfrm>
            <a:off x="927366" y="1670909"/>
            <a:ext cx="7713398" cy="3526566"/>
          </a:xfrm>
          <a:prstGeom prst="rect">
            <a:avLst/>
          </a:prstGeom>
          <a:noFill/>
          <a:ln>
            <a:noFill/>
          </a:ln>
        </p:spPr>
        <p:txBody>
          <a:bodyPr anchorCtr="0" anchor="t" bIns="0" lIns="0" spcFirstLastPara="1" rIns="0" wrap="square" tIns="0">
            <a:noAutofit/>
          </a:bodyPr>
          <a:lstStyle>
            <a:lvl1pPr indent="-342900" lvl="0" marL="457200" marR="0" rtl="0" algn="just">
              <a:lnSpc>
                <a:spcPct val="85000"/>
              </a:lnSpc>
              <a:spcBef>
                <a:spcPts val="0"/>
              </a:spcBef>
              <a:spcAft>
                <a:spcPts val="0"/>
              </a:spcAft>
              <a:buClr>
                <a:schemeClr val="lt1"/>
              </a:buClr>
              <a:buSzPts val="1800"/>
              <a:buFont typeface="Calibri"/>
              <a:buAutoNum type="arabicPeriod"/>
              <a:defRPr b="0" i="0" sz="1800" u="none" cap="none" strike="noStrike">
                <a:solidFill>
                  <a:schemeClr val="lt1"/>
                </a:solidFill>
                <a:latin typeface="Calibri"/>
                <a:ea typeface="Calibri"/>
                <a:cs typeface="Calibri"/>
                <a:sym typeface="Calibri"/>
              </a:defRPr>
            </a:lvl1pPr>
            <a:lvl2pPr indent="-406400" lvl="1" marL="914400" marR="0" rtl="0" algn="l">
              <a:lnSpc>
                <a:spcPct val="100000"/>
              </a:lnSpc>
              <a:spcBef>
                <a:spcPts val="12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orient="horz" pos="10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Bibliografía">
  <p:cSld name="Diapo_Bibliografía">
    <p:bg>
      <p:bgPr>
        <a:blipFill>
          <a:blip r:embed="rId2">
            <a:alphaModFix/>
          </a:blip>
          <a:stretch>
            <a:fillRect/>
          </a:stretch>
        </a:blipFill>
      </p:bgPr>
    </p:bg>
    <p:spTree>
      <p:nvGrpSpPr>
        <p:cNvPr id="50" name="Shape 50"/>
        <p:cNvGrpSpPr/>
        <p:nvPr/>
      </p:nvGrpSpPr>
      <p:grpSpPr>
        <a:xfrm>
          <a:off x="0" y="0"/>
          <a:ext cx="0" cy="0"/>
          <a:chOff x="0" y="0"/>
          <a:chExt cx="0" cy="0"/>
        </a:xfrm>
      </p:grpSpPr>
      <p:sp>
        <p:nvSpPr>
          <p:cNvPr id="51" name="Google Shape;51;p69"/>
          <p:cNvSpPr/>
          <p:nvPr/>
        </p:nvSpPr>
        <p:spPr>
          <a:xfrm>
            <a:off x="503238" y="997483"/>
            <a:ext cx="1945800" cy="2492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1620"/>
              <a:buFont typeface="Calibri"/>
              <a:buNone/>
            </a:pPr>
            <a:r>
              <a:rPr b="1" i="0" lang="es-ES" sz="1620" u="none" cap="none" strike="noStrike">
                <a:solidFill>
                  <a:srgbClr val="FFFFFF"/>
                </a:solidFill>
                <a:latin typeface="Calibri"/>
                <a:ea typeface="Calibri"/>
                <a:cs typeface="Calibri"/>
                <a:sym typeface="Calibri"/>
              </a:rPr>
              <a:t>BIBLIOGRAFÍA</a:t>
            </a:r>
            <a:endParaRPr b="0" i="0" sz="1400" u="none" cap="none" strike="noStrike">
              <a:solidFill>
                <a:srgbClr val="000000"/>
              </a:solidFill>
              <a:latin typeface="Arial"/>
              <a:ea typeface="Arial"/>
              <a:cs typeface="Arial"/>
              <a:sym typeface="Arial"/>
            </a:endParaRPr>
          </a:p>
        </p:txBody>
      </p:sp>
      <p:pic>
        <p:nvPicPr>
          <p:cNvPr id="52" name="Google Shape;52;p69"/>
          <p:cNvPicPr preferRelativeResize="0"/>
          <p:nvPr/>
        </p:nvPicPr>
        <p:blipFill rotWithShape="1">
          <a:blip r:embed="rId3">
            <a:alphaModFix/>
          </a:blip>
          <a:srcRect b="0" l="0" r="0" t="0"/>
          <a:stretch/>
        </p:blipFill>
        <p:spPr>
          <a:xfrm>
            <a:off x="503239" y="573356"/>
            <a:ext cx="424127" cy="424127"/>
          </a:xfrm>
          <a:prstGeom prst="rect">
            <a:avLst/>
          </a:prstGeom>
          <a:noFill/>
          <a:ln>
            <a:noFill/>
          </a:ln>
        </p:spPr>
      </p:pic>
      <p:sp>
        <p:nvSpPr>
          <p:cNvPr id="53" name="Google Shape;53;p69"/>
          <p:cNvSpPr txBox="1"/>
          <p:nvPr>
            <p:ph idx="1" type="body"/>
          </p:nvPr>
        </p:nvSpPr>
        <p:spPr>
          <a:xfrm>
            <a:off x="927366" y="1670049"/>
            <a:ext cx="7713398" cy="3527425"/>
          </a:xfrm>
          <a:prstGeom prst="rect">
            <a:avLst/>
          </a:prstGeom>
          <a:noFill/>
          <a:ln>
            <a:noFill/>
          </a:ln>
        </p:spPr>
        <p:txBody>
          <a:bodyPr anchorCtr="0" anchor="t" bIns="0" lIns="0" spcFirstLastPara="1" rIns="0" wrap="square" tIns="0">
            <a:noAutofit/>
          </a:bodyPr>
          <a:lstStyle>
            <a:lvl1pPr indent="-342900" lvl="0" marL="457200" marR="0" rtl="0" algn="just">
              <a:lnSpc>
                <a:spcPct val="85000"/>
              </a:lnSpc>
              <a:spcBef>
                <a:spcPts val="0"/>
              </a:spcBef>
              <a:spcAft>
                <a:spcPts val="0"/>
              </a:spcAft>
              <a:buClr>
                <a:schemeClr val="lt1"/>
              </a:buClr>
              <a:buSzPts val="1800"/>
              <a:buFont typeface="Noto Sans Symbols"/>
              <a:buChar char="▪"/>
              <a:defRPr b="0" i="0" sz="1800" u="none" cap="none" strike="noStrike">
                <a:solidFill>
                  <a:schemeClr val="lt1"/>
                </a:solidFill>
                <a:latin typeface="Calibri"/>
                <a:ea typeface="Calibri"/>
                <a:cs typeface="Calibri"/>
                <a:sym typeface="Calibri"/>
              </a:defRPr>
            </a:lvl1pPr>
            <a:lvl2pPr indent="-406400" lvl="1" marL="914400" marR="0" rtl="0" algn="l">
              <a:lnSpc>
                <a:spcPct val="100000"/>
              </a:lnSpc>
              <a:spcBef>
                <a:spcPts val="12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orient="horz" pos="1052">
          <p15:clr>
            <a:srgbClr val="FBAE40"/>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46.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57"/>
          <p:cNvGrpSpPr/>
          <p:nvPr/>
        </p:nvGrpSpPr>
        <p:grpSpPr>
          <a:xfrm>
            <a:off x="793745" y="5369051"/>
            <a:ext cx="8104595" cy="215444"/>
            <a:chOff x="793745" y="5369051"/>
            <a:chExt cx="7954689" cy="215444"/>
          </a:xfrm>
        </p:grpSpPr>
        <p:sp>
          <p:nvSpPr>
            <p:cNvPr id="11" name="Google Shape;11;p57"/>
            <p:cNvSpPr txBox="1"/>
            <p:nvPr/>
          </p:nvSpPr>
          <p:spPr>
            <a:xfrm>
              <a:off x="793745" y="5369051"/>
              <a:ext cx="2133782"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s-ES" sz="800" u="none" cap="none" strike="noStrike">
                  <a:solidFill>
                    <a:srgbClr val="7F7F7F"/>
                  </a:solidFill>
                  <a:latin typeface="Calibri"/>
                  <a:ea typeface="Calibri"/>
                  <a:cs typeface="Calibri"/>
                  <a:sym typeface="Calibri"/>
                </a:rPr>
                <a:t>ANÁLISIS Y DISEÑO DE SISTEMAS II  •  SESIÓN 06</a:t>
              </a:r>
              <a:endParaRPr b="0" i="0" sz="800" u="none" cap="none" strike="noStrike">
                <a:solidFill>
                  <a:srgbClr val="7F7F7F"/>
                </a:solidFill>
                <a:latin typeface="Calibri"/>
                <a:ea typeface="Calibri"/>
                <a:cs typeface="Calibri"/>
                <a:sym typeface="Calibri"/>
              </a:endParaRPr>
            </a:p>
          </p:txBody>
        </p:sp>
        <p:sp>
          <p:nvSpPr>
            <p:cNvPr id="12" name="Google Shape;12;p57"/>
            <p:cNvSpPr/>
            <p:nvPr/>
          </p:nvSpPr>
          <p:spPr>
            <a:xfrm>
              <a:off x="7207627" y="5384440"/>
              <a:ext cx="1540807" cy="18466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600"/>
                <a:buFont typeface="Arial"/>
                <a:buNone/>
              </a:pPr>
              <a:r>
                <a:rPr b="0" i="0" lang="es-ES" sz="600" u="none" cap="none" strike="noStrike">
                  <a:solidFill>
                    <a:srgbClr val="7F7F7F"/>
                  </a:solidFill>
                  <a:latin typeface="Calibri"/>
                  <a:ea typeface="Calibri"/>
                  <a:cs typeface="Calibri"/>
                  <a:sym typeface="Calibri"/>
                </a:rPr>
                <a:t>© 2023 ISIL. Todos los derechos reservados</a:t>
              </a:r>
              <a:endParaRPr b="0" i="0" sz="1400" u="none" cap="none" strike="noStrike">
                <a:solidFill>
                  <a:srgbClr val="000000"/>
                </a:solidFill>
                <a:latin typeface="Arial"/>
                <a:ea typeface="Arial"/>
                <a:cs typeface="Arial"/>
                <a:sym typeface="Arial"/>
              </a:endParaRPr>
            </a:p>
          </p:txBody>
        </p:sp>
      </p:grpSp>
      <p:pic>
        <p:nvPicPr>
          <p:cNvPr id="13" name="Google Shape;13;p57"/>
          <p:cNvPicPr preferRelativeResize="0"/>
          <p:nvPr/>
        </p:nvPicPr>
        <p:blipFill rotWithShape="1">
          <a:blip r:embed="rId1">
            <a:alphaModFix amt="20000"/>
          </a:blip>
          <a:srcRect b="0" l="0" r="0" t="0"/>
          <a:stretch/>
        </p:blipFill>
        <p:spPr>
          <a:xfrm>
            <a:off x="345172" y="5328911"/>
            <a:ext cx="448573" cy="25075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80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3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3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3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3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4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4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1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4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4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2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4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2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3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2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2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2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2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4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3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 Id="rId3" Type="http://schemas.openxmlformats.org/officeDocument/2006/relationships/image" Target="../media/image2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image" Target="../media/image2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 Id="rId3" Type="http://schemas.openxmlformats.org/officeDocument/2006/relationships/image" Target="../media/image2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 Id="rId3" Type="http://schemas.openxmlformats.org/officeDocument/2006/relationships/image" Target="../media/image3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 Id="rId3" Type="http://schemas.openxmlformats.org/officeDocument/2006/relationships/image" Target="../media/image3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 Id="rId3" Type="http://schemas.openxmlformats.org/officeDocument/2006/relationships/image" Target="../media/image4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 Id="rId3" Type="http://schemas.openxmlformats.org/officeDocument/2006/relationships/image" Target="../media/image3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 Id="rId3" Type="http://schemas.openxmlformats.org/officeDocument/2006/relationships/image" Target="../media/image4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 Id="rId3" Type="http://schemas.openxmlformats.org/officeDocument/2006/relationships/image" Target="../media/image4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6.xml"/><Relationship Id="rId3" Type="http://schemas.openxmlformats.org/officeDocument/2006/relationships/hyperlink" Target="https://docs.microsoft.com/en-us/previous-versions/visualstudio/visual-studio-2010/dd409432(v=vs.100)" TargetMode="External"/><Relationship Id="rId4" Type="http://schemas.openxmlformats.org/officeDocument/2006/relationships/hyperlink" Target="https://creately.com/blog/diagrams/use-case-diagram-tutorial/" TargetMode="External"/><Relationship Id="rId5" Type="http://schemas.openxmlformats.org/officeDocument/2006/relationships/hyperlink" Target="https://www.smartdraw.com/use-case-diagra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
          <p:cNvSpPr/>
          <p:nvPr/>
        </p:nvSpPr>
        <p:spPr>
          <a:xfrm>
            <a:off x="0" y="14248"/>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60" name="Google Shape;60;p1"/>
          <p:cNvSpPr txBox="1"/>
          <p:nvPr/>
        </p:nvSpPr>
        <p:spPr>
          <a:xfrm>
            <a:off x="2088505" y="1653293"/>
            <a:ext cx="87315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libri"/>
              <a:buNone/>
            </a:pPr>
            <a:r>
              <a:rPr b="0" i="0" lang="es-ES" sz="1800" u="none" cap="none" strike="noStrike">
                <a:solidFill>
                  <a:schemeClr val="lt1"/>
                </a:solidFill>
                <a:latin typeface="Calibri"/>
                <a:ea typeface="Calibri"/>
                <a:cs typeface="Calibri"/>
                <a:sym typeface="Calibri"/>
              </a:rPr>
              <a:t>SESIÓN</a:t>
            </a:r>
            <a:endParaRPr b="0" i="0" sz="1800" u="none" cap="none" strike="noStrike">
              <a:solidFill>
                <a:schemeClr val="dk1"/>
              </a:solidFill>
              <a:latin typeface="Calibri"/>
              <a:ea typeface="Calibri"/>
              <a:cs typeface="Calibri"/>
              <a:sym typeface="Calibri"/>
            </a:endParaRPr>
          </a:p>
        </p:txBody>
      </p:sp>
      <p:sp>
        <p:nvSpPr>
          <p:cNvPr id="61" name="Google Shape;61;p1"/>
          <p:cNvSpPr txBox="1"/>
          <p:nvPr/>
        </p:nvSpPr>
        <p:spPr>
          <a:xfrm>
            <a:off x="2051281" y="1730819"/>
            <a:ext cx="964250"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5800"/>
              <a:buFont typeface="Calibri"/>
              <a:buNone/>
            </a:pPr>
            <a:r>
              <a:rPr b="0" i="0" lang="es-ES" sz="5800" u="none" cap="none" strike="noStrike">
                <a:solidFill>
                  <a:srgbClr val="FFFFFF"/>
                </a:solidFill>
                <a:latin typeface="Calibri"/>
                <a:ea typeface="Calibri"/>
                <a:cs typeface="Calibri"/>
                <a:sym typeface="Calibri"/>
              </a:rPr>
              <a:t>06</a:t>
            </a:r>
            <a:endParaRPr b="0" i="0" sz="1800" u="none" cap="none" strike="noStrike">
              <a:solidFill>
                <a:schemeClr val="dk1"/>
              </a:solidFill>
              <a:latin typeface="Calibri"/>
              <a:ea typeface="Calibri"/>
              <a:cs typeface="Calibri"/>
              <a:sym typeface="Calibri"/>
            </a:endParaRPr>
          </a:p>
        </p:txBody>
      </p:sp>
      <p:sp>
        <p:nvSpPr>
          <p:cNvPr id="62" name="Google Shape;62;p1"/>
          <p:cNvSpPr txBox="1"/>
          <p:nvPr/>
        </p:nvSpPr>
        <p:spPr>
          <a:xfrm>
            <a:off x="3175138" y="1364545"/>
            <a:ext cx="5422704" cy="1200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ES" sz="3600" u="none" cap="none" strike="noStrike">
                <a:solidFill>
                  <a:schemeClr val="lt1"/>
                </a:solidFill>
                <a:latin typeface="Calibri"/>
                <a:ea typeface="Calibri"/>
                <a:cs typeface="Calibri"/>
                <a:sym typeface="Calibri"/>
              </a:rPr>
              <a:t>DIAGRAMA DE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1" i="0" lang="es-ES" sz="3600" u="none" cap="none" strike="noStrike">
                <a:solidFill>
                  <a:schemeClr val="lt1"/>
                </a:solidFill>
                <a:latin typeface="Calibri"/>
                <a:ea typeface="Calibri"/>
                <a:cs typeface="Calibri"/>
                <a:sym typeface="Calibri"/>
              </a:rPr>
              <a:t>CASOS DE USO</a:t>
            </a:r>
            <a:endParaRPr b="1" i="0" sz="3600" u="none" cap="none" strike="noStrike">
              <a:solidFill>
                <a:schemeClr val="lt1"/>
              </a:solidFill>
              <a:latin typeface="Calibri"/>
              <a:ea typeface="Calibri"/>
              <a:cs typeface="Calibri"/>
              <a:sym typeface="Calibri"/>
            </a:endParaRPr>
          </a:p>
        </p:txBody>
      </p:sp>
      <p:sp>
        <p:nvSpPr>
          <p:cNvPr id="63" name="Google Shape;63;p1"/>
          <p:cNvSpPr txBox="1"/>
          <p:nvPr/>
        </p:nvSpPr>
        <p:spPr>
          <a:xfrm>
            <a:off x="3175138" y="2996279"/>
            <a:ext cx="5026425" cy="1323399"/>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lt1"/>
              </a:buClr>
              <a:buSzPts val="1600"/>
              <a:buFont typeface="Arial"/>
              <a:buChar char="•"/>
            </a:pPr>
            <a:r>
              <a:rPr b="0" i="0" lang="es-ES" sz="1600" u="none" cap="none" strike="noStrike">
                <a:solidFill>
                  <a:schemeClr val="lt1"/>
                </a:solidFill>
                <a:latin typeface="Calibri"/>
                <a:ea typeface="Calibri"/>
                <a:cs typeface="Calibri"/>
                <a:sym typeface="Calibri"/>
              </a:rPr>
              <a:t>Definiciones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600"/>
              <a:buFont typeface="Arial"/>
              <a:buChar char="•"/>
            </a:pPr>
            <a:r>
              <a:rPr b="0" i="0" lang="es-ES" sz="1600" u="none" cap="none" strike="noStrike">
                <a:solidFill>
                  <a:schemeClr val="lt1"/>
                </a:solidFill>
                <a:latin typeface="Calibri"/>
                <a:ea typeface="Calibri"/>
                <a:cs typeface="Calibri"/>
                <a:sym typeface="Calibri"/>
              </a:rPr>
              <a:t>Caso de uso</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600"/>
              <a:buFont typeface="Arial"/>
              <a:buChar char="•"/>
            </a:pPr>
            <a:r>
              <a:rPr b="0" i="0" lang="es-ES" sz="1600" u="none" cap="none" strike="noStrike">
                <a:solidFill>
                  <a:schemeClr val="lt1"/>
                </a:solidFill>
                <a:latin typeface="Calibri"/>
                <a:ea typeface="Calibri"/>
                <a:cs typeface="Calibri"/>
                <a:sym typeface="Calibri"/>
              </a:rPr>
              <a:t>Generalización</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600"/>
              <a:buFont typeface="Arial"/>
              <a:buChar char="•"/>
            </a:pPr>
            <a:r>
              <a:rPr b="0" i="0" lang="es-ES" sz="1600" u="none" cap="none" strike="noStrike">
                <a:solidFill>
                  <a:schemeClr val="lt1"/>
                </a:solidFill>
                <a:latin typeface="Calibri"/>
                <a:ea typeface="Calibri"/>
                <a:cs typeface="Calibri"/>
                <a:sym typeface="Calibri"/>
              </a:rPr>
              <a:t>Inclusiones y extensiones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600"/>
              <a:buFont typeface="Arial"/>
              <a:buChar char="•"/>
            </a:pPr>
            <a:r>
              <a:rPr b="0" i="0" lang="es-ES" sz="1600" u="none" cap="none" strike="noStrike">
                <a:solidFill>
                  <a:schemeClr val="lt1"/>
                </a:solidFill>
                <a:latin typeface="Calibri"/>
                <a:ea typeface="Calibri"/>
                <a:cs typeface="Calibri"/>
                <a:sym typeface="Calibri"/>
              </a:rPr>
              <a:t>Diagrama de casos de uso</a:t>
            </a:r>
            <a:endParaRPr b="1" i="0" sz="1800" u="none" cap="none" strike="noStrike">
              <a:solidFill>
                <a:schemeClr val="lt1"/>
              </a:solidFill>
              <a:latin typeface="Calibri"/>
              <a:ea typeface="Calibri"/>
              <a:cs typeface="Calibri"/>
              <a:sym typeface="Calibri"/>
            </a:endParaRPr>
          </a:p>
        </p:txBody>
      </p:sp>
      <p:cxnSp>
        <p:nvCxnSpPr>
          <p:cNvPr id="64" name="Google Shape;64;p1"/>
          <p:cNvCxnSpPr/>
          <p:nvPr/>
        </p:nvCxnSpPr>
        <p:spPr>
          <a:xfrm>
            <a:off x="3056456" y="1777107"/>
            <a:ext cx="0" cy="720031"/>
          </a:xfrm>
          <a:prstGeom prst="straightConnector1">
            <a:avLst/>
          </a:prstGeom>
          <a:noFill/>
          <a:ln cap="flat" cmpd="sng" w="25400">
            <a:solidFill>
              <a:srgbClr val="FFFFFF"/>
            </a:solidFill>
            <a:prstDash val="solid"/>
            <a:round/>
            <a:headEnd len="sm" w="sm" type="none"/>
            <a:tailEnd len="sm" w="sm" type="none"/>
          </a:ln>
        </p:spPr>
      </p:cxnSp>
      <p:sp>
        <p:nvSpPr>
          <p:cNvPr id="65" name="Google Shape;65;p1"/>
          <p:cNvSpPr/>
          <p:nvPr/>
        </p:nvSpPr>
        <p:spPr>
          <a:xfrm>
            <a:off x="3289191" y="2568993"/>
            <a:ext cx="3672000" cy="193899"/>
          </a:xfrm>
          <a:prstGeom prst="rect">
            <a:avLst/>
          </a:prstGeom>
          <a:solidFill>
            <a:schemeClr val="lt1"/>
          </a:solid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F85A6"/>
              </a:buClr>
              <a:buSzPts val="1400"/>
              <a:buFont typeface="Calibri"/>
              <a:buNone/>
            </a:pPr>
            <a:r>
              <a:rPr b="1" i="0" lang="es-ES" sz="1400" u="none" cap="none" strike="noStrike">
                <a:solidFill>
                  <a:srgbClr val="1F85A6"/>
                </a:solidFill>
                <a:latin typeface="Calibri"/>
                <a:ea typeface="Calibri"/>
                <a:cs typeface="Calibri"/>
                <a:sym typeface="Calibri"/>
              </a:rPr>
              <a:t>UNIDAD DE APRENDIZAJE 2 – UA2</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2"/>
          <p:cNvSpPr/>
          <p:nvPr/>
        </p:nvSpPr>
        <p:spPr>
          <a:xfrm>
            <a:off x="407875" y="320830"/>
            <a:ext cx="7204493" cy="3539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38AD7"/>
              </a:buClr>
              <a:buSzPts val="1700"/>
              <a:buFont typeface="Calibri"/>
              <a:buNone/>
            </a:pPr>
            <a:r>
              <a:rPr b="0" i="0" lang="es-ES" sz="1700" u="none" cap="none" strike="noStrike">
                <a:solidFill>
                  <a:srgbClr val="438AD7"/>
                </a:solidFill>
                <a:latin typeface="Calibri"/>
                <a:ea typeface="Calibri"/>
                <a:cs typeface="Calibri"/>
                <a:sym typeface="Calibri"/>
              </a:rPr>
              <a:t>/ INTRODUCCIÓN</a:t>
            </a:r>
            <a:endParaRPr b="0" i="0" sz="1800" u="none" cap="none" strike="noStrike">
              <a:solidFill>
                <a:schemeClr val="dk1"/>
              </a:solidFill>
              <a:latin typeface="Calibri"/>
              <a:ea typeface="Calibri"/>
              <a:cs typeface="Calibri"/>
              <a:sym typeface="Calibri"/>
            </a:endParaRPr>
          </a:p>
        </p:txBody>
      </p:sp>
      <p:sp>
        <p:nvSpPr>
          <p:cNvPr id="72" name="Google Shape;72;p2"/>
          <p:cNvSpPr txBox="1"/>
          <p:nvPr/>
        </p:nvSpPr>
        <p:spPr>
          <a:xfrm>
            <a:off x="571679" y="909277"/>
            <a:ext cx="7784512" cy="356393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El diagrama de casos de uso es una forma de diagrama de comportamiento en UML, con la que se representan procesos empresariales, así como sistemas y procesos de programación orientada a objetos.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Entonces, durante esta sesión:</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600"/>
              </a:spcBef>
              <a:spcAft>
                <a:spcPts val="0"/>
              </a:spcAft>
              <a:buClr>
                <a:srgbClr val="000000"/>
              </a:buClr>
              <a:buSzPts val="1600"/>
              <a:buFont typeface="Arial"/>
              <a:buNone/>
            </a:pPr>
            <a:r>
              <a:rPr b="1" i="0" lang="es-ES" sz="1600" u="none" cap="none" strike="noStrike">
                <a:solidFill>
                  <a:schemeClr val="dk1"/>
                </a:solidFill>
                <a:latin typeface="Calibri"/>
                <a:ea typeface="Calibri"/>
                <a:cs typeface="Calibri"/>
                <a:sym typeface="Calibri"/>
              </a:rPr>
              <a:t>Comprenderás</a:t>
            </a:r>
            <a:r>
              <a:rPr b="0" i="0" lang="es-ES" sz="1600" u="none" cap="none" strike="noStrike">
                <a:solidFill>
                  <a:schemeClr val="dk1"/>
                </a:solidFill>
                <a:latin typeface="Calibri"/>
                <a:ea typeface="Calibri"/>
                <a:cs typeface="Calibri"/>
                <a:sym typeface="Calibri"/>
              </a:rPr>
              <a:t> las principales definiciones relacionadas al diagrama de casos de uso.</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600"/>
              </a:spcBef>
              <a:spcAft>
                <a:spcPts val="0"/>
              </a:spcAft>
              <a:buClr>
                <a:srgbClr val="000000"/>
              </a:buClr>
              <a:buSzPts val="1600"/>
              <a:buFont typeface="Arial"/>
              <a:buNone/>
            </a:pPr>
            <a:r>
              <a:rPr b="1" i="0" lang="es-ES" sz="1600" u="none" cap="none" strike="noStrike">
                <a:solidFill>
                  <a:schemeClr val="dk1"/>
                </a:solidFill>
                <a:latin typeface="Calibri"/>
                <a:ea typeface="Calibri"/>
                <a:cs typeface="Calibri"/>
                <a:sym typeface="Calibri"/>
              </a:rPr>
              <a:t>Aprenderás</a:t>
            </a:r>
            <a:r>
              <a:rPr b="0" i="0" lang="es-ES" sz="1600" u="none" cap="none" strike="noStrike">
                <a:solidFill>
                  <a:schemeClr val="dk1"/>
                </a:solidFill>
                <a:latin typeface="Calibri"/>
                <a:ea typeface="Calibri"/>
                <a:cs typeface="Calibri"/>
                <a:sym typeface="Calibri"/>
              </a:rPr>
              <a:t> a definir Casos de uso para el análisis de sistemas de información.</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600"/>
              </a:spcBef>
              <a:spcAft>
                <a:spcPts val="0"/>
              </a:spcAft>
              <a:buClr>
                <a:srgbClr val="000000"/>
              </a:buClr>
              <a:buSzPts val="1600"/>
              <a:buFont typeface="Arial"/>
              <a:buNone/>
            </a:pPr>
            <a:r>
              <a:rPr b="1" i="0" lang="es-ES" sz="1600" u="none" cap="none" strike="noStrike">
                <a:solidFill>
                  <a:schemeClr val="dk1"/>
                </a:solidFill>
                <a:latin typeface="Calibri"/>
                <a:ea typeface="Calibri"/>
                <a:cs typeface="Calibri"/>
                <a:sym typeface="Calibri"/>
              </a:rPr>
              <a:t>Aprenderás</a:t>
            </a:r>
            <a:r>
              <a:rPr b="0" i="0" lang="es-ES" sz="1600" u="none" cap="none" strike="noStrike">
                <a:solidFill>
                  <a:schemeClr val="dk1"/>
                </a:solidFill>
                <a:latin typeface="Calibri"/>
                <a:ea typeface="Calibri"/>
                <a:cs typeface="Calibri"/>
                <a:sym typeface="Calibri"/>
              </a:rPr>
              <a:t> a utilizar la Generalización de casos de uso.</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600"/>
              </a:spcBef>
              <a:spcAft>
                <a:spcPts val="0"/>
              </a:spcAft>
              <a:buClr>
                <a:srgbClr val="000000"/>
              </a:buClr>
              <a:buSzPts val="1600"/>
              <a:buFont typeface="Arial"/>
              <a:buNone/>
            </a:pPr>
            <a:r>
              <a:rPr b="1" i="0" lang="es-ES" sz="1600" u="none" cap="none" strike="noStrike">
                <a:solidFill>
                  <a:schemeClr val="dk1"/>
                </a:solidFill>
                <a:latin typeface="Calibri"/>
                <a:ea typeface="Calibri"/>
                <a:cs typeface="Calibri"/>
                <a:sym typeface="Calibri"/>
              </a:rPr>
              <a:t>Comprenderás </a:t>
            </a:r>
            <a:r>
              <a:rPr b="0" i="0" lang="es-ES" sz="1600" u="none" cap="none" strike="noStrike">
                <a:solidFill>
                  <a:schemeClr val="dk1"/>
                </a:solidFill>
                <a:latin typeface="Calibri"/>
                <a:ea typeface="Calibri"/>
                <a:cs typeface="Calibri"/>
                <a:sym typeface="Calibri"/>
              </a:rPr>
              <a:t>el alcance de utilizar Inclusiones y extensiones en los diagramas CU.</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600"/>
              </a:spcBef>
              <a:spcAft>
                <a:spcPts val="0"/>
              </a:spcAft>
              <a:buClr>
                <a:srgbClr val="000000"/>
              </a:buClr>
              <a:buSzPts val="1600"/>
              <a:buFont typeface="Arial"/>
              <a:buNone/>
            </a:pPr>
            <a:r>
              <a:rPr b="1" i="0" lang="es-ES" sz="1600" u="none" cap="none" strike="noStrike">
                <a:solidFill>
                  <a:schemeClr val="dk1"/>
                </a:solidFill>
                <a:latin typeface="Calibri"/>
                <a:ea typeface="Calibri"/>
                <a:cs typeface="Calibri"/>
                <a:sym typeface="Calibri"/>
              </a:rPr>
              <a:t>Aprenderás</a:t>
            </a:r>
            <a:r>
              <a:rPr b="0" i="0" lang="es-ES" sz="1600" u="none" cap="none" strike="noStrike">
                <a:solidFill>
                  <a:schemeClr val="dk1"/>
                </a:solidFill>
                <a:latin typeface="Calibri"/>
                <a:ea typeface="Calibri"/>
                <a:cs typeface="Calibri"/>
                <a:sym typeface="Calibri"/>
              </a:rPr>
              <a:t> a elaborar Diagrama de casos de uso.</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1200"/>
              </a:spcBef>
              <a:spcAft>
                <a:spcPts val="60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3"/>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79" name="Google Shape;79;p3"/>
          <p:cNvSpPr/>
          <p:nvPr/>
        </p:nvSpPr>
        <p:spPr>
          <a:xfrm>
            <a:off x="424252" y="3703125"/>
            <a:ext cx="7966170" cy="523180"/>
          </a:xfrm>
          <a:prstGeom prst="rect">
            <a:avLst/>
          </a:prstGeom>
          <a:noFill/>
          <a:ln>
            <a:noFill/>
          </a:ln>
        </p:spPr>
        <p:txBody>
          <a:bodyPr anchorCtr="0" anchor="t" bIns="45700" lIns="91425" spcFirstLastPara="1" rIns="91425" wrap="square" tIns="45700">
            <a:spAutoFit/>
          </a:bodyPr>
          <a:lstStyle/>
          <a:p>
            <a:pPr indent="-274638" lvl="0" marL="274638" marR="0" rtl="0" algn="l">
              <a:lnSpc>
                <a:spcPct val="100000"/>
              </a:lnSpc>
              <a:spcBef>
                <a:spcPts val="0"/>
              </a:spcBef>
              <a:spcAft>
                <a:spcPts val="0"/>
              </a:spcAft>
              <a:buClr>
                <a:srgbClr val="000000"/>
              </a:buClr>
              <a:buSzPts val="2800"/>
              <a:buFont typeface="Arial"/>
              <a:buNone/>
            </a:pPr>
            <a:r>
              <a:rPr b="1" i="0" lang="es-ES" sz="2800" u="none" cap="none" strike="noStrike">
                <a:solidFill>
                  <a:schemeClr val="lt1"/>
                </a:solidFill>
                <a:latin typeface="Calibri"/>
                <a:ea typeface="Calibri"/>
                <a:cs typeface="Calibri"/>
                <a:sym typeface="Calibri"/>
              </a:rPr>
              <a:t>/ </a:t>
            </a:r>
            <a:r>
              <a:rPr b="0" i="0" lang="es-ES" sz="2800" u="none" cap="none" strike="noStrike">
                <a:solidFill>
                  <a:schemeClr val="dk1"/>
                </a:solidFill>
                <a:latin typeface="Calibri"/>
                <a:ea typeface="Calibri"/>
                <a:cs typeface="Calibri"/>
                <a:sym typeface="Calibri"/>
              </a:rPr>
              <a:t>	</a:t>
            </a:r>
            <a:r>
              <a:rPr b="1" i="0" lang="es-ES" sz="2800" u="none" cap="none" strike="noStrike">
                <a:solidFill>
                  <a:schemeClr val="lt1"/>
                </a:solidFill>
                <a:latin typeface="Calibri"/>
                <a:ea typeface="Calibri"/>
                <a:cs typeface="Calibri"/>
                <a:sym typeface="Calibri"/>
              </a:rPr>
              <a:t>DEFINICIONES</a:t>
            </a:r>
            <a:endParaRPr b="1" i="0" sz="1600" u="none" cap="none" strike="noStrike">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4"/>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SISTEMA DE SOFTWARE</a:t>
            </a:r>
            <a:endParaRPr/>
          </a:p>
        </p:txBody>
      </p:sp>
      <p:sp>
        <p:nvSpPr>
          <p:cNvPr id="86" name="Google Shape;86;p4"/>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DEFINICIONES</a:t>
            </a:r>
            <a:endParaRPr/>
          </a:p>
        </p:txBody>
      </p:sp>
      <p:sp>
        <p:nvSpPr>
          <p:cNvPr id="87" name="Google Shape;87;p4"/>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Un sistema de software es un conjunto de componentes interconectados que trabajan juntos para lograr un objetivo específico; usualmente incluye código, bases de datos, servidores y otros recursos.</a:t>
            </a:r>
            <a:endParaRPr/>
          </a:p>
          <a:p>
            <a:pPr indent="-266700" lvl="0" marL="266700" rtl="0" algn="l">
              <a:lnSpc>
                <a:spcPct val="100000"/>
              </a:lnSpc>
              <a:spcBef>
                <a:spcPts val="1200"/>
              </a:spcBef>
              <a:spcAft>
                <a:spcPts val="0"/>
              </a:spcAft>
              <a:buClr>
                <a:schemeClr val="dk1"/>
              </a:buClr>
              <a:buSzPts val="1200"/>
              <a:buChar char="❑"/>
            </a:pPr>
            <a:r>
              <a:rPr lang="es-ES"/>
              <a:t>Por ejemplo, un sitio web de comercio electrónico que permite a los usuarios buscar productos, añadirlos al carrito, realizar pagos y seguir el estado de sus pedidos.</a:t>
            </a:r>
            <a:endParaRPr/>
          </a:p>
        </p:txBody>
      </p:sp>
      <p:pic>
        <p:nvPicPr>
          <p:cNvPr id="88" name="Google Shape;88;p4"/>
          <p:cNvPicPr preferRelativeResize="0"/>
          <p:nvPr>
            <p:ph idx="2" type="pic"/>
          </p:nvPr>
        </p:nvPicPr>
        <p:blipFill rotWithShape="1">
          <a:blip r:embed="rId3">
            <a:alphaModFix/>
          </a:blip>
          <a:srcRect b="278" l="0" r="0" t="278"/>
          <a:stretch/>
        </p:blipFill>
        <p:spPr>
          <a:xfrm>
            <a:off x="5099522" y="1163638"/>
            <a:ext cx="3276907" cy="356411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5"/>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REQUISITOS</a:t>
            </a:r>
            <a:endParaRPr/>
          </a:p>
        </p:txBody>
      </p:sp>
      <p:sp>
        <p:nvSpPr>
          <p:cNvPr id="95" name="Google Shape;95;p5"/>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DEFINICIONES</a:t>
            </a:r>
            <a:endParaRPr/>
          </a:p>
        </p:txBody>
      </p:sp>
      <p:sp>
        <p:nvSpPr>
          <p:cNvPr id="96" name="Google Shape;96;p5"/>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Los requisitos son las necesidades o condiciones que un sistema de software debe cumplir; fundamentalmente se clasifican en funcionales (qué debe hacer el sistema) y no funcionales (cómo debe hacerlo, como rendimiento, seguridad, etc.).</a:t>
            </a:r>
            <a:endParaRPr/>
          </a:p>
          <a:p>
            <a:pPr indent="-266700" lvl="0" marL="266700" rtl="0" algn="l">
              <a:lnSpc>
                <a:spcPct val="100000"/>
              </a:lnSpc>
              <a:spcBef>
                <a:spcPts val="1200"/>
              </a:spcBef>
              <a:spcAft>
                <a:spcPts val="0"/>
              </a:spcAft>
              <a:buClr>
                <a:schemeClr val="dk1"/>
              </a:buClr>
              <a:buSzPts val="1200"/>
              <a:buChar char="❑"/>
            </a:pPr>
            <a:r>
              <a:rPr lang="es-ES"/>
              <a:t>Por ejemplo, un requisito funcional podría ser “el sistema debe permitir a los usuarios registrarse e iniciar sesión”, un requisito no funcional sería “el sistema debe ser capaz de manejar al menos 10,000 usuarios concurrentes”.</a:t>
            </a:r>
            <a:endParaRPr/>
          </a:p>
        </p:txBody>
      </p:sp>
      <p:pic>
        <p:nvPicPr>
          <p:cNvPr id="97" name="Google Shape;97;p5"/>
          <p:cNvPicPr preferRelativeResize="0"/>
          <p:nvPr>
            <p:ph idx="2" type="pic"/>
          </p:nvPr>
        </p:nvPicPr>
        <p:blipFill rotWithShape="1">
          <a:blip r:embed="rId3">
            <a:alphaModFix/>
          </a:blip>
          <a:srcRect b="374" l="0" r="0" t="372"/>
          <a:stretch/>
        </p:blipFill>
        <p:spPr>
          <a:xfrm>
            <a:off x="5169770" y="1000627"/>
            <a:ext cx="3414478" cy="371374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6"/>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ANÁLISIS DE REQUISITOS</a:t>
            </a:r>
            <a:endParaRPr/>
          </a:p>
        </p:txBody>
      </p:sp>
      <p:sp>
        <p:nvSpPr>
          <p:cNvPr id="104" name="Google Shape;104;p6"/>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DEFINICIONES</a:t>
            </a:r>
            <a:endParaRPr/>
          </a:p>
        </p:txBody>
      </p:sp>
      <p:sp>
        <p:nvSpPr>
          <p:cNvPr id="105" name="Google Shape;105;p6"/>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Es el proceso de recopilar, analizar y documentar los requisitos del sistema. Este es un paso crucial para asegurarse de que el sistema final cumpla con las expectativas del usuario y del negocio.</a:t>
            </a:r>
            <a:endParaRPr/>
          </a:p>
          <a:p>
            <a:pPr indent="-266700" lvl="0" marL="266700" rtl="0" algn="l">
              <a:lnSpc>
                <a:spcPct val="100000"/>
              </a:lnSpc>
              <a:spcBef>
                <a:spcPts val="1200"/>
              </a:spcBef>
              <a:spcAft>
                <a:spcPts val="0"/>
              </a:spcAft>
              <a:buClr>
                <a:schemeClr val="dk1"/>
              </a:buClr>
              <a:buSzPts val="1200"/>
              <a:buChar char="❑"/>
            </a:pPr>
            <a:r>
              <a:rPr lang="es-ES"/>
              <a:t>Por ejemplo, realizar encuestas y entrevistas con posibles usuarios para entender qué características son más importantes para ellos, como la velocidad de carga de la página o la facilidad para encontrar productos.</a:t>
            </a:r>
            <a:endParaRPr/>
          </a:p>
        </p:txBody>
      </p:sp>
      <p:pic>
        <p:nvPicPr>
          <p:cNvPr id="106" name="Google Shape;106;p6"/>
          <p:cNvPicPr preferRelativeResize="0"/>
          <p:nvPr>
            <p:ph idx="2" type="pic"/>
          </p:nvPr>
        </p:nvPicPr>
        <p:blipFill rotWithShape="1">
          <a:blip r:embed="rId3">
            <a:alphaModFix/>
          </a:blip>
          <a:srcRect b="374" l="0" r="0" t="372"/>
          <a:stretch/>
        </p:blipFill>
        <p:spPr>
          <a:xfrm>
            <a:off x="5151409" y="986632"/>
            <a:ext cx="3299835" cy="358905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7"/>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MODELADO</a:t>
            </a:r>
            <a:endParaRPr/>
          </a:p>
        </p:txBody>
      </p:sp>
      <p:sp>
        <p:nvSpPr>
          <p:cNvPr id="113" name="Google Shape;113;p7"/>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DEFINICIONES</a:t>
            </a:r>
            <a:endParaRPr/>
          </a:p>
        </p:txBody>
      </p:sp>
      <p:sp>
        <p:nvSpPr>
          <p:cNvPr id="114" name="Google Shape;114;p7"/>
          <p:cNvSpPr txBox="1"/>
          <p:nvPr>
            <p:ph idx="4" type="body"/>
          </p:nvPr>
        </p:nvSpPr>
        <p:spPr>
          <a:xfrm>
            <a:off x="908888" y="1177927"/>
            <a:ext cx="3596611"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El modelado es la representación gráfica o textual de los aspectos del sistema e incluye diagramas de flujo, diagramas de clases, diagramas de secuencia, entre otros.</a:t>
            </a:r>
            <a:endParaRPr/>
          </a:p>
          <a:p>
            <a:pPr indent="-266700" lvl="0" marL="266700" rtl="0" algn="l">
              <a:lnSpc>
                <a:spcPct val="100000"/>
              </a:lnSpc>
              <a:spcBef>
                <a:spcPts val="1200"/>
              </a:spcBef>
              <a:spcAft>
                <a:spcPts val="0"/>
              </a:spcAft>
              <a:buClr>
                <a:schemeClr val="dk1"/>
              </a:buClr>
              <a:buSzPts val="1200"/>
              <a:buChar char="❑"/>
            </a:pPr>
            <a:r>
              <a:rPr lang="es-ES"/>
              <a:t>Por ejemplo, utilizar un diagrama de clases para representar las entidades del sistema como “Usuario”, “Producto”, “Carrito de Compras”, etc.</a:t>
            </a:r>
            <a:endParaRPr/>
          </a:p>
        </p:txBody>
      </p:sp>
      <p:pic>
        <p:nvPicPr>
          <p:cNvPr id="115" name="Google Shape;115;p7"/>
          <p:cNvPicPr preferRelativeResize="0"/>
          <p:nvPr>
            <p:ph idx="2" type="pic"/>
          </p:nvPr>
        </p:nvPicPr>
        <p:blipFill rotWithShape="1">
          <a:blip r:embed="rId3">
            <a:alphaModFix/>
          </a:blip>
          <a:srcRect b="374" l="0" r="0" t="372"/>
          <a:stretch/>
        </p:blipFill>
        <p:spPr>
          <a:xfrm>
            <a:off x="5079076" y="1171425"/>
            <a:ext cx="3276907" cy="356411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8"/>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ARQUITECTURA DE SOFTWARE</a:t>
            </a:r>
            <a:endParaRPr/>
          </a:p>
        </p:txBody>
      </p:sp>
      <p:sp>
        <p:nvSpPr>
          <p:cNvPr id="122" name="Google Shape;122;p8"/>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DEFINICIONES</a:t>
            </a:r>
            <a:endParaRPr/>
          </a:p>
        </p:txBody>
      </p:sp>
      <p:sp>
        <p:nvSpPr>
          <p:cNvPr id="123" name="Google Shape;123;p8"/>
          <p:cNvSpPr txBox="1"/>
          <p:nvPr>
            <p:ph idx="4" type="body"/>
          </p:nvPr>
        </p:nvSpPr>
        <p:spPr>
          <a:xfrm>
            <a:off x="1016953" y="1336676"/>
            <a:ext cx="3555047" cy="372856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Es la estructura de alto nivel del sistema, que define cómo se organizan y se interconectan los diferentes componentes.</a:t>
            </a:r>
            <a:endParaRPr/>
          </a:p>
          <a:p>
            <a:pPr indent="-266700" lvl="0" marL="266700" rtl="0" algn="l">
              <a:lnSpc>
                <a:spcPct val="100000"/>
              </a:lnSpc>
              <a:spcBef>
                <a:spcPts val="1200"/>
              </a:spcBef>
              <a:spcAft>
                <a:spcPts val="0"/>
              </a:spcAft>
              <a:buClr>
                <a:schemeClr val="dk1"/>
              </a:buClr>
              <a:buSzPts val="1200"/>
              <a:buChar char="❑"/>
            </a:pPr>
            <a:r>
              <a:rPr lang="es-ES"/>
              <a:t>Por ejemplo, decidir que el sistema utilizará una arquitectura de microservicios, donde diferentes servicios como “Gestión de Usuarios”, “Gestión de Productos” y “Procesamiento de Pagos” funcionan de manera independiente.</a:t>
            </a:r>
            <a:endParaRPr/>
          </a:p>
        </p:txBody>
      </p:sp>
      <p:pic>
        <p:nvPicPr>
          <p:cNvPr id="124" name="Google Shape;124;p8"/>
          <p:cNvPicPr preferRelativeResize="0"/>
          <p:nvPr>
            <p:ph idx="2" type="pic"/>
          </p:nvPr>
        </p:nvPicPr>
        <p:blipFill rotWithShape="1">
          <a:blip r:embed="rId3">
            <a:alphaModFix/>
          </a:blip>
          <a:srcRect b="374" l="0" r="0" t="372"/>
          <a:stretch/>
        </p:blipFill>
        <p:spPr>
          <a:xfrm>
            <a:off x="4796444" y="1263513"/>
            <a:ext cx="3555048" cy="386663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id="130" name="Google Shape;130;p9"/>
          <p:cNvPicPr preferRelativeResize="0"/>
          <p:nvPr>
            <p:ph idx="2" type="pic"/>
          </p:nvPr>
        </p:nvPicPr>
        <p:blipFill rotWithShape="1">
          <a:blip r:embed="rId3">
            <a:alphaModFix/>
          </a:blip>
          <a:srcRect b="480" l="0" r="0" t="480"/>
          <a:stretch/>
        </p:blipFill>
        <p:spPr>
          <a:xfrm>
            <a:off x="4671753" y="1129072"/>
            <a:ext cx="3638174" cy="3957047"/>
          </a:xfrm>
          <a:prstGeom prst="rect">
            <a:avLst/>
          </a:prstGeom>
          <a:noFill/>
          <a:ln>
            <a:noFill/>
          </a:ln>
        </p:spPr>
      </p:pic>
      <p:sp>
        <p:nvSpPr>
          <p:cNvPr id="131" name="Google Shape;131;p9"/>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PRUEBAS</a:t>
            </a:r>
            <a:endParaRPr/>
          </a:p>
        </p:txBody>
      </p:sp>
      <p:sp>
        <p:nvSpPr>
          <p:cNvPr id="132" name="Google Shape;132;p9"/>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DEFINICIONES</a:t>
            </a:r>
            <a:endParaRPr/>
          </a:p>
        </p:txBody>
      </p:sp>
      <p:sp>
        <p:nvSpPr>
          <p:cNvPr id="133" name="Google Shape;133;p9"/>
          <p:cNvSpPr txBox="1"/>
          <p:nvPr>
            <p:ph idx="4" type="body"/>
          </p:nvPr>
        </p:nvSpPr>
        <p:spPr>
          <a:xfrm>
            <a:off x="933826" y="1309818"/>
            <a:ext cx="3638174" cy="3595556"/>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Las pruebas son esenciales para validar que el sistema cumple con los requisitos y para identificar posibles defectos. Se pueden realizar pruebas unitarias, de integración, de sistema, entre otras.</a:t>
            </a:r>
            <a:endParaRPr/>
          </a:p>
          <a:p>
            <a:pPr indent="-266700" lvl="0" marL="266700" rtl="0" algn="l">
              <a:lnSpc>
                <a:spcPct val="100000"/>
              </a:lnSpc>
              <a:spcBef>
                <a:spcPts val="1200"/>
              </a:spcBef>
              <a:spcAft>
                <a:spcPts val="0"/>
              </a:spcAft>
              <a:buClr>
                <a:schemeClr val="dk1"/>
              </a:buClr>
              <a:buSzPts val="1200"/>
              <a:buChar char="❑"/>
            </a:pPr>
            <a:r>
              <a:rPr lang="es-ES"/>
              <a:t>Por ejemplo, realizar pruebas de carga para asegurarse de que el sistema pueda manejar un gran número de usuarios durante eventos de ventas especiales como el “Black Friday”.</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p10"/>
          <p:cNvPicPr preferRelativeResize="0"/>
          <p:nvPr>
            <p:ph idx="2" type="pic"/>
          </p:nvPr>
        </p:nvPicPr>
        <p:blipFill rotWithShape="1">
          <a:blip r:embed="rId3">
            <a:alphaModFix/>
          </a:blip>
          <a:srcRect b="374" l="0" r="0" t="372"/>
          <a:stretch/>
        </p:blipFill>
        <p:spPr>
          <a:xfrm>
            <a:off x="4713316" y="1147235"/>
            <a:ext cx="3455294" cy="3758139"/>
          </a:xfrm>
          <a:prstGeom prst="rect">
            <a:avLst/>
          </a:prstGeom>
          <a:noFill/>
          <a:ln>
            <a:noFill/>
          </a:ln>
        </p:spPr>
      </p:pic>
      <p:sp>
        <p:nvSpPr>
          <p:cNvPr id="140" name="Google Shape;140;p10"/>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MANTENIMIENTO</a:t>
            </a:r>
            <a:endParaRPr/>
          </a:p>
        </p:txBody>
      </p:sp>
      <p:sp>
        <p:nvSpPr>
          <p:cNvPr id="141" name="Google Shape;141;p10"/>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DEFINICIONES</a:t>
            </a:r>
            <a:endParaRPr/>
          </a:p>
        </p:txBody>
      </p:sp>
      <p:sp>
        <p:nvSpPr>
          <p:cNvPr id="142" name="Google Shape;142;p10"/>
          <p:cNvSpPr txBox="1"/>
          <p:nvPr>
            <p:ph idx="4" type="body"/>
          </p:nvPr>
        </p:nvSpPr>
        <p:spPr>
          <a:xfrm>
            <a:off x="1116706" y="1259942"/>
            <a:ext cx="3455294" cy="3645432"/>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Una vez desplegado, el sistema requerirá actualizaciones, correcciones y mejoras, lo cual se conoce como mantenimiento de software.</a:t>
            </a:r>
            <a:endParaRPr/>
          </a:p>
          <a:p>
            <a:pPr indent="-266700" lvl="0" marL="266700" rtl="0" algn="l">
              <a:lnSpc>
                <a:spcPct val="100000"/>
              </a:lnSpc>
              <a:spcBef>
                <a:spcPts val="1200"/>
              </a:spcBef>
              <a:spcAft>
                <a:spcPts val="0"/>
              </a:spcAft>
              <a:buClr>
                <a:schemeClr val="dk1"/>
              </a:buClr>
              <a:buSzPts val="1200"/>
              <a:buChar char="❑"/>
            </a:pPr>
            <a:r>
              <a:rPr lang="es-ES"/>
              <a:t>Por ejemplo, después del lanzamiento, se detecta que la función de búsqueda podría ser más rápida. Se realiza una actualización para mejorar este aspecto.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11"/>
          <p:cNvPicPr preferRelativeResize="0"/>
          <p:nvPr>
            <p:ph idx="2" type="pic"/>
          </p:nvPr>
        </p:nvPicPr>
        <p:blipFill rotWithShape="1">
          <a:blip r:embed="rId3">
            <a:alphaModFix/>
          </a:blip>
          <a:srcRect b="24" l="0" r="0" t="26"/>
          <a:stretch/>
        </p:blipFill>
        <p:spPr>
          <a:xfrm>
            <a:off x="4696690" y="1038739"/>
            <a:ext cx="3555047" cy="3866635"/>
          </a:xfrm>
          <a:prstGeom prst="rect">
            <a:avLst/>
          </a:prstGeom>
          <a:noFill/>
          <a:ln>
            <a:noFill/>
          </a:ln>
        </p:spPr>
      </p:pic>
      <p:sp>
        <p:nvSpPr>
          <p:cNvPr id="149" name="Google Shape;149;p11"/>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DOCUMENTACIÓN</a:t>
            </a:r>
            <a:endParaRPr/>
          </a:p>
        </p:txBody>
      </p:sp>
      <p:sp>
        <p:nvSpPr>
          <p:cNvPr id="150" name="Google Shape;150;p11"/>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DEFINICIONES</a:t>
            </a:r>
            <a:endParaRPr/>
          </a:p>
        </p:txBody>
      </p:sp>
      <p:sp>
        <p:nvSpPr>
          <p:cNvPr id="151" name="Google Shape;151;p11"/>
          <p:cNvSpPr txBox="1"/>
          <p:nvPr>
            <p:ph idx="4" type="body"/>
          </p:nvPr>
        </p:nvSpPr>
        <p:spPr>
          <a:xfrm>
            <a:off x="1016953" y="1318131"/>
            <a:ext cx="3555047" cy="3587243"/>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La documentación es vital para entender cómo funciona el sistema, cómo mantenerlo y cómo escalarlo. Puede incluir manuales de usuario, documentación técnica, comentarios en el código, etc.</a:t>
            </a:r>
            <a:endParaRPr/>
          </a:p>
          <a:p>
            <a:pPr indent="-266700" lvl="0" marL="266700" rtl="0" algn="l">
              <a:lnSpc>
                <a:spcPct val="100000"/>
              </a:lnSpc>
              <a:spcBef>
                <a:spcPts val="1200"/>
              </a:spcBef>
              <a:spcAft>
                <a:spcPts val="0"/>
              </a:spcAft>
              <a:buClr>
                <a:schemeClr val="dk1"/>
              </a:buClr>
              <a:buSzPts val="1200"/>
              <a:buChar char="❑"/>
            </a:pPr>
            <a:r>
              <a:rPr lang="es-ES"/>
              <a:t>Por ejemplo, crear un manual de usuario que explique cómo realizar compras, y documentación técnica que detalle cómo añadir nuevos microservicios al sistema.</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pic>
        <p:nvPicPr>
          <p:cNvPr id="157" name="Google Shape;157;p12"/>
          <p:cNvPicPr preferRelativeResize="0"/>
          <p:nvPr>
            <p:ph idx="2" type="pic"/>
          </p:nvPr>
        </p:nvPicPr>
        <p:blipFill rotWithShape="1">
          <a:blip r:embed="rId3">
            <a:alphaModFix/>
          </a:blip>
          <a:srcRect b="54" l="0" r="0" t="52"/>
          <a:stretch/>
        </p:blipFill>
        <p:spPr>
          <a:xfrm>
            <a:off x="4887882" y="1208594"/>
            <a:ext cx="3305667" cy="3595397"/>
          </a:xfrm>
          <a:prstGeom prst="rect">
            <a:avLst/>
          </a:prstGeom>
          <a:noFill/>
          <a:ln>
            <a:noFill/>
          </a:ln>
        </p:spPr>
      </p:pic>
      <p:sp>
        <p:nvSpPr>
          <p:cNvPr id="158" name="Google Shape;158;p12"/>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STAKEHOLDERS</a:t>
            </a:r>
            <a:endParaRPr/>
          </a:p>
        </p:txBody>
      </p:sp>
      <p:sp>
        <p:nvSpPr>
          <p:cNvPr id="159" name="Google Shape;159;p12"/>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DEFINICIONES</a:t>
            </a:r>
            <a:endParaRPr/>
          </a:p>
        </p:txBody>
      </p:sp>
      <p:sp>
        <p:nvSpPr>
          <p:cNvPr id="160" name="Google Shape;160;p12"/>
          <p:cNvSpPr txBox="1"/>
          <p:nvPr>
            <p:ph idx="4" type="body"/>
          </p:nvPr>
        </p:nvSpPr>
        <p:spPr>
          <a:xfrm>
            <a:off x="1050205" y="1341439"/>
            <a:ext cx="3604922" cy="3462552"/>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Son todas las personas o entidades interesadas en el proyecto, desde desarrolladores y gerentes de proyecto hasta usuarios finales y patrocinadores.</a:t>
            </a:r>
            <a:endParaRPr/>
          </a:p>
          <a:p>
            <a:pPr indent="-266700" lvl="0" marL="266700" rtl="0" algn="l">
              <a:lnSpc>
                <a:spcPct val="100000"/>
              </a:lnSpc>
              <a:spcBef>
                <a:spcPts val="1200"/>
              </a:spcBef>
              <a:spcAft>
                <a:spcPts val="0"/>
              </a:spcAft>
              <a:buClr>
                <a:schemeClr val="dk1"/>
              </a:buClr>
              <a:buSzPts val="1200"/>
              <a:buChar char="❑"/>
            </a:pPr>
            <a:r>
              <a:rPr lang="es-ES"/>
              <a:t>Por ejemplo, incluye desde el equipo de desarrollo y el gerente del proyecto hasta los inversores y, por supuesto, los usuarios finales que realizarán compras en el sitio.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3"/>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167" name="Google Shape;167;p13"/>
          <p:cNvSpPr/>
          <p:nvPr/>
        </p:nvSpPr>
        <p:spPr>
          <a:xfrm>
            <a:off x="424252" y="3703125"/>
            <a:ext cx="7966170" cy="523180"/>
          </a:xfrm>
          <a:prstGeom prst="rect">
            <a:avLst/>
          </a:prstGeom>
          <a:noFill/>
          <a:ln>
            <a:noFill/>
          </a:ln>
        </p:spPr>
        <p:txBody>
          <a:bodyPr anchorCtr="0" anchor="t" bIns="45700" lIns="91425" spcFirstLastPara="1" rIns="91425" wrap="square" tIns="45700">
            <a:spAutoFit/>
          </a:bodyPr>
          <a:lstStyle/>
          <a:p>
            <a:pPr indent="-274638" lvl="0" marL="274638" marR="0" rtl="0" algn="l">
              <a:lnSpc>
                <a:spcPct val="100000"/>
              </a:lnSpc>
              <a:spcBef>
                <a:spcPts val="0"/>
              </a:spcBef>
              <a:spcAft>
                <a:spcPts val="0"/>
              </a:spcAft>
              <a:buClr>
                <a:srgbClr val="000000"/>
              </a:buClr>
              <a:buSzPts val="2800"/>
              <a:buFont typeface="Arial"/>
              <a:buNone/>
            </a:pPr>
            <a:r>
              <a:rPr b="1" i="0" lang="es-ES" sz="2800" u="none" cap="none" strike="noStrike">
                <a:solidFill>
                  <a:schemeClr val="lt1"/>
                </a:solidFill>
                <a:latin typeface="Calibri"/>
                <a:ea typeface="Calibri"/>
                <a:cs typeface="Calibri"/>
                <a:sym typeface="Calibri"/>
              </a:rPr>
              <a:t>/	CASO DE USO</a:t>
            </a:r>
            <a:endParaRPr b="1" i="0" sz="2800" u="none" cap="none" strike="noStrike">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pic>
        <p:nvPicPr>
          <p:cNvPr id="173" name="Google Shape;173;p14"/>
          <p:cNvPicPr preferRelativeResize="0"/>
          <p:nvPr>
            <p:ph idx="2" type="pic"/>
          </p:nvPr>
        </p:nvPicPr>
        <p:blipFill rotWithShape="1">
          <a:blip r:embed="rId3">
            <a:alphaModFix/>
          </a:blip>
          <a:srcRect b="374" l="0" r="0" t="372"/>
          <a:stretch/>
        </p:blipFill>
        <p:spPr>
          <a:xfrm>
            <a:off x="5127295" y="1334937"/>
            <a:ext cx="3024692" cy="3289796"/>
          </a:xfrm>
          <a:prstGeom prst="rect">
            <a:avLst/>
          </a:prstGeom>
          <a:noFill/>
          <a:ln>
            <a:noFill/>
          </a:ln>
        </p:spPr>
      </p:pic>
      <p:sp>
        <p:nvSpPr>
          <p:cNvPr id="174" name="Google Shape;174;p14"/>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¿QUÉ ES UN CASO DE USO?</a:t>
            </a:r>
            <a:endParaRPr/>
          </a:p>
        </p:txBody>
      </p:sp>
      <p:sp>
        <p:nvSpPr>
          <p:cNvPr id="175" name="Google Shape;175;p14"/>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CASO DE USO</a:t>
            </a:r>
            <a:endParaRPr b="0">
              <a:solidFill>
                <a:srgbClr val="0070C0"/>
              </a:solidFill>
            </a:endParaRPr>
          </a:p>
        </p:txBody>
      </p:sp>
      <p:sp>
        <p:nvSpPr>
          <p:cNvPr id="176" name="Google Shape;176;p14"/>
          <p:cNvSpPr txBox="1"/>
          <p:nvPr>
            <p:ph idx="4" type="body"/>
          </p:nvPr>
        </p:nvSpPr>
        <p:spPr>
          <a:xfrm>
            <a:off x="692757" y="1274937"/>
            <a:ext cx="3879243" cy="3933288"/>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Son una herramienta para capturar los requisitos funcionales de un sistema.</a:t>
            </a:r>
            <a:endParaRPr/>
          </a:p>
          <a:p>
            <a:pPr indent="-266700" lvl="0" marL="266700" rtl="0" algn="l">
              <a:lnSpc>
                <a:spcPct val="100000"/>
              </a:lnSpc>
              <a:spcBef>
                <a:spcPts val="1200"/>
              </a:spcBef>
              <a:spcAft>
                <a:spcPts val="0"/>
              </a:spcAft>
              <a:buClr>
                <a:schemeClr val="dk1"/>
              </a:buClr>
              <a:buSzPts val="1200"/>
              <a:buChar char="❑"/>
            </a:pPr>
            <a:r>
              <a:rPr lang="es-ES"/>
              <a:t>Son especialmente útiles en las etapas iniciales de un proyecto para entender qué es lo que realmente necesita el usuario y cómo se espera que interactúe con el sistema.</a:t>
            </a:r>
            <a:endParaRPr/>
          </a:p>
          <a:p>
            <a:pPr indent="-266700" lvl="0" marL="266700" rtl="0" algn="l">
              <a:lnSpc>
                <a:spcPct val="100000"/>
              </a:lnSpc>
              <a:spcBef>
                <a:spcPts val="1200"/>
              </a:spcBef>
              <a:spcAft>
                <a:spcPts val="0"/>
              </a:spcAft>
              <a:buClr>
                <a:schemeClr val="dk1"/>
              </a:buClr>
              <a:buSzPts val="1200"/>
              <a:buChar char="❑"/>
            </a:pPr>
            <a:r>
              <a:rPr lang="es-ES"/>
              <a:t>Sirven como un excelente punto de partida para el desarrollo de pruebas y como una forma de documentación que es fácilmente comprensible tanto para los equipos técnicos como para los no técnicos.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15"/>
          <p:cNvPicPr preferRelativeResize="0"/>
          <p:nvPr>
            <p:ph idx="2" type="pic"/>
          </p:nvPr>
        </p:nvPicPr>
        <p:blipFill rotWithShape="1">
          <a:blip r:embed="rId3">
            <a:alphaModFix/>
          </a:blip>
          <a:srcRect b="480" l="0" r="0" t="480"/>
          <a:stretch/>
        </p:blipFill>
        <p:spPr>
          <a:xfrm>
            <a:off x="5070962" y="1046347"/>
            <a:ext cx="3330406" cy="3622305"/>
          </a:xfrm>
          <a:prstGeom prst="rect">
            <a:avLst/>
          </a:prstGeom>
          <a:noFill/>
          <a:ln>
            <a:noFill/>
          </a:ln>
        </p:spPr>
      </p:pic>
      <p:sp>
        <p:nvSpPr>
          <p:cNvPr id="183" name="Google Shape;183;p15"/>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PROPÓSITO</a:t>
            </a:r>
            <a:endParaRPr/>
          </a:p>
        </p:txBody>
      </p:sp>
      <p:sp>
        <p:nvSpPr>
          <p:cNvPr id="184" name="Google Shape;184;p15"/>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CASO DE USO</a:t>
            </a:r>
            <a:endParaRPr b="0">
              <a:solidFill>
                <a:srgbClr val="0070C0"/>
              </a:solidFill>
            </a:endParaRPr>
          </a:p>
        </p:txBody>
      </p:sp>
      <p:sp>
        <p:nvSpPr>
          <p:cNvPr id="185" name="Google Shape;185;p15"/>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El propósito principal de un Caso de Uso es definir qué hará el sistema desde el punto de vista del usuario externo.</a:t>
            </a:r>
            <a:endParaRPr/>
          </a:p>
          <a:p>
            <a:pPr indent="-266700" lvl="0" marL="266700" rtl="0" algn="l">
              <a:lnSpc>
                <a:spcPct val="100000"/>
              </a:lnSpc>
              <a:spcBef>
                <a:spcPts val="1200"/>
              </a:spcBef>
              <a:spcAft>
                <a:spcPts val="0"/>
              </a:spcAft>
              <a:buClr>
                <a:schemeClr val="dk1"/>
              </a:buClr>
              <a:buSzPts val="1200"/>
              <a:buChar char="❑"/>
            </a:pPr>
            <a:r>
              <a:rPr lang="es-ES"/>
              <a:t>Ayuda a:</a:t>
            </a:r>
            <a:endParaRPr/>
          </a:p>
          <a:p>
            <a:pPr indent="-265113" lvl="1" marL="531813" rtl="0" algn="l">
              <a:lnSpc>
                <a:spcPct val="100000"/>
              </a:lnSpc>
              <a:spcBef>
                <a:spcPts val="600"/>
              </a:spcBef>
              <a:spcAft>
                <a:spcPts val="0"/>
              </a:spcAft>
              <a:buClr>
                <a:schemeClr val="dk1"/>
              </a:buClr>
              <a:buSzPts val="1600"/>
              <a:buChar char="→"/>
            </a:pPr>
            <a:r>
              <a:rPr lang="es-ES"/>
              <a:t>Capturar los requisitos funcionales del sistema.</a:t>
            </a:r>
            <a:endParaRPr/>
          </a:p>
          <a:p>
            <a:pPr indent="-265113" lvl="1" marL="531813" rtl="0" algn="l">
              <a:lnSpc>
                <a:spcPct val="100000"/>
              </a:lnSpc>
              <a:spcBef>
                <a:spcPts val="600"/>
              </a:spcBef>
              <a:spcAft>
                <a:spcPts val="0"/>
              </a:spcAft>
              <a:buClr>
                <a:schemeClr val="dk1"/>
              </a:buClr>
              <a:buSzPts val="1600"/>
              <a:buChar char="→"/>
            </a:pPr>
            <a:r>
              <a:rPr lang="es-ES"/>
              <a:t>Entender el contexto y las interacciones del sistema.</a:t>
            </a:r>
            <a:endParaRPr/>
          </a:p>
          <a:p>
            <a:pPr indent="-265113" lvl="1" marL="531813" rtl="0" algn="l">
              <a:lnSpc>
                <a:spcPct val="100000"/>
              </a:lnSpc>
              <a:spcBef>
                <a:spcPts val="600"/>
              </a:spcBef>
              <a:spcAft>
                <a:spcPts val="0"/>
              </a:spcAft>
              <a:buClr>
                <a:schemeClr val="dk1"/>
              </a:buClr>
              <a:buSzPts val="1600"/>
              <a:buChar char="→"/>
            </a:pPr>
            <a:r>
              <a:rPr lang="es-ES"/>
              <a:t>Facilitar la comunicación entre los stakeholders.</a:t>
            </a:r>
            <a:endParaRPr/>
          </a:p>
          <a:p>
            <a:pPr indent="-265113" lvl="1" marL="531813" rtl="0" algn="l">
              <a:lnSpc>
                <a:spcPct val="100000"/>
              </a:lnSpc>
              <a:spcBef>
                <a:spcPts val="600"/>
              </a:spcBef>
              <a:spcAft>
                <a:spcPts val="0"/>
              </a:spcAft>
              <a:buClr>
                <a:schemeClr val="dk1"/>
              </a:buClr>
              <a:buSzPts val="1600"/>
              <a:buChar char="→"/>
            </a:pPr>
            <a:r>
              <a:rPr lang="es-ES"/>
              <a:t>Servir como base para pruebas y documentación.</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6"/>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NOMENCLATURA</a:t>
            </a:r>
            <a:endParaRPr/>
          </a:p>
        </p:txBody>
      </p:sp>
      <p:sp>
        <p:nvSpPr>
          <p:cNvPr id="192" name="Google Shape;192;p16"/>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CASO DE USO</a:t>
            </a:r>
            <a:endParaRPr b="0">
              <a:solidFill>
                <a:srgbClr val="0070C0"/>
              </a:solidFill>
            </a:endParaRPr>
          </a:p>
        </p:txBody>
      </p:sp>
      <p:sp>
        <p:nvSpPr>
          <p:cNvPr id="193" name="Google Shape;193;p16"/>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b="1" i="1" lang="es-ES"/>
              <a:t>Elipse</a:t>
            </a:r>
            <a:r>
              <a:rPr lang="es-ES"/>
              <a:t>: El nombre del Caso de Uso se coloca dentro de una elipse. Por ejemplo, “Añadir al Carrito”.</a:t>
            </a:r>
            <a:endParaRPr/>
          </a:p>
          <a:p>
            <a:pPr indent="-266700" lvl="0" marL="266700" rtl="0" algn="l">
              <a:lnSpc>
                <a:spcPct val="100000"/>
              </a:lnSpc>
              <a:spcBef>
                <a:spcPts val="1200"/>
              </a:spcBef>
              <a:spcAft>
                <a:spcPts val="0"/>
              </a:spcAft>
              <a:buClr>
                <a:schemeClr val="dk1"/>
              </a:buClr>
              <a:buSzPts val="1200"/>
              <a:buChar char="❑"/>
            </a:pPr>
            <a:r>
              <a:rPr b="1" i="1" lang="es-ES"/>
              <a:t>Actor</a:t>
            </a:r>
            <a:r>
              <a:rPr lang="es-ES"/>
              <a:t>: Se representa como un monigote o simplemente con el nombre del actor. Por ejemplo, “Cliente” o “Administrador”.</a:t>
            </a:r>
            <a:endParaRPr/>
          </a:p>
          <a:p>
            <a:pPr indent="-266700" lvl="0" marL="266700" rtl="0" algn="l">
              <a:lnSpc>
                <a:spcPct val="100000"/>
              </a:lnSpc>
              <a:spcBef>
                <a:spcPts val="1200"/>
              </a:spcBef>
              <a:spcAft>
                <a:spcPts val="0"/>
              </a:spcAft>
              <a:buClr>
                <a:schemeClr val="dk1"/>
              </a:buClr>
              <a:buSzPts val="1200"/>
              <a:buChar char="❑"/>
            </a:pPr>
            <a:r>
              <a:rPr b="1" i="1" lang="es-ES"/>
              <a:t>Relación</a:t>
            </a:r>
            <a:r>
              <a:rPr lang="es-ES"/>
              <a:t> </a:t>
            </a:r>
            <a:r>
              <a:rPr b="1" i="1" lang="es-ES"/>
              <a:t>de</a:t>
            </a:r>
            <a:r>
              <a:rPr lang="es-ES"/>
              <a:t> </a:t>
            </a:r>
            <a:r>
              <a:rPr b="1" i="1" lang="es-ES"/>
              <a:t>Asociación</a:t>
            </a:r>
            <a:r>
              <a:rPr lang="es-ES"/>
              <a:t>: Las líneas que conectan actores con Casos de Uso. No tienen flechas a menos que se quiera indicar una dirección específica de flujo.</a:t>
            </a:r>
            <a:endParaRPr/>
          </a:p>
          <a:p>
            <a:pPr indent="-266700" lvl="0" marL="266700" rtl="0" algn="l">
              <a:lnSpc>
                <a:spcPct val="100000"/>
              </a:lnSpc>
              <a:spcBef>
                <a:spcPts val="1200"/>
              </a:spcBef>
              <a:spcAft>
                <a:spcPts val="0"/>
              </a:spcAft>
              <a:buClr>
                <a:schemeClr val="dk1"/>
              </a:buClr>
              <a:buSzPts val="1200"/>
              <a:buChar char="❑"/>
            </a:pPr>
            <a:r>
              <a:rPr b="1" i="1" lang="es-ES"/>
              <a:t>Sistema</a:t>
            </a:r>
            <a:r>
              <a:rPr lang="es-ES"/>
              <a:t>: Se representa como un rectángulo que encierra los Casos de Uso.</a:t>
            </a:r>
            <a:endParaRPr/>
          </a:p>
        </p:txBody>
      </p:sp>
      <p:pic>
        <p:nvPicPr>
          <p:cNvPr id="194" name="Google Shape;194;p16"/>
          <p:cNvPicPr preferRelativeResize="0"/>
          <p:nvPr>
            <p:ph idx="2" type="pic"/>
          </p:nvPr>
        </p:nvPicPr>
        <p:blipFill rotWithShape="1">
          <a:blip r:embed="rId3">
            <a:alphaModFix/>
          </a:blip>
          <a:srcRect b="837" l="0" r="0" t="839"/>
          <a:stretch/>
        </p:blipFill>
        <p:spPr>
          <a:xfrm>
            <a:off x="4938079" y="881148"/>
            <a:ext cx="3521478" cy="383012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7"/>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EJEMPLO DE CASOS DE USO</a:t>
            </a:r>
            <a:endParaRPr/>
          </a:p>
        </p:txBody>
      </p:sp>
      <p:sp>
        <p:nvSpPr>
          <p:cNvPr id="201" name="Google Shape;201;p17"/>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CASO DE USO</a:t>
            </a:r>
            <a:endParaRPr b="0">
              <a:solidFill>
                <a:srgbClr val="0070C0"/>
              </a:solidFill>
            </a:endParaRPr>
          </a:p>
        </p:txBody>
      </p:sp>
      <p:sp>
        <p:nvSpPr>
          <p:cNvPr id="202" name="Google Shape;202;p17"/>
          <p:cNvSpPr txBox="1"/>
          <p:nvPr>
            <p:ph idx="4" type="body"/>
          </p:nvPr>
        </p:nvSpPr>
        <p:spPr>
          <a:xfrm>
            <a:off x="468326" y="1163650"/>
            <a:ext cx="4738200"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accent1"/>
              </a:buClr>
              <a:buSzPts val="1200"/>
              <a:buChar char="❑"/>
            </a:pPr>
            <a:r>
              <a:rPr b="1" lang="es-ES">
                <a:solidFill>
                  <a:schemeClr val="accent1"/>
                </a:solidFill>
              </a:rPr>
              <a:t>Sistema de Comercio Electrónico</a:t>
            </a:r>
            <a:r>
              <a:rPr lang="es-ES"/>
              <a:t>: Es el sistema que estamos modelando.</a:t>
            </a:r>
            <a:endParaRPr/>
          </a:p>
          <a:p>
            <a:pPr indent="-266700" lvl="0" marL="266700" rtl="0" algn="l">
              <a:lnSpc>
                <a:spcPct val="100000"/>
              </a:lnSpc>
              <a:spcBef>
                <a:spcPts val="600"/>
              </a:spcBef>
              <a:spcAft>
                <a:spcPts val="0"/>
              </a:spcAft>
              <a:buClr>
                <a:schemeClr val="accent1"/>
              </a:buClr>
              <a:buSzPts val="1200"/>
              <a:buChar char="❑"/>
            </a:pPr>
            <a:r>
              <a:rPr b="1" lang="es-ES">
                <a:solidFill>
                  <a:schemeClr val="accent1"/>
                </a:solidFill>
              </a:rPr>
              <a:t>Añadir al Carrito</a:t>
            </a:r>
            <a:r>
              <a:rPr lang="es-ES"/>
              <a:t>: Un caso de uso que permite a los clientes añadir productos al carrito de compras.</a:t>
            </a:r>
            <a:endParaRPr/>
          </a:p>
          <a:p>
            <a:pPr indent="-266700" lvl="0" marL="266700" rtl="0" algn="l">
              <a:lnSpc>
                <a:spcPct val="100000"/>
              </a:lnSpc>
              <a:spcBef>
                <a:spcPts val="600"/>
              </a:spcBef>
              <a:spcAft>
                <a:spcPts val="0"/>
              </a:spcAft>
              <a:buClr>
                <a:schemeClr val="accent1"/>
              </a:buClr>
              <a:buSzPts val="1200"/>
              <a:buChar char="❑"/>
            </a:pPr>
            <a:r>
              <a:rPr b="1" lang="es-ES">
                <a:solidFill>
                  <a:schemeClr val="accent1"/>
                </a:solidFill>
              </a:rPr>
              <a:t>Realizar Pago</a:t>
            </a:r>
            <a:r>
              <a:rPr lang="es-ES"/>
              <a:t>: Este caso de uso permite a los clientes realizar el pago de los productos seleccionados.</a:t>
            </a:r>
            <a:endParaRPr/>
          </a:p>
          <a:p>
            <a:pPr indent="-266700" lvl="0" marL="266700" rtl="0" algn="l">
              <a:lnSpc>
                <a:spcPct val="100000"/>
              </a:lnSpc>
              <a:spcBef>
                <a:spcPts val="600"/>
              </a:spcBef>
              <a:spcAft>
                <a:spcPts val="0"/>
              </a:spcAft>
              <a:buClr>
                <a:schemeClr val="accent1"/>
              </a:buClr>
              <a:buSzPts val="1200"/>
              <a:buChar char="❑"/>
            </a:pPr>
            <a:r>
              <a:rPr b="1" lang="es-ES">
                <a:solidFill>
                  <a:schemeClr val="accent1"/>
                </a:solidFill>
              </a:rPr>
              <a:t>Gestionar Inventario</a:t>
            </a:r>
            <a:r>
              <a:rPr lang="es-ES"/>
              <a:t>: Este caso de uso es para que los administradores puedan gestionar el inventario de productos.</a:t>
            </a:r>
            <a:endParaRPr/>
          </a:p>
          <a:p>
            <a:pPr indent="-266700" lvl="0" marL="266700" rtl="0" algn="l">
              <a:lnSpc>
                <a:spcPct val="100000"/>
              </a:lnSpc>
              <a:spcBef>
                <a:spcPts val="600"/>
              </a:spcBef>
              <a:spcAft>
                <a:spcPts val="0"/>
              </a:spcAft>
              <a:buClr>
                <a:schemeClr val="accent1"/>
              </a:buClr>
              <a:buSzPts val="1200"/>
              <a:buChar char="❑"/>
            </a:pPr>
            <a:r>
              <a:rPr b="1" lang="es-ES">
                <a:solidFill>
                  <a:schemeClr val="accent1"/>
                </a:solidFill>
              </a:rPr>
              <a:t>Cliente</a:t>
            </a:r>
            <a:r>
              <a:rPr lang="es-ES"/>
              <a:t>: Actor que puede añadir productos al carrito y realizar pagos.</a:t>
            </a:r>
            <a:endParaRPr/>
          </a:p>
          <a:p>
            <a:pPr indent="-266700" lvl="0" marL="266700" rtl="0" algn="l">
              <a:lnSpc>
                <a:spcPct val="100000"/>
              </a:lnSpc>
              <a:spcBef>
                <a:spcPts val="600"/>
              </a:spcBef>
              <a:spcAft>
                <a:spcPts val="0"/>
              </a:spcAft>
              <a:buClr>
                <a:schemeClr val="accent1"/>
              </a:buClr>
              <a:buSzPts val="1200"/>
              <a:buChar char="❑"/>
            </a:pPr>
            <a:r>
              <a:rPr b="1" lang="es-ES">
                <a:solidFill>
                  <a:schemeClr val="accent1"/>
                </a:solidFill>
              </a:rPr>
              <a:t>Administrador</a:t>
            </a:r>
            <a:r>
              <a:rPr lang="es-ES"/>
              <a:t>: Actor que puede gestionar el inventario.</a:t>
            </a:r>
            <a:endParaRPr/>
          </a:p>
        </p:txBody>
      </p:sp>
      <p:pic>
        <p:nvPicPr>
          <p:cNvPr id="203" name="Google Shape;203;p17"/>
          <p:cNvPicPr preferRelativeResize="0"/>
          <p:nvPr>
            <p:ph idx="2" type="pic"/>
          </p:nvPr>
        </p:nvPicPr>
        <p:blipFill rotWithShape="1">
          <a:blip r:embed="rId3">
            <a:alphaModFix/>
          </a:blip>
          <a:srcRect b="374" l="0" r="0" t="372"/>
          <a:stretch/>
        </p:blipFill>
        <p:spPr>
          <a:xfrm>
            <a:off x="5435244" y="1384260"/>
            <a:ext cx="3360978" cy="365555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8"/>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CASO DE USO: AÑADIR AL CARRITO</a:t>
            </a:r>
            <a:endParaRPr/>
          </a:p>
        </p:txBody>
      </p:sp>
      <p:sp>
        <p:nvSpPr>
          <p:cNvPr id="210" name="Google Shape;210;p18"/>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CASO DE USO</a:t>
            </a:r>
            <a:endParaRPr b="0">
              <a:solidFill>
                <a:srgbClr val="0070C0"/>
              </a:solidFill>
            </a:endParaRPr>
          </a:p>
        </p:txBody>
      </p:sp>
      <p:sp>
        <p:nvSpPr>
          <p:cNvPr id="211" name="Google Shape;211;p18"/>
          <p:cNvSpPr txBox="1"/>
          <p:nvPr>
            <p:ph idx="4" type="body"/>
          </p:nvPr>
        </p:nvSpPr>
        <p:spPr>
          <a:xfrm>
            <a:off x="834072" y="1742354"/>
            <a:ext cx="3945745" cy="2230291"/>
          </a:xfrm>
          <a:prstGeom prst="rect">
            <a:avLst/>
          </a:prstGeom>
          <a:noFill/>
          <a:ln>
            <a:noFill/>
          </a:ln>
        </p:spPr>
        <p:txBody>
          <a:bodyPr anchorCtr="0" anchor="t" bIns="45700" lIns="91425" spcFirstLastPara="1" rIns="91425" wrap="square" tIns="45700">
            <a:noAutofit/>
          </a:bodyPr>
          <a:lstStyle/>
          <a:p>
            <a:pPr indent="-266700" lvl="0" marL="266700" rtl="0" algn="just">
              <a:lnSpc>
                <a:spcPct val="100000"/>
              </a:lnSpc>
              <a:spcBef>
                <a:spcPts val="0"/>
              </a:spcBef>
              <a:spcAft>
                <a:spcPts val="0"/>
              </a:spcAft>
              <a:buClr>
                <a:schemeClr val="accent1"/>
              </a:buClr>
              <a:buSzPts val="1200"/>
              <a:buChar char="❑"/>
            </a:pPr>
            <a:r>
              <a:rPr i="1" lang="es-ES">
                <a:solidFill>
                  <a:schemeClr val="accent1"/>
                </a:solidFill>
              </a:rPr>
              <a:t>Nombre:</a:t>
            </a:r>
            <a:r>
              <a:rPr lang="es-ES"/>
              <a:t> Añadir al Carrito.</a:t>
            </a:r>
            <a:endParaRPr/>
          </a:p>
          <a:p>
            <a:pPr indent="-266700" lvl="0" marL="266700" rtl="0" algn="just">
              <a:lnSpc>
                <a:spcPct val="100000"/>
              </a:lnSpc>
              <a:spcBef>
                <a:spcPts val="0"/>
              </a:spcBef>
              <a:spcAft>
                <a:spcPts val="0"/>
              </a:spcAft>
              <a:buClr>
                <a:schemeClr val="accent1"/>
              </a:buClr>
              <a:buSzPts val="1200"/>
              <a:buChar char="❑"/>
            </a:pPr>
            <a:r>
              <a:rPr i="1" lang="es-ES">
                <a:solidFill>
                  <a:schemeClr val="accent1"/>
                </a:solidFill>
              </a:rPr>
              <a:t>Actor Principal: </a:t>
            </a:r>
            <a:r>
              <a:rPr lang="es-ES"/>
              <a:t>Cliente.</a:t>
            </a:r>
            <a:endParaRPr/>
          </a:p>
          <a:p>
            <a:pPr indent="-266700" lvl="0" marL="266700" rtl="0" algn="just">
              <a:lnSpc>
                <a:spcPct val="100000"/>
              </a:lnSpc>
              <a:spcBef>
                <a:spcPts val="0"/>
              </a:spcBef>
              <a:spcAft>
                <a:spcPts val="0"/>
              </a:spcAft>
              <a:buClr>
                <a:schemeClr val="accent1"/>
              </a:buClr>
              <a:buSzPts val="1200"/>
              <a:buChar char="❑"/>
            </a:pPr>
            <a:r>
              <a:rPr i="1" lang="es-ES">
                <a:solidFill>
                  <a:schemeClr val="accent1"/>
                </a:solidFill>
              </a:rPr>
              <a:t>Precondiciones: </a:t>
            </a:r>
            <a:r>
              <a:rPr lang="es-ES"/>
              <a:t>El cliente debe estar registrado y haber iniciado sesión.</a:t>
            </a:r>
            <a:endParaRPr/>
          </a:p>
          <a:p>
            <a:pPr indent="-266700" lvl="0" marL="266700" rtl="0" algn="just">
              <a:lnSpc>
                <a:spcPct val="100000"/>
              </a:lnSpc>
              <a:spcBef>
                <a:spcPts val="0"/>
              </a:spcBef>
              <a:spcAft>
                <a:spcPts val="0"/>
              </a:spcAft>
              <a:buClr>
                <a:schemeClr val="accent1"/>
              </a:buClr>
              <a:buSzPts val="1200"/>
              <a:buChar char="❑"/>
            </a:pPr>
            <a:r>
              <a:rPr i="1" lang="es-ES">
                <a:solidFill>
                  <a:schemeClr val="accent1"/>
                </a:solidFill>
              </a:rPr>
              <a:t>Postcondiciones: </a:t>
            </a:r>
            <a:r>
              <a:rPr lang="es-ES"/>
              <a:t>El producto seleccionado se añade al carrito de compras del cliente.</a:t>
            </a:r>
            <a:endParaRPr/>
          </a:p>
          <a:p>
            <a:pPr indent="-190500" lvl="0" marL="266700" rtl="0" algn="just">
              <a:lnSpc>
                <a:spcPct val="100000"/>
              </a:lnSpc>
              <a:spcBef>
                <a:spcPts val="300"/>
              </a:spcBef>
              <a:spcAft>
                <a:spcPts val="0"/>
              </a:spcAft>
              <a:buClr>
                <a:schemeClr val="dk1"/>
              </a:buClr>
              <a:buSzPts val="1200"/>
              <a:buNone/>
            </a:pPr>
            <a:r>
              <a:t/>
            </a:r>
            <a:endParaRPr/>
          </a:p>
        </p:txBody>
      </p:sp>
      <p:pic>
        <p:nvPicPr>
          <p:cNvPr id="212" name="Google Shape;212;p18"/>
          <p:cNvPicPr preferRelativeResize="0"/>
          <p:nvPr>
            <p:ph idx="2" type="pic"/>
          </p:nvPr>
        </p:nvPicPr>
        <p:blipFill rotWithShape="1">
          <a:blip r:embed="rId3">
            <a:alphaModFix/>
          </a:blip>
          <a:srcRect b="374" l="0" r="0" t="372"/>
          <a:stretch/>
        </p:blipFill>
        <p:spPr>
          <a:xfrm>
            <a:off x="5055950" y="986632"/>
            <a:ext cx="3253978" cy="353917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9"/>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CASO DE USO: AÑADIR AL CARRITO</a:t>
            </a:r>
            <a:endParaRPr/>
          </a:p>
        </p:txBody>
      </p:sp>
      <p:sp>
        <p:nvSpPr>
          <p:cNvPr id="219" name="Google Shape;219;p19"/>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CASO DE USO</a:t>
            </a:r>
            <a:endParaRPr b="0">
              <a:solidFill>
                <a:srgbClr val="0070C0"/>
              </a:solidFill>
            </a:endParaRPr>
          </a:p>
        </p:txBody>
      </p:sp>
      <p:sp>
        <p:nvSpPr>
          <p:cNvPr id="220" name="Google Shape;220;p19"/>
          <p:cNvSpPr txBox="1"/>
          <p:nvPr>
            <p:ph idx="4" type="body"/>
          </p:nvPr>
        </p:nvSpPr>
        <p:spPr>
          <a:xfrm>
            <a:off x="676131" y="1340387"/>
            <a:ext cx="8207374" cy="4096800"/>
          </a:xfrm>
          <a:prstGeom prst="rect">
            <a:avLst/>
          </a:prstGeom>
          <a:noFill/>
          <a:ln>
            <a:noFill/>
          </a:ln>
        </p:spPr>
        <p:txBody>
          <a:bodyPr anchorCtr="0" anchor="t" bIns="45700" lIns="91425" spcFirstLastPara="1" rIns="91425" wrap="square" tIns="45700">
            <a:noAutofit/>
          </a:bodyPr>
          <a:lstStyle/>
          <a:p>
            <a:pPr indent="-266700" lvl="0" marL="266700" rtl="0" algn="just">
              <a:lnSpc>
                <a:spcPct val="100000"/>
              </a:lnSpc>
              <a:spcBef>
                <a:spcPts val="0"/>
              </a:spcBef>
              <a:spcAft>
                <a:spcPts val="0"/>
              </a:spcAft>
              <a:buClr>
                <a:schemeClr val="accent1"/>
              </a:buClr>
              <a:buSzPts val="1200"/>
              <a:buChar char="❑"/>
            </a:pPr>
            <a:r>
              <a:rPr b="1" i="1" lang="es-ES">
                <a:solidFill>
                  <a:schemeClr val="accent1"/>
                </a:solidFill>
              </a:rPr>
              <a:t>Flujo Principal:</a:t>
            </a:r>
            <a:endParaRPr/>
          </a:p>
          <a:p>
            <a:pPr indent="-184150" lvl="1" marL="450850" rtl="0" algn="just">
              <a:lnSpc>
                <a:spcPct val="100000"/>
              </a:lnSpc>
              <a:spcBef>
                <a:spcPts val="0"/>
              </a:spcBef>
              <a:spcAft>
                <a:spcPts val="0"/>
              </a:spcAft>
              <a:buClr>
                <a:schemeClr val="dk1"/>
              </a:buClr>
              <a:buSzPts val="1600"/>
              <a:buFont typeface="Calibri"/>
              <a:buAutoNum type="arabicPeriod"/>
            </a:pPr>
            <a:r>
              <a:rPr lang="es-ES"/>
              <a:t>El cliente navega por la lista de productos.</a:t>
            </a:r>
            <a:endParaRPr/>
          </a:p>
          <a:p>
            <a:pPr indent="-184150" lvl="1" marL="450850" rtl="0" algn="just">
              <a:lnSpc>
                <a:spcPct val="100000"/>
              </a:lnSpc>
              <a:spcBef>
                <a:spcPts val="0"/>
              </a:spcBef>
              <a:spcAft>
                <a:spcPts val="0"/>
              </a:spcAft>
              <a:buClr>
                <a:schemeClr val="dk1"/>
              </a:buClr>
              <a:buSzPts val="1600"/>
              <a:buFont typeface="Calibri"/>
              <a:buAutoNum type="arabicPeriod"/>
            </a:pPr>
            <a:r>
              <a:rPr lang="es-ES"/>
              <a:t>El cliente selecciona un producto que desea comprar.</a:t>
            </a:r>
            <a:endParaRPr/>
          </a:p>
          <a:p>
            <a:pPr indent="-184150" lvl="1" marL="450850" rtl="0" algn="just">
              <a:lnSpc>
                <a:spcPct val="100000"/>
              </a:lnSpc>
              <a:spcBef>
                <a:spcPts val="0"/>
              </a:spcBef>
              <a:spcAft>
                <a:spcPts val="0"/>
              </a:spcAft>
              <a:buClr>
                <a:schemeClr val="dk1"/>
              </a:buClr>
              <a:buSzPts val="1600"/>
              <a:buFont typeface="Calibri"/>
              <a:buAutoNum type="arabicPeriod"/>
            </a:pPr>
            <a:r>
              <a:rPr lang="es-ES"/>
              <a:t>El sistema muestra los detalles del producto.</a:t>
            </a:r>
            <a:endParaRPr/>
          </a:p>
          <a:p>
            <a:pPr indent="-184150" lvl="1" marL="450850" rtl="0" algn="just">
              <a:lnSpc>
                <a:spcPct val="100000"/>
              </a:lnSpc>
              <a:spcBef>
                <a:spcPts val="0"/>
              </a:spcBef>
              <a:spcAft>
                <a:spcPts val="0"/>
              </a:spcAft>
              <a:buClr>
                <a:schemeClr val="dk1"/>
              </a:buClr>
              <a:buSzPts val="1600"/>
              <a:buFont typeface="Calibri"/>
              <a:buAutoNum type="arabicPeriod"/>
            </a:pPr>
            <a:r>
              <a:rPr lang="es-ES"/>
              <a:t>El cliente indica la cantidad que desea comprar.</a:t>
            </a:r>
            <a:endParaRPr/>
          </a:p>
          <a:p>
            <a:pPr indent="-184150" lvl="1" marL="450850" rtl="0" algn="just">
              <a:lnSpc>
                <a:spcPct val="100000"/>
              </a:lnSpc>
              <a:spcBef>
                <a:spcPts val="0"/>
              </a:spcBef>
              <a:spcAft>
                <a:spcPts val="0"/>
              </a:spcAft>
              <a:buClr>
                <a:schemeClr val="dk1"/>
              </a:buClr>
              <a:buSzPts val="1600"/>
              <a:buFont typeface="Calibri"/>
              <a:buAutoNum type="arabicPeriod"/>
            </a:pPr>
            <a:r>
              <a:rPr lang="es-ES"/>
              <a:t>El cliente selecciona “Añadir al Carrito”.</a:t>
            </a:r>
            <a:endParaRPr/>
          </a:p>
          <a:p>
            <a:pPr indent="-184150" lvl="1" marL="450850" rtl="0" algn="just">
              <a:lnSpc>
                <a:spcPct val="100000"/>
              </a:lnSpc>
              <a:spcBef>
                <a:spcPts val="0"/>
              </a:spcBef>
              <a:spcAft>
                <a:spcPts val="0"/>
              </a:spcAft>
              <a:buClr>
                <a:schemeClr val="dk1"/>
              </a:buClr>
              <a:buSzPts val="1600"/>
              <a:buFont typeface="Calibri"/>
              <a:buAutoNum type="arabicPeriod"/>
            </a:pPr>
            <a:r>
              <a:rPr lang="es-ES"/>
              <a:t>El sistema añade el producto y la cantidad seleccionada al carrito de compras.</a:t>
            </a:r>
            <a:endParaRPr/>
          </a:p>
          <a:p>
            <a:pPr indent="-184150" lvl="1" marL="450850" rtl="0" algn="just">
              <a:lnSpc>
                <a:spcPct val="100000"/>
              </a:lnSpc>
              <a:spcBef>
                <a:spcPts val="0"/>
              </a:spcBef>
              <a:spcAft>
                <a:spcPts val="0"/>
              </a:spcAft>
              <a:buClr>
                <a:schemeClr val="dk1"/>
              </a:buClr>
              <a:buSzPts val="1600"/>
              <a:buFont typeface="Calibri"/>
              <a:buAutoNum type="arabicPeriod"/>
            </a:pPr>
            <a:r>
              <a:rPr lang="es-ES"/>
              <a:t>El sistema muestra un mensaje de confirmación.</a:t>
            </a:r>
            <a:endParaRPr/>
          </a:p>
          <a:p>
            <a:pPr indent="0" lvl="1" marL="266700" rtl="0" algn="just">
              <a:lnSpc>
                <a:spcPct val="100000"/>
              </a:lnSpc>
              <a:spcBef>
                <a:spcPts val="300"/>
              </a:spcBef>
              <a:spcAft>
                <a:spcPts val="0"/>
              </a:spcAft>
              <a:buClr>
                <a:schemeClr val="dk1"/>
              </a:buClr>
              <a:buSzPts val="1600"/>
              <a:buNone/>
            </a:pPr>
            <a:r>
              <a:t/>
            </a:r>
            <a:endParaRPr/>
          </a:p>
          <a:p>
            <a:pPr indent="-266700" lvl="0" marL="266700" rtl="0" algn="just">
              <a:lnSpc>
                <a:spcPct val="100000"/>
              </a:lnSpc>
              <a:spcBef>
                <a:spcPts val="300"/>
              </a:spcBef>
              <a:spcAft>
                <a:spcPts val="0"/>
              </a:spcAft>
              <a:buClr>
                <a:schemeClr val="accent1"/>
              </a:buClr>
              <a:buSzPts val="1200"/>
              <a:buChar char="❑"/>
            </a:pPr>
            <a:r>
              <a:rPr b="1" i="1" lang="es-ES">
                <a:solidFill>
                  <a:schemeClr val="accent1"/>
                </a:solidFill>
              </a:rPr>
              <a:t>Flujos Alternativos:</a:t>
            </a:r>
            <a:endParaRPr/>
          </a:p>
          <a:p>
            <a:pPr indent="-265113" lvl="1" marL="531813" rtl="0" algn="just">
              <a:lnSpc>
                <a:spcPct val="100000"/>
              </a:lnSpc>
              <a:spcBef>
                <a:spcPts val="0"/>
              </a:spcBef>
              <a:spcAft>
                <a:spcPts val="0"/>
              </a:spcAft>
              <a:buClr>
                <a:schemeClr val="dk1"/>
              </a:buClr>
              <a:buSzPts val="1600"/>
              <a:buChar char="→"/>
            </a:pPr>
            <a:r>
              <a:rPr lang="es-ES"/>
              <a:t>4a. Si el producto está agotado:</a:t>
            </a:r>
            <a:endParaRPr/>
          </a:p>
          <a:p>
            <a:pPr indent="-185736" lvl="2" marL="715963" rtl="0" algn="just">
              <a:lnSpc>
                <a:spcPct val="100000"/>
              </a:lnSpc>
              <a:spcBef>
                <a:spcPts val="0"/>
              </a:spcBef>
              <a:spcAft>
                <a:spcPts val="0"/>
              </a:spcAft>
              <a:buClr>
                <a:schemeClr val="dk1"/>
              </a:buClr>
              <a:buSzPts val="1600"/>
              <a:buFont typeface="Calibri"/>
              <a:buAutoNum type="arabicPeriod"/>
            </a:pPr>
            <a:r>
              <a:rPr lang="es-ES"/>
              <a:t>El sistema muestra un mensaje indicando que el producto está agotado.</a:t>
            </a:r>
            <a:endParaRPr/>
          </a:p>
          <a:p>
            <a:pPr indent="-185736" lvl="2" marL="715963" rtl="0" algn="just">
              <a:lnSpc>
                <a:spcPct val="100000"/>
              </a:lnSpc>
              <a:spcBef>
                <a:spcPts val="0"/>
              </a:spcBef>
              <a:spcAft>
                <a:spcPts val="0"/>
              </a:spcAft>
              <a:buClr>
                <a:schemeClr val="dk1"/>
              </a:buClr>
              <a:buSzPts val="1600"/>
              <a:buFont typeface="Calibri"/>
              <a:buAutoNum type="arabicPeriod"/>
            </a:pPr>
            <a:r>
              <a:rPr lang="es-ES"/>
              <a:t>El flujo principal se detiene.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0"/>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CASO DE USO: REALIZAR PAGO</a:t>
            </a:r>
            <a:endParaRPr/>
          </a:p>
        </p:txBody>
      </p:sp>
      <p:sp>
        <p:nvSpPr>
          <p:cNvPr id="227" name="Google Shape;227;p20"/>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CASO DE USO</a:t>
            </a:r>
            <a:endParaRPr b="0">
              <a:solidFill>
                <a:srgbClr val="0070C0"/>
              </a:solidFill>
            </a:endParaRPr>
          </a:p>
        </p:txBody>
      </p:sp>
      <p:sp>
        <p:nvSpPr>
          <p:cNvPr id="228" name="Google Shape;228;p20"/>
          <p:cNvSpPr txBox="1"/>
          <p:nvPr>
            <p:ph idx="4" type="body"/>
          </p:nvPr>
        </p:nvSpPr>
        <p:spPr>
          <a:xfrm>
            <a:off x="1041891" y="1340387"/>
            <a:ext cx="3530109" cy="4096800"/>
          </a:xfrm>
          <a:prstGeom prst="rect">
            <a:avLst/>
          </a:prstGeom>
          <a:noFill/>
          <a:ln>
            <a:noFill/>
          </a:ln>
        </p:spPr>
        <p:txBody>
          <a:bodyPr anchorCtr="0" anchor="t" bIns="45700" lIns="91425" spcFirstLastPara="1" rIns="91425" wrap="square" tIns="45700">
            <a:noAutofit/>
          </a:bodyPr>
          <a:lstStyle/>
          <a:p>
            <a:pPr indent="-266700" lvl="0" marL="266700" rtl="0" algn="just">
              <a:lnSpc>
                <a:spcPct val="100000"/>
              </a:lnSpc>
              <a:spcBef>
                <a:spcPts val="0"/>
              </a:spcBef>
              <a:spcAft>
                <a:spcPts val="0"/>
              </a:spcAft>
              <a:buClr>
                <a:schemeClr val="accent1"/>
              </a:buClr>
              <a:buSzPts val="1200"/>
              <a:buChar char="❑"/>
            </a:pPr>
            <a:r>
              <a:rPr i="1" lang="es-ES">
                <a:solidFill>
                  <a:schemeClr val="accent1"/>
                </a:solidFill>
              </a:rPr>
              <a:t>Nombre:</a:t>
            </a:r>
            <a:r>
              <a:rPr lang="es-ES"/>
              <a:t> Realizar pago.</a:t>
            </a:r>
            <a:endParaRPr/>
          </a:p>
          <a:p>
            <a:pPr indent="-266700" lvl="0" marL="266700" rtl="0" algn="just">
              <a:lnSpc>
                <a:spcPct val="100000"/>
              </a:lnSpc>
              <a:spcBef>
                <a:spcPts val="0"/>
              </a:spcBef>
              <a:spcAft>
                <a:spcPts val="0"/>
              </a:spcAft>
              <a:buClr>
                <a:schemeClr val="accent1"/>
              </a:buClr>
              <a:buSzPts val="1200"/>
              <a:buChar char="❑"/>
            </a:pPr>
            <a:r>
              <a:rPr i="1" lang="es-ES">
                <a:solidFill>
                  <a:schemeClr val="accent1"/>
                </a:solidFill>
              </a:rPr>
              <a:t>Actor Principal: </a:t>
            </a:r>
            <a:r>
              <a:rPr lang="es-ES"/>
              <a:t>Cliente.</a:t>
            </a:r>
            <a:endParaRPr/>
          </a:p>
          <a:p>
            <a:pPr indent="-266700" lvl="0" marL="266700" rtl="0" algn="just">
              <a:lnSpc>
                <a:spcPct val="100000"/>
              </a:lnSpc>
              <a:spcBef>
                <a:spcPts val="0"/>
              </a:spcBef>
              <a:spcAft>
                <a:spcPts val="0"/>
              </a:spcAft>
              <a:buClr>
                <a:schemeClr val="accent1"/>
              </a:buClr>
              <a:buSzPts val="1200"/>
              <a:buChar char="❑"/>
            </a:pPr>
            <a:r>
              <a:rPr i="1" lang="es-ES">
                <a:solidFill>
                  <a:schemeClr val="accent1"/>
                </a:solidFill>
              </a:rPr>
              <a:t>Precondiciones: </a:t>
            </a:r>
            <a:r>
              <a:rPr lang="es-ES"/>
              <a:t>El cliente debe tener al menos un producto en su carrito.</a:t>
            </a:r>
            <a:endParaRPr/>
          </a:p>
          <a:p>
            <a:pPr indent="-266700" lvl="0" marL="266700" rtl="0" algn="just">
              <a:lnSpc>
                <a:spcPct val="100000"/>
              </a:lnSpc>
              <a:spcBef>
                <a:spcPts val="0"/>
              </a:spcBef>
              <a:spcAft>
                <a:spcPts val="0"/>
              </a:spcAft>
              <a:buClr>
                <a:schemeClr val="accent1"/>
              </a:buClr>
              <a:buSzPts val="1200"/>
              <a:buChar char="❑"/>
            </a:pPr>
            <a:r>
              <a:rPr i="1" lang="es-ES">
                <a:solidFill>
                  <a:schemeClr val="accent1"/>
                </a:solidFill>
              </a:rPr>
              <a:t>Postcondiciones: </a:t>
            </a:r>
            <a:r>
              <a:rPr lang="es-ES"/>
              <a:t>El cliente completa la compra y recibe una confirmación.</a:t>
            </a:r>
            <a:endParaRPr/>
          </a:p>
        </p:txBody>
      </p:sp>
      <p:pic>
        <p:nvPicPr>
          <p:cNvPr id="229" name="Google Shape;229;p20"/>
          <p:cNvPicPr preferRelativeResize="0"/>
          <p:nvPr>
            <p:ph idx="2" type="pic"/>
          </p:nvPr>
        </p:nvPicPr>
        <p:blipFill rotWithShape="1">
          <a:blip r:embed="rId3">
            <a:alphaModFix/>
          </a:blip>
          <a:srcRect b="374" l="0" r="0" t="372"/>
          <a:stretch/>
        </p:blipFill>
        <p:spPr>
          <a:xfrm>
            <a:off x="4874532" y="1163638"/>
            <a:ext cx="3460335" cy="376362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1"/>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CASO DE USO: REALIZAR PAGO</a:t>
            </a:r>
            <a:endParaRPr/>
          </a:p>
        </p:txBody>
      </p:sp>
      <p:sp>
        <p:nvSpPr>
          <p:cNvPr id="236" name="Google Shape;236;p21"/>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CASO DE USO</a:t>
            </a:r>
            <a:endParaRPr b="0">
              <a:solidFill>
                <a:srgbClr val="0070C0"/>
              </a:solidFill>
            </a:endParaRPr>
          </a:p>
        </p:txBody>
      </p:sp>
      <p:sp>
        <p:nvSpPr>
          <p:cNvPr id="237" name="Google Shape;237;p21"/>
          <p:cNvSpPr txBox="1"/>
          <p:nvPr>
            <p:ph idx="4" type="body"/>
          </p:nvPr>
        </p:nvSpPr>
        <p:spPr>
          <a:xfrm>
            <a:off x="468312" y="1177927"/>
            <a:ext cx="8207375" cy="4096800"/>
          </a:xfrm>
          <a:prstGeom prst="rect">
            <a:avLst/>
          </a:prstGeom>
          <a:noFill/>
          <a:ln>
            <a:noFill/>
          </a:ln>
        </p:spPr>
        <p:txBody>
          <a:bodyPr anchorCtr="0" anchor="t" bIns="45700" lIns="91425" spcFirstLastPara="1" rIns="91425" wrap="square" tIns="45700">
            <a:noAutofit/>
          </a:bodyPr>
          <a:lstStyle/>
          <a:p>
            <a:pPr indent="-266700" lvl="0" marL="266700" rtl="0" algn="just">
              <a:lnSpc>
                <a:spcPct val="100000"/>
              </a:lnSpc>
              <a:spcBef>
                <a:spcPts val="0"/>
              </a:spcBef>
              <a:spcAft>
                <a:spcPts val="0"/>
              </a:spcAft>
              <a:buClr>
                <a:schemeClr val="accent1"/>
              </a:buClr>
              <a:buSzPts val="1200"/>
              <a:buChar char="❑"/>
            </a:pPr>
            <a:r>
              <a:rPr b="1" i="1" lang="es-ES">
                <a:solidFill>
                  <a:schemeClr val="accent1"/>
                </a:solidFill>
              </a:rPr>
              <a:t>Flujo Principal:</a:t>
            </a:r>
            <a:endParaRPr/>
          </a:p>
          <a:p>
            <a:pPr indent="-184150" lvl="1" marL="450850" rtl="0" algn="just">
              <a:lnSpc>
                <a:spcPct val="100000"/>
              </a:lnSpc>
              <a:spcBef>
                <a:spcPts val="0"/>
              </a:spcBef>
              <a:spcAft>
                <a:spcPts val="0"/>
              </a:spcAft>
              <a:buClr>
                <a:schemeClr val="dk1"/>
              </a:buClr>
              <a:buSzPts val="1600"/>
              <a:buFont typeface="Calibri"/>
              <a:buAutoNum type="arabicPeriod"/>
            </a:pPr>
            <a:r>
              <a:rPr lang="es-ES"/>
              <a:t>El cliente selecciona “Realizar Pago” en su carrito.</a:t>
            </a:r>
            <a:endParaRPr/>
          </a:p>
          <a:p>
            <a:pPr indent="-184150" lvl="1" marL="450850" rtl="0" algn="just">
              <a:lnSpc>
                <a:spcPct val="100000"/>
              </a:lnSpc>
              <a:spcBef>
                <a:spcPts val="0"/>
              </a:spcBef>
              <a:spcAft>
                <a:spcPts val="0"/>
              </a:spcAft>
              <a:buClr>
                <a:schemeClr val="dk1"/>
              </a:buClr>
              <a:buSzPts val="1600"/>
              <a:buFont typeface="Calibri"/>
              <a:buAutoNum type="arabicPeriod"/>
            </a:pPr>
            <a:r>
              <a:rPr lang="es-ES"/>
              <a:t>El sistema muestra las opciones de pago.</a:t>
            </a:r>
            <a:endParaRPr/>
          </a:p>
          <a:p>
            <a:pPr indent="-184150" lvl="1" marL="450850" rtl="0" algn="just">
              <a:lnSpc>
                <a:spcPct val="100000"/>
              </a:lnSpc>
              <a:spcBef>
                <a:spcPts val="0"/>
              </a:spcBef>
              <a:spcAft>
                <a:spcPts val="0"/>
              </a:spcAft>
              <a:buClr>
                <a:schemeClr val="dk1"/>
              </a:buClr>
              <a:buSzPts val="1600"/>
              <a:buFont typeface="Calibri"/>
              <a:buAutoNum type="arabicPeriod"/>
            </a:pPr>
            <a:r>
              <a:rPr lang="es-ES"/>
              <a:t>El cliente selecciona una opción de pago y proporciona los detalles necesarios.</a:t>
            </a:r>
            <a:endParaRPr/>
          </a:p>
          <a:p>
            <a:pPr indent="-184150" lvl="1" marL="450850" rtl="0" algn="just">
              <a:lnSpc>
                <a:spcPct val="100000"/>
              </a:lnSpc>
              <a:spcBef>
                <a:spcPts val="0"/>
              </a:spcBef>
              <a:spcAft>
                <a:spcPts val="0"/>
              </a:spcAft>
              <a:buClr>
                <a:schemeClr val="dk1"/>
              </a:buClr>
              <a:buSzPts val="1600"/>
              <a:buFont typeface="Calibri"/>
              <a:buAutoNum type="arabicPeriod"/>
            </a:pPr>
            <a:r>
              <a:rPr lang="es-ES"/>
              <a:t>El sistema valida la información de pago.</a:t>
            </a:r>
            <a:endParaRPr/>
          </a:p>
          <a:p>
            <a:pPr indent="-184150" lvl="1" marL="450850" rtl="0" algn="just">
              <a:lnSpc>
                <a:spcPct val="100000"/>
              </a:lnSpc>
              <a:spcBef>
                <a:spcPts val="0"/>
              </a:spcBef>
              <a:spcAft>
                <a:spcPts val="0"/>
              </a:spcAft>
              <a:buClr>
                <a:schemeClr val="dk1"/>
              </a:buClr>
              <a:buSzPts val="1600"/>
              <a:buFont typeface="Calibri"/>
              <a:buAutoNum type="arabicPeriod"/>
            </a:pPr>
            <a:r>
              <a:rPr lang="es-ES"/>
              <a:t>El cliente confirma la compra.</a:t>
            </a:r>
            <a:endParaRPr/>
          </a:p>
          <a:p>
            <a:pPr indent="-184150" lvl="1" marL="450850" rtl="0" algn="just">
              <a:lnSpc>
                <a:spcPct val="100000"/>
              </a:lnSpc>
              <a:spcBef>
                <a:spcPts val="0"/>
              </a:spcBef>
              <a:spcAft>
                <a:spcPts val="0"/>
              </a:spcAft>
              <a:buClr>
                <a:schemeClr val="dk1"/>
              </a:buClr>
              <a:buSzPts val="1600"/>
              <a:buFont typeface="Calibri"/>
              <a:buAutoNum type="arabicPeriod"/>
            </a:pPr>
            <a:r>
              <a:rPr lang="es-ES"/>
              <a:t>El sistema procesa el pago y muestra un mensaje de confirmación.</a:t>
            </a:r>
            <a:endParaRPr/>
          </a:p>
          <a:p>
            <a:pPr indent="-82550" lvl="1" marL="450850" rtl="0" algn="just">
              <a:lnSpc>
                <a:spcPct val="100000"/>
              </a:lnSpc>
              <a:spcBef>
                <a:spcPts val="600"/>
              </a:spcBef>
              <a:spcAft>
                <a:spcPts val="0"/>
              </a:spcAft>
              <a:buClr>
                <a:schemeClr val="dk1"/>
              </a:buClr>
              <a:buSzPts val="1600"/>
              <a:buFont typeface="Calibri"/>
              <a:buNone/>
            </a:pPr>
            <a:r>
              <a:t/>
            </a:r>
            <a:endParaRPr/>
          </a:p>
          <a:p>
            <a:pPr indent="-266700" lvl="0" marL="266700" rtl="0" algn="just">
              <a:lnSpc>
                <a:spcPct val="100000"/>
              </a:lnSpc>
              <a:spcBef>
                <a:spcPts val="600"/>
              </a:spcBef>
              <a:spcAft>
                <a:spcPts val="0"/>
              </a:spcAft>
              <a:buClr>
                <a:schemeClr val="accent1"/>
              </a:buClr>
              <a:buSzPts val="1200"/>
              <a:buChar char="❑"/>
            </a:pPr>
            <a:r>
              <a:rPr b="1" i="1" lang="es-ES">
                <a:solidFill>
                  <a:schemeClr val="accent1"/>
                </a:solidFill>
              </a:rPr>
              <a:t>Flujos Alternativos:</a:t>
            </a:r>
            <a:endParaRPr/>
          </a:p>
          <a:p>
            <a:pPr indent="-265113" lvl="1" marL="531813" rtl="0" algn="just">
              <a:lnSpc>
                <a:spcPct val="100000"/>
              </a:lnSpc>
              <a:spcBef>
                <a:spcPts val="0"/>
              </a:spcBef>
              <a:spcAft>
                <a:spcPts val="0"/>
              </a:spcAft>
              <a:buClr>
                <a:schemeClr val="dk1"/>
              </a:buClr>
              <a:buSzPts val="1600"/>
              <a:buChar char="→"/>
            </a:pPr>
            <a:r>
              <a:rPr lang="es-ES"/>
              <a:t>4a. Si la información de pago es inválida:</a:t>
            </a:r>
            <a:endParaRPr/>
          </a:p>
          <a:p>
            <a:pPr indent="-185736" lvl="2" marL="715963" rtl="0" algn="just">
              <a:lnSpc>
                <a:spcPct val="100000"/>
              </a:lnSpc>
              <a:spcBef>
                <a:spcPts val="0"/>
              </a:spcBef>
              <a:spcAft>
                <a:spcPts val="0"/>
              </a:spcAft>
              <a:buClr>
                <a:schemeClr val="dk1"/>
              </a:buClr>
              <a:buSzPts val="1600"/>
              <a:buFont typeface="Calibri"/>
              <a:buAutoNum type="arabicPeriod"/>
            </a:pPr>
            <a:r>
              <a:rPr lang="es-ES"/>
              <a:t>El sistema muestra un mensaje de error.</a:t>
            </a:r>
            <a:endParaRPr/>
          </a:p>
          <a:p>
            <a:pPr indent="-185736" lvl="2" marL="715963" rtl="0" algn="just">
              <a:lnSpc>
                <a:spcPct val="100000"/>
              </a:lnSpc>
              <a:spcBef>
                <a:spcPts val="0"/>
              </a:spcBef>
              <a:spcAft>
                <a:spcPts val="0"/>
              </a:spcAft>
              <a:buClr>
                <a:schemeClr val="dk1"/>
              </a:buClr>
              <a:buSzPts val="1600"/>
              <a:buFont typeface="Calibri"/>
              <a:buAutoNum type="arabicPeriod"/>
            </a:pPr>
            <a:r>
              <a:rPr lang="es-ES"/>
              <a:t>El cliente puede corregir la información o cancelar la compra.</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2"/>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CASO DE USO: GESTIONAR INVENTARIO</a:t>
            </a:r>
            <a:endParaRPr/>
          </a:p>
        </p:txBody>
      </p:sp>
      <p:sp>
        <p:nvSpPr>
          <p:cNvPr id="244" name="Google Shape;244;p22"/>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CASO DE USO</a:t>
            </a:r>
            <a:endParaRPr b="0">
              <a:solidFill>
                <a:srgbClr val="0070C0"/>
              </a:solidFill>
            </a:endParaRPr>
          </a:p>
        </p:txBody>
      </p:sp>
      <p:sp>
        <p:nvSpPr>
          <p:cNvPr id="245" name="Google Shape;245;p22"/>
          <p:cNvSpPr txBox="1"/>
          <p:nvPr>
            <p:ph idx="4" type="body"/>
          </p:nvPr>
        </p:nvSpPr>
        <p:spPr>
          <a:xfrm>
            <a:off x="1066830" y="1341439"/>
            <a:ext cx="3563360"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90000"/>
              </a:lnSpc>
              <a:spcBef>
                <a:spcPts val="0"/>
              </a:spcBef>
              <a:spcAft>
                <a:spcPts val="0"/>
              </a:spcAft>
              <a:buClr>
                <a:schemeClr val="accent1"/>
              </a:buClr>
              <a:buSzPts val="1200"/>
              <a:buChar char="❑"/>
            </a:pPr>
            <a:r>
              <a:rPr i="1" lang="es-ES">
                <a:solidFill>
                  <a:schemeClr val="accent1"/>
                </a:solidFill>
              </a:rPr>
              <a:t>Nombre:</a:t>
            </a:r>
            <a:r>
              <a:rPr lang="es-ES"/>
              <a:t> Gestionar Inventario.</a:t>
            </a:r>
            <a:endParaRPr/>
          </a:p>
          <a:p>
            <a:pPr indent="-266700" lvl="0" marL="266700" rtl="0" algn="l">
              <a:lnSpc>
                <a:spcPct val="90000"/>
              </a:lnSpc>
              <a:spcBef>
                <a:spcPts val="0"/>
              </a:spcBef>
              <a:spcAft>
                <a:spcPts val="0"/>
              </a:spcAft>
              <a:buClr>
                <a:schemeClr val="accent1"/>
              </a:buClr>
              <a:buSzPts val="1200"/>
              <a:buChar char="❑"/>
            </a:pPr>
            <a:r>
              <a:rPr i="1" lang="es-ES">
                <a:solidFill>
                  <a:schemeClr val="accent1"/>
                </a:solidFill>
              </a:rPr>
              <a:t>Actor Principal: </a:t>
            </a:r>
            <a:r>
              <a:rPr lang="es-ES"/>
              <a:t>Administrador.</a:t>
            </a:r>
            <a:endParaRPr/>
          </a:p>
          <a:p>
            <a:pPr indent="-266700" lvl="0" marL="266700" rtl="0" algn="l">
              <a:lnSpc>
                <a:spcPct val="90000"/>
              </a:lnSpc>
              <a:spcBef>
                <a:spcPts val="0"/>
              </a:spcBef>
              <a:spcAft>
                <a:spcPts val="0"/>
              </a:spcAft>
              <a:buClr>
                <a:schemeClr val="accent1"/>
              </a:buClr>
              <a:buSzPts val="1200"/>
              <a:buChar char="❑"/>
            </a:pPr>
            <a:r>
              <a:rPr i="1" lang="es-ES">
                <a:solidFill>
                  <a:schemeClr val="accent1"/>
                </a:solidFill>
              </a:rPr>
              <a:t>Precondiciones: </a:t>
            </a:r>
            <a:r>
              <a:rPr lang="es-ES"/>
              <a:t>El Administrador debe haber iniciado sesión.</a:t>
            </a:r>
            <a:endParaRPr/>
          </a:p>
          <a:p>
            <a:pPr indent="-266700" lvl="0" marL="266700" rtl="0" algn="l">
              <a:lnSpc>
                <a:spcPct val="90000"/>
              </a:lnSpc>
              <a:spcBef>
                <a:spcPts val="0"/>
              </a:spcBef>
              <a:spcAft>
                <a:spcPts val="0"/>
              </a:spcAft>
              <a:buClr>
                <a:schemeClr val="accent1"/>
              </a:buClr>
              <a:buSzPts val="1200"/>
              <a:buChar char="❑"/>
            </a:pPr>
            <a:r>
              <a:rPr i="1" lang="es-ES">
                <a:solidFill>
                  <a:schemeClr val="accent1"/>
                </a:solidFill>
              </a:rPr>
              <a:t>Postcondiciones: </a:t>
            </a:r>
            <a:r>
              <a:rPr lang="es-ES"/>
              <a:t>El inventario se actualiza según las acciones del administrador.</a:t>
            </a:r>
            <a:endParaRPr/>
          </a:p>
        </p:txBody>
      </p:sp>
      <p:pic>
        <p:nvPicPr>
          <p:cNvPr id="246" name="Google Shape;246;p22"/>
          <p:cNvPicPr preferRelativeResize="0"/>
          <p:nvPr>
            <p:ph idx="2" type="pic"/>
          </p:nvPr>
        </p:nvPicPr>
        <p:blipFill rotWithShape="1">
          <a:blip r:embed="rId3">
            <a:alphaModFix/>
          </a:blip>
          <a:srcRect b="374" l="0" r="0" t="372"/>
          <a:stretch/>
        </p:blipFill>
        <p:spPr>
          <a:xfrm>
            <a:off x="4836195" y="1058816"/>
            <a:ext cx="3307478" cy="359736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3"/>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CASO DE USO: GESTIONAR INVENTARIO</a:t>
            </a:r>
            <a:endParaRPr/>
          </a:p>
        </p:txBody>
      </p:sp>
      <p:sp>
        <p:nvSpPr>
          <p:cNvPr id="253" name="Google Shape;253;p23"/>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CASO DE USO</a:t>
            </a:r>
            <a:endParaRPr b="0">
              <a:solidFill>
                <a:srgbClr val="0070C0"/>
              </a:solidFill>
            </a:endParaRPr>
          </a:p>
        </p:txBody>
      </p:sp>
      <p:sp>
        <p:nvSpPr>
          <p:cNvPr id="254" name="Google Shape;254;p23"/>
          <p:cNvSpPr txBox="1"/>
          <p:nvPr>
            <p:ph idx="4" type="body"/>
          </p:nvPr>
        </p:nvSpPr>
        <p:spPr>
          <a:xfrm>
            <a:off x="468313" y="1177927"/>
            <a:ext cx="8077171" cy="4096800"/>
          </a:xfrm>
          <a:prstGeom prst="rect">
            <a:avLst/>
          </a:prstGeom>
          <a:noFill/>
          <a:ln>
            <a:noFill/>
          </a:ln>
        </p:spPr>
        <p:txBody>
          <a:bodyPr anchorCtr="0" anchor="t" bIns="45700" lIns="91425" spcFirstLastPara="1" rIns="91425" wrap="square" tIns="45700">
            <a:noAutofit/>
          </a:bodyPr>
          <a:lstStyle/>
          <a:p>
            <a:pPr indent="-266700" lvl="0" marL="266700" rtl="0" algn="just">
              <a:lnSpc>
                <a:spcPct val="90000"/>
              </a:lnSpc>
              <a:spcBef>
                <a:spcPts val="0"/>
              </a:spcBef>
              <a:spcAft>
                <a:spcPts val="0"/>
              </a:spcAft>
              <a:buClr>
                <a:schemeClr val="accent1"/>
              </a:buClr>
              <a:buSzPts val="1200"/>
              <a:buChar char="❑"/>
            </a:pPr>
            <a:r>
              <a:rPr b="1" i="1" lang="es-ES">
                <a:solidFill>
                  <a:schemeClr val="accent1"/>
                </a:solidFill>
              </a:rPr>
              <a:t>Flujo Principal:</a:t>
            </a:r>
            <a:endParaRPr/>
          </a:p>
          <a:p>
            <a:pPr indent="-184150" lvl="1" marL="450850" rtl="0" algn="just">
              <a:lnSpc>
                <a:spcPct val="90000"/>
              </a:lnSpc>
              <a:spcBef>
                <a:spcPts val="0"/>
              </a:spcBef>
              <a:spcAft>
                <a:spcPts val="0"/>
              </a:spcAft>
              <a:buClr>
                <a:schemeClr val="dk1"/>
              </a:buClr>
              <a:buSzPts val="1600"/>
              <a:buFont typeface="Calibri"/>
              <a:buAutoNum type="arabicPeriod"/>
            </a:pPr>
            <a:r>
              <a:rPr lang="es-ES"/>
              <a:t>El administrador accede a la sección de gestión de inventario.</a:t>
            </a:r>
            <a:endParaRPr/>
          </a:p>
          <a:p>
            <a:pPr indent="-184150" lvl="1" marL="450850" rtl="0" algn="just">
              <a:lnSpc>
                <a:spcPct val="90000"/>
              </a:lnSpc>
              <a:spcBef>
                <a:spcPts val="0"/>
              </a:spcBef>
              <a:spcAft>
                <a:spcPts val="0"/>
              </a:spcAft>
              <a:buClr>
                <a:schemeClr val="dk1"/>
              </a:buClr>
              <a:buSzPts val="1600"/>
              <a:buFont typeface="Calibri"/>
              <a:buAutoNum type="arabicPeriod"/>
            </a:pPr>
            <a:r>
              <a:rPr lang="es-ES"/>
              <a:t>El sistema muestra la lista de productos disponibles.</a:t>
            </a:r>
            <a:endParaRPr/>
          </a:p>
          <a:p>
            <a:pPr indent="-184150" lvl="1" marL="450850" rtl="0" algn="just">
              <a:lnSpc>
                <a:spcPct val="90000"/>
              </a:lnSpc>
              <a:spcBef>
                <a:spcPts val="0"/>
              </a:spcBef>
              <a:spcAft>
                <a:spcPts val="0"/>
              </a:spcAft>
              <a:buClr>
                <a:schemeClr val="dk1"/>
              </a:buClr>
              <a:buSzPts val="1600"/>
              <a:buFont typeface="Calibri"/>
              <a:buAutoNum type="arabicPeriod"/>
            </a:pPr>
            <a:r>
              <a:rPr lang="es-ES"/>
              <a:t>El administrador selecciona un producto para editar o añadir un nuevo producto.</a:t>
            </a:r>
            <a:endParaRPr/>
          </a:p>
          <a:p>
            <a:pPr indent="-184150" lvl="1" marL="450850" rtl="0" algn="just">
              <a:lnSpc>
                <a:spcPct val="90000"/>
              </a:lnSpc>
              <a:spcBef>
                <a:spcPts val="0"/>
              </a:spcBef>
              <a:spcAft>
                <a:spcPts val="0"/>
              </a:spcAft>
              <a:buClr>
                <a:schemeClr val="dk1"/>
              </a:buClr>
              <a:buSzPts val="1600"/>
              <a:buFont typeface="Calibri"/>
              <a:buAutoNum type="arabicPeriod"/>
            </a:pPr>
            <a:r>
              <a:rPr lang="es-ES"/>
              <a:t>El sistema muestra el formulario de detalles del producto.</a:t>
            </a:r>
            <a:endParaRPr/>
          </a:p>
          <a:p>
            <a:pPr indent="-184150" lvl="1" marL="450850" rtl="0" algn="just">
              <a:lnSpc>
                <a:spcPct val="90000"/>
              </a:lnSpc>
              <a:spcBef>
                <a:spcPts val="0"/>
              </a:spcBef>
              <a:spcAft>
                <a:spcPts val="0"/>
              </a:spcAft>
              <a:buClr>
                <a:schemeClr val="dk1"/>
              </a:buClr>
              <a:buSzPts val="1600"/>
              <a:buFont typeface="Calibri"/>
              <a:buAutoNum type="arabicPeriod"/>
            </a:pPr>
            <a:r>
              <a:rPr lang="es-ES"/>
              <a:t>El administrador actualiza la información y guarda los cambios.</a:t>
            </a:r>
            <a:endParaRPr/>
          </a:p>
          <a:p>
            <a:pPr indent="-184150" lvl="1" marL="450850" rtl="0" algn="just">
              <a:lnSpc>
                <a:spcPct val="90000"/>
              </a:lnSpc>
              <a:spcBef>
                <a:spcPts val="0"/>
              </a:spcBef>
              <a:spcAft>
                <a:spcPts val="0"/>
              </a:spcAft>
              <a:buClr>
                <a:schemeClr val="dk1"/>
              </a:buClr>
              <a:buSzPts val="1600"/>
              <a:buFont typeface="Calibri"/>
              <a:buAutoNum type="arabicPeriod"/>
            </a:pPr>
            <a:r>
              <a:rPr lang="es-ES"/>
              <a:t>El sistema actualiza el inventario y muestra un mensaje de confirmación.</a:t>
            </a:r>
            <a:endParaRPr/>
          </a:p>
          <a:p>
            <a:pPr indent="-82550" lvl="1" marL="450850" rtl="0" algn="just">
              <a:lnSpc>
                <a:spcPct val="90000"/>
              </a:lnSpc>
              <a:spcBef>
                <a:spcPts val="300"/>
              </a:spcBef>
              <a:spcAft>
                <a:spcPts val="0"/>
              </a:spcAft>
              <a:buClr>
                <a:schemeClr val="dk1"/>
              </a:buClr>
              <a:buSzPts val="1600"/>
              <a:buFont typeface="Calibri"/>
              <a:buNone/>
            </a:pPr>
            <a:r>
              <a:t/>
            </a:r>
            <a:endParaRPr/>
          </a:p>
          <a:p>
            <a:pPr indent="-266700" lvl="0" marL="266700" rtl="0" algn="just">
              <a:lnSpc>
                <a:spcPct val="90000"/>
              </a:lnSpc>
              <a:spcBef>
                <a:spcPts val="300"/>
              </a:spcBef>
              <a:spcAft>
                <a:spcPts val="0"/>
              </a:spcAft>
              <a:buClr>
                <a:schemeClr val="accent1"/>
              </a:buClr>
              <a:buSzPts val="1200"/>
              <a:buChar char="❑"/>
            </a:pPr>
            <a:r>
              <a:rPr b="1" i="1" lang="es-ES">
                <a:solidFill>
                  <a:schemeClr val="accent1"/>
                </a:solidFill>
              </a:rPr>
              <a:t>Flujos Alternativos:</a:t>
            </a:r>
            <a:endParaRPr/>
          </a:p>
          <a:p>
            <a:pPr indent="-265113" lvl="1" marL="531813" rtl="0" algn="just">
              <a:lnSpc>
                <a:spcPct val="90000"/>
              </a:lnSpc>
              <a:spcBef>
                <a:spcPts val="0"/>
              </a:spcBef>
              <a:spcAft>
                <a:spcPts val="0"/>
              </a:spcAft>
              <a:buClr>
                <a:schemeClr val="dk1"/>
              </a:buClr>
              <a:buSzPts val="1600"/>
              <a:buChar char="→"/>
            </a:pPr>
            <a:r>
              <a:rPr lang="es-ES"/>
              <a:t>4a. Si la información del producto es inválida:</a:t>
            </a:r>
            <a:endParaRPr/>
          </a:p>
          <a:p>
            <a:pPr indent="-185736" lvl="2" marL="715963" rtl="0" algn="just">
              <a:lnSpc>
                <a:spcPct val="90000"/>
              </a:lnSpc>
              <a:spcBef>
                <a:spcPts val="0"/>
              </a:spcBef>
              <a:spcAft>
                <a:spcPts val="0"/>
              </a:spcAft>
              <a:buClr>
                <a:schemeClr val="dk1"/>
              </a:buClr>
              <a:buSzPts val="1600"/>
              <a:buFont typeface="Calibri"/>
              <a:buAutoNum type="arabicPeriod"/>
            </a:pPr>
            <a:r>
              <a:rPr lang="es-ES"/>
              <a:t>El sistema muestra un mensaje de error.</a:t>
            </a:r>
            <a:endParaRPr/>
          </a:p>
          <a:p>
            <a:pPr indent="-185736" lvl="2" marL="715963" rtl="0" algn="just">
              <a:lnSpc>
                <a:spcPct val="90000"/>
              </a:lnSpc>
              <a:spcBef>
                <a:spcPts val="0"/>
              </a:spcBef>
              <a:spcAft>
                <a:spcPts val="0"/>
              </a:spcAft>
              <a:buClr>
                <a:schemeClr val="dk1"/>
              </a:buClr>
              <a:buSzPts val="1600"/>
              <a:buFont typeface="Calibri"/>
              <a:buAutoNum type="arabicPeriod"/>
            </a:pPr>
            <a:r>
              <a:rPr lang="es-ES"/>
              <a:t>El administrador puede corregir la información o cancelar la edición.</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4"/>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261" name="Google Shape;261;p24"/>
          <p:cNvSpPr/>
          <p:nvPr/>
        </p:nvSpPr>
        <p:spPr>
          <a:xfrm>
            <a:off x="424252" y="3703125"/>
            <a:ext cx="7966170" cy="523180"/>
          </a:xfrm>
          <a:prstGeom prst="rect">
            <a:avLst/>
          </a:prstGeom>
          <a:noFill/>
          <a:ln>
            <a:noFill/>
          </a:ln>
        </p:spPr>
        <p:txBody>
          <a:bodyPr anchorCtr="0" anchor="t" bIns="45700" lIns="91425" spcFirstLastPara="1" rIns="91425" wrap="square" tIns="45700">
            <a:spAutoFit/>
          </a:bodyPr>
          <a:lstStyle/>
          <a:p>
            <a:pPr indent="-274638" lvl="0" marL="274638" marR="0" rtl="0" algn="l">
              <a:lnSpc>
                <a:spcPct val="100000"/>
              </a:lnSpc>
              <a:spcBef>
                <a:spcPts val="0"/>
              </a:spcBef>
              <a:spcAft>
                <a:spcPts val="0"/>
              </a:spcAft>
              <a:buClr>
                <a:srgbClr val="000000"/>
              </a:buClr>
              <a:buSzPts val="2800"/>
              <a:buFont typeface="Arial"/>
              <a:buNone/>
            </a:pPr>
            <a:r>
              <a:rPr b="1" i="0" lang="es-ES" sz="2800" u="none" cap="none" strike="noStrike">
                <a:solidFill>
                  <a:schemeClr val="lt1"/>
                </a:solidFill>
                <a:latin typeface="Calibri"/>
                <a:ea typeface="Calibri"/>
                <a:cs typeface="Calibri"/>
                <a:sym typeface="Calibri"/>
              </a:rPr>
              <a:t>/	GENERALIZACIÓN</a:t>
            </a:r>
            <a:endParaRPr b="1" i="0" sz="2800" u="none" cap="none" strike="noStrike">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5"/>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¿EN QUÉ CONSISTE LA GENERALIZACIÓN?</a:t>
            </a:r>
            <a:endParaRPr/>
          </a:p>
        </p:txBody>
      </p:sp>
      <p:sp>
        <p:nvSpPr>
          <p:cNvPr id="268" name="Google Shape;268;p25"/>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GENERALIZACIÓN</a:t>
            </a:r>
            <a:endParaRPr b="0">
              <a:solidFill>
                <a:srgbClr val="0070C0"/>
              </a:solidFill>
            </a:endParaRPr>
          </a:p>
        </p:txBody>
      </p:sp>
      <p:sp>
        <p:nvSpPr>
          <p:cNvPr id="269" name="Google Shape;269;p25"/>
          <p:cNvSpPr txBox="1"/>
          <p:nvPr>
            <p:ph idx="4" type="body"/>
          </p:nvPr>
        </p:nvSpPr>
        <p:spPr>
          <a:xfrm>
            <a:off x="883949" y="1477185"/>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La generalización es una herramienta para simplificar y mejorar la calidad de los modelos de casos de uso.</a:t>
            </a:r>
            <a:endParaRPr/>
          </a:p>
          <a:p>
            <a:pPr indent="-266700" lvl="0" marL="266700" rtl="0" algn="l">
              <a:lnSpc>
                <a:spcPct val="100000"/>
              </a:lnSpc>
              <a:spcBef>
                <a:spcPts val="1200"/>
              </a:spcBef>
              <a:spcAft>
                <a:spcPts val="0"/>
              </a:spcAft>
              <a:buClr>
                <a:schemeClr val="dk1"/>
              </a:buClr>
              <a:buSzPts val="1200"/>
              <a:buChar char="❑"/>
            </a:pPr>
            <a:r>
              <a:rPr lang="es-ES"/>
              <a:t>Permite que el modelo sea más fácil de mantener y entender, ya que elimina la necesidad de repetir comportamientos comunes en múltiples casos de uso.</a:t>
            </a:r>
            <a:endParaRPr/>
          </a:p>
          <a:p>
            <a:pPr indent="-266700" lvl="0" marL="266700" rtl="0" algn="l">
              <a:lnSpc>
                <a:spcPct val="100000"/>
              </a:lnSpc>
              <a:spcBef>
                <a:spcPts val="1200"/>
              </a:spcBef>
              <a:spcAft>
                <a:spcPts val="0"/>
              </a:spcAft>
              <a:buClr>
                <a:schemeClr val="dk1"/>
              </a:buClr>
              <a:buSzPts val="1200"/>
              <a:buChar char="❑"/>
            </a:pPr>
            <a:r>
              <a:rPr lang="es-ES"/>
              <a:t>Un uso excesivo de la generalización puede hacer que el modelo se vuelva demasiado complejo y difícil de entender.</a:t>
            </a:r>
            <a:endParaRPr/>
          </a:p>
          <a:p>
            <a:pPr indent="-190500" lvl="0" marL="266700" rtl="0" algn="just">
              <a:lnSpc>
                <a:spcPct val="100000"/>
              </a:lnSpc>
              <a:spcBef>
                <a:spcPts val="1200"/>
              </a:spcBef>
              <a:spcAft>
                <a:spcPts val="0"/>
              </a:spcAft>
              <a:buClr>
                <a:schemeClr val="dk1"/>
              </a:buClr>
              <a:buSzPts val="1200"/>
              <a:buFont typeface="Noto Sans Symbols"/>
              <a:buNone/>
            </a:pPr>
            <a:r>
              <a:t/>
            </a:r>
            <a:endParaRPr/>
          </a:p>
        </p:txBody>
      </p:sp>
      <p:pic>
        <p:nvPicPr>
          <p:cNvPr id="270" name="Google Shape;270;p25"/>
          <p:cNvPicPr preferRelativeResize="0"/>
          <p:nvPr>
            <p:ph idx="2" type="pic"/>
          </p:nvPr>
        </p:nvPicPr>
        <p:blipFill rotWithShape="1">
          <a:blip r:embed="rId3">
            <a:alphaModFix/>
          </a:blip>
          <a:srcRect b="374" l="0" r="0" t="372"/>
          <a:stretch/>
        </p:blipFill>
        <p:spPr>
          <a:xfrm>
            <a:off x="5085029" y="1055717"/>
            <a:ext cx="3490906" cy="379687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6"/>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PROPÓSITO</a:t>
            </a:r>
            <a:endParaRPr/>
          </a:p>
        </p:txBody>
      </p:sp>
      <p:sp>
        <p:nvSpPr>
          <p:cNvPr id="277" name="Google Shape;277;p26"/>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GENERALIZACIÓN</a:t>
            </a:r>
            <a:endParaRPr b="0">
              <a:solidFill>
                <a:srgbClr val="0070C0"/>
              </a:solidFill>
            </a:endParaRPr>
          </a:p>
        </p:txBody>
      </p:sp>
      <p:sp>
        <p:nvSpPr>
          <p:cNvPr id="278" name="Google Shape;278;p26"/>
          <p:cNvSpPr txBox="1"/>
          <p:nvPr>
            <p:ph idx="4" type="body"/>
          </p:nvPr>
        </p:nvSpPr>
        <p:spPr>
          <a:xfrm>
            <a:off x="701070" y="1177927"/>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b="1" i="1" lang="es-ES" u="sng"/>
              <a:t>Reutilización:</a:t>
            </a:r>
            <a:endParaRPr/>
          </a:p>
          <a:p>
            <a:pPr indent="0" lvl="1" marL="265113" rtl="0" algn="l">
              <a:lnSpc>
                <a:spcPct val="100000"/>
              </a:lnSpc>
              <a:spcBef>
                <a:spcPts val="300"/>
              </a:spcBef>
              <a:spcAft>
                <a:spcPts val="0"/>
              </a:spcAft>
              <a:buClr>
                <a:schemeClr val="dk1"/>
              </a:buClr>
              <a:buSzPts val="1600"/>
              <a:buNone/>
            </a:pPr>
            <a:r>
              <a:rPr lang="es-ES"/>
              <a:t>Evita la duplicación de comportamientos comunes en múltiples casos de uso.</a:t>
            </a:r>
            <a:endParaRPr/>
          </a:p>
          <a:p>
            <a:pPr indent="-266700" lvl="0" marL="266700" rtl="0" algn="l">
              <a:lnSpc>
                <a:spcPct val="100000"/>
              </a:lnSpc>
              <a:spcBef>
                <a:spcPts val="1200"/>
              </a:spcBef>
              <a:spcAft>
                <a:spcPts val="0"/>
              </a:spcAft>
              <a:buClr>
                <a:schemeClr val="dk1"/>
              </a:buClr>
              <a:buSzPts val="1200"/>
              <a:buChar char="❑"/>
            </a:pPr>
            <a:r>
              <a:rPr b="1" i="1" lang="es-ES" u="sng"/>
              <a:t>Abstracción:</a:t>
            </a:r>
            <a:endParaRPr/>
          </a:p>
          <a:p>
            <a:pPr indent="0" lvl="1" marL="265113" rtl="0" algn="l">
              <a:lnSpc>
                <a:spcPct val="100000"/>
              </a:lnSpc>
              <a:spcBef>
                <a:spcPts val="300"/>
              </a:spcBef>
              <a:spcAft>
                <a:spcPts val="0"/>
              </a:spcAft>
              <a:buClr>
                <a:schemeClr val="dk1"/>
              </a:buClr>
              <a:buSzPts val="1600"/>
              <a:buNone/>
            </a:pPr>
            <a:r>
              <a:rPr lang="es-ES"/>
              <a:t>Permite definir un nivel más alto de comportamiento que puede ser especializado por casos de uso más específicos.</a:t>
            </a:r>
            <a:endParaRPr/>
          </a:p>
          <a:p>
            <a:pPr indent="-266700" lvl="0" marL="266700" rtl="0" algn="l">
              <a:lnSpc>
                <a:spcPct val="100000"/>
              </a:lnSpc>
              <a:spcBef>
                <a:spcPts val="1200"/>
              </a:spcBef>
              <a:spcAft>
                <a:spcPts val="0"/>
              </a:spcAft>
              <a:buClr>
                <a:schemeClr val="dk1"/>
              </a:buClr>
              <a:buSzPts val="1200"/>
              <a:buChar char="❑"/>
            </a:pPr>
            <a:r>
              <a:rPr b="1" i="1" lang="es-ES" u="sng"/>
              <a:t>Claridad:</a:t>
            </a:r>
            <a:endParaRPr/>
          </a:p>
          <a:p>
            <a:pPr indent="0" lvl="1" marL="265113" rtl="0" algn="l">
              <a:lnSpc>
                <a:spcPct val="100000"/>
              </a:lnSpc>
              <a:spcBef>
                <a:spcPts val="300"/>
              </a:spcBef>
              <a:spcAft>
                <a:spcPts val="0"/>
              </a:spcAft>
              <a:buClr>
                <a:schemeClr val="dk1"/>
              </a:buClr>
              <a:buSzPts val="1600"/>
              <a:buNone/>
            </a:pPr>
            <a:r>
              <a:rPr lang="es-ES"/>
              <a:t>Hace que el diagrama de casos de uso sea más fácil de entender al agrupar comportamientos similares.</a:t>
            </a:r>
            <a:endParaRPr/>
          </a:p>
        </p:txBody>
      </p:sp>
      <p:pic>
        <p:nvPicPr>
          <p:cNvPr id="279" name="Google Shape;279;p26"/>
          <p:cNvPicPr preferRelativeResize="0"/>
          <p:nvPr>
            <p:ph idx="2" type="pic"/>
          </p:nvPr>
        </p:nvPicPr>
        <p:blipFill rotWithShape="1">
          <a:blip r:embed="rId3">
            <a:alphaModFix/>
          </a:blip>
          <a:srcRect b="24" l="0" r="0" t="26"/>
          <a:stretch/>
        </p:blipFill>
        <p:spPr>
          <a:xfrm>
            <a:off x="5318881" y="1163638"/>
            <a:ext cx="3124049" cy="339786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7"/>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NOMENCLATURA</a:t>
            </a:r>
            <a:endParaRPr/>
          </a:p>
        </p:txBody>
      </p:sp>
      <p:sp>
        <p:nvSpPr>
          <p:cNvPr id="286" name="Google Shape;286;p27"/>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GENERALIZACIÓN</a:t>
            </a:r>
            <a:endParaRPr b="0">
              <a:solidFill>
                <a:srgbClr val="0070C0"/>
              </a:solidFill>
            </a:endParaRPr>
          </a:p>
        </p:txBody>
      </p:sp>
      <p:sp>
        <p:nvSpPr>
          <p:cNvPr id="287" name="Google Shape;287;p27"/>
          <p:cNvSpPr txBox="1"/>
          <p:nvPr>
            <p:ph idx="4" type="body"/>
          </p:nvPr>
        </p:nvSpPr>
        <p:spPr>
          <a:xfrm>
            <a:off x="659506" y="1329594"/>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En un diagrama de casos de uso, la generalización se representa con una línea de flecha que apunta del caso de uso “hijo” al caso de uso “padre”. La flecha tiene una punta de flecha hueca.</a:t>
            </a:r>
            <a:endParaRPr/>
          </a:p>
          <a:p>
            <a:pPr indent="-266700" lvl="0" marL="266700" rtl="0" algn="l">
              <a:lnSpc>
                <a:spcPct val="100000"/>
              </a:lnSpc>
              <a:spcBef>
                <a:spcPts val="1200"/>
              </a:spcBef>
              <a:spcAft>
                <a:spcPts val="0"/>
              </a:spcAft>
              <a:buClr>
                <a:schemeClr val="dk1"/>
              </a:buClr>
              <a:buSzPts val="1200"/>
              <a:buChar char="❑"/>
            </a:pPr>
            <a:r>
              <a:rPr lang="es-ES"/>
              <a:t>Por ejemplo, si tenemos un caso de uso general llamado “Realizar Transacción” y casos de uso más específicos como “Comprar Producto” y “Devolver Producto”.</a:t>
            </a:r>
            <a:endParaRPr/>
          </a:p>
        </p:txBody>
      </p:sp>
      <p:pic>
        <p:nvPicPr>
          <p:cNvPr id="288" name="Google Shape;288;p27"/>
          <p:cNvPicPr preferRelativeResize="0"/>
          <p:nvPr>
            <p:ph idx="2" type="pic"/>
          </p:nvPr>
        </p:nvPicPr>
        <p:blipFill rotWithShape="1">
          <a:blip r:embed="rId3">
            <a:alphaModFix/>
          </a:blip>
          <a:srcRect b="374" l="0" r="0" t="372"/>
          <a:stretch/>
        </p:blipFill>
        <p:spPr>
          <a:xfrm>
            <a:off x="5148850" y="986632"/>
            <a:ext cx="3460335" cy="376362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8"/>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COMPORTAMIENTO COMÚN</a:t>
            </a:r>
            <a:endParaRPr/>
          </a:p>
        </p:txBody>
      </p:sp>
      <p:sp>
        <p:nvSpPr>
          <p:cNvPr id="295" name="Google Shape;295;p28"/>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GENERALIZACIÓN</a:t>
            </a:r>
            <a:endParaRPr b="0">
              <a:solidFill>
                <a:srgbClr val="0070C0"/>
              </a:solidFill>
            </a:endParaRPr>
          </a:p>
        </p:txBody>
      </p:sp>
      <p:sp>
        <p:nvSpPr>
          <p:cNvPr id="296" name="Google Shape;296;p28"/>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Si varios casos de uso comparten un conjunto de comportamientos comunes, puedes utilizar un caso de uso “padre” para representar estos comportamientos y luego hacer que los casos de uso “hijos” hereden de él.</a:t>
            </a:r>
            <a:endParaRPr/>
          </a:p>
          <a:p>
            <a:pPr indent="-266700" lvl="0" marL="266700" rtl="0" algn="l">
              <a:lnSpc>
                <a:spcPct val="100000"/>
              </a:lnSpc>
              <a:spcBef>
                <a:spcPts val="1200"/>
              </a:spcBef>
              <a:spcAft>
                <a:spcPts val="0"/>
              </a:spcAft>
              <a:buClr>
                <a:schemeClr val="dk1"/>
              </a:buClr>
              <a:buSzPts val="1200"/>
              <a:buChar char="❑"/>
            </a:pPr>
            <a:r>
              <a:rPr lang="es-ES"/>
              <a:t>Por ejemplo, supongamos que en un sistema de comercio electrónico, tanto el “Cliente” como el “Administrador” necesita “Iniciar Sesión”. Podríamos tener un caso de uso “padre” llamado “Iniciar Sesión” y casos de uso “hijos” como “Iniciar Sesión como Cliente” e “Iniciar Sesión como Administrador”.</a:t>
            </a:r>
            <a:endParaRPr/>
          </a:p>
        </p:txBody>
      </p:sp>
      <p:pic>
        <p:nvPicPr>
          <p:cNvPr id="297" name="Google Shape;297;p28"/>
          <p:cNvPicPr preferRelativeResize="0"/>
          <p:nvPr>
            <p:ph idx="2" type="pic"/>
          </p:nvPr>
        </p:nvPicPr>
        <p:blipFill rotWithShape="1">
          <a:blip r:embed="rId3">
            <a:alphaModFix/>
          </a:blip>
          <a:srcRect b="480" l="0" r="0" t="480"/>
          <a:stretch/>
        </p:blipFill>
        <p:spPr>
          <a:xfrm>
            <a:off x="5062450" y="1163638"/>
            <a:ext cx="3313979" cy="360443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9"/>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REDUCCIÓN DE COMPLEJIDAD</a:t>
            </a:r>
            <a:endParaRPr/>
          </a:p>
        </p:txBody>
      </p:sp>
      <p:sp>
        <p:nvSpPr>
          <p:cNvPr id="304" name="Google Shape;304;p29"/>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GENERALIZACIÓN</a:t>
            </a:r>
            <a:endParaRPr b="0">
              <a:solidFill>
                <a:srgbClr val="0070C0"/>
              </a:solidFill>
            </a:endParaRPr>
          </a:p>
        </p:txBody>
      </p:sp>
      <p:sp>
        <p:nvSpPr>
          <p:cNvPr id="305" name="Google Shape;305;p29"/>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Si tu diagrama de casos de uso se está volviendo demasiado complejo debido a la repetición de ciertos flujos o acciones, la generalización puede ayudar a simplificar el modelo al eliminar la redundancia.</a:t>
            </a:r>
            <a:endParaRPr/>
          </a:p>
          <a:p>
            <a:pPr indent="-266700" lvl="0" marL="266700" rtl="0" algn="l">
              <a:lnSpc>
                <a:spcPct val="100000"/>
              </a:lnSpc>
              <a:spcBef>
                <a:spcPts val="1200"/>
              </a:spcBef>
              <a:spcAft>
                <a:spcPts val="0"/>
              </a:spcAft>
              <a:buClr>
                <a:schemeClr val="dk1"/>
              </a:buClr>
              <a:buSzPts val="1200"/>
              <a:buChar char="❑"/>
            </a:pPr>
            <a:r>
              <a:rPr lang="es-ES"/>
              <a:t>Por ejemplo, imagina que tienes varios casos de uso relacionados con la gestión de productos: “Añadir Producto”, “Editar Producto”, “Eliminar Producto”. Todos estos podrían generalizarse bajo un caso de uso “padre” llamado “Gestionar Producto” para reducir la complejidad del diagrama.</a:t>
            </a:r>
            <a:endParaRPr/>
          </a:p>
        </p:txBody>
      </p:sp>
      <p:pic>
        <p:nvPicPr>
          <p:cNvPr id="306" name="Google Shape;306;p29"/>
          <p:cNvPicPr preferRelativeResize="0"/>
          <p:nvPr>
            <p:ph idx="2" type="pic"/>
          </p:nvPr>
        </p:nvPicPr>
        <p:blipFill rotWithShape="1">
          <a:blip r:embed="rId3">
            <a:alphaModFix/>
          </a:blip>
          <a:srcRect b="266" l="0" r="0" t="268"/>
          <a:stretch/>
        </p:blipFill>
        <p:spPr>
          <a:xfrm>
            <a:off x="5246472" y="1092067"/>
            <a:ext cx="3246335" cy="353086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0"/>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MANTENIBILIDAD</a:t>
            </a:r>
            <a:endParaRPr/>
          </a:p>
        </p:txBody>
      </p:sp>
      <p:sp>
        <p:nvSpPr>
          <p:cNvPr id="313" name="Google Shape;313;p30"/>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GENERALIZACIÓN</a:t>
            </a:r>
            <a:endParaRPr b="0">
              <a:solidFill>
                <a:srgbClr val="0070C0"/>
              </a:solidFill>
            </a:endParaRPr>
          </a:p>
        </p:txBody>
      </p:sp>
      <p:sp>
        <p:nvSpPr>
          <p:cNvPr id="314" name="Google Shape;314;p30"/>
          <p:cNvSpPr txBox="1"/>
          <p:nvPr>
            <p:ph idx="4" type="body"/>
          </p:nvPr>
        </p:nvSpPr>
        <p:spPr>
          <a:xfrm>
            <a:off x="468313" y="1177927"/>
            <a:ext cx="4411258"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Si anticipas que ciertos comportamientos comunes podrían cambiar en el futuro, colocarlos en un caso de uso “padre” hace que el sistema sea más fácil de mantener. Solo tendrás que hacer cambios en un lugar, y esos cambios se propagan a todos los casos de uso “hijos”.</a:t>
            </a:r>
            <a:endParaRPr/>
          </a:p>
          <a:p>
            <a:pPr indent="-266700" lvl="0" marL="266700" rtl="0" algn="l">
              <a:lnSpc>
                <a:spcPct val="100000"/>
              </a:lnSpc>
              <a:spcBef>
                <a:spcPts val="1200"/>
              </a:spcBef>
              <a:spcAft>
                <a:spcPts val="0"/>
              </a:spcAft>
              <a:buClr>
                <a:schemeClr val="dk1"/>
              </a:buClr>
              <a:buSzPts val="1200"/>
              <a:buChar char="❑"/>
            </a:pPr>
            <a:r>
              <a:rPr lang="es-ES"/>
              <a:t>Por ejemplo, si en un sistema de comercio electrónico hay varios métodos para “Realizar Pago” (tarjeta de crédito, PayPal, transferencia bancaria) y anticipas que las reglas de pago podrían cambiar, podrías tener un caso de uso “padre” llamado “Realizar Pago” para facilitar futuras actualizaciones.</a:t>
            </a:r>
            <a:endParaRPr/>
          </a:p>
        </p:txBody>
      </p:sp>
      <p:pic>
        <p:nvPicPr>
          <p:cNvPr id="315" name="Google Shape;315;p30"/>
          <p:cNvPicPr preferRelativeResize="0"/>
          <p:nvPr>
            <p:ph idx="2" type="pic"/>
          </p:nvPr>
        </p:nvPicPr>
        <p:blipFill rotWithShape="1">
          <a:blip r:embed="rId3">
            <a:alphaModFix/>
          </a:blip>
          <a:srcRect b="489" l="0" r="0" t="491"/>
          <a:stretch/>
        </p:blipFill>
        <p:spPr>
          <a:xfrm>
            <a:off x="5253719" y="1296785"/>
            <a:ext cx="3139335" cy="341448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1"/>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ABSTRACCIÓN Y ESPECIALIZACIÓN</a:t>
            </a:r>
            <a:endParaRPr/>
          </a:p>
        </p:txBody>
      </p:sp>
      <p:sp>
        <p:nvSpPr>
          <p:cNvPr id="322" name="Google Shape;322;p31"/>
          <p:cNvSpPr txBox="1"/>
          <p:nvPr>
            <p:ph idx="3" type="body"/>
          </p:nvPr>
        </p:nvSpPr>
        <p:spPr>
          <a:xfrm>
            <a:off x="468313" y="236250"/>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GENERALIZACIÓN</a:t>
            </a:r>
            <a:endParaRPr b="0">
              <a:solidFill>
                <a:srgbClr val="0070C0"/>
              </a:solidFill>
            </a:endParaRPr>
          </a:p>
        </p:txBody>
      </p:sp>
      <p:sp>
        <p:nvSpPr>
          <p:cNvPr id="323" name="Google Shape;323;p31"/>
          <p:cNvSpPr txBox="1"/>
          <p:nvPr>
            <p:ph idx="4" type="body"/>
          </p:nvPr>
        </p:nvSpPr>
        <p:spPr>
          <a:xfrm>
            <a:off x="468313" y="1177927"/>
            <a:ext cx="4369694"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Si tienes un comportamiento general que puede tener múltiples variantes o especializaciones, la generalización te permite capturar esta relación de manera explícita. Por ejemplo, un caso de uso “Realizar Pago” podría generalizarse en “Pagar con Tarjeta de Crédito” y “Pagar con PayPal”.</a:t>
            </a:r>
            <a:endParaRPr/>
          </a:p>
          <a:p>
            <a:pPr indent="-266700" lvl="0" marL="266700" rtl="0" algn="l">
              <a:lnSpc>
                <a:spcPct val="100000"/>
              </a:lnSpc>
              <a:spcBef>
                <a:spcPts val="1200"/>
              </a:spcBef>
              <a:spcAft>
                <a:spcPts val="0"/>
              </a:spcAft>
              <a:buClr>
                <a:schemeClr val="dk1"/>
              </a:buClr>
              <a:buSzPts val="1200"/>
              <a:buChar char="❑"/>
            </a:pPr>
            <a:r>
              <a:rPr lang="es-ES"/>
              <a:t>Por ejemplo, en un sistema de comercio electrónico, podrías tener un caso de uso “padre” llamado “Realizar Pago” y casos de uso “hijos” más específicos como “Pagar con Tarjeta de Crédito” y “Pagar con PayPal”.</a:t>
            </a:r>
            <a:endParaRPr/>
          </a:p>
        </p:txBody>
      </p:sp>
      <p:pic>
        <p:nvPicPr>
          <p:cNvPr id="324" name="Google Shape;324;p31"/>
          <p:cNvPicPr preferRelativeResize="0"/>
          <p:nvPr>
            <p:ph idx="2" type="pic"/>
          </p:nvPr>
        </p:nvPicPr>
        <p:blipFill rotWithShape="1">
          <a:blip r:embed="rId3">
            <a:alphaModFix/>
          </a:blip>
          <a:srcRect b="374" l="0" r="0" t="372"/>
          <a:stretch/>
        </p:blipFill>
        <p:spPr>
          <a:xfrm>
            <a:off x="5137265" y="1163638"/>
            <a:ext cx="3047972" cy="331511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2"/>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CLARIDAD Y COMUNICACIÓN</a:t>
            </a:r>
            <a:endParaRPr/>
          </a:p>
        </p:txBody>
      </p:sp>
      <p:sp>
        <p:nvSpPr>
          <p:cNvPr id="331" name="Google Shape;331;p32"/>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GENERALIZACIÓN</a:t>
            </a:r>
            <a:endParaRPr b="0">
              <a:solidFill>
                <a:srgbClr val="0070C0"/>
              </a:solidFill>
            </a:endParaRPr>
          </a:p>
        </p:txBody>
      </p:sp>
      <p:sp>
        <p:nvSpPr>
          <p:cNvPr id="332" name="Google Shape;332;p32"/>
          <p:cNvSpPr txBox="1"/>
          <p:nvPr>
            <p:ph idx="4" type="body"/>
          </p:nvPr>
        </p:nvSpPr>
        <p:spPr>
          <a:xfrm>
            <a:off x="468313" y="1177927"/>
            <a:ext cx="4868458"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La generalización puede hacer que el diagrama sea más fácil de entender al agrupar casos de uso relacionados. Esto es especialmente útil en proyectos grandes con múltiples stakeholders que pueden no estar familiarizados con todos los detalles del sistema.</a:t>
            </a:r>
            <a:endParaRPr/>
          </a:p>
          <a:p>
            <a:pPr indent="-266700" lvl="0" marL="266700" rtl="0" algn="l">
              <a:lnSpc>
                <a:spcPct val="100000"/>
              </a:lnSpc>
              <a:spcBef>
                <a:spcPts val="1200"/>
              </a:spcBef>
              <a:spcAft>
                <a:spcPts val="0"/>
              </a:spcAft>
              <a:buClr>
                <a:schemeClr val="dk1"/>
              </a:buClr>
              <a:buSzPts val="1200"/>
              <a:buChar char="❑"/>
            </a:pPr>
            <a:r>
              <a:rPr lang="es-ES"/>
              <a:t>Por ejemplo, si estás desarrollando un sistema con múltiples tipos de usuarios (Cliente, Administrador, Proveedor), podrías tener un caso de uso “padre” llamado “Gestionar Perfil” que se generalice en “Gestionar Perfil de Cliente”, “Gestionar Perfil de Administrador”, etc., para hacer el diagrama más claro.</a:t>
            </a:r>
            <a:endParaRPr/>
          </a:p>
        </p:txBody>
      </p:sp>
      <p:pic>
        <p:nvPicPr>
          <p:cNvPr id="333" name="Google Shape;333;p32"/>
          <p:cNvPicPr preferRelativeResize="0"/>
          <p:nvPr>
            <p:ph idx="2" type="pic"/>
          </p:nvPr>
        </p:nvPicPr>
        <p:blipFill rotWithShape="1">
          <a:blip r:embed="rId3">
            <a:alphaModFix/>
          </a:blip>
          <a:srcRect b="374" l="0" r="0" t="372"/>
          <a:stretch/>
        </p:blipFill>
        <p:spPr>
          <a:xfrm>
            <a:off x="5253642" y="1355619"/>
            <a:ext cx="3131099" cy="340552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3"/>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REUTILIZACIÓN DE PRUEBAS</a:t>
            </a:r>
            <a:endParaRPr/>
          </a:p>
        </p:txBody>
      </p:sp>
      <p:sp>
        <p:nvSpPr>
          <p:cNvPr id="340" name="Google Shape;340;p33"/>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GENERALIZACIÓN</a:t>
            </a:r>
            <a:endParaRPr b="0">
              <a:solidFill>
                <a:srgbClr val="0070C0"/>
              </a:solidFill>
            </a:endParaRPr>
          </a:p>
        </p:txBody>
      </p:sp>
      <p:sp>
        <p:nvSpPr>
          <p:cNvPr id="341" name="Google Shape;341;p33"/>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Al tener un caso de uso “padre” que encapsula comportamientos comunes, puedes reutilizar escenarios de prueba para ese caso de uso en todos los casos de uso “hijos”, lo que ahorra tiempo y esfuerzo en la fase de pruebas.</a:t>
            </a:r>
            <a:endParaRPr/>
          </a:p>
          <a:p>
            <a:pPr indent="-266700" lvl="0" marL="266700" rtl="0" algn="l">
              <a:lnSpc>
                <a:spcPct val="100000"/>
              </a:lnSpc>
              <a:spcBef>
                <a:spcPts val="1200"/>
              </a:spcBef>
              <a:spcAft>
                <a:spcPts val="0"/>
              </a:spcAft>
              <a:buClr>
                <a:schemeClr val="dk1"/>
              </a:buClr>
              <a:buSzPts val="1200"/>
              <a:buChar char="❑"/>
            </a:pPr>
            <a:r>
              <a:rPr lang="es-ES"/>
              <a:t>Por ejemplo, si tienes un caso de uso “padre” para “Buscar Producto”, podrías reutilizar los escenarios de prueba para ese caso de uso en casos de uso “hijos” como “Buscar Producto por Nombre” y “Buscar Producto por Categoría”.</a:t>
            </a:r>
            <a:endParaRPr/>
          </a:p>
        </p:txBody>
      </p:sp>
      <p:pic>
        <p:nvPicPr>
          <p:cNvPr id="342" name="Google Shape;342;p33"/>
          <p:cNvPicPr preferRelativeResize="0"/>
          <p:nvPr>
            <p:ph idx="2" type="pic"/>
          </p:nvPr>
        </p:nvPicPr>
        <p:blipFill rotWithShape="1">
          <a:blip r:embed="rId3">
            <a:alphaModFix/>
          </a:blip>
          <a:srcRect b="374" l="0" r="0" t="372"/>
          <a:stretch/>
        </p:blipFill>
        <p:spPr>
          <a:xfrm>
            <a:off x="5208929" y="1067129"/>
            <a:ext cx="3292192" cy="358074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34"/>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349" name="Google Shape;349;p34"/>
          <p:cNvSpPr/>
          <p:nvPr/>
        </p:nvSpPr>
        <p:spPr>
          <a:xfrm>
            <a:off x="424252" y="3703125"/>
            <a:ext cx="7966170" cy="523180"/>
          </a:xfrm>
          <a:prstGeom prst="rect">
            <a:avLst/>
          </a:prstGeom>
          <a:noFill/>
          <a:ln>
            <a:noFill/>
          </a:ln>
        </p:spPr>
        <p:txBody>
          <a:bodyPr anchorCtr="0" anchor="t" bIns="45700" lIns="91425" spcFirstLastPara="1" rIns="91425" wrap="square" tIns="45700">
            <a:spAutoFit/>
          </a:bodyPr>
          <a:lstStyle/>
          <a:p>
            <a:pPr indent="-274638" lvl="0" marL="274638" marR="0" rtl="0" algn="l">
              <a:lnSpc>
                <a:spcPct val="100000"/>
              </a:lnSpc>
              <a:spcBef>
                <a:spcPts val="0"/>
              </a:spcBef>
              <a:spcAft>
                <a:spcPts val="0"/>
              </a:spcAft>
              <a:buClr>
                <a:srgbClr val="000000"/>
              </a:buClr>
              <a:buSzPts val="2800"/>
              <a:buFont typeface="Arial"/>
              <a:buNone/>
            </a:pPr>
            <a:r>
              <a:rPr b="1" i="0" lang="es-ES" sz="2800" u="none" cap="none" strike="noStrike">
                <a:solidFill>
                  <a:schemeClr val="lt1"/>
                </a:solidFill>
                <a:latin typeface="Calibri"/>
                <a:ea typeface="Calibri"/>
                <a:cs typeface="Calibri"/>
                <a:sym typeface="Calibri"/>
              </a:rPr>
              <a:t>/	INCLUSIONES Y EXTENSIONES</a:t>
            </a:r>
            <a:endParaRPr b="1" i="0" sz="2800" u="none" cap="none" strike="noStrike">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5"/>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800"/>
              <a:buNone/>
            </a:pPr>
            <a:r>
              <a:rPr b="1" lang="es-ES" sz="1800">
                <a:latin typeface="Quattrocento Sans"/>
                <a:ea typeface="Quattrocento Sans"/>
                <a:cs typeface="Quattrocento Sans"/>
                <a:sym typeface="Quattrocento Sans"/>
              </a:rPr>
              <a:t>INCLUSIONES («include»)</a:t>
            </a:r>
            <a:endParaRPr/>
          </a:p>
        </p:txBody>
      </p:sp>
      <p:sp>
        <p:nvSpPr>
          <p:cNvPr id="356" name="Google Shape;356;p35"/>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1F85A6"/>
              </a:buClr>
              <a:buSzPts val="1800"/>
              <a:buNone/>
            </a:pPr>
            <a:r>
              <a:rPr b="0" lang="es-ES"/>
              <a:t>/ INCLUSIONES Y EXTENSIONES</a:t>
            </a:r>
            <a:endParaRPr b="0"/>
          </a:p>
        </p:txBody>
      </p:sp>
      <p:sp>
        <p:nvSpPr>
          <p:cNvPr id="357" name="Google Shape;357;p35"/>
          <p:cNvSpPr txBox="1"/>
          <p:nvPr>
            <p:ph idx="4" type="body"/>
          </p:nvPr>
        </p:nvSpPr>
        <p:spPr>
          <a:xfrm>
            <a:off x="468313" y="1177927"/>
            <a:ext cx="4619075"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Son una forma de reutilizar el comportamiento de un caso de uso dentro de otro. </a:t>
            </a:r>
            <a:endParaRPr/>
          </a:p>
          <a:p>
            <a:pPr indent="-266700" lvl="0" marL="266700" rtl="0" algn="l">
              <a:lnSpc>
                <a:spcPct val="100000"/>
              </a:lnSpc>
              <a:spcBef>
                <a:spcPts val="1200"/>
              </a:spcBef>
              <a:spcAft>
                <a:spcPts val="0"/>
              </a:spcAft>
              <a:buClr>
                <a:schemeClr val="dk1"/>
              </a:buClr>
              <a:buSzPts val="1200"/>
              <a:buChar char="❑"/>
            </a:pPr>
            <a:r>
              <a:rPr lang="es-ES"/>
              <a:t>Cuando un caso de uso incluye a otro, significa que el comportamiento del caso de uso incluido se inserta en el caso de uso que lo incluye.</a:t>
            </a:r>
            <a:endParaRPr/>
          </a:p>
          <a:p>
            <a:pPr indent="-266700" lvl="0" marL="266700" rtl="0" algn="l">
              <a:lnSpc>
                <a:spcPct val="100000"/>
              </a:lnSpc>
              <a:spcBef>
                <a:spcPts val="1200"/>
              </a:spcBef>
              <a:spcAft>
                <a:spcPts val="0"/>
              </a:spcAft>
              <a:buClr>
                <a:schemeClr val="dk1"/>
              </a:buClr>
              <a:buSzPts val="1200"/>
              <a:buChar char="❑"/>
            </a:pPr>
            <a:r>
              <a:rPr lang="es-ES"/>
              <a:t>Se representa con una línea de flecha punteada que apunta al caso de uso incluido, etiquetada con «include».</a:t>
            </a:r>
            <a:endParaRPr/>
          </a:p>
          <a:p>
            <a:pPr indent="-266700" lvl="0" marL="266700" rtl="0" algn="l">
              <a:lnSpc>
                <a:spcPct val="100000"/>
              </a:lnSpc>
              <a:spcBef>
                <a:spcPts val="1200"/>
              </a:spcBef>
              <a:spcAft>
                <a:spcPts val="0"/>
              </a:spcAft>
              <a:buClr>
                <a:schemeClr val="dk1"/>
              </a:buClr>
              <a:buSzPts val="1200"/>
              <a:buChar char="❑"/>
            </a:pPr>
            <a:r>
              <a:rPr lang="es-ES"/>
              <a:t>Por ejemplo; en un sistema de comercio electrónico, el caso de uso “Realizar Compra” podría incluir el caso de uso “Calcular Impuestos”.</a:t>
            </a:r>
            <a:endParaRPr/>
          </a:p>
          <a:p>
            <a:pPr indent="-190500" lvl="0" marL="266700" rtl="0" algn="just">
              <a:lnSpc>
                <a:spcPct val="100000"/>
              </a:lnSpc>
              <a:spcBef>
                <a:spcPts val="1200"/>
              </a:spcBef>
              <a:spcAft>
                <a:spcPts val="0"/>
              </a:spcAft>
              <a:buClr>
                <a:schemeClr val="dk1"/>
              </a:buClr>
              <a:buSzPts val="1200"/>
              <a:buFont typeface="Noto Sans Symbols"/>
              <a:buNone/>
            </a:pPr>
            <a:r>
              <a:t/>
            </a:r>
            <a:endParaRPr/>
          </a:p>
        </p:txBody>
      </p:sp>
      <p:pic>
        <p:nvPicPr>
          <p:cNvPr id="358" name="Google Shape;358;p35"/>
          <p:cNvPicPr preferRelativeResize="0"/>
          <p:nvPr>
            <p:ph idx="2" type="pic"/>
          </p:nvPr>
        </p:nvPicPr>
        <p:blipFill rotWithShape="1">
          <a:blip r:embed="rId3">
            <a:alphaModFix/>
          </a:blip>
          <a:srcRect b="374" l="0" r="0" t="372"/>
          <a:stretch/>
        </p:blipFill>
        <p:spPr>
          <a:xfrm>
            <a:off x="5320144" y="1105008"/>
            <a:ext cx="3222539" cy="350498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36"/>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800"/>
              <a:buNone/>
            </a:pPr>
            <a:r>
              <a:rPr b="1" lang="es-ES" sz="1800">
                <a:latin typeface="Quattrocento Sans"/>
                <a:ea typeface="Quattrocento Sans"/>
                <a:cs typeface="Quattrocento Sans"/>
                <a:sym typeface="Quattrocento Sans"/>
              </a:rPr>
              <a:t>CUÁNDO UTILIZAR «include»</a:t>
            </a:r>
            <a:endParaRPr/>
          </a:p>
        </p:txBody>
      </p:sp>
      <p:sp>
        <p:nvSpPr>
          <p:cNvPr id="365" name="Google Shape;365;p36"/>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INCLUSIONES Y EXTENSIONES</a:t>
            </a:r>
            <a:endParaRPr b="0">
              <a:solidFill>
                <a:srgbClr val="0070C0"/>
              </a:solidFill>
            </a:endParaRPr>
          </a:p>
        </p:txBody>
      </p:sp>
      <p:sp>
        <p:nvSpPr>
          <p:cNvPr id="366" name="Google Shape;366;p36"/>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1"/>
              </a:buClr>
              <a:buSzPts val="1200"/>
              <a:buNone/>
            </a:pPr>
            <a:r>
              <a:rPr b="1" lang="es-ES">
                <a:solidFill>
                  <a:schemeClr val="accent1"/>
                </a:solidFill>
              </a:rPr>
              <a:t>FLUJOS COMUNES:</a:t>
            </a:r>
            <a:endParaRPr/>
          </a:p>
          <a:p>
            <a:pPr indent="-266700" lvl="0" marL="266700" rtl="0" algn="l">
              <a:lnSpc>
                <a:spcPct val="100000"/>
              </a:lnSpc>
              <a:spcBef>
                <a:spcPts val="1200"/>
              </a:spcBef>
              <a:spcAft>
                <a:spcPts val="0"/>
              </a:spcAft>
              <a:buClr>
                <a:schemeClr val="dk1"/>
              </a:buClr>
              <a:buSzPts val="1200"/>
              <a:buChar char="❑"/>
            </a:pPr>
            <a:r>
              <a:rPr lang="es-ES"/>
              <a:t>Cuando varios casos de uso comparten un flujo o comportamiento común que siempre debe ejecutarse. </a:t>
            </a:r>
            <a:endParaRPr/>
          </a:p>
          <a:p>
            <a:pPr indent="-266700" lvl="0" marL="266700" rtl="0" algn="l">
              <a:lnSpc>
                <a:spcPct val="100000"/>
              </a:lnSpc>
              <a:spcBef>
                <a:spcPts val="1200"/>
              </a:spcBef>
              <a:spcAft>
                <a:spcPts val="0"/>
              </a:spcAft>
              <a:buClr>
                <a:schemeClr val="dk1"/>
              </a:buClr>
              <a:buSzPts val="1200"/>
              <a:buChar char="❑"/>
            </a:pPr>
            <a:r>
              <a:rPr lang="es-ES"/>
              <a:t>Por ejemplo; en un sistema de comercio electrónico, los casos de uso “Comprar Producto” y “Comprar Tarjeta de Regalo” podrían incluir un caso de uso “Realizar Pago” para manejar el proceso de pago.</a:t>
            </a:r>
            <a:endParaRPr/>
          </a:p>
        </p:txBody>
      </p:sp>
      <p:pic>
        <p:nvPicPr>
          <p:cNvPr id="367" name="Google Shape;367;p36"/>
          <p:cNvPicPr preferRelativeResize="0"/>
          <p:nvPr>
            <p:ph idx="2" type="pic"/>
          </p:nvPr>
        </p:nvPicPr>
        <p:blipFill rotWithShape="1">
          <a:blip r:embed="rId3">
            <a:alphaModFix/>
          </a:blip>
          <a:srcRect b="374" l="0" r="0" t="372"/>
          <a:stretch/>
        </p:blipFill>
        <p:spPr>
          <a:xfrm>
            <a:off x="4968651" y="986632"/>
            <a:ext cx="3490906" cy="379687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37"/>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800"/>
              <a:buNone/>
            </a:pPr>
            <a:r>
              <a:rPr b="1" lang="es-ES" sz="1800">
                <a:latin typeface="Quattrocento Sans"/>
                <a:ea typeface="Quattrocento Sans"/>
                <a:cs typeface="Quattrocento Sans"/>
                <a:sym typeface="Quattrocento Sans"/>
              </a:rPr>
              <a:t>CUÁNDO UTILIZAR «include»</a:t>
            </a:r>
            <a:endParaRPr/>
          </a:p>
        </p:txBody>
      </p:sp>
      <p:sp>
        <p:nvSpPr>
          <p:cNvPr id="374" name="Google Shape;374;p37"/>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INCLUSIONES Y EXTENSIONES</a:t>
            </a:r>
            <a:endParaRPr b="0">
              <a:solidFill>
                <a:srgbClr val="0070C0"/>
              </a:solidFill>
            </a:endParaRPr>
          </a:p>
        </p:txBody>
      </p:sp>
      <p:sp>
        <p:nvSpPr>
          <p:cNvPr id="375" name="Google Shape;375;p37"/>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1200"/>
              <a:buNone/>
            </a:pPr>
            <a:r>
              <a:rPr b="1" lang="es-ES">
                <a:solidFill>
                  <a:schemeClr val="accent1"/>
                </a:solidFill>
              </a:rPr>
              <a:t>MODULARIDAD:</a:t>
            </a:r>
            <a:endParaRPr/>
          </a:p>
          <a:p>
            <a:pPr indent="-266700" lvl="0" marL="266700" rtl="0" algn="l">
              <a:lnSpc>
                <a:spcPct val="100000"/>
              </a:lnSpc>
              <a:spcBef>
                <a:spcPts val="1200"/>
              </a:spcBef>
              <a:spcAft>
                <a:spcPts val="0"/>
              </a:spcAft>
              <a:buClr>
                <a:schemeClr val="dk1"/>
              </a:buClr>
              <a:buSzPts val="1200"/>
              <a:buChar char="❑"/>
            </a:pPr>
            <a:r>
              <a:rPr lang="es-ES"/>
              <a:t>Cuando quieres modularizar un comportamiento complejo que se usa en múltiples lugares, para facilitar el mantenimiento y la comprensión del sistema.</a:t>
            </a:r>
            <a:endParaRPr/>
          </a:p>
          <a:p>
            <a:pPr indent="-266700" lvl="0" marL="266700" rtl="0" algn="l">
              <a:lnSpc>
                <a:spcPct val="100000"/>
              </a:lnSpc>
              <a:spcBef>
                <a:spcPts val="1200"/>
              </a:spcBef>
              <a:spcAft>
                <a:spcPts val="0"/>
              </a:spcAft>
              <a:buClr>
                <a:schemeClr val="dk1"/>
              </a:buClr>
              <a:buSzPts val="1200"/>
              <a:buChar char="❑"/>
            </a:pPr>
            <a:r>
              <a:rPr lang="es-ES"/>
              <a:t>Por ejemplo, en un sistema de gestión de inventario, podrías tener un caso de uso “Gestionar Producto” que incluye otros casos de uso como “Verificar Disponibilidad” y “Actualizar Stock”.</a:t>
            </a:r>
            <a:endParaRPr/>
          </a:p>
        </p:txBody>
      </p:sp>
      <p:pic>
        <p:nvPicPr>
          <p:cNvPr id="376" name="Google Shape;376;p37"/>
          <p:cNvPicPr preferRelativeResize="0"/>
          <p:nvPr>
            <p:ph idx="2" type="pic"/>
          </p:nvPr>
        </p:nvPicPr>
        <p:blipFill rotWithShape="1">
          <a:blip r:embed="rId3">
            <a:alphaModFix/>
          </a:blip>
          <a:srcRect b="374" l="0" r="0" t="372"/>
          <a:stretch/>
        </p:blipFill>
        <p:spPr>
          <a:xfrm>
            <a:off x="5073641" y="1029722"/>
            <a:ext cx="3360978" cy="365555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38"/>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800"/>
              <a:buNone/>
            </a:pPr>
            <a:r>
              <a:rPr b="1" lang="es-ES" sz="1800">
                <a:latin typeface="Quattrocento Sans"/>
                <a:ea typeface="Quattrocento Sans"/>
                <a:cs typeface="Quattrocento Sans"/>
                <a:sym typeface="Quattrocento Sans"/>
              </a:rPr>
              <a:t>CUÁNDO UTILIZAR «include»</a:t>
            </a:r>
            <a:endParaRPr/>
          </a:p>
        </p:txBody>
      </p:sp>
      <p:sp>
        <p:nvSpPr>
          <p:cNvPr id="383" name="Google Shape;383;p38"/>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INCLUSIONES Y EXTENSIONES</a:t>
            </a:r>
            <a:endParaRPr b="0">
              <a:solidFill>
                <a:srgbClr val="0070C0"/>
              </a:solidFill>
            </a:endParaRPr>
          </a:p>
        </p:txBody>
      </p:sp>
      <p:sp>
        <p:nvSpPr>
          <p:cNvPr id="384" name="Google Shape;384;p38"/>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1200"/>
              <a:buNone/>
            </a:pPr>
            <a:r>
              <a:rPr b="1" lang="es-ES">
                <a:solidFill>
                  <a:schemeClr val="accent1"/>
                </a:solidFill>
              </a:rPr>
              <a:t>REUTILIZACIÓN DE LÓGICA:</a:t>
            </a:r>
            <a:endParaRPr/>
          </a:p>
          <a:p>
            <a:pPr indent="-266700" lvl="0" marL="266700" rtl="0" algn="l">
              <a:lnSpc>
                <a:spcPct val="100000"/>
              </a:lnSpc>
              <a:spcBef>
                <a:spcPts val="1200"/>
              </a:spcBef>
              <a:spcAft>
                <a:spcPts val="0"/>
              </a:spcAft>
              <a:buClr>
                <a:schemeClr val="dk1"/>
              </a:buClr>
              <a:buSzPts val="1200"/>
              <a:buChar char="❑"/>
            </a:pPr>
            <a:r>
              <a:rPr lang="es-ES"/>
              <a:t>Cuando un fragmento de lógica o un conjunto de acciones se repite en múltiples casos de uso y quieres evitar la duplicación de código o lógica.</a:t>
            </a:r>
            <a:endParaRPr/>
          </a:p>
          <a:p>
            <a:pPr indent="-266700" lvl="0" marL="266700" rtl="0" algn="l">
              <a:lnSpc>
                <a:spcPct val="100000"/>
              </a:lnSpc>
              <a:spcBef>
                <a:spcPts val="1200"/>
              </a:spcBef>
              <a:spcAft>
                <a:spcPts val="0"/>
              </a:spcAft>
              <a:buClr>
                <a:schemeClr val="dk1"/>
              </a:buClr>
              <a:buSzPts val="1200"/>
              <a:buChar char="❑"/>
            </a:pPr>
            <a:r>
              <a:rPr lang="es-ES"/>
              <a:t>Por ejemplo, en un sistema de reservas de hotel, los casos de uso “Reservar Habitación” y “Modificar Reserva” podrían incluir un caso de uso “Validar Disponibilidad” para evitar duplicar la lógica de comprobación de disponibilidad.</a:t>
            </a:r>
            <a:endParaRPr/>
          </a:p>
        </p:txBody>
      </p:sp>
      <p:pic>
        <p:nvPicPr>
          <p:cNvPr id="385" name="Google Shape;385;p38"/>
          <p:cNvPicPr preferRelativeResize="0"/>
          <p:nvPr>
            <p:ph idx="2" type="pic"/>
          </p:nvPr>
        </p:nvPicPr>
        <p:blipFill rotWithShape="1">
          <a:blip r:embed="rId3">
            <a:alphaModFix/>
          </a:blip>
          <a:srcRect b="374" l="0" r="0" t="372"/>
          <a:stretch/>
        </p:blipFill>
        <p:spPr>
          <a:xfrm>
            <a:off x="5264986" y="1255221"/>
            <a:ext cx="3078192" cy="334798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39"/>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800"/>
              <a:buNone/>
            </a:pPr>
            <a:r>
              <a:rPr b="1" lang="es-ES" sz="1800">
                <a:latin typeface="Quattrocento Sans"/>
                <a:ea typeface="Quattrocento Sans"/>
                <a:cs typeface="Quattrocento Sans"/>
                <a:sym typeface="Quattrocento Sans"/>
              </a:rPr>
              <a:t>CUÁNDO UTILIZAR «include»</a:t>
            </a:r>
            <a:endParaRPr/>
          </a:p>
        </p:txBody>
      </p:sp>
      <p:sp>
        <p:nvSpPr>
          <p:cNvPr id="392" name="Google Shape;392;p39"/>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INCLUSIONES Y EXTENSIONES</a:t>
            </a:r>
            <a:endParaRPr b="0">
              <a:solidFill>
                <a:srgbClr val="0070C0"/>
              </a:solidFill>
            </a:endParaRPr>
          </a:p>
        </p:txBody>
      </p:sp>
      <p:sp>
        <p:nvSpPr>
          <p:cNvPr id="393" name="Google Shape;393;p39"/>
          <p:cNvSpPr txBox="1"/>
          <p:nvPr>
            <p:ph idx="4" type="body"/>
          </p:nvPr>
        </p:nvSpPr>
        <p:spPr>
          <a:xfrm>
            <a:off x="654287" y="1341439"/>
            <a:ext cx="3779491" cy="3933288"/>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1200"/>
              <a:buNone/>
            </a:pPr>
            <a:r>
              <a:rPr b="1" lang="es-ES">
                <a:solidFill>
                  <a:schemeClr val="accent1"/>
                </a:solidFill>
              </a:rPr>
              <a:t>CLARIDAD Y SIMPLIFICACIÓN:</a:t>
            </a:r>
            <a:endParaRPr/>
          </a:p>
          <a:p>
            <a:pPr indent="-266700" lvl="0" marL="266700" rtl="0" algn="l">
              <a:lnSpc>
                <a:spcPct val="100000"/>
              </a:lnSpc>
              <a:spcBef>
                <a:spcPts val="1200"/>
              </a:spcBef>
              <a:spcAft>
                <a:spcPts val="0"/>
              </a:spcAft>
              <a:buClr>
                <a:schemeClr val="dk1"/>
              </a:buClr>
              <a:buSzPts val="1200"/>
              <a:buChar char="❑"/>
            </a:pPr>
            <a:r>
              <a:rPr lang="es-ES"/>
              <a:t>Cuando descomponer un caso de uso grande en partes más pequeñas hace que el sistema sea más fácil de entender.</a:t>
            </a:r>
            <a:endParaRPr/>
          </a:p>
          <a:p>
            <a:pPr indent="-266700" lvl="0" marL="266700" rtl="0" algn="l">
              <a:lnSpc>
                <a:spcPct val="100000"/>
              </a:lnSpc>
              <a:spcBef>
                <a:spcPts val="1200"/>
              </a:spcBef>
              <a:spcAft>
                <a:spcPts val="0"/>
              </a:spcAft>
              <a:buClr>
                <a:schemeClr val="dk1"/>
              </a:buClr>
              <a:buSzPts val="1200"/>
              <a:buChar char="❑"/>
            </a:pPr>
            <a:r>
              <a:rPr lang="es-ES"/>
              <a:t>Por ejemplo, en un sistema de atención al cliente, un caso de uso complejo como “Gestionar Reclamo” podría incluir casos de uso más pequeños como “Registrar Reclamo”, “Asignar Agente” y “Cerrar Reclamo” para simplificar su comprensión.</a:t>
            </a:r>
            <a:endParaRPr/>
          </a:p>
        </p:txBody>
      </p:sp>
      <p:pic>
        <p:nvPicPr>
          <p:cNvPr id="394" name="Google Shape;394;p39"/>
          <p:cNvPicPr preferRelativeResize="0"/>
          <p:nvPr>
            <p:ph idx="2" type="pic"/>
          </p:nvPr>
        </p:nvPicPr>
        <p:blipFill rotWithShape="1">
          <a:blip r:embed="rId3">
            <a:alphaModFix/>
          </a:blip>
          <a:srcRect b="374" l="0" r="0" t="372"/>
          <a:stretch/>
        </p:blipFill>
        <p:spPr>
          <a:xfrm>
            <a:off x="4710223" y="1102181"/>
            <a:ext cx="3616329" cy="393328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0"/>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800"/>
              <a:buNone/>
            </a:pPr>
            <a:r>
              <a:rPr b="1" lang="es-ES" sz="1800">
                <a:latin typeface="Quattrocento Sans"/>
                <a:ea typeface="Quattrocento Sans"/>
                <a:cs typeface="Quattrocento Sans"/>
                <a:sym typeface="Quattrocento Sans"/>
              </a:rPr>
              <a:t>EXTENSIONES («extend»)</a:t>
            </a:r>
            <a:endParaRPr/>
          </a:p>
        </p:txBody>
      </p:sp>
      <p:sp>
        <p:nvSpPr>
          <p:cNvPr id="401" name="Google Shape;401;p40"/>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INCLUSIONES Y EXTENSIONES</a:t>
            </a:r>
            <a:endParaRPr b="0">
              <a:solidFill>
                <a:srgbClr val="0070C0"/>
              </a:solidFill>
            </a:endParaRPr>
          </a:p>
        </p:txBody>
      </p:sp>
      <p:sp>
        <p:nvSpPr>
          <p:cNvPr id="402" name="Google Shape;402;p40"/>
          <p:cNvSpPr txBox="1"/>
          <p:nvPr>
            <p:ph idx="4" type="body"/>
          </p:nvPr>
        </p:nvSpPr>
        <p:spPr>
          <a:xfrm>
            <a:off x="468313" y="1177927"/>
            <a:ext cx="4557582"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Permiten añadir comportamientos adicionales a un caso de uso base bajo ciertas condiciones. </a:t>
            </a:r>
            <a:endParaRPr/>
          </a:p>
          <a:p>
            <a:pPr indent="-266700" lvl="0" marL="266700" rtl="0" algn="l">
              <a:lnSpc>
                <a:spcPct val="100000"/>
              </a:lnSpc>
              <a:spcBef>
                <a:spcPts val="1200"/>
              </a:spcBef>
              <a:spcAft>
                <a:spcPts val="0"/>
              </a:spcAft>
              <a:buClr>
                <a:schemeClr val="dk1"/>
              </a:buClr>
              <a:buSzPts val="1200"/>
              <a:buChar char="❑"/>
            </a:pPr>
            <a:r>
              <a:rPr lang="es-ES"/>
              <a:t>A diferencia de las inclusiones, las extensiones son condicionales y se ejecutan sólo si se cumplen ciertas condiciones.</a:t>
            </a:r>
            <a:endParaRPr/>
          </a:p>
          <a:p>
            <a:pPr indent="-266700" lvl="0" marL="266700" rtl="0" algn="l">
              <a:lnSpc>
                <a:spcPct val="100000"/>
              </a:lnSpc>
              <a:spcBef>
                <a:spcPts val="1200"/>
              </a:spcBef>
              <a:spcAft>
                <a:spcPts val="0"/>
              </a:spcAft>
              <a:buClr>
                <a:schemeClr val="dk1"/>
              </a:buClr>
              <a:buSzPts val="1200"/>
              <a:buChar char="❑"/>
            </a:pPr>
            <a:r>
              <a:rPr lang="es-ES"/>
              <a:t>Se representa con una línea de flecha punteada que apunta al caso de uso que se está extendiendo, etiquetada con «extend».</a:t>
            </a:r>
            <a:endParaRPr/>
          </a:p>
          <a:p>
            <a:pPr indent="-266700" lvl="0" marL="266700" rtl="0" algn="l">
              <a:lnSpc>
                <a:spcPct val="100000"/>
              </a:lnSpc>
              <a:spcBef>
                <a:spcPts val="1200"/>
              </a:spcBef>
              <a:spcAft>
                <a:spcPts val="0"/>
              </a:spcAft>
              <a:buClr>
                <a:schemeClr val="dk1"/>
              </a:buClr>
              <a:buSzPts val="1200"/>
              <a:buChar char="❑"/>
            </a:pPr>
            <a:r>
              <a:rPr lang="es-ES"/>
              <a:t>Por ejemplo, en un sistema de comercio electrónico, el caso de uso “Realizar Compra” podría extenderse con un caso de uso “Aplicar Cupón de Descuento” si el usuario tiene un cupón válido.</a:t>
            </a:r>
            <a:endParaRPr/>
          </a:p>
          <a:p>
            <a:pPr indent="-190500" lvl="0" marL="266700" rtl="0" algn="just">
              <a:lnSpc>
                <a:spcPct val="100000"/>
              </a:lnSpc>
              <a:spcBef>
                <a:spcPts val="1200"/>
              </a:spcBef>
              <a:spcAft>
                <a:spcPts val="0"/>
              </a:spcAft>
              <a:buClr>
                <a:schemeClr val="dk1"/>
              </a:buClr>
              <a:buSzPts val="1200"/>
              <a:buFont typeface="Noto Sans Symbols"/>
              <a:buNone/>
            </a:pPr>
            <a:r>
              <a:t/>
            </a:r>
            <a:endParaRPr/>
          </a:p>
        </p:txBody>
      </p:sp>
      <p:pic>
        <p:nvPicPr>
          <p:cNvPr id="403" name="Google Shape;403;p40"/>
          <p:cNvPicPr preferRelativeResize="0"/>
          <p:nvPr>
            <p:ph idx="2" type="pic"/>
          </p:nvPr>
        </p:nvPicPr>
        <p:blipFill rotWithShape="1">
          <a:blip r:embed="rId3">
            <a:alphaModFix/>
          </a:blip>
          <a:srcRect b="374" l="0" r="0" t="372"/>
          <a:stretch/>
        </p:blipFill>
        <p:spPr>
          <a:xfrm>
            <a:off x="5025895" y="1163638"/>
            <a:ext cx="3574978" cy="388831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41"/>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800"/>
              <a:buNone/>
            </a:pPr>
            <a:r>
              <a:rPr b="1" lang="es-ES" sz="1800">
                <a:latin typeface="Quattrocento Sans"/>
                <a:ea typeface="Quattrocento Sans"/>
                <a:cs typeface="Quattrocento Sans"/>
                <a:sym typeface="Quattrocento Sans"/>
              </a:rPr>
              <a:t>CUÁNDO UTILIZAR «extend»</a:t>
            </a:r>
            <a:endParaRPr/>
          </a:p>
        </p:txBody>
      </p:sp>
      <p:sp>
        <p:nvSpPr>
          <p:cNvPr id="410" name="Google Shape;410;p41"/>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INCLUSIONES Y EXTENSIONES</a:t>
            </a:r>
            <a:endParaRPr b="0">
              <a:solidFill>
                <a:srgbClr val="0070C0"/>
              </a:solidFill>
            </a:endParaRPr>
          </a:p>
        </p:txBody>
      </p:sp>
      <p:sp>
        <p:nvSpPr>
          <p:cNvPr id="411" name="Google Shape;411;p41"/>
          <p:cNvSpPr txBox="1"/>
          <p:nvPr>
            <p:ph idx="4" type="body"/>
          </p:nvPr>
        </p:nvSpPr>
        <p:spPr>
          <a:xfrm>
            <a:off x="676131" y="1341439"/>
            <a:ext cx="4103687" cy="40968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1200"/>
              <a:buNone/>
            </a:pPr>
            <a:r>
              <a:rPr b="1" lang="es-ES">
                <a:solidFill>
                  <a:schemeClr val="accent1"/>
                </a:solidFill>
              </a:rPr>
              <a:t>COMPORTAMIENTO CONDICIONAL:</a:t>
            </a:r>
            <a:endParaRPr/>
          </a:p>
          <a:p>
            <a:pPr indent="-266700" lvl="0" marL="266700" rtl="0" algn="l">
              <a:lnSpc>
                <a:spcPct val="100000"/>
              </a:lnSpc>
              <a:spcBef>
                <a:spcPts val="1200"/>
              </a:spcBef>
              <a:spcAft>
                <a:spcPts val="0"/>
              </a:spcAft>
              <a:buClr>
                <a:schemeClr val="dk1"/>
              </a:buClr>
              <a:buSzPts val="1200"/>
              <a:buChar char="❑"/>
            </a:pPr>
            <a:r>
              <a:rPr lang="es-ES"/>
              <a:t>Cuando un caso de uso tiene un comportamiento adicional que solo se ejecuta bajo ciertas condiciones.</a:t>
            </a:r>
            <a:endParaRPr/>
          </a:p>
          <a:p>
            <a:pPr indent="-266700" lvl="0" marL="266700" rtl="0" algn="l">
              <a:lnSpc>
                <a:spcPct val="100000"/>
              </a:lnSpc>
              <a:spcBef>
                <a:spcPts val="1200"/>
              </a:spcBef>
              <a:spcAft>
                <a:spcPts val="0"/>
              </a:spcAft>
              <a:buClr>
                <a:schemeClr val="dk1"/>
              </a:buClr>
              <a:buSzPts val="1200"/>
              <a:buChar char="❑"/>
            </a:pPr>
            <a:r>
              <a:rPr lang="es-ES"/>
              <a:t>Por ejemplo, en un sistema de comercio electrónico, el caso de uso “Realizar Compra” podría extenderse con “Aplicar Cupón de Descuento” si el cliente tiene un cupón válido.</a:t>
            </a:r>
            <a:endParaRPr/>
          </a:p>
        </p:txBody>
      </p:sp>
      <p:pic>
        <p:nvPicPr>
          <p:cNvPr id="412" name="Google Shape;412;p41"/>
          <p:cNvPicPr preferRelativeResize="0"/>
          <p:nvPr>
            <p:ph idx="2" type="pic"/>
          </p:nvPr>
        </p:nvPicPr>
        <p:blipFill rotWithShape="1">
          <a:blip r:embed="rId3">
            <a:alphaModFix/>
          </a:blip>
          <a:srcRect b="374" l="0" r="0" t="372"/>
          <a:stretch/>
        </p:blipFill>
        <p:spPr>
          <a:xfrm>
            <a:off x="5253566" y="1546167"/>
            <a:ext cx="3422121" cy="372205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42"/>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800"/>
              <a:buNone/>
            </a:pPr>
            <a:r>
              <a:rPr b="1" lang="es-ES" sz="1800">
                <a:latin typeface="Quattrocento Sans"/>
                <a:ea typeface="Quattrocento Sans"/>
                <a:cs typeface="Quattrocento Sans"/>
                <a:sym typeface="Quattrocento Sans"/>
              </a:rPr>
              <a:t>CUÁNDO UTILIZAR «extend»</a:t>
            </a:r>
            <a:endParaRPr/>
          </a:p>
        </p:txBody>
      </p:sp>
      <p:sp>
        <p:nvSpPr>
          <p:cNvPr id="419" name="Google Shape;419;p42"/>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INCLUSIONES Y EXTENSIONES</a:t>
            </a:r>
            <a:endParaRPr b="0">
              <a:solidFill>
                <a:srgbClr val="0070C0"/>
              </a:solidFill>
            </a:endParaRPr>
          </a:p>
        </p:txBody>
      </p:sp>
      <p:sp>
        <p:nvSpPr>
          <p:cNvPr id="420" name="Google Shape;420;p42"/>
          <p:cNvSpPr txBox="1"/>
          <p:nvPr>
            <p:ph idx="4" type="body"/>
          </p:nvPr>
        </p:nvSpPr>
        <p:spPr>
          <a:xfrm>
            <a:off x="900575" y="1341439"/>
            <a:ext cx="3571672" cy="40968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1200"/>
              <a:buNone/>
            </a:pPr>
            <a:r>
              <a:rPr b="1" lang="es-ES">
                <a:solidFill>
                  <a:schemeClr val="accent1"/>
                </a:solidFill>
              </a:rPr>
              <a:t>OPCIONALIDAD:</a:t>
            </a:r>
            <a:endParaRPr/>
          </a:p>
          <a:p>
            <a:pPr indent="-266700" lvl="0" marL="266700" rtl="0" algn="l">
              <a:lnSpc>
                <a:spcPct val="100000"/>
              </a:lnSpc>
              <a:spcBef>
                <a:spcPts val="1200"/>
              </a:spcBef>
              <a:spcAft>
                <a:spcPts val="0"/>
              </a:spcAft>
              <a:buClr>
                <a:schemeClr val="dk1"/>
              </a:buClr>
              <a:buSzPts val="1200"/>
              <a:buChar char="❑"/>
            </a:pPr>
            <a:r>
              <a:rPr lang="es-ES"/>
              <a:t>Cuando un caso de uso tiene pasos opcionales que no siempre se ejecutan.</a:t>
            </a:r>
            <a:endParaRPr/>
          </a:p>
          <a:p>
            <a:pPr indent="-266700" lvl="0" marL="266700" rtl="0" algn="l">
              <a:lnSpc>
                <a:spcPct val="100000"/>
              </a:lnSpc>
              <a:spcBef>
                <a:spcPts val="1200"/>
              </a:spcBef>
              <a:spcAft>
                <a:spcPts val="0"/>
              </a:spcAft>
              <a:buClr>
                <a:schemeClr val="dk1"/>
              </a:buClr>
              <a:buSzPts val="1200"/>
              <a:buChar char="❑"/>
            </a:pPr>
            <a:r>
              <a:rPr lang="es-ES"/>
              <a:t>Por ejemplo, en un sistema de reservas de vuelo, el caso de uso “Realizar Reserva” podría extenderse con “Seleccionar Asientos” si el cliente desea elegir asientos específicos.</a:t>
            </a:r>
            <a:endParaRPr/>
          </a:p>
        </p:txBody>
      </p:sp>
      <p:pic>
        <p:nvPicPr>
          <p:cNvPr id="421" name="Google Shape;421;p42"/>
          <p:cNvPicPr preferRelativeResize="0"/>
          <p:nvPr>
            <p:ph idx="2" type="pic"/>
          </p:nvPr>
        </p:nvPicPr>
        <p:blipFill rotWithShape="1">
          <a:blip r:embed="rId3">
            <a:alphaModFix/>
          </a:blip>
          <a:srcRect b="380" l="0" r="0" t="382"/>
          <a:stretch/>
        </p:blipFill>
        <p:spPr>
          <a:xfrm>
            <a:off x="4835768" y="809626"/>
            <a:ext cx="3681977" cy="400469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43"/>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800"/>
              <a:buNone/>
            </a:pPr>
            <a:r>
              <a:rPr b="1" lang="es-ES" sz="1800">
                <a:latin typeface="Quattrocento Sans"/>
                <a:ea typeface="Quattrocento Sans"/>
                <a:cs typeface="Quattrocento Sans"/>
                <a:sym typeface="Quattrocento Sans"/>
              </a:rPr>
              <a:t>CUÁNDO UTILIZAR «extend»</a:t>
            </a:r>
            <a:endParaRPr/>
          </a:p>
        </p:txBody>
      </p:sp>
      <p:sp>
        <p:nvSpPr>
          <p:cNvPr id="428" name="Google Shape;428;p43"/>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INCLUSIONES Y EXTENSIONES</a:t>
            </a:r>
            <a:endParaRPr b="0">
              <a:solidFill>
                <a:srgbClr val="0070C0"/>
              </a:solidFill>
            </a:endParaRPr>
          </a:p>
        </p:txBody>
      </p:sp>
      <p:sp>
        <p:nvSpPr>
          <p:cNvPr id="429" name="Google Shape;429;p43"/>
          <p:cNvSpPr txBox="1"/>
          <p:nvPr>
            <p:ph idx="4" type="body"/>
          </p:nvPr>
        </p:nvSpPr>
        <p:spPr>
          <a:xfrm>
            <a:off x="917201" y="1349226"/>
            <a:ext cx="4103687" cy="4096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1"/>
              </a:buClr>
              <a:buSzPts val="1200"/>
              <a:buNone/>
            </a:pPr>
            <a:r>
              <a:rPr b="1" lang="es-ES">
                <a:solidFill>
                  <a:schemeClr val="accent1"/>
                </a:solidFill>
              </a:rPr>
              <a:t>FLEXIBILIDAD Y ESCALABILIDAD:</a:t>
            </a:r>
            <a:endParaRPr/>
          </a:p>
          <a:p>
            <a:pPr indent="-266700" lvl="0" marL="266700" rtl="0" algn="l">
              <a:lnSpc>
                <a:spcPct val="100000"/>
              </a:lnSpc>
              <a:spcBef>
                <a:spcPts val="1200"/>
              </a:spcBef>
              <a:spcAft>
                <a:spcPts val="0"/>
              </a:spcAft>
              <a:buClr>
                <a:schemeClr val="dk1"/>
              </a:buClr>
              <a:buSzPts val="1200"/>
              <a:buChar char="❑"/>
            </a:pPr>
            <a:r>
              <a:rPr lang="es-ES"/>
              <a:t>Cuando anticipas que podrían añadirse más comportamientos en el futuro sin tener que modificar los casos de uso existentes.</a:t>
            </a:r>
            <a:endParaRPr/>
          </a:p>
          <a:p>
            <a:pPr indent="-266700" lvl="0" marL="266700" rtl="0" algn="l">
              <a:lnSpc>
                <a:spcPct val="100000"/>
              </a:lnSpc>
              <a:spcBef>
                <a:spcPts val="1200"/>
              </a:spcBef>
              <a:spcAft>
                <a:spcPts val="0"/>
              </a:spcAft>
              <a:buClr>
                <a:schemeClr val="dk1"/>
              </a:buClr>
              <a:buSzPts val="1200"/>
              <a:buChar char="❑"/>
            </a:pPr>
            <a:r>
              <a:rPr lang="es-ES"/>
              <a:t>Por ejemplo, en un sistema de streaming, el caso de uso “Ver Película” podría extenderse en el futuro con casos de uso como “Añadir a Lista de Favoritos” o “Compartir con Amigos” sin tener que modificar el caso de uso original.</a:t>
            </a:r>
            <a:endParaRPr/>
          </a:p>
        </p:txBody>
      </p:sp>
      <p:pic>
        <p:nvPicPr>
          <p:cNvPr id="430" name="Google Shape;430;p43"/>
          <p:cNvPicPr preferRelativeResize="0"/>
          <p:nvPr>
            <p:ph idx="2" type="pic"/>
          </p:nvPr>
        </p:nvPicPr>
        <p:blipFill rotWithShape="1">
          <a:blip r:embed="rId3">
            <a:alphaModFix/>
          </a:blip>
          <a:srcRect b="374" l="0" r="0" t="372"/>
          <a:stretch/>
        </p:blipFill>
        <p:spPr>
          <a:xfrm>
            <a:off x="5108626" y="1171424"/>
            <a:ext cx="3475621" cy="378024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44"/>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800"/>
              <a:buNone/>
            </a:pPr>
            <a:r>
              <a:rPr b="1" lang="es-ES" sz="1800">
                <a:latin typeface="Quattrocento Sans"/>
                <a:ea typeface="Quattrocento Sans"/>
                <a:cs typeface="Quattrocento Sans"/>
                <a:sym typeface="Quattrocento Sans"/>
              </a:rPr>
              <a:t>CUÁNDO UTILIZAR «extend»</a:t>
            </a:r>
            <a:endParaRPr/>
          </a:p>
        </p:txBody>
      </p:sp>
      <p:sp>
        <p:nvSpPr>
          <p:cNvPr id="437" name="Google Shape;437;p44"/>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INCLUSIONES Y EXTENSIONES</a:t>
            </a:r>
            <a:endParaRPr b="0">
              <a:solidFill>
                <a:srgbClr val="0070C0"/>
              </a:solidFill>
            </a:endParaRPr>
          </a:p>
        </p:txBody>
      </p:sp>
      <p:sp>
        <p:nvSpPr>
          <p:cNvPr id="438" name="Google Shape;438;p44"/>
          <p:cNvSpPr txBox="1"/>
          <p:nvPr>
            <p:ph idx="4" type="body"/>
          </p:nvPr>
        </p:nvSpPr>
        <p:spPr>
          <a:xfrm>
            <a:off x="667819" y="1406661"/>
            <a:ext cx="3688051" cy="3844938"/>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1200"/>
              <a:buNone/>
            </a:pPr>
            <a:r>
              <a:rPr b="1" lang="es-ES">
                <a:solidFill>
                  <a:schemeClr val="accent1"/>
                </a:solidFill>
              </a:rPr>
              <a:t>MEJORA DE LA USABILIDAD:</a:t>
            </a:r>
            <a:endParaRPr/>
          </a:p>
          <a:p>
            <a:pPr indent="-266700" lvl="0" marL="266700" rtl="0" algn="l">
              <a:lnSpc>
                <a:spcPct val="100000"/>
              </a:lnSpc>
              <a:spcBef>
                <a:spcPts val="1200"/>
              </a:spcBef>
              <a:spcAft>
                <a:spcPts val="0"/>
              </a:spcAft>
              <a:buClr>
                <a:schemeClr val="dk1"/>
              </a:buClr>
              <a:buSzPts val="1200"/>
              <a:buChar char="❑"/>
            </a:pPr>
            <a:r>
              <a:rPr lang="es-ES"/>
              <a:t>Cuando quieres mejorar la experiencia del usuario al ofrecer características adicionales sin complicar el flujo principal del caso de uso.</a:t>
            </a:r>
            <a:endParaRPr/>
          </a:p>
          <a:p>
            <a:pPr indent="-266700" lvl="0" marL="266700" rtl="0" algn="l">
              <a:lnSpc>
                <a:spcPct val="100000"/>
              </a:lnSpc>
              <a:spcBef>
                <a:spcPts val="1200"/>
              </a:spcBef>
              <a:spcAft>
                <a:spcPts val="0"/>
              </a:spcAft>
              <a:buClr>
                <a:schemeClr val="dk1"/>
              </a:buClr>
              <a:buSzPts val="1200"/>
              <a:buChar char="❑"/>
            </a:pPr>
            <a:r>
              <a:rPr lang="es-ES"/>
              <a:t>Por ejemplo, en un sistema de noticias en línea, el caso de uso “Leer Artículo” podría extenderse con “Leer Comentarios” para mejorar la experiencia del usuario, permitiéndole ver comentarios relacionados si lo desea.</a:t>
            </a:r>
            <a:endParaRPr/>
          </a:p>
        </p:txBody>
      </p:sp>
      <p:pic>
        <p:nvPicPr>
          <p:cNvPr id="439" name="Google Shape;439;p44"/>
          <p:cNvPicPr preferRelativeResize="0"/>
          <p:nvPr>
            <p:ph idx="2" type="pic"/>
          </p:nvPr>
        </p:nvPicPr>
        <p:blipFill rotWithShape="1">
          <a:blip r:embed="rId3">
            <a:alphaModFix/>
          </a:blip>
          <a:srcRect b="374" l="0" r="0" t="372"/>
          <a:stretch/>
        </p:blipFill>
        <p:spPr>
          <a:xfrm>
            <a:off x="4987636" y="1256929"/>
            <a:ext cx="3688051" cy="401129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45"/>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446" name="Google Shape;446;p45"/>
          <p:cNvSpPr/>
          <p:nvPr/>
        </p:nvSpPr>
        <p:spPr>
          <a:xfrm>
            <a:off x="424252" y="3703125"/>
            <a:ext cx="7966170" cy="523180"/>
          </a:xfrm>
          <a:prstGeom prst="rect">
            <a:avLst/>
          </a:prstGeom>
          <a:noFill/>
          <a:ln>
            <a:noFill/>
          </a:ln>
        </p:spPr>
        <p:txBody>
          <a:bodyPr anchorCtr="0" anchor="t" bIns="45700" lIns="91425" spcFirstLastPara="1" rIns="91425" wrap="square" tIns="45700">
            <a:spAutoFit/>
          </a:bodyPr>
          <a:lstStyle/>
          <a:p>
            <a:pPr indent="-274638" lvl="0" marL="274638" marR="0" rtl="0" algn="l">
              <a:lnSpc>
                <a:spcPct val="100000"/>
              </a:lnSpc>
              <a:spcBef>
                <a:spcPts val="0"/>
              </a:spcBef>
              <a:spcAft>
                <a:spcPts val="0"/>
              </a:spcAft>
              <a:buClr>
                <a:srgbClr val="000000"/>
              </a:buClr>
              <a:buSzPts val="2800"/>
              <a:buFont typeface="Arial"/>
              <a:buNone/>
            </a:pPr>
            <a:r>
              <a:rPr b="1" i="0" lang="es-ES" sz="2800" u="none" cap="none" strike="noStrike">
                <a:solidFill>
                  <a:schemeClr val="lt1"/>
                </a:solidFill>
                <a:latin typeface="Calibri"/>
                <a:ea typeface="Calibri"/>
                <a:cs typeface="Calibri"/>
                <a:sym typeface="Calibri"/>
              </a:rPr>
              <a:t>/	DIAGRAMA DE CASOS DE USO</a:t>
            </a:r>
            <a:endParaRPr b="1" i="0" sz="2800" u="none" cap="none" strike="noStrike">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46"/>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DIAGRAMA DE CASOS DE USO</a:t>
            </a:r>
            <a:endParaRPr b="0">
              <a:solidFill>
                <a:srgbClr val="0070C0"/>
              </a:solidFill>
            </a:endParaRPr>
          </a:p>
        </p:txBody>
      </p:sp>
      <p:pic>
        <p:nvPicPr>
          <p:cNvPr id="453" name="Google Shape;453;p46"/>
          <p:cNvPicPr preferRelativeResize="0"/>
          <p:nvPr>
            <p:ph idx="2" type="pic"/>
          </p:nvPr>
        </p:nvPicPr>
        <p:blipFill rotWithShape="1">
          <a:blip r:embed="rId3">
            <a:alphaModFix/>
          </a:blip>
          <a:srcRect b="374" l="0" r="0" t="372"/>
          <a:stretch/>
        </p:blipFill>
        <p:spPr>
          <a:xfrm>
            <a:off x="4987011" y="1072341"/>
            <a:ext cx="3605549" cy="3921563"/>
          </a:xfrm>
          <a:prstGeom prst="rect">
            <a:avLst/>
          </a:prstGeom>
          <a:noFill/>
          <a:ln>
            <a:noFill/>
          </a:ln>
        </p:spPr>
      </p:pic>
      <p:sp>
        <p:nvSpPr>
          <p:cNvPr id="454" name="Google Shape;454;p46"/>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Los diagramas de Casos de Uso son una herramienta para capturar los requisitos funcionales de un sistema de una manera que es fácil de entender para todos los stakeholders, incluidos los no técnicos.</a:t>
            </a:r>
            <a:endParaRPr/>
          </a:p>
          <a:p>
            <a:pPr indent="-266700" lvl="0" marL="266700" rtl="0" algn="l">
              <a:lnSpc>
                <a:spcPct val="100000"/>
              </a:lnSpc>
              <a:spcBef>
                <a:spcPts val="1200"/>
              </a:spcBef>
              <a:spcAft>
                <a:spcPts val="0"/>
              </a:spcAft>
              <a:buClr>
                <a:schemeClr val="dk1"/>
              </a:buClr>
              <a:buSzPts val="1200"/>
              <a:buChar char="❑"/>
            </a:pPr>
            <a:r>
              <a:rPr lang="es-ES"/>
              <a:t>Estos diagramas son de alto nivel y no capturan detalles de implementación o flujos de trabajo internos.</a:t>
            </a:r>
            <a:endParaRPr/>
          </a:p>
          <a:p>
            <a:pPr indent="-266700" lvl="0" marL="266700" rtl="0" algn="l">
              <a:lnSpc>
                <a:spcPct val="100000"/>
              </a:lnSpc>
              <a:spcBef>
                <a:spcPts val="1200"/>
              </a:spcBef>
              <a:spcAft>
                <a:spcPts val="0"/>
              </a:spcAft>
              <a:buClr>
                <a:schemeClr val="dk1"/>
              </a:buClr>
              <a:buSzPts val="1200"/>
              <a:buChar char="❑"/>
            </a:pPr>
            <a:r>
              <a:rPr lang="es-ES"/>
              <a:t>Generalmente se utilizan en las etapas iniciales de un proyecto para establecer un entendimiento común de lo que el sistema debe hacer.</a:t>
            </a:r>
            <a:endParaRPr/>
          </a:p>
        </p:txBody>
      </p:sp>
      <p:sp>
        <p:nvSpPr>
          <p:cNvPr id="455" name="Google Shape;455;p46"/>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DEFINICIÓN</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47"/>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DIAGRAMA DE CASOS DE USO</a:t>
            </a:r>
            <a:endParaRPr b="0">
              <a:solidFill>
                <a:srgbClr val="0070C0"/>
              </a:solidFill>
            </a:endParaRPr>
          </a:p>
        </p:txBody>
      </p:sp>
      <p:pic>
        <p:nvPicPr>
          <p:cNvPr id="462" name="Google Shape;462;p47"/>
          <p:cNvPicPr preferRelativeResize="0"/>
          <p:nvPr>
            <p:ph idx="2" type="pic"/>
          </p:nvPr>
        </p:nvPicPr>
        <p:blipFill rotWithShape="1">
          <a:blip r:embed="rId3">
            <a:alphaModFix/>
          </a:blip>
          <a:srcRect b="380" l="0" r="0" t="382"/>
          <a:stretch/>
        </p:blipFill>
        <p:spPr>
          <a:xfrm>
            <a:off x="5137267" y="1177927"/>
            <a:ext cx="3363854" cy="3658684"/>
          </a:xfrm>
          <a:prstGeom prst="rect">
            <a:avLst/>
          </a:prstGeom>
          <a:noFill/>
          <a:ln>
            <a:noFill/>
          </a:ln>
        </p:spPr>
      </p:pic>
      <p:sp>
        <p:nvSpPr>
          <p:cNvPr id="463" name="Google Shape;463;p47"/>
          <p:cNvSpPr txBox="1"/>
          <p:nvPr>
            <p:ph idx="4" type="body"/>
          </p:nvPr>
        </p:nvSpPr>
        <p:spPr>
          <a:xfrm>
            <a:off x="468313" y="1177927"/>
            <a:ext cx="4278254"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accent1"/>
              </a:buClr>
              <a:buSzPts val="1200"/>
              <a:buChar char="❑"/>
            </a:pPr>
            <a:r>
              <a:rPr b="1" i="1" lang="es-ES">
                <a:solidFill>
                  <a:schemeClr val="accent1"/>
                </a:solidFill>
              </a:rPr>
              <a:t>Caso de Uso:</a:t>
            </a:r>
            <a:r>
              <a:rPr lang="es-ES"/>
              <a:t> Representa una funcionalidad que el sistema ofrece.</a:t>
            </a:r>
            <a:endParaRPr/>
          </a:p>
          <a:p>
            <a:pPr indent="-266700" lvl="0" marL="266700" rtl="0" algn="l">
              <a:lnSpc>
                <a:spcPct val="100000"/>
              </a:lnSpc>
              <a:spcBef>
                <a:spcPts val="1200"/>
              </a:spcBef>
              <a:spcAft>
                <a:spcPts val="0"/>
              </a:spcAft>
              <a:buClr>
                <a:schemeClr val="accent1"/>
              </a:buClr>
              <a:buSzPts val="1200"/>
              <a:buChar char="❑"/>
            </a:pPr>
            <a:r>
              <a:rPr b="1" i="1" lang="es-ES">
                <a:solidFill>
                  <a:schemeClr val="accent1"/>
                </a:solidFill>
              </a:rPr>
              <a:t>Actor: </a:t>
            </a:r>
            <a:r>
              <a:rPr lang="es-ES"/>
              <a:t>Representa una entidad externa que interactúa con el sistema. Puede ser una persona, otro sistema o un dispositivo.</a:t>
            </a:r>
            <a:endParaRPr/>
          </a:p>
          <a:p>
            <a:pPr indent="-266700" lvl="0" marL="266700" rtl="0" algn="l">
              <a:lnSpc>
                <a:spcPct val="100000"/>
              </a:lnSpc>
              <a:spcBef>
                <a:spcPts val="1200"/>
              </a:spcBef>
              <a:spcAft>
                <a:spcPts val="0"/>
              </a:spcAft>
              <a:buClr>
                <a:schemeClr val="accent1"/>
              </a:buClr>
              <a:buSzPts val="1200"/>
              <a:buChar char="❑"/>
            </a:pPr>
            <a:r>
              <a:rPr b="1" i="1" lang="es-ES">
                <a:solidFill>
                  <a:schemeClr val="accent1"/>
                </a:solidFill>
              </a:rPr>
              <a:t>Relaciones: </a:t>
            </a:r>
            <a:r>
              <a:rPr lang="es-ES"/>
              <a:t>Son las conexiones entre actores y casos de uso o entre casos de uso. </a:t>
            </a:r>
            <a:endParaRPr/>
          </a:p>
          <a:p>
            <a:pPr indent="-266700" lvl="0" marL="266700" rtl="0" algn="l">
              <a:lnSpc>
                <a:spcPct val="100000"/>
              </a:lnSpc>
              <a:spcBef>
                <a:spcPts val="1200"/>
              </a:spcBef>
              <a:spcAft>
                <a:spcPts val="0"/>
              </a:spcAft>
              <a:buClr>
                <a:schemeClr val="accent1"/>
              </a:buClr>
              <a:buSzPts val="1200"/>
              <a:buChar char="❑"/>
            </a:pPr>
            <a:r>
              <a:rPr b="1" i="1" lang="es-ES">
                <a:solidFill>
                  <a:schemeClr val="accent1"/>
                </a:solidFill>
              </a:rPr>
              <a:t>Sistema: </a:t>
            </a:r>
            <a:r>
              <a:rPr lang="es-ES"/>
              <a:t>Es opcional, pero útil para delimitar el alcance del sistema.</a:t>
            </a:r>
            <a:endParaRPr/>
          </a:p>
          <a:p>
            <a:pPr indent="-266700" lvl="0" marL="266700" rtl="0" algn="l">
              <a:lnSpc>
                <a:spcPct val="100000"/>
              </a:lnSpc>
              <a:spcBef>
                <a:spcPts val="1200"/>
              </a:spcBef>
              <a:spcAft>
                <a:spcPts val="0"/>
              </a:spcAft>
              <a:buClr>
                <a:schemeClr val="accent1"/>
              </a:buClr>
              <a:buSzPts val="1200"/>
              <a:buChar char="❑"/>
            </a:pPr>
            <a:r>
              <a:rPr b="1" i="1" lang="es-ES">
                <a:solidFill>
                  <a:schemeClr val="accent1"/>
                </a:solidFill>
              </a:rPr>
              <a:t>Notas y Comentarios: </a:t>
            </a:r>
            <a:r>
              <a:rPr lang="es-ES"/>
              <a:t>Son elementos textuales que se pueden añadir para aclarar o dar más información sobre un caso de uso o actor.</a:t>
            </a:r>
            <a:endParaRPr/>
          </a:p>
        </p:txBody>
      </p:sp>
      <p:sp>
        <p:nvSpPr>
          <p:cNvPr id="464" name="Google Shape;464;p47"/>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ELEMENTOS DE UN DIAGRAMA CU</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48"/>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DIAGRAMA DE CASOS DE USO</a:t>
            </a:r>
            <a:endParaRPr b="0">
              <a:solidFill>
                <a:srgbClr val="0070C0"/>
              </a:solidFill>
            </a:endParaRPr>
          </a:p>
        </p:txBody>
      </p:sp>
      <p:pic>
        <p:nvPicPr>
          <p:cNvPr id="471" name="Google Shape;471;p48"/>
          <p:cNvPicPr preferRelativeResize="0"/>
          <p:nvPr>
            <p:ph idx="2" type="pic"/>
          </p:nvPr>
        </p:nvPicPr>
        <p:blipFill rotWithShape="1">
          <a:blip r:embed="rId3">
            <a:alphaModFix/>
          </a:blip>
          <a:srcRect b="374" l="0" r="0" t="372"/>
          <a:stretch/>
        </p:blipFill>
        <p:spPr>
          <a:xfrm>
            <a:off x="4930161" y="1163638"/>
            <a:ext cx="3620835" cy="3938189"/>
          </a:xfrm>
          <a:prstGeom prst="rect">
            <a:avLst/>
          </a:prstGeom>
          <a:noFill/>
          <a:ln>
            <a:noFill/>
          </a:ln>
        </p:spPr>
      </p:pic>
      <p:sp>
        <p:nvSpPr>
          <p:cNvPr id="472" name="Google Shape;472;p48"/>
          <p:cNvSpPr txBox="1"/>
          <p:nvPr>
            <p:ph idx="4" type="body"/>
          </p:nvPr>
        </p:nvSpPr>
        <p:spPr>
          <a:xfrm>
            <a:off x="468313" y="1255221"/>
            <a:ext cx="3854305" cy="4019505"/>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accent1"/>
              </a:buClr>
              <a:buSzPts val="1200"/>
              <a:buChar char="❑"/>
            </a:pPr>
            <a:r>
              <a:rPr b="1" i="1" lang="es-ES">
                <a:solidFill>
                  <a:schemeClr val="accent1"/>
                </a:solidFill>
              </a:rPr>
              <a:t>Asociación:</a:t>
            </a:r>
            <a:r>
              <a:rPr lang="es-ES"/>
              <a:t> Indica que un actor participa en un caso de uso.</a:t>
            </a:r>
            <a:endParaRPr/>
          </a:p>
          <a:p>
            <a:pPr indent="-266700" lvl="0" marL="266700" rtl="0" algn="l">
              <a:lnSpc>
                <a:spcPct val="100000"/>
              </a:lnSpc>
              <a:spcBef>
                <a:spcPts val="1200"/>
              </a:spcBef>
              <a:spcAft>
                <a:spcPts val="0"/>
              </a:spcAft>
              <a:buClr>
                <a:schemeClr val="accent1"/>
              </a:buClr>
              <a:buSzPts val="1200"/>
              <a:buChar char="❑"/>
            </a:pPr>
            <a:r>
              <a:rPr b="1" i="1" lang="es-ES">
                <a:solidFill>
                  <a:schemeClr val="accent1"/>
                </a:solidFill>
              </a:rPr>
              <a:t>Inclusión («include»):</a:t>
            </a:r>
            <a:r>
              <a:rPr lang="es-ES"/>
              <a:t> Indica que el comportamiento de un caso de uso se incluye en otro.</a:t>
            </a:r>
            <a:endParaRPr/>
          </a:p>
          <a:p>
            <a:pPr indent="-266700" lvl="0" marL="266700" rtl="0" algn="l">
              <a:lnSpc>
                <a:spcPct val="100000"/>
              </a:lnSpc>
              <a:spcBef>
                <a:spcPts val="1200"/>
              </a:spcBef>
              <a:spcAft>
                <a:spcPts val="0"/>
              </a:spcAft>
              <a:buClr>
                <a:schemeClr val="accent1"/>
              </a:buClr>
              <a:buSzPts val="1200"/>
              <a:buChar char="❑"/>
            </a:pPr>
            <a:r>
              <a:rPr b="1" i="1" lang="es-ES">
                <a:solidFill>
                  <a:schemeClr val="accent1"/>
                </a:solidFill>
              </a:rPr>
              <a:t>Extensión («extend»):</a:t>
            </a:r>
            <a:r>
              <a:rPr lang="es-ES"/>
              <a:t> Indica que un caso de uso puede extender el comportamiento de otro bajo ciertas condiciones.</a:t>
            </a:r>
            <a:endParaRPr/>
          </a:p>
          <a:p>
            <a:pPr indent="-266700" lvl="0" marL="266700" rtl="0" algn="l">
              <a:lnSpc>
                <a:spcPct val="100000"/>
              </a:lnSpc>
              <a:spcBef>
                <a:spcPts val="1200"/>
              </a:spcBef>
              <a:spcAft>
                <a:spcPts val="0"/>
              </a:spcAft>
              <a:buClr>
                <a:schemeClr val="accent1"/>
              </a:buClr>
              <a:buSzPts val="1200"/>
              <a:buChar char="❑"/>
            </a:pPr>
            <a:r>
              <a:rPr b="1" i="1" lang="es-ES">
                <a:solidFill>
                  <a:schemeClr val="accent1"/>
                </a:solidFill>
              </a:rPr>
              <a:t>Generalización:</a:t>
            </a:r>
            <a:r>
              <a:rPr lang="es-ES"/>
              <a:t> Indica que un caso de uso hereda el comportamiento de otro.</a:t>
            </a:r>
            <a:endParaRPr/>
          </a:p>
        </p:txBody>
      </p:sp>
      <p:sp>
        <p:nvSpPr>
          <p:cNvPr id="473" name="Google Shape;473;p48"/>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RELACIONES EN UN DIAGRAMA CU</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49"/>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DIAGRAMA DE CASOS DE USO</a:t>
            </a:r>
            <a:endParaRPr b="0">
              <a:solidFill>
                <a:srgbClr val="0070C0"/>
              </a:solidFill>
            </a:endParaRPr>
          </a:p>
        </p:txBody>
      </p:sp>
      <p:sp>
        <p:nvSpPr>
          <p:cNvPr id="480" name="Google Shape;480;p49"/>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PARA QUE SE USAN LOS DCU?</a:t>
            </a:r>
            <a:r>
              <a:rPr lang="es-ES" sz="1400">
                <a:solidFill>
                  <a:srgbClr val="7F7F7F"/>
                </a:solidFill>
              </a:rPr>
              <a:t>   [1/3]</a:t>
            </a:r>
            <a:endParaRPr>
              <a:solidFill>
                <a:srgbClr val="7F7F7F"/>
              </a:solidFill>
            </a:endParaRPr>
          </a:p>
        </p:txBody>
      </p:sp>
      <p:pic>
        <p:nvPicPr>
          <p:cNvPr id="481" name="Google Shape;481;p49"/>
          <p:cNvPicPr preferRelativeResize="0"/>
          <p:nvPr>
            <p:ph idx="2" type="pic"/>
          </p:nvPr>
        </p:nvPicPr>
        <p:blipFill rotWithShape="1">
          <a:blip r:embed="rId3">
            <a:alphaModFix/>
          </a:blip>
          <a:srcRect b="160" l="0" r="0" t="161"/>
          <a:stretch/>
        </p:blipFill>
        <p:spPr>
          <a:xfrm>
            <a:off x="5178830" y="1271847"/>
            <a:ext cx="3422044" cy="3721974"/>
          </a:xfrm>
          <a:prstGeom prst="rect">
            <a:avLst/>
          </a:prstGeom>
          <a:noFill/>
          <a:ln>
            <a:noFill/>
          </a:ln>
        </p:spPr>
      </p:pic>
      <p:sp>
        <p:nvSpPr>
          <p:cNvPr id="482" name="Google Shape;482;p49"/>
          <p:cNvSpPr txBox="1"/>
          <p:nvPr>
            <p:ph idx="4" type="body"/>
          </p:nvPr>
        </p:nvSpPr>
        <p:spPr>
          <a:xfrm>
            <a:off x="543126" y="1221827"/>
            <a:ext cx="4710517" cy="4002880"/>
          </a:xfrm>
          <a:prstGeom prst="rect">
            <a:avLst/>
          </a:prstGeom>
          <a:noFill/>
          <a:ln>
            <a:noFill/>
          </a:ln>
        </p:spPr>
        <p:txBody>
          <a:bodyPr anchorCtr="0" anchor="t" bIns="45700" lIns="91425" spcFirstLastPara="1" rIns="91425" wrap="square" tIns="45700">
            <a:noAutofit/>
          </a:bodyPr>
          <a:lstStyle/>
          <a:p>
            <a:pPr indent="-266700" lvl="0" marL="266700" rtl="0" algn="l">
              <a:lnSpc>
                <a:spcPct val="93000"/>
              </a:lnSpc>
              <a:spcBef>
                <a:spcPts val="0"/>
              </a:spcBef>
              <a:spcAft>
                <a:spcPts val="0"/>
              </a:spcAft>
              <a:buClr>
                <a:schemeClr val="accent1"/>
              </a:buClr>
              <a:buSzPts val="1200"/>
              <a:buChar char="❑"/>
            </a:pPr>
            <a:r>
              <a:rPr b="1" i="1" lang="es-ES">
                <a:solidFill>
                  <a:schemeClr val="accent1"/>
                </a:solidFill>
              </a:rPr>
              <a:t>Captura de Requisitos:</a:t>
            </a:r>
            <a:endParaRPr/>
          </a:p>
          <a:p>
            <a:pPr indent="0" lvl="1" marL="265113" rtl="0" algn="l">
              <a:lnSpc>
                <a:spcPct val="93000"/>
              </a:lnSpc>
              <a:spcBef>
                <a:spcPts val="300"/>
              </a:spcBef>
              <a:spcAft>
                <a:spcPts val="0"/>
              </a:spcAft>
              <a:buClr>
                <a:schemeClr val="dk1"/>
              </a:buClr>
              <a:buSzPts val="1600"/>
              <a:buNone/>
            </a:pPr>
            <a:r>
              <a:rPr lang="es-ES"/>
              <a:t>Ayudan a entender y documentar los requisitos funcionales del sistema, mostrando qué funcionalidades debe tener y cómo interactúan los actores con ellas.</a:t>
            </a:r>
            <a:endParaRPr/>
          </a:p>
          <a:p>
            <a:pPr indent="-266700" lvl="0" marL="266700" rtl="0" algn="l">
              <a:lnSpc>
                <a:spcPct val="93000"/>
              </a:lnSpc>
              <a:spcBef>
                <a:spcPts val="1200"/>
              </a:spcBef>
              <a:spcAft>
                <a:spcPts val="0"/>
              </a:spcAft>
              <a:buClr>
                <a:schemeClr val="accent1"/>
              </a:buClr>
              <a:buSzPts val="1200"/>
              <a:buChar char="❑"/>
            </a:pPr>
            <a:r>
              <a:rPr b="1" i="1" lang="es-ES">
                <a:solidFill>
                  <a:schemeClr val="accent1"/>
                </a:solidFill>
              </a:rPr>
              <a:t>Comunicación con Stakeholders:</a:t>
            </a:r>
            <a:endParaRPr/>
          </a:p>
          <a:p>
            <a:pPr indent="0" lvl="1" marL="265113" rtl="0" algn="l">
              <a:lnSpc>
                <a:spcPct val="93000"/>
              </a:lnSpc>
              <a:spcBef>
                <a:spcPts val="300"/>
              </a:spcBef>
              <a:spcAft>
                <a:spcPts val="0"/>
              </a:spcAft>
              <a:buClr>
                <a:schemeClr val="dk1"/>
              </a:buClr>
              <a:buSzPts val="1600"/>
              <a:buNone/>
            </a:pPr>
            <a:r>
              <a:rPr lang="es-ES"/>
              <a:t>Facilitan la comunicación entre los desarrolladores y otros stakeholders al ofrecer una representación gráfica fácil de entender de las funcionalidades del sistema.</a:t>
            </a:r>
            <a:endParaRPr/>
          </a:p>
          <a:p>
            <a:pPr indent="-266700" lvl="0" marL="266700" rtl="0" algn="l">
              <a:lnSpc>
                <a:spcPct val="93000"/>
              </a:lnSpc>
              <a:spcBef>
                <a:spcPts val="1200"/>
              </a:spcBef>
              <a:spcAft>
                <a:spcPts val="0"/>
              </a:spcAft>
              <a:buClr>
                <a:schemeClr val="accent1"/>
              </a:buClr>
              <a:buSzPts val="1200"/>
              <a:buChar char="❑"/>
            </a:pPr>
            <a:r>
              <a:rPr b="1" i="1" lang="es-ES">
                <a:solidFill>
                  <a:schemeClr val="accent1"/>
                </a:solidFill>
              </a:rPr>
              <a:t>Planificación y Estimación:</a:t>
            </a:r>
            <a:endParaRPr/>
          </a:p>
          <a:p>
            <a:pPr indent="0" lvl="1" marL="265113" rtl="0" algn="l">
              <a:lnSpc>
                <a:spcPct val="93000"/>
              </a:lnSpc>
              <a:spcBef>
                <a:spcPts val="300"/>
              </a:spcBef>
              <a:spcAft>
                <a:spcPts val="0"/>
              </a:spcAft>
              <a:buClr>
                <a:schemeClr val="dk1"/>
              </a:buClr>
              <a:buSzPts val="1600"/>
              <a:buNone/>
            </a:pPr>
            <a:r>
              <a:rPr lang="es-ES"/>
              <a:t>Sirven como una herramienta de planificación al inicio del proyecto para estimar la complejidad y el alcance del sistema, lo cual es útil para la asignación de recursos y tiempos.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50"/>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DIAGRAMA DE CASOS DE USO</a:t>
            </a:r>
            <a:endParaRPr b="0">
              <a:solidFill>
                <a:srgbClr val="0070C0"/>
              </a:solidFill>
            </a:endParaRPr>
          </a:p>
        </p:txBody>
      </p:sp>
      <p:sp>
        <p:nvSpPr>
          <p:cNvPr id="489" name="Google Shape;489;p50"/>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PARA QUE SE USAN LOS DCU?</a:t>
            </a:r>
            <a:r>
              <a:rPr b="1" i="0" lang="es-ES" sz="1400" u="none" cap="none" strike="noStrike">
                <a:solidFill>
                  <a:srgbClr val="7F7F7F"/>
                </a:solidFill>
                <a:latin typeface="Calibri"/>
                <a:ea typeface="Calibri"/>
                <a:cs typeface="Calibri"/>
                <a:sym typeface="Calibri"/>
              </a:rPr>
              <a:t>   [2/3]</a:t>
            </a:r>
            <a:endParaRPr/>
          </a:p>
        </p:txBody>
      </p:sp>
      <p:pic>
        <p:nvPicPr>
          <p:cNvPr id="490" name="Google Shape;490;p50"/>
          <p:cNvPicPr preferRelativeResize="0"/>
          <p:nvPr>
            <p:ph idx="2" type="pic"/>
          </p:nvPr>
        </p:nvPicPr>
        <p:blipFill rotWithShape="1">
          <a:blip r:embed="rId3">
            <a:alphaModFix/>
          </a:blip>
          <a:srcRect b="374" l="0" r="0" t="372"/>
          <a:stretch/>
        </p:blipFill>
        <p:spPr>
          <a:xfrm>
            <a:off x="5112129" y="1496291"/>
            <a:ext cx="3231050" cy="3514240"/>
          </a:xfrm>
          <a:prstGeom prst="rect">
            <a:avLst/>
          </a:prstGeom>
          <a:noFill/>
          <a:ln>
            <a:noFill/>
          </a:ln>
        </p:spPr>
      </p:pic>
      <p:sp>
        <p:nvSpPr>
          <p:cNvPr id="491" name="Google Shape;491;p50"/>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accent1"/>
              </a:buClr>
              <a:buSzPts val="1200"/>
              <a:buChar char="❑"/>
            </a:pPr>
            <a:r>
              <a:rPr b="1" i="1" lang="es-ES">
                <a:solidFill>
                  <a:schemeClr val="accent1"/>
                </a:solidFill>
              </a:rPr>
              <a:t>Diseño del Sistema:</a:t>
            </a:r>
            <a:endParaRPr/>
          </a:p>
          <a:p>
            <a:pPr indent="0" lvl="1" marL="265113" rtl="0" algn="l">
              <a:lnSpc>
                <a:spcPct val="100000"/>
              </a:lnSpc>
              <a:spcBef>
                <a:spcPts val="300"/>
              </a:spcBef>
              <a:spcAft>
                <a:spcPts val="0"/>
              </a:spcAft>
              <a:buClr>
                <a:schemeClr val="dk1"/>
              </a:buClr>
              <a:buSzPts val="1600"/>
              <a:buNone/>
            </a:pPr>
            <a:r>
              <a:rPr lang="es-ES"/>
              <a:t>Aunque son de alto nivel, pueden servir como punto de partida para diseños más detallados, como Diagramas de Clases o Diagramas de Secuencia.</a:t>
            </a:r>
            <a:endParaRPr/>
          </a:p>
          <a:p>
            <a:pPr indent="-266700" lvl="0" marL="266700" rtl="0" algn="l">
              <a:lnSpc>
                <a:spcPct val="100000"/>
              </a:lnSpc>
              <a:spcBef>
                <a:spcPts val="1200"/>
              </a:spcBef>
              <a:spcAft>
                <a:spcPts val="0"/>
              </a:spcAft>
              <a:buClr>
                <a:schemeClr val="accent1"/>
              </a:buClr>
              <a:buSzPts val="1200"/>
              <a:buChar char="❑"/>
            </a:pPr>
            <a:r>
              <a:rPr b="1" i="1" lang="es-ES">
                <a:solidFill>
                  <a:schemeClr val="accent1"/>
                </a:solidFill>
              </a:rPr>
              <a:t>Verificación y Validación:</a:t>
            </a:r>
            <a:endParaRPr/>
          </a:p>
          <a:p>
            <a:pPr indent="0" lvl="1" marL="265113" rtl="0" algn="l">
              <a:lnSpc>
                <a:spcPct val="100000"/>
              </a:lnSpc>
              <a:spcBef>
                <a:spcPts val="300"/>
              </a:spcBef>
              <a:spcAft>
                <a:spcPts val="0"/>
              </a:spcAft>
              <a:buClr>
                <a:schemeClr val="dk1"/>
              </a:buClr>
              <a:buSzPts val="1600"/>
              <a:buNone/>
            </a:pPr>
            <a:r>
              <a:rPr lang="es-ES"/>
              <a:t>Ayudan en la revisión de los requisitos y en la validación de que el sistema propuesto cumpla con las expectativas del usuario.</a:t>
            </a:r>
            <a:endParaRPr/>
          </a:p>
          <a:p>
            <a:pPr indent="-266700" lvl="0" marL="266700" rtl="0" algn="l">
              <a:lnSpc>
                <a:spcPct val="100000"/>
              </a:lnSpc>
              <a:spcBef>
                <a:spcPts val="1200"/>
              </a:spcBef>
              <a:spcAft>
                <a:spcPts val="0"/>
              </a:spcAft>
              <a:buClr>
                <a:schemeClr val="accent1"/>
              </a:buClr>
              <a:buSzPts val="1200"/>
              <a:buChar char="❑"/>
            </a:pPr>
            <a:r>
              <a:rPr b="1" i="1" lang="es-ES">
                <a:solidFill>
                  <a:schemeClr val="accent1"/>
                </a:solidFill>
              </a:rPr>
              <a:t>Documentación:</a:t>
            </a:r>
            <a:endParaRPr/>
          </a:p>
          <a:p>
            <a:pPr indent="0" lvl="1" marL="265113" rtl="0" algn="l">
              <a:lnSpc>
                <a:spcPct val="100000"/>
              </a:lnSpc>
              <a:spcBef>
                <a:spcPts val="300"/>
              </a:spcBef>
              <a:spcAft>
                <a:spcPts val="0"/>
              </a:spcAft>
              <a:buClr>
                <a:schemeClr val="dk1"/>
              </a:buClr>
              <a:buSzPts val="1600"/>
              <a:buNone/>
            </a:pPr>
            <a:r>
              <a:rPr lang="es-ES"/>
              <a:t>Actúan como una forma de documentación que es fácil de actualizar y mantener, lo cual es útil tanto durante el desarrollo como después del lanzamiento del sistema.</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51"/>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DIAGRAMA DE CASOS DE USO</a:t>
            </a:r>
            <a:endParaRPr b="0">
              <a:solidFill>
                <a:srgbClr val="0070C0"/>
              </a:solidFill>
            </a:endParaRPr>
          </a:p>
        </p:txBody>
      </p:sp>
      <p:sp>
        <p:nvSpPr>
          <p:cNvPr id="498" name="Google Shape;498;p51"/>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PARA QUE SE USAN LOS DCU?</a:t>
            </a:r>
            <a:r>
              <a:rPr b="1" i="0" lang="es-ES" sz="1400" u="none" cap="none" strike="noStrike">
                <a:solidFill>
                  <a:srgbClr val="7F7F7F"/>
                </a:solidFill>
                <a:latin typeface="Calibri"/>
                <a:ea typeface="Calibri"/>
                <a:cs typeface="Calibri"/>
                <a:sym typeface="Calibri"/>
              </a:rPr>
              <a:t>   [3/3]</a:t>
            </a:r>
            <a:endParaRPr/>
          </a:p>
        </p:txBody>
      </p:sp>
      <p:pic>
        <p:nvPicPr>
          <p:cNvPr id="499" name="Google Shape;499;p51"/>
          <p:cNvPicPr preferRelativeResize="0"/>
          <p:nvPr>
            <p:ph idx="2" type="pic"/>
          </p:nvPr>
        </p:nvPicPr>
        <p:blipFill rotWithShape="1">
          <a:blip r:embed="rId3">
            <a:alphaModFix/>
          </a:blip>
          <a:srcRect b="374" l="0" r="0" t="372"/>
          <a:stretch/>
        </p:blipFill>
        <p:spPr>
          <a:xfrm>
            <a:off x="5020885" y="1163638"/>
            <a:ext cx="3654801" cy="3975132"/>
          </a:xfrm>
          <a:prstGeom prst="rect">
            <a:avLst/>
          </a:prstGeom>
          <a:noFill/>
          <a:ln>
            <a:noFill/>
          </a:ln>
        </p:spPr>
      </p:pic>
      <p:sp>
        <p:nvSpPr>
          <p:cNvPr id="500" name="Google Shape;500;p51"/>
          <p:cNvSpPr txBox="1"/>
          <p:nvPr>
            <p:ph idx="4" type="body"/>
          </p:nvPr>
        </p:nvSpPr>
        <p:spPr>
          <a:xfrm>
            <a:off x="900576" y="1336216"/>
            <a:ext cx="3588298" cy="3933288"/>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accent1"/>
              </a:buClr>
              <a:buSzPts val="1200"/>
              <a:buChar char="❑"/>
            </a:pPr>
            <a:r>
              <a:rPr b="1" i="1" lang="es-ES">
                <a:solidFill>
                  <a:schemeClr val="accent1"/>
                </a:solidFill>
              </a:rPr>
              <a:t>Base para Pruebas:</a:t>
            </a:r>
            <a:endParaRPr/>
          </a:p>
          <a:p>
            <a:pPr indent="0" lvl="1" marL="265113" rtl="0" algn="l">
              <a:lnSpc>
                <a:spcPct val="100000"/>
              </a:lnSpc>
              <a:spcBef>
                <a:spcPts val="300"/>
              </a:spcBef>
              <a:spcAft>
                <a:spcPts val="0"/>
              </a:spcAft>
              <a:buClr>
                <a:schemeClr val="dk1"/>
              </a:buClr>
              <a:buSzPts val="1600"/>
              <a:buNone/>
            </a:pPr>
            <a:r>
              <a:rPr lang="es-ES"/>
              <a:t>Los casos de uso pueden ser utilizados para desarrollar escenarios de prueba, lo que ayuda a asegurar que el sistema final cumpla con los requisitos iniciales.</a:t>
            </a:r>
            <a:endParaRPr/>
          </a:p>
          <a:p>
            <a:pPr indent="-266700" lvl="0" marL="266700" rtl="0" algn="l">
              <a:lnSpc>
                <a:spcPct val="100000"/>
              </a:lnSpc>
              <a:spcBef>
                <a:spcPts val="1200"/>
              </a:spcBef>
              <a:spcAft>
                <a:spcPts val="0"/>
              </a:spcAft>
              <a:buClr>
                <a:schemeClr val="accent1"/>
              </a:buClr>
              <a:buSzPts val="1200"/>
              <a:buChar char="❑"/>
            </a:pPr>
            <a:r>
              <a:rPr b="1" i="1" lang="es-ES">
                <a:solidFill>
                  <a:schemeClr val="accent1"/>
                </a:solidFill>
              </a:rPr>
              <a:t>Análisis de Negocio:</a:t>
            </a:r>
            <a:endParaRPr/>
          </a:p>
          <a:p>
            <a:pPr indent="0" lvl="1" marL="265113" rtl="0" algn="l">
              <a:lnSpc>
                <a:spcPct val="100000"/>
              </a:lnSpc>
              <a:spcBef>
                <a:spcPts val="300"/>
              </a:spcBef>
              <a:spcAft>
                <a:spcPts val="0"/>
              </a:spcAft>
              <a:buClr>
                <a:schemeClr val="dk1"/>
              </a:buClr>
              <a:buSzPts val="1600"/>
              <a:buNone/>
            </a:pPr>
            <a:r>
              <a:rPr lang="es-ES"/>
              <a:t>También se utilizan fuera del ámbito del desarrollo de software para modelar y analizar procesos de negocio.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52"/>
          <p:cNvSpPr txBox="1"/>
          <p:nvPr>
            <p:ph idx="1" type="body"/>
          </p:nvPr>
        </p:nvSpPr>
        <p:spPr>
          <a:xfrm>
            <a:off x="468313" y="810473"/>
            <a:ext cx="8207375" cy="354012"/>
          </a:xfrm>
          <a:prstGeom prst="rect">
            <a:avLst/>
          </a:prstGeom>
          <a:solidFill>
            <a:srgbClr val="FFFFCC"/>
          </a:solid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rgbClr val="3F3F3F"/>
              </a:buClr>
              <a:buSzPts val="1600"/>
              <a:buNone/>
            </a:pPr>
            <a:r>
              <a:rPr lang="es-ES"/>
              <a:t>EJEMPLO: DCU BÁSICO PARA UN SISTEMA DE COMERCIO ELECTRÓNICO</a:t>
            </a:r>
            <a:endParaRPr/>
          </a:p>
        </p:txBody>
      </p:sp>
      <p:sp>
        <p:nvSpPr>
          <p:cNvPr id="507" name="Google Shape;507;p52"/>
          <p:cNvSpPr txBox="1"/>
          <p:nvPr>
            <p:ph idx="2"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chemeClr val="lt1"/>
              </a:buClr>
              <a:buSzPts val="1800"/>
              <a:buNone/>
            </a:pPr>
            <a:r>
              <a:rPr lang="es-ES"/>
              <a:t>/ DIAGRAMA DE CASOS DE USO</a:t>
            </a:r>
            <a:endParaRPr/>
          </a:p>
        </p:txBody>
      </p:sp>
      <p:sp>
        <p:nvSpPr>
          <p:cNvPr id="508" name="Google Shape;508;p52"/>
          <p:cNvSpPr txBox="1"/>
          <p:nvPr>
            <p:ph idx="3" type="body"/>
          </p:nvPr>
        </p:nvSpPr>
        <p:spPr>
          <a:xfrm>
            <a:off x="468313" y="1174364"/>
            <a:ext cx="8207375" cy="3971214"/>
          </a:xfrm>
          <a:prstGeom prst="rect">
            <a:avLst/>
          </a:prstGeom>
          <a:solidFill>
            <a:srgbClr val="FFFFCC"/>
          </a:solidFill>
          <a:ln>
            <a:noFill/>
          </a:ln>
        </p:spPr>
        <p:txBody>
          <a:bodyPr anchorCtr="0" anchor="t" bIns="45700" lIns="91425" spcFirstLastPara="1" rIns="91425" wrap="square" tIns="45700">
            <a:noAutofit/>
          </a:bodyPr>
          <a:lstStyle/>
          <a:p>
            <a:pPr indent="-100013" lvl="0" marL="176213" rtl="0" algn="just">
              <a:lnSpc>
                <a:spcPct val="90000"/>
              </a:lnSpc>
              <a:spcBef>
                <a:spcPts val="0"/>
              </a:spcBef>
              <a:spcAft>
                <a:spcPts val="0"/>
              </a:spcAft>
              <a:buClr>
                <a:srgbClr val="3F3F3F"/>
              </a:buClr>
              <a:buSzPts val="1200"/>
              <a:buFont typeface="Noto Sans Symbols"/>
              <a:buNone/>
            </a:pPr>
            <a:r>
              <a:t/>
            </a:r>
            <a:endParaRPr/>
          </a:p>
        </p:txBody>
      </p:sp>
      <p:pic>
        <p:nvPicPr>
          <p:cNvPr id="509" name="Google Shape;509;p52"/>
          <p:cNvPicPr preferRelativeResize="0"/>
          <p:nvPr>
            <p:ph idx="2" type="pic"/>
          </p:nvPr>
        </p:nvPicPr>
        <p:blipFill rotWithShape="1">
          <a:blip r:embed="rId3">
            <a:alphaModFix/>
          </a:blip>
          <a:srcRect b="501" l="0" r="0" t="501"/>
          <a:stretch/>
        </p:blipFill>
        <p:spPr>
          <a:xfrm>
            <a:off x="468312" y="1176338"/>
            <a:ext cx="8216143" cy="396924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53"/>
          <p:cNvSpPr txBox="1"/>
          <p:nvPr>
            <p:ph idx="1" type="body"/>
          </p:nvPr>
        </p:nvSpPr>
        <p:spPr>
          <a:xfrm>
            <a:off x="468313" y="810473"/>
            <a:ext cx="8207375" cy="354012"/>
          </a:xfrm>
          <a:prstGeom prst="rect">
            <a:avLst/>
          </a:prstGeom>
          <a:solidFill>
            <a:srgbClr val="FFFFCC"/>
          </a:solid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rgbClr val="3F3F3F"/>
              </a:buClr>
              <a:buSzPts val="1600"/>
              <a:buNone/>
            </a:pPr>
            <a:r>
              <a:rPr lang="es-ES"/>
              <a:t>EJEMPLO: DCU BÁSICO PARA UN SISTEMA DE COMERCIO ELECTRÓNICO</a:t>
            </a:r>
            <a:endParaRPr/>
          </a:p>
        </p:txBody>
      </p:sp>
      <p:sp>
        <p:nvSpPr>
          <p:cNvPr id="516" name="Google Shape;516;p53"/>
          <p:cNvSpPr txBox="1"/>
          <p:nvPr>
            <p:ph idx="2"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chemeClr val="lt1"/>
              </a:buClr>
              <a:buSzPts val="1800"/>
              <a:buNone/>
            </a:pPr>
            <a:r>
              <a:rPr lang="es-ES"/>
              <a:t>/ DIAGRAMA DE CASOS DE USO</a:t>
            </a:r>
            <a:endParaRPr/>
          </a:p>
        </p:txBody>
      </p:sp>
      <p:sp>
        <p:nvSpPr>
          <p:cNvPr id="517" name="Google Shape;517;p53"/>
          <p:cNvSpPr txBox="1"/>
          <p:nvPr>
            <p:ph idx="3" type="body"/>
          </p:nvPr>
        </p:nvSpPr>
        <p:spPr>
          <a:xfrm>
            <a:off x="468313" y="1174364"/>
            <a:ext cx="8207375" cy="3979528"/>
          </a:xfrm>
          <a:prstGeom prst="rect">
            <a:avLst/>
          </a:prstGeom>
          <a:solidFill>
            <a:srgbClr val="FFFFCC"/>
          </a:solidFill>
          <a:ln>
            <a:noFill/>
          </a:ln>
        </p:spPr>
        <p:txBody>
          <a:bodyPr anchorCtr="0" anchor="t" bIns="45700" lIns="91425" spcFirstLastPara="1" rIns="91425" wrap="square" tIns="45700">
            <a:noAutofit/>
          </a:bodyPr>
          <a:lstStyle/>
          <a:p>
            <a:pPr indent="-185738" lvl="0" marL="185738" rtl="0" algn="just">
              <a:lnSpc>
                <a:spcPct val="90000"/>
              </a:lnSpc>
              <a:spcBef>
                <a:spcPts val="0"/>
              </a:spcBef>
              <a:spcAft>
                <a:spcPts val="0"/>
              </a:spcAft>
              <a:buSzPts val="1200"/>
              <a:buFont typeface="Calibri"/>
              <a:buAutoNum type="arabicPeriod"/>
            </a:pPr>
            <a:r>
              <a:rPr b="1" lang="es-ES">
                <a:solidFill>
                  <a:schemeClr val="dk1"/>
                </a:solidFill>
              </a:rPr>
              <a:t>Actores</a:t>
            </a:r>
            <a:endParaRPr/>
          </a:p>
          <a:p>
            <a:pPr indent="-171450" lvl="1" marL="357188" rtl="0" algn="just">
              <a:lnSpc>
                <a:spcPct val="90000"/>
              </a:lnSpc>
              <a:spcBef>
                <a:spcPts val="200"/>
              </a:spcBef>
              <a:spcAft>
                <a:spcPts val="0"/>
              </a:spcAft>
              <a:buSzPts val="1400"/>
              <a:buChar char="▪"/>
            </a:pPr>
            <a:r>
              <a:rPr lang="es-ES">
                <a:solidFill>
                  <a:schemeClr val="accent1"/>
                </a:solidFill>
              </a:rPr>
              <a:t>Cliente</a:t>
            </a:r>
            <a:r>
              <a:rPr lang="es-ES"/>
              <a:t>: Usuario que realiza compras, inicia sesión y ve su historial de compras.</a:t>
            </a:r>
            <a:endParaRPr/>
          </a:p>
          <a:p>
            <a:pPr indent="-171450" lvl="1" marL="357188" rtl="0" algn="just">
              <a:lnSpc>
                <a:spcPct val="90000"/>
              </a:lnSpc>
              <a:spcBef>
                <a:spcPts val="200"/>
              </a:spcBef>
              <a:spcAft>
                <a:spcPts val="0"/>
              </a:spcAft>
              <a:buSzPts val="1400"/>
              <a:buChar char="▪"/>
            </a:pPr>
            <a:r>
              <a:rPr lang="es-ES">
                <a:solidFill>
                  <a:schemeClr val="accent1"/>
                </a:solidFill>
              </a:rPr>
              <a:t>Administrador</a:t>
            </a:r>
            <a:r>
              <a:rPr lang="es-ES"/>
              <a:t>: Encargado de gestionar el sistema, también puede iniciar sesión.</a:t>
            </a:r>
            <a:endParaRPr/>
          </a:p>
          <a:p>
            <a:pPr indent="-171450" lvl="1" marL="357188" rtl="0" algn="just">
              <a:lnSpc>
                <a:spcPct val="90000"/>
              </a:lnSpc>
              <a:spcBef>
                <a:spcPts val="200"/>
              </a:spcBef>
              <a:spcAft>
                <a:spcPts val="0"/>
              </a:spcAft>
              <a:buSzPts val="1400"/>
              <a:buChar char="▪"/>
            </a:pPr>
            <a:r>
              <a:rPr lang="es-ES">
                <a:solidFill>
                  <a:schemeClr val="accent1"/>
                </a:solidFill>
              </a:rPr>
              <a:t>Sistema</a:t>
            </a:r>
            <a:r>
              <a:rPr lang="es-ES"/>
              <a:t> </a:t>
            </a:r>
            <a:r>
              <a:rPr lang="es-ES">
                <a:solidFill>
                  <a:schemeClr val="accent1"/>
                </a:solidFill>
              </a:rPr>
              <a:t>de</a:t>
            </a:r>
            <a:r>
              <a:rPr lang="es-ES"/>
              <a:t> </a:t>
            </a:r>
            <a:r>
              <a:rPr lang="es-ES">
                <a:solidFill>
                  <a:schemeClr val="accent1"/>
                </a:solidFill>
              </a:rPr>
              <a:t>Pago</a:t>
            </a:r>
            <a:r>
              <a:rPr lang="es-ES"/>
              <a:t>: Sistema externo para gestionar pagos.</a:t>
            </a:r>
            <a:endParaRPr/>
          </a:p>
          <a:p>
            <a:pPr indent="-171450" lvl="1" marL="357188" rtl="0" algn="just">
              <a:lnSpc>
                <a:spcPct val="90000"/>
              </a:lnSpc>
              <a:spcBef>
                <a:spcPts val="200"/>
              </a:spcBef>
              <a:spcAft>
                <a:spcPts val="0"/>
              </a:spcAft>
              <a:buSzPts val="1400"/>
              <a:buChar char="▪"/>
            </a:pPr>
            <a:r>
              <a:rPr lang="es-ES">
                <a:solidFill>
                  <a:schemeClr val="accent1"/>
                </a:solidFill>
              </a:rPr>
              <a:t>Sistema</a:t>
            </a:r>
            <a:r>
              <a:rPr lang="es-ES"/>
              <a:t> </a:t>
            </a:r>
            <a:r>
              <a:rPr lang="es-ES">
                <a:solidFill>
                  <a:schemeClr val="accent1"/>
                </a:solidFill>
              </a:rPr>
              <a:t>de</a:t>
            </a:r>
            <a:r>
              <a:rPr lang="es-ES"/>
              <a:t> </a:t>
            </a:r>
            <a:r>
              <a:rPr lang="es-ES">
                <a:solidFill>
                  <a:schemeClr val="accent1"/>
                </a:solidFill>
              </a:rPr>
              <a:t>Cupones</a:t>
            </a:r>
            <a:r>
              <a:rPr lang="es-ES"/>
              <a:t>: Sistema externo para gestionar cupones de descuento.</a:t>
            </a:r>
            <a:endParaRPr/>
          </a:p>
          <a:p>
            <a:pPr indent="-82550" lvl="1" marL="357188" rtl="0" algn="just">
              <a:lnSpc>
                <a:spcPct val="90000"/>
              </a:lnSpc>
              <a:spcBef>
                <a:spcPts val="600"/>
              </a:spcBef>
              <a:spcAft>
                <a:spcPts val="0"/>
              </a:spcAft>
              <a:buSzPts val="1400"/>
              <a:buNone/>
            </a:pPr>
            <a:r>
              <a:t/>
            </a:r>
            <a:endParaRPr/>
          </a:p>
          <a:p>
            <a:pPr indent="-185738" lvl="0" marL="185738" rtl="0" algn="just">
              <a:lnSpc>
                <a:spcPct val="90000"/>
              </a:lnSpc>
              <a:spcBef>
                <a:spcPts val="600"/>
              </a:spcBef>
              <a:spcAft>
                <a:spcPts val="0"/>
              </a:spcAft>
              <a:buSzPts val="1200"/>
              <a:buFont typeface="Calibri"/>
              <a:buAutoNum type="arabicPeriod"/>
            </a:pPr>
            <a:r>
              <a:rPr b="1" lang="es-ES">
                <a:solidFill>
                  <a:schemeClr val="dk1"/>
                </a:solidFill>
              </a:rPr>
              <a:t>Casos de Uso</a:t>
            </a:r>
            <a:endParaRPr/>
          </a:p>
          <a:p>
            <a:pPr indent="-171450" lvl="1" marL="357188" rtl="0" algn="just">
              <a:lnSpc>
                <a:spcPct val="90000"/>
              </a:lnSpc>
              <a:spcBef>
                <a:spcPts val="200"/>
              </a:spcBef>
              <a:spcAft>
                <a:spcPts val="0"/>
              </a:spcAft>
              <a:buSzPts val="1400"/>
              <a:buChar char="▪"/>
            </a:pPr>
            <a:r>
              <a:rPr lang="es-ES">
                <a:solidFill>
                  <a:schemeClr val="accent1"/>
                </a:solidFill>
              </a:rPr>
              <a:t>Realizar</a:t>
            </a:r>
            <a:r>
              <a:rPr lang="es-ES"/>
              <a:t> </a:t>
            </a:r>
            <a:r>
              <a:rPr lang="es-ES">
                <a:solidFill>
                  <a:schemeClr val="accent1"/>
                </a:solidFill>
              </a:rPr>
              <a:t>Compra</a:t>
            </a:r>
            <a:r>
              <a:rPr lang="es-ES"/>
              <a:t>: El caso de uso principal para cualquier cliente. Este incluye “Seleccionar Productos” y “Realizar Pago”.</a:t>
            </a:r>
            <a:endParaRPr/>
          </a:p>
          <a:p>
            <a:pPr indent="-171450" lvl="1" marL="357188" rtl="0" algn="just">
              <a:lnSpc>
                <a:spcPct val="90000"/>
              </a:lnSpc>
              <a:spcBef>
                <a:spcPts val="200"/>
              </a:spcBef>
              <a:spcAft>
                <a:spcPts val="0"/>
              </a:spcAft>
              <a:buSzPts val="1400"/>
              <a:buChar char="▪"/>
            </a:pPr>
            <a:r>
              <a:rPr lang="es-ES">
                <a:solidFill>
                  <a:schemeClr val="accent1"/>
                </a:solidFill>
              </a:rPr>
              <a:t>Seleccionar</a:t>
            </a:r>
            <a:r>
              <a:rPr lang="es-ES"/>
              <a:t> </a:t>
            </a:r>
            <a:r>
              <a:rPr lang="es-ES">
                <a:solidFill>
                  <a:schemeClr val="accent1"/>
                </a:solidFill>
              </a:rPr>
              <a:t>Productos</a:t>
            </a:r>
            <a:r>
              <a:rPr lang="es-ES"/>
              <a:t>: Subproceso donde el cliente elige los productos que desea comprar.</a:t>
            </a:r>
            <a:endParaRPr/>
          </a:p>
          <a:p>
            <a:pPr indent="-171450" lvl="1" marL="357188" rtl="0" algn="just">
              <a:lnSpc>
                <a:spcPct val="90000"/>
              </a:lnSpc>
              <a:spcBef>
                <a:spcPts val="200"/>
              </a:spcBef>
              <a:spcAft>
                <a:spcPts val="0"/>
              </a:spcAft>
              <a:buSzPts val="1400"/>
              <a:buChar char="▪"/>
            </a:pPr>
            <a:r>
              <a:rPr lang="es-ES">
                <a:solidFill>
                  <a:schemeClr val="accent1"/>
                </a:solidFill>
              </a:rPr>
              <a:t>Realizar</a:t>
            </a:r>
            <a:r>
              <a:rPr lang="es-ES"/>
              <a:t> </a:t>
            </a:r>
            <a:r>
              <a:rPr lang="es-ES">
                <a:solidFill>
                  <a:schemeClr val="accent1"/>
                </a:solidFill>
              </a:rPr>
              <a:t>Pago</a:t>
            </a:r>
            <a:r>
              <a:rPr lang="es-ES"/>
              <a:t>: Subproceso donde el cliente efectúa el pago de los productos seleccionados.</a:t>
            </a:r>
            <a:endParaRPr/>
          </a:p>
          <a:p>
            <a:pPr indent="-171450" lvl="1" marL="357188" rtl="0" algn="just">
              <a:lnSpc>
                <a:spcPct val="90000"/>
              </a:lnSpc>
              <a:spcBef>
                <a:spcPts val="200"/>
              </a:spcBef>
              <a:spcAft>
                <a:spcPts val="0"/>
              </a:spcAft>
              <a:buSzPts val="1400"/>
              <a:buChar char="▪"/>
            </a:pPr>
            <a:r>
              <a:rPr lang="es-ES">
                <a:solidFill>
                  <a:schemeClr val="accent1"/>
                </a:solidFill>
              </a:rPr>
              <a:t>Aplicar</a:t>
            </a:r>
            <a:r>
              <a:rPr lang="es-ES"/>
              <a:t> </a:t>
            </a:r>
            <a:r>
              <a:rPr lang="es-ES">
                <a:solidFill>
                  <a:schemeClr val="accent1"/>
                </a:solidFill>
              </a:rPr>
              <a:t>Cupón</a:t>
            </a:r>
            <a:r>
              <a:rPr lang="es-ES"/>
              <a:t> </a:t>
            </a:r>
            <a:r>
              <a:rPr lang="es-ES">
                <a:solidFill>
                  <a:schemeClr val="accent1"/>
                </a:solidFill>
              </a:rPr>
              <a:t>de</a:t>
            </a:r>
            <a:r>
              <a:rPr lang="es-ES"/>
              <a:t> </a:t>
            </a:r>
            <a:r>
              <a:rPr lang="es-ES">
                <a:solidFill>
                  <a:schemeClr val="accent1"/>
                </a:solidFill>
              </a:rPr>
              <a:t>Descuento</a:t>
            </a:r>
            <a:r>
              <a:rPr lang="es-ES"/>
              <a:t>: Extiende “Realizar Compra” si el cliente tiene un cupón válido.</a:t>
            </a:r>
            <a:endParaRPr/>
          </a:p>
          <a:p>
            <a:pPr indent="-171450" lvl="1" marL="357188" rtl="0" algn="just">
              <a:lnSpc>
                <a:spcPct val="90000"/>
              </a:lnSpc>
              <a:spcBef>
                <a:spcPts val="200"/>
              </a:spcBef>
              <a:spcAft>
                <a:spcPts val="0"/>
              </a:spcAft>
              <a:buSzPts val="1400"/>
              <a:buChar char="▪"/>
            </a:pPr>
            <a:r>
              <a:rPr lang="es-ES">
                <a:solidFill>
                  <a:schemeClr val="accent1"/>
                </a:solidFill>
              </a:rPr>
              <a:t>Iniciar</a:t>
            </a:r>
            <a:r>
              <a:rPr lang="es-ES"/>
              <a:t> </a:t>
            </a:r>
            <a:r>
              <a:rPr lang="es-ES">
                <a:solidFill>
                  <a:schemeClr val="accent1"/>
                </a:solidFill>
              </a:rPr>
              <a:t>Sesión</a:t>
            </a:r>
            <a:r>
              <a:rPr lang="es-ES"/>
              <a:t>: Permite que tanto el cliente como el administrador inicie sesión en el sistema.</a:t>
            </a:r>
            <a:endParaRPr/>
          </a:p>
          <a:p>
            <a:pPr indent="-171450" lvl="1" marL="357188" rtl="0" algn="just">
              <a:lnSpc>
                <a:spcPct val="90000"/>
              </a:lnSpc>
              <a:spcBef>
                <a:spcPts val="200"/>
              </a:spcBef>
              <a:spcAft>
                <a:spcPts val="0"/>
              </a:spcAft>
              <a:buSzPts val="1400"/>
              <a:buChar char="▪"/>
            </a:pPr>
            <a:r>
              <a:rPr lang="es-ES">
                <a:solidFill>
                  <a:schemeClr val="accent1"/>
                </a:solidFill>
              </a:rPr>
              <a:t>Recuperar</a:t>
            </a:r>
            <a:r>
              <a:rPr lang="es-ES"/>
              <a:t> </a:t>
            </a:r>
            <a:r>
              <a:rPr lang="es-ES">
                <a:solidFill>
                  <a:schemeClr val="accent1"/>
                </a:solidFill>
              </a:rPr>
              <a:t>Contraseña</a:t>
            </a:r>
            <a:r>
              <a:rPr lang="es-ES"/>
              <a:t>: Extiende “Iniciar Sesión” en caso de que el usuario olvide su contraseña.</a:t>
            </a:r>
            <a:endParaRPr/>
          </a:p>
          <a:p>
            <a:pPr indent="-171450" lvl="1" marL="357188" rtl="0" algn="just">
              <a:lnSpc>
                <a:spcPct val="90000"/>
              </a:lnSpc>
              <a:spcBef>
                <a:spcPts val="200"/>
              </a:spcBef>
              <a:spcAft>
                <a:spcPts val="0"/>
              </a:spcAft>
              <a:buSzPts val="1400"/>
              <a:buChar char="▪"/>
            </a:pPr>
            <a:r>
              <a:rPr lang="es-ES">
                <a:solidFill>
                  <a:schemeClr val="accent1"/>
                </a:solidFill>
              </a:rPr>
              <a:t>Ver</a:t>
            </a:r>
            <a:r>
              <a:rPr lang="es-ES"/>
              <a:t> </a:t>
            </a:r>
            <a:r>
              <a:rPr lang="es-ES">
                <a:solidFill>
                  <a:schemeClr val="accent1"/>
                </a:solidFill>
              </a:rPr>
              <a:t>Historial</a:t>
            </a:r>
            <a:r>
              <a:rPr lang="es-ES"/>
              <a:t> </a:t>
            </a:r>
            <a:r>
              <a:rPr lang="es-ES">
                <a:solidFill>
                  <a:schemeClr val="accent1"/>
                </a:solidFill>
              </a:rPr>
              <a:t>de</a:t>
            </a:r>
            <a:r>
              <a:rPr lang="es-ES"/>
              <a:t> </a:t>
            </a:r>
            <a:r>
              <a:rPr lang="es-ES">
                <a:solidFill>
                  <a:schemeClr val="accent1"/>
                </a:solidFill>
              </a:rPr>
              <a:t>Compras</a:t>
            </a:r>
            <a:r>
              <a:rPr lang="es-ES"/>
              <a:t>: Permite al cliente ver sus compras anteriores.</a:t>
            </a:r>
            <a:endParaRPr/>
          </a:p>
          <a:p>
            <a:pPr indent="-171450" lvl="1" marL="357188" rtl="0" algn="just">
              <a:lnSpc>
                <a:spcPct val="90000"/>
              </a:lnSpc>
              <a:spcBef>
                <a:spcPts val="200"/>
              </a:spcBef>
              <a:spcAft>
                <a:spcPts val="0"/>
              </a:spcAft>
              <a:buSzPts val="1400"/>
              <a:buChar char="▪"/>
            </a:pPr>
            <a:r>
              <a:rPr lang="es-ES">
                <a:solidFill>
                  <a:schemeClr val="accent1"/>
                </a:solidFill>
              </a:rPr>
              <a:t>Ver</a:t>
            </a:r>
            <a:r>
              <a:rPr lang="es-ES"/>
              <a:t> </a:t>
            </a:r>
            <a:r>
              <a:rPr lang="es-ES">
                <a:solidFill>
                  <a:schemeClr val="accent1"/>
                </a:solidFill>
              </a:rPr>
              <a:t>Detalles</a:t>
            </a:r>
            <a:r>
              <a:rPr lang="es-ES"/>
              <a:t> </a:t>
            </a:r>
            <a:r>
              <a:rPr lang="es-ES">
                <a:solidFill>
                  <a:schemeClr val="accent1"/>
                </a:solidFill>
              </a:rPr>
              <a:t>de</a:t>
            </a:r>
            <a:r>
              <a:rPr lang="es-ES"/>
              <a:t> </a:t>
            </a:r>
            <a:r>
              <a:rPr lang="es-ES">
                <a:solidFill>
                  <a:schemeClr val="accent1"/>
                </a:solidFill>
              </a:rPr>
              <a:t>Compra</a:t>
            </a:r>
            <a:r>
              <a:rPr lang="es-ES"/>
              <a:t>: Subproceso que muestra los detalles de una compra específica en el historial.</a:t>
            </a:r>
            <a:endParaRPr/>
          </a:p>
          <a:p>
            <a:pPr indent="0" lvl="0" marL="0" rtl="0" algn="just">
              <a:lnSpc>
                <a:spcPct val="90000"/>
              </a:lnSpc>
              <a:spcBef>
                <a:spcPts val="600"/>
              </a:spcBef>
              <a:spcAft>
                <a:spcPts val="0"/>
              </a:spcAft>
              <a:buSzPts val="12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54"/>
          <p:cNvSpPr txBox="1"/>
          <p:nvPr>
            <p:ph idx="1" type="body"/>
          </p:nvPr>
        </p:nvSpPr>
        <p:spPr>
          <a:xfrm>
            <a:off x="468313" y="810473"/>
            <a:ext cx="8207375" cy="354012"/>
          </a:xfrm>
          <a:prstGeom prst="rect">
            <a:avLst/>
          </a:prstGeom>
          <a:solidFill>
            <a:srgbClr val="FFFFCC"/>
          </a:solid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rgbClr val="3F3F3F"/>
              </a:buClr>
              <a:buSzPts val="1600"/>
              <a:buNone/>
            </a:pPr>
            <a:r>
              <a:rPr lang="es-ES"/>
              <a:t>EJEMPLO: DCU BÁSICO PARA UN SISTEMA DE COMERCIO ELECTRÓNICO</a:t>
            </a:r>
            <a:endParaRPr/>
          </a:p>
        </p:txBody>
      </p:sp>
      <p:sp>
        <p:nvSpPr>
          <p:cNvPr id="524" name="Google Shape;524;p54"/>
          <p:cNvSpPr txBox="1"/>
          <p:nvPr>
            <p:ph idx="2"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chemeClr val="lt1"/>
              </a:buClr>
              <a:buSzPts val="1800"/>
              <a:buNone/>
            </a:pPr>
            <a:r>
              <a:rPr lang="es-ES"/>
              <a:t>/ DIAGRAMA DE CASOS DE USO</a:t>
            </a:r>
            <a:endParaRPr/>
          </a:p>
        </p:txBody>
      </p:sp>
      <p:sp>
        <p:nvSpPr>
          <p:cNvPr id="525" name="Google Shape;525;p54"/>
          <p:cNvSpPr txBox="1"/>
          <p:nvPr>
            <p:ph idx="3" type="body"/>
          </p:nvPr>
        </p:nvSpPr>
        <p:spPr>
          <a:xfrm>
            <a:off x="468313" y="1174364"/>
            <a:ext cx="8207375" cy="3730164"/>
          </a:xfrm>
          <a:prstGeom prst="rect">
            <a:avLst/>
          </a:prstGeom>
          <a:solidFill>
            <a:srgbClr val="FFFFCC"/>
          </a:solid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SzPts val="1200"/>
              <a:buNone/>
            </a:pPr>
            <a:r>
              <a:t/>
            </a:r>
            <a:endParaRPr b="1">
              <a:solidFill>
                <a:schemeClr val="dk1"/>
              </a:solidFill>
            </a:endParaRPr>
          </a:p>
          <a:p>
            <a:pPr indent="0" lvl="0" marL="0" rtl="0" algn="just">
              <a:lnSpc>
                <a:spcPct val="90000"/>
              </a:lnSpc>
              <a:spcBef>
                <a:spcPts val="200"/>
              </a:spcBef>
              <a:spcAft>
                <a:spcPts val="0"/>
              </a:spcAft>
              <a:buSzPts val="1200"/>
              <a:buNone/>
            </a:pPr>
            <a:r>
              <a:rPr b="1" lang="es-ES">
                <a:solidFill>
                  <a:schemeClr val="dk1"/>
                </a:solidFill>
              </a:rPr>
              <a:t>3. Relaciones</a:t>
            </a:r>
            <a:endParaRPr/>
          </a:p>
          <a:p>
            <a:pPr indent="-171450" lvl="1" marL="357188" rtl="0" algn="just">
              <a:lnSpc>
                <a:spcPct val="90000"/>
              </a:lnSpc>
              <a:spcBef>
                <a:spcPts val="200"/>
              </a:spcBef>
              <a:spcAft>
                <a:spcPts val="0"/>
              </a:spcAft>
              <a:buSzPts val="1400"/>
              <a:buChar char="▪"/>
            </a:pPr>
            <a:r>
              <a:rPr lang="es-ES">
                <a:solidFill>
                  <a:schemeClr val="accent1"/>
                </a:solidFill>
              </a:rPr>
              <a:t>Inclusión</a:t>
            </a:r>
            <a:r>
              <a:rPr lang="es-ES"/>
              <a:t> («</a:t>
            </a:r>
            <a:r>
              <a:rPr lang="es-ES">
                <a:solidFill>
                  <a:schemeClr val="accent1"/>
                </a:solidFill>
              </a:rPr>
              <a:t>include</a:t>
            </a:r>
            <a:r>
              <a:rPr lang="es-ES"/>
              <a:t>»): “Realizar Compra” incluye “Seleccionar Productos” y “Realizar Pago”. “Ver Historial de Compras” incluye “Ver Detalles de Compra”.</a:t>
            </a:r>
            <a:endParaRPr/>
          </a:p>
          <a:p>
            <a:pPr indent="-171450" lvl="1" marL="357188" rtl="0" algn="just">
              <a:lnSpc>
                <a:spcPct val="90000"/>
              </a:lnSpc>
              <a:spcBef>
                <a:spcPts val="200"/>
              </a:spcBef>
              <a:spcAft>
                <a:spcPts val="0"/>
              </a:spcAft>
              <a:buSzPts val="1400"/>
              <a:buChar char="▪"/>
            </a:pPr>
            <a:r>
              <a:rPr lang="es-ES">
                <a:solidFill>
                  <a:schemeClr val="accent1"/>
                </a:solidFill>
              </a:rPr>
              <a:t>Extensión</a:t>
            </a:r>
            <a:r>
              <a:rPr lang="es-ES"/>
              <a:t> («</a:t>
            </a:r>
            <a:r>
              <a:rPr lang="es-ES">
                <a:solidFill>
                  <a:schemeClr val="accent1"/>
                </a:solidFill>
              </a:rPr>
              <a:t>extend</a:t>
            </a:r>
            <a:r>
              <a:rPr lang="es-ES"/>
              <a:t>»): “Realizar Compra" se extiende con “Aplicar Cupón de Descuento” bajo ciertas condiciones. “Iniciar Sesión” se extiende con “Recuperar Contraseña” si el usuario olvida su contraseña.</a:t>
            </a:r>
            <a:endParaRPr/>
          </a:p>
          <a:p>
            <a:pPr indent="-100013" lvl="0" marL="176213" rtl="0" algn="just">
              <a:lnSpc>
                <a:spcPct val="90000"/>
              </a:lnSpc>
              <a:spcBef>
                <a:spcPts val="200"/>
              </a:spcBef>
              <a:spcAft>
                <a:spcPts val="0"/>
              </a:spcAft>
              <a:buClr>
                <a:srgbClr val="3F3F3F"/>
              </a:buClr>
              <a:buSzPts val="1200"/>
              <a:buFont typeface="Noto Sans Symbols"/>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55"/>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532" name="Google Shape;532;p55"/>
          <p:cNvSpPr/>
          <p:nvPr/>
        </p:nvSpPr>
        <p:spPr>
          <a:xfrm>
            <a:off x="1276149" y="788890"/>
            <a:ext cx="7204492" cy="4016444"/>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lt1"/>
              </a:buClr>
              <a:buSzPts val="1700"/>
              <a:buFont typeface="Arial"/>
              <a:buChar char="•"/>
            </a:pPr>
            <a:r>
              <a:rPr b="0" i="0" lang="es-ES" sz="1700" u="none" cap="none" strike="noStrike">
                <a:solidFill>
                  <a:schemeClr val="lt1"/>
                </a:solidFill>
                <a:latin typeface="Calibri"/>
                <a:ea typeface="Calibri"/>
                <a:cs typeface="Calibri"/>
                <a:sym typeface="Calibri"/>
              </a:rPr>
              <a:t>Los diagramas de Casos de Uso ofrecen una representación visual de alto nivel de las interacciones entre los actores y el sistema, facilitando la comprensión de los requisitos funcionales.</a:t>
            </a:r>
            <a:endParaRPr b="0" i="0" sz="1400" u="none" cap="none" strike="noStrike">
              <a:solidFill>
                <a:srgbClr val="000000"/>
              </a:solidFill>
              <a:latin typeface="Arial"/>
              <a:ea typeface="Arial"/>
              <a:cs typeface="Arial"/>
              <a:sym typeface="Arial"/>
            </a:endParaRPr>
          </a:p>
          <a:p>
            <a:pPr indent="-177800" lvl="0" marL="285750" marR="0" rtl="0" algn="l">
              <a:lnSpc>
                <a:spcPct val="100000"/>
              </a:lnSpc>
              <a:spcBef>
                <a:spcPts val="0"/>
              </a:spcBef>
              <a:spcAft>
                <a:spcPts val="0"/>
              </a:spcAft>
              <a:buClr>
                <a:schemeClr val="dk1"/>
              </a:buClr>
              <a:buSzPts val="1700"/>
              <a:buFont typeface="Arial"/>
              <a:buNone/>
            </a:pPr>
            <a:r>
              <a:t/>
            </a:r>
            <a:endParaRPr b="0" i="0" sz="1700" u="none" cap="none" strike="noStrike">
              <a:solidFill>
                <a:schemeClr val="lt1"/>
              </a:solidFill>
              <a:latin typeface="Calibri"/>
              <a:ea typeface="Calibri"/>
              <a:cs typeface="Calibri"/>
              <a:sym typeface="Calibri"/>
            </a:endParaRPr>
          </a:p>
          <a:p>
            <a:pPr indent="-285750" lvl="0" marL="285750" marR="0" rtl="0" algn="l">
              <a:lnSpc>
                <a:spcPct val="100000"/>
              </a:lnSpc>
              <a:spcBef>
                <a:spcPts val="0"/>
              </a:spcBef>
              <a:spcAft>
                <a:spcPts val="0"/>
              </a:spcAft>
              <a:buClr>
                <a:schemeClr val="lt1"/>
              </a:buClr>
              <a:buSzPts val="1700"/>
              <a:buFont typeface="Arial"/>
              <a:buChar char="•"/>
            </a:pPr>
            <a:r>
              <a:rPr b="0" i="0" lang="es-ES" sz="1700" u="none" cap="none" strike="noStrike">
                <a:solidFill>
                  <a:schemeClr val="lt1"/>
                </a:solidFill>
                <a:latin typeface="Calibri"/>
                <a:ea typeface="Calibri"/>
                <a:cs typeface="Calibri"/>
                <a:sym typeface="Calibri"/>
              </a:rPr>
              <a:t>Las «include» permiten reutilizar comportamientos comunes en múltiples casos de uso, mientras que las «extend» añaden flexibilidad al permitir comportamientos opcionales o condicionales.</a:t>
            </a:r>
            <a:endParaRPr b="0" i="0" sz="1400" u="none" cap="none" strike="noStrike">
              <a:solidFill>
                <a:srgbClr val="000000"/>
              </a:solidFill>
              <a:latin typeface="Arial"/>
              <a:ea typeface="Arial"/>
              <a:cs typeface="Arial"/>
              <a:sym typeface="Arial"/>
            </a:endParaRPr>
          </a:p>
          <a:p>
            <a:pPr indent="-177800" lvl="0" marL="285750" marR="0" rtl="0" algn="l">
              <a:lnSpc>
                <a:spcPct val="100000"/>
              </a:lnSpc>
              <a:spcBef>
                <a:spcPts val="0"/>
              </a:spcBef>
              <a:spcAft>
                <a:spcPts val="0"/>
              </a:spcAft>
              <a:buClr>
                <a:schemeClr val="dk1"/>
              </a:buClr>
              <a:buSzPts val="1700"/>
              <a:buFont typeface="Arial"/>
              <a:buNone/>
            </a:pPr>
            <a:r>
              <a:t/>
            </a:r>
            <a:endParaRPr b="0" i="0" sz="1700" u="none" cap="none" strike="noStrike">
              <a:solidFill>
                <a:schemeClr val="lt1"/>
              </a:solidFill>
              <a:latin typeface="Calibri"/>
              <a:ea typeface="Calibri"/>
              <a:cs typeface="Calibri"/>
              <a:sym typeface="Calibri"/>
            </a:endParaRPr>
          </a:p>
          <a:p>
            <a:pPr indent="-285750" lvl="0" marL="285750" marR="0" rtl="0" algn="l">
              <a:lnSpc>
                <a:spcPct val="100000"/>
              </a:lnSpc>
              <a:spcBef>
                <a:spcPts val="0"/>
              </a:spcBef>
              <a:spcAft>
                <a:spcPts val="0"/>
              </a:spcAft>
              <a:buClr>
                <a:schemeClr val="lt1"/>
              </a:buClr>
              <a:buSzPts val="1700"/>
              <a:buFont typeface="Arial"/>
              <a:buChar char="•"/>
            </a:pPr>
            <a:r>
              <a:rPr b="0" i="0" lang="es-ES" sz="1700" u="none" cap="none" strike="noStrike">
                <a:solidFill>
                  <a:schemeClr val="lt1"/>
                </a:solidFill>
                <a:latin typeface="Calibri"/>
                <a:ea typeface="Calibri"/>
                <a:cs typeface="Calibri"/>
                <a:sym typeface="Calibri"/>
              </a:rPr>
              <a:t>Utilizar la generalización en Casos de uso permite heredar comportamientos, lo que reduce la duplicación, mejora la mantenibilidad y facilita la comprensión del sistema.</a:t>
            </a:r>
            <a:endParaRPr b="0" i="0" sz="1400" u="none" cap="none" strike="noStrike">
              <a:solidFill>
                <a:srgbClr val="000000"/>
              </a:solidFill>
              <a:latin typeface="Arial"/>
              <a:ea typeface="Arial"/>
              <a:cs typeface="Arial"/>
              <a:sym typeface="Arial"/>
            </a:endParaRPr>
          </a:p>
          <a:p>
            <a:pPr indent="-177800" lvl="0" marL="285750" marR="0" rtl="0" algn="l">
              <a:lnSpc>
                <a:spcPct val="100000"/>
              </a:lnSpc>
              <a:spcBef>
                <a:spcPts val="0"/>
              </a:spcBef>
              <a:spcAft>
                <a:spcPts val="0"/>
              </a:spcAft>
              <a:buClr>
                <a:schemeClr val="dk1"/>
              </a:buClr>
              <a:buSzPts val="1700"/>
              <a:buFont typeface="Arial"/>
              <a:buNone/>
            </a:pPr>
            <a:r>
              <a:t/>
            </a:r>
            <a:endParaRPr b="0" i="0" sz="1700" u="none" cap="none" strike="noStrike">
              <a:solidFill>
                <a:schemeClr val="lt1"/>
              </a:solidFill>
              <a:latin typeface="Calibri"/>
              <a:ea typeface="Calibri"/>
              <a:cs typeface="Calibri"/>
              <a:sym typeface="Calibri"/>
            </a:endParaRPr>
          </a:p>
          <a:p>
            <a:pPr indent="-285750" lvl="0" marL="285750" marR="0" rtl="0" algn="l">
              <a:lnSpc>
                <a:spcPct val="100000"/>
              </a:lnSpc>
              <a:spcBef>
                <a:spcPts val="0"/>
              </a:spcBef>
              <a:spcAft>
                <a:spcPts val="0"/>
              </a:spcAft>
              <a:buClr>
                <a:schemeClr val="lt1"/>
              </a:buClr>
              <a:buSzPts val="1700"/>
              <a:buFont typeface="Arial"/>
              <a:buChar char="•"/>
            </a:pPr>
            <a:r>
              <a:rPr b="0" i="0" lang="es-ES" sz="1700" u="none" cap="none" strike="noStrike">
                <a:solidFill>
                  <a:schemeClr val="lt1"/>
                </a:solidFill>
                <a:latin typeface="Calibri"/>
                <a:ea typeface="Calibri"/>
                <a:cs typeface="Calibri"/>
                <a:sym typeface="Calibri"/>
              </a:rPr>
              <a:t>Además de capturar requisitos, los Casos de uso facilitan la comunicación entre stakeholders, ayudan en la planificación y estimación del proyecto, y sirven como base para pruebas y documentación.</a:t>
            </a:r>
            <a:endParaRPr b="0" i="0" sz="1400" u="none" cap="none" strike="noStrike">
              <a:solidFill>
                <a:srgbClr val="000000"/>
              </a:solidFill>
              <a:latin typeface="Arial"/>
              <a:ea typeface="Arial"/>
              <a:cs typeface="Arial"/>
              <a:sym typeface="Arial"/>
            </a:endParaRPr>
          </a:p>
        </p:txBody>
      </p:sp>
      <p:sp>
        <p:nvSpPr>
          <p:cNvPr id="533" name="Google Shape;533;p55"/>
          <p:cNvSpPr/>
          <p:nvPr/>
        </p:nvSpPr>
        <p:spPr>
          <a:xfrm>
            <a:off x="407875" y="320830"/>
            <a:ext cx="7204493" cy="3539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700"/>
              <a:buFont typeface="Calibri"/>
              <a:buNone/>
            </a:pPr>
            <a:r>
              <a:rPr b="0" i="0" lang="es-ES" sz="1700" u="none" cap="none" strike="noStrike">
                <a:solidFill>
                  <a:schemeClr val="lt1"/>
                </a:solidFill>
                <a:latin typeface="Calibri"/>
                <a:ea typeface="Calibri"/>
                <a:cs typeface="Calibri"/>
                <a:sym typeface="Calibri"/>
              </a:rPr>
              <a:t>/ CONCLUSIONES</a:t>
            </a:r>
            <a:endParaRPr b="0" i="0" sz="1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56"/>
          <p:cNvSpPr txBox="1"/>
          <p:nvPr/>
        </p:nvSpPr>
        <p:spPr>
          <a:xfrm>
            <a:off x="665324" y="857848"/>
            <a:ext cx="7892750" cy="3492049"/>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Dennis, A., Wixom, B. H., &amp; Tegarden, D. (2015). Systems Analysis and Design: An Object-Oriented Approach with UML. Wiley.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Fowler, M. (2003). UML Distilled: A Brief Guide to the Standard Object Modeling Language (3rd ed.). Addison-Wesley.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UML Use Case Diagrams: Guidelines. </a:t>
            </a:r>
            <a:r>
              <a:rPr b="0" i="0" lang="es-ES" sz="1600" u="sng" cap="none" strike="noStrike">
                <a:solidFill>
                  <a:schemeClr val="dk1"/>
                </a:solidFill>
                <a:latin typeface="Calibri"/>
                <a:ea typeface="Calibri"/>
                <a:cs typeface="Calibri"/>
                <a:sym typeface="Calibri"/>
                <a:hlinkClick r:id="rId3">
                  <a:extLst>
                    <a:ext uri="{A12FA001-AC4F-418D-AE19-62706E023703}">
                      <ahyp:hlinkClr val="tx"/>
                    </a:ext>
                  </a:extLst>
                </a:hlinkClick>
              </a:rPr>
              <a:t>https://docs.microsoft.com/en-us/previous-versions/visualstudio/visual-studio-2010/dd409432(v=vs.100)</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Use Case Diagram Tutorial. </a:t>
            </a:r>
            <a:r>
              <a:rPr b="0" i="0" lang="es-ES" sz="1600" u="sng" cap="none" strike="noStrike">
                <a:solidFill>
                  <a:schemeClr val="dk1"/>
                </a:solidFill>
                <a:latin typeface="Calibri"/>
                <a:ea typeface="Calibri"/>
                <a:cs typeface="Calibri"/>
                <a:sym typeface="Calibri"/>
                <a:hlinkClick r:id="rId4">
                  <a:extLst>
                    <a:ext uri="{A12FA001-AC4F-418D-AE19-62706E023703}">
                      <ahyp:hlinkClr val="tx"/>
                    </a:ext>
                  </a:extLst>
                </a:hlinkClick>
              </a:rPr>
              <a:t>https://creately.com/blog/diagrams/use-case-diagram-tutorial/</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Introduction to Use Case Diagrams. </a:t>
            </a:r>
            <a:r>
              <a:rPr b="0" i="0" lang="es-ES" sz="1600" u="sng" cap="none" strike="noStrike">
                <a:solidFill>
                  <a:schemeClr val="dk1"/>
                </a:solidFill>
                <a:latin typeface="Calibri"/>
                <a:ea typeface="Calibri"/>
                <a:cs typeface="Calibri"/>
                <a:sym typeface="Calibri"/>
                <a:hlinkClick r:id="rId5">
                  <a:extLst>
                    <a:ext uri="{A12FA001-AC4F-418D-AE19-62706E023703}">
                      <ahyp:hlinkClr val="tx"/>
                    </a:ext>
                  </a:extLst>
                </a:hlinkClick>
              </a:rPr>
              <a:t>https://www.smartdraw.com/use-case-diagram/</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269875" marR="0" rtl="0" algn="l">
              <a:lnSpc>
                <a:spcPct val="100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73025" lvl="0" marL="174625"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Calibri"/>
              <a:ea typeface="Calibri"/>
              <a:cs typeface="Calibri"/>
              <a:sym typeface="Calibri"/>
            </a:endParaRPr>
          </a:p>
        </p:txBody>
      </p:sp>
      <p:sp>
        <p:nvSpPr>
          <p:cNvPr id="540" name="Google Shape;540;p56"/>
          <p:cNvSpPr/>
          <p:nvPr/>
        </p:nvSpPr>
        <p:spPr>
          <a:xfrm>
            <a:off x="407875" y="320830"/>
            <a:ext cx="7204493" cy="3539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38AD7"/>
              </a:buClr>
              <a:buSzPts val="1700"/>
              <a:buFont typeface="Calibri"/>
              <a:buNone/>
            </a:pPr>
            <a:r>
              <a:rPr b="0" i="0" lang="es-ES" sz="1700" u="none" cap="none" strike="noStrike">
                <a:solidFill>
                  <a:srgbClr val="438AD7"/>
                </a:solidFill>
                <a:latin typeface="Calibri"/>
                <a:ea typeface="Calibri"/>
                <a:cs typeface="Calibri"/>
                <a:sym typeface="Calibri"/>
              </a:rPr>
              <a:t>/ BIBLIOGRAFÍA</a:t>
            </a:r>
            <a:endParaRPr b="0" i="0" sz="1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2016-10-06T14:52:02Z</dcterms:created>
  <dc:creator>ISIL</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