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715000" type="screen16x10"/>
  <p:notesSz cx="6797675" cy="99266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hFbqVqC7RCctVMGgWfs9C/YYwc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1314" y="96"/>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2945659" cy="49805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1"/>
            <a:ext cx="2945659" cy="49805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45659" cy="49805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 name="Google Shape;56;p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171450" lvl="0" indent="-95250" algn="l" rtl="0">
              <a:lnSpc>
                <a:spcPct val="100000"/>
              </a:lnSpc>
              <a:spcBef>
                <a:spcPts val="0"/>
              </a:spcBef>
              <a:spcAft>
                <a:spcPts val="0"/>
              </a:spcAft>
              <a:buClr>
                <a:schemeClr val="dk1"/>
              </a:buClr>
              <a:buSzPts val="1200"/>
              <a:buFont typeface="Arial"/>
              <a:buNone/>
            </a:pPr>
            <a:endParaRPr>
              <a:latin typeface="Arial"/>
              <a:ea typeface="Arial"/>
              <a:cs typeface="Arial"/>
              <a:sym typeface="Arial"/>
            </a:endParaRPr>
          </a:p>
        </p:txBody>
      </p:sp>
      <p:sp>
        <p:nvSpPr>
          <p:cNvPr id="57" name="Google Shape;57;p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69" name="Google Shape;69;p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76" name="Google Shape;76;p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83" name="Google Shape;83;p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92" name="Google Shape;92;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01" name="Google Shape;101;p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10" name="Google Shape;110;p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19" name="Google Shape;119;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28" name="Google Shape;128;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1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37" name="Google Shape;137;p1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1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46" name="Google Shape;146;p1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155" name="Google Shape;155;p1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62" name="Google Shape;162;p1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71" name="Google Shape;171;p1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80" name="Google Shape;180;p1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1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89" name="Google Shape;189;p1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198" name="Google Shape;198;p1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07" name="Google Shape;207;p1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1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16" name="Google Shape;216;p1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2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25" name="Google Shape;225;p2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2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34" name="Google Shape;234;p2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2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43" name="Google Shape;243;p2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2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52" name="Google Shape;252;p2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p2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60" name="Google Shape;260;p2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2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68" name="Google Shape;268;p2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6: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26: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279" name="Google Shape;279;p26: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7: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27: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86" name="Google Shape;286;p2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8: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28: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295" name="Google Shape;295;p2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9: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29: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304" name="Google Shape;304;p2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0: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30: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313" name="Google Shape;313;p30: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1: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31: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322" name="Google Shape;322;p3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2: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32: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331" name="Google Shape;331;p32: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3: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33: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p:txBody>
      </p:sp>
      <p:sp>
        <p:nvSpPr>
          <p:cNvPr id="340" name="Google Shape;340;p33: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4: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34: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sz="1200" b="0">
              <a:latin typeface="Arial"/>
              <a:ea typeface="Arial"/>
              <a:cs typeface="Arial"/>
              <a:sym typeface="Arial"/>
            </a:endParaRPr>
          </a:p>
        </p:txBody>
      </p:sp>
      <p:sp>
        <p:nvSpPr>
          <p:cNvPr id="349" name="Google Shape;349;p34: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5:notes"/>
          <p:cNvSpPr>
            <a:spLocks noGrp="1" noRot="1" noChangeAspect="1"/>
          </p:cNvSpPr>
          <p:nvPr>
            <p:ph type="sldImg" idx="2"/>
          </p:nvPr>
        </p:nvSpPr>
        <p:spPr>
          <a:xfrm>
            <a:off x="719138" y="1241425"/>
            <a:ext cx="53594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35:notes"/>
          <p:cNvSpPr txBox="1">
            <a:spLocks noGrp="1"/>
          </p:cNvSpPr>
          <p:nvPr>
            <p:ph type="body" idx="1"/>
          </p:nvPr>
        </p:nvSpPr>
        <p:spPr>
          <a:xfrm>
            <a:off x="679768" y="4777194"/>
            <a:ext cx="5438140" cy="3908615"/>
          </a:xfrm>
          <a:prstGeom prst="rect">
            <a:avLst/>
          </a:prstGeom>
          <a:noFill/>
          <a:ln>
            <a:noFill/>
          </a:ln>
        </p:spPr>
        <p:txBody>
          <a:bodyPr spcFirstLastPara="1" wrap="square" lIns="91425" tIns="45700" rIns="91425" bIns="45700" anchor="t" anchorCtr="0">
            <a:noAutofit/>
          </a:bodyPr>
          <a:lstStyle/>
          <a:p>
            <a:pPr marL="0" marR="0" lvl="3" indent="0" algn="l" rtl="0">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marL="0" lvl="0" indent="0" algn="l" rtl="0">
              <a:lnSpc>
                <a:spcPct val="100000"/>
              </a:lnSpc>
              <a:spcBef>
                <a:spcPts val="0"/>
              </a:spcBef>
              <a:spcAft>
                <a:spcPts val="0"/>
              </a:spcAft>
              <a:buClr>
                <a:schemeClr val="dk1"/>
              </a:buClr>
              <a:buSzPts val="1200"/>
              <a:buFont typeface="Calibri"/>
              <a:buNone/>
            </a:pPr>
            <a:endParaRPr sz="1200">
              <a:latin typeface="Arial"/>
              <a:ea typeface="Arial"/>
              <a:cs typeface="Arial"/>
              <a:sym typeface="Arial"/>
            </a:endParaRPr>
          </a:p>
        </p:txBody>
      </p:sp>
      <p:sp>
        <p:nvSpPr>
          <p:cNvPr id="357" name="Google Shape;357;p3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s-ES"/>
              <a:t>35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_Subtema con Imagen Horizontal">
  <p:cSld name="1_Diapo_Subtema con Imagen Horizontal">
    <p:spTree>
      <p:nvGrpSpPr>
        <p:cNvPr id="1" name="Shape 15"/>
        <p:cNvGrpSpPr/>
        <p:nvPr/>
      </p:nvGrpSpPr>
      <p:grpSpPr>
        <a:xfrm>
          <a:off x="0" y="0"/>
          <a:ext cx="0" cy="0"/>
          <a:chOff x="0" y="0"/>
          <a:chExt cx="0" cy="0"/>
        </a:xfrm>
      </p:grpSpPr>
      <p:sp>
        <p:nvSpPr>
          <p:cNvPr id="16" name="Google Shape;16;p38"/>
          <p:cNvSpPr>
            <a:spLocks noGrp="1"/>
          </p:cNvSpPr>
          <p:nvPr>
            <p:ph type="pic" idx="2"/>
          </p:nvPr>
        </p:nvSpPr>
        <p:spPr>
          <a:xfrm>
            <a:off x="475687" y="2877477"/>
            <a:ext cx="8207375" cy="2394000"/>
          </a:xfrm>
          <a:prstGeom prst="rect">
            <a:avLst/>
          </a:prstGeom>
          <a:noFill/>
          <a:ln>
            <a:noFill/>
          </a:ln>
        </p:spPr>
      </p:sp>
      <p:sp>
        <p:nvSpPr>
          <p:cNvPr id="17" name="Google Shape;17;p38"/>
          <p:cNvSpPr txBox="1">
            <a:spLocks noGrp="1"/>
          </p:cNvSpPr>
          <p:nvPr>
            <p:ph type="body" idx="1"/>
          </p:nvPr>
        </p:nvSpPr>
        <p:spPr>
          <a:xfrm>
            <a:off x="475687" y="804863"/>
            <a:ext cx="8207375"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 name="Google Shape;18;p38"/>
          <p:cNvSpPr txBox="1">
            <a:spLocks noGrp="1"/>
          </p:cNvSpPr>
          <p:nvPr>
            <p:ph type="body" idx="3"/>
          </p:nvPr>
        </p:nvSpPr>
        <p:spPr>
          <a:xfrm>
            <a:off x="475687"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8"/>
          <p:cNvSpPr txBox="1">
            <a:spLocks noGrp="1"/>
          </p:cNvSpPr>
          <p:nvPr>
            <p:ph type="body" idx="4"/>
          </p:nvPr>
        </p:nvSpPr>
        <p:spPr>
          <a:xfrm>
            <a:off x="475687" y="1169422"/>
            <a:ext cx="8200800" cy="1692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_Subtema con Imagen Vertical">
  <p:cSld name="Diapo_Subtema con Imagen Vertical">
    <p:spTree>
      <p:nvGrpSpPr>
        <p:cNvPr id="1" name="Shape 21"/>
        <p:cNvGrpSpPr/>
        <p:nvPr/>
      </p:nvGrpSpPr>
      <p:grpSpPr>
        <a:xfrm>
          <a:off x="0" y="0"/>
          <a:ext cx="0" cy="0"/>
          <a:chOff x="0" y="0"/>
          <a:chExt cx="0" cy="0"/>
        </a:xfrm>
      </p:grpSpPr>
      <p:sp>
        <p:nvSpPr>
          <p:cNvPr id="22" name="Google Shape;22;p40"/>
          <p:cNvSpPr>
            <a:spLocks noGrp="1"/>
          </p:cNvSpPr>
          <p:nvPr>
            <p:ph type="pic" idx="2"/>
          </p:nvPr>
        </p:nvSpPr>
        <p:spPr>
          <a:xfrm>
            <a:off x="4572000" y="804863"/>
            <a:ext cx="4103688" cy="4463362"/>
          </a:xfrm>
          <a:prstGeom prst="rect">
            <a:avLst/>
          </a:prstGeom>
          <a:noFill/>
          <a:ln>
            <a:noFill/>
          </a:ln>
        </p:spPr>
      </p:sp>
      <p:sp>
        <p:nvSpPr>
          <p:cNvPr id="23" name="Google Shape;23;p40"/>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40"/>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40"/>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_Full texto">
  <p:cSld name="Diapo_Full texto">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41"/>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rgbClr val="3F3F3F"/>
              </a:buClr>
              <a:buSzPts val="1600"/>
              <a:buFont typeface="Arial"/>
              <a:buNone/>
              <a:defRPr sz="1600" b="1" i="0" u="none" strike="noStrike" cap="none">
                <a:solidFill>
                  <a:srgbClr val="3F3F3F"/>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 name="Google Shape;28;p41"/>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chemeClr val="lt1"/>
              </a:buClr>
              <a:buSzPts val="1800"/>
              <a:buFont typeface="Arial"/>
              <a:buNone/>
              <a:defRPr sz="1800" b="1"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 name="Google Shape;29;p41"/>
          <p:cNvSpPr txBox="1">
            <a:spLocks noGrp="1"/>
          </p:cNvSpPr>
          <p:nvPr>
            <p:ph type="body" idx="3"/>
          </p:nvPr>
        </p:nvSpPr>
        <p:spPr>
          <a:xfrm>
            <a:off x="468313" y="1174363"/>
            <a:ext cx="8207375" cy="4540637"/>
          </a:xfrm>
          <a:prstGeom prst="rect">
            <a:avLst/>
          </a:prstGeom>
          <a:solidFill>
            <a:srgbClr val="FFFFCC"/>
          </a:solidFill>
          <a:ln>
            <a:noFill/>
          </a:ln>
        </p:spPr>
        <p:txBody>
          <a:bodyPr spcFirstLastPara="1" wrap="square" lIns="91425" tIns="45700" rIns="91425" bIns="45700" anchor="t" anchorCtr="0">
            <a:noAutofit/>
          </a:bodyPr>
          <a:lstStyle>
            <a:lvl1pPr marL="457200" marR="0" lvl="0" indent="-304800" algn="just" rtl="0">
              <a:lnSpc>
                <a:spcPct val="90000"/>
              </a:lnSpc>
              <a:spcBef>
                <a:spcPts val="0"/>
              </a:spcBef>
              <a:spcAft>
                <a:spcPts val="0"/>
              </a:spcAft>
              <a:buClr>
                <a:srgbClr val="3F3F3F"/>
              </a:buClr>
              <a:buSzPts val="1200"/>
              <a:buFont typeface="Noto Sans Symbols"/>
              <a:buChar char="❑"/>
              <a:defRPr sz="1600" b="0" i="1" u="none" strike="noStrike" cap="none">
                <a:solidFill>
                  <a:srgbClr val="7F7F7F"/>
                </a:solidFill>
                <a:latin typeface="Calibri"/>
                <a:ea typeface="Calibri"/>
                <a:cs typeface="Calibri"/>
                <a:sym typeface="Calibri"/>
              </a:defRPr>
            </a:lvl1pPr>
            <a:lvl2pPr marL="914400" marR="0" lvl="1" indent="-317500" algn="just" rtl="0">
              <a:lnSpc>
                <a:spcPct val="90000"/>
              </a:lnSpc>
              <a:spcBef>
                <a:spcPts val="600"/>
              </a:spcBef>
              <a:spcAft>
                <a:spcPts val="0"/>
              </a:spcAft>
              <a:buClr>
                <a:srgbClr val="3F3F3F"/>
              </a:buClr>
              <a:buSzPts val="1400"/>
              <a:buFont typeface="Noto Sans Symbols"/>
              <a:buChar char="▪"/>
              <a:defRPr sz="1400" b="0" i="1" u="none" strike="noStrike" cap="none">
                <a:solidFill>
                  <a:srgbClr val="7F7F7F"/>
                </a:solidFill>
                <a:latin typeface="Calibri"/>
                <a:ea typeface="Calibri"/>
                <a:cs typeface="Calibri"/>
                <a:sym typeface="Calibri"/>
              </a:defRPr>
            </a:lvl2pPr>
            <a:lvl3pPr marL="1371600" marR="0" lvl="2" indent="-317500" algn="just" rtl="0">
              <a:lnSpc>
                <a:spcPct val="90000"/>
              </a:lnSpc>
              <a:spcBef>
                <a:spcPts val="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17500" algn="just" rtl="0">
              <a:lnSpc>
                <a:spcPct val="90000"/>
              </a:lnSpc>
              <a:spcBef>
                <a:spcPts val="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just" rtl="0">
              <a:lnSpc>
                <a:spcPct val="90000"/>
              </a:lnSpc>
              <a:spcBef>
                <a:spcPts val="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6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apo_Introduccion">
  <p:cSld name="Diapo_Introduccion">
    <p:bg>
      <p:bgPr>
        <a:solidFill>
          <a:srgbClr val="F2F2F2"/>
        </a:solidFill>
        <a:effectLst/>
      </p:bgPr>
    </p:bg>
    <p:spTree>
      <p:nvGrpSpPr>
        <p:cNvPr id="1" name="Shape 31"/>
        <p:cNvGrpSpPr/>
        <p:nvPr/>
      </p:nvGrpSpPr>
      <p:grpSpPr>
        <a:xfrm>
          <a:off x="0" y="0"/>
          <a:ext cx="0" cy="0"/>
          <a:chOff x="0" y="0"/>
          <a:chExt cx="0" cy="0"/>
        </a:xfrm>
      </p:grpSpPr>
      <p:sp>
        <p:nvSpPr>
          <p:cNvPr id="32" name="Google Shape;32;p43"/>
          <p:cNvSpPr/>
          <p:nvPr/>
        </p:nvSpPr>
        <p:spPr>
          <a:xfrm>
            <a:off x="503238" y="997483"/>
            <a:ext cx="1945800" cy="2492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1620"/>
              <a:buFont typeface="Calibri"/>
              <a:buNone/>
            </a:pPr>
            <a:r>
              <a:rPr lang="es-ES" sz="1620" b="1" i="0" u="none" strike="noStrike" cap="none">
                <a:solidFill>
                  <a:schemeClr val="dk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pic>
        <p:nvPicPr>
          <p:cNvPr id="33" name="Google Shape;33;p43"/>
          <p:cNvPicPr preferRelativeResize="0"/>
          <p:nvPr/>
        </p:nvPicPr>
        <p:blipFill rotWithShape="1">
          <a:blip r:embed="rId2">
            <a:alphaModFix/>
          </a:blip>
          <a:srcRect/>
          <a:stretch/>
        </p:blipFill>
        <p:spPr>
          <a:xfrm>
            <a:off x="503239" y="573356"/>
            <a:ext cx="424127" cy="424127"/>
          </a:xfrm>
          <a:prstGeom prst="rect">
            <a:avLst/>
          </a:prstGeom>
          <a:solidFill>
            <a:srgbClr val="F2F2F2"/>
          </a:solidFill>
          <a:ln>
            <a:noFill/>
          </a:ln>
        </p:spPr>
      </p:pic>
      <p:sp>
        <p:nvSpPr>
          <p:cNvPr id="34" name="Google Shape;34;p43"/>
          <p:cNvSpPr txBox="1">
            <a:spLocks noGrp="1"/>
          </p:cNvSpPr>
          <p:nvPr>
            <p:ph type="body" idx="1"/>
          </p:nvPr>
        </p:nvSpPr>
        <p:spPr>
          <a:xfrm>
            <a:off x="503238" y="1670050"/>
            <a:ext cx="8137525" cy="3563938"/>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85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85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apo_Subtema con Imagen Horizontal">
  <p:cSld name="Diapo_Subtema con Imagen Horizontal">
    <p:spTree>
      <p:nvGrpSpPr>
        <p:cNvPr id="1" name="Shape 35"/>
        <p:cNvGrpSpPr/>
        <p:nvPr/>
      </p:nvGrpSpPr>
      <p:grpSpPr>
        <a:xfrm>
          <a:off x="0" y="0"/>
          <a:ext cx="0" cy="0"/>
          <a:chOff x="0" y="0"/>
          <a:chExt cx="0" cy="0"/>
        </a:xfrm>
      </p:grpSpPr>
      <p:sp>
        <p:nvSpPr>
          <p:cNvPr id="36" name="Google Shape;36;p44"/>
          <p:cNvSpPr>
            <a:spLocks noGrp="1"/>
          </p:cNvSpPr>
          <p:nvPr>
            <p:ph type="pic" idx="2"/>
          </p:nvPr>
        </p:nvSpPr>
        <p:spPr>
          <a:xfrm>
            <a:off x="475687" y="2877477"/>
            <a:ext cx="8207375" cy="2394000"/>
          </a:xfrm>
          <a:prstGeom prst="rect">
            <a:avLst/>
          </a:prstGeom>
          <a:noFill/>
          <a:ln>
            <a:noFill/>
          </a:ln>
        </p:spPr>
      </p:sp>
      <p:sp>
        <p:nvSpPr>
          <p:cNvPr id="37" name="Google Shape;37;p44"/>
          <p:cNvSpPr txBox="1">
            <a:spLocks noGrp="1"/>
          </p:cNvSpPr>
          <p:nvPr>
            <p:ph type="body" idx="1"/>
          </p:nvPr>
        </p:nvSpPr>
        <p:spPr>
          <a:xfrm>
            <a:off x="475687" y="804863"/>
            <a:ext cx="8207375"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8" name="Google Shape;38;p44"/>
          <p:cNvSpPr txBox="1">
            <a:spLocks noGrp="1"/>
          </p:cNvSpPr>
          <p:nvPr>
            <p:ph type="body" idx="3"/>
          </p:nvPr>
        </p:nvSpPr>
        <p:spPr>
          <a:xfrm>
            <a:off x="475687"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44"/>
          <p:cNvSpPr txBox="1">
            <a:spLocks noGrp="1"/>
          </p:cNvSpPr>
          <p:nvPr>
            <p:ph type="body" idx="4"/>
          </p:nvPr>
        </p:nvSpPr>
        <p:spPr>
          <a:xfrm>
            <a:off x="475687" y="1169422"/>
            <a:ext cx="8200800" cy="1692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600" b="0" i="0" u="none" strike="noStrike" cap="none">
                <a:solidFill>
                  <a:schemeClr val="dk1"/>
                </a:solidFill>
                <a:latin typeface="Calibri"/>
                <a:ea typeface="Calibri"/>
                <a:cs typeface="Calibri"/>
                <a:sym typeface="Calibri"/>
              </a:defRPr>
            </a:lvl1pPr>
            <a:lvl2pPr marL="914400" marR="0" lvl="1" indent="-330200" algn="just" rtl="0">
              <a:lnSpc>
                <a:spcPct val="100000"/>
              </a:lnSpc>
              <a:spcBef>
                <a:spcPts val="1200"/>
              </a:spcBef>
              <a:spcAft>
                <a:spcPts val="0"/>
              </a:spcAft>
              <a:buClr>
                <a:schemeClr val="dk1"/>
              </a:buClr>
              <a:buSzPts val="1600"/>
              <a:buFont typeface="Delius"/>
              <a:buChar char="→"/>
              <a:defRPr sz="1600" b="0" i="0" u="none" strike="noStrike" cap="none">
                <a:solidFill>
                  <a:schemeClr val="dk1"/>
                </a:solidFill>
                <a:latin typeface="Calibri"/>
                <a:ea typeface="Calibri"/>
                <a:cs typeface="Calibri"/>
                <a:sym typeface="Calibri"/>
              </a:defRPr>
            </a:lvl2pPr>
            <a:lvl3pPr marL="1371600" marR="0" lvl="2" indent="-330200" algn="just" rtl="0">
              <a:lnSpc>
                <a:spcPct val="100000"/>
              </a:lnSpc>
              <a:spcBef>
                <a:spcPts val="120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2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_Subtema con Cuadro">
  <p:cSld name="Diapo_Subtema con Cuadro">
    <p:spTree>
      <p:nvGrpSpPr>
        <p:cNvPr id="1" name="Shape 40"/>
        <p:cNvGrpSpPr/>
        <p:nvPr/>
      </p:nvGrpSpPr>
      <p:grpSpPr>
        <a:xfrm>
          <a:off x="0" y="0"/>
          <a:ext cx="0" cy="0"/>
          <a:chOff x="0" y="0"/>
          <a:chExt cx="0" cy="0"/>
        </a:xfrm>
      </p:grpSpPr>
      <p:sp>
        <p:nvSpPr>
          <p:cNvPr id="41" name="Google Shape;41;p45"/>
          <p:cNvSpPr>
            <a:spLocks noGrp="1"/>
          </p:cNvSpPr>
          <p:nvPr>
            <p:ph type="pic" idx="2"/>
          </p:nvPr>
        </p:nvSpPr>
        <p:spPr>
          <a:xfrm>
            <a:off x="468313" y="1175705"/>
            <a:ext cx="8207375" cy="4096800"/>
          </a:xfrm>
          <a:prstGeom prst="rect">
            <a:avLst/>
          </a:prstGeom>
          <a:noFill/>
          <a:ln>
            <a:noFill/>
          </a:ln>
        </p:spPr>
      </p:sp>
      <p:sp>
        <p:nvSpPr>
          <p:cNvPr id="42" name="Google Shape;42;p45"/>
          <p:cNvSpPr txBox="1">
            <a:spLocks noGrp="1"/>
          </p:cNvSpPr>
          <p:nvPr>
            <p:ph type="body" idx="1"/>
          </p:nvPr>
        </p:nvSpPr>
        <p:spPr>
          <a:xfrm>
            <a:off x="468313" y="810473"/>
            <a:ext cx="8207375" cy="354012"/>
          </a:xfrm>
          <a:prstGeom prst="rect">
            <a:avLst/>
          </a:prstGeom>
          <a:noFill/>
          <a:ln>
            <a:noFill/>
          </a:ln>
        </p:spPr>
        <p:txBody>
          <a:bodyPr spcFirstLastPara="1" wrap="square" lIns="72000" tIns="36000" rIns="72000" bIns="36000" anchor="ctr" anchorCtr="0">
            <a:noAutofit/>
          </a:bodyPr>
          <a:lstStyle>
            <a:lvl1pPr marL="457200" marR="0" lvl="0" indent="-228600" algn="l" rtl="0">
              <a:lnSpc>
                <a:spcPct val="85000"/>
              </a:lnSpc>
              <a:spcBef>
                <a:spcPts val="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3" name="Google Shape;43;p45"/>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lvl1pPr marL="457200" marR="0" lvl="0" indent="-228600" algn="l" rtl="0">
              <a:lnSpc>
                <a:spcPct val="100000"/>
              </a:lnSpc>
              <a:spcBef>
                <a:spcPts val="360"/>
              </a:spcBef>
              <a:spcAft>
                <a:spcPts val="0"/>
              </a:spcAft>
              <a:buClr>
                <a:srgbClr val="1F85A6"/>
              </a:buClr>
              <a:buSzPts val="1800"/>
              <a:buFont typeface="Arial"/>
              <a:buNone/>
              <a:defRPr sz="1800" b="1" i="0" u="none" strike="noStrike" cap="none">
                <a:solidFill>
                  <a:srgbClr val="1F85A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apo_Subtema">
  <p:cSld name="Diapo_Subtema">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46"/>
          <p:cNvSpPr txBox="1">
            <a:spLocks noGrp="1"/>
          </p:cNvSpPr>
          <p:nvPr>
            <p:ph type="body" idx="1"/>
          </p:nvPr>
        </p:nvSpPr>
        <p:spPr>
          <a:xfrm>
            <a:off x="468314" y="3714841"/>
            <a:ext cx="5543549" cy="8100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85000"/>
              </a:lnSpc>
              <a:spcBef>
                <a:spcPts val="0"/>
              </a:spcBef>
              <a:spcAft>
                <a:spcPts val="0"/>
              </a:spcAft>
              <a:buClr>
                <a:schemeClr val="lt1"/>
              </a:buClr>
              <a:buSzPts val="2800"/>
              <a:buFont typeface="Arial"/>
              <a:buNone/>
              <a:defRPr sz="2800" b="1"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apo_Conclusiones">
  <p:cSld name="Diapo_Conclusiones">
    <p:bg>
      <p:bgPr>
        <a:blipFill>
          <a:blip r:embed="rId2">
            <a:alphaModFix/>
          </a:blip>
          <a:stretch>
            <a:fillRect/>
          </a:stretch>
        </a:blipFill>
        <a:effectLst/>
      </p:bgPr>
    </p:bg>
    <p:spTree>
      <p:nvGrpSpPr>
        <p:cNvPr id="1" name="Shape 46"/>
        <p:cNvGrpSpPr/>
        <p:nvPr/>
      </p:nvGrpSpPr>
      <p:grpSpPr>
        <a:xfrm>
          <a:off x="0" y="0"/>
          <a:ext cx="0" cy="0"/>
          <a:chOff x="0" y="0"/>
          <a:chExt cx="0" cy="0"/>
        </a:xfrm>
      </p:grpSpPr>
      <p:sp>
        <p:nvSpPr>
          <p:cNvPr id="47" name="Google Shape;47;p47"/>
          <p:cNvSpPr/>
          <p:nvPr/>
        </p:nvSpPr>
        <p:spPr>
          <a:xfrm>
            <a:off x="503238" y="997483"/>
            <a:ext cx="1945800" cy="2492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620"/>
              <a:buFont typeface="Calibri"/>
              <a:buNone/>
            </a:pPr>
            <a:r>
              <a:rPr lang="es-ES" sz="1620" b="1" i="0" u="none" strike="noStrike" cap="none">
                <a:solidFill>
                  <a:srgbClr val="FFFFFF"/>
                </a:solidFill>
                <a:latin typeface="Calibri"/>
                <a:ea typeface="Calibri"/>
                <a:cs typeface="Calibri"/>
                <a:sym typeface="Calibri"/>
              </a:rPr>
              <a:t>CONCLUSIONES</a:t>
            </a:r>
            <a:endParaRPr sz="1400" b="0" i="0" u="none" strike="noStrike" cap="none">
              <a:solidFill>
                <a:srgbClr val="000000"/>
              </a:solidFill>
              <a:latin typeface="Arial"/>
              <a:ea typeface="Arial"/>
              <a:cs typeface="Arial"/>
              <a:sym typeface="Arial"/>
            </a:endParaRPr>
          </a:p>
        </p:txBody>
      </p:sp>
      <p:pic>
        <p:nvPicPr>
          <p:cNvPr id="48" name="Google Shape;48;p47"/>
          <p:cNvPicPr preferRelativeResize="0"/>
          <p:nvPr/>
        </p:nvPicPr>
        <p:blipFill rotWithShape="1">
          <a:blip r:embed="rId3">
            <a:alphaModFix/>
          </a:blip>
          <a:srcRect/>
          <a:stretch/>
        </p:blipFill>
        <p:spPr>
          <a:xfrm>
            <a:off x="503239" y="573356"/>
            <a:ext cx="424127" cy="424127"/>
          </a:xfrm>
          <a:prstGeom prst="rect">
            <a:avLst/>
          </a:prstGeom>
          <a:noFill/>
          <a:ln>
            <a:noFill/>
          </a:ln>
        </p:spPr>
      </p:pic>
      <p:sp>
        <p:nvSpPr>
          <p:cNvPr id="49" name="Google Shape;49;p47"/>
          <p:cNvSpPr txBox="1">
            <a:spLocks noGrp="1"/>
          </p:cNvSpPr>
          <p:nvPr>
            <p:ph type="body" idx="1"/>
          </p:nvPr>
        </p:nvSpPr>
        <p:spPr>
          <a:xfrm>
            <a:off x="927366" y="1670909"/>
            <a:ext cx="7713398" cy="3526566"/>
          </a:xfrm>
          <a:prstGeom prst="rect">
            <a:avLst/>
          </a:prstGeom>
          <a:noFill/>
          <a:ln>
            <a:noFill/>
          </a:ln>
        </p:spPr>
        <p:txBody>
          <a:bodyPr spcFirstLastPara="1" wrap="square" lIns="0" tIns="0" rIns="0" bIns="0" anchor="t" anchorCtr="0">
            <a:noAutofit/>
          </a:bodyPr>
          <a:lstStyle>
            <a:lvl1pPr marL="457200" marR="0" lvl="0" indent="-342900" algn="just" rtl="0">
              <a:lnSpc>
                <a:spcPct val="85000"/>
              </a:lnSpc>
              <a:spcBef>
                <a:spcPts val="0"/>
              </a:spcBef>
              <a:spcAft>
                <a:spcPts val="0"/>
              </a:spcAft>
              <a:buClr>
                <a:schemeClr val="lt1"/>
              </a:buClr>
              <a:buSzPts val="1800"/>
              <a:buFont typeface="Calibri"/>
              <a:buAutoNum type="arabicPeriod"/>
              <a:defRPr sz="18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_Bibliografía">
  <p:cSld name="Diapo_Bibliografía">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48"/>
          <p:cNvSpPr/>
          <p:nvPr/>
        </p:nvSpPr>
        <p:spPr>
          <a:xfrm>
            <a:off x="503238" y="997483"/>
            <a:ext cx="1945800" cy="2492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620"/>
              <a:buFont typeface="Calibri"/>
              <a:buNone/>
            </a:pPr>
            <a:r>
              <a:rPr lang="es-ES" sz="1620" b="1" i="0" u="none" strike="noStrike" cap="none">
                <a:solidFill>
                  <a:srgbClr val="FFFFFF"/>
                </a:solidFill>
                <a:latin typeface="Calibri"/>
                <a:ea typeface="Calibri"/>
                <a:cs typeface="Calibri"/>
                <a:sym typeface="Calibri"/>
              </a:rPr>
              <a:t>BIBLIOGRAFÍA</a:t>
            </a:r>
            <a:endParaRPr sz="1400" b="0" i="0" u="none" strike="noStrike" cap="none">
              <a:solidFill>
                <a:srgbClr val="000000"/>
              </a:solidFill>
              <a:latin typeface="Arial"/>
              <a:ea typeface="Arial"/>
              <a:cs typeface="Arial"/>
              <a:sym typeface="Arial"/>
            </a:endParaRPr>
          </a:p>
        </p:txBody>
      </p:sp>
      <p:pic>
        <p:nvPicPr>
          <p:cNvPr id="52" name="Google Shape;52;p48"/>
          <p:cNvPicPr preferRelativeResize="0"/>
          <p:nvPr/>
        </p:nvPicPr>
        <p:blipFill rotWithShape="1">
          <a:blip r:embed="rId3">
            <a:alphaModFix/>
          </a:blip>
          <a:srcRect/>
          <a:stretch/>
        </p:blipFill>
        <p:spPr>
          <a:xfrm>
            <a:off x="503239" y="573356"/>
            <a:ext cx="424127" cy="424127"/>
          </a:xfrm>
          <a:prstGeom prst="rect">
            <a:avLst/>
          </a:prstGeom>
          <a:noFill/>
          <a:ln>
            <a:noFill/>
          </a:ln>
        </p:spPr>
      </p:pic>
      <p:sp>
        <p:nvSpPr>
          <p:cNvPr id="53" name="Google Shape;53;p48"/>
          <p:cNvSpPr txBox="1">
            <a:spLocks noGrp="1"/>
          </p:cNvSpPr>
          <p:nvPr>
            <p:ph type="body" idx="1"/>
          </p:nvPr>
        </p:nvSpPr>
        <p:spPr>
          <a:xfrm>
            <a:off x="927366" y="1670049"/>
            <a:ext cx="7713398" cy="3527425"/>
          </a:xfrm>
          <a:prstGeom prst="rect">
            <a:avLst/>
          </a:prstGeom>
          <a:noFill/>
          <a:ln>
            <a:noFill/>
          </a:ln>
        </p:spPr>
        <p:txBody>
          <a:bodyPr spcFirstLastPara="1" wrap="square" lIns="0" tIns="0" rIns="0" bIns="0" anchor="t" anchorCtr="0">
            <a:noAutofit/>
          </a:bodyPr>
          <a:lstStyle>
            <a:lvl1pPr marL="457200" marR="0" lvl="0" indent="-342900" algn="just" rtl="0">
              <a:lnSpc>
                <a:spcPct val="85000"/>
              </a:lnSpc>
              <a:spcBef>
                <a:spcPts val="0"/>
              </a:spcBef>
              <a:spcAft>
                <a:spcPts val="0"/>
              </a:spcAft>
              <a:buClr>
                <a:schemeClr val="lt1"/>
              </a:buClr>
              <a:buSzPts val="1800"/>
              <a:buFont typeface="Noto Sans Symbols"/>
              <a:buChar char="▪"/>
              <a:defRPr sz="18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36"/>
          <p:cNvGrpSpPr/>
          <p:nvPr/>
        </p:nvGrpSpPr>
        <p:grpSpPr>
          <a:xfrm>
            <a:off x="793745" y="5369051"/>
            <a:ext cx="8104595" cy="215444"/>
            <a:chOff x="793745" y="5369051"/>
            <a:chExt cx="7954689" cy="215444"/>
          </a:xfrm>
        </p:grpSpPr>
        <p:sp>
          <p:nvSpPr>
            <p:cNvPr id="11" name="Google Shape;11;p36"/>
            <p:cNvSpPr txBox="1"/>
            <p:nvPr/>
          </p:nvSpPr>
          <p:spPr>
            <a:xfrm>
              <a:off x="793745" y="5369051"/>
              <a:ext cx="2133782"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ES" sz="800" b="0" i="0" u="none" strike="noStrike" cap="none">
                  <a:solidFill>
                    <a:srgbClr val="7F7F7F"/>
                  </a:solidFill>
                  <a:latin typeface="Calibri"/>
                  <a:ea typeface="Calibri"/>
                  <a:cs typeface="Calibri"/>
                  <a:sym typeface="Calibri"/>
                </a:rPr>
                <a:t>ANÁLISIS Y DISEÑO DE SISTEMAS II  •  SESIÓN 11</a:t>
              </a:r>
              <a:endParaRPr sz="800" b="0" i="0" u="none" strike="noStrike" cap="none">
                <a:solidFill>
                  <a:srgbClr val="7F7F7F"/>
                </a:solidFill>
                <a:latin typeface="Calibri"/>
                <a:ea typeface="Calibri"/>
                <a:cs typeface="Calibri"/>
                <a:sym typeface="Calibri"/>
              </a:endParaRPr>
            </a:p>
          </p:txBody>
        </p:sp>
        <p:sp>
          <p:nvSpPr>
            <p:cNvPr id="12" name="Google Shape;12;p36"/>
            <p:cNvSpPr/>
            <p:nvPr/>
          </p:nvSpPr>
          <p:spPr>
            <a:xfrm>
              <a:off x="7207627" y="5384440"/>
              <a:ext cx="1540807" cy="184666"/>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600"/>
                <a:buFont typeface="Arial"/>
                <a:buNone/>
              </a:pPr>
              <a:r>
                <a:rPr lang="es-ES" sz="600" b="0" i="0" u="none" strike="noStrike" cap="none">
                  <a:solidFill>
                    <a:srgbClr val="7F7F7F"/>
                  </a:solidFill>
                  <a:latin typeface="Calibri"/>
                  <a:ea typeface="Calibri"/>
                  <a:cs typeface="Calibri"/>
                  <a:sym typeface="Calibri"/>
                </a:rPr>
                <a:t>© 2023 ISIL. Todos los derechos reservados</a:t>
              </a:r>
              <a:endParaRPr sz="1400" b="0" i="0" u="none" strike="noStrike" cap="none">
                <a:solidFill>
                  <a:srgbClr val="000000"/>
                </a:solidFill>
                <a:latin typeface="Arial"/>
                <a:ea typeface="Arial"/>
                <a:cs typeface="Arial"/>
                <a:sym typeface="Arial"/>
              </a:endParaRPr>
            </a:p>
          </p:txBody>
        </p:sp>
      </p:grpSp>
      <p:pic>
        <p:nvPicPr>
          <p:cNvPr id="13" name="Google Shape;13;p36"/>
          <p:cNvPicPr preferRelativeResize="0"/>
          <p:nvPr/>
        </p:nvPicPr>
        <p:blipFill rotWithShape="1">
          <a:blip r:embed="rId14">
            <a:alphaModFix amt="20000"/>
          </a:blip>
          <a:srcRect/>
          <a:stretch/>
        </p:blipFill>
        <p:spPr>
          <a:xfrm>
            <a:off x="345172" y="5328911"/>
            <a:ext cx="448573" cy="2507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developer.ibm.com/technologies/object-oriented-programming/articles/uml-basics-an-introduction-to-the-unified-modeling-language/" TargetMode="External"/><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hyperlink" Target="https://www.lucidchart.com/pages/uml-class-diagram" TargetMode="External"/><Relationship Id="rId4" Type="http://schemas.openxmlformats.org/officeDocument/2006/relationships/hyperlink" Target="https://www.visual-paradigm.com/guide/uml-unified-modeling-language/uml-class-diagram-tutor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
          <p:cNvSpPr/>
          <p:nvPr/>
        </p:nvSpPr>
        <p:spPr>
          <a:xfrm>
            <a:off x="0" y="-1518"/>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800"/>
              <a:buFont typeface="Calibri"/>
              <a:buNone/>
            </a:pPr>
            <a:r>
              <a:rPr lang="es-ES" sz="1800" b="0" i="0" u="none" strike="noStrike" cap="none">
                <a:solidFill>
                  <a:schemeClr val="lt1"/>
                </a:solidFill>
                <a:latin typeface="Calibri"/>
                <a:ea typeface="Calibri"/>
                <a:cs typeface="Calibri"/>
                <a:sym typeface="Calibri"/>
              </a:rPr>
              <a:t>SESIÓN</a:t>
            </a:r>
            <a:endParaRPr sz="1800" b="0" i="0" u="none" strike="noStrike" cap="none">
              <a:solidFill>
                <a:schemeClr val="dk1"/>
              </a:solidFill>
              <a:latin typeface="Calibri"/>
              <a:ea typeface="Calibri"/>
              <a:cs typeface="Calibri"/>
              <a:sym typeface="Calibri"/>
            </a:endParaRPr>
          </a:p>
        </p:txBody>
      </p:sp>
      <p:sp>
        <p:nvSpPr>
          <p:cNvPr id="61" name="Google Shape;61;p1"/>
          <p:cNvSpPr txBox="1"/>
          <p:nvPr/>
        </p:nvSpPr>
        <p:spPr>
          <a:xfrm>
            <a:off x="2051281" y="1730819"/>
            <a:ext cx="964250" cy="9848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5800"/>
              <a:buFont typeface="Calibri"/>
              <a:buNone/>
            </a:pPr>
            <a:r>
              <a:rPr lang="es-ES" sz="5800" b="0" i="0" u="none" strike="noStrike" cap="none">
                <a:solidFill>
                  <a:srgbClr val="FFFFFF"/>
                </a:solidFill>
                <a:latin typeface="Calibri"/>
                <a:ea typeface="Calibri"/>
                <a:cs typeface="Calibri"/>
                <a:sym typeface="Calibri"/>
              </a:rPr>
              <a:t>11</a:t>
            </a:r>
            <a:endParaRPr sz="1800" b="0" i="0" u="none" strike="noStrike" cap="none">
              <a:solidFill>
                <a:schemeClr val="dk1"/>
              </a:solidFill>
              <a:latin typeface="Calibri"/>
              <a:ea typeface="Calibri"/>
              <a:cs typeface="Calibri"/>
              <a:sym typeface="Calibri"/>
            </a:endParaRPr>
          </a:p>
        </p:txBody>
      </p:sp>
      <p:sp>
        <p:nvSpPr>
          <p:cNvPr id="62" name="Google Shape;62;p1"/>
          <p:cNvSpPr txBox="1"/>
          <p:nvPr/>
        </p:nvSpPr>
        <p:spPr>
          <a:xfrm>
            <a:off x="3175138" y="1364545"/>
            <a:ext cx="5422704"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s-ES" sz="3600" b="1" i="0" u="none" strike="noStrike" cap="none">
                <a:solidFill>
                  <a:schemeClr val="lt1"/>
                </a:solidFill>
                <a:latin typeface="Calibri"/>
                <a:ea typeface="Calibri"/>
                <a:cs typeface="Calibri"/>
                <a:sym typeface="Calibri"/>
              </a:rPr>
              <a:t>DIAGRAMA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r>
              <a:rPr lang="es-ES" sz="3600" b="1" i="0" u="none" strike="noStrike" cap="none">
                <a:solidFill>
                  <a:schemeClr val="lt1"/>
                </a:solidFill>
                <a:latin typeface="Calibri"/>
                <a:ea typeface="Calibri"/>
                <a:cs typeface="Calibri"/>
                <a:sym typeface="Calibri"/>
              </a:rPr>
              <a:t>DE CLASES</a:t>
            </a:r>
            <a:endParaRPr sz="3600" b="1" i="0" u="none" strike="noStrike" cap="none">
              <a:solidFill>
                <a:schemeClr val="lt1"/>
              </a:solidFill>
              <a:latin typeface="Calibri"/>
              <a:ea typeface="Calibri"/>
              <a:cs typeface="Calibri"/>
              <a:sym typeface="Calibri"/>
            </a:endParaRPr>
          </a:p>
        </p:txBody>
      </p:sp>
      <p:sp>
        <p:nvSpPr>
          <p:cNvPr id="63" name="Google Shape;63;p1"/>
          <p:cNvSpPr txBox="1"/>
          <p:nvPr/>
        </p:nvSpPr>
        <p:spPr>
          <a:xfrm>
            <a:off x="3175138" y="2996279"/>
            <a:ext cx="5026425" cy="83095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lt1"/>
              </a:buClr>
              <a:buSzPts val="1600"/>
              <a:buFont typeface="Arial"/>
              <a:buChar char="•"/>
            </a:pPr>
            <a:r>
              <a:rPr lang="es-ES" sz="1600" b="0" i="0" u="none" strike="noStrike" cap="none">
                <a:solidFill>
                  <a:schemeClr val="lt1"/>
                </a:solidFill>
                <a:latin typeface="Calibri"/>
                <a:ea typeface="Calibri"/>
                <a:cs typeface="Calibri"/>
                <a:sym typeface="Calibri"/>
              </a:rPr>
              <a:t>Definiciones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lt1"/>
              </a:buClr>
              <a:buSzPts val="1600"/>
              <a:buFont typeface="Arial"/>
              <a:buChar char="•"/>
            </a:pPr>
            <a:r>
              <a:rPr lang="es-ES" sz="1600" b="0" i="0" u="none" strike="noStrike" cap="none">
                <a:solidFill>
                  <a:schemeClr val="lt1"/>
                </a:solidFill>
                <a:latin typeface="Calibri"/>
                <a:ea typeface="Calibri"/>
                <a:cs typeface="Calibri"/>
                <a:sym typeface="Calibri"/>
              </a:rPr>
              <a:t>Elementos del diagrama de clases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lt1"/>
              </a:buClr>
              <a:buSzPts val="1600"/>
              <a:buFont typeface="Arial"/>
              <a:buChar char="•"/>
            </a:pPr>
            <a:r>
              <a:rPr lang="es-ES" sz="1600" b="0" i="0" u="none" strike="noStrike" cap="none">
                <a:solidFill>
                  <a:schemeClr val="lt1"/>
                </a:solidFill>
                <a:latin typeface="Calibri"/>
                <a:ea typeface="Calibri"/>
                <a:cs typeface="Calibri"/>
                <a:sym typeface="Calibri"/>
              </a:rPr>
              <a:t>Uso del diagrama de clases</a:t>
            </a:r>
            <a:endParaRPr sz="1400" b="0" i="0" u="none" strike="noStrike" cap="none">
              <a:solidFill>
                <a:srgbClr val="000000"/>
              </a:solidFill>
              <a:latin typeface="Arial"/>
              <a:ea typeface="Arial"/>
              <a:cs typeface="Arial"/>
              <a:sym typeface="Arial"/>
            </a:endParaRPr>
          </a:p>
        </p:txBody>
      </p:sp>
      <p:cxnSp>
        <p:nvCxnSpPr>
          <p:cNvPr id="64" name="Google Shape;64;p1"/>
          <p:cNvCxnSpPr/>
          <p:nvPr/>
        </p:nvCxnSpPr>
        <p:spPr>
          <a:xfrm>
            <a:off x="3056456" y="1777107"/>
            <a:ext cx="0" cy="720031"/>
          </a:xfrm>
          <a:prstGeom prst="straightConnector1">
            <a:avLst/>
          </a:prstGeom>
          <a:noFill/>
          <a:ln w="25400" cap="flat" cmpd="sng">
            <a:solidFill>
              <a:srgbClr val="FFFFFF"/>
            </a:solidFill>
            <a:prstDash val="solid"/>
            <a:round/>
            <a:headEnd type="none" w="sm" len="sm"/>
            <a:tailEnd type="none" w="sm" len="sm"/>
          </a:ln>
        </p:spPr>
      </p:cxnSp>
      <p:sp>
        <p:nvSpPr>
          <p:cNvPr id="65" name="Google Shape;65;p1"/>
          <p:cNvSpPr/>
          <p:nvPr/>
        </p:nvSpPr>
        <p:spPr>
          <a:xfrm>
            <a:off x="3289191" y="2568993"/>
            <a:ext cx="3672000" cy="193899"/>
          </a:xfrm>
          <a:prstGeom prst="rect">
            <a:avLst/>
          </a:prstGeom>
          <a:solidFill>
            <a:schemeClr val="lt1"/>
          </a:solid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F85A6"/>
              </a:buClr>
              <a:buSzPts val="1400"/>
              <a:buFont typeface="Calibri"/>
              <a:buNone/>
            </a:pPr>
            <a:r>
              <a:rPr lang="es-ES" sz="1400" b="1" i="0" u="none" strike="noStrike" cap="none">
                <a:solidFill>
                  <a:srgbClr val="1F85A6"/>
                </a:solidFill>
                <a:latin typeface="Calibri"/>
                <a:ea typeface="Calibri"/>
                <a:cs typeface="Calibri"/>
                <a:sym typeface="Calibri"/>
              </a:rPr>
              <a:t>UNIDAD DE APRENDIZAJE 3 – UA3</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38AD7"/>
              </a:buClr>
              <a:buSzPts val="1700"/>
              <a:buFont typeface="Calibri"/>
              <a:buNone/>
            </a:pPr>
            <a:r>
              <a:rPr lang="es-ES" sz="1700" b="0" i="0" u="none" strike="noStrike" cap="none">
                <a:solidFill>
                  <a:srgbClr val="438AD7"/>
                </a:solidFill>
                <a:latin typeface="Calibri"/>
                <a:ea typeface="Calibri"/>
                <a:cs typeface="Calibri"/>
                <a:sym typeface="Calibri"/>
              </a:rPr>
              <a:t>/ INTRODUCCIÓN</a:t>
            </a:r>
            <a:endParaRPr sz="1800" b="0" i="0" u="none" strike="noStrike" cap="none">
              <a:solidFill>
                <a:schemeClr val="dk1"/>
              </a:solidFill>
              <a:latin typeface="Calibri"/>
              <a:ea typeface="Calibri"/>
              <a:cs typeface="Calibri"/>
              <a:sym typeface="Calibri"/>
            </a:endParaRPr>
          </a:p>
        </p:txBody>
      </p:sp>
      <p:sp>
        <p:nvSpPr>
          <p:cNvPr id="72" name="Google Shape;72;p2"/>
          <p:cNvSpPr txBox="1"/>
          <p:nvPr/>
        </p:nvSpPr>
        <p:spPr>
          <a:xfrm>
            <a:off x="573212" y="687405"/>
            <a:ext cx="7784512" cy="356393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En el contexto del análisis y diseño de sistemas de información, un diagrama de clases UML es un tipo de diagrama estático que se utiliza en ingeniería de software para mostrar la estructura de un sistema modelando sus clases, atributos, operaciones y las relaciones entre los objetos.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ES" sz="1600" b="0" i="0" u="none" strike="noStrike" cap="none">
                <a:solidFill>
                  <a:schemeClr val="dk1"/>
                </a:solidFill>
                <a:latin typeface="Calibri"/>
                <a:ea typeface="Calibri"/>
                <a:cs typeface="Calibri"/>
                <a:sym typeface="Calibri"/>
              </a:rPr>
              <a:t>Entonces, durante esta sesión: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457200" marR="0" lvl="1" indent="0" algn="l" rtl="0">
              <a:lnSpc>
                <a:spcPct val="100000"/>
              </a:lnSpc>
              <a:spcBef>
                <a:spcPts val="600"/>
              </a:spcBef>
              <a:spcAft>
                <a:spcPts val="0"/>
              </a:spcAft>
              <a:buClr>
                <a:srgbClr val="000000"/>
              </a:buClr>
              <a:buSzPts val="1600"/>
              <a:buFont typeface="Arial"/>
              <a:buNone/>
            </a:pPr>
            <a:r>
              <a:rPr lang="es-ES" sz="1600" b="1" i="0" u="none" strike="noStrike" cap="none">
                <a:solidFill>
                  <a:schemeClr val="dk1"/>
                </a:solidFill>
                <a:latin typeface="Calibri"/>
                <a:ea typeface="Calibri"/>
                <a:cs typeface="Calibri"/>
                <a:sym typeface="Calibri"/>
              </a:rPr>
              <a:t>Conocerás </a:t>
            </a:r>
            <a:r>
              <a:rPr lang="es-ES" sz="1600" b="0" i="0" u="none" strike="noStrike" cap="none">
                <a:solidFill>
                  <a:schemeClr val="dk1"/>
                </a:solidFill>
                <a:latin typeface="Calibri"/>
                <a:ea typeface="Calibri"/>
                <a:cs typeface="Calibri"/>
                <a:sym typeface="Calibri"/>
              </a:rPr>
              <a:t>los conceptos y definiciones clave relacionados a los diagramas de clases.</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600"/>
              </a:spcBef>
              <a:spcAft>
                <a:spcPts val="0"/>
              </a:spcAft>
              <a:buClr>
                <a:srgbClr val="000000"/>
              </a:buClr>
              <a:buSzPts val="1600"/>
              <a:buFont typeface="Arial"/>
              <a:buNone/>
            </a:pPr>
            <a:r>
              <a:rPr lang="es-ES" sz="1600" b="1" i="0" u="none" strike="noStrike" cap="none">
                <a:solidFill>
                  <a:schemeClr val="dk1"/>
                </a:solidFill>
                <a:latin typeface="Calibri"/>
                <a:ea typeface="Calibri"/>
                <a:cs typeface="Calibri"/>
                <a:sym typeface="Calibri"/>
              </a:rPr>
              <a:t>Aprenderás </a:t>
            </a:r>
            <a:r>
              <a:rPr lang="es-ES" sz="1600" b="0" i="0" u="none" strike="noStrike" cap="none">
                <a:solidFill>
                  <a:schemeClr val="dk1"/>
                </a:solidFill>
                <a:latin typeface="Calibri"/>
                <a:ea typeface="Calibri"/>
                <a:cs typeface="Calibri"/>
                <a:sym typeface="Calibri"/>
              </a:rPr>
              <a:t>a identificar los elementos del diagrama de clases.</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600"/>
              </a:spcBef>
              <a:spcAft>
                <a:spcPts val="600"/>
              </a:spcAft>
              <a:buClr>
                <a:srgbClr val="000000"/>
              </a:buClr>
              <a:buSzPts val="1600"/>
              <a:buFont typeface="Arial"/>
              <a:buNone/>
            </a:pPr>
            <a:r>
              <a:rPr lang="es-ES" sz="1600" b="1" i="0" u="none" strike="noStrike" cap="none">
                <a:solidFill>
                  <a:schemeClr val="dk1"/>
                </a:solidFill>
                <a:latin typeface="Calibri"/>
                <a:ea typeface="Calibri"/>
                <a:cs typeface="Calibri"/>
                <a:sym typeface="Calibri"/>
              </a:rPr>
              <a:t>Comprenderás </a:t>
            </a:r>
            <a:r>
              <a:rPr lang="es-ES" sz="1600" b="0" i="0" u="none" strike="noStrike" cap="none">
                <a:solidFill>
                  <a:schemeClr val="dk1"/>
                </a:solidFill>
                <a:latin typeface="Calibri"/>
                <a:ea typeface="Calibri"/>
                <a:cs typeface="Calibri"/>
                <a:sym typeface="Calibri"/>
              </a:rPr>
              <a:t>cuándo es pertinente el apropiado uso del diagrama de clases.</a:t>
            </a:r>
            <a:endParaRPr sz="11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spcFirstLastPara="1" wrap="square" lIns="91425" tIns="45700" rIns="91425" bIns="45700" anchor="t" anchorCtr="0">
            <a:spAutoFit/>
          </a:bodyPr>
          <a:lstStyle/>
          <a:p>
            <a:pPr marL="274638" marR="0" lvl="0" indent="-274638" algn="l"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Calibri"/>
                <a:ea typeface="Calibri"/>
                <a:cs typeface="Calibri"/>
                <a:sym typeface="Calibri"/>
              </a:rPr>
              <a:t>/	</a:t>
            </a:r>
            <a:r>
              <a:rPr lang="es-ES" sz="2800" b="0" i="0" u="none" strike="noStrike" cap="none">
                <a:solidFill>
                  <a:schemeClr val="dk1"/>
                </a:solidFill>
                <a:latin typeface="Calibri"/>
                <a:ea typeface="Calibri"/>
                <a:cs typeface="Calibri"/>
                <a:sym typeface="Calibri"/>
              </a:rPr>
              <a:t> </a:t>
            </a:r>
            <a:r>
              <a:rPr lang="es-ES" sz="2800" b="1" i="0" u="none" strike="noStrike" cap="none">
                <a:solidFill>
                  <a:schemeClr val="lt1"/>
                </a:solidFill>
                <a:latin typeface="Calibri"/>
                <a:ea typeface="Calibri"/>
                <a:cs typeface="Calibri"/>
                <a:sym typeface="Calibri"/>
              </a:rPr>
              <a:t>DEFINICIONES</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ABSTRACCIÓN</a:t>
            </a:r>
            <a:endParaRPr/>
          </a:p>
        </p:txBody>
      </p:sp>
      <p:sp>
        <p:nvSpPr>
          <p:cNvPr id="86" name="Google Shape;86;p4"/>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87" name="Google Shape;87;p4"/>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abstracción se refiere a la capacidad de concentrarse en las características esenciales de un objeto o sistema, ignorando los detalles menos relevantes.</a:t>
            </a:r>
            <a:endParaRPr dirty="0"/>
          </a:p>
          <a:p>
            <a:pPr marL="266700" lvl="0" indent="-266700" algn="l" rtl="0">
              <a:lnSpc>
                <a:spcPct val="100000"/>
              </a:lnSpc>
              <a:spcBef>
                <a:spcPts val="600"/>
              </a:spcBef>
              <a:spcAft>
                <a:spcPts val="0"/>
              </a:spcAft>
              <a:buClr>
                <a:schemeClr val="dk1"/>
              </a:buClr>
              <a:buSzPts val="1200"/>
              <a:buChar char="❑"/>
            </a:pPr>
            <a:r>
              <a:rPr lang="es-ES" dirty="0"/>
              <a:t>En el contexto de </a:t>
            </a:r>
            <a:r>
              <a:rPr lang="es-ES" dirty="0" err="1"/>
              <a:t>UML</a:t>
            </a:r>
            <a:r>
              <a:rPr lang="es-ES" dirty="0"/>
              <a:t>, la abstracción te permite modelar solo las partes del sistema que son cruciales para el problema que estás tratando de resolver.</a:t>
            </a:r>
            <a:endParaRPr dirty="0"/>
          </a:p>
          <a:p>
            <a:pPr marL="266700" lvl="0" indent="-266700" algn="l" rtl="0">
              <a:lnSpc>
                <a:spcPct val="100000"/>
              </a:lnSpc>
              <a:spcBef>
                <a:spcPts val="600"/>
              </a:spcBef>
              <a:spcAft>
                <a:spcPts val="0"/>
              </a:spcAft>
              <a:buClr>
                <a:schemeClr val="dk1"/>
              </a:buClr>
              <a:buSzPts val="1200"/>
              <a:buChar char="❑"/>
            </a:pPr>
            <a:r>
              <a:rPr lang="es-ES" dirty="0"/>
              <a:t>Por ejemplo, si estás diseñando un sistema para una biblioteca, podrías abstraer un “Libro” como un objeto con atributos como “título” y “autor”, sin preocuparte por detalles como el tipo de papel o el diseño de la portada.</a:t>
            </a:r>
            <a:endParaRPr dirty="0"/>
          </a:p>
        </p:txBody>
      </p:sp>
      <p:pic>
        <p:nvPicPr>
          <p:cNvPr id="88" name="Google Shape;88;p4"/>
          <p:cNvPicPr preferRelativeResize="0">
            <a:picLocks noGrp="1"/>
          </p:cNvPicPr>
          <p:nvPr>
            <p:ph type="pic" idx="2"/>
          </p:nvPr>
        </p:nvPicPr>
        <p:blipFill rotWithShape="1">
          <a:blip r:embed="rId3">
            <a:alphaModFix/>
          </a:blip>
          <a:srcRect l="4034" r="4035"/>
          <a:stretch/>
        </p:blipFill>
        <p:spPr>
          <a:xfrm>
            <a:off x="5076662" y="1071716"/>
            <a:ext cx="3451541" cy="375405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ENCAPSULAMIENTO</a:t>
            </a:r>
            <a:endParaRPr/>
          </a:p>
        </p:txBody>
      </p:sp>
      <p:sp>
        <p:nvSpPr>
          <p:cNvPr id="95" name="Google Shape;95;p5"/>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96" name="Google Shape;96;p5"/>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El encapsulamiento es el concepto de ocultar los detalles internos de un objeto y exponer sólo lo que es necesario para el resto del sistema. Esto permite que los objetos se modifiquen con un impacto mínimo en otras partes del sistema.</a:t>
            </a:r>
            <a:endParaRPr dirty="0"/>
          </a:p>
          <a:p>
            <a:pPr marL="266700" lvl="0" indent="-266700" algn="l" rtl="0">
              <a:lnSpc>
                <a:spcPct val="100000"/>
              </a:lnSpc>
              <a:spcBef>
                <a:spcPts val="600"/>
              </a:spcBef>
              <a:spcAft>
                <a:spcPts val="0"/>
              </a:spcAft>
              <a:buClr>
                <a:schemeClr val="dk1"/>
              </a:buClr>
              <a:buSzPts val="1200"/>
              <a:buChar char="❑"/>
            </a:pPr>
            <a:r>
              <a:rPr lang="es-ES" dirty="0"/>
              <a:t>Por ejemplo, en un sistema de gestión de empleados, la información salarial podría estar encapsulada dentro de un objeto “Empleado”, accesible sólo a través de métodos específicos.</a:t>
            </a:r>
            <a:endParaRPr dirty="0"/>
          </a:p>
        </p:txBody>
      </p:sp>
      <p:pic>
        <p:nvPicPr>
          <p:cNvPr id="97" name="Google Shape;97;p5"/>
          <p:cNvPicPr preferRelativeResize="0">
            <a:picLocks noGrp="1"/>
          </p:cNvPicPr>
          <p:nvPr>
            <p:ph type="pic" idx="2"/>
          </p:nvPr>
        </p:nvPicPr>
        <p:blipFill rotWithShape="1">
          <a:blip r:embed="rId3">
            <a:alphaModFix/>
          </a:blip>
          <a:srcRect l="19616" r="19615"/>
          <a:stretch/>
        </p:blipFill>
        <p:spPr>
          <a:xfrm>
            <a:off x="5051777" y="1073878"/>
            <a:ext cx="3279782" cy="35672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HERENCIA</a:t>
            </a:r>
            <a:endParaRPr/>
          </a:p>
        </p:txBody>
      </p:sp>
      <p:sp>
        <p:nvSpPr>
          <p:cNvPr id="104" name="Google Shape;104;p6"/>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105" name="Google Shape;105;p6"/>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herencia permite que un objeto tome las propiedades y comportamientos (atributos y métodos) de otro objeto. Esto facilita la reutilización de código y reduce la redundancia.</a:t>
            </a:r>
            <a:endParaRPr dirty="0"/>
          </a:p>
          <a:p>
            <a:pPr marL="266700" lvl="0" indent="-266700" algn="l" rtl="0">
              <a:lnSpc>
                <a:spcPct val="100000"/>
              </a:lnSpc>
              <a:spcBef>
                <a:spcPts val="600"/>
              </a:spcBef>
              <a:spcAft>
                <a:spcPts val="0"/>
              </a:spcAft>
              <a:buClr>
                <a:schemeClr val="dk1"/>
              </a:buClr>
              <a:buSzPts val="1200"/>
              <a:buChar char="❑"/>
            </a:pPr>
            <a:r>
              <a:rPr lang="es-ES" dirty="0"/>
              <a:t>Por ejemplo, podrías tener una clase “Vehículo” con atributos como “velocidad máxima” y “peso”, y luego clases “Automóvil” y “Camión” que heredan estas propiedades de “Vehículo”.</a:t>
            </a:r>
            <a:endParaRPr dirty="0"/>
          </a:p>
        </p:txBody>
      </p:sp>
      <p:pic>
        <p:nvPicPr>
          <p:cNvPr id="106" name="Google Shape;106;p6"/>
          <p:cNvPicPr preferRelativeResize="0">
            <a:picLocks noGrp="1"/>
          </p:cNvPicPr>
          <p:nvPr>
            <p:ph type="pic" idx="2"/>
          </p:nvPr>
        </p:nvPicPr>
        <p:blipFill rotWithShape="1">
          <a:blip r:embed="rId3">
            <a:alphaModFix/>
          </a:blip>
          <a:srcRect l="4034" r="4035"/>
          <a:stretch/>
        </p:blipFill>
        <p:spPr>
          <a:xfrm>
            <a:off x="5090637" y="1137787"/>
            <a:ext cx="3162264" cy="34394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7"/>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POLIMORFISMO</a:t>
            </a:r>
            <a:endParaRPr/>
          </a:p>
        </p:txBody>
      </p:sp>
      <p:sp>
        <p:nvSpPr>
          <p:cNvPr id="113" name="Google Shape;113;p7"/>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114" name="Google Shape;114;p7"/>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El polimorfismo permite que diferentes objetos sean tratados como objetos de un tipo común. Esto es especialmente útil para implementar estructuras elegantes como colecciones de objetos de diferentes tipos pero que comparten ciertos comportamientos.</a:t>
            </a:r>
            <a:endParaRPr dirty="0"/>
          </a:p>
          <a:p>
            <a:pPr marL="266700" lvl="0" indent="-266700" algn="l" rtl="0">
              <a:lnSpc>
                <a:spcPct val="100000"/>
              </a:lnSpc>
              <a:spcBef>
                <a:spcPts val="600"/>
              </a:spcBef>
              <a:spcAft>
                <a:spcPts val="0"/>
              </a:spcAft>
              <a:buClr>
                <a:schemeClr val="dk1"/>
              </a:buClr>
              <a:buSzPts val="1200"/>
              <a:buChar char="❑"/>
            </a:pPr>
            <a:r>
              <a:rPr lang="es-ES" dirty="0"/>
              <a:t>Por ejemplo, podrías tener diferentes formas geométricas (círculos, rectángulos, triángulos) que tienen un método común llamado “dibujar”. Cada uno implementa “dibujar” de una manera que es específica para esa forma.</a:t>
            </a:r>
            <a:endParaRPr dirty="0"/>
          </a:p>
        </p:txBody>
      </p:sp>
      <p:pic>
        <p:nvPicPr>
          <p:cNvPr id="115" name="Google Shape;115;p7"/>
          <p:cNvPicPr preferRelativeResize="0">
            <a:picLocks noGrp="1"/>
          </p:cNvPicPr>
          <p:nvPr>
            <p:ph type="pic" idx="2"/>
          </p:nvPr>
        </p:nvPicPr>
        <p:blipFill rotWithShape="1">
          <a:blip r:embed="rId3">
            <a:alphaModFix/>
          </a:blip>
          <a:srcRect l="19381" r="19382"/>
          <a:stretch/>
        </p:blipFill>
        <p:spPr>
          <a:xfrm>
            <a:off x="5118082" y="1177927"/>
            <a:ext cx="3026664" cy="329194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8"/>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COHESIÓN Y ACOPLAMIENTO</a:t>
            </a:r>
            <a:endParaRPr/>
          </a:p>
        </p:txBody>
      </p:sp>
      <p:sp>
        <p:nvSpPr>
          <p:cNvPr id="122" name="Google Shape;122;p8"/>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123" name="Google Shape;123;p8"/>
          <p:cNvSpPr txBox="1">
            <a:spLocks noGrp="1"/>
          </p:cNvSpPr>
          <p:nvPr>
            <p:ph type="body" idx="4"/>
          </p:nvPr>
        </p:nvSpPr>
        <p:spPr>
          <a:xfrm>
            <a:off x="468313" y="1177927"/>
            <a:ext cx="4723119"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cohesión se refiere a qué tan estrechamente relacionadas están las responsabilidades de una clase o módulo. El acoplamiento es el grado en que una clase o módulo depende de otros. Idealmente, querrás </a:t>
            </a:r>
            <a:r>
              <a:rPr lang="es-ES" b="1" dirty="0"/>
              <a:t>alta cohesión</a:t>
            </a:r>
            <a:r>
              <a:rPr lang="es-ES" dirty="0"/>
              <a:t> y </a:t>
            </a:r>
            <a:r>
              <a:rPr lang="es-ES" b="1" dirty="0"/>
              <a:t>bajo acoplamiento</a:t>
            </a:r>
            <a:r>
              <a:rPr lang="es-ES" dirty="0"/>
              <a:t> para hacer que el sistema sea más manejable y escalable.</a:t>
            </a:r>
            <a:endParaRPr dirty="0"/>
          </a:p>
          <a:p>
            <a:pPr marL="266700" lvl="0" indent="-266700" algn="l" rtl="0">
              <a:lnSpc>
                <a:spcPct val="100000"/>
              </a:lnSpc>
              <a:spcBef>
                <a:spcPts val="600"/>
              </a:spcBef>
              <a:spcAft>
                <a:spcPts val="0"/>
              </a:spcAft>
              <a:buClr>
                <a:schemeClr val="dk1"/>
              </a:buClr>
              <a:buSzPts val="1200"/>
              <a:buChar char="❑"/>
            </a:pPr>
            <a:r>
              <a:rPr lang="es-ES" dirty="0"/>
              <a:t>Por ejemplo, en un sistema de compras en línea, una clase “Carrito” debería manejar todo lo relacionado con agregar y quitar artículos, calcular totales, etc. (alta cohesión), pero no debería estar directamente involucrada en el procesamiento del pago o el seguimiento del inventario (bajo acoplamiento).</a:t>
            </a:r>
            <a:endParaRPr dirty="0"/>
          </a:p>
        </p:txBody>
      </p:sp>
      <p:pic>
        <p:nvPicPr>
          <p:cNvPr id="124" name="Google Shape;124;p8"/>
          <p:cNvPicPr preferRelativeResize="0">
            <a:picLocks noGrp="1"/>
          </p:cNvPicPr>
          <p:nvPr>
            <p:ph type="pic" idx="2"/>
          </p:nvPr>
        </p:nvPicPr>
        <p:blipFill rotWithShape="1">
          <a:blip r:embed="rId3">
            <a:alphaModFix/>
          </a:blip>
          <a:srcRect l="19309" r="19309"/>
          <a:stretch/>
        </p:blipFill>
        <p:spPr>
          <a:xfrm>
            <a:off x="5269585" y="904568"/>
            <a:ext cx="3406103" cy="370463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9"/>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MODULARIDAD</a:t>
            </a:r>
            <a:endParaRPr/>
          </a:p>
        </p:txBody>
      </p:sp>
      <p:sp>
        <p:nvSpPr>
          <p:cNvPr id="131" name="Google Shape;131;p9"/>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132" name="Google Shape;132;p9"/>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modularidad se refiere a la descomposición de un sistema en partes más pequeñas, o módulos, que son más fáciles de desarrollar, entender y mantener. Cada módulo debería ser una unidad cohesiva que encapsula cierta funcionalidad y que puede funcionar de manera independiente del resto del sistema.</a:t>
            </a:r>
            <a:endParaRPr dirty="0"/>
          </a:p>
          <a:p>
            <a:pPr marL="266700" lvl="0" indent="-266700" algn="l" rtl="0">
              <a:lnSpc>
                <a:spcPct val="100000"/>
              </a:lnSpc>
              <a:spcBef>
                <a:spcPts val="600"/>
              </a:spcBef>
              <a:spcAft>
                <a:spcPts val="0"/>
              </a:spcAft>
              <a:buClr>
                <a:schemeClr val="dk1"/>
              </a:buClr>
              <a:buSzPts val="1200"/>
              <a:buChar char="❑"/>
            </a:pPr>
            <a:r>
              <a:rPr lang="es-ES" dirty="0"/>
              <a:t>Por ejemplo, en un sistema de gestión de hospitales, podrías tener módulos separados para la gestión de pacientes, la programación de citas y la facturación. Cada uno de estos módulos sería responsable de una parte específica de la funcionalidad general.</a:t>
            </a:r>
            <a:endParaRPr dirty="0"/>
          </a:p>
        </p:txBody>
      </p:sp>
      <p:pic>
        <p:nvPicPr>
          <p:cNvPr id="133" name="Google Shape;133;p9"/>
          <p:cNvPicPr preferRelativeResize="0">
            <a:picLocks noGrp="1"/>
          </p:cNvPicPr>
          <p:nvPr>
            <p:ph type="pic" idx="2"/>
          </p:nvPr>
        </p:nvPicPr>
        <p:blipFill rotWithShape="1">
          <a:blip r:embed="rId3">
            <a:alphaModFix/>
          </a:blip>
          <a:srcRect l="19381" r="19382"/>
          <a:stretch/>
        </p:blipFill>
        <p:spPr>
          <a:xfrm>
            <a:off x="4862404" y="906729"/>
            <a:ext cx="3587141" cy="390154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0"/>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COMPOSICIÓN</a:t>
            </a:r>
            <a:endParaRPr/>
          </a:p>
        </p:txBody>
      </p:sp>
      <p:sp>
        <p:nvSpPr>
          <p:cNvPr id="140" name="Google Shape;140;p10"/>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141" name="Google Shape;141;p10"/>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composición es un tipo de relación en la que un objeto se forma mediante la combinación de uno o más objetos. En otras palabras, un objeto compuesto “posee” otros objetos. La composición permite crear objetos más complejos a partir de objetos más simples, lo que facilita la reutilización y la mantenibilidad.</a:t>
            </a:r>
            <a:endParaRPr dirty="0"/>
          </a:p>
          <a:p>
            <a:pPr marL="266700" lvl="0" indent="-266700" algn="l" rtl="0">
              <a:lnSpc>
                <a:spcPct val="100000"/>
              </a:lnSpc>
              <a:spcBef>
                <a:spcPts val="600"/>
              </a:spcBef>
              <a:spcAft>
                <a:spcPts val="0"/>
              </a:spcAft>
              <a:buClr>
                <a:schemeClr val="dk1"/>
              </a:buClr>
              <a:buSzPts val="1200"/>
              <a:buChar char="❑"/>
            </a:pPr>
            <a:r>
              <a:rPr lang="es-ES" dirty="0"/>
              <a:t>Por ejemplo, en un sistema de gestión de vuelos, un objeto “Avión” podría estar compuesto por objetos más pequeños como “Motor”, “Ala” y “Cabina”.</a:t>
            </a:r>
            <a:endParaRPr dirty="0"/>
          </a:p>
        </p:txBody>
      </p:sp>
      <p:pic>
        <p:nvPicPr>
          <p:cNvPr id="142" name="Google Shape;142;p10"/>
          <p:cNvPicPr preferRelativeResize="0">
            <a:picLocks noGrp="1"/>
          </p:cNvPicPr>
          <p:nvPr>
            <p:ph type="pic" idx="2"/>
          </p:nvPr>
        </p:nvPicPr>
        <p:blipFill rotWithShape="1">
          <a:blip r:embed="rId3">
            <a:alphaModFix/>
          </a:blip>
          <a:srcRect l="16703" r="16701"/>
          <a:stretch/>
        </p:blipFill>
        <p:spPr>
          <a:xfrm>
            <a:off x="5270090" y="1177927"/>
            <a:ext cx="3405598" cy="370408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1"/>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CONCURRENCIA</a:t>
            </a:r>
            <a:endParaRPr/>
          </a:p>
        </p:txBody>
      </p:sp>
      <p:sp>
        <p:nvSpPr>
          <p:cNvPr id="149" name="Google Shape;149;p11"/>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DEFINICIONES</a:t>
            </a:r>
            <a:endParaRPr/>
          </a:p>
        </p:txBody>
      </p:sp>
      <p:sp>
        <p:nvSpPr>
          <p:cNvPr id="150" name="Google Shape;150;p11"/>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concurrencia se refiere a la ejecución simultánea de múltiples tareas o procesos. En el contexto de la programación orientada a objetos y </a:t>
            </a:r>
            <a:r>
              <a:rPr lang="es-ES" dirty="0" err="1"/>
              <a:t>UML</a:t>
            </a:r>
            <a:r>
              <a:rPr lang="es-ES" dirty="0"/>
              <a:t>, es importante diseñar clases y objetos teniendo en cuenta cómo se maneja la concurrencia para asegurar que el sistema sea robusto y eficiente.</a:t>
            </a:r>
            <a:endParaRPr dirty="0"/>
          </a:p>
          <a:p>
            <a:pPr marL="266700" lvl="0" indent="-266700" algn="l" rtl="0">
              <a:lnSpc>
                <a:spcPct val="100000"/>
              </a:lnSpc>
              <a:spcBef>
                <a:spcPts val="600"/>
              </a:spcBef>
              <a:spcAft>
                <a:spcPts val="0"/>
              </a:spcAft>
              <a:buClr>
                <a:schemeClr val="dk1"/>
              </a:buClr>
              <a:buSzPts val="1200"/>
              <a:buChar char="❑"/>
            </a:pPr>
            <a:r>
              <a:rPr lang="es-ES" dirty="0"/>
              <a:t>Por ejemplo, en un sistema de chat en línea, múltiples usuarios podrían enviar mensajes al mismo tiempo. La clase que maneja la sala de chat necesita ser diseñada para manejar estas operaciones concurrentes de manera eficiente y segura.</a:t>
            </a:r>
            <a:endParaRPr dirty="0"/>
          </a:p>
        </p:txBody>
      </p:sp>
      <p:pic>
        <p:nvPicPr>
          <p:cNvPr id="151" name="Google Shape;151;p11"/>
          <p:cNvPicPr preferRelativeResize="0">
            <a:picLocks noGrp="1"/>
          </p:cNvPicPr>
          <p:nvPr>
            <p:ph type="pic" idx="2"/>
          </p:nvPr>
        </p:nvPicPr>
        <p:blipFill rotWithShape="1">
          <a:blip r:embed="rId3">
            <a:alphaModFix/>
          </a:blip>
          <a:srcRect l="19338" r="19339"/>
          <a:stretch/>
        </p:blipFill>
        <p:spPr>
          <a:xfrm>
            <a:off x="5142271" y="1123091"/>
            <a:ext cx="3189288" cy="346881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58" name="Google Shape;158;p12"/>
          <p:cNvSpPr/>
          <p:nvPr/>
        </p:nvSpPr>
        <p:spPr>
          <a:xfrm>
            <a:off x="424252" y="3703125"/>
            <a:ext cx="7966170" cy="523180"/>
          </a:xfrm>
          <a:prstGeom prst="rect">
            <a:avLst/>
          </a:prstGeom>
          <a:noFill/>
          <a:ln>
            <a:noFill/>
          </a:ln>
        </p:spPr>
        <p:txBody>
          <a:bodyPr spcFirstLastPara="1" wrap="square" lIns="91425" tIns="45700" rIns="91425" bIns="45700" anchor="t" anchorCtr="0">
            <a:spAutoFit/>
          </a:bodyPr>
          <a:lstStyle/>
          <a:p>
            <a:pPr marL="274638" marR="0" lvl="0" indent="-274638" algn="l"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Calibri"/>
                <a:ea typeface="Calibri"/>
                <a:cs typeface="Calibri"/>
                <a:sym typeface="Calibri"/>
              </a:rPr>
              <a:t>/	</a:t>
            </a:r>
            <a:r>
              <a:rPr lang="es-ES" sz="2800" b="0" i="0" u="none" strike="noStrike" cap="none">
                <a:solidFill>
                  <a:schemeClr val="dk1"/>
                </a:solidFill>
                <a:latin typeface="Calibri"/>
                <a:ea typeface="Calibri"/>
                <a:cs typeface="Calibri"/>
                <a:sym typeface="Calibri"/>
              </a:rPr>
              <a:t> </a:t>
            </a:r>
            <a:r>
              <a:rPr lang="es-ES" sz="2800" b="1" i="0" u="none" strike="noStrike" cap="none">
                <a:solidFill>
                  <a:schemeClr val="lt1"/>
                </a:solidFill>
                <a:latin typeface="Calibri"/>
                <a:ea typeface="Calibri"/>
                <a:cs typeface="Calibri"/>
                <a:sym typeface="Calibri"/>
              </a:rPr>
              <a:t>ELEMENTOS DEL DIAGRAMA DE CLASES</a:t>
            </a:r>
            <a:endParaRPr sz="2800" b="1" i="0" u="none" strike="noStrike" cap="none">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3"/>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165" name="Google Shape;165;p13"/>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a:t>Los diagramas de clases UML son una de las representaciones más utilizadas en el modelado de sistemas orientados a objetos. </a:t>
            </a:r>
            <a:endParaRPr/>
          </a:p>
          <a:p>
            <a:pPr marL="266700" lvl="0" indent="-266700" algn="l" rtl="0">
              <a:lnSpc>
                <a:spcPct val="100000"/>
              </a:lnSpc>
              <a:spcBef>
                <a:spcPts val="600"/>
              </a:spcBef>
              <a:spcAft>
                <a:spcPts val="0"/>
              </a:spcAft>
              <a:buClr>
                <a:schemeClr val="dk1"/>
              </a:buClr>
              <a:buSzPts val="1200"/>
              <a:buChar char="❑"/>
            </a:pPr>
            <a:r>
              <a:rPr lang="es-ES"/>
              <a:t>Estos diagramas muestran las clases que forman parte del sistema, así como las relaciones entre ellas.</a:t>
            </a:r>
            <a:endParaRPr/>
          </a:p>
          <a:p>
            <a:pPr marL="266700" lvl="0" indent="-266700" algn="l" rtl="0">
              <a:lnSpc>
                <a:spcPct val="100000"/>
              </a:lnSpc>
              <a:spcBef>
                <a:spcPts val="600"/>
              </a:spcBef>
              <a:spcAft>
                <a:spcPts val="0"/>
              </a:spcAft>
              <a:buClr>
                <a:schemeClr val="dk1"/>
              </a:buClr>
              <a:buSzPts val="1200"/>
              <a:buChar char="❑"/>
            </a:pPr>
            <a:r>
              <a:rPr lang="es-ES"/>
              <a:t>Los diagramas de clases UML son una herramienta poderosa para visualizar la estructura y las relaciones en un sistema, lo que facilita tanto el desarrollo como la comunicación dentro del equipo de proyecto.</a:t>
            </a:r>
            <a:endParaRPr/>
          </a:p>
        </p:txBody>
      </p:sp>
      <p:sp>
        <p:nvSpPr>
          <p:cNvPr id="166" name="Google Shape;166;p13"/>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DIAGRAMA DE CLASES</a:t>
            </a:r>
            <a:endParaRPr/>
          </a:p>
        </p:txBody>
      </p:sp>
      <p:pic>
        <p:nvPicPr>
          <p:cNvPr id="167" name="Google Shape;167;p13"/>
          <p:cNvPicPr preferRelativeResize="0">
            <a:picLocks noGrp="1"/>
          </p:cNvPicPr>
          <p:nvPr>
            <p:ph type="pic" idx="2"/>
          </p:nvPr>
        </p:nvPicPr>
        <p:blipFill rotWithShape="1">
          <a:blip r:embed="rId3">
            <a:alphaModFix/>
          </a:blip>
          <a:srcRect t="372" b="374"/>
          <a:stretch/>
        </p:blipFill>
        <p:spPr>
          <a:xfrm>
            <a:off x="5043280" y="882112"/>
            <a:ext cx="3632407" cy="39507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4"/>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174" name="Google Shape;174;p14"/>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Una clase es una plantilla que define las propiedades (atributos) y comportamientos (métodos) comunes a un conjunto de objetos.</a:t>
            </a:r>
            <a:endParaRPr dirty="0"/>
          </a:p>
          <a:p>
            <a:pPr marL="266700" lvl="0" indent="-266700" algn="l" rtl="0">
              <a:lnSpc>
                <a:spcPct val="100000"/>
              </a:lnSpc>
              <a:spcBef>
                <a:spcPts val="600"/>
              </a:spcBef>
              <a:spcAft>
                <a:spcPts val="0"/>
              </a:spcAft>
              <a:buClr>
                <a:schemeClr val="dk1"/>
              </a:buClr>
              <a:buSzPts val="1200"/>
              <a:buChar char="❑"/>
            </a:pPr>
            <a:r>
              <a:rPr lang="es-ES" dirty="0"/>
              <a:t>Se representa mediante un rectángulo dividido en tres secciones: nombre de la clase, atributos y métodos.</a:t>
            </a:r>
            <a:endParaRPr dirty="0"/>
          </a:p>
          <a:p>
            <a:pPr marL="266700" lvl="0" indent="-266700" algn="l" rtl="0">
              <a:lnSpc>
                <a:spcPct val="100000"/>
              </a:lnSpc>
              <a:spcBef>
                <a:spcPts val="600"/>
              </a:spcBef>
              <a:spcAft>
                <a:spcPts val="0"/>
              </a:spcAft>
              <a:buClr>
                <a:schemeClr val="dk1"/>
              </a:buClr>
              <a:buSzPts val="1200"/>
              <a:buChar char="❑"/>
            </a:pPr>
            <a:r>
              <a:rPr lang="es-ES" dirty="0"/>
              <a:t>Por ejemplo, una clase “Persona” podría tener atributos como “nombre” y “edad”, y métodos como “caminar()” y “hablar()”.</a:t>
            </a:r>
            <a:endParaRPr dirty="0"/>
          </a:p>
        </p:txBody>
      </p:sp>
      <p:sp>
        <p:nvSpPr>
          <p:cNvPr id="175" name="Google Shape;175;p14"/>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CLASE</a:t>
            </a:r>
            <a:endParaRPr/>
          </a:p>
        </p:txBody>
      </p:sp>
      <p:pic>
        <p:nvPicPr>
          <p:cNvPr id="176" name="Google Shape;176;p14"/>
          <p:cNvPicPr preferRelativeResize="0">
            <a:picLocks noGrp="1"/>
          </p:cNvPicPr>
          <p:nvPr>
            <p:ph type="pic" idx="2"/>
          </p:nvPr>
        </p:nvPicPr>
        <p:blipFill rotWithShape="1">
          <a:blip r:embed="rId3">
            <a:alphaModFix/>
          </a:blip>
          <a:srcRect t="372" b="374"/>
          <a:stretch/>
        </p:blipFill>
        <p:spPr>
          <a:xfrm>
            <a:off x="4933790" y="986632"/>
            <a:ext cx="3279782" cy="356724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183" name="Google Shape;183;p15"/>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Un objeto es una instancia de una clase. </a:t>
            </a:r>
            <a:endParaRPr dirty="0"/>
          </a:p>
          <a:p>
            <a:pPr marL="266700" lvl="0" indent="-266700" algn="l" rtl="0">
              <a:lnSpc>
                <a:spcPct val="100000"/>
              </a:lnSpc>
              <a:spcBef>
                <a:spcPts val="600"/>
              </a:spcBef>
              <a:spcAft>
                <a:spcPts val="0"/>
              </a:spcAft>
              <a:buClr>
                <a:schemeClr val="dk1"/>
              </a:buClr>
              <a:buSzPts val="1200"/>
              <a:buChar char="❑"/>
            </a:pPr>
            <a:r>
              <a:rPr lang="es-ES" dirty="0"/>
              <a:t>En los diagramas de clases, los objetos no se representan con tanta frecuencia como las clases, pero cuando se hacen, generalmente se utilizan rectángulos con esquinas redondeadas.</a:t>
            </a:r>
            <a:endParaRPr dirty="0"/>
          </a:p>
          <a:p>
            <a:pPr marL="266700" lvl="0" indent="-266700" algn="l" rtl="0">
              <a:lnSpc>
                <a:spcPct val="100000"/>
              </a:lnSpc>
              <a:spcBef>
                <a:spcPts val="600"/>
              </a:spcBef>
              <a:spcAft>
                <a:spcPts val="0"/>
              </a:spcAft>
              <a:buClr>
                <a:schemeClr val="dk1"/>
              </a:buClr>
              <a:buSzPts val="1200"/>
              <a:buChar char="❑"/>
            </a:pPr>
            <a:r>
              <a:rPr lang="es-ES" dirty="0"/>
              <a:t>Por ejemplo, un objeto “juan” podría ser una instancia de la clase “Persona” con el nombre “Juan” y la edad “30”.</a:t>
            </a:r>
            <a:endParaRPr dirty="0"/>
          </a:p>
        </p:txBody>
      </p:sp>
      <p:sp>
        <p:nvSpPr>
          <p:cNvPr id="184" name="Google Shape;184;p15"/>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OBJETO</a:t>
            </a:r>
            <a:endParaRPr/>
          </a:p>
        </p:txBody>
      </p:sp>
      <p:pic>
        <p:nvPicPr>
          <p:cNvPr id="185" name="Google Shape;185;p15"/>
          <p:cNvPicPr preferRelativeResize="0">
            <a:picLocks noGrp="1"/>
          </p:cNvPicPr>
          <p:nvPr>
            <p:ph type="pic" idx="2"/>
          </p:nvPr>
        </p:nvPicPr>
        <p:blipFill rotWithShape="1">
          <a:blip r:embed="rId3">
            <a:alphaModFix/>
          </a:blip>
          <a:srcRect t="372" b="374"/>
          <a:stretch/>
        </p:blipFill>
        <p:spPr>
          <a:xfrm>
            <a:off x="5004619" y="986632"/>
            <a:ext cx="3484256" cy="378963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6"/>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192" name="Google Shape;192;p16"/>
          <p:cNvSpPr txBox="1">
            <a:spLocks noGrp="1"/>
          </p:cNvSpPr>
          <p:nvPr>
            <p:ph type="body" idx="4"/>
          </p:nvPr>
        </p:nvSpPr>
        <p:spPr>
          <a:xfrm>
            <a:off x="891100" y="1181359"/>
            <a:ext cx="31892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Los atributos son las variables que una clase utiliza para almacenar su estado. </a:t>
            </a:r>
            <a:endParaRPr dirty="0"/>
          </a:p>
          <a:p>
            <a:pPr marL="266700" lvl="0" indent="-266700" algn="l" rtl="0">
              <a:lnSpc>
                <a:spcPct val="100000"/>
              </a:lnSpc>
              <a:spcBef>
                <a:spcPts val="600"/>
              </a:spcBef>
              <a:spcAft>
                <a:spcPts val="0"/>
              </a:spcAft>
              <a:buClr>
                <a:schemeClr val="dk1"/>
              </a:buClr>
              <a:buSzPts val="1200"/>
              <a:buChar char="❑"/>
            </a:pPr>
            <a:r>
              <a:rPr lang="es-ES" dirty="0"/>
              <a:t>Se listan en la segunda sección del rectángulo que representa la clase.</a:t>
            </a:r>
            <a:endParaRPr dirty="0"/>
          </a:p>
          <a:p>
            <a:pPr marL="266700" lvl="0" indent="-266700" algn="l" rtl="0">
              <a:lnSpc>
                <a:spcPct val="100000"/>
              </a:lnSpc>
              <a:spcBef>
                <a:spcPts val="600"/>
              </a:spcBef>
              <a:spcAft>
                <a:spcPts val="0"/>
              </a:spcAft>
              <a:buClr>
                <a:schemeClr val="dk1"/>
              </a:buClr>
              <a:buSzPts val="1200"/>
              <a:buChar char="❑"/>
            </a:pPr>
            <a:r>
              <a:rPr lang="es-ES" dirty="0"/>
              <a:t>Por ejemplo, en una clase “Automóvil”, los atributos podrían incluir “marca”, “modelo” y “año”.</a:t>
            </a:r>
            <a:endParaRPr dirty="0"/>
          </a:p>
        </p:txBody>
      </p:sp>
      <p:sp>
        <p:nvSpPr>
          <p:cNvPr id="193" name="Google Shape;193;p16"/>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ATRIBUTO</a:t>
            </a:r>
            <a:endParaRPr/>
          </a:p>
        </p:txBody>
      </p:sp>
      <p:pic>
        <p:nvPicPr>
          <p:cNvPr id="194" name="Google Shape;194;p16"/>
          <p:cNvPicPr preferRelativeResize="0">
            <a:picLocks noGrp="1"/>
          </p:cNvPicPr>
          <p:nvPr>
            <p:ph type="pic" idx="2"/>
          </p:nvPr>
        </p:nvPicPr>
        <p:blipFill rotWithShape="1">
          <a:blip r:embed="rId3">
            <a:alphaModFix/>
          </a:blip>
          <a:srcRect t="372" b="374"/>
          <a:stretch/>
        </p:blipFill>
        <p:spPr>
          <a:xfrm>
            <a:off x="4572000" y="804863"/>
            <a:ext cx="4103688" cy="446336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7"/>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201" name="Google Shape;201;p17"/>
          <p:cNvSpPr txBox="1">
            <a:spLocks noGrp="1"/>
          </p:cNvSpPr>
          <p:nvPr>
            <p:ph type="body" idx="4"/>
          </p:nvPr>
        </p:nvSpPr>
        <p:spPr>
          <a:xfrm>
            <a:off x="866520" y="1329969"/>
            <a:ext cx="3307274"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Los métodos son las funciones que definen el comportamiento de una clase. </a:t>
            </a:r>
            <a:endParaRPr dirty="0"/>
          </a:p>
          <a:p>
            <a:pPr marL="266700" lvl="0" indent="-266700" algn="l" rtl="0">
              <a:lnSpc>
                <a:spcPct val="100000"/>
              </a:lnSpc>
              <a:spcBef>
                <a:spcPts val="600"/>
              </a:spcBef>
              <a:spcAft>
                <a:spcPts val="0"/>
              </a:spcAft>
              <a:buClr>
                <a:schemeClr val="dk1"/>
              </a:buClr>
              <a:buSzPts val="1200"/>
              <a:buChar char="❑"/>
            </a:pPr>
            <a:r>
              <a:rPr lang="es-ES" dirty="0"/>
              <a:t>Se listan en la tercera sección del rectángulo de la clase.</a:t>
            </a:r>
            <a:endParaRPr dirty="0"/>
          </a:p>
          <a:p>
            <a:pPr marL="266700" lvl="0" indent="-266700" algn="l" rtl="0">
              <a:lnSpc>
                <a:spcPct val="100000"/>
              </a:lnSpc>
              <a:spcBef>
                <a:spcPts val="600"/>
              </a:spcBef>
              <a:spcAft>
                <a:spcPts val="0"/>
              </a:spcAft>
              <a:buClr>
                <a:schemeClr val="dk1"/>
              </a:buClr>
              <a:buSzPts val="1200"/>
              <a:buChar char="❑"/>
            </a:pPr>
            <a:r>
              <a:rPr lang="es-ES" dirty="0"/>
              <a:t>Por ejemplo, en una clase “Automóvil”, los métodos podrían incluir “arrancar()” y “frenar()”.</a:t>
            </a:r>
            <a:endParaRPr dirty="0"/>
          </a:p>
        </p:txBody>
      </p:sp>
      <p:sp>
        <p:nvSpPr>
          <p:cNvPr id="202" name="Google Shape;202;p17"/>
          <p:cNvSpPr txBox="1">
            <a:spLocks noGrp="1"/>
          </p:cNvSpPr>
          <p:nvPr>
            <p:ph type="body" idx="1"/>
          </p:nvPr>
        </p:nvSpPr>
        <p:spPr>
          <a:xfrm>
            <a:off x="468314" y="804863"/>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MÉTODO</a:t>
            </a:r>
            <a:endParaRPr/>
          </a:p>
        </p:txBody>
      </p:sp>
      <p:pic>
        <p:nvPicPr>
          <p:cNvPr id="203" name="Google Shape;203;p17"/>
          <p:cNvPicPr preferRelativeResize="0">
            <a:picLocks noGrp="1"/>
          </p:cNvPicPr>
          <p:nvPr>
            <p:ph type="pic" idx="2"/>
          </p:nvPr>
        </p:nvPicPr>
        <p:blipFill rotWithShape="1">
          <a:blip r:embed="rId3">
            <a:alphaModFix/>
          </a:blip>
          <a:srcRect t="372" b="374"/>
          <a:stretch/>
        </p:blipFill>
        <p:spPr>
          <a:xfrm>
            <a:off x="4572000" y="804863"/>
            <a:ext cx="4103688" cy="446336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8"/>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210" name="Google Shape;210;p18"/>
          <p:cNvSpPr txBox="1">
            <a:spLocks noGrp="1"/>
          </p:cNvSpPr>
          <p:nvPr>
            <p:ph type="body" idx="4"/>
          </p:nvPr>
        </p:nvSpPr>
        <p:spPr>
          <a:xfrm>
            <a:off x="838841" y="1239838"/>
            <a:ext cx="3362632" cy="3593411"/>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visibilidad determina el nivel de acceso a un atributo o método y se indica mediante símbolos como + para público, - para privado y # para protegido.</a:t>
            </a:r>
            <a:endParaRPr dirty="0"/>
          </a:p>
          <a:p>
            <a:pPr marL="266700" lvl="0" indent="-266700" algn="l" rtl="0">
              <a:lnSpc>
                <a:spcPct val="100000"/>
              </a:lnSpc>
              <a:spcBef>
                <a:spcPts val="600"/>
              </a:spcBef>
              <a:spcAft>
                <a:spcPts val="0"/>
              </a:spcAft>
              <a:buClr>
                <a:schemeClr val="dk1"/>
              </a:buClr>
              <a:buSzPts val="1200"/>
              <a:buChar char="❑"/>
            </a:pPr>
            <a:r>
              <a:rPr lang="es-ES" dirty="0"/>
              <a:t>Por ejemplo, en una clase “Persona”, el atributo “nombre2 podría ser público (+nombre), mientras que la “contraseña” podría ser privada (-contraseña).</a:t>
            </a:r>
            <a:endParaRPr dirty="0"/>
          </a:p>
        </p:txBody>
      </p:sp>
      <p:sp>
        <p:nvSpPr>
          <p:cNvPr id="211" name="Google Shape;211;p18"/>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VISIBILIDAD</a:t>
            </a:r>
            <a:endParaRPr/>
          </a:p>
        </p:txBody>
      </p:sp>
      <p:pic>
        <p:nvPicPr>
          <p:cNvPr id="212" name="Google Shape;212;p18"/>
          <p:cNvPicPr preferRelativeResize="0">
            <a:picLocks noGrp="1"/>
          </p:cNvPicPr>
          <p:nvPr>
            <p:ph type="pic" idx="2"/>
          </p:nvPr>
        </p:nvPicPr>
        <p:blipFill rotWithShape="1">
          <a:blip r:embed="rId3">
            <a:alphaModFix/>
          </a:blip>
          <a:srcRect t="480" b="480"/>
          <a:stretch/>
        </p:blipFill>
        <p:spPr>
          <a:xfrm>
            <a:off x="4572000" y="804863"/>
            <a:ext cx="4103688" cy="446336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9"/>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219" name="Google Shape;219;p19"/>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asociación es una relación entre dos clases que indica que una clase está conectada de alguna manera con otra. </a:t>
            </a:r>
            <a:endParaRPr dirty="0"/>
          </a:p>
          <a:p>
            <a:pPr marL="266700" lvl="0" indent="-266700" algn="l" rtl="0">
              <a:lnSpc>
                <a:spcPct val="100000"/>
              </a:lnSpc>
              <a:spcBef>
                <a:spcPts val="600"/>
              </a:spcBef>
              <a:spcAft>
                <a:spcPts val="0"/>
              </a:spcAft>
              <a:buClr>
                <a:schemeClr val="dk1"/>
              </a:buClr>
              <a:buSzPts val="1200"/>
              <a:buChar char="❑"/>
            </a:pPr>
            <a:r>
              <a:rPr lang="es-ES" dirty="0"/>
              <a:t>Se representa mediante una línea que conecta las clases involucradas.</a:t>
            </a:r>
            <a:endParaRPr dirty="0"/>
          </a:p>
          <a:p>
            <a:pPr marL="266700" lvl="0" indent="-266700" algn="l" rtl="0">
              <a:lnSpc>
                <a:spcPct val="100000"/>
              </a:lnSpc>
              <a:spcBef>
                <a:spcPts val="600"/>
              </a:spcBef>
              <a:spcAft>
                <a:spcPts val="0"/>
              </a:spcAft>
              <a:buClr>
                <a:schemeClr val="dk1"/>
              </a:buClr>
              <a:buSzPts val="1200"/>
              <a:buChar char="❑"/>
            </a:pPr>
            <a:r>
              <a:rPr lang="es-ES" dirty="0"/>
              <a:t>Por ejemplo, una clase “Estudiante” podría estar asociada con una clase “Curso”, indicando que un estudiante está inscrito en un curso.</a:t>
            </a:r>
            <a:endParaRPr dirty="0"/>
          </a:p>
        </p:txBody>
      </p:sp>
      <p:sp>
        <p:nvSpPr>
          <p:cNvPr id="220" name="Google Shape;220;p19"/>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ASOCIACIÓN</a:t>
            </a:r>
            <a:endParaRPr/>
          </a:p>
        </p:txBody>
      </p:sp>
      <p:pic>
        <p:nvPicPr>
          <p:cNvPr id="221" name="Google Shape;221;p19"/>
          <p:cNvPicPr preferRelativeResize="0">
            <a:picLocks noGrp="1"/>
          </p:cNvPicPr>
          <p:nvPr>
            <p:ph type="pic" idx="2"/>
          </p:nvPr>
        </p:nvPicPr>
        <p:blipFill rotWithShape="1">
          <a:blip r:embed="rId3">
            <a:alphaModFix/>
          </a:blip>
          <a:srcRect t="480" b="480"/>
          <a:stretch/>
        </p:blipFill>
        <p:spPr>
          <a:xfrm>
            <a:off x="4906296" y="986632"/>
            <a:ext cx="3553082" cy="386449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0"/>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228" name="Google Shape;228;p20"/>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multiplicidad indica cuántas instancias de una clase están asociadas con una instancia de otra clase. </a:t>
            </a:r>
            <a:endParaRPr dirty="0"/>
          </a:p>
          <a:p>
            <a:pPr marL="266700" lvl="0" indent="-266700" algn="l" rtl="0">
              <a:lnSpc>
                <a:spcPct val="100000"/>
              </a:lnSpc>
              <a:spcBef>
                <a:spcPts val="600"/>
              </a:spcBef>
              <a:spcAft>
                <a:spcPts val="0"/>
              </a:spcAft>
              <a:buClr>
                <a:schemeClr val="dk1"/>
              </a:buClr>
              <a:buSzPts val="1200"/>
              <a:buChar char="❑"/>
            </a:pPr>
            <a:r>
              <a:rPr lang="es-ES" dirty="0"/>
              <a:t>Se muestra cerca del extremo de la línea de asociación.</a:t>
            </a:r>
            <a:endParaRPr dirty="0"/>
          </a:p>
          <a:p>
            <a:pPr marL="266700" lvl="0" indent="-266700" algn="l" rtl="0">
              <a:lnSpc>
                <a:spcPct val="100000"/>
              </a:lnSpc>
              <a:spcBef>
                <a:spcPts val="600"/>
              </a:spcBef>
              <a:spcAft>
                <a:spcPts val="0"/>
              </a:spcAft>
              <a:buClr>
                <a:schemeClr val="dk1"/>
              </a:buClr>
              <a:buSzPts val="1200"/>
              <a:buChar char="❑"/>
            </a:pPr>
            <a:r>
              <a:rPr lang="es-ES" dirty="0"/>
              <a:t>Por ejemplo, en una asociación entre “Estudiante” y “Curso”, la multiplicidad podría ser “1..n”, lo que significa que un estudiante puede estar inscrito en varios cursos.</a:t>
            </a:r>
            <a:endParaRPr dirty="0"/>
          </a:p>
        </p:txBody>
      </p:sp>
      <p:sp>
        <p:nvSpPr>
          <p:cNvPr id="229" name="Google Shape;229;p20"/>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MULTIPLICIDAD</a:t>
            </a:r>
            <a:endParaRPr/>
          </a:p>
        </p:txBody>
      </p:sp>
      <p:pic>
        <p:nvPicPr>
          <p:cNvPr id="230" name="Google Shape;230;p20"/>
          <p:cNvPicPr preferRelativeResize="0">
            <a:picLocks noGrp="1"/>
          </p:cNvPicPr>
          <p:nvPr>
            <p:ph type="pic" idx="2"/>
          </p:nvPr>
        </p:nvPicPr>
        <p:blipFill rotWithShape="1">
          <a:blip r:embed="rId3">
            <a:alphaModFix/>
          </a:blip>
          <a:srcRect t="480" b="480"/>
          <a:stretch/>
        </p:blipFill>
        <p:spPr>
          <a:xfrm>
            <a:off x="5133460" y="986632"/>
            <a:ext cx="3089944" cy="336076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1"/>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237" name="Google Shape;237;p21"/>
          <p:cNvSpPr txBox="1">
            <a:spLocks noGrp="1"/>
          </p:cNvSpPr>
          <p:nvPr>
            <p:ph type="body" idx="4"/>
          </p:nvPr>
        </p:nvSpPr>
        <p:spPr>
          <a:xfrm>
            <a:off x="910764" y="1177927"/>
            <a:ext cx="3484255"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La herencia se representa mediante una línea con una punta de flecha hueca que apunta desde la subclase a la superclase.</a:t>
            </a:r>
            <a:endParaRPr dirty="0"/>
          </a:p>
          <a:p>
            <a:pPr marL="266700" lvl="0" indent="-266700" algn="l" rtl="0">
              <a:lnSpc>
                <a:spcPct val="100000"/>
              </a:lnSpc>
              <a:spcBef>
                <a:spcPts val="600"/>
              </a:spcBef>
              <a:spcAft>
                <a:spcPts val="0"/>
              </a:spcAft>
              <a:buClr>
                <a:schemeClr val="dk1"/>
              </a:buClr>
              <a:buSzPts val="1200"/>
              <a:buChar char="❑"/>
            </a:pPr>
            <a:r>
              <a:rPr lang="es-ES" dirty="0"/>
              <a:t>Por ejemplo, si tienes una clase “Vehículo” y clases “Automóvil” y “Camión”, las líneas de herencia irían de “Automóvil” y “Camión” a “Vehículo”.</a:t>
            </a:r>
            <a:endParaRPr dirty="0"/>
          </a:p>
        </p:txBody>
      </p:sp>
      <p:sp>
        <p:nvSpPr>
          <p:cNvPr id="238" name="Google Shape;238;p21"/>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HERENCIA</a:t>
            </a:r>
            <a:endParaRPr/>
          </a:p>
        </p:txBody>
      </p:sp>
      <p:pic>
        <p:nvPicPr>
          <p:cNvPr id="239" name="Google Shape;239;p21"/>
          <p:cNvPicPr preferRelativeResize="0">
            <a:picLocks noGrp="1"/>
          </p:cNvPicPr>
          <p:nvPr>
            <p:ph type="pic" idx="2"/>
          </p:nvPr>
        </p:nvPicPr>
        <p:blipFill rotWithShape="1">
          <a:blip r:embed="rId3">
            <a:alphaModFix/>
          </a:blip>
          <a:srcRect t="480" b="480"/>
          <a:stretch/>
        </p:blipFill>
        <p:spPr>
          <a:xfrm>
            <a:off x="4748983" y="809626"/>
            <a:ext cx="3766665" cy="4096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2"/>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ELEMENTOS DEL DIAGRAMA DE CLASES</a:t>
            </a:r>
            <a:endParaRPr b="0">
              <a:solidFill>
                <a:srgbClr val="0070C0"/>
              </a:solidFill>
            </a:endParaRPr>
          </a:p>
        </p:txBody>
      </p:sp>
      <p:sp>
        <p:nvSpPr>
          <p:cNvPr id="246" name="Google Shape;246;p22"/>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Estas son formas especiales de asociación que indican una relación de “todo-parte”. </a:t>
            </a:r>
            <a:endParaRPr dirty="0"/>
          </a:p>
          <a:p>
            <a:pPr marL="266700" lvl="0" indent="-266700" algn="l" rtl="0">
              <a:lnSpc>
                <a:spcPct val="100000"/>
              </a:lnSpc>
              <a:spcBef>
                <a:spcPts val="600"/>
              </a:spcBef>
              <a:spcAft>
                <a:spcPts val="0"/>
              </a:spcAft>
              <a:buClr>
                <a:schemeClr val="dk1"/>
              </a:buClr>
              <a:buSzPts val="1200"/>
              <a:buChar char="❑"/>
            </a:pPr>
            <a:r>
              <a:rPr lang="es-ES" dirty="0"/>
              <a:t>La agregación se representa con un diamante hueco, y la composición con un diamante lleno, ambos en el extremo de la clase “contenedora”.</a:t>
            </a:r>
            <a:endParaRPr dirty="0"/>
          </a:p>
          <a:p>
            <a:pPr marL="266700" lvl="0" indent="-266700" algn="l" rtl="0">
              <a:lnSpc>
                <a:spcPct val="100000"/>
              </a:lnSpc>
              <a:spcBef>
                <a:spcPts val="600"/>
              </a:spcBef>
              <a:spcAft>
                <a:spcPts val="0"/>
              </a:spcAft>
              <a:buClr>
                <a:schemeClr val="dk1"/>
              </a:buClr>
              <a:buSzPts val="1200"/>
              <a:buChar char="❑"/>
            </a:pPr>
            <a:r>
              <a:rPr lang="es-ES" dirty="0"/>
              <a:t>Por ejemplo, en un sistema de biblioteca, una clase “Biblioteca” podría tener una agregación o composición con una clase “Libro”.</a:t>
            </a:r>
            <a:endParaRPr dirty="0"/>
          </a:p>
        </p:txBody>
      </p:sp>
      <p:sp>
        <p:nvSpPr>
          <p:cNvPr id="247" name="Google Shape;247;p22"/>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AGREGACIÓN Y COMPOSICIÓN</a:t>
            </a:r>
            <a:endParaRPr/>
          </a:p>
        </p:txBody>
      </p:sp>
      <p:pic>
        <p:nvPicPr>
          <p:cNvPr id="248" name="Google Shape;248;p22"/>
          <p:cNvPicPr preferRelativeResize="0">
            <a:picLocks noGrp="1"/>
          </p:cNvPicPr>
          <p:nvPr>
            <p:ph type="pic" idx="2"/>
          </p:nvPr>
        </p:nvPicPr>
        <p:blipFill rotWithShape="1">
          <a:blip r:embed="rId3">
            <a:alphaModFix/>
          </a:blip>
          <a:srcRect t="480" b="480"/>
          <a:stretch/>
        </p:blipFill>
        <p:spPr>
          <a:xfrm>
            <a:off x="4572000" y="804863"/>
            <a:ext cx="4103688" cy="446336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3"/>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rgbClr val="3F3F3F"/>
              </a:buClr>
              <a:buSzPts val="1600"/>
              <a:buNone/>
            </a:pPr>
            <a:r>
              <a:rPr lang="es-ES"/>
              <a:t>ELABORAR UN DIAGRAMA DE CLASES, PASO A PASO</a:t>
            </a:r>
            <a:endParaRPr>
              <a:solidFill>
                <a:srgbClr val="A5A5A5"/>
              </a:solidFill>
            </a:endParaRPr>
          </a:p>
        </p:txBody>
      </p:sp>
      <p:sp>
        <p:nvSpPr>
          <p:cNvPr id="255" name="Google Shape;255;p23"/>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chemeClr val="lt1"/>
              </a:buClr>
              <a:buSzPts val="1800"/>
              <a:buNone/>
            </a:pPr>
            <a:r>
              <a:rPr lang="es-ES"/>
              <a:t>/ ELEMENTOS DEL DIAGRAMA DE CLASES</a:t>
            </a:r>
            <a:endParaRPr/>
          </a:p>
        </p:txBody>
      </p:sp>
      <p:sp>
        <p:nvSpPr>
          <p:cNvPr id="256" name="Google Shape;256;p23"/>
          <p:cNvSpPr txBox="1">
            <a:spLocks noGrp="1"/>
          </p:cNvSpPr>
          <p:nvPr>
            <p:ph type="body" idx="3"/>
          </p:nvPr>
        </p:nvSpPr>
        <p:spPr>
          <a:xfrm>
            <a:off x="468313" y="1174364"/>
            <a:ext cx="8207375" cy="3987572"/>
          </a:xfrm>
          <a:prstGeom prst="rect">
            <a:avLst/>
          </a:prstGeom>
          <a:solidFill>
            <a:srgbClr val="FFFFCC"/>
          </a:solidFill>
          <a:ln>
            <a:noFill/>
          </a:ln>
        </p:spPr>
        <p:txBody>
          <a:bodyPr spcFirstLastPara="1" wrap="square" lIns="91425" tIns="45700" rIns="91425" bIns="45700" anchor="t" anchorCtr="0">
            <a:noAutofit/>
          </a:bodyPr>
          <a:lstStyle/>
          <a:p>
            <a:pPr marL="0" lvl="0" indent="0" algn="just" rtl="0">
              <a:lnSpc>
                <a:spcPct val="83000"/>
              </a:lnSpc>
              <a:spcBef>
                <a:spcPts val="0"/>
              </a:spcBef>
              <a:spcAft>
                <a:spcPts val="0"/>
              </a:spcAft>
              <a:buSzPts val="1200"/>
              <a:buNone/>
            </a:pPr>
            <a:r>
              <a:rPr lang="es-ES" sz="1400" b="1" dirty="0">
                <a:solidFill>
                  <a:srgbClr val="1F85A6"/>
                </a:solidFill>
              </a:rPr>
              <a:t>  Paso 1: Identificar el Propósito y Alcance</a:t>
            </a:r>
            <a:endParaRPr sz="1400" dirty="0"/>
          </a:p>
          <a:p>
            <a:pPr marL="92075" lvl="1" indent="0" algn="just" rtl="0">
              <a:lnSpc>
                <a:spcPct val="83000"/>
              </a:lnSpc>
              <a:spcBef>
                <a:spcPts val="0"/>
              </a:spcBef>
              <a:spcAft>
                <a:spcPts val="0"/>
              </a:spcAft>
              <a:buSzPts val="1600"/>
              <a:buNone/>
            </a:pPr>
            <a:r>
              <a:rPr lang="es-ES" dirty="0">
                <a:solidFill>
                  <a:srgbClr val="1F85A6"/>
                </a:solidFill>
              </a:rPr>
              <a:t>Define el objetivo del diagrama. ¿Es para documentación, desarrollo o ambos?</a:t>
            </a:r>
            <a:endParaRPr dirty="0"/>
          </a:p>
          <a:p>
            <a:pPr marL="92075" lvl="1" indent="0" algn="just" rtl="0">
              <a:lnSpc>
                <a:spcPct val="83000"/>
              </a:lnSpc>
              <a:spcBef>
                <a:spcPts val="0"/>
              </a:spcBef>
              <a:spcAft>
                <a:spcPts val="0"/>
              </a:spcAft>
              <a:buSzPts val="1600"/>
              <a:buNone/>
            </a:pPr>
            <a:r>
              <a:rPr lang="es-ES" dirty="0">
                <a:solidFill>
                  <a:srgbClr val="1F85A6"/>
                </a:solidFill>
              </a:rPr>
              <a:t>Establece el alcance del sistema que vas a modelar. ¿Es un módulo específico o todo el sistema?</a:t>
            </a:r>
            <a:endParaRPr dirty="0"/>
          </a:p>
          <a:p>
            <a:pPr marL="0" lvl="0" indent="0" algn="just" rtl="0">
              <a:lnSpc>
                <a:spcPct val="83000"/>
              </a:lnSpc>
              <a:spcBef>
                <a:spcPts val="600"/>
              </a:spcBef>
              <a:spcAft>
                <a:spcPts val="0"/>
              </a:spcAft>
              <a:buSzPts val="1200"/>
              <a:buNone/>
            </a:pPr>
            <a:r>
              <a:rPr lang="es-ES" sz="1400" b="1" dirty="0">
                <a:solidFill>
                  <a:srgbClr val="1F85A6"/>
                </a:solidFill>
              </a:rPr>
              <a:t>  Paso 2: Reunir Requisitos</a:t>
            </a:r>
            <a:endParaRPr sz="1400" dirty="0"/>
          </a:p>
          <a:p>
            <a:pPr marL="92075" lvl="1" indent="0" algn="just" rtl="0">
              <a:lnSpc>
                <a:spcPct val="83000"/>
              </a:lnSpc>
              <a:spcBef>
                <a:spcPts val="0"/>
              </a:spcBef>
              <a:spcAft>
                <a:spcPts val="0"/>
              </a:spcAft>
              <a:buSzPts val="1600"/>
              <a:buNone/>
            </a:pPr>
            <a:r>
              <a:rPr lang="es-ES" dirty="0">
                <a:solidFill>
                  <a:srgbClr val="1F85A6"/>
                </a:solidFill>
              </a:rPr>
              <a:t>Consulta la documentación del sistema, si está disponible.</a:t>
            </a:r>
            <a:endParaRPr dirty="0"/>
          </a:p>
          <a:p>
            <a:pPr marL="92075" lvl="1" indent="0" algn="just" rtl="0">
              <a:lnSpc>
                <a:spcPct val="83000"/>
              </a:lnSpc>
              <a:spcBef>
                <a:spcPts val="0"/>
              </a:spcBef>
              <a:spcAft>
                <a:spcPts val="0"/>
              </a:spcAft>
              <a:buSzPts val="1600"/>
              <a:buNone/>
            </a:pPr>
            <a:r>
              <a:rPr lang="es-ES" dirty="0">
                <a:solidFill>
                  <a:srgbClr val="1F85A6"/>
                </a:solidFill>
              </a:rPr>
              <a:t>Habla con los </a:t>
            </a:r>
            <a:r>
              <a:rPr lang="es-ES" dirty="0" err="1">
                <a:solidFill>
                  <a:srgbClr val="1F85A6"/>
                </a:solidFill>
              </a:rPr>
              <a:t>stakeholders</a:t>
            </a:r>
            <a:r>
              <a:rPr lang="es-ES" dirty="0">
                <a:solidFill>
                  <a:srgbClr val="1F85A6"/>
                </a:solidFill>
              </a:rPr>
              <a:t> para entender las necesidades y funcionalidades del sistema.</a:t>
            </a:r>
            <a:endParaRPr dirty="0"/>
          </a:p>
          <a:p>
            <a:pPr marL="0" lvl="0" indent="0" algn="just" rtl="0">
              <a:lnSpc>
                <a:spcPct val="83000"/>
              </a:lnSpc>
              <a:spcBef>
                <a:spcPts val="600"/>
              </a:spcBef>
              <a:spcAft>
                <a:spcPts val="0"/>
              </a:spcAft>
              <a:buSzPts val="1200"/>
              <a:buNone/>
            </a:pPr>
            <a:r>
              <a:rPr lang="es-ES" sz="1400" b="1" dirty="0">
                <a:solidFill>
                  <a:srgbClr val="1F85A6"/>
                </a:solidFill>
              </a:rPr>
              <a:t>  Paso 3: Identificar las Entidades Principales</a:t>
            </a:r>
            <a:endParaRPr sz="1400" dirty="0"/>
          </a:p>
          <a:p>
            <a:pPr marL="92075" lvl="1" indent="0" algn="just" rtl="0">
              <a:lnSpc>
                <a:spcPct val="83000"/>
              </a:lnSpc>
              <a:spcBef>
                <a:spcPts val="0"/>
              </a:spcBef>
              <a:spcAft>
                <a:spcPts val="0"/>
              </a:spcAft>
              <a:buSzPts val="1600"/>
              <a:buNone/>
            </a:pPr>
            <a:r>
              <a:rPr lang="es-ES" dirty="0">
                <a:solidFill>
                  <a:srgbClr val="1F85A6"/>
                </a:solidFill>
              </a:rPr>
              <a:t>Enumera todas las entidades o conceptos que formarán parte del sistema. Estas se convertirán en tus clases.</a:t>
            </a:r>
            <a:endParaRPr dirty="0"/>
          </a:p>
          <a:p>
            <a:pPr marL="92075" lvl="1" indent="0" algn="just" rtl="0">
              <a:lnSpc>
                <a:spcPct val="83000"/>
              </a:lnSpc>
              <a:spcBef>
                <a:spcPts val="0"/>
              </a:spcBef>
              <a:spcAft>
                <a:spcPts val="0"/>
              </a:spcAft>
              <a:buSzPts val="1600"/>
              <a:buNone/>
            </a:pPr>
            <a:r>
              <a:rPr lang="es-ES" dirty="0">
                <a:solidFill>
                  <a:srgbClr val="1F85A6"/>
                </a:solidFill>
              </a:rPr>
              <a:t>Ejemplo: En un sistema de gestión de biblioteca, las entidades podrían ser “Libro”, “Usuario”, “Préstamo”, etc.</a:t>
            </a:r>
            <a:endParaRPr dirty="0"/>
          </a:p>
          <a:p>
            <a:pPr marL="0" lvl="0" indent="0" algn="just" rtl="0">
              <a:lnSpc>
                <a:spcPct val="83000"/>
              </a:lnSpc>
              <a:spcBef>
                <a:spcPts val="600"/>
              </a:spcBef>
              <a:spcAft>
                <a:spcPts val="0"/>
              </a:spcAft>
              <a:buSzPts val="1200"/>
              <a:buNone/>
            </a:pPr>
            <a:r>
              <a:rPr lang="es-ES" sz="1400" b="1" dirty="0">
                <a:solidFill>
                  <a:srgbClr val="1F85A6"/>
                </a:solidFill>
              </a:rPr>
              <a:t>   Paso 4: Definir Atributos y Métodos</a:t>
            </a:r>
            <a:endParaRPr sz="1400" dirty="0"/>
          </a:p>
          <a:p>
            <a:pPr marL="92075" lvl="1" indent="0" algn="just" rtl="0">
              <a:lnSpc>
                <a:spcPct val="83000"/>
              </a:lnSpc>
              <a:spcBef>
                <a:spcPts val="0"/>
              </a:spcBef>
              <a:spcAft>
                <a:spcPts val="0"/>
              </a:spcAft>
              <a:buSzPts val="1600"/>
              <a:buNone/>
            </a:pPr>
            <a:r>
              <a:rPr lang="es-ES" dirty="0">
                <a:solidFill>
                  <a:srgbClr val="1F85A6"/>
                </a:solidFill>
              </a:rPr>
              <a:t>Para cada clase identificada, lista sus atributos y métodos.</a:t>
            </a:r>
            <a:endParaRPr dirty="0"/>
          </a:p>
          <a:p>
            <a:pPr marL="92075" lvl="1" indent="0" algn="just" rtl="0">
              <a:lnSpc>
                <a:spcPct val="83000"/>
              </a:lnSpc>
              <a:spcBef>
                <a:spcPts val="0"/>
              </a:spcBef>
              <a:spcAft>
                <a:spcPts val="0"/>
              </a:spcAft>
              <a:buSzPts val="1600"/>
              <a:buNone/>
            </a:pPr>
            <a:r>
              <a:rPr lang="es-ES" dirty="0">
                <a:solidFill>
                  <a:srgbClr val="1F85A6"/>
                </a:solidFill>
              </a:rPr>
              <a:t>Ejemplo: La clase “Libro” podría tener atributos como “título”, “autor” y métodos como “prestar()” y “devolver()”.</a:t>
            </a:r>
            <a:endParaRPr dirty="0"/>
          </a:p>
          <a:p>
            <a:pPr marL="0" lvl="0" indent="0" algn="just" rtl="0">
              <a:lnSpc>
                <a:spcPct val="83000"/>
              </a:lnSpc>
              <a:spcBef>
                <a:spcPts val="600"/>
              </a:spcBef>
              <a:spcAft>
                <a:spcPts val="0"/>
              </a:spcAft>
              <a:buSzPts val="1200"/>
              <a:buNone/>
            </a:pPr>
            <a:r>
              <a:rPr lang="es-ES" sz="1400" b="1" dirty="0">
                <a:solidFill>
                  <a:srgbClr val="1F85A6"/>
                </a:solidFill>
              </a:rPr>
              <a:t>  Paso 5: Establecer la Visibilidad</a:t>
            </a:r>
            <a:endParaRPr sz="1400" dirty="0"/>
          </a:p>
          <a:p>
            <a:pPr marL="92075" lvl="1" indent="0" algn="just" rtl="0">
              <a:lnSpc>
                <a:spcPct val="83000"/>
              </a:lnSpc>
              <a:spcBef>
                <a:spcPts val="0"/>
              </a:spcBef>
              <a:spcAft>
                <a:spcPts val="0"/>
              </a:spcAft>
              <a:buSzPts val="1600"/>
              <a:buNone/>
            </a:pPr>
            <a:r>
              <a:rPr lang="es-ES" dirty="0">
                <a:solidFill>
                  <a:srgbClr val="1F85A6"/>
                </a:solidFill>
              </a:rPr>
              <a:t>Define la visibilidad de cada atributo y método (+ para público, - para privado, # para protegido).</a:t>
            </a:r>
            <a:endParaRPr dirty="0"/>
          </a:p>
          <a:p>
            <a:pPr marL="82550" lvl="1" indent="0" algn="just" rtl="0">
              <a:lnSpc>
                <a:spcPct val="83000"/>
              </a:lnSpc>
              <a:spcBef>
                <a:spcPts val="600"/>
              </a:spcBef>
              <a:spcAft>
                <a:spcPts val="0"/>
              </a:spcAft>
              <a:buSzPts val="1600"/>
              <a:buNone/>
            </a:pPr>
            <a:r>
              <a:rPr lang="es-ES" b="1" dirty="0">
                <a:solidFill>
                  <a:srgbClr val="1F85A6"/>
                </a:solidFill>
              </a:rPr>
              <a:t>Paso 6: Identificar Relaciones</a:t>
            </a:r>
            <a:endParaRPr dirty="0"/>
          </a:p>
          <a:p>
            <a:pPr marL="92075" lvl="1" indent="0" algn="just" rtl="0">
              <a:lnSpc>
                <a:spcPct val="83000"/>
              </a:lnSpc>
              <a:spcBef>
                <a:spcPts val="0"/>
              </a:spcBef>
              <a:spcAft>
                <a:spcPts val="0"/>
              </a:spcAft>
              <a:buSzPts val="1600"/>
              <a:buNone/>
            </a:pPr>
            <a:r>
              <a:rPr lang="es-ES" dirty="0">
                <a:solidFill>
                  <a:srgbClr val="1F85A6"/>
                </a:solidFill>
              </a:rPr>
              <a:t>Determina cómo se relacionan las clases entre sí. Esto podría ser a través de asociaciones, agregaciones, composiciones o herencias.</a:t>
            </a:r>
            <a:endParaRPr dirty="0"/>
          </a:p>
          <a:p>
            <a:pPr marL="92075" lvl="1" indent="0" algn="just" rtl="0">
              <a:lnSpc>
                <a:spcPct val="83000"/>
              </a:lnSpc>
              <a:spcBef>
                <a:spcPts val="0"/>
              </a:spcBef>
              <a:spcAft>
                <a:spcPts val="0"/>
              </a:spcAft>
              <a:buSzPts val="1600"/>
              <a:buNone/>
            </a:pPr>
            <a:r>
              <a:rPr lang="es-ES" dirty="0">
                <a:solidFill>
                  <a:schemeClr val="dk1"/>
                </a:solidFill>
              </a:rPr>
              <a:t>Ejemplo: La clase “Usuario” podría estar asociada con la clase “Préstamo”.</a:t>
            </a:r>
            <a:endParaRPr dirty="0"/>
          </a:p>
          <a:p>
            <a:pPr marL="0" lvl="0" indent="0" algn="just" rtl="0">
              <a:lnSpc>
                <a:spcPct val="83000"/>
              </a:lnSpc>
              <a:spcBef>
                <a:spcPts val="600"/>
              </a:spcBef>
              <a:spcAft>
                <a:spcPts val="0"/>
              </a:spcAft>
              <a:buSzPts val="1050"/>
              <a:buNone/>
            </a:pPr>
            <a:r>
              <a:rPr lang="es-ES" sz="1400" b="1" dirty="0">
                <a:solidFill>
                  <a:schemeClr val="dk1"/>
                </a:solidFill>
              </a:rPr>
              <a:t>  </a:t>
            </a:r>
            <a:endParaRPr sz="1400" dirty="0">
              <a:solidFill>
                <a:schemeClr val="dk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4"/>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rgbClr val="3F3F3F"/>
              </a:buClr>
              <a:buSzPts val="1600"/>
              <a:buNone/>
            </a:pPr>
            <a:r>
              <a:rPr lang="es-ES"/>
              <a:t>ELABORAR UN DIAGRAMA DE CLASES, PASO A PASO</a:t>
            </a:r>
            <a:endParaRPr>
              <a:solidFill>
                <a:srgbClr val="A5A5A5"/>
              </a:solidFill>
            </a:endParaRPr>
          </a:p>
        </p:txBody>
      </p:sp>
      <p:sp>
        <p:nvSpPr>
          <p:cNvPr id="263" name="Google Shape;263;p24"/>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chemeClr val="lt1"/>
              </a:buClr>
              <a:buSzPts val="1800"/>
              <a:buNone/>
            </a:pPr>
            <a:r>
              <a:rPr lang="es-ES"/>
              <a:t>/ ELEMENTOS DEL DIAGRAMA DE CLASES</a:t>
            </a:r>
            <a:endParaRPr/>
          </a:p>
        </p:txBody>
      </p:sp>
      <p:sp>
        <p:nvSpPr>
          <p:cNvPr id="264" name="Google Shape;264;p24"/>
          <p:cNvSpPr txBox="1">
            <a:spLocks noGrp="1"/>
          </p:cNvSpPr>
          <p:nvPr>
            <p:ph type="body" idx="3"/>
          </p:nvPr>
        </p:nvSpPr>
        <p:spPr>
          <a:xfrm>
            <a:off x="468313" y="1174363"/>
            <a:ext cx="8207375" cy="3869585"/>
          </a:xfrm>
          <a:prstGeom prst="rect">
            <a:avLst/>
          </a:prstGeom>
          <a:solidFill>
            <a:srgbClr val="FFFFCC"/>
          </a:solidFill>
          <a:ln>
            <a:noFill/>
          </a:ln>
        </p:spPr>
        <p:txBody>
          <a:bodyPr spcFirstLastPara="1" wrap="square" lIns="91425" tIns="45700" rIns="91425" bIns="45700" anchor="t" anchorCtr="0">
            <a:noAutofit/>
          </a:bodyPr>
          <a:lstStyle/>
          <a:p>
            <a:pPr marL="0" lvl="0" indent="0" algn="just" rtl="0">
              <a:lnSpc>
                <a:spcPct val="83000"/>
              </a:lnSpc>
              <a:spcBef>
                <a:spcPts val="0"/>
              </a:spcBef>
              <a:spcAft>
                <a:spcPts val="0"/>
              </a:spcAft>
              <a:buSzPts val="1200"/>
              <a:buNone/>
            </a:pPr>
            <a:r>
              <a:rPr lang="es-ES" b="1" dirty="0">
                <a:solidFill>
                  <a:schemeClr val="dk1"/>
                </a:solidFill>
              </a:rPr>
              <a:t>Paso 7: Definir la Multiplicidad</a:t>
            </a:r>
            <a:endParaRPr dirty="0"/>
          </a:p>
          <a:p>
            <a:pPr marL="92075" lvl="1" indent="0" algn="just" rtl="0">
              <a:lnSpc>
                <a:spcPct val="83000"/>
              </a:lnSpc>
              <a:spcBef>
                <a:spcPts val="0"/>
              </a:spcBef>
              <a:spcAft>
                <a:spcPts val="0"/>
              </a:spcAft>
              <a:buSzPts val="1600"/>
              <a:buNone/>
            </a:pPr>
            <a:r>
              <a:rPr lang="es-ES" sz="1600" dirty="0">
                <a:solidFill>
                  <a:schemeClr val="dk1"/>
                </a:solidFill>
              </a:rPr>
              <a:t>Establece la multiplicidad para cada extremo de la relación.</a:t>
            </a:r>
            <a:endParaRPr dirty="0"/>
          </a:p>
          <a:p>
            <a:pPr marL="92075" lvl="1" indent="0" algn="just" rtl="0">
              <a:lnSpc>
                <a:spcPct val="83000"/>
              </a:lnSpc>
              <a:spcBef>
                <a:spcPts val="0"/>
              </a:spcBef>
              <a:spcAft>
                <a:spcPts val="0"/>
              </a:spcAft>
              <a:buSzPts val="1600"/>
              <a:buNone/>
            </a:pPr>
            <a:r>
              <a:rPr lang="es-ES" sz="1600" dirty="0">
                <a:solidFill>
                  <a:schemeClr val="dk1"/>
                </a:solidFill>
              </a:rPr>
              <a:t>Ejemplo: Un “Usuario” puede tener múltiples “Préstamos”, pero un “Préstamo” está asociado con un solo “Usuario”.</a:t>
            </a:r>
            <a:r>
              <a:rPr lang="es-ES" sz="1600" b="1" dirty="0">
                <a:solidFill>
                  <a:schemeClr val="dk1"/>
                </a:solidFill>
              </a:rPr>
              <a:t>  </a:t>
            </a:r>
            <a:endParaRPr dirty="0"/>
          </a:p>
          <a:p>
            <a:pPr marL="0" lvl="0" indent="0" algn="just" rtl="0">
              <a:lnSpc>
                <a:spcPct val="83000"/>
              </a:lnSpc>
              <a:spcBef>
                <a:spcPts val="600"/>
              </a:spcBef>
              <a:spcAft>
                <a:spcPts val="0"/>
              </a:spcAft>
              <a:buSzPts val="1200"/>
              <a:buNone/>
            </a:pPr>
            <a:r>
              <a:rPr lang="es-ES" b="1" dirty="0">
                <a:solidFill>
                  <a:schemeClr val="dk1"/>
                </a:solidFill>
              </a:rPr>
              <a:t>  Paso 8: Dibujar el Diagrama</a:t>
            </a:r>
            <a:endParaRPr dirty="0"/>
          </a:p>
          <a:p>
            <a:pPr marL="92075" lvl="1" indent="0" algn="just" rtl="0">
              <a:lnSpc>
                <a:spcPct val="83000"/>
              </a:lnSpc>
              <a:spcBef>
                <a:spcPts val="0"/>
              </a:spcBef>
              <a:spcAft>
                <a:spcPts val="0"/>
              </a:spcAft>
              <a:buSzPts val="1600"/>
              <a:buNone/>
            </a:pPr>
            <a:r>
              <a:rPr lang="es-ES" sz="1600" dirty="0">
                <a:solidFill>
                  <a:schemeClr val="dk1"/>
                </a:solidFill>
              </a:rPr>
              <a:t>Utiliza una herramienta de dibujo </a:t>
            </a:r>
            <a:r>
              <a:rPr lang="es-ES" sz="1600" dirty="0" err="1">
                <a:solidFill>
                  <a:schemeClr val="dk1"/>
                </a:solidFill>
              </a:rPr>
              <a:t>UML</a:t>
            </a:r>
            <a:r>
              <a:rPr lang="es-ES" sz="1600" dirty="0">
                <a:solidFill>
                  <a:schemeClr val="dk1"/>
                </a:solidFill>
              </a:rPr>
              <a:t> o papel y lápiz para dibujar las clases como rectángulos y las relaciones como líneas.</a:t>
            </a:r>
            <a:endParaRPr dirty="0"/>
          </a:p>
          <a:p>
            <a:pPr marL="92075" lvl="1" indent="0" algn="just" rtl="0">
              <a:lnSpc>
                <a:spcPct val="83000"/>
              </a:lnSpc>
              <a:spcBef>
                <a:spcPts val="0"/>
              </a:spcBef>
              <a:spcAft>
                <a:spcPts val="0"/>
              </a:spcAft>
              <a:buSzPts val="1600"/>
              <a:buNone/>
            </a:pPr>
            <a:r>
              <a:rPr lang="es-ES" sz="1600" dirty="0">
                <a:solidFill>
                  <a:schemeClr val="dk1"/>
                </a:solidFill>
              </a:rPr>
              <a:t>Asegúrate de incluir todos los elementos: clases, atributos, métodos, relaciones, multiplicidad y visibilidad.</a:t>
            </a:r>
            <a:endParaRPr dirty="0"/>
          </a:p>
          <a:p>
            <a:pPr marL="0" lvl="0" indent="0" algn="just" rtl="0">
              <a:lnSpc>
                <a:spcPct val="83000"/>
              </a:lnSpc>
              <a:spcBef>
                <a:spcPts val="600"/>
              </a:spcBef>
              <a:spcAft>
                <a:spcPts val="0"/>
              </a:spcAft>
              <a:buSzPts val="1200"/>
              <a:buNone/>
            </a:pPr>
            <a:r>
              <a:rPr lang="es-ES" b="1" dirty="0">
                <a:solidFill>
                  <a:schemeClr val="dk1"/>
                </a:solidFill>
              </a:rPr>
              <a:t>  Paso 9: Revisar y Validar</a:t>
            </a:r>
            <a:endParaRPr dirty="0"/>
          </a:p>
          <a:p>
            <a:pPr marL="92075" lvl="1" indent="0" algn="just" rtl="0">
              <a:lnSpc>
                <a:spcPct val="83000"/>
              </a:lnSpc>
              <a:spcBef>
                <a:spcPts val="0"/>
              </a:spcBef>
              <a:spcAft>
                <a:spcPts val="0"/>
              </a:spcAft>
              <a:buSzPts val="1600"/>
              <a:buNone/>
            </a:pPr>
            <a:r>
              <a:rPr lang="es-ES" sz="1600" dirty="0">
                <a:solidFill>
                  <a:schemeClr val="dk1"/>
                </a:solidFill>
              </a:rPr>
              <a:t>Revisa el diagrama para asegurarte de que todas las relaciones y elementos están correctamente representados.</a:t>
            </a:r>
            <a:endParaRPr dirty="0"/>
          </a:p>
          <a:p>
            <a:pPr marL="92075" lvl="1" indent="0" algn="just" rtl="0">
              <a:lnSpc>
                <a:spcPct val="83000"/>
              </a:lnSpc>
              <a:spcBef>
                <a:spcPts val="0"/>
              </a:spcBef>
              <a:spcAft>
                <a:spcPts val="0"/>
              </a:spcAft>
              <a:buSzPts val="1600"/>
              <a:buNone/>
            </a:pPr>
            <a:r>
              <a:rPr lang="es-ES" sz="1600" dirty="0">
                <a:solidFill>
                  <a:schemeClr val="dk1"/>
                </a:solidFill>
              </a:rPr>
              <a:t>Valida el diagrama con los </a:t>
            </a:r>
            <a:r>
              <a:rPr lang="es-ES" sz="1600" dirty="0" err="1">
                <a:solidFill>
                  <a:schemeClr val="dk1"/>
                </a:solidFill>
              </a:rPr>
              <a:t>stakeholders</a:t>
            </a:r>
            <a:r>
              <a:rPr lang="es-ES" sz="1600" dirty="0">
                <a:solidFill>
                  <a:schemeClr val="dk1"/>
                </a:solidFill>
              </a:rPr>
              <a:t> y el equipo de desarrollo para asegurarte de que cumpla con los requisitos y expectativas.</a:t>
            </a:r>
            <a:endParaRPr dirty="0"/>
          </a:p>
          <a:p>
            <a:pPr marL="0" lvl="0" indent="0" algn="just" rtl="0">
              <a:lnSpc>
                <a:spcPct val="83000"/>
              </a:lnSpc>
              <a:spcBef>
                <a:spcPts val="600"/>
              </a:spcBef>
              <a:spcAft>
                <a:spcPts val="0"/>
              </a:spcAft>
              <a:buSzPts val="1200"/>
              <a:buNone/>
            </a:pPr>
            <a:r>
              <a:rPr lang="es-ES" b="1" dirty="0">
                <a:solidFill>
                  <a:schemeClr val="dk1"/>
                </a:solidFill>
              </a:rPr>
              <a:t>  Paso 10: Iterar</a:t>
            </a:r>
            <a:endParaRPr dirty="0"/>
          </a:p>
          <a:p>
            <a:pPr marL="92075" lvl="1" indent="0" algn="just" rtl="0">
              <a:lnSpc>
                <a:spcPct val="83000"/>
              </a:lnSpc>
              <a:spcBef>
                <a:spcPts val="0"/>
              </a:spcBef>
              <a:spcAft>
                <a:spcPts val="0"/>
              </a:spcAft>
              <a:buSzPts val="1600"/>
              <a:buNone/>
            </a:pPr>
            <a:r>
              <a:rPr lang="es-ES" sz="1600" dirty="0">
                <a:solidFill>
                  <a:schemeClr val="dk1"/>
                </a:solidFill>
              </a:rPr>
              <a:t>A medida que el proyecto avanza, es probable que necesites actualizar el diagrama. Mantenlo vivo y úsalo como una herramienta de comunicación y documentación.</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5"/>
          <p:cNvSpPr txBox="1">
            <a:spLocks noGrp="1"/>
          </p:cNvSpPr>
          <p:nvPr>
            <p:ph type="body" idx="1"/>
          </p:nvPr>
        </p:nvSpPr>
        <p:spPr>
          <a:xfrm>
            <a:off x="468313" y="810473"/>
            <a:ext cx="8207375" cy="354012"/>
          </a:xfrm>
          <a:prstGeom prst="rect">
            <a:avLst/>
          </a:prstGeom>
          <a:solidFill>
            <a:srgbClr val="FFFFCC"/>
          </a:solidFill>
          <a:ln>
            <a:noFill/>
          </a:ln>
        </p:spPr>
        <p:txBody>
          <a:bodyPr spcFirstLastPara="1" wrap="square" lIns="72000" tIns="36000" rIns="72000" bIns="36000" anchor="ctr" anchorCtr="0">
            <a:noAutofit/>
          </a:bodyPr>
          <a:lstStyle/>
          <a:p>
            <a:pPr marL="0" marR="0" lvl="0" indent="0" algn="l" rtl="0">
              <a:lnSpc>
                <a:spcPct val="85000"/>
              </a:lnSpc>
              <a:spcBef>
                <a:spcPts val="0"/>
              </a:spcBef>
              <a:spcAft>
                <a:spcPts val="0"/>
              </a:spcAft>
              <a:buClr>
                <a:srgbClr val="3F3F3F"/>
              </a:buClr>
              <a:buSzPts val="1600"/>
              <a:buFont typeface="Arial"/>
              <a:buNone/>
            </a:pPr>
            <a:r>
              <a:rPr lang="es-ES"/>
              <a:t>ELABORAR UN DIAGRAMA DE CLASES, PASO A PASO </a:t>
            </a:r>
            <a:endParaRPr/>
          </a:p>
        </p:txBody>
      </p:sp>
      <p:sp>
        <p:nvSpPr>
          <p:cNvPr id="271" name="Google Shape;271;p25"/>
          <p:cNvSpPr txBox="1">
            <a:spLocks noGrp="1"/>
          </p:cNvSpPr>
          <p:nvPr>
            <p:ph type="body" idx="2"/>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chemeClr val="lt1"/>
              </a:buClr>
              <a:buSzPts val="1800"/>
              <a:buNone/>
            </a:pPr>
            <a:r>
              <a:rPr lang="es-ES"/>
              <a:t>/ ELEMENTOS DEL DIAGRAMA DE CLASES</a:t>
            </a:r>
            <a:endParaRPr/>
          </a:p>
        </p:txBody>
      </p:sp>
      <p:sp>
        <p:nvSpPr>
          <p:cNvPr id="272" name="Google Shape;272;p25"/>
          <p:cNvSpPr txBox="1">
            <a:spLocks noGrp="1"/>
          </p:cNvSpPr>
          <p:nvPr>
            <p:ph type="body" idx="3"/>
          </p:nvPr>
        </p:nvSpPr>
        <p:spPr>
          <a:xfrm>
            <a:off x="468313" y="1174363"/>
            <a:ext cx="8207375" cy="4540637"/>
          </a:xfrm>
          <a:prstGeom prst="rect">
            <a:avLst/>
          </a:prstGeom>
          <a:solidFill>
            <a:srgbClr val="FFFFCC"/>
          </a:solid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SzPts val="1200"/>
              <a:buNone/>
            </a:pPr>
            <a:r>
              <a:rPr lang="es-ES">
                <a:solidFill>
                  <a:srgbClr val="FFFFCC"/>
                </a:solidFill>
              </a:rPr>
              <a:t>.</a:t>
            </a:r>
            <a:endParaRPr>
              <a:solidFill>
                <a:srgbClr val="FFFFCC"/>
              </a:solidFill>
            </a:endParaRPr>
          </a:p>
        </p:txBody>
      </p:sp>
      <p:pic>
        <p:nvPicPr>
          <p:cNvPr id="273" name="Google Shape;273;p25"/>
          <p:cNvPicPr preferRelativeResize="0"/>
          <p:nvPr/>
        </p:nvPicPr>
        <p:blipFill rotWithShape="1">
          <a:blip r:embed="rId3">
            <a:alphaModFix/>
          </a:blip>
          <a:srcRect/>
          <a:stretch/>
        </p:blipFill>
        <p:spPr>
          <a:xfrm>
            <a:off x="3775765" y="1146179"/>
            <a:ext cx="5017920" cy="4328590"/>
          </a:xfrm>
          <a:prstGeom prst="rect">
            <a:avLst/>
          </a:prstGeom>
          <a:noFill/>
          <a:ln>
            <a:noFill/>
          </a:ln>
        </p:spPr>
      </p:pic>
      <p:sp>
        <p:nvSpPr>
          <p:cNvPr id="274" name="Google Shape;274;p25"/>
          <p:cNvSpPr txBox="1"/>
          <p:nvPr/>
        </p:nvSpPr>
        <p:spPr>
          <a:xfrm>
            <a:off x="38381" y="1174362"/>
            <a:ext cx="3771619" cy="4543200"/>
          </a:xfrm>
          <a:prstGeom prst="rect">
            <a:avLst/>
          </a:prstGeom>
          <a:solidFill>
            <a:srgbClr val="97AD01"/>
          </a:solid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Clr>
                <a:srgbClr val="000000"/>
              </a:buClr>
              <a:buSzPts val="1100"/>
              <a:buFont typeface="Arial"/>
              <a:buNone/>
            </a:pPr>
            <a:r>
              <a:rPr lang="es-ES" sz="1100" b="1" i="0" u="none" strike="noStrike" cap="none">
                <a:solidFill>
                  <a:srgbClr val="FFFFCC"/>
                </a:solidFill>
                <a:latin typeface="Calibri"/>
                <a:ea typeface="Calibri"/>
                <a:cs typeface="Calibri"/>
                <a:sym typeface="Calibri"/>
              </a:rPr>
              <a:t>Clases:</a:t>
            </a:r>
            <a:endParaRPr sz="1400" b="0" i="0" u="none" strike="noStrike" cap="none">
              <a:solidFill>
                <a:srgbClr val="000000"/>
              </a:solidFill>
              <a:latin typeface="Arial"/>
              <a:ea typeface="Arial"/>
              <a:cs typeface="Arial"/>
              <a:sym typeface="Arial"/>
            </a:endParaRPr>
          </a:p>
          <a:p>
            <a:pPr marL="176213" marR="0" lvl="0" indent="-176213" algn="l" rtl="0">
              <a:lnSpc>
                <a:spcPct val="85000"/>
              </a:lnSpc>
              <a:spcBef>
                <a:spcPts val="200"/>
              </a:spcBef>
              <a:spcAft>
                <a:spcPts val="0"/>
              </a:spcAft>
              <a:buClr>
                <a:srgbClr val="FFFFCC"/>
              </a:buClr>
              <a:buSzPts val="1050"/>
              <a:buFont typeface="Calibri"/>
              <a:buAutoNum type="arabicPeriod"/>
            </a:pPr>
            <a:r>
              <a:rPr lang="es-ES" sz="1050" b="0" i="0" u="none" strike="noStrike" cap="none">
                <a:solidFill>
                  <a:srgbClr val="FFFFCC"/>
                </a:solidFill>
                <a:latin typeface="Calibri"/>
                <a:ea typeface="Calibri"/>
                <a:cs typeface="Calibri"/>
                <a:sym typeface="Calibri"/>
              </a:rPr>
              <a:t>Usuario: Representa a un usuario del sistema de comercio electrónico.</a:t>
            </a:r>
            <a:endParaRPr sz="1400" b="0" i="0" u="none" strike="noStrike" cap="none">
              <a:solidFill>
                <a:srgbClr val="000000"/>
              </a:solidFill>
              <a:latin typeface="Arial"/>
              <a:ea typeface="Arial"/>
              <a:cs typeface="Arial"/>
              <a:sym typeface="Arial"/>
            </a:endParaRPr>
          </a:p>
          <a:p>
            <a:pPr marL="360363" marR="0" lvl="1" indent="-180975" algn="l" rtl="0">
              <a:lnSpc>
                <a:spcPct val="85000"/>
              </a:lnSpc>
              <a:spcBef>
                <a:spcPts val="200"/>
              </a:spcBef>
              <a:spcAft>
                <a:spcPts val="0"/>
              </a:spcAft>
              <a:buClr>
                <a:srgbClr val="FFFFCC"/>
              </a:buClr>
              <a:buSzPts val="1050"/>
              <a:buFont typeface="Noto Sans Symbols"/>
              <a:buChar char="▪"/>
            </a:pPr>
            <a:r>
              <a:rPr lang="es-ES" sz="1050" b="0" i="0" u="none" strike="noStrike" cap="none">
                <a:solidFill>
                  <a:srgbClr val="FFFFCC"/>
                </a:solidFill>
                <a:latin typeface="Calibri"/>
                <a:ea typeface="Calibri"/>
                <a:cs typeface="Calibri"/>
                <a:sym typeface="Calibri"/>
              </a:rPr>
              <a:t>Atributos:</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nombre: Nombre del usuario.</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email: Correo electrónico del usuario.</a:t>
            </a:r>
            <a:endParaRPr sz="1400" b="0" i="0" u="none" strike="noStrike" cap="none">
              <a:solidFill>
                <a:srgbClr val="000000"/>
              </a:solidFill>
              <a:latin typeface="Arial"/>
              <a:ea typeface="Arial"/>
              <a:cs typeface="Arial"/>
              <a:sym typeface="Arial"/>
            </a:endParaRPr>
          </a:p>
          <a:p>
            <a:pPr marL="360363" marR="0" lvl="1" indent="-180975" algn="l" rtl="0">
              <a:lnSpc>
                <a:spcPct val="85000"/>
              </a:lnSpc>
              <a:spcBef>
                <a:spcPts val="200"/>
              </a:spcBef>
              <a:spcAft>
                <a:spcPts val="0"/>
              </a:spcAft>
              <a:buClr>
                <a:srgbClr val="FFFFCC"/>
              </a:buClr>
              <a:buSzPts val="1050"/>
              <a:buFont typeface="Noto Sans Symbols"/>
              <a:buChar char="▪"/>
            </a:pPr>
            <a:r>
              <a:rPr lang="es-ES" sz="1050" b="0" i="0" u="none" strike="noStrike" cap="none">
                <a:solidFill>
                  <a:srgbClr val="FFFFCC"/>
                </a:solidFill>
                <a:latin typeface="Calibri"/>
                <a:ea typeface="Calibri"/>
                <a:cs typeface="Calibri"/>
                <a:sym typeface="Calibri"/>
              </a:rPr>
              <a:t>Métodos:</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crearCuenta(): Método para crear una nueva cuenta.</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iniciarSesion(): Método para iniciar sesión en la cuenta.</a:t>
            </a:r>
            <a:endParaRPr sz="1400" b="0" i="0" u="none" strike="noStrike" cap="none">
              <a:solidFill>
                <a:srgbClr val="000000"/>
              </a:solidFill>
              <a:latin typeface="Arial"/>
              <a:ea typeface="Arial"/>
              <a:cs typeface="Arial"/>
              <a:sym typeface="Arial"/>
            </a:endParaRPr>
          </a:p>
          <a:p>
            <a:pPr marL="176213" marR="0" lvl="0" indent="-176213" algn="l" rtl="0">
              <a:lnSpc>
                <a:spcPct val="85000"/>
              </a:lnSpc>
              <a:spcBef>
                <a:spcPts val="200"/>
              </a:spcBef>
              <a:spcAft>
                <a:spcPts val="0"/>
              </a:spcAft>
              <a:buClr>
                <a:srgbClr val="FFFFCC"/>
              </a:buClr>
              <a:buSzPts val="1050"/>
              <a:buFont typeface="Calibri"/>
              <a:buAutoNum type="arabicPeriod"/>
            </a:pPr>
            <a:r>
              <a:rPr lang="es-ES" sz="1050" b="0" i="0" u="none" strike="noStrike" cap="none">
                <a:solidFill>
                  <a:srgbClr val="FFFFCC"/>
                </a:solidFill>
                <a:latin typeface="Calibri"/>
                <a:ea typeface="Calibri"/>
                <a:cs typeface="Calibri"/>
                <a:sym typeface="Calibri"/>
              </a:rPr>
              <a:t>Pedido: Representa un pedido realizado por un usuario.</a:t>
            </a:r>
            <a:endParaRPr sz="1400" b="0" i="0" u="none" strike="noStrike" cap="none">
              <a:solidFill>
                <a:srgbClr val="000000"/>
              </a:solidFill>
              <a:latin typeface="Arial"/>
              <a:ea typeface="Arial"/>
              <a:cs typeface="Arial"/>
              <a:sym typeface="Arial"/>
            </a:endParaRPr>
          </a:p>
          <a:p>
            <a:pPr marL="179388" marR="0" lvl="1" indent="-66675" algn="l" rtl="0">
              <a:lnSpc>
                <a:spcPct val="85000"/>
              </a:lnSpc>
              <a:spcBef>
                <a:spcPts val="200"/>
              </a:spcBef>
              <a:spcAft>
                <a:spcPts val="0"/>
              </a:spcAft>
              <a:buClr>
                <a:srgbClr val="FFFFCC"/>
              </a:buClr>
              <a:buSzPts val="1050"/>
              <a:buFont typeface="Noto Sans Symbols"/>
              <a:buChar char="▪"/>
            </a:pPr>
            <a:r>
              <a:rPr lang="es-ES" sz="1050" b="0" i="0" u="none" strike="noStrike" cap="none">
                <a:solidFill>
                  <a:srgbClr val="FFFFCC"/>
                </a:solidFill>
                <a:latin typeface="Calibri"/>
                <a:ea typeface="Calibri"/>
                <a:cs typeface="Calibri"/>
                <a:sym typeface="Calibri"/>
              </a:rPr>
              <a:t>Atributos:</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id: Identificador único del pedido.</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fecha: Fecha en que se realizó el pedido.</a:t>
            </a:r>
            <a:endParaRPr sz="1400" b="0" i="0" u="none" strike="noStrike" cap="none">
              <a:solidFill>
                <a:srgbClr val="000000"/>
              </a:solidFill>
              <a:latin typeface="Arial"/>
              <a:ea typeface="Arial"/>
              <a:cs typeface="Arial"/>
              <a:sym typeface="Arial"/>
            </a:endParaRPr>
          </a:p>
          <a:p>
            <a:pPr marL="179388" marR="0" lvl="1" indent="-66675" algn="l" rtl="0">
              <a:lnSpc>
                <a:spcPct val="85000"/>
              </a:lnSpc>
              <a:spcBef>
                <a:spcPts val="200"/>
              </a:spcBef>
              <a:spcAft>
                <a:spcPts val="0"/>
              </a:spcAft>
              <a:buClr>
                <a:srgbClr val="FFFFCC"/>
              </a:buClr>
              <a:buSzPts val="1050"/>
              <a:buFont typeface="Noto Sans Symbols"/>
              <a:buChar char="▪"/>
            </a:pPr>
            <a:r>
              <a:rPr lang="es-ES" sz="1050" b="0" i="0" u="none" strike="noStrike" cap="none">
                <a:solidFill>
                  <a:srgbClr val="FFFFCC"/>
                </a:solidFill>
                <a:latin typeface="Calibri"/>
                <a:ea typeface="Calibri"/>
                <a:cs typeface="Calibri"/>
                <a:sym typeface="Calibri"/>
              </a:rPr>
              <a:t>Métodos:</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realizarPedido(): Método para realizar un nuevo pedido.</a:t>
            </a:r>
            <a:endParaRPr sz="1400" b="0" i="0" u="none" strike="noStrike" cap="none">
              <a:solidFill>
                <a:srgbClr val="000000"/>
              </a:solidFill>
              <a:latin typeface="Arial"/>
              <a:ea typeface="Arial"/>
              <a:cs typeface="Arial"/>
              <a:sym typeface="Arial"/>
            </a:endParaRPr>
          </a:p>
          <a:p>
            <a:pPr marL="539750" marR="0" lvl="1"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cancelarPedido(): Método para cancelar un pedido existente.</a:t>
            </a:r>
            <a:endParaRPr sz="1400" b="0" i="0" u="none" strike="noStrike" cap="none">
              <a:solidFill>
                <a:srgbClr val="000000"/>
              </a:solidFill>
              <a:latin typeface="Arial"/>
              <a:ea typeface="Arial"/>
              <a:cs typeface="Arial"/>
              <a:sym typeface="Arial"/>
            </a:endParaRPr>
          </a:p>
          <a:p>
            <a:pPr marL="176213" marR="0" lvl="0" indent="-176213" algn="l" rtl="0">
              <a:lnSpc>
                <a:spcPct val="85000"/>
              </a:lnSpc>
              <a:spcBef>
                <a:spcPts val="200"/>
              </a:spcBef>
              <a:spcAft>
                <a:spcPts val="0"/>
              </a:spcAft>
              <a:buClr>
                <a:srgbClr val="FFFFCC"/>
              </a:buClr>
              <a:buSzPts val="1050"/>
              <a:buFont typeface="Calibri"/>
              <a:buAutoNum type="arabicPeriod"/>
            </a:pPr>
            <a:r>
              <a:rPr lang="es-ES" sz="1050" b="0" i="0" u="none" strike="noStrike" cap="none">
                <a:solidFill>
                  <a:srgbClr val="FFFFCC"/>
                </a:solidFill>
                <a:latin typeface="Calibri"/>
                <a:ea typeface="Calibri"/>
                <a:cs typeface="Calibri"/>
                <a:sym typeface="Calibri"/>
              </a:rPr>
              <a:t>Producto: Representa un producto disponible para la compra.</a:t>
            </a:r>
            <a:endParaRPr sz="1400" b="0" i="0" u="none" strike="noStrike" cap="none">
              <a:solidFill>
                <a:srgbClr val="000000"/>
              </a:solidFill>
              <a:latin typeface="Arial"/>
              <a:ea typeface="Arial"/>
              <a:cs typeface="Arial"/>
              <a:sym typeface="Arial"/>
            </a:endParaRPr>
          </a:p>
          <a:p>
            <a:pPr marL="179388" marR="0" lvl="0" indent="-66675" algn="l" rtl="0">
              <a:lnSpc>
                <a:spcPct val="85000"/>
              </a:lnSpc>
              <a:spcBef>
                <a:spcPts val="200"/>
              </a:spcBef>
              <a:spcAft>
                <a:spcPts val="0"/>
              </a:spcAft>
              <a:buClr>
                <a:srgbClr val="FFFFCC"/>
              </a:buClr>
              <a:buSzPts val="1050"/>
              <a:buFont typeface="Noto Sans Symbols"/>
              <a:buChar char="▪"/>
            </a:pPr>
            <a:r>
              <a:rPr lang="es-ES" sz="1050" b="0" i="0" u="none" strike="noStrike" cap="none">
                <a:solidFill>
                  <a:srgbClr val="FFFFCC"/>
                </a:solidFill>
                <a:latin typeface="Calibri"/>
                <a:ea typeface="Calibri"/>
                <a:cs typeface="Calibri"/>
                <a:sym typeface="Calibri"/>
              </a:rPr>
              <a:t>Atributos:</a:t>
            </a:r>
            <a:endParaRPr sz="1400" b="0" i="0" u="none" strike="noStrike" cap="none">
              <a:solidFill>
                <a:srgbClr val="000000"/>
              </a:solidFill>
              <a:latin typeface="Arial"/>
              <a:ea typeface="Arial"/>
              <a:cs typeface="Arial"/>
              <a:sym typeface="Arial"/>
            </a:endParaRPr>
          </a:p>
          <a:p>
            <a:pPr marL="539750" marR="0" lvl="0"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nombre: Nombre del producto.</a:t>
            </a:r>
            <a:endParaRPr sz="1400" b="0" i="0" u="none" strike="noStrike" cap="none">
              <a:solidFill>
                <a:srgbClr val="000000"/>
              </a:solidFill>
              <a:latin typeface="Arial"/>
              <a:ea typeface="Arial"/>
              <a:cs typeface="Arial"/>
              <a:sym typeface="Arial"/>
            </a:endParaRPr>
          </a:p>
          <a:p>
            <a:pPr marL="539750" marR="0" lvl="0"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precio: Precio del producto.</a:t>
            </a:r>
            <a:endParaRPr sz="1400" b="0" i="0" u="none" strike="noStrike" cap="none">
              <a:solidFill>
                <a:srgbClr val="000000"/>
              </a:solidFill>
              <a:latin typeface="Arial"/>
              <a:ea typeface="Arial"/>
              <a:cs typeface="Arial"/>
              <a:sym typeface="Arial"/>
            </a:endParaRPr>
          </a:p>
          <a:p>
            <a:pPr marL="539750" marR="0" lvl="0"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stock: Cantidad de producto en stock.</a:t>
            </a:r>
            <a:endParaRPr sz="1400" b="0" i="0" u="none" strike="noStrike" cap="none">
              <a:solidFill>
                <a:srgbClr val="000000"/>
              </a:solidFill>
              <a:latin typeface="Arial"/>
              <a:ea typeface="Arial"/>
              <a:cs typeface="Arial"/>
              <a:sym typeface="Arial"/>
            </a:endParaRPr>
          </a:p>
          <a:p>
            <a:pPr marL="179388" marR="0" lvl="0" indent="-66675" algn="l" rtl="0">
              <a:lnSpc>
                <a:spcPct val="85000"/>
              </a:lnSpc>
              <a:spcBef>
                <a:spcPts val="200"/>
              </a:spcBef>
              <a:spcAft>
                <a:spcPts val="0"/>
              </a:spcAft>
              <a:buClr>
                <a:srgbClr val="FFFFCC"/>
              </a:buClr>
              <a:buSzPts val="1050"/>
              <a:buFont typeface="Noto Sans Symbols"/>
              <a:buChar char="▪"/>
            </a:pPr>
            <a:r>
              <a:rPr lang="es-ES" sz="1050" b="0" i="0" u="none" strike="noStrike" cap="none">
                <a:solidFill>
                  <a:srgbClr val="FFFFCC"/>
                </a:solidFill>
                <a:latin typeface="Calibri"/>
                <a:ea typeface="Calibri"/>
                <a:cs typeface="Calibri"/>
                <a:sym typeface="Calibri"/>
              </a:rPr>
              <a:t>Métodos:</a:t>
            </a:r>
            <a:endParaRPr sz="1400" b="0" i="0" u="none" strike="noStrike" cap="none">
              <a:solidFill>
                <a:srgbClr val="000000"/>
              </a:solidFill>
              <a:latin typeface="Arial"/>
              <a:ea typeface="Arial"/>
              <a:cs typeface="Arial"/>
              <a:sym typeface="Arial"/>
            </a:endParaRPr>
          </a:p>
          <a:p>
            <a:pPr marL="539750" marR="0" lvl="0"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agregarStock(int cantidad): Método para agregar stock al producto.</a:t>
            </a:r>
            <a:endParaRPr sz="1400" b="0" i="0" u="none" strike="noStrike" cap="none">
              <a:solidFill>
                <a:srgbClr val="000000"/>
              </a:solidFill>
              <a:latin typeface="Arial"/>
              <a:ea typeface="Arial"/>
              <a:cs typeface="Arial"/>
              <a:sym typeface="Arial"/>
            </a:endParaRPr>
          </a:p>
          <a:p>
            <a:pPr marL="539750" marR="0" lvl="0" indent="0" algn="l" rtl="0">
              <a:lnSpc>
                <a:spcPct val="85000"/>
              </a:lnSpc>
              <a:spcBef>
                <a:spcPts val="200"/>
              </a:spcBef>
              <a:spcAft>
                <a:spcPts val="0"/>
              </a:spcAft>
              <a:buClr>
                <a:srgbClr val="000000"/>
              </a:buClr>
              <a:buSzPts val="1050"/>
              <a:buFont typeface="Arial"/>
              <a:buNone/>
            </a:pPr>
            <a:r>
              <a:rPr lang="es-ES" sz="1050" b="0" i="0" u="none" strike="noStrike" cap="none">
                <a:solidFill>
                  <a:srgbClr val="FFFFCC"/>
                </a:solidFill>
                <a:latin typeface="Calibri"/>
                <a:ea typeface="Calibri"/>
                <a:cs typeface="Calibri"/>
                <a:sym typeface="Calibri"/>
              </a:rPr>
              <a:t>reducirStock(int cantidad): Método para reducir el stock del producto.</a:t>
            </a:r>
            <a:endParaRPr sz="1400" b="0" i="0" u="none" strike="noStrike" cap="none">
              <a:solidFill>
                <a:srgbClr val="000000"/>
              </a:solidFill>
              <a:latin typeface="Arial"/>
              <a:ea typeface="Arial"/>
              <a:cs typeface="Arial"/>
              <a:sym typeface="Arial"/>
            </a:endParaRPr>
          </a:p>
          <a:p>
            <a:pPr marL="539750" marR="0" lvl="0" indent="0" algn="l" rtl="0">
              <a:lnSpc>
                <a:spcPct val="85000"/>
              </a:lnSpc>
              <a:spcBef>
                <a:spcPts val="200"/>
              </a:spcBef>
              <a:spcAft>
                <a:spcPts val="0"/>
              </a:spcAft>
              <a:buClr>
                <a:srgbClr val="000000"/>
              </a:buClr>
              <a:buSzPts val="1050"/>
              <a:buFont typeface="Arial"/>
              <a:buNone/>
            </a:pPr>
            <a:endParaRPr sz="1050" b="0" i="0" u="none" strike="noStrike" cap="none">
              <a:solidFill>
                <a:srgbClr val="FFFFCC"/>
              </a:solidFill>
              <a:latin typeface="Calibri"/>
              <a:ea typeface="Calibri"/>
              <a:cs typeface="Calibri"/>
              <a:sym typeface="Calibri"/>
            </a:endParaRPr>
          </a:p>
        </p:txBody>
      </p:sp>
      <p:sp>
        <p:nvSpPr>
          <p:cNvPr id="275" name="Google Shape;275;p25"/>
          <p:cNvSpPr txBox="1"/>
          <p:nvPr/>
        </p:nvSpPr>
        <p:spPr>
          <a:xfrm>
            <a:off x="3915604" y="3641960"/>
            <a:ext cx="2438304" cy="1662186"/>
          </a:xfrm>
          <a:prstGeom prst="rect">
            <a:avLst/>
          </a:prstGeom>
          <a:solidFill>
            <a:srgbClr val="97AD01"/>
          </a:solidFill>
          <a:ln>
            <a:noFill/>
          </a:ln>
        </p:spPr>
        <p:txBody>
          <a:bodyPr spcFirstLastPara="1" wrap="square" lIns="91425" tIns="45700" rIns="91425" bIns="45700" anchor="t" anchorCtr="0">
            <a:spAutoFit/>
          </a:bodyPr>
          <a:lstStyle/>
          <a:p>
            <a:pPr marL="0" marR="0" lvl="0" indent="0" algn="l" rtl="0">
              <a:lnSpc>
                <a:spcPct val="85000"/>
              </a:lnSpc>
              <a:spcBef>
                <a:spcPts val="0"/>
              </a:spcBef>
              <a:spcAft>
                <a:spcPts val="0"/>
              </a:spcAft>
              <a:buClr>
                <a:srgbClr val="000000"/>
              </a:buClr>
              <a:buSzPts val="1100"/>
              <a:buFont typeface="Arial"/>
              <a:buNone/>
            </a:pPr>
            <a:r>
              <a:rPr lang="es-ES" sz="1100" b="1" i="0" u="none" strike="noStrike" cap="none">
                <a:solidFill>
                  <a:srgbClr val="FFFFCC"/>
                </a:solidFill>
                <a:latin typeface="Calibri"/>
                <a:ea typeface="Calibri"/>
                <a:cs typeface="Calibri"/>
                <a:sym typeface="Calibri"/>
              </a:rPr>
              <a:t>Relaciones:</a:t>
            </a:r>
            <a:endParaRPr sz="1400" b="0" i="0" u="none" strike="noStrike" cap="none">
              <a:solidFill>
                <a:srgbClr val="000000"/>
              </a:solidFill>
              <a:latin typeface="Arial"/>
              <a:ea typeface="Arial"/>
              <a:cs typeface="Arial"/>
              <a:sym typeface="Arial"/>
            </a:endParaRPr>
          </a:p>
          <a:p>
            <a:pPr marL="176213" marR="0" lvl="0" indent="-176213" algn="l" rtl="0">
              <a:lnSpc>
                <a:spcPct val="85000"/>
              </a:lnSpc>
              <a:spcBef>
                <a:spcPts val="200"/>
              </a:spcBef>
              <a:spcAft>
                <a:spcPts val="0"/>
              </a:spcAft>
              <a:buClr>
                <a:srgbClr val="FFFFCC"/>
              </a:buClr>
              <a:buSzPts val="1050"/>
              <a:buFont typeface="Calibri"/>
              <a:buAutoNum type="arabicPeriod"/>
            </a:pPr>
            <a:r>
              <a:rPr lang="es-ES" sz="1050" b="0" i="0" u="none" strike="noStrike" cap="none">
                <a:solidFill>
                  <a:srgbClr val="FFFFCC"/>
                </a:solidFill>
                <a:latin typeface="Calibri"/>
                <a:ea typeface="Calibri"/>
                <a:cs typeface="Calibri"/>
                <a:sym typeface="Calibri"/>
              </a:rPr>
              <a:t>Usuario - Pedido: Un usuario puede realizar cero o más pedidos. Esto se representa con la multiplicidad "0..*" en el extremo del Pedido.</a:t>
            </a:r>
            <a:endParaRPr sz="1400" b="0" i="0" u="none" strike="noStrike" cap="none">
              <a:solidFill>
                <a:srgbClr val="000000"/>
              </a:solidFill>
              <a:latin typeface="Arial"/>
              <a:ea typeface="Arial"/>
              <a:cs typeface="Arial"/>
              <a:sym typeface="Arial"/>
            </a:endParaRPr>
          </a:p>
          <a:p>
            <a:pPr marL="176213" marR="0" lvl="0" indent="-176213" algn="l" rtl="0">
              <a:lnSpc>
                <a:spcPct val="85000"/>
              </a:lnSpc>
              <a:spcBef>
                <a:spcPts val="200"/>
              </a:spcBef>
              <a:spcAft>
                <a:spcPts val="0"/>
              </a:spcAft>
              <a:buClr>
                <a:srgbClr val="FFFFCC"/>
              </a:buClr>
              <a:buSzPts val="1050"/>
              <a:buFont typeface="Calibri"/>
              <a:buAutoNum type="arabicPeriod"/>
            </a:pPr>
            <a:r>
              <a:rPr lang="es-ES" sz="1050" b="0" i="0" u="none" strike="noStrike" cap="none">
                <a:solidFill>
                  <a:srgbClr val="FFFFCC"/>
                </a:solidFill>
                <a:latin typeface="Calibri"/>
                <a:ea typeface="Calibri"/>
                <a:cs typeface="Calibri"/>
                <a:sym typeface="Calibri"/>
              </a:rPr>
              <a:t>Pedido - Producto: Un pedido puede contener uno o más productos, y un producto puede estar en uno o más pedidos. Esto se representa con la multiplicidad "1..*" en ambos extremos.</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6"/>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2" name="Google Shape;282;p26"/>
          <p:cNvSpPr/>
          <p:nvPr/>
        </p:nvSpPr>
        <p:spPr>
          <a:xfrm>
            <a:off x="424252" y="3703125"/>
            <a:ext cx="7966170" cy="523180"/>
          </a:xfrm>
          <a:prstGeom prst="rect">
            <a:avLst/>
          </a:prstGeom>
          <a:noFill/>
          <a:ln>
            <a:noFill/>
          </a:ln>
        </p:spPr>
        <p:txBody>
          <a:bodyPr spcFirstLastPara="1" wrap="square" lIns="91425" tIns="45700" rIns="91425" bIns="45700" anchor="t" anchorCtr="0">
            <a:spAutoFit/>
          </a:bodyPr>
          <a:lstStyle/>
          <a:p>
            <a:pPr marL="274638" marR="0" lvl="0" indent="-274638" algn="l" rtl="0">
              <a:lnSpc>
                <a:spcPct val="100000"/>
              </a:lnSpc>
              <a:spcBef>
                <a:spcPts val="0"/>
              </a:spcBef>
              <a:spcAft>
                <a:spcPts val="0"/>
              </a:spcAft>
              <a:buClr>
                <a:srgbClr val="000000"/>
              </a:buClr>
              <a:buSzPts val="2800"/>
              <a:buFont typeface="Arial"/>
              <a:buNone/>
            </a:pPr>
            <a:r>
              <a:rPr lang="es-ES" sz="2800" b="1" i="0" u="none" strike="noStrike" cap="none">
                <a:solidFill>
                  <a:schemeClr val="lt1"/>
                </a:solidFill>
                <a:latin typeface="Calibri"/>
                <a:ea typeface="Calibri"/>
                <a:cs typeface="Calibri"/>
                <a:sym typeface="Calibri"/>
              </a:rPr>
              <a:t>/	</a:t>
            </a:r>
            <a:r>
              <a:rPr lang="es-ES" sz="2800" b="0" i="0" u="none" strike="noStrike" cap="none">
                <a:solidFill>
                  <a:schemeClr val="dk1"/>
                </a:solidFill>
                <a:latin typeface="Calibri"/>
                <a:ea typeface="Calibri"/>
                <a:cs typeface="Calibri"/>
                <a:sym typeface="Calibri"/>
              </a:rPr>
              <a:t> </a:t>
            </a:r>
            <a:r>
              <a:rPr lang="es-ES" sz="2800" b="1" i="0" u="none" strike="noStrike" cap="none">
                <a:solidFill>
                  <a:schemeClr val="lt1"/>
                </a:solidFill>
                <a:latin typeface="Calibri"/>
                <a:ea typeface="Calibri"/>
                <a:cs typeface="Calibri"/>
                <a:sym typeface="Calibri"/>
              </a:rPr>
              <a:t>USO DEL DIAGRAMA DE CLASES</a:t>
            </a:r>
            <a:endParaRPr sz="2800" b="1" i="0" u="none" strike="noStrike" cap="none">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7"/>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USO DEL DIAGRAMA DE CLASES</a:t>
            </a:r>
            <a:endParaRPr b="0">
              <a:solidFill>
                <a:srgbClr val="0070C0"/>
              </a:solidFill>
            </a:endParaRPr>
          </a:p>
        </p:txBody>
      </p:sp>
      <p:sp>
        <p:nvSpPr>
          <p:cNvPr id="289" name="Google Shape;289;p27"/>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a:t>Los diagramas de clases son una de las herramientas más poderosas en el arsenal de un desarrollador o analista de sistemas.</a:t>
            </a:r>
            <a:endParaRPr/>
          </a:p>
          <a:p>
            <a:pPr marL="266700" lvl="0" indent="-266700" algn="l" rtl="0">
              <a:lnSpc>
                <a:spcPct val="100000"/>
              </a:lnSpc>
              <a:spcBef>
                <a:spcPts val="1200"/>
              </a:spcBef>
              <a:spcAft>
                <a:spcPts val="0"/>
              </a:spcAft>
              <a:buClr>
                <a:schemeClr val="dk1"/>
              </a:buClr>
              <a:buSzPts val="1200"/>
              <a:buChar char="❑"/>
            </a:pPr>
            <a:r>
              <a:rPr lang="es-ES"/>
              <a:t>No solo son útiles para el diseño y la implementación, sino que también son invaluables para la comunicación dentro del equipo y con los stakeholders.</a:t>
            </a:r>
            <a:endParaRPr/>
          </a:p>
          <a:p>
            <a:pPr marL="266700" lvl="0" indent="-266700" algn="l" rtl="0">
              <a:lnSpc>
                <a:spcPct val="100000"/>
              </a:lnSpc>
              <a:spcBef>
                <a:spcPts val="1200"/>
              </a:spcBef>
              <a:spcAft>
                <a:spcPts val="0"/>
              </a:spcAft>
              <a:buClr>
                <a:schemeClr val="dk1"/>
              </a:buClr>
              <a:buSzPts val="1200"/>
              <a:buChar char="❑"/>
            </a:pPr>
            <a:r>
              <a:rPr lang="es-ES"/>
              <a:t>Son una inversión que suele dar buenos rendimientos en términos de claridad, eficiencia y colaboración efectiva.</a:t>
            </a:r>
            <a:endParaRPr/>
          </a:p>
        </p:txBody>
      </p:sp>
      <p:sp>
        <p:nvSpPr>
          <p:cNvPr id="290" name="Google Shape;290;p27"/>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¿CUÁNDO SON ÚTILES?</a:t>
            </a:r>
            <a:endParaRPr/>
          </a:p>
        </p:txBody>
      </p:sp>
      <p:pic>
        <p:nvPicPr>
          <p:cNvPr id="291" name="Google Shape;291;p27"/>
          <p:cNvPicPr preferRelativeResize="0">
            <a:picLocks noGrp="1"/>
          </p:cNvPicPr>
          <p:nvPr>
            <p:ph type="pic" idx="2"/>
          </p:nvPr>
        </p:nvPicPr>
        <p:blipFill rotWithShape="1">
          <a:blip r:embed="rId3">
            <a:alphaModFix/>
          </a:blip>
          <a:srcRect l="19338" r="19339"/>
          <a:stretch/>
        </p:blipFill>
        <p:spPr>
          <a:xfrm>
            <a:off x="5024283" y="1110790"/>
            <a:ext cx="3376101" cy="3672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8"/>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USO DEL DIAGRAMA DE CLASES</a:t>
            </a:r>
            <a:endParaRPr b="0">
              <a:solidFill>
                <a:srgbClr val="0070C0"/>
              </a:solidFill>
            </a:endParaRPr>
          </a:p>
        </p:txBody>
      </p:sp>
      <p:sp>
        <p:nvSpPr>
          <p:cNvPr id="298" name="Google Shape;298;p28"/>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a:t>Estás en la fase inicial de un nuevo proyecto de desarrollo de software y necesitas definir la arquitectura y las relaciones entre las diferentes entidades.</a:t>
            </a:r>
            <a:endParaRPr/>
          </a:p>
          <a:p>
            <a:pPr marL="266700" lvl="0" indent="-266700" algn="l" rtl="0">
              <a:lnSpc>
                <a:spcPct val="100000"/>
              </a:lnSpc>
              <a:spcBef>
                <a:spcPts val="1200"/>
              </a:spcBef>
              <a:spcAft>
                <a:spcPts val="0"/>
              </a:spcAft>
              <a:buClr>
                <a:schemeClr val="dk1"/>
              </a:buClr>
              <a:buSzPts val="1200"/>
              <a:buChar char="❑"/>
            </a:pPr>
            <a:r>
              <a:rPr lang="es-ES"/>
              <a:t>Los diagramas de clases permiten a los arquitectos de software, desarrolladores y analistas de sistemas a visualizar la estructura del sistema, facilitando la identificación de componentes clave y sus interacciones.</a:t>
            </a:r>
            <a:endParaRPr/>
          </a:p>
        </p:txBody>
      </p:sp>
      <p:sp>
        <p:nvSpPr>
          <p:cNvPr id="299" name="Google Shape;299;p28"/>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DISEÑO DE SOFTWARE DESDE CERO</a:t>
            </a:r>
            <a:endParaRPr/>
          </a:p>
        </p:txBody>
      </p:sp>
      <p:pic>
        <p:nvPicPr>
          <p:cNvPr id="300" name="Google Shape;300;p28"/>
          <p:cNvPicPr preferRelativeResize="0">
            <a:picLocks noGrp="1"/>
          </p:cNvPicPr>
          <p:nvPr>
            <p:ph type="pic" idx="2"/>
          </p:nvPr>
        </p:nvPicPr>
        <p:blipFill rotWithShape="1">
          <a:blip r:embed="rId3">
            <a:alphaModFix/>
          </a:blip>
          <a:srcRect l="19338" r="19339"/>
          <a:stretch/>
        </p:blipFill>
        <p:spPr>
          <a:xfrm>
            <a:off x="5073445" y="1177927"/>
            <a:ext cx="3149959" cy="34260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9"/>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USO DEL DIAGRAMA DE CLASES</a:t>
            </a:r>
            <a:endParaRPr b="0">
              <a:solidFill>
                <a:srgbClr val="0070C0"/>
              </a:solidFill>
            </a:endParaRPr>
          </a:p>
        </p:txBody>
      </p:sp>
      <p:sp>
        <p:nvSpPr>
          <p:cNvPr id="307" name="Google Shape;307;p29"/>
          <p:cNvSpPr txBox="1">
            <a:spLocks noGrp="1"/>
          </p:cNvSpPr>
          <p:nvPr>
            <p:ph type="body" idx="4"/>
          </p:nvPr>
        </p:nvSpPr>
        <p:spPr>
          <a:xfrm>
            <a:off x="468313" y="1177927"/>
            <a:ext cx="4103687"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a:t>El código existente se ha vuelto difícil de mantener y necesita ser refactorizado.</a:t>
            </a:r>
            <a:endParaRPr/>
          </a:p>
          <a:p>
            <a:pPr marL="266700" lvl="0" indent="-266700" algn="l" rtl="0">
              <a:lnSpc>
                <a:spcPct val="100000"/>
              </a:lnSpc>
              <a:spcBef>
                <a:spcPts val="1200"/>
              </a:spcBef>
              <a:spcAft>
                <a:spcPts val="0"/>
              </a:spcAft>
              <a:buClr>
                <a:schemeClr val="dk1"/>
              </a:buClr>
              <a:buSzPts val="1200"/>
              <a:buChar char="❑"/>
            </a:pPr>
            <a:r>
              <a:rPr lang="es-ES"/>
              <a:t>Un diagrama de clases actualizado puede ayudar a los desarrolladores y equipos de mantenimiento de software a identificar qué clases están fuertemente acopladas y cuáles podrían beneficiarse de una mayor cohesión.</a:t>
            </a:r>
            <a:endParaRPr/>
          </a:p>
        </p:txBody>
      </p:sp>
      <p:sp>
        <p:nvSpPr>
          <p:cNvPr id="308" name="Google Shape;308;p29"/>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REFACTORIZACIÓN DE CÓDIGO</a:t>
            </a:r>
            <a:endParaRPr/>
          </a:p>
        </p:txBody>
      </p:sp>
      <p:pic>
        <p:nvPicPr>
          <p:cNvPr id="309" name="Google Shape;309;p29"/>
          <p:cNvPicPr preferRelativeResize="0">
            <a:picLocks noGrp="1"/>
          </p:cNvPicPr>
          <p:nvPr>
            <p:ph type="pic" idx="2"/>
          </p:nvPr>
        </p:nvPicPr>
        <p:blipFill rotWithShape="1">
          <a:blip r:embed="rId3">
            <a:alphaModFix/>
          </a:blip>
          <a:srcRect l="19338" r="19339"/>
          <a:stretch/>
        </p:blipFill>
        <p:spPr>
          <a:xfrm>
            <a:off x="5250426" y="986632"/>
            <a:ext cx="3041804" cy="33084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0"/>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USO DEL DIAGRAMA DE CLASES</a:t>
            </a:r>
            <a:endParaRPr b="0">
              <a:solidFill>
                <a:srgbClr val="0070C0"/>
              </a:solidFill>
            </a:endParaRPr>
          </a:p>
        </p:txBody>
      </p:sp>
      <p:sp>
        <p:nvSpPr>
          <p:cNvPr id="316" name="Google Shape;316;p30"/>
          <p:cNvSpPr txBox="1">
            <a:spLocks noGrp="1"/>
          </p:cNvSpPr>
          <p:nvPr>
            <p:ph type="body" idx="4"/>
          </p:nvPr>
        </p:nvSpPr>
        <p:spPr>
          <a:xfrm>
            <a:off x="1028752" y="1333986"/>
            <a:ext cx="3385932"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a:t>Nuevos desarrolladores o analistas se unen al equipo y necesitan entender rápidamente la arquitectura del sistema.</a:t>
            </a:r>
            <a:endParaRPr/>
          </a:p>
          <a:p>
            <a:pPr marL="266700" lvl="0" indent="-266700" algn="l" rtl="0">
              <a:lnSpc>
                <a:spcPct val="100000"/>
              </a:lnSpc>
              <a:spcBef>
                <a:spcPts val="1200"/>
              </a:spcBef>
              <a:spcAft>
                <a:spcPts val="0"/>
              </a:spcAft>
              <a:buClr>
                <a:schemeClr val="dk1"/>
              </a:buClr>
              <a:buSzPts val="1200"/>
              <a:buChar char="❑"/>
            </a:pPr>
            <a:r>
              <a:rPr lang="es-ES"/>
              <a:t>Los diagramas de clases ofrecen una visión general de alto nivel del sistema, lo que facilita la comprensión rápida de cómo están organizadas las clases y cómo interactúan.</a:t>
            </a:r>
            <a:endParaRPr/>
          </a:p>
        </p:txBody>
      </p:sp>
      <p:sp>
        <p:nvSpPr>
          <p:cNvPr id="317" name="Google Shape;317;p30"/>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ONBOARDING DE NUEVOS MIEMBROS</a:t>
            </a:r>
            <a:endParaRPr/>
          </a:p>
        </p:txBody>
      </p:sp>
      <p:pic>
        <p:nvPicPr>
          <p:cNvPr id="318" name="Google Shape;318;p30"/>
          <p:cNvPicPr preferRelativeResize="0">
            <a:picLocks noGrp="1"/>
          </p:cNvPicPr>
          <p:nvPr>
            <p:ph type="pic" idx="2"/>
          </p:nvPr>
        </p:nvPicPr>
        <p:blipFill rotWithShape="1">
          <a:blip r:embed="rId3">
            <a:alphaModFix/>
          </a:blip>
          <a:srcRect l="19338" r="19339"/>
          <a:stretch/>
        </p:blipFill>
        <p:spPr>
          <a:xfrm>
            <a:off x="5044034" y="1022555"/>
            <a:ext cx="3261703" cy="35475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1"/>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USO DEL DIAGRAMA DE CLASES</a:t>
            </a:r>
            <a:endParaRPr b="0">
              <a:solidFill>
                <a:srgbClr val="0070C0"/>
              </a:solidFill>
            </a:endParaRPr>
          </a:p>
        </p:txBody>
      </p:sp>
      <p:sp>
        <p:nvSpPr>
          <p:cNvPr id="325" name="Google Shape;325;p31"/>
          <p:cNvSpPr txBox="1">
            <a:spLocks noGrp="1"/>
          </p:cNvSpPr>
          <p:nvPr>
            <p:ph type="body" idx="4"/>
          </p:nvPr>
        </p:nvSpPr>
        <p:spPr>
          <a:xfrm>
            <a:off x="1097578" y="1311435"/>
            <a:ext cx="3474422"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a:t>Necesidad de documentar un sistema para futuras referencias o para cumplir con requisitos reglamentarios.</a:t>
            </a:r>
            <a:endParaRPr/>
          </a:p>
          <a:p>
            <a:pPr marL="266700" lvl="0" indent="-266700" algn="l" rtl="0">
              <a:lnSpc>
                <a:spcPct val="100000"/>
              </a:lnSpc>
              <a:spcBef>
                <a:spcPts val="1200"/>
              </a:spcBef>
              <a:spcAft>
                <a:spcPts val="0"/>
              </a:spcAft>
              <a:buClr>
                <a:schemeClr val="dk1"/>
              </a:buClr>
              <a:buSzPts val="1200"/>
              <a:buChar char="❑"/>
            </a:pPr>
            <a:r>
              <a:rPr lang="es-ES"/>
              <a:t>Los diagramas de clases sirven a los equipos de QA (Aseguramiento de Calidad), auditores y stakeholders como una excelente forma de documentación que es fácil de entender y seguir.</a:t>
            </a:r>
            <a:endParaRPr/>
          </a:p>
        </p:txBody>
      </p:sp>
      <p:sp>
        <p:nvSpPr>
          <p:cNvPr id="326" name="Google Shape;326;p31"/>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DOCUMENTACIÓN Y COMUNICACIÓN</a:t>
            </a:r>
            <a:endParaRPr/>
          </a:p>
        </p:txBody>
      </p:sp>
      <p:pic>
        <p:nvPicPr>
          <p:cNvPr id="327" name="Google Shape;327;p31"/>
          <p:cNvPicPr preferRelativeResize="0">
            <a:picLocks noGrp="1"/>
          </p:cNvPicPr>
          <p:nvPr>
            <p:ph type="pic" idx="2"/>
          </p:nvPr>
        </p:nvPicPr>
        <p:blipFill rotWithShape="1">
          <a:blip r:embed="rId3">
            <a:alphaModFix/>
          </a:blip>
          <a:srcRect l="22320" r="22319"/>
          <a:stretch/>
        </p:blipFill>
        <p:spPr>
          <a:xfrm>
            <a:off x="5201266" y="1317836"/>
            <a:ext cx="3120462" cy="33939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2"/>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USO DEL DIAGRAMA DE CLASES</a:t>
            </a:r>
            <a:endParaRPr b="0">
              <a:solidFill>
                <a:srgbClr val="0070C0"/>
              </a:solidFill>
            </a:endParaRPr>
          </a:p>
        </p:txBody>
      </p:sp>
      <p:sp>
        <p:nvSpPr>
          <p:cNvPr id="334" name="Google Shape;334;p32"/>
          <p:cNvSpPr txBox="1">
            <a:spLocks noGrp="1"/>
          </p:cNvSpPr>
          <p:nvPr>
            <p:ph type="body" idx="4"/>
          </p:nvPr>
        </p:nvSpPr>
        <p:spPr>
          <a:xfrm>
            <a:off x="1033668" y="1191191"/>
            <a:ext cx="3680900"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dirty="0"/>
              <a:t>Estás en la fase de recopilación y análisis de requisitos para un nuevo proyecto o para una nueva funcionalidad en un proyecto existente.</a:t>
            </a:r>
            <a:endParaRPr dirty="0"/>
          </a:p>
          <a:p>
            <a:pPr marL="266700" lvl="0" indent="-266700" algn="l" rtl="0">
              <a:lnSpc>
                <a:spcPct val="100000"/>
              </a:lnSpc>
              <a:spcBef>
                <a:spcPts val="1200"/>
              </a:spcBef>
              <a:spcAft>
                <a:spcPts val="0"/>
              </a:spcAft>
              <a:buClr>
                <a:schemeClr val="dk1"/>
              </a:buClr>
              <a:buSzPts val="1200"/>
              <a:buChar char="❑"/>
            </a:pPr>
            <a:r>
              <a:rPr lang="es-ES" dirty="0"/>
              <a:t>Los diagramas de clases pueden ayudar a los Analistas de sistemas, Analistas de negocios y </a:t>
            </a:r>
            <a:r>
              <a:rPr lang="es-ES" dirty="0" err="1"/>
              <a:t>Stakeholders</a:t>
            </a:r>
            <a:r>
              <a:rPr lang="es-ES" dirty="0"/>
              <a:t>, a visualizar cómo se traducirán los requisitos en clases y objetos, facilitando la comunicación entre los Analistas de sistemas y los </a:t>
            </a:r>
            <a:r>
              <a:rPr lang="es-ES" dirty="0" err="1"/>
              <a:t>Stakeholders</a:t>
            </a:r>
            <a:r>
              <a:rPr lang="es-ES" dirty="0"/>
              <a:t>.</a:t>
            </a:r>
            <a:endParaRPr dirty="0"/>
          </a:p>
        </p:txBody>
      </p:sp>
      <p:sp>
        <p:nvSpPr>
          <p:cNvPr id="335" name="Google Shape;335;p32"/>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ANÁLISIS DE REQUISITOS</a:t>
            </a:r>
            <a:endParaRPr/>
          </a:p>
        </p:txBody>
      </p:sp>
      <p:pic>
        <p:nvPicPr>
          <p:cNvPr id="336" name="Google Shape;336;p32"/>
          <p:cNvPicPr preferRelativeResize="0">
            <a:picLocks noGrp="1"/>
          </p:cNvPicPr>
          <p:nvPr>
            <p:ph type="pic" idx="2"/>
          </p:nvPr>
        </p:nvPicPr>
        <p:blipFill rotWithShape="1">
          <a:blip r:embed="rId3">
            <a:alphaModFix/>
          </a:blip>
          <a:srcRect l="19338" r="19339"/>
          <a:stretch/>
        </p:blipFill>
        <p:spPr>
          <a:xfrm>
            <a:off x="4857135" y="935945"/>
            <a:ext cx="3533417" cy="384310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3"/>
          <p:cNvSpPr txBox="1">
            <a:spLocks noGrp="1"/>
          </p:cNvSpPr>
          <p:nvPr>
            <p:ph type="body" idx="3"/>
          </p:nvPr>
        </p:nvSpPr>
        <p:spPr>
          <a:xfrm>
            <a:off x="468313" y="277813"/>
            <a:ext cx="8207375" cy="354012"/>
          </a:xfrm>
          <a:prstGeom prst="rect">
            <a:avLst/>
          </a:prstGeom>
          <a:noFill/>
          <a:ln>
            <a:noFill/>
          </a:ln>
        </p:spPr>
        <p:txBody>
          <a:bodyPr spcFirstLastPara="1" wrap="square" lIns="72000" tIns="36000" rIns="72000" bIns="36000" anchor="t" anchorCtr="0">
            <a:noAutofit/>
          </a:bodyPr>
          <a:lstStyle/>
          <a:p>
            <a:pPr marL="274638" lvl="0" indent="-274638" algn="l" rtl="0">
              <a:lnSpc>
                <a:spcPct val="100000"/>
              </a:lnSpc>
              <a:spcBef>
                <a:spcPts val="0"/>
              </a:spcBef>
              <a:spcAft>
                <a:spcPts val="0"/>
              </a:spcAft>
              <a:buClr>
                <a:srgbClr val="0070C0"/>
              </a:buClr>
              <a:buSzPts val="1800"/>
              <a:buNone/>
            </a:pPr>
            <a:r>
              <a:rPr lang="es-ES" b="0">
                <a:solidFill>
                  <a:srgbClr val="0070C0"/>
                </a:solidFill>
              </a:rPr>
              <a:t>/ USO DEL DIAGRAMA DE CLASES</a:t>
            </a:r>
            <a:endParaRPr b="0">
              <a:solidFill>
                <a:srgbClr val="0070C0"/>
              </a:solidFill>
            </a:endParaRPr>
          </a:p>
        </p:txBody>
      </p:sp>
      <p:sp>
        <p:nvSpPr>
          <p:cNvPr id="343" name="Google Shape;343;p33"/>
          <p:cNvSpPr txBox="1">
            <a:spLocks noGrp="1"/>
          </p:cNvSpPr>
          <p:nvPr>
            <p:ph type="body" idx="4"/>
          </p:nvPr>
        </p:nvSpPr>
        <p:spPr>
          <a:xfrm>
            <a:off x="468313" y="1177927"/>
            <a:ext cx="3356435" cy="4096800"/>
          </a:xfrm>
          <a:prstGeom prst="rect">
            <a:avLst/>
          </a:prstGeom>
          <a:noFill/>
          <a:ln>
            <a:noFill/>
          </a:ln>
        </p:spPr>
        <p:txBody>
          <a:bodyPr spcFirstLastPara="1" wrap="square" lIns="91425" tIns="45700" rIns="91425" bIns="45700" anchor="t" anchorCtr="0">
            <a:noAutofit/>
          </a:bodyPr>
          <a:lstStyle/>
          <a:p>
            <a:pPr marL="266700" lvl="0" indent="-266700" algn="l" rtl="0">
              <a:lnSpc>
                <a:spcPct val="100000"/>
              </a:lnSpc>
              <a:spcBef>
                <a:spcPts val="0"/>
              </a:spcBef>
              <a:spcAft>
                <a:spcPts val="0"/>
              </a:spcAft>
              <a:buClr>
                <a:schemeClr val="dk1"/>
              </a:buClr>
              <a:buSzPts val="1200"/>
              <a:buChar char="❑"/>
            </a:pPr>
            <a:r>
              <a:rPr lang="es-ES"/>
              <a:t>Estás enseñando conceptos de programación orientada a objetos o diseño de software.</a:t>
            </a:r>
            <a:endParaRPr/>
          </a:p>
          <a:p>
            <a:pPr marL="266700" lvl="0" indent="-266700" algn="l" rtl="0">
              <a:lnSpc>
                <a:spcPct val="100000"/>
              </a:lnSpc>
              <a:spcBef>
                <a:spcPts val="1200"/>
              </a:spcBef>
              <a:spcAft>
                <a:spcPts val="0"/>
              </a:spcAft>
              <a:buClr>
                <a:schemeClr val="dk1"/>
              </a:buClr>
              <a:buSzPts val="1200"/>
              <a:buChar char="❑"/>
            </a:pPr>
            <a:r>
              <a:rPr lang="es-ES"/>
              <a:t>Los diagramas de clases son una excelente herramienta pedagógica para explicar conceptos abstractos de una manera más concreta y visual.</a:t>
            </a:r>
            <a:endParaRPr/>
          </a:p>
        </p:txBody>
      </p:sp>
      <p:sp>
        <p:nvSpPr>
          <p:cNvPr id="344" name="Google Shape;344;p33"/>
          <p:cNvSpPr txBox="1">
            <a:spLocks noGrp="1"/>
          </p:cNvSpPr>
          <p:nvPr>
            <p:ph type="body" idx="1"/>
          </p:nvPr>
        </p:nvSpPr>
        <p:spPr>
          <a:xfrm>
            <a:off x="468313" y="809626"/>
            <a:ext cx="4103687" cy="354012"/>
          </a:xfrm>
          <a:prstGeom prst="rect">
            <a:avLst/>
          </a:prstGeom>
          <a:noFill/>
          <a:ln>
            <a:noFill/>
          </a:ln>
        </p:spPr>
        <p:txBody>
          <a:bodyPr spcFirstLastPara="1" wrap="square" lIns="72000" tIns="36000" rIns="72000" bIns="36000" anchor="ctr" anchorCtr="0">
            <a:noAutofit/>
          </a:bodyPr>
          <a:lstStyle/>
          <a:p>
            <a:pPr marL="0" lvl="0" indent="0" algn="l" rtl="0">
              <a:lnSpc>
                <a:spcPct val="85000"/>
              </a:lnSpc>
              <a:spcBef>
                <a:spcPts val="0"/>
              </a:spcBef>
              <a:spcAft>
                <a:spcPts val="0"/>
              </a:spcAft>
              <a:buClr>
                <a:schemeClr val="dk1"/>
              </a:buClr>
              <a:buSzPts val="1600"/>
              <a:buNone/>
            </a:pPr>
            <a:r>
              <a:rPr lang="es-ES"/>
              <a:t>ENSEÑANZA Y FORMACIÓN</a:t>
            </a:r>
            <a:endParaRPr/>
          </a:p>
        </p:txBody>
      </p:sp>
      <p:pic>
        <p:nvPicPr>
          <p:cNvPr id="345" name="Google Shape;345;p33"/>
          <p:cNvPicPr preferRelativeResize="0">
            <a:picLocks noGrp="1"/>
          </p:cNvPicPr>
          <p:nvPr>
            <p:ph type="pic" idx="2"/>
          </p:nvPr>
        </p:nvPicPr>
        <p:blipFill rotWithShape="1">
          <a:blip r:embed="rId3">
            <a:alphaModFix/>
          </a:blip>
          <a:srcRect l="22779" r="22779"/>
          <a:stretch/>
        </p:blipFill>
        <p:spPr>
          <a:xfrm>
            <a:off x="4709651" y="930599"/>
            <a:ext cx="3543249" cy="385380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4"/>
          <p:cNvSpPr/>
          <p:nvPr/>
        </p:nvSpPr>
        <p:spPr>
          <a:xfrm>
            <a:off x="0" y="0"/>
            <a:ext cx="9144000" cy="5715000"/>
          </a:xfrm>
          <a:prstGeom prst="rect">
            <a:avLst/>
          </a:prstGeom>
          <a:solidFill>
            <a:srgbClr val="1F85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dirty="0">
              <a:solidFill>
                <a:schemeClr val="lt1"/>
              </a:solidFill>
              <a:latin typeface="Calibri"/>
              <a:ea typeface="Calibri"/>
              <a:cs typeface="Calibri"/>
              <a:sym typeface="Calibri"/>
            </a:endParaRPr>
          </a:p>
        </p:txBody>
      </p:sp>
      <p:sp>
        <p:nvSpPr>
          <p:cNvPr id="352" name="Google Shape;352;p34"/>
          <p:cNvSpPr/>
          <p:nvPr/>
        </p:nvSpPr>
        <p:spPr>
          <a:xfrm>
            <a:off x="1276149" y="788890"/>
            <a:ext cx="7204492" cy="349322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lt1"/>
              </a:buClr>
              <a:buSzPts val="1700"/>
              <a:buFont typeface="Arial"/>
              <a:buChar char="•"/>
            </a:pPr>
            <a:r>
              <a:rPr lang="es-ES" sz="1700" b="0" i="0" u="none" strike="noStrike" cap="none" dirty="0">
                <a:solidFill>
                  <a:schemeClr val="lt1"/>
                </a:solidFill>
                <a:latin typeface="Calibri"/>
                <a:ea typeface="Calibri"/>
                <a:cs typeface="Calibri"/>
                <a:sym typeface="Calibri"/>
              </a:rPr>
              <a:t>Un diagrama de clases </a:t>
            </a:r>
            <a:r>
              <a:rPr lang="es-ES" sz="1700" b="0" i="0" u="none" strike="noStrike" cap="none" dirty="0" err="1">
                <a:solidFill>
                  <a:schemeClr val="lt1"/>
                </a:solidFill>
                <a:latin typeface="Calibri"/>
                <a:ea typeface="Calibri"/>
                <a:cs typeface="Calibri"/>
                <a:sym typeface="Calibri"/>
              </a:rPr>
              <a:t>UML</a:t>
            </a:r>
            <a:r>
              <a:rPr lang="es-ES" sz="1700" b="0" i="0" u="none" strike="noStrike" cap="none" dirty="0">
                <a:solidFill>
                  <a:schemeClr val="lt1"/>
                </a:solidFill>
                <a:latin typeface="Calibri"/>
                <a:ea typeface="Calibri"/>
                <a:cs typeface="Calibri"/>
                <a:sym typeface="Calibri"/>
              </a:rPr>
              <a:t> actúa como un mapa detallado del sistema, mostrando las clases, atributos, métodos y relaciones. Es una herramienta indispensable tanto en la fase de diseño como en la de desarrollo.</a:t>
            </a:r>
            <a:endParaRPr sz="1400" b="0" i="0" u="none" strike="noStrike" cap="none" dirty="0">
              <a:solidFill>
                <a:srgbClr val="000000"/>
              </a:solidFill>
              <a:latin typeface="Arial"/>
              <a:ea typeface="Arial"/>
              <a:cs typeface="Arial"/>
              <a:sym typeface="Arial"/>
            </a:endParaRPr>
          </a:p>
          <a:p>
            <a:pPr marL="285750" marR="0" lvl="0" indent="-177800" algn="l" rtl="0">
              <a:lnSpc>
                <a:spcPct val="100000"/>
              </a:lnSpc>
              <a:spcBef>
                <a:spcPts val="0"/>
              </a:spcBef>
              <a:spcAft>
                <a:spcPts val="0"/>
              </a:spcAft>
              <a:buClr>
                <a:schemeClr val="dk1"/>
              </a:buClr>
              <a:buSzPts val="1700"/>
              <a:buFont typeface="Arial"/>
              <a:buNone/>
            </a:pPr>
            <a:endParaRPr sz="1700" b="0" i="0" u="none" strike="noStrike" cap="none" dirty="0">
              <a:solidFill>
                <a:schemeClr val="lt1"/>
              </a:solidFill>
              <a:latin typeface="Calibri"/>
              <a:ea typeface="Calibri"/>
              <a:cs typeface="Calibri"/>
              <a:sym typeface="Calibri"/>
            </a:endParaRPr>
          </a:p>
          <a:p>
            <a:pPr marL="285750" marR="0" lvl="0" indent="-285750" algn="l" rtl="0">
              <a:lnSpc>
                <a:spcPct val="100000"/>
              </a:lnSpc>
              <a:spcBef>
                <a:spcPts val="0"/>
              </a:spcBef>
              <a:spcAft>
                <a:spcPts val="0"/>
              </a:spcAft>
              <a:buClr>
                <a:schemeClr val="lt1"/>
              </a:buClr>
              <a:buSzPts val="1700"/>
              <a:buFont typeface="Arial"/>
              <a:buChar char="•"/>
            </a:pPr>
            <a:r>
              <a:rPr lang="es-ES" sz="1700" b="0" i="0" u="none" strike="noStrike" cap="none" dirty="0">
                <a:solidFill>
                  <a:schemeClr val="lt1"/>
                </a:solidFill>
                <a:latin typeface="Calibri"/>
                <a:ea typeface="Calibri"/>
                <a:cs typeface="Calibri"/>
                <a:sym typeface="Calibri"/>
              </a:rPr>
              <a:t>Los diagramas de clases son útiles en múltiples etapas del ciclo de vida del desarrollo de software, desde la fase de análisis de requisitos hasta la documentación y el mantenimiento. Benefician a una variedad de roles, incluidos desarrolladores, analistas y gerentes de proyecto.</a:t>
            </a:r>
            <a:endParaRPr sz="1400" b="0" i="0" u="none" strike="noStrike" cap="none" dirty="0">
              <a:solidFill>
                <a:srgbClr val="000000"/>
              </a:solidFill>
              <a:latin typeface="Arial"/>
              <a:ea typeface="Arial"/>
              <a:cs typeface="Arial"/>
              <a:sym typeface="Arial"/>
            </a:endParaRPr>
          </a:p>
          <a:p>
            <a:pPr marL="285750" marR="0" lvl="0" indent="-177800" algn="l" rtl="0">
              <a:lnSpc>
                <a:spcPct val="100000"/>
              </a:lnSpc>
              <a:spcBef>
                <a:spcPts val="0"/>
              </a:spcBef>
              <a:spcAft>
                <a:spcPts val="0"/>
              </a:spcAft>
              <a:buClr>
                <a:schemeClr val="dk1"/>
              </a:buClr>
              <a:buSzPts val="1700"/>
              <a:buFont typeface="Arial"/>
              <a:buNone/>
            </a:pPr>
            <a:endParaRPr sz="1700" b="0" i="0" u="none" strike="noStrike" cap="none" dirty="0">
              <a:solidFill>
                <a:schemeClr val="lt1"/>
              </a:solidFill>
              <a:latin typeface="Calibri"/>
              <a:ea typeface="Calibri"/>
              <a:cs typeface="Calibri"/>
              <a:sym typeface="Calibri"/>
            </a:endParaRPr>
          </a:p>
          <a:p>
            <a:pPr marL="285750" marR="0" lvl="0" indent="-285750" algn="l" rtl="0">
              <a:lnSpc>
                <a:spcPct val="100000"/>
              </a:lnSpc>
              <a:spcBef>
                <a:spcPts val="0"/>
              </a:spcBef>
              <a:spcAft>
                <a:spcPts val="0"/>
              </a:spcAft>
              <a:buClr>
                <a:schemeClr val="lt1"/>
              </a:buClr>
              <a:buSzPts val="1700"/>
              <a:buFont typeface="Arial"/>
              <a:buChar char="•"/>
            </a:pPr>
            <a:r>
              <a:rPr lang="es-ES" sz="1700" b="0" i="0" u="none" strike="noStrike" cap="none" dirty="0">
                <a:solidFill>
                  <a:schemeClr val="lt1"/>
                </a:solidFill>
                <a:latin typeface="Calibri"/>
                <a:ea typeface="Calibri"/>
                <a:cs typeface="Calibri"/>
                <a:sym typeface="Calibri"/>
              </a:rPr>
              <a:t>Más allá de su utilidad en el diseño y desarrollo, los diagramas de clases son excelentes para la comunicación dentro del equipo y con los </a:t>
            </a:r>
            <a:r>
              <a:rPr lang="es-ES" sz="1700" b="0" i="0" u="none" strike="noStrike" cap="none" dirty="0" err="1">
                <a:solidFill>
                  <a:schemeClr val="lt1"/>
                </a:solidFill>
                <a:latin typeface="Calibri"/>
                <a:ea typeface="Calibri"/>
                <a:cs typeface="Calibri"/>
                <a:sym typeface="Calibri"/>
              </a:rPr>
              <a:t>stakeholders</a:t>
            </a:r>
            <a:r>
              <a:rPr lang="es-ES" sz="1700" b="0" i="0" u="none" strike="noStrike" cap="none" dirty="0">
                <a:solidFill>
                  <a:schemeClr val="lt1"/>
                </a:solidFill>
                <a:latin typeface="Calibri"/>
                <a:ea typeface="Calibri"/>
                <a:cs typeface="Calibri"/>
                <a:sym typeface="Calibri"/>
              </a:rPr>
              <a:t>. También sirven como una forma de documentación que es tanto comprensible como fácil de mantener.</a:t>
            </a:r>
            <a:endParaRPr sz="1400" b="0" i="0" u="none" strike="noStrike" cap="none" dirty="0">
              <a:solidFill>
                <a:srgbClr val="000000"/>
              </a:solidFill>
              <a:latin typeface="Arial"/>
              <a:ea typeface="Arial"/>
              <a:cs typeface="Arial"/>
              <a:sym typeface="Arial"/>
            </a:endParaRPr>
          </a:p>
        </p:txBody>
      </p:sp>
      <p:sp>
        <p:nvSpPr>
          <p:cNvPr id="353" name="Google Shape;353;p34"/>
          <p:cNvSpPr/>
          <p:nvPr/>
        </p:nvSpPr>
        <p:spPr>
          <a:xfrm>
            <a:off x="407875" y="320830"/>
            <a:ext cx="72044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s-ES" sz="1700" b="0" i="0" u="none" strike="noStrike" cap="none">
                <a:solidFill>
                  <a:schemeClr val="lt1"/>
                </a:solidFill>
                <a:latin typeface="Calibri"/>
                <a:ea typeface="Calibri"/>
                <a:cs typeface="Calibri"/>
                <a:sym typeface="Calibri"/>
              </a:rPr>
              <a:t>/ CONCLUSIONES</a:t>
            </a: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5"/>
          <p:cNvSpPr txBox="1"/>
          <p:nvPr/>
        </p:nvSpPr>
        <p:spPr>
          <a:xfrm>
            <a:off x="478510" y="716544"/>
            <a:ext cx="8301695" cy="444173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a:solidFill>
                  <a:schemeClr val="dk1"/>
                </a:solidFill>
                <a:latin typeface="Calibri"/>
                <a:ea typeface="Calibri"/>
                <a:cs typeface="Calibri"/>
                <a:sym typeface="Calibri"/>
              </a:rPr>
              <a:t>Dennis, A., </a:t>
            </a:r>
            <a:r>
              <a:rPr lang="es-ES" sz="1600" b="0" i="0" u="none" strike="noStrike" cap="none" dirty="0" err="1">
                <a:solidFill>
                  <a:schemeClr val="dk1"/>
                </a:solidFill>
                <a:latin typeface="Calibri"/>
                <a:ea typeface="Calibri"/>
                <a:cs typeface="Calibri"/>
                <a:sym typeface="Calibri"/>
              </a:rPr>
              <a:t>Wixom</a:t>
            </a:r>
            <a:r>
              <a:rPr lang="es-ES" sz="1600" b="0" i="0" u="none" strike="noStrike" cap="none" dirty="0">
                <a:solidFill>
                  <a:schemeClr val="dk1"/>
                </a:solidFill>
                <a:latin typeface="Calibri"/>
                <a:ea typeface="Calibri"/>
                <a:cs typeface="Calibri"/>
                <a:sym typeface="Calibri"/>
              </a:rPr>
              <a:t>, B. H., &amp; </a:t>
            </a:r>
            <a:r>
              <a:rPr lang="es-ES" sz="1600" b="0" i="0" u="none" strike="noStrike" cap="none" dirty="0" err="1">
                <a:solidFill>
                  <a:schemeClr val="dk1"/>
                </a:solidFill>
                <a:latin typeface="Calibri"/>
                <a:ea typeface="Calibri"/>
                <a:cs typeface="Calibri"/>
                <a:sym typeface="Calibri"/>
              </a:rPr>
              <a:t>Tegarden</a:t>
            </a:r>
            <a:r>
              <a:rPr lang="es-ES" sz="1600" b="0" i="0" u="none" strike="noStrike" cap="none" dirty="0">
                <a:solidFill>
                  <a:schemeClr val="dk1"/>
                </a:solidFill>
                <a:latin typeface="Calibri"/>
                <a:ea typeface="Calibri"/>
                <a:cs typeface="Calibri"/>
                <a:sym typeface="Calibri"/>
              </a:rPr>
              <a:t>, D. (2015). </a:t>
            </a:r>
            <a:r>
              <a:rPr lang="es-ES" sz="1600" b="0" i="0" u="none" strike="noStrike" cap="none" dirty="0" err="1">
                <a:solidFill>
                  <a:schemeClr val="dk1"/>
                </a:solidFill>
                <a:latin typeface="Calibri"/>
                <a:ea typeface="Calibri"/>
                <a:cs typeface="Calibri"/>
                <a:sym typeface="Calibri"/>
              </a:rPr>
              <a:t>Systems</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Analysis</a:t>
            </a:r>
            <a:r>
              <a:rPr lang="es-ES" sz="1600" b="0" i="0" u="none" strike="noStrike" cap="none" dirty="0">
                <a:solidFill>
                  <a:schemeClr val="dk1"/>
                </a:solidFill>
                <a:latin typeface="Calibri"/>
                <a:ea typeface="Calibri"/>
                <a:cs typeface="Calibri"/>
                <a:sym typeface="Calibri"/>
              </a:rPr>
              <a:t> and </a:t>
            </a:r>
            <a:r>
              <a:rPr lang="es-ES" sz="1600" b="0" i="0" u="none" strike="noStrike" cap="none" dirty="0" err="1">
                <a:solidFill>
                  <a:schemeClr val="dk1"/>
                </a:solidFill>
                <a:latin typeface="Calibri"/>
                <a:ea typeface="Calibri"/>
                <a:cs typeface="Calibri"/>
                <a:sym typeface="Calibri"/>
              </a:rPr>
              <a:t>Design</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An</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Object-Oriented</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Approach</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with</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UML</a:t>
            </a:r>
            <a:r>
              <a:rPr lang="es-ES" sz="1600" b="0" i="0" u="none" strike="noStrike" cap="none" dirty="0">
                <a:solidFill>
                  <a:schemeClr val="dk1"/>
                </a:solidFill>
                <a:latin typeface="Calibri"/>
                <a:ea typeface="Calibri"/>
                <a:cs typeface="Calibri"/>
                <a:sym typeface="Calibri"/>
              </a:rPr>
              <a:t>. Wiley.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ES" sz="1600" b="0" i="0" u="none" strike="noStrike" cap="none" dirty="0" err="1">
                <a:solidFill>
                  <a:schemeClr val="dk1"/>
                </a:solidFill>
                <a:latin typeface="Calibri"/>
                <a:ea typeface="Calibri"/>
                <a:cs typeface="Calibri"/>
                <a:sym typeface="Calibri"/>
              </a:rPr>
              <a:t>Fowler</a:t>
            </a:r>
            <a:r>
              <a:rPr lang="es-ES" sz="1600" b="0" i="0" u="none" strike="noStrike" cap="none" dirty="0">
                <a:solidFill>
                  <a:schemeClr val="dk1"/>
                </a:solidFill>
                <a:latin typeface="Calibri"/>
                <a:ea typeface="Calibri"/>
                <a:cs typeface="Calibri"/>
                <a:sym typeface="Calibri"/>
              </a:rPr>
              <a:t>, M. (2004). </a:t>
            </a:r>
            <a:r>
              <a:rPr lang="es-ES" sz="1600" b="0" i="0" u="none" strike="noStrike" cap="none" dirty="0" err="1">
                <a:solidFill>
                  <a:schemeClr val="dk1"/>
                </a:solidFill>
                <a:latin typeface="Calibri"/>
                <a:ea typeface="Calibri"/>
                <a:cs typeface="Calibri"/>
                <a:sym typeface="Calibri"/>
              </a:rPr>
              <a:t>UML</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Distilled</a:t>
            </a:r>
            <a:r>
              <a:rPr lang="es-ES" sz="1600" b="0" i="0" u="none" strike="noStrike" cap="none" dirty="0">
                <a:solidFill>
                  <a:schemeClr val="dk1"/>
                </a:solidFill>
                <a:latin typeface="Calibri"/>
                <a:ea typeface="Calibri"/>
                <a:cs typeface="Calibri"/>
                <a:sym typeface="Calibri"/>
              </a:rPr>
              <a:t>: A </a:t>
            </a:r>
            <a:r>
              <a:rPr lang="es-ES" sz="1600" b="0" i="0" u="none" strike="noStrike" cap="none" dirty="0" err="1">
                <a:solidFill>
                  <a:schemeClr val="dk1"/>
                </a:solidFill>
                <a:latin typeface="Calibri"/>
                <a:ea typeface="Calibri"/>
                <a:cs typeface="Calibri"/>
                <a:sym typeface="Calibri"/>
              </a:rPr>
              <a:t>Brief</a:t>
            </a:r>
            <a:r>
              <a:rPr lang="es-ES" sz="1600" b="0" i="0" u="none" strike="noStrike" cap="none" dirty="0">
                <a:solidFill>
                  <a:schemeClr val="dk1"/>
                </a:solidFill>
                <a:latin typeface="Calibri"/>
                <a:ea typeface="Calibri"/>
                <a:cs typeface="Calibri"/>
                <a:sym typeface="Calibri"/>
              </a:rPr>
              <a:t> Guide </a:t>
            </a:r>
            <a:r>
              <a:rPr lang="es-ES" sz="1600" b="0" i="0" u="none" strike="noStrike" cap="none" dirty="0" err="1">
                <a:solidFill>
                  <a:schemeClr val="dk1"/>
                </a:solidFill>
                <a:latin typeface="Calibri"/>
                <a:ea typeface="Calibri"/>
                <a:cs typeface="Calibri"/>
                <a:sym typeface="Calibri"/>
              </a:rPr>
              <a:t>to</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the</a:t>
            </a:r>
            <a:r>
              <a:rPr lang="es-ES" sz="1600" b="0" i="0" u="none" strike="noStrike" cap="none" dirty="0">
                <a:solidFill>
                  <a:schemeClr val="dk1"/>
                </a:solidFill>
                <a:latin typeface="Calibri"/>
                <a:ea typeface="Calibri"/>
                <a:cs typeface="Calibri"/>
                <a:sym typeface="Calibri"/>
              </a:rPr>
              <a:t> Standard </a:t>
            </a:r>
            <a:r>
              <a:rPr lang="es-ES" sz="1600" b="0" i="0" u="none" strike="noStrike" cap="none" dirty="0" err="1">
                <a:solidFill>
                  <a:schemeClr val="dk1"/>
                </a:solidFill>
                <a:latin typeface="Calibri"/>
                <a:ea typeface="Calibri"/>
                <a:cs typeface="Calibri"/>
                <a:sym typeface="Calibri"/>
              </a:rPr>
              <a:t>Object</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Modeling</a:t>
            </a:r>
            <a:r>
              <a:rPr lang="es-ES" sz="1600" b="0" i="0" u="none" strike="noStrike" cap="none" dirty="0">
                <a:solidFill>
                  <a:schemeClr val="dk1"/>
                </a:solidFill>
                <a:latin typeface="Calibri"/>
                <a:ea typeface="Calibri"/>
                <a:cs typeface="Calibri"/>
                <a:sym typeface="Calibri"/>
              </a:rPr>
              <a:t> </a:t>
            </a:r>
            <a:r>
              <a:rPr lang="es-ES" sz="1600" b="0" i="0" u="none" strike="noStrike" cap="none" dirty="0" err="1">
                <a:solidFill>
                  <a:schemeClr val="dk1"/>
                </a:solidFill>
                <a:latin typeface="Calibri"/>
                <a:ea typeface="Calibri"/>
                <a:cs typeface="Calibri"/>
                <a:sym typeface="Calibri"/>
              </a:rPr>
              <a:t>Language</a:t>
            </a:r>
            <a:r>
              <a:rPr lang="es-ES" sz="1600" b="0" i="0" u="none" strike="noStrike" cap="none" dirty="0">
                <a:solidFill>
                  <a:schemeClr val="dk1"/>
                </a:solidFill>
                <a:latin typeface="Calibri"/>
                <a:ea typeface="Calibri"/>
                <a:cs typeface="Calibri"/>
                <a:sym typeface="Calibri"/>
              </a:rPr>
              <a:t> (3rd ed.). Addison-Wesley.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alibri"/>
              <a:ea typeface="Calibri"/>
              <a:cs typeface="Calibri"/>
              <a:sym typeface="Calibri"/>
            </a:endParaRPr>
          </a:p>
          <a:p>
            <a:pPr>
              <a:buSzPts val="1600"/>
            </a:pPr>
            <a:r>
              <a:rPr lang="es-ES" sz="1600" dirty="0">
                <a:solidFill>
                  <a:schemeClr val="dk1"/>
                </a:solidFill>
                <a:latin typeface="Calibri"/>
                <a:cs typeface="Calibri"/>
                <a:sym typeface="Calibri"/>
              </a:rPr>
              <a:t>IBM, </a:t>
            </a:r>
            <a:r>
              <a:rPr lang="es-ES" sz="1600" dirty="0" err="1">
                <a:solidFill>
                  <a:schemeClr val="dk1"/>
                </a:solidFill>
                <a:latin typeface="Calibri"/>
                <a:cs typeface="Calibri"/>
                <a:sym typeface="Calibri"/>
              </a:rPr>
              <a:t>Introduction</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to</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the</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Unified</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Modeling</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Language</a:t>
            </a:r>
            <a:r>
              <a:rPr lang="es-ES" sz="1600" dirty="0">
                <a:solidFill>
                  <a:schemeClr val="dk1"/>
                </a:solidFill>
                <a:latin typeface="Calibri"/>
                <a:cs typeface="Calibri"/>
                <a:sym typeface="Calibri"/>
              </a:rPr>
              <a:t>.</a:t>
            </a:r>
            <a:endParaRPr lang="es-ES" sz="1600" dirty="0">
              <a:solidFill>
                <a:schemeClr val="dk1"/>
              </a:solidFill>
              <a:latin typeface="Calibri"/>
              <a:cs typeface="Calibri"/>
            </a:endParaRPr>
          </a:p>
          <a:p>
            <a:pPr indent="457200">
              <a:buSzPts val="1600"/>
            </a:pPr>
            <a:r>
              <a:rPr lang="es-ES" sz="1600" dirty="0">
                <a:solidFill>
                  <a:schemeClr val="dk1"/>
                </a:solidFill>
                <a:latin typeface="Calibri"/>
                <a:cs typeface="Calibri"/>
                <a:sym typeface="Calibri"/>
                <a:hlinkClick r:id="rId3">
                  <a:extLst>
                    <a:ext uri="{A12FA001-AC4F-418D-AE19-62706E023703}">
                      <ahyp:hlinkClr xmlns:ahyp="http://schemas.microsoft.com/office/drawing/2018/hyperlinkcolor" val="tx"/>
                    </a:ext>
                  </a:extLst>
                </a:hlinkClick>
              </a:rPr>
              <a:t>https://developer.ibm.com/technologies/object-oriented-programming/articles/uml-basics-an-introduction-to-the-unified-modeling-language/</a:t>
            </a:r>
            <a:endParaRPr sz="1600" dirty="0">
              <a:solidFill>
                <a:schemeClr val="dk1"/>
              </a:solidFill>
              <a:latin typeface="Calibri"/>
              <a:cs typeface="Calibri"/>
              <a:sym typeface="Calibri"/>
            </a:endParaRPr>
          </a:p>
          <a:p>
            <a:pPr indent="457200">
              <a:buSzPts val="1600"/>
            </a:pPr>
            <a:endParaRPr sz="1600" dirty="0">
              <a:solidFill>
                <a:schemeClr val="dk1"/>
              </a:solidFill>
              <a:latin typeface="Calibri"/>
              <a:cs typeface="Calibri"/>
              <a:sym typeface="Calibri"/>
            </a:endParaRPr>
          </a:p>
          <a:p>
            <a:pPr>
              <a:buSzPts val="1600"/>
            </a:pPr>
            <a:r>
              <a:rPr lang="es-ES" sz="1600" dirty="0" err="1">
                <a:solidFill>
                  <a:schemeClr val="dk1"/>
                </a:solidFill>
                <a:latin typeface="Calibri"/>
                <a:cs typeface="Calibri"/>
                <a:sym typeface="Calibri"/>
              </a:rPr>
              <a:t>UML</a:t>
            </a:r>
            <a:r>
              <a:rPr lang="es-ES" sz="1600" dirty="0">
                <a:solidFill>
                  <a:schemeClr val="dk1"/>
                </a:solidFill>
                <a:latin typeface="Calibri"/>
                <a:cs typeface="Calibri"/>
                <a:sym typeface="Calibri"/>
              </a:rPr>
              <a:t> Tutorial: </a:t>
            </a:r>
            <a:r>
              <a:rPr lang="es-ES" sz="1600" dirty="0" err="1">
                <a:solidFill>
                  <a:schemeClr val="dk1"/>
                </a:solidFill>
                <a:latin typeface="Calibri"/>
                <a:cs typeface="Calibri"/>
                <a:sym typeface="Calibri"/>
              </a:rPr>
              <a:t>Class</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Diagrams</a:t>
            </a:r>
            <a:r>
              <a:rPr lang="es-ES" sz="1600" dirty="0">
                <a:solidFill>
                  <a:schemeClr val="dk1"/>
                </a:solidFill>
                <a:latin typeface="Calibri"/>
                <a:cs typeface="Calibri"/>
                <a:sym typeface="Calibri"/>
              </a:rPr>
              <a:t>.</a:t>
            </a:r>
            <a:r>
              <a:rPr lang="es-ES" sz="1600" dirty="0">
                <a:solidFill>
                  <a:schemeClr val="dk1"/>
                </a:solidFill>
                <a:latin typeface="Calibri"/>
                <a:cs typeface="Calibri"/>
              </a:rPr>
              <a:t> </a:t>
            </a:r>
          </a:p>
          <a:p>
            <a:pPr indent="457200">
              <a:buSzPts val="1600"/>
            </a:pPr>
            <a:r>
              <a:rPr lang="es-ES" sz="1600" dirty="0">
                <a:solidFill>
                  <a:schemeClr val="dk1"/>
                </a:solidFill>
                <a:latin typeface="Calibri"/>
                <a:cs typeface="Calibri"/>
                <a:sym typeface="Calibri"/>
                <a:hlinkClick r:id="rId4">
                  <a:extLst>
                    <a:ext uri="{A12FA001-AC4F-418D-AE19-62706E023703}">
                      <ahyp:hlinkClr xmlns:ahyp="http://schemas.microsoft.com/office/drawing/2018/hyperlinkcolor" val="tx"/>
                    </a:ext>
                  </a:extLst>
                </a:hlinkClick>
              </a:rPr>
              <a:t>https://www.visual-paradigm.com/guide/uml-unified-modeling-language/uml-class-diagram-tutorial/</a:t>
            </a:r>
            <a:endParaRPr sz="1600" dirty="0">
              <a:solidFill>
                <a:schemeClr val="dk1"/>
              </a:solidFill>
              <a:latin typeface="Calibri"/>
              <a:cs typeface="Calibri"/>
              <a:sym typeface="Calibri"/>
            </a:endParaRPr>
          </a:p>
          <a:p>
            <a:pPr>
              <a:buSzPts val="1600"/>
            </a:pPr>
            <a:endParaRPr sz="1600" dirty="0">
              <a:solidFill>
                <a:schemeClr val="dk1"/>
              </a:solidFill>
              <a:latin typeface="Calibri"/>
              <a:cs typeface="Calibri"/>
              <a:sym typeface="Calibri"/>
            </a:endParaRPr>
          </a:p>
          <a:p>
            <a:pPr>
              <a:buSzPts val="1600"/>
            </a:pPr>
            <a:r>
              <a:rPr lang="es-ES" sz="1600" dirty="0" err="1">
                <a:solidFill>
                  <a:schemeClr val="dk1"/>
                </a:solidFill>
                <a:latin typeface="Calibri"/>
                <a:cs typeface="Calibri"/>
                <a:sym typeface="Calibri"/>
              </a:rPr>
              <a:t>UML</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Class</a:t>
            </a:r>
            <a:r>
              <a:rPr lang="es-ES" sz="1600" dirty="0">
                <a:solidFill>
                  <a:schemeClr val="dk1"/>
                </a:solidFill>
                <a:latin typeface="Calibri"/>
                <a:cs typeface="Calibri"/>
                <a:sym typeface="Calibri"/>
              </a:rPr>
              <a:t> </a:t>
            </a:r>
            <a:r>
              <a:rPr lang="es-ES" sz="1600" dirty="0" err="1">
                <a:solidFill>
                  <a:schemeClr val="dk1"/>
                </a:solidFill>
                <a:latin typeface="Calibri"/>
                <a:cs typeface="Calibri"/>
                <a:sym typeface="Calibri"/>
              </a:rPr>
              <a:t>Diagram</a:t>
            </a:r>
            <a:r>
              <a:rPr lang="es-ES" sz="1600" dirty="0">
                <a:solidFill>
                  <a:schemeClr val="dk1"/>
                </a:solidFill>
                <a:latin typeface="Calibri"/>
                <a:cs typeface="Calibri"/>
                <a:sym typeface="Calibri"/>
              </a:rPr>
              <a:t> Tutorial.</a:t>
            </a:r>
            <a:endParaRPr lang="es-ES" sz="1600" dirty="0">
              <a:solidFill>
                <a:schemeClr val="dk1"/>
              </a:solidFill>
              <a:latin typeface="Calibri"/>
              <a:cs typeface="Calibri"/>
            </a:endParaRPr>
          </a:p>
          <a:p>
            <a:pPr indent="457200">
              <a:buSzPts val="1600"/>
            </a:pPr>
            <a:r>
              <a:rPr lang="es-ES" sz="1600" dirty="0">
                <a:solidFill>
                  <a:schemeClr val="dk1"/>
                </a:solidFill>
                <a:latin typeface="Calibri"/>
                <a:cs typeface="Calibri"/>
                <a:sym typeface="Calibri"/>
                <a:hlinkClick r:id="rId5">
                  <a:extLst>
                    <a:ext uri="{A12FA001-AC4F-418D-AE19-62706E023703}">
                      <ahyp:hlinkClr xmlns:ahyp="http://schemas.microsoft.com/office/drawing/2018/hyperlinkcolor" val="tx"/>
                    </a:ext>
                  </a:extLst>
                </a:hlinkClick>
              </a:rPr>
              <a:t>https://www.lucidchart.com/pages/uml-class-diagram</a:t>
            </a:r>
            <a:endParaRPr sz="1600" dirty="0">
              <a:solidFill>
                <a:schemeClr val="dk1"/>
              </a:solidFill>
              <a:latin typeface="Calibri"/>
              <a:cs typeface="Calibri"/>
              <a:sym typeface="Calibri"/>
            </a:endParaRPr>
          </a:p>
          <a:p>
            <a:pPr marL="265113" marR="0" lvl="0" indent="0" algn="l" rtl="0">
              <a:lnSpc>
                <a:spcPct val="100000"/>
              </a:lnSpc>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a:p>
            <a:pPr marL="269875" marR="0" lvl="0" indent="0" algn="l" rtl="0">
              <a:lnSpc>
                <a:spcPct val="100000"/>
              </a:lnSpc>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a:p>
            <a:pPr marL="174625" marR="0" lvl="0" indent="-73025"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p:txBody>
      </p:sp>
      <p:sp>
        <p:nvSpPr>
          <p:cNvPr id="360" name="Google Shape;360;p35"/>
          <p:cNvSpPr/>
          <p:nvPr/>
        </p:nvSpPr>
        <p:spPr>
          <a:xfrm>
            <a:off x="407875" y="320830"/>
            <a:ext cx="7204493"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38AD7"/>
              </a:buClr>
              <a:buSzPts val="1700"/>
              <a:buFont typeface="Calibri"/>
              <a:buNone/>
            </a:pPr>
            <a:r>
              <a:rPr lang="es-ES" sz="1700" b="0" i="0" u="none" strike="noStrike" cap="none">
                <a:solidFill>
                  <a:srgbClr val="438AD7"/>
                </a:solidFill>
                <a:latin typeface="Calibri"/>
                <a:ea typeface="Calibri"/>
                <a:cs typeface="Calibri"/>
                <a:sym typeface="Calibri"/>
              </a:rPr>
              <a:t>/ BIBLIOGRAFÍA</a:t>
            </a:r>
            <a:endParaRPr sz="1800" b="0" i="0" u="none" strike="noStrike" cap="none">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2969</Words>
  <Application>Microsoft Office PowerPoint</Application>
  <PresentationFormat>Presentación en pantalla (16:10)</PresentationFormat>
  <Paragraphs>247</Paragraphs>
  <Slides>35</Slides>
  <Notes>35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35</vt:i4>
      </vt:variant>
    </vt:vector>
  </HeadingPairs>
  <TitlesOfParts>
    <vt:vector size="40" baseType="lpstr">
      <vt:lpstr>Arial</vt:lpstr>
      <vt:lpstr>Calibri</vt:lpstr>
      <vt:lpstr>Delius</vt:lpstr>
      <vt:lpstr>Noto Sans Symbols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Arturo Vargas León</cp:lastModifiedBy>
  <cp:revision>5</cp:revision>
  <dcterms:created xsi:type="dcterms:W3CDTF">2016-10-06T14:52:02Z</dcterms:created>
  <dcterms:modified xsi:type="dcterms:W3CDTF">2024-01-29T17:22:05Z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