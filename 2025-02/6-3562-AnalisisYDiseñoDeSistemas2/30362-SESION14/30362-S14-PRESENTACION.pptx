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46" roundtripDataSignature="AMtx7miotWx136sEp4WNRmrXO7o+PbvS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lnSpc>
                <a:spcPct val="100000"/>
              </a:lnSpc>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1" name="Google Shape;101;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0" name="Google Shape;110;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9" name="Google Shape;119;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8" name="Google Shape;128;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7" name="Google Shape;137;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46" name="Google Shape;146;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53" name="Google Shape;153;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2" name="Google Shape;162;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1" name="Google Shape;171;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0" name="Google Shape;180;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8" name="Google Shape;188;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6" name="Google Shape;196;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6" name="Google Shape;206;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16" name="Google Shape;216;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3" name="Google Shape;223;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32" name="Google Shape;232;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1" name="Google Shape;241;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9" name="Google Shape;249;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7" name="Google Shape;257;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7" name="Google Shape;267;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8" name="Google Shape;268;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lnSpc>
                <a:spcPct val="100000"/>
              </a:lnSpc>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79" name="Google Shape;279;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6" name="Google Shape;286;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5" name="Google Shape;295;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4" name="Google Shape;304;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3" name="Google Shape;313;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2" name="Google Shape;322;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1" name="Google Shape;331;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0" name="Google Shape;340;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9" name="Google Shape;349;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7" name="Google Shape;357;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58" name="Google Shape;358;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7" name="Google Shape;367;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3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76" name="Google Shape;376;p3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3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85" name="Google Shape;385;p3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394" name="Google Shape;394;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4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lnSpc>
                <a:spcPct val="100000"/>
              </a:lnSpc>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402" name="Google Shape;402;p4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43"/>
          <p:cNvSpPr/>
          <p:nvPr>
            <p:ph idx="2" type="pic"/>
          </p:nvPr>
        </p:nvSpPr>
        <p:spPr>
          <a:xfrm>
            <a:off x="475687" y="2877477"/>
            <a:ext cx="8207375" cy="2394000"/>
          </a:xfrm>
          <a:prstGeom prst="rect">
            <a:avLst/>
          </a:prstGeom>
          <a:noFill/>
          <a:ln>
            <a:noFill/>
          </a:ln>
        </p:spPr>
      </p:sp>
      <p:sp>
        <p:nvSpPr>
          <p:cNvPr id="17" name="Google Shape;17;p43"/>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43"/>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43"/>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21" name="Shape 21"/>
        <p:cNvGrpSpPr/>
        <p:nvPr/>
      </p:nvGrpSpPr>
      <p:grpSpPr>
        <a:xfrm>
          <a:off x="0" y="0"/>
          <a:ext cx="0" cy="0"/>
          <a:chOff x="0" y="0"/>
          <a:chExt cx="0" cy="0"/>
        </a:xfrm>
      </p:grpSpPr>
      <p:sp>
        <p:nvSpPr>
          <p:cNvPr id="22" name="Google Shape;22;p45"/>
          <p:cNvSpPr/>
          <p:nvPr>
            <p:ph idx="2" type="pic"/>
          </p:nvPr>
        </p:nvSpPr>
        <p:spPr>
          <a:xfrm>
            <a:off x="4572000" y="804863"/>
            <a:ext cx="4103688" cy="4463362"/>
          </a:xfrm>
          <a:prstGeom prst="rect">
            <a:avLst/>
          </a:prstGeom>
          <a:noFill/>
          <a:ln>
            <a:noFill/>
          </a:ln>
        </p:spPr>
      </p:sp>
      <p:sp>
        <p:nvSpPr>
          <p:cNvPr id="23" name="Google Shape;23;p4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4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45"/>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6" name="Shape 26"/>
        <p:cNvGrpSpPr/>
        <p:nvPr/>
      </p:nvGrpSpPr>
      <p:grpSpPr>
        <a:xfrm>
          <a:off x="0" y="0"/>
          <a:ext cx="0" cy="0"/>
          <a:chOff x="0" y="0"/>
          <a:chExt cx="0" cy="0"/>
        </a:xfrm>
      </p:grpSpPr>
      <p:sp>
        <p:nvSpPr>
          <p:cNvPr id="27" name="Google Shape;27;p46"/>
          <p:cNvSpPr/>
          <p:nvPr>
            <p:ph idx="2" type="pic"/>
          </p:nvPr>
        </p:nvSpPr>
        <p:spPr>
          <a:xfrm>
            <a:off x="475687" y="2877477"/>
            <a:ext cx="8207375" cy="2394000"/>
          </a:xfrm>
          <a:prstGeom prst="rect">
            <a:avLst/>
          </a:prstGeom>
          <a:noFill/>
          <a:ln>
            <a:noFill/>
          </a:ln>
        </p:spPr>
      </p:sp>
      <p:sp>
        <p:nvSpPr>
          <p:cNvPr id="28" name="Google Shape;28;p4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4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0" name="Google Shape;30;p4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7"/>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47"/>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47"/>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6" name="Shape 36"/>
        <p:cNvGrpSpPr/>
        <p:nvPr/>
      </p:nvGrpSpPr>
      <p:grpSpPr>
        <a:xfrm>
          <a:off x="0" y="0"/>
          <a:ext cx="0" cy="0"/>
          <a:chOff x="0" y="0"/>
          <a:chExt cx="0" cy="0"/>
        </a:xfrm>
      </p:grpSpPr>
      <p:sp>
        <p:nvSpPr>
          <p:cNvPr id="37" name="Google Shape;37;p49"/>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b="0" i="0" sz="1400" u="none" cap="none" strike="noStrike">
              <a:solidFill>
                <a:srgbClr val="000000"/>
              </a:solidFill>
              <a:latin typeface="Arial"/>
              <a:ea typeface="Arial"/>
              <a:cs typeface="Arial"/>
              <a:sym typeface="Arial"/>
            </a:endParaRPr>
          </a:p>
        </p:txBody>
      </p:sp>
      <p:pic>
        <p:nvPicPr>
          <p:cNvPr id="38" name="Google Shape;38;p49"/>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9" name="Google Shape;39;p49"/>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40" name="Shape 40"/>
        <p:cNvGrpSpPr/>
        <p:nvPr/>
      </p:nvGrpSpPr>
      <p:grpSpPr>
        <a:xfrm>
          <a:off x="0" y="0"/>
          <a:ext cx="0" cy="0"/>
          <a:chOff x="0" y="0"/>
          <a:chExt cx="0" cy="0"/>
        </a:xfrm>
      </p:grpSpPr>
      <p:sp>
        <p:nvSpPr>
          <p:cNvPr id="41" name="Google Shape;41;p50"/>
          <p:cNvSpPr/>
          <p:nvPr>
            <p:ph idx="2" type="pic"/>
          </p:nvPr>
        </p:nvSpPr>
        <p:spPr>
          <a:xfrm>
            <a:off x="468313" y="1175705"/>
            <a:ext cx="8207375" cy="4096800"/>
          </a:xfrm>
          <a:prstGeom prst="rect">
            <a:avLst/>
          </a:prstGeom>
          <a:noFill/>
          <a:ln>
            <a:noFill/>
          </a:ln>
        </p:spPr>
      </p:sp>
      <p:sp>
        <p:nvSpPr>
          <p:cNvPr id="42" name="Google Shape;42;p50"/>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5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lnSpc>
                <a:spcPct val="100000"/>
              </a:lnSpc>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51"/>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52"/>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b="0" i="0" sz="1400" u="none" cap="none" strike="noStrike">
              <a:solidFill>
                <a:srgbClr val="000000"/>
              </a:solidFill>
              <a:latin typeface="Arial"/>
              <a:ea typeface="Arial"/>
              <a:cs typeface="Arial"/>
              <a:sym typeface="Arial"/>
            </a:endParaRPr>
          </a:p>
        </p:txBody>
      </p:sp>
      <p:pic>
        <p:nvPicPr>
          <p:cNvPr id="48" name="Google Shape;48;p52"/>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52"/>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53"/>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b="0" i="0" sz="1400" u="none" cap="none" strike="noStrike">
              <a:solidFill>
                <a:srgbClr val="000000"/>
              </a:solidFill>
              <a:latin typeface="Arial"/>
              <a:ea typeface="Arial"/>
              <a:cs typeface="Arial"/>
              <a:sym typeface="Arial"/>
            </a:endParaRPr>
          </a:p>
        </p:txBody>
      </p:sp>
      <p:pic>
        <p:nvPicPr>
          <p:cNvPr id="52" name="Google Shape;52;p53"/>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53"/>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lnSpc>
                <a:spcPct val="100000"/>
              </a:lnSpc>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41"/>
          <p:cNvGrpSpPr/>
          <p:nvPr/>
        </p:nvGrpSpPr>
        <p:grpSpPr>
          <a:xfrm>
            <a:off x="793745" y="5369051"/>
            <a:ext cx="8104595" cy="215444"/>
            <a:chOff x="793745" y="5369051"/>
            <a:chExt cx="7954689" cy="215444"/>
          </a:xfrm>
        </p:grpSpPr>
        <p:sp>
          <p:nvSpPr>
            <p:cNvPr id="11" name="Google Shape;11;p41"/>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
                <a:buFont typeface="Arial"/>
                <a:buNone/>
              </a:pPr>
              <a:r>
                <a:rPr b="0" i="0" lang="es-ES" sz="800" u="none" cap="none" strike="noStrike">
                  <a:solidFill>
                    <a:srgbClr val="7F7F7F"/>
                  </a:solidFill>
                  <a:latin typeface="Calibri"/>
                  <a:ea typeface="Calibri"/>
                  <a:cs typeface="Calibri"/>
                  <a:sym typeface="Calibri"/>
                </a:rPr>
                <a:t>ANÁLISIS Y DISEÑO DE SISTEMAS II  •  SESIÓN 14</a:t>
              </a:r>
              <a:endParaRPr b="0" i="0" sz="800" u="none" cap="none" strike="noStrike">
                <a:solidFill>
                  <a:srgbClr val="7F7F7F"/>
                </a:solidFill>
                <a:latin typeface="Calibri"/>
                <a:ea typeface="Calibri"/>
                <a:cs typeface="Calibri"/>
                <a:sym typeface="Calibri"/>
              </a:endParaRPr>
            </a:p>
          </p:txBody>
        </p:sp>
        <p:sp>
          <p:nvSpPr>
            <p:cNvPr id="12" name="Google Shape;12;p41"/>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600"/>
                <a:buFont typeface="Arial"/>
                <a:buNone/>
              </a:pPr>
              <a:r>
                <a:rPr b="0" i="0" lang="es-ES" sz="600" u="none" cap="none" strike="noStrike">
                  <a:solidFill>
                    <a:srgbClr val="7F7F7F"/>
                  </a:solidFill>
                  <a:latin typeface="Calibri"/>
                  <a:ea typeface="Calibri"/>
                  <a:cs typeface="Calibri"/>
                  <a:sym typeface="Calibri"/>
                </a:rPr>
                <a:t>© 2023 ISIL. Todos los derechos reservados</a:t>
              </a:r>
              <a:endParaRPr b="0" i="0" sz="1400" u="none" cap="none" strike="noStrike">
                <a:solidFill>
                  <a:srgbClr val="000000"/>
                </a:solidFill>
                <a:latin typeface="Arial"/>
                <a:ea typeface="Arial"/>
                <a:cs typeface="Arial"/>
                <a:sym typeface="Arial"/>
              </a:endParaRPr>
            </a:p>
          </p:txBody>
        </p:sp>
      </p:grpSp>
      <p:pic>
        <p:nvPicPr>
          <p:cNvPr id="13" name="Google Shape;13;p41"/>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2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hyperlink" Target="https://developer.ibm.com/articles/the-component-diagram/" TargetMode="External"/><Relationship Id="rId4" Type="http://schemas.openxmlformats.org/officeDocument/2006/relationships/hyperlink" Target="https://www.lucidchart.com/pages/how-to-make-a-uml-diagram" TargetMode="External"/><Relationship Id="rId5" Type="http://schemas.openxmlformats.org/officeDocument/2006/relationships/hyperlink" Target="https://www.visual-paradigm.com/guide/uml-unified-modeling-language/what-is-deployment-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800"/>
              <a:buFont typeface="Calibri"/>
              <a:buNone/>
            </a:pPr>
            <a:r>
              <a:rPr b="0" i="0" lang="es-ES" sz="1800" u="none" cap="none" strike="noStrike">
                <a:solidFill>
                  <a:schemeClr val="lt1"/>
                </a:solidFill>
                <a:latin typeface="Calibri"/>
                <a:ea typeface="Calibri"/>
                <a:cs typeface="Calibri"/>
                <a:sym typeface="Calibri"/>
              </a:rPr>
              <a:t>SESIÓN</a:t>
            </a:r>
            <a:endParaRPr b="0" i="0" sz="1800" u="none" cap="none" strike="noStrike">
              <a:solidFill>
                <a:schemeClr val="dk1"/>
              </a:solidFill>
              <a:latin typeface="Calibri"/>
              <a:ea typeface="Calibri"/>
              <a:cs typeface="Calibri"/>
              <a:sym typeface="Calibri"/>
            </a:endParaRPr>
          </a:p>
        </p:txBody>
      </p:sp>
      <p:sp>
        <p:nvSpPr>
          <p:cNvPr id="61" name="Google Shape;61;p1"/>
          <p:cNvSpPr txBox="1"/>
          <p:nvPr/>
        </p:nvSpPr>
        <p:spPr>
          <a:xfrm>
            <a:off x="2051281" y="1730819"/>
            <a:ext cx="964250" cy="9848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5800"/>
              <a:buFont typeface="Calibri"/>
              <a:buNone/>
            </a:pPr>
            <a:r>
              <a:rPr b="0" i="0" lang="es-ES" sz="5800" u="none" cap="none" strike="noStrike">
                <a:solidFill>
                  <a:srgbClr val="FFFFFF"/>
                </a:solidFill>
                <a:latin typeface="Calibri"/>
                <a:ea typeface="Calibri"/>
                <a:cs typeface="Calibri"/>
                <a:sym typeface="Calibri"/>
              </a:rPr>
              <a:t>14</a:t>
            </a:r>
            <a:endParaRPr b="0" i="0" sz="1800" u="none" cap="none" strike="noStrike">
              <a:solidFill>
                <a:schemeClr val="dk1"/>
              </a:solidFill>
              <a:latin typeface="Calibri"/>
              <a:ea typeface="Calibri"/>
              <a:cs typeface="Calibri"/>
              <a:sym typeface="Calibri"/>
            </a:endParaRPr>
          </a:p>
        </p:txBody>
      </p:sp>
      <p:sp>
        <p:nvSpPr>
          <p:cNvPr id="62" name="Google Shape;62;p1"/>
          <p:cNvSpPr txBox="1"/>
          <p:nvPr/>
        </p:nvSpPr>
        <p:spPr>
          <a:xfrm>
            <a:off x="3175138" y="1252012"/>
            <a:ext cx="5422704"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DIAGRAMAS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s-ES" sz="3600" u="none" cap="none" strike="noStrike">
                <a:solidFill>
                  <a:schemeClr val="lt1"/>
                </a:solidFill>
                <a:latin typeface="Calibri"/>
                <a:ea typeface="Calibri"/>
                <a:cs typeface="Calibri"/>
                <a:sym typeface="Calibri"/>
              </a:rPr>
              <a:t>DE DESPLIEGUE</a:t>
            </a:r>
            <a:endParaRPr b="1" i="0" sz="3600" u="none" cap="none" strike="noStrike">
              <a:solidFill>
                <a:schemeClr val="lt1"/>
              </a:solidFill>
              <a:latin typeface="Calibri"/>
              <a:ea typeface="Calibri"/>
              <a:cs typeface="Calibri"/>
              <a:sym typeface="Calibri"/>
            </a:endParaRPr>
          </a:p>
        </p:txBody>
      </p:sp>
      <p:sp>
        <p:nvSpPr>
          <p:cNvPr id="63" name="Google Shape;63;p1"/>
          <p:cNvSpPr txBox="1"/>
          <p:nvPr/>
        </p:nvSpPr>
        <p:spPr>
          <a:xfrm>
            <a:off x="3175138" y="2996279"/>
            <a:ext cx="5026500" cy="13545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Definiciones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Elementos del diagrama de componentes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b="0" i="0" lang="es-ES" sz="1600" u="none" cap="none" strike="noStrike">
                <a:solidFill>
                  <a:schemeClr val="lt1"/>
                </a:solidFill>
                <a:latin typeface="Calibri"/>
                <a:ea typeface="Calibri"/>
                <a:cs typeface="Calibri"/>
                <a:sym typeface="Calibri"/>
              </a:rPr>
              <a:t>Elementos del diagrama de distribución</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Uso de diagramas de componentes y de despliegue</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i="0" lang="es-ES" sz="1400" u="none" cap="none" strike="noStrike">
                <a:solidFill>
                  <a:srgbClr val="1F85A6"/>
                </a:solidFill>
                <a:latin typeface="Calibri"/>
                <a:ea typeface="Calibri"/>
                <a:cs typeface="Calibri"/>
                <a:sym typeface="Calibri"/>
              </a:rPr>
              <a:t>UNIDAD DE APRENDIZAJE 4 – UA4</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INTRODUCCIÓN</a:t>
            </a:r>
            <a:endParaRPr b="0" i="0" sz="1800" u="none" cap="none" strike="noStrike">
              <a:solidFill>
                <a:schemeClr val="dk1"/>
              </a:solidFill>
              <a:latin typeface="Calibri"/>
              <a:ea typeface="Calibri"/>
              <a:cs typeface="Calibri"/>
              <a:sym typeface="Calibri"/>
            </a:endParaRPr>
          </a:p>
        </p:txBody>
      </p:sp>
      <p:sp>
        <p:nvSpPr>
          <p:cNvPr id="72" name="Google Shape;72;p2"/>
          <p:cNvSpPr txBox="1"/>
          <p:nvPr/>
        </p:nvSpPr>
        <p:spPr>
          <a:xfrm>
            <a:off x="573212" y="906087"/>
            <a:ext cx="7784512" cy="402588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 el contexto del análisis y diseño de sistemas de información, los diagramas de componentes UML son útiles para modelar la estructura estática de un sistema, es decir, cómo está compuesto por distintos componentes software; mientras que los diagramas de despliegue son útiles para visualizar, documentar y analizar la infraestructura física de un sistema y cómo los componentes lógicos se distribuyen en ella.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Entonces, durante esta sesión: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Conocerás </a:t>
            </a:r>
            <a:r>
              <a:rPr b="0" i="0" lang="es-ES" sz="1600" u="none" cap="none" strike="noStrike">
                <a:solidFill>
                  <a:schemeClr val="dk1"/>
                </a:solidFill>
                <a:latin typeface="Calibri"/>
                <a:ea typeface="Calibri"/>
                <a:cs typeface="Calibri"/>
                <a:sym typeface="Calibri"/>
              </a:rPr>
              <a:t>los conceptos y definiciones clave relacionados a los diagramas de componentes y diagramas de despliegue.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identificar los elementos de los diagramas de componentes y diagramas de despliegue.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0"/>
              </a:spcAft>
              <a:buClr>
                <a:srgbClr val="000000"/>
              </a:buClr>
              <a:buSzPts val="1600"/>
              <a:buFont typeface="Arial"/>
              <a:buNone/>
            </a:pPr>
            <a:r>
              <a:rPr b="1" i="0" lang="es-ES" sz="1600" u="none" cap="none" strike="noStrike">
                <a:solidFill>
                  <a:schemeClr val="dk1"/>
                </a:solidFill>
                <a:latin typeface="Calibri"/>
                <a:ea typeface="Calibri"/>
                <a:cs typeface="Calibri"/>
                <a:sym typeface="Calibri"/>
              </a:rPr>
              <a:t>Comprenderás </a:t>
            </a:r>
            <a:r>
              <a:rPr b="0" i="0" lang="es-ES" sz="1600" u="none" cap="none" strike="noStrike">
                <a:solidFill>
                  <a:schemeClr val="dk1"/>
                </a:solidFill>
                <a:latin typeface="Calibri"/>
                <a:ea typeface="Calibri"/>
                <a:cs typeface="Calibri"/>
                <a:sym typeface="Calibri"/>
              </a:rPr>
              <a:t>cuándo es pertinente el apropiado uso de los diagramas de componentes y diagramas de despliegue.</a:t>
            </a:r>
            <a:endParaRPr b="0" i="0" sz="1400" u="none" cap="none" strike="noStrike">
              <a:solidFill>
                <a:srgbClr val="000000"/>
              </a:solidFill>
              <a:latin typeface="Arial"/>
              <a:ea typeface="Arial"/>
              <a:cs typeface="Arial"/>
              <a:sym typeface="Arial"/>
            </a:endParaRPr>
          </a:p>
          <a:p>
            <a:pPr indent="0" lvl="1" marL="457200" marR="0" rtl="0" algn="l">
              <a:lnSpc>
                <a:spcPct val="100000"/>
              </a:lnSpc>
              <a:spcBef>
                <a:spcPts val="600"/>
              </a:spcBef>
              <a:spcAft>
                <a:spcPts val="600"/>
              </a:spcAft>
              <a:buClr>
                <a:srgbClr val="000000"/>
              </a:buClr>
              <a:buSzPts val="1100"/>
              <a:buFont typeface="Arial"/>
              <a:buNone/>
            </a:pPr>
            <a:r>
              <a:t/>
            </a:r>
            <a:endParaRPr b="0" i="0" sz="11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DEFINICIONES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86" name="Google Shape;86;p4"/>
          <p:cNvSpPr txBox="1"/>
          <p:nvPr>
            <p:ph idx="4" type="body"/>
          </p:nvPr>
        </p:nvSpPr>
        <p:spPr>
          <a:xfrm>
            <a:off x="867324" y="1161158"/>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la estructura de alto nivel del sistema, que define cómo se organizan y comunican los componentes del software. </a:t>
            </a:r>
            <a:endParaRPr/>
          </a:p>
          <a:p>
            <a:pPr indent="-266700" lvl="0" marL="266700" rtl="0" algn="l">
              <a:lnSpc>
                <a:spcPct val="100000"/>
              </a:lnSpc>
              <a:spcBef>
                <a:spcPts val="1200"/>
              </a:spcBef>
              <a:spcAft>
                <a:spcPts val="0"/>
              </a:spcAft>
              <a:buClr>
                <a:schemeClr val="dk1"/>
              </a:buClr>
              <a:buSzPts val="1200"/>
              <a:buChar char="❑"/>
            </a:pPr>
            <a:r>
              <a:rPr lang="es-ES"/>
              <a:t>Comprender la arquitectura es esencial para saber dónde y cómo se desplegarán los diferentes elementos en un diagrama de despliegue.</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 </a:t>
            </a:r>
            <a:r>
              <a:rPr lang="es-ES"/>
              <a:t>En una aplicación web, podríamos tener una arquitectura de tres capas: presentación, lógica de negocio y base de datos. Cada capa podría desplegarse en diferentes servidores o en el mismo, dependiendo de los requisitos.</a:t>
            </a:r>
            <a:endParaRPr/>
          </a:p>
        </p:txBody>
      </p:sp>
      <p:sp>
        <p:nvSpPr>
          <p:cNvPr id="87" name="Google Shape;87;p4"/>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ARQUITECTURA DE SOFTWARE</a:t>
            </a:r>
            <a:endParaRPr/>
          </a:p>
        </p:txBody>
      </p:sp>
      <p:pic>
        <p:nvPicPr>
          <p:cNvPr id="88" name="Google Shape;88;p4"/>
          <p:cNvPicPr preferRelativeResize="0"/>
          <p:nvPr>
            <p:ph idx="2" type="pic"/>
          </p:nvPr>
        </p:nvPicPr>
        <p:blipFill rotWithShape="1">
          <a:blip r:embed="rId3">
            <a:alphaModFix/>
          </a:blip>
          <a:srcRect b="160" l="0" r="0" t="161"/>
          <a:stretch/>
        </p:blipFill>
        <p:spPr>
          <a:xfrm>
            <a:off x="4971011" y="809626"/>
            <a:ext cx="3429763" cy="373037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pic>
        <p:nvPicPr>
          <p:cNvPr id="95" name="Google Shape;95;p5"/>
          <p:cNvPicPr preferRelativeResize="0"/>
          <p:nvPr>
            <p:ph idx="2" type="pic"/>
          </p:nvPr>
        </p:nvPicPr>
        <p:blipFill rotWithShape="1">
          <a:blip r:embed="rId3">
            <a:alphaModFix/>
          </a:blip>
          <a:srcRect b="160" l="0" r="0" t="161"/>
          <a:stretch/>
        </p:blipFill>
        <p:spPr>
          <a:xfrm>
            <a:off x="4572000" y="804863"/>
            <a:ext cx="4103688" cy="4463362"/>
          </a:xfrm>
          <a:prstGeom prst="rect">
            <a:avLst/>
          </a:prstGeom>
          <a:noFill/>
          <a:ln>
            <a:noFill/>
          </a:ln>
        </p:spPr>
      </p:pic>
      <p:sp>
        <p:nvSpPr>
          <p:cNvPr id="96" name="Google Shape;96;p5"/>
          <p:cNvSpPr txBox="1"/>
          <p:nvPr>
            <p:ph idx="4" type="body"/>
          </p:nvPr>
        </p:nvSpPr>
        <p:spPr>
          <a:xfrm>
            <a:off x="750945" y="1340387"/>
            <a:ext cx="3538422"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refiere al hardware y otros recursos físicos donde se instalará el software. Esto incluye servidores, estaciones de trabajo, dispositivos móviles, redes, etc.</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Un servidor dedicado para alojar la base de datos, otro para la lógica de negocio y múltiples clientes que acceden a la aplicación a través de navegadores web.</a:t>
            </a:r>
            <a:endParaRPr/>
          </a:p>
        </p:txBody>
      </p:sp>
      <p:sp>
        <p:nvSpPr>
          <p:cNvPr id="97" name="Google Shape;97;p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INFRAESTRUCTURA FÍSICA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pic>
        <p:nvPicPr>
          <p:cNvPr id="104" name="Google Shape;104;p6"/>
          <p:cNvPicPr preferRelativeResize="0"/>
          <p:nvPr>
            <p:ph idx="2" type="pic"/>
          </p:nvPr>
        </p:nvPicPr>
        <p:blipFill rotWithShape="1">
          <a:blip r:embed="rId3">
            <a:alphaModFix/>
          </a:blip>
          <a:srcRect b="160" l="0" r="0" t="161"/>
          <a:stretch/>
        </p:blipFill>
        <p:spPr>
          <a:xfrm>
            <a:off x="4572000" y="1163638"/>
            <a:ext cx="3544406" cy="3855061"/>
          </a:xfrm>
          <a:prstGeom prst="rect">
            <a:avLst/>
          </a:prstGeom>
          <a:noFill/>
          <a:ln>
            <a:noFill/>
          </a:ln>
        </p:spPr>
      </p:pic>
      <p:sp>
        <p:nvSpPr>
          <p:cNvPr id="105" name="Google Shape;105;p6"/>
          <p:cNvSpPr txBox="1"/>
          <p:nvPr>
            <p:ph idx="4" type="body"/>
          </p:nvPr>
        </p:nvSpPr>
        <p:spPr>
          <a:xfrm>
            <a:off x="709381" y="1277680"/>
            <a:ext cx="362154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términos se refieren al proceso de instalar, configurar y hacer funcionar el software en la infraestructura física. Es crucial entender cómo se llevará a cabo este proceso para modelar correctamente en el diagrama de despliegue.</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Usar contenedores Docker para desplegar microservicios en un clúster de servidores.</a:t>
            </a:r>
            <a:endParaRPr/>
          </a:p>
        </p:txBody>
      </p:sp>
      <p:sp>
        <p:nvSpPr>
          <p:cNvPr id="106" name="Google Shape;106;p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DESPLIEGUE Y DISTRIBUCIÓN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pic>
        <p:nvPicPr>
          <p:cNvPr id="113" name="Google Shape;113;p7"/>
          <p:cNvPicPr preferRelativeResize="0"/>
          <p:nvPr>
            <p:ph idx="2" type="pic"/>
          </p:nvPr>
        </p:nvPicPr>
        <p:blipFill rotWithShape="1">
          <a:blip r:embed="rId3">
            <a:alphaModFix/>
          </a:blip>
          <a:srcRect b="160" l="0" r="0" t="161"/>
          <a:stretch/>
        </p:blipFill>
        <p:spPr>
          <a:xfrm>
            <a:off x="4572000" y="631825"/>
            <a:ext cx="3710885" cy="4036131"/>
          </a:xfrm>
          <a:prstGeom prst="rect">
            <a:avLst/>
          </a:prstGeom>
          <a:noFill/>
          <a:ln>
            <a:noFill/>
          </a:ln>
        </p:spPr>
      </p:pic>
      <p:sp>
        <p:nvSpPr>
          <p:cNvPr id="114" name="Google Shape;114;p7"/>
          <p:cNvSpPr txBox="1"/>
          <p:nvPr>
            <p:ph idx="4" type="body"/>
          </p:nvPr>
        </p:nvSpPr>
        <p:spPr>
          <a:xfrm>
            <a:off x="1083455" y="1232094"/>
            <a:ext cx="3189287" cy="4036131"/>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 vital entender cómo los diferentes componentes del sistema se comunicarán entre sí. Esto incluye conocer los protocolos de comunicación, como HTTP, FTP, etc., que se utilizarán.</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Un servicio web que se comunica con una base de datos a través de JDBC (Java Database Connectivity).</a:t>
            </a:r>
            <a:endParaRPr/>
          </a:p>
        </p:txBody>
      </p:sp>
      <p:sp>
        <p:nvSpPr>
          <p:cNvPr id="115" name="Google Shape;115;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COMUNICACIÓN Y PROTOCOLOS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pic>
        <p:nvPicPr>
          <p:cNvPr id="122" name="Google Shape;122;p8"/>
          <p:cNvPicPr preferRelativeResize="0"/>
          <p:nvPr>
            <p:ph idx="2" type="pic"/>
          </p:nvPr>
        </p:nvPicPr>
        <p:blipFill rotWithShape="1">
          <a:blip r:embed="rId3">
            <a:alphaModFix/>
          </a:blip>
          <a:srcRect b="160" l="0" r="0" t="161"/>
          <a:stretch/>
        </p:blipFill>
        <p:spPr>
          <a:xfrm>
            <a:off x="4785486" y="922567"/>
            <a:ext cx="3773824" cy="4104587"/>
          </a:xfrm>
          <a:prstGeom prst="rect">
            <a:avLst/>
          </a:prstGeom>
          <a:noFill/>
          <a:ln>
            <a:noFill/>
          </a:ln>
        </p:spPr>
      </p:pic>
      <p:sp>
        <p:nvSpPr>
          <p:cNvPr id="123" name="Google Shape;123;p8"/>
          <p:cNvSpPr txBox="1"/>
          <p:nvPr>
            <p:ph idx="4" type="body"/>
          </p:nvPr>
        </p:nvSpPr>
        <p:spPr>
          <a:xfrm>
            <a:off x="967076" y="1334937"/>
            <a:ext cx="3322291" cy="3933288"/>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Estos conceptos se refieren a cómo el sistema maneja el aumento de la carga o la demanda. Afectan directamente cómo se diseñará el despliegue del sistema.</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Uso de balanceadores de carga para distribuir las solicitudes entrantes entre múltiples instancias de un servicio.</a:t>
            </a:r>
            <a:endParaRPr/>
          </a:p>
        </p:txBody>
      </p:sp>
      <p:sp>
        <p:nvSpPr>
          <p:cNvPr id="124" name="Google Shape;124;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ESCALABILIDAD Y RENDIMIENTO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pic>
        <p:nvPicPr>
          <p:cNvPr id="131" name="Google Shape;131;p9"/>
          <p:cNvPicPr preferRelativeResize="0"/>
          <p:nvPr>
            <p:ph idx="2" type="pic"/>
          </p:nvPr>
        </p:nvPicPr>
        <p:blipFill rotWithShape="1">
          <a:blip r:embed="rId3">
            <a:alphaModFix/>
          </a:blip>
          <a:srcRect b="0" l="72" r="71" t="0"/>
          <a:stretch/>
        </p:blipFill>
        <p:spPr>
          <a:xfrm>
            <a:off x="4804756" y="986632"/>
            <a:ext cx="3552049" cy="3863374"/>
          </a:xfrm>
          <a:prstGeom prst="rect">
            <a:avLst/>
          </a:prstGeom>
          <a:noFill/>
          <a:ln>
            <a:noFill/>
          </a:ln>
        </p:spPr>
      </p:pic>
      <p:sp>
        <p:nvSpPr>
          <p:cNvPr id="132" name="Google Shape;132;p9"/>
          <p:cNvSpPr txBox="1"/>
          <p:nvPr>
            <p:ph idx="4" type="body"/>
          </p:nvPr>
        </p:nvSpPr>
        <p:spPr>
          <a:xfrm>
            <a:off x="917200" y="1163638"/>
            <a:ext cx="343866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La seguridad es un aspecto crítico que abarca desde el cifrado de datos hasta el control de acceso. Es fundamental para decidir, por ejemplo, en qué nodos se desplegarán ciertos componentes críticos.</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Desplegar una API en una red privada para limitar el acceso solo a aplicaciones autorizadas.</a:t>
            </a:r>
            <a:endParaRPr/>
          </a:p>
        </p:txBody>
      </p:sp>
      <p:sp>
        <p:nvSpPr>
          <p:cNvPr id="133" name="Google Shape;133;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SEGURIDAD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10"/>
          <p:cNvPicPr preferRelativeResize="0"/>
          <p:nvPr>
            <p:ph idx="2" type="pic"/>
          </p:nvPr>
        </p:nvPicPr>
        <p:blipFill rotWithShape="1">
          <a:blip r:embed="rId3">
            <a:alphaModFix/>
          </a:blip>
          <a:srcRect b="0" l="966" r="966" t="0"/>
          <a:stretch/>
        </p:blipFill>
        <p:spPr>
          <a:xfrm>
            <a:off x="475687" y="2877477"/>
            <a:ext cx="8207375" cy="2394000"/>
          </a:xfrm>
          <a:prstGeom prst="rect">
            <a:avLst/>
          </a:prstGeom>
          <a:noFill/>
          <a:ln>
            <a:noFill/>
          </a:ln>
        </p:spPr>
      </p:pic>
      <p:sp>
        <p:nvSpPr>
          <p:cNvPr id="140" name="Google Shape;140;p1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GESTIÓN DE CONFIGURACIÓN</a:t>
            </a:r>
            <a:endParaRPr/>
          </a:p>
        </p:txBody>
      </p:sp>
      <p:sp>
        <p:nvSpPr>
          <p:cNvPr id="141" name="Google Shape;141;p1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DEFINICIONES</a:t>
            </a:r>
            <a:endParaRPr/>
          </a:p>
        </p:txBody>
      </p:sp>
      <p:sp>
        <p:nvSpPr>
          <p:cNvPr id="142" name="Google Shape;142;p1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Se refiere a cómo se manejan las diferentes versiones del software y su configuración a lo largo del tiempo.</a:t>
            </a:r>
            <a:endParaRPr/>
          </a:p>
          <a:p>
            <a:pPr indent="-266700" lvl="0" marL="266700" rtl="0" algn="l">
              <a:lnSpc>
                <a:spcPct val="100000"/>
              </a:lnSpc>
              <a:spcBef>
                <a:spcPts val="1200"/>
              </a:spcBef>
              <a:spcAft>
                <a:spcPts val="0"/>
              </a:spcAft>
              <a:buClr>
                <a:schemeClr val="accent1"/>
              </a:buClr>
              <a:buSzPts val="1200"/>
              <a:buChar char="❑"/>
            </a:pPr>
            <a:r>
              <a:rPr i="1" lang="es-ES">
                <a:solidFill>
                  <a:schemeClr val="accent1"/>
                </a:solidFill>
              </a:rPr>
              <a:t>Ejemplo:</a:t>
            </a:r>
            <a:r>
              <a:rPr lang="es-ES"/>
              <a:t> Uso de herramientas como Ansible o Kubernetes para gestionar la configuración de los servidores y servicios.</a:t>
            </a:r>
            <a:endParaRPr/>
          </a:p>
          <a:p>
            <a:pPr indent="-190500" lvl="0" marL="266700" rtl="0" algn="just">
              <a:lnSpc>
                <a:spcPct val="100000"/>
              </a:lnSpc>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149" name="Google Shape;149;p11"/>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ELEMENTOS DEL DIAGRAMA DE COMPONENTES</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COMPONENTES</a:t>
            </a:r>
            <a:endParaRPr b="0">
              <a:solidFill>
                <a:srgbClr val="0070C0"/>
              </a:solidFill>
            </a:endParaRPr>
          </a:p>
        </p:txBody>
      </p:sp>
      <p:sp>
        <p:nvSpPr>
          <p:cNvPr id="156" name="Google Shape;156;p12"/>
          <p:cNvSpPr txBox="1"/>
          <p:nvPr>
            <p:ph idx="4" type="body"/>
          </p:nvPr>
        </p:nvSpPr>
        <p:spPr>
          <a:xfrm>
            <a:off x="742632" y="1275911"/>
            <a:ext cx="4388649"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Componente</a:t>
            </a:r>
            <a:endParaRPr/>
          </a:p>
          <a:p>
            <a:pPr indent="0" lvl="1" marL="265113" rtl="0" algn="l">
              <a:lnSpc>
                <a:spcPct val="100000"/>
              </a:lnSpc>
              <a:spcBef>
                <a:spcPts val="0"/>
              </a:spcBef>
              <a:spcAft>
                <a:spcPts val="0"/>
              </a:spcAft>
              <a:buClr>
                <a:schemeClr val="dk1"/>
              </a:buClr>
              <a:buSzPts val="1600"/>
              <a:buNone/>
            </a:pPr>
            <a:r>
              <a:rPr lang="es-ES"/>
              <a:t>Es una unidad modular de un sistema que encapsula la funcionalidad y/o los datos y expone una serie de interfaces. Se representa mediante un rectángulo con dos pequeños rectángulos en la esquina superior izquierda.</a:t>
            </a:r>
            <a:endParaRPr/>
          </a:p>
          <a:p>
            <a:pPr indent="-266700" lvl="0" marL="266700" rtl="0" algn="l">
              <a:lnSpc>
                <a:spcPct val="100000"/>
              </a:lnSpc>
              <a:spcBef>
                <a:spcPts val="800"/>
              </a:spcBef>
              <a:spcAft>
                <a:spcPts val="0"/>
              </a:spcAft>
              <a:buClr>
                <a:schemeClr val="dk1"/>
              </a:buClr>
              <a:buSzPts val="1200"/>
              <a:buChar char="❑"/>
            </a:pPr>
            <a:r>
              <a:rPr b="1" lang="es-ES"/>
              <a:t>Interfaz</a:t>
            </a:r>
            <a:endParaRPr/>
          </a:p>
          <a:p>
            <a:pPr indent="0" lvl="1" marL="265113" rtl="0" algn="l">
              <a:lnSpc>
                <a:spcPct val="100000"/>
              </a:lnSpc>
              <a:spcBef>
                <a:spcPts val="0"/>
              </a:spcBef>
              <a:spcAft>
                <a:spcPts val="0"/>
              </a:spcAft>
              <a:buClr>
                <a:schemeClr val="dk1"/>
              </a:buClr>
              <a:buSzPts val="1600"/>
              <a:buNone/>
            </a:pPr>
            <a:r>
              <a:rPr lang="es-ES"/>
              <a:t>Define un conjunto de operaciones que un componente expone para ser utilizado por otros componentes. Se representan mediante un círculo o mediante un rectángulo con la palabra «interface».</a:t>
            </a:r>
            <a:endParaRPr/>
          </a:p>
        </p:txBody>
      </p:sp>
      <p:pic>
        <p:nvPicPr>
          <p:cNvPr id="157" name="Google Shape;157;p12"/>
          <p:cNvPicPr preferRelativeResize="0"/>
          <p:nvPr>
            <p:ph idx="2" type="pic"/>
          </p:nvPr>
        </p:nvPicPr>
        <p:blipFill rotWithShape="1">
          <a:blip r:embed="rId3">
            <a:alphaModFix/>
          </a:blip>
          <a:srcRect b="160" l="0" r="0" t="161"/>
          <a:stretch/>
        </p:blipFill>
        <p:spPr>
          <a:xfrm>
            <a:off x="4856962" y="1163638"/>
            <a:ext cx="3544406" cy="3855061"/>
          </a:xfrm>
          <a:prstGeom prst="rect">
            <a:avLst/>
          </a:prstGeom>
          <a:noFill/>
          <a:ln>
            <a:noFill/>
          </a:ln>
        </p:spPr>
      </p:pic>
      <p:sp>
        <p:nvSpPr>
          <p:cNvPr id="158" name="Google Shape;158;p12"/>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COMPONENTES – ELEMENTOS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13"/>
          <p:cNvPicPr preferRelativeResize="0"/>
          <p:nvPr>
            <p:ph idx="2" type="pic"/>
          </p:nvPr>
        </p:nvPicPr>
        <p:blipFill rotWithShape="1">
          <a:blip r:embed="rId3">
            <a:alphaModFix/>
          </a:blip>
          <a:srcRect b="160" l="0" r="0" t="161"/>
          <a:stretch/>
        </p:blipFill>
        <p:spPr>
          <a:xfrm>
            <a:off x="5602906" y="1224756"/>
            <a:ext cx="3376263" cy="3672181"/>
          </a:xfrm>
          <a:prstGeom prst="rect">
            <a:avLst/>
          </a:prstGeom>
          <a:noFill/>
          <a:ln>
            <a:noFill/>
          </a:ln>
        </p:spPr>
      </p:pic>
      <p:sp>
        <p:nvSpPr>
          <p:cNvPr id="165" name="Google Shape;165;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COMPONENTES</a:t>
            </a:r>
            <a:endParaRPr b="0">
              <a:solidFill>
                <a:srgbClr val="0070C0"/>
              </a:solidFill>
            </a:endParaRPr>
          </a:p>
        </p:txBody>
      </p:sp>
      <p:sp>
        <p:nvSpPr>
          <p:cNvPr id="166" name="Google Shape;166;p13"/>
          <p:cNvSpPr txBox="1"/>
          <p:nvPr>
            <p:ph idx="4" type="body"/>
          </p:nvPr>
        </p:nvSpPr>
        <p:spPr>
          <a:xfrm>
            <a:off x="659500" y="1169475"/>
            <a:ext cx="494340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Dependencia</a:t>
            </a:r>
            <a:endParaRPr/>
          </a:p>
          <a:p>
            <a:pPr indent="0" lvl="1" marL="265113" rtl="0" algn="l">
              <a:lnSpc>
                <a:spcPct val="100000"/>
              </a:lnSpc>
              <a:spcBef>
                <a:spcPts val="0"/>
              </a:spcBef>
              <a:spcAft>
                <a:spcPts val="0"/>
              </a:spcAft>
              <a:buClr>
                <a:schemeClr val="dk1"/>
              </a:buClr>
              <a:buSzPts val="1600"/>
              <a:buNone/>
            </a:pPr>
            <a:r>
              <a:rPr lang="es-ES"/>
              <a:t>Una flecha de dependencia indica que un componente depende de otro para funcionar correctamente. La flecha apunta hacia el componente del cual se depende.</a:t>
            </a:r>
            <a:endParaRPr/>
          </a:p>
          <a:p>
            <a:pPr indent="-266700" lvl="0" marL="266700" rtl="0" algn="l">
              <a:lnSpc>
                <a:spcPct val="100000"/>
              </a:lnSpc>
              <a:spcBef>
                <a:spcPts val="1400"/>
              </a:spcBef>
              <a:spcAft>
                <a:spcPts val="0"/>
              </a:spcAft>
              <a:buClr>
                <a:schemeClr val="dk1"/>
              </a:buClr>
              <a:buSzPts val="1200"/>
              <a:buChar char="❑"/>
            </a:pPr>
            <a:r>
              <a:rPr b="1" lang="es-ES"/>
              <a:t>Asociación</a:t>
            </a:r>
            <a:endParaRPr/>
          </a:p>
          <a:p>
            <a:pPr indent="0" lvl="1" marL="265113" rtl="0" algn="l">
              <a:lnSpc>
                <a:spcPct val="100000"/>
              </a:lnSpc>
              <a:spcBef>
                <a:spcPts val="0"/>
              </a:spcBef>
              <a:spcAft>
                <a:spcPts val="0"/>
              </a:spcAft>
              <a:buClr>
                <a:schemeClr val="dk1"/>
              </a:buClr>
              <a:buSzPts val="1600"/>
              <a:buNone/>
            </a:pPr>
            <a:r>
              <a:rPr lang="es-ES"/>
              <a:t>Representa una relación entre dos componentes que colaboran entre sí. Se representa mediante una línea simple que conecta los componentes asociados.</a:t>
            </a:r>
            <a:endParaRPr/>
          </a:p>
          <a:p>
            <a:pPr indent="-266700" lvl="0" marL="266700" rtl="0" algn="l">
              <a:lnSpc>
                <a:spcPct val="100000"/>
              </a:lnSpc>
              <a:spcBef>
                <a:spcPts val="1400"/>
              </a:spcBef>
              <a:spcAft>
                <a:spcPts val="0"/>
              </a:spcAft>
              <a:buClr>
                <a:schemeClr val="dk1"/>
              </a:buClr>
              <a:buSzPts val="1200"/>
              <a:buChar char="❑"/>
            </a:pPr>
            <a:r>
              <a:rPr b="1" lang="es-ES"/>
              <a:t>Conector</a:t>
            </a:r>
            <a:endParaRPr/>
          </a:p>
          <a:p>
            <a:pPr indent="0" lvl="1" marL="265113" rtl="0" algn="l">
              <a:lnSpc>
                <a:spcPct val="100000"/>
              </a:lnSpc>
              <a:spcBef>
                <a:spcPts val="0"/>
              </a:spcBef>
              <a:spcAft>
                <a:spcPts val="0"/>
              </a:spcAft>
              <a:buClr>
                <a:schemeClr val="dk1"/>
              </a:buClr>
              <a:buSzPts val="1600"/>
              <a:buNone/>
            </a:pPr>
            <a:r>
              <a:rPr lang="es-ES"/>
              <a:t>Son líneas que unen componentes e interfaces para mostrar sus interacciones. Pueden ser simples o complejas (por ejemplo, protocolo de comunicación).</a:t>
            </a:r>
            <a:endParaRPr/>
          </a:p>
        </p:txBody>
      </p:sp>
      <p:sp>
        <p:nvSpPr>
          <p:cNvPr id="167" name="Google Shape;167;p13"/>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COMPONENTES – ELEMENTOS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ph idx="2" type="pic"/>
          </p:nvPr>
        </p:nvPicPr>
        <p:blipFill rotWithShape="1">
          <a:blip r:embed="rId3">
            <a:alphaModFix/>
          </a:blip>
          <a:srcRect b="160" l="0" r="0" t="161"/>
          <a:stretch/>
        </p:blipFill>
        <p:spPr>
          <a:xfrm>
            <a:off x="5472882" y="1177929"/>
            <a:ext cx="3414478" cy="3713745"/>
          </a:xfrm>
          <a:prstGeom prst="rect">
            <a:avLst/>
          </a:prstGeom>
          <a:noFill/>
          <a:ln>
            <a:noFill/>
          </a:ln>
        </p:spPr>
      </p:pic>
      <p:sp>
        <p:nvSpPr>
          <p:cNvPr id="174" name="Google Shape;174;p1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COMPONENTES</a:t>
            </a:r>
            <a:endParaRPr b="0">
              <a:solidFill>
                <a:srgbClr val="0070C0"/>
              </a:solidFill>
            </a:endParaRPr>
          </a:p>
        </p:txBody>
      </p:sp>
      <p:sp>
        <p:nvSpPr>
          <p:cNvPr id="175" name="Google Shape;175;p14"/>
          <p:cNvSpPr txBox="1"/>
          <p:nvPr>
            <p:ph idx="4" type="body"/>
          </p:nvPr>
        </p:nvSpPr>
        <p:spPr>
          <a:xfrm>
            <a:off x="468325" y="1177925"/>
            <a:ext cx="509130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Paquete</a:t>
            </a:r>
            <a:endParaRPr/>
          </a:p>
          <a:p>
            <a:pPr indent="0" lvl="1" marL="265113" rtl="0" algn="l">
              <a:lnSpc>
                <a:spcPct val="100000"/>
              </a:lnSpc>
              <a:spcBef>
                <a:spcPts val="0"/>
              </a:spcBef>
              <a:spcAft>
                <a:spcPts val="0"/>
              </a:spcAft>
              <a:buClr>
                <a:schemeClr val="dk1"/>
              </a:buClr>
              <a:buSzPts val="1600"/>
              <a:buNone/>
            </a:pPr>
            <a:r>
              <a:rPr lang="es-ES"/>
              <a:t>Contenedor que agrupa componentes relacionados. Se representa como un archivo de carpetas y se utiliza para organizar componentes.</a:t>
            </a:r>
            <a:endParaRPr/>
          </a:p>
          <a:p>
            <a:pPr indent="-266700" lvl="0" marL="266700" rtl="0" algn="l">
              <a:lnSpc>
                <a:spcPct val="100000"/>
              </a:lnSpc>
              <a:spcBef>
                <a:spcPts val="1400"/>
              </a:spcBef>
              <a:spcAft>
                <a:spcPts val="0"/>
              </a:spcAft>
              <a:buClr>
                <a:schemeClr val="dk1"/>
              </a:buClr>
              <a:buSzPts val="1200"/>
              <a:buChar char="❑"/>
            </a:pPr>
            <a:r>
              <a:rPr b="1" lang="es-ES"/>
              <a:t>Notas y Comentarios</a:t>
            </a:r>
            <a:endParaRPr/>
          </a:p>
          <a:p>
            <a:pPr indent="0" lvl="1" marL="265113" rtl="0" algn="l">
              <a:lnSpc>
                <a:spcPct val="100000"/>
              </a:lnSpc>
              <a:spcBef>
                <a:spcPts val="0"/>
              </a:spcBef>
              <a:spcAft>
                <a:spcPts val="0"/>
              </a:spcAft>
              <a:buClr>
                <a:schemeClr val="dk1"/>
              </a:buClr>
              <a:buSzPts val="1600"/>
              <a:buNone/>
            </a:pPr>
            <a:r>
              <a:rPr lang="es-ES"/>
              <a:t>Se utilizan para añadir información adicional que puede ser útil para entender el diagrama. Se representan como un rectángulo con una esquina doblada.</a:t>
            </a:r>
            <a:endParaRPr/>
          </a:p>
          <a:p>
            <a:pPr indent="-266700" lvl="0" marL="266700" rtl="0" algn="l">
              <a:lnSpc>
                <a:spcPct val="100000"/>
              </a:lnSpc>
              <a:spcBef>
                <a:spcPts val="1400"/>
              </a:spcBef>
              <a:spcAft>
                <a:spcPts val="0"/>
              </a:spcAft>
              <a:buClr>
                <a:schemeClr val="dk1"/>
              </a:buClr>
              <a:buSzPts val="1200"/>
              <a:buChar char="❑"/>
            </a:pPr>
            <a:r>
              <a:rPr b="1" lang="es-ES"/>
              <a:t>Artefacto</a:t>
            </a:r>
            <a:endParaRPr/>
          </a:p>
          <a:p>
            <a:pPr indent="0" lvl="1" marL="265113" rtl="0" algn="l">
              <a:lnSpc>
                <a:spcPct val="100000"/>
              </a:lnSpc>
              <a:spcBef>
                <a:spcPts val="0"/>
              </a:spcBef>
              <a:spcAft>
                <a:spcPts val="0"/>
              </a:spcAft>
              <a:buClr>
                <a:schemeClr val="dk1"/>
              </a:buClr>
              <a:buSzPts val="1600"/>
              <a:buNone/>
            </a:pPr>
            <a:r>
              <a:rPr lang="es-ES"/>
              <a:t>Representan entidades físicas (archivos ejecutables, bibliotecas o documentos). Se representan como un rectángulo con una notación que se asemeja a un documento.</a:t>
            </a:r>
            <a:endParaRPr/>
          </a:p>
        </p:txBody>
      </p:sp>
      <p:sp>
        <p:nvSpPr>
          <p:cNvPr id="176" name="Google Shape;176;p14"/>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COMPONENTES – ELEMENTOS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5"/>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COMPONENTES, PASO A PASO</a:t>
            </a:r>
            <a:endParaRPr>
              <a:solidFill>
                <a:srgbClr val="A5A5A5"/>
              </a:solidFill>
            </a:endParaRPr>
          </a:p>
        </p:txBody>
      </p:sp>
      <p:sp>
        <p:nvSpPr>
          <p:cNvPr id="183" name="Google Shape;183;p1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COMPONENTES</a:t>
            </a:r>
            <a:endParaRPr/>
          </a:p>
        </p:txBody>
      </p:sp>
      <p:sp>
        <p:nvSpPr>
          <p:cNvPr id="184" name="Google Shape;184;p15"/>
          <p:cNvSpPr txBox="1"/>
          <p:nvPr>
            <p:ph idx="3" type="body"/>
          </p:nvPr>
        </p:nvSpPr>
        <p:spPr>
          <a:xfrm>
            <a:off x="468313" y="1174363"/>
            <a:ext cx="8207375" cy="3971215"/>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sz="1350">
                <a:solidFill>
                  <a:srgbClr val="1F85A6"/>
                </a:solidFill>
              </a:rPr>
              <a:t>  Paso 1: Definir el Alcance y Objetivos</a:t>
            </a:r>
            <a:endParaRPr sz="1350"/>
          </a:p>
          <a:p>
            <a:pPr indent="0" lvl="1" marL="92075" rtl="0" algn="just">
              <a:lnSpc>
                <a:spcPct val="83000"/>
              </a:lnSpc>
              <a:spcBef>
                <a:spcPts val="0"/>
              </a:spcBef>
              <a:spcAft>
                <a:spcPts val="0"/>
              </a:spcAft>
              <a:buSzPts val="1600"/>
              <a:buNone/>
            </a:pPr>
            <a:r>
              <a:rPr lang="es-ES" sz="1350">
                <a:solidFill>
                  <a:srgbClr val="1F85A6"/>
                </a:solidFill>
              </a:rPr>
              <a:t>Identifica el sistema o subsistema que será modelado.</a:t>
            </a:r>
            <a:endParaRPr sz="1350"/>
          </a:p>
          <a:p>
            <a:pPr indent="0" lvl="1" marL="92075" rtl="0" algn="just">
              <a:lnSpc>
                <a:spcPct val="83000"/>
              </a:lnSpc>
              <a:spcBef>
                <a:spcPts val="0"/>
              </a:spcBef>
              <a:spcAft>
                <a:spcPts val="0"/>
              </a:spcAft>
              <a:buSzPts val="1600"/>
              <a:buNone/>
            </a:pPr>
            <a:r>
              <a:rPr lang="es-ES" sz="1350">
                <a:solidFill>
                  <a:srgbClr val="1F85A6"/>
                </a:solidFill>
              </a:rPr>
              <a:t>Establece los objetivos del diagrama, como entender las relaciones entre componentes, la arquitectura del sistema, etc.</a:t>
            </a:r>
            <a:endParaRPr sz="1350"/>
          </a:p>
          <a:p>
            <a:pPr indent="0" lvl="0" marL="0" rtl="0" algn="just">
              <a:lnSpc>
                <a:spcPct val="83000"/>
              </a:lnSpc>
              <a:spcBef>
                <a:spcPts val="600"/>
              </a:spcBef>
              <a:spcAft>
                <a:spcPts val="0"/>
              </a:spcAft>
              <a:buSzPts val="1200"/>
              <a:buNone/>
            </a:pPr>
            <a:r>
              <a:rPr b="1" lang="es-ES" sz="1350">
                <a:solidFill>
                  <a:srgbClr val="1F85A6"/>
                </a:solidFill>
              </a:rPr>
              <a:t>  Paso 2: Reunir Información</a:t>
            </a:r>
            <a:endParaRPr sz="1350"/>
          </a:p>
          <a:p>
            <a:pPr indent="0" lvl="1" marL="92075" rtl="0" algn="just">
              <a:lnSpc>
                <a:spcPct val="83000"/>
              </a:lnSpc>
              <a:spcBef>
                <a:spcPts val="0"/>
              </a:spcBef>
              <a:spcAft>
                <a:spcPts val="0"/>
              </a:spcAft>
              <a:buSzPts val="1600"/>
              <a:buNone/>
            </a:pPr>
            <a:r>
              <a:rPr lang="es-ES" sz="1350">
                <a:solidFill>
                  <a:srgbClr val="1F85A6"/>
                </a:solidFill>
              </a:rPr>
              <a:t>Documenta los componentes del sistema. Identifica las interfaces y cómo los componentes se comunicarán entre sí.</a:t>
            </a:r>
            <a:endParaRPr sz="1350"/>
          </a:p>
          <a:p>
            <a:pPr indent="0" lvl="1" marL="92075" rtl="0" algn="just">
              <a:lnSpc>
                <a:spcPct val="83000"/>
              </a:lnSpc>
              <a:spcBef>
                <a:spcPts val="0"/>
              </a:spcBef>
              <a:spcAft>
                <a:spcPts val="0"/>
              </a:spcAft>
              <a:buSzPts val="1600"/>
              <a:buNone/>
            </a:pPr>
            <a:r>
              <a:rPr lang="es-ES" sz="1350">
                <a:solidFill>
                  <a:srgbClr val="1F85A6"/>
                </a:solidFill>
              </a:rPr>
              <a:t>Recopila requisitos, como dependencias, protocolos de comunicación y otros detalles técnicos.</a:t>
            </a:r>
            <a:endParaRPr sz="1350"/>
          </a:p>
          <a:p>
            <a:pPr indent="0" lvl="0" marL="0" rtl="0" algn="just">
              <a:lnSpc>
                <a:spcPct val="83000"/>
              </a:lnSpc>
              <a:spcBef>
                <a:spcPts val="600"/>
              </a:spcBef>
              <a:spcAft>
                <a:spcPts val="0"/>
              </a:spcAft>
              <a:buSzPts val="1200"/>
              <a:buNone/>
            </a:pPr>
            <a:r>
              <a:rPr b="1" lang="es-ES" sz="1350">
                <a:solidFill>
                  <a:srgbClr val="1F85A6"/>
                </a:solidFill>
              </a:rPr>
              <a:t>  Paso 3: Elegir Herramientas</a:t>
            </a:r>
            <a:endParaRPr sz="1350"/>
          </a:p>
          <a:p>
            <a:pPr indent="0" lvl="1" marL="92075" rtl="0" algn="just">
              <a:lnSpc>
                <a:spcPct val="83000"/>
              </a:lnSpc>
              <a:spcBef>
                <a:spcPts val="0"/>
              </a:spcBef>
              <a:spcAft>
                <a:spcPts val="0"/>
              </a:spcAft>
              <a:buSzPts val="1600"/>
              <a:buNone/>
            </a:pPr>
            <a:r>
              <a:rPr lang="es-ES" sz="1350">
                <a:solidFill>
                  <a:srgbClr val="1F85A6"/>
                </a:solidFill>
              </a:rPr>
              <a:t>Selecciona una herramienta para dibujar el diagrama.</a:t>
            </a:r>
            <a:endParaRPr sz="1350"/>
          </a:p>
          <a:p>
            <a:pPr indent="0" lvl="0" marL="0" rtl="0" algn="just">
              <a:lnSpc>
                <a:spcPct val="83000"/>
              </a:lnSpc>
              <a:spcBef>
                <a:spcPts val="600"/>
              </a:spcBef>
              <a:spcAft>
                <a:spcPts val="0"/>
              </a:spcAft>
              <a:buSzPts val="1200"/>
              <a:buNone/>
            </a:pPr>
            <a:r>
              <a:rPr b="1" lang="es-ES" sz="1350">
                <a:solidFill>
                  <a:srgbClr val="1F85A6"/>
                </a:solidFill>
              </a:rPr>
              <a:t>   Paso 4: Dibujar Componentes</a:t>
            </a:r>
            <a:endParaRPr sz="1350"/>
          </a:p>
          <a:p>
            <a:pPr indent="0" lvl="1" marL="92075" rtl="0" algn="just">
              <a:lnSpc>
                <a:spcPct val="83000"/>
              </a:lnSpc>
              <a:spcBef>
                <a:spcPts val="0"/>
              </a:spcBef>
              <a:spcAft>
                <a:spcPts val="0"/>
              </a:spcAft>
              <a:buSzPts val="1600"/>
              <a:buNone/>
            </a:pPr>
            <a:r>
              <a:rPr lang="es-ES" sz="1350">
                <a:solidFill>
                  <a:srgbClr val="1F85A6"/>
                </a:solidFill>
              </a:rPr>
              <a:t>Representa cada componente con un rectángulo y coloca los pequeños rectángulos en la esquina superior izquierda.</a:t>
            </a:r>
            <a:endParaRPr sz="1350"/>
          </a:p>
          <a:p>
            <a:pPr indent="0" lvl="1" marL="92075" rtl="0" algn="just">
              <a:lnSpc>
                <a:spcPct val="83000"/>
              </a:lnSpc>
              <a:spcBef>
                <a:spcPts val="0"/>
              </a:spcBef>
              <a:spcAft>
                <a:spcPts val="0"/>
              </a:spcAft>
              <a:buSzPts val="1600"/>
              <a:buNone/>
            </a:pPr>
            <a:r>
              <a:rPr lang="es-ES" sz="1350">
                <a:solidFill>
                  <a:srgbClr val="1F85A6"/>
                </a:solidFill>
              </a:rPr>
              <a:t>Etiqueta los componentes con sus nombres y, si es necesario, con otra información relevante.</a:t>
            </a:r>
            <a:endParaRPr sz="1350"/>
          </a:p>
          <a:p>
            <a:pPr indent="0" lvl="0" marL="0" rtl="0" algn="just">
              <a:lnSpc>
                <a:spcPct val="83000"/>
              </a:lnSpc>
              <a:spcBef>
                <a:spcPts val="600"/>
              </a:spcBef>
              <a:spcAft>
                <a:spcPts val="0"/>
              </a:spcAft>
              <a:buSzPts val="1200"/>
              <a:buNone/>
            </a:pPr>
            <a:r>
              <a:rPr b="1" lang="es-ES" sz="1350">
                <a:solidFill>
                  <a:srgbClr val="1F85A6"/>
                </a:solidFill>
              </a:rPr>
              <a:t>  Paso 5: Agregar Interfaces</a:t>
            </a:r>
            <a:endParaRPr sz="1350"/>
          </a:p>
          <a:p>
            <a:pPr indent="0" lvl="1" marL="92075" rtl="0" algn="just">
              <a:lnSpc>
                <a:spcPct val="83000"/>
              </a:lnSpc>
              <a:spcBef>
                <a:spcPts val="0"/>
              </a:spcBef>
              <a:spcAft>
                <a:spcPts val="0"/>
              </a:spcAft>
              <a:buSzPts val="1600"/>
              <a:buNone/>
            </a:pPr>
            <a:r>
              <a:rPr lang="es-ES" sz="1350">
                <a:solidFill>
                  <a:srgbClr val="1F85A6"/>
                </a:solidFill>
              </a:rPr>
              <a:t>Dibuja círculos o rectángulos para representar las interfaces.</a:t>
            </a:r>
            <a:endParaRPr sz="1350"/>
          </a:p>
          <a:p>
            <a:pPr indent="0" lvl="1" marL="92075" rtl="0" algn="just">
              <a:lnSpc>
                <a:spcPct val="83000"/>
              </a:lnSpc>
              <a:spcBef>
                <a:spcPts val="0"/>
              </a:spcBef>
              <a:spcAft>
                <a:spcPts val="0"/>
              </a:spcAft>
              <a:buSzPts val="1600"/>
              <a:buNone/>
            </a:pPr>
            <a:r>
              <a:rPr lang="es-ES" sz="1350">
                <a:solidFill>
                  <a:srgbClr val="1F85A6"/>
                </a:solidFill>
              </a:rPr>
              <a:t>Conecta las interfaces a los componentes que las implementan o las utilizan.</a:t>
            </a:r>
            <a:endParaRPr sz="1350"/>
          </a:p>
          <a:p>
            <a:pPr indent="0" lvl="1" marL="82550" rtl="0" algn="just">
              <a:lnSpc>
                <a:spcPct val="83000"/>
              </a:lnSpc>
              <a:spcBef>
                <a:spcPts val="600"/>
              </a:spcBef>
              <a:spcAft>
                <a:spcPts val="0"/>
              </a:spcAft>
              <a:buSzPts val="1600"/>
              <a:buNone/>
            </a:pPr>
            <a:r>
              <a:rPr b="1" lang="es-ES" sz="1350">
                <a:solidFill>
                  <a:srgbClr val="1F85A6"/>
                </a:solidFill>
              </a:rPr>
              <a:t>Paso 6: Establecer Relaciones</a:t>
            </a:r>
            <a:endParaRPr sz="1350"/>
          </a:p>
          <a:p>
            <a:pPr indent="0" lvl="1" marL="92075" rtl="0" algn="just">
              <a:lnSpc>
                <a:spcPct val="83000"/>
              </a:lnSpc>
              <a:spcBef>
                <a:spcPts val="0"/>
              </a:spcBef>
              <a:spcAft>
                <a:spcPts val="0"/>
              </a:spcAft>
              <a:buSzPts val="1600"/>
              <a:buNone/>
            </a:pPr>
            <a:r>
              <a:rPr lang="es-ES" sz="1350">
                <a:solidFill>
                  <a:srgbClr val="1F85A6"/>
                </a:solidFill>
              </a:rPr>
              <a:t>Utiliza flechas de dependencia para mostrar las dependencias entre componentes.</a:t>
            </a:r>
            <a:endParaRPr sz="1350"/>
          </a:p>
          <a:p>
            <a:pPr indent="0" lvl="1" marL="92075" rtl="0" algn="just">
              <a:lnSpc>
                <a:spcPct val="83000"/>
              </a:lnSpc>
              <a:spcBef>
                <a:spcPts val="0"/>
              </a:spcBef>
              <a:spcAft>
                <a:spcPts val="0"/>
              </a:spcAft>
              <a:buSzPts val="1600"/>
              <a:buNone/>
            </a:pPr>
            <a:r>
              <a:rPr lang="es-ES" sz="1350">
                <a:solidFill>
                  <a:srgbClr val="1F85A6"/>
                </a:solidFill>
              </a:rPr>
              <a:t>Dibuja líneas de asociación para representar relaciones más generales entre componentes.</a:t>
            </a:r>
            <a:endParaRPr sz="1350"/>
          </a:p>
          <a:p>
            <a:pPr indent="0" lvl="0" marL="0" rtl="0" algn="just">
              <a:lnSpc>
                <a:spcPct val="83000"/>
              </a:lnSpc>
              <a:spcBef>
                <a:spcPts val="600"/>
              </a:spcBef>
              <a:spcAft>
                <a:spcPts val="0"/>
              </a:spcAft>
              <a:buSzPts val="1050"/>
              <a:buNone/>
            </a:pPr>
            <a:r>
              <a:rPr b="1" lang="es-ES" sz="1350">
                <a:solidFill>
                  <a:schemeClr val="dk1"/>
                </a:solidFill>
              </a:rPr>
              <a:t>  </a:t>
            </a:r>
            <a:endParaRPr sz="135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6"/>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COMPONENTES, PASO A PASO</a:t>
            </a:r>
            <a:endParaRPr>
              <a:solidFill>
                <a:srgbClr val="A5A5A5"/>
              </a:solidFill>
            </a:endParaRPr>
          </a:p>
        </p:txBody>
      </p:sp>
      <p:sp>
        <p:nvSpPr>
          <p:cNvPr id="191" name="Google Shape;191;p16"/>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COMPONENTES</a:t>
            </a:r>
            <a:endParaRPr/>
          </a:p>
        </p:txBody>
      </p:sp>
      <p:sp>
        <p:nvSpPr>
          <p:cNvPr id="192" name="Google Shape;192;p16"/>
          <p:cNvSpPr txBox="1"/>
          <p:nvPr>
            <p:ph idx="3" type="body"/>
          </p:nvPr>
        </p:nvSpPr>
        <p:spPr>
          <a:xfrm>
            <a:off x="468313" y="1174363"/>
            <a:ext cx="8207375" cy="3946277"/>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sz="1450">
                <a:solidFill>
                  <a:schemeClr val="dk1"/>
                </a:solidFill>
              </a:rPr>
              <a:t>Paso 7: Añadir Conectores</a:t>
            </a:r>
            <a:endParaRPr sz="1450"/>
          </a:p>
          <a:p>
            <a:pPr indent="0" lvl="1" marL="92075" rtl="0" algn="just">
              <a:lnSpc>
                <a:spcPct val="83000"/>
              </a:lnSpc>
              <a:spcBef>
                <a:spcPts val="0"/>
              </a:spcBef>
              <a:spcAft>
                <a:spcPts val="0"/>
              </a:spcAft>
              <a:buSzPts val="1600"/>
              <a:buNone/>
            </a:pPr>
            <a:r>
              <a:rPr lang="es-ES" sz="1450">
                <a:solidFill>
                  <a:schemeClr val="dk1"/>
                </a:solidFill>
              </a:rPr>
              <a:t>Utiliza conectores para mostrar cómo se comunican los componentes a través de sus interfaces.</a:t>
            </a:r>
            <a:endParaRPr sz="1450"/>
          </a:p>
          <a:p>
            <a:pPr indent="0" lvl="1" marL="92075" rtl="0" algn="just">
              <a:lnSpc>
                <a:spcPct val="83000"/>
              </a:lnSpc>
              <a:spcBef>
                <a:spcPts val="0"/>
              </a:spcBef>
              <a:spcAft>
                <a:spcPts val="0"/>
              </a:spcAft>
              <a:buSzPts val="1600"/>
              <a:buNone/>
            </a:pPr>
            <a:r>
              <a:rPr lang="es-ES" sz="1450">
                <a:solidFill>
                  <a:schemeClr val="dk1"/>
                </a:solidFill>
              </a:rPr>
              <a:t>Etiqueta los conectores con el tipo de comunicación/protocolo.</a:t>
            </a:r>
            <a:endParaRPr sz="1450"/>
          </a:p>
          <a:p>
            <a:pPr indent="0" lvl="0" marL="0" rtl="0" algn="just">
              <a:lnSpc>
                <a:spcPct val="83000"/>
              </a:lnSpc>
              <a:spcBef>
                <a:spcPts val="600"/>
              </a:spcBef>
              <a:spcAft>
                <a:spcPts val="0"/>
              </a:spcAft>
              <a:buSzPts val="1200"/>
              <a:buNone/>
            </a:pPr>
            <a:r>
              <a:rPr b="1" lang="es-ES" sz="1450">
                <a:solidFill>
                  <a:schemeClr val="dk1"/>
                </a:solidFill>
              </a:rPr>
              <a:t>  Paso 8: Organizar en Paquetes</a:t>
            </a:r>
            <a:endParaRPr sz="1450"/>
          </a:p>
          <a:p>
            <a:pPr indent="0" lvl="1" marL="92075" rtl="0" algn="just">
              <a:lnSpc>
                <a:spcPct val="83000"/>
              </a:lnSpc>
              <a:spcBef>
                <a:spcPts val="0"/>
              </a:spcBef>
              <a:spcAft>
                <a:spcPts val="0"/>
              </a:spcAft>
              <a:buSzPts val="1600"/>
              <a:buNone/>
            </a:pPr>
            <a:r>
              <a:rPr lang="es-ES" sz="1450">
                <a:solidFill>
                  <a:schemeClr val="dk1"/>
                </a:solidFill>
              </a:rPr>
              <a:t>Agrupa componentes relacionados en paquetes para mejorar la legibilidad.</a:t>
            </a:r>
            <a:endParaRPr sz="1450"/>
          </a:p>
          <a:p>
            <a:pPr indent="0" lvl="0" marL="0" rtl="0" algn="just">
              <a:lnSpc>
                <a:spcPct val="83000"/>
              </a:lnSpc>
              <a:spcBef>
                <a:spcPts val="600"/>
              </a:spcBef>
              <a:spcAft>
                <a:spcPts val="0"/>
              </a:spcAft>
              <a:buSzPts val="1200"/>
              <a:buNone/>
            </a:pPr>
            <a:r>
              <a:rPr b="1" lang="es-ES" sz="1450">
                <a:solidFill>
                  <a:schemeClr val="dk1"/>
                </a:solidFill>
              </a:rPr>
              <a:t>  Paso 9: Añadir Notas y Comentarios</a:t>
            </a:r>
            <a:endParaRPr sz="1450"/>
          </a:p>
          <a:p>
            <a:pPr indent="0" lvl="1" marL="92075" rtl="0" algn="just">
              <a:lnSpc>
                <a:spcPct val="83000"/>
              </a:lnSpc>
              <a:spcBef>
                <a:spcPts val="0"/>
              </a:spcBef>
              <a:spcAft>
                <a:spcPts val="0"/>
              </a:spcAft>
              <a:buSzPts val="1600"/>
              <a:buNone/>
            </a:pPr>
            <a:r>
              <a:rPr lang="es-ES" sz="1450">
                <a:solidFill>
                  <a:schemeClr val="dk1"/>
                </a:solidFill>
              </a:rPr>
              <a:t>Incluye notas explicativas para aclarar aspectos que puedan ser confusos o que requieran más contexto.</a:t>
            </a:r>
            <a:endParaRPr sz="1450"/>
          </a:p>
          <a:p>
            <a:pPr indent="0" lvl="0" marL="0" rtl="0" algn="just">
              <a:lnSpc>
                <a:spcPct val="83000"/>
              </a:lnSpc>
              <a:spcBef>
                <a:spcPts val="600"/>
              </a:spcBef>
              <a:spcAft>
                <a:spcPts val="0"/>
              </a:spcAft>
              <a:buSzPts val="1200"/>
              <a:buNone/>
            </a:pPr>
            <a:r>
              <a:rPr b="1" lang="es-ES" sz="1450">
                <a:solidFill>
                  <a:schemeClr val="dk1"/>
                </a:solidFill>
              </a:rPr>
              <a:t>  Paso 10: Revisar y Validar</a:t>
            </a:r>
            <a:endParaRPr sz="1450"/>
          </a:p>
          <a:p>
            <a:pPr indent="0" lvl="1" marL="92075" rtl="0" algn="just">
              <a:lnSpc>
                <a:spcPct val="83000"/>
              </a:lnSpc>
              <a:spcBef>
                <a:spcPts val="0"/>
              </a:spcBef>
              <a:spcAft>
                <a:spcPts val="0"/>
              </a:spcAft>
              <a:buSzPts val="1600"/>
              <a:buNone/>
            </a:pPr>
            <a:r>
              <a:rPr lang="es-ES" sz="1450">
                <a:solidFill>
                  <a:schemeClr val="dk1"/>
                </a:solidFill>
              </a:rPr>
              <a:t>Revisa el diagrama para asegurarte de que todos los componentes y relaciones están representados correctamente.</a:t>
            </a:r>
            <a:endParaRPr sz="1450"/>
          </a:p>
          <a:p>
            <a:pPr indent="0" lvl="1" marL="92075" rtl="0" algn="just">
              <a:lnSpc>
                <a:spcPct val="83000"/>
              </a:lnSpc>
              <a:spcBef>
                <a:spcPts val="0"/>
              </a:spcBef>
              <a:spcAft>
                <a:spcPts val="0"/>
              </a:spcAft>
              <a:buSzPts val="1600"/>
              <a:buNone/>
            </a:pPr>
            <a:r>
              <a:rPr lang="es-ES" sz="1450">
                <a:solidFill>
                  <a:schemeClr val="dk1"/>
                </a:solidFill>
              </a:rPr>
              <a:t>Valida el diagrama con otros miembros del equipo o stakeholders para asegurarte de que cumple con los objetivos y que es preciso.</a:t>
            </a:r>
            <a:endParaRPr sz="1450"/>
          </a:p>
          <a:p>
            <a:pPr indent="0" lvl="0" marL="0" marR="0" rtl="0" algn="just">
              <a:lnSpc>
                <a:spcPct val="83000"/>
              </a:lnSpc>
              <a:spcBef>
                <a:spcPts val="600"/>
              </a:spcBef>
              <a:spcAft>
                <a:spcPts val="0"/>
              </a:spcAft>
              <a:buClr>
                <a:srgbClr val="3F3F3F"/>
              </a:buClr>
              <a:buSzPts val="1200"/>
              <a:buFont typeface="Noto Sans Symbols"/>
              <a:buNone/>
            </a:pPr>
            <a:r>
              <a:rPr b="1" i="1" lang="es-ES" sz="1450" u="none" cap="none" strike="noStrike">
                <a:solidFill>
                  <a:srgbClr val="000000"/>
                </a:solidFill>
                <a:latin typeface="Calibri"/>
                <a:ea typeface="Calibri"/>
                <a:cs typeface="Calibri"/>
                <a:sym typeface="Calibri"/>
              </a:rPr>
              <a:t>  Paso 11: Iterar</a:t>
            </a:r>
            <a:endParaRPr sz="1450"/>
          </a:p>
          <a:p>
            <a:pPr indent="0" lvl="1" marL="92075" marR="0" rtl="0" algn="just">
              <a:lnSpc>
                <a:spcPct val="83000"/>
              </a:lnSpc>
              <a:spcBef>
                <a:spcPts val="0"/>
              </a:spcBef>
              <a:spcAft>
                <a:spcPts val="0"/>
              </a:spcAft>
              <a:buClr>
                <a:srgbClr val="3F3F3F"/>
              </a:buClr>
              <a:buSzPts val="1600"/>
              <a:buFont typeface="Noto Sans Symbols"/>
              <a:buNone/>
            </a:pPr>
            <a:r>
              <a:rPr b="0" i="1" lang="es-ES" sz="1450" u="none" cap="none" strike="noStrike">
                <a:solidFill>
                  <a:srgbClr val="000000"/>
                </a:solidFill>
                <a:latin typeface="Calibri"/>
                <a:ea typeface="Calibri"/>
                <a:cs typeface="Calibri"/>
                <a:sym typeface="Calibri"/>
              </a:rPr>
              <a:t>Actualiza el diagrama según sea necesario, especialmente si el sistema cambia o se agregan nuevos componentes.</a:t>
            </a:r>
            <a:endParaRPr sz="1450"/>
          </a:p>
          <a:p>
            <a:pPr indent="0" lvl="0" marL="0" marR="0" rtl="0" algn="just">
              <a:lnSpc>
                <a:spcPct val="83000"/>
              </a:lnSpc>
              <a:spcBef>
                <a:spcPts val="600"/>
              </a:spcBef>
              <a:spcAft>
                <a:spcPts val="0"/>
              </a:spcAft>
              <a:buClr>
                <a:srgbClr val="3F3F3F"/>
              </a:buClr>
              <a:buSzPts val="1200"/>
              <a:buFont typeface="Noto Sans Symbols"/>
              <a:buNone/>
            </a:pPr>
            <a:r>
              <a:rPr b="1" i="1" lang="es-ES" sz="1450" u="none" cap="none" strike="noStrike">
                <a:solidFill>
                  <a:srgbClr val="000000"/>
                </a:solidFill>
                <a:latin typeface="Calibri"/>
                <a:ea typeface="Calibri"/>
                <a:cs typeface="Calibri"/>
                <a:sym typeface="Calibri"/>
              </a:rPr>
              <a:t>  Paso 12: Documentar y Compartir</a:t>
            </a:r>
            <a:endParaRPr sz="1450"/>
          </a:p>
          <a:p>
            <a:pPr indent="0" lvl="1" marL="92075" marR="0" rtl="0" algn="just">
              <a:lnSpc>
                <a:spcPct val="83000"/>
              </a:lnSpc>
              <a:spcBef>
                <a:spcPts val="0"/>
              </a:spcBef>
              <a:spcAft>
                <a:spcPts val="0"/>
              </a:spcAft>
              <a:buClr>
                <a:srgbClr val="3F3F3F"/>
              </a:buClr>
              <a:buSzPts val="1600"/>
              <a:buFont typeface="Noto Sans Symbols"/>
              <a:buNone/>
            </a:pPr>
            <a:r>
              <a:rPr b="0" i="1" lang="es-ES" sz="1450" u="none" cap="none" strike="noStrike">
                <a:solidFill>
                  <a:srgbClr val="000000"/>
                </a:solidFill>
                <a:latin typeface="Calibri"/>
                <a:ea typeface="Calibri"/>
                <a:cs typeface="Calibri"/>
                <a:sym typeface="Calibri"/>
              </a:rPr>
              <a:t>Guarda y documenta el diagrama.</a:t>
            </a:r>
            <a:endParaRPr sz="1450"/>
          </a:p>
          <a:p>
            <a:pPr indent="0" lvl="1" marL="92075" marR="0" rtl="0" algn="just">
              <a:lnSpc>
                <a:spcPct val="83000"/>
              </a:lnSpc>
              <a:spcBef>
                <a:spcPts val="0"/>
              </a:spcBef>
              <a:spcAft>
                <a:spcPts val="0"/>
              </a:spcAft>
              <a:buClr>
                <a:srgbClr val="3F3F3F"/>
              </a:buClr>
              <a:buSzPts val="1600"/>
              <a:buFont typeface="Noto Sans Symbols"/>
              <a:buNone/>
            </a:pPr>
            <a:r>
              <a:rPr b="0" i="1" lang="es-ES" sz="1450" u="none" cap="none" strike="noStrike">
                <a:solidFill>
                  <a:srgbClr val="000000"/>
                </a:solidFill>
                <a:latin typeface="Calibri"/>
                <a:ea typeface="Calibri"/>
                <a:cs typeface="Calibri"/>
                <a:sym typeface="Calibri"/>
              </a:rPr>
              <a:t>Comparte el diagrama con el equipo de desarrollo, arquitectos y cualquier otra persona interesada.</a:t>
            </a:r>
            <a:endParaRPr sz="145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7"/>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COMPONENTES, PASO A PASO </a:t>
            </a:r>
            <a:endParaRPr/>
          </a:p>
        </p:txBody>
      </p:sp>
      <p:sp>
        <p:nvSpPr>
          <p:cNvPr id="199" name="Google Shape;199;p17"/>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COMPONENTES</a:t>
            </a:r>
            <a:endParaRPr/>
          </a:p>
        </p:txBody>
      </p:sp>
      <p:sp>
        <p:nvSpPr>
          <p:cNvPr id="200" name="Google Shape;200;p17"/>
          <p:cNvSpPr txBox="1"/>
          <p:nvPr>
            <p:ph idx="3" type="body"/>
          </p:nvPr>
        </p:nvSpPr>
        <p:spPr>
          <a:xfrm>
            <a:off x="468313" y="1174364"/>
            <a:ext cx="8207375" cy="4021092"/>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sp>
        <p:nvSpPr>
          <p:cNvPr id="201" name="Google Shape;201;p17"/>
          <p:cNvSpPr txBox="1"/>
          <p:nvPr/>
        </p:nvSpPr>
        <p:spPr>
          <a:xfrm>
            <a:off x="207217" y="1290577"/>
            <a:ext cx="4929900" cy="3984000"/>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500"/>
              <a:buFont typeface="Arial"/>
              <a:buNone/>
            </a:pPr>
            <a:r>
              <a:rPr b="1" i="0" lang="es-ES" sz="1500" u="none" cap="none" strike="noStrike">
                <a:solidFill>
                  <a:srgbClr val="FFFFCC"/>
                </a:solidFill>
                <a:latin typeface="Calibri"/>
                <a:ea typeface="Calibri"/>
                <a:cs typeface="Calibri"/>
                <a:sym typeface="Calibri"/>
              </a:rPr>
              <a:t>Paquetes:</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Front-end</a:t>
            </a:r>
            <a:r>
              <a:rPr b="0" i="0" lang="es-ES" sz="1500" u="none" cap="none" strike="noStrike">
                <a:solidFill>
                  <a:srgbClr val="FFFFCC"/>
                </a:solidFill>
                <a:latin typeface="Calibri"/>
                <a:ea typeface="Calibri"/>
                <a:cs typeface="Calibri"/>
                <a:sym typeface="Calibri"/>
              </a:rPr>
              <a:t>: Contiene los componentes relacionados con la interfaz de usuario y la comunicación con el back-end.</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Back-end</a:t>
            </a:r>
            <a:r>
              <a:rPr b="0" i="0" lang="es-ES" sz="1500" u="none" cap="none" strike="noStrike">
                <a:solidFill>
                  <a:srgbClr val="FFFFCC"/>
                </a:solidFill>
                <a:latin typeface="Calibri"/>
                <a:ea typeface="Calibri"/>
                <a:cs typeface="Calibri"/>
                <a:sym typeface="Calibri"/>
              </a:rPr>
              <a:t>: Aloja los componentes que manejan la lógica de negocio, la autenticación y el acceso a datos.</a:t>
            </a:r>
            <a:endParaRPr b="0" i="0" sz="1500" u="none" cap="none" strike="noStrike">
              <a:solidFill>
                <a:srgbClr val="000000"/>
              </a:solidFill>
              <a:latin typeface="Arial"/>
              <a:ea typeface="Arial"/>
              <a:cs typeface="Arial"/>
              <a:sym typeface="Arial"/>
            </a:endParaRPr>
          </a:p>
          <a:p>
            <a:pPr indent="0" lvl="0" marL="0" marR="0" rtl="0" algn="l">
              <a:lnSpc>
                <a:spcPct val="85000"/>
              </a:lnSpc>
              <a:spcBef>
                <a:spcPts val="1400"/>
              </a:spcBef>
              <a:spcAft>
                <a:spcPts val="0"/>
              </a:spcAft>
              <a:buClr>
                <a:srgbClr val="000000"/>
              </a:buClr>
              <a:buSzPts val="1500"/>
              <a:buFont typeface="Arial"/>
              <a:buNone/>
            </a:pPr>
            <a:r>
              <a:rPr b="1" i="0" lang="es-ES" sz="1500" u="none" cap="none" strike="noStrike">
                <a:solidFill>
                  <a:srgbClr val="FFFFCC"/>
                </a:solidFill>
                <a:latin typeface="Calibri"/>
                <a:ea typeface="Calibri"/>
                <a:cs typeface="Calibri"/>
                <a:sym typeface="Calibri"/>
              </a:rPr>
              <a:t>Componentes:</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User</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Interface</a:t>
            </a:r>
            <a:r>
              <a:rPr b="0" i="0" lang="es-ES" sz="1500" u="none" cap="none" strike="noStrike">
                <a:solidFill>
                  <a:srgbClr val="FFFFCC"/>
                </a:solidFill>
                <a:latin typeface="Calibri"/>
                <a:ea typeface="Calibri"/>
                <a:cs typeface="Calibri"/>
                <a:sym typeface="Calibri"/>
              </a:rPr>
              <a:t>: Este componente maneja la interfaz de usuario y la interacción con el usuario.</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API</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Client</a:t>
            </a:r>
            <a:r>
              <a:rPr b="0" i="0" lang="es-ES" sz="1500" u="none" cap="none" strike="noStrike">
                <a:solidFill>
                  <a:srgbClr val="FFFFCC"/>
                </a:solidFill>
                <a:latin typeface="Calibri"/>
                <a:ea typeface="Calibri"/>
                <a:cs typeface="Calibri"/>
                <a:sym typeface="Calibri"/>
              </a:rPr>
              <a:t>: Este es el cliente que se comunica con el back-end. Es responsable de hacer llamadas API al back-end.</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Authentication</a:t>
            </a:r>
            <a:r>
              <a:rPr b="0" i="0" lang="es-ES" sz="1500" u="none" cap="none" strike="noStrike">
                <a:solidFill>
                  <a:srgbClr val="FFFFCC"/>
                </a:solidFill>
                <a:latin typeface="Calibri"/>
                <a:ea typeface="Calibri"/>
                <a:cs typeface="Calibri"/>
                <a:sym typeface="Calibri"/>
              </a:rPr>
              <a:t>: Este componente en el back-end maneja todo lo relacionado con la autenticación de usuarios.</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Business</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Logic</a:t>
            </a:r>
            <a:r>
              <a:rPr b="0" i="0" lang="es-ES" sz="1500" u="none" cap="none" strike="noStrike">
                <a:solidFill>
                  <a:srgbClr val="FFFFCC"/>
                </a:solidFill>
                <a:latin typeface="Calibri"/>
                <a:ea typeface="Calibri"/>
                <a:cs typeface="Calibri"/>
                <a:sym typeface="Calibri"/>
              </a:rPr>
              <a:t>: Este componente contiene la lógica de negocio del sistema.</a:t>
            </a:r>
            <a:endParaRPr b="0" i="0" sz="15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Data</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Access</a:t>
            </a:r>
            <a:r>
              <a:rPr b="0" i="0" lang="es-ES" sz="1500" u="none" cap="none" strike="noStrike">
                <a:solidFill>
                  <a:srgbClr val="FFFFCC"/>
                </a:solidFill>
                <a:latin typeface="Calibri"/>
                <a:ea typeface="Calibri"/>
                <a:cs typeface="Calibri"/>
                <a:sym typeface="Calibri"/>
              </a:rPr>
              <a:t>: Este componente se encarga de interactuar con la base de datos o cualquier otro almacenamiento de datos.</a:t>
            </a:r>
            <a:endParaRPr b="0" i="0" sz="1500" u="none" cap="none" strike="noStrike">
              <a:solidFill>
                <a:srgbClr val="000000"/>
              </a:solidFill>
              <a:latin typeface="Arial"/>
              <a:ea typeface="Arial"/>
              <a:cs typeface="Arial"/>
              <a:sym typeface="Arial"/>
            </a:endParaRPr>
          </a:p>
        </p:txBody>
      </p:sp>
      <p:pic>
        <p:nvPicPr>
          <p:cNvPr id="202" name="Google Shape;202;p17"/>
          <p:cNvPicPr preferRelativeResize="0"/>
          <p:nvPr/>
        </p:nvPicPr>
        <p:blipFill rotWithShape="1">
          <a:blip r:embed="rId3">
            <a:alphaModFix/>
          </a:blip>
          <a:srcRect b="0" l="0" r="0" t="0"/>
          <a:stretch/>
        </p:blipFill>
        <p:spPr>
          <a:xfrm>
            <a:off x="5462858" y="1343133"/>
            <a:ext cx="3074914" cy="36618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8"/>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COMPONENTES, PASO A PASO </a:t>
            </a:r>
            <a:endParaRPr/>
          </a:p>
        </p:txBody>
      </p:sp>
      <p:sp>
        <p:nvSpPr>
          <p:cNvPr id="209" name="Google Shape;209;p18"/>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COMPONENTES</a:t>
            </a:r>
            <a:endParaRPr/>
          </a:p>
        </p:txBody>
      </p:sp>
      <p:sp>
        <p:nvSpPr>
          <p:cNvPr id="210" name="Google Shape;210;p18"/>
          <p:cNvSpPr txBox="1"/>
          <p:nvPr>
            <p:ph idx="3" type="body"/>
          </p:nvPr>
        </p:nvSpPr>
        <p:spPr>
          <a:xfrm>
            <a:off x="468313" y="1174363"/>
            <a:ext cx="8207375" cy="4078543"/>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sp>
        <p:nvSpPr>
          <p:cNvPr id="211" name="Google Shape;211;p18"/>
          <p:cNvSpPr txBox="1"/>
          <p:nvPr/>
        </p:nvSpPr>
        <p:spPr>
          <a:xfrm>
            <a:off x="606228" y="1347290"/>
            <a:ext cx="4533619" cy="2747355"/>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500"/>
              <a:buFont typeface="Arial"/>
              <a:buNone/>
            </a:pPr>
            <a:r>
              <a:rPr b="1" i="0" lang="es-ES" sz="1500" u="none" cap="none" strike="noStrike">
                <a:solidFill>
                  <a:srgbClr val="FFFFCC"/>
                </a:solidFill>
                <a:latin typeface="Calibri"/>
                <a:ea typeface="Calibri"/>
                <a:cs typeface="Calibri"/>
                <a:sym typeface="Calibri"/>
              </a:rPr>
              <a:t>Relaciones: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User</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Interface</a:t>
            </a:r>
            <a:r>
              <a:rPr b="0" i="0" lang="es-ES" sz="1500" u="none" cap="none" strike="noStrike">
                <a:solidFill>
                  <a:srgbClr val="FFFFCC"/>
                </a:solidFill>
                <a:latin typeface="Calibri"/>
                <a:ea typeface="Calibri"/>
                <a:cs typeface="Calibri"/>
                <a:sym typeface="Calibri"/>
              </a:rPr>
              <a:t> --&gt; </a:t>
            </a:r>
            <a:r>
              <a:rPr b="1" i="0" lang="es-ES" sz="1500" u="none" cap="none" strike="noStrike">
                <a:solidFill>
                  <a:schemeClr val="dk1"/>
                </a:solidFill>
                <a:latin typeface="Calibri"/>
                <a:ea typeface="Calibri"/>
                <a:cs typeface="Calibri"/>
                <a:sym typeface="Calibri"/>
              </a:rPr>
              <a:t>API</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Client</a:t>
            </a:r>
            <a:r>
              <a:rPr b="0" i="0" lang="es-ES" sz="1500" u="none" cap="none" strike="noStrike">
                <a:solidFill>
                  <a:srgbClr val="FFFFCC"/>
                </a:solidFill>
                <a:latin typeface="Calibri"/>
                <a:ea typeface="Calibri"/>
                <a:cs typeface="Calibri"/>
                <a:sym typeface="Calibri"/>
              </a:rPr>
              <a:t>: La interfaz de usuario utiliza el cliente API para enviar y recibir datos.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API</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Client</a:t>
            </a:r>
            <a:r>
              <a:rPr b="0" i="0" lang="es-ES" sz="1500" u="none" cap="none" strike="noStrike">
                <a:solidFill>
                  <a:srgbClr val="FFFFCC"/>
                </a:solidFill>
                <a:latin typeface="Calibri"/>
                <a:ea typeface="Calibri"/>
                <a:cs typeface="Calibri"/>
                <a:sym typeface="Calibri"/>
              </a:rPr>
              <a:t> --&gt; </a:t>
            </a:r>
            <a:r>
              <a:rPr b="1" i="0" lang="es-ES" sz="1500" u="none" cap="none" strike="noStrike">
                <a:solidFill>
                  <a:schemeClr val="dk1"/>
                </a:solidFill>
                <a:latin typeface="Calibri"/>
                <a:ea typeface="Calibri"/>
                <a:cs typeface="Calibri"/>
                <a:sym typeface="Calibri"/>
              </a:rPr>
              <a:t>Authentication</a:t>
            </a:r>
            <a:r>
              <a:rPr b="0" i="0" lang="es-ES" sz="1500" u="none" cap="none" strike="noStrike">
                <a:solidFill>
                  <a:srgbClr val="FFFFCC"/>
                </a:solidFill>
                <a:latin typeface="Calibri"/>
                <a:ea typeface="Calibri"/>
                <a:cs typeface="Calibri"/>
                <a:sym typeface="Calibri"/>
              </a:rPr>
              <a:t>: El cliente API necesita autenticar las solicitudes, por lo que interactúa con el componente de autenticación.</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Authentication</a:t>
            </a:r>
            <a:r>
              <a:rPr b="0" i="0" lang="es-ES" sz="1500" u="none" cap="none" strike="noStrike">
                <a:solidFill>
                  <a:srgbClr val="FFFFCC"/>
                </a:solidFill>
                <a:latin typeface="Calibri"/>
                <a:ea typeface="Calibri"/>
                <a:cs typeface="Calibri"/>
                <a:sym typeface="Calibri"/>
              </a:rPr>
              <a:t> --&gt; </a:t>
            </a:r>
            <a:r>
              <a:rPr b="1" i="0" lang="es-ES" sz="1500" u="none" cap="none" strike="noStrike">
                <a:solidFill>
                  <a:schemeClr val="dk1"/>
                </a:solidFill>
                <a:latin typeface="Calibri"/>
                <a:ea typeface="Calibri"/>
                <a:cs typeface="Calibri"/>
                <a:sym typeface="Calibri"/>
              </a:rPr>
              <a:t>Business</a:t>
            </a:r>
            <a:r>
              <a:rPr b="0" i="0" lang="es-ES" sz="1500" u="none" cap="none" strike="noStrike">
                <a:solidFill>
                  <a:srgbClr val="FFFFCC"/>
                </a:solidFill>
                <a:latin typeface="Calibri"/>
                <a:ea typeface="Calibri"/>
                <a:cs typeface="Calibri"/>
                <a:sym typeface="Calibri"/>
              </a:rPr>
              <a:t> Logic: Una vez autenticadas, las solicitudes se pasan a la lógica de negocio para su procesamiento.</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Business</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Logic</a:t>
            </a:r>
            <a:r>
              <a:rPr b="0" i="0" lang="es-ES" sz="1500" u="none" cap="none" strike="noStrike">
                <a:solidFill>
                  <a:srgbClr val="FFFFCC"/>
                </a:solidFill>
                <a:latin typeface="Calibri"/>
                <a:ea typeface="Calibri"/>
                <a:cs typeface="Calibri"/>
                <a:sym typeface="Calibri"/>
              </a:rPr>
              <a:t> --&gt; </a:t>
            </a:r>
            <a:r>
              <a:rPr b="1" i="0" lang="es-ES" sz="1500" u="none" cap="none" strike="noStrike">
                <a:solidFill>
                  <a:schemeClr val="dk1"/>
                </a:solidFill>
                <a:latin typeface="Calibri"/>
                <a:ea typeface="Calibri"/>
                <a:cs typeface="Calibri"/>
                <a:sym typeface="Calibri"/>
              </a:rPr>
              <a:t>Data</a:t>
            </a:r>
            <a:r>
              <a:rPr b="0" i="0" lang="es-ES" sz="1500" u="none" cap="none" strike="noStrike">
                <a:solidFill>
                  <a:srgbClr val="FFFFCC"/>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Access</a:t>
            </a:r>
            <a:r>
              <a:rPr b="0" i="0" lang="es-ES" sz="1500" u="none" cap="none" strike="noStrike">
                <a:solidFill>
                  <a:srgbClr val="FFFFCC"/>
                </a:solidFill>
                <a:latin typeface="Calibri"/>
                <a:ea typeface="Calibri"/>
                <a:cs typeface="Calibri"/>
                <a:sym typeface="Calibri"/>
              </a:rPr>
              <a:t>: La lógica de negocio interactúa con el componente de acceso a datos para realizar operaciones CRUD (Crear, Leer, Actualizar, Eliminar).</a:t>
            </a:r>
            <a:endParaRPr b="0" i="0" sz="1400" u="none" cap="none" strike="noStrike">
              <a:solidFill>
                <a:srgbClr val="000000"/>
              </a:solidFill>
              <a:latin typeface="Arial"/>
              <a:ea typeface="Arial"/>
              <a:cs typeface="Arial"/>
              <a:sym typeface="Arial"/>
            </a:endParaRPr>
          </a:p>
        </p:txBody>
      </p:sp>
      <p:pic>
        <p:nvPicPr>
          <p:cNvPr id="212" name="Google Shape;212;p18"/>
          <p:cNvPicPr preferRelativeResize="0"/>
          <p:nvPr/>
        </p:nvPicPr>
        <p:blipFill rotWithShape="1">
          <a:blip r:embed="rId3">
            <a:alphaModFix/>
          </a:blip>
          <a:srcRect b="0" l="0" r="0" t="0"/>
          <a:stretch/>
        </p:blipFill>
        <p:spPr>
          <a:xfrm>
            <a:off x="5153891" y="1223100"/>
            <a:ext cx="3383881" cy="40298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19" name="Google Shape;219;p19"/>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ELEMENTOS DEL DIAGRAMA DE DESPLIEGUE</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0"/>
          <p:cNvPicPr preferRelativeResize="0"/>
          <p:nvPr>
            <p:ph idx="2" type="pic"/>
          </p:nvPr>
        </p:nvPicPr>
        <p:blipFill rotWithShape="1">
          <a:blip r:embed="rId3">
            <a:alphaModFix/>
          </a:blip>
          <a:srcRect b="160" l="0" r="0" t="161"/>
          <a:stretch/>
        </p:blipFill>
        <p:spPr>
          <a:xfrm>
            <a:off x="5037513" y="1023636"/>
            <a:ext cx="3372168" cy="3667727"/>
          </a:xfrm>
          <a:prstGeom prst="rect">
            <a:avLst/>
          </a:prstGeom>
          <a:noFill/>
          <a:ln>
            <a:noFill/>
          </a:ln>
        </p:spPr>
      </p:pic>
      <p:sp>
        <p:nvSpPr>
          <p:cNvPr id="226" name="Google Shape;226;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DESPLIEGUE</a:t>
            </a:r>
            <a:endParaRPr b="0">
              <a:solidFill>
                <a:srgbClr val="0070C0"/>
              </a:solidFill>
            </a:endParaRPr>
          </a:p>
        </p:txBody>
      </p:sp>
      <p:sp>
        <p:nvSpPr>
          <p:cNvPr id="227" name="Google Shape;227;p20"/>
          <p:cNvSpPr txBox="1"/>
          <p:nvPr>
            <p:ph idx="4" type="body"/>
          </p:nvPr>
        </p:nvSpPr>
        <p:spPr>
          <a:xfrm>
            <a:off x="468313" y="1177927"/>
            <a:ext cx="438632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Nodo (Node)</a:t>
            </a:r>
            <a:endParaRPr/>
          </a:p>
          <a:p>
            <a:pPr indent="0" lvl="1" marL="265113" rtl="0" algn="l">
              <a:lnSpc>
                <a:spcPct val="100000"/>
              </a:lnSpc>
              <a:spcBef>
                <a:spcPts val="0"/>
              </a:spcBef>
              <a:spcAft>
                <a:spcPts val="0"/>
              </a:spcAft>
              <a:buClr>
                <a:schemeClr val="dk1"/>
              </a:buClr>
              <a:buSzPts val="1600"/>
              <a:buNone/>
            </a:pPr>
            <a:r>
              <a:rPr lang="es-ES"/>
              <a:t>Representa una entidad física en el sistema, como un servidor, una estación de trabajo o un dispositivo móvil. Se dibuja como un cubo tridimensional.</a:t>
            </a:r>
            <a:endParaRPr/>
          </a:p>
          <a:p>
            <a:pPr indent="-266700" lvl="0" marL="266700" rtl="0" algn="l">
              <a:lnSpc>
                <a:spcPct val="100000"/>
              </a:lnSpc>
              <a:spcBef>
                <a:spcPts val="800"/>
              </a:spcBef>
              <a:spcAft>
                <a:spcPts val="0"/>
              </a:spcAft>
              <a:buClr>
                <a:schemeClr val="dk1"/>
              </a:buClr>
              <a:buSzPts val="1200"/>
              <a:buChar char="❑"/>
            </a:pPr>
            <a:r>
              <a:rPr b="1" lang="es-ES"/>
              <a:t>Artefacto (Artifact)</a:t>
            </a:r>
            <a:endParaRPr/>
          </a:p>
          <a:p>
            <a:pPr indent="0" lvl="1" marL="265113" rtl="0" algn="l">
              <a:lnSpc>
                <a:spcPct val="100000"/>
              </a:lnSpc>
              <a:spcBef>
                <a:spcPts val="0"/>
              </a:spcBef>
              <a:spcAft>
                <a:spcPts val="0"/>
              </a:spcAft>
              <a:buClr>
                <a:schemeClr val="dk1"/>
              </a:buClr>
              <a:buSzPts val="1600"/>
              <a:buNone/>
            </a:pPr>
            <a:r>
              <a:rPr lang="es-ES"/>
              <a:t>Son entidades de software que se despliegan en los nodos (archivos ejecutables, bibliotecas, tablas de bases de datos, etc.). Se representan como un rectángulo con una notación.</a:t>
            </a:r>
            <a:endParaRPr/>
          </a:p>
          <a:p>
            <a:pPr indent="-266700" lvl="0" marL="266700" rtl="0" algn="l">
              <a:lnSpc>
                <a:spcPct val="100000"/>
              </a:lnSpc>
              <a:spcBef>
                <a:spcPts val="800"/>
              </a:spcBef>
              <a:spcAft>
                <a:spcPts val="0"/>
              </a:spcAft>
              <a:buClr>
                <a:schemeClr val="dk1"/>
              </a:buClr>
              <a:buSzPts val="1200"/>
              <a:buChar char="❑"/>
            </a:pPr>
            <a:r>
              <a:rPr b="1" lang="es-ES"/>
              <a:t>Asociación</a:t>
            </a:r>
            <a:endParaRPr/>
          </a:p>
          <a:p>
            <a:pPr indent="0" lvl="1" marL="265113" rtl="0" algn="l">
              <a:lnSpc>
                <a:spcPct val="100000"/>
              </a:lnSpc>
              <a:spcBef>
                <a:spcPts val="0"/>
              </a:spcBef>
              <a:spcAft>
                <a:spcPts val="0"/>
              </a:spcAft>
              <a:buClr>
                <a:schemeClr val="dk1"/>
              </a:buClr>
              <a:buSzPts val="1600"/>
              <a:buNone/>
            </a:pPr>
            <a:r>
              <a:rPr lang="es-ES"/>
              <a:t>Representan conexiones físicas o lógicas entre diferentes nodos. Se dibujan como líneas que conectan los nodos.</a:t>
            </a:r>
            <a:endParaRPr/>
          </a:p>
        </p:txBody>
      </p:sp>
      <p:sp>
        <p:nvSpPr>
          <p:cNvPr id="228" name="Google Shape;228;p20"/>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DESPLIEGUE – ELEMENTOS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21"/>
          <p:cNvPicPr preferRelativeResize="0"/>
          <p:nvPr>
            <p:ph idx="2" type="pic"/>
          </p:nvPr>
        </p:nvPicPr>
        <p:blipFill rotWithShape="1">
          <a:blip r:embed="rId3">
            <a:alphaModFix/>
          </a:blip>
          <a:srcRect b="160" l="0" r="0" t="161"/>
          <a:stretch/>
        </p:blipFill>
        <p:spPr>
          <a:xfrm>
            <a:off x="5506879" y="1058815"/>
            <a:ext cx="3307478" cy="3597367"/>
          </a:xfrm>
          <a:prstGeom prst="rect">
            <a:avLst/>
          </a:prstGeom>
          <a:noFill/>
          <a:ln>
            <a:noFill/>
          </a:ln>
        </p:spPr>
      </p:pic>
      <p:sp>
        <p:nvSpPr>
          <p:cNvPr id="235" name="Google Shape;235;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ELEMENTOS DEL DIAGRAMA DE DESPLIEGUE</a:t>
            </a:r>
            <a:endParaRPr b="0">
              <a:solidFill>
                <a:srgbClr val="0070C0"/>
              </a:solidFill>
            </a:endParaRPr>
          </a:p>
        </p:txBody>
      </p:sp>
      <p:sp>
        <p:nvSpPr>
          <p:cNvPr id="236" name="Google Shape;236;p21"/>
          <p:cNvSpPr txBox="1"/>
          <p:nvPr>
            <p:ph idx="4" type="body"/>
          </p:nvPr>
        </p:nvSpPr>
        <p:spPr>
          <a:xfrm>
            <a:off x="468327" y="1177925"/>
            <a:ext cx="5186400" cy="40968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b="1" lang="es-ES"/>
              <a:t>Dependencia</a:t>
            </a:r>
            <a:endParaRPr/>
          </a:p>
          <a:p>
            <a:pPr indent="0" lvl="1" marL="265113" rtl="0" algn="l">
              <a:lnSpc>
                <a:spcPct val="100000"/>
              </a:lnSpc>
              <a:spcBef>
                <a:spcPts val="0"/>
              </a:spcBef>
              <a:spcAft>
                <a:spcPts val="0"/>
              </a:spcAft>
              <a:buClr>
                <a:schemeClr val="dk1"/>
              </a:buClr>
              <a:buSzPts val="1600"/>
              <a:buNone/>
            </a:pPr>
            <a:r>
              <a:rPr lang="es-ES"/>
              <a:t>Similar a los diagramas de componentes, una flecha de dependencia indica que un nodo o artefacto depende de otro para funcionar correctamente.</a:t>
            </a:r>
            <a:endParaRPr/>
          </a:p>
          <a:p>
            <a:pPr indent="-266700" lvl="0" marL="266700" rtl="0" algn="l">
              <a:lnSpc>
                <a:spcPct val="100000"/>
              </a:lnSpc>
              <a:spcBef>
                <a:spcPts val="800"/>
              </a:spcBef>
              <a:spcAft>
                <a:spcPts val="0"/>
              </a:spcAft>
              <a:buClr>
                <a:schemeClr val="dk1"/>
              </a:buClr>
              <a:buSzPts val="1200"/>
              <a:buChar char="❑"/>
            </a:pPr>
            <a:r>
              <a:rPr b="1" lang="es-ES"/>
              <a:t>Comunicación</a:t>
            </a:r>
            <a:endParaRPr/>
          </a:p>
          <a:p>
            <a:pPr indent="0" lvl="1" marL="265113" rtl="0" algn="l">
              <a:lnSpc>
                <a:spcPct val="100000"/>
              </a:lnSpc>
              <a:spcBef>
                <a:spcPts val="0"/>
              </a:spcBef>
              <a:spcAft>
                <a:spcPts val="0"/>
              </a:spcAft>
              <a:buClr>
                <a:schemeClr val="dk1"/>
              </a:buClr>
              <a:buSzPts val="1600"/>
              <a:buNone/>
            </a:pPr>
            <a:r>
              <a:rPr lang="es-ES"/>
              <a:t>Muestra cómo los nodos se comunican entre sí. Se representa mediante una línea punteada con una flecha en un extremo que apunta hacia el nodo receptor.</a:t>
            </a:r>
            <a:endParaRPr/>
          </a:p>
          <a:p>
            <a:pPr indent="-266700" lvl="0" marL="266700" rtl="0" algn="l">
              <a:lnSpc>
                <a:spcPct val="100000"/>
              </a:lnSpc>
              <a:spcBef>
                <a:spcPts val="800"/>
              </a:spcBef>
              <a:spcAft>
                <a:spcPts val="0"/>
              </a:spcAft>
              <a:buClr>
                <a:schemeClr val="dk1"/>
              </a:buClr>
              <a:buSzPts val="1200"/>
              <a:buChar char="❑"/>
            </a:pPr>
            <a:r>
              <a:rPr b="1" lang="es-ES"/>
              <a:t>Instancia</a:t>
            </a:r>
            <a:endParaRPr/>
          </a:p>
          <a:p>
            <a:pPr indent="0" lvl="1" marL="266700" rtl="0" algn="l">
              <a:lnSpc>
                <a:spcPct val="100000"/>
              </a:lnSpc>
              <a:spcBef>
                <a:spcPts val="0"/>
              </a:spcBef>
              <a:spcAft>
                <a:spcPts val="0"/>
              </a:spcAft>
              <a:buClr>
                <a:schemeClr val="dk1"/>
              </a:buClr>
              <a:buSzPts val="1600"/>
              <a:buNone/>
            </a:pPr>
            <a:r>
              <a:rPr lang="es-ES"/>
              <a:t>Son representaciones específicas de un nodo o artefacto en tiempo de ejecución. Se pueden usar para mostrar múltiples instancias de un nodo o artefacto.</a:t>
            </a:r>
            <a:endParaRPr/>
          </a:p>
        </p:txBody>
      </p:sp>
      <p:sp>
        <p:nvSpPr>
          <p:cNvPr id="237" name="Google Shape;237;p21"/>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DESPLIEGUE – ELEMENTOS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DESPLIEGUE, PASO A PASO</a:t>
            </a:r>
            <a:endParaRPr>
              <a:solidFill>
                <a:srgbClr val="A5A5A5"/>
              </a:solidFill>
            </a:endParaRPr>
          </a:p>
        </p:txBody>
      </p:sp>
      <p:sp>
        <p:nvSpPr>
          <p:cNvPr id="244" name="Google Shape;244;p22"/>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DESPLIEGUE</a:t>
            </a:r>
            <a:endParaRPr/>
          </a:p>
        </p:txBody>
      </p:sp>
      <p:sp>
        <p:nvSpPr>
          <p:cNvPr id="245" name="Google Shape;245;p22"/>
          <p:cNvSpPr txBox="1"/>
          <p:nvPr>
            <p:ph idx="3" type="body"/>
          </p:nvPr>
        </p:nvSpPr>
        <p:spPr>
          <a:xfrm>
            <a:off x="468313" y="1174363"/>
            <a:ext cx="8207375" cy="4079281"/>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sz="1400">
                <a:solidFill>
                  <a:srgbClr val="1F85A6"/>
                </a:solidFill>
              </a:rPr>
              <a:t>  Paso 1: Definir el Alcance y Objetivos</a:t>
            </a:r>
            <a:endParaRPr sz="1400"/>
          </a:p>
          <a:p>
            <a:pPr indent="0" lvl="1" marL="92075" rtl="0" algn="just">
              <a:lnSpc>
                <a:spcPct val="83000"/>
              </a:lnSpc>
              <a:spcBef>
                <a:spcPts val="0"/>
              </a:spcBef>
              <a:spcAft>
                <a:spcPts val="0"/>
              </a:spcAft>
              <a:buSzPts val="1600"/>
              <a:buNone/>
            </a:pPr>
            <a:r>
              <a:rPr lang="es-ES">
                <a:solidFill>
                  <a:srgbClr val="1F85A6"/>
                </a:solidFill>
              </a:rPr>
              <a:t>Identifica el sistema o subsistema que será modelado.</a:t>
            </a:r>
            <a:endParaRPr/>
          </a:p>
          <a:p>
            <a:pPr indent="0" lvl="1" marL="92075" rtl="0" algn="just">
              <a:lnSpc>
                <a:spcPct val="83000"/>
              </a:lnSpc>
              <a:spcBef>
                <a:spcPts val="0"/>
              </a:spcBef>
              <a:spcAft>
                <a:spcPts val="0"/>
              </a:spcAft>
              <a:buSzPts val="1600"/>
              <a:buNone/>
            </a:pPr>
            <a:r>
              <a:rPr lang="es-ES">
                <a:solidFill>
                  <a:srgbClr val="1F85A6"/>
                </a:solidFill>
              </a:rPr>
              <a:t>Establece los objetivos del diagrama, como entender la infraestructura física, las interacciones entre servidores, etc.</a:t>
            </a:r>
            <a:endParaRPr/>
          </a:p>
          <a:p>
            <a:pPr indent="0" lvl="0" marL="0" rtl="0" algn="just">
              <a:lnSpc>
                <a:spcPct val="83000"/>
              </a:lnSpc>
              <a:spcBef>
                <a:spcPts val="600"/>
              </a:spcBef>
              <a:spcAft>
                <a:spcPts val="0"/>
              </a:spcAft>
              <a:buSzPts val="1200"/>
              <a:buNone/>
            </a:pPr>
            <a:r>
              <a:rPr b="1" lang="es-ES" sz="1400">
                <a:solidFill>
                  <a:srgbClr val="1F85A6"/>
                </a:solidFill>
              </a:rPr>
              <a:t>  Paso 2: Reunir Información</a:t>
            </a:r>
            <a:endParaRPr sz="1400"/>
          </a:p>
          <a:p>
            <a:pPr indent="0" lvl="1" marL="92075" rtl="0" algn="just">
              <a:lnSpc>
                <a:spcPct val="83000"/>
              </a:lnSpc>
              <a:spcBef>
                <a:spcPts val="0"/>
              </a:spcBef>
              <a:spcAft>
                <a:spcPts val="0"/>
              </a:spcAft>
              <a:buSzPts val="1600"/>
              <a:buNone/>
            </a:pPr>
            <a:r>
              <a:rPr lang="es-ES">
                <a:solidFill>
                  <a:srgbClr val="1F85A6"/>
                </a:solidFill>
              </a:rPr>
              <a:t>Haz un inventario de los nodos (servidores, dispositivos, etc.) e identifica los artefactos (aplicaciones, servicios, bases de datos, etc.) que se desplegarán en estos nodos.</a:t>
            </a:r>
            <a:endParaRPr/>
          </a:p>
          <a:p>
            <a:pPr indent="0" lvl="1" marL="92075" rtl="0" algn="just">
              <a:lnSpc>
                <a:spcPct val="83000"/>
              </a:lnSpc>
              <a:spcBef>
                <a:spcPts val="0"/>
              </a:spcBef>
              <a:spcAft>
                <a:spcPts val="0"/>
              </a:spcAft>
              <a:buSzPts val="1600"/>
              <a:buNone/>
            </a:pPr>
            <a:r>
              <a:rPr lang="es-ES">
                <a:solidFill>
                  <a:srgbClr val="1F85A6"/>
                </a:solidFill>
              </a:rPr>
              <a:t>Recopila detalles adicionales, como protocolos de comunicación, dependencias y requisitos de hardware.</a:t>
            </a:r>
            <a:endParaRPr/>
          </a:p>
          <a:p>
            <a:pPr indent="0" lvl="0" marL="0" rtl="0" algn="just">
              <a:lnSpc>
                <a:spcPct val="83000"/>
              </a:lnSpc>
              <a:spcBef>
                <a:spcPts val="600"/>
              </a:spcBef>
              <a:spcAft>
                <a:spcPts val="0"/>
              </a:spcAft>
              <a:buSzPts val="1200"/>
              <a:buNone/>
            </a:pPr>
            <a:r>
              <a:rPr b="1" lang="es-ES" sz="1400">
                <a:solidFill>
                  <a:srgbClr val="1F85A6"/>
                </a:solidFill>
              </a:rPr>
              <a:t>  Paso 3: Elegir Herramientas</a:t>
            </a:r>
            <a:endParaRPr sz="1400"/>
          </a:p>
          <a:p>
            <a:pPr indent="0" lvl="1" marL="92075" rtl="0" algn="just">
              <a:lnSpc>
                <a:spcPct val="83000"/>
              </a:lnSpc>
              <a:spcBef>
                <a:spcPts val="0"/>
              </a:spcBef>
              <a:spcAft>
                <a:spcPts val="0"/>
              </a:spcAft>
              <a:buSzPts val="1600"/>
              <a:buNone/>
            </a:pPr>
            <a:r>
              <a:rPr lang="es-ES">
                <a:solidFill>
                  <a:srgbClr val="1F85A6"/>
                </a:solidFill>
              </a:rPr>
              <a:t>Selecciona una herramienta para dibujar el diagrama.</a:t>
            </a:r>
            <a:endParaRPr/>
          </a:p>
          <a:p>
            <a:pPr indent="0" lvl="0" marL="0" rtl="0" algn="just">
              <a:lnSpc>
                <a:spcPct val="83000"/>
              </a:lnSpc>
              <a:spcBef>
                <a:spcPts val="600"/>
              </a:spcBef>
              <a:spcAft>
                <a:spcPts val="0"/>
              </a:spcAft>
              <a:buSzPts val="1200"/>
              <a:buNone/>
            </a:pPr>
            <a:r>
              <a:rPr b="1" lang="es-ES" sz="1400">
                <a:solidFill>
                  <a:srgbClr val="1F85A6"/>
                </a:solidFill>
              </a:rPr>
              <a:t>   Paso 4: Dibujar Nodos</a:t>
            </a:r>
            <a:endParaRPr sz="1400"/>
          </a:p>
          <a:p>
            <a:pPr indent="0" lvl="1" marL="92075" rtl="0" algn="just">
              <a:lnSpc>
                <a:spcPct val="83000"/>
              </a:lnSpc>
              <a:spcBef>
                <a:spcPts val="0"/>
              </a:spcBef>
              <a:spcAft>
                <a:spcPts val="0"/>
              </a:spcAft>
              <a:buSzPts val="1600"/>
              <a:buNone/>
            </a:pPr>
            <a:r>
              <a:rPr lang="es-ES">
                <a:solidFill>
                  <a:srgbClr val="1F85A6"/>
                </a:solidFill>
              </a:rPr>
              <a:t>Representa cada nodo con un cubo tridimensional.</a:t>
            </a:r>
            <a:endParaRPr/>
          </a:p>
          <a:p>
            <a:pPr indent="0" lvl="1" marL="92075" rtl="0" algn="just">
              <a:lnSpc>
                <a:spcPct val="83000"/>
              </a:lnSpc>
              <a:spcBef>
                <a:spcPts val="0"/>
              </a:spcBef>
              <a:spcAft>
                <a:spcPts val="0"/>
              </a:spcAft>
              <a:buSzPts val="1600"/>
              <a:buNone/>
            </a:pPr>
            <a:r>
              <a:rPr lang="es-ES">
                <a:solidFill>
                  <a:srgbClr val="1F85A6"/>
                </a:solidFill>
              </a:rPr>
              <a:t>Etiqueta los nodos con sus nombres y, si es necesario, con otra información relevante.</a:t>
            </a:r>
            <a:endParaRPr/>
          </a:p>
          <a:p>
            <a:pPr indent="0" lvl="0" marL="0" rtl="0" algn="just">
              <a:lnSpc>
                <a:spcPct val="83000"/>
              </a:lnSpc>
              <a:spcBef>
                <a:spcPts val="600"/>
              </a:spcBef>
              <a:spcAft>
                <a:spcPts val="0"/>
              </a:spcAft>
              <a:buSzPts val="1200"/>
              <a:buNone/>
            </a:pPr>
            <a:r>
              <a:rPr b="1" lang="es-ES" sz="1400">
                <a:solidFill>
                  <a:srgbClr val="1F85A6"/>
                </a:solidFill>
              </a:rPr>
              <a:t>  Paso 5: Agregar Artefactos</a:t>
            </a:r>
            <a:endParaRPr sz="1400"/>
          </a:p>
          <a:p>
            <a:pPr indent="0" lvl="1" marL="92075" rtl="0" algn="just">
              <a:lnSpc>
                <a:spcPct val="83000"/>
              </a:lnSpc>
              <a:spcBef>
                <a:spcPts val="0"/>
              </a:spcBef>
              <a:spcAft>
                <a:spcPts val="0"/>
              </a:spcAft>
              <a:buSzPts val="1600"/>
              <a:buNone/>
            </a:pPr>
            <a:r>
              <a:rPr lang="es-ES">
                <a:solidFill>
                  <a:srgbClr val="1F85A6"/>
                </a:solidFill>
              </a:rPr>
              <a:t>Dibuja rectángulos para representar los artefactos.</a:t>
            </a:r>
            <a:endParaRPr/>
          </a:p>
          <a:p>
            <a:pPr indent="0" lvl="1" marL="92075" rtl="0" algn="just">
              <a:lnSpc>
                <a:spcPct val="83000"/>
              </a:lnSpc>
              <a:spcBef>
                <a:spcPts val="0"/>
              </a:spcBef>
              <a:spcAft>
                <a:spcPts val="0"/>
              </a:spcAft>
              <a:buSzPts val="1600"/>
              <a:buNone/>
            </a:pPr>
            <a:r>
              <a:rPr lang="es-ES">
                <a:solidFill>
                  <a:srgbClr val="1F85A6"/>
                </a:solidFill>
              </a:rPr>
              <a:t>Ubica los artefactos dentro de los nodos correspondientes para mostrar dónde se desplegarán.</a:t>
            </a:r>
            <a:endParaRPr/>
          </a:p>
          <a:p>
            <a:pPr indent="0" lvl="1" marL="82550" rtl="0" algn="just">
              <a:lnSpc>
                <a:spcPct val="83000"/>
              </a:lnSpc>
              <a:spcBef>
                <a:spcPts val="600"/>
              </a:spcBef>
              <a:spcAft>
                <a:spcPts val="0"/>
              </a:spcAft>
              <a:buSzPts val="1600"/>
              <a:buNone/>
            </a:pPr>
            <a:r>
              <a:rPr b="1" lang="es-ES">
                <a:solidFill>
                  <a:srgbClr val="1F85A6"/>
                </a:solidFill>
              </a:rPr>
              <a:t>Paso 6: Establecer Relaciones</a:t>
            </a:r>
            <a:endParaRPr/>
          </a:p>
          <a:p>
            <a:pPr indent="0" lvl="1" marL="92075" rtl="0" algn="just">
              <a:lnSpc>
                <a:spcPct val="83000"/>
              </a:lnSpc>
              <a:spcBef>
                <a:spcPts val="0"/>
              </a:spcBef>
              <a:spcAft>
                <a:spcPts val="0"/>
              </a:spcAft>
              <a:buSzPts val="1600"/>
              <a:buNone/>
            </a:pPr>
            <a:r>
              <a:rPr lang="es-ES">
                <a:solidFill>
                  <a:srgbClr val="1F85A6"/>
                </a:solidFill>
              </a:rPr>
              <a:t>Utiliza líneas para representar las asociaciones entre nodos, mostrando cómo están conectados física o lógicamente.</a:t>
            </a:r>
            <a:endParaRPr/>
          </a:p>
          <a:p>
            <a:pPr indent="0" lvl="1" marL="92075" rtl="0" algn="just">
              <a:lnSpc>
                <a:spcPct val="83000"/>
              </a:lnSpc>
              <a:spcBef>
                <a:spcPts val="0"/>
              </a:spcBef>
              <a:spcAft>
                <a:spcPts val="0"/>
              </a:spcAft>
              <a:buSzPts val="1600"/>
              <a:buNone/>
            </a:pPr>
            <a:r>
              <a:rPr lang="es-ES">
                <a:solidFill>
                  <a:srgbClr val="1F85A6"/>
                </a:solidFill>
              </a:rPr>
              <a:t>Agrega flechas de dependencia si un nodo o artefacto depende de otro para su funcionamiento.</a:t>
            </a:r>
            <a:endParaRPr/>
          </a:p>
          <a:p>
            <a:pPr indent="0" lvl="0" marL="0" rtl="0" algn="just">
              <a:lnSpc>
                <a:spcPct val="83000"/>
              </a:lnSpc>
              <a:spcBef>
                <a:spcPts val="600"/>
              </a:spcBef>
              <a:spcAft>
                <a:spcPts val="0"/>
              </a:spcAft>
              <a:buSzPts val="1050"/>
              <a:buNone/>
            </a:pPr>
            <a:r>
              <a:rPr b="1" lang="es-ES" sz="1400">
                <a:solidFill>
                  <a:schemeClr val="dk1"/>
                </a:solidFill>
              </a:rPr>
              <a:t>  </a:t>
            </a:r>
            <a:endParaRPr sz="14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rgbClr val="3F3F3F"/>
              </a:buClr>
              <a:buSzPts val="1600"/>
              <a:buNone/>
            </a:pPr>
            <a:r>
              <a:rPr lang="es-ES"/>
              <a:t>ELABORAR UN DIAGRAMA DE DESPLIEGUE, PASO A PASO</a:t>
            </a:r>
            <a:endParaRPr>
              <a:solidFill>
                <a:srgbClr val="A5A5A5"/>
              </a:solidFill>
            </a:endParaRPr>
          </a:p>
        </p:txBody>
      </p:sp>
      <p:sp>
        <p:nvSpPr>
          <p:cNvPr id="252" name="Google Shape;252;p23"/>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DESPLIEGUE</a:t>
            </a:r>
            <a:endParaRPr/>
          </a:p>
        </p:txBody>
      </p:sp>
      <p:sp>
        <p:nvSpPr>
          <p:cNvPr id="253" name="Google Shape;253;p23"/>
          <p:cNvSpPr txBox="1"/>
          <p:nvPr>
            <p:ph idx="3" type="body"/>
          </p:nvPr>
        </p:nvSpPr>
        <p:spPr>
          <a:xfrm>
            <a:off x="468313" y="1174363"/>
            <a:ext cx="8207375" cy="4012779"/>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83000"/>
              </a:lnSpc>
              <a:spcBef>
                <a:spcPts val="0"/>
              </a:spcBef>
              <a:spcAft>
                <a:spcPts val="0"/>
              </a:spcAft>
              <a:buSzPts val="1200"/>
              <a:buNone/>
            </a:pPr>
            <a:r>
              <a:rPr b="1" lang="es-ES" sz="1400">
                <a:solidFill>
                  <a:schemeClr val="dk1"/>
                </a:solidFill>
              </a:rPr>
              <a:t>Paso 7: Mostrar comunicación</a:t>
            </a:r>
            <a:endParaRPr sz="1400"/>
          </a:p>
          <a:p>
            <a:pPr indent="0" lvl="1" marL="92075" rtl="0" algn="just">
              <a:lnSpc>
                <a:spcPct val="83000"/>
              </a:lnSpc>
              <a:spcBef>
                <a:spcPts val="0"/>
              </a:spcBef>
              <a:spcAft>
                <a:spcPts val="0"/>
              </a:spcAft>
              <a:buSzPts val="1600"/>
              <a:buNone/>
            </a:pPr>
            <a:r>
              <a:rPr lang="es-ES">
                <a:solidFill>
                  <a:schemeClr val="dk1"/>
                </a:solidFill>
              </a:rPr>
              <a:t>Utiliza líneas punteadas con flechas para indicar cómo se comunican los nodos entre sí.</a:t>
            </a:r>
            <a:endParaRPr/>
          </a:p>
          <a:p>
            <a:pPr indent="0" lvl="1" marL="92075" rtl="0" algn="just">
              <a:lnSpc>
                <a:spcPct val="83000"/>
              </a:lnSpc>
              <a:spcBef>
                <a:spcPts val="0"/>
              </a:spcBef>
              <a:spcAft>
                <a:spcPts val="0"/>
              </a:spcAft>
              <a:buSzPts val="1600"/>
              <a:buNone/>
            </a:pPr>
            <a:r>
              <a:rPr lang="es-ES">
                <a:solidFill>
                  <a:schemeClr val="dk1"/>
                </a:solidFill>
              </a:rPr>
              <a:t>Etiqueta las líneas de comunicación para indicar el tipo de comunicación o protocolo utilizado.</a:t>
            </a:r>
            <a:endParaRPr/>
          </a:p>
          <a:p>
            <a:pPr indent="0" lvl="0" marL="0" rtl="0" algn="just">
              <a:lnSpc>
                <a:spcPct val="83000"/>
              </a:lnSpc>
              <a:spcBef>
                <a:spcPts val="600"/>
              </a:spcBef>
              <a:spcAft>
                <a:spcPts val="0"/>
              </a:spcAft>
              <a:buSzPts val="1200"/>
              <a:buNone/>
            </a:pPr>
            <a:r>
              <a:rPr b="1" lang="es-ES" sz="1400">
                <a:solidFill>
                  <a:schemeClr val="dk1"/>
                </a:solidFill>
              </a:rPr>
              <a:t>  Paso 8: Añadir Instancias (opcional)</a:t>
            </a:r>
            <a:endParaRPr sz="1400"/>
          </a:p>
          <a:p>
            <a:pPr indent="0" lvl="1" marL="92075" rtl="0" algn="just">
              <a:lnSpc>
                <a:spcPct val="83000"/>
              </a:lnSpc>
              <a:spcBef>
                <a:spcPts val="0"/>
              </a:spcBef>
              <a:spcAft>
                <a:spcPts val="0"/>
              </a:spcAft>
              <a:buSzPts val="1600"/>
              <a:buNone/>
            </a:pPr>
            <a:r>
              <a:rPr lang="es-ES">
                <a:solidFill>
                  <a:schemeClr val="dk1"/>
                </a:solidFill>
              </a:rPr>
              <a:t>Si es necesario, muestra múltiples instancias de un nodo o artefacto para representar balanceo de carga o redundancia.</a:t>
            </a:r>
            <a:endParaRPr/>
          </a:p>
          <a:p>
            <a:pPr indent="0" lvl="0" marL="0" rtl="0" algn="just">
              <a:lnSpc>
                <a:spcPct val="83000"/>
              </a:lnSpc>
              <a:spcBef>
                <a:spcPts val="600"/>
              </a:spcBef>
              <a:spcAft>
                <a:spcPts val="0"/>
              </a:spcAft>
              <a:buSzPts val="1200"/>
              <a:buNone/>
            </a:pPr>
            <a:r>
              <a:rPr b="1" lang="es-ES" sz="1400">
                <a:solidFill>
                  <a:schemeClr val="dk1"/>
                </a:solidFill>
              </a:rPr>
              <a:t>  Paso 9: Añadir Notas y Comentarios</a:t>
            </a:r>
            <a:endParaRPr sz="1400"/>
          </a:p>
          <a:p>
            <a:pPr indent="0" lvl="1" marL="92075" rtl="0" algn="just">
              <a:lnSpc>
                <a:spcPct val="83000"/>
              </a:lnSpc>
              <a:spcBef>
                <a:spcPts val="0"/>
              </a:spcBef>
              <a:spcAft>
                <a:spcPts val="0"/>
              </a:spcAft>
              <a:buSzPts val="1600"/>
              <a:buNone/>
            </a:pPr>
            <a:r>
              <a:rPr lang="es-ES">
                <a:solidFill>
                  <a:schemeClr val="dk1"/>
                </a:solidFill>
              </a:rPr>
              <a:t>Incluye notas explicativas para aclarar aspectos que puedan ser confusos o que requieran más contexto.</a:t>
            </a:r>
            <a:endParaRPr/>
          </a:p>
          <a:p>
            <a:pPr indent="0" lvl="0" marL="0" rtl="0" algn="just">
              <a:lnSpc>
                <a:spcPct val="83000"/>
              </a:lnSpc>
              <a:spcBef>
                <a:spcPts val="600"/>
              </a:spcBef>
              <a:spcAft>
                <a:spcPts val="0"/>
              </a:spcAft>
              <a:buSzPts val="1200"/>
              <a:buNone/>
            </a:pPr>
            <a:r>
              <a:rPr b="1" lang="es-ES" sz="1400">
                <a:solidFill>
                  <a:schemeClr val="dk1"/>
                </a:solidFill>
              </a:rPr>
              <a:t>  Paso 10: Revisar y Validar</a:t>
            </a:r>
            <a:endParaRPr sz="1400"/>
          </a:p>
          <a:p>
            <a:pPr indent="0" lvl="1" marL="92075" rtl="0" algn="just">
              <a:lnSpc>
                <a:spcPct val="83000"/>
              </a:lnSpc>
              <a:spcBef>
                <a:spcPts val="0"/>
              </a:spcBef>
              <a:spcAft>
                <a:spcPts val="0"/>
              </a:spcAft>
              <a:buSzPts val="1600"/>
              <a:buNone/>
            </a:pPr>
            <a:r>
              <a:rPr lang="es-ES">
                <a:solidFill>
                  <a:schemeClr val="dk1"/>
                </a:solidFill>
              </a:rPr>
              <a:t>Revisa el diagrama para asegurarte de que todos los elementos y relaciones están representados correctamente.</a:t>
            </a:r>
            <a:endParaRPr/>
          </a:p>
          <a:p>
            <a:pPr indent="0" lvl="1" marL="92075" rtl="0" algn="just">
              <a:lnSpc>
                <a:spcPct val="83000"/>
              </a:lnSpc>
              <a:spcBef>
                <a:spcPts val="0"/>
              </a:spcBef>
              <a:spcAft>
                <a:spcPts val="0"/>
              </a:spcAft>
              <a:buSzPts val="1600"/>
              <a:buNone/>
            </a:pPr>
            <a:r>
              <a:rPr lang="es-ES">
                <a:solidFill>
                  <a:schemeClr val="dk1"/>
                </a:solidFill>
              </a:rPr>
              <a:t>Valida el diagrama con otros miembros del equipo o stakeholders para asegurarte de que cumple con los objetivos y que es preciso.</a:t>
            </a:r>
            <a:endParaRPr/>
          </a:p>
          <a:p>
            <a:pPr indent="0" lvl="0" marL="0" marR="0" rtl="0" algn="just">
              <a:lnSpc>
                <a:spcPct val="83000"/>
              </a:lnSpc>
              <a:spcBef>
                <a:spcPts val="600"/>
              </a:spcBef>
              <a:spcAft>
                <a:spcPts val="0"/>
              </a:spcAft>
              <a:buClr>
                <a:srgbClr val="3F3F3F"/>
              </a:buClr>
              <a:buSzPts val="1200"/>
              <a:buFont typeface="Noto Sans Symbols"/>
              <a:buNone/>
            </a:pPr>
            <a:r>
              <a:rPr b="1" i="1" lang="es-ES" sz="1400" u="none" cap="none" strike="noStrike">
                <a:solidFill>
                  <a:srgbClr val="000000"/>
                </a:solidFill>
                <a:latin typeface="Calibri"/>
                <a:ea typeface="Calibri"/>
                <a:cs typeface="Calibri"/>
                <a:sym typeface="Calibri"/>
              </a:rPr>
              <a:t>  Paso 11: Iterar</a:t>
            </a:r>
            <a:endParaRPr sz="1400"/>
          </a:p>
          <a:p>
            <a:pPr indent="0" lvl="1" marL="92075" marR="0" rtl="0" algn="just">
              <a:lnSpc>
                <a:spcPct val="83000"/>
              </a:lnSpc>
              <a:spcBef>
                <a:spcPts val="0"/>
              </a:spcBef>
              <a:spcAft>
                <a:spcPts val="0"/>
              </a:spcAft>
              <a:buClr>
                <a:srgbClr val="3F3F3F"/>
              </a:buClr>
              <a:buSzPts val="1600"/>
              <a:buFont typeface="Noto Sans Symbols"/>
              <a:buNone/>
            </a:pPr>
            <a:r>
              <a:rPr b="0" i="1" lang="es-ES" u="none" cap="none" strike="noStrike">
                <a:solidFill>
                  <a:srgbClr val="000000"/>
                </a:solidFill>
                <a:latin typeface="Calibri"/>
                <a:ea typeface="Calibri"/>
                <a:cs typeface="Calibri"/>
                <a:sym typeface="Calibri"/>
              </a:rPr>
              <a:t>Actualiza el diagrama según sea necesario, especialmente si la infraestructura cambia o se agregan nuevos componentes.</a:t>
            </a:r>
            <a:endParaRPr/>
          </a:p>
          <a:p>
            <a:pPr indent="0" lvl="0" marL="0" marR="0" rtl="0" algn="just">
              <a:lnSpc>
                <a:spcPct val="83000"/>
              </a:lnSpc>
              <a:spcBef>
                <a:spcPts val="600"/>
              </a:spcBef>
              <a:spcAft>
                <a:spcPts val="0"/>
              </a:spcAft>
              <a:buClr>
                <a:srgbClr val="3F3F3F"/>
              </a:buClr>
              <a:buSzPts val="1200"/>
              <a:buFont typeface="Noto Sans Symbols"/>
              <a:buNone/>
            </a:pPr>
            <a:r>
              <a:rPr b="1" i="1" lang="es-ES" sz="1400" u="none" cap="none" strike="noStrike">
                <a:solidFill>
                  <a:srgbClr val="000000"/>
                </a:solidFill>
                <a:latin typeface="Calibri"/>
                <a:ea typeface="Calibri"/>
                <a:cs typeface="Calibri"/>
                <a:sym typeface="Calibri"/>
              </a:rPr>
              <a:t>  Paso 12: Documentar y Compartir</a:t>
            </a:r>
            <a:endParaRPr sz="1400"/>
          </a:p>
          <a:p>
            <a:pPr indent="0" lvl="1" marL="92075" marR="0" rtl="0" algn="just">
              <a:lnSpc>
                <a:spcPct val="83000"/>
              </a:lnSpc>
              <a:spcBef>
                <a:spcPts val="0"/>
              </a:spcBef>
              <a:spcAft>
                <a:spcPts val="0"/>
              </a:spcAft>
              <a:buClr>
                <a:srgbClr val="3F3F3F"/>
              </a:buClr>
              <a:buSzPts val="1600"/>
              <a:buFont typeface="Noto Sans Symbols"/>
              <a:buNone/>
            </a:pPr>
            <a:r>
              <a:rPr b="0" i="1" lang="es-ES" u="none" cap="none" strike="noStrike">
                <a:solidFill>
                  <a:srgbClr val="000000"/>
                </a:solidFill>
                <a:latin typeface="Calibri"/>
                <a:ea typeface="Calibri"/>
                <a:cs typeface="Calibri"/>
                <a:sym typeface="Calibri"/>
              </a:rPr>
              <a:t>Guarda y documenta el diagrama.</a:t>
            </a:r>
            <a:endParaRPr/>
          </a:p>
          <a:p>
            <a:pPr indent="0" lvl="1" marL="92075" marR="0" rtl="0" algn="just">
              <a:lnSpc>
                <a:spcPct val="83000"/>
              </a:lnSpc>
              <a:spcBef>
                <a:spcPts val="0"/>
              </a:spcBef>
              <a:spcAft>
                <a:spcPts val="0"/>
              </a:spcAft>
              <a:buClr>
                <a:srgbClr val="3F3F3F"/>
              </a:buClr>
              <a:buSzPts val="1600"/>
              <a:buFont typeface="Noto Sans Symbols"/>
              <a:buNone/>
            </a:pPr>
            <a:r>
              <a:rPr b="0" i="1" lang="es-ES" u="none" cap="none" strike="noStrike">
                <a:solidFill>
                  <a:srgbClr val="000000"/>
                </a:solidFill>
                <a:latin typeface="Calibri"/>
                <a:ea typeface="Calibri"/>
                <a:cs typeface="Calibri"/>
                <a:sym typeface="Calibri"/>
              </a:rPr>
              <a:t>Comparte el diagrama con el equipo de desarrollo, arquitectos, administradores de sistemas y cualquier otra persona interesada.</a:t>
            </a:r>
            <a:endParaRPr>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4"/>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DESPLIEGUE, PASO A PASO </a:t>
            </a:r>
            <a:endParaRPr/>
          </a:p>
        </p:txBody>
      </p:sp>
      <p:sp>
        <p:nvSpPr>
          <p:cNvPr id="260" name="Google Shape;260;p24"/>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DESPLIEGUE</a:t>
            </a:r>
            <a:endParaRPr/>
          </a:p>
        </p:txBody>
      </p:sp>
      <p:sp>
        <p:nvSpPr>
          <p:cNvPr id="261" name="Google Shape;261;p24"/>
          <p:cNvSpPr txBox="1"/>
          <p:nvPr>
            <p:ph idx="3" type="body"/>
          </p:nvPr>
        </p:nvSpPr>
        <p:spPr>
          <a:xfrm>
            <a:off x="468313" y="1150917"/>
            <a:ext cx="8207374" cy="3924601"/>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pic>
        <p:nvPicPr>
          <p:cNvPr id="262" name="Google Shape;262;p24"/>
          <p:cNvPicPr preferRelativeResize="0"/>
          <p:nvPr/>
        </p:nvPicPr>
        <p:blipFill rotWithShape="1">
          <a:blip r:embed="rId3">
            <a:alphaModFix/>
          </a:blip>
          <a:srcRect b="0" l="0" r="0" t="0"/>
          <a:stretch/>
        </p:blipFill>
        <p:spPr>
          <a:xfrm>
            <a:off x="2443893" y="1150917"/>
            <a:ext cx="5852210" cy="3609975"/>
          </a:xfrm>
          <a:prstGeom prst="rect">
            <a:avLst/>
          </a:prstGeom>
          <a:noFill/>
          <a:ln>
            <a:noFill/>
          </a:ln>
        </p:spPr>
      </p:pic>
      <p:sp>
        <p:nvSpPr>
          <p:cNvPr id="263" name="Google Shape;263;p24"/>
          <p:cNvSpPr txBox="1"/>
          <p:nvPr/>
        </p:nvSpPr>
        <p:spPr>
          <a:xfrm>
            <a:off x="179058" y="4959277"/>
            <a:ext cx="8560859" cy="237501"/>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100"/>
              <a:buFont typeface="Arial"/>
              <a:buNone/>
            </a:pPr>
            <a:r>
              <a:t/>
            </a:r>
            <a:endParaRPr b="0" i="0" sz="1100" u="none" cap="none" strike="noStrike">
              <a:solidFill>
                <a:schemeClr val="lt1"/>
              </a:solidFill>
              <a:latin typeface="Calibri"/>
              <a:ea typeface="Calibri"/>
              <a:cs typeface="Calibri"/>
              <a:sym typeface="Calibri"/>
            </a:endParaRPr>
          </a:p>
        </p:txBody>
      </p:sp>
      <p:sp>
        <p:nvSpPr>
          <p:cNvPr id="264" name="Google Shape;264;p24"/>
          <p:cNvSpPr txBox="1"/>
          <p:nvPr/>
        </p:nvSpPr>
        <p:spPr>
          <a:xfrm>
            <a:off x="179059" y="1211547"/>
            <a:ext cx="2177280" cy="3924601"/>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500"/>
              <a:buFont typeface="Arial"/>
              <a:buNone/>
            </a:pPr>
            <a:r>
              <a:rPr b="1" i="0" lang="es-ES" sz="1500" u="none" cap="none" strike="noStrike">
                <a:solidFill>
                  <a:schemeClr val="lt1"/>
                </a:solidFill>
                <a:latin typeface="Calibri"/>
                <a:ea typeface="Calibri"/>
                <a:cs typeface="Calibri"/>
                <a:sym typeface="Calibri"/>
              </a:rPr>
              <a:t>Nodos: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Web Server</a:t>
            </a:r>
            <a:r>
              <a:rPr b="0" i="0" lang="es-ES" sz="1500" u="none" cap="none" strike="noStrike">
                <a:solidFill>
                  <a:schemeClr val="lt1"/>
                </a:solidFill>
                <a:latin typeface="Calibri"/>
                <a:ea typeface="Calibri"/>
                <a:cs typeface="Calibri"/>
                <a:sym typeface="Calibri"/>
              </a:rPr>
              <a:t>: Este nodo representa el servidor web que aloja la aplicación web.</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Application</a:t>
            </a:r>
            <a:r>
              <a:rPr b="0" i="0" lang="es-ES" sz="1500" u="none" cap="none" strike="noStrike">
                <a:solidFill>
                  <a:schemeClr val="lt1"/>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Server</a:t>
            </a:r>
            <a:r>
              <a:rPr b="0" i="0" lang="es-ES" sz="1500" u="none" cap="none" strike="noStrike">
                <a:solidFill>
                  <a:schemeClr val="lt1"/>
                </a:solidFill>
                <a:latin typeface="Calibri"/>
                <a:ea typeface="Calibri"/>
                <a:cs typeface="Calibri"/>
                <a:sym typeface="Calibri"/>
              </a:rPr>
              <a:t>: Este nodo representa el servidor donde se ejecuta la lógica de negocio.</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Database</a:t>
            </a:r>
            <a:r>
              <a:rPr b="0" i="0" lang="es-ES" sz="1500" u="none" cap="none" strike="noStrike">
                <a:solidFill>
                  <a:schemeClr val="lt1"/>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Server</a:t>
            </a:r>
            <a:r>
              <a:rPr b="0" i="0" lang="es-ES" sz="1500" u="none" cap="none" strike="noStrike">
                <a:solidFill>
                  <a:schemeClr val="lt1"/>
                </a:solidFill>
                <a:latin typeface="Calibri"/>
                <a:ea typeface="Calibri"/>
                <a:cs typeface="Calibri"/>
                <a:sym typeface="Calibri"/>
              </a:rPr>
              <a:t>: Este nodo representa el servidor de bases de datos.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500"/>
              <a:buFont typeface="Noto Sans Symbols"/>
              <a:buChar char="▪"/>
            </a:pPr>
            <a:r>
              <a:rPr b="1" i="0" lang="es-ES" sz="1500" u="none" cap="none" strike="noStrike">
                <a:solidFill>
                  <a:schemeClr val="dk1"/>
                </a:solidFill>
                <a:latin typeface="Calibri"/>
                <a:ea typeface="Calibri"/>
                <a:cs typeface="Calibri"/>
                <a:sym typeface="Calibri"/>
              </a:rPr>
              <a:t>Mobile</a:t>
            </a:r>
            <a:r>
              <a:rPr b="0" i="0" lang="es-ES" sz="1500" u="none" cap="none" strike="noStrike">
                <a:solidFill>
                  <a:schemeClr val="lt1"/>
                </a:solidFill>
                <a:latin typeface="Calibri"/>
                <a:ea typeface="Calibri"/>
                <a:cs typeface="Calibri"/>
                <a:sym typeface="Calibri"/>
              </a:rPr>
              <a:t> </a:t>
            </a:r>
            <a:r>
              <a:rPr b="1" i="0" lang="es-ES" sz="1500" u="none" cap="none" strike="noStrike">
                <a:solidFill>
                  <a:schemeClr val="dk1"/>
                </a:solidFill>
                <a:latin typeface="Calibri"/>
                <a:ea typeface="Calibri"/>
                <a:cs typeface="Calibri"/>
                <a:sym typeface="Calibri"/>
              </a:rPr>
              <a:t>Device</a:t>
            </a:r>
            <a:r>
              <a:rPr b="0" i="0" lang="es-ES" sz="1500" u="none" cap="none" strike="noStrike">
                <a:solidFill>
                  <a:schemeClr val="lt1"/>
                </a:solidFill>
                <a:latin typeface="Calibri"/>
                <a:ea typeface="Calibri"/>
                <a:cs typeface="Calibri"/>
                <a:sym typeface="Calibri"/>
              </a:rPr>
              <a:t>: Este nodo representa un dispositivo móvil que interactúa con el sistema.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5"/>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p>
            <a:pPr indent="0" lvl="0" marL="0" marR="0" rtl="0" algn="l">
              <a:lnSpc>
                <a:spcPct val="85000"/>
              </a:lnSpc>
              <a:spcBef>
                <a:spcPts val="0"/>
              </a:spcBef>
              <a:spcAft>
                <a:spcPts val="0"/>
              </a:spcAft>
              <a:buClr>
                <a:srgbClr val="3F3F3F"/>
              </a:buClr>
              <a:buSzPts val="1600"/>
              <a:buFont typeface="Arial"/>
              <a:buNone/>
            </a:pPr>
            <a:r>
              <a:rPr lang="es-ES"/>
              <a:t>ELABORAR UN DIAGRAMA DE DESPLIEGUE, PASO A PASO </a:t>
            </a:r>
            <a:endParaRPr/>
          </a:p>
        </p:txBody>
      </p:sp>
      <p:sp>
        <p:nvSpPr>
          <p:cNvPr id="271" name="Google Shape;271;p2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chemeClr val="lt1"/>
              </a:buClr>
              <a:buSzPts val="1800"/>
              <a:buNone/>
            </a:pPr>
            <a:r>
              <a:rPr lang="es-ES"/>
              <a:t>/ ELEMENTOS DEL DIAGRAMA DE DESPLIEGUE</a:t>
            </a:r>
            <a:endParaRPr/>
          </a:p>
        </p:txBody>
      </p:sp>
      <p:sp>
        <p:nvSpPr>
          <p:cNvPr id="272" name="Google Shape;272;p25"/>
          <p:cNvSpPr txBox="1"/>
          <p:nvPr>
            <p:ph idx="3" type="body"/>
          </p:nvPr>
        </p:nvSpPr>
        <p:spPr>
          <a:xfrm>
            <a:off x="468314" y="1174364"/>
            <a:ext cx="8093796" cy="4051858"/>
          </a:xfrm>
          <a:prstGeom prst="rect">
            <a:avLst/>
          </a:prstGeom>
          <a:solidFill>
            <a:srgbClr val="FFFFCC"/>
          </a:solid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SzPts val="1200"/>
              <a:buNone/>
            </a:pPr>
            <a:r>
              <a:rPr lang="es-ES">
                <a:solidFill>
                  <a:srgbClr val="FFFFCC"/>
                </a:solidFill>
              </a:rPr>
              <a:t>.</a:t>
            </a:r>
            <a:endParaRPr>
              <a:solidFill>
                <a:srgbClr val="FFFFCC"/>
              </a:solidFill>
            </a:endParaRPr>
          </a:p>
        </p:txBody>
      </p:sp>
      <p:pic>
        <p:nvPicPr>
          <p:cNvPr id="273" name="Google Shape;273;p25"/>
          <p:cNvPicPr preferRelativeResize="0"/>
          <p:nvPr/>
        </p:nvPicPr>
        <p:blipFill rotWithShape="1">
          <a:blip r:embed="rId3">
            <a:alphaModFix/>
          </a:blip>
          <a:srcRect b="0" l="0" r="0" t="0"/>
          <a:stretch/>
        </p:blipFill>
        <p:spPr>
          <a:xfrm>
            <a:off x="3266853" y="1268179"/>
            <a:ext cx="4247853" cy="2435607"/>
          </a:xfrm>
          <a:prstGeom prst="rect">
            <a:avLst/>
          </a:prstGeom>
          <a:noFill/>
          <a:ln>
            <a:noFill/>
          </a:ln>
        </p:spPr>
      </p:pic>
      <p:sp>
        <p:nvSpPr>
          <p:cNvPr id="274" name="Google Shape;274;p25"/>
          <p:cNvSpPr txBox="1"/>
          <p:nvPr/>
        </p:nvSpPr>
        <p:spPr>
          <a:xfrm>
            <a:off x="2422336" y="3720436"/>
            <a:ext cx="6081583" cy="1452770"/>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Arial"/>
              <a:buNone/>
            </a:pPr>
            <a:r>
              <a:rPr b="1" i="0" lang="es-ES" sz="1400" u="none" cap="none" strike="noStrike">
                <a:solidFill>
                  <a:schemeClr val="lt1"/>
                </a:solidFill>
                <a:latin typeface="Calibri"/>
                <a:ea typeface="Calibri"/>
                <a:cs typeface="Calibri"/>
                <a:sym typeface="Calibri"/>
              </a:rPr>
              <a:t>Relaciones: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Web</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App</a:t>
            </a:r>
            <a:r>
              <a:rPr b="0" i="0" lang="es-ES" sz="1400" u="none" cap="none" strike="noStrike">
                <a:solidFill>
                  <a:schemeClr val="lt1"/>
                </a:solidFill>
                <a:latin typeface="Calibri"/>
                <a:ea typeface="Calibri"/>
                <a:cs typeface="Calibri"/>
                <a:sym typeface="Calibri"/>
              </a:rPr>
              <a:t> --&gt; </a:t>
            </a:r>
            <a:r>
              <a:rPr b="1" i="0" lang="es-ES" sz="1400" u="none" cap="none" strike="noStrike">
                <a:solidFill>
                  <a:schemeClr val="dk1"/>
                </a:solidFill>
                <a:latin typeface="Calibri"/>
                <a:ea typeface="Calibri"/>
                <a:cs typeface="Calibri"/>
                <a:sym typeface="Calibri"/>
              </a:rPr>
              <a:t>Business</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Logic</a:t>
            </a:r>
            <a:r>
              <a:rPr b="0" i="0" lang="es-ES" sz="1400" u="none" cap="none" strike="noStrike">
                <a:solidFill>
                  <a:schemeClr val="lt1"/>
                </a:solidFill>
                <a:latin typeface="Calibri"/>
                <a:ea typeface="Calibri"/>
                <a:cs typeface="Calibri"/>
                <a:sym typeface="Calibri"/>
              </a:rPr>
              <a:t>: La aplicación web envía solicitudes HTTP al servidor de aplicaciones para interactuar con la lógica de negocio.</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Business</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Logic</a:t>
            </a:r>
            <a:r>
              <a:rPr b="0" i="0" lang="es-ES" sz="1400" u="none" cap="none" strike="noStrike">
                <a:solidFill>
                  <a:schemeClr val="lt1"/>
                </a:solidFill>
                <a:latin typeface="Calibri"/>
                <a:ea typeface="Calibri"/>
                <a:cs typeface="Calibri"/>
                <a:sym typeface="Calibri"/>
              </a:rPr>
              <a:t> --&gt; </a:t>
            </a:r>
            <a:r>
              <a:rPr b="1" i="0" lang="es-ES" sz="1400" u="none" cap="none" strike="noStrike">
                <a:solidFill>
                  <a:schemeClr val="dk1"/>
                </a:solidFill>
                <a:latin typeface="Calibri"/>
                <a:ea typeface="Calibri"/>
                <a:cs typeface="Calibri"/>
                <a:sym typeface="Calibri"/>
              </a:rPr>
              <a:t>Database</a:t>
            </a:r>
            <a:r>
              <a:rPr b="0" i="0" lang="es-ES" sz="1400" u="none" cap="none" strike="noStrike">
                <a:solidFill>
                  <a:schemeClr val="lt1"/>
                </a:solidFill>
                <a:latin typeface="Calibri"/>
                <a:ea typeface="Calibri"/>
                <a:cs typeface="Calibri"/>
                <a:sym typeface="Calibri"/>
              </a:rPr>
              <a:t>: La lógica de negocio interactúa con la base de datos mediante consultas SQL.</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Mobile</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App</a:t>
            </a:r>
            <a:r>
              <a:rPr b="0" i="0" lang="es-ES" sz="1400" u="none" cap="none" strike="noStrike">
                <a:solidFill>
                  <a:schemeClr val="lt1"/>
                </a:solidFill>
                <a:latin typeface="Calibri"/>
                <a:ea typeface="Calibri"/>
                <a:cs typeface="Calibri"/>
                <a:sym typeface="Calibri"/>
              </a:rPr>
              <a:t> --&gt; </a:t>
            </a:r>
            <a:r>
              <a:rPr b="1" i="0" lang="es-ES" sz="1400" u="none" cap="none" strike="noStrike">
                <a:solidFill>
                  <a:schemeClr val="dk1"/>
                </a:solidFill>
                <a:latin typeface="Calibri"/>
                <a:ea typeface="Calibri"/>
                <a:cs typeface="Calibri"/>
                <a:sym typeface="Calibri"/>
              </a:rPr>
              <a:t>Business</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Logic</a:t>
            </a:r>
            <a:r>
              <a:rPr b="0" i="0" lang="es-ES" sz="1400" u="none" cap="none" strike="noStrike">
                <a:solidFill>
                  <a:schemeClr val="lt1"/>
                </a:solidFill>
                <a:latin typeface="Calibri"/>
                <a:ea typeface="Calibri"/>
                <a:cs typeface="Calibri"/>
                <a:sym typeface="Calibri"/>
              </a:rPr>
              <a:t>: La aplicación móvil se comunica con la lógica de negocio a través de llamadas API.</a:t>
            </a:r>
            <a:endParaRPr b="0" i="0" sz="1400" u="none" cap="none" strike="noStrike">
              <a:solidFill>
                <a:srgbClr val="000000"/>
              </a:solidFill>
              <a:latin typeface="Arial"/>
              <a:ea typeface="Arial"/>
              <a:cs typeface="Arial"/>
              <a:sym typeface="Arial"/>
            </a:endParaRPr>
          </a:p>
        </p:txBody>
      </p:sp>
      <p:sp>
        <p:nvSpPr>
          <p:cNvPr id="275" name="Google Shape;275;p25"/>
          <p:cNvSpPr txBox="1"/>
          <p:nvPr/>
        </p:nvSpPr>
        <p:spPr>
          <a:xfrm>
            <a:off x="93945" y="1367151"/>
            <a:ext cx="2285718" cy="3859070"/>
          </a:xfrm>
          <a:prstGeom prst="rect">
            <a:avLst/>
          </a:prstGeom>
          <a:solidFill>
            <a:srgbClr val="97AD01"/>
          </a:solidFill>
          <a:ln>
            <a:noFill/>
          </a:ln>
        </p:spPr>
        <p:txBody>
          <a:bodyPr anchorCtr="0" anchor="t" bIns="45700" lIns="91425" spcFirstLastPara="1" rIns="91425" wrap="square" tIns="45700">
            <a:spAutoFit/>
          </a:bodyPr>
          <a:lstStyle/>
          <a:p>
            <a:pPr indent="0" lvl="0" marL="0" marR="0" rtl="0" algn="l">
              <a:lnSpc>
                <a:spcPct val="85000"/>
              </a:lnSpc>
              <a:spcBef>
                <a:spcPts val="0"/>
              </a:spcBef>
              <a:spcAft>
                <a:spcPts val="0"/>
              </a:spcAft>
              <a:buClr>
                <a:srgbClr val="000000"/>
              </a:buClr>
              <a:buSzPts val="1400"/>
              <a:buFont typeface="Arial"/>
              <a:buNone/>
            </a:pPr>
            <a:r>
              <a:rPr b="1" i="0" lang="es-ES" sz="1400" u="none" cap="none" strike="noStrike">
                <a:solidFill>
                  <a:schemeClr val="lt1"/>
                </a:solidFill>
                <a:latin typeface="Calibri"/>
                <a:ea typeface="Calibri"/>
                <a:cs typeface="Calibri"/>
                <a:sym typeface="Calibri"/>
              </a:rPr>
              <a:t>Artefactos: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Web</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App</a:t>
            </a:r>
            <a:r>
              <a:rPr b="0" i="0" lang="es-ES" sz="1400" u="none" cap="none" strike="noStrike">
                <a:solidFill>
                  <a:schemeClr val="lt1"/>
                </a:solidFill>
                <a:latin typeface="Calibri"/>
                <a:ea typeface="Calibri"/>
                <a:cs typeface="Calibri"/>
                <a:sym typeface="Calibri"/>
              </a:rPr>
              <a:t>: Este artefacto representa la aplicación web que se aloja en el servidor web.</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Business</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Logic</a:t>
            </a:r>
            <a:r>
              <a:rPr b="0" i="0" lang="es-ES" sz="1400" u="none" cap="none" strike="noStrike">
                <a:solidFill>
                  <a:schemeClr val="lt1"/>
                </a:solidFill>
                <a:latin typeface="Calibri"/>
                <a:ea typeface="Calibri"/>
                <a:cs typeface="Calibri"/>
                <a:sym typeface="Calibri"/>
              </a:rPr>
              <a:t>: Este artefacto representa la lógica de negocio que se ejecuta en el servidor de aplicaciones.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Database</a:t>
            </a:r>
            <a:r>
              <a:rPr b="0" i="0" lang="es-ES" sz="1400" u="none" cap="none" strike="noStrike">
                <a:solidFill>
                  <a:schemeClr val="lt1"/>
                </a:solidFill>
                <a:latin typeface="Calibri"/>
                <a:ea typeface="Calibri"/>
                <a:cs typeface="Calibri"/>
                <a:sym typeface="Calibri"/>
              </a:rPr>
              <a:t>: Este artefacto representa la base de datos que se aloja en el servidor de bases de datos.</a:t>
            </a:r>
            <a:endParaRPr b="0" i="0" sz="1400" u="none" cap="none" strike="noStrike">
              <a:solidFill>
                <a:srgbClr val="000000"/>
              </a:solidFill>
              <a:latin typeface="Arial"/>
              <a:ea typeface="Arial"/>
              <a:cs typeface="Arial"/>
              <a:sym typeface="Arial"/>
            </a:endParaRPr>
          </a:p>
          <a:p>
            <a:pPr indent="-171450" lvl="0" marL="171450" marR="0" rtl="0" algn="l">
              <a:lnSpc>
                <a:spcPct val="85000"/>
              </a:lnSpc>
              <a:spcBef>
                <a:spcPts val="200"/>
              </a:spcBef>
              <a:spcAft>
                <a:spcPts val="0"/>
              </a:spcAft>
              <a:buClr>
                <a:schemeClr val="dk1"/>
              </a:buClr>
              <a:buSzPts val="1400"/>
              <a:buFont typeface="Noto Sans Symbols"/>
              <a:buChar char="▪"/>
            </a:pPr>
            <a:r>
              <a:rPr b="1" i="0" lang="es-ES" sz="1400" u="none" cap="none" strike="noStrike">
                <a:solidFill>
                  <a:schemeClr val="dk1"/>
                </a:solidFill>
                <a:latin typeface="Calibri"/>
                <a:ea typeface="Calibri"/>
                <a:cs typeface="Calibri"/>
                <a:sym typeface="Calibri"/>
              </a:rPr>
              <a:t>Mobile</a:t>
            </a:r>
            <a:r>
              <a:rPr b="0" i="0" lang="es-ES" sz="1400" u="none" cap="none" strike="noStrike">
                <a:solidFill>
                  <a:schemeClr val="lt1"/>
                </a:solidFill>
                <a:latin typeface="Calibri"/>
                <a:ea typeface="Calibri"/>
                <a:cs typeface="Calibri"/>
                <a:sym typeface="Calibri"/>
              </a:rPr>
              <a:t> </a:t>
            </a:r>
            <a:r>
              <a:rPr b="1" i="0" lang="es-ES" sz="1400" u="none" cap="none" strike="noStrike">
                <a:solidFill>
                  <a:schemeClr val="dk1"/>
                </a:solidFill>
                <a:latin typeface="Calibri"/>
                <a:ea typeface="Calibri"/>
                <a:cs typeface="Calibri"/>
                <a:sym typeface="Calibri"/>
              </a:rPr>
              <a:t>App</a:t>
            </a:r>
            <a:r>
              <a:rPr b="0" i="0" lang="es-ES" sz="1400" u="none" cap="none" strike="noStrike">
                <a:solidFill>
                  <a:schemeClr val="lt1"/>
                </a:solidFill>
                <a:latin typeface="Calibri"/>
                <a:ea typeface="Calibri"/>
                <a:cs typeface="Calibri"/>
                <a:sym typeface="Calibri"/>
              </a:rPr>
              <a:t>: Este artefacto representa la aplicación móvil que se ejecuta en el dispositivo móvil.</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6"/>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282" name="Google Shape;282;p26"/>
          <p:cNvSpPr/>
          <p:nvPr/>
        </p:nvSpPr>
        <p:spPr>
          <a:xfrm>
            <a:off x="424251" y="3703125"/>
            <a:ext cx="8320738" cy="954067"/>
          </a:xfrm>
          <a:prstGeom prst="rect">
            <a:avLst/>
          </a:prstGeom>
          <a:noFill/>
          <a:ln>
            <a:noFill/>
          </a:ln>
        </p:spPr>
        <p:txBody>
          <a:bodyPr anchorCtr="0" anchor="t" bIns="45700" lIns="91425" spcFirstLastPara="1" rIns="91425" wrap="square" tIns="45700">
            <a:spAutoFit/>
          </a:bodyPr>
          <a:lstStyle/>
          <a:p>
            <a:pPr indent="-274638" lvl="0" marL="274638" marR="0" rtl="0" algn="l">
              <a:lnSpc>
                <a:spcPct val="100000"/>
              </a:lnSpc>
              <a:spcBef>
                <a:spcPts val="0"/>
              </a:spcBef>
              <a:spcAft>
                <a:spcPts val="0"/>
              </a:spcAft>
              <a:buClr>
                <a:srgbClr val="000000"/>
              </a:buClr>
              <a:buSzPts val="2800"/>
              <a:buFont typeface="Arial"/>
              <a:buNone/>
            </a:pPr>
            <a:r>
              <a:rPr b="1" i="0" lang="es-ES" sz="2800" u="none" cap="none" strike="noStrike">
                <a:solidFill>
                  <a:schemeClr val="lt1"/>
                </a:solidFill>
                <a:latin typeface="Calibri"/>
                <a:ea typeface="Calibri"/>
                <a:cs typeface="Calibri"/>
                <a:sym typeface="Calibri"/>
              </a:rPr>
              <a:t>/	</a:t>
            </a:r>
            <a:r>
              <a:rPr b="1" lang="es-ES" sz="2800">
                <a:solidFill>
                  <a:schemeClr val="lt1"/>
                </a:solidFill>
                <a:latin typeface="Calibri"/>
                <a:ea typeface="Calibri"/>
                <a:cs typeface="Calibri"/>
                <a:sym typeface="Calibri"/>
              </a:rPr>
              <a:t>USO DE DIAGRAMAS DE COMPONENTES Y </a:t>
            </a:r>
            <a:r>
              <a:rPr b="1" lang="es-ES" sz="2800">
                <a:solidFill>
                  <a:schemeClr val="lt1"/>
                </a:solidFill>
                <a:latin typeface="Calibri"/>
                <a:ea typeface="Calibri"/>
                <a:cs typeface="Calibri"/>
                <a:sym typeface="Calibri"/>
              </a:rPr>
              <a:t>DE DESPLIEGUE</a:t>
            </a:r>
            <a:endParaRPr b="1" i="0" sz="2800" u="none" cap="none" strike="noStrike">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27"/>
          <p:cNvPicPr preferRelativeResize="0"/>
          <p:nvPr>
            <p:ph idx="2" type="pic"/>
          </p:nvPr>
        </p:nvPicPr>
        <p:blipFill rotWithShape="1">
          <a:blip r:embed="rId3">
            <a:alphaModFix/>
          </a:blip>
          <a:srcRect b="0" l="765" r="765" t="0"/>
          <a:stretch/>
        </p:blipFill>
        <p:spPr>
          <a:xfrm>
            <a:off x="475687" y="2877477"/>
            <a:ext cx="8207375" cy="2394000"/>
          </a:xfrm>
          <a:prstGeom prst="rect">
            <a:avLst/>
          </a:prstGeom>
          <a:noFill/>
          <a:ln>
            <a:noFill/>
          </a:ln>
        </p:spPr>
      </p:pic>
      <p:sp>
        <p:nvSpPr>
          <p:cNvPr id="289" name="Google Shape;289;p27"/>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DISEÑO DE ARQUITECTURA DE SOFTWARE</a:t>
            </a:r>
            <a:endParaRPr/>
          </a:p>
        </p:txBody>
      </p:sp>
      <p:sp>
        <p:nvSpPr>
          <p:cNvPr id="290" name="Google Shape;290;p27"/>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lnSpc>
                <a:spcPct val="100000"/>
              </a:lnSpc>
              <a:spcBef>
                <a:spcPts val="0"/>
              </a:spcBef>
              <a:spcAft>
                <a:spcPts val="0"/>
              </a:spcAft>
              <a:buClr>
                <a:srgbClr val="0070C0"/>
              </a:buClr>
              <a:buSzPts val="1800"/>
              <a:buNone/>
            </a:pPr>
            <a:r>
              <a:rPr b="0" lang="es-ES">
                <a:solidFill>
                  <a:srgbClr val="0070C0"/>
                </a:solidFill>
              </a:rPr>
              <a:t>/ </a:t>
            </a:r>
            <a:r>
              <a:rPr b="0" lang="es-ES">
                <a:solidFill>
                  <a:srgbClr val="0070C0"/>
                </a:solidFill>
              </a:rPr>
              <a:t>USO DE DIAGRAMAS DE COMPONENTES Y DE DESPLIEGUE</a:t>
            </a:r>
            <a:endParaRPr b="0">
              <a:solidFill>
                <a:srgbClr val="0070C0"/>
              </a:solidFill>
            </a:endParaRPr>
          </a:p>
        </p:txBody>
      </p:sp>
      <p:sp>
        <p:nvSpPr>
          <p:cNvPr id="291" name="Google Shape;291;p27"/>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Durante la fase de diseño de un nuevo sistema, los arquitectos y diseñadores de software necesitan tomar decisiones sobre cómo se estructurará el sistema en términos de componentes y cómo interactúan entre sí.</a:t>
            </a:r>
            <a:endParaRPr/>
          </a:p>
          <a:p>
            <a:pPr indent="-266700" lvl="0" marL="266700" rtl="0" algn="l">
              <a:lnSpc>
                <a:spcPct val="100000"/>
              </a:lnSpc>
              <a:spcBef>
                <a:spcPts val="1200"/>
              </a:spcBef>
              <a:spcAft>
                <a:spcPts val="0"/>
              </a:spcAft>
              <a:buClr>
                <a:schemeClr val="dk1"/>
              </a:buClr>
              <a:buSzPts val="1200"/>
              <a:buChar char="❑"/>
            </a:pPr>
            <a:r>
              <a:rPr lang="es-ES"/>
              <a:t>Los diagramas de componentes ayudan a visualizar esta estructura, facilitando la toma de decisiones arquitectónicas.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28"/>
          <p:cNvPicPr preferRelativeResize="0"/>
          <p:nvPr>
            <p:ph idx="2" type="pic"/>
          </p:nvPr>
        </p:nvPicPr>
        <p:blipFill rotWithShape="1">
          <a:blip r:embed="rId3">
            <a:alphaModFix/>
          </a:blip>
          <a:srcRect b="0" l="765" r="765" t="0"/>
          <a:stretch/>
        </p:blipFill>
        <p:spPr>
          <a:xfrm>
            <a:off x="475687" y="2877477"/>
            <a:ext cx="8207375" cy="2394000"/>
          </a:xfrm>
          <a:prstGeom prst="rect">
            <a:avLst/>
          </a:prstGeom>
          <a:noFill/>
          <a:ln>
            <a:noFill/>
          </a:ln>
        </p:spPr>
      </p:pic>
      <p:sp>
        <p:nvSpPr>
          <p:cNvPr id="298" name="Google Shape;298;p2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DESARROLLO DE MICROSERVICIOS</a:t>
            </a:r>
            <a:endParaRPr/>
          </a:p>
        </p:txBody>
      </p:sp>
      <p:sp>
        <p:nvSpPr>
          <p:cNvPr id="299" name="Google Shape;299;p2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00" name="Google Shape;300;p2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una arquitectura de microservicios, cada servicio es un componente independiente que interactúa con otros a través de APIs. </a:t>
            </a:r>
            <a:endParaRPr/>
          </a:p>
          <a:p>
            <a:pPr indent="-266700" lvl="0" marL="266700" rtl="0" algn="l">
              <a:lnSpc>
                <a:spcPct val="100000"/>
              </a:lnSpc>
              <a:spcBef>
                <a:spcPts val="1200"/>
              </a:spcBef>
              <a:spcAft>
                <a:spcPts val="0"/>
              </a:spcAft>
              <a:buClr>
                <a:schemeClr val="dk1"/>
              </a:buClr>
              <a:buSzPts val="1200"/>
              <a:buChar char="❑"/>
            </a:pPr>
            <a:r>
              <a:rPr lang="es-ES"/>
              <a:t>Un diagrama de componentes puede ayudar a los Desarrolladores, Arquitectos de software y DevOps a entender cómo se comunican estos microservicios y qué responsabilidades tiene cada uno.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29"/>
          <p:cNvPicPr preferRelativeResize="0"/>
          <p:nvPr>
            <p:ph idx="2" type="pic"/>
          </p:nvPr>
        </p:nvPicPr>
        <p:blipFill rotWithShape="1">
          <a:blip r:embed="rId3">
            <a:alphaModFix/>
          </a:blip>
          <a:srcRect b="0" l="765" r="765" t="0"/>
          <a:stretch/>
        </p:blipFill>
        <p:spPr>
          <a:xfrm>
            <a:off x="949514" y="2966046"/>
            <a:ext cx="6664946" cy="1944091"/>
          </a:xfrm>
          <a:prstGeom prst="rect">
            <a:avLst/>
          </a:prstGeom>
          <a:noFill/>
          <a:ln>
            <a:noFill/>
          </a:ln>
        </p:spPr>
      </p:pic>
      <p:sp>
        <p:nvSpPr>
          <p:cNvPr id="307" name="Google Shape;307;p29"/>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ONBOARDING DE NUEVOS MIEMBROS DEL EQUIPO</a:t>
            </a:r>
            <a:endParaRPr/>
          </a:p>
        </p:txBody>
      </p:sp>
      <p:sp>
        <p:nvSpPr>
          <p:cNvPr id="308" name="Google Shape;308;p29"/>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09" name="Google Shape;309;p29"/>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nuevos desarrolladores o ingenieros se unen al equipo, necesitan entender rápidamente la arquitectura del sistema.</a:t>
            </a:r>
            <a:endParaRPr/>
          </a:p>
          <a:p>
            <a:pPr indent="-266700" lvl="0" marL="266700" rtl="0" algn="l">
              <a:lnSpc>
                <a:spcPct val="100000"/>
              </a:lnSpc>
              <a:spcBef>
                <a:spcPts val="1200"/>
              </a:spcBef>
              <a:spcAft>
                <a:spcPts val="0"/>
              </a:spcAft>
              <a:buClr>
                <a:schemeClr val="dk1"/>
              </a:buClr>
              <a:buSzPts val="1200"/>
              <a:buChar char="❑"/>
            </a:pPr>
            <a:r>
              <a:rPr lang="es-ES"/>
              <a:t>Un diagrama de componentes proporciona a los nuevos miembros del equipo y a los gerentes de proyecto una visión de alto nivel del sistema, facilitando una comprensión más rápida.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p30"/>
          <p:cNvPicPr preferRelativeResize="0"/>
          <p:nvPr>
            <p:ph idx="2" type="pic"/>
          </p:nvPr>
        </p:nvPicPr>
        <p:blipFill rotWithShape="1">
          <a:blip r:embed="rId3">
            <a:alphaModFix/>
          </a:blip>
          <a:srcRect b="7808" l="0" r="0" t="7808"/>
          <a:stretch/>
        </p:blipFill>
        <p:spPr>
          <a:xfrm>
            <a:off x="1373463" y="2992582"/>
            <a:ext cx="6141243" cy="2087702"/>
          </a:xfrm>
          <a:prstGeom prst="rect">
            <a:avLst/>
          </a:prstGeom>
          <a:noFill/>
          <a:ln>
            <a:noFill/>
          </a:ln>
        </p:spPr>
      </p:pic>
      <p:sp>
        <p:nvSpPr>
          <p:cNvPr id="316" name="Google Shape;316;p3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 Y MANTENIMIENTO</a:t>
            </a:r>
            <a:endParaRPr/>
          </a:p>
        </p:txBody>
      </p:sp>
      <p:sp>
        <p:nvSpPr>
          <p:cNvPr id="317" name="Google Shape;317;p3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18" name="Google Shape;318;p3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Tener una documentación actualizada es crucial para el mantenimiento a largo plazo de cualquier sistema.</a:t>
            </a:r>
            <a:endParaRPr/>
          </a:p>
          <a:p>
            <a:pPr indent="-266700" lvl="0" marL="266700" rtl="0" algn="l">
              <a:lnSpc>
                <a:spcPct val="100000"/>
              </a:lnSpc>
              <a:spcBef>
                <a:spcPts val="1200"/>
              </a:spcBef>
              <a:spcAft>
                <a:spcPts val="0"/>
              </a:spcAft>
              <a:buClr>
                <a:schemeClr val="dk1"/>
              </a:buClr>
              <a:buSzPts val="1200"/>
              <a:buChar char="❑"/>
            </a:pPr>
            <a:r>
              <a:rPr lang="es-ES"/>
              <a:t>Los diagramas de componentes le sirven a los equipos de mantenimiento, a los analistas de calidad y a los documentadores técnicos, como una excelente forma de documentación que puede ser útil para futuras referencias.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p31"/>
          <p:cNvPicPr preferRelativeResize="0"/>
          <p:nvPr>
            <p:ph idx="2" type="pic"/>
          </p:nvPr>
        </p:nvPicPr>
        <p:blipFill rotWithShape="1">
          <a:blip r:embed="rId3">
            <a:alphaModFix/>
          </a:blip>
          <a:srcRect b="0" l="765" r="765" t="0"/>
          <a:stretch/>
        </p:blipFill>
        <p:spPr>
          <a:xfrm>
            <a:off x="1256153" y="3074717"/>
            <a:ext cx="6631694" cy="1934391"/>
          </a:xfrm>
          <a:prstGeom prst="rect">
            <a:avLst/>
          </a:prstGeom>
          <a:noFill/>
          <a:ln>
            <a:noFill/>
          </a:ln>
        </p:spPr>
      </p:pic>
      <p:sp>
        <p:nvSpPr>
          <p:cNvPr id="325" name="Google Shape;325;p31"/>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EVALUACIÓN DE IMPACTO DE CAMBIOS</a:t>
            </a:r>
            <a:endParaRPr/>
          </a:p>
        </p:txBody>
      </p:sp>
      <p:sp>
        <p:nvSpPr>
          <p:cNvPr id="326" name="Google Shape;326;p31"/>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27" name="Google Shape;327;p31"/>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Antes de realizar cambios significativos en el sistema, como la introducción de nuevas funcionalidades o la reestructuración de componentes existentes, es vital evaluar el impacto de estos cambios.</a:t>
            </a:r>
            <a:endParaRPr/>
          </a:p>
          <a:p>
            <a:pPr indent="-266700" lvl="0" marL="266700" rtl="0" algn="l">
              <a:lnSpc>
                <a:spcPct val="100000"/>
              </a:lnSpc>
              <a:spcBef>
                <a:spcPts val="1200"/>
              </a:spcBef>
              <a:spcAft>
                <a:spcPts val="0"/>
              </a:spcAft>
              <a:buClr>
                <a:schemeClr val="dk1"/>
              </a:buClr>
              <a:buSzPts val="1200"/>
              <a:buChar char="❑"/>
            </a:pPr>
            <a:r>
              <a:rPr lang="es-ES"/>
              <a:t>Al tener un diagrama de componentes, los gerentes de proyecto, los arquitectos de software, y los analistas de negocio pueden analizar más fácilmente cómo los cambios en un componente podrían afectar a otros.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pic>
        <p:nvPicPr>
          <p:cNvPr id="333" name="Google Shape;333;p32"/>
          <p:cNvPicPr preferRelativeResize="0"/>
          <p:nvPr>
            <p:ph idx="2" type="pic"/>
          </p:nvPr>
        </p:nvPicPr>
        <p:blipFill rotWithShape="1">
          <a:blip r:embed="rId3">
            <a:alphaModFix/>
          </a:blip>
          <a:srcRect b="7366" l="0" r="0" t="7366"/>
          <a:stretch/>
        </p:blipFill>
        <p:spPr>
          <a:xfrm>
            <a:off x="1821418" y="3305509"/>
            <a:ext cx="5501164" cy="1604628"/>
          </a:xfrm>
          <a:prstGeom prst="rect">
            <a:avLst/>
          </a:prstGeom>
          <a:noFill/>
          <a:ln>
            <a:noFill/>
          </a:ln>
        </p:spPr>
      </p:pic>
      <p:sp>
        <p:nvSpPr>
          <p:cNvPr id="334" name="Google Shape;334;p32"/>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COMUNICACIÓN CON STAKEHOLDERS NO TÉCNICOS</a:t>
            </a:r>
            <a:endParaRPr/>
          </a:p>
        </p:txBody>
      </p:sp>
      <p:sp>
        <p:nvSpPr>
          <p:cNvPr id="335" name="Google Shape;335;p32"/>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36" name="Google Shape;336;p32"/>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 menudo es necesario explicar la arquitectura del sistema a stakeholders que no tienen un fondo técnico, como gerentes de producto o inversores.</a:t>
            </a:r>
            <a:endParaRPr/>
          </a:p>
          <a:p>
            <a:pPr indent="-266700" lvl="0" marL="266700" rtl="0" algn="l">
              <a:lnSpc>
                <a:spcPct val="100000"/>
              </a:lnSpc>
              <a:spcBef>
                <a:spcPts val="1200"/>
              </a:spcBef>
              <a:spcAft>
                <a:spcPts val="0"/>
              </a:spcAft>
              <a:buClr>
                <a:schemeClr val="dk1"/>
              </a:buClr>
              <a:buSzPts val="1200"/>
              <a:buChar char="❑"/>
            </a:pPr>
            <a:r>
              <a:rPr lang="es-ES"/>
              <a:t>Un diagrama de componentes bien diseñado puede servir a los gerentes de producto, a los inversores y a los ejecutivos de negocio como una herramienta de comunicación efectiva para explicar aspectos técnicos de una manera más accesible.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id="342" name="Google Shape;342;p33"/>
          <p:cNvPicPr preferRelativeResize="0"/>
          <p:nvPr>
            <p:ph idx="2" type="pic"/>
          </p:nvPr>
        </p:nvPicPr>
        <p:blipFill rotWithShape="1">
          <a:blip r:embed="rId3">
            <a:alphaModFix/>
          </a:blip>
          <a:srcRect b="24061" l="0" r="0" t="24059"/>
          <a:stretch/>
        </p:blipFill>
        <p:spPr>
          <a:xfrm>
            <a:off x="1435082" y="3142211"/>
            <a:ext cx="6273835" cy="1830008"/>
          </a:xfrm>
          <a:prstGeom prst="rect">
            <a:avLst/>
          </a:prstGeom>
          <a:noFill/>
          <a:ln>
            <a:noFill/>
          </a:ln>
        </p:spPr>
      </p:pic>
      <p:sp>
        <p:nvSpPr>
          <p:cNvPr id="343" name="Google Shape;343;p33"/>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PLANIFICACIÓN DE INFRAESTRUCTURA</a:t>
            </a:r>
            <a:endParaRPr/>
          </a:p>
        </p:txBody>
      </p:sp>
      <p:sp>
        <p:nvSpPr>
          <p:cNvPr id="344" name="Google Shape;344;p33"/>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45" name="Google Shape;345;p33"/>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Antes de desplegar un nuevo sistema o realizar cambios en uno existente, es crucial entender la infraestructura necesaria.</a:t>
            </a:r>
            <a:endParaRPr/>
          </a:p>
          <a:p>
            <a:pPr indent="-266700" lvl="0" marL="266700" rtl="0" algn="l">
              <a:lnSpc>
                <a:spcPct val="100000"/>
              </a:lnSpc>
              <a:spcBef>
                <a:spcPts val="1200"/>
              </a:spcBef>
              <a:spcAft>
                <a:spcPts val="0"/>
              </a:spcAft>
              <a:buClr>
                <a:schemeClr val="dk1"/>
              </a:buClr>
              <a:buSzPts val="1200"/>
              <a:buChar char="❑"/>
            </a:pPr>
            <a:r>
              <a:rPr lang="es-ES"/>
              <a:t>El diagrama de despliegue ayuda a los Administradores de sistemas y a los arquitectos de soluciones a planificar qué hardware se necesita, cómo se distribuirán los componentes y cómo se comunicarán entre sí.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pic>
        <p:nvPicPr>
          <p:cNvPr id="351" name="Google Shape;351;p34"/>
          <p:cNvPicPr preferRelativeResize="0"/>
          <p:nvPr>
            <p:ph idx="2" type="pic"/>
          </p:nvPr>
        </p:nvPicPr>
        <p:blipFill rotWithShape="1">
          <a:blip r:embed="rId3">
            <a:alphaModFix/>
          </a:blip>
          <a:srcRect b="0" l="765" r="765" t="0"/>
          <a:stretch/>
        </p:blipFill>
        <p:spPr>
          <a:xfrm>
            <a:off x="1210432" y="2949073"/>
            <a:ext cx="6723135" cy="1961064"/>
          </a:xfrm>
          <a:prstGeom prst="rect">
            <a:avLst/>
          </a:prstGeom>
          <a:noFill/>
          <a:ln>
            <a:noFill/>
          </a:ln>
        </p:spPr>
      </p:pic>
      <p:sp>
        <p:nvSpPr>
          <p:cNvPr id="352" name="Google Shape;352;p3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ANÁLISIS DE RENDIMIENTO Y ESCALABILIDAD</a:t>
            </a:r>
            <a:endParaRPr/>
          </a:p>
        </p:txBody>
      </p:sp>
      <p:sp>
        <p:nvSpPr>
          <p:cNvPr id="353" name="Google Shape;353;p3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54" name="Google Shape;354;p3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se necesita evaluar el rendimiento del sistema o planificar su escalabilidad. </a:t>
            </a:r>
            <a:endParaRPr/>
          </a:p>
          <a:p>
            <a:pPr indent="-266700" lvl="0" marL="266700" rtl="0" algn="l">
              <a:lnSpc>
                <a:spcPct val="100000"/>
              </a:lnSpc>
              <a:spcBef>
                <a:spcPts val="1200"/>
              </a:spcBef>
              <a:spcAft>
                <a:spcPts val="0"/>
              </a:spcAft>
              <a:buClr>
                <a:schemeClr val="dk1"/>
              </a:buClr>
              <a:buSzPts val="1200"/>
              <a:buChar char="❑"/>
            </a:pPr>
            <a:r>
              <a:rPr lang="es-ES"/>
              <a:t>Este tipo de diagrama permite a los Ingenieros de rendimiento y a los arquitectos de soluciones a identificar cuellos de botella en la infraestructura y planificar estrategias de escalado.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5"/>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SEGURIDAD Y CUMPLIMIENTO</a:t>
            </a:r>
            <a:endParaRPr/>
          </a:p>
        </p:txBody>
      </p:sp>
      <p:sp>
        <p:nvSpPr>
          <p:cNvPr id="361" name="Google Shape;361;p35"/>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62" name="Google Shape;362;p35"/>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En proyectos donde la seguridad y el cumplimiento normativo son críticos. </a:t>
            </a:r>
            <a:endParaRPr/>
          </a:p>
          <a:p>
            <a:pPr indent="-266700" lvl="0" marL="266700" rtl="0" algn="l">
              <a:lnSpc>
                <a:spcPct val="100000"/>
              </a:lnSpc>
              <a:spcBef>
                <a:spcPts val="1200"/>
              </a:spcBef>
              <a:spcAft>
                <a:spcPts val="0"/>
              </a:spcAft>
              <a:buClr>
                <a:schemeClr val="dk1"/>
              </a:buClr>
              <a:buSzPts val="1200"/>
              <a:buChar char="❑"/>
            </a:pPr>
            <a:r>
              <a:rPr lang="es-ES"/>
              <a:t>El diagrama puede ayudar a los expertos en seguridad y a los auditores de cumplimiento a identificar posibles vulnerabilidades en la arquitectura, como la exposición de ciertos componentes a redes no seguras.</a:t>
            </a:r>
            <a:endParaRPr/>
          </a:p>
        </p:txBody>
      </p:sp>
      <p:pic>
        <p:nvPicPr>
          <p:cNvPr id="363" name="Google Shape;363;p35"/>
          <p:cNvPicPr preferRelativeResize="0"/>
          <p:nvPr>
            <p:ph idx="2" type="pic"/>
          </p:nvPr>
        </p:nvPicPr>
        <p:blipFill rotWithShape="1">
          <a:blip r:embed="rId3">
            <a:alphaModFix/>
          </a:blip>
          <a:srcRect b="0" l="822" r="822" t="0"/>
          <a:stretch/>
        </p:blipFill>
        <p:spPr>
          <a:xfrm>
            <a:off x="1580349" y="3132910"/>
            <a:ext cx="5817978" cy="16970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ONBOARDING Y FORMACIÓN</a:t>
            </a:r>
            <a:endParaRPr/>
          </a:p>
        </p:txBody>
      </p:sp>
      <p:sp>
        <p:nvSpPr>
          <p:cNvPr id="370" name="Google Shape;370;p3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71" name="Google Shape;371;p3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Cuando nuevos miembros se unen al equipo o se necesita formar al personal sobre la arquitectura del sistema.</a:t>
            </a:r>
            <a:endParaRPr/>
          </a:p>
          <a:p>
            <a:pPr indent="-266700" lvl="0" marL="266700" rtl="0" algn="l">
              <a:lnSpc>
                <a:spcPct val="100000"/>
              </a:lnSpc>
              <a:spcBef>
                <a:spcPts val="1200"/>
              </a:spcBef>
              <a:spcAft>
                <a:spcPts val="0"/>
              </a:spcAft>
              <a:buClr>
                <a:schemeClr val="dk1"/>
              </a:buClr>
              <a:buSzPts val="1200"/>
              <a:buChar char="❑"/>
            </a:pPr>
            <a:r>
              <a:rPr lang="es-ES"/>
              <a:t>Facilita a los nuevos empleados, a los equipos de desarrollo y operaciones, una rápida comprensión de cómo está configurado el sistema y cómo interactúan sus componentes.</a:t>
            </a:r>
            <a:endParaRPr/>
          </a:p>
        </p:txBody>
      </p:sp>
      <p:pic>
        <p:nvPicPr>
          <p:cNvPr id="372" name="Google Shape;372;p36"/>
          <p:cNvPicPr preferRelativeResize="0"/>
          <p:nvPr/>
        </p:nvPicPr>
        <p:blipFill rotWithShape="1">
          <a:blip r:embed="rId3">
            <a:alphaModFix/>
          </a:blip>
          <a:srcRect b="0" l="0" r="0" t="0"/>
          <a:stretch/>
        </p:blipFill>
        <p:spPr>
          <a:xfrm>
            <a:off x="2830598" y="2709319"/>
            <a:ext cx="2880246" cy="24237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DOCUMENTACIÓN Y MANTENIMIENTO</a:t>
            </a:r>
            <a:endParaRPr/>
          </a:p>
        </p:txBody>
      </p:sp>
      <p:sp>
        <p:nvSpPr>
          <p:cNvPr id="379" name="Google Shape;379;p37"/>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80" name="Google Shape;380;p37"/>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lnSpc>
                <a:spcPct val="100000"/>
              </a:lnSpc>
              <a:spcBef>
                <a:spcPts val="0"/>
              </a:spcBef>
              <a:spcAft>
                <a:spcPts val="0"/>
              </a:spcAft>
              <a:buClr>
                <a:schemeClr val="dk1"/>
              </a:buClr>
              <a:buSzPts val="1200"/>
              <a:buChar char="❑"/>
            </a:pPr>
            <a:r>
              <a:rPr lang="es-ES"/>
              <a:t>Para la documentación técnica del sistema y su posterior mantenimiento.</a:t>
            </a:r>
            <a:endParaRPr/>
          </a:p>
          <a:p>
            <a:pPr indent="-266700" lvl="0" marL="266700" rtl="0" algn="l">
              <a:lnSpc>
                <a:spcPct val="100000"/>
              </a:lnSpc>
              <a:spcBef>
                <a:spcPts val="1200"/>
              </a:spcBef>
              <a:spcAft>
                <a:spcPts val="0"/>
              </a:spcAft>
              <a:buClr>
                <a:schemeClr val="dk1"/>
              </a:buClr>
              <a:buSzPts val="1200"/>
              <a:buChar char="❑"/>
            </a:pPr>
            <a:r>
              <a:rPr lang="es-ES"/>
              <a:t>Sirve a los equipos de soporte técnico y a los documentadores técnicos, como una referencia rápida y precisa para entender la arquitectura del sistema, lo cual es útil para tareas de diagnóstico y resolución de problemas.</a:t>
            </a:r>
            <a:endParaRPr/>
          </a:p>
        </p:txBody>
      </p:sp>
      <p:pic>
        <p:nvPicPr>
          <p:cNvPr id="381" name="Google Shape;381;p37"/>
          <p:cNvPicPr preferRelativeResize="0"/>
          <p:nvPr/>
        </p:nvPicPr>
        <p:blipFill rotWithShape="1">
          <a:blip r:embed="rId3">
            <a:alphaModFix/>
          </a:blip>
          <a:srcRect b="0" l="0" r="0" t="0"/>
          <a:stretch/>
        </p:blipFill>
        <p:spPr>
          <a:xfrm>
            <a:off x="2695012" y="2666156"/>
            <a:ext cx="3753976" cy="252540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COMUNICACIÓN CON STAKEHOLDERS</a:t>
            </a:r>
            <a:endParaRPr/>
          </a:p>
        </p:txBody>
      </p:sp>
      <p:sp>
        <p:nvSpPr>
          <p:cNvPr id="388" name="Google Shape;388;p3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USO DE DIAGRAMAS DE COMPONENTES Y DE DESPLIEGUE</a:t>
            </a:r>
            <a:endParaRPr b="0">
              <a:solidFill>
                <a:srgbClr val="0070C0"/>
              </a:solidFill>
            </a:endParaRPr>
          </a:p>
        </p:txBody>
      </p:sp>
      <p:sp>
        <p:nvSpPr>
          <p:cNvPr id="389" name="Google Shape;389;p3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just">
              <a:lnSpc>
                <a:spcPct val="100000"/>
              </a:lnSpc>
              <a:spcBef>
                <a:spcPts val="0"/>
              </a:spcBef>
              <a:spcAft>
                <a:spcPts val="0"/>
              </a:spcAft>
              <a:buClr>
                <a:schemeClr val="dk1"/>
              </a:buClr>
              <a:buSzPts val="1200"/>
              <a:buFont typeface="Noto Sans Symbols"/>
              <a:buChar char="❑"/>
            </a:pPr>
            <a:r>
              <a:rPr lang="es-ES"/>
              <a:t>En situaciones donde se necesita explicar la arquitectura del sistema a personas no técnicas.</a:t>
            </a:r>
            <a:endParaRPr/>
          </a:p>
          <a:p>
            <a:pPr indent="-266700" lvl="0" marL="266700" rtl="0" algn="just">
              <a:lnSpc>
                <a:spcPct val="100000"/>
              </a:lnSpc>
              <a:spcBef>
                <a:spcPts val="1200"/>
              </a:spcBef>
              <a:spcAft>
                <a:spcPts val="0"/>
              </a:spcAft>
              <a:buClr>
                <a:schemeClr val="dk1"/>
              </a:buClr>
              <a:buSzPts val="1200"/>
              <a:buFont typeface="Noto Sans Symbols"/>
              <a:buChar char="❑"/>
            </a:pPr>
            <a:r>
              <a:rPr lang="es-ES"/>
              <a:t>Un diagrama de despliegue bien hecho puede ser una excelente herramienta de comunicación para explicar a los directivos, a los gerentes de proyecto, y a los inversores, cómo funciona el sistema en términos de hardware y distribución.</a:t>
            </a:r>
            <a:endParaRPr/>
          </a:p>
        </p:txBody>
      </p:sp>
      <p:pic>
        <p:nvPicPr>
          <p:cNvPr descr="Imágenes de Comunicacion - Descarga gratuita en Freepik" id="390" name="Google Shape;390;p38"/>
          <p:cNvPicPr preferRelativeResize="0"/>
          <p:nvPr/>
        </p:nvPicPr>
        <p:blipFill rotWithShape="1">
          <a:blip r:embed="rId3">
            <a:alphaModFix/>
          </a:blip>
          <a:srcRect b="0" l="0" r="0" t="0"/>
          <a:stretch/>
        </p:blipFill>
        <p:spPr>
          <a:xfrm>
            <a:off x="2653232" y="2598503"/>
            <a:ext cx="3837536" cy="242757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97" name="Google Shape;397;p39"/>
          <p:cNvSpPr/>
          <p:nvPr/>
        </p:nvSpPr>
        <p:spPr>
          <a:xfrm>
            <a:off x="1276149" y="788890"/>
            <a:ext cx="7204492" cy="453966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despliegue ofrecen una visión integral de cómo se distribuyen y comunican los componentes de un sistema en un entorno físico, lo cual es crucial para la planificación y el mantenimiento eficiente del sistema.</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Comprender los elementos UML en los diagramas de despliegue y de componentes (como nodos, artefactos y relaciones</a:t>
            </a:r>
            <a:r>
              <a:rPr lang="es-ES" sz="1700">
                <a:solidFill>
                  <a:schemeClr val="lt1"/>
                </a:solidFill>
                <a:latin typeface="Calibri"/>
                <a:ea typeface="Calibri"/>
                <a:cs typeface="Calibri"/>
                <a:sym typeface="Calibri"/>
              </a:rPr>
              <a:t>)</a:t>
            </a:r>
            <a:r>
              <a:rPr b="0" i="0" lang="es-ES" sz="1700" u="none" cap="none" strike="noStrike">
                <a:solidFill>
                  <a:schemeClr val="lt1"/>
                </a:solidFill>
                <a:latin typeface="Calibri"/>
                <a:ea typeface="Calibri"/>
                <a:cs typeface="Calibri"/>
                <a:sym typeface="Calibri"/>
              </a:rPr>
              <a:t> es clave para modelar de manera precisa la arquitectura del sistema y sus interacciones.</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Tanto para miembros técnicos como no técnicos del equipo, los diagramas sirven como herramientas de comunicación efectivas que facilitan el entendimiento rápido y claro de la arquitectura del sistema.</a:t>
            </a:r>
            <a:endParaRPr b="0" i="0" sz="1400" u="none" cap="none" strike="noStrike">
              <a:solidFill>
                <a:srgbClr val="000000"/>
              </a:solidFill>
              <a:latin typeface="Arial"/>
              <a:ea typeface="Arial"/>
              <a:cs typeface="Arial"/>
              <a:sym typeface="Arial"/>
            </a:endParaRPr>
          </a:p>
          <a:p>
            <a:pPr indent="-177800" lvl="0" marL="285750" marR="0" rtl="0" algn="l">
              <a:lnSpc>
                <a:spcPct val="100000"/>
              </a:lnSpc>
              <a:spcBef>
                <a:spcPts val="0"/>
              </a:spcBef>
              <a:spcAft>
                <a:spcPts val="0"/>
              </a:spcAft>
              <a:buClr>
                <a:schemeClr val="dk1"/>
              </a:buClr>
              <a:buSzPts val="1700"/>
              <a:buFont typeface="Arial"/>
              <a:buNone/>
            </a:pPr>
            <a:r>
              <a:t/>
            </a:r>
            <a:endParaRPr b="0" i="0" sz="17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700"/>
              <a:buFont typeface="Arial"/>
              <a:buChar char="•"/>
            </a:pPr>
            <a:r>
              <a:rPr b="0" i="0" lang="es-ES" sz="1700" u="none" cap="none" strike="noStrike">
                <a:solidFill>
                  <a:schemeClr val="lt1"/>
                </a:solidFill>
                <a:latin typeface="Calibri"/>
                <a:ea typeface="Calibri"/>
                <a:cs typeface="Calibri"/>
                <a:sym typeface="Calibri"/>
              </a:rPr>
              <a:t>Los diagramas de despliegue y de componentes son útiles en una variedad de situaciones, desde la seguridad y el cumplimiento hasta el análisis de rendimiento y la formación, beneficiando a múltiples roles como arquitectos de software, administradores de sistemas y gerentes de proyecto.</a:t>
            </a:r>
            <a:endParaRPr b="0" i="0" sz="1400" u="none" cap="none" strike="noStrike">
              <a:solidFill>
                <a:srgbClr val="000000"/>
              </a:solidFill>
              <a:latin typeface="Arial"/>
              <a:ea typeface="Arial"/>
              <a:cs typeface="Arial"/>
              <a:sym typeface="Arial"/>
            </a:endParaRPr>
          </a:p>
        </p:txBody>
      </p:sp>
      <p:sp>
        <p:nvSpPr>
          <p:cNvPr id="398" name="Google Shape;398;p39"/>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700"/>
              <a:buFont typeface="Calibri"/>
              <a:buNone/>
            </a:pPr>
            <a:r>
              <a:rPr b="0" i="0" lang="es-ES" sz="1700" u="none" cap="none" strike="noStrike">
                <a:solidFill>
                  <a:schemeClr val="lt1"/>
                </a:solidFill>
                <a:latin typeface="Calibri"/>
                <a:ea typeface="Calibri"/>
                <a:cs typeface="Calibri"/>
                <a:sym typeface="Calibri"/>
              </a:rPr>
              <a:t>/ CONCLUSIONES</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0"/>
          <p:cNvSpPr txBox="1"/>
          <p:nvPr/>
        </p:nvSpPr>
        <p:spPr>
          <a:xfrm>
            <a:off x="665324" y="857848"/>
            <a:ext cx="7892750" cy="4276127"/>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Ambler, S. W., &amp; Sadalage, P. J. (2006). Introduction to UML 2 Deployment Diagrams. En Introduction to UML 2. Addison-Wesley Professional.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Dennis, A., Wixom, B. H., &amp; Tegarden, D. (2015). Systems Analysis and Design: An Object-Oriented Approach with UML. Wiley.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Martin, R. C. (2003). UML for Java Programmers. Prentice Hall PTR.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The component diagram.</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https://developer.ibm.com/articles/the-component-diagram/</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How to Make a UML Diagram.</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4">
                  <a:extLst>
                    <a:ext uri="{A12FA001-AC4F-418D-AE19-62706E023703}">
                      <ahyp:hlinkClr val="tx"/>
                    </a:ext>
                  </a:extLst>
                </a:hlinkClick>
              </a:rPr>
              <a:t>https://www.lucidchart.com/pages/how-to-make-a-uml-diagram</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Calibri"/>
                <a:ea typeface="Calibri"/>
                <a:cs typeface="Calibri"/>
                <a:sym typeface="Calibri"/>
              </a:rPr>
              <a:t>How to Draw Deployment Diagram?.</a:t>
            </a:r>
            <a:endParaRPr b="0" i="0" sz="1400" u="none" cap="none" strike="noStrike">
              <a:solidFill>
                <a:srgbClr val="000000"/>
              </a:solidFill>
              <a:latin typeface="Arial"/>
              <a:ea typeface="Arial"/>
              <a:cs typeface="Arial"/>
              <a:sym typeface="Arial"/>
            </a:endParaRPr>
          </a:p>
          <a:p>
            <a:pPr indent="0" lvl="0" marL="269875" marR="0" rtl="0" algn="l">
              <a:lnSpc>
                <a:spcPct val="100000"/>
              </a:lnSpc>
              <a:spcBef>
                <a:spcPts val="0"/>
              </a:spcBef>
              <a:spcAft>
                <a:spcPts val="0"/>
              </a:spcAft>
              <a:buClr>
                <a:schemeClr val="dk1"/>
              </a:buClr>
              <a:buSzPts val="1600"/>
              <a:buFont typeface="Calibri"/>
              <a:buNone/>
            </a:pPr>
            <a:r>
              <a:rPr b="0" i="0" lang="es-ES" sz="1600" u="sng" cap="none" strike="noStrike">
                <a:solidFill>
                  <a:schemeClr val="dk1"/>
                </a:solidFill>
                <a:latin typeface="Calibri"/>
                <a:ea typeface="Calibri"/>
                <a:cs typeface="Calibri"/>
                <a:sym typeface="Calibri"/>
                <a:hlinkClick r:id="rId5">
                  <a:extLst>
                    <a:ext uri="{A12FA001-AC4F-418D-AE19-62706E023703}">
                      <ahyp:hlinkClr val="tx"/>
                    </a:ext>
                  </a:extLst>
                </a:hlinkClick>
              </a:rPr>
              <a:t>https://www.visual-paradigm.com/guide/uml-unified-modeling-language/what-is-deployment-diagram/</a:t>
            </a:r>
            <a:endParaRPr b="0" i="0" sz="1600" u="none" cap="none" strike="noStrike">
              <a:solidFill>
                <a:schemeClr val="dk1"/>
              </a:solidFill>
              <a:latin typeface="Calibri"/>
              <a:ea typeface="Calibri"/>
              <a:cs typeface="Calibri"/>
              <a:sym typeface="Calibri"/>
            </a:endParaRPr>
          </a:p>
          <a:p>
            <a:pPr indent="0" lvl="0" marL="269875"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261938" marR="0" rtl="0" algn="l">
              <a:lnSpc>
                <a:spcPct val="100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p:txBody>
      </p:sp>
      <p:sp>
        <p:nvSpPr>
          <p:cNvPr id="405" name="Google Shape;405;p40"/>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38AD7"/>
              </a:buClr>
              <a:buSzPts val="1700"/>
              <a:buFont typeface="Calibri"/>
              <a:buNone/>
            </a:pPr>
            <a:r>
              <a:rPr b="0" i="0" lang="es-ES" sz="1700" u="none" cap="none" strike="noStrike">
                <a:solidFill>
                  <a:srgbClr val="438AD7"/>
                </a:solidFill>
                <a:latin typeface="Calibri"/>
                <a:ea typeface="Calibri"/>
                <a:cs typeface="Calibri"/>
                <a:sym typeface="Calibri"/>
              </a:rPr>
              <a:t>/ BIBLIOGRAFÍA</a:t>
            </a:r>
            <a:endParaRPr b="0" i="0" sz="1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