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42" roundtripDataSignature="AMtx7miVqNRuHZjn5o4Xg5uVJWgMdgyM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9" name="Google Shape;11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8" name="Google Shape;128;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7" name="Google Shape;137;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46" name="Google Shape;146;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5" name="Google Shape;155;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64" name="Google Shape;164;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1" name="Google Shape;171;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0" name="Google Shape;180;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9" name="Google Shape;189;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8" name="Google Shape;198;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7" name="Google Shape;207;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16" name="Google Shape;216;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25" name="Google Shape;225;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4" name="Google Shape;234;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3" name="Google Shape;243;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1" name="Google Shape;251;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9" name="Google Shape;259;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7" name="Google Shape;267;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77" name="Google Shape;277;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4" name="Google Shape;284;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93" name="Google Shape;293;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02" name="Google Shape;302;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1" name="Google Shape;311;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0" name="Google Shape;320;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9" name="Google Shape;329;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8" name="Google Shape;338;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7" name="Google Shape;347;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356" name="Google Shape;356;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3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364" name="Google Shape;364;p3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39"/>
          <p:cNvSpPr/>
          <p:nvPr>
            <p:ph idx="2" type="pic"/>
          </p:nvPr>
        </p:nvSpPr>
        <p:spPr>
          <a:xfrm>
            <a:off x="475687" y="2877477"/>
            <a:ext cx="8207375" cy="2394000"/>
          </a:xfrm>
          <a:prstGeom prst="rect">
            <a:avLst/>
          </a:prstGeom>
          <a:noFill/>
          <a:ln>
            <a:noFill/>
          </a:ln>
        </p:spPr>
      </p:sp>
      <p:sp>
        <p:nvSpPr>
          <p:cNvPr id="17" name="Google Shape;17;p39"/>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39"/>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39"/>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21" name="Shape 21"/>
        <p:cNvGrpSpPr/>
        <p:nvPr/>
      </p:nvGrpSpPr>
      <p:grpSpPr>
        <a:xfrm>
          <a:off x="0" y="0"/>
          <a:ext cx="0" cy="0"/>
          <a:chOff x="0" y="0"/>
          <a:chExt cx="0" cy="0"/>
        </a:xfrm>
      </p:grpSpPr>
      <p:sp>
        <p:nvSpPr>
          <p:cNvPr id="22" name="Google Shape;22;p41"/>
          <p:cNvSpPr/>
          <p:nvPr>
            <p:ph idx="2" type="pic"/>
          </p:nvPr>
        </p:nvSpPr>
        <p:spPr>
          <a:xfrm>
            <a:off x="475687" y="2877477"/>
            <a:ext cx="8207375" cy="2394000"/>
          </a:xfrm>
          <a:prstGeom prst="rect">
            <a:avLst/>
          </a:prstGeom>
          <a:noFill/>
          <a:ln>
            <a:noFill/>
          </a:ln>
        </p:spPr>
      </p:sp>
      <p:sp>
        <p:nvSpPr>
          <p:cNvPr id="23" name="Google Shape;23;p41"/>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41"/>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41"/>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6" name="Shape 26"/>
        <p:cNvGrpSpPr/>
        <p:nvPr/>
      </p:nvGrpSpPr>
      <p:grpSpPr>
        <a:xfrm>
          <a:off x="0" y="0"/>
          <a:ext cx="0" cy="0"/>
          <a:chOff x="0" y="0"/>
          <a:chExt cx="0" cy="0"/>
        </a:xfrm>
      </p:grpSpPr>
      <p:sp>
        <p:nvSpPr>
          <p:cNvPr id="27" name="Google Shape;27;p42"/>
          <p:cNvSpPr/>
          <p:nvPr>
            <p:ph idx="2" type="pic"/>
          </p:nvPr>
        </p:nvSpPr>
        <p:spPr>
          <a:xfrm>
            <a:off x="4572000" y="804863"/>
            <a:ext cx="4103688" cy="4463362"/>
          </a:xfrm>
          <a:prstGeom prst="rect">
            <a:avLst/>
          </a:prstGeom>
          <a:noFill/>
          <a:ln>
            <a:noFill/>
          </a:ln>
        </p:spPr>
      </p:sp>
      <p:sp>
        <p:nvSpPr>
          <p:cNvPr id="28" name="Google Shape;28;p4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4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42"/>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3"/>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 name="Google Shape;33;p43"/>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 name="Google Shape;34;p43"/>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5"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6" name="Shape 36"/>
        <p:cNvGrpSpPr/>
        <p:nvPr/>
      </p:nvGrpSpPr>
      <p:grpSpPr>
        <a:xfrm>
          <a:off x="0" y="0"/>
          <a:ext cx="0" cy="0"/>
          <a:chOff x="0" y="0"/>
          <a:chExt cx="0" cy="0"/>
        </a:xfrm>
      </p:grpSpPr>
      <p:sp>
        <p:nvSpPr>
          <p:cNvPr id="37" name="Google Shape;37;p45"/>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b="0" i="0" sz="1400" u="none" cap="none" strike="noStrike">
              <a:solidFill>
                <a:srgbClr val="000000"/>
              </a:solidFill>
              <a:latin typeface="Arial"/>
              <a:ea typeface="Arial"/>
              <a:cs typeface="Arial"/>
              <a:sym typeface="Arial"/>
            </a:endParaRPr>
          </a:p>
        </p:txBody>
      </p:sp>
      <p:pic>
        <p:nvPicPr>
          <p:cNvPr id="38" name="Google Shape;38;p45"/>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9" name="Google Shape;39;p45"/>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40" name="Shape 40"/>
        <p:cNvGrpSpPr/>
        <p:nvPr/>
      </p:nvGrpSpPr>
      <p:grpSpPr>
        <a:xfrm>
          <a:off x="0" y="0"/>
          <a:ext cx="0" cy="0"/>
          <a:chOff x="0" y="0"/>
          <a:chExt cx="0" cy="0"/>
        </a:xfrm>
      </p:grpSpPr>
      <p:sp>
        <p:nvSpPr>
          <p:cNvPr id="41" name="Google Shape;41;p46"/>
          <p:cNvSpPr/>
          <p:nvPr>
            <p:ph idx="2" type="pic"/>
          </p:nvPr>
        </p:nvSpPr>
        <p:spPr>
          <a:xfrm>
            <a:off x="468313" y="1175705"/>
            <a:ext cx="8207375" cy="4096800"/>
          </a:xfrm>
          <a:prstGeom prst="rect">
            <a:avLst/>
          </a:prstGeom>
          <a:noFill/>
          <a:ln>
            <a:noFill/>
          </a:ln>
        </p:spPr>
      </p:sp>
      <p:sp>
        <p:nvSpPr>
          <p:cNvPr id="42" name="Google Shape;42;p46"/>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4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47"/>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48"/>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b="0" i="0" sz="1400" u="none" cap="none" strike="noStrike">
              <a:solidFill>
                <a:srgbClr val="000000"/>
              </a:solidFill>
              <a:latin typeface="Arial"/>
              <a:ea typeface="Arial"/>
              <a:cs typeface="Arial"/>
              <a:sym typeface="Arial"/>
            </a:endParaRPr>
          </a:p>
        </p:txBody>
      </p:sp>
      <p:pic>
        <p:nvPicPr>
          <p:cNvPr id="48" name="Google Shape;48;p48"/>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48"/>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49"/>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52" name="Google Shape;52;p49"/>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49"/>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7"/>
          <p:cNvGrpSpPr/>
          <p:nvPr/>
        </p:nvGrpSpPr>
        <p:grpSpPr>
          <a:xfrm>
            <a:off x="793745" y="5369051"/>
            <a:ext cx="8104595" cy="215444"/>
            <a:chOff x="793745" y="5369051"/>
            <a:chExt cx="7954689" cy="215444"/>
          </a:xfrm>
        </p:grpSpPr>
        <p:sp>
          <p:nvSpPr>
            <p:cNvPr id="11" name="Google Shape;11;p37"/>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ANÁLISIS Y DISEÑO DE SISTEMAS II  •  SESIÓN 09</a:t>
              </a:r>
              <a:endParaRPr b="0" i="0" sz="800" u="none" cap="none" strike="noStrike">
                <a:solidFill>
                  <a:srgbClr val="7F7F7F"/>
                </a:solidFill>
                <a:latin typeface="Calibri"/>
                <a:ea typeface="Calibri"/>
                <a:cs typeface="Calibri"/>
                <a:sym typeface="Calibri"/>
              </a:endParaRPr>
            </a:p>
          </p:txBody>
        </p:sp>
        <p:sp>
          <p:nvSpPr>
            <p:cNvPr id="12" name="Google Shape;12;p37"/>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ES" sz="600" u="none" cap="none" strike="noStrike">
                  <a:solidFill>
                    <a:srgbClr val="7F7F7F"/>
                  </a:solidFill>
                  <a:latin typeface="Calibri"/>
                  <a:ea typeface="Calibri"/>
                  <a:cs typeface="Calibri"/>
                  <a:sym typeface="Calibri"/>
                </a:rPr>
                <a:t>© 2023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37"/>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en.wikibooks.org/wiki/Introduction_to_Software_Engineering/UML/State_Diagram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0" i="0" lang="es-ES" sz="1800" u="none" cap="none" strike="noStrike">
                <a:solidFill>
                  <a:schemeClr val="lt1"/>
                </a:solidFill>
                <a:latin typeface="Calibri"/>
                <a:ea typeface="Calibri"/>
                <a:cs typeface="Calibri"/>
                <a:sym typeface="Calibri"/>
              </a:rPr>
              <a:t>SESIÓN</a:t>
            </a:r>
            <a:endParaRPr b="0" i="0" sz="1800" u="none" cap="none" strike="noStrike">
              <a:solidFill>
                <a:schemeClr val="dk1"/>
              </a:solidFill>
              <a:latin typeface="Calibri"/>
              <a:ea typeface="Calibri"/>
              <a:cs typeface="Calibri"/>
              <a:sym typeface="Calibri"/>
            </a:endParaRPr>
          </a:p>
        </p:txBody>
      </p:sp>
      <p:sp>
        <p:nvSpPr>
          <p:cNvPr id="61" name="Google Shape;61;p1"/>
          <p:cNvSpPr txBox="1"/>
          <p:nvPr/>
        </p:nvSpPr>
        <p:spPr>
          <a:xfrm>
            <a:off x="2051281" y="1730819"/>
            <a:ext cx="96425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5800"/>
              <a:buFont typeface="Calibri"/>
              <a:buNone/>
            </a:pPr>
            <a:r>
              <a:rPr b="0" i="0" lang="es-ES" sz="5800" u="none" cap="none" strike="noStrike">
                <a:solidFill>
                  <a:srgbClr val="FFFFFF"/>
                </a:solidFill>
                <a:latin typeface="Calibri"/>
                <a:ea typeface="Calibri"/>
                <a:cs typeface="Calibri"/>
                <a:sym typeface="Calibri"/>
              </a:rPr>
              <a:t>09</a:t>
            </a:r>
            <a:endParaRPr b="0" i="0" sz="1800" u="none" cap="none" strike="noStrike">
              <a:solidFill>
                <a:schemeClr val="dk1"/>
              </a:solidFill>
              <a:latin typeface="Calibri"/>
              <a:ea typeface="Calibri"/>
              <a:cs typeface="Calibri"/>
              <a:sym typeface="Calibri"/>
            </a:endParaRPr>
          </a:p>
        </p:txBody>
      </p:sp>
      <p:sp>
        <p:nvSpPr>
          <p:cNvPr id="62" name="Google Shape;62;p1"/>
          <p:cNvSpPr txBox="1"/>
          <p:nvPr/>
        </p:nvSpPr>
        <p:spPr>
          <a:xfrm>
            <a:off x="3175138" y="1364545"/>
            <a:ext cx="542270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DIAGRAMA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DE ESTADO</a:t>
            </a:r>
            <a:endParaRPr b="1" i="0" sz="3600" u="none" cap="none" strike="noStrike">
              <a:solidFill>
                <a:schemeClr val="lt1"/>
              </a:solidFill>
              <a:latin typeface="Calibri"/>
              <a:ea typeface="Calibri"/>
              <a:cs typeface="Calibri"/>
              <a:sym typeface="Calibri"/>
            </a:endParaRPr>
          </a:p>
        </p:txBody>
      </p:sp>
      <p:sp>
        <p:nvSpPr>
          <p:cNvPr id="63" name="Google Shape;63;p1"/>
          <p:cNvSpPr txBox="1"/>
          <p:nvPr/>
        </p:nvSpPr>
        <p:spPr>
          <a:xfrm>
            <a:off x="3175138" y="2996279"/>
            <a:ext cx="5026425" cy="83095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Definiciones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Elementos del diagrama de estado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Uso del diagrama de estado</a:t>
            </a:r>
            <a:endParaRPr b="1" i="0" sz="1800" u="none" cap="none" strike="noStrike">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i="0" lang="es-ES" sz="1400" u="none" cap="none" strike="noStrike">
                <a:solidFill>
                  <a:srgbClr val="1F85A6"/>
                </a:solidFill>
                <a:latin typeface="Calibri"/>
                <a:ea typeface="Calibri"/>
                <a:cs typeface="Calibri"/>
                <a:sym typeface="Calibri"/>
              </a:rPr>
              <a:t>UNIDAD DE APRENDIZAJE 3 – UA3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INTRODUCCIÓN</a:t>
            </a:r>
            <a:endParaRPr b="0" i="0" sz="1800" u="none" cap="none" strike="noStrike">
              <a:solidFill>
                <a:schemeClr val="dk1"/>
              </a:solidFill>
              <a:latin typeface="Calibri"/>
              <a:ea typeface="Calibri"/>
              <a:cs typeface="Calibri"/>
              <a:sym typeface="Calibri"/>
            </a:endParaRPr>
          </a:p>
        </p:txBody>
      </p:sp>
      <p:sp>
        <p:nvSpPr>
          <p:cNvPr id="72" name="Google Shape;72;p2"/>
          <p:cNvSpPr txBox="1"/>
          <p:nvPr/>
        </p:nvSpPr>
        <p:spPr>
          <a:xfrm>
            <a:off x="573212" y="687405"/>
            <a:ext cx="7784512" cy="356393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 el contexto del análisis y diseño de sistemas de información, un diagrama de estado UML es una representación gráfica de los estados en los que puede encontrarse un objeto durante su ciclo de vida, así como las transiciones entre esos estados. Son útiles para comprender cómo se comportan los objetos en respuesta a eventos externos o internos.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Entonces, durante esta sesión: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los conceptos y definiciones clave relacionados a los diagramas de estado.</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 </a:t>
            </a:r>
            <a:r>
              <a:rPr b="0" i="0" lang="es-ES" sz="1600" u="none" cap="none" strike="noStrike">
                <a:solidFill>
                  <a:schemeClr val="dk1"/>
                </a:solidFill>
                <a:latin typeface="Calibri"/>
                <a:ea typeface="Calibri"/>
                <a:cs typeface="Calibri"/>
                <a:sym typeface="Calibri"/>
              </a:rPr>
              <a:t>a identificar los elementos del diagrama de estado.</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60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Comprenderás </a:t>
            </a:r>
            <a:r>
              <a:rPr b="0" i="0" lang="es-ES" sz="1600" u="none" cap="none" strike="noStrike">
                <a:solidFill>
                  <a:schemeClr val="dk1"/>
                </a:solidFill>
                <a:latin typeface="Calibri"/>
                <a:ea typeface="Calibri"/>
                <a:cs typeface="Calibri"/>
                <a:sym typeface="Calibri"/>
              </a:rPr>
              <a:t>cuándo es pertinente el apropiado uso del diagrama de estado.</a:t>
            </a:r>
            <a:endParaRPr b="0" i="0" sz="12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a:t>
            </a:r>
            <a:r>
              <a:rPr b="0" i="0" lang="es-ES" sz="2800" u="none" cap="none" strike="noStrike">
                <a:solidFill>
                  <a:schemeClr val="dk1"/>
                </a:solidFill>
                <a:latin typeface="Calibri"/>
                <a:ea typeface="Calibri"/>
                <a:cs typeface="Calibri"/>
                <a:sym typeface="Calibri"/>
              </a:rPr>
              <a:t> </a:t>
            </a:r>
            <a:r>
              <a:rPr b="1" i="0" lang="es-ES" sz="2800" u="none" cap="none" strike="noStrike">
                <a:solidFill>
                  <a:schemeClr val="lt1"/>
                </a:solidFill>
                <a:latin typeface="Calibri"/>
                <a:ea typeface="Calibri"/>
                <a:cs typeface="Calibri"/>
                <a:sym typeface="Calibri"/>
              </a:rPr>
              <a:t>DEFINICIONES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86" name="Google Shape;86;p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just">
              <a:lnSpc>
                <a:spcPct val="100000"/>
              </a:lnSpc>
              <a:spcBef>
                <a:spcPts val="0"/>
              </a:spcBef>
              <a:spcAft>
                <a:spcPts val="0"/>
              </a:spcAft>
              <a:buClr>
                <a:schemeClr val="dk1"/>
              </a:buClr>
              <a:buSzPts val="1200"/>
              <a:buFont typeface="Noto Sans Symbols"/>
              <a:buChar char="❑"/>
            </a:pPr>
            <a:r>
              <a:rPr lang="es-ES"/>
              <a:t>El modelado UML en la ingeniería de software nos permite representar y diseñar sistemas complejos. Los Diagramas de Estado son una parte específica de UML que se centran en describir los estados y transiciones de un objeto a lo largo de su ciclo de vida. </a:t>
            </a:r>
            <a:endParaRPr/>
          </a:p>
          <a:p>
            <a:pPr indent="-266700" lvl="0" marL="266700" rtl="0" algn="just">
              <a:lnSpc>
                <a:spcPct val="100000"/>
              </a:lnSpc>
              <a:spcBef>
                <a:spcPts val="1200"/>
              </a:spcBef>
              <a:spcAft>
                <a:spcPts val="0"/>
              </a:spcAft>
              <a:buClr>
                <a:schemeClr val="dk1"/>
              </a:buClr>
              <a:buSzPts val="1200"/>
              <a:buFont typeface="Noto Sans Symbols"/>
              <a:buChar char="❑"/>
            </a:pPr>
            <a:r>
              <a:rPr lang="es-ES"/>
              <a:t>Comprender algunos conceptos fundamentales en el modelamiento de sistemas de información no sólo facilitará el trabajo con Diagramas de Estado, sino que también proporcionará una base sólida para abordar otros aspectos de la ingeniería de software.</a:t>
            </a:r>
            <a:endParaRPr/>
          </a:p>
          <a:p>
            <a:pPr indent="-190500" lvl="0" marL="266700" rtl="0" algn="just">
              <a:lnSpc>
                <a:spcPct val="100000"/>
              </a:lnSpc>
              <a:spcBef>
                <a:spcPts val="1200"/>
              </a:spcBef>
              <a:spcAft>
                <a:spcPts val="0"/>
              </a:spcAft>
              <a:buClr>
                <a:schemeClr val="dk1"/>
              </a:buClr>
              <a:buSzPts val="1200"/>
              <a:buFont typeface="Noto Sans Symbols"/>
              <a:buNone/>
            </a:pPr>
            <a:r>
              <a:t/>
            </a:r>
            <a:endParaRPr/>
          </a:p>
        </p:txBody>
      </p:sp>
      <p:pic>
        <p:nvPicPr>
          <p:cNvPr id="87" name="Google Shape;87;p4"/>
          <p:cNvPicPr preferRelativeResize="0"/>
          <p:nvPr>
            <p:ph idx="2" type="pic"/>
          </p:nvPr>
        </p:nvPicPr>
        <p:blipFill rotWithShape="1">
          <a:blip r:embed="rId3">
            <a:alphaModFix/>
          </a:blip>
          <a:srcRect b="23966" l="0" r="0" t="23967"/>
          <a:stretch/>
        </p:blipFill>
        <p:spPr>
          <a:xfrm>
            <a:off x="943618" y="3216903"/>
            <a:ext cx="7256763" cy="2116717"/>
          </a:xfrm>
          <a:prstGeom prst="rect">
            <a:avLst/>
          </a:prstGeom>
          <a:noFill/>
          <a:ln>
            <a:noFill/>
          </a:ln>
        </p:spPr>
      </p:pic>
      <p:sp>
        <p:nvSpPr>
          <p:cNvPr id="88" name="Google Shape;88;p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ASPECTOS Y DEFINICIONES CLAVE PARA ENTENDER EL MODELADO DE DIAGRAMAS DE ESTADO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95" name="Google Shape;95;p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Estado a menudo se utilizan para modelar aspectos específicos del comportamiento de un sistema durante su ciclo de vida.</a:t>
            </a:r>
            <a:endParaRPr/>
          </a:p>
          <a:p>
            <a:pPr indent="-266700" lvl="0" marL="266700" rtl="0" algn="l">
              <a:lnSpc>
                <a:spcPct val="100000"/>
              </a:lnSpc>
              <a:spcBef>
                <a:spcPts val="1200"/>
              </a:spcBef>
              <a:spcAft>
                <a:spcPts val="0"/>
              </a:spcAft>
              <a:buClr>
                <a:schemeClr val="dk1"/>
              </a:buClr>
              <a:buSzPts val="1200"/>
              <a:buChar char="❑"/>
            </a:pPr>
            <a:r>
              <a:rPr lang="es-ES"/>
              <a:t>En el desarrollo de un </a:t>
            </a:r>
            <a:r>
              <a:rPr i="1" lang="es-ES"/>
              <a:t>sistema de carrito de compras</a:t>
            </a:r>
            <a:r>
              <a:rPr lang="es-ES"/>
              <a:t> se necesita recopilar requisitos, luego diseñar, implementar, probar y, finalmente, desplegar el sistema. Los Diagramas de Estado podrían usarse para modelar cómo un producto pasa de “</a:t>
            </a:r>
            <a:r>
              <a:rPr i="1" lang="es-ES">
                <a:solidFill>
                  <a:srgbClr val="538CD5"/>
                </a:solidFill>
              </a:rPr>
              <a:t>disponible</a:t>
            </a:r>
            <a:r>
              <a:rPr lang="es-ES"/>
              <a:t>”</a:t>
            </a:r>
            <a:r>
              <a:rPr lang="es-ES"/>
              <a:t> a “</a:t>
            </a:r>
            <a:r>
              <a:rPr i="1" lang="es-ES">
                <a:solidFill>
                  <a:srgbClr val="538CD5"/>
                </a:solidFill>
              </a:rPr>
              <a:t>agotado</a:t>
            </a:r>
            <a:r>
              <a:rPr lang="es-ES"/>
              <a:t>”</a:t>
            </a:r>
            <a:r>
              <a:rPr lang="es-ES"/>
              <a:t>.</a:t>
            </a:r>
            <a:endParaRPr/>
          </a:p>
        </p:txBody>
      </p:sp>
      <p:sp>
        <p:nvSpPr>
          <p:cNvPr id="96" name="Google Shape;96;p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CICLO DE VIDA DEL SOFTWARE</a:t>
            </a:r>
            <a:endParaRPr/>
          </a:p>
        </p:txBody>
      </p:sp>
      <p:pic>
        <p:nvPicPr>
          <p:cNvPr id="97" name="Google Shape;97;p5"/>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04" name="Google Shape;104;p6"/>
          <p:cNvSpPr txBox="1"/>
          <p:nvPr>
            <p:ph idx="4" type="body"/>
          </p:nvPr>
        </p:nvSpPr>
        <p:spPr>
          <a:xfrm>
            <a:off x="632549" y="1177927"/>
            <a:ext cx="3775213"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la programación orientada a objetos, una clase es una plantilla para crear objetos, y los objetos son instancias de clases. Los Diagramas de Estado suelen modelar el comportamiento de una instancia de una clase a lo largo del tiempo.</a:t>
            </a:r>
            <a:endParaRPr/>
          </a:p>
          <a:p>
            <a:pPr indent="-266700" lvl="0" marL="266700" rtl="0" algn="l">
              <a:lnSpc>
                <a:spcPct val="100000"/>
              </a:lnSpc>
              <a:spcBef>
                <a:spcPts val="1200"/>
              </a:spcBef>
              <a:spcAft>
                <a:spcPts val="0"/>
              </a:spcAft>
              <a:buClr>
                <a:schemeClr val="dk1"/>
              </a:buClr>
              <a:buSzPts val="1200"/>
              <a:buChar char="❑"/>
            </a:pPr>
            <a:r>
              <a:rPr lang="es-ES"/>
              <a:t>Durante el desarrollo de un </a:t>
            </a:r>
            <a:r>
              <a:rPr i="1" lang="es-ES"/>
              <a:t>sistema de carrito de compras</a:t>
            </a:r>
            <a:r>
              <a:rPr lang="es-ES"/>
              <a:t>, se podrían tener clases como </a:t>
            </a:r>
            <a:r>
              <a:rPr lang="es-ES">
                <a:solidFill>
                  <a:srgbClr val="C00000"/>
                </a:solidFill>
              </a:rPr>
              <a:t>Producto</a:t>
            </a:r>
            <a:r>
              <a:rPr lang="es-ES"/>
              <a:t>, </a:t>
            </a:r>
            <a:r>
              <a:rPr lang="es-ES">
                <a:solidFill>
                  <a:srgbClr val="C00000"/>
                </a:solidFill>
              </a:rPr>
              <a:t>Usuario</a:t>
            </a:r>
            <a:r>
              <a:rPr lang="es-ES"/>
              <a:t>, </a:t>
            </a:r>
            <a:r>
              <a:rPr lang="es-ES">
                <a:solidFill>
                  <a:srgbClr val="C00000"/>
                </a:solidFill>
              </a:rPr>
              <a:t>Carrito</a:t>
            </a:r>
            <a:r>
              <a:rPr lang="es-ES"/>
              <a:t>, etc. Un objeto de la clase </a:t>
            </a:r>
            <a:r>
              <a:rPr lang="es-ES">
                <a:solidFill>
                  <a:srgbClr val="C00000"/>
                </a:solidFill>
              </a:rPr>
              <a:t>Producto</a:t>
            </a:r>
            <a:r>
              <a:rPr lang="es-ES"/>
              <a:t> podría tener estados como “</a:t>
            </a:r>
            <a:r>
              <a:rPr i="1" lang="es-ES">
                <a:solidFill>
                  <a:srgbClr val="558ED5"/>
                </a:solidFill>
              </a:rPr>
              <a:t>disponible</a:t>
            </a:r>
            <a:r>
              <a:rPr lang="es-ES"/>
              <a:t>”</a:t>
            </a:r>
            <a:r>
              <a:rPr lang="es-ES"/>
              <a:t>, “</a:t>
            </a:r>
            <a:r>
              <a:rPr i="1" lang="es-ES">
                <a:solidFill>
                  <a:srgbClr val="558ED5"/>
                </a:solidFill>
              </a:rPr>
              <a:t>reservado</a:t>
            </a:r>
            <a:r>
              <a:rPr lang="es-ES"/>
              <a:t>”</a:t>
            </a:r>
            <a:r>
              <a:rPr lang="es-ES"/>
              <a:t> y “</a:t>
            </a:r>
            <a:r>
              <a:rPr i="1" lang="es-ES">
                <a:solidFill>
                  <a:srgbClr val="558ED5"/>
                </a:solidFill>
              </a:rPr>
              <a:t>agotado</a:t>
            </a:r>
            <a:r>
              <a:rPr lang="es-ES"/>
              <a:t>”</a:t>
            </a:r>
            <a:r>
              <a:rPr lang="es-ES"/>
              <a:t>.</a:t>
            </a:r>
            <a:endParaRPr/>
          </a:p>
        </p:txBody>
      </p:sp>
      <p:sp>
        <p:nvSpPr>
          <p:cNvPr id="105" name="Google Shape;105;p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CLASES Y OBJETOS</a:t>
            </a:r>
            <a:endParaRPr/>
          </a:p>
        </p:txBody>
      </p:sp>
      <p:pic>
        <p:nvPicPr>
          <p:cNvPr id="106" name="Google Shape;106;p6"/>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13" name="Google Shape;113;p7"/>
          <p:cNvSpPr txBox="1"/>
          <p:nvPr>
            <p:ph idx="4" type="body"/>
          </p:nvPr>
        </p:nvSpPr>
        <p:spPr>
          <a:xfrm>
            <a:off x="468314" y="1177927"/>
            <a:ext cx="385511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Este es un modelo matemático utilizado para describir sistemas que pueden estar en un número finito de estados. Los Diagramas de Estado son una forma de representar gráficamente estas máquinas de estado.</a:t>
            </a:r>
            <a:endParaRPr/>
          </a:p>
          <a:p>
            <a:pPr indent="-266700" lvl="0" marL="266700" rtl="0" algn="l">
              <a:lnSpc>
                <a:spcPct val="100000"/>
              </a:lnSpc>
              <a:spcBef>
                <a:spcPts val="1200"/>
              </a:spcBef>
              <a:spcAft>
                <a:spcPts val="0"/>
              </a:spcAft>
              <a:buClr>
                <a:schemeClr val="dk1"/>
              </a:buClr>
              <a:buSzPts val="1200"/>
              <a:buChar char="❑"/>
            </a:pPr>
            <a:r>
              <a:rPr lang="es-ES"/>
              <a:t>Durante el desarrollo de un </a:t>
            </a:r>
            <a:r>
              <a:rPr i="1" lang="es-ES"/>
              <a:t>sistema de carrito de compras</a:t>
            </a:r>
            <a:r>
              <a:rPr lang="es-ES"/>
              <a:t>, se podría usar una máquina de estado finito para modelar el objeto </a:t>
            </a:r>
            <a:r>
              <a:rPr lang="es-ES">
                <a:solidFill>
                  <a:srgbClr val="C00000"/>
                </a:solidFill>
              </a:rPr>
              <a:t>Producto</a:t>
            </a:r>
            <a:r>
              <a:rPr lang="es-ES"/>
              <a:t>, que solo tiene un número finito de estados (“</a:t>
            </a:r>
            <a:r>
              <a:rPr i="1" lang="es-ES">
                <a:solidFill>
                  <a:srgbClr val="1F85A6"/>
                </a:solidFill>
              </a:rPr>
              <a:t>disponible</a:t>
            </a:r>
            <a:r>
              <a:rPr lang="es-ES"/>
              <a:t>”</a:t>
            </a:r>
            <a:r>
              <a:rPr lang="es-ES"/>
              <a:t>, “</a:t>
            </a:r>
            <a:r>
              <a:rPr i="1" lang="es-ES">
                <a:solidFill>
                  <a:srgbClr val="1F85A6"/>
                </a:solidFill>
              </a:rPr>
              <a:t>reservado</a:t>
            </a:r>
            <a:r>
              <a:rPr lang="es-ES"/>
              <a:t>”</a:t>
            </a:r>
            <a:r>
              <a:rPr lang="es-ES"/>
              <a:t>, “</a:t>
            </a:r>
            <a:r>
              <a:rPr i="1" lang="es-ES">
                <a:solidFill>
                  <a:srgbClr val="1F85A6"/>
                </a:solidFill>
              </a:rPr>
              <a:t>agotado</a:t>
            </a:r>
            <a:r>
              <a:rPr lang="es-ES"/>
              <a:t>”</a:t>
            </a:r>
            <a:r>
              <a:rPr lang="es-ES"/>
              <a:t>) y transiciones definidas entre ellos.</a:t>
            </a:r>
            <a:endParaRPr/>
          </a:p>
        </p:txBody>
      </p:sp>
      <p:sp>
        <p:nvSpPr>
          <p:cNvPr id="114" name="Google Shape;114;p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MÁQUINA DE ESTADO FINITO</a:t>
            </a:r>
            <a:endParaRPr/>
          </a:p>
        </p:txBody>
      </p:sp>
      <p:pic>
        <p:nvPicPr>
          <p:cNvPr id="115" name="Google Shape;115;p7"/>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22" name="Google Shape;122;p8"/>
          <p:cNvSpPr txBox="1"/>
          <p:nvPr>
            <p:ph idx="4" type="body"/>
          </p:nvPr>
        </p:nvSpPr>
        <p:spPr>
          <a:xfrm>
            <a:off x="654743" y="1177927"/>
            <a:ext cx="373082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el concepto de ocultar los detalles internos de un objeto y exponer sólo lo necesario. Esto es relevante porque los Diagramas de Estado a menudo se utilizan para modelar el comportamiento interno de un objeto sin preocuparse por los detalles de implementación.</a:t>
            </a:r>
            <a:endParaRPr/>
          </a:p>
          <a:p>
            <a:pPr indent="-266700" lvl="0" marL="266700" rtl="0" algn="l">
              <a:lnSpc>
                <a:spcPct val="100000"/>
              </a:lnSpc>
              <a:spcBef>
                <a:spcPts val="1200"/>
              </a:spcBef>
              <a:spcAft>
                <a:spcPts val="0"/>
              </a:spcAft>
              <a:buClr>
                <a:schemeClr val="dk1"/>
              </a:buClr>
              <a:buSzPts val="1200"/>
              <a:buChar char="❑"/>
            </a:pPr>
            <a:r>
              <a:rPr lang="es-ES"/>
              <a:t>En el desarrollo de un </a:t>
            </a:r>
            <a:r>
              <a:rPr i="1" lang="es-ES"/>
              <a:t>sistema de carrito de compras</a:t>
            </a:r>
            <a:r>
              <a:rPr lang="es-ES"/>
              <a:t>, el objeto </a:t>
            </a:r>
            <a:r>
              <a:rPr lang="es-ES">
                <a:solidFill>
                  <a:srgbClr val="C00000"/>
                </a:solidFill>
              </a:rPr>
              <a:t>Producto</a:t>
            </a:r>
            <a:r>
              <a:rPr lang="es-ES"/>
              <a:t> maneja internamente su propio estado, pero expone métodos como </a:t>
            </a:r>
            <a:r>
              <a:rPr i="1" lang="es-ES">
                <a:solidFill>
                  <a:srgbClr val="7030A0"/>
                </a:solidFill>
              </a:rPr>
              <a:t>añadirAlCarrito()</a:t>
            </a:r>
            <a:r>
              <a:rPr lang="es-ES"/>
              <a:t> o </a:t>
            </a:r>
            <a:r>
              <a:rPr i="1" lang="es-ES">
                <a:solidFill>
                  <a:srgbClr val="7030A0"/>
                </a:solidFill>
              </a:rPr>
              <a:t>comprar()</a:t>
            </a:r>
            <a:r>
              <a:rPr lang="es-ES"/>
              <a:t> para interactuar con este, ocultando los detalles internos.</a:t>
            </a:r>
            <a:endParaRPr/>
          </a:p>
        </p:txBody>
      </p:sp>
      <p:sp>
        <p:nvSpPr>
          <p:cNvPr id="123" name="Google Shape;123;p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ENCAPSULAMIENTO</a:t>
            </a:r>
            <a:endParaRPr/>
          </a:p>
        </p:txBody>
      </p:sp>
      <p:pic>
        <p:nvPicPr>
          <p:cNvPr id="124" name="Google Shape;124;p8"/>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31" name="Google Shape;131;p9"/>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Estos términos se refieren a cómo se organizan las responsabilidades en un sistema. Un buen diseño debería apuntar a alta cohesión (responsabilidades similares agrupadas) y bajo acoplamiento (interdependencia mínima entre diferentes partes). Los Diagramas de Estado pueden ayudar a evaluar y mejorar estos aspectos.</a:t>
            </a:r>
            <a:endParaRPr/>
          </a:p>
          <a:p>
            <a:pPr indent="-266700" lvl="0" marL="266700" rtl="0" algn="l">
              <a:lnSpc>
                <a:spcPct val="100000"/>
              </a:lnSpc>
              <a:spcBef>
                <a:spcPts val="1200"/>
              </a:spcBef>
              <a:spcAft>
                <a:spcPts val="0"/>
              </a:spcAft>
              <a:buClr>
                <a:schemeClr val="dk1"/>
              </a:buClr>
              <a:buSzPts val="1200"/>
              <a:buChar char="❑"/>
            </a:pPr>
            <a:r>
              <a:rPr lang="es-ES"/>
              <a:t>En el desarrollo de un </a:t>
            </a:r>
            <a:r>
              <a:rPr i="1" lang="es-ES"/>
              <a:t>sistema de carrito de compras</a:t>
            </a:r>
            <a:r>
              <a:rPr lang="es-ES"/>
              <a:t>, la clase </a:t>
            </a:r>
            <a:r>
              <a:rPr lang="es-ES">
                <a:solidFill>
                  <a:srgbClr val="C00000"/>
                </a:solidFill>
              </a:rPr>
              <a:t>Carrito</a:t>
            </a:r>
            <a:r>
              <a:rPr lang="es-ES"/>
              <a:t> está altamente cohesionada porque maneja todo lo relacionado con el carrito de compras. Sin embargo, está desacoplada de la clase </a:t>
            </a:r>
            <a:r>
              <a:rPr lang="es-ES">
                <a:solidFill>
                  <a:srgbClr val="C00000"/>
                </a:solidFill>
              </a:rPr>
              <a:t>Producto</a:t>
            </a:r>
            <a:r>
              <a:rPr lang="es-ES"/>
              <a:t>, ya que no necesita saber cómo </a:t>
            </a:r>
            <a:r>
              <a:rPr lang="es-ES">
                <a:solidFill>
                  <a:srgbClr val="C00000"/>
                </a:solidFill>
              </a:rPr>
              <a:t>Producto</a:t>
            </a:r>
            <a:r>
              <a:rPr lang="es-ES"/>
              <a:t> maneja su propio estado.</a:t>
            </a:r>
            <a:endParaRPr/>
          </a:p>
        </p:txBody>
      </p:sp>
      <p:sp>
        <p:nvSpPr>
          <p:cNvPr id="132" name="Google Shape;132;p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COHESIÓN Y ACOPLAMIENTO</a:t>
            </a:r>
            <a:endParaRPr/>
          </a:p>
        </p:txBody>
      </p:sp>
      <p:pic>
        <p:nvPicPr>
          <p:cNvPr id="133" name="Google Shape;133;p9"/>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40" name="Google Shape;140;p10"/>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Conocer patrones comunes como Singleton, Factory, u Observer puede ser útil, ya que estos patrones a menudo implican transiciones de estado específicas que podrían modelarse.</a:t>
            </a:r>
            <a:endParaRPr/>
          </a:p>
          <a:p>
            <a:pPr indent="-266700" lvl="0" marL="266700" rtl="0" algn="l">
              <a:lnSpc>
                <a:spcPct val="100000"/>
              </a:lnSpc>
              <a:spcBef>
                <a:spcPts val="1200"/>
              </a:spcBef>
              <a:spcAft>
                <a:spcPts val="0"/>
              </a:spcAft>
              <a:buClr>
                <a:schemeClr val="dk1"/>
              </a:buClr>
              <a:buSzPts val="1200"/>
              <a:buChar char="❑"/>
            </a:pPr>
            <a:r>
              <a:rPr lang="es-ES"/>
              <a:t>Durante el desarrollo de un </a:t>
            </a:r>
            <a:r>
              <a:rPr i="1" lang="es-ES"/>
              <a:t>sistema de carrito de compras</a:t>
            </a:r>
            <a:r>
              <a:rPr lang="es-ES"/>
              <a:t>, podrías usar el patrón </a:t>
            </a:r>
            <a:r>
              <a:rPr i="1" lang="es-ES">
                <a:solidFill>
                  <a:srgbClr val="7030A0"/>
                </a:solidFill>
              </a:rPr>
              <a:t>Observer</a:t>
            </a:r>
            <a:r>
              <a:rPr lang="es-ES"/>
              <a:t> para notificar a los usuarios cuando un producto que estaba “</a:t>
            </a:r>
            <a:r>
              <a:rPr i="1" lang="es-ES">
                <a:solidFill>
                  <a:srgbClr val="1F85A6"/>
                </a:solidFill>
              </a:rPr>
              <a:t>agotado</a:t>
            </a:r>
            <a:r>
              <a:rPr lang="es-ES"/>
              <a:t>”</a:t>
            </a:r>
            <a:r>
              <a:rPr lang="es-ES"/>
              <a:t> vuelve a estar “</a:t>
            </a:r>
            <a:r>
              <a:rPr i="1" lang="es-ES">
                <a:solidFill>
                  <a:srgbClr val="1F85A6"/>
                </a:solidFill>
              </a:rPr>
              <a:t>disponible</a:t>
            </a:r>
            <a:r>
              <a:rPr lang="es-ES"/>
              <a:t>”</a:t>
            </a:r>
            <a:r>
              <a:rPr lang="es-ES"/>
              <a:t>.</a:t>
            </a:r>
            <a:endParaRPr/>
          </a:p>
        </p:txBody>
      </p:sp>
      <p:sp>
        <p:nvSpPr>
          <p:cNvPr id="141" name="Google Shape;141;p1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PATRONES DE DISEÑO</a:t>
            </a:r>
            <a:endParaRPr/>
          </a:p>
        </p:txBody>
      </p:sp>
      <p:pic>
        <p:nvPicPr>
          <p:cNvPr id="142" name="Google Shape;142;p10"/>
          <p:cNvPicPr preferRelativeResize="0"/>
          <p:nvPr>
            <p:ph idx="2" type="pic"/>
          </p:nvPr>
        </p:nvPicPr>
        <p:blipFill rotWithShape="1">
          <a:blip r:embed="rId3">
            <a:alphaModFix/>
          </a:blip>
          <a:srcRect b="374" l="0" r="0" t="372"/>
          <a:stretch/>
        </p:blipFill>
        <p:spPr>
          <a:xfrm>
            <a:off x="5185244" y="1177927"/>
            <a:ext cx="3064316" cy="33328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49" name="Google Shape;149;p11"/>
          <p:cNvSpPr txBox="1"/>
          <p:nvPr>
            <p:ph idx="4" type="body"/>
          </p:nvPr>
        </p:nvSpPr>
        <p:spPr>
          <a:xfrm>
            <a:off x="641428" y="1177927"/>
            <a:ext cx="3757458"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Antes de dibujar un Diagrama de Estado, es útil tener una comprensión clara de los casos de uso del sistema, ya que esto informará qué estados y transiciones son relevantes para modelar.</a:t>
            </a:r>
            <a:endParaRPr/>
          </a:p>
          <a:p>
            <a:pPr indent="-266700" lvl="0" marL="266700" rtl="0" algn="l">
              <a:lnSpc>
                <a:spcPct val="100000"/>
              </a:lnSpc>
              <a:spcBef>
                <a:spcPts val="1200"/>
              </a:spcBef>
              <a:spcAft>
                <a:spcPts val="0"/>
              </a:spcAft>
              <a:buClr>
                <a:schemeClr val="dk1"/>
              </a:buClr>
              <a:buSzPts val="1200"/>
              <a:buChar char="❑"/>
            </a:pPr>
            <a:r>
              <a:rPr lang="es-ES"/>
              <a:t>En el desarrollo de un </a:t>
            </a:r>
            <a:r>
              <a:rPr i="1" lang="es-ES"/>
              <a:t>sistema de carrito de compras</a:t>
            </a:r>
            <a:r>
              <a:rPr lang="es-ES"/>
              <a:t>, uno de los casos de uso podría ser “</a:t>
            </a:r>
            <a:r>
              <a:rPr lang="es-ES">
                <a:solidFill>
                  <a:srgbClr val="1F85A6"/>
                </a:solidFill>
              </a:rPr>
              <a:t>Comprar un producto</a:t>
            </a:r>
            <a:r>
              <a:rPr lang="es-ES"/>
              <a:t>”</a:t>
            </a:r>
            <a:r>
              <a:rPr lang="es-ES"/>
              <a:t>. Este caso de uso ayudará a entender qué estados y transiciones son relevantes para el objeto Producto.</a:t>
            </a:r>
            <a:endParaRPr/>
          </a:p>
        </p:txBody>
      </p:sp>
      <p:sp>
        <p:nvSpPr>
          <p:cNvPr id="150" name="Google Shape;150;p11"/>
          <p:cNvSpPr txBox="1"/>
          <p:nvPr>
            <p:ph idx="1" type="body"/>
          </p:nvPr>
        </p:nvSpPr>
        <p:spPr>
          <a:xfrm>
            <a:off x="468314" y="727870"/>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CASOS DE USO</a:t>
            </a:r>
            <a:endParaRPr/>
          </a:p>
        </p:txBody>
      </p:sp>
      <p:pic>
        <p:nvPicPr>
          <p:cNvPr id="151" name="Google Shape;151;p11"/>
          <p:cNvPicPr preferRelativeResize="0"/>
          <p:nvPr>
            <p:ph idx="2" type="pic"/>
          </p:nvPr>
        </p:nvPicPr>
        <p:blipFill rotWithShape="1">
          <a:blip r:embed="rId3">
            <a:alphaModFix/>
          </a:blip>
          <a:srcRect b="374" l="0" r="0" t="372"/>
          <a:stretch/>
        </p:blipFill>
        <p:spPr>
          <a:xfrm>
            <a:off x="4745116"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58" name="Google Shape;158;p12"/>
          <p:cNvSpPr txBox="1"/>
          <p:nvPr>
            <p:ph idx="4" type="body"/>
          </p:nvPr>
        </p:nvSpPr>
        <p:spPr>
          <a:xfrm>
            <a:off x="876686"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just">
              <a:lnSpc>
                <a:spcPct val="100000"/>
              </a:lnSpc>
              <a:spcBef>
                <a:spcPts val="0"/>
              </a:spcBef>
              <a:spcAft>
                <a:spcPts val="0"/>
              </a:spcAft>
              <a:buClr>
                <a:srgbClr val="1F1F1F"/>
              </a:buClr>
              <a:buSzPts val="1200"/>
              <a:buChar char="❑"/>
            </a:pPr>
            <a:r>
              <a:rPr b="0" i="0" lang="es-ES">
                <a:solidFill>
                  <a:srgbClr val="1F1F1F"/>
                </a:solidFill>
                <a:latin typeface="Arial"/>
                <a:ea typeface="Arial"/>
                <a:cs typeface="Arial"/>
                <a:sym typeface="Arial"/>
              </a:rPr>
              <a:t>Herramientas comerciales</a:t>
            </a:r>
            <a:endParaRPr/>
          </a:p>
          <a:p>
            <a:pPr indent="-265113" lvl="1" marL="531813" rtl="0" algn="just">
              <a:lnSpc>
                <a:spcPct val="100000"/>
              </a:lnSpc>
              <a:spcBef>
                <a:spcPts val="600"/>
              </a:spcBef>
              <a:spcAft>
                <a:spcPts val="0"/>
              </a:spcAft>
              <a:buClr>
                <a:schemeClr val="dk1"/>
              </a:buClr>
              <a:buSzPts val="1600"/>
              <a:buChar char="→"/>
            </a:pPr>
            <a:r>
              <a:rPr lang="es-ES"/>
              <a:t>Visual Paradigm.</a:t>
            </a:r>
            <a:endParaRPr/>
          </a:p>
          <a:p>
            <a:pPr indent="-265113" lvl="1" marL="531813" rtl="0" algn="just">
              <a:lnSpc>
                <a:spcPct val="100000"/>
              </a:lnSpc>
              <a:spcBef>
                <a:spcPts val="600"/>
              </a:spcBef>
              <a:spcAft>
                <a:spcPts val="0"/>
              </a:spcAft>
              <a:buClr>
                <a:schemeClr val="dk1"/>
              </a:buClr>
              <a:buSzPts val="1600"/>
              <a:buChar char="→"/>
            </a:pPr>
            <a:r>
              <a:rPr lang="es-ES"/>
              <a:t>Enterprise Architect.</a:t>
            </a:r>
            <a:endParaRPr/>
          </a:p>
          <a:p>
            <a:pPr indent="-265113" lvl="1" marL="531813" rtl="0" algn="just">
              <a:lnSpc>
                <a:spcPct val="100000"/>
              </a:lnSpc>
              <a:spcBef>
                <a:spcPts val="600"/>
              </a:spcBef>
              <a:spcAft>
                <a:spcPts val="0"/>
              </a:spcAft>
              <a:buClr>
                <a:schemeClr val="dk1"/>
              </a:buClr>
              <a:buSzPts val="1600"/>
              <a:buChar char="→"/>
            </a:pPr>
            <a:r>
              <a:rPr lang="es-ES"/>
              <a:t>IBM Rational Rose</a:t>
            </a:r>
            <a:endParaRPr/>
          </a:p>
          <a:p>
            <a:pPr indent="-265113" lvl="1" marL="531813" rtl="0" algn="just">
              <a:lnSpc>
                <a:spcPct val="100000"/>
              </a:lnSpc>
              <a:spcBef>
                <a:spcPts val="600"/>
              </a:spcBef>
              <a:spcAft>
                <a:spcPts val="0"/>
              </a:spcAft>
              <a:buClr>
                <a:schemeClr val="dk1"/>
              </a:buClr>
              <a:buSzPts val="1600"/>
              <a:buChar char="→"/>
            </a:pPr>
            <a:r>
              <a:rPr lang="es-ES"/>
              <a:t>SysML</a:t>
            </a:r>
            <a:endParaRPr/>
          </a:p>
          <a:p>
            <a:pPr indent="-266700" lvl="0" marL="266700" rtl="0" algn="just">
              <a:lnSpc>
                <a:spcPct val="100000"/>
              </a:lnSpc>
              <a:spcBef>
                <a:spcPts val="1200"/>
              </a:spcBef>
              <a:spcAft>
                <a:spcPts val="0"/>
              </a:spcAft>
              <a:buClr>
                <a:schemeClr val="dk1"/>
              </a:buClr>
              <a:buSzPts val="1200"/>
              <a:buChar char="❑"/>
            </a:pPr>
            <a:r>
              <a:rPr lang="es-ES"/>
              <a:t>Herramientas gratuitas</a:t>
            </a:r>
            <a:endParaRPr/>
          </a:p>
          <a:p>
            <a:pPr indent="-265113" lvl="1" marL="531813" rtl="0" algn="just">
              <a:lnSpc>
                <a:spcPct val="100000"/>
              </a:lnSpc>
              <a:spcBef>
                <a:spcPts val="600"/>
              </a:spcBef>
              <a:spcAft>
                <a:spcPts val="0"/>
              </a:spcAft>
              <a:buClr>
                <a:schemeClr val="dk1"/>
              </a:buClr>
              <a:buSzPts val="1600"/>
              <a:buChar char="→"/>
            </a:pPr>
            <a:r>
              <a:rPr lang="es-ES"/>
              <a:t>PlantUML</a:t>
            </a:r>
            <a:endParaRPr/>
          </a:p>
          <a:p>
            <a:pPr indent="-265113" lvl="1" marL="531813" rtl="0" algn="just">
              <a:lnSpc>
                <a:spcPct val="100000"/>
              </a:lnSpc>
              <a:spcBef>
                <a:spcPts val="600"/>
              </a:spcBef>
              <a:spcAft>
                <a:spcPts val="0"/>
              </a:spcAft>
              <a:buClr>
                <a:schemeClr val="dk1"/>
              </a:buClr>
              <a:buSzPts val="1600"/>
              <a:buChar char="→"/>
            </a:pPr>
            <a:r>
              <a:rPr lang="es-ES"/>
              <a:t>Diagrams.net</a:t>
            </a:r>
            <a:endParaRPr/>
          </a:p>
          <a:p>
            <a:pPr indent="-265113" lvl="1" marL="531813" rtl="0" algn="just">
              <a:lnSpc>
                <a:spcPct val="100000"/>
              </a:lnSpc>
              <a:spcBef>
                <a:spcPts val="600"/>
              </a:spcBef>
              <a:spcAft>
                <a:spcPts val="0"/>
              </a:spcAft>
              <a:buClr>
                <a:schemeClr val="dk1"/>
              </a:buClr>
              <a:buSzPts val="1600"/>
              <a:buChar char="→"/>
            </a:pPr>
            <a:r>
              <a:rPr lang="es-ES"/>
              <a:t>Lucidchart</a:t>
            </a:r>
            <a:endParaRPr/>
          </a:p>
          <a:p>
            <a:pPr indent="-265113" lvl="1" marL="531813" rtl="0" algn="just">
              <a:lnSpc>
                <a:spcPct val="100000"/>
              </a:lnSpc>
              <a:spcBef>
                <a:spcPts val="600"/>
              </a:spcBef>
              <a:spcAft>
                <a:spcPts val="0"/>
              </a:spcAft>
              <a:buClr>
                <a:schemeClr val="dk1"/>
              </a:buClr>
              <a:buSzPts val="1600"/>
              <a:buChar char="→"/>
            </a:pPr>
            <a:r>
              <a:rPr lang="es-ES"/>
              <a:t>draw.io</a:t>
            </a:r>
            <a:endParaRPr/>
          </a:p>
        </p:txBody>
      </p:sp>
      <p:sp>
        <p:nvSpPr>
          <p:cNvPr id="159" name="Google Shape;159;p1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 DE MODELADO</a:t>
            </a:r>
            <a:endParaRPr/>
          </a:p>
        </p:txBody>
      </p:sp>
      <p:pic>
        <p:nvPicPr>
          <p:cNvPr id="160" name="Google Shape;160;p12"/>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167" name="Google Shape;167;p1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a:t>
            </a:r>
            <a:r>
              <a:rPr b="0" i="0" lang="es-ES" sz="2800" u="none" cap="none" strike="noStrike">
                <a:solidFill>
                  <a:schemeClr val="dk1"/>
                </a:solidFill>
                <a:latin typeface="Calibri"/>
                <a:ea typeface="Calibri"/>
                <a:cs typeface="Calibri"/>
                <a:sym typeface="Calibri"/>
              </a:rPr>
              <a:t> </a:t>
            </a:r>
            <a:r>
              <a:rPr b="1" i="0" lang="es-ES" sz="2800" u="none" cap="none" strike="noStrike">
                <a:solidFill>
                  <a:schemeClr val="lt1"/>
                </a:solidFill>
                <a:latin typeface="Calibri"/>
                <a:ea typeface="Calibri"/>
                <a:cs typeface="Calibri"/>
                <a:sym typeface="Calibri"/>
              </a:rPr>
              <a:t>ELEMENTOS DEL DIAGRAMA DE ESTADO</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ESTADO</a:t>
            </a:r>
            <a:endParaRPr b="0">
              <a:solidFill>
                <a:srgbClr val="0070C0"/>
              </a:solidFill>
            </a:endParaRPr>
          </a:p>
        </p:txBody>
      </p:sp>
      <p:sp>
        <p:nvSpPr>
          <p:cNvPr id="174" name="Google Shape;174;p14"/>
          <p:cNvSpPr txBox="1"/>
          <p:nvPr>
            <p:ph idx="4" type="body"/>
          </p:nvPr>
        </p:nvSpPr>
        <p:spPr>
          <a:xfrm>
            <a:off x="796787" y="1184002"/>
            <a:ext cx="363317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 estado representa una condición específica o una fase en el ciclo de vida de un objeto. Se dibuja como un rectángulo redondeado y, por lo general, contiene el nombre del estado.</a:t>
            </a:r>
            <a:endParaRPr/>
          </a:p>
          <a:p>
            <a:pPr indent="0" lvl="1" marL="265113" rtl="0" algn="l">
              <a:lnSpc>
                <a:spcPct val="100000"/>
              </a:lnSpc>
              <a:spcBef>
                <a:spcPts val="1200"/>
              </a:spcBef>
              <a:spcAft>
                <a:spcPts val="0"/>
              </a:spcAft>
              <a:buClr>
                <a:srgbClr val="1F85A6"/>
              </a:buClr>
              <a:buSzPts val="1600"/>
              <a:buNone/>
            </a:pPr>
            <a:r>
              <a:rPr i="1" lang="es-ES">
                <a:solidFill>
                  <a:srgbClr val="1F85A6"/>
                </a:solidFill>
              </a:rPr>
              <a:t>Ejemplo: </a:t>
            </a:r>
            <a:r>
              <a:rPr lang="es-ES"/>
              <a:t>En un sistema de comercio electrónico, un producto podría tener estados como “Disponible”, “Reservado” y “Agotado”.</a:t>
            </a:r>
            <a:endParaRPr/>
          </a:p>
        </p:txBody>
      </p:sp>
      <p:sp>
        <p:nvSpPr>
          <p:cNvPr id="175" name="Google Shape;175;p1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ESTADO</a:t>
            </a:r>
            <a:endParaRPr/>
          </a:p>
        </p:txBody>
      </p:sp>
      <p:pic>
        <p:nvPicPr>
          <p:cNvPr id="176" name="Google Shape;176;p14"/>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ESTADO</a:t>
            </a:r>
            <a:endParaRPr b="0">
              <a:solidFill>
                <a:srgbClr val="0070C0"/>
              </a:solidFill>
            </a:endParaRPr>
          </a:p>
        </p:txBody>
      </p:sp>
      <p:sp>
        <p:nvSpPr>
          <p:cNvPr id="183" name="Google Shape;183;p15"/>
          <p:cNvSpPr txBox="1"/>
          <p:nvPr>
            <p:ph idx="4" type="body"/>
          </p:nvPr>
        </p:nvSpPr>
        <p:spPr>
          <a:xfrm>
            <a:off x="659183" y="1177927"/>
            <a:ext cx="372194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Una transición es un cambio de un estado a otro y se representa con una flecha que apunta del estado de origen al estado de destino. La transición puede tener un evento que la dispara, una condición que debe cumplirse y una acción que se realiza durante la transición.</a:t>
            </a:r>
            <a:endParaRPr/>
          </a:p>
          <a:p>
            <a:pPr indent="0" lvl="1" marL="265113" rtl="0" algn="l">
              <a:lnSpc>
                <a:spcPct val="100000"/>
              </a:lnSpc>
              <a:spcBef>
                <a:spcPts val="1200"/>
              </a:spcBef>
              <a:spcAft>
                <a:spcPts val="0"/>
              </a:spcAft>
              <a:buClr>
                <a:srgbClr val="1F85A6"/>
              </a:buClr>
              <a:buSzPts val="1600"/>
              <a:buNone/>
            </a:pPr>
            <a:r>
              <a:rPr i="1" lang="es-ES">
                <a:solidFill>
                  <a:srgbClr val="1F85A6"/>
                </a:solidFill>
              </a:rPr>
              <a:t>Ejemplo</a:t>
            </a:r>
            <a:r>
              <a:rPr lang="es-ES"/>
              <a:t>: Una flecha que va del estado “Disponible” al estado “Reservado” podría tener un evento “añadirAlCarrito”.</a:t>
            </a:r>
            <a:endParaRPr/>
          </a:p>
        </p:txBody>
      </p:sp>
      <p:sp>
        <p:nvSpPr>
          <p:cNvPr id="184" name="Google Shape;184;p1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TRANSICIÓN</a:t>
            </a:r>
            <a:endParaRPr/>
          </a:p>
        </p:txBody>
      </p:sp>
      <p:pic>
        <p:nvPicPr>
          <p:cNvPr id="185" name="Google Shape;185;p15"/>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ESTADO</a:t>
            </a:r>
            <a:endParaRPr b="0">
              <a:solidFill>
                <a:srgbClr val="0070C0"/>
              </a:solidFill>
            </a:endParaRPr>
          </a:p>
        </p:txBody>
      </p:sp>
      <p:sp>
        <p:nvSpPr>
          <p:cNvPr id="192" name="Google Shape;192;p16"/>
          <p:cNvSpPr txBox="1"/>
          <p:nvPr>
            <p:ph idx="4" type="body"/>
          </p:nvPr>
        </p:nvSpPr>
        <p:spPr>
          <a:xfrm>
            <a:off x="668061" y="1260488"/>
            <a:ext cx="370419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 evento es algo que ocurre en el sistema y puede desencadenar una transición. Se suele escribir cerca de la flecha de transición.</a:t>
            </a:r>
            <a:endParaRPr/>
          </a:p>
          <a:p>
            <a:pPr indent="0" lvl="1" marL="265113" rtl="0" algn="l">
              <a:lnSpc>
                <a:spcPct val="100000"/>
              </a:lnSpc>
              <a:spcBef>
                <a:spcPts val="1200"/>
              </a:spcBef>
              <a:spcAft>
                <a:spcPts val="0"/>
              </a:spcAft>
              <a:buClr>
                <a:srgbClr val="1F85A6"/>
              </a:buClr>
              <a:buSzPts val="1600"/>
              <a:buNone/>
            </a:pPr>
            <a:r>
              <a:rPr i="1" lang="es-ES">
                <a:solidFill>
                  <a:srgbClr val="1F85A6"/>
                </a:solidFill>
              </a:rPr>
              <a:t>Ejemplo</a:t>
            </a:r>
            <a:r>
              <a:rPr lang="es-ES"/>
              <a:t>: “añadirAlCarrito” o “comprar” son eventos que cambian el estado de un producto.</a:t>
            </a:r>
            <a:endParaRPr/>
          </a:p>
        </p:txBody>
      </p:sp>
      <p:sp>
        <p:nvSpPr>
          <p:cNvPr id="193" name="Google Shape;193;p1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EVENTO</a:t>
            </a:r>
            <a:endParaRPr/>
          </a:p>
        </p:txBody>
      </p:sp>
      <p:pic>
        <p:nvPicPr>
          <p:cNvPr id="194" name="Google Shape;194;p16"/>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ESTADO</a:t>
            </a:r>
            <a:endParaRPr b="0">
              <a:solidFill>
                <a:srgbClr val="0070C0"/>
              </a:solidFill>
            </a:endParaRPr>
          </a:p>
        </p:txBody>
      </p:sp>
      <p:sp>
        <p:nvSpPr>
          <p:cNvPr id="201" name="Google Shape;201;p17"/>
          <p:cNvSpPr txBox="1"/>
          <p:nvPr>
            <p:ph idx="4" type="body"/>
          </p:nvPr>
        </p:nvSpPr>
        <p:spPr>
          <a:xfrm>
            <a:off x="468314" y="1177927"/>
            <a:ext cx="3757458"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Una acción es una actividad que se realiza durante una transición. Se coloca generalmente después de un evento y una condición, separada por una barra (“/”).</a:t>
            </a:r>
            <a:endParaRPr/>
          </a:p>
          <a:p>
            <a:pPr indent="0" lvl="1" marL="265113" rtl="0" algn="l">
              <a:lnSpc>
                <a:spcPct val="100000"/>
              </a:lnSpc>
              <a:spcBef>
                <a:spcPts val="1200"/>
              </a:spcBef>
              <a:spcAft>
                <a:spcPts val="0"/>
              </a:spcAft>
              <a:buClr>
                <a:srgbClr val="1F85A6"/>
              </a:buClr>
              <a:buSzPts val="1600"/>
              <a:buNone/>
            </a:pPr>
            <a:r>
              <a:rPr i="1" lang="es-ES">
                <a:solidFill>
                  <a:srgbClr val="1F85A6"/>
                </a:solidFill>
              </a:rPr>
              <a:t>Ejemplo</a:t>
            </a:r>
            <a:r>
              <a:rPr lang="es-ES"/>
              <a:t>: Al pasar del estado “Reservado” a “Agotado”, podría haber una acción como “/actualizarInventario”.</a:t>
            </a:r>
            <a:endParaRPr/>
          </a:p>
        </p:txBody>
      </p:sp>
      <p:sp>
        <p:nvSpPr>
          <p:cNvPr id="202" name="Google Shape;202;p1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ACCIÓN</a:t>
            </a:r>
            <a:endParaRPr/>
          </a:p>
        </p:txBody>
      </p:sp>
      <p:pic>
        <p:nvPicPr>
          <p:cNvPr id="203" name="Google Shape;203;p17"/>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ESTADO</a:t>
            </a:r>
            <a:endParaRPr b="0">
              <a:solidFill>
                <a:srgbClr val="0070C0"/>
              </a:solidFill>
            </a:endParaRPr>
          </a:p>
        </p:txBody>
      </p:sp>
      <p:sp>
        <p:nvSpPr>
          <p:cNvPr id="210" name="Google Shape;210;p18"/>
          <p:cNvSpPr txBox="1"/>
          <p:nvPr>
            <p:ph idx="4" type="body"/>
          </p:nvPr>
        </p:nvSpPr>
        <p:spPr>
          <a:xfrm>
            <a:off x="659183" y="1177927"/>
            <a:ext cx="372194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una expresión booleana que debe evaluarse como verdadera para que la transición ocurra. Se coloca entre corchetes “[ ]” cerca de la flecha de transición.</a:t>
            </a:r>
            <a:endParaRPr/>
          </a:p>
          <a:p>
            <a:pPr indent="0" lvl="1" marL="265113" rtl="0" algn="l">
              <a:lnSpc>
                <a:spcPct val="100000"/>
              </a:lnSpc>
              <a:spcBef>
                <a:spcPts val="1200"/>
              </a:spcBef>
              <a:spcAft>
                <a:spcPts val="0"/>
              </a:spcAft>
              <a:buClr>
                <a:srgbClr val="1F85A6"/>
              </a:buClr>
              <a:buSzPts val="1600"/>
              <a:buNone/>
            </a:pPr>
            <a:r>
              <a:rPr i="1" lang="es-ES">
                <a:solidFill>
                  <a:srgbClr val="1F85A6"/>
                </a:solidFill>
              </a:rPr>
              <a:t>Ejemplo</a:t>
            </a:r>
            <a:r>
              <a:rPr lang="es-ES"/>
              <a:t>: Al pasar de “Reservado” a “Comprado”, podría haber una condición como “[pagoAprobado]”.</a:t>
            </a:r>
            <a:endParaRPr/>
          </a:p>
        </p:txBody>
      </p:sp>
      <p:sp>
        <p:nvSpPr>
          <p:cNvPr id="211" name="Google Shape;211;p1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CONDICIÓN GUARDA</a:t>
            </a:r>
            <a:endParaRPr/>
          </a:p>
        </p:txBody>
      </p:sp>
      <p:pic>
        <p:nvPicPr>
          <p:cNvPr id="212" name="Google Shape;212;p18"/>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ESTADO</a:t>
            </a:r>
            <a:endParaRPr b="0">
              <a:solidFill>
                <a:srgbClr val="0070C0"/>
              </a:solidFill>
            </a:endParaRPr>
          </a:p>
        </p:txBody>
      </p:sp>
      <p:sp>
        <p:nvSpPr>
          <p:cNvPr id="219" name="Google Shape;219;p19"/>
          <p:cNvSpPr txBox="1"/>
          <p:nvPr>
            <p:ph idx="4" type="body"/>
          </p:nvPr>
        </p:nvSpPr>
        <p:spPr>
          <a:xfrm>
            <a:off x="694693" y="1177927"/>
            <a:ext cx="3650926"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El estado inicial se representa con un círculo relleno y es el estado en el que comienza el objeto. El estado final se representa con un círculo relleno rodeado por otro círculo y marca el fin del ciclo de vida del objeto.</a:t>
            </a:r>
            <a:endParaRPr/>
          </a:p>
          <a:p>
            <a:pPr indent="0" lvl="1" marL="265113" rtl="0" algn="l">
              <a:lnSpc>
                <a:spcPct val="100000"/>
              </a:lnSpc>
              <a:spcBef>
                <a:spcPts val="1200"/>
              </a:spcBef>
              <a:spcAft>
                <a:spcPts val="0"/>
              </a:spcAft>
              <a:buClr>
                <a:srgbClr val="1F85A6"/>
              </a:buClr>
              <a:buSzPts val="1600"/>
              <a:buNone/>
            </a:pPr>
            <a:r>
              <a:rPr i="1" lang="es-ES">
                <a:solidFill>
                  <a:srgbClr val="1F85A6"/>
                </a:solidFill>
              </a:rPr>
              <a:t>Ejemplo</a:t>
            </a:r>
            <a:r>
              <a:rPr lang="es-ES"/>
              <a:t>: En el caso de un producto, el estado inicial podría ser “En Inventario” y el estado final “Descatalogado”.</a:t>
            </a:r>
            <a:endParaRPr/>
          </a:p>
        </p:txBody>
      </p:sp>
      <p:sp>
        <p:nvSpPr>
          <p:cNvPr id="220" name="Google Shape;220;p1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ESTADO INICIAL Y ESTADO FINAL</a:t>
            </a:r>
            <a:endParaRPr/>
          </a:p>
        </p:txBody>
      </p:sp>
      <p:pic>
        <p:nvPicPr>
          <p:cNvPr id="221" name="Google Shape;221;p19"/>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ESTADO</a:t>
            </a:r>
            <a:endParaRPr b="0">
              <a:solidFill>
                <a:srgbClr val="0070C0"/>
              </a:solidFill>
            </a:endParaRPr>
          </a:p>
        </p:txBody>
      </p:sp>
      <p:sp>
        <p:nvSpPr>
          <p:cNvPr id="228" name="Google Shape;228;p20"/>
          <p:cNvSpPr txBox="1"/>
          <p:nvPr>
            <p:ph idx="4" type="body"/>
          </p:nvPr>
        </p:nvSpPr>
        <p:spPr>
          <a:xfrm>
            <a:off x="792346" y="1177927"/>
            <a:ext cx="345561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estados que contienen otros estados y transiciones internas. Se utilizan para simplificar diagramas complejos.</a:t>
            </a:r>
            <a:endParaRPr/>
          </a:p>
          <a:p>
            <a:pPr indent="0" lvl="1" marL="265113" rtl="0" algn="l">
              <a:lnSpc>
                <a:spcPct val="100000"/>
              </a:lnSpc>
              <a:spcBef>
                <a:spcPts val="1200"/>
              </a:spcBef>
              <a:spcAft>
                <a:spcPts val="0"/>
              </a:spcAft>
              <a:buClr>
                <a:srgbClr val="1F85A6"/>
              </a:buClr>
              <a:buSzPts val="1600"/>
              <a:buNone/>
            </a:pPr>
            <a:r>
              <a:rPr i="1" lang="es-ES">
                <a:solidFill>
                  <a:srgbClr val="1F85A6"/>
                </a:solidFill>
              </a:rPr>
              <a:t>Ejemplo</a:t>
            </a:r>
            <a:r>
              <a:rPr lang="es-ES"/>
              <a:t>: Un estado “En Carrito” podría ser un estado compuesto que incluye estados como “Reservado” y “Listo para Compra”.</a:t>
            </a:r>
            <a:endParaRPr/>
          </a:p>
        </p:txBody>
      </p:sp>
      <p:sp>
        <p:nvSpPr>
          <p:cNvPr id="229" name="Google Shape;229;p20"/>
          <p:cNvSpPr txBox="1"/>
          <p:nvPr>
            <p:ph idx="1" type="body"/>
          </p:nvPr>
        </p:nvSpPr>
        <p:spPr>
          <a:xfrm>
            <a:off x="468312" y="75516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ESTADOS COMPUESTOS</a:t>
            </a:r>
            <a:endParaRPr/>
          </a:p>
        </p:txBody>
      </p:sp>
      <p:pic>
        <p:nvPicPr>
          <p:cNvPr id="230" name="Google Shape;230;p20"/>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ESTADO</a:t>
            </a:r>
            <a:endParaRPr b="0">
              <a:solidFill>
                <a:srgbClr val="0070C0"/>
              </a:solidFill>
            </a:endParaRPr>
          </a:p>
        </p:txBody>
      </p:sp>
      <p:sp>
        <p:nvSpPr>
          <p:cNvPr id="237" name="Google Shape;237;p21"/>
          <p:cNvSpPr txBox="1"/>
          <p:nvPr>
            <p:ph idx="4" type="body"/>
          </p:nvPr>
        </p:nvSpPr>
        <p:spPr>
          <a:xfrm>
            <a:off x="903319" y="1178590"/>
            <a:ext cx="3668681"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 utilizan para mostrar que un objeto puede estar en más de un estado al mismo tiempo. Se dibujan como áreas separadas dentro de un estado compuesto.</a:t>
            </a:r>
            <a:endParaRPr/>
          </a:p>
          <a:p>
            <a:pPr indent="0" lvl="1" marL="265113" rtl="0" algn="l">
              <a:lnSpc>
                <a:spcPct val="100000"/>
              </a:lnSpc>
              <a:spcBef>
                <a:spcPts val="1200"/>
              </a:spcBef>
              <a:spcAft>
                <a:spcPts val="0"/>
              </a:spcAft>
              <a:buClr>
                <a:srgbClr val="1F85A6"/>
              </a:buClr>
              <a:buSzPts val="1600"/>
              <a:buNone/>
            </a:pPr>
            <a:r>
              <a:rPr i="1" lang="es-ES">
                <a:solidFill>
                  <a:srgbClr val="1F85A6"/>
                </a:solidFill>
              </a:rPr>
              <a:t>Ejemplo</a:t>
            </a:r>
            <a:r>
              <a:rPr lang="es-ES"/>
              <a:t>: Un producto podría estar simultáneamente en los estados “En Oferta” y “Disponible”.</a:t>
            </a:r>
            <a:endParaRPr/>
          </a:p>
        </p:txBody>
      </p:sp>
      <p:sp>
        <p:nvSpPr>
          <p:cNvPr id="238" name="Google Shape;238;p2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REGIONES CONCURRENTES</a:t>
            </a:r>
            <a:endParaRPr/>
          </a:p>
        </p:txBody>
      </p:sp>
      <p:pic>
        <p:nvPicPr>
          <p:cNvPr id="239" name="Google Shape;239;p21"/>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ESTADO, PASO A PASO</a:t>
            </a:r>
            <a:endParaRPr>
              <a:solidFill>
                <a:srgbClr val="A5A5A5"/>
              </a:solidFill>
            </a:endParaRPr>
          </a:p>
        </p:txBody>
      </p:sp>
      <p:sp>
        <p:nvSpPr>
          <p:cNvPr id="246" name="Google Shape;246;p22"/>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ESTADO</a:t>
            </a:r>
            <a:endParaRPr/>
          </a:p>
        </p:txBody>
      </p:sp>
      <p:sp>
        <p:nvSpPr>
          <p:cNvPr id="247" name="Google Shape;247;p22"/>
          <p:cNvSpPr txBox="1"/>
          <p:nvPr>
            <p:ph idx="3" type="body"/>
          </p:nvPr>
        </p:nvSpPr>
        <p:spPr>
          <a:xfrm>
            <a:off x="468313" y="1174364"/>
            <a:ext cx="8207375" cy="4027952"/>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5000"/>
              </a:lnSpc>
              <a:spcBef>
                <a:spcPts val="0"/>
              </a:spcBef>
              <a:spcAft>
                <a:spcPts val="0"/>
              </a:spcAft>
              <a:buSzPts val="1200"/>
              <a:buNone/>
            </a:pPr>
            <a:r>
              <a:rPr b="1" lang="es-ES">
                <a:solidFill>
                  <a:srgbClr val="1F85A6"/>
                </a:solidFill>
              </a:rPr>
              <a:t>  Paso 1: Identificar el Objeto o Clase de Interés</a:t>
            </a:r>
            <a:endParaRPr/>
          </a:p>
          <a:p>
            <a:pPr indent="0" lvl="1" marL="92075" rtl="0" algn="just">
              <a:lnSpc>
                <a:spcPct val="85000"/>
              </a:lnSpc>
              <a:spcBef>
                <a:spcPts val="0"/>
              </a:spcBef>
              <a:spcAft>
                <a:spcPts val="0"/>
              </a:spcAft>
              <a:buSzPts val="1600"/>
              <a:buNone/>
            </a:pPr>
            <a:r>
              <a:rPr lang="es-ES" sz="1600">
                <a:solidFill>
                  <a:srgbClr val="1F85A6"/>
                </a:solidFill>
              </a:rPr>
              <a:t>Antes de comenzar, debes saber qué objeto o clase estás modelando (en un sistema de comercio electrónico, podrías elegir modelar el ciclo de vida de un objeto Producto).</a:t>
            </a:r>
            <a:endParaRPr/>
          </a:p>
          <a:p>
            <a:pPr indent="0" lvl="0" marL="0" rtl="0" algn="just">
              <a:lnSpc>
                <a:spcPct val="85000"/>
              </a:lnSpc>
              <a:spcBef>
                <a:spcPts val="600"/>
              </a:spcBef>
              <a:spcAft>
                <a:spcPts val="0"/>
              </a:spcAft>
              <a:buSzPts val="1200"/>
              <a:buNone/>
            </a:pPr>
            <a:r>
              <a:t/>
            </a:r>
            <a:endParaRPr b="1">
              <a:solidFill>
                <a:srgbClr val="1F85A6"/>
              </a:solidFill>
            </a:endParaRPr>
          </a:p>
          <a:p>
            <a:pPr indent="0" lvl="0" marL="0" rtl="0" algn="just">
              <a:lnSpc>
                <a:spcPct val="85000"/>
              </a:lnSpc>
              <a:spcBef>
                <a:spcPts val="600"/>
              </a:spcBef>
              <a:spcAft>
                <a:spcPts val="0"/>
              </a:spcAft>
              <a:buSzPts val="1200"/>
              <a:buNone/>
            </a:pPr>
            <a:r>
              <a:rPr b="1" lang="es-ES">
                <a:solidFill>
                  <a:srgbClr val="1F85A6"/>
                </a:solidFill>
              </a:rPr>
              <a:t>  Paso 2: Definir los Estados</a:t>
            </a:r>
            <a:endParaRPr/>
          </a:p>
          <a:p>
            <a:pPr indent="0" lvl="1" marL="92075" rtl="0" algn="just">
              <a:lnSpc>
                <a:spcPct val="85000"/>
              </a:lnSpc>
              <a:spcBef>
                <a:spcPts val="0"/>
              </a:spcBef>
              <a:spcAft>
                <a:spcPts val="0"/>
              </a:spcAft>
              <a:buSzPts val="1600"/>
              <a:buNone/>
            </a:pPr>
            <a:r>
              <a:rPr lang="es-ES" sz="1600">
                <a:solidFill>
                  <a:srgbClr val="1F85A6"/>
                </a:solidFill>
              </a:rPr>
              <a:t>Haz una lista de todos los estados posibles en los que el objeto o clase podría encontrarse durante su ciclo de vida (Para un Producto, los estados podrían ser “Disponible”, “Reservado”, “Agotado”, etc.).</a:t>
            </a:r>
            <a:endParaRPr/>
          </a:p>
          <a:p>
            <a:pPr indent="0" lvl="0" marL="0" rtl="0" algn="just">
              <a:lnSpc>
                <a:spcPct val="85000"/>
              </a:lnSpc>
              <a:spcBef>
                <a:spcPts val="600"/>
              </a:spcBef>
              <a:spcAft>
                <a:spcPts val="0"/>
              </a:spcAft>
              <a:buSzPts val="1200"/>
              <a:buNone/>
            </a:pPr>
            <a:r>
              <a:t/>
            </a:r>
            <a:endParaRPr b="1">
              <a:solidFill>
                <a:srgbClr val="1F85A6"/>
              </a:solidFill>
            </a:endParaRPr>
          </a:p>
          <a:p>
            <a:pPr indent="0" lvl="0" marL="0" rtl="0" algn="just">
              <a:lnSpc>
                <a:spcPct val="85000"/>
              </a:lnSpc>
              <a:spcBef>
                <a:spcPts val="600"/>
              </a:spcBef>
              <a:spcAft>
                <a:spcPts val="0"/>
              </a:spcAft>
              <a:buSzPts val="1200"/>
              <a:buNone/>
            </a:pPr>
            <a:r>
              <a:rPr b="1" lang="es-ES">
                <a:solidFill>
                  <a:srgbClr val="1F85A6"/>
                </a:solidFill>
              </a:rPr>
              <a:t>  Paso 3: Identificar Eventos y Transiciones</a:t>
            </a:r>
            <a:endParaRPr/>
          </a:p>
          <a:p>
            <a:pPr indent="0" lvl="1" marL="92075" rtl="0" algn="just">
              <a:lnSpc>
                <a:spcPct val="85000"/>
              </a:lnSpc>
              <a:spcBef>
                <a:spcPts val="0"/>
              </a:spcBef>
              <a:spcAft>
                <a:spcPts val="0"/>
              </a:spcAft>
              <a:buSzPts val="1600"/>
              <a:buNone/>
            </a:pPr>
            <a:r>
              <a:rPr lang="es-ES" sz="1600">
                <a:solidFill>
                  <a:srgbClr val="1F85A6"/>
                </a:solidFill>
              </a:rPr>
              <a:t>Identifica los eventos que causan que el objeto cambie de un estado a otro y define las transiciones correspondientes (el evento “añadirAlCarrito” podría llevar un Producto del estado “Disponible” al estado “Reservado”).</a:t>
            </a:r>
            <a:endParaRPr/>
          </a:p>
          <a:p>
            <a:pPr indent="0" lvl="0" marL="0" rtl="0" algn="just">
              <a:lnSpc>
                <a:spcPct val="85000"/>
              </a:lnSpc>
              <a:spcBef>
                <a:spcPts val="600"/>
              </a:spcBef>
              <a:spcAft>
                <a:spcPts val="0"/>
              </a:spcAft>
              <a:buSzPts val="1200"/>
              <a:buNone/>
            </a:pPr>
            <a:r>
              <a:rPr b="1" lang="es-ES">
                <a:solidFill>
                  <a:srgbClr val="1F85A6"/>
                </a:solidFill>
              </a:rPr>
              <a:t>   </a:t>
            </a:r>
            <a:r>
              <a:rPr b="1" lang="es-ES">
                <a:solidFill>
                  <a:schemeClr val="dk1"/>
                </a:solidFill>
              </a:rPr>
              <a:t>  </a:t>
            </a:r>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ESTADO, PASO A PASO</a:t>
            </a:r>
            <a:endParaRPr>
              <a:solidFill>
                <a:srgbClr val="A5A5A5"/>
              </a:solidFill>
            </a:endParaRPr>
          </a:p>
        </p:txBody>
      </p:sp>
      <p:sp>
        <p:nvSpPr>
          <p:cNvPr id="254" name="Google Shape;254;p23"/>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ESTADO</a:t>
            </a:r>
            <a:endParaRPr/>
          </a:p>
        </p:txBody>
      </p:sp>
      <p:sp>
        <p:nvSpPr>
          <p:cNvPr id="255" name="Google Shape;255;p23"/>
          <p:cNvSpPr txBox="1"/>
          <p:nvPr>
            <p:ph idx="3" type="body"/>
          </p:nvPr>
        </p:nvSpPr>
        <p:spPr>
          <a:xfrm>
            <a:off x="468313" y="1174364"/>
            <a:ext cx="8207375" cy="4027952"/>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5000"/>
              </a:lnSpc>
              <a:spcBef>
                <a:spcPts val="0"/>
              </a:spcBef>
              <a:spcAft>
                <a:spcPts val="0"/>
              </a:spcAft>
              <a:buSzPts val="1200"/>
              <a:buNone/>
            </a:pPr>
            <a:r>
              <a:t/>
            </a:r>
            <a:endParaRPr b="1">
              <a:solidFill>
                <a:srgbClr val="1F85A6"/>
              </a:solidFill>
            </a:endParaRPr>
          </a:p>
          <a:p>
            <a:pPr indent="0" lvl="0" marL="0" rtl="0" algn="just">
              <a:lnSpc>
                <a:spcPct val="85000"/>
              </a:lnSpc>
              <a:spcBef>
                <a:spcPts val="0"/>
              </a:spcBef>
              <a:spcAft>
                <a:spcPts val="0"/>
              </a:spcAft>
              <a:buSzPts val="1200"/>
              <a:buNone/>
            </a:pPr>
            <a:r>
              <a:rPr b="1" lang="es-ES">
                <a:solidFill>
                  <a:srgbClr val="1F85A6"/>
                </a:solidFill>
              </a:rPr>
              <a:t>Paso 4: Añadir Acciones y Condiciones</a:t>
            </a:r>
            <a:endParaRPr/>
          </a:p>
          <a:p>
            <a:pPr indent="0" lvl="1" marL="92075" rtl="0" algn="just">
              <a:lnSpc>
                <a:spcPct val="85000"/>
              </a:lnSpc>
              <a:spcBef>
                <a:spcPts val="0"/>
              </a:spcBef>
              <a:spcAft>
                <a:spcPts val="0"/>
              </a:spcAft>
              <a:buSzPts val="1600"/>
              <a:buNone/>
            </a:pPr>
            <a:r>
              <a:rPr lang="es-ES" sz="1600">
                <a:solidFill>
                  <a:srgbClr val="1F85A6"/>
                </a:solidFill>
              </a:rPr>
              <a:t>Para cada transición, determina si hay alguna acción que deba llevarse a cabo durante la transición o alguna condición que deba cumplirse para que la transición ocurra (la transición de “Reservado” a “Agotado” podría tener una acción “actualizarInventario” y una condición “[últimaUnidad]”).</a:t>
            </a:r>
            <a:endParaRPr/>
          </a:p>
          <a:p>
            <a:pPr indent="0" lvl="0" marL="0" rtl="0" algn="just">
              <a:lnSpc>
                <a:spcPct val="85000"/>
              </a:lnSpc>
              <a:spcBef>
                <a:spcPts val="600"/>
              </a:spcBef>
              <a:spcAft>
                <a:spcPts val="0"/>
              </a:spcAft>
              <a:buSzPts val="1200"/>
              <a:buNone/>
            </a:pPr>
            <a:r>
              <a:rPr b="1" lang="es-ES">
                <a:solidFill>
                  <a:srgbClr val="1F85A6"/>
                </a:solidFill>
              </a:rPr>
              <a:t>  </a:t>
            </a:r>
            <a:endParaRPr/>
          </a:p>
          <a:p>
            <a:pPr indent="0" lvl="0" marL="0" rtl="0" algn="just">
              <a:lnSpc>
                <a:spcPct val="85000"/>
              </a:lnSpc>
              <a:spcBef>
                <a:spcPts val="600"/>
              </a:spcBef>
              <a:spcAft>
                <a:spcPts val="0"/>
              </a:spcAft>
              <a:buSzPts val="1200"/>
              <a:buNone/>
            </a:pPr>
            <a:r>
              <a:rPr b="1" lang="es-ES">
                <a:solidFill>
                  <a:srgbClr val="1F85A6"/>
                </a:solidFill>
              </a:rPr>
              <a:t>Paso 5: Dibujar el Diagrama</a:t>
            </a:r>
            <a:endParaRPr/>
          </a:p>
          <a:p>
            <a:pPr indent="0" lvl="1" marL="92075" rtl="0" algn="just">
              <a:lnSpc>
                <a:spcPct val="85000"/>
              </a:lnSpc>
              <a:spcBef>
                <a:spcPts val="0"/>
              </a:spcBef>
              <a:spcAft>
                <a:spcPts val="0"/>
              </a:spcAft>
              <a:buSzPts val="1600"/>
              <a:buNone/>
            </a:pPr>
            <a:r>
              <a:rPr lang="es-ES" sz="1600">
                <a:solidFill>
                  <a:srgbClr val="1F85A6"/>
                </a:solidFill>
              </a:rPr>
              <a:t>Utiliza una herramienta de dibujo UML o papel y lápiz para dibujar el diagrama. Comienza con el estado inicial, añade estados, y luego conecta estos estados con flechas de transición.</a:t>
            </a:r>
            <a:endParaRPr/>
          </a:p>
          <a:p>
            <a:pPr indent="0" lvl="1" marL="92075" rtl="0" algn="just">
              <a:lnSpc>
                <a:spcPct val="85000"/>
              </a:lnSpc>
              <a:spcBef>
                <a:spcPts val="0"/>
              </a:spcBef>
              <a:spcAft>
                <a:spcPts val="0"/>
              </a:spcAft>
              <a:buSzPts val="1600"/>
              <a:buNone/>
            </a:pPr>
            <a:r>
              <a:t/>
            </a:r>
            <a:endParaRPr sz="1600">
              <a:solidFill>
                <a:srgbClr val="1F85A6"/>
              </a:solidFill>
            </a:endParaRPr>
          </a:p>
          <a:p>
            <a:pPr indent="0" lvl="1" marL="92075" rtl="0" algn="just">
              <a:lnSpc>
                <a:spcPct val="85000"/>
              </a:lnSpc>
              <a:spcBef>
                <a:spcPts val="0"/>
              </a:spcBef>
              <a:spcAft>
                <a:spcPts val="0"/>
              </a:spcAft>
              <a:buSzPts val="1600"/>
              <a:buNone/>
            </a:pPr>
            <a:r>
              <a:t/>
            </a:r>
            <a:endParaRPr sz="1600">
              <a:solidFill>
                <a:srgbClr val="1F85A6"/>
              </a:solidFill>
            </a:endParaRPr>
          </a:p>
          <a:p>
            <a:pPr indent="-169863" lvl="1" marL="444500" rtl="0" algn="just">
              <a:lnSpc>
                <a:spcPct val="85000"/>
              </a:lnSpc>
              <a:spcBef>
                <a:spcPts val="0"/>
              </a:spcBef>
              <a:spcAft>
                <a:spcPts val="0"/>
              </a:spcAft>
              <a:buSzPts val="1600"/>
              <a:buFont typeface="Calibri"/>
              <a:buAutoNum type="arabicPeriod"/>
            </a:pPr>
            <a:r>
              <a:rPr lang="es-ES" sz="1600">
                <a:solidFill>
                  <a:schemeClr val="dk1"/>
                </a:solidFill>
              </a:rPr>
              <a:t>Dibuja un círculo relleno para el estado inicial.</a:t>
            </a:r>
            <a:endParaRPr/>
          </a:p>
          <a:p>
            <a:pPr indent="-169863" lvl="1" marL="444500" rtl="0" algn="just">
              <a:lnSpc>
                <a:spcPct val="85000"/>
              </a:lnSpc>
              <a:spcBef>
                <a:spcPts val="0"/>
              </a:spcBef>
              <a:spcAft>
                <a:spcPts val="0"/>
              </a:spcAft>
              <a:buSzPts val="1600"/>
              <a:buFont typeface="Calibri"/>
              <a:buAutoNum type="arabicPeriod"/>
            </a:pPr>
            <a:r>
              <a:rPr lang="es-ES" sz="1600">
                <a:solidFill>
                  <a:schemeClr val="dk1"/>
                </a:solidFill>
              </a:rPr>
              <a:t>Dibuja rectángulos redondeados para cada estado.</a:t>
            </a:r>
            <a:endParaRPr/>
          </a:p>
          <a:p>
            <a:pPr indent="-169863" lvl="1" marL="444500" rtl="0" algn="just">
              <a:lnSpc>
                <a:spcPct val="85000"/>
              </a:lnSpc>
              <a:spcBef>
                <a:spcPts val="0"/>
              </a:spcBef>
              <a:spcAft>
                <a:spcPts val="0"/>
              </a:spcAft>
              <a:buSzPts val="1600"/>
              <a:buFont typeface="Calibri"/>
              <a:buAutoNum type="arabicPeriod"/>
            </a:pPr>
            <a:r>
              <a:rPr lang="es-ES" sz="1600">
                <a:solidFill>
                  <a:schemeClr val="dk1"/>
                </a:solidFill>
              </a:rPr>
              <a:t>Dibuja flechas para representar las transiciones y etiquétalas con eventos, acciones y condiciones.</a:t>
            </a:r>
            <a:endParaRPr/>
          </a:p>
          <a:p>
            <a:pPr indent="0" lvl="0" marL="0" rtl="0" algn="just">
              <a:lnSpc>
                <a:spcPct val="85000"/>
              </a:lnSpc>
              <a:spcBef>
                <a:spcPts val="600"/>
              </a:spcBef>
              <a:spcAft>
                <a:spcPts val="0"/>
              </a:spcAft>
              <a:buSzPts val="1050"/>
              <a:buNone/>
            </a:pPr>
            <a:r>
              <a:rPr b="1" lang="es-ES" sz="1400">
                <a:solidFill>
                  <a:schemeClr val="dk1"/>
                </a:solidFill>
              </a:rPr>
              <a:t>  </a:t>
            </a:r>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4"/>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ESTADO, PASO A PASO</a:t>
            </a:r>
            <a:endParaRPr>
              <a:solidFill>
                <a:srgbClr val="A5A5A5"/>
              </a:solidFill>
            </a:endParaRPr>
          </a:p>
        </p:txBody>
      </p:sp>
      <p:sp>
        <p:nvSpPr>
          <p:cNvPr id="262" name="Google Shape;262;p24"/>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ESTADO</a:t>
            </a:r>
            <a:endParaRPr/>
          </a:p>
        </p:txBody>
      </p:sp>
      <p:sp>
        <p:nvSpPr>
          <p:cNvPr id="263" name="Google Shape;263;p24"/>
          <p:cNvSpPr txBox="1"/>
          <p:nvPr>
            <p:ph idx="3" type="body"/>
          </p:nvPr>
        </p:nvSpPr>
        <p:spPr>
          <a:xfrm>
            <a:off x="468313" y="1174363"/>
            <a:ext cx="8207375" cy="4001319"/>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5000"/>
              </a:lnSpc>
              <a:spcBef>
                <a:spcPts val="0"/>
              </a:spcBef>
              <a:spcAft>
                <a:spcPts val="0"/>
              </a:spcAft>
              <a:buSzPts val="1200"/>
              <a:buNone/>
            </a:pPr>
            <a:r>
              <a:t/>
            </a:r>
            <a:endParaRPr b="1">
              <a:solidFill>
                <a:schemeClr val="dk1"/>
              </a:solidFill>
            </a:endParaRPr>
          </a:p>
          <a:p>
            <a:pPr indent="0" lvl="0" marL="0" rtl="0" algn="just">
              <a:lnSpc>
                <a:spcPct val="85000"/>
              </a:lnSpc>
              <a:spcBef>
                <a:spcPts val="0"/>
              </a:spcBef>
              <a:spcAft>
                <a:spcPts val="0"/>
              </a:spcAft>
              <a:buSzPts val="1200"/>
              <a:buNone/>
            </a:pPr>
            <a:r>
              <a:rPr b="1" lang="es-ES">
                <a:solidFill>
                  <a:schemeClr val="dk1"/>
                </a:solidFill>
              </a:rPr>
              <a:t>Paso 6: Revisar y Refinar</a:t>
            </a:r>
            <a:endParaRPr/>
          </a:p>
          <a:p>
            <a:pPr indent="0" lvl="1" marL="92075" rtl="0" algn="just">
              <a:lnSpc>
                <a:spcPct val="85000"/>
              </a:lnSpc>
              <a:spcBef>
                <a:spcPts val="0"/>
              </a:spcBef>
              <a:spcAft>
                <a:spcPts val="0"/>
              </a:spcAft>
              <a:buSzPts val="1600"/>
              <a:buNone/>
            </a:pPr>
            <a:r>
              <a:rPr lang="es-ES" sz="1600">
                <a:solidFill>
                  <a:schemeClr val="dk1"/>
                </a:solidFill>
              </a:rPr>
              <a:t>Una vez que hayas dibujado el diagrama inicial, revísalo para asegurarte de que todos los estados y transiciones sean correctos y completos. Ajusta según sea necesario.</a:t>
            </a:r>
            <a:endParaRPr/>
          </a:p>
          <a:p>
            <a:pPr indent="0" lvl="0" marL="0" rtl="0" algn="just">
              <a:lnSpc>
                <a:spcPct val="85000"/>
              </a:lnSpc>
              <a:spcBef>
                <a:spcPts val="600"/>
              </a:spcBef>
              <a:spcAft>
                <a:spcPts val="0"/>
              </a:spcAft>
              <a:buSzPts val="1200"/>
              <a:buNone/>
            </a:pPr>
            <a:r>
              <a:rPr b="1" lang="es-ES">
                <a:solidFill>
                  <a:schemeClr val="dk1"/>
                </a:solidFill>
              </a:rPr>
              <a:t>  Paso 7: Validar el Diagrama</a:t>
            </a:r>
            <a:endParaRPr/>
          </a:p>
          <a:p>
            <a:pPr indent="0" lvl="1" marL="92075" rtl="0" algn="just">
              <a:lnSpc>
                <a:spcPct val="85000"/>
              </a:lnSpc>
              <a:spcBef>
                <a:spcPts val="0"/>
              </a:spcBef>
              <a:spcAft>
                <a:spcPts val="0"/>
              </a:spcAft>
              <a:buSzPts val="1600"/>
              <a:buNone/>
            </a:pPr>
            <a:r>
              <a:rPr lang="es-ES" sz="1600">
                <a:solidFill>
                  <a:schemeClr val="dk1"/>
                </a:solidFill>
              </a:rPr>
              <a:t>Comparte el diagrama con otros miembros del equipo o stakeholders para validar que el modelo es correcto y completo. Realiza ajustes según los comentarios recibidos.</a:t>
            </a:r>
            <a:endParaRPr/>
          </a:p>
          <a:p>
            <a:pPr indent="0" lvl="0" marL="0" rtl="0" algn="just">
              <a:lnSpc>
                <a:spcPct val="85000"/>
              </a:lnSpc>
              <a:spcBef>
                <a:spcPts val="600"/>
              </a:spcBef>
              <a:spcAft>
                <a:spcPts val="0"/>
              </a:spcAft>
              <a:buSzPts val="1200"/>
              <a:buNone/>
            </a:pPr>
            <a:r>
              <a:rPr b="1" lang="es-ES">
                <a:solidFill>
                  <a:schemeClr val="dk1"/>
                </a:solidFill>
              </a:rPr>
              <a:t>  Paso 8: Documentar</a:t>
            </a:r>
            <a:endParaRPr/>
          </a:p>
          <a:p>
            <a:pPr indent="0" lvl="1" marL="92075" rtl="0" algn="just">
              <a:lnSpc>
                <a:spcPct val="85000"/>
              </a:lnSpc>
              <a:spcBef>
                <a:spcPts val="0"/>
              </a:spcBef>
              <a:spcAft>
                <a:spcPts val="0"/>
              </a:spcAft>
              <a:buSzPts val="1600"/>
              <a:buNone/>
            </a:pPr>
            <a:r>
              <a:rPr lang="es-ES" sz="1600">
                <a:solidFill>
                  <a:schemeClr val="dk1"/>
                </a:solidFill>
              </a:rPr>
              <a:t>Añade cualquier documentación adicional que pueda ser útil para entender el diagrama, como descripciones de estados, eventos, acciones y condiciones.</a:t>
            </a:r>
            <a:endParaRPr/>
          </a:p>
          <a:p>
            <a:pPr indent="0" lvl="0" marL="0" rtl="0" algn="just">
              <a:lnSpc>
                <a:spcPct val="85000"/>
              </a:lnSpc>
              <a:spcBef>
                <a:spcPts val="600"/>
              </a:spcBef>
              <a:spcAft>
                <a:spcPts val="0"/>
              </a:spcAft>
              <a:buSzPts val="1200"/>
              <a:buNone/>
            </a:pPr>
            <a:r>
              <a:rPr b="1" lang="es-ES">
                <a:solidFill>
                  <a:schemeClr val="dk1"/>
                </a:solidFill>
              </a:rPr>
              <a:t>  Paso 9: Integrar con Otros Diagramas UML</a:t>
            </a:r>
            <a:endParaRPr/>
          </a:p>
          <a:p>
            <a:pPr indent="0" lvl="1" marL="92075" rtl="0" algn="just">
              <a:lnSpc>
                <a:spcPct val="85000"/>
              </a:lnSpc>
              <a:spcBef>
                <a:spcPts val="0"/>
              </a:spcBef>
              <a:spcAft>
                <a:spcPts val="0"/>
              </a:spcAft>
              <a:buSzPts val="1600"/>
              <a:buNone/>
            </a:pPr>
            <a:r>
              <a:rPr lang="es-ES" sz="1600">
                <a:solidFill>
                  <a:schemeClr val="dk1"/>
                </a:solidFill>
              </a:rPr>
              <a:t>Si estás utilizando otros diagramas UML como Diagramas de Clases o Diagramas de Secuencia, asegúrate de que tu Diagrama de Estado se integre bien con ellos.</a:t>
            </a:r>
            <a:endParaRPr/>
          </a:p>
          <a:p>
            <a:pPr indent="0" lvl="0" marL="0" rtl="0" algn="just">
              <a:lnSpc>
                <a:spcPct val="85000"/>
              </a:lnSpc>
              <a:spcBef>
                <a:spcPts val="600"/>
              </a:spcBef>
              <a:spcAft>
                <a:spcPts val="0"/>
              </a:spcAft>
              <a:buSzPts val="1200"/>
              <a:buNone/>
            </a:pPr>
            <a:r>
              <a:rPr b="1" lang="es-ES">
                <a:solidFill>
                  <a:schemeClr val="dk1"/>
                </a:solidFill>
              </a:rPr>
              <a:t>  Paso 10: Mantener Actualizado</a:t>
            </a:r>
            <a:endParaRPr/>
          </a:p>
          <a:p>
            <a:pPr indent="0" lvl="1" marL="92075" rtl="0" algn="just">
              <a:lnSpc>
                <a:spcPct val="85000"/>
              </a:lnSpc>
              <a:spcBef>
                <a:spcPts val="0"/>
              </a:spcBef>
              <a:spcAft>
                <a:spcPts val="0"/>
              </a:spcAft>
              <a:buSzPts val="1600"/>
              <a:buNone/>
            </a:pPr>
            <a:r>
              <a:rPr lang="es-ES" sz="1600">
                <a:solidFill>
                  <a:schemeClr val="dk1"/>
                </a:solidFill>
              </a:rPr>
              <a:t>A medida que el proyecto avanza, es probable que el diagrama necesite actualizaciones. Mantén el diagrama actualizado para reflejar cualquier cambio en los requisitos o en la comprensión del sistema.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5"/>
          <p:cNvSpPr txBox="1"/>
          <p:nvPr>
            <p:ph idx="1" type="body"/>
          </p:nvPr>
        </p:nvSpPr>
        <p:spPr>
          <a:xfrm>
            <a:off x="468313" y="726088"/>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marR="0" rtl="0" algn="l">
              <a:lnSpc>
                <a:spcPct val="85000"/>
              </a:lnSpc>
              <a:spcBef>
                <a:spcPts val="0"/>
              </a:spcBef>
              <a:spcAft>
                <a:spcPts val="0"/>
              </a:spcAft>
              <a:buClr>
                <a:srgbClr val="3F3F3F"/>
              </a:buClr>
              <a:buSzPts val="1600"/>
              <a:buFont typeface="Arial"/>
              <a:buNone/>
            </a:pPr>
            <a:r>
              <a:rPr lang="es-ES"/>
              <a:t>ELABORAR UN DIAGRAMA DE ESTADO, PASO A PASO </a:t>
            </a:r>
            <a:endParaRPr/>
          </a:p>
        </p:txBody>
      </p:sp>
      <p:sp>
        <p:nvSpPr>
          <p:cNvPr id="270" name="Google Shape;270;p25"/>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ESTADO</a:t>
            </a:r>
            <a:endParaRPr/>
          </a:p>
        </p:txBody>
      </p:sp>
      <p:sp>
        <p:nvSpPr>
          <p:cNvPr id="271" name="Google Shape;271;p25"/>
          <p:cNvSpPr txBox="1"/>
          <p:nvPr>
            <p:ph idx="3" type="body"/>
          </p:nvPr>
        </p:nvSpPr>
        <p:spPr>
          <a:xfrm>
            <a:off x="468313" y="1174364"/>
            <a:ext cx="8207375" cy="4027952"/>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00"/>
              <a:buNone/>
            </a:pPr>
            <a:r>
              <a:rPr lang="es-ES">
                <a:solidFill>
                  <a:srgbClr val="FFFFCC"/>
                </a:solidFill>
              </a:rPr>
              <a:t>.</a:t>
            </a:r>
            <a:endParaRPr>
              <a:solidFill>
                <a:srgbClr val="FFFFCC"/>
              </a:solidFill>
            </a:endParaRPr>
          </a:p>
        </p:txBody>
      </p:sp>
      <p:pic>
        <p:nvPicPr>
          <p:cNvPr id="272" name="Google Shape;272;p25"/>
          <p:cNvPicPr preferRelativeResize="0"/>
          <p:nvPr/>
        </p:nvPicPr>
        <p:blipFill rotWithShape="1">
          <a:blip r:embed="rId3">
            <a:alphaModFix/>
          </a:blip>
          <a:srcRect b="0" l="0" r="0" t="0"/>
          <a:stretch/>
        </p:blipFill>
        <p:spPr>
          <a:xfrm>
            <a:off x="468312" y="1202823"/>
            <a:ext cx="6501562" cy="3843114"/>
          </a:xfrm>
          <a:prstGeom prst="rect">
            <a:avLst/>
          </a:prstGeom>
          <a:noFill/>
          <a:ln>
            <a:noFill/>
          </a:ln>
        </p:spPr>
      </p:pic>
      <p:sp>
        <p:nvSpPr>
          <p:cNvPr id="273" name="Google Shape;273;p25"/>
          <p:cNvSpPr txBox="1"/>
          <p:nvPr/>
        </p:nvSpPr>
        <p:spPr>
          <a:xfrm>
            <a:off x="6647177" y="359444"/>
            <a:ext cx="2368200" cy="4543800"/>
          </a:xfrm>
          <a:prstGeom prst="rect">
            <a:avLst/>
          </a:prstGeom>
          <a:solidFill>
            <a:srgbClr val="97AD01"/>
          </a:solidFill>
          <a:ln>
            <a:noFill/>
          </a:ln>
        </p:spPr>
        <p:txBody>
          <a:bodyPr anchorCtr="0" anchor="t" bIns="45700" lIns="91425" spcFirstLastPara="1" rIns="91425" wrap="square" tIns="45700">
            <a:spAutoFit/>
          </a:bodyPr>
          <a:lstStyle/>
          <a:p>
            <a:pPr indent="-85725" lvl="0" marL="85725" marR="0" rtl="0" algn="l">
              <a:lnSpc>
                <a:spcPct val="90000"/>
              </a:lnSpc>
              <a:spcBef>
                <a:spcPts val="0"/>
              </a:spcBef>
              <a:spcAft>
                <a:spcPts val="0"/>
              </a:spcAft>
              <a:buClr>
                <a:srgbClr val="FFFFCC"/>
              </a:buClr>
              <a:buSzPts val="1200"/>
              <a:buFont typeface="Noto Sans Symbols"/>
              <a:buChar char="▪"/>
            </a:pPr>
            <a:r>
              <a:rPr b="0" i="0" lang="es-ES" sz="1200" u="none" cap="none" strike="noStrike">
                <a:solidFill>
                  <a:srgbClr val="FFFFCC"/>
                </a:solidFill>
                <a:latin typeface="Calibri"/>
                <a:ea typeface="Calibri"/>
                <a:cs typeface="Calibri"/>
                <a:sym typeface="Calibri"/>
              </a:rPr>
              <a:t>El producto comienza en el estado inicial y se mueve al estado </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Disponible</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 cuando se añade al inventario.</a:t>
            </a:r>
            <a:endParaRPr b="0" i="0" sz="1400" u="none" cap="none" strike="noStrike">
              <a:solidFill>
                <a:srgbClr val="000000"/>
              </a:solidFill>
              <a:latin typeface="Arial"/>
              <a:ea typeface="Arial"/>
              <a:cs typeface="Arial"/>
              <a:sym typeface="Arial"/>
            </a:endParaRPr>
          </a:p>
          <a:p>
            <a:pPr indent="-85725" lvl="0" marL="85725" marR="0" rtl="0" algn="l">
              <a:lnSpc>
                <a:spcPct val="90000"/>
              </a:lnSpc>
              <a:spcBef>
                <a:spcPts val="600"/>
              </a:spcBef>
              <a:spcAft>
                <a:spcPts val="0"/>
              </a:spcAft>
              <a:buClr>
                <a:srgbClr val="FFFFCC"/>
              </a:buClr>
              <a:buSzPts val="1200"/>
              <a:buFont typeface="Noto Sans Symbols"/>
              <a:buChar char="▪"/>
            </a:pPr>
            <a:r>
              <a:rPr b="0" i="0" lang="es-ES" sz="1200" u="none" cap="none" strike="noStrike">
                <a:solidFill>
                  <a:srgbClr val="FFFFCC"/>
                </a:solidFill>
                <a:latin typeface="Calibri"/>
                <a:ea typeface="Calibri"/>
                <a:cs typeface="Calibri"/>
                <a:sym typeface="Calibri"/>
              </a:rPr>
              <a:t>Si un cliente añade el producto a su carrito y hay inventario disponible, el producto pasa al estado </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Reservado</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85725" lvl="0" marL="85725" marR="0" rtl="0" algn="l">
              <a:lnSpc>
                <a:spcPct val="90000"/>
              </a:lnSpc>
              <a:spcBef>
                <a:spcPts val="600"/>
              </a:spcBef>
              <a:spcAft>
                <a:spcPts val="0"/>
              </a:spcAft>
              <a:buClr>
                <a:srgbClr val="FFFFCC"/>
              </a:buClr>
              <a:buSzPts val="1200"/>
              <a:buFont typeface="Noto Sans Symbols"/>
              <a:buChar char="▪"/>
            </a:pPr>
            <a:r>
              <a:rPr b="0" i="0" lang="es-ES" sz="1200" u="none" cap="none" strike="noStrike">
                <a:solidFill>
                  <a:srgbClr val="FFFFCC"/>
                </a:solidFill>
                <a:latin typeface="Calibri"/>
                <a:ea typeface="Calibri"/>
                <a:cs typeface="Calibri"/>
                <a:sym typeface="Calibri"/>
              </a:rPr>
              <a:t>Si el producto reservado es la última unidad y se compra, pasa al estado </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Agotado</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85725" lvl="0" marL="85725" marR="0" rtl="0" algn="l">
              <a:lnSpc>
                <a:spcPct val="90000"/>
              </a:lnSpc>
              <a:spcBef>
                <a:spcPts val="600"/>
              </a:spcBef>
              <a:spcAft>
                <a:spcPts val="0"/>
              </a:spcAft>
              <a:buClr>
                <a:srgbClr val="FFFFCC"/>
              </a:buClr>
              <a:buSzPts val="1200"/>
              <a:buFont typeface="Noto Sans Symbols"/>
              <a:buChar char="▪"/>
            </a:pPr>
            <a:r>
              <a:rPr b="0" i="0" lang="es-ES" sz="1200" u="none" cap="none" strike="noStrike">
                <a:solidFill>
                  <a:srgbClr val="FFFFCC"/>
                </a:solidFill>
                <a:latin typeface="Calibri"/>
                <a:ea typeface="Calibri"/>
                <a:cs typeface="Calibri"/>
                <a:sym typeface="Calibri"/>
              </a:rPr>
              <a:t>Si un cliente quita el producto de su carrito, vuelve al estado </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Disponible</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85725" lvl="0" marL="85725" marR="0" rtl="0" algn="l">
              <a:lnSpc>
                <a:spcPct val="90000"/>
              </a:lnSpc>
              <a:spcBef>
                <a:spcPts val="600"/>
              </a:spcBef>
              <a:spcAft>
                <a:spcPts val="0"/>
              </a:spcAft>
              <a:buClr>
                <a:srgbClr val="FFFFCC"/>
              </a:buClr>
              <a:buSzPts val="1200"/>
              <a:buFont typeface="Noto Sans Symbols"/>
              <a:buChar char="▪"/>
            </a:pPr>
            <a:r>
              <a:rPr b="0" i="0" lang="es-ES" sz="1200" u="none" cap="none" strike="noStrike">
                <a:solidFill>
                  <a:srgbClr val="FFFFCC"/>
                </a:solidFill>
                <a:latin typeface="Calibri"/>
                <a:ea typeface="Calibri"/>
                <a:cs typeface="Calibri"/>
                <a:sym typeface="Calibri"/>
              </a:rPr>
              <a:t>Si el producto está </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Agotado</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 y se reabastece, vuelve a </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Disponible</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85725" lvl="0" marL="85725" marR="0" rtl="0" algn="l">
              <a:lnSpc>
                <a:spcPct val="90000"/>
              </a:lnSpc>
              <a:spcBef>
                <a:spcPts val="600"/>
              </a:spcBef>
              <a:spcAft>
                <a:spcPts val="0"/>
              </a:spcAft>
              <a:buClr>
                <a:srgbClr val="FFFFCC"/>
              </a:buClr>
              <a:buSzPts val="1200"/>
              <a:buFont typeface="Noto Sans Symbols"/>
              <a:buChar char="▪"/>
            </a:pPr>
            <a:r>
              <a:rPr b="0" i="0" lang="es-ES" sz="1200" u="none" cap="none" strike="noStrike">
                <a:solidFill>
                  <a:srgbClr val="FFFFCC"/>
                </a:solidFill>
                <a:latin typeface="Calibri"/>
                <a:ea typeface="Calibri"/>
                <a:cs typeface="Calibri"/>
                <a:sym typeface="Calibri"/>
              </a:rPr>
              <a:t>Un producto </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Disponible</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 puede ser </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Descatalogado</a:t>
            </a:r>
            <a:r>
              <a:rPr lang="es-ES" sz="1200">
                <a:solidFill>
                  <a:srgbClr val="FFFFCC"/>
                </a:solidFill>
                <a:latin typeface="Calibri"/>
                <a:ea typeface="Calibri"/>
                <a:cs typeface="Calibri"/>
                <a:sym typeface="Calibri"/>
              </a:rPr>
              <a:t>”</a:t>
            </a:r>
            <a:r>
              <a:rPr b="0" i="0" lang="es-ES" sz="1200" u="none" cap="none" strike="noStrike">
                <a:solidFill>
                  <a:srgbClr val="FFFFCC"/>
                </a:solidFill>
                <a:latin typeface="Calibri"/>
                <a:ea typeface="Calibri"/>
                <a:cs typeface="Calibri"/>
                <a:sym typeface="Calibri"/>
              </a:rPr>
              <a:t> si se decide retirarlo y no hay unidades en el inventario.</a:t>
            </a:r>
            <a:endParaRPr b="0" i="0" sz="1400" u="none" cap="none" strike="noStrike">
              <a:solidFill>
                <a:srgbClr val="000000"/>
              </a:solidFill>
              <a:latin typeface="Arial"/>
              <a:ea typeface="Arial"/>
              <a:cs typeface="Arial"/>
              <a:sym typeface="Arial"/>
            </a:endParaRPr>
          </a:p>
          <a:p>
            <a:pPr indent="-85725" lvl="0" marL="85725" marR="0" rtl="0" algn="l">
              <a:lnSpc>
                <a:spcPct val="90000"/>
              </a:lnSpc>
              <a:spcBef>
                <a:spcPts val="600"/>
              </a:spcBef>
              <a:spcAft>
                <a:spcPts val="0"/>
              </a:spcAft>
              <a:buClr>
                <a:srgbClr val="FFFFCC"/>
              </a:buClr>
              <a:buSzPts val="1200"/>
              <a:buFont typeface="Noto Sans Symbols"/>
              <a:buChar char="▪"/>
            </a:pPr>
            <a:r>
              <a:rPr b="0" i="0" lang="es-ES" sz="1200" u="none" cap="none" strike="noStrike">
                <a:solidFill>
                  <a:srgbClr val="FFFFCC"/>
                </a:solidFill>
                <a:latin typeface="Calibri"/>
                <a:ea typeface="Calibri"/>
                <a:cs typeface="Calibri"/>
                <a:sym typeface="Calibri"/>
              </a:rPr>
              <a:t>Finalmente, el producto puede ser eliminado del sistema, moviéndose al estado final.</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80" name="Google Shape;280;p26"/>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a:t>
            </a:r>
            <a:r>
              <a:rPr b="0" i="0" lang="es-ES" sz="2800" u="none" cap="none" strike="noStrike">
                <a:solidFill>
                  <a:schemeClr val="dk1"/>
                </a:solidFill>
                <a:latin typeface="Calibri"/>
                <a:ea typeface="Calibri"/>
                <a:cs typeface="Calibri"/>
                <a:sym typeface="Calibri"/>
              </a:rPr>
              <a:t> </a:t>
            </a:r>
            <a:r>
              <a:rPr b="1" i="0" lang="es-ES" sz="2800" u="none" cap="none" strike="noStrike">
                <a:solidFill>
                  <a:schemeClr val="lt1"/>
                </a:solidFill>
                <a:latin typeface="Calibri"/>
                <a:ea typeface="Calibri"/>
                <a:cs typeface="Calibri"/>
                <a:sym typeface="Calibri"/>
              </a:rPr>
              <a:t>USO DEL DIAGRAMA DE ESTADO</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USO DEL DIAGRAMA DE ESTADO</a:t>
            </a:r>
            <a:endParaRPr b="0"/>
          </a:p>
        </p:txBody>
      </p:sp>
      <p:sp>
        <p:nvSpPr>
          <p:cNvPr id="287" name="Google Shape;287;p27"/>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situaciones donde el comportamiento de un objeto o sistema varía dinámicamente y esas variaciones son cruciales para el funcionamiento del sistema.</a:t>
            </a:r>
            <a:endParaRPr/>
          </a:p>
          <a:p>
            <a:pPr indent="-266700" lvl="0" marL="266700" rtl="0" algn="l">
              <a:lnSpc>
                <a:spcPct val="100000"/>
              </a:lnSpc>
              <a:spcBef>
                <a:spcPts val="1200"/>
              </a:spcBef>
              <a:spcAft>
                <a:spcPts val="0"/>
              </a:spcAft>
              <a:buClr>
                <a:schemeClr val="dk1"/>
              </a:buClr>
              <a:buSzPts val="1200"/>
              <a:buChar char="❑"/>
            </a:pPr>
            <a:r>
              <a:rPr lang="es-ES"/>
              <a:t>Se utilizan para una variedad de propósitos, incluyendo:</a:t>
            </a:r>
            <a:endParaRPr/>
          </a:p>
          <a:p>
            <a:pPr indent="-265113" lvl="1" marL="531813" rtl="0" algn="l">
              <a:lnSpc>
                <a:spcPct val="100000"/>
              </a:lnSpc>
              <a:spcBef>
                <a:spcPts val="1200"/>
              </a:spcBef>
              <a:spcAft>
                <a:spcPts val="0"/>
              </a:spcAft>
              <a:buClr>
                <a:schemeClr val="dk1"/>
              </a:buClr>
              <a:buSzPts val="1600"/>
              <a:buChar char="→"/>
            </a:pPr>
            <a:r>
              <a:rPr lang="es-ES"/>
              <a:t>Comunicar el comportamiento de un sistema a los desarrolladores y los stakeholders.</a:t>
            </a:r>
            <a:endParaRPr/>
          </a:p>
          <a:p>
            <a:pPr indent="-265113" lvl="1" marL="531813" rtl="0" algn="l">
              <a:lnSpc>
                <a:spcPct val="100000"/>
              </a:lnSpc>
              <a:spcBef>
                <a:spcPts val="1200"/>
              </a:spcBef>
              <a:spcAft>
                <a:spcPts val="0"/>
              </a:spcAft>
              <a:buClr>
                <a:schemeClr val="dk1"/>
              </a:buClr>
              <a:buSzPts val="1600"/>
              <a:buChar char="→"/>
            </a:pPr>
            <a:r>
              <a:rPr lang="es-ES"/>
              <a:t>Documentar el comportamiento de un sistema.</a:t>
            </a:r>
            <a:endParaRPr/>
          </a:p>
          <a:p>
            <a:pPr indent="-265113" lvl="1" marL="531813" rtl="0" algn="l">
              <a:lnSpc>
                <a:spcPct val="100000"/>
              </a:lnSpc>
              <a:spcBef>
                <a:spcPts val="1200"/>
              </a:spcBef>
              <a:spcAft>
                <a:spcPts val="0"/>
              </a:spcAft>
              <a:buClr>
                <a:schemeClr val="dk1"/>
              </a:buClr>
              <a:buSzPts val="1600"/>
              <a:buChar char="→"/>
            </a:pPr>
            <a:r>
              <a:rPr lang="es-ES"/>
              <a:t>Analizar el comportamiento de un sistema.</a:t>
            </a:r>
            <a:endParaRPr/>
          </a:p>
        </p:txBody>
      </p:sp>
      <p:sp>
        <p:nvSpPr>
          <p:cNvPr id="288" name="Google Shape;288;p2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¿CUÁNDO SON ÚTILES?</a:t>
            </a:r>
            <a:endParaRPr/>
          </a:p>
        </p:txBody>
      </p:sp>
      <p:pic>
        <p:nvPicPr>
          <p:cNvPr id="289" name="Google Shape;289;p27"/>
          <p:cNvPicPr preferRelativeResize="0"/>
          <p:nvPr>
            <p:ph idx="2" type="pic"/>
          </p:nvPr>
        </p:nvPicPr>
        <p:blipFill rotWithShape="1">
          <a:blip r:embed="rId3">
            <a:alphaModFix/>
          </a:blip>
          <a:srcRect b="0" l="19338" r="19339" t="0"/>
          <a:stretch/>
        </p:blipFill>
        <p:spPr>
          <a:xfrm>
            <a:off x="4950813" y="1429305"/>
            <a:ext cx="3529566" cy="383892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USO DEL DIAGRAMA DE ESTADO</a:t>
            </a:r>
            <a:endParaRPr b="0"/>
          </a:p>
        </p:txBody>
      </p:sp>
      <p:sp>
        <p:nvSpPr>
          <p:cNvPr id="296" name="Google Shape;296;p28"/>
          <p:cNvSpPr txBox="1"/>
          <p:nvPr>
            <p:ph idx="4" type="body"/>
          </p:nvPr>
        </p:nvSpPr>
        <p:spPr>
          <a:xfrm>
            <a:off x="681376" y="1196346"/>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un sistema de comercio electrónico, el ciclo de vida de un producto o una orden puede ser complejo. Estos diagramas ayudan a entender cómo un producto pasa por diferentes estados, como “Disponible”, “Reservado” o “Agotado”. </a:t>
            </a:r>
            <a:endParaRPr/>
          </a:p>
          <a:p>
            <a:pPr indent="-266700" lvl="0" marL="266700" rtl="0" algn="l">
              <a:lnSpc>
                <a:spcPct val="100000"/>
              </a:lnSpc>
              <a:spcBef>
                <a:spcPts val="1200"/>
              </a:spcBef>
              <a:spcAft>
                <a:spcPts val="0"/>
              </a:spcAft>
              <a:buClr>
                <a:schemeClr val="dk1"/>
              </a:buClr>
              <a:buSzPts val="1200"/>
              <a:buChar char="❑"/>
            </a:pPr>
            <a:r>
              <a:rPr lang="es-ES"/>
              <a:t>Esto es útil tanto para los desarrolladores como para los gerentes de producto para asegurar que el sistema maneje correctamente el inventario y las transacciones.</a:t>
            </a:r>
            <a:endParaRPr/>
          </a:p>
        </p:txBody>
      </p:sp>
      <p:pic>
        <p:nvPicPr>
          <p:cNvPr id="297" name="Google Shape;297;p28"/>
          <p:cNvPicPr preferRelativeResize="0"/>
          <p:nvPr>
            <p:ph idx="2" type="pic"/>
          </p:nvPr>
        </p:nvPicPr>
        <p:blipFill rotWithShape="1">
          <a:blip r:embed="rId3">
            <a:alphaModFix/>
          </a:blip>
          <a:srcRect b="0" l="19338" r="19339" t="0"/>
          <a:stretch/>
        </p:blipFill>
        <p:spPr>
          <a:xfrm>
            <a:off x="4998127" y="986632"/>
            <a:ext cx="3473373" cy="3777802"/>
          </a:xfrm>
          <a:prstGeom prst="rect">
            <a:avLst/>
          </a:prstGeom>
          <a:noFill/>
          <a:ln>
            <a:noFill/>
          </a:ln>
        </p:spPr>
      </p:pic>
      <p:sp>
        <p:nvSpPr>
          <p:cNvPr id="298" name="Google Shape;298;p2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SISTEMAS DE COMERCIO ELECTRÓNICO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USO DEL DIAGRAMA DE ESTADO</a:t>
            </a:r>
            <a:endParaRPr b="0"/>
          </a:p>
        </p:txBody>
      </p:sp>
      <p:sp>
        <p:nvSpPr>
          <p:cNvPr id="305" name="Google Shape;305;p29"/>
          <p:cNvSpPr txBox="1"/>
          <p:nvPr>
            <p:ph idx="4" type="body"/>
          </p:nvPr>
        </p:nvSpPr>
        <p:spPr>
          <a:xfrm>
            <a:off x="823419" y="1196346"/>
            <a:ext cx="361541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un BPM (Gestión de Procesos de Negocio), un proceso de negocio puede tener múltiples etapas, como “Inicio”, “Aprobación”, “Ejecución” y “Cierre”. </a:t>
            </a:r>
            <a:endParaRPr/>
          </a:p>
          <a:p>
            <a:pPr indent="-266700" lvl="0" marL="266700" rtl="0" algn="l">
              <a:lnSpc>
                <a:spcPct val="100000"/>
              </a:lnSpc>
              <a:spcBef>
                <a:spcPts val="1200"/>
              </a:spcBef>
              <a:spcAft>
                <a:spcPts val="0"/>
              </a:spcAft>
              <a:buClr>
                <a:schemeClr val="dk1"/>
              </a:buClr>
              <a:buSzPts val="1200"/>
              <a:buChar char="❑"/>
            </a:pPr>
            <a:r>
              <a:rPr lang="es-ES"/>
              <a:t>Un Diagrama de Estado puede ayudar a modelar estas etapas y las transiciones entre ellas, lo que es útil para los analistas de negocio y los responsables de la toma de decisiones.</a:t>
            </a:r>
            <a:endParaRPr/>
          </a:p>
        </p:txBody>
      </p:sp>
      <p:pic>
        <p:nvPicPr>
          <p:cNvPr id="306" name="Google Shape;306;p29"/>
          <p:cNvPicPr preferRelativeResize="0"/>
          <p:nvPr>
            <p:ph idx="2" type="pic"/>
          </p:nvPr>
        </p:nvPicPr>
        <p:blipFill rotWithShape="1">
          <a:blip r:embed="rId3">
            <a:alphaModFix/>
          </a:blip>
          <a:srcRect b="0" l="26541" r="26541" t="0"/>
          <a:stretch/>
        </p:blipFill>
        <p:spPr>
          <a:xfrm>
            <a:off x="5264458" y="1177927"/>
            <a:ext cx="3251432" cy="3536409"/>
          </a:xfrm>
          <a:prstGeom prst="rect">
            <a:avLst/>
          </a:prstGeom>
          <a:noFill/>
          <a:ln>
            <a:noFill/>
          </a:ln>
        </p:spPr>
      </p:pic>
      <p:sp>
        <p:nvSpPr>
          <p:cNvPr id="307" name="Google Shape;307;p2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SISTEMAS BPM</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USO DEL DIAGRAMA DE ESTADO</a:t>
            </a:r>
            <a:endParaRPr b="0"/>
          </a:p>
        </p:txBody>
      </p:sp>
      <p:sp>
        <p:nvSpPr>
          <p:cNvPr id="314" name="Google Shape;314;p30"/>
          <p:cNvSpPr txBox="1"/>
          <p:nvPr>
            <p:ph idx="4" type="body"/>
          </p:nvPr>
        </p:nvSpPr>
        <p:spPr>
          <a:xfrm>
            <a:off x="796786" y="1269507"/>
            <a:ext cx="3455617" cy="400522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un videojuego, un personaje podría tener diferentes estados como “Vivo”, “Herido”, “Muerto”, etc.</a:t>
            </a:r>
            <a:endParaRPr/>
          </a:p>
          <a:p>
            <a:pPr indent="-266700" lvl="0" marL="266700" rtl="0" algn="l">
              <a:lnSpc>
                <a:spcPct val="100000"/>
              </a:lnSpc>
              <a:spcBef>
                <a:spcPts val="1200"/>
              </a:spcBef>
              <a:spcAft>
                <a:spcPts val="0"/>
              </a:spcAft>
              <a:buClr>
                <a:schemeClr val="dk1"/>
              </a:buClr>
              <a:buSzPts val="1200"/>
              <a:buChar char="❑"/>
            </a:pPr>
            <a:r>
              <a:rPr lang="es-ES"/>
              <a:t>Los desarrolladores de juegos pueden usar Diagramas de Estado para modelar el comportamiento de personajes o elementos del juego, lo que facilita la programación y el diseño del juego.</a:t>
            </a:r>
            <a:endParaRPr/>
          </a:p>
        </p:txBody>
      </p:sp>
      <p:pic>
        <p:nvPicPr>
          <p:cNvPr id="315" name="Google Shape;315;p30"/>
          <p:cNvPicPr preferRelativeResize="0"/>
          <p:nvPr>
            <p:ph idx="2" type="pic"/>
          </p:nvPr>
        </p:nvPicPr>
        <p:blipFill rotWithShape="1">
          <a:blip r:embed="rId3">
            <a:alphaModFix/>
          </a:blip>
          <a:srcRect b="0" l="19338" r="19339" t="0"/>
          <a:stretch/>
        </p:blipFill>
        <p:spPr>
          <a:xfrm>
            <a:off x="4989250" y="1261935"/>
            <a:ext cx="3357964" cy="3652278"/>
          </a:xfrm>
          <a:prstGeom prst="rect">
            <a:avLst/>
          </a:prstGeom>
          <a:noFill/>
          <a:ln>
            <a:noFill/>
          </a:ln>
        </p:spPr>
      </p:pic>
      <p:sp>
        <p:nvSpPr>
          <p:cNvPr id="316" name="Google Shape;316;p3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VIDEOJUEGOS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USO DEL DIAGRAMA DE ESTADO</a:t>
            </a:r>
            <a:endParaRPr b="0"/>
          </a:p>
        </p:txBody>
      </p:sp>
      <p:sp>
        <p:nvSpPr>
          <p:cNvPr id="323" name="Google Shape;323;p31"/>
          <p:cNvSpPr txBox="1"/>
          <p:nvPr>
            <p:ph idx="4" type="body"/>
          </p:nvPr>
        </p:nvSpPr>
        <p:spPr>
          <a:xfrm>
            <a:off x="1098627" y="1163638"/>
            <a:ext cx="3091633"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sistemas como el control de tráfico aéreo o sistemas de fabricación automatizada, los estados y transiciones son críticos.</a:t>
            </a:r>
            <a:endParaRPr/>
          </a:p>
          <a:p>
            <a:pPr indent="-266700" lvl="0" marL="266700" rtl="0" algn="l">
              <a:lnSpc>
                <a:spcPct val="100000"/>
              </a:lnSpc>
              <a:spcBef>
                <a:spcPts val="1200"/>
              </a:spcBef>
              <a:spcAft>
                <a:spcPts val="0"/>
              </a:spcAft>
              <a:buClr>
                <a:schemeClr val="dk1"/>
              </a:buClr>
              <a:buSzPts val="1200"/>
              <a:buChar char="❑"/>
            </a:pPr>
            <a:r>
              <a:rPr lang="es-ES"/>
              <a:t>Estos diagramas pueden ayudar a los ingenieros a entender y modelar el comportamiento del sistema para garantizar la seguridad y la eficiencia.</a:t>
            </a:r>
            <a:endParaRPr/>
          </a:p>
        </p:txBody>
      </p:sp>
      <p:pic>
        <p:nvPicPr>
          <p:cNvPr id="324" name="Google Shape;324;p31"/>
          <p:cNvPicPr preferRelativeResize="0"/>
          <p:nvPr>
            <p:ph idx="2" type="pic"/>
          </p:nvPr>
        </p:nvPicPr>
        <p:blipFill rotWithShape="1">
          <a:blip r:embed="rId3">
            <a:alphaModFix/>
          </a:blip>
          <a:srcRect b="0" l="19338" r="19339" t="0"/>
          <a:stretch/>
        </p:blipFill>
        <p:spPr>
          <a:xfrm>
            <a:off x="4953742" y="986632"/>
            <a:ext cx="3309184" cy="3599223"/>
          </a:xfrm>
          <a:prstGeom prst="rect">
            <a:avLst/>
          </a:prstGeom>
          <a:noFill/>
          <a:ln>
            <a:noFill/>
          </a:ln>
        </p:spPr>
      </p:pic>
      <p:sp>
        <p:nvSpPr>
          <p:cNvPr id="325" name="Google Shape;325;p3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SISTEMAS DE CONTROL AUTOMATIZADO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USO DEL DIAGRAMA DE ESTADO</a:t>
            </a:r>
            <a:endParaRPr b="0"/>
          </a:p>
        </p:txBody>
      </p:sp>
      <p:sp>
        <p:nvSpPr>
          <p:cNvPr id="332" name="Google Shape;332;p32"/>
          <p:cNvSpPr txBox="1"/>
          <p:nvPr>
            <p:ph idx="4" type="body"/>
          </p:nvPr>
        </p:nvSpPr>
        <p:spPr>
          <a:xfrm>
            <a:off x="743521" y="1270417"/>
            <a:ext cx="3295819"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aplicaciones con interfaces de usuario complejas, como software de edición de video o plataformas de aprendizaje en línea. </a:t>
            </a:r>
            <a:endParaRPr/>
          </a:p>
          <a:p>
            <a:pPr indent="-266700" lvl="0" marL="266700" rtl="0" algn="l">
              <a:lnSpc>
                <a:spcPct val="100000"/>
              </a:lnSpc>
              <a:spcBef>
                <a:spcPts val="1200"/>
              </a:spcBef>
              <a:spcAft>
                <a:spcPts val="0"/>
              </a:spcAft>
              <a:buClr>
                <a:schemeClr val="dk1"/>
              </a:buClr>
              <a:buSzPts val="1200"/>
              <a:buChar char="❑"/>
            </a:pPr>
            <a:r>
              <a:rPr lang="es-ES"/>
              <a:t>Los Diagramas de Estado pueden ayudar a los diseñadores de UX y desarrolladores a entender cómo los usuarios interactúan con la aplicación y qué estados pueden alcanzar diferentes elementos de la UI.</a:t>
            </a:r>
            <a:endParaRPr/>
          </a:p>
        </p:txBody>
      </p:sp>
      <p:pic>
        <p:nvPicPr>
          <p:cNvPr id="333" name="Google Shape;333;p32"/>
          <p:cNvPicPr preferRelativeResize="0"/>
          <p:nvPr>
            <p:ph idx="2" type="pic"/>
          </p:nvPr>
        </p:nvPicPr>
        <p:blipFill rotWithShape="1">
          <a:blip r:embed="rId3">
            <a:alphaModFix/>
          </a:blip>
          <a:srcRect b="0" l="24157" r="24157" t="0"/>
          <a:stretch/>
        </p:blipFill>
        <p:spPr>
          <a:xfrm>
            <a:off x="4740675" y="1187266"/>
            <a:ext cx="3375719" cy="3671589"/>
          </a:xfrm>
          <a:prstGeom prst="rect">
            <a:avLst/>
          </a:prstGeom>
          <a:noFill/>
          <a:ln>
            <a:noFill/>
          </a:ln>
        </p:spPr>
      </p:pic>
      <p:sp>
        <p:nvSpPr>
          <p:cNvPr id="334" name="Google Shape;334;p32"/>
          <p:cNvSpPr txBox="1"/>
          <p:nvPr>
            <p:ph idx="1" type="body"/>
          </p:nvPr>
        </p:nvSpPr>
        <p:spPr>
          <a:xfrm>
            <a:off x="468313" y="833254"/>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APLICACIONES DE USUARIO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USO DEL DIAGRAMA DE ESTADO</a:t>
            </a:r>
            <a:endParaRPr b="0"/>
          </a:p>
        </p:txBody>
      </p:sp>
      <p:sp>
        <p:nvSpPr>
          <p:cNvPr id="341" name="Google Shape;341;p33"/>
          <p:cNvSpPr txBox="1"/>
          <p:nvPr>
            <p:ph idx="4" type="body"/>
          </p:nvPr>
        </p:nvSpPr>
        <p:spPr>
          <a:xfrm>
            <a:off x="690255" y="1319829"/>
            <a:ext cx="365980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sistemas de telecomunicaciones, una llamada podría pasar por varios estados como “Iniciada”, “En curso” y “Terminada”. </a:t>
            </a:r>
            <a:endParaRPr/>
          </a:p>
          <a:p>
            <a:pPr indent="-266700" lvl="0" marL="266700" rtl="0" algn="l">
              <a:lnSpc>
                <a:spcPct val="100000"/>
              </a:lnSpc>
              <a:spcBef>
                <a:spcPts val="1200"/>
              </a:spcBef>
              <a:spcAft>
                <a:spcPts val="0"/>
              </a:spcAft>
              <a:buClr>
                <a:schemeClr val="dk1"/>
              </a:buClr>
              <a:buSzPts val="1200"/>
              <a:buChar char="❑"/>
            </a:pPr>
            <a:r>
              <a:rPr lang="es-ES"/>
              <a:t>Estos diagramas pueden ser útiles para los ingenieros de red para modelar y entender el flujo de llamadas y mensajes en el sistema.</a:t>
            </a:r>
            <a:endParaRPr/>
          </a:p>
        </p:txBody>
      </p:sp>
      <p:pic>
        <p:nvPicPr>
          <p:cNvPr id="342" name="Google Shape;342;p33"/>
          <p:cNvPicPr preferRelativeResize="0"/>
          <p:nvPr>
            <p:ph idx="2" type="pic"/>
          </p:nvPr>
        </p:nvPicPr>
        <p:blipFill rotWithShape="1">
          <a:blip r:embed="rId3">
            <a:alphaModFix/>
          </a:blip>
          <a:srcRect b="0" l="19450" r="19450" t="0"/>
          <a:stretch/>
        </p:blipFill>
        <p:spPr>
          <a:xfrm>
            <a:off x="4906588" y="1171425"/>
            <a:ext cx="3227561" cy="3510446"/>
          </a:xfrm>
          <a:prstGeom prst="rect">
            <a:avLst/>
          </a:prstGeom>
          <a:noFill/>
          <a:ln>
            <a:noFill/>
          </a:ln>
        </p:spPr>
      </p:pic>
      <p:sp>
        <p:nvSpPr>
          <p:cNvPr id="343" name="Google Shape;343;p3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SISTEMAS DE TELECOMUNICACIONES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USO DEL DIAGRAMA DE ESTADO</a:t>
            </a:r>
            <a:endParaRPr b="0"/>
          </a:p>
        </p:txBody>
      </p:sp>
      <p:sp>
        <p:nvSpPr>
          <p:cNvPr id="350" name="Google Shape;350;p34"/>
          <p:cNvSpPr txBox="1"/>
          <p:nvPr>
            <p:ph idx="4" type="body"/>
          </p:nvPr>
        </p:nvSpPr>
        <p:spPr>
          <a:xfrm>
            <a:off x="885564" y="1328706"/>
            <a:ext cx="3610351"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dispositivos con recursos limitados, como microcontroladores en dispositivos IoT (Internet de las cosas).</a:t>
            </a:r>
            <a:endParaRPr/>
          </a:p>
          <a:p>
            <a:pPr indent="-266700" lvl="0" marL="266700" rtl="0" algn="l">
              <a:lnSpc>
                <a:spcPct val="100000"/>
              </a:lnSpc>
              <a:spcBef>
                <a:spcPts val="1200"/>
              </a:spcBef>
              <a:spcAft>
                <a:spcPts val="0"/>
              </a:spcAft>
              <a:buClr>
                <a:schemeClr val="dk1"/>
              </a:buClr>
              <a:buSzPts val="1200"/>
              <a:buChar char="❑"/>
            </a:pPr>
            <a:r>
              <a:rPr lang="es-ES"/>
              <a:t>Los Diagramas de Estado ayudan a optimizar el uso de recursos al modelar claramente los estados y transiciones, lo cual es crucial para los desarrolladores de firmware.</a:t>
            </a:r>
            <a:endParaRPr/>
          </a:p>
        </p:txBody>
      </p:sp>
      <p:pic>
        <p:nvPicPr>
          <p:cNvPr id="351" name="Google Shape;351;p34"/>
          <p:cNvPicPr preferRelativeResize="0"/>
          <p:nvPr>
            <p:ph idx="2" type="pic"/>
          </p:nvPr>
        </p:nvPicPr>
        <p:blipFill rotWithShape="1">
          <a:blip r:embed="rId3">
            <a:alphaModFix/>
          </a:blip>
          <a:srcRect b="0" l="19338" r="19339" t="0"/>
          <a:stretch/>
        </p:blipFill>
        <p:spPr>
          <a:xfrm>
            <a:off x="5015883" y="1341439"/>
            <a:ext cx="3082755" cy="3352948"/>
          </a:xfrm>
          <a:prstGeom prst="rect">
            <a:avLst/>
          </a:prstGeom>
          <a:noFill/>
          <a:ln>
            <a:noFill/>
          </a:ln>
        </p:spPr>
      </p:pic>
      <p:sp>
        <p:nvSpPr>
          <p:cNvPr id="352" name="Google Shape;352;p34"/>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DESARROLLO DE FIRMWARE O SOFTWARE EMBEBIDO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5"/>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59" name="Google Shape;359;p35"/>
          <p:cNvSpPr/>
          <p:nvPr/>
        </p:nvSpPr>
        <p:spPr>
          <a:xfrm>
            <a:off x="1276149" y="788890"/>
            <a:ext cx="7204492" cy="401644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estado son herramientas cruciales en la ingeniería de software para entender y representar los cambios de estado en objetos o sistemas a lo largo del tiempo.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Comprender conceptos como el ciclo de vida del software, objetos y clases, y máquinas de estado finito enriquece enormemente la utilidad y precisión de un diagrama de estado.</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estado son versátiles y aplicables en diversos dominios, gama de aplicaciones y sectores.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Estos diagramas no solo son útiles para los desarrolladores, sino también para los gerentes de producto, analistas de negocio y otros stakeholders, ya que proporcionan una representación visual clara y comprensible del comportamiento del sistema.</a:t>
            </a:r>
            <a:endParaRPr b="0" i="0" sz="1400" u="none" cap="none" strike="noStrike">
              <a:solidFill>
                <a:srgbClr val="000000"/>
              </a:solidFill>
              <a:latin typeface="Arial"/>
              <a:ea typeface="Arial"/>
              <a:cs typeface="Arial"/>
              <a:sym typeface="Arial"/>
            </a:endParaRPr>
          </a:p>
        </p:txBody>
      </p:sp>
      <p:sp>
        <p:nvSpPr>
          <p:cNvPr id="360" name="Google Shape;360;p35"/>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Calibri"/>
              <a:buNone/>
            </a:pPr>
            <a:r>
              <a:rPr b="0" i="0" lang="es-ES" sz="1700" u="none" cap="none" strike="noStrike">
                <a:solidFill>
                  <a:schemeClr val="lt1"/>
                </a:solidFill>
                <a:latin typeface="Calibri"/>
                <a:ea typeface="Calibri"/>
                <a:cs typeface="Calibri"/>
                <a:sym typeface="Calibri"/>
              </a:rPr>
              <a:t>/ CONCLUSIONES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nvSpPr>
        <p:spPr>
          <a:xfrm>
            <a:off x="665324" y="857848"/>
            <a:ext cx="7892750" cy="349204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Dennis, A., Wixom, B. H., &amp; Tegarden, D. (2015). Systems Analysis and Design: An Object-Oriented Approach with UML. Wiley.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Martin, R. C. (2002). UML for Java Programmers. Prentice Hall.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Fowler, M. (2003). UML Distilled: A Brief Guide to the Standard Object Modeling Language (3rd ed.). Addison-Wesley.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UML State Machine Diagrams: https://www.uml-diagrams.org/state-machine-diagrams.html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Introduction to Software Engineering/UML/State Diagrams: </a:t>
            </a:r>
            <a:r>
              <a:rPr b="0" i="0" lang="es-ES" sz="16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https://en.wikibooks.org/wiki/Introduction_to_Software_Engineering/UML/State_Diagrams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73025" lvl="0" marL="174625"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367" name="Google Shape;367;p36"/>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BIBLIOGRAFÍA</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