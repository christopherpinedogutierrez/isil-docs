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56" roundtripDataSignature="AMtx7mg8TMglfaAovFFOG7yoGJGR4hjj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A5DEEE-1723-4D5D-A001-8B3128930F82}">
  <a:tblStyle styleId="{D4A5DEEE-1723-4D5D-A001-8B3128930F8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57" name="Google Shape;57;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69" name="Google Shape;6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s-ES"/>
              <a:t>Es un concepto crucial en el desarrollo de software que sirve como una especie de “hoja de ruta” o “plan maestro” para todos los involucrados en un proyecto.</a:t>
            </a:r>
            <a:endParaRPr>
              <a:latin typeface="Calibri"/>
              <a:ea typeface="Calibri"/>
              <a:cs typeface="Calibri"/>
              <a:sym typeface="Calibri"/>
            </a:endParaRPr>
          </a:p>
        </p:txBody>
      </p:sp>
      <p:sp>
        <p:nvSpPr>
          <p:cNvPr id="83" name="Google Shape;8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92" name="Google Shape;9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1" name="Google Shape;101;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0" name="Google Shape;110;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8" name="Google Shape;118;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26" name="Google Shape;126;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34" name="Google Shape;134;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43" name="Google Shape;143;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52" name="Google Shape;152;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60" name="Google Shape;160;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68" name="Google Shape;168;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175" name="Google Shape;175;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2" name="Google Shape;182;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91" name="Google Shape;191;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0" name="Google Shape;200;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8" name="Google Shape;208;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17" name="Google Shape;217;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26" name="Google Shape;226;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35" name="Google Shape;235;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a:t>Aunque la documentación de requisitos puede parecer una tarea tediosa y que consume mucho tiempo al principio, es una inversión que paga grandes dividendos a lo largo del ciclo de vida del proyecto.</a:t>
            </a:r>
            <a:endParaRPr>
              <a:latin typeface="Calibri"/>
              <a:ea typeface="Calibri"/>
              <a:cs typeface="Calibri"/>
              <a:sym typeface="Calibri"/>
            </a:endParaRPr>
          </a:p>
        </p:txBody>
      </p:sp>
      <p:sp>
        <p:nvSpPr>
          <p:cNvPr id="244" name="Google Shape;244;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Calibri"/>
              <a:ea typeface="Calibri"/>
              <a:cs typeface="Calibri"/>
              <a:sym typeface="Calibri"/>
            </a:endParaRPr>
          </a:p>
        </p:txBody>
      </p:sp>
      <p:sp>
        <p:nvSpPr>
          <p:cNvPr id="253" name="Google Shape;253;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a:t>En un entorno cada vez más ágil y rápido, la tentación puede ser saltarse la “burocracia” de la documentación.</a:t>
            </a:r>
            <a:endParaRPr>
              <a:latin typeface="Calibri"/>
              <a:ea typeface="Calibri"/>
              <a:cs typeface="Calibri"/>
              <a:sym typeface="Calibri"/>
            </a:endParaRPr>
          </a:p>
        </p:txBody>
      </p:sp>
      <p:sp>
        <p:nvSpPr>
          <p:cNvPr id="262" name="Google Shape;262;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ES"/>
              <a:t>Incluso en métodos ágiles, tener una comprensión clara de los requisitos —aunque se mantenga en un formato más ligero— es crucial para el éxito del proyecto.</a:t>
            </a:r>
            <a:endParaRPr>
              <a:latin typeface="Calibri"/>
              <a:ea typeface="Calibri"/>
              <a:cs typeface="Calibri"/>
              <a:sym typeface="Calibri"/>
            </a:endParaRPr>
          </a:p>
        </p:txBody>
      </p:sp>
      <p:sp>
        <p:nvSpPr>
          <p:cNvPr id="271" name="Google Shape;271;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80" name="Google Shape;280;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89" name="Google Shape;289;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97" name="Google Shape;297;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04" name="Google Shape;304;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3" name="Google Shape;313;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22" name="Google Shape;322;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31" name="Google Shape;331;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3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40" name="Google Shape;340;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3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49" name="Google Shape;349;p3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3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58" name="Google Shape;358;p3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p3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66" name="Google Shape;366;p3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3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73" name="Google Shape;373;p3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3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380" name="Google Shape;380;p3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4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87" name="Google Shape;387;p4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4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96" name="Google Shape;396;p4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4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05" name="Google Shape;405;p4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4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14" name="Google Shape;414;p4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4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21" name="Google Shape;421;p4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4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30" name="Google Shape;430;p4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4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39" name="Google Shape;439;p4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4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48" name="Google Shape;448;p4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4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457" name="Google Shape;457;p4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4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465" name="Google Shape;465;p4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1_Diapo_Subtema con Imagen Horizontal">
    <p:spTree>
      <p:nvGrpSpPr>
        <p:cNvPr id="15" name="Shape 15"/>
        <p:cNvGrpSpPr/>
        <p:nvPr/>
      </p:nvGrpSpPr>
      <p:grpSpPr>
        <a:xfrm>
          <a:off x="0" y="0"/>
          <a:ext cx="0" cy="0"/>
          <a:chOff x="0" y="0"/>
          <a:chExt cx="0" cy="0"/>
        </a:xfrm>
      </p:grpSpPr>
      <p:sp>
        <p:nvSpPr>
          <p:cNvPr id="16" name="Google Shape;16;p52"/>
          <p:cNvSpPr/>
          <p:nvPr>
            <p:ph idx="2" type="pic"/>
          </p:nvPr>
        </p:nvSpPr>
        <p:spPr>
          <a:xfrm>
            <a:off x="475687" y="2877477"/>
            <a:ext cx="8207375" cy="2394000"/>
          </a:xfrm>
          <a:prstGeom prst="rect">
            <a:avLst/>
          </a:prstGeom>
          <a:noFill/>
          <a:ln>
            <a:noFill/>
          </a:ln>
        </p:spPr>
      </p:sp>
      <p:sp>
        <p:nvSpPr>
          <p:cNvPr id="17" name="Google Shape;17;p52"/>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52"/>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52"/>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Diapo_Subtema con Imagen Horizontal">
    <p:spTree>
      <p:nvGrpSpPr>
        <p:cNvPr id="21" name="Shape 21"/>
        <p:cNvGrpSpPr/>
        <p:nvPr/>
      </p:nvGrpSpPr>
      <p:grpSpPr>
        <a:xfrm>
          <a:off x="0" y="0"/>
          <a:ext cx="0" cy="0"/>
          <a:chOff x="0" y="0"/>
          <a:chExt cx="0" cy="0"/>
        </a:xfrm>
      </p:grpSpPr>
      <p:sp>
        <p:nvSpPr>
          <p:cNvPr id="22" name="Google Shape;22;p54"/>
          <p:cNvSpPr/>
          <p:nvPr>
            <p:ph idx="2" type="pic"/>
          </p:nvPr>
        </p:nvSpPr>
        <p:spPr>
          <a:xfrm>
            <a:off x="475687" y="2877477"/>
            <a:ext cx="8207375" cy="2394000"/>
          </a:xfrm>
          <a:prstGeom prst="rect">
            <a:avLst/>
          </a:prstGeom>
          <a:noFill/>
          <a:ln>
            <a:noFill/>
          </a:ln>
        </p:spPr>
      </p:sp>
      <p:sp>
        <p:nvSpPr>
          <p:cNvPr id="23" name="Google Shape;23;p5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5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5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Vertical">
  <p:cSld name="Diapo_Subtema con Imagen Vertical">
    <p:spTree>
      <p:nvGrpSpPr>
        <p:cNvPr id="26" name="Shape 26"/>
        <p:cNvGrpSpPr/>
        <p:nvPr/>
      </p:nvGrpSpPr>
      <p:grpSpPr>
        <a:xfrm>
          <a:off x="0" y="0"/>
          <a:ext cx="0" cy="0"/>
          <a:chOff x="0" y="0"/>
          <a:chExt cx="0" cy="0"/>
        </a:xfrm>
      </p:grpSpPr>
      <p:sp>
        <p:nvSpPr>
          <p:cNvPr id="27" name="Google Shape;27;p55"/>
          <p:cNvSpPr/>
          <p:nvPr>
            <p:ph idx="2" type="pic"/>
          </p:nvPr>
        </p:nvSpPr>
        <p:spPr>
          <a:xfrm>
            <a:off x="4572000" y="804863"/>
            <a:ext cx="4103688" cy="4463362"/>
          </a:xfrm>
          <a:prstGeom prst="rect">
            <a:avLst/>
          </a:prstGeom>
          <a:noFill/>
          <a:ln>
            <a:noFill/>
          </a:ln>
        </p:spPr>
      </p:sp>
      <p:sp>
        <p:nvSpPr>
          <p:cNvPr id="28" name="Google Shape;28;p5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5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 name="Google Shape;30;p55"/>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1" name="Shape 3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Introduccion">
  <p:cSld name="Diapo_Introduccion">
    <p:bg>
      <p:bgPr>
        <a:solidFill>
          <a:srgbClr val="F2F2F2"/>
        </a:solidFill>
      </p:bgPr>
    </p:bg>
    <p:spTree>
      <p:nvGrpSpPr>
        <p:cNvPr id="32" name="Shape 32"/>
        <p:cNvGrpSpPr/>
        <p:nvPr/>
      </p:nvGrpSpPr>
      <p:grpSpPr>
        <a:xfrm>
          <a:off x="0" y="0"/>
          <a:ext cx="0" cy="0"/>
          <a:chOff x="0" y="0"/>
          <a:chExt cx="0" cy="0"/>
        </a:xfrm>
      </p:grpSpPr>
      <p:sp>
        <p:nvSpPr>
          <p:cNvPr id="33" name="Google Shape;33;p57"/>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20"/>
              <a:buFont typeface="Calibri"/>
              <a:buNone/>
            </a:pPr>
            <a:r>
              <a:rPr b="1" i="0" lang="es-ES" sz="1620" u="none" cap="none" strike="noStrike">
                <a:solidFill>
                  <a:schemeClr val="dk1"/>
                </a:solidFill>
                <a:latin typeface="Calibri"/>
                <a:ea typeface="Calibri"/>
                <a:cs typeface="Calibri"/>
                <a:sym typeface="Calibri"/>
              </a:rPr>
              <a:t>INTRODUCCIÓN</a:t>
            </a:r>
            <a:endParaRPr b="0" i="0" sz="1400" u="none" cap="none" strike="noStrike">
              <a:solidFill>
                <a:srgbClr val="000000"/>
              </a:solidFill>
              <a:latin typeface="Arial"/>
              <a:ea typeface="Arial"/>
              <a:cs typeface="Arial"/>
              <a:sym typeface="Arial"/>
            </a:endParaRPr>
          </a:p>
        </p:txBody>
      </p:sp>
      <p:pic>
        <p:nvPicPr>
          <p:cNvPr id="34" name="Google Shape;34;p57"/>
          <p:cNvPicPr preferRelativeResize="0"/>
          <p:nvPr/>
        </p:nvPicPr>
        <p:blipFill rotWithShape="1">
          <a:blip r:embed="rId2">
            <a:alphaModFix/>
          </a:blip>
          <a:srcRect b="0" l="0" r="0" t="0"/>
          <a:stretch/>
        </p:blipFill>
        <p:spPr>
          <a:xfrm>
            <a:off x="503239" y="573356"/>
            <a:ext cx="424127" cy="424127"/>
          </a:xfrm>
          <a:prstGeom prst="rect">
            <a:avLst/>
          </a:prstGeom>
          <a:solidFill>
            <a:srgbClr val="F2F2F2"/>
          </a:solidFill>
          <a:ln>
            <a:noFill/>
          </a:ln>
        </p:spPr>
      </p:pic>
      <p:sp>
        <p:nvSpPr>
          <p:cNvPr id="35" name="Google Shape;35;p57"/>
          <p:cNvSpPr txBox="1"/>
          <p:nvPr>
            <p:ph idx="1" type="body"/>
          </p:nvPr>
        </p:nvSpPr>
        <p:spPr>
          <a:xfrm>
            <a:off x="503238" y="1670050"/>
            <a:ext cx="8137525" cy="3563938"/>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Cuadro">
  <p:cSld name="Diapo_Subtema con Cuadro">
    <p:spTree>
      <p:nvGrpSpPr>
        <p:cNvPr id="36" name="Shape 36"/>
        <p:cNvGrpSpPr/>
        <p:nvPr/>
      </p:nvGrpSpPr>
      <p:grpSpPr>
        <a:xfrm>
          <a:off x="0" y="0"/>
          <a:ext cx="0" cy="0"/>
          <a:chOff x="0" y="0"/>
          <a:chExt cx="0" cy="0"/>
        </a:xfrm>
      </p:grpSpPr>
      <p:sp>
        <p:nvSpPr>
          <p:cNvPr id="37" name="Google Shape;37;p58"/>
          <p:cNvSpPr/>
          <p:nvPr>
            <p:ph idx="2" type="pic"/>
          </p:nvPr>
        </p:nvSpPr>
        <p:spPr>
          <a:xfrm>
            <a:off x="468313" y="1175705"/>
            <a:ext cx="8207375" cy="4096800"/>
          </a:xfrm>
          <a:prstGeom prst="rect">
            <a:avLst/>
          </a:prstGeom>
          <a:noFill/>
          <a:ln>
            <a:noFill/>
          </a:ln>
        </p:spPr>
      </p:sp>
      <p:sp>
        <p:nvSpPr>
          <p:cNvPr id="38" name="Google Shape;38;p58"/>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9" name="Google Shape;39;p5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Full texto">
  <p:cSld name="Diapo_Full texto">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59"/>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rgbClr val="3F3F3F"/>
              </a:buClr>
              <a:buSzPts val="1600"/>
              <a:buFont typeface="Arial"/>
              <a:buNone/>
              <a:defRPr b="1" i="0" sz="1600" u="none" cap="none" strike="noStrike">
                <a:solidFill>
                  <a:srgbClr val="3F3F3F"/>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2" name="Google Shape;42;p59"/>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59"/>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lvl1pPr indent="-304800" lvl="0" marL="457200" marR="0" rtl="0" algn="just">
              <a:lnSpc>
                <a:spcPct val="90000"/>
              </a:lnSpc>
              <a:spcBef>
                <a:spcPts val="0"/>
              </a:spcBef>
              <a:spcAft>
                <a:spcPts val="0"/>
              </a:spcAft>
              <a:buClr>
                <a:srgbClr val="3F3F3F"/>
              </a:buClr>
              <a:buSzPts val="1200"/>
              <a:buFont typeface="Noto Sans Symbols"/>
              <a:buChar char="❑"/>
              <a:defRPr b="0" i="1" sz="1600" u="none" cap="none" strike="noStrike">
                <a:solidFill>
                  <a:srgbClr val="7F7F7F"/>
                </a:solidFill>
                <a:latin typeface="Calibri"/>
                <a:ea typeface="Calibri"/>
                <a:cs typeface="Calibri"/>
                <a:sym typeface="Calibri"/>
              </a:defRPr>
            </a:lvl1pPr>
            <a:lvl2pPr indent="-317500" lvl="1" marL="914400" marR="0" rtl="0" algn="just">
              <a:lnSpc>
                <a:spcPct val="90000"/>
              </a:lnSpc>
              <a:spcBef>
                <a:spcPts val="600"/>
              </a:spcBef>
              <a:spcAft>
                <a:spcPts val="0"/>
              </a:spcAft>
              <a:buClr>
                <a:srgbClr val="3F3F3F"/>
              </a:buClr>
              <a:buSzPts val="1400"/>
              <a:buFont typeface="Noto Sans Symbols"/>
              <a:buChar char="▪"/>
              <a:defRPr b="0" i="1" sz="1400" u="none" cap="none" strike="noStrike">
                <a:solidFill>
                  <a:srgbClr val="7F7F7F"/>
                </a:solidFill>
                <a:latin typeface="Calibri"/>
                <a:ea typeface="Calibri"/>
                <a:cs typeface="Calibri"/>
                <a:sym typeface="Calibri"/>
              </a:defRPr>
            </a:lvl2pPr>
            <a:lvl3pPr indent="-317500" lvl="2" marL="13716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17500" lvl="3" marL="18288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p:cSld name="Diapo_Subtema">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60"/>
          <p:cNvSpPr txBox="1"/>
          <p:nvPr>
            <p:ph idx="1" type="body"/>
          </p:nvPr>
        </p:nvSpPr>
        <p:spPr>
          <a:xfrm>
            <a:off x="468314" y="3714841"/>
            <a:ext cx="5543549" cy="81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5000"/>
              </a:lnSpc>
              <a:spcBef>
                <a:spcPts val="0"/>
              </a:spcBef>
              <a:spcAft>
                <a:spcPts val="0"/>
              </a:spcAft>
              <a:buClr>
                <a:schemeClr val="lt1"/>
              </a:buClr>
              <a:buSzPts val="2800"/>
              <a:buFont typeface="Arial"/>
              <a:buNone/>
              <a:defRPr b="1" i="0" sz="2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Conclusiones">
  <p:cSld name="Diapo_Conclusiones">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61"/>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CONCLUSIONES</a:t>
            </a:r>
            <a:endParaRPr b="0" i="0" sz="1400" u="none" cap="none" strike="noStrike">
              <a:solidFill>
                <a:srgbClr val="000000"/>
              </a:solidFill>
              <a:latin typeface="Arial"/>
              <a:ea typeface="Arial"/>
              <a:cs typeface="Arial"/>
              <a:sym typeface="Arial"/>
            </a:endParaRPr>
          </a:p>
        </p:txBody>
      </p:sp>
      <p:pic>
        <p:nvPicPr>
          <p:cNvPr id="48" name="Google Shape;48;p61"/>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49" name="Google Shape;49;p61"/>
          <p:cNvSpPr txBox="1"/>
          <p:nvPr>
            <p:ph idx="1" type="body"/>
          </p:nvPr>
        </p:nvSpPr>
        <p:spPr>
          <a:xfrm>
            <a:off x="927366" y="1670909"/>
            <a:ext cx="7713398" cy="3526566"/>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Calibri"/>
              <a:buAutoNum type="arabicPeriod"/>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Bibliografía">
  <p:cSld name="Diapo_Bibliografí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62"/>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BIBLIOGRAFÍA</a:t>
            </a:r>
            <a:endParaRPr b="0" i="0" sz="1400" u="none" cap="none" strike="noStrike">
              <a:solidFill>
                <a:srgbClr val="000000"/>
              </a:solidFill>
              <a:latin typeface="Arial"/>
              <a:ea typeface="Arial"/>
              <a:cs typeface="Arial"/>
              <a:sym typeface="Arial"/>
            </a:endParaRPr>
          </a:p>
        </p:txBody>
      </p:sp>
      <p:pic>
        <p:nvPicPr>
          <p:cNvPr id="52" name="Google Shape;52;p62"/>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53" name="Google Shape;53;p62"/>
          <p:cNvSpPr txBox="1"/>
          <p:nvPr>
            <p:ph idx="1" type="body"/>
          </p:nvPr>
        </p:nvSpPr>
        <p:spPr>
          <a:xfrm>
            <a:off x="927366" y="1670049"/>
            <a:ext cx="7713398" cy="3527425"/>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Noto Sans Symbols"/>
              <a:buChar char="▪"/>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50"/>
          <p:cNvGrpSpPr/>
          <p:nvPr/>
        </p:nvGrpSpPr>
        <p:grpSpPr>
          <a:xfrm>
            <a:off x="793745" y="5369051"/>
            <a:ext cx="8104595" cy="215444"/>
            <a:chOff x="793745" y="5369051"/>
            <a:chExt cx="7954689" cy="215444"/>
          </a:xfrm>
        </p:grpSpPr>
        <p:sp>
          <p:nvSpPr>
            <p:cNvPr id="11" name="Google Shape;11;p50"/>
            <p:cNvSpPr txBox="1"/>
            <p:nvPr/>
          </p:nvSpPr>
          <p:spPr>
            <a:xfrm>
              <a:off x="793745" y="5369051"/>
              <a:ext cx="2133782"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ES" sz="800" u="none" cap="none" strike="noStrike">
                  <a:solidFill>
                    <a:srgbClr val="7F7F7F"/>
                  </a:solidFill>
                  <a:latin typeface="Calibri"/>
                  <a:ea typeface="Calibri"/>
                  <a:cs typeface="Calibri"/>
                  <a:sym typeface="Calibri"/>
                </a:rPr>
                <a:t>ANÁLISIS Y DISEÑO DE SISTEMAS II  •  SESIÓN 02</a:t>
              </a:r>
              <a:endParaRPr b="0" i="0" sz="800" u="none" cap="none" strike="noStrike">
                <a:solidFill>
                  <a:srgbClr val="7F7F7F"/>
                </a:solidFill>
                <a:latin typeface="Calibri"/>
                <a:ea typeface="Calibri"/>
                <a:cs typeface="Calibri"/>
                <a:sym typeface="Calibri"/>
              </a:endParaRPr>
            </a:p>
          </p:txBody>
        </p:sp>
        <p:sp>
          <p:nvSpPr>
            <p:cNvPr id="12" name="Google Shape;12;p50"/>
            <p:cNvSpPr/>
            <p:nvPr/>
          </p:nvSpPr>
          <p:spPr>
            <a:xfrm>
              <a:off x="7207627" y="5384440"/>
              <a:ext cx="154080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ES" sz="600" u="none" cap="none" strike="noStrike">
                  <a:solidFill>
                    <a:srgbClr val="7F7F7F"/>
                  </a:solidFill>
                  <a:latin typeface="Calibri"/>
                  <a:ea typeface="Calibri"/>
                  <a:cs typeface="Calibri"/>
                  <a:sym typeface="Calibri"/>
                </a:rPr>
                <a:t>© 2023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50"/>
          <p:cNvPicPr preferRelativeResize="0"/>
          <p:nvPr/>
        </p:nvPicPr>
        <p:blipFill rotWithShape="1">
          <a:blip r:embed="rId1">
            <a:alphaModFix amt="20000"/>
          </a:blip>
          <a:srcRect b="0" l="0" r="0" t="0"/>
          <a:stretch/>
        </p:blipFill>
        <p:spPr>
          <a:xfrm>
            <a:off x="345172"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hyperlink" Target="https://www.iso.org/standard/45171.html" TargetMode="External"/><Relationship Id="rId4" Type="http://schemas.openxmlformats.org/officeDocument/2006/relationships/hyperlink" Target="https://www.agilealliance.org/glossary/user-stories/" TargetMode="External"/><Relationship Id="rId5" Type="http://schemas.openxmlformats.org/officeDocument/2006/relationships/hyperlink" Target="https://www.atlassian.com/software/confluence/templates/traceability-matrix"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p:nvPr/>
        </p:nvSpPr>
        <p:spPr>
          <a:xfrm>
            <a:off x="0" y="14248"/>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libri"/>
              <a:buNone/>
            </a:pPr>
            <a:r>
              <a:rPr b="0" i="0" lang="es-ES" sz="1800" u="none" cap="none" strike="noStrike">
                <a:solidFill>
                  <a:schemeClr val="lt1"/>
                </a:solidFill>
                <a:latin typeface="Calibri"/>
                <a:ea typeface="Calibri"/>
                <a:cs typeface="Calibri"/>
                <a:sym typeface="Calibri"/>
              </a:rPr>
              <a:t>SESIÓN</a:t>
            </a:r>
            <a:endParaRPr b="0" i="0" sz="1800" u="none" cap="none" strike="noStrike">
              <a:solidFill>
                <a:schemeClr val="dk1"/>
              </a:solidFill>
              <a:latin typeface="Calibri"/>
              <a:ea typeface="Calibri"/>
              <a:cs typeface="Calibri"/>
              <a:sym typeface="Calibri"/>
            </a:endParaRPr>
          </a:p>
        </p:txBody>
      </p:sp>
      <p:sp>
        <p:nvSpPr>
          <p:cNvPr id="61" name="Google Shape;61;p1"/>
          <p:cNvSpPr txBox="1"/>
          <p:nvPr/>
        </p:nvSpPr>
        <p:spPr>
          <a:xfrm>
            <a:off x="2051281" y="1730819"/>
            <a:ext cx="96425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5800"/>
              <a:buFont typeface="Calibri"/>
              <a:buNone/>
            </a:pPr>
            <a:r>
              <a:rPr b="0" i="0" lang="es-ES" sz="5800" u="none" cap="none" strike="noStrike">
                <a:solidFill>
                  <a:srgbClr val="FFFFFF"/>
                </a:solidFill>
                <a:latin typeface="Calibri"/>
                <a:ea typeface="Calibri"/>
                <a:cs typeface="Calibri"/>
                <a:sym typeface="Calibri"/>
              </a:rPr>
              <a:t>02</a:t>
            </a:r>
            <a:endParaRPr b="0" i="0" sz="1800" u="none" cap="none" strike="noStrike">
              <a:solidFill>
                <a:schemeClr val="dk1"/>
              </a:solidFill>
              <a:latin typeface="Calibri"/>
              <a:ea typeface="Calibri"/>
              <a:cs typeface="Calibri"/>
              <a:sym typeface="Calibri"/>
            </a:endParaRPr>
          </a:p>
        </p:txBody>
      </p:sp>
      <p:sp>
        <p:nvSpPr>
          <p:cNvPr id="62" name="Google Shape;62;p1"/>
          <p:cNvSpPr txBox="1"/>
          <p:nvPr/>
        </p:nvSpPr>
        <p:spPr>
          <a:xfrm>
            <a:off x="3175138" y="1729721"/>
            <a:ext cx="5422704"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REQUISITOS DEL SISTEMA</a:t>
            </a:r>
            <a:endParaRPr b="1" i="0" sz="3600" u="none" cap="none" strike="noStrike">
              <a:solidFill>
                <a:schemeClr val="lt1"/>
              </a:solidFill>
              <a:latin typeface="Calibri"/>
              <a:ea typeface="Calibri"/>
              <a:cs typeface="Calibri"/>
              <a:sym typeface="Calibri"/>
            </a:endParaRPr>
          </a:p>
        </p:txBody>
      </p:sp>
      <p:sp>
        <p:nvSpPr>
          <p:cNvPr id="63" name="Google Shape;63;p1"/>
          <p:cNvSpPr txBox="1"/>
          <p:nvPr/>
        </p:nvSpPr>
        <p:spPr>
          <a:xfrm>
            <a:off x="3175138" y="2996279"/>
            <a:ext cx="5026425" cy="135417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Visión del sistema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Especificación de requisitos del sistema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Verificación y validación de requisitos del sistema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Trazabilidad de requisitos</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lt1"/>
              </a:buClr>
              <a:buSzPts val="1600"/>
              <a:buFont typeface="Arial"/>
              <a:buNone/>
            </a:pPr>
            <a:r>
              <a:t/>
            </a:r>
            <a:endParaRPr b="1" i="0" sz="1800" u="none" cap="none" strike="noStrike">
              <a:solidFill>
                <a:schemeClr val="dk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cap="flat" cmpd="sng" w="25400">
            <a:solidFill>
              <a:srgbClr val="FFFFFF"/>
            </a:solidFill>
            <a:prstDash val="solid"/>
            <a:round/>
            <a:headEnd len="sm" w="sm" type="none"/>
            <a:tailEnd len="sm" w="sm" type="none"/>
          </a:ln>
        </p:spPr>
      </p:cxnSp>
      <p:sp>
        <p:nvSpPr>
          <p:cNvPr id="65" name="Google Shape;65;p1"/>
          <p:cNvSpPr/>
          <p:nvPr/>
        </p:nvSpPr>
        <p:spPr>
          <a:xfrm>
            <a:off x="3289191" y="2568993"/>
            <a:ext cx="3672000" cy="193899"/>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F85A6"/>
              </a:buClr>
              <a:buSzPts val="1400"/>
              <a:buFont typeface="Calibri"/>
              <a:buNone/>
            </a:pPr>
            <a:r>
              <a:rPr b="1" i="0" lang="es-ES" sz="1400" u="none" cap="none" strike="noStrike">
                <a:solidFill>
                  <a:srgbClr val="1F85A6"/>
                </a:solidFill>
                <a:latin typeface="Calibri"/>
                <a:ea typeface="Calibri"/>
                <a:cs typeface="Calibri"/>
                <a:sym typeface="Calibri"/>
              </a:rPr>
              <a:t>UNIDAD DE APRENDIZAJE 1 – UA1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INTRODUCCIÓN</a:t>
            </a:r>
            <a:endParaRPr b="0" i="0" sz="1800" u="none" cap="none" strike="noStrike">
              <a:solidFill>
                <a:schemeClr val="dk1"/>
              </a:solidFill>
              <a:latin typeface="Calibri"/>
              <a:ea typeface="Calibri"/>
              <a:cs typeface="Calibri"/>
              <a:sym typeface="Calibri"/>
            </a:endParaRPr>
          </a:p>
        </p:txBody>
      </p:sp>
      <p:sp>
        <p:nvSpPr>
          <p:cNvPr id="72" name="Google Shape;72;p2"/>
          <p:cNvSpPr txBox="1"/>
          <p:nvPr/>
        </p:nvSpPr>
        <p:spPr>
          <a:xfrm>
            <a:off x="571679" y="497801"/>
            <a:ext cx="7784512" cy="356393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El diseño de sistemas de información es una parte fundamental del desarrollo de sistemas de información. Es el proceso que toma los requisitos del sistema, definidos en el análisis de sistemas, y los convierte en una especificación detallada de cómo se construirá el sistema.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Entonces, durante esta sesión:</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Conocerás</a:t>
            </a:r>
            <a:r>
              <a:rPr b="0" i="0" lang="es-ES" sz="1600" u="none" cap="none" strike="noStrike">
                <a:solidFill>
                  <a:schemeClr val="dk1"/>
                </a:solidFill>
                <a:latin typeface="Calibri"/>
                <a:ea typeface="Calibri"/>
                <a:cs typeface="Calibri"/>
                <a:sym typeface="Calibri"/>
              </a:rPr>
              <a:t> los principales conceptos de diseño de sistemas.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Aprenderás</a:t>
            </a:r>
            <a:r>
              <a:rPr b="0" i="0" lang="es-ES" sz="1600" u="none" cap="none" strike="noStrike">
                <a:solidFill>
                  <a:schemeClr val="dk1"/>
                </a:solidFill>
                <a:latin typeface="Calibri"/>
                <a:ea typeface="Calibri"/>
                <a:cs typeface="Calibri"/>
                <a:sym typeface="Calibri"/>
              </a:rPr>
              <a:t> a usar buenas prácticas de diseño de sistemas en un proyecto de desarrollo de sistemas.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60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Comprenderás </a:t>
            </a:r>
            <a:r>
              <a:rPr b="0" i="0" lang="es-ES" sz="1600" u="none" cap="none" strike="noStrike">
                <a:solidFill>
                  <a:schemeClr val="dk1"/>
                </a:solidFill>
                <a:latin typeface="Calibri"/>
                <a:ea typeface="Calibri"/>
                <a:cs typeface="Calibri"/>
                <a:sym typeface="Calibri"/>
              </a:rPr>
              <a:t>el alcance del diseño de la arquitectura del sistema.</a:t>
            </a:r>
            <a:endParaRPr b="0" i="0" sz="14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VISIÓN DEL SISTEMA</a:t>
            </a:r>
            <a:endParaRPr b="1" i="0" sz="16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pic>
        <p:nvPicPr>
          <p:cNvPr id="86" name="Google Shape;86;p4"/>
          <p:cNvPicPr preferRelativeResize="0"/>
          <p:nvPr>
            <p:ph idx="2" type="pic"/>
          </p:nvPr>
        </p:nvPicPr>
        <p:blipFill rotWithShape="1">
          <a:blip r:embed="rId3">
            <a:alphaModFix/>
          </a:blip>
          <a:srcRect b="28137" l="0" r="0" t="28137"/>
          <a:stretch/>
        </p:blipFill>
        <p:spPr>
          <a:xfrm>
            <a:off x="949520" y="2871969"/>
            <a:ext cx="7244960" cy="2113274"/>
          </a:xfrm>
          <a:prstGeom prst="rect">
            <a:avLst/>
          </a:prstGeom>
          <a:noFill/>
          <a:ln>
            <a:noFill/>
          </a:ln>
        </p:spPr>
      </p:pic>
      <p:sp>
        <p:nvSpPr>
          <p:cNvPr id="87" name="Google Shape;87;p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Este documento o conjunto de directrices articula los objetivos generales, las funcionalidades clave, las restricciones y los criterios de éxito del sistema que se va a desarrollar.</a:t>
            </a:r>
            <a:endParaRPr/>
          </a:p>
          <a:p>
            <a:pPr indent="-266700" lvl="0" marL="266700" rtl="0" algn="l">
              <a:lnSpc>
                <a:spcPct val="100000"/>
              </a:lnSpc>
              <a:spcBef>
                <a:spcPts val="1200"/>
              </a:spcBef>
              <a:spcAft>
                <a:spcPts val="0"/>
              </a:spcAft>
              <a:buClr>
                <a:schemeClr val="dk1"/>
              </a:buClr>
              <a:buSzPts val="1200"/>
              <a:buChar char="❑"/>
            </a:pPr>
            <a:r>
              <a:rPr lang="es-ES"/>
              <a:t>La visión del sistema es esencialmente una representación de alto nivel de lo que se espera lograr, y sirve como un punto de referencia común para los desarrolladores, los stakeholders, los gerentes de proyecto y otros miembros del equipo.</a:t>
            </a:r>
            <a:endParaRPr/>
          </a:p>
        </p:txBody>
      </p:sp>
      <p:sp>
        <p:nvSpPr>
          <p:cNvPr id="88" name="Google Shape;88;p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QUÉ CONSISTE?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pic>
        <p:nvPicPr>
          <p:cNvPr id="95" name="Google Shape;95;p5"/>
          <p:cNvPicPr preferRelativeResize="0"/>
          <p:nvPr>
            <p:ph idx="2" type="pic"/>
          </p:nvPr>
        </p:nvPicPr>
        <p:blipFill rotWithShape="1">
          <a:blip r:embed="rId3">
            <a:alphaModFix/>
          </a:blip>
          <a:srcRect b="374" l="0" r="0" t="372"/>
          <a:stretch/>
        </p:blipFill>
        <p:spPr>
          <a:xfrm>
            <a:off x="5142427" y="1163638"/>
            <a:ext cx="3292192" cy="3580741"/>
          </a:xfrm>
          <a:prstGeom prst="rect">
            <a:avLst/>
          </a:prstGeom>
          <a:noFill/>
          <a:ln>
            <a:noFill/>
          </a:ln>
        </p:spPr>
      </p:pic>
      <p:sp>
        <p:nvSpPr>
          <p:cNvPr id="96" name="Google Shape;96;p5"/>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Este es un estándar del Instituto de Ingenieros Eléctricos y Electrónicos (IEEE) que proporciona directrices sobre cómo escribir requisitos de software, incluida la visión del sistema:</a:t>
            </a:r>
            <a:endParaRPr/>
          </a:p>
          <a:p>
            <a:pPr indent="-265113" lvl="1" marL="531813" rtl="0" algn="l">
              <a:lnSpc>
                <a:spcPct val="100000"/>
              </a:lnSpc>
              <a:spcBef>
                <a:spcPts val="600"/>
              </a:spcBef>
              <a:spcAft>
                <a:spcPts val="0"/>
              </a:spcAft>
              <a:buClr>
                <a:schemeClr val="dk1"/>
              </a:buClr>
              <a:buSzPts val="1600"/>
              <a:buChar char="→"/>
            </a:pPr>
            <a:r>
              <a:rPr lang="es-ES"/>
              <a:t>Una descripción del sistema, que incluye su propósito, alcance y objetivos.</a:t>
            </a:r>
            <a:endParaRPr/>
          </a:p>
          <a:p>
            <a:pPr indent="-265113" lvl="1" marL="531813" rtl="0" algn="l">
              <a:lnSpc>
                <a:spcPct val="100000"/>
              </a:lnSpc>
              <a:spcBef>
                <a:spcPts val="600"/>
              </a:spcBef>
              <a:spcAft>
                <a:spcPts val="0"/>
              </a:spcAft>
              <a:buClr>
                <a:schemeClr val="dk1"/>
              </a:buClr>
              <a:buSzPts val="1600"/>
              <a:buChar char="→"/>
            </a:pPr>
            <a:r>
              <a:rPr lang="es-ES"/>
              <a:t>Una descripción de cómo los usuarios interactúan con el sistema.</a:t>
            </a:r>
            <a:endParaRPr/>
          </a:p>
          <a:p>
            <a:pPr indent="-265113" lvl="1" marL="531813" rtl="0" algn="l">
              <a:lnSpc>
                <a:spcPct val="100000"/>
              </a:lnSpc>
              <a:spcBef>
                <a:spcPts val="600"/>
              </a:spcBef>
              <a:spcAft>
                <a:spcPts val="0"/>
              </a:spcAft>
              <a:buClr>
                <a:schemeClr val="dk1"/>
              </a:buClr>
              <a:buSzPts val="1600"/>
              <a:buChar char="→"/>
            </a:pPr>
            <a:r>
              <a:rPr lang="es-ES"/>
              <a:t>Una descripción de las funciones que el sistema debe realizar.</a:t>
            </a:r>
            <a:endParaRPr/>
          </a:p>
          <a:p>
            <a:pPr indent="-265113" lvl="1" marL="531813" rtl="0" algn="l">
              <a:lnSpc>
                <a:spcPct val="100000"/>
              </a:lnSpc>
              <a:spcBef>
                <a:spcPts val="600"/>
              </a:spcBef>
              <a:spcAft>
                <a:spcPts val="0"/>
              </a:spcAft>
              <a:buClr>
                <a:schemeClr val="dk1"/>
              </a:buClr>
              <a:buSzPts val="1600"/>
              <a:buChar char="→"/>
            </a:pPr>
            <a:r>
              <a:rPr lang="es-ES"/>
              <a:t>Una descripción de los requisitos de rendimiento, seguridad, confiabilidad, etc.</a:t>
            </a:r>
            <a:endParaRPr/>
          </a:p>
        </p:txBody>
      </p:sp>
      <p:sp>
        <p:nvSpPr>
          <p:cNvPr id="97" name="Google Shape;97;p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IEEE Std 830-2018</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sp>
        <p:nvSpPr>
          <p:cNvPr id="104" name="Google Shape;104;p6"/>
          <p:cNvSpPr txBox="1"/>
          <p:nvPr>
            <p:ph idx="4" type="body"/>
          </p:nvPr>
        </p:nvSpPr>
        <p:spPr>
          <a:xfrm>
            <a:off x="468313" y="1177927"/>
            <a:ext cx="4311505"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RUP</a:t>
            </a:r>
            <a:r>
              <a:rPr lang="es-ES"/>
              <a:t> (Rational Unified Process)</a:t>
            </a:r>
            <a:endParaRPr/>
          </a:p>
          <a:p>
            <a:pPr indent="0" lvl="1" marL="265113" rtl="0" algn="l">
              <a:lnSpc>
                <a:spcPct val="100000"/>
              </a:lnSpc>
              <a:spcBef>
                <a:spcPts val="300"/>
              </a:spcBef>
              <a:spcAft>
                <a:spcPts val="0"/>
              </a:spcAft>
              <a:buClr>
                <a:schemeClr val="dk1"/>
              </a:buClr>
              <a:buSzPts val="1600"/>
              <a:buNone/>
            </a:pPr>
            <a:r>
              <a:rPr lang="es-ES"/>
              <a:t>Ofrece una plantilla detallada para un documento de visión que incluye las características del sistema y restricciones.</a:t>
            </a:r>
            <a:endParaRPr/>
          </a:p>
          <a:p>
            <a:pPr indent="-266700" lvl="0" marL="266700" rtl="0" algn="l">
              <a:lnSpc>
                <a:spcPct val="100000"/>
              </a:lnSpc>
              <a:spcBef>
                <a:spcPts val="600"/>
              </a:spcBef>
              <a:spcAft>
                <a:spcPts val="0"/>
              </a:spcAft>
              <a:buClr>
                <a:schemeClr val="dk1"/>
              </a:buClr>
              <a:buSzPts val="1200"/>
              <a:buChar char="❑"/>
            </a:pPr>
            <a:r>
              <a:rPr b="1" lang="es-ES"/>
              <a:t>SCRUM</a:t>
            </a:r>
            <a:r>
              <a:rPr lang="es-ES"/>
              <a:t>:</a:t>
            </a:r>
            <a:endParaRPr/>
          </a:p>
          <a:p>
            <a:pPr indent="0" lvl="1" marL="265113" rtl="0" algn="l">
              <a:lnSpc>
                <a:spcPct val="100000"/>
              </a:lnSpc>
              <a:spcBef>
                <a:spcPts val="300"/>
              </a:spcBef>
              <a:spcAft>
                <a:spcPts val="0"/>
              </a:spcAft>
              <a:buClr>
                <a:schemeClr val="dk1"/>
              </a:buClr>
              <a:buSzPts val="1600"/>
              <a:buNone/>
            </a:pPr>
            <a:r>
              <a:rPr lang="es-ES"/>
              <a:t>Enfatiza la importancia de tener una “visión del producto” clara que guíe el desarrollo.</a:t>
            </a:r>
            <a:endParaRPr/>
          </a:p>
          <a:p>
            <a:pPr indent="-266700" lvl="0" marL="266700" rtl="0" algn="l">
              <a:lnSpc>
                <a:spcPct val="100000"/>
              </a:lnSpc>
              <a:spcBef>
                <a:spcPts val="600"/>
              </a:spcBef>
              <a:spcAft>
                <a:spcPts val="0"/>
              </a:spcAft>
              <a:buClr>
                <a:schemeClr val="dk1"/>
              </a:buClr>
              <a:buSzPts val="1200"/>
              <a:buChar char="❑"/>
            </a:pPr>
            <a:r>
              <a:rPr b="1" lang="es-ES"/>
              <a:t>SAFe</a:t>
            </a:r>
            <a:r>
              <a:rPr lang="es-ES"/>
              <a:t> (Scaled Agile Framework):</a:t>
            </a:r>
            <a:endParaRPr/>
          </a:p>
          <a:p>
            <a:pPr indent="0" lvl="1" marL="265113" rtl="0" algn="l">
              <a:lnSpc>
                <a:spcPct val="100000"/>
              </a:lnSpc>
              <a:spcBef>
                <a:spcPts val="300"/>
              </a:spcBef>
              <a:spcAft>
                <a:spcPts val="0"/>
              </a:spcAft>
              <a:buClr>
                <a:schemeClr val="dk1"/>
              </a:buClr>
              <a:buSzPts val="1600"/>
              <a:buNone/>
            </a:pPr>
            <a:r>
              <a:rPr lang="es-ES"/>
              <a:t>Similar a Scrum, pero diseñado para proyectos más grandes.</a:t>
            </a:r>
            <a:endParaRPr/>
          </a:p>
          <a:p>
            <a:pPr indent="-266700" lvl="0" marL="266700" rtl="0" algn="l">
              <a:lnSpc>
                <a:spcPct val="100000"/>
              </a:lnSpc>
              <a:spcBef>
                <a:spcPts val="600"/>
              </a:spcBef>
              <a:spcAft>
                <a:spcPts val="0"/>
              </a:spcAft>
              <a:buClr>
                <a:schemeClr val="dk1"/>
              </a:buClr>
              <a:buSzPts val="1200"/>
              <a:buChar char="❑"/>
            </a:pPr>
            <a:r>
              <a:rPr b="1" lang="es-ES"/>
              <a:t>PMBoK</a:t>
            </a:r>
            <a:r>
              <a:rPr lang="es-ES"/>
              <a:t> (Project Management Body of Knowledge):</a:t>
            </a:r>
            <a:endParaRPr/>
          </a:p>
          <a:p>
            <a:pPr indent="0" lvl="1" marL="265113" rtl="0" algn="l">
              <a:lnSpc>
                <a:spcPct val="100000"/>
              </a:lnSpc>
              <a:spcBef>
                <a:spcPts val="300"/>
              </a:spcBef>
              <a:spcAft>
                <a:spcPts val="0"/>
              </a:spcAft>
              <a:buClr>
                <a:schemeClr val="dk1"/>
              </a:buClr>
              <a:buSzPts val="1600"/>
              <a:buNone/>
            </a:pPr>
            <a:r>
              <a:rPr lang="es-ES"/>
              <a:t>Incluye directrices aplicables a la creación de un documento de visión del sistema.</a:t>
            </a:r>
            <a:endParaRPr/>
          </a:p>
        </p:txBody>
      </p:sp>
      <p:sp>
        <p:nvSpPr>
          <p:cNvPr id="105" name="Google Shape;105;p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METODOLOGÍAS</a:t>
            </a:r>
            <a:endParaRPr/>
          </a:p>
        </p:txBody>
      </p:sp>
      <p:pic>
        <p:nvPicPr>
          <p:cNvPr id="106" name="Google Shape;106;p6"/>
          <p:cNvPicPr preferRelativeResize="0"/>
          <p:nvPr>
            <p:ph idx="2" type="pic"/>
          </p:nvPr>
        </p:nvPicPr>
        <p:blipFill rotWithShape="1">
          <a:blip r:embed="rId3">
            <a:alphaModFix/>
          </a:blip>
          <a:srcRect b="374" l="0" r="0" t="372"/>
          <a:stretch/>
        </p:blipFill>
        <p:spPr>
          <a:xfrm>
            <a:off x="5069073" y="1177927"/>
            <a:ext cx="3498549" cy="380518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sp>
        <p:nvSpPr>
          <p:cNvPr id="113" name="Google Shape;113;p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PASOS A SEGUIR </a:t>
            </a:r>
            <a:r>
              <a:rPr lang="es-ES" sz="1400">
                <a:solidFill>
                  <a:srgbClr val="7F7F7F"/>
                </a:solidFill>
              </a:rPr>
              <a:t>[1/4]</a:t>
            </a:r>
            <a:endParaRPr>
              <a:solidFill>
                <a:srgbClr val="7F7F7F"/>
              </a:solidFill>
            </a:endParaRPr>
          </a:p>
        </p:txBody>
      </p:sp>
      <p:sp>
        <p:nvSpPr>
          <p:cNvPr id="114" name="Google Shape;114;p7"/>
          <p:cNvSpPr txBox="1"/>
          <p:nvPr>
            <p:ph idx="4" type="body"/>
          </p:nvPr>
        </p:nvSpPr>
        <p:spPr>
          <a:xfrm>
            <a:off x="468313" y="1177927"/>
            <a:ext cx="8035607"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None/>
            </a:pPr>
            <a:r>
              <a:rPr b="1" lang="es-ES"/>
              <a:t>Paso 1: Preparación Inicial</a:t>
            </a:r>
            <a:endParaRPr/>
          </a:p>
          <a:p>
            <a:pPr indent="-192087" lvl="1" marL="377825" rtl="0" algn="l">
              <a:lnSpc>
                <a:spcPct val="100000"/>
              </a:lnSpc>
              <a:spcBef>
                <a:spcPts val="600"/>
              </a:spcBef>
              <a:spcAft>
                <a:spcPts val="0"/>
              </a:spcAft>
              <a:buClr>
                <a:schemeClr val="dk1"/>
              </a:buClr>
              <a:buSzPts val="1600"/>
              <a:buFont typeface="Calibri"/>
              <a:buChar char="−"/>
            </a:pPr>
            <a:r>
              <a:rPr lang="es-ES"/>
              <a:t>Reunir a los stakeholders clave.</a:t>
            </a:r>
            <a:endParaRPr/>
          </a:p>
          <a:p>
            <a:pPr indent="-192087" lvl="1" marL="377825" rtl="0" algn="l">
              <a:lnSpc>
                <a:spcPct val="100000"/>
              </a:lnSpc>
              <a:spcBef>
                <a:spcPts val="600"/>
              </a:spcBef>
              <a:spcAft>
                <a:spcPts val="0"/>
              </a:spcAft>
              <a:buClr>
                <a:schemeClr val="dk1"/>
              </a:buClr>
              <a:buSzPts val="1600"/>
              <a:buFont typeface="Calibri"/>
              <a:buChar char="−"/>
            </a:pPr>
            <a:r>
              <a:rPr lang="es-ES"/>
              <a:t>Definir el alcance del proyecto.</a:t>
            </a:r>
            <a:endParaRPr/>
          </a:p>
          <a:p>
            <a:pPr indent="-192087" lvl="1" marL="377825" rtl="0" algn="l">
              <a:lnSpc>
                <a:spcPct val="100000"/>
              </a:lnSpc>
              <a:spcBef>
                <a:spcPts val="600"/>
              </a:spcBef>
              <a:spcAft>
                <a:spcPts val="0"/>
              </a:spcAft>
              <a:buClr>
                <a:schemeClr val="dk1"/>
              </a:buClr>
              <a:buSzPts val="1600"/>
              <a:buFont typeface="Calibri"/>
              <a:buChar char="−"/>
            </a:pPr>
            <a:r>
              <a:rPr lang="es-ES"/>
              <a:t>Identificar las fuentes de información (documentos existentes, entrevistas, etc.).</a:t>
            </a:r>
            <a:endParaRPr/>
          </a:p>
          <a:p>
            <a:pPr indent="0" lvl="0" marL="0" rtl="0" algn="l">
              <a:lnSpc>
                <a:spcPct val="100000"/>
              </a:lnSpc>
              <a:spcBef>
                <a:spcPts val="1800"/>
              </a:spcBef>
              <a:spcAft>
                <a:spcPts val="0"/>
              </a:spcAft>
              <a:buClr>
                <a:schemeClr val="dk1"/>
              </a:buClr>
              <a:buSzPts val="1200"/>
              <a:buNone/>
            </a:pPr>
            <a:r>
              <a:rPr b="1" lang="es-ES"/>
              <a:t>Paso 2: Investigación y Recopilación de Datos</a:t>
            </a:r>
            <a:endParaRPr/>
          </a:p>
          <a:p>
            <a:pPr indent="-192087" lvl="1" marL="377825" rtl="0" algn="l">
              <a:lnSpc>
                <a:spcPct val="100000"/>
              </a:lnSpc>
              <a:spcBef>
                <a:spcPts val="600"/>
              </a:spcBef>
              <a:spcAft>
                <a:spcPts val="0"/>
              </a:spcAft>
              <a:buClr>
                <a:schemeClr val="dk1"/>
              </a:buClr>
              <a:buSzPts val="1600"/>
              <a:buFont typeface="Calibri"/>
              <a:buChar char="−"/>
            </a:pPr>
            <a:r>
              <a:rPr lang="es-ES"/>
              <a:t>Entrevistas con stakeholders.</a:t>
            </a:r>
            <a:endParaRPr/>
          </a:p>
          <a:p>
            <a:pPr indent="-192087" lvl="1" marL="377825" rtl="0" algn="l">
              <a:lnSpc>
                <a:spcPct val="100000"/>
              </a:lnSpc>
              <a:spcBef>
                <a:spcPts val="600"/>
              </a:spcBef>
              <a:spcAft>
                <a:spcPts val="0"/>
              </a:spcAft>
              <a:buClr>
                <a:schemeClr val="dk1"/>
              </a:buClr>
              <a:buSzPts val="1600"/>
              <a:buFont typeface="Calibri"/>
              <a:buChar char="−"/>
            </a:pPr>
            <a:r>
              <a:rPr lang="es-ES"/>
              <a:t>Revisión de documentación existente.</a:t>
            </a:r>
            <a:endParaRPr/>
          </a:p>
          <a:p>
            <a:pPr indent="-192087" lvl="1" marL="377825" rtl="0" algn="l">
              <a:lnSpc>
                <a:spcPct val="100000"/>
              </a:lnSpc>
              <a:spcBef>
                <a:spcPts val="600"/>
              </a:spcBef>
              <a:spcAft>
                <a:spcPts val="0"/>
              </a:spcAft>
              <a:buClr>
                <a:schemeClr val="dk1"/>
              </a:buClr>
              <a:buSzPts val="1600"/>
              <a:buFont typeface="Calibri"/>
              <a:buChar char="−"/>
            </a:pPr>
            <a:r>
              <a:rPr lang="es-ES"/>
              <a:t>Análisis de sistemas similares o competidores.</a:t>
            </a:r>
            <a:endParaRPr/>
          </a:p>
          <a:p>
            <a:pPr indent="0" lvl="0" marL="0" rtl="0" algn="l">
              <a:lnSpc>
                <a:spcPct val="100000"/>
              </a:lnSpc>
              <a:spcBef>
                <a:spcPts val="1800"/>
              </a:spcBef>
              <a:spcAft>
                <a:spcPts val="0"/>
              </a:spcAft>
              <a:buClr>
                <a:schemeClr val="dk1"/>
              </a:buClr>
              <a:buSzPts val="1200"/>
              <a:buNone/>
            </a:pPr>
            <a:r>
              <a:rPr b="1" lang="es-ES"/>
              <a:t>Paso 3: Definición de Objetivos y Alcance</a:t>
            </a:r>
            <a:endParaRPr/>
          </a:p>
          <a:p>
            <a:pPr indent="-192087" lvl="1" marL="377825" rtl="0" algn="l">
              <a:lnSpc>
                <a:spcPct val="100000"/>
              </a:lnSpc>
              <a:spcBef>
                <a:spcPts val="600"/>
              </a:spcBef>
              <a:spcAft>
                <a:spcPts val="0"/>
              </a:spcAft>
              <a:buClr>
                <a:schemeClr val="dk1"/>
              </a:buClr>
              <a:buSzPts val="1600"/>
              <a:buFont typeface="Calibri"/>
              <a:buChar char="−"/>
            </a:pPr>
            <a:r>
              <a:rPr lang="es-ES"/>
              <a:t>Establecer los objetivos generales del sistema.</a:t>
            </a:r>
            <a:endParaRPr/>
          </a:p>
          <a:p>
            <a:pPr indent="-192087" lvl="1" marL="377825" rtl="0" algn="l">
              <a:lnSpc>
                <a:spcPct val="100000"/>
              </a:lnSpc>
              <a:spcBef>
                <a:spcPts val="600"/>
              </a:spcBef>
              <a:spcAft>
                <a:spcPts val="0"/>
              </a:spcAft>
              <a:buClr>
                <a:schemeClr val="dk1"/>
              </a:buClr>
              <a:buSzPts val="1600"/>
              <a:buFont typeface="Calibri"/>
              <a:buChar char="−"/>
            </a:pPr>
            <a:r>
              <a:rPr lang="es-ES"/>
              <a:t>Definir el alcance del sistema, es decir, qué estará incluido y qué no.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sp>
        <p:nvSpPr>
          <p:cNvPr id="121" name="Google Shape;121;p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PASOS A SEGUIR </a:t>
            </a:r>
            <a:r>
              <a:rPr lang="es-ES" sz="1400">
                <a:solidFill>
                  <a:srgbClr val="7F7F7F"/>
                </a:solidFill>
              </a:rPr>
              <a:t>[2/4]</a:t>
            </a:r>
            <a:endParaRPr>
              <a:solidFill>
                <a:srgbClr val="7F7F7F"/>
              </a:solidFill>
            </a:endParaRPr>
          </a:p>
        </p:txBody>
      </p:sp>
      <p:sp>
        <p:nvSpPr>
          <p:cNvPr id="122" name="Google Shape;122;p8"/>
          <p:cNvSpPr txBox="1"/>
          <p:nvPr>
            <p:ph idx="4" type="body"/>
          </p:nvPr>
        </p:nvSpPr>
        <p:spPr>
          <a:xfrm>
            <a:off x="468313" y="1177927"/>
            <a:ext cx="7910916" cy="4096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200"/>
              <a:buNone/>
            </a:pPr>
            <a:r>
              <a:rPr b="1" lang="es-ES"/>
              <a:t>Paso 4: Identificación de Stakeholders</a:t>
            </a:r>
            <a:endParaRPr b="1"/>
          </a:p>
          <a:p>
            <a:pPr indent="-192087" lvl="1" marL="377825" rtl="0" algn="just">
              <a:lnSpc>
                <a:spcPct val="100000"/>
              </a:lnSpc>
              <a:spcBef>
                <a:spcPts val="600"/>
              </a:spcBef>
              <a:spcAft>
                <a:spcPts val="0"/>
              </a:spcAft>
              <a:buClr>
                <a:schemeClr val="dk1"/>
              </a:buClr>
              <a:buSzPts val="1600"/>
              <a:buFont typeface="Calibri"/>
              <a:buChar char="−"/>
            </a:pPr>
            <a:r>
              <a:rPr lang="es-ES"/>
              <a:t>Listar todas las partes interesadas.</a:t>
            </a:r>
            <a:endParaRPr/>
          </a:p>
          <a:p>
            <a:pPr indent="-192087" lvl="1" marL="377825" rtl="0" algn="just">
              <a:lnSpc>
                <a:spcPct val="100000"/>
              </a:lnSpc>
              <a:spcBef>
                <a:spcPts val="600"/>
              </a:spcBef>
              <a:spcAft>
                <a:spcPts val="0"/>
              </a:spcAft>
              <a:buClr>
                <a:schemeClr val="dk1"/>
              </a:buClr>
              <a:buSzPts val="1600"/>
              <a:buFont typeface="Calibri"/>
              <a:buChar char="−"/>
            </a:pPr>
            <a:r>
              <a:rPr lang="es-ES"/>
              <a:t>Definir sus roles y responsabilidades.</a:t>
            </a:r>
            <a:endParaRPr/>
          </a:p>
          <a:p>
            <a:pPr indent="-192087" lvl="1" marL="377825" rtl="0" algn="just">
              <a:lnSpc>
                <a:spcPct val="100000"/>
              </a:lnSpc>
              <a:spcBef>
                <a:spcPts val="600"/>
              </a:spcBef>
              <a:spcAft>
                <a:spcPts val="0"/>
              </a:spcAft>
              <a:buClr>
                <a:schemeClr val="dk1"/>
              </a:buClr>
              <a:buSzPts val="1600"/>
              <a:buFont typeface="Calibri"/>
              <a:buChar char="−"/>
            </a:pPr>
            <a:r>
              <a:rPr lang="es-ES"/>
              <a:t>Identificar sus necesidades y expectativas.</a:t>
            </a:r>
            <a:endParaRPr/>
          </a:p>
          <a:p>
            <a:pPr indent="0" lvl="0" marL="0" rtl="0" algn="just">
              <a:lnSpc>
                <a:spcPct val="100000"/>
              </a:lnSpc>
              <a:spcBef>
                <a:spcPts val="1800"/>
              </a:spcBef>
              <a:spcAft>
                <a:spcPts val="0"/>
              </a:spcAft>
              <a:buClr>
                <a:schemeClr val="dk1"/>
              </a:buClr>
              <a:buSzPts val="1200"/>
              <a:buNone/>
            </a:pPr>
            <a:r>
              <a:rPr b="1" lang="es-ES"/>
              <a:t>Paso 5: Análisis de Necesidades del Negocio</a:t>
            </a:r>
            <a:endParaRPr/>
          </a:p>
          <a:p>
            <a:pPr indent="-192087" lvl="1" marL="377825" rtl="0" algn="just">
              <a:lnSpc>
                <a:spcPct val="100000"/>
              </a:lnSpc>
              <a:spcBef>
                <a:spcPts val="600"/>
              </a:spcBef>
              <a:spcAft>
                <a:spcPts val="0"/>
              </a:spcAft>
              <a:buClr>
                <a:schemeClr val="dk1"/>
              </a:buClr>
              <a:buSzPts val="1600"/>
              <a:buFont typeface="Calibri"/>
              <a:buChar char="−"/>
            </a:pPr>
            <a:r>
              <a:rPr lang="es-ES"/>
              <a:t>Identificar los problemas o necesidades que el sistema resolverá.</a:t>
            </a:r>
            <a:endParaRPr/>
          </a:p>
          <a:p>
            <a:pPr indent="-192087" lvl="1" marL="377825" rtl="0" algn="just">
              <a:lnSpc>
                <a:spcPct val="100000"/>
              </a:lnSpc>
              <a:spcBef>
                <a:spcPts val="600"/>
              </a:spcBef>
              <a:spcAft>
                <a:spcPts val="0"/>
              </a:spcAft>
              <a:buClr>
                <a:schemeClr val="dk1"/>
              </a:buClr>
              <a:buSzPts val="1600"/>
              <a:buFont typeface="Calibri"/>
              <a:buChar char="−"/>
            </a:pPr>
            <a:r>
              <a:rPr lang="es-ES"/>
              <a:t>Establecer la justificación de negocio para el proyecto.</a:t>
            </a:r>
            <a:endParaRPr/>
          </a:p>
          <a:p>
            <a:pPr indent="0" lvl="0" marL="0" rtl="0" algn="just">
              <a:lnSpc>
                <a:spcPct val="100000"/>
              </a:lnSpc>
              <a:spcBef>
                <a:spcPts val="1800"/>
              </a:spcBef>
              <a:spcAft>
                <a:spcPts val="0"/>
              </a:spcAft>
              <a:buClr>
                <a:schemeClr val="dk1"/>
              </a:buClr>
              <a:buSzPts val="1200"/>
              <a:buNone/>
            </a:pPr>
            <a:r>
              <a:rPr b="1" lang="es-ES"/>
              <a:t>Paso 6: Características y Funcionalidades</a:t>
            </a:r>
            <a:endParaRPr/>
          </a:p>
          <a:p>
            <a:pPr indent="-192087" lvl="1" marL="377825" rtl="0" algn="just">
              <a:lnSpc>
                <a:spcPct val="100000"/>
              </a:lnSpc>
              <a:spcBef>
                <a:spcPts val="600"/>
              </a:spcBef>
              <a:spcAft>
                <a:spcPts val="0"/>
              </a:spcAft>
              <a:buClr>
                <a:schemeClr val="dk1"/>
              </a:buClr>
              <a:buSzPts val="1600"/>
              <a:buFont typeface="Calibri"/>
              <a:buChar char="−"/>
            </a:pPr>
            <a:r>
              <a:rPr lang="es-ES"/>
              <a:t>Listar las características clave del sistema.</a:t>
            </a:r>
            <a:endParaRPr/>
          </a:p>
          <a:p>
            <a:pPr indent="-192087" lvl="1" marL="377825" rtl="0" algn="just">
              <a:lnSpc>
                <a:spcPct val="100000"/>
              </a:lnSpc>
              <a:spcBef>
                <a:spcPts val="600"/>
              </a:spcBef>
              <a:spcAft>
                <a:spcPts val="0"/>
              </a:spcAft>
              <a:buClr>
                <a:schemeClr val="dk1"/>
              </a:buClr>
              <a:buSzPts val="1600"/>
              <a:buFont typeface="Calibri"/>
              <a:buChar char="−"/>
            </a:pPr>
            <a:r>
              <a:rPr lang="es-ES"/>
              <a:t>Describir cómo estas características abordan las necesidades identificadas.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sp>
        <p:nvSpPr>
          <p:cNvPr id="129" name="Google Shape;129;p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PASOS A SEGUIR </a:t>
            </a:r>
            <a:r>
              <a:rPr lang="es-ES" sz="1400">
                <a:solidFill>
                  <a:srgbClr val="7F7F7F"/>
                </a:solidFill>
              </a:rPr>
              <a:t>[3/4]</a:t>
            </a:r>
            <a:endParaRPr>
              <a:solidFill>
                <a:srgbClr val="7F7F7F"/>
              </a:solidFill>
            </a:endParaRPr>
          </a:p>
        </p:txBody>
      </p:sp>
      <p:sp>
        <p:nvSpPr>
          <p:cNvPr id="130" name="Google Shape;130;p9"/>
          <p:cNvSpPr txBox="1"/>
          <p:nvPr>
            <p:ph idx="4" type="body"/>
          </p:nvPr>
        </p:nvSpPr>
        <p:spPr>
          <a:xfrm>
            <a:off x="468313" y="1177927"/>
            <a:ext cx="8027294" cy="4096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200"/>
              <a:buNone/>
            </a:pPr>
            <a:r>
              <a:rPr b="1" lang="es-ES"/>
              <a:t>Paso 7: Restricciones y Requisitos</a:t>
            </a:r>
            <a:endParaRPr/>
          </a:p>
          <a:p>
            <a:pPr indent="-192087" lvl="1" marL="377825" rtl="0" algn="just">
              <a:lnSpc>
                <a:spcPct val="100000"/>
              </a:lnSpc>
              <a:spcBef>
                <a:spcPts val="600"/>
              </a:spcBef>
              <a:spcAft>
                <a:spcPts val="0"/>
              </a:spcAft>
              <a:buClr>
                <a:schemeClr val="dk1"/>
              </a:buClr>
              <a:buSzPts val="1600"/>
              <a:buFont typeface="Calibri"/>
              <a:buChar char="−"/>
            </a:pPr>
            <a:r>
              <a:rPr lang="es-ES"/>
              <a:t>Identificar limitaciones técnicas, legales o de negocio.</a:t>
            </a:r>
            <a:endParaRPr/>
          </a:p>
          <a:p>
            <a:pPr indent="-192087" lvl="1" marL="377825" rtl="0" algn="just">
              <a:lnSpc>
                <a:spcPct val="100000"/>
              </a:lnSpc>
              <a:spcBef>
                <a:spcPts val="600"/>
              </a:spcBef>
              <a:spcAft>
                <a:spcPts val="0"/>
              </a:spcAft>
              <a:buClr>
                <a:schemeClr val="dk1"/>
              </a:buClr>
              <a:buSzPts val="1600"/>
              <a:buFont typeface="Calibri"/>
              <a:buChar char="−"/>
            </a:pPr>
            <a:r>
              <a:rPr lang="es-ES"/>
              <a:t>Establecer requisitos mínimos para el sistema.</a:t>
            </a:r>
            <a:endParaRPr/>
          </a:p>
          <a:p>
            <a:pPr indent="0" lvl="0" marL="0" rtl="0" algn="just">
              <a:lnSpc>
                <a:spcPct val="100000"/>
              </a:lnSpc>
              <a:spcBef>
                <a:spcPts val="1800"/>
              </a:spcBef>
              <a:spcAft>
                <a:spcPts val="0"/>
              </a:spcAft>
              <a:buClr>
                <a:schemeClr val="dk1"/>
              </a:buClr>
              <a:buSzPts val="1200"/>
              <a:buNone/>
            </a:pPr>
            <a:r>
              <a:rPr b="1" lang="es-ES"/>
              <a:t>Paso 8: Definición de Criterios de Éxito</a:t>
            </a:r>
            <a:endParaRPr/>
          </a:p>
          <a:p>
            <a:pPr indent="-192087" lvl="1" marL="377825" rtl="0" algn="just">
              <a:lnSpc>
                <a:spcPct val="100000"/>
              </a:lnSpc>
              <a:spcBef>
                <a:spcPts val="600"/>
              </a:spcBef>
              <a:spcAft>
                <a:spcPts val="0"/>
              </a:spcAft>
              <a:buClr>
                <a:schemeClr val="dk1"/>
              </a:buClr>
              <a:buSzPts val="1600"/>
              <a:buFont typeface="Calibri"/>
              <a:buChar char="−"/>
            </a:pPr>
            <a:r>
              <a:rPr lang="es-ES"/>
              <a:t>Establecer métricas o KPIs que se utilizarán para medir el éxito del proyecto.</a:t>
            </a:r>
            <a:endParaRPr/>
          </a:p>
          <a:p>
            <a:pPr indent="0" lvl="0" marL="0" rtl="0" algn="just">
              <a:lnSpc>
                <a:spcPct val="100000"/>
              </a:lnSpc>
              <a:spcBef>
                <a:spcPts val="1800"/>
              </a:spcBef>
              <a:spcAft>
                <a:spcPts val="0"/>
              </a:spcAft>
              <a:buClr>
                <a:schemeClr val="dk1"/>
              </a:buClr>
              <a:buSzPts val="1200"/>
              <a:buNone/>
            </a:pPr>
            <a:r>
              <a:rPr b="1" lang="es-ES"/>
              <a:t>Paso 9: Desarrollo de Escenarios de Uso</a:t>
            </a:r>
            <a:endParaRPr/>
          </a:p>
          <a:p>
            <a:pPr indent="-192087" lvl="1" marL="377825" rtl="0" algn="just">
              <a:lnSpc>
                <a:spcPct val="100000"/>
              </a:lnSpc>
              <a:spcBef>
                <a:spcPts val="600"/>
              </a:spcBef>
              <a:spcAft>
                <a:spcPts val="0"/>
              </a:spcAft>
              <a:buClr>
                <a:schemeClr val="dk1"/>
              </a:buClr>
              <a:buSzPts val="1600"/>
              <a:buFont typeface="Calibri"/>
              <a:buChar char="−"/>
            </a:pPr>
            <a:r>
              <a:rPr lang="es-ES"/>
              <a:t>Crear escenarios que describan cómo se utilizará el sistema en situaciones reales.</a:t>
            </a:r>
            <a:endParaRPr/>
          </a:p>
          <a:p>
            <a:pPr indent="0" lvl="0" marL="0" rtl="0" algn="just">
              <a:lnSpc>
                <a:spcPct val="100000"/>
              </a:lnSpc>
              <a:spcBef>
                <a:spcPts val="1800"/>
              </a:spcBef>
              <a:spcAft>
                <a:spcPts val="0"/>
              </a:spcAft>
              <a:buClr>
                <a:schemeClr val="dk1"/>
              </a:buClr>
              <a:buSzPts val="1200"/>
              <a:buNone/>
            </a:pPr>
            <a:r>
              <a:rPr b="1" lang="es-ES"/>
              <a:t>Paso 10: Arquitectura de Alto Nivel</a:t>
            </a:r>
            <a:endParaRPr/>
          </a:p>
          <a:p>
            <a:pPr indent="-192087" lvl="1" marL="377825" rtl="0" algn="just">
              <a:lnSpc>
                <a:spcPct val="100000"/>
              </a:lnSpc>
              <a:spcBef>
                <a:spcPts val="600"/>
              </a:spcBef>
              <a:spcAft>
                <a:spcPts val="0"/>
              </a:spcAft>
              <a:buClr>
                <a:schemeClr val="dk1"/>
              </a:buClr>
              <a:buSzPts val="1600"/>
              <a:buFont typeface="Calibri"/>
              <a:buChar char="−"/>
            </a:pPr>
            <a:r>
              <a:rPr lang="es-ES"/>
              <a:t>Proporcionar una visión general de la estructura del sistema, sin entrar en detalles técnicos.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pic>
        <p:nvPicPr>
          <p:cNvPr id="137" name="Google Shape;137;p10"/>
          <p:cNvPicPr preferRelativeResize="0"/>
          <p:nvPr>
            <p:ph idx="2" type="pic"/>
          </p:nvPr>
        </p:nvPicPr>
        <p:blipFill rotWithShape="1">
          <a:blip r:embed="rId3">
            <a:alphaModFix/>
          </a:blip>
          <a:srcRect b="0" l="20116" r="20116" t="0"/>
          <a:stretch/>
        </p:blipFill>
        <p:spPr>
          <a:xfrm>
            <a:off x="5032108" y="1445358"/>
            <a:ext cx="2887121" cy="3140167"/>
          </a:xfrm>
          <a:prstGeom prst="rect">
            <a:avLst/>
          </a:prstGeom>
          <a:noFill/>
          <a:ln>
            <a:noFill/>
          </a:ln>
        </p:spPr>
      </p:pic>
      <p:sp>
        <p:nvSpPr>
          <p:cNvPr id="138" name="Google Shape;138;p1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PASOS A SEGUIR </a:t>
            </a:r>
            <a:r>
              <a:rPr lang="es-ES" sz="1400">
                <a:solidFill>
                  <a:srgbClr val="7F7F7F"/>
                </a:solidFill>
              </a:rPr>
              <a:t>[4/4]</a:t>
            </a:r>
            <a:endParaRPr>
              <a:solidFill>
                <a:srgbClr val="7F7F7F"/>
              </a:solidFill>
            </a:endParaRPr>
          </a:p>
        </p:txBody>
      </p:sp>
      <p:sp>
        <p:nvSpPr>
          <p:cNvPr id="139" name="Google Shape;139;p10"/>
          <p:cNvSpPr txBox="1"/>
          <p:nvPr>
            <p:ph idx="4" type="body"/>
          </p:nvPr>
        </p:nvSpPr>
        <p:spPr>
          <a:xfrm>
            <a:off x="468312" y="1163638"/>
            <a:ext cx="4103687"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None/>
            </a:pPr>
            <a:r>
              <a:rPr b="1" lang="es-ES"/>
              <a:t>Paso 11: Revisión y Aprobación</a:t>
            </a:r>
            <a:endParaRPr/>
          </a:p>
          <a:p>
            <a:pPr indent="-192087" lvl="1" marL="377825" rtl="0" algn="l">
              <a:lnSpc>
                <a:spcPct val="100000"/>
              </a:lnSpc>
              <a:spcBef>
                <a:spcPts val="600"/>
              </a:spcBef>
              <a:spcAft>
                <a:spcPts val="0"/>
              </a:spcAft>
              <a:buClr>
                <a:schemeClr val="dk1"/>
              </a:buClr>
              <a:buSzPts val="1600"/>
              <a:buFont typeface="Calibri"/>
              <a:buChar char="−"/>
            </a:pPr>
            <a:r>
              <a:rPr lang="es-ES"/>
              <a:t>Revisar el documento con todos los stakeholders.</a:t>
            </a:r>
            <a:endParaRPr/>
          </a:p>
          <a:p>
            <a:pPr indent="-192087" lvl="1" marL="377825" rtl="0" algn="l">
              <a:lnSpc>
                <a:spcPct val="100000"/>
              </a:lnSpc>
              <a:spcBef>
                <a:spcPts val="600"/>
              </a:spcBef>
              <a:spcAft>
                <a:spcPts val="0"/>
              </a:spcAft>
              <a:buClr>
                <a:schemeClr val="dk1"/>
              </a:buClr>
              <a:buSzPts val="1600"/>
              <a:buFont typeface="Calibri"/>
              <a:buChar char="−"/>
            </a:pPr>
            <a:r>
              <a:rPr lang="es-ES"/>
              <a:t>Realizar ajustes según los comentarios recibidos.</a:t>
            </a:r>
            <a:endParaRPr/>
          </a:p>
          <a:p>
            <a:pPr indent="-192087" lvl="1" marL="377825" rtl="0" algn="l">
              <a:lnSpc>
                <a:spcPct val="100000"/>
              </a:lnSpc>
              <a:spcBef>
                <a:spcPts val="600"/>
              </a:spcBef>
              <a:spcAft>
                <a:spcPts val="0"/>
              </a:spcAft>
              <a:buClr>
                <a:schemeClr val="dk1"/>
              </a:buClr>
              <a:buSzPts val="1600"/>
              <a:buFont typeface="Calibri"/>
              <a:buChar char="−"/>
            </a:pPr>
            <a:r>
              <a:rPr lang="es-ES"/>
              <a:t>Obtener aprobación formal del documento.</a:t>
            </a:r>
            <a:endParaRPr/>
          </a:p>
          <a:p>
            <a:pPr indent="0" lvl="0" marL="0" rtl="0" algn="l">
              <a:lnSpc>
                <a:spcPct val="100000"/>
              </a:lnSpc>
              <a:spcBef>
                <a:spcPts val="1800"/>
              </a:spcBef>
              <a:spcAft>
                <a:spcPts val="0"/>
              </a:spcAft>
              <a:buClr>
                <a:schemeClr val="dk1"/>
              </a:buClr>
              <a:buSzPts val="1200"/>
              <a:buNone/>
            </a:pPr>
            <a:r>
              <a:rPr b="1" lang="es-ES"/>
              <a:t>Paso 12: Mantenimiento y Actualización</a:t>
            </a:r>
            <a:endParaRPr/>
          </a:p>
          <a:p>
            <a:pPr indent="-192087" lvl="1" marL="377825" rtl="0" algn="l">
              <a:lnSpc>
                <a:spcPct val="100000"/>
              </a:lnSpc>
              <a:spcBef>
                <a:spcPts val="600"/>
              </a:spcBef>
              <a:spcAft>
                <a:spcPts val="0"/>
              </a:spcAft>
              <a:buClr>
                <a:schemeClr val="dk1"/>
              </a:buClr>
              <a:buSzPts val="1600"/>
              <a:buFont typeface="Calibri"/>
              <a:buChar char="−"/>
            </a:pPr>
            <a:r>
              <a:rPr lang="es-ES"/>
              <a:t>Mantener el documento actualizado a medida que el proyecto avanza y se realizan cambios.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sp>
        <p:nvSpPr>
          <p:cNvPr id="146" name="Google Shape;146;p11"/>
          <p:cNvSpPr txBox="1"/>
          <p:nvPr>
            <p:ph idx="1" type="body"/>
          </p:nvPr>
        </p:nvSpPr>
        <p:spPr>
          <a:xfrm>
            <a:off x="468312" y="854534"/>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Documento de Visión del Sistema para el Desarrollo de Sistema de comercio electrónico   </a:t>
            </a:r>
            <a:r>
              <a:rPr lang="es-ES" sz="1400">
                <a:solidFill>
                  <a:srgbClr val="7F7F7F"/>
                </a:solidFill>
              </a:rPr>
              <a:t>[1/2]</a:t>
            </a:r>
            <a:endParaRPr>
              <a:solidFill>
                <a:srgbClr val="7F7F7F"/>
              </a:solidFill>
            </a:endParaRPr>
          </a:p>
        </p:txBody>
      </p:sp>
      <p:sp>
        <p:nvSpPr>
          <p:cNvPr id="147" name="Google Shape;147;p11"/>
          <p:cNvSpPr/>
          <p:nvPr/>
        </p:nvSpPr>
        <p:spPr>
          <a:xfrm>
            <a:off x="568065" y="1442232"/>
            <a:ext cx="3845994" cy="353943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600"/>
              <a:buFont typeface="Calibri"/>
              <a:buAutoNum type="arabicPeriod"/>
            </a:pPr>
            <a:r>
              <a:rPr b="0" i="0" lang="es-ES" sz="1600" u="none" cap="none" strike="noStrike">
                <a:solidFill>
                  <a:schemeClr val="dk1"/>
                </a:solidFill>
                <a:latin typeface="Calibri"/>
                <a:ea typeface="Calibri"/>
                <a:cs typeface="Calibri"/>
                <a:sym typeface="Calibri"/>
              </a:rPr>
              <a:t>Preparación Inicial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185738"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Participantes Clave:</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Equipo de Desarrollo</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Gerentes de Proyecto</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Stakeholders (inversores, directivos)</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Usuarios Finales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ts val="1440"/>
              <a:buFont typeface="Calibri"/>
              <a:buNone/>
            </a:pPr>
            <a:r>
              <a:t/>
            </a:r>
            <a:endParaRPr b="0" i="0" sz="1600" u="none" cap="none" strike="noStrike">
              <a:solidFill>
                <a:schemeClr val="dk1"/>
              </a:solidFill>
              <a:latin typeface="Calibri"/>
              <a:ea typeface="Calibri"/>
              <a:cs typeface="Calibri"/>
              <a:sym typeface="Calibri"/>
            </a:endParaRPr>
          </a:p>
          <a:p>
            <a:pPr indent="0" lvl="1" marL="185738"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Fuentes de Información:</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Estudios de mercado</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Entrevistas con usuarios potenciales</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Análisis de competidores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148" name="Google Shape;148;p11"/>
          <p:cNvSpPr/>
          <p:nvPr/>
        </p:nvSpPr>
        <p:spPr>
          <a:xfrm>
            <a:off x="4729942" y="1431255"/>
            <a:ext cx="3541222" cy="353943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2.	Objetivos y Alcance</a:t>
            </a:r>
            <a:endParaRPr b="0" i="0" sz="1400" u="none" cap="none" strike="noStrike">
              <a:solidFill>
                <a:srgbClr val="000000"/>
              </a:solidFill>
              <a:latin typeface="Arial"/>
              <a:ea typeface="Arial"/>
              <a:cs typeface="Arial"/>
              <a:sym typeface="Arial"/>
            </a:endParaRPr>
          </a:p>
          <a:p>
            <a:pPr indent="0" lvl="1" marL="185738"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1" marL="185738"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Objetivos:</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Ofrecer una plataforma de comercio electrónico segura, eficiente y fácil de usar.</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Maximizar la conversión de visitantes a compradores.</a:t>
            </a:r>
            <a:endParaRPr b="0" i="0" sz="1400" u="none" cap="none" strike="noStrike">
              <a:solidFill>
                <a:srgbClr val="000000"/>
              </a:solidFill>
              <a:latin typeface="Arial"/>
              <a:ea typeface="Arial"/>
              <a:cs typeface="Arial"/>
              <a:sym typeface="Arial"/>
            </a:endParaRPr>
          </a:p>
          <a:p>
            <a:pPr indent="0" lvl="1" marL="185738"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1" marL="185738"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Alcance:</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Desarrollo de una plataforma web y móvil.</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Integración con sistemas de pago y logística.</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sp>
        <p:nvSpPr>
          <p:cNvPr id="155" name="Google Shape;155;p12"/>
          <p:cNvSpPr/>
          <p:nvPr/>
        </p:nvSpPr>
        <p:spPr>
          <a:xfrm>
            <a:off x="468313" y="825282"/>
            <a:ext cx="7703098" cy="2062103"/>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600"/>
              <a:buFont typeface="Calibri"/>
              <a:buAutoNum type="arabicPeriod" startAt="3"/>
            </a:pPr>
            <a:r>
              <a:rPr b="0" i="0" lang="es-ES" sz="1600" u="none" cap="none" strike="noStrike">
                <a:solidFill>
                  <a:schemeClr val="dk1"/>
                </a:solidFill>
                <a:latin typeface="Calibri"/>
                <a:ea typeface="Calibri"/>
                <a:cs typeface="Calibri"/>
                <a:sym typeface="Calibri"/>
              </a:rPr>
              <a:t>Stakeholders y Usuarios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Inversores: Interesados en el ROI.</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Directivos: Interesados en el cumplimiento de objetivos de negocio.</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Usuarios Finales: Compradores y vendedores en la plataforma.</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Equipo de Desarrollo: Desarrolladores, diseñadores, testers.</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Proveedores de Logística: Empresas de envío y entrega.</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ts val="1440"/>
              <a:buFont typeface="Calibri"/>
              <a:buNone/>
            </a:pPr>
            <a:r>
              <a:t/>
            </a:r>
            <a:endParaRPr b="0" i="0" sz="1600" u="none" cap="none" strike="noStrike">
              <a:solidFill>
                <a:schemeClr val="dk1"/>
              </a:solidFill>
              <a:latin typeface="Calibri"/>
              <a:ea typeface="Calibri"/>
              <a:cs typeface="Calibri"/>
              <a:sym typeface="Calibri"/>
            </a:endParaRPr>
          </a:p>
        </p:txBody>
      </p:sp>
      <p:sp>
        <p:nvSpPr>
          <p:cNvPr id="156" name="Google Shape;156;p12"/>
          <p:cNvSpPr/>
          <p:nvPr/>
        </p:nvSpPr>
        <p:spPr>
          <a:xfrm>
            <a:off x="468325" y="3145074"/>
            <a:ext cx="7703100" cy="136290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600"/>
              <a:buFont typeface="Calibri"/>
              <a:buAutoNum type="arabicPeriod" startAt="4"/>
            </a:pPr>
            <a:r>
              <a:rPr b="0" i="0" lang="es-ES" sz="1600" u="none" cap="none" strike="noStrike">
                <a:solidFill>
                  <a:schemeClr val="dk1"/>
                </a:solidFill>
                <a:latin typeface="Calibri"/>
                <a:ea typeface="Calibri"/>
                <a:cs typeface="Calibri"/>
                <a:sym typeface="Calibri"/>
              </a:rPr>
              <a:t>Necesidades del Negocio</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Aumentar las ventas en línea en un 20% en el primer año.</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Reducir el abandono del carrito de compras en un 10%.</a:t>
            </a:r>
            <a:endParaRPr b="0" i="0" sz="1600" u="none" cap="none" strike="noStrike">
              <a:solidFill>
                <a:schemeClr val="dk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sp>
        <p:nvSpPr>
          <p:cNvPr id="163" name="Google Shape;163;p13"/>
          <p:cNvSpPr/>
          <p:nvPr/>
        </p:nvSpPr>
        <p:spPr>
          <a:xfrm>
            <a:off x="684444" y="1041137"/>
            <a:ext cx="3887556" cy="2800767"/>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600"/>
              <a:buFont typeface="Calibri"/>
              <a:buAutoNum type="arabicPeriod" startAt="5"/>
            </a:pPr>
            <a:r>
              <a:rPr b="0" i="0" lang="es-ES" sz="1600" u="none" cap="none" strike="noStrike">
                <a:solidFill>
                  <a:schemeClr val="dk1"/>
                </a:solidFill>
                <a:latin typeface="Calibri"/>
                <a:ea typeface="Calibri"/>
                <a:cs typeface="Calibri"/>
                <a:sym typeface="Calibri"/>
              </a:rPr>
              <a:t>Características y Funcionalidades</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Búsqueda Avanzada: Para encontrar productos fácilmente.</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Sistema de Pago Seguro: Para realizar transacciones seguras.</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Gestión de Inventario: Para vendedores.</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Recomendaciones Personalizadas: Basadas en el historial de compras.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ts val="1440"/>
              <a:buFont typeface="Calibri"/>
              <a:buNone/>
            </a:pPr>
            <a:r>
              <a:t/>
            </a:r>
            <a:endParaRPr b="0" i="0" sz="1600" u="none" cap="none" strike="noStrike">
              <a:solidFill>
                <a:schemeClr val="dk1"/>
              </a:solidFill>
              <a:latin typeface="Calibri"/>
              <a:ea typeface="Calibri"/>
              <a:cs typeface="Calibri"/>
              <a:sym typeface="Calibri"/>
            </a:endParaRPr>
          </a:p>
        </p:txBody>
      </p:sp>
      <p:sp>
        <p:nvSpPr>
          <p:cNvPr id="164" name="Google Shape;164;p13"/>
          <p:cNvSpPr/>
          <p:nvPr/>
        </p:nvSpPr>
        <p:spPr>
          <a:xfrm>
            <a:off x="4788132" y="1041137"/>
            <a:ext cx="3782290" cy="2800767"/>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600"/>
              <a:buFont typeface="Calibri"/>
              <a:buAutoNum type="arabicPeriod" startAt="6"/>
            </a:pPr>
            <a:r>
              <a:rPr b="0" i="0" lang="es-ES" sz="1600" u="none" cap="none" strike="noStrike">
                <a:solidFill>
                  <a:schemeClr val="dk1"/>
                </a:solidFill>
                <a:latin typeface="Calibri"/>
                <a:ea typeface="Calibri"/>
                <a:cs typeface="Calibri"/>
                <a:sym typeface="Calibri"/>
              </a:rPr>
              <a:t>Restricciones y Requisitos</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Tecnológicos: Debe ser escalable y compatible con diferentes dispositivos.</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Legales: Cumplimiento de leyes de protección de datos y comercio electrónico.</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De Negocio: Integración con proveedores de logística y sistemas de pago existentes.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VISIÓN DEL SISTEMA</a:t>
            </a:r>
            <a:endParaRPr/>
          </a:p>
        </p:txBody>
      </p:sp>
      <p:sp>
        <p:nvSpPr>
          <p:cNvPr id="171" name="Google Shape;171;p14"/>
          <p:cNvSpPr/>
          <p:nvPr/>
        </p:nvSpPr>
        <p:spPr>
          <a:xfrm>
            <a:off x="468313" y="914044"/>
            <a:ext cx="7969105" cy="4031873"/>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7.	Criterios de Éxito</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Tasa de conversión de al menos el 3%.</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Calificación de usuario de 4 estrellas o más.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ts val="144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8.	Escenarios de Uso</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Escenario 1: Un usuario busca un producto y lo añade al carrito.</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Escenario 2: Un vendedor actualiza el inventario de su tienda.</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ts val="144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9.	Arquitectura de Alto Nivel</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Frontend desarrollado en React.</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Backend en Node.js.</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Base de datos en MongoDB.</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ts val="144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10. Revisión y Aprobación</a:t>
            </a:r>
            <a:endParaRPr b="0" i="0" sz="1400" u="none" cap="none" strike="noStrike">
              <a:solidFill>
                <a:srgbClr val="000000"/>
              </a:solidFill>
              <a:latin typeface="Arial"/>
              <a:ea typeface="Arial"/>
              <a:cs typeface="Arial"/>
              <a:sym typeface="Arial"/>
            </a:endParaRPr>
          </a:p>
          <a:p>
            <a:pPr indent="-91440" lvl="1" marL="457200" marR="0" rtl="0" algn="l">
              <a:lnSpc>
                <a:spcPct val="100000"/>
              </a:lnSpc>
              <a:spcBef>
                <a:spcPts val="0"/>
              </a:spcBef>
              <a:spcAft>
                <a:spcPts val="0"/>
              </a:spcAft>
              <a:buClr>
                <a:schemeClr val="dk1"/>
              </a:buClr>
              <a:buSzPts val="1440"/>
              <a:buFont typeface="Calibri"/>
              <a:buChar char="−"/>
            </a:pPr>
            <a:r>
              <a:rPr b="0" i="0" lang="es-ES" sz="1600" u="none" cap="none" strike="noStrike">
                <a:solidFill>
                  <a:schemeClr val="dk1"/>
                </a:solidFill>
                <a:latin typeface="Calibri"/>
                <a:ea typeface="Calibri"/>
                <a:cs typeface="Calibri"/>
                <a:sym typeface="Calibri"/>
              </a:rPr>
              <a:t>Este documento debe ser revisado y aprobado por todos los stakeholders clave antes de proceder con el desarrollo.</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5"/>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178" name="Google Shape;178;p15"/>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ESPECIFICACIÓN DE REQUISITOS DEL SISTEMA</a:t>
            </a:r>
            <a:endParaRPr b="1" i="0" sz="16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6"/>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pic>
        <p:nvPicPr>
          <p:cNvPr id="185" name="Google Shape;185;p16"/>
          <p:cNvPicPr preferRelativeResize="0"/>
          <p:nvPr>
            <p:ph idx="2" type="pic"/>
          </p:nvPr>
        </p:nvPicPr>
        <p:blipFill rotWithShape="1">
          <a:blip r:embed="rId3">
            <a:alphaModFix/>
          </a:blip>
          <a:srcRect b="15915" l="0" r="0" t="15915"/>
          <a:stretch/>
        </p:blipFill>
        <p:spPr>
          <a:xfrm>
            <a:off x="808113" y="2951018"/>
            <a:ext cx="7527774" cy="2195768"/>
          </a:xfrm>
          <a:prstGeom prst="rect">
            <a:avLst/>
          </a:prstGeom>
          <a:noFill/>
          <a:ln>
            <a:noFill/>
          </a:ln>
        </p:spPr>
      </p:pic>
      <p:sp>
        <p:nvSpPr>
          <p:cNvPr id="186" name="Google Shape;186;p16"/>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vital invertir tiempo y esfuerzo en la etapa de recolección y documentación de requisitos.</a:t>
            </a:r>
            <a:endParaRPr/>
          </a:p>
          <a:p>
            <a:pPr indent="-266700" lvl="0" marL="266700" rtl="0" algn="l">
              <a:lnSpc>
                <a:spcPct val="100000"/>
              </a:lnSpc>
              <a:spcBef>
                <a:spcPts val="1200"/>
              </a:spcBef>
              <a:spcAft>
                <a:spcPts val="0"/>
              </a:spcAft>
              <a:buClr>
                <a:schemeClr val="dk1"/>
              </a:buClr>
              <a:buSzPts val="1200"/>
              <a:buChar char="❑"/>
            </a:pPr>
            <a:r>
              <a:rPr lang="es-ES"/>
              <a:t>A menudo, los proyectos fracasan o enfrentan desafíos porque los requisitos no estaban claros o completos desde el inicio.</a:t>
            </a:r>
            <a:endParaRPr/>
          </a:p>
          <a:p>
            <a:pPr indent="-266700" lvl="0" marL="266700" rtl="0" algn="l">
              <a:lnSpc>
                <a:spcPct val="100000"/>
              </a:lnSpc>
              <a:spcBef>
                <a:spcPts val="1200"/>
              </a:spcBef>
              <a:spcAft>
                <a:spcPts val="0"/>
              </a:spcAft>
              <a:buClr>
                <a:schemeClr val="dk1"/>
              </a:buClr>
              <a:buSzPts val="1200"/>
              <a:buChar char="❑"/>
            </a:pPr>
            <a:r>
              <a:rPr lang="es-ES"/>
              <a:t>Este es un área en la que “apresurarse lentamente” realmente paga dividendos a largo plazo.</a:t>
            </a:r>
            <a:endParaRPr/>
          </a:p>
        </p:txBody>
      </p:sp>
      <p:sp>
        <p:nvSpPr>
          <p:cNvPr id="187" name="Google Shape;187;p16"/>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ESPECIFICACIÓN DE REQUISITOS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pic>
        <p:nvPicPr>
          <p:cNvPr id="194" name="Google Shape;194;p17"/>
          <p:cNvPicPr preferRelativeResize="0"/>
          <p:nvPr>
            <p:ph idx="2" type="pic"/>
          </p:nvPr>
        </p:nvPicPr>
        <p:blipFill rotWithShape="1">
          <a:blip r:embed="rId3">
            <a:alphaModFix/>
          </a:blip>
          <a:srcRect b="0" l="19338" r="19339" t="0"/>
          <a:stretch/>
        </p:blipFill>
        <p:spPr>
          <a:xfrm>
            <a:off x="5486399" y="1445395"/>
            <a:ext cx="3189288" cy="3468818"/>
          </a:xfrm>
          <a:prstGeom prst="rect">
            <a:avLst/>
          </a:prstGeom>
          <a:noFill/>
          <a:ln>
            <a:noFill/>
          </a:ln>
        </p:spPr>
      </p:pic>
      <p:sp>
        <p:nvSpPr>
          <p:cNvPr id="195" name="Google Shape;195;p17"/>
          <p:cNvSpPr txBox="1"/>
          <p:nvPr>
            <p:ph idx="1" type="body"/>
          </p:nvPr>
        </p:nvSpPr>
        <p:spPr>
          <a:xfrm>
            <a:off x="468313" y="727870"/>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CARACTERÍSTICAS [1/3]</a:t>
            </a:r>
            <a:endParaRPr i="1" sz="1400">
              <a:solidFill>
                <a:srgbClr val="7F7F7F"/>
              </a:solidFill>
            </a:endParaRPr>
          </a:p>
        </p:txBody>
      </p:sp>
      <p:sp>
        <p:nvSpPr>
          <p:cNvPr id="196" name="Google Shape;196;p17"/>
          <p:cNvSpPr txBox="1"/>
          <p:nvPr>
            <p:ph idx="4" type="body"/>
          </p:nvPr>
        </p:nvSpPr>
        <p:spPr>
          <a:xfrm>
            <a:off x="468313" y="1081882"/>
            <a:ext cx="4735454" cy="4096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200"/>
              <a:buNone/>
            </a:pPr>
            <a:r>
              <a:rPr lang="es-ES"/>
              <a:t>Una buena especificación de requisitos de software es crucial para el éxito de cualquier proyecto de desarrollo de software.</a:t>
            </a:r>
            <a:endParaRPr/>
          </a:p>
          <a:p>
            <a:pPr indent="0" lvl="0" marL="0" rtl="0" algn="just">
              <a:lnSpc>
                <a:spcPct val="100000"/>
              </a:lnSpc>
              <a:spcBef>
                <a:spcPts val="1200"/>
              </a:spcBef>
              <a:spcAft>
                <a:spcPts val="0"/>
              </a:spcAft>
              <a:buClr>
                <a:schemeClr val="dk1"/>
              </a:buClr>
              <a:buSzPts val="1200"/>
              <a:buNone/>
            </a:pPr>
            <a:r>
              <a:rPr lang="es-ES"/>
              <a:t>Características que debería cumplir una especificación de requisitos sólida:</a:t>
            </a:r>
            <a:endParaRPr/>
          </a:p>
          <a:p>
            <a:pPr indent="0" lvl="0" marL="0" rtl="0" algn="just">
              <a:lnSpc>
                <a:spcPct val="100000"/>
              </a:lnSpc>
              <a:spcBef>
                <a:spcPts val="600"/>
              </a:spcBef>
              <a:spcAft>
                <a:spcPts val="0"/>
              </a:spcAft>
              <a:buClr>
                <a:schemeClr val="dk1"/>
              </a:buClr>
              <a:buSzPts val="1200"/>
              <a:buNone/>
            </a:pPr>
            <a:r>
              <a:rPr b="1" lang="es-ES"/>
              <a:t>Claridad y Precisión</a:t>
            </a:r>
            <a:endParaRPr/>
          </a:p>
          <a:p>
            <a:pPr indent="-173038" lvl="0" marL="266700" rtl="0" algn="just">
              <a:lnSpc>
                <a:spcPct val="100000"/>
              </a:lnSpc>
              <a:spcBef>
                <a:spcPts val="600"/>
              </a:spcBef>
              <a:spcAft>
                <a:spcPts val="0"/>
              </a:spcAft>
              <a:buClr>
                <a:schemeClr val="dk1"/>
              </a:buClr>
              <a:buSzPts val="1200"/>
              <a:buFont typeface="Calibri"/>
              <a:buChar char="Ͱ"/>
            </a:pPr>
            <a:r>
              <a:rPr lang="es-ES"/>
              <a:t>Evita la jerga técnica cuando no es necesaria y asegúrate de que todos los stakeholders puedan entender la especificación.</a:t>
            </a:r>
            <a:endParaRPr/>
          </a:p>
          <a:p>
            <a:pPr indent="-173038" lvl="0" marL="266700" rtl="0" algn="just">
              <a:lnSpc>
                <a:spcPct val="100000"/>
              </a:lnSpc>
              <a:spcBef>
                <a:spcPts val="600"/>
              </a:spcBef>
              <a:spcAft>
                <a:spcPts val="0"/>
              </a:spcAft>
              <a:buClr>
                <a:schemeClr val="dk1"/>
              </a:buClr>
              <a:buSzPts val="1200"/>
              <a:buFont typeface="Calibri"/>
              <a:buChar char="Ͱ"/>
            </a:pPr>
            <a:r>
              <a:rPr lang="es-ES"/>
              <a:t>Cada requisito debe tener una única interpretación para evitar ambigüedades.</a:t>
            </a:r>
            <a:endParaRPr/>
          </a:p>
          <a:p>
            <a:pPr indent="0" lvl="0" marL="0" rtl="0" algn="just">
              <a:lnSpc>
                <a:spcPct val="100000"/>
              </a:lnSpc>
              <a:spcBef>
                <a:spcPts val="600"/>
              </a:spcBef>
              <a:spcAft>
                <a:spcPts val="0"/>
              </a:spcAft>
              <a:buClr>
                <a:schemeClr val="dk1"/>
              </a:buClr>
              <a:buSzPts val="1200"/>
              <a:buNone/>
            </a:pPr>
            <a:r>
              <a:rPr b="1" lang="es-ES"/>
              <a:t>Completitud y Coherencia</a:t>
            </a:r>
            <a:endParaRPr/>
          </a:p>
          <a:p>
            <a:pPr indent="-173038" lvl="0" marL="266700" rtl="0" algn="just">
              <a:lnSpc>
                <a:spcPct val="100000"/>
              </a:lnSpc>
              <a:spcBef>
                <a:spcPts val="600"/>
              </a:spcBef>
              <a:spcAft>
                <a:spcPts val="0"/>
              </a:spcAft>
              <a:buClr>
                <a:schemeClr val="dk1"/>
              </a:buClr>
              <a:buSzPts val="1200"/>
              <a:buFont typeface="Calibri"/>
              <a:buChar char="Ͱ"/>
            </a:pPr>
            <a:r>
              <a:rPr lang="es-ES"/>
              <a:t>Todos los requisitos deben estar incluidos.</a:t>
            </a:r>
            <a:endParaRPr/>
          </a:p>
          <a:p>
            <a:pPr indent="-173038" lvl="0" marL="266700" rtl="0" algn="just">
              <a:lnSpc>
                <a:spcPct val="100000"/>
              </a:lnSpc>
              <a:spcBef>
                <a:spcPts val="600"/>
              </a:spcBef>
              <a:spcAft>
                <a:spcPts val="0"/>
              </a:spcAft>
              <a:buClr>
                <a:schemeClr val="dk1"/>
              </a:buClr>
              <a:buSzPts val="1200"/>
              <a:buFont typeface="Calibri"/>
              <a:buChar char="Ͱ"/>
            </a:pPr>
            <a:r>
              <a:rPr lang="es-ES"/>
              <a:t>Asegúrate de que los requisitos no se contradigan.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sp>
        <p:nvSpPr>
          <p:cNvPr id="203" name="Google Shape;203;p1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CARACTERÍSTICAS [2/3]</a:t>
            </a:r>
            <a:endParaRPr i="1" sz="1400">
              <a:solidFill>
                <a:srgbClr val="7F7F7F"/>
              </a:solidFill>
            </a:endParaRPr>
          </a:p>
        </p:txBody>
      </p:sp>
      <p:sp>
        <p:nvSpPr>
          <p:cNvPr id="204" name="Google Shape;204;p18"/>
          <p:cNvSpPr txBox="1"/>
          <p:nvPr>
            <p:ph idx="4" type="body"/>
          </p:nvPr>
        </p:nvSpPr>
        <p:spPr>
          <a:xfrm>
            <a:off x="468313" y="1177927"/>
            <a:ext cx="8085483" cy="40968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200"/>
              <a:buNone/>
            </a:pPr>
            <a:r>
              <a:rPr b="1" lang="es-ES"/>
              <a:t>Validación y Verificabilidad</a:t>
            </a:r>
            <a:endParaRPr/>
          </a:p>
          <a:p>
            <a:pPr indent="-173038" lvl="0" marL="266700" rtl="0" algn="just">
              <a:lnSpc>
                <a:spcPct val="100000"/>
              </a:lnSpc>
              <a:spcBef>
                <a:spcPts val="600"/>
              </a:spcBef>
              <a:spcAft>
                <a:spcPts val="0"/>
              </a:spcAft>
              <a:buClr>
                <a:schemeClr val="dk1"/>
              </a:buClr>
              <a:buSzPts val="1200"/>
              <a:buFont typeface="Calibri"/>
              <a:buChar char="Ͱ"/>
            </a:pPr>
            <a:r>
              <a:rPr lang="es-ES"/>
              <a:t>Cada requisito podrá ser probado para confirmar que se ha implementado correctamente.</a:t>
            </a:r>
            <a:endParaRPr/>
          </a:p>
          <a:p>
            <a:pPr indent="-173038" lvl="0" marL="266700" rtl="0" algn="just">
              <a:lnSpc>
                <a:spcPct val="100000"/>
              </a:lnSpc>
              <a:spcBef>
                <a:spcPts val="600"/>
              </a:spcBef>
              <a:spcAft>
                <a:spcPts val="0"/>
              </a:spcAft>
              <a:buClr>
                <a:schemeClr val="dk1"/>
              </a:buClr>
              <a:buSzPts val="1200"/>
              <a:buFont typeface="Calibri"/>
              <a:buChar char="Ͱ"/>
            </a:pPr>
            <a:r>
              <a:rPr lang="es-ES"/>
              <a:t>Los requisitos deben ser alcanzables con la tecnología y los recursos disponibles.</a:t>
            </a:r>
            <a:endParaRPr/>
          </a:p>
          <a:p>
            <a:pPr indent="-96838" lvl="0" marL="266700" rtl="0" algn="just">
              <a:lnSpc>
                <a:spcPct val="100000"/>
              </a:lnSpc>
              <a:spcBef>
                <a:spcPts val="600"/>
              </a:spcBef>
              <a:spcAft>
                <a:spcPts val="0"/>
              </a:spcAft>
              <a:buClr>
                <a:schemeClr val="dk1"/>
              </a:buClr>
              <a:buSzPts val="1200"/>
              <a:buFont typeface="Calibri"/>
              <a:buNone/>
            </a:pPr>
            <a:r>
              <a:t/>
            </a:r>
            <a:endParaRPr/>
          </a:p>
          <a:p>
            <a:pPr indent="0" lvl="0" marL="0" rtl="0" algn="just">
              <a:lnSpc>
                <a:spcPct val="100000"/>
              </a:lnSpc>
              <a:spcBef>
                <a:spcPts val="600"/>
              </a:spcBef>
              <a:spcAft>
                <a:spcPts val="0"/>
              </a:spcAft>
              <a:buClr>
                <a:schemeClr val="dk1"/>
              </a:buClr>
              <a:buSzPts val="1200"/>
              <a:buNone/>
            </a:pPr>
            <a:r>
              <a:rPr b="1" lang="es-ES"/>
              <a:t>Priorización y Negociabilidad</a:t>
            </a:r>
            <a:endParaRPr/>
          </a:p>
          <a:p>
            <a:pPr indent="-173038" lvl="0" marL="266700" rtl="0" algn="just">
              <a:lnSpc>
                <a:spcPct val="100000"/>
              </a:lnSpc>
              <a:spcBef>
                <a:spcPts val="600"/>
              </a:spcBef>
              <a:spcAft>
                <a:spcPts val="0"/>
              </a:spcAft>
              <a:buClr>
                <a:schemeClr val="dk1"/>
              </a:buClr>
              <a:buSzPts val="1200"/>
              <a:buFont typeface="Calibri"/>
              <a:buChar char="Ͱ"/>
            </a:pPr>
            <a:r>
              <a:rPr lang="es-ES"/>
              <a:t>Identifica cuáles son los requisitos más críticos para el negocio o la operación.</a:t>
            </a:r>
            <a:endParaRPr/>
          </a:p>
          <a:p>
            <a:pPr indent="-173038" lvl="0" marL="266700" rtl="0" algn="just">
              <a:lnSpc>
                <a:spcPct val="100000"/>
              </a:lnSpc>
              <a:spcBef>
                <a:spcPts val="600"/>
              </a:spcBef>
              <a:spcAft>
                <a:spcPts val="0"/>
              </a:spcAft>
              <a:buClr>
                <a:schemeClr val="dk1"/>
              </a:buClr>
              <a:buSzPts val="1200"/>
              <a:buFont typeface="Calibri"/>
              <a:buChar char="Ͱ"/>
            </a:pPr>
            <a:r>
              <a:rPr lang="es-ES"/>
              <a:t>Debe haber un mecanismo para actualizar los requisitos si es necesario, especialmente en métodos ágiles donde el cambio es una constante.</a:t>
            </a:r>
            <a:endParaRPr/>
          </a:p>
          <a:p>
            <a:pPr indent="-96838" lvl="0" marL="266700" rtl="0" algn="just">
              <a:lnSpc>
                <a:spcPct val="100000"/>
              </a:lnSpc>
              <a:spcBef>
                <a:spcPts val="600"/>
              </a:spcBef>
              <a:spcAft>
                <a:spcPts val="0"/>
              </a:spcAft>
              <a:buClr>
                <a:schemeClr val="dk1"/>
              </a:buClr>
              <a:buSzPts val="1200"/>
              <a:buFont typeface="Calibri"/>
              <a:buNone/>
            </a:pPr>
            <a:r>
              <a:t/>
            </a:r>
            <a:endParaRPr/>
          </a:p>
          <a:p>
            <a:pPr indent="0" lvl="0" marL="0" marR="0" rtl="0" algn="just">
              <a:lnSpc>
                <a:spcPct val="100000"/>
              </a:lnSpc>
              <a:spcBef>
                <a:spcPts val="600"/>
              </a:spcBef>
              <a:spcAft>
                <a:spcPts val="0"/>
              </a:spcAft>
              <a:buClr>
                <a:srgbClr val="000000"/>
              </a:buClr>
              <a:buSzPts val="1200"/>
              <a:buFont typeface="Noto Sans Symbols"/>
              <a:buNone/>
            </a:pPr>
            <a:r>
              <a:rPr b="1" i="0" lang="es-ES" u="none" cap="none" strike="noStrike">
                <a:solidFill>
                  <a:srgbClr val="000000"/>
                </a:solidFill>
                <a:latin typeface="Calibri"/>
                <a:ea typeface="Calibri"/>
                <a:cs typeface="Calibri"/>
                <a:sym typeface="Calibri"/>
              </a:rPr>
              <a:t>Involucramiento de Stakeholders</a:t>
            </a:r>
            <a:endParaRPr b="1" i="0" u="none" cap="none" strike="noStrike">
              <a:solidFill>
                <a:srgbClr val="000000"/>
              </a:solidFill>
              <a:latin typeface="Calibri"/>
              <a:ea typeface="Calibri"/>
              <a:cs typeface="Calibri"/>
              <a:sym typeface="Calibri"/>
            </a:endParaRPr>
          </a:p>
          <a:p>
            <a:pPr indent="-173038" lvl="0" marL="266700" marR="0" rtl="0" algn="just">
              <a:lnSpc>
                <a:spcPct val="100000"/>
              </a:lnSpc>
              <a:spcBef>
                <a:spcPts val="600"/>
              </a:spcBef>
              <a:spcAft>
                <a:spcPts val="0"/>
              </a:spcAft>
              <a:buClr>
                <a:srgbClr val="000000"/>
              </a:buClr>
              <a:buSzPts val="1200"/>
              <a:buFont typeface="Calibri"/>
              <a:buChar char="Ͱ"/>
            </a:pPr>
            <a:r>
              <a:rPr b="0" i="0" lang="es-ES" u="none" cap="none" strike="noStrike">
                <a:solidFill>
                  <a:srgbClr val="000000"/>
                </a:solidFill>
                <a:latin typeface="Calibri"/>
                <a:ea typeface="Calibri"/>
                <a:cs typeface="Calibri"/>
                <a:sym typeface="Calibri"/>
              </a:rPr>
              <a:t>Los requisitos deben reflejar las necesidades reales del negocio y del usuario final.</a:t>
            </a:r>
            <a:endParaRPr/>
          </a:p>
          <a:p>
            <a:pPr indent="-173038" lvl="0" marL="266700" marR="0" rtl="0" algn="just">
              <a:lnSpc>
                <a:spcPct val="100000"/>
              </a:lnSpc>
              <a:spcBef>
                <a:spcPts val="600"/>
              </a:spcBef>
              <a:spcAft>
                <a:spcPts val="0"/>
              </a:spcAft>
              <a:buClr>
                <a:srgbClr val="000000"/>
              </a:buClr>
              <a:buSzPts val="1200"/>
              <a:buFont typeface="Calibri"/>
              <a:buChar char="Ͱ"/>
            </a:pPr>
            <a:r>
              <a:rPr b="0" i="0" lang="es-ES" u="none" cap="none" strike="noStrike">
                <a:solidFill>
                  <a:srgbClr val="000000"/>
                </a:solidFill>
                <a:latin typeface="Calibri"/>
                <a:ea typeface="Calibri"/>
                <a:cs typeface="Calibri"/>
                <a:sym typeface="Calibri"/>
              </a:rPr>
              <a:t>Todos los stakeholders relevantes deben tener la oportunidad de revisar y aprobar los requisitos.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pic>
        <p:nvPicPr>
          <p:cNvPr id="211" name="Google Shape;211;p19"/>
          <p:cNvPicPr preferRelativeResize="0"/>
          <p:nvPr>
            <p:ph idx="2" type="pic"/>
          </p:nvPr>
        </p:nvPicPr>
        <p:blipFill rotWithShape="1">
          <a:blip r:embed="rId3">
            <a:alphaModFix/>
          </a:blip>
          <a:srcRect b="0" l="19381" r="19382" t="0"/>
          <a:stretch/>
        </p:blipFill>
        <p:spPr>
          <a:xfrm>
            <a:off x="5402680" y="1388225"/>
            <a:ext cx="3131692" cy="3406174"/>
          </a:xfrm>
          <a:prstGeom prst="rect">
            <a:avLst/>
          </a:prstGeom>
          <a:noFill/>
          <a:ln>
            <a:noFill/>
          </a:ln>
        </p:spPr>
      </p:pic>
      <p:sp>
        <p:nvSpPr>
          <p:cNvPr id="212" name="Google Shape;212;p1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CARACTERÍSTICAS [3/3]</a:t>
            </a:r>
            <a:endParaRPr i="1" sz="1400">
              <a:solidFill>
                <a:srgbClr val="7F7F7F"/>
              </a:solidFill>
            </a:endParaRPr>
          </a:p>
        </p:txBody>
      </p:sp>
      <p:sp>
        <p:nvSpPr>
          <p:cNvPr id="213" name="Google Shape;213;p19"/>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None/>
            </a:pPr>
            <a:r>
              <a:rPr b="1" lang="es-ES"/>
              <a:t>Trazabilidad y Modularidad</a:t>
            </a:r>
            <a:endParaRPr/>
          </a:p>
          <a:p>
            <a:pPr indent="-173038" lvl="0" marL="266700" rtl="0" algn="l">
              <a:lnSpc>
                <a:spcPct val="100000"/>
              </a:lnSpc>
              <a:spcBef>
                <a:spcPts val="600"/>
              </a:spcBef>
              <a:spcAft>
                <a:spcPts val="0"/>
              </a:spcAft>
              <a:buClr>
                <a:schemeClr val="dk1"/>
              </a:buClr>
              <a:buSzPts val="1200"/>
              <a:buFont typeface="Calibri"/>
              <a:buChar char="Ͱ"/>
            </a:pPr>
            <a:r>
              <a:rPr lang="es-ES"/>
              <a:t>Deberías ser capaz de rastrear cada requisito a través de todo el ciclo de desarrollo.</a:t>
            </a:r>
            <a:endParaRPr/>
          </a:p>
          <a:p>
            <a:pPr indent="-173038" lvl="0" marL="266700" rtl="0" algn="l">
              <a:lnSpc>
                <a:spcPct val="100000"/>
              </a:lnSpc>
              <a:spcBef>
                <a:spcPts val="600"/>
              </a:spcBef>
              <a:spcAft>
                <a:spcPts val="0"/>
              </a:spcAft>
              <a:buClr>
                <a:schemeClr val="dk1"/>
              </a:buClr>
              <a:buSzPts val="1200"/>
              <a:buFont typeface="Calibri"/>
              <a:buChar char="Ͱ"/>
            </a:pPr>
            <a:r>
              <a:rPr lang="es-ES"/>
              <a:t>Los requisitos deben ser organizados de una manera que tenga sentido, a menudo en módulos o secciones relacionadas.</a:t>
            </a:r>
            <a:endParaRPr/>
          </a:p>
          <a:p>
            <a:pPr indent="0" lvl="0" marL="0" rtl="0" algn="l">
              <a:lnSpc>
                <a:spcPct val="100000"/>
              </a:lnSpc>
              <a:spcBef>
                <a:spcPts val="600"/>
              </a:spcBef>
              <a:spcAft>
                <a:spcPts val="0"/>
              </a:spcAft>
              <a:buClr>
                <a:schemeClr val="dk1"/>
              </a:buClr>
              <a:buSzPts val="1200"/>
              <a:buNone/>
            </a:pPr>
            <a:r>
              <a:rPr b="1" lang="es-ES"/>
              <a:t>Documentación</a:t>
            </a:r>
            <a:endParaRPr/>
          </a:p>
          <a:p>
            <a:pPr indent="-173038" lvl="0" marL="266700" rtl="0" algn="l">
              <a:lnSpc>
                <a:spcPct val="100000"/>
              </a:lnSpc>
              <a:spcBef>
                <a:spcPts val="600"/>
              </a:spcBef>
              <a:spcAft>
                <a:spcPts val="0"/>
              </a:spcAft>
              <a:buClr>
                <a:schemeClr val="dk1"/>
              </a:buClr>
              <a:buSzPts val="1200"/>
              <a:buFont typeface="Calibri"/>
              <a:buChar char="Ͱ"/>
            </a:pPr>
            <a:r>
              <a:rPr lang="es-ES"/>
              <a:t>Utiliza plantillas o estándares como el IEEE SRS para darle estructura al documento.</a:t>
            </a:r>
            <a:endParaRPr/>
          </a:p>
          <a:p>
            <a:pPr indent="-173038" lvl="0" marL="266700" rtl="0" algn="l">
              <a:lnSpc>
                <a:spcPct val="100000"/>
              </a:lnSpc>
              <a:spcBef>
                <a:spcPts val="600"/>
              </a:spcBef>
              <a:spcAft>
                <a:spcPts val="0"/>
              </a:spcAft>
              <a:buClr>
                <a:schemeClr val="dk1"/>
              </a:buClr>
              <a:buSzPts val="1200"/>
              <a:buFont typeface="Calibri"/>
              <a:buChar char="Ͱ"/>
            </a:pPr>
            <a:r>
              <a:rPr lang="es-ES"/>
              <a:t>Proporciona suficiente detalle sin ser abrumadoramente largo o complejo.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20"/>
          <p:cNvPicPr preferRelativeResize="0"/>
          <p:nvPr>
            <p:ph idx="2" type="pic"/>
          </p:nvPr>
        </p:nvPicPr>
        <p:blipFill rotWithShape="1">
          <a:blip r:embed="rId3">
            <a:alphaModFix/>
          </a:blip>
          <a:srcRect b="0" l="19338" r="19339" t="0"/>
          <a:stretch/>
        </p:blipFill>
        <p:spPr>
          <a:xfrm>
            <a:off x="5334564" y="1177927"/>
            <a:ext cx="3208120" cy="3489301"/>
          </a:xfrm>
          <a:prstGeom prst="rect">
            <a:avLst/>
          </a:prstGeom>
          <a:noFill/>
          <a:ln>
            <a:noFill/>
          </a:ln>
        </p:spPr>
      </p:pic>
      <p:sp>
        <p:nvSpPr>
          <p:cNvPr id="220" name="Google Shape;220;p2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ESTÁNDARES</a:t>
            </a:r>
            <a:endParaRPr/>
          </a:p>
        </p:txBody>
      </p:sp>
      <p:sp>
        <p:nvSpPr>
          <p:cNvPr id="221" name="Google Shape;221;p2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sp>
        <p:nvSpPr>
          <p:cNvPr id="222" name="Google Shape;222;p20"/>
          <p:cNvSpPr txBox="1"/>
          <p:nvPr>
            <p:ph idx="4" type="body"/>
          </p:nvPr>
        </p:nvSpPr>
        <p:spPr>
          <a:xfrm>
            <a:off x="468313" y="1177927"/>
            <a:ext cx="4519323"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IEEE 830-1998</a:t>
            </a:r>
            <a:r>
              <a:rPr lang="es-ES"/>
              <a:t>: Este es uno de los estándares más conocidos para la especificación de requisitos de software. Ofrece una plantilla que puedes seguir para asegurarte de que has cubierto todos.</a:t>
            </a:r>
            <a:endParaRPr/>
          </a:p>
          <a:p>
            <a:pPr indent="-266700" lvl="0" marL="266700" rtl="0" algn="l">
              <a:lnSpc>
                <a:spcPct val="100000"/>
              </a:lnSpc>
              <a:spcBef>
                <a:spcPts val="1200"/>
              </a:spcBef>
              <a:spcAft>
                <a:spcPts val="0"/>
              </a:spcAft>
              <a:buClr>
                <a:schemeClr val="dk1"/>
              </a:buClr>
              <a:buSzPts val="1200"/>
              <a:buChar char="❑"/>
            </a:pPr>
            <a:r>
              <a:rPr b="1" lang="es-ES"/>
              <a:t>ISO/IEC/IEEE 29148</a:t>
            </a:r>
            <a:r>
              <a:rPr lang="es-ES"/>
              <a:t>: Este estándar es una actualización y reemplazo del IEEE 830. Cubre el proceso de desarrollo completo, desde la conceptualización hasta el mantenimiento.</a:t>
            </a:r>
            <a:endParaRPr/>
          </a:p>
          <a:p>
            <a:pPr indent="-266700" lvl="0" marL="266700" rtl="0" algn="l">
              <a:lnSpc>
                <a:spcPct val="100000"/>
              </a:lnSpc>
              <a:spcBef>
                <a:spcPts val="1200"/>
              </a:spcBef>
              <a:spcAft>
                <a:spcPts val="0"/>
              </a:spcAft>
              <a:buClr>
                <a:schemeClr val="dk1"/>
              </a:buClr>
              <a:buSzPts val="1200"/>
              <a:buChar char="❑"/>
            </a:pPr>
            <a:r>
              <a:rPr b="1" lang="es-ES"/>
              <a:t>CMMI (Capability Maturity Model Integration)</a:t>
            </a:r>
            <a:r>
              <a:rPr lang="es-ES"/>
              <a:t>: Aunque no es un estándar de requisitos per se, el modelo CMMI ofrece directrices útiles para el proceso de gestión de requisitos.</a:t>
            </a:r>
            <a:endParaRPr/>
          </a:p>
          <a:p>
            <a:pPr indent="-190500" lvl="0" marL="266700" rtl="0" algn="just">
              <a:lnSpc>
                <a:spcPct val="100000"/>
              </a:lnSpc>
              <a:spcBef>
                <a:spcPts val="1200"/>
              </a:spcBef>
              <a:spcAft>
                <a:spcPts val="0"/>
              </a:spcAft>
              <a:buClr>
                <a:schemeClr val="dk1"/>
              </a:buClr>
              <a:buSzPts val="1200"/>
              <a:buFont typeface="Noto Sans Symbols"/>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21"/>
          <p:cNvPicPr preferRelativeResize="0"/>
          <p:nvPr>
            <p:ph idx="2" type="pic"/>
          </p:nvPr>
        </p:nvPicPr>
        <p:blipFill rotWithShape="1">
          <a:blip r:embed="rId3">
            <a:alphaModFix/>
          </a:blip>
          <a:srcRect b="0" l="25868" r="25868" t="0"/>
          <a:stretch/>
        </p:blipFill>
        <p:spPr>
          <a:xfrm>
            <a:off x="5016517" y="1163638"/>
            <a:ext cx="3467978" cy="3771934"/>
          </a:xfrm>
          <a:prstGeom prst="rect">
            <a:avLst/>
          </a:prstGeom>
          <a:noFill/>
          <a:ln>
            <a:noFill/>
          </a:ln>
        </p:spPr>
      </p:pic>
      <p:sp>
        <p:nvSpPr>
          <p:cNvPr id="229" name="Google Shape;229;p2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HERRAMIENTAS</a:t>
            </a:r>
            <a:endParaRPr/>
          </a:p>
        </p:txBody>
      </p:sp>
      <p:sp>
        <p:nvSpPr>
          <p:cNvPr id="230" name="Google Shape;230;p2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sp>
        <p:nvSpPr>
          <p:cNvPr id="231" name="Google Shape;231;p21"/>
          <p:cNvSpPr txBox="1"/>
          <p:nvPr>
            <p:ph idx="4" type="body"/>
          </p:nvPr>
        </p:nvSpPr>
        <p:spPr>
          <a:xfrm>
            <a:off x="817448"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Software de Gestión de Requisitos:</a:t>
            </a:r>
            <a:endParaRPr/>
          </a:p>
          <a:p>
            <a:pPr indent="0" lvl="0" marL="263525" rtl="0" algn="l">
              <a:lnSpc>
                <a:spcPct val="100000"/>
              </a:lnSpc>
              <a:spcBef>
                <a:spcPts val="600"/>
              </a:spcBef>
              <a:spcAft>
                <a:spcPts val="0"/>
              </a:spcAft>
              <a:buClr>
                <a:schemeClr val="dk1"/>
              </a:buClr>
              <a:buSzPts val="1200"/>
              <a:buNone/>
            </a:pPr>
            <a:r>
              <a:rPr lang="es-ES"/>
              <a:t>Herramientas como IBM Engineering Requirements Management DOORS o Jama Connect te permite gestionar requisitos de forma más eficiente.</a:t>
            </a:r>
            <a:endParaRPr/>
          </a:p>
          <a:p>
            <a:pPr indent="-266700" lvl="0" marL="266700" rtl="0" algn="l">
              <a:lnSpc>
                <a:spcPct val="100000"/>
              </a:lnSpc>
              <a:spcBef>
                <a:spcPts val="1200"/>
              </a:spcBef>
              <a:spcAft>
                <a:spcPts val="0"/>
              </a:spcAft>
              <a:buClr>
                <a:schemeClr val="dk1"/>
              </a:buClr>
              <a:buSzPts val="1200"/>
              <a:buChar char="❑"/>
            </a:pPr>
            <a:r>
              <a:rPr b="1" lang="es-ES"/>
              <a:t>Sistemas de Control de Versiones</a:t>
            </a:r>
            <a:r>
              <a:rPr lang="es-ES"/>
              <a:t>:</a:t>
            </a:r>
            <a:endParaRPr/>
          </a:p>
          <a:p>
            <a:pPr indent="0" lvl="0" marL="263525" rtl="0" algn="l">
              <a:lnSpc>
                <a:spcPct val="100000"/>
              </a:lnSpc>
              <a:spcBef>
                <a:spcPts val="600"/>
              </a:spcBef>
              <a:spcAft>
                <a:spcPts val="0"/>
              </a:spcAft>
              <a:buClr>
                <a:schemeClr val="dk1"/>
              </a:buClr>
              <a:buSzPts val="1200"/>
              <a:buNone/>
            </a:pPr>
            <a:r>
              <a:rPr lang="es-ES"/>
              <a:t>Git, SVN y otros sistemas de control de versiones pueden ayudar a mantener un historial de cambios en los requisitos.</a:t>
            </a:r>
            <a:endParaRPr/>
          </a:p>
          <a:p>
            <a:pPr indent="-190500" lvl="0" marL="266700" rtl="0" algn="just">
              <a:lnSpc>
                <a:spcPct val="100000"/>
              </a:lnSpc>
              <a:spcBef>
                <a:spcPts val="1200"/>
              </a:spcBef>
              <a:spcAft>
                <a:spcPts val="0"/>
              </a:spcAft>
              <a:buClr>
                <a:schemeClr val="dk1"/>
              </a:buClr>
              <a:buSzPts val="1200"/>
              <a:buFont typeface="Noto Sans Symbols"/>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22"/>
          <p:cNvPicPr preferRelativeResize="0"/>
          <p:nvPr>
            <p:ph idx="2" type="pic"/>
          </p:nvPr>
        </p:nvPicPr>
        <p:blipFill rotWithShape="1">
          <a:blip r:embed="rId3">
            <a:alphaModFix/>
          </a:blip>
          <a:srcRect b="944" l="0" r="0" t="944"/>
          <a:stretch/>
        </p:blipFill>
        <p:spPr>
          <a:xfrm>
            <a:off x="5236426" y="1153247"/>
            <a:ext cx="3131692" cy="3406174"/>
          </a:xfrm>
          <a:prstGeom prst="rect">
            <a:avLst/>
          </a:prstGeom>
          <a:noFill/>
          <a:ln>
            <a:noFill/>
          </a:ln>
        </p:spPr>
      </p:pic>
      <p:sp>
        <p:nvSpPr>
          <p:cNvPr id="238" name="Google Shape;238;p2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LA NORMA ISO/IEC/IEEE 29148</a:t>
            </a:r>
            <a:endParaRPr/>
          </a:p>
        </p:txBody>
      </p:sp>
      <p:sp>
        <p:nvSpPr>
          <p:cNvPr id="239" name="Google Shape;239;p2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sp>
        <p:nvSpPr>
          <p:cNvPr id="240" name="Google Shape;240;p22"/>
          <p:cNvSpPr txBox="1"/>
          <p:nvPr>
            <p:ph idx="4" type="body"/>
          </p:nvPr>
        </p:nvSpPr>
        <p:spPr>
          <a:xfrm>
            <a:off x="775882" y="1338165"/>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bastante completa y proporciona una estructura detallada para la documentación de especificaciones de requisitos de sistemas y software.</a:t>
            </a:r>
            <a:endParaRPr/>
          </a:p>
          <a:p>
            <a:pPr indent="-266700" lvl="0" marL="266700" rtl="0" algn="l">
              <a:lnSpc>
                <a:spcPct val="100000"/>
              </a:lnSpc>
              <a:spcBef>
                <a:spcPts val="1200"/>
              </a:spcBef>
              <a:spcAft>
                <a:spcPts val="0"/>
              </a:spcAft>
              <a:buClr>
                <a:schemeClr val="dk1"/>
              </a:buClr>
              <a:buSzPts val="1200"/>
              <a:buChar char="❑"/>
            </a:pPr>
            <a:r>
              <a:rPr lang="es-ES"/>
              <a:t>Esta norma es ampliamente aceptada en la industria y proporciona una guía integral para asegurarse de que todos los aspectos importantes se abordan.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VENTAJAS: </a:t>
            </a:r>
            <a:r>
              <a:rPr lang="es-ES" sz="1400"/>
              <a:t>CLARIDAD Y COMPRENSIÓN COMÚN</a:t>
            </a:r>
            <a:endParaRPr/>
          </a:p>
        </p:txBody>
      </p:sp>
      <p:sp>
        <p:nvSpPr>
          <p:cNvPr id="247" name="Google Shape;247;p2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sp>
        <p:nvSpPr>
          <p:cNvPr id="248" name="Google Shape;248;p23"/>
          <p:cNvSpPr txBox="1"/>
          <p:nvPr>
            <p:ph idx="4" type="body"/>
          </p:nvPr>
        </p:nvSpPr>
        <p:spPr>
          <a:xfrm>
            <a:off x="642881" y="1337907"/>
            <a:ext cx="4103687" cy="321746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Ayuda a entender qué está y qué no está incluido en el proyecto, evitando así el temido “alcance móvil” o “scope creep”.</a:t>
            </a:r>
            <a:endParaRPr/>
          </a:p>
          <a:p>
            <a:pPr indent="-266700" lvl="0" marL="266700" rtl="0" algn="l">
              <a:lnSpc>
                <a:spcPct val="100000"/>
              </a:lnSpc>
              <a:spcBef>
                <a:spcPts val="1200"/>
              </a:spcBef>
              <a:spcAft>
                <a:spcPts val="0"/>
              </a:spcAft>
              <a:buClr>
                <a:schemeClr val="dk1"/>
              </a:buClr>
              <a:buSzPts val="1200"/>
              <a:buChar char="❑"/>
            </a:pPr>
            <a:r>
              <a:rPr lang="es-ES"/>
              <a:t>Facilita la comunicación entre todas las partes interesadas (stakeholders), incluidos desarrolladores, gerentes de proyecto, usuarios finales, etc.</a:t>
            </a:r>
            <a:endParaRPr/>
          </a:p>
          <a:p>
            <a:pPr indent="-266700" lvl="0" marL="266700" rtl="0" algn="l">
              <a:lnSpc>
                <a:spcPct val="100000"/>
              </a:lnSpc>
              <a:spcBef>
                <a:spcPts val="1200"/>
              </a:spcBef>
              <a:spcAft>
                <a:spcPts val="0"/>
              </a:spcAft>
              <a:buClr>
                <a:schemeClr val="dk1"/>
              </a:buClr>
              <a:buSzPts val="1200"/>
              <a:buChar char="❑"/>
            </a:pPr>
            <a:r>
              <a:rPr lang="es-ES"/>
              <a:t>La documentación detallada minimiza las malas interpretaciones y confusiones que pueden surgir a lo largo del proyecto.</a:t>
            </a:r>
            <a:endParaRPr/>
          </a:p>
        </p:txBody>
      </p:sp>
      <p:pic>
        <p:nvPicPr>
          <p:cNvPr id="249" name="Google Shape;249;p23"/>
          <p:cNvPicPr preferRelativeResize="0"/>
          <p:nvPr>
            <p:ph idx="2" type="pic"/>
          </p:nvPr>
        </p:nvPicPr>
        <p:blipFill rotWithShape="1">
          <a:blip r:embed="rId3">
            <a:alphaModFix/>
          </a:blip>
          <a:srcRect b="0" l="29924" r="29925" t="0"/>
          <a:stretch/>
        </p:blipFill>
        <p:spPr>
          <a:xfrm>
            <a:off x="5201284" y="1062973"/>
            <a:ext cx="3299835" cy="358905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VENTAJAS: </a:t>
            </a:r>
            <a:r>
              <a:rPr lang="es-ES" sz="1400"/>
              <a:t>PLANIFICACIÓN Y DESARROLLO</a:t>
            </a:r>
            <a:endParaRPr/>
          </a:p>
        </p:txBody>
      </p:sp>
      <p:sp>
        <p:nvSpPr>
          <p:cNvPr id="256" name="Google Shape;256;p2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sp>
        <p:nvSpPr>
          <p:cNvPr id="257" name="Google Shape;257;p24"/>
          <p:cNvSpPr txBox="1"/>
          <p:nvPr>
            <p:ph idx="4" type="body"/>
          </p:nvPr>
        </p:nvSpPr>
        <p:spPr>
          <a:xfrm>
            <a:off x="800821" y="1341439"/>
            <a:ext cx="4103687" cy="304493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Ayuda en la creación de un plan de proyecto más preciso, que incluye estimaciones de tiempo y recursos.</a:t>
            </a:r>
            <a:endParaRPr/>
          </a:p>
          <a:p>
            <a:pPr indent="-266700" lvl="0" marL="266700" rtl="0" algn="l">
              <a:lnSpc>
                <a:spcPct val="100000"/>
              </a:lnSpc>
              <a:spcBef>
                <a:spcPts val="1200"/>
              </a:spcBef>
              <a:spcAft>
                <a:spcPts val="0"/>
              </a:spcAft>
              <a:buClr>
                <a:schemeClr val="dk1"/>
              </a:buClr>
              <a:buSzPts val="1200"/>
              <a:buChar char="❑"/>
            </a:pPr>
            <a:r>
              <a:rPr lang="es-ES"/>
              <a:t>En etapas posteriores del proyecto, los requisitos documentados pueden servir como un punto de referencia para tomar decisiones críticas.</a:t>
            </a:r>
            <a:endParaRPr/>
          </a:p>
          <a:p>
            <a:pPr indent="-266700" lvl="0" marL="266700" rtl="0" algn="l">
              <a:lnSpc>
                <a:spcPct val="100000"/>
              </a:lnSpc>
              <a:spcBef>
                <a:spcPts val="1200"/>
              </a:spcBef>
              <a:spcAft>
                <a:spcPts val="0"/>
              </a:spcAft>
              <a:buClr>
                <a:schemeClr val="dk1"/>
              </a:buClr>
              <a:buSzPts val="1200"/>
              <a:buChar char="❑"/>
            </a:pPr>
            <a:r>
              <a:rPr lang="es-ES"/>
              <a:t>Sirve como una especie de “manual de instrucciones” que orienta tanto el desarrollo como las pruebas.</a:t>
            </a:r>
            <a:endParaRPr/>
          </a:p>
        </p:txBody>
      </p:sp>
      <p:pic>
        <p:nvPicPr>
          <p:cNvPr id="258" name="Google Shape;258;p24"/>
          <p:cNvPicPr preferRelativeResize="0"/>
          <p:nvPr>
            <p:ph idx="2" type="pic"/>
          </p:nvPr>
        </p:nvPicPr>
        <p:blipFill rotWithShape="1">
          <a:blip r:embed="rId3">
            <a:alphaModFix/>
          </a:blip>
          <a:srcRect b="0" l="5784" r="5784" t="0"/>
          <a:stretch/>
        </p:blipFill>
        <p:spPr>
          <a:xfrm>
            <a:off x="5415164" y="1283260"/>
            <a:ext cx="2894764" cy="314848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VENTAJAS: </a:t>
            </a:r>
            <a:r>
              <a:rPr lang="es-ES" sz="1400"/>
              <a:t>CALIDAD Y RENDIMIENTO</a:t>
            </a:r>
            <a:endParaRPr/>
          </a:p>
        </p:txBody>
      </p:sp>
      <p:sp>
        <p:nvSpPr>
          <p:cNvPr id="265" name="Google Shape;265;p2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sp>
        <p:nvSpPr>
          <p:cNvPr id="266" name="Google Shape;266;p25"/>
          <p:cNvSpPr txBox="1"/>
          <p:nvPr>
            <p:ph idx="4" type="body"/>
          </p:nvPr>
        </p:nvSpPr>
        <p:spPr>
          <a:xfrm>
            <a:off x="726007" y="1341439"/>
            <a:ext cx="3737926"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documentación de requisitos establece un estándar de calidad contra el cual se puede medir el producto final.</a:t>
            </a:r>
            <a:endParaRPr/>
          </a:p>
          <a:p>
            <a:pPr indent="-266700" lvl="0" marL="266700" rtl="0" algn="l">
              <a:lnSpc>
                <a:spcPct val="100000"/>
              </a:lnSpc>
              <a:spcBef>
                <a:spcPts val="1200"/>
              </a:spcBef>
              <a:spcAft>
                <a:spcPts val="0"/>
              </a:spcAft>
              <a:buClr>
                <a:schemeClr val="dk1"/>
              </a:buClr>
              <a:buSzPts val="1200"/>
              <a:buChar char="❑"/>
            </a:pPr>
            <a:r>
              <a:rPr lang="es-ES"/>
              <a:t>Hace más fácil comprobar si el sistema desarrollado cumple con los requisitos y satisface las necesidades de los usuarios.</a:t>
            </a:r>
            <a:endParaRPr/>
          </a:p>
          <a:p>
            <a:pPr indent="-266700" lvl="0" marL="266700" rtl="0" algn="l">
              <a:lnSpc>
                <a:spcPct val="100000"/>
              </a:lnSpc>
              <a:spcBef>
                <a:spcPts val="1200"/>
              </a:spcBef>
              <a:spcAft>
                <a:spcPts val="0"/>
              </a:spcAft>
              <a:buClr>
                <a:schemeClr val="dk1"/>
              </a:buClr>
              <a:buSzPts val="1200"/>
              <a:buChar char="❑"/>
            </a:pPr>
            <a:r>
              <a:rPr lang="es-ES"/>
              <a:t>Ayuda a identificar posibles problemas y riesgos en etapas tempranas, lo que permite tomar medidas preventivas.</a:t>
            </a:r>
            <a:endParaRPr/>
          </a:p>
        </p:txBody>
      </p:sp>
      <p:pic>
        <p:nvPicPr>
          <p:cNvPr id="267" name="Google Shape;267;p25"/>
          <p:cNvPicPr preferRelativeResize="0"/>
          <p:nvPr>
            <p:ph idx="2" type="pic"/>
          </p:nvPr>
        </p:nvPicPr>
        <p:blipFill rotWithShape="1">
          <a:blip r:embed="rId3">
            <a:alphaModFix/>
          </a:blip>
          <a:srcRect b="0" l="8487" r="8485" t="0"/>
          <a:stretch/>
        </p:blipFill>
        <p:spPr>
          <a:xfrm>
            <a:off x="5064658" y="1163638"/>
            <a:ext cx="3353335" cy="364724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VENTAJAS: </a:t>
            </a:r>
            <a:r>
              <a:rPr lang="es-ES" sz="1400"/>
              <a:t>MANTENIMIENTO Y ESCALABILIDAD</a:t>
            </a:r>
            <a:endParaRPr/>
          </a:p>
        </p:txBody>
      </p:sp>
      <p:sp>
        <p:nvSpPr>
          <p:cNvPr id="274" name="Google Shape;274;p2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sp>
        <p:nvSpPr>
          <p:cNvPr id="275" name="Google Shape;275;p26"/>
          <p:cNvSpPr txBox="1"/>
          <p:nvPr>
            <p:ph idx="4" type="body"/>
          </p:nvPr>
        </p:nvSpPr>
        <p:spPr>
          <a:xfrm>
            <a:off x="892263" y="1341439"/>
            <a:ext cx="3521796"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Con un conjunto bien definido de requisitos, es más sencillo realizar cambios y actualizaciones en el sistema.</a:t>
            </a:r>
            <a:endParaRPr/>
          </a:p>
          <a:p>
            <a:pPr indent="-266700" lvl="0" marL="266700" rtl="0" algn="l">
              <a:lnSpc>
                <a:spcPct val="100000"/>
              </a:lnSpc>
              <a:spcBef>
                <a:spcPts val="1200"/>
              </a:spcBef>
              <a:spcAft>
                <a:spcPts val="0"/>
              </a:spcAft>
              <a:buClr>
                <a:schemeClr val="dk1"/>
              </a:buClr>
              <a:buSzPts val="1200"/>
              <a:buChar char="❑"/>
            </a:pPr>
            <a:r>
              <a:rPr lang="es-ES"/>
              <a:t>Sirve como una base de conocimientos para futuros proyectos similares o para fases de expansión del proyecto actual.</a:t>
            </a:r>
            <a:endParaRPr/>
          </a:p>
        </p:txBody>
      </p:sp>
      <p:pic>
        <p:nvPicPr>
          <p:cNvPr id="276" name="Google Shape;276;p26"/>
          <p:cNvPicPr preferRelativeResize="0"/>
          <p:nvPr>
            <p:ph idx="2" type="pic"/>
          </p:nvPr>
        </p:nvPicPr>
        <p:blipFill rotWithShape="1">
          <a:blip r:embed="rId3">
            <a:alphaModFix/>
          </a:blip>
          <a:srcRect b="0" l="23239" r="23238" t="0"/>
          <a:stretch/>
        </p:blipFill>
        <p:spPr>
          <a:xfrm>
            <a:off x="4979322" y="1242323"/>
            <a:ext cx="3380481" cy="367676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27"/>
          <p:cNvPicPr preferRelativeResize="0"/>
          <p:nvPr>
            <p:ph idx="2" type="pic"/>
          </p:nvPr>
        </p:nvPicPr>
        <p:blipFill rotWithShape="1">
          <a:blip r:embed="rId3">
            <a:alphaModFix/>
          </a:blip>
          <a:srcRect b="0" l="19381" r="19382" t="0"/>
          <a:stretch/>
        </p:blipFill>
        <p:spPr>
          <a:xfrm>
            <a:off x="5546157" y="1471352"/>
            <a:ext cx="2871835" cy="3123541"/>
          </a:xfrm>
          <a:prstGeom prst="rect">
            <a:avLst/>
          </a:prstGeom>
          <a:noFill/>
          <a:ln>
            <a:noFill/>
          </a:ln>
        </p:spPr>
      </p:pic>
      <p:sp>
        <p:nvSpPr>
          <p:cNvPr id="283" name="Google Shape;283;p2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NORMALIZACIÓN DE REQUISITOS</a:t>
            </a:r>
            <a:endParaRPr/>
          </a:p>
        </p:txBody>
      </p:sp>
      <p:sp>
        <p:nvSpPr>
          <p:cNvPr id="284" name="Google Shape;284;p2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sp>
        <p:nvSpPr>
          <p:cNvPr id="285" name="Google Shape;285;p27"/>
          <p:cNvSpPr txBox="1"/>
          <p:nvPr>
            <p:ph idx="4" type="body"/>
          </p:nvPr>
        </p:nvSpPr>
        <p:spPr>
          <a:xfrm>
            <a:off x="726008" y="1163638"/>
            <a:ext cx="4494385"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el proceso de organizar y redactar los requisitos de manera uniforme y coherente para asegurar que sean claros, comprensibles y fáciles de seguir.</a:t>
            </a:r>
            <a:endParaRPr/>
          </a:p>
          <a:p>
            <a:pPr indent="-266700" lvl="0" marL="266700" rtl="0" algn="l">
              <a:lnSpc>
                <a:spcPct val="100000"/>
              </a:lnSpc>
              <a:spcBef>
                <a:spcPts val="1200"/>
              </a:spcBef>
              <a:spcAft>
                <a:spcPts val="0"/>
              </a:spcAft>
              <a:buClr>
                <a:schemeClr val="dk1"/>
              </a:buClr>
              <a:buSzPts val="1200"/>
              <a:buChar char="❑"/>
            </a:pPr>
            <a:r>
              <a:rPr lang="es-ES"/>
              <a:t>El objetivo es tener un conjunto de requisitos que sean consistentes en terminología, estructura y nivel de detalle.</a:t>
            </a:r>
            <a:endParaRPr/>
          </a:p>
          <a:p>
            <a:pPr indent="-266700" lvl="0" marL="266700" rtl="0" algn="l">
              <a:lnSpc>
                <a:spcPct val="100000"/>
              </a:lnSpc>
              <a:spcBef>
                <a:spcPts val="1200"/>
              </a:spcBef>
              <a:spcAft>
                <a:spcPts val="0"/>
              </a:spcAft>
              <a:buClr>
                <a:schemeClr val="dk1"/>
              </a:buClr>
              <a:buSzPts val="1200"/>
              <a:buChar char="❑"/>
            </a:pPr>
            <a:r>
              <a:rPr lang="es-ES"/>
              <a:t>Esto facilita el entendimiento mutuo entre todas las partes involucradas y minimiza la ambigüedad y la confusión.</a:t>
            </a:r>
            <a:endParaRPr/>
          </a:p>
          <a:p>
            <a:pPr indent="-266700" lvl="0" marL="266700" rtl="0" algn="l">
              <a:lnSpc>
                <a:spcPct val="100000"/>
              </a:lnSpc>
              <a:spcBef>
                <a:spcPts val="1200"/>
              </a:spcBef>
              <a:spcAft>
                <a:spcPts val="0"/>
              </a:spcAft>
              <a:buClr>
                <a:schemeClr val="dk1"/>
              </a:buClr>
              <a:buSzPts val="1200"/>
              <a:buChar char="❑"/>
            </a:pPr>
            <a:r>
              <a:rPr lang="es-ES"/>
              <a:t>Una mala normalización puede llevar a problemas de comunicación, lo cual puede resultar en un software que no cumpla con las expectativas o que requiera retrabajo.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PASOS A SEGUIR EN LA NORMALIZACIÓN</a:t>
            </a:r>
            <a:endParaRPr/>
          </a:p>
        </p:txBody>
      </p:sp>
      <p:sp>
        <p:nvSpPr>
          <p:cNvPr id="292" name="Google Shape;292;p2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ESPECIFICACIÓN DE REQUISITOS DEL SISTEMA</a:t>
            </a:r>
            <a:endParaRPr b="0">
              <a:solidFill>
                <a:srgbClr val="0070C0"/>
              </a:solidFill>
            </a:endParaRPr>
          </a:p>
        </p:txBody>
      </p:sp>
      <p:sp>
        <p:nvSpPr>
          <p:cNvPr id="293" name="Google Shape;293;p28"/>
          <p:cNvSpPr txBox="1"/>
          <p:nvPr>
            <p:ph idx="4" type="body"/>
          </p:nvPr>
        </p:nvSpPr>
        <p:spPr>
          <a:xfrm>
            <a:off x="707982" y="1452247"/>
            <a:ext cx="7728036" cy="3244444"/>
          </a:xfrm>
          <a:prstGeom prst="rect">
            <a:avLst/>
          </a:prstGeom>
          <a:noFill/>
          <a:ln>
            <a:noFill/>
          </a:ln>
        </p:spPr>
        <p:txBody>
          <a:bodyPr anchorCtr="0" anchor="t" bIns="45700" lIns="91425" spcFirstLastPara="1" rIns="91425" wrap="square" tIns="45700">
            <a:noAutofit/>
          </a:bodyPr>
          <a:lstStyle/>
          <a:p>
            <a:pPr indent="-263525" lvl="0" marL="263525" rtl="0" algn="l">
              <a:lnSpc>
                <a:spcPct val="100000"/>
              </a:lnSpc>
              <a:spcBef>
                <a:spcPts val="0"/>
              </a:spcBef>
              <a:spcAft>
                <a:spcPts val="0"/>
              </a:spcAft>
              <a:buClr>
                <a:schemeClr val="dk1"/>
              </a:buClr>
              <a:buSzPts val="1600"/>
              <a:buFont typeface="Calibri"/>
              <a:buAutoNum type="arabicParenR"/>
            </a:pPr>
            <a:r>
              <a:rPr lang="es-ES"/>
              <a:t>Empieza con una revisión cuidadosa de todos los requisitos recopilados.</a:t>
            </a:r>
            <a:endParaRPr/>
          </a:p>
          <a:p>
            <a:pPr indent="-263525" lvl="0" marL="263525" rtl="0" algn="l">
              <a:lnSpc>
                <a:spcPct val="100000"/>
              </a:lnSpc>
              <a:spcBef>
                <a:spcPts val="600"/>
              </a:spcBef>
              <a:spcAft>
                <a:spcPts val="0"/>
              </a:spcAft>
              <a:buClr>
                <a:schemeClr val="dk1"/>
              </a:buClr>
              <a:buSzPts val="1600"/>
              <a:buFont typeface="Calibri"/>
              <a:buAutoNum type="arabicParenR"/>
            </a:pPr>
            <a:r>
              <a:rPr lang="es-ES"/>
              <a:t>Busca términos, frases o conceptos que se utilicen de manera inconsistente.</a:t>
            </a:r>
            <a:endParaRPr/>
          </a:p>
          <a:p>
            <a:pPr indent="-263525" lvl="0" marL="263525" rtl="0" algn="l">
              <a:lnSpc>
                <a:spcPct val="100000"/>
              </a:lnSpc>
              <a:spcBef>
                <a:spcPts val="600"/>
              </a:spcBef>
              <a:spcAft>
                <a:spcPts val="0"/>
              </a:spcAft>
              <a:buClr>
                <a:schemeClr val="dk1"/>
              </a:buClr>
              <a:buSzPts val="1600"/>
              <a:buFont typeface="Calibri"/>
              <a:buAutoNum type="arabicParenR"/>
            </a:pPr>
            <a:r>
              <a:rPr lang="es-ES"/>
              <a:t>Reescribe los requisitos para que sean consistentes en términos de estructura gramatical, estilo y terminología.</a:t>
            </a:r>
            <a:endParaRPr/>
          </a:p>
          <a:p>
            <a:pPr indent="-263525" lvl="0" marL="263525" rtl="0" algn="l">
              <a:lnSpc>
                <a:spcPct val="100000"/>
              </a:lnSpc>
              <a:spcBef>
                <a:spcPts val="600"/>
              </a:spcBef>
              <a:spcAft>
                <a:spcPts val="0"/>
              </a:spcAft>
              <a:buClr>
                <a:schemeClr val="dk1"/>
              </a:buClr>
              <a:buSzPts val="1600"/>
              <a:buFont typeface="Calibri"/>
              <a:buAutoNum type="arabicParenR"/>
            </a:pPr>
            <a:r>
              <a:rPr lang="es-ES"/>
              <a:t>Asegúrate de que cada requisito sea claro y sin ambigüedades.</a:t>
            </a:r>
            <a:endParaRPr/>
          </a:p>
          <a:p>
            <a:pPr indent="-263525" lvl="0" marL="263525" rtl="0" algn="l">
              <a:lnSpc>
                <a:spcPct val="100000"/>
              </a:lnSpc>
              <a:spcBef>
                <a:spcPts val="600"/>
              </a:spcBef>
              <a:spcAft>
                <a:spcPts val="0"/>
              </a:spcAft>
              <a:buClr>
                <a:schemeClr val="dk1"/>
              </a:buClr>
              <a:buSzPts val="1600"/>
              <a:buFont typeface="Calibri"/>
              <a:buAutoNum type="arabicParenR"/>
            </a:pPr>
            <a:r>
              <a:rPr lang="es-ES"/>
              <a:t>Agrupa los requisitos relacionados y asigna numeración para facilitar referencias futuras.</a:t>
            </a:r>
            <a:endParaRPr/>
          </a:p>
          <a:p>
            <a:pPr indent="-263525" lvl="0" marL="263525" rtl="0" algn="l">
              <a:lnSpc>
                <a:spcPct val="100000"/>
              </a:lnSpc>
              <a:spcBef>
                <a:spcPts val="600"/>
              </a:spcBef>
              <a:spcAft>
                <a:spcPts val="0"/>
              </a:spcAft>
              <a:buClr>
                <a:schemeClr val="dk1"/>
              </a:buClr>
              <a:buSzPts val="1600"/>
              <a:buFont typeface="Calibri"/>
              <a:buAutoNum type="arabicParenR"/>
            </a:pPr>
            <a:r>
              <a:rPr lang="es-ES"/>
              <a:t>Comparte los requisitos normalizados con los stakeholders para obtener su validación y confirmar que no haya malentendidos.</a:t>
            </a:r>
            <a:endParaRPr/>
          </a:p>
          <a:p>
            <a:pPr indent="-263525" lvl="0" marL="263525" rtl="0" algn="l">
              <a:lnSpc>
                <a:spcPct val="100000"/>
              </a:lnSpc>
              <a:spcBef>
                <a:spcPts val="600"/>
              </a:spcBef>
              <a:spcAft>
                <a:spcPts val="0"/>
              </a:spcAft>
              <a:buClr>
                <a:schemeClr val="dk1"/>
              </a:buClr>
              <a:buSzPts val="1600"/>
              <a:buFont typeface="Calibri"/>
              <a:buAutoNum type="arabicParenR"/>
            </a:pPr>
            <a:r>
              <a:rPr lang="es-ES"/>
              <a:t>Incorpora los requisitos normalizados en la SRS o en el documento apropiado.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300" name="Google Shape;300;p29"/>
          <p:cNvSpPr/>
          <p:nvPr/>
        </p:nvSpPr>
        <p:spPr>
          <a:xfrm>
            <a:off x="424252" y="3703125"/>
            <a:ext cx="7966170" cy="954067"/>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VERIFICACIÓN Y VALIDACIÓN DE REQUISITOS DEL SISTEMA</a:t>
            </a:r>
            <a:endParaRPr b="1" i="0" sz="16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30"/>
          <p:cNvPicPr preferRelativeResize="0"/>
          <p:nvPr>
            <p:ph idx="2" type="pic"/>
          </p:nvPr>
        </p:nvPicPr>
        <p:blipFill rotWithShape="1">
          <a:blip r:embed="rId3">
            <a:alphaModFix/>
          </a:blip>
          <a:srcRect b="24061" l="0" r="0" t="24059"/>
          <a:stretch/>
        </p:blipFill>
        <p:spPr>
          <a:xfrm>
            <a:off x="1222901" y="2857500"/>
            <a:ext cx="6698197" cy="1953790"/>
          </a:xfrm>
          <a:prstGeom prst="rect">
            <a:avLst/>
          </a:prstGeom>
          <a:noFill/>
          <a:ln>
            <a:noFill/>
          </a:ln>
        </p:spPr>
      </p:pic>
      <p:sp>
        <p:nvSpPr>
          <p:cNvPr id="307" name="Google Shape;307;p30"/>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¿QUÉ ES LA VERIFICACIÓN DE REQUISITOS?</a:t>
            </a:r>
            <a:endParaRPr/>
          </a:p>
        </p:txBody>
      </p:sp>
      <p:sp>
        <p:nvSpPr>
          <p:cNvPr id="308" name="Google Shape;308;p30"/>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VERIFICACIÓN Y VALIDACIÓN DE REQUISITOS DEL SISTEMA</a:t>
            </a:r>
            <a:endParaRPr b="0">
              <a:solidFill>
                <a:srgbClr val="0070C0"/>
              </a:solidFill>
            </a:endParaRPr>
          </a:p>
        </p:txBody>
      </p:sp>
      <p:sp>
        <p:nvSpPr>
          <p:cNvPr id="309" name="Google Shape;309;p30"/>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verificación de requisitos se centra en asegurar que el producto está siendo construido de acuerdo con las especificaciones y requisitos definidos.</a:t>
            </a:r>
            <a:endParaRPr/>
          </a:p>
          <a:p>
            <a:pPr indent="-266700" lvl="0" marL="266700" rtl="0" algn="l">
              <a:lnSpc>
                <a:spcPct val="100000"/>
              </a:lnSpc>
              <a:spcBef>
                <a:spcPts val="1200"/>
              </a:spcBef>
              <a:spcAft>
                <a:spcPts val="0"/>
              </a:spcAft>
              <a:buClr>
                <a:schemeClr val="dk1"/>
              </a:buClr>
              <a:buSzPts val="1200"/>
              <a:buChar char="❑"/>
            </a:pPr>
            <a:r>
              <a:rPr lang="es-ES"/>
              <a:t>En otras palabras, la pregunta clave aquí es: “¿Estamos construyendo el producto correctamente?”.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31"/>
          <p:cNvPicPr preferRelativeResize="0"/>
          <p:nvPr>
            <p:ph idx="2" type="pic"/>
          </p:nvPr>
        </p:nvPicPr>
        <p:blipFill rotWithShape="1">
          <a:blip r:embed="rId3">
            <a:alphaModFix/>
          </a:blip>
          <a:srcRect b="0" l="19338" r="19339" t="0"/>
          <a:stretch/>
        </p:blipFill>
        <p:spPr>
          <a:xfrm>
            <a:off x="5204513" y="1354974"/>
            <a:ext cx="3146978" cy="3422800"/>
          </a:xfrm>
          <a:prstGeom prst="rect">
            <a:avLst/>
          </a:prstGeom>
          <a:noFill/>
          <a:ln>
            <a:noFill/>
          </a:ln>
        </p:spPr>
      </p:pic>
      <p:sp>
        <p:nvSpPr>
          <p:cNvPr id="316" name="Google Shape;316;p3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TÉCNICAS DE VERIFICACIÓN   </a:t>
            </a:r>
            <a:r>
              <a:rPr lang="es-ES" sz="1400">
                <a:solidFill>
                  <a:srgbClr val="7F7F7F"/>
                </a:solidFill>
              </a:rPr>
              <a:t>[1/2]</a:t>
            </a:r>
            <a:endParaRPr>
              <a:solidFill>
                <a:srgbClr val="7F7F7F"/>
              </a:solidFill>
            </a:endParaRPr>
          </a:p>
        </p:txBody>
      </p:sp>
      <p:sp>
        <p:nvSpPr>
          <p:cNvPr id="317" name="Google Shape;317;p3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VERIFICACIÓN Y VALIDACIÓN DE REQUISITOS DEL SISTEMA</a:t>
            </a:r>
            <a:endParaRPr b="0">
              <a:solidFill>
                <a:srgbClr val="0070C0"/>
              </a:solidFill>
            </a:endParaRPr>
          </a:p>
        </p:txBody>
      </p:sp>
      <p:sp>
        <p:nvSpPr>
          <p:cNvPr id="318" name="Google Shape;318;p31"/>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accent1"/>
              </a:buClr>
              <a:buSzPts val="1200"/>
              <a:buChar char="❑"/>
            </a:pPr>
            <a:r>
              <a:rPr b="1" lang="es-ES">
                <a:solidFill>
                  <a:schemeClr val="accent1"/>
                </a:solidFill>
              </a:rPr>
              <a:t>Revisión por Pares (Peer Review):</a:t>
            </a:r>
            <a:endParaRPr/>
          </a:p>
          <a:p>
            <a:pPr indent="0" lvl="1" marL="265113" rtl="0" algn="l">
              <a:lnSpc>
                <a:spcPct val="100000"/>
              </a:lnSpc>
              <a:spcBef>
                <a:spcPts val="300"/>
              </a:spcBef>
              <a:spcAft>
                <a:spcPts val="0"/>
              </a:spcAft>
              <a:buClr>
                <a:schemeClr val="dk1"/>
              </a:buClr>
              <a:buSzPts val="1600"/>
              <a:buNone/>
            </a:pPr>
            <a:r>
              <a:rPr lang="es-ES"/>
              <a:t>Involucra que otros miembros del equipo o expertos en la materia revisen la documentación de requisitos para asegurar su claridad, coherencia y completitud.</a:t>
            </a:r>
            <a:endParaRPr/>
          </a:p>
          <a:p>
            <a:pPr indent="-266700" lvl="0" marL="266700" rtl="0" algn="l">
              <a:lnSpc>
                <a:spcPct val="100000"/>
              </a:lnSpc>
              <a:spcBef>
                <a:spcPts val="1200"/>
              </a:spcBef>
              <a:spcAft>
                <a:spcPts val="0"/>
              </a:spcAft>
              <a:buClr>
                <a:schemeClr val="accent1"/>
              </a:buClr>
              <a:buSzPts val="1200"/>
              <a:buChar char="❑"/>
            </a:pPr>
            <a:r>
              <a:rPr b="1" lang="es-ES">
                <a:solidFill>
                  <a:schemeClr val="accent1"/>
                </a:solidFill>
              </a:rPr>
              <a:t>Inspecciones Formales:</a:t>
            </a:r>
            <a:endParaRPr/>
          </a:p>
          <a:p>
            <a:pPr indent="0" lvl="1" marL="265113" rtl="0" algn="l">
              <a:lnSpc>
                <a:spcPct val="100000"/>
              </a:lnSpc>
              <a:spcBef>
                <a:spcPts val="300"/>
              </a:spcBef>
              <a:spcAft>
                <a:spcPts val="0"/>
              </a:spcAft>
              <a:buClr>
                <a:schemeClr val="dk1"/>
              </a:buClr>
              <a:buSzPts val="1600"/>
              <a:buNone/>
            </a:pPr>
            <a:r>
              <a:rPr lang="es-ES"/>
              <a:t>Involucra un equipo multidisciplinario que revisa y evalúa los requisitos siguiendo un procedimiento predefinido.</a:t>
            </a:r>
            <a:endParaRPr/>
          </a:p>
          <a:p>
            <a:pPr indent="-266700" lvl="0" marL="266700" rtl="0" algn="l">
              <a:lnSpc>
                <a:spcPct val="100000"/>
              </a:lnSpc>
              <a:spcBef>
                <a:spcPts val="1200"/>
              </a:spcBef>
              <a:spcAft>
                <a:spcPts val="0"/>
              </a:spcAft>
              <a:buClr>
                <a:schemeClr val="accent1"/>
              </a:buClr>
              <a:buSzPts val="1200"/>
              <a:buChar char="❑"/>
            </a:pPr>
            <a:r>
              <a:rPr b="1" lang="es-ES">
                <a:solidFill>
                  <a:schemeClr val="accent1"/>
                </a:solidFill>
              </a:rPr>
              <a:t>Análisis Estático:</a:t>
            </a:r>
            <a:endParaRPr/>
          </a:p>
          <a:p>
            <a:pPr indent="0" lvl="1" marL="265113" rtl="0" algn="l">
              <a:lnSpc>
                <a:spcPct val="100000"/>
              </a:lnSpc>
              <a:spcBef>
                <a:spcPts val="300"/>
              </a:spcBef>
              <a:spcAft>
                <a:spcPts val="0"/>
              </a:spcAft>
              <a:buClr>
                <a:schemeClr val="dk1"/>
              </a:buClr>
              <a:buSzPts val="1600"/>
              <a:buNone/>
            </a:pPr>
            <a:r>
              <a:rPr lang="es-ES"/>
              <a:t>Utiliza herramientas automatizadas para analizar el código fuente y verificar su calidad y correspondencia con los requisitos establecidos.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32"/>
          <p:cNvPicPr preferRelativeResize="0"/>
          <p:nvPr>
            <p:ph idx="2" type="pic"/>
          </p:nvPr>
        </p:nvPicPr>
        <p:blipFill rotWithShape="1">
          <a:blip r:embed="rId3">
            <a:alphaModFix/>
          </a:blip>
          <a:srcRect b="0" l="17453" r="17452" t="0"/>
          <a:stretch/>
        </p:blipFill>
        <p:spPr>
          <a:xfrm>
            <a:off x="5048308" y="1334937"/>
            <a:ext cx="3261620" cy="3547490"/>
          </a:xfrm>
          <a:prstGeom prst="rect">
            <a:avLst/>
          </a:prstGeom>
          <a:noFill/>
          <a:ln>
            <a:noFill/>
          </a:ln>
        </p:spPr>
      </p:pic>
      <p:sp>
        <p:nvSpPr>
          <p:cNvPr id="325" name="Google Shape;325;p3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TÉCNICAS DE VERIFICACIÓN   </a:t>
            </a:r>
            <a:r>
              <a:rPr lang="es-ES" sz="1400">
                <a:solidFill>
                  <a:srgbClr val="7F7F7F"/>
                </a:solidFill>
              </a:rPr>
              <a:t>[2/2]</a:t>
            </a:r>
            <a:endParaRPr>
              <a:solidFill>
                <a:srgbClr val="7F7F7F"/>
              </a:solidFill>
            </a:endParaRPr>
          </a:p>
        </p:txBody>
      </p:sp>
      <p:sp>
        <p:nvSpPr>
          <p:cNvPr id="326" name="Google Shape;326;p3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VERIFICACIÓN Y VALIDACIÓN DE REQUISITOS DEL SISTEMA</a:t>
            </a:r>
            <a:endParaRPr b="0">
              <a:solidFill>
                <a:srgbClr val="0070C0"/>
              </a:solidFill>
            </a:endParaRPr>
          </a:p>
        </p:txBody>
      </p:sp>
      <p:sp>
        <p:nvSpPr>
          <p:cNvPr id="327" name="Google Shape;327;p32"/>
          <p:cNvSpPr txBox="1"/>
          <p:nvPr>
            <p:ph idx="4" type="body"/>
          </p:nvPr>
        </p:nvSpPr>
        <p:spPr>
          <a:xfrm>
            <a:off x="784197" y="1334937"/>
            <a:ext cx="3787803"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accent1"/>
              </a:buClr>
              <a:buSzPts val="1200"/>
              <a:buChar char="❑"/>
            </a:pPr>
            <a:r>
              <a:rPr b="1" lang="es-ES">
                <a:solidFill>
                  <a:schemeClr val="accent1"/>
                </a:solidFill>
              </a:rPr>
              <a:t>Modelado y Simulación:</a:t>
            </a:r>
            <a:endParaRPr/>
          </a:p>
          <a:p>
            <a:pPr indent="0" lvl="1" marL="265113" rtl="0" algn="l">
              <a:lnSpc>
                <a:spcPct val="100000"/>
              </a:lnSpc>
              <a:spcBef>
                <a:spcPts val="300"/>
              </a:spcBef>
              <a:spcAft>
                <a:spcPts val="0"/>
              </a:spcAft>
              <a:buClr>
                <a:schemeClr val="dk1"/>
              </a:buClr>
              <a:buSzPts val="1600"/>
              <a:buNone/>
            </a:pPr>
            <a:r>
              <a:rPr lang="es-ES"/>
              <a:t>Se utilizan modelos formales o simulaciones para representar y analizar el comportamiento del sistema, permitiendo identificar inconsistencias en los requisitos.</a:t>
            </a:r>
            <a:endParaRPr/>
          </a:p>
          <a:p>
            <a:pPr indent="-266700" lvl="0" marL="266700" rtl="0" algn="l">
              <a:lnSpc>
                <a:spcPct val="100000"/>
              </a:lnSpc>
              <a:spcBef>
                <a:spcPts val="1200"/>
              </a:spcBef>
              <a:spcAft>
                <a:spcPts val="0"/>
              </a:spcAft>
              <a:buClr>
                <a:schemeClr val="accent1"/>
              </a:buClr>
              <a:buSzPts val="1200"/>
              <a:buChar char="❑"/>
            </a:pPr>
            <a:r>
              <a:rPr b="1" lang="es-ES">
                <a:solidFill>
                  <a:schemeClr val="accent1"/>
                </a:solidFill>
              </a:rPr>
              <a:t>Pruebas Unitarias y de Integración:</a:t>
            </a:r>
            <a:endParaRPr/>
          </a:p>
          <a:p>
            <a:pPr indent="0" lvl="1" marL="265113" rtl="0" algn="l">
              <a:lnSpc>
                <a:spcPct val="100000"/>
              </a:lnSpc>
              <a:spcBef>
                <a:spcPts val="300"/>
              </a:spcBef>
              <a:spcAft>
                <a:spcPts val="0"/>
              </a:spcAft>
              <a:buClr>
                <a:schemeClr val="dk1"/>
              </a:buClr>
              <a:buSzPts val="1600"/>
              <a:buNone/>
            </a:pPr>
            <a:r>
              <a:rPr lang="es-ES"/>
              <a:t>Aunque se asocian más comúnmente con la etapa de implementación, estas pruebas también sirven para verificar que el código satisface los requisitos especificados.</a:t>
            </a:r>
            <a:endParaRPr/>
          </a:p>
          <a:p>
            <a:pPr indent="-190500" lvl="0" marL="266700" rtl="0" algn="just">
              <a:lnSpc>
                <a:spcPct val="100000"/>
              </a:lnSpc>
              <a:spcBef>
                <a:spcPts val="1200"/>
              </a:spcBef>
              <a:spcAft>
                <a:spcPts val="0"/>
              </a:spcAft>
              <a:buClr>
                <a:schemeClr val="dk1"/>
              </a:buClr>
              <a:buSzPts val="1200"/>
              <a:buFont typeface="Noto Sans Symbols"/>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33"/>
          <p:cNvPicPr preferRelativeResize="0"/>
          <p:nvPr>
            <p:ph idx="2" type="pic"/>
          </p:nvPr>
        </p:nvPicPr>
        <p:blipFill rotWithShape="1">
          <a:blip r:embed="rId3">
            <a:alphaModFix/>
          </a:blip>
          <a:srcRect b="29977" l="0" r="0" t="29977"/>
          <a:stretch/>
        </p:blipFill>
        <p:spPr>
          <a:xfrm>
            <a:off x="1147148" y="2770429"/>
            <a:ext cx="6864451" cy="2002284"/>
          </a:xfrm>
          <a:prstGeom prst="rect">
            <a:avLst/>
          </a:prstGeom>
          <a:noFill/>
          <a:ln>
            <a:noFill/>
          </a:ln>
        </p:spPr>
      </p:pic>
      <p:sp>
        <p:nvSpPr>
          <p:cNvPr id="334" name="Google Shape;334;p33"/>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¿QUÉ ES LA VALIDACIÓN DE REQUISITOS?</a:t>
            </a:r>
            <a:endParaRPr/>
          </a:p>
        </p:txBody>
      </p:sp>
      <p:sp>
        <p:nvSpPr>
          <p:cNvPr id="335" name="Google Shape;335;p33"/>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VERIFICACIÓN Y VALIDACIÓN DE REQUISITOS DEL SISTEMA</a:t>
            </a:r>
            <a:endParaRPr b="0">
              <a:solidFill>
                <a:srgbClr val="0070C0"/>
              </a:solidFill>
            </a:endParaRPr>
          </a:p>
        </p:txBody>
      </p:sp>
      <p:sp>
        <p:nvSpPr>
          <p:cNvPr id="336" name="Google Shape;336;p33"/>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validación de requisitos, por otro lado, se preocupa de asegurar que el producto construido efectivamente satisface las necesidades y expectativas de los usuarios y stakeholders. </a:t>
            </a:r>
            <a:endParaRPr/>
          </a:p>
          <a:p>
            <a:pPr indent="-266700" lvl="0" marL="266700" rtl="0" algn="l">
              <a:lnSpc>
                <a:spcPct val="100000"/>
              </a:lnSpc>
              <a:spcBef>
                <a:spcPts val="1200"/>
              </a:spcBef>
              <a:spcAft>
                <a:spcPts val="0"/>
              </a:spcAft>
              <a:buClr>
                <a:schemeClr val="dk1"/>
              </a:buClr>
              <a:buSzPts val="1200"/>
              <a:buChar char="❑"/>
            </a:pPr>
            <a:r>
              <a:rPr lang="es-ES"/>
              <a:t>Aquí la pregunta clave es: “¿Estamos construyendo el producto correcto?”.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34"/>
          <p:cNvPicPr preferRelativeResize="0"/>
          <p:nvPr>
            <p:ph idx="2" type="pic"/>
          </p:nvPr>
        </p:nvPicPr>
        <p:blipFill rotWithShape="1">
          <a:blip r:embed="rId3">
            <a:alphaModFix/>
          </a:blip>
          <a:srcRect b="0" l="24157" r="24157" t="0"/>
          <a:stretch/>
        </p:blipFill>
        <p:spPr>
          <a:xfrm>
            <a:off x="5527963" y="1478258"/>
            <a:ext cx="2964844" cy="3224702"/>
          </a:xfrm>
          <a:prstGeom prst="rect">
            <a:avLst/>
          </a:prstGeom>
          <a:noFill/>
          <a:ln>
            <a:noFill/>
          </a:ln>
        </p:spPr>
      </p:pic>
      <p:sp>
        <p:nvSpPr>
          <p:cNvPr id="343" name="Google Shape;343;p3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TÉCNICAS DE VALIDACIÓN   </a:t>
            </a:r>
            <a:r>
              <a:rPr lang="es-ES" sz="1400">
                <a:solidFill>
                  <a:srgbClr val="7F7F7F"/>
                </a:solidFill>
              </a:rPr>
              <a:t>[1/2]</a:t>
            </a:r>
            <a:endParaRPr>
              <a:solidFill>
                <a:srgbClr val="7F7F7F"/>
              </a:solidFill>
            </a:endParaRPr>
          </a:p>
        </p:txBody>
      </p:sp>
      <p:sp>
        <p:nvSpPr>
          <p:cNvPr id="344" name="Google Shape;344;p3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VERIFICACIÓN Y VALIDACIÓN DE REQUISITOS DEL SISTEMA</a:t>
            </a:r>
            <a:endParaRPr b="0">
              <a:solidFill>
                <a:srgbClr val="0070C0"/>
              </a:solidFill>
            </a:endParaRPr>
          </a:p>
        </p:txBody>
      </p:sp>
      <p:sp>
        <p:nvSpPr>
          <p:cNvPr id="345" name="Google Shape;345;p34"/>
          <p:cNvSpPr txBox="1"/>
          <p:nvPr>
            <p:ph idx="4" type="body"/>
          </p:nvPr>
        </p:nvSpPr>
        <p:spPr>
          <a:xfrm>
            <a:off x="593004" y="1312969"/>
            <a:ext cx="4585825" cy="4096800"/>
          </a:xfrm>
          <a:prstGeom prst="rect">
            <a:avLst/>
          </a:prstGeom>
          <a:noFill/>
          <a:ln>
            <a:noFill/>
          </a:ln>
        </p:spPr>
        <p:txBody>
          <a:bodyPr anchorCtr="0" anchor="t" bIns="45700" lIns="91425" spcFirstLastPara="1" rIns="91425" wrap="square" tIns="45700">
            <a:noAutofit/>
          </a:bodyPr>
          <a:lstStyle/>
          <a:p>
            <a:pPr indent="-266700" lvl="1" marL="266700" rtl="0" algn="l">
              <a:lnSpc>
                <a:spcPct val="100000"/>
              </a:lnSpc>
              <a:spcBef>
                <a:spcPts val="0"/>
              </a:spcBef>
              <a:spcAft>
                <a:spcPts val="0"/>
              </a:spcAft>
              <a:buClr>
                <a:schemeClr val="accent1"/>
              </a:buClr>
              <a:buSzPts val="1200"/>
              <a:buFont typeface="Noto Sans Symbols"/>
              <a:buChar char="❑"/>
            </a:pPr>
            <a:r>
              <a:rPr b="1" lang="es-ES">
                <a:solidFill>
                  <a:schemeClr val="accent1"/>
                </a:solidFill>
              </a:rPr>
              <a:t>Pruebas de Aceptación del Usuario (UAT):</a:t>
            </a:r>
            <a:endParaRPr/>
          </a:p>
          <a:p>
            <a:pPr indent="0" lvl="1" marL="265113" rtl="0" algn="l">
              <a:lnSpc>
                <a:spcPct val="100000"/>
              </a:lnSpc>
              <a:spcBef>
                <a:spcPts val="300"/>
              </a:spcBef>
              <a:spcAft>
                <a:spcPts val="0"/>
              </a:spcAft>
              <a:buClr>
                <a:schemeClr val="dk1"/>
              </a:buClr>
              <a:buSzPts val="1600"/>
              <a:buNone/>
            </a:pPr>
            <a:r>
              <a:rPr lang="es-ES"/>
              <a:t>Los usuarios finales interactúan con el sistema bajo condiciones controladas para validar que cumple con sus necesidades y expectativas.</a:t>
            </a:r>
            <a:endParaRPr/>
          </a:p>
          <a:p>
            <a:pPr indent="-266700" lvl="1" marL="266700" rtl="0" algn="l">
              <a:lnSpc>
                <a:spcPct val="100000"/>
              </a:lnSpc>
              <a:spcBef>
                <a:spcPts val="1200"/>
              </a:spcBef>
              <a:spcAft>
                <a:spcPts val="0"/>
              </a:spcAft>
              <a:buClr>
                <a:schemeClr val="accent1"/>
              </a:buClr>
              <a:buSzPts val="1200"/>
              <a:buFont typeface="Noto Sans Symbols"/>
              <a:buChar char="❑"/>
            </a:pPr>
            <a:r>
              <a:rPr b="1" lang="es-ES">
                <a:solidFill>
                  <a:schemeClr val="accent1"/>
                </a:solidFill>
              </a:rPr>
              <a:t>Prototipado:</a:t>
            </a:r>
            <a:endParaRPr/>
          </a:p>
          <a:p>
            <a:pPr indent="0" lvl="1" marL="265113" rtl="0" algn="l">
              <a:lnSpc>
                <a:spcPct val="100000"/>
              </a:lnSpc>
              <a:spcBef>
                <a:spcPts val="300"/>
              </a:spcBef>
              <a:spcAft>
                <a:spcPts val="0"/>
              </a:spcAft>
              <a:buClr>
                <a:schemeClr val="dk1"/>
              </a:buClr>
              <a:buSzPts val="1600"/>
              <a:buNone/>
            </a:pPr>
            <a:r>
              <a:rPr lang="es-ES"/>
              <a:t>Creación de una versión preliminar del sistema que se puede usar para recoger retroalimentación de los usuarios y otros stakeholders.</a:t>
            </a:r>
            <a:endParaRPr/>
          </a:p>
          <a:p>
            <a:pPr indent="-266700" lvl="1" marL="266700" rtl="0" algn="l">
              <a:lnSpc>
                <a:spcPct val="100000"/>
              </a:lnSpc>
              <a:spcBef>
                <a:spcPts val="1200"/>
              </a:spcBef>
              <a:spcAft>
                <a:spcPts val="0"/>
              </a:spcAft>
              <a:buClr>
                <a:schemeClr val="accent1"/>
              </a:buClr>
              <a:buSzPts val="1200"/>
              <a:buFont typeface="Noto Sans Symbols"/>
              <a:buChar char="❑"/>
            </a:pPr>
            <a:r>
              <a:rPr b="1" lang="es-ES">
                <a:solidFill>
                  <a:schemeClr val="accent1"/>
                </a:solidFill>
              </a:rPr>
              <a:t>Entrevistas y Cuestionarios:</a:t>
            </a:r>
            <a:endParaRPr/>
          </a:p>
          <a:p>
            <a:pPr indent="0" lvl="1" marL="265113" rtl="0" algn="l">
              <a:lnSpc>
                <a:spcPct val="100000"/>
              </a:lnSpc>
              <a:spcBef>
                <a:spcPts val="300"/>
              </a:spcBef>
              <a:spcAft>
                <a:spcPts val="0"/>
              </a:spcAft>
              <a:buClr>
                <a:schemeClr val="dk1"/>
              </a:buClr>
              <a:buSzPts val="1600"/>
              <a:buNone/>
            </a:pPr>
            <a:r>
              <a:rPr lang="es-ES"/>
              <a:t>Conversaciones directas con usuarios y stakeholders para confirmar que los requisitos son válidos y satisfacen sus necesidades.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TÉCNICAS DE VALIDACIÓN   </a:t>
            </a:r>
            <a:r>
              <a:rPr lang="es-ES" sz="1400">
                <a:solidFill>
                  <a:srgbClr val="7F7F7F"/>
                </a:solidFill>
              </a:rPr>
              <a:t>[2/2]</a:t>
            </a:r>
            <a:endParaRPr>
              <a:solidFill>
                <a:srgbClr val="7F7F7F"/>
              </a:solidFill>
            </a:endParaRPr>
          </a:p>
        </p:txBody>
      </p:sp>
      <p:sp>
        <p:nvSpPr>
          <p:cNvPr id="352" name="Google Shape;352;p3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VERIFICACIÓN Y VALIDACIÓN DE REQUISITOS DEL SISTEMA</a:t>
            </a:r>
            <a:endParaRPr b="0">
              <a:solidFill>
                <a:srgbClr val="0070C0"/>
              </a:solidFill>
            </a:endParaRPr>
          </a:p>
        </p:txBody>
      </p:sp>
      <p:sp>
        <p:nvSpPr>
          <p:cNvPr id="353" name="Google Shape;353;p35"/>
          <p:cNvSpPr txBox="1"/>
          <p:nvPr>
            <p:ph idx="4" type="body"/>
          </p:nvPr>
        </p:nvSpPr>
        <p:spPr>
          <a:xfrm>
            <a:off x="859012" y="1359694"/>
            <a:ext cx="3521796" cy="3587243"/>
          </a:xfrm>
          <a:prstGeom prst="rect">
            <a:avLst/>
          </a:prstGeom>
          <a:noFill/>
          <a:ln>
            <a:noFill/>
          </a:ln>
        </p:spPr>
        <p:txBody>
          <a:bodyPr anchorCtr="0" anchor="t" bIns="45700" lIns="91425" spcFirstLastPara="1" rIns="91425" wrap="square" tIns="45700">
            <a:noAutofit/>
          </a:bodyPr>
          <a:lstStyle/>
          <a:p>
            <a:pPr indent="-266700" lvl="1" marL="266700" rtl="0" algn="l">
              <a:lnSpc>
                <a:spcPct val="100000"/>
              </a:lnSpc>
              <a:spcBef>
                <a:spcPts val="0"/>
              </a:spcBef>
              <a:spcAft>
                <a:spcPts val="0"/>
              </a:spcAft>
              <a:buClr>
                <a:schemeClr val="accent1"/>
              </a:buClr>
              <a:buSzPts val="1200"/>
              <a:buFont typeface="Noto Sans Symbols"/>
              <a:buChar char="❑"/>
            </a:pPr>
            <a:r>
              <a:rPr b="1" lang="es-ES">
                <a:solidFill>
                  <a:schemeClr val="accent1"/>
                </a:solidFill>
              </a:rPr>
              <a:t>Análisis de Caso de Uso:</a:t>
            </a:r>
            <a:endParaRPr/>
          </a:p>
          <a:p>
            <a:pPr indent="0" lvl="1" marL="265113" rtl="0" algn="l">
              <a:lnSpc>
                <a:spcPct val="100000"/>
              </a:lnSpc>
              <a:spcBef>
                <a:spcPts val="300"/>
              </a:spcBef>
              <a:spcAft>
                <a:spcPts val="0"/>
              </a:spcAft>
              <a:buClr>
                <a:schemeClr val="dk1"/>
              </a:buClr>
              <a:buSzPts val="1600"/>
              <a:buNone/>
            </a:pPr>
            <a:r>
              <a:rPr lang="es-ES"/>
              <a:t>Descomposición de las interacciones del usuario en escenarios específicos para evaluar si el sistema cumple con los requisitos en cada caso.</a:t>
            </a:r>
            <a:endParaRPr/>
          </a:p>
          <a:p>
            <a:pPr indent="-266700" lvl="1" marL="266700" rtl="0" algn="l">
              <a:lnSpc>
                <a:spcPct val="100000"/>
              </a:lnSpc>
              <a:spcBef>
                <a:spcPts val="1200"/>
              </a:spcBef>
              <a:spcAft>
                <a:spcPts val="0"/>
              </a:spcAft>
              <a:buClr>
                <a:schemeClr val="accent1"/>
              </a:buClr>
              <a:buSzPts val="1200"/>
              <a:buFont typeface="Noto Sans Symbols"/>
              <a:buChar char="❑"/>
            </a:pPr>
            <a:r>
              <a:rPr b="1" lang="es-ES">
                <a:solidFill>
                  <a:schemeClr val="accent1"/>
                </a:solidFill>
              </a:rPr>
              <a:t>Revisiones de Campo:</a:t>
            </a:r>
            <a:endParaRPr/>
          </a:p>
          <a:p>
            <a:pPr indent="0" lvl="1" marL="265113" rtl="0" algn="l">
              <a:lnSpc>
                <a:spcPct val="100000"/>
              </a:lnSpc>
              <a:spcBef>
                <a:spcPts val="300"/>
              </a:spcBef>
              <a:spcAft>
                <a:spcPts val="0"/>
              </a:spcAft>
              <a:buClr>
                <a:schemeClr val="dk1"/>
              </a:buClr>
              <a:buSzPts val="1600"/>
              <a:buNone/>
            </a:pPr>
            <a:r>
              <a:rPr lang="es-ES"/>
              <a:t>En algunos casos, especialmente cuando el sistema es crítico o de gran envergadura, se puede hacer una validación en el entorno real donde se usará el sistema para asegurar que cumple con todos los requisitos y expectativas.</a:t>
            </a:r>
            <a:endParaRPr/>
          </a:p>
        </p:txBody>
      </p:sp>
      <p:pic>
        <p:nvPicPr>
          <p:cNvPr id="354" name="Google Shape;354;p35"/>
          <p:cNvPicPr preferRelativeResize="0"/>
          <p:nvPr>
            <p:ph idx="2" type="pic"/>
          </p:nvPr>
        </p:nvPicPr>
        <p:blipFill rotWithShape="1">
          <a:blip r:embed="rId3">
            <a:alphaModFix/>
          </a:blip>
          <a:srcRect b="0" l="19338" r="19339" t="0"/>
          <a:stretch/>
        </p:blipFill>
        <p:spPr>
          <a:xfrm>
            <a:off x="4846319" y="1223212"/>
            <a:ext cx="3313979" cy="360443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VERIFICACIÓN Y VALIDACIÓN DE REQUISITOS DEL SISTEMA</a:t>
            </a:r>
            <a:endParaRPr b="0">
              <a:solidFill>
                <a:srgbClr val="0070C0"/>
              </a:solidFill>
            </a:endParaRPr>
          </a:p>
        </p:txBody>
      </p:sp>
      <p:sp>
        <p:nvSpPr>
          <p:cNvPr id="361" name="Google Shape;361;p36"/>
          <p:cNvSpPr/>
          <p:nvPr/>
        </p:nvSpPr>
        <p:spPr>
          <a:xfrm>
            <a:off x="468312" y="795228"/>
            <a:ext cx="80771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Sistema de Gestión de Pensiones para una Entidad Pública</a:t>
            </a:r>
            <a:endParaRPr b="0" i="0" sz="1400" u="none" cap="none" strike="noStrike">
              <a:solidFill>
                <a:srgbClr val="000000"/>
              </a:solidFill>
              <a:latin typeface="Arial"/>
              <a:ea typeface="Arial"/>
              <a:cs typeface="Arial"/>
              <a:sym typeface="Arial"/>
            </a:endParaRPr>
          </a:p>
        </p:txBody>
      </p:sp>
      <p:sp>
        <p:nvSpPr>
          <p:cNvPr id="362" name="Google Shape;362;p36"/>
          <p:cNvSpPr/>
          <p:nvPr/>
        </p:nvSpPr>
        <p:spPr>
          <a:xfrm>
            <a:off x="468313" y="1261461"/>
            <a:ext cx="8077170" cy="377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sng" cap="none" strike="noStrike">
                <a:solidFill>
                  <a:schemeClr val="dk1"/>
                </a:solidFill>
                <a:latin typeface="Calibri"/>
                <a:ea typeface="Calibri"/>
                <a:cs typeface="Calibri"/>
                <a:sym typeface="Calibri"/>
              </a:rPr>
              <a:t>Requisitos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sng"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rgbClr val="0070C0"/>
                </a:solidFill>
                <a:latin typeface="Calibri"/>
                <a:ea typeface="Calibri"/>
                <a:cs typeface="Calibri"/>
                <a:sym typeface="Calibri"/>
              </a:rPr>
              <a:t>Funcionales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30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El sistema debe permitir el registro de nuevos beneficiarios con sus datos personales y laborales.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30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Debe calcular automáticamente la pensión basándose en la edad, los años de servicio y las contribuciones realizadas.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30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Debe permitir la consulta en línea del estado de las pensiones por parte de los beneficiarios.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rgbClr val="0070C0"/>
                </a:solidFill>
                <a:latin typeface="Calibri"/>
                <a:ea typeface="Calibri"/>
                <a:cs typeface="Calibri"/>
                <a:sym typeface="Calibri"/>
              </a:rPr>
              <a:t>No Funcionales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30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El sistema debe ser capaz de manejar al menos 100.000 usuarios concurrentes.</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30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Todos los datos deben estar encriptados para garantizar la seguridad de la información.</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30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Debe ser accesible a través de múltiples plataformas (web, móvil).</a:t>
            </a:r>
            <a:endParaRPr b="0" i="0" sz="16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VERIFICACIÓN Y VALIDACIÓN DE REQUISITOS DEL SISTEMA</a:t>
            </a:r>
            <a:endParaRPr b="0">
              <a:solidFill>
                <a:srgbClr val="0070C0"/>
              </a:solidFill>
            </a:endParaRPr>
          </a:p>
        </p:txBody>
      </p:sp>
      <p:sp>
        <p:nvSpPr>
          <p:cNvPr id="369" name="Google Shape;369;p37"/>
          <p:cNvSpPr/>
          <p:nvPr/>
        </p:nvSpPr>
        <p:spPr>
          <a:xfrm>
            <a:off x="623454" y="822808"/>
            <a:ext cx="7830590" cy="29931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sng" cap="none" strike="noStrike">
                <a:solidFill>
                  <a:schemeClr val="dk1"/>
                </a:solidFill>
                <a:latin typeface="Calibri"/>
                <a:ea typeface="Calibri"/>
                <a:cs typeface="Calibri"/>
                <a:sym typeface="Calibri"/>
              </a:rPr>
              <a:t>Verificación de Requisitos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t/>
            </a:r>
            <a:endParaRPr b="1" i="0" sz="1600" u="sng" cap="none" strike="noStrike">
              <a:solidFill>
                <a:schemeClr val="dk1"/>
              </a:solidFill>
              <a:latin typeface="Calibri"/>
              <a:ea typeface="Calibri"/>
              <a:cs typeface="Calibri"/>
              <a:sym typeface="Calibri"/>
            </a:endParaRPr>
          </a:p>
          <a:p>
            <a:pPr indent="-165099" lvl="0" marL="342900" marR="0" rtl="0" algn="l">
              <a:lnSpc>
                <a:spcPct val="100000"/>
              </a:lnSpc>
              <a:spcBef>
                <a:spcPts val="300"/>
              </a:spcBef>
              <a:spcAft>
                <a:spcPts val="0"/>
              </a:spcAft>
              <a:buClr>
                <a:schemeClr val="dk1"/>
              </a:buClr>
              <a:buSzPts val="1440"/>
              <a:buFont typeface="Calibri"/>
              <a:buAutoNum type="arabicPeriod"/>
            </a:pPr>
            <a:r>
              <a:rPr b="0" i="0" lang="es-ES" sz="1600" u="none" cap="none" strike="noStrike">
                <a:solidFill>
                  <a:schemeClr val="dk1"/>
                </a:solidFill>
                <a:latin typeface="Calibri"/>
                <a:ea typeface="Calibri"/>
                <a:cs typeface="Calibri"/>
                <a:sym typeface="Calibri"/>
              </a:rPr>
              <a:t>Revisión por Pares [Expertos en pensiones y sistemas de información revisan los requisitos para confirmar que son completos y coherentes]</a:t>
            </a:r>
            <a:endParaRPr b="0" i="0" sz="1400" u="none" cap="none" strike="noStrike">
              <a:solidFill>
                <a:srgbClr val="000000"/>
              </a:solidFill>
              <a:latin typeface="Arial"/>
              <a:ea typeface="Arial"/>
              <a:cs typeface="Arial"/>
              <a:sym typeface="Arial"/>
            </a:endParaRPr>
          </a:p>
          <a:p>
            <a:pPr indent="-165099" lvl="0" marL="342900" marR="0" rtl="0" algn="l">
              <a:lnSpc>
                <a:spcPct val="100000"/>
              </a:lnSpc>
              <a:spcBef>
                <a:spcPts val="300"/>
              </a:spcBef>
              <a:spcAft>
                <a:spcPts val="0"/>
              </a:spcAft>
              <a:buClr>
                <a:schemeClr val="dk1"/>
              </a:buClr>
              <a:buSzPts val="1440"/>
              <a:buFont typeface="Calibri"/>
              <a:buAutoNum type="arabicPeriod"/>
            </a:pPr>
            <a:r>
              <a:rPr b="0" i="0" lang="es-ES" sz="1600" u="none" cap="none" strike="noStrike">
                <a:solidFill>
                  <a:schemeClr val="dk1"/>
                </a:solidFill>
                <a:latin typeface="Calibri"/>
                <a:ea typeface="Calibri"/>
                <a:cs typeface="Calibri"/>
                <a:sym typeface="Calibri"/>
              </a:rPr>
              <a:t>Inspecciones Formales [Un equipo interdisciplinario realiza una revisión estructurada de los requisitos y valida que son claros, factibles y que no hay ambigüedades]</a:t>
            </a:r>
            <a:endParaRPr b="0" i="0" sz="1400" u="none" cap="none" strike="noStrike">
              <a:solidFill>
                <a:srgbClr val="000000"/>
              </a:solidFill>
              <a:latin typeface="Arial"/>
              <a:ea typeface="Arial"/>
              <a:cs typeface="Arial"/>
              <a:sym typeface="Arial"/>
            </a:endParaRPr>
          </a:p>
          <a:p>
            <a:pPr indent="-165099" lvl="0" marL="342900" marR="0" rtl="0" algn="l">
              <a:lnSpc>
                <a:spcPct val="100000"/>
              </a:lnSpc>
              <a:spcBef>
                <a:spcPts val="300"/>
              </a:spcBef>
              <a:spcAft>
                <a:spcPts val="0"/>
              </a:spcAft>
              <a:buClr>
                <a:schemeClr val="dk1"/>
              </a:buClr>
              <a:buSzPts val="1440"/>
              <a:buFont typeface="Calibri"/>
              <a:buAutoNum type="arabicPeriod"/>
            </a:pPr>
            <a:r>
              <a:rPr b="0" i="0" lang="es-ES" sz="1600" u="none" cap="none" strike="noStrike">
                <a:solidFill>
                  <a:schemeClr val="dk1"/>
                </a:solidFill>
                <a:latin typeface="Calibri"/>
                <a:ea typeface="Calibri"/>
                <a:cs typeface="Calibri"/>
                <a:sym typeface="Calibri"/>
              </a:rPr>
              <a:t>Pruebas Unitarias [Los desarrolladores implementan pruebas para verificar que el cálculo de la pensión se realiza de acuerdo con las fórmulas especificadas]</a:t>
            </a:r>
            <a:endParaRPr b="0" i="0" sz="1400" u="none" cap="none" strike="noStrike">
              <a:solidFill>
                <a:srgbClr val="000000"/>
              </a:solidFill>
              <a:latin typeface="Arial"/>
              <a:ea typeface="Arial"/>
              <a:cs typeface="Arial"/>
              <a:sym typeface="Arial"/>
            </a:endParaRPr>
          </a:p>
          <a:p>
            <a:pPr indent="-165099" lvl="0" marL="342900" marR="0" rtl="0" algn="l">
              <a:lnSpc>
                <a:spcPct val="100000"/>
              </a:lnSpc>
              <a:spcBef>
                <a:spcPts val="300"/>
              </a:spcBef>
              <a:spcAft>
                <a:spcPts val="0"/>
              </a:spcAft>
              <a:buClr>
                <a:schemeClr val="dk1"/>
              </a:buClr>
              <a:buSzPts val="1440"/>
              <a:buFont typeface="Calibri"/>
              <a:buAutoNum type="arabicPeriod"/>
            </a:pPr>
            <a:r>
              <a:rPr b="0" i="0" lang="es-ES" sz="1600" u="none" cap="none" strike="noStrike">
                <a:solidFill>
                  <a:schemeClr val="dk1"/>
                </a:solidFill>
                <a:latin typeface="Calibri"/>
                <a:ea typeface="Calibri"/>
                <a:cs typeface="Calibri"/>
                <a:sym typeface="Calibri"/>
              </a:rPr>
              <a:t>Análisis Estático [Se emplean herramientas de análisis de código para asegurar que las medidas de seguridad como la encriptación de datos están implementadas correctamente]</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VERIFICACIÓN Y VALIDACIÓN DE REQUISITOS DEL SISTEMA</a:t>
            </a:r>
            <a:endParaRPr b="0">
              <a:solidFill>
                <a:srgbClr val="0070C0"/>
              </a:solidFill>
            </a:endParaRPr>
          </a:p>
        </p:txBody>
      </p:sp>
      <p:sp>
        <p:nvSpPr>
          <p:cNvPr id="376" name="Google Shape;376;p38"/>
          <p:cNvSpPr/>
          <p:nvPr/>
        </p:nvSpPr>
        <p:spPr>
          <a:xfrm>
            <a:off x="623454" y="822808"/>
            <a:ext cx="7830590" cy="40318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sng" cap="none" strike="noStrike">
                <a:solidFill>
                  <a:schemeClr val="dk1"/>
                </a:solidFill>
                <a:latin typeface="Calibri"/>
                <a:ea typeface="Calibri"/>
                <a:cs typeface="Calibri"/>
                <a:sym typeface="Calibri"/>
              </a:rPr>
              <a:t>Validación de Requisitos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sng" cap="none" strike="noStrike">
              <a:solidFill>
                <a:schemeClr val="dk1"/>
              </a:solidFill>
              <a:latin typeface="Calibri"/>
              <a:ea typeface="Calibri"/>
              <a:cs typeface="Calibri"/>
              <a:sym typeface="Calibri"/>
            </a:endParaRPr>
          </a:p>
          <a:p>
            <a:pPr indent="-165099" lvl="0" marL="342900" marR="0" rtl="0" algn="l">
              <a:lnSpc>
                <a:spcPct val="100000"/>
              </a:lnSpc>
              <a:spcBef>
                <a:spcPts val="0"/>
              </a:spcBef>
              <a:spcAft>
                <a:spcPts val="0"/>
              </a:spcAft>
              <a:buClr>
                <a:schemeClr val="dk1"/>
              </a:buClr>
              <a:buSzPts val="1440"/>
              <a:buFont typeface="Calibri"/>
              <a:buAutoNum type="arabicPeriod"/>
            </a:pPr>
            <a:r>
              <a:rPr b="0" i="0" lang="es-ES" sz="1600" u="none" cap="none" strike="noStrike">
                <a:solidFill>
                  <a:schemeClr val="dk1"/>
                </a:solidFill>
                <a:latin typeface="Calibri"/>
                <a:ea typeface="Calibri"/>
                <a:cs typeface="Calibri"/>
                <a:sym typeface="Calibri"/>
              </a:rPr>
              <a:t>Pruebas de Aceptación del Usuario [Un grupo representativo de futuros usuarios realiza pruebas para validar que el sistema cumple con sus necesidades, como consultar el estado de su pensión en línea]</a:t>
            </a:r>
            <a:endParaRPr b="0" i="0" sz="1400" u="none" cap="none" strike="noStrike">
              <a:solidFill>
                <a:srgbClr val="000000"/>
              </a:solidFill>
              <a:latin typeface="Arial"/>
              <a:ea typeface="Arial"/>
              <a:cs typeface="Arial"/>
              <a:sym typeface="Arial"/>
            </a:endParaRPr>
          </a:p>
          <a:p>
            <a:pPr indent="-73659" lvl="0" marL="342900" marR="0" rtl="0" algn="l">
              <a:lnSpc>
                <a:spcPct val="100000"/>
              </a:lnSpc>
              <a:spcBef>
                <a:spcPts val="0"/>
              </a:spcBef>
              <a:spcAft>
                <a:spcPts val="0"/>
              </a:spcAft>
              <a:buClr>
                <a:schemeClr val="dk1"/>
              </a:buClr>
              <a:buSzPts val="1440"/>
              <a:buFont typeface="Calibri"/>
              <a:buNone/>
            </a:pPr>
            <a:r>
              <a:t/>
            </a:r>
            <a:endParaRPr b="0" i="0" sz="1600" u="none" cap="none" strike="noStrike">
              <a:solidFill>
                <a:schemeClr val="dk1"/>
              </a:solidFill>
              <a:latin typeface="Calibri"/>
              <a:ea typeface="Calibri"/>
              <a:cs typeface="Calibri"/>
              <a:sym typeface="Calibri"/>
            </a:endParaRPr>
          </a:p>
          <a:p>
            <a:pPr indent="-165099" lvl="0" marL="342900" marR="0" rtl="0" algn="l">
              <a:lnSpc>
                <a:spcPct val="100000"/>
              </a:lnSpc>
              <a:spcBef>
                <a:spcPts val="0"/>
              </a:spcBef>
              <a:spcAft>
                <a:spcPts val="0"/>
              </a:spcAft>
              <a:buClr>
                <a:schemeClr val="dk1"/>
              </a:buClr>
              <a:buSzPts val="1440"/>
              <a:buFont typeface="Calibri"/>
              <a:buAutoNum type="arabicPeriod"/>
            </a:pPr>
            <a:r>
              <a:rPr b="0" i="0" lang="es-ES" sz="1600" u="none" cap="none" strike="noStrike">
                <a:solidFill>
                  <a:schemeClr val="dk1"/>
                </a:solidFill>
                <a:latin typeface="Calibri"/>
                <a:ea typeface="Calibri"/>
                <a:cs typeface="Calibri"/>
                <a:sym typeface="Calibri"/>
              </a:rPr>
              <a:t>Prototipado [Se desarrolla un prototipo del sistema y se pone a disposición de un grupo limitado de usuarios para recoger retroalimentación]</a:t>
            </a:r>
            <a:endParaRPr b="0" i="0" sz="1400" u="none" cap="none" strike="noStrike">
              <a:solidFill>
                <a:srgbClr val="000000"/>
              </a:solidFill>
              <a:latin typeface="Arial"/>
              <a:ea typeface="Arial"/>
              <a:cs typeface="Arial"/>
              <a:sym typeface="Arial"/>
            </a:endParaRPr>
          </a:p>
          <a:p>
            <a:pPr indent="-73659" lvl="0" marL="342900" marR="0" rtl="0" algn="l">
              <a:lnSpc>
                <a:spcPct val="100000"/>
              </a:lnSpc>
              <a:spcBef>
                <a:spcPts val="0"/>
              </a:spcBef>
              <a:spcAft>
                <a:spcPts val="0"/>
              </a:spcAft>
              <a:buClr>
                <a:schemeClr val="dk1"/>
              </a:buClr>
              <a:buSzPts val="1440"/>
              <a:buFont typeface="Calibri"/>
              <a:buNone/>
            </a:pPr>
            <a:r>
              <a:t/>
            </a:r>
            <a:endParaRPr b="0" i="0" sz="1600" u="none" cap="none" strike="noStrike">
              <a:solidFill>
                <a:schemeClr val="dk1"/>
              </a:solidFill>
              <a:latin typeface="Calibri"/>
              <a:ea typeface="Calibri"/>
              <a:cs typeface="Calibri"/>
              <a:sym typeface="Calibri"/>
            </a:endParaRPr>
          </a:p>
          <a:p>
            <a:pPr indent="-165099" lvl="0" marL="342900" marR="0" rtl="0" algn="l">
              <a:lnSpc>
                <a:spcPct val="100000"/>
              </a:lnSpc>
              <a:spcBef>
                <a:spcPts val="0"/>
              </a:spcBef>
              <a:spcAft>
                <a:spcPts val="0"/>
              </a:spcAft>
              <a:buClr>
                <a:schemeClr val="dk1"/>
              </a:buClr>
              <a:buSzPts val="1440"/>
              <a:buFont typeface="Calibri"/>
              <a:buAutoNum type="arabicPeriod"/>
            </a:pPr>
            <a:r>
              <a:rPr b="0" i="0" lang="es-ES" sz="1600" u="none" cap="none" strike="noStrike">
                <a:solidFill>
                  <a:schemeClr val="dk1"/>
                </a:solidFill>
                <a:latin typeface="Calibri"/>
                <a:ea typeface="Calibri"/>
                <a:cs typeface="Calibri"/>
                <a:sym typeface="Calibri"/>
              </a:rPr>
              <a:t>Entrevistas y Cuestionarios [Se entrevista a stakeholders clave, como representantes gubernamentales y sindicatos, para confirmar que el sistema cumple con los requisitos a nivel institucional]</a:t>
            </a:r>
            <a:endParaRPr b="0" i="0" sz="1400" u="none" cap="none" strike="noStrike">
              <a:solidFill>
                <a:srgbClr val="000000"/>
              </a:solidFill>
              <a:latin typeface="Arial"/>
              <a:ea typeface="Arial"/>
              <a:cs typeface="Arial"/>
              <a:sym typeface="Arial"/>
            </a:endParaRPr>
          </a:p>
          <a:p>
            <a:pPr indent="-73659" lvl="0" marL="342900" marR="0" rtl="0" algn="l">
              <a:lnSpc>
                <a:spcPct val="100000"/>
              </a:lnSpc>
              <a:spcBef>
                <a:spcPts val="0"/>
              </a:spcBef>
              <a:spcAft>
                <a:spcPts val="0"/>
              </a:spcAft>
              <a:buClr>
                <a:schemeClr val="dk1"/>
              </a:buClr>
              <a:buSzPts val="1440"/>
              <a:buFont typeface="Calibri"/>
              <a:buNone/>
            </a:pPr>
            <a:r>
              <a:t/>
            </a:r>
            <a:endParaRPr b="0" i="0" sz="1600" u="none" cap="none" strike="noStrike">
              <a:solidFill>
                <a:schemeClr val="dk1"/>
              </a:solidFill>
              <a:latin typeface="Calibri"/>
              <a:ea typeface="Calibri"/>
              <a:cs typeface="Calibri"/>
              <a:sym typeface="Calibri"/>
            </a:endParaRPr>
          </a:p>
          <a:p>
            <a:pPr indent="-165099" lvl="0" marL="342900" marR="0" rtl="0" algn="l">
              <a:lnSpc>
                <a:spcPct val="100000"/>
              </a:lnSpc>
              <a:spcBef>
                <a:spcPts val="0"/>
              </a:spcBef>
              <a:spcAft>
                <a:spcPts val="0"/>
              </a:spcAft>
              <a:buClr>
                <a:schemeClr val="dk1"/>
              </a:buClr>
              <a:buSzPts val="1440"/>
              <a:buFont typeface="Calibri"/>
              <a:buAutoNum type="arabicPeriod"/>
            </a:pPr>
            <a:r>
              <a:rPr b="0" i="0" lang="es-ES" sz="1600" u="none" cap="none" strike="noStrike">
                <a:solidFill>
                  <a:schemeClr val="dk1"/>
                </a:solidFill>
                <a:latin typeface="Calibri"/>
                <a:ea typeface="Calibri"/>
                <a:cs typeface="Calibri"/>
                <a:sym typeface="Calibri"/>
              </a:rPr>
              <a:t>Análisis de Caso de Uso [Se simulan distintos escenarios de uso del sistema, como el registro de un nuevo beneficiario o la actualización de datos, para confirmar que el sistema actúa de acuerdo con los requisitos]</a:t>
            </a:r>
            <a:endParaRPr b="0" i="0" sz="16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9"/>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383" name="Google Shape;383;p39"/>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TRAZABILIDAD DE REQUISITOS</a:t>
            </a:r>
            <a:endParaRPr b="1" i="0" sz="16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id="389" name="Google Shape;389;p40"/>
          <p:cNvPicPr preferRelativeResize="0"/>
          <p:nvPr>
            <p:ph idx="2" type="pic"/>
          </p:nvPr>
        </p:nvPicPr>
        <p:blipFill rotWithShape="1">
          <a:blip r:embed="rId3">
            <a:alphaModFix/>
          </a:blip>
          <a:srcRect b="37" l="0" r="0" t="39"/>
          <a:stretch/>
        </p:blipFill>
        <p:spPr>
          <a:xfrm>
            <a:off x="1185494" y="3162861"/>
            <a:ext cx="6773011" cy="1975612"/>
          </a:xfrm>
          <a:prstGeom prst="rect">
            <a:avLst/>
          </a:prstGeom>
          <a:noFill/>
          <a:ln>
            <a:noFill/>
          </a:ln>
        </p:spPr>
      </p:pic>
      <p:sp>
        <p:nvSpPr>
          <p:cNvPr id="390" name="Google Shape;390;p40"/>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¿QUÉ ES TRAZABILIDAD DE REQUISITOS?</a:t>
            </a:r>
            <a:endParaRPr/>
          </a:p>
        </p:txBody>
      </p:sp>
      <p:sp>
        <p:nvSpPr>
          <p:cNvPr id="391" name="Google Shape;391;p40"/>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TRAZABILIDAD DE REQUISITOS</a:t>
            </a:r>
            <a:endParaRPr b="0">
              <a:solidFill>
                <a:srgbClr val="0070C0"/>
              </a:solidFill>
            </a:endParaRPr>
          </a:p>
        </p:txBody>
      </p:sp>
      <p:sp>
        <p:nvSpPr>
          <p:cNvPr id="392" name="Google Shape;392;p40"/>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Se refiere a la capacidad para seguir la vida de un requisito a lo largo de todo el ciclo de vida del proyecto.</a:t>
            </a:r>
            <a:endParaRPr/>
          </a:p>
          <a:p>
            <a:pPr indent="-266700" lvl="0" marL="266700" rtl="0" algn="l">
              <a:lnSpc>
                <a:spcPct val="100000"/>
              </a:lnSpc>
              <a:spcBef>
                <a:spcPts val="600"/>
              </a:spcBef>
              <a:spcAft>
                <a:spcPts val="0"/>
              </a:spcAft>
              <a:buClr>
                <a:schemeClr val="dk1"/>
              </a:buClr>
              <a:buSzPts val="1200"/>
              <a:buChar char="❑"/>
            </a:pPr>
            <a:r>
              <a:rPr lang="es-ES"/>
              <a:t>Esto incluye desde su origen y formulación inicial, pasando por su desarrollo y eventual implementación, hasta su validación y mantenimiento a lo largo del tiempo.</a:t>
            </a:r>
            <a:endParaRPr/>
          </a:p>
          <a:p>
            <a:pPr indent="-266700" lvl="0" marL="266700" rtl="0" algn="l">
              <a:lnSpc>
                <a:spcPct val="100000"/>
              </a:lnSpc>
              <a:spcBef>
                <a:spcPts val="600"/>
              </a:spcBef>
              <a:spcAft>
                <a:spcPts val="0"/>
              </a:spcAft>
              <a:buClr>
                <a:schemeClr val="dk1"/>
              </a:buClr>
              <a:buSzPts val="1200"/>
              <a:buChar char="❑"/>
            </a:pPr>
            <a:r>
              <a:rPr lang="es-ES"/>
              <a:t>La idea es poder “rastrear” cada requisito en todas las etapas del proyecto para entender cómo y por qué evoluciona, y cómo afecta o se ve afectado por otras partes del sistema.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41"/>
          <p:cNvPicPr preferRelativeResize="0"/>
          <p:nvPr>
            <p:ph idx="2" type="pic"/>
          </p:nvPr>
        </p:nvPicPr>
        <p:blipFill rotWithShape="1">
          <a:blip r:embed="rId3">
            <a:alphaModFix/>
          </a:blip>
          <a:srcRect b="374" l="0" r="0" t="372"/>
          <a:stretch/>
        </p:blipFill>
        <p:spPr>
          <a:xfrm>
            <a:off x="5203766" y="1401504"/>
            <a:ext cx="3355543" cy="3649645"/>
          </a:xfrm>
          <a:prstGeom prst="rect">
            <a:avLst/>
          </a:prstGeom>
          <a:noFill/>
          <a:ln>
            <a:noFill/>
          </a:ln>
        </p:spPr>
      </p:pic>
      <p:sp>
        <p:nvSpPr>
          <p:cNvPr id="399" name="Google Shape;399;p4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¿POR QUÉ ES IMPORTANTE?</a:t>
            </a:r>
            <a:endParaRPr/>
          </a:p>
        </p:txBody>
      </p:sp>
      <p:sp>
        <p:nvSpPr>
          <p:cNvPr id="400" name="Google Shape;400;p4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TRAZABILIDAD DE REQUISITOS</a:t>
            </a:r>
            <a:endParaRPr b="0">
              <a:solidFill>
                <a:srgbClr val="0070C0"/>
              </a:solidFill>
            </a:endParaRPr>
          </a:p>
        </p:txBody>
      </p:sp>
      <p:sp>
        <p:nvSpPr>
          <p:cNvPr id="401" name="Google Shape;401;p41"/>
          <p:cNvSpPr txBox="1"/>
          <p:nvPr>
            <p:ph idx="4" type="body"/>
          </p:nvPr>
        </p:nvSpPr>
        <p:spPr>
          <a:xfrm>
            <a:off x="551442" y="1177927"/>
            <a:ext cx="4560887" cy="4096800"/>
          </a:xfrm>
          <a:prstGeom prst="rect">
            <a:avLst/>
          </a:prstGeom>
          <a:noFill/>
          <a:ln>
            <a:noFill/>
          </a:ln>
        </p:spPr>
        <p:txBody>
          <a:bodyPr anchorCtr="0" anchor="t" bIns="45700" lIns="91425" spcFirstLastPara="1" rIns="91425" wrap="square" tIns="45700">
            <a:noAutofit/>
          </a:bodyPr>
          <a:lstStyle/>
          <a:p>
            <a:pPr indent="-271463" lvl="0" marL="271463" rtl="0" algn="l">
              <a:lnSpc>
                <a:spcPct val="100000"/>
              </a:lnSpc>
              <a:spcBef>
                <a:spcPts val="0"/>
              </a:spcBef>
              <a:spcAft>
                <a:spcPts val="0"/>
              </a:spcAft>
              <a:buClr>
                <a:schemeClr val="dk1"/>
              </a:buClr>
              <a:buSzPts val="1440"/>
              <a:buFont typeface="Calibri"/>
              <a:buAutoNum type="arabicParenR"/>
            </a:pPr>
            <a:r>
              <a:rPr lang="es-ES"/>
              <a:t>Los proyectos son entidades vivas que experimentan cambios. La trazabilidad ayuda a manejar estos cambios </a:t>
            </a:r>
            <a:r>
              <a:rPr b="1" lang="es-ES"/>
              <a:t>de manera controlada y consciente</a:t>
            </a:r>
            <a:r>
              <a:rPr lang="es-ES"/>
              <a:t>.</a:t>
            </a:r>
            <a:endParaRPr/>
          </a:p>
          <a:p>
            <a:pPr indent="-271463" lvl="0" marL="271463" rtl="0" algn="l">
              <a:lnSpc>
                <a:spcPct val="100000"/>
              </a:lnSpc>
              <a:spcBef>
                <a:spcPts val="600"/>
              </a:spcBef>
              <a:spcAft>
                <a:spcPts val="0"/>
              </a:spcAft>
              <a:buClr>
                <a:schemeClr val="dk1"/>
              </a:buClr>
              <a:buSzPts val="1440"/>
              <a:buFont typeface="Calibri"/>
              <a:buAutoNum type="arabicParenR"/>
            </a:pPr>
            <a:r>
              <a:rPr lang="es-ES"/>
              <a:t>Permite asegurar que todos los requisitos se han implementado correctamente y </a:t>
            </a:r>
            <a:r>
              <a:rPr b="1" lang="es-ES"/>
              <a:t>verificar que el producto final cumple con las expectativas iniciales</a:t>
            </a:r>
            <a:r>
              <a:rPr lang="es-ES"/>
              <a:t>.</a:t>
            </a:r>
            <a:endParaRPr/>
          </a:p>
          <a:p>
            <a:pPr indent="-271463" lvl="0" marL="271463" rtl="0" algn="l">
              <a:lnSpc>
                <a:spcPct val="100000"/>
              </a:lnSpc>
              <a:spcBef>
                <a:spcPts val="600"/>
              </a:spcBef>
              <a:spcAft>
                <a:spcPts val="0"/>
              </a:spcAft>
              <a:buClr>
                <a:schemeClr val="dk1"/>
              </a:buClr>
              <a:buSzPts val="1440"/>
              <a:buFont typeface="Calibri"/>
              <a:buAutoNum type="arabicParenR"/>
            </a:pPr>
            <a:r>
              <a:rPr lang="es-ES"/>
              <a:t>Actúa como una especie de “mapa” que todos los involucrados en el proyecto pueden consultar para entender el estado actual y el historial de cada requisito.</a:t>
            </a:r>
            <a:endParaRPr/>
          </a:p>
          <a:p>
            <a:pPr indent="-271463" lvl="0" marL="271463" rtl="0" algn="l">
              <a:lnSpc>
                <a:spcPct val="100000"/>
              </a:lnSpc>
              <a:spcBef>
                <a:spcPts val="600"/>
              </a:spcBef>
              <a:spcAft>
                <a:spcPts val="0"/>
              </a:spcAft>
              <a:buClr>
                <a:schemeClr val="dk1"/>
              </a:buClr>
              <a:buSzPts val="1440"/>
              <a:buFont typeface="Calibri"/>
              <a:buAutoNum type="arabicParenR"/>
            </a:pPr>
            <a:r>
              <a:rPr lang="es-ES"/>
              <a:t>Al mantener un registro detallado de cómo se han manejado los requisitos, </a:t>
            </a:r>
            <a:r>
              <a:rPr b="1" lang="es-ES"/>
              <a:t>facilita la auditoría</a:t>
            </a:r>
            <a:r>
              <a:rPr lang="es-ES"/>
              <a:t> y la revisión post-proyecto.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TRAZABILIDAD DE REQUISITOS</a:t>
            </a:r>
            <a:endParaRPr b="0">
              <a:solidFill>
                <a:srgbClr val="0070C0"/>
              </a:solidFill>
            </a:endParaRPr>
          </a:p>
        </p:txBody>
      </p:sp>
      <p:sp>
        <p:nvSpPr>
          <p:cNvPr id="408" name="Google Shape;408;p42"/>
          <p:cNvSpPr/>
          <p:nvPr/>
        </p:nvSpPr>
        <p:spPr>
          <a:xfrm>
            <a:off x="468312" y="808104"/>
            <a:ext cx="79857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Sistema de Gestión de Pensiones [nos centraremos en dos requisitos específicos del proyecto]</a:t>
            </a:r>
            <a:endParaRPr b="0" i="0" sz="1400" u="none" cap="none" strike="noStrike">
              <a:solidFill>
                <a:srgbClr val="000000"/>
              </a:solidFill>
              <a:latin typeface="Arial"/>
              <a:ea typeface="Arial"/>
              <a:cs typeface="Arial"/>
              <a:sym typeface="Arial"/>
            </a:endParaRPr>
          </a:p>
        </p:txBody>
      </p:sp>
      <p:sp>
        <p:nvSpPr>
          <p:cNvPr id="409" name="Google Shape;409;p42"/>
          <p:cNvSpPr/>
          <p:nvPr/>
        </p:nvSpPr>
        <p:spPr>
          <a:xfrm>
            <a:off x="501562" y="1146658"/>
            <a:ext cx="7952481" cy="19697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Requisitos Seleccionados</a:t>
            </a:r>
            <a:endParaRPr b="0" i="0" sz="1400" u="none" cap="none" strike="noStrike">
              <a:solidFill>
                <a:srgbClr val="000000"/>
              </a:solidFill>
              <a:latin typeface="Arial"/>
              <a:ea typeface="Arial"/>
              <a:cs typeface="Arial"/>
              <a:sym typeface="Arial"/>
            </a:endParaRPr>
          </a:p>
          <a:p>
            <a:pPr indent="-277813" lvl="1" marL="542925" marR="0" rtl="0" algn="l">
              <a:lnSpc>
                <a:spcPct val="100000"/>
              </a:lnSpc>
              <a:spcBef>
                <a:spcPts val="300"/>
              </a:spcBef>
              <a:spcAft>
                <a:spcPts val="0"/>
              </a:spcAft>
              <a:buClr>
                <a:schemeClr val="dk1"/>
              </a:buClr>
              <a:buSzPts val="1600"/>
              <a:buFont typeface="Calibri"/>
              <a:buNone/>
            </a:pPr>
            <a:r>
              <a:rPr b="1" i="0" lang="es-ES" sz="1600" u="none" cap="none" strike="noStrike">
                <a:solidFill>
                  <a:schemeClr val="dk1"/>
                </a:solidFill>
                <a:latin typeface="Calibri"/>
                <a:ea typeface="Calibri"/>
                <a:cs typeface="Calibri"/>
                <a:sym typeface="Calibri"/>
              </a:rPr>
              <a:t>R1:</a:t>
            </a:r>
            <a:r>
              <a:rPr b="0" i="0" lang="es-ES" sz="1600" u="none" cap="none" strike="noStrike">
                <a:solidFill>
                  <a:schemeClr val="dk1"/>
                </a:solidFill>
                <a:latin typeface="Calibri"/>
                <a:ea typeface="Calibri"/>
                <a:cs typeface="Calibri"/>
                <a:sym typeface="Calibri"/>
              </a:rPr>
              <a:t>	 El sistema debe permitir el registro de nuevos beneficiarios con sus datos personales y laborales.</a:t>
            </a:r>
            <a:endParaRPr b="0" i="0" sz="1400" u="none" cap="none" strike="noStrike">
              <a:solidFill>
                <a:srgbClr val="000000"/>
              </a:solidFill>
              <a:latin typeface="Arial"/>
              <a:ea typeface="Arial"/>
              <a:cs typeface="Arial"/>
              <a:sym typeface="Arial"/>
            </a:endParaRPr>
          </a:p>
          <a:p>
            <a:pPr indent="-277813" lvl="1" marL="542925" marR="0" rtl="0" algn="l">
              <a:lnSpc>
                <a:spcPct val="100000"/>
              </a:lnSpc>
              <a:spcBef>
                <a:spcPts val="300"/>
              </a:spcBef>
              <a:spcAft>
                <a:spcPts val="0"/>
              </a:spcAft>
              <a:buClr>
                <a:schemeClr val="dk1"/>
              </a:buClr>
              <a:buSzPts val="1600"/>
              <a:buFont typeface="Calibri"/>
              <a:buNone/>
            </a:pPr>
            <a:r>
              <a:rPr b="1" i="0" lang="es-ES" sz="1600" u="none" cap="none" strike="noStrike">
                <a:solidFill>
                  <a:schemeClr val="dk1"/>
                </a:solidFill>
                <a:latin typeface="Calibri"/>
                <a:ea typeface="Calibri"/>
                <a:cs typeface="Calibri"/>
                <a:sym typeface="Calibri"/>
              </a:rPr>
              <a:t>R2:</a:t>
            </a:r>
            <a:r>
              <a:rPr b="0" i="0" lang="es-ES" sz="1600" u="none" cap="none" strike="noStrike">
                <a:solidFill>
                  <a:schemeClr val="dk1"/>
                </a:solidFill>
                <a:latin typeface="Calibri"/>
                <a:ea typeface="Calibri"/>
                <a:cs typeface="Calibri"/>
                <a:sym typeface="Calibri"/>
              </a:rPr>
              <a:t>	 Debe calcular automáticamente la pensión basándose en la edad, los años de servicio y las contribuciones realizadas.</a:t>
            </a:r>
            <a:endParaRPr b="0" i="0" sz="1400" u="none" cap="none" strike="noStrike">
              <a:solidFill>
                <a:srgbClr val="000000"/>
              </a:solidFill>
              <a:latin typeface="Arial"/>
              <a:ea typeface="Arial"/>
              <a:cs typeface="Arial"/>
              <a:sym typeface="Arial"/>
            </a:endParaRPr>
          </a:p>
          <a:p>
            <a:pPr indent="-277813" lvl="1" marL="542925" marR="0" rtl="0" algn="l">
              <a:lnSpc>
                <a:spcPct val="100000"/>
              </a:lnSpc>
              <a:spcBef>
                <a:spcPts val="30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La Matriz de Trazabilidad de Requisitos (simplificada) puede lucir así:</a:t>
            </a:r>
            <a:endParaRPr b="0" i="0" sz="1400" u="none" cap="none" strike="noStrike">
              <a:solidFill>
                <a:srgbClr val="000000"/>
              </a:solidFill>
              <a:latin typeface="Arial"/>
              <a:ea typeface="Arial"/>
              <a:cs typeface="Arial"/>
              <a:sym typeface="Arial"/>
            </a:endParaRPr>
          </a:p>
        </p:txBody>
      </p:sp>
      <p:graphicFrame>
        <p:nvGraphicFramePr>
          <p:cNvPr id="410" name="Google Shape;410;p42"/>
          <p:cNvGraphicFramePr/>
          <p:nvPr/>
        </p:nvGraphicFramePr>
        <p:xfrm>
          <a:off x="576763" y="3222674"/>
          <a:ext cx="3000000" cy="3000000"/>
        </p:xfrm>
        <a:graphic>
          <a:graphicData uri="http://schemas.openxmlformats.org/drawingml/2006/table">
            <a:tbl>
              <a:tblPr firstCol="1" firstRow="1">
                <a:noFill/>
                <a:tableStyleId>{D4A5DEEE-1723-4D5D-A001-8B3128930F82}</a:tableStyleId>
              </a:tblPr>
              <a:tblGrid>
                <a:gridCol w="820625"/>
                <a:gridCol w="1371600"/>
                <a:gridCol w="1395050"/>
                <a:gridCol w="1209175"/>
                <a:gridCol w="1551975"/>
                <a:gridCol w="1453650"/>
              </a:tblGrid>
              <a:tr h="617225">
                <a:tc>
                  <a:txBody>
                    <a:bodyPr/>
                    <a:lstStyle/>
                    <a:p>
                      <a:pPr indent="0" lvl="0" marL="0" marR="0" rtl="0" algn="ctr">
                        <a:lnSpc>
                          <a:spcPct val="85000"/>
                        </a:lnSpc>
                        <a:spcBef>
                          <a:spcPts val="0"/>
                        </a:spcBef>
                        <a:spcAft>
                          <a:spcPts val="0"/>
                        </a:spcAft>
                        <a:buClr>
                          <a:srgbClr val="000000"/>
                        </a:buClr>
                        <a:buSzPts val="1400"/>
                        <a:buFont typeface="Arial"/>
                        <a:buNone/>
                      </a:pPr>
                      <a:r>
                        <a:rPr lang="es-ES" sz="1400" u="none" cap="none" strike="noStrike"/>
                        <a:t>ID del Requisito</a:t>
                      </a:r>
                      <a:endParaRPr sz="1400" u="none" cap="none" strike="noStrike">
                        <a:latin typeface="Calibri"/>
                        <a:ea typeface="Calibri"/>
                        <a:cs typeface="Calibri"/>
                        <a:sym typeface="Calibri"/>
                      </a:endParaRPr>
                    </a:p>
                  </a:txBody>
                  <a:tcPr marT="9525" marB="9525" marR="9525" marL="9525" anchor="ctr">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solidFill>
                      <a:srgbClr val="7F7F7F"/>
                    </a:solidFill>
                  </a:tcPr>
                </a:tc>
                <a:tc>
                  <a:txBody>
                    <a:bodyPr/>
                    <a:lstStyle/>
                    <a:p>
                      <a:pPr indent="0" lvl="0" marL="0" marR="0" rtl="0" algn="ctr">
                        <a:lnSpc>
                          <a:spcPct val="85000"/>
                        </a:lnSpc>
                        <a:spcBef>
                          <a:spcPts val="0"/>
                        </a:spcBef>
                        <a:spcAft>
                          <a:spcPts val="0"/>
                        </a:spcAft>
                        <a:buClr>
                          <a:srgbClr val="000000"/>
                        </a:buClr>
                        <a:buSzPts val="1400"/>
                        <a:buFont typeface="Arial"/>
                        <a:buNone/>
                      </a:pPr>
                      <a:r>
                        <a:rPr lang="es-ES" sz="1400" u="none" cap="none" strike="noStrike"/>
                        <a:t>Descripción</a:t>
                      </a:r>
                      <a:endParaRPr sz="1400" u="none" cap="none" strike="noStrike">
                        <a:latin typeface="Calibri"/>
                        <a:ea typeface="Calibri"/>
                        <a:cs typeface="Calibri"/>
                        <a:sym typeface="Calibri"/>
                      </a:endParaRPr>
                    </a:p>
                  </a:txBody>
                  <a:tcPr marT="9525" marB="9525" marR="9525" marL="9525" anchor="ctr">
                    <a:lnT cap="flat" cmpd="sng" w="12700">
                      <a:solidFill>
                        <a:schemeClr val="dk1"/>
                      </a:solidFill>
                      <a:prstDash val="solid"/>
                      <a:round/>
                      <a:headEnd len="sm" w="sm" type="none"/>
                      <a:tailEnd len="sm" w="sm" type="none"/>
                    </a:lnT>
                    <a:solidFill>
                      <a:srgbClr val="7F7F7F"/>
                    </a:solidFill>
                  </a:tcPr>
                </a:tc>
                <a:tc>
                  <a:txBody>
                    <a:bodyPr/>
                    <a:lstStyle/>
                    <a:p>
                      <a:pPr indent="0" lvl="0" marL="0" marR="0" rtl="0" algn="ctr">
                        <a:lnSpc>
                          <a:spcPct val="85000"/>
                        </a:lnSpc>
                        <a:spcBef>
                          <a:spcPts val="0"/>
                        </a:spcBef>
                        <a:spcAft>
                          <a:spcPts val="0"/>
                        </a:spcAft>
                        <a:buClr>
                          <a:srgbClr val="000000"/>
                        </a:buClr>
                        <a:buSzPts val="1400"/>
                        <a:buFont typeface="Arial"/>
                        <a:buNone/>
                      </a:pPr>
                      <a:r>
                        <a:rPr lang="es-ES" sz="1400" u="none" cap="none" strike="noStrike"/>
                        <a:t>Fuente</a:t>
                      </a:r>
                      <a:endParaRPr sz="1400" u="none" cap="none" strike="noStrike">
                        <a:latin typeface="Calibri"/>
                        <a:ea typeface="Calibri"/>
                        <a:cs typeface="Calibri"/>
                        <a:sym typeface="Calibri"/>
                      </a:endParaRPr>
                    </a:p>
                  </a:txBody>
                  <a:tcPr marT="9525" marB="9525" marR="9525" marL="9525" anchor="ctr">
                    <a:lnT cap="flat" cmpd="sng" w="12700">
                      <a:solidFill>
                        <a:schemeClr val="dk1"/>
                      </a:solidFill>
                      <a:prstDash val="solid"/>
                      <a:round/>
                      <a:headEnd len="sm" w="sm" type="none"/>
                      <a:tailEnd len="sm" w="sm" type="none"/>
                    </a:lnT>
                    <a:solidFill>
                      <a:srgbClr val="7F7F7F"/>
                    </a:solidFill>
                  </a:tcPr>
                </a:tc>
                <a:tc>
                  <a:txBody>
                    <a:bodyPr/>
                    <a:lstStyle/>
                    <a:p>
                      <a:pPr indent="0" lvl="0" marL="0" marR="0" rtl="0" algn="ctr">
                        <a:lnSpc>
                          <a:spcPct val="85000"/>
                        </a:lnSpc>
                        <a:spcBef>
                          <a:spcPts val="0"/>
                        </a:spcBef>
                        <a:spcAft>
                          <a:spcPts val="0"/>
                        </a:spcAft>
                        <a:buClr>
                          <a:srgbClr val="000000"/>
                        </a:buClr>
                        <a:buSzPts val="1400"/>
                        <a:buFont typeface="Arial"/>
                        <a:buNone/>
                      </a:pPr>
                      <a:r>
                        <a:rPr lang="es-ES" sz="1400" u="none" cap="none" strike="noStrike"/>
                        <a:t>Etapa de Verificación</a:t>
                      </a:r>
                      <a:endParaRPr sz="1400" u="none" cap="none" strike="noStrike">
                        <a:latin typeface="Calibri"/>
                        <a:ea typeface="Calibri"/>
                        <a:cs typeface="Calibri"/>
                        <a:sym typeface="Calibri"/>
                      </a:endParaRPr>
                    </a:p>
                  </a:txBody>
                  <a:tcPr marT="9525" marB="9525" marR="9525" marL="9525" anchor="ctr">
                    <a:lnT cap="flat" cmpd="sng" w="12700">
                      <a:solidFill>
                        <a:schemeClr val="dk1"/>
                      </a:solidFill>
                      <a:prstDash val="solid"/>
                      <a:round/>
                      <a:headEnd len="sm" w="sm" type="none"/>
                      <a:tailEnd len="sm" w="sm" type="none"/>
                    </a:lnT>
                    <a:solidFill>
                      <a:srgbClr val="7F7F7F"/>
                    </a:solidFill>
                  </a:tcPr>
                </a:tc>
                <a:tc>
                  <a:txBody>
                    <a:bodyPr/>
                    <a:lstStyle/>
                    <a:p>
                      <a:pPr indent="0" lvl="0" marL="0" marR="0" rtl="0" algn="ctr">
                        <a:lnSpc>
                          <a:spcPct val="85000"/>
                        </a:lnSpc>
                        <a:spcBef>
                          <a:spcPts val="0"/>
                        </a:spcBef>
                        <a:spcAft>
                          <a:spcPts val="0"/>
                        </a:spcAft>
                        <a:buClr>
                          <a:srgbClr val="000000"/>
                        </a:buClr>
                        <a:buSzPts val="1400"/>
                        <a:buFont typeface="Arial"/>
                        <a:buNone/>
                      </a:pPr>
                      <a:r>
                        <a:rPr lang="es-ES" sz="1400" u="none" cap="none" strike="noStrike"/>
                        <a:t>Etapa de Validación</a:t>
                      </a:r>
                      <a:endParaRPr sz="1400" u="none" cap="none" strike="noStrike">
                        <a:latin typeface="Calibri"/>
                        <a:ea typeface="Calibri"/>
                        <a:cs typeface="Calibri"/>
                        <a:sym typeface="Calibri"/>
                      </a:endParaRPr>
                    </a:p>
                  </a:txBody>
                  <a:tcPr marT="9525" marB="9525" marR="9525" marL="9525" anchor="ctr">
                    <a:lnT cap="flat" cmpd="sng" w="12700">
                      <a:solidFill>
                        <a:schemeClr val="dk1"/>
                      </a:solidFill>
                      <a:prstDash val="solid"/>
                      <a:round/>
                      <a:headEnd len="sm" w="sm" type="none"/>
                      <a:tailEnd len="sm" w="sm" type="none"/>
                    </a:lnT>
                    <a:solidFill>
                      <a:srgbClr val="7F7F7F"/>
                    </a:solidFill>
                  </a:tcPr>
                </a:tc>
                <a:tc>
                  <a:txBody>
                    <a:bodyPr/>
                    <a:lstStyle/>
                    <a:p>
                      <a:pPr indent="0" lvl="0" marL="0" marR="0" rtl="0" algn="ctr">
                        <a:lnSpc>
                          <a:spcPct val="85000"/>
                        </a:lnSpc>
                        <a:spcBef>
                          <a:spcPts val="0"/>
                        </a:spcBef>
                        <a:spcAft>
                          <a:spcPts val="0"/>
                        </a:spcAft>
                        <a:buClr>
                          <a:srgbClr val="000000"/>
                        </a:buClr>
                        <a:buSzPts val="1400"/>
                        <a:buFont typeface="Arial"/>
                        <a:buNone/>
                      </a:pPr>
                      <a:r>
                        <a:rPr lang="es-ES" sz="1400" u="none" cap="none" strike="noStrike"/>
                        <a:t>Elemento de Implementación</a:t>
                      </a:r>
                      <a:endParaRPr sz="1400" u="none" cap="none" strike="noStrike">
                        <a:latin typeface="Calibri"/>
                        <a:ea typeface="Calibri"/>
                        <a:cs typeface="Calibri"/>
                        <a:sym typeface="Calibri"/>
                      </a:endParaRPr>
                    </a:p>
                  </a:txBody>
                  <a:tcPr marT="9525" marB="9525" marR="9525" marL="9525" anchor="ctr">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solidFill>
                      <a:srgbClr val="7F7F7F"/>
                    </a:solidFill>
                  </a:tcPr>
                </a:tc>
              </a:tr>
              <a:tr h="533500">
                <a:tc>
                  <a:txBody>
                    <a:bodyPr/>
                    <a:lstStyle/>
                    <a:p>
                      <a:pPr indent="0" lvl="0" marL="0" marR="0" rtl="0" algn="ctr">
                        <a:lnSpc>
                          <a:spcPct val="85000"/>
                        </a:lnSpc>
                        <a:spcBef>
                          <a:spcPts val="0"/>
                        </a:spcBef>
                        <a:spcAft>
                          <a:spcPts val="0"/>
                        </a:spcAft>
                        <a:buClr>
                          <a:srgbClr val="000000"/>
                        </a:buClr>
                        <a:buSzPts val="1200"/>
                        <a:buFont typeface="Arial"/>
                        <a:buNone/>
                      </a:pPr>
                      <a:r>
                        <a:rPr lang="es-ES" sz="1200" u="none" cap="none" strike="noStrike"/>
                        <a:t>R1</a:t>
                      </a:r>
                      <a:endParaRPr sz="1200" u="none" cap="none" strike="noStrike">
                        <a:latin typeface="Calibri"/>
                        <a:ea typeface="Calibri"/>
                        <a:cs typeface="Calibri"/>
                        <a:sym typeface="Calibri"/>
                      </a:endParaRPr>
                    </a:p>
                  </a:txBody>
                  <a:tcPr marT="9525" marB="9525" marR="9525" marL="9525" anchor="ctr">
                    <a:lnL cap="flat" cmpd="sng" w="12700">
                      <a:solidFill>
                        <a:schemeClr val="dk1"/>
                      </a:solidFill>
                      <a:prstDash val="solid"/>
                      <a:round/>
                      <a:headEnd len="sm" w="sm" type="none"/>
                      <a:tailEnd len="sm" w="sm" type="none"/>
                    </a:lnL>
                    <a:solidFill>
                      <a:srgbClr val="7F7F7F"/>
                    </a:solidFill>
                  </a:tcPr>
                </a:tc>
                <a:tc>
                  <a:txBody>
                    <a:bodyPr/>
                    <a:lstStyle/>
                    <a:p>
                      <a:pPr indent="0" lvl="0" marL="0" marR="0" rtl="0" algn="l">
                        <a:lnSpc>
                          <a:spcPct val="85000"/>
                        </a:lnSpc>
                        <a:spcBef>
                          <a:spcPts val="0"/>
                        </a:spcBef>
                        <a:spcAft>
                          <a:spcPts val="0"/>
                        </a:spcAft>
                        <a:buClr>
                          <a:srgbClr val="000000"/>
                        </a:buClr>
                        <a:buSzPts val="1200"/>
                        <a:buFont typeface="Arial"/>
                        <a:buNone/>
                      </a:pPr>
                      <a:r>
                        <a:rPr lang="es-ES" sz="1200" u="none" cap="none" strike="noStrike">
                          <a:solidFill>
                            <a:srgbClr val="7F7F7F"/>
                          </a:solidFill>
                        </a:rPr>
                        <a:t>Registro de nuevos beneficiarios</a:t>
                      </a:r>
                      <a:endParaRPr sz="1200" u="none" cap="none" strike="noStrike">
                        <a:solidFill>
                          <a:srgbClr val="7F7F7F"/>
                        </a:solidFill>
                        <a:latin typeface="Calibri"/>
                        <a:ea typeface="Calibri"/>
                        <a:cs typeface="Calibri"/>
                        <a:sym typeface="Calibri"/>
                      </a:endParaRPr>
                    </a:p>
                  </a:txBody>
                  <a:tcPr marT="9525" marB="9525" marR="9525" marL="9525" anchor="ctr"/>
                </a:tc>
                <a:tc>
                  <a:txBody>
                    <a:bodyPr/>
                    <a:lstStyle/>
                    <a:p>
                      <a:pPr indent="0" lvl="0" marL="0" marR="0" rtl="0" algn="l">
                        <a:lnSpc>
                          <a:spcPct val="85000"/>
                        </a:lnSpc>
                        <a:spcBef>
                          <a:spcPts val="0"/>
                        </a:spcBef>
                        <a:spcAft>
                          <a:spcPts val="0"/>
                        </a:spcAft>
                        <a:buClr>
                          <a:srgbClr val="000000"/>
                        </a:buClr>
                        <a:buSzPts val="1200"/>
                        <a:buFont typeface="Arial"/>
                        <a:buNone/>
                      </a:pPr>
                      <a:r>
                        <a:rPr lang="es-ES" sz="1200" u="none" cap="none" strike="noStrike">
                          <a:solidFill>
                            <a:srgbClr val="7F7F7F"/>
                          </a:solidFill>
                        </a:rPr>
                        <a:t>Departamento de Beneficios</a:t>
                      </a:r>
                      <a:endParaRPr sz="1200" u="none" cap="none" strike="noStrike">
                        <a:solidFill>
                          <a:srgbClr val="7F7F7F"/>
                        </a:solidFill>
                        <a:latin typeface="Calibri"/>
                        <a:ea typeface="Calibri"/>
                        <a:cs typeface="Calibri"/>
                        <a:sym typeface="Calibri"/>
                      </a:endParaRPr>
                    </a:p>
                  </a:txBody>
                  <a:tcPr marT="9525" marB="9525" marR="9525" marL="9525" anchor="ctr"/>
                </a:tc>
                <a:tc>
                  <a:txBody>
                    <a:bodyPr/>
                    <a:lstStyle/>
                    <a:p>
                      <a:pPr indent="0" lvl="0" marL="0" marR="0" rtl="0" algn="l">
                        <a:lnSpc>
                          <a:spcPct val="85000"/>
                        </a:lnSpc>
                        <a:spcBef>
                          <a:spcPts val="0"/>
                        </a:spcBef>
                        <a:spcAft>
                          <a:spcPts val="0"/>
                        </a:spcAft>
                        <a:buClr>
                          <a:srgbClr val="000000"/>
                        </a:buClr>
                        <a:buSzPts val="1200"/>
                        <a:buFont typeface="Arial"/>
                        <a:buNone/>
                      </a:pPr>
                      <a:r>
                        <a:rPr lang="es-ES" sz="1200" u="none" cap="none" strike="noStrike">
                          <a:solidFill>
                            <a:srgbClr val="7F7F7F"/>
                          </a:solidFill>
                        </a:rPr>
                        <a:t>Inspección Formal, Pruebas Unitarias</a:t>
                      </a:r>
                      <a:endParaRPr sz="1200" u="none" cap="none" strike="noStrike">
                        <a:solidFill>
                          <a:srgbClr val="7F7F7F"/>
                        </a:solidFill>
                        <a:latin typeface="Calibri"/>
                        <a:ea typeface="Calibri"/>
                        <a:cs typeface="Calibri"/>
                        <a:sym typeface="Calibri"/>
                      </a:endParaRPr>
                    </a:p>
                  </a:txBody>
                  <a:tcPr marT="9525" marB="9525" marR="9525" marL="9525" anchor="ctr"/>
                </a:tc>
                <a:tc>
                  <a:txBody>
                    <a:bodyPr/>
                    <a:lstStyle/>
                    <a:p>
                      <a:pPr indent="0" lvl="0" marL="0" marR="0" rtl="0" algn="l">
                        <a:lnSpc>
                          <a:spcPct val="85000"/>
                        </a:lnSpc>
                        <a:spcBef>
                          <a:spcPts val="0"/>
                        </a:spcBef>
                        <a:spcAft>
                          <a:spcPts val="0"/>
                        </a:spcAft>
                        <a:buClr>
                          <a:srgbClr val="000000"/>
                        </a:buClr>
                        <a:buSzPts val="1200"/>
                        <a:buFont typeface="Arial"/>
                        <a:buNone/>
                      </a:pPr>
                      <a:r>
                        <a:rPr lang="es-ES" sz="1200" u="none" cap="none" strike="noStrike">
                          <a:solidFill>
                            <a:srgbClr val="7F7F7F"/>
                          </a:solidFill>
                        </a:rPr>
                        <a:t>Pruebas de Aceptación del Usuario, Entrevistas</a:t>
                      </a:r>
                      <a:endParaRPr sz="1200" u="none" cap="none" strike="noStrike">
                        <a:solidFill>
                          <a:srgbClr val="7F7F7F"/>
                        </a:solidFill>
                        <a:latin typeface="Calibri"/>
                        <a:ea typeface="Calibri"/>
                        <a:cs typeface="Calibri"/>
                        <a:sym typeface="Calibri"/>
                      </a:endParaRPr>
                    </a:p>
                  </a:txBody>
                  <a:tcPr marT="9525" marB="9525" marR="9525" marL="9525" anchor="ctr"/>
                </a:tc>
                <a:tc>
                  <a:txBody>
                    <a:bodyPr/>
                    <a:lstStyle/>
                    <a:p>
                      <a:pPr indent="0" lvl="0" marL="0" marR="0" rtl="0" algn="l">
                        <a:lnSpc>
                          <a:spcPct val="85000"/>
                        </a:lnSpc>
                        <a:spcBef>
                          <a:spcPts val="0"/>
                        </a:spcBef>
                        <a:spcAft>
                          <a:spcPts val="0"/>
                        </a:spcAft>
                        <a:buClr>
                          <a:srgbClr val="000000"/>
                        </a:buClr>
                        <a:buSzPts val="1200"/>
                        <a:buFont typeface="Arial"/>
                        <a:buNone/>
                      </a:pPr>
                      <a:r>
                        <a:rPr lang="es-ES" sz="1200" u="none" cap="none" strike="noStrike">
                          <a:solidFill>
                            <a:srgbClr val="7F7F7F"/>
                          </a:solidFill>
                        </a:rPr>
                        <a:t>Módulo de Registro en la base de código</a:t>
                      </a:r>
                      <a:endParaRPr sz="1200" u="none" cap="none" strike="noStrike">
                        <a:solidFill>
                          <a:srgbClr val="7F7F7F"/>
                        </a:solidFill>
                        <a:latin typeface="Calibri"/>
                        <a:ea typeface="Calibri"/>
                        <a:cs typeface="Calibri"/>
                        <a:sym typeface="Calibri"/>
                      </a:endParaRPr>
                    </a:p>
                  </a:txBody>
                  <a:tcPr marT="9525" marB="9525" marR="9525" marL="9525" anchor="ctr">
                    <a:lnR cap="flat" cmpd="sng" w="12700">
                      <a:solidFill>
                        <a:schemeClr val="dk1"/>
                      </a:solidFill>
                      <a:prstDash val="solid"/>
                      <a:round/>
                      <a:headEnd len="sm" w="sm" type="none"/>
                      <a:tailEnd len="sm" w="sm" type="none"/>
                    </a:lnR>
                  </a:tcPr>
                </a:tc>
              </a:tr>
              <a:tr h="533500">
                <a:tc>
                  <a:txBody>
                    <a:bodyPr/>
                    <a:lstStyle/>
                    <a:p>
                      <a:pPr indent="0" lvl="0" marL="0" marR="0" rtl="0" algn="ctr">
                        <a:lnSpc>
                          <a:spcPct val="85000"/>
                        </a:lnSpc>
                        <a:spcBef>
                          <a:spcPts val="0"/>
                        </a:spcBef>
                        <a:spcAft>
                          <a:spcPts val="0"/>
                        </a:spcAft>
                        <a:buClr>
                          <a:srgbClr val="000000"/>
                        </a:buClr>
                        <a:buSzPts val="1200"/>
                        <a:buFont typeface="Arial"/>
                        <a:buNone/>
                      </a:pPr>
                      <a:r>
                        <a:rPr lang="es-ES" sz="1200" u="none" cap="none" strike="noStrike"/>
                        <a:t>R2</a:t>
                      </a:r>
                      <a:endParaRPr sz="1200" u="none" cap="none" strike="noStrike">
                        <a:latin typeface="Calibri"/>
                        <a:ea typeface="Calibri"/>
                        <a:cs typeface="Calibri"/>
                        <a:sym typeface="Calibri"/>
                      </a:endParaRPr>
                    </a:p>
                  </a:txBody>
                  <a:tcPr marT="9525" marB="9525" marR="9525" marL="9525" anchor="ctr">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solidFill>
                      <a:srgbClr val="7F7F7F"/>
                    </a:solidFill>
                  </a:tcPr>
                </a:tc>
                <a:tc>
                  <a:txBody>
                    <a:bodyPr/>
                    <a:lstStyle/>
                    <a:p>
                      <a:pPr indent="0" lvl="0" marL="0" marR="0" rtl="0" algn="l">
                        <a:lnSpc>
                          <a:spcPct val="85000"/>
                        </a:lnSpc>
                        <a:spcBef>
                          <a:spcPts val="0"/>
                        </a:spcBef>
                        <a:spcAft>
                          <a:spcPts val="0"/>
                        </a:spcAft>
                        <a:buClr>
                          <a:srgbClr val="000000"/>
                        </a:buClr>
                        <a:buSzPts val="1200"/>
                        <a:buFont typeface="Arial"/>
                        <a:buNone/>
                      </a:pPr>
                      <a:r>
                        <a:rPr lang="es-ES" sz="1200" u="none" cap="none" strike="noStrike">
                          <a:solidFill>
                            <a:srgbClr val="7F7F7F"/>
                          </a:solidFill>
                        </a:rPr>
                        <a:t>Cálculo automático de la pensión</a:t>
                      </a:r>
                      <a:endParaRPr sz="1200" u="none" cap="none" strike="noStrike">
                        <a:solidFill>
                          <a:srgbClr val="7F7F7F"/>
                        </a:solidFill>
                        <a:latin typeface="Calibri"/>
                        <a:ea typeface="Calibri"/>
                        <a:cs typeface="Calibri"/>
                        <a:sym typeface="Calibri"/>
                      </a:endParaRPr>
                    </a:p>
                  </a:txBody>
                  <a:tcPr marT="9525" marB="9525" marR="9525" marL="9525" anchor="ctr">
                    <a:lnB cap="flat" cmpd="sng" w="12700">
                      <a:solidFill>
                        <a:schemeClr val="dk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rgbClr val="000000"/>
                        </a:buClr>
                        <a:buSzPts val="1200"/>
                        <a:buFont typeface="Arial"/>
                        <a:buNone/>
                      </a:pPr>
                      <a:r>
                        <a:rPr lang="es-ES" sz="1200" u="none" cap="none" strike="noStrike">
                          <a:solidFill>
                            <a:srgbClr val="7F7F7F"/>
                          </a:solidFill>
                        </a:rPr>
                        <a:t>Actuarios, Usuarios Finales</a:t>
                      </a:r>
                      <a:endParaRPr sz="1200" u="none" cap="none" strike="noStrike">
                        <a:solidFill>
                          <a:srgbClr val="7F7F7F"/>
                        </a:solidFill>
                        <a:latin typeface="Calibri"/>
                        <a:ea typeface="Calibri"/>
                        <a:cs typeface="Calibri"/>
                        <a:sym typeface="Calibri"/>
                      </a:endParaRPr>
                    </a:p>
                  </a:txBody>
                  <a:tcPr marT="9525" marB="9525" marR="9525" marL="9525" anchor="ctr">
                    <a:lnB cap="flat" cmpd="sng" w="12700">
                      <a:solidFill>
                        <a:schemeClr val="dk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rgbClr val="000000"/>
                        </a:buClr>
                        <a:buSzPts val="1200"/>
                        <a:buFont typeface="Arial"/>
                        <a:buNone/>
                      </a:pPr>
                      <a:r>
                        <a:rPr lang="es-ES" sz="1200" u="none" cap="none" strike="noStrike">
                          <a:solidFill>
                            <a:srgbClr val="7F7F7F"/>
                          </a:solidFill>
                        </a:rPr>
                        <a:t>Análisis Estático, Pruebas Unitarias</a:t>
                      </a:r>
                      <a:endParaRPr sz="1200" u="none" cap="none" strike="noStrike">
                        <a:solidFill>
                          <a:srgbClr val="7F7F7F"/>
                        </a:solidFill>
                        <a:latin typeface="Calibri"/>
                        <a:ea typeface="Calibri"/>
                        <a:cs typeface="Calibri"/>
                        <a:sym typeface="Calibri"/>
                      </a:endParaRPr>
                    </a:p>
                  </a:txBody>
                  <a:tcPr marT="9525" marB="9525" marR="9525" marL="9525" anchor="ctr">
                    <a:lnB cap="flat" cmpd="sng" w="12700">
                      <a:solidFill>
                        <a:schemeClr val="dk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rgbClr val="000000"/>
                        </a:buClr>
                        <a:buSzPts val="1200"/>
                        <a:buFont typeface="Arial"/>
                        <a:buNone/>
                      </a:pPr>
                      <a:r>
                        <a:rPr lang="es-ES" sz="1200" u="none" cap="none" strike="noStrike">
                          <a:solidFill>
                            <a:srgbClr val="7F7F7F"/>
                          </a:solidFill>
                        </a:rPr>
                        <a:t>Prototipado, Análisis de Caso de Uso</a:t>
                      </a:r>
                      <a:endParaRPr sz="1200" u="none" cap="none" strike="noStrike">
                        <a:solidFill>
                          <a:srgbClr val="7F7F7F"/>
                        </a:solidFill>
                        <a:latin typeface="Calibri"/>
                        <a:ea typeface="Calibri"/>
                        <a:cs typeface="Calibri"/>
                        <a:sym typeface="Calibri"/>
                      </a:endParaRPr>
                    </a:p>
                  </a:txBody>
                  <a:tcPr marT="9525" marB="9525" marR="9525" marL="9525" anchor="ctr">
                    <a:lnB cap="flat" cmpd="sng" w="12700">
                      <a:solidFill>
                        <a:schemeClr val="dk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rgbClr val="000000"/>
                        </a:buClr>
                        <a:buSzPts val="1200"/>
                        <a:buFont typeface="Arial"/>
                        <a:buNone/>
                      </a:pPr>
                      <a:r>
                        <a:rPr lang="es-ES" sz="1200" u="none" cap="none" strike="noStrike">
                          <a:solidFill>
                            <a:srgbClr val="7F7F7F"/>
                          </a:solidFill>
                        </a:rPr>
                        <a:t>Módulo de Cálculo en la base de código</a:t>
                      </a:r>
                      <a:endParaRPr sz="1200" u="none" cap="none" strike="noStrike">
                        <a:solidFill>
                          <a:srgbClr val="7F7F7F"/>
                        </a:solidFill>
                        <a:latin typeface="Calibri"/>
                        <a:ea typeface="Calibri"/>
                        <a:cs typeface="Calibri"/>
                        <a:sym typeface="Calibri"/>
                      </a:endParaRPr>
                    </a:p>
                  </a:txBody>
                  <a:tcPr marT="9525" marB="9525" marR="9525" marL="9525" anchor="ctr">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TRAZABILIDAD DE REQUISITOS</a:t>
            </a:r>
            <a:endParaRPr b="0">
              <a:solidFill>
                <a:srgbClr val="0070C0"/>
              </a:solidFill>
            </a:endParaRPr>
          </a:p>
        </p:txBody>
      </p:sp>
      <p:sp>
        <p:nvSpPr>
          <p:cNvPr id="417" name="Google Shape;417;p43"/>
          <p:cNvSpPr/>
          <p:nvPr/>
        </p:nvSpPr>
        <p:spPr>
          <a:xfrm>
            <a:off x="390698" y="892699"/>
            <a:ext cx="8088284" cy="3688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173036" lvl="1" marL="446088" marR="0" rtl="0" algn="l">
              <a:lnSpc>
                <a:spcPct val="85000"/>
              </a:lnSpc>
              <a:spcBef>
                <a:spcPts val="0"/>
              </a:spcBef>
              <a:spcAft>
                <a:spcPts val="0"/>
              </a:spcAft>
              <a:buClr>
                <a:schemeClr val="dk1"/>
              </a:buClr>
              <a:buSzPts val="1600"/>
              <a:buFont typeface="Calibri"/>
              <a:buAutoNum type="arabicPeriod"/>
            </a:pPr>
            <a:r>
              <a:rPr b="1" i="0" lang="es-ES" sz="1600" u="none" cap="none" strike="noStrike">
                <a:solidFill>
                  <a:schemeClr val="dk1"/>
                </a:solidFill>
                <a:latin typeface="Calibri"/>
                <a:ea typeface="Calibri"/>
                <a:cs typeface="Calibri"/>
                <a:sym typeface="Calibri"/>
              </a:rPr>
              <a:t>ID del Requisito</a:t>
            </a:r>
            <a:r>
              <a:rPr b="0" i="0" lang="es-ES" sz="1600" u="none" cap="none" strike="noStrike">
                <a:solidFill>
                  <a:schemeClr val="dk1"/>
                </a:solidFill>
                <a:latin typeface="Calibri"/>
                <a:ea typeface="Calibri"/>
                <a:cs typeface="Calibri"/>
                <a:sym typeface="Calibri"/>
              </a:rPr>
              <a:t>: Identificadores únicos (R1, R2) para cada requisito, facilitando su seguimiento.</a:t>
            </a:r>
            <a:endParaRPr b="0" i="0" sz="1400" u="none" cap="none" strike="noStrike">
              <a:solidFill>
                <a:srgbClr val="000000"/>
              </a:solidFill>
              <a:latin typeface="Arial"/>
              <a:ea typeface="Arial"/>
              <a:cs typeface="Arial"/>
              <a:sym typeface="Arial"/>
            </a:endParaRPr>
          </a:p>
          <a:p>
            <a:pPr indent="-71436" lvl="1" marL="446088" marR="0" rtl="0" algn="l">
              <a:lnSpc>
                <a:spcPct val="8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173036" lvl="1" marL="446088" marR="0" rtl="0" algn="l">
              <a:lnSpc>
                <a:spcPct val="85000"/>
              </a:lnSpc>
              <a:spcBef>
                <a:spcPts val="0"/>
              </a:spcBef>
              <a:spcAft>
                <a:spcPts val="0"/>
              </a:spcAft>
              <a:buClr>
                <a:schemeClr val="dk1"/>
              </a:buClr>
              <a:buSzPts val="1600"/>
              <a:buFont typeface="Calibri"/>
              <a:buAutoNum type="arabicPeriod"/>
            </a:pPr>
            <a:r>
              <a:rPr b="1" i="0" lang="es-ES" sz="1600" u="none" cap="none" strike="noStrike">
                <a:solidFill>
                  <a:schemeClr val="dk1"/>
                </a:solidFill>
                <a:latin typeface="Calibri"/>
                <a:ea typeface="Calibri"/>
                <a:cs typeface="Calibri"/>
                <a:sym typeface="Calibri"/>
              </a:rPr>
              <a:t>Descripción</a:t>
            </a:r>
            <a:r>
              <a:rPr b="0" i="0" lang="es-ES" sz="1600" u="none" cap="none" strike="noStrike">
                <a:solidFill>
                  <a:schemeClr val="dk1"/>
                </a:solidFill>
                <a:latin typeface="Calibri"/>
                <a:ea typeface="Calibri"/>
                <a:cs typeface="Calibri"/>
                <a:sym typeface="Calibri"/>
              </a:rPr>
              <a:t>: Una descripción breve, pero clara de cada requisito.</a:t>
            </a:r>
            <a:endParaRPr b="0" i="0" sz="1400" u="none" cap="none" strike="noStrike">
              <a:solidFill>
                <a:srgbClr val="000000"/>
              </a:solidFill>
              <a:latin typeface="Arial"/>
              <a:ea typeface="Arial"/>
              <a:cs typeface="Arial"/>
              <a:sym typeface="Arial"/>
            </a:endParaRPr>
          </a:p>
          <a:p>
            <a:pPr indent="-71436" lvl="1" marL="446088" marR="0" rtl="0" algn="l">
              <a:lnSpc>
                <a:spcPct val="8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173036" lvl="1" marL="446088" marR="0" rtl="0" algn="l">
              <a:lnSpc>
                <a:spcPct val="85000"/>
              </a:lnSpc>
              <a:spcBef>
                <a:spcPts val="0"/>
              </a:spcBef>
              <a:spcAft>
                <a:spcPts val="0"/>
              </a:spcAft>
              <a:buClr>
                <a:schemeClr val="dk1"/>
              </a:buClr>
              <a:buSzPts val="1600"/>
              <a:buFont typeface="Calibri"/>
              <a:buAutoNum type="arabicPeriod"/>
            </a:pPr>
            <a:r>
              <a:rPr b="1" i="0" lang="es-ES" sz="1600" u="none" cap="none" strike="noStrike">
                <a:solidFill>
                  <a:schemeClr val="dk1"/>
                </a:solidFill>
                <a:latin typeface="Calibri"/>
                <a:ea typeface="Calibri"/>
                <a:cs typeface="Calibri"/>
                <a:sym typeface="Calibri"/>
              </a:rPr>
              <a:t>Fuente</a:t>
            </a:r>
            <a:r>
              <a:rPr b="0" i="0" lang="es-ES" sz="1600" u="none" cap="none" strike="noStrike">
                <a:solidFill>
                  <a:schemeClr val="dk1"/>
                </a:solidFill>
                <a:latin typeface="Calibri"/>
                <a:ea typeface="Calibri"/>
                <a:cs typeface="Calibri"/>
                <a:sym typeface="Calibri"/>
              </a:rPr>
              <a:t>: ¿Quién solicitó o identificó este requisito? Esto es especialmente relevante en contextos de gestión pública donde hay múltiples interesados.</a:t>
            </a:r>
            <a:endParaRPr b="0" i="0" sz="1400" u="none" cap="none" strike="noStrike">
              <a:solidFill>
                <a:srgbClr val="000000"/>
              </a:solidFill>
              <a:latin typeface="Arial"/>
              <a:ea typeface="Arial"/>
              <a:cs typeface="Arial"/>
              <a:sym typeface="Arial"/>
            </a:endParaRPr>
          </a:p>
          <a:p>
            <a:pPr indent="-71436" lvl="1" marL="446088" marR="0" rtl="0" algn="l">
              <a:lnSpc>
                <a:spcPct val="8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173036" lvl="1" marL="446088" marR="0" rtl="0" algn="l">
              <a:lnSpc>
                <a:spcPct val="85000"/>
              </a:lnSpc>
              <a:spcBef>
                <a:spcPts val="0"/>
              </a:spcBef>
              <a:spcAft>
                <a:spcPts val="0"/>
              </a:spcAft>
              <a:buClr>
                <a:schemeClr val="dk1"/>
              </a:buClr>
              <a:buSzPts val="1600"/>
              <a:buFont typeface="Calibri"/>
              <a:buAutoNum type="arabicPeriod"/>
            </a:pPr>
            <a:r>
              <a:rPr b="1" i="0" lang="es-ES" sz="1600" u="none" cap="none" strike="noStrike">
                <a:solidFill>
                  <a:schemeClr val="dk1"/>
                </a:solidFill>
                <a:latin typeface="Calibri"/>
                <a:ea typeface="Calibri"/>
                <a:cs typeface="Calibri"/>
                <a:sym typeface="Calibri"/>
              </a:rPr>
              <a:t>Etapa de Verificación</a:t>
            </a:r>
            <a:r>
              <a:rPr b="0" i="0" lang="es-ES" sz="1600" u="none" cap="none" strike="noStrike">
                <a:solidFill>
                  <a:schemeClr val="dk1"/>
                </a:solidFill>
                <a:latin typeface="Calibri"/>
                <a:ea typeface="Calibri"/>
                <a:cs typeface="Calibri"/>
                <a:sym typeface="Calibri"/>
              </a:rPr>
              <a:t>: Aquí indicamos las técnicas o métodos que se utilizarán para verificar que el requisito se ha implementado correctamente.</a:t>
            </a:r>
            <a:endParaRPr b="0" i="0" sz="1400" u="none" cap="none" strike="noStrike">
              <a:solidFill>
                <a:srgbClr val="000000"/>
              </a:solidFill>
              <a:latin typeface="Arial"/>
              <a:ea typeface="Arial"/>
              <a:cs typeface="Arial"/>
              <a:sym typeface="Arial"/>
            </a:endParaRPr>
          </a:p>
          <a:p>
            <a:pPr indent="-71436" lvl="1" marL="446088" marR="0" rtl="0" algn="l">
              <a:lnSpc>
                <a:spcPct val="8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173036" lvl="1" marL="446088" marR="0" rtl="0" algn="l">
              <a:lnSpc>
                <a:spcPct val="85000"/>
              </a:lnSpc>
              <a:spcBef>
                <a:spcPts val="0"/>
              </a:spcBef>
              <a:spcAft>
                <a:spcPts val="0"/>
              </a:spcAft>
              <a:buClr>
                <a:schemeClr val="dk1"/>
              </a:buClr>
              <a:buSzPts val="1600"/>
              <a:buFont typeface="Calibri"/>
              <a:buAutoNum type="arabicPeriod"/>
            </a:pPr>
            <a:r>
              <a:rPr b="1" i="0" lang="es-ES" sz="1600" u="none" cap="none" strike="noStrike">
                <a:solidFill>
                  <a:schemeClr val="dk1"/>
                </a:solidFill>
                <a:latin typeface="Calibri"/>
                <a:ea typeface="Calibri"/>
                <a:cs typeface="Calibri"/>
                <a:sym typeface="Calibri"/>
              </a:rPr>
              <a:t>Etapa de Validación</a:t>
            </a:r>
            <a:r>
              <a:rPr b="0" i="0" lang="es-ES" sz="1600" u="none" cap="none" strike="noStrike">
                <a:solidFill>
                  <a:schemeClr val="dk1"/>
                </a:solidFill>
                <a:latin typeface="Calibri"/>
                <a:ea typeface="Calibri"/>
                <a:cs typeface="Calibri"/>
                <a:sym typeface="Calibri"/>
              </a:rPr>
              <a:t>: Similar a la verificación, pero aquí estamos interesados en confirmar que el requisito realmente satisface la necesidad para la que se diseñó.</a:t>
            </a:r>
            <a:endParaRPr b="0" i="0" sz="1400" u="none" cap="none" strike="noStrike">
              <a:solidFill>
                <a:srgbClr val="000000"/>
              </a:solidFill>
              <a:latin typeface="Arial"/>
              <a:ea typeface="Arial"/>
              <a:cs typeface="Arial"/>
              <a:sym typeface="Arial"/>
            </a:endParaRPr>
          </a:p>
          <a:p>
            <a:pPr indent="-71436" lvl="1" marL="446088" marR="0" rtl="0" algn="l">
              <a:lnSpc>
                <a:spcPct val="8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173036" lvl="1" marL="446088" marR="0" rtl="0" algn="l">
              <a:lnSpc>
                <a:spcPct val="85000"/>
              </a:lnSpc>
              <a:spcBef>
                <a:spcPts val="0"/>
              </a:spcBef>
              <a:spcAft>
                <a:spcPts val="0"/>
              </a:spcAft>
              <a:buClr>
                <a:schemeClr val="dk1"/>
              </a:buClr>
              <a:buSzPts val="1600"/>
              <a:buFont typeface="Calibri"/>
              <a:buAutoNum type="arabicPeriod"/>
            </a:pPr>
            <a:r>
              <a:rPr b="1" i="0" lang="es-ES" sz="1600" u="none" cap="none" strike="noStrike">
                <a:solidFill>
                  <a:schemeClr val="dk1"/>
                </a:solidFill>
                <a:latin typeface="Calibri"/>
                <a:ea typeface="Calibri"/>
                <a:cs typeface="Calibri"/>
                <a:sym typeface="Calibri"/>
              </a:rPr>
              <a:t>Elemento de Implementación</a:t>
            </a:r>
            <a:r>
              <a:rPr b="0" i="0" lang="es-ES" sz="1600" u="none" cap="none" strike="noStrike">
                <a:solidFill>
                  <a:schemeClr val="dk1"/>
                </a:solidFill>
                <a:latin typeface="Calibri"/>
                <a:ea typeface="Calibri"/>
                <a:cs typeface="Calibri"/>
                <a:sym typeface="Calibri"/>
              </a:rPr>
              <a:t>: Finalmente, se identifica qué parte del código o qué componente del sistema es responsable de implementar cada requisito.</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pic>
        <p:nvPicPr>
          <p:cNvPr id="423" name="Google Shape;423;p44"/>
          <p:cNvPicPr preferRelativeResize="0"/>
          <p:nvPr>
            <p:ph idx="2" type="pic"/>
          </p:nvPr>
        </p:nvPicPr>
        <p:blipFill rotWithShape="1">
          <a:blip r:embed="rId3">
            <a:alphaModFix/>
          </a:blip>
          <a:srcRect b="374" l="0" r="0" t="372"/>
          <a:stretch/>
        </p:blipFill>
        <p:spPr>
          <a:xfrm>
            <a:off x="4992248" y="1413497"/>
            <a:ext cx="3475621" cy="3780247"/>
          </a:xfrm>
          <a:prstGeom prst="rect">
            <a:avLst/>
          </a:prstGeom>
          <a:noFill/>
          <a:ln>
            <a:noFill/>
          </a:ln>
        </p:spPr>
      </p:pic>
      <p:sp>
        <p:nvSpPr>
          <p:cNvPr id="424" name="Google Shape;424;p4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ESTRUCTURA BÁSICA  </a:t>
            </a:r>
            <a:r>
              <a:rPr lang="es-ES" sz="1400">
                <a:solidFill>
                  <a:srgbClr val="7F7F7F"/>
                </a:solidFill>
              </a:rPr>
              <a:t>[1/4]</a:t>
            </a:r>
            <a:endParaRPr>
              <a:solidFill>
                <a:srgbClr val="7F7F7F"/>
              </a:solidFill>
            </a:endParaRPr>
          </a:p>
        </p:txBody>
      </p:sp>
      <p:sp>
        <p:nvSpPr>
          <p:cNvPr id="425" name="Google Shape;425;p4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TRAZABILIDAD DE REQUISITOS</a:t>
            </a:r>
            <a:endParaRPr b="0">
              <a:solidFill>
                <a:srgbClr val="0070C0"/>
              </a:solidFill>
            </a:endParaRPr>
          </a:p>
        </p:txBody>
      </p:sp>
      <p:sp>
        <p:nvSpPr>
          <p:cNvPr id="426" name="Google Shape;426;p44"/>
          <p:cNvSpPr txBox="1"/>
          <p:nvPr>
            <p:ph idx="4" type="body"/>
          </p:nvPr>
        </p:nvSpPr>
        <p:spPr>
          <a:xfrm>
            <a:off x="468313" y="1255221"/>
            <a:ext cx="4436196" cy="4096800"/>
          </a:xfrm>
          <a:prstGeom prst="rect">
            <a:avLst/>
          </a:prstGeom>
          <a:noFill/>
          <a:ln>
            <a:noFill/>
          </a:ln>
        </p:spPr>
        <p:txBody>
          <a:bodyPr anchorCtr="0" anchor="t" bIns="45700" lIns="91425" spcFirstLastPara="1" rIns="91425" wrap="square" tIns="45700">
            <a:noAutofit/>
          </a:bodyPr>
          <a:lstStyle/>
          <a:p>
            <a:pPr indent="-271463" lvl="0" marL="271463" rtl="0" algn="l">
              <a:lnSpc>
                <a:spcPct val="100000"/>
              </a:lnSpc>
              <a:spcBef>
                <a:spcPts val="0"/>
              </a:spcBef>
              <a:spcAft>
                <a:spcPts val="0"/>
              </a:spcAft>
              <a:buClr>
                <a:schemeClr val="accent5"/>
              </a:buClr>
              <a:buSzPts val="1440"/>
              <a:buFont typeface="Calibri"/>
              <a:buAutoNum type="arabicParenR"/>
            </a:pPr>
            <a:r>
              <a:rPr b="1" lang="es-ES">
                <a:solidFill>
                  <a:schemeClr val="accent5"/>
                </a:solidFill>
              </a:rPr>
              <a:t>ID del Requisito:</a:t>
            </a:r>
            <a:endParaRPr/>
          </a:p>
          <a:p>
            <a:pPr indent="0" lvl="1" marL="265113" rtl="0" algn="l">
              <a:lnSpc>
                <a:spcPct val="100000"/>
              </a:lnSpc>
              <a:spcBef>
                <a:spcPts val="0"/>
              </a:spcBef>
              <a:spcAft>
                <a:spcPts val="0"/>
              </a:spcAft>
              <a:buClr>
                <a:schemeClr val="dk1"/>
              </a:buClr>
              <a:buSzPts val="1440"/>
              <a:buNone/>
            </a:pPr>
            <a:r>
              <a:rPr lang="es-ES"/>
              <a:t>Identificador único asignado a cada requisito. Se usa para referenciar el requisito en toda la documentación y comunicación del proyecto.</a:t>
            </a:r>
            <a:endParaRPr/>
          </a:p>
          <a:p>
            <a:pPr indent="-271463" lvl="0" marL="271463" rtl="0" algn="l">
              <a:lnSpc>
                <a:spcPct val="100000"/>
              </a:lnSpc>
              <a:spcBef>
                <a:spcPts val="600"/>
              </a:spcBef>
              <a:spcAft>
                <a:spcPts val="0"/>
              </a:spcAft>
              <a:buClr>
                <a:schemeClr val="accent5"/>
              </a:buClr>
              <a:buSzPts val="1440"/>
              <a:buFont typeface="Calibri"/>
              <a:buAutoNum type="arabicParenR"/>
            </a:pPr>
            <a:r>
              <a:rPr b="1" lang="es-ES">
                <a:solidFill>
                  <a:schemeClr val="accent5"/>
                </a:solidFill>
              </a:rPr>
              <a:t>Nombre del Requisito:</a:t>
            </a:r>
            <a:endParaRPr/>
          </a:p>
          <a:p>
            <a:pPr indent="0" lvl="1" marL="265113" rtl="0" algn="l">
              <a:lnSpc>
                <a:spcPct val="100000"/>
              </a:lnSpc>
              <a:spcBef>
                <a:spcPts val="0"/>
              </a:spcBef>
              <a:spcAft>
                <a:spcPts val="0"/>
              </a:spcAft>
              <a:buClr>
                <a:schemeClr val="dk1"/>
              </a:buClr>
              <a:buSzPts val="1440"/>
              <a:buNone/>
            </a:pPr>
            <a:r>
              <a:rPr lang="es-ES"/>
              <a:t>Un nombre corto, pero descriptivo del requisito. Útil para discusiones y presentaciones rápidas donde se necesita una referencia rápida.</a:t>
            </a:r>
            <a:endParaRPr/>
          </a:p>
          <a:p>
            <a:pPr indent="-271463" lvl="0" marL="271463" rtl="0" algn="l">
              <a:lnSpc>
                <a:spcPct val="100000"/>
              </a:lnSpc>
              <a:spcBef>
                <a:spcPts val="600"/>
              </a:spcBef>
              <a:spcAft>
                <a:spcPts val="0"/>
              </a:spcAft>
              <a:buClr>
                <a:schemeClr val="accent5"/>
              </a:buClr>
              <a:buSzPts val="1440"/>
              <a:buFont typeface="Calibri"/>
              <a:buAutoNum type="arabicParenR"/>
            </a:pPr>
            <a:r>
              <a:rPr b="1" lang="es-ES">
                <a:solidFill>
                  <a:schemeClr val="accent5"/>
                </a:solidFill>
              </a:rPr>
              <a:t>Descripción Completa:</a:t>
            </a:r>
            <a:endParaRPr/>
          </a:p>
          <a:p>
            <a:pPr indent="0" lvl="1" marL="265113" rtl="0" algn="l">
              <a:lnSpc>
                <a:spcPct val="100000"/>
              </a:lnSpc>
              <a:spcBef>
                <a:spcPts val="0"/>
              </a:spcBef>
              <a:spcAft>
                <a:spcPts val="0"/>
              </a:spcAft>
              <a:buClr>
                <a:schemeClr val="dk1"/>
              </a:buClr>
              <a:buSzPts val="1440"/>
              <a:buNone/>
            </a:pPr>
            <a:r>
              <a:rPr lang="es-ES"/>
              <a:t>Descripción detallada del requisito, especificando lo que se espera que haga. Sirve como referencia para el desarrollo, la verificación y la validación del requisito.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ESTRUCTURA BÁSICA </a:t>
            </a:r>
            <a:r>
              <a:rPr b="1" i="0" lang="es-ES" sz="1600" u="none" cap="none" strike="noStrike">
                <a:solidFill>
                  <a:srgbClr val="000000"/>
                </a:solidFill>
                <a:latin typeface="Calibri"/>
                <a:ea typeface="Calibri"/>
                <a:cs typeface="Calibri"/>
                <a:sym typeface="Calibri"/>
              </a:rPr>
              <a:t> </a:t>
            </a:r>
            <a:r>
              <a:rPr b="1" i="0" lang="es-ES" sz="1400" u="none" cap="none" strike="noStrike">
                <a:solidFill>
                  <a:srgbClr val="7F7F7F"/>
                </a:solidFill>
                <a:latin typeface="Calibri"/>
                <a:ea typeface="Calibri"/>
                <a:cs typeface="Calibri"/>
                <a:sym typeface="Calibri"/>
              </a:rPr>
              <a:t>[2/4]</a:t>
            </a:r>
            <a:endParaRPr/>
          </a:p>
        </p:txBody>
      </p:sp>
      <p:sp>
        <p:nvSpPr>
          <p:cNvPr id="433" name="Google Shape;433;p4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TRAZABILIDAD DE REQUISITOS</a:t>
            </a:r>
            <a:endParaRPr b="0">
              <a:solidFill>
                <a:srgbClr val="0070C0"/>
              </a:solidFill>
            </a:endParaRPr>
          </a:p>
        </p:txBody>
      </p:sp>
      <p:sp>
        <p:nvSpPr>
          <p:cNvPr id="434" name="Google Shape;434;p45"/>
          <p:cNvSpPr txBox="1"/>
          <p:nvPr>
            <p:ph idx="4" type="body"/>
          </p:nvPr>
        </p:nvSpPr>
        <p:spPr>
          <a:xfrm>
            <a:off x="612506" y="1177927"/>
            <a:ext cx="4519323" cy="4096800"/>
          </a:xfrm>
          <a:prstGeom prst="rect">
            <a:avLst/>
          </a:prstGeom>
          <a:noFill/>
          <a:ln>
            <a:noFill/>
          </a:ln>
        </p:spPr>
        <p:txBody>
          <a:bodyPr anchorCtr="0" anchor="t" bIns="45700" lIns="91425" spcFirstLastPara="1" rIns="91425" wrap="square" tIns="45700">
            <a:noAutofit/>
          </a:bodyPr>
          <a:lstStyle/>
          <a:p>
            <a:pPr indent="-271463" lvl="0" marL="271463" rtl="0" algn="l">
              <a:lnSpc>
                <a:spcPct val="100000"/>
              </a:lnSpc>
              <a:spcBef>
                <a:spcPts val="0"/>
              </a:spcBef>
              <a:spcAft>
                <a:spcPts val="0"/>
              </a:spcAft>
              <a:buClr>
                <a:schemeClr val="accent5"/>
              </a:buClr>
              <a:buSzPts val="1440"/>
              <a:buFont typeface="Calibri"/>
              <a:buAutoNum type="arabicParenR" startAt="4"/>
            </a:pPr>
            <a:r>
              <a:rPr b="1" lang="es-ES">
                <a:solidFill>
                  <a:schemeClr val="accent5"/>
                </a:solidFill>
              </a:rPr>
              <a:t>Fuente del Requisito:</a:t>
            </a:r>
            <a:endParaRPr/>
          </a:p>
          <a:p>
            <a:pPr indent="0" lvl="1" marL="265113" rtl="0" algn="l">
              <a:lnSpc>
                <a:spcPct val="100000"/>
              </a:lnSpc>
              <a:spcBef>
                <a:spcPts val="0"/>
              </a:spcBef>
              <a:spcAft>
                <a:spcPts val="0"/>
              </a:spcAft>
              <a:buClr>
                <a:schemeClr val="dk1"/>
              </a:buClr>
              <a:buSzPts val="1440"/>
              <a:buNone/>
            </a:pPr>
            <a:r>
              <a:rPr lang="es-ES"/>
              <a:t>Indicación de quién o qué originó el requisito. Ayuda a entender el porqué del requisito y puede ser vital para la resolución de conflictos o ambigüedades.</a:t>
            </a:r>
            <a:endParaRPr/>
          </a:p>
          <a:p>
            <a:pPr indent="-271463" lvl="0" marL="271463" rtl="0" algn="l">
              <a:lnSpc>
                <a:spcPct val="100000"/>
              </a:lnSpc>
              <a:spcBef>
                <a:spcPts val="600"/>
              </a:spcBef>
              <a:spcAft>
                <a:spcPts val="0"/>
              </a:spcAft>
              <a:buClr>
                <a:schemeClr val="accent5"/>
              </a:buClr>
              <a:buSzPts val="1440"/>
              <a:buFont typeface="Calibri"/>
              <a:buAutoNum type="arabicParenR" startAt="4"/>
            </a:pPr>
            <a:r>
              <a:rPr b="1" lang="es-ES">
                <a:solidFill>
                  <a:schemeClr val="accent5"/>
                </a:solidFill>
              </a:rPr>
              <a:t>Prioridad:</a:t>
            </a:r>
            <a:endParaRPr/>
          </a:p>
          <a:p>
            <a:pPr indent="0" lvl="1" marL="265113" rtl="0" algn="l">
              <a:lnSpc>
                <a:spcPct val="100000"/>
              </a:lnSpc>
              <a:spcBef>
                <a:spcPts val="0"/>
              </a:spcBef>
              <a:spcAft>
                <a:spcPts val="0"/>
              </a:spcAft>
              <a:buClr>
                <a:schemeClr val="dk1"/>
              </a:buClr>
              <a:buSzPts val="1440"/>
              <a:buNone/>
            </a:pPr>
            <a:r>
              <a:rPr lang="es-ES"/>
              <a:t>Establece la importancia o urgencia del requisito en el contexto del proyecto. Ayuda en la toma de decisiones relacionadas con el desarrollo y las asignaciones de recursos.</a:t>
            </a:r>
            <a:endParaRPr/>
          </a:p>
          <a:p>
            <a:pPr indent="-271463" lvl="0" marL="271463" rtl="0" algn="l">
              <a:lnSpc>
                <a:spcPct val="100000"/>
              </a:lnSpc>
              <a:spcBef>
                <a:spcPts val="600"/>
              </a:spcBef>
              <a:spcAft>
                <a:spcPts val="0"/>
              </a:spcAft>
              <a:buClr>
                <a:schemeClr val="accent5"/>
              </a:buClr>
              <a:buSzPts val="1440"/>
              <a:buFont typeface="Calibri"/>
              <a:buAutoNum type="arabicParenR" startAt="4"/>
            </a:pPr>
            <a:r>
              <a:rPr b="1" lang="es-ES">
                <a:solidFill>
                  <a:schemeClr val="accent5"/>
                </a:solidFill>
              </a:rPr>
              <a:t>Tipo de Requisito:</a:t>
            </a:r>
            <a:endParaRPr/>
          </a:p>
          <a:p>
            <a:pPr indent="0" lvl="1" marL="265113" rtl="0" algn="l">
              <a:lnSpc>
                <a:spcPct val="100000"/>
              </a:lnSpc>
              <a:spcBef>
                <a:spcPts val="0"/>
              </a:spcBef>
              <a:spcAft>
                <a:spcPts val="0"/>
              </a:spcAft>
              <a:buClr>
                <a:schemeClr val="dk1"/>
              </a:buClr>
              <a:buSzPts val="1440"/>
              <a:buNone/>
            </a:pPr>
            <a:r>
              <a:rPr lang="es-ES"/>
              <a:t>Clasifica el requisito como funcional, no funcional, de interfaz, etc. Facilita el agrupamiento de requisitos y ayuda en la planificación de pruebas y verificaciones.</a:t>
            </a:r>
            <a:endParaRPr/>
          </a:p>
        </p:txBody>
      </p:sp>
      <p:pic>
        <p:nvPicPr>
          <p:cNvPr id="435" name="Google Shape;435;p45"/>
          <p:cNvPicPr preferRelativeResize="0"/>
          <p:nvPr>
            <p:ph idx="2" type="pic"/>
          </p:nvPr>
        </p:nvPicPr>
        <p:blipFill rotWithShape="1">
          <a:blip r:embed="rId3">
            <a:alphaModFix/>
          </a:blip>
          <a:srcRect b="0" l="19381" r="19382" t="0"/>
          <a:stretch/>
        </p:blipFill>
        <p:spPr>
          <a:xfrm>
            <a:off x="5375458" y="1433225"/>
            <a:ext cx="3200477" cy="348098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p46"/>
          <p:cNvPicPr preferRelativeResize="0"/>
          <p:nvPr>
            <p:ph idx="2" type="pic"/>
          </p:nvPr>
        </p:nvPicPr>
        <p:blipFill rotWithShape="1">
          <a:blip r:embed="rId3">
            <a:alphaModFix/>
          </a:blip>
          <a:srcRect b="0" l="19338" r="19339" t="0"/>
          <a:stretch/>
        </p:blipFill>
        <p:spPr>
          <a:xfrm>
            <a:off x="5314984" y="1177927"/>
            <a:ext cx="3269263" cy="3555803"/>
          </a:xfrm>
          <a:prstGeom prst="rect">
            <a:avLst/>
          </a:prstGeom>
          <a:noFill/>
          <a:ln>
            <a:noFill/>
          </a:ln>
        </p:spPr>
      </p:pic>
      <p:sp>
        <p:nvSpPr>
          <p:cNvPr id="442" name="Google Shape;442;p4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ESTRUCTURA BÁSICA </a:t>
            </a:r>
            <a:r>
              <a:rPr b="1" i="0" lang="es-ES" sz="1600" u="none" cap="none" strike="noStrike">
                <a:solidFill>
                  <a:srgbClr val="000000"/>
                </a:solidFill>
                <a:latin typeface="Calibri"/>
                <a:ea typeface="Calibri"/>
                <a:cs typeface="Calibri"/>
                <a:sym typeface="Calibri"/>
              </a:rPr>
              <a:t> </a:t>
            </a:r>
            <a:r>
              <a:rPr b="1" i="0" lang="es-ES" sz="1400" u="none" cap="none" strike="noStrike">
                <a:solidFill>
                  <a:srgbClr val="7F7F7F"/>
                </a:solidFill>
                <a:latin typeface="Calibri"/>
                <a:ea typeface="Calibri"/>
                <a:cs typeface="Calibri"/>
                <a:sym typeface="Calibri"/>
              </a:rPr>
              <a:t>[3/4]</a:t>
            </a:r>
            <a:endParaRPr/>
          </a:p>
        </p:txBody>
      </p:sp>
      <p:sp>
        <p:nvSpPr>
          <p:cNvPr id="443" name="Google Shape;443;p4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TRAZABILIDAD DE REQUISITOS</a:t>
            </a:r>
            <a:endParaRPr b="0">
              <a:solidFill>
                <a:srgbClr val="0070C0"/>
              </a:solidFill>
            </a:endParaRPr>
          </a:p>
        </p:txBody>
      </p:sp>
      <p:sp>
        <p:nvSpPr>
          <p:cNvPr id="444" name="Google Shape;444;p46"/>
          <p:cNvSpPr txBox="1"/>
          <p:nvPr>
            <p:ph idx="4" type="body"/>
          </p:nvPr>
        </p:nvSpPr>
        <p:spPr>
          <a:xfrm>
            <a:off x="767571" y="1177927"/>
            <a:ext cx="4103687" cy="4096800"/>
          </a:xfrm>
          <a:prstGeom prst="rect">
            <a:avLst/>
          </a:prstGeom>
          <a:noFill/>
          <a:ln>
            <a:noFill/>
          </a:ln>
        </p:spPr>
        <p:txBody>
          <a:bodyPr anchorCtr="0" anchor="t" bIns="45700" lIns="91425" spcFirstLastPara="1" rIns="91425" wrap="square" tIns="45700">
            <a:noAutofit/>
          </a:bodyPr>
          <a:lstStyle/>
          <a:p>
            <a:pPr indent="-271463" lvl="0" marL="271463" rtl="0" algn="l">
              <a:lnSpc>
                <a:spcPct val="100000"/>
              </a:lnSpc>
              <a:spcBef>
                <a:spcPts val="0"/>
              </a:spcBef>
              <a:spcAft>
                <a:spcPts val="0"/>
              </a:spcAft>
              <a:buClr>
                <a:schemeClr val="accent5"/>
              </a:buClr>
              <a:buSzPts val="1440"/>
              <a:buFont typeface="Calibri"/>
              <a:buAutoNum type="arabicParenR" startAt="7"/>
            </a:pPr>
            <a:r>
              <a:rPr b="1" lang="es-ES">
                <a:solidFill>
                  <a:schemeClr val="accent5"/>
                </a:solidFill>
              </a:rPr>
              <a:t>Estado:</a:t>
            </a:r>
            <a:endParaRPr/>
          </a:p>
          <a:p>
            <a:pPr indent="0" lvl="1" marL="265113" rtl="0" algn="l">
              <a:lnSpc>
                <a:spcPct val="100000"/>
              </a:lnSpc>
              <a:spcBef>
                <a:spcPts val="0"/>
              </a:spcBef>
              <a:spcAft>
                <a:spcPts val="0"/>
              </a:spcAft>
              <a:buClr>
                <a:schemeClr val="dk1"/>
              </a:buClr>
              <a:buSzPts val="1440"/>
              <a:buNone/>
            </a:pPr>
            <a:r>
              <a:rPr lang="es-ES"/>
              <a:t>Muestra el estado actual del requisito, como “No Iniciado”, “En Desarrollo”, “Completado”, “Verificado”, etc. Brinda una rápida referencia sobre el progreso del desarrollo relacionado con ese requisito.</a:t>
            </a:r>
            <a:endParaRPr/>
          </a:p>
          <a:p>
            <a:pPr indent="-271463" lvl="0" marL="271463" rtl="0" algn="l">
              <a:lnSpc>
                <a:spcPct val="100000"/>
              </a:lnSpc>
              <a:spcBef>
                <a:spcPts val="600"/>
              </a:spcBef>
              <a:spcAft>
                <a:spcPts val="0"/>
              </a:spcAft>
              <a:buClr>
                <a:schemeClr val="accent5"/>
              </a:buClr>
              <a:buSzPts val="1440"/>
              <a:buFont typeface="Calibri"/>
              <a:buAutoNum type="arabicParenR" startAt="7"/>
            </a:pPr>
            <a:r>
              <a:rPr b="1" lang="es-ES">
                <a:solidFill>
                  <a:schemeClr val="accent5"/>
                </a:solidFill>
              </a:rPr>
              <a:t>Etapa de Verificación:</a:t>
            </a:r>
            <a:endParaRPr/>
          </a:p>
          <a:p>
            <a:pPr indent="0" lvl="1" marL="265113" rtl="0" algn="l">
              <a:lnSpc>
                <a:spcPct val="100000"/>
              </a:lnSpc>
              <a:spcBef>
                <a:spcPts val="0"/>
              </a:spcBef>
              <a:spcAft>
                <a:spcPts val="0"/>
              </a:spcAft>
              <a:buClr>
                <a:schemeClr val="dk1"/>
              </a:buClr>
              <a:buSzPts val="1440"/>
              <a:buNone/>
            </a:pPr>
            <a:r>
              <a:rPr lang="es-ES"/>
              <a:t>Detalla los métodos o técnicas que se utilizarán para verificar que el requisito se ha implementado correctamente.</a:t>
            </a:r>
            <a:endParaRPr/>
          </a:p>
          <a:p>
            <a:pPr indent="0" lvl="1" marL="265113" rtl="0" algn="l">
              <a:lnSpc>
                <a:spcPct val="100000"/>
              </a:lnSpc>
              <a:spcBef>
                <a:spcPts val="0"/>
              </a:spcBef>
              <a:spcAft>
                <a:spcPts val="0"/>
              </a:spcAft>
              <a:buClr>
                <a:schemeClr val="dk1"/>
              </a:buClr>
              <a:buSzPts val="1440"/>
              <a:buNone/>
            </a:pPr>
            <a:r>
              <a:rPr lang="es-ES"/>
              <a:t>Sirve como guía para el equipo de calidad y desarrollo sobre qué se debe hacer para considerar que el requisito está “completo”.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id="450" name="Google Shape;450;p47"/>
          <p:cNvPicPr preferRelativeResize="0"/>
          <p:nvPr>
            <p:ph idx="2" type="pic"/>
          </p:nvPr>
        </p:nvPicPr>
        <p:blipFill rotWithShape="1">
          <a:blip r:embed="rId3">
            <a:alphaModFix/>
          </a:blip>
          <a:srcRect b="0" l="19338" r="19339" t="0"/>
          <a:stretch/>
        </p:blipFill>
        <p:spPr>
          <a:xfrm>
            <a:off x="5112326" y="1439044"/>
            <a:ext cx="3222539" cy="3504983"/>
          </a:xfrm>
          <a:prstGeom prst="rect">
            <a:avLst/>
          </a:prstGeom>
          <a:noFill/>
          <a:ln>
            <a:noFill/>
          </a:ln>
        </p:spPr>
      </p:pic>
      <p:sp>
        <p:nvSpPr>
          <p:cNvPr id="451" name="Google Shape;451;p4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ESTRUCTURA BÁSICA </a:t>
            </a:r>
            <a:r>
              <a:rPr b="1" i="0" lang="es-ES" sz="1600" u="none" cap="none" strike="noStrike">
                <a:solidFill>
                  <a:srgbClr val="000000"/>
                </a:solidFill>
                <a:latin typeface="Calibri"/>
                <a:ea typeface="Calibri"/>
                <a:cs typeface="Calibri"/>
                <a:sym typeface="Calibri"/>
              </a:rPr>
              <a:t> </a:t>
            </a:r>
            <a:r>
              <a:rPr b="1" i="0" lang="es-ES" sz="1400" u="none" cap="none" strike="noStrike">
                <a:solidFill>
                  <a:srgbClr val="7F7F7F"/>
                </a:solidFill>
                <a:latin typeface="Calibri"/>
                <a:ea typeface="Calibri"/>
                <a:cs typeface="Calibri"/>
                <a:sym typeface="Calibri"/>
              </a:rPr>
              <a:t>[4/4]</a:t>
            </a:r>
            <a:endParaRPr/>
          </a:p>
        </p:txBody>
      </p:sp>
      <p:sp>
        <p:nvSpPr>
          <p:cNvPr id="452" name="Google Shape;452;p4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TRAZABILIDAD DE REQUISITOS</a:t>
            </a:r>
            <a:endParaRPr b="0">
              <a:solidFill>
                <a:srgbClr val="0070C0"/>
              </a:solidFill>
            </a:endParaRPr>
          </a:p>
        </p:txBody>
      </p:sp>
      <p:sp>
        <p:nvSpPr>
          <p:cNvPr id="453" name="Google Shape;453;p47"/>
          <p:cNvSpPr txBox="1"/>
          <p:nvPr>
            <p:ph idx="4" type="body"/>
          </p:nvPr>
        </p:nvSpPr>
        <p:spPr>
          <a:xfrm>
            <a:off x="892262" y="1297584"/>
            <a:ext cx="4103687" cy="4096800"/>
          </a:xfrm>
          <a:prstGeom prst="rect">
            <a:avLst/>
          </a:prstGeom>
          <a:noFill/>
          <a:ln>
            <a:noFill/>
          </a:ln>
        </p:spPr>
        <p:txBody>
          <a:bodyPr anchorCtr="0" anchor="t" bIns="45700" lIns="91425" spcFirstLastPara="1" rIns="91425" wrap="square" tIns="45700">
            <a:noAutofit/>
          </a:bodyPr>
          <a:lstStyle/>
          <a:p>
            <a:pPr indent="-271463" lvl="0" marL="271463" rtl="0" algn="l">
              <a:lnSpc>
                <a:spcPct val="100000"/>
              </a:lnSpc>
              <a:spcBef>
                <a:spcPts val="0"/>
              </a:spcBef>
              <a:spcAft>
                <a:spcPts val="0"/>
              </a:spcAft>
              <a:buClr>
                <a:schemeClr val="accent5"/>
              </a:buClr>
              <a:buSzPts val="1440"/>
              <a:buFont typeface="Calibri"/>
              <a:buAutoNum type="arabicParenR" startAt="9"/>
            </a:pPr>
            <a:r>
              <a:rPr b="1" lang="es-ES">
                <a:solidFill>
                  <a:schemeClr val="accent5"/>
                </a:solidFill>
              </a:rPr>
              <a:t>Etapa de Validación:</a:t>
            </a:r>
            <a:endParaRPr/>
          </a:p>
          <a:p>
            <a:pPr indent="0" lvl="1" marL="265113" rtl="0" algn="l">
              <a:lnSpc>
                <a:spcPct val="100000"/>
              </a:lnSpc>
              <a:spcBef>
                <a:spcPts val="0"/>
              </a:spcBef>
              <a:spcAft>
                <a:spcPts val="0"/>
              </a:spcAft>
              <a:buClr>
                <a:schemeClr val="dk1"/>
              </a:buClr>
              <a:buSzPts val="1440"/>
              <a:buNone/>
            </a:pPr>
            <a:r>
              <a:rPr lang="es-ES"/>
              <a:t>Indica cómo se validará que el requisito cumple con las necesidades del usuario o del sistema.</a:t>
            </a:r>
            <a:endParaRPr/>
          </a:p>
          <a:p>
            <a:pPr indent="0" lvl="1" marL="265113" rtl="0" algn="l">
              <a:lnSpc>
                <a:spcPct val="100000"/>
              </a:lnSpc>
              <a:spcBef>
                <a:spcPts val="0"/>
              </a:spcBef>
              <a:spcAft>
                <a:spcPts val="0"/>
              </a:spcAft>
              <a:buClr>
                <a:schemeClr val="dk1"/>
              </a:buClr>
              <a:buSzPts val="1440"/>
              <a:buNone/>
            </a:pPr>
            <a:r>
              <a:rPr lang="es-ES"/>
              <a:t>Ayuda a preparar las pruebas de aceptación del usuario y otras actividades de validación.</a:t>
            </a:r>
            <a:endParaRPr/>
          </a:p>
          <a:p>
            <a:pPr indent="-271463" lvl="0" marL="271463" rtl="0" algn="l">
              <a:lnSpc>
                <a:spcPct val="100000"/>
              </a:lnSpc>
              <a:spcBef>
                <a:spcPts val="600"/>
              </a:spcBef>
              <a:spcAft>
                <a:spcPts val="0"/>
              </a:spcAft>
              <a:buClr>
                <a:schemeClr val="accent5"/>
              </a:buClr>
              <a:buSzPts val="1440"/>
              <a:buFont typeface="Calibri"/>
              <a:buAutoNum type="arabicParenR" startAt="9"/>
            </a:pPr>
            <a:r>
              <a:rPr b="1" lang="es-ES">
                <a:solidFill>
                  <a:schemeClr val="accent5"/>
                </a:solidFill>
              </a:rPr>
              <a:t>Elemento de Implementación:</a:t>
            </a:r>
            <a:endParaRPr/>
          </a:p>
          <a:p>
            <a:pPr indent="0" lvl="1" marL="265113" rtl="0" algn="l">
              <a:lnSpc>
                <a:spcPct val="100000"/>
              </a:lnSpc>
              <a:spcBef>
                <a:spcPts val="0"/>
              </a:spcBef>
              <a:spcAft>
                <a:spcPts val="0"/>
              </a:spcAft>
              <a:buClr>
                <a:schemeClr val="dk1"/>
              </a:buClr>
              <a:buSzPts val="1440"/>
              <a:buNone/>
            </a:pPr>
            <a:r>
              <a:rPr lang="es-ES"/>
              <a:t>Identifica qué parte del sistema (código, módulos, componentes, etc.) es responsable de cumplir el requisito.</a:t>
            </a:r>
            <a:endParaRPr/>
          </a:p>
          <a:p>
            <a:pPr indent="0" lvl="1" marL="265113" rtl="0" algn="l">
              <a:lnSpc>
                <a:spcPct val="100000"/>
              </a:lnSpc>
              <a:spcBef>
                <a:spcPts val="0"/>
              </a:spcBef>
              <a:spcAft>
                <a:spcPts val="0"/>
              </a:spcAft>
              <a:buClr>
                <a:schemeClr val="dk1"/>
              </a:buClr>
              <a:buSzPts val="1440"/>
              <a:buNone/>
            </a:pPr>
            <a:r>
              <a:rPr lang="es-ES"/>
              <a:t>Ayuda a los desarrolladores y al equipo de proyecto a saber dónde debe implementarse y verificarse el requisito.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8"/>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460" name="Google Shape;460;p48"/>
          <p:cNvSpPr/>
          <p:nvPr/>
        </p:nvSpPr>
        <p:spPr>
          <a:xfrm>
            <a:off x="1276149" y="788890"/>
            <a:ext cx="7204492" cy="427805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Definir claramente la visión del sistema desde el inicio provee un marco de referencia crucial para guiar el desarrollo, la toma de decisiones y la alineación con los objetivos del proyecto.</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La verificación se asegura de que </a:t>
            </a:r>
            <a:r>
              <a:rPr lang="es-ES" sz="1700">
                <a:solidFill>
                  <a:schemeClr val="lt1"/>
                </a:solidFill>
                <a:latin typeface="Calibri"/>
                <a:ea typeface="Calibri"/>
                <a:cs typeface="Calibri"/>
                <a:sym typeface="Calibri"/>
              </a:rPr>
              <a:t>“</a:t>
            </a:r>
            <a:r>
              <a:rPr b="0" i="0" lang="es-ES" sz="1700" u="none" cap="none" strike="noStrike">
                <a:solidFill>
                  <a:schemeClr val="lt1"/>
                </a:solidFill>
                <a:latin typeface="Calibri"/>
                <a:ea typeface="Calibri"/>
                <a:cs typeface="Calibri"/>
                <a:sym typeface="Calibri"/>
              </a:rPr>
              <a:t>estás construyendo el sistema correctamente</a:t>
            </a:r>
            <a:r>
              <a:rPr lang="es-ES" sz="1700">
                <a:solidFill>
                  <a:schemeClr val="lt1"/>
                </a:solidFill>
                <a:latin typeface="Calibri"/>
                <a:ea typeface="Calibri"/>
                <a:cs typeface="Calibri"/>
                <a:sym typeface="Calibri"/>
              </a:rPr>
              <a:t>”</a:t>
            </a:r>
            <a:r>
              <a:rPr b="0" i="0" lang="es-ES" sz="1700" u="none" cap="none" strike="noStrike">
                <a:solidFill>
                  <a:schemeClr val="lt1"/>
                </a:solidFill>
                <a:latin typeface="Calibri"/>
                <a:ea typeface="Calibri"/>
                <a:cs typeface="Calibri"/>
                <a:sym typeface="Calibri"/>
              </a:rPr>
              <a:t>, mientras que la validación garantiza que </a:t>
            </a:r>
            <a:r>
              <a:rPr lang="es-ES" sz="1700">
                <a:solidFill>
                  <a:schemeClr val="lt1"/>
                </a:solidFill>
                <a:latin typeface="Calibri"/>
                <a:ea typeface="Calibri"/>
                <a:cs typeface="Calibri"/>
                <a:sym typeface="Calibri"/>
              </a:rPr>
              <a:t>“</a:t>
            </a:r>
            <a:r>
              <a:rPr b="0" i="0" lang="es-ES" sz="1700" u="none" cap="none" strike="noStrike">
                <a:solidFill>
                  <a:schemeClr val="lt1"/>
                </a:solidFill>
                <a:latin typeface="Calibri"/>
                <a:ea typeface="Calibri"/>
                <a:cs typeface="Calibri"/>
                <a:sym typeface="Calibri"/>
              </a:rPr>
              <a:t>estás construyendo el sistema correcto</a:t>
            </a:r>
            <a:r>
              <a:rPr lang="es-ES" sz="1700">
                <a:solidFill>
                  <a:schemeClr val="lt1"/>
                </a:solidFill>
                <a:latin typeface="Calibri"/>
                <a:ea typeface="Calibri"/>
                <a:cs typeface="Calibri"/>
                <a:sym typeface="Calibri"/>
              </a:rPr>
              <a:t>”</a:t>
            </a:r>
            <a:r>
              <a:rPr b="0" i="0" lang="es-ES" sz="17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La Trazabilidad de Requisitos es el GPS del Proyecto</a:t>
            </a:r>
            <a:r>
              <a:rPr lang="es-ES" sz="1700">
                <a:solidFill>
                  <a:schemeClr val="lt1"/>
                </a:solidFill>
                <a:latin typeface="Calibri"/>
                <a:ea typeface="Calibri"/>
                <a:cs typeface="Calibri"/>
                <a:sym typeface="Calibri"/>
              </a:rPr>
              <a:t>:</a:t>
            </a:r>
            <a:r>
              <a:rPr b="0" i="0" lang="es-ES" sz="1700" u="none" cap="none" strike="noStrike">
                <a:solidFill>
                  <a:schemeClr val="lt1"/>
                </a:solidFill>
                <a:latin typeface="Calibri"/>
                <a:ea typeface="Calibri"/>
                <a:cs typeface="Calibri"/>
                <a:sym typeface="Calibri"/>
              </a:rPr>
              <a:t> permite seguir la vida de cada requisito a lo largo del ciclo del proyecto, lo que facilita la gestión de cambios, la comunicación entre stakeholders y la rendición de cuentas.</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Una Matriz de Requisitos bien estructurada es una Herramienta que no sólo organiza la información esencial sobre cada requisito, sino que también sirve como un registro vivo del proyecto que ayuda en la planificación, el desarrollo y la auditoría.</a:t>
            </a:r>
            <a:endParaRPr b="0" i="0" sz="1400" u="none" cap="none" strike="noStrike">
              <a:solidFill>
                <a:srgbClr val="000000"/>
              </a:solidFill>
              <a:latin typeface="Arial"/>
              <a:ea typeface="Arial"/>
              <a:cs typeface="Arial"/>
              <a:sym typeface="Arial"/>
            </a:endParaRPr>
          </a:p>
        </p:txBody>
      </p:sp>
      <p:sp>
        <p:nvSpPr>
          <p:cNvPr id="461" name="Google Shape;461;p48"/>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Calibri"/>
              <a:buNone/>
            </a:pPr>
            <a:r>
              <a:rPr b="0" i="0" lang="es-ES" sz="1700" u="none" cap="none" strike="noStrike">
                <a:solidFill>
                  <a:schemeClr val="lt1"/>
                </a:solidFill>
                <a:latin typeface="Calibri"/>
                <a:ea typeface="Calibri"/>
                <a:cs typeface="Calibri"/>
                <a:sym typeface="Calibri"/>
              </a:rPr>
              <a:t>/ CONCLUSIONES</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9"/>
          <p:cNvSpPr txBox="1"/>
          <p:nvPr/>
        </p:nvSpPr>
        <p:spPr>
          <a:xfrm>
            <a:off x="665324" y="857848"/>
            <a:ext cx="7892750" cy="3492049"/>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Sommerville, I. (2015). Software Engineering (10th ed.). Pearson.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Wiegers, K. E., &amp; Beatty, J. (2013). Software Requirements (3rd ed.). Microsoft Press.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IEEE Software Engineering Standards Committee. (1998). IEEE Recommended Practice for Software Requirements Specifications (IEEE Std 830-1998).</a:t>
            </a:r>
            <a:endParaRPr b="0" i="0" sz="1400" u="none" cap="none" strike="noStrike">
              <a:solidFill>
                <a:srgbClr val="000000"/>
              </a:solidFill>
              <a:latin typeface="Arial"/>
              <a:ea typeface="Arial"/>
              <a:cs typeface="Arial"/>
              <a:sym typeface="Arial"/>
            </a:endParaRPr>
          </a:p>
          <a:p>
            <a:pPr indent="0" lvl="0" marL="269875" marR="0" rtl="0" algn="l">
              <a:lnSpc>
                <a:spcPct val="100000"/>
              </a:lnSpc>
              <a:spcBef>
                <a:spcPts val="0"/>
              </a:spcBef>
              <a:spcAft>
                <a:spcPts val="0"/>
              </a:spcAft>
              <a:buClr>
                <a:schemeClr val="dk1"/>
              </a:buClr>
              <a:buSzPts val="1600"/>
              <a:buFont typeface="Calibri"/>
              <a:buNone/>
            </a:pPr>
            <a:r>
              <a:rPr b="0" i="0" lang="es-ES" sz="16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https://www.iso.org/standard/45171.html</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Agile Alliance - User Stories and Use Cases: Understand the Difference.</a:t>
            </a:r>
            <a:endParaRPr b="0" i="0" sz="1400" u="none" cap="none" strike="noStrike">
              <a:solidFill>
                <a:srgbClr val="000000"/>
              </a:solidFill>
              <a:latin typeface="Arial"/>
              <a:ea typeface="Arial"/>
              <a:cs typeface="Arial"/>
              <a:sym typeface="Arial"/>
            </a:endParaRPr>
          </a:p>
          <a:p>
            <a:pPr indent="0" lvl="0" marL="269875" marR="0" rtl="0" algn="l">
              <a:lnSpc>
                <a:spcPct val="100000"/>
              </a:lnSpc>
              <a:spcBef>
                <a:spcPts val="0"/>
              </a:spcBef>
              <a:spcAft>
                <a:spcPts val="0"/>
              </a:spcAft>
              <a:buClr>
                <a:schemeClr val="dk1"/>
              </a:buClr>
              <a:buSzPts val="1600"/>
              <a:buFont typeface="Calibri"/>
              <a:buNone/>
            </a:pPr>
            <a:r>
              <a:rPr b="0" i="0" lang="es-ES" sz="1600" u="none" cap="none" strike="noStrike">
                <a:solidFill>
                  <a:schemeClr val="dk1"/>
                </a:solidFill>
                <a:latin typeface="Calibri"/>
                <a:ea typeface="Calibri"/>
                <a:cs typeface="Calibri"/>
                <a:sym typeface="Calibri"/>
              </a:rPr>
              <a:t>URL: </a:t>
            </a:r>
            <a:r>
              <a:rPr b="0" i="0" lang="es-ES" sz="16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https://www.agilealliance.org/glossary/user-stories/</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Atlassian - How to create a traceability matrix.</a:t>
            </a:r>
            <a:endParaRPr b="0" i="0" sz="1400" u="none" cap="none" strike="noStrike">
              <a:solidFill>
                <a:srgbClr val="000000"/>
              </a:solidFill>
              <a:latin typeface="Arial"/>
              <a:ea typeface="Arial"/>
              <a:cs typeface="Arial"/>
              <a:sym typeface="Arial"/>
            </a:endParaRPr>
          </a:p>
          <a:p>
            <a:pPr indent="0" lvl="0" marL="269875" marR="0" rtl="0" algn="l">
              <a:lnSpc>
                <a:spcPct val="100000"/>
              </a:lnSpc>
              <a:spcBef>
                <a:spcPts val="0"/>
              </a:spcBef>
              <a:spcAft>
                <a:spcPts val="0"/>
              </a:spcAft>
              <a:buClr>
                <a:schemeClr val="dk1"/>
              </a:buClr>
              <a:buSzPts val="1600"/>
              <a:buFont typeface="Calibri"/>
              <a:buNone/>
            </a:pPr>
            <a:r>
              <a:rPr b="0" i="0" lang="es-ES" sz="1600" u="sng" cap="none" strike="noStrike">
                <a:solidFill>
                  <a:schemeClr val="dk1"/>
                </a:solidFill>
                <a:latin typeface="Calibri"/>
                <a:ea typeface="Calibri"/>
                <a:cs typeface="Calibri"/>
                <a:sym typeface="Calibri"/>
                <a:hlinkClick r:id="rId5">
                  <a:extLst>
                    <a:ext uri="{A12FA001-AC4F-418D-AE19-62706E023703}">
                      <ahyp:hlinkClr val="tx"/>
                    </a:ext>
                  </a:extLst>
                </a:hlinkClick>
              </a:rPr>
              <a:t>https://www.atlassian.com/software/confluence/templates/traceability-matrix</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73025" lvl="0" marL="174625"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468" name="Google Shape;468;p49"/>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BIBLIOGRAFÍA</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