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715000" type="screen16x10"/>
  <p:notesSz cx="6797675" cy="9926638"/>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2D200454-40CA-4A62-9FC3-DE9A4176ACB9}">
      <p15:notesGuideLst xmlns:p15="http://schemas.microsoft.com/office/powerpoint/2012/main">
        <p15:guide id="1" orient="horz" pos="3126">
          <p15:clr>
            <a:srgbClr val="A4A3A4"/>
          </p15:clr>
        </p15:guide>
        <p15:guide id="2" pos="2141">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j8K611f8DrBWuVjvrOl3xNt2sHk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1" d="100"/>
          <a:sy n="121" d="100"/>
        </p:scale>
        <p:origin x="1314" y="96"/>
      </p:cViewPr>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1"/>
            <a:ext cx="2945659" cy="498056"/>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50443" y="1"/>
            <a:ext cx="2945659" cy="498056"/>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8584"/>
            <a:ext cx="2945659" cy="49805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1: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 name="Google Shape;56;p1: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171450" lvl="0" indent="-95250" algn="l" rtl="0">
              <a:lnSpc>
                <a:spcPct val="100000"/>
              </a:lnSpc>
              <a:spcBef>
                <a:spcPts val="0"/>
              </a:spcBef>
              <a:spcAft>
                <a:spcPts val="0"/>
              </a:spcAft>
              <a:buClr>
                <a:schemeClr val="dk1"/>
              </a:buClr>
              <a:buSzPts val="1200"/>
              <a:buFont typeface="Arial"/>
              <a:buNone/>
            </a:pPr>
            <a:endParaRPr dirty="0">
              <a:latin typeface="Arial"/>
              <a:ea typeface="Arial"/>
              <a:cs typeface="Arial"/>
              <a:sym typeface="Arial"/>
            </a:endParaRPr>
          </a:p>
        </p:txBody>
      </p:sp>
      <p:sp>
        <p:nvSpPr>
          <p:cNvPr id="57" name="Google Shape;57;p1: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s-ES"/>
              <a:t>1</a:t>
            </a:fld>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2: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p2: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dirty="0">
              <a:latin typeface="Calibri"/>
              <a:ea typeface="Calibri"/>
              <a:cs typeface="Calibri"/>
              <a:sym typeface="Calibri"/>
            </a:endParaRPr>
          </a:p>
        </p:txBody>
      </p:sp>
      <p:sp>
        <p:nvSpPr>
          <p:cNvPr id="69" name="Google Shape;69;p2: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s-ES"/>
              <a:t>2</a:t>
            </a:fld>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3: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 name="Google Shape;75;p3: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dirty="0">
              <a:latin typeface="Arial"/>
              <a:ea typeface="Arial"/>
              <a:cs typeface="Arial"/>
              <a:sym typeface="Arial"/>
            </a:endParaRPr>
          </a:p>
          <a:p>
            <a:pPr marL="0" lvl="0" indent="0" algn="l" rtl="0">
              <a:lnSpc>
                <a:spcPct val="100000"/>
              </a:lnSpc>
              <a:spcBef>
                <a:spcPts val="0"/>
              </a:spcBef>
              <a:spcAft>
                <a:spcPts val="0"/>
              </a:spcAft>
              <a:buClr>
                <a:schemeClr val="dk1"/>
              </a:buClr>
              <a:buSzPts val="1200"/>
              <a:buFont typeface="Calibri"/>
              <a:buNone/>
            </a:pPr>
            <a:endParaRPr dirty="0">
              <a:latin typeface="Arial"/>
              <a:ea typeface="Arial"/>
              <a:cs typeface="Arial"/>
              <a:sym typeface="Arial"/>
            </a:endParaRPr>
          </a:p>
        </p:txBody>
      </p:sp>
      <p:sp>
        <p:nvSpPr>
          <p:cNvPr id="76" name="Google Shape;76;p3: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s-ES"/>
              <a:t>3</a:t>
            </a:fld>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 name="Google Shape;82;p4: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s-ES" dirty="0"/>
              <a:t>Es un concepto crucial en el desarrollo de software que sirve como una especie de “hoja de ruta” o “plan maestro” para todos los involucrados en un proyecto.</a:t>
            </a:r>
            <a:endParaRPr dirty="0">
              <a:latin typeface="Calibri"/>
              <a:ea typeface="Calibri"/>
              <a:cs typeface="Calibri"/>
              <a:sym typeface="Calibri"/>
            </a:endParaRPr>
          </a:p>
        </p:txBody>
      </p:sp>
      <p:sp>
        <p:nvSpPr>
          <p:cNvPr id="83" name="Google Shape;83;p4: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4</a:t>
            </a:fld>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5: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 name="Google Shape;91;p5: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dirty="0">
              <a:latin typeface="Calibri"/>
              <a:ea typeface="Calibri"/>
              <a:cs typeface="Calibri"/>
              <a:sym typeface="Calibri"/>
            </a:endParaRPr>
          </a:p>
        </p:txBody>
      </p:sp>
      <p:sp>
        <p:nvSpPr>
          <p:cNvPr id="92" name="Google Shape;92;p5: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5</a:t>
            </a:fld>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6: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6: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dirty="0">
              <a:latin typeface="Calibri"/>
              <a:ea typeface="Calibri"/>
              <a:cs typeface="Calibri"/>
              <a:sym typeface="Calibri"/>
            </a:endParaRPr>
          </a:p>
        </p:txBody>
      </p:sp>
      <p:sp>
        <p:nvSpPr>
          <p:cNvPr id="101" name="Google Shape;101;p6: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a:t>
            </a:fld>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7: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7: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dirty="0">
              <a:latin typeface="Calibri"/>
              <a:ea typeface="Calibri"/>
              <a:cs typeface="Calibri"/>
              <a:sym typeface="Calibri"/>
            </a:endParaRPr>
          </a:p>
        </p:txBody>
      </p:sp>
      <p:sp>
        <p:nvSpPr>
          <p:cNvPr id="110" name="Google Shape;110;p7: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a:t>
            </a:fld>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8: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8: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dirty="0">
              <a:latin typeface="Calibri"/>
              <a:ea typeface="Calibri"/>
              <a:cs typeface="Calibri"/>
              <a:sym typeface="Calibri"/>
            </a:endParaRPr>
          </a:p>
        </p:txBody>
      </p:sp>
      <p:sp>
        <p:nvSpPr>
          <p:cNvPr id="120" name="Google Shape;120;p8: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a:t>
            </a:fld>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9: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 name="Google Shape;128;p9: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dirty="0">
              <a:latin typeface="Calibri"/>
              <a:ea typeface="Calibri"/>
              <a:cs typeface="Calibri"/>
              <a:sym typeface="Calibri"/>
            </a:endParaRPr>
          </a:p>
        </p:txBody>
      </p:sp>
      <p:sp>
        <p:nvSpPr>
          <p:cNvPr id="129" name="Google Shape;129;p9: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a:t>
            </a:fld>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0: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10: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dirty="0">
              <a:latin typeface="Calibri"/>
              <a:ea typeface="Calibri"/>
              <a:cs typeface="Calibri"/>
              <a:sym typeface="Calibri"/>
            </a:endParaRPr>
          </a:p>
        </p:txBody>
      </p:sp>
      <p:sp>
        <p:nvSpPr>
          <p:cNvPr id="138" name="Google Shape;138;p10: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10</a:t>
            </a:fld>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1: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 name="Google Shape;147;p11: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dirty="0">
              <a:latin typeface="Calibri"/>
              <a:ea typeface="Calibri"/>
              <a:cs typeface="Calibri"/>
              <a:sym typeface="Calibri"/>
            </a:endParaRPr>
          </a:p>
        </p:txBody>
      </p:sp>
      <p:sp>
        <p:nvSpPr>
          <p:cNvPr id="148" name="Google Shape;148;p11: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11</a:t>
            </a:fld>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2: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12: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dirty="0">
              <a:latin typeface="Calibri"/>
              <a:ea typeface="Calibri"/>
              <a:cs typeface="Calibri"/>
              <a:sym typeface="Calibri"/>
            </a:endParaRPr>
          </a:p>
        </p:txBody>
      </p:sp>
      <p:sp>
        <p:nvSpPr>
          <p:cNvPr id="157" name="Google Shape;157;p12: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12</a:t>
            </a:fld>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3: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13: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dirty="0">
              <a:latin typeface="Calibri"/>
              <a:ea typeface="Calibri"/>
              <a:cs typeface="Calibri"/>
              <a:sym typeface="Calibri"/>
            </a:endParaRPr>
          </a:p>
        </p:txBody>
      </p:sp>
      <p:sp>
        <p:nvSpPr>
          <p:cNvPr id="166" name="Google Shape;166;p13: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13</a:t>
            </a:fld>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4: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14: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s-ES" dirty="0"/>
              <a:t>BPM es una disciplina continua que se realiza en un ciclo de retroalimentación constante, donde los resultados del monitoreo y control de procesos informan las futuras etapas de identificación, diseño e implementación de procesos.</a:t>
            </a:r>
            <a:endParaRPr dirty="0"/>
          </a:p>
          <a:p>
            <a:pPr marL="0" marR="0" lvl="0" indent="0" algn="l" rtl="0">
              <a:lnSpc>
                <a:spcPct val="100000"/>
              </a:lnSpc>
              <a:spcBef>
                <a:spcPts val="0"/>
              </a:spcBef>
              <a:spcAft>
                <a:spcPts val="0"/>
              </a:spcAft>
              <a:buClr>
                <a:schemeClr val="dk1"/>
              </a:buClr>
              <a:buSzPts val="1200"/>
              <a:buFont typeface="Calibri"/>
              <a:buNone/>
            </a:pPr>
            <a:endParaRPr dirty="0">
              <a:latin typeface="Arial"/>
              <a:ea typeface="Arial"/>
              <a:cs typeface="Arial"/>
              <a:sym typeface="Arial"/>
            </a:endParaRPr>
          </a:p>
        </p:txBody>
      </p:sp>
      <p:sp>
        <p:nvSpPr>
          <p:cNvPr id="176" name="Google Shape;176;p14: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14</a:t>
            </a:fld>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5: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15: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s-ES" dirty="0"/>
              <a:t>Estos principios fundamentales de BPM proporcionan un marco sólido para la gestión eficaz de los procesos, permitiendo que las organizaciones mejoren su rendimiento, se adapten rápidamente a los cambios y brinden un mayor valor a sus clientes y partes interesadas.</a:t>
            </a:r>
            <a:endParaRPr dirty="0">
              <a:latin typeface="Arial"/>
              <a:ea typeface="Arial"/>
              <a:cs typeface="Arial"/>
              <a:sym typeface="Arial"/>
            </a:endParaRPr>
          </a:p>
        </p:txBody>
      </p:sp>
      <p:sp>
        <p:nvSpPr>
          <p:cNvPr id="185" name="Google Shape;185;p15: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15</a:t>
            </a:fld>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6: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p16: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dirty="0">
              <a:latin typeface="Arial"/>
              <a:ea typeface="Arial"/>
              <a:cs typeface="Arial"/>
              <a:sym typeface="Arial"/>
            </a:endParaRPr>
          </a:p>
          <a:p>
            <a:pPr marL="0" lvl="0" indent="0" algn="l" rtl="0">
              <a:lnSpc>
                <a:spcPct val="100000"/>
              </a:lnSpc>
              <a:spcBef>
                <a:spcPts val="0"/>
              </a:spcBef>
              <a:spcAft>
                <a:spcPts val="0"/>
              </a:spcAft>
              <a:buClr>
                <a:schemeClr val="dk1"/>
              </a:buClr>
              <a:buSzPts val="1200"/>
              <a:buFont typeface="Calibri"/>
              <a:buNone/>
            </a:pPr>
            <a:endParaRPr dirty="0">
              <a:latin typeface="Arial"/>
              <a:ea typeface="Arial"/>
              <a:cs typeface="Arial"/>
              <a:sym typeface="Arial"/>
            </a:endParaRPr>
          </a:p>
        </p:txBody>
      </p:sp>
      <p:sp>
        <p:nvSpPr>
          <p:cNvPr id="194" name="Google Shape;194;p16: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s-ES"/>
              <a:t>16</a:t>
            </a:fld>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7: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17: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s-ES" dirty="0"/>
              <a:t>La modelización de procesos es un diagrama que típicamente muestra eventos, acciones y enlaces o flujos entre ellos.</a:t>
            </a:r>
            <a:endParaRPr dirty="0"/>
          </a:p>
          <a:p>
            <a:pPr marL="0" marR="0" lvl="0" indent="0" algn="l" rtl="0">
              <a:lnSpc>
                <a:spcPct val="100000"/>
              </a:lnSpc>
              <a:spcBef>
                <a:spcPts val="0"/>
              </a:spcBef>
              <a:spcAft>
                <a:spcPts val="0"/>
              </a:spcAft>
              <a:buClr>
                <a:schemeClr val="dk1"/>
              </a:buClr>
              <a:buSzPts val="1200"/>
              <a:buFont typeface="Calibri"/>
              <a:buNone/>
            </a:pPr>
            <a:r>
              <a:rPr lang="es-ES" dirty="0"/>
              <a:t>Para desarrollar un proyecto de modelado de procesos son necesarios los siguientes elementos: método, meta-modelo, notación y herramienta.</a:t>
            </a:r>
            <a:endParaRPr dirty="0"/>
          </a:p>
          <a:p>
            <a:pPr marL="0" marR="0" lvl="0" indent="0" algn="l" rtl="0">
              <a:lnSpc>
                <a:spcPct val="100000"/>
              </a:lnSpc>
              <a:spcBef>
                <a:spcPts val="0"/>
              </a:spcBef>
              <a:spcAft>
                <a:spcPts val="0"/>
              </a:spcAft>
              <a:buClr>
                <a:schemeClr val="dk1"/>
              </a:buClr>
              <a:buSzPts val="1200"/>
              <a:buFont typeface="Calibri"/>
              <a:buNone/>
            </a:pPr>
            <a:endParaRPr dirty="0">
              <a:latin typeface="Arial"/>
              <a:ea typeface="Arial"/>
              <a:cs typeface="Arial"/>
              <a:sym typeface="Arial"/>
            </a:endParaRPr>
          </a:p>
        </p:txBody>
      </p:sp>
      <p:sp>
        <p:nvSpPr>
          <p:cNvPr id="201" name="Google Shape;201;p17: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17</a:t>
            </a:fld>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8: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9" name="Google Shape;209;p18: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dirty="0">
              <a:latin typeface="Arial"/>
              <a:ea typeface="Arial"/>
              <a:cs typeface="Arial"/>
              <a:sym typeface="Arial"/>
            </a:endParaRPr>
          </a:p>
        </p:txBody>
      </p:sp>
      <p:sp>
        <p:nvSpPr>
          <p:cNvPr id="210" name="Google Shape;210;p18: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18</a:t>
            </a:fld>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9: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8" name="Google Shape;218;p19: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dirty="0">
              <a:latin typeface="Arial"/>
              <a:ea typeface="Arial"/>
              <a:cs typeface="Arial"/>
              <a:sym typeface="Arial"/>
            </a:endParaRPr>
          </a:p>
        </p:txBody>
      </p:sp>
      <p:sp>
        <p:nvSpPr>
          <p:cNvPr id="219" name="Google Shape;219;p19: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19</a:t>
            </a:fld>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20: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7" name="Google Shape;227;p20: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dirty="0">
              <a:latin typeface="Arial"/>
              <a:ea typeface="Arial"/>
              <a:cs typeface="Arial"/>
              <a:sym typeface="Arial"/>
            </a:endParaRPr>
          </a:p>
        </p:txBody>
      </p:sp>
      <p:sp>
        <p:nvSpPr>
          <p:cNvPr id="228" name="Google Shape;228;p20: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20</a:t>
            </a:fld>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1: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21: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dirty="0">
              <a:latin typeface="Arial"/>
              <a:ea typeface="Arial"/>
              <a:cs typeface="Arial"/>
              <a:sym typeface="Arial"/>
            </a:endParaRPr>
          </a:p>
        </p:txBody>
      </p:sp>
      <p:sp>
        <p:nvSpPr>
          <p:cNvPr id="237" name="Google Shape;237;p21: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21</a:t>
            </a:fld>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2: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p22: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dirty="0">
              <a:latin typeface="Arial"/>
              <a:ea typeface="Arial"/>
              <a:cs typeface="Arial"/>
              <a:sym typeface="Arial"/>
            </a:endParaRPr>
          </a:p>
          <a:p>
            <a:pPr marL="0" lvl="0" indent="0" algn="l" rtl="0">
              <a:lnSpc>
                <a:spcPct val="100000"/>
              </a:lnSpc>
              <a:spcBef>
                <a:spcPts val="0"/>
              </a:spcBef>
              <a:spcAft>
                <a:spcPts val="0"/>
              </a:spcAft>
              <a:buClr>
                <a:schemeClr val="dk1"/>
              </a:buClr>
              <a:buSzPts val="1200"/>
              <a:buFont typeface="Calibri"/>
              <a:buNone/>
            </a:pPr>
            <a:endParaRPr dirty="0">
              <a:latin typeface="Arial"/>
              <a:ea typeface="Arial"/>
              <a:cs typeface="Arial"/>
              <a:sym typeface="Arial"/>
            </a:endParaRPr>
          </a:p>
        </p:txBody>
      </p:sp>
      <p:sp>
        <p:nvSpPr>
          <p:cNvPr id="246" name="Google Shape;246;p22: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s-ES"/>
              <a:t>22</a:t>
            </a:fld>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3: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23: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Arial"/>
              <a:buNone/>
            </a:pPr>
            <a:r>
              <a:rPr lang="es-ES" dirty="0"/>
              <a:t>BPMN sirve como un puente común que facilita la comunicación y la comprensión entre los diferentes stakeholders de un proceso de negocio, permitiendo que todos tengan una visión clara y compartida del proceso.</a:t>
            </a:r>
            <a:endParaRPr dirty="0"/>
          </a:p>
          <a:p>
            <a:pPr marL="0" marR="0" lvl="0" indent="0" algn="l" rtl="0">
              <a:lnSpc>
                <a:spcPct val="100000"/>
              </a:lnSpc>
              <a:spcBef>
                <a:spcPts val="0"/>
              </a:spcBef>
              <a:spcAft>
                <a:spcPts val="0"/>
              </a:spcAft>
              <a:buClr>
                <a:schemeClr val="dk1"/>
              </a:buClr>
              <a:buSzPts val="1200"/>
              <a:buFont typeface="Calibri"/>
              <a:buNone/>
            </a:pPr>
            <a:endParaRPr dirty="0">
              <a:latin typeface="Arial"/>
              <a:ea typeface="Arial"/>
              <a:cs typeface="Arial"/>
              <a:sym typeface="Arial"/>
            </a:endParaRPr>
          </a:p>
        </p:txBody>
      </p:sp>
      <p:sp>
        <p:nvSpPr>
          <p:cNvPr id="253" name="Google Shape;253;p23: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23</a:t>
            </a:fld>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4: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 name="Google Shape;261;p24: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dirty="0">
              <a:latin typeface="Arial"/>
              <a:ea typeface="Arial"/>
              <a:cs typeface="Arial"/>
              <a:sym typeface="Arial"/>
            </a:endParaRPr>
          </a:p>
        </p:txBody>
      </p:sp>
      <p:sp>
        <p:nvSpPr>
          <p:cNvPr id="262" name="Google Shape;262;p24: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24</a:t>
            </a:fld>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5: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25: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dirty="0">
              <a:latin typeface="Arial"/>
              <a:ea typeface="Arial"/>
              <a:cs typeface="Arial"/>
              <a:sym typeface="Arial"/>
            </a:endParaRPr>
          </a:p>
        </p:txBody>
      </p:sp>
      <p:sp>
        <p:nvSpPr>
          <p:cNvPr id="271" name="Google Shape;271;p25: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25</a:t>
            </a:fld>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26: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6: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dirty="0">
              <a:latin typeface="Arial"/>
              <a:ea typeface="Arial"/>
              <a:cs typeface="Arial"/>
              <a:sym typeface="Arial"/>
            </a:endParaRPr>
          </a:p>
        </p:txBody>
      </p:sp>
      <p:sp>
        <p:nvSpPr>
          <p:cNvPr id="280" name="Google Shape;280;p26: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26</a:t>
            </a:fld>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27: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27: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dirty="0">
              <a:latin typeface="Arial"/>
              <a:ea typeface="Arial"/>
              <a:cs typeface="Arial"/>
              <a:sym typeface="Arial"/>
            </a:endParaRPr>
          </a:p>
        </p:txBody>
      </p:sp>
      <p:sp>
        <p:nvSpPr>
          <p:cNvPr id="289" name="Google Shape;289;p27: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27</a:t>
            </a:fld>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28: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7" name="Google Shape;297;p28: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dirty="0">
              <a:latin typeface="Arial"/>
              <a:ea typeface="Arial"/>
              <a:cs typeface="Arial"/>
              <a:sym typeface="Arial"/>
            </a:endParaRPr>
          </a:p>
        </p:txBody>
      </p:sp>
      <p:sp>
        <p:nvSpPr>
          <p:cNvPr id="298" name="Google Shape;298;p28: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28</a:t>
            </a:fld>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29: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dirty="0">
              <a:latin typeface="Arial"/>
              <a:ea typeface="Arial"/>
              <a:cs typeface="Arial"/>
              <a:sym typeface="Arial"/>
            </a:endParaRPr>
          </a:p>
        </p:txBody>
      </p:sp>
      <p:sp>
        <p:nvSpPr>
          <p:cNvPr id="307" name="Google Shape;307;p29: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29</a:t>
            </a:fld>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30: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5" name="Google Shape;315;p30: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sz="1200" b="0" dirty="0">
              <a:latin typeface="Arial"/>
              <a:ea typeface="Arial"/>
              <a:cs typeface="Arial"/>
              <a:sym typeface="Arial"/>
            </a:endParaRPr>
          </a:p>
        </p:txBody>
      </p:sp>
      <p:sp>
        <p:nvSpPr>
          <p:cNvPr id="316" name="Google Shape;316;p30: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s-ES"/>
              <a:t>30</a:t>
            </a:fld>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31: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31: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3" indent="0" algn="l" rtl="0">
              <a:lnSpc>
                <a:spcPct val="100000"/>
              </a:lnSpc>
              <a:spcBef>
                <a:spcPts val="0"/>
              </a:spcBef>
              <a:spcAft>
                <a:spcPts val="0"/>
              </a:spcAft>
              <a:buClr>
                <a:schemeClr val="dk1"/>
              </a:buClr>
              <a:buSzPts val="1200"/>
              <a:buFont typeface="Arial"/>
              <a:buNone/>
            </a:pPr>
            <a:r>
              <a:rPr lang="es-ES" sz="1200" dirty="0">
                <a:solidFill>
                  <a:schemeClr val="dk1"/>
                </a:solidFill>
                <a:latin typeface="Arial"/>
                <a:ea typeface="Arial"/>
                <a:cs typeface="Arial"/>
                <a:sym typeface="Arial"/>
              </a:rPr>
              <a:t> </a:t>
            </a:r>
            <a:endParaRPr dirty="0"/>
          </a:p>
          <a:p>
            <a:pPr marL="0" lvl="0" indent="0" algn="l" rtl="0">
              <a:lnSpc>
                <a:spcPct val="100000"/>
              </a:lnSpc>
              <a:spcBef>
                <a:spcPts val="0"/>
              </a:spcBef>
              <a:spcAft>
                <a:spcPts val="0"/>
              </a:spcAft>
              <a:buClr>
                <a:schemeClr val="dk1"/>
              </a:buClr>
              <a:buSzPts val="1200"/>
              <a:buFont typeface="Calibri"/>
              <a:buNone/>
            </a:pPr>
            <a:endParaRPr sz="1200" dirty="0">
              <a:latin typeface="Arial"/>
              <a:ea typeface="Arial"/>
              <a:cs typeface="Arial"/>
              <a:sym typeface="Arial"/>
            </a:endParaRPr>
          </a:p>
        </p:txBody>
      </p:sp>
      <p:sp>
        <p:nvSpPr>
          <p:cNvPr id="324" name="Google Shape;324;p31: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s-ES"/>
              <a:t>31</a:t>
            </a:fld>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apo_Subtema con Imagen Horizontal">
  <p:cSld name="1_Diapo_Subtema con Imagen Horizontal">
    <p:spTree>
      <p:nvGrpSpPr>
        <p:cNvPr id="1" name="Shape 15"/>
        <p:cNvGrpSpPr/>
        <p:nvPr/>
      </p:nvGrpSpPr>
      <p:grpSpPr>
        <a:xfrm>
          <a:off x="0" y="0"/>
          <a:ext cx="0" cy="0"/>
          <a:chOff x="0" y="0"/>
          <a:chExt cx="0" cy="0"/>
        </a:xfrm>
      </p:grpSpPr>
      <p:sp>
        <p:nvSpPr>
          <p:cNvPr id="16" name="Google Shape;16;p34"/>
          <p:cNvSpPr>
            <a:spLocks noGrp="1"/>
          </p:cNvSpPr>
          <p:nvPr>
            <p:ph type="pic" idx="2"/>
          </p:nvPr>
        </p:nvSpPr>
        <p:spPr>
          <a:xfrm>
            <a:off x="475687" y="2877477"/>
            <a:ext cx="8207375" cy="2394000"/>
          </a:xfrm>
          <a:prstGeom prst="rect">
            <a:avLst/>
          </a:prstGeom>
          <a:noFill/>
          <a:ln>
            <a:noFill/>
          </a:ln>
        </p:spPr>
      </p:sp>
      <p:sp>
        <p:nvSpPr>
          <p:cNvPr id="17" name="Google Shape;17;p34"/>
          <p:cNvSpPr txBox="1">
            <a:spLocks noGrp="1"/>
          </p:cNvSpPr>
          <p:nvPr>
            <p:ph type="body" idx="1"/>
          </p:nvPr>
        </p:nvSpPr>
        <p:spPr>
          <a:xfrm>
            <a:off x="475687" y="804863"/>
            <a:ext cx="8207375" cy="354012"/>
          </a:xfrm>
          <a:prstGeom prst="rect">
            <a:avLst/>
          </a:prstGeom>
          <a:noFill/>
          <a:ln>
            <a:noFill/>
          </a:ln>
        </p:spPr>
        <p:txBody>
          <a:bodyPr spcFirstLastPara="1" wrap="square" lIns="72000" tIns="36000" rIns="72000" bIns="36000" anchor="ctr" anchorCtr="0">
            <a:noAutofit/>
          </a:bodyPr>
          <a:lstStyle>
            <a:lvl1pPr marL="457200" marR="0" lvl="0" indent="-228600" algn="l" rtl="0">
              <a:lnSpc>
                <a:spcPct val="85000"/>
              </a:lnSpc>
              <a:spcBef>
                <a:spcPts val="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8" name="Google Shape;18;p34"/>
          <p:cNvSpPr txBox="1">
            <a:spLocks noGrp="1"/>
          </p:cNvSpPr>
          <p:nvPr>
            <p:ph type="body" idx="3"/>
          </p:nvPr>
        </p:nvSpPr>
        <p:spPr>
          <a:xfrm>
            <a:off x="475687" y="277813"/>
            <a:ext cx="8207375" cy="354012"/>
          </a:xfrm>
          <a:prstGeom prst="rect">
            <a:avLst/>
          </a:prstGeom>
          <a:noFill/>
          <a:ln>
            <a:noFill/>
          </a:ln>
        </p:spPr>
        <p:txBody>
          <a:bodyPr spcFirstLastPara="1" wrap="square" lIns="72000" tIns="36000" rIns="72000" bIns="36000" anchor="t" anchorCtr="0">
            <a:noAutofit/>
          </a:bodyPr>
          <a:lstStyle>
            <a:lvl1pPr marL="457200" marR="0" lvl="0" indent="-228600" algn="l" rtl="0">
              <a:lnSpc>
                <a:spcPct val="100000"/>
              </a:lnSpc>
              <a:spcBef>
                <a:spcPts val="360"/>
              </a:spcBef>
              <a:spcAft>
                <a:spcPts val="0"/>
              </a:spcAft>
              <a:buClr>
                <a:srgbClr val="1F85A6"/>
              </a:buClr>
              <a:buSzPts val="1800"/>
              <a:buFont typeface="Arial"/>
              <a:buNone/>
              <a:defRPr sz="1800" b="1" i="0" u="none" strike="noStrike" cap="none">
                <a:solidFill>
                  <a:srgbClr val="1F85A6"/>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 name="Google Shape;19;p34"/>
          <p:cNvSpPr txBox="1">
            <a:spLocks noGrp="1"/>
          </p:cNvSpPr>
          <p:nvPr>
            <p:ph type="body" idx="4"/>
          </p:nvPr>
        </p:nvSpPr>
        <p:spPr>
          <a:xfrm>
            <a:off x="475687" y="1169422"/>
            <a:ext cx="8200800" cy="1692000"/>
          </a:xfrm>
          <a:prstGeom prst="rect">
            <a:avLst/>
          </a:prstGeom>
          <a:noFill/>
          <a:ln>
            <a:noFill/>
          </a:ln>
        </p:spPr>
        <p:txBody>
          <a:bodyPr spcFirstLastPara="1" wrap="square" lIns="91425" tIns="45700" rIns="91425" bIns="45700" anchor="t" anchorCtr="0">
            <a:noAutofit/>
          </a:bodyPr>
          <a:lstStyle>
            <a:lvl1pPr marL="457200" marR="0" lvl="0" indent="-304800" algn="just" rtl="0">
              <a:lnSpc>
                <a:spcPct val="100000"/>
              </a:lnSpc>
              <a:spcBef>
                <a:spcPts val="0"/>
              </a:spcBef>
              <a:spcAft>
                <a:spcPts val="0"/>
              </a:spcAft>
              <a:buClr>
                <a:schemeClr val="dk1"/>
              </a:buClr>
              <a:buSzPts val="1200"/>
              <a:buFont typeface="Noto Sans Symbols"/>
              <a:buChar char="❑"/>
              <a:defRPr sz="1600" b="0" i="0" u="none" strike="noStrike" cap="none">
                <a:solidFill>
                  <a:schemeClr val="dk1"/>
                </a:solidFill>
                <a:latin typeface="Calibri"/>
                <a:ea typeface="Calibri"/>
                <a:cs typeface="Calibri"/>
                <a:sym typeface="Calibri"/>
              </a:defRPr>
            </a:lvl1pPr>
            <a:lvl2pPr marL="914400" marR="0" lvl="1" indent="-330200" algn="just" rtl="0">
              <a:lnSpc>
                <a:spcPct val="100000"/>
              </a:lnSpc>
              <a:spcBef>
                <a:spcPts val="1200"/>
              </a:spcBef>
              <a:spcAft>
                <a:spcPts val="0"/>
              </a:spcAft>
              <a:buClr>
                <a:schemeClr val="dk1"/>
              </a:buClr>
              <a:buSzPts val="1600"/>
              <a:buFont typeface="Delius"/>
              <a:buChar char="→"/>
              <a:defRPr sz="1600" b="0" i="0" u="none" strike="noStrike" cap="none">
                <a:solidFill>
                  <a:schemeClr val="dk1"/>
                </a:solidFill>
                <a:latin typeface="Calibri"/>
                <a:ea typeface="Calibri"/>
                <a:cs typeface="Calibri"/>
                <a:sym typeface="Calibri"/>
              </a:defRPr>
            </a:lvl2pPr>
            <a:lvl3pPr marL="1371600" marR="0" lvl="2" indent="-330200" algn="just" rtl="0">
              <a:lnSpc>
                <a:spcPct val="100000"/>
              </a:lnSpc>
              <a:spcBef>
                <a:spcPts val="120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12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apo_Subtema con Imagen Horizontal">
  <p:cSld name="Diapo_Subtema con Imagen Horizontal">
    <p:spTree>
      <p:nvGrpSpPr>
        <p:cNvPr id="1" name="Shape 21"/>
        <p:cNvGrpSpPr/>
        <p:nvPr/>
      </p:nvGrpSpPr>
      <p:grpSpPr>
        <a:xfrm>
          <a:off x="0" y="0"/>
          <a:ext cx="0" cy="0"/>
          <a:chOff x="0" y="0"/>
          <a:chExt cx="0" cy="0"/>
        </a:xfrm>
      </p:grpSpPr>
      <p:sp>
        <p:nvSpPr>
          <p:cNvPr id="22" name="Google Shape;22;p36"/>
          <p:cNvSpPr>
            <a:spLocks noGrp="1"/>
          </p:cNvSpPr>
          <p:nvPr>
            <p:ph type="pic" idx="2"/>
          </p:nvPr>
        </p:nvSpPr>
        <p:spPr>
          <a:xfrm>
            <a:off x="475687" y="2877477"/>
            <a:ext cx="8207375" cy="2394000"/>
          </a:xfrm>
          <a:prstGeom prst="rect">
            <a:avLst/>
          </a:prstGeom>
          <a:noFill/>
          <a:ln>
            <a:noFill/>
          </a:ln>
        </p:spPr>
      </p:sp>
      <p:sp>
        <p:nvSpPr>
          <p:cNvPr id="23" name="Google Shape;23;p36"/>
          <p:cNvSpPr txBox="1">
            <a:spLocks noGrp="1"/>
          </p:cNvSpPr>
          <p:nvPr>
            <p:ph type="body" idx="1"/>
          </p:nvPr>
        </p:nvSpPr>
        <p:spPr>
          <a:xfrm>
            <a:off x="475687" y="804863"/>
            <a:ext cx="8207375" cy="354012"/>
          </a:xfrm>
          <a:prstGeom prst="rect">
            <a:avLst/>
          </a:prstGeom>
          <a:noFill/>
          <a:ln>
            <a:noFill/>
          </a:ln>
        </p:spPr>
        <p:txBody>
          <a:bodyPr spcFirstLastPara="1" wrap="square" lIns="72000" tIns="36000" rIns="72000" bIns="36000" anchor="ctr" anchorCtr="0">
            <a:noAutofit/>
          </a:bodyPr>
          <a:lstStyle>
            <a:lvl1pPr marL="457200" marR="0" lvl="0" indent="-228600" algn="l" rtl="0">
              <a:lnSpc>
                <a:spcPct val="85000"/>
              </a:lnSpc>
              <a:spcBef>
                <a:spcPts val="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 name="Google Shape;24;p36"/>
          <p:cNvSpPr txBox="1">
            <a:spLocks noGrp="1"/>
          </p:cNvSpPr>
          <p:nvPr>
            <p:ph type="body" idx="3"/>
          </p:nvPr>
        </p:nvSpPr>
        <p:spPr>
          <a:xfrm>
            <a:off x="475687" y="277813"/>
            <a:ext cx="8207375" cy="354012"/>
          </a:xfrm>
          <a:prstGeom prst="rect">
            <a:avLst/>
          </a:prstGeom>
          <a:noFill/>
          <a:ln>
            <a:noFill/>
          </a:ln>
        </p:spPr>
        <p:txBody>
          <a:bodyPr spcFirstLastPara="1" wrap="square" lIns="72000" tIns="36000" rIns="72000" bIns="36000" anchor="t" anchorCtr="0">
            <a:noAutofit/>
          </a:bodyPr>
          <a:lstStyle>
            <a:lvl1pPr marL="457200" marR="0" lvl="0" indent="-228600" algn="l" rtl="0">
              <a:lnSpc>
                <a:spcPct val="100000"/>
              </a:lnSpc>
              <a:spcBef>
                <a:spcPts val="360"/>
              </a:spcBef>
              <a:spcAft>
                <a:spcPts val="0"/>
              </a:spcAft>
              <a:buClr>
                <a:srgbClr val="1F85A6"/>
              </a:buClr>
              <a:buSzPts val="1800"/>
              <a:buFont typeface="Arial"/>
              <a:buNone/>
              <a:defRPr sz="1800" b="1" i="0" u="none" strike="noStrike" cap="none">
                <a:solidFill>
                  <a:srgbClr val="1F85A6"/>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5" name="Google Shape;25;p36"/>
          <p:cNvSpPr txBox="1">
            <a:spLocks noGrp="1"/>
          </p:cNvSpPr>
          <p:nvPr>
            <p:ph type="body" idx="4"/>
          </p:nvPr>
        </p:nvSpPr>
        <p:spPr>
          <a:xfrm>
            <a:off x="475687" y="1169422"/>
            <a:ext cx="8200800" cy="1692000"/>
          </a:xfrm>
          <a:prstGeom prst="rect">
            <a:avLst/>
          </a:prstGeom>
          <a:noFill/>
          <a:ln>
            <a:noFill/>
          </a:ln>
        </p:spPr>
        <p:txBody>
          <a:bodyPr spcFirstLastPara="1" wrap="square" lIns="91425" tIns="45700" rIns="91425" bIns="45700" anchor="t" anchorCtr="0">
            <a:noAutofit/>
          </a:bodyPr>
          <a:lstStyle>
            <a:lvl1pPr marL="457200" marR="0" lvl="0" indent="-304800" algn="just" rtl="0">
              <a:lnSpc>
                <a:spcPct val="100000"/>
              </a:lnSpc>
              <a:spcBef>
                <a:spcPts val="0"/>
              </a:spcBef>
              <a:spcAft>
                <a:spcPts val="0"/>
              </a:spcAft>
              <a:buClr>
                <a:schemeClr val="dk1"/>
              </a:buClr>
              <a:buSzPts val="1200"/>
              <a:buFont typeface="Noto Sans Symbols"/>
              <a:buChar char="❑"/>
              <a:defRPr sz="1600" b="0" i="0" u="none" strike="noStrike" cap="none">
                <a:solidFill>
                  <a:schemeClr val="dk1"/>
                </a:solidFill>
                <a:latin typeface="Calibri"/>
                <a:ea typeface="Calibri"/>
                <a:cs typeface="Calibri"/>
                <a:sym typeface="Calibri"/>
              </a:defRPr>
            </a:lvl1pPr>
            <a:lvl2pPr marL="914400" marR="0" lvl="1" indent="-330200" algn="just" rtl="0">
              <a:lnSpc>
                <a:spcPct val="100000"/>
              </a:lnSpc>
              <a:spcBef>
                <a:spcPts val="1200"/>
              </a:spcBef>
              <a:spcAft>
                <a:spcPts val="0"/>
              </a:spcAft>
              <a:buClr>
                <a:schemeClr val="dk1"/>
              </a:buClr>
              <a:buSzPts val="1600"/>
              <a:buFont typeface="Delius"/>
              <a:buChar char="→"/>
              <a:defRPr sz="1600" b="0" i="0" u="none" strike="noStrike" cap="none">
                <a:solidFill>
                  <a:schemeClr val="dk1"/>
                </a:solidFill>
                <a:latin typeface="Calibri"/>
                <a:ea typeface="Calibri"/>
                <a:cs typeface="Calibri"/>
                <a:sym typeface="Calibri"/>
              </a:defRPr>
            </a:lvl2pPr>
            <a:lvl3pPr marL="1371600" marR="0" lvl="2" indent="-330200" algn="just" rtl="0">
              <a:lnSpc>
                <a:spcPct val="100000"/>
              </a:lnSpc>
              <a:spcBef>
                <a:spcPts val="120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12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iapo_Subtema con Imagen Vertical">
  <p:cSld name="Diapo_Subtema con Imagen Vertical">
    <p:spTree>
      <p:nvGrpSpPr>
        <p:cNvPr id="1" name="Shape 26"/>
        <p:cNvGrpSpPr/>
        <p:nvPr/>
      </p:nvGrpSpPr>
      <p:grpSpPr>
        <a:xfrm>
          <a:off x="0" y="0"/>
          <a:ext cx="0" cy="0"/>
          <a:chOff x="0" y="0"/>
          <a:chExt cx="0" cy="0"/>
        </a:xfrm>
      </p:grpSpPr>
      <p:sp>
        <p:nvSpPr>
          <p:cNvPr id="27" name="Google Shape;27;p37"/>
          <p:cNvSpPr>
            <a:spLocks noGrp="1"/>
          </p:cNvSpPr>
          <p:nvPr>
            <p:ph type="pic" idx="2"/>
          </p:nvPr>
        </p:nvSpPr>
        <p:spPr>
          <a:xfrm>
            <a:off x="4572000" y="804863"/>
            <a:ext cx="4103688" cy="4463362"/>
          </a:xfrm>
          <a:prstGeom prst="rect">
            <a:avLst/>
          </a:prstGeom>
          <a:noFill/>
          <a:ln>
            <a:noFill/>
          </a:ln>
        </p:spPr>
      </p:sp>
      <p:sp>
        <p:nvSpPr>
          <p:cNvPr id="28" name="Google Shape;28;p37"/>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lvl1pPr marL="457200" marR="0" lvl="0" indent="-228600" algn="l" rtl="0">
              <a:lnSpc>
                <a:spcPct val="85000"/>
              </a:lnSpc>
              <a:spcBef>
                <a:spcPts val="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9" name="Google Shape;29;p37"/>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lvl1pPr marL="457200" marR="0" lvl="0" indent="-228600" algn="l" rtl="0">
              <a:lnSpc>
                <a:spcPct val="100000"/>
              </a:lnSpc>
              <a:spcBef>
                <a:spcPts val="360"/>
              </a:spcBef>
              <a:spcAft>
                <a:spcPts val="0"/>
              </a:spcAft>
              <a:buClr>
                <a:srgbClr val="1F85A6"/>
              </a:buClr>
              <a:buSzPts val="1800"/>
              <a:buFont typeface="Arial"/>
              <a:buNone/>
              <a:defRPr sz="1800" b="1" i="0" u="none" strike="noStrike" cap="none">
                <a:solidFill>
                  <a:srgbClr val="1F85A6"/>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 name="Google Shape;30;p37"/>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lvl1pPr marL="457200" marR="0" lvl="0" indent="-304800" algn="just" rtl="0">
              <a:lnSpc>
                <a:spcPct val="100000"/>
              </a:lnSpc>
              <a:spcBef>
                <a:spcPts val="0"/>
              </a:spcBef>
              <a:spcAft>
                <a:spcPts val="0"/>
              </a:spcAft>
              <a:buClr>
                <a:schemeClr val="dk1"/>
              </a:buClr>
              <a:buSzPts val="1200"/>
              <a:buFont typeface="Noto Sans Symbols"/>
              <a:buChar char="❑"/>
              <a:defRPr sz="1600" b="0" i="0" u="none" strike="noStrike" cap="none">
                <a:solidFill>
                  <a:schemeClr val="dk1"/>
                </a:solidFill>
                <a:latin typeface="Calibri"/>
                <a:ea typeface="Calibri"/>
                <a:cs typeface="Calibri"/>
                <a:sym typeface="Calibri"/>
              </a:defRPr>
            </a:lvl1pPr>
            <a:lvl2pPr marL="914400" marR="0" lvl="1" indent="-330200" algn="just" rtl="0">
              <a:lnSpc>
                <a:spcPct val="100000"/>
              </a:lnSpc>
              <a:spcBef>
                <a:spcPts val="1200"/>
              </a:spcBef>
              <a:spcAft>
                <a:spcPts val="0"/>
              </a:spcAft>
              <a:buClr>
                <a:schemeClr val="dk1"/>
              </a:buClr>
              <a:buSzPts val="1600"/>
              <a:buFont typeface="Delius"/>
              <a:buChar char="→"/>
              <a:defRPr sz="1600" b="0" i="0" u="none" strike="noStrike" cap="none">
                <a:solidFill>
                  <a:schemeClr val="dk1"/>
                </a:solidFill>
                <a:latin typeface="Calibri"/>
                <a:ea typeface="Calibri"/>
                <a:cs typeface="Calibri"/>
                <a:sym typeface="Calibri"/>
              </a:defRPr>
            </a:lvl2pPr>
            <a:lvl3pPr marL="1371600" marR="0" lvl="2" indent="-330200" algn="just" rtl="0">
              <a:lnSpc>
                <a:spcPct val="100000"/>
              </a:lnSpc>
              <a:spcBef>
                <a:spcPts val="120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12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iapo_Full texto">
  <p:cSld name="Diapo_Full texto">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38"/>
          <p:cNvSpPr txBox="1">
            <a:spLocks noGrp="1"/>
          </p:cNvSpPr>
          <p:nvPr>
            <p:ph type="body" idx="1"/>
          </p:nvPr>
        </p:nvSpPr>
        <p:spPr>
          <a:xfrm>
            <a:off x="468313" y="810473"/>
            <a:ext cx="8207375" cy="354012"/>
          </a:xfrm>
          <a:prstGeom prst="rect">
            <a:avLst/>
          </a:prstGeom>
          <a:solidFill>
            <a:srgbClr val="FFFFCC"/>
          </a:solidFill>
          <a:ln>
            <a:noFill/>
          </a:ln>
        </p:spPr>
        <p:txBody>
          <a:bodyPr spcFirstLastPara="1" wrap="square" lIns="72000" tIns="36000" rIns="72000" bIns="36000" anchor="ctr" anchorCtr="0">
            <a:noAutofit/>
          </a:bodyPr>
          <a:lstStyle>
            <a:lvl1pPr marL="457200" marR="0" lvl="0" indent="-228600" algn="l" rtl="0">
              <a:lnSpc>
                <a:spcPct val="85000"/>
              </a:lnSpc>
              <a:spcBef>
                <a:spcPts val="0"/>
              </a:spcBef>
              <a:spcAft>
                <a:spcPts val="0"/>
              </a:spcAft>
              <a:buClr>
                <a:srgbClr val="3F3F3F"/>
              </a:buClr>
              <a:buSzPts val="1600"/>
              <a:buFont typeface="Arial"/>
              <a:buNone/>
              <a:defRPr sz="1600" b="1" i="0" u="none" strike="noStrike" cap="none">
                <a:solidFill>
                  <a:srgbClr val="3F3F3F"/>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3" name="Google Shape;33;p38"/>
          <p:cNvSpPr txBox="1">
            <a:spLocks noGrp="1"/>
          </p:cNvSpPr>
          <p:nvPr>
            <p:ph type="body" idx="2"/>
          </p:nvPr>
        </p:nvSpPr>
        <p:spPr>
          <a:xfrm>
            <a:off x="468313" y="277813"/>
            <a:ext cx="8207375" cy="354012"/>
          </a:xfrm>
          <a:prstGeom prst="rect">
            <a:avLst/>
          </a:prstGeom>
          <a:noFill/>
          <a:ln>
            <a:noFill/>
          </a:ln>
        </p:spPr>
        <p:txBody>
          <a:bodyPr spcFirstLastPara="1" wrap="square" lIns="72000" tIns="36000" rIns="72000" bIns="36000" anchor="t" anchorCtr="0">
            <a:noAutofit/>
          </a:bodyPr>
          <a:lstStyle>
            <a:lvl1pPr marL="457200" marR="0" lvl="0" indent="-228600" algn="l" rtl="0">
              <a:lnSpc>
                <a:spcPct val="100000"/>
              </a:lnSpc>
              <a:spcBef>
                <a:spcPts val="360"/>
              </a:spcBef>
              <a:spcAft>
                <a:spcPts val="0"/>
              </a:spcAft>
              <a:buClr>
                <a:schemeClr val="lt1"/>
              </a:buClr>
              <a:buSzPts val="1800"/>
              <a:buFont typeface="Arial"/>
              <a:buNone/>
              <a:defRPr sz="1800" b="1"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4" name="Google Shape;34;p38"/>
          <p:cNvSpPr txBox="1">
            <a:spLocks noGrp="1"/>
          </p:cNvSpPr>
          <p:nvPr>
            <p:ph type="body" idx="3"/>
          </p:nvPr>
        </p:nvSpPr>
        <p:spPr>
          <a:xfrm>
            <a:off x="468313" y="1174363"/>
            <a:ext cx="8207375" cy="4540637"/>
          </a:xfrm>
          <a:prstGeom prst="rect">
            <a:avLst/>
          </a:prstGeom>
          <a:solidFill>
            <a:srgbClr val="FFFFCC"/>
          </a:solidFill>
          <a:ln>
            <a:noFill/>
          </a:ln>
        </p:spPr>
        <p:txBody>
          <a:bodyPr spcFirstLastPara="1" wrap="square" lIns="91425" tIns="45700" rIns="91425" bIns="45700" anchor="t" anchorCtr="0">
            <a:noAutofit/>
          </a:bodyPr>
          <a:lstStyle>
            <a:lvl1pPr marL="457200" marR="0" lvl="0" indent="-304800" algn="just" rtl="0">
              <a:lnSpc>
                <a:spcPct val="90000"/>
              </a:lnSpc>
              <a:spcBef>
                <a:spcPts val="0"/>
              </a:spcBef>
              <a:spcAft>
                <a:spcPts val="0"/>
              </a:spcAft>
              <a:buClr>
                <a:srgbClr val="3F3F3F"/>
              </a:buClr>
              <a:buSzPts val="1200"/>
              <a:buFont typeface="Noto Sans Symbols"/>
              <a:buChar char="❑"/>
              <a:defRPr sz="1600" b="0" i="1" u="none" strike="noStrike" cap="none">
                <a:solidFill>
                  <a:srgbClr val="7F7F7F"/>
                </a:solidFill>
                <a:latin typeface="Calibri"/>
                <a:ea typeface="Calibri"/>
                <a:cs typeface="Calibri"/>
                <a:sym typeface="Calibri"/>
              </a:defRPr>
            </a:lvl1pPr>
            <a:lvl2pPr marL="914400" marR="0" lvl="1" indent="-317500" algn="just" rtl="0">
              <a:lnSpc>
                <a:spcPct val="90000"/>
              </a:lnSpc>
              <a:spcBef>
                <a:spcPts val="600"/>
              </a:spcBef>
              <a:spcAft>
                <a:spcPts val="0"/>
              </a:spcAft>
              <a:buClr>
                <a:srgbClr val="3F3F3F"/>
              </a:buClr>
              <a:buSzPts val="1400"/>
              <a:buFont typeface="Noto Sans Symbols"/>
              <a:buChar char="▪"/>
              <a:defRPr sz="1400" b="0" i="1" u="none" strike="noStrike" cap="none">
                <a:solidFill>
                  <a:srgbClr val="7F7F7F"/>
                </a:solidFill>
                <a:latin typeface="Calibri"/>
                <a:ea typeface="Calibri"/>
                <a:cs typeface="Calibri"/>
                <a:sym typeface="Calibri"/>
              </a:defRPr>
            </a:lvl2pPr>
            <a:lvl3pPr marL="1371600" marR="0" lvl="2" indent="-317500" algn="just" rtl="0">
              <a:lnSpc>
                <a:spcPct val="90000"/>
              </a:lnSpc>
              <a:spcBef>
                <a:spcPts val="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17500" algn="just" rtl="0">
              <a:lnSpc>
                <a:spcPct val="90000"/>
              </a:lnSpc>
              <a:spcBef>
                <a:spcPts val="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just" rtl="0">
              <a:lnSpc>
                <a:spcPct val="90000"/>
              </a:lnSpc>
              <a:spcBef>
                <a:spcPts val="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6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5"/>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iapo_Introduccion">
  <p:cSld name="Diapo_Introduccion">
    <p:bg>
      <p:bgPr>
        <a:solidFill>
          <a:srgbClr val="F2F2F2"/>
        </a:solidFill>
        <a:effectLst/>
      </p:bgPr>
    </p:bg>
    <p:spTree>
      <p:nvGrpSpPr>
        <p:cNvPr id="1" name="Shape 36"/>
        <p:cNvGrpSpPr/>
        <p:nvPr/>
      </p:nvGrpSpPr>
      <p:grpSpPr>
        <a:xfrm>
          <a:off x="0" y="0"/>
          <a:ext cx="0" cy="0"/>
          <a:chOff x="0" y="0"/>
          <a:chExt cx="0" cy="0"/>
        </a:xfrm>
      </p:grpSpPr>
      <p:sp>
        <p:nvSpPr>
          <p:cNvPr id="37" name="Google Shape;37;p40"/>
          <p:cNvSpPr/>
          <p:nvPr/>
        </p:nvSpPr>
        <p:spPr>
          <a:xfrm>
            <a:off x="503238" y="997483"/>
            <a:ext cx="1945800" cy="2492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1620"/>
              <a:buFont typeface="Calibri"/>
              <a:buNone/>
            </a:pPr>
            <a:r>
              <a:rPr lang="es-ES" sz="1620" b="1" i="0" u="none" strike="noStrike" cap="none" dirty="0">
                <a:solidFill>
                  <a:schemeClr val="dk1"/>
                </a:solidFill>
                <a:latin typeface="Calibri"/>
                <a:ea typeface="Calibri"/>
                <a:cs typeface="Calibri"/>
                <a:sym typeface="Calibri"/>
              </a:rPr>
              <a:t>INTRODUCCIÓN</a:t>
            </a:r>
            <a:endParaRPr sz="1400" b="0" i="0" u="none" strike="noStrike" cap="none" dirty="0">
              <a:solidFill>
                <a:srgbClr val="000000"/>
              </a:solidFill>
              <a:latin typeface="Arial"/>
              <a:ea typeface="Arial"/>
              <a:cs typeface="Arial"/>
              <a:sym typeface="Arial"/>
            </a:endParaRPr>
          </a:p>
        </p:txBody>
      </p:sp>
      <p:pic>
        <p:nvPicPr>
          <p:cNvPr id="38" name="Google Shape;38;p40"/>
          <p:cNvPicPr preferRelativeResize="0"/>
          <p:nvPr/>
        </p:nvPicPr>
        <p:blipFill rotWithShape="1">
          <a:blip r:embed="rId2">
            <a:alphaModFix/>
          </a:blip>
          <a:srcRect/>
          <a:stretch/>
        </p:blipFill>
        <p:spPr>
          <a:xfrm>
            <a:off x="503239" y="573356"/>
            <a:ext cx="424127" cy="424127"/>
          </a:xfrm>
          <a:prstGeom prst="rect">
            <a:avLst/>
          </a:prstGeom>
          <a:solidFill>
            <a:srgbClr val="F2F2F2"/>
          </a:solidFill>
          <a:ln>
            <a:noFill/>
          </a:ln>
        </p:spPr>
      </p:pic>
      <p:sp>
        <p:nvSpPr>
          <p:cNvPr id="39" name="Google Shape;39;p40"/>
          <p:cNvSpPr txBox="1">
            <a:spLocks noGrp="1"/>
          </p:cNvSpPr>
          <p:nvPr>
            <p:ph type="body" idx="1"/>
          </p:nvPr>
        </p:nvSpPr>
        <p:spPr>
          <a:xfrm>
            <a:off x="503238" y="1670050"/>
            <a:ext cx="8137525" cy="3563938"/>
          </a:xfrm>
          <a:prstGeom prst="rect">
            <a:avLst/>
          </a:prstGeom>
          <a:noFill/>
          <a:ln>
            <a:noFill/>
          </a:ln>
        </p:spPr>
        <p:txBody>
          <a:bodyPr spcFirstLastPara="1" wrap="square" lIns="91425" tIns="45700" rIns="91425" bIns="45700" anchor="t" anchorCtr="0">
            <a:noAutofit/>
          </a:bodyPr>
          <a:lstStyle>
            <a:lvl1pPr marL="457200" marR="0" lvl="0" indent="-304800" algn="just" rtl="0">
              <a:lnSpc>
                <a:spcPct val="100000"/>
              </a:lnSpc>
              <a:spcBef>
                <a:spcPts val="0"/>
              </a:spcBef>
              <a:spcAft>
                <a:spcPts val="0"/>
              </a:spcAft>
              <a:buClr>
                <a:schemeClr val="dk1"/>
              </a:buClr>
              <a:buSzPts val="1200"/>
              <a:buFont typeface="Noto Sans Symbols"/>
              <a:buChar char="❑"/>
              <a:defRPr sz="1600" b="0" i="0" u="none" strike="noStrike" cap="none">
                <a:solidFill>
                  <a:schemeClr val="dk1"/>
                </a:solidFill>
                <a:latin typeface="Calibri"/>
                <a:ea typeface="Calibri"/>
                <a:cs typeface="Calibri"/>
                <a:sym typeface="Calibri"/>
              </a:defRPr>
            </a:lvl1pPr>
            <a:lvl2pPr marL="914400" marR="0" lvl="1" indent="-330200" algn="just" rtl="0">
              <a:lnSpc>
                <a:spcPct val="100000"/>
              </a:lnSpc>
              <a:spcBef>
                <a:spcPts val="1200"/>
              </a:spcBef>
              <a:spcAft>
                <a:spcPts val="0"/>
              </a:spcAft>
              <a:buClr>
                <a:schemeClr val="dk1"/>
              </a:buClr>
              <a:buSzPts val="1600"/>
              <a:buFont typeface="Delius"/>
              <a:buChar char="→"/>
              <a:defRPr sz="1600" b="0" i="0" u="none" strike="noStrike" cap="none">
                <a:solidFill>
                  <a:schemeClr val="dk1"/>
                </a:solidFill>
                <a:latin typeface="Calibri"/>
                <a:ea typeface="Calibri"/>
                <a:cs typeface="Calibri"/>
                <a:sym typeface="Calibri"/>
              </a:defRPr>
            </a:lvl2pPr>
            <a:lvl3pPr marL="1371600" marR="0" lvl="2" indent="-330200" algn="just" rtl="0">
              <a:lnSpc>
                <a:spcPct val="100000"/>
              </a:lnSpc>
              <a:spcBef>
                <a:spcPts val="120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3pPr>
            <a:lvl4pPr marL="1828800" marR="0" lvl="3" indent="-330200" algn="l" rtl="0">
              <a:lnSpc>
                <a:spcPct val="85000"/>
              </a:lnSpc>
              <a:spcBef>
                <a:spcPts val="12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85000"/>
              </a:lnSpc>
              <a:spcBef>
                <a:spcPts val="12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1052">
          <p15:clr>
            <a:srgbClr val="FBAE40"/>
          </p15:clr>
        </p15:guide>
        <p15:guide id="2" pos="317">
          <p15:clr>
            <a:srgbClr val="FBAE40"/>
          </p15:clr>
        </p15:guide>
        <p15:guide id="3" pos="5443">
          <p15:clr>
            <a:srgbClr val="FBAE40"/>
          </p15:clr>
        </p15:guide>
        <p15:guide id="4" orient="horz" pos="3297">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iapo_Subtema con Cuadro">
  <p:cSld name="Diapo_Subtema con Cuadro">
    <p:spTree>
      <p:nvGrpSpPr>
        <p:cNvPr id="1" name="Shape 40"/>
        <p:cNvGrpSpPr/>
        <p:nvPr/>
      </p:nvGrpSpPr>
      <p:grpSpPr>
        <a:xfrm>
          <a:off x="0" y="0"/>
          <a:ext cx="0" cy="0"/>
          <a:chOff x="0" y="0"/>
          <a:chExt cx="0" cy="0"/>
        </a:xfrm>
      </p:grpSpPr>
      <p:sp>
        <p:nvSpPr>
          <p:cNvPr id="41" name="Google Shape;41;p41"/>
          <p:cNvSpPr>
            <a:spLocks noGrp="1"/>
          </p:cNvSpPr>
          <p:nvPr>
            <p:ph type="pic" idx="2"/>
          </p:nvPr>
        </p:nvSpPr>
        <p:spPr>
          <a:xfrm>
            <a:off x="468313" y="1175705"/>
            <a:ext cx="8207375" cy="4096800"/>
          </a:xfrm>
          <a:prstGeom prst="rect">
            <a:avLst/>
          </a:prstGeom>
          <a:noFill/>
          <a:ln>
            <a:noFill/>
          </a:ln>
        </p:spPr>
      </p:sp>
      <p:sp>
        <p:nvSpPr>
          <p:cNvPr id="42" name="Google Shape;42;p41"/>
          <p:cNvSpPr txBox="1">
            <a:spLocks noGrp="1"/>
          </p:cNvSpPr>
          <p:nvPr>
            <p:ph type="body" idx="1"/>
          </p:nvPr>
        </p:nvSpPr>
        <p:spPr>
          <a:xfrm>
            <a:off x="468313" y="810473"/>
            <a:ext cx="8207375" cy="354012"/>
          </a:xfrm>
          <a:prstGeom prst="rect">
            <a:avLst/>
          </a:prstGeom>
          <a:noFill/>
          <a:ln>
            <a:noFill/>
          </a:ln>
        </p:spPr>
        <p:txBody>
          <a:bodyPr spcFirstLastPara="1" wrap="square" lIns="72000" tIns="36000" rIns="72000" bIns="36000" anchor="ctr" anchorCtr="0">
            <a:noAutofit/>
          </a:bodyPr>
          <a:lstStyle>
            <a:lvl1pPr marL="457200" marR="0" lvl="0" indent="-228600" algn="l" rtl="0">
              <a:lnSpc>
                <a:spcPct val="85000"/>
              </a:lnSpc>
              <a:spcBef>
                <a:spcPts val="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3" name="Google Shape;43;p41"/>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lvl1pPr marL="457200" marR="0" lvl="0" indent="-228600" algn="l" rtl="0">
              <a:lnSpc>
                <a:spcPct val="100000"/>
              </a:lnSpc>
              <a:spcBef>
                <a:spcPts val="360"/>
              </a:spcBef>
              <a:spcAft>
                <a:spcPts val="0"/>
              </a:spcAft>
              <a:buClr>
                <a:srgbClr val="1F85A6"/>
              </a:buClr>
              <a:buSzPts val="1800"/>
              <a:buFont typeface="Arial"/>
              <a:buNone/>
              <a:defRPr sz="1800" b="1" i="0" u="none" strike="noStrike" cap="none">
                <a:solidFill>
                  <a:srgbClr val="1F85A6"/>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iapo_Subtema">
  <p:cSld name="Diapo_Subtema">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42"/>
          <p:cNvSpPr txBox="1">
            <a:spLocks noGrp="1"/>
          </p:cNvSpPr>
          <p:nvPr>
            <p:ph type="body" idx="1"/>
          </p:nvPr>
        </p:nvSpPr>
        <p:spPr>
          <a:xfrm>
            <a:off x="468314" y="3714841"/>
            <a:ext cx="5543549" cy="8100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5000"/>
              </a:lnSpc>
              <a:spcBef>
                <a:spcPts val="0"/>
              </a:spcBef>
              <a:spcAft>
                <a:spcPts val="0"/>
              </a:spcAft>
              <a:buClr>
                <a:schemeClr val="lt1"/>
              </a:buClr>
              <a:buSzPts val="2800"/>
              <a:buFont typeface="Arial"/>
              <a:buNone/>
              <a:defRPr sz="2800" b="1"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pos="295">
          <p15:clr>
            <a:srgbClr val="FBAE40"/>
          </p15:clr>
        </p15:guide>
        <p15:guide id="2" pos="378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iapo_Conclusiones">
  <p:cSld name="Diapo_Conclusiones">
    <p:bg>
      <p:bgPr>
        <a:blipFill>
          <a:blip r:embed="rId2">
            <a:alphaModFix/>
          </a:blip>
          <a:stretch>
            <a:fillRect/>
          </a:stretch>
        </a:blipFill>
        <a:effectLst/>
      </p:bgPr>
    </p:bg>
    <p:spTree>
      <p:nvGrpSpPr>
        <p:cNvPr id="1" name="Shape 46"/>
        <p:cNvGrpSpPr/>
        <p:nvPr/>
      </p:nvGrpSpPr>
      <p:grpSpPr>
        <a:xfrm>
          <a:off x="0" y="0"/>
          <a:ext cx="0" cy="0"/>
          <a:chOff x="0" y="0"/>
          <a:chExt cx="0" cy="0"/>
        </a:xfrm>
      </p:grpSpPr>
      <p:sp>
        <p:nvSpPr>
          <p:cNvPr id="47" name="Google Shape;47;p43"/>
          <p:cNvSpPr/>
          <p:nvPr/>
        </p:nvSpPr>
        <p:spPr>
          <a:xfrm>
            <a:off x="503238" y="997483"/>
            <a:ext cx="1945800" cy="2492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FFFFFF"/>
              </a:buClr>
              <a:buSzPts val="1620"/>
              <a:buFont typeface="Calibri"/>
              <a:buNone/>
            </a:pPr>
            <a:r>
              <a:rPr lang="es-ES" sz="1620" b="1" i="0" u="none" strike="noStrike" cap="none" dirty="0">
                <a:solidFill>
                  <a:srgbClr val="FFFFFF"/>
                </a:solidFill>
                <a:latin typeface="Calibri"/>
                <a:ea typeface="Calibri"/>
                <a:cs typeface="Calibri"/>
                <a:sym typeface="Calibri"/>
              </a:rPr>
              <a:t>CONCLUSIONES</a:t>
            </a:r>
            <a:endParaRPr sz="1400" b="0" i="0" u="none" strike="noStrike" cap="none" dirty="0">
              <a:solidFill>
                <a:srgbClr val="000000"/>
              </a:solidFill>
              <a:latin typeface="Arial"/>
              <a:ea typeface="Arial"/>
              <a:cs typeface="Arial"/>
              <a:sym typeface="Arial"/>
            </a:endParaRPr>
          </a:p>
        </p:txBody>
      </p:sp>
      <p:pic>
        <p:nvPicPr>
          <p:cNvPr id="48" name="Google Shape;48;p43"/>
          <p:cNvPicPr preferRelativeResize="0"/>
          <p:nvPr/>
        </p:nvPicPr>
        <p:blipFill rotWithShape="1">
          <a:blip r:embed="rId3">
            <a:alphaModFix/>
          </a:blip>
          <a:srcRect/>
          <a:stretch/>
        </p:blipFill>
        <p:spPr>
          <a:xfrm>
            <a:off x="503239" y="573356"/>
            <a:ext cx="424127" cy="424127"/>
          </a:xfrm>
          <a:prstGeom prst="rect">
            <a:avLst/>
          </a:prstGeom>
          <a:noFill/>
          <a:ln>
            <a:noFill/>
          </a:ln>
        </p:spPr>
      </p:pic>
      <p:sp>
        <p:nvSpPr>
          <p:cNvPr id="49" name="Google Shape;49;p43"/>
          <p:cNvSpPr txBox="1">
            <a:spLocks noGrp="1"/>
          </p:cNvSpPr>
          <p:nvPr>
            <p:ph type="body" idx="1"/>
          </p:nvPr>
        </p:nvSpPr>
        <p:spPr>
          <a:xfrm>
            <a:off x="927366" y="1670909"/>
            <a:ext cx="7713398" cy="3526566"/>
          </a:xfrm>
          <a:prstGeom prst="rect">
            <a:avLst/>
          </a:prstGeom>
          <a:noFill/>
          <a:ln>
            <a:noFill/>
          </a:ln>
        </p:spPr>
        <p:txBody>
          <a:bodyPr spcFirstLastPara="1" wrap="square" lIns="0" tIns="0" rIns="0" bIns="0" anchor="t" anchorCtr="0">
            <a:noAutofit/>
          </a:bodyPr>
          <a:lstStyle>
            <a:lvl1pPr marL="457200" marR="0" lvl="0" indent="-342900" algn="just" rtl="0">
              <a:lnSpc>
                <a:spcPct val="85000"/>
              </a:lnSpc>
              <a:spcBef>
                <a:spcPts val="0"/>
              </a:spcBef>
              <a:spcAft>
                <a:spcPts val="0"/>
              </a:spcAft>
              <a:buClr>
                <a:schemeClr val="lt1"/>
              </a:buClr>
              <a:buSzPts val="1800"/>
              <a:buFont typeface="Calibri"/>
              <a:buAutoNum type="arabicPeriod"/>
              <a:defRPr sz="18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12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10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iapo_Bibliografía">
  <p:cSld name="Diapo_Bibliografía">
    <p:bg>
      <p:bgPr>
        <a:blipFill>
          <a:blip r:embed="rId2">
            <a:alphaModFix/>
          </a:blip>
          <a:stretch>
            <a:fillRect/>
          </a:stretch>
        </a:blipFill>
        <a:effectLst/>
      </p:bgPr>
    </p:bg>
    <p:spTree>
      <p:nvGrpSpPr>
        <p:cNvPr id="1" name="Shape 50"/>
        <p:cNvGrpSpPr/>
        <p:nvPr/>
      </p:nvGrpSpPr>
      <p:grpSpPr>
        <a:xfrm>
          <a:off x="0" y="0"/>
          <a:ext cx="0" cy="0"/>
          <a:chOff x="0" y="0"/>
          <a:chExt cx="0" cy="0"/>
        </a:xfrm>
      </p:grpSpPr>
      <p:sp>
        <p:nvSpPr>
          <p:cNvPr id="51" name="Google Shape;51;p44"/>
          <p:cNvSpPr/>
          <p:nvPr/>
        </p:nvSpPr>
        <p:spPr>
          <a:xfrm>
            <a:off x="503238" y="997483"/>
            <a:ext cx="1945800" cy="2492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FFFFFF"/>
              </a:buClr>
              <a:buSzPts val="1620"/>
              <a:buFont typeface="Calibri"/>
              <a:buNone/>
            </a:pPr>
            <a:r>
              <a:rPr lang="es-ES" sz="1620" b="1" i="0" u="none" strike="noStrike" cap="none" dirty="0">
                <a:solidFill>
                  <a:srgbClr val="FFFFFF"/>
                </a:solidFill>
                <a:latin typeface="Calibri"/>
                <a:ea typeface="Calibri"/>
                <a:cs typeface="Calibri"/>
                <a:sym typeface="Calibri"/>
              </a:rPr>
              <a:t>BIBLIOGRAFÍA</a:t>
            </a:r>
            <a:endParaRPr sz="1400" b="0" i="0" u="none" strike="noStrike" cap="none" dirty="0">
              <a:solidFill>
                <a:srgbClr val="000000"/>
              </a:solidFill>
              <a:latin typeface="Arial"/>
              <a:ea typeface="Arial"/>
              <a:cs typeface="Arial"/>
              <a:sym typeface="Arial"/>
            </a:endParaRPr>
          </a:p>
        </p:txBody>
      </p:sp>
      <p:pic>
        <p:nvPicPr>
          <p:cNvPr id="52" name="Google Shape;52;p44"/>
          <p:cNvPicPr preferRelativeResize="0"/>
          <p:nvPr/>
        </p:nvPicPr>
        <p:blipFill rotWithShape="1">
          <a:blip r:embed="rId3">
            <a:alphaModFix/>
          </a:blip>
          <a:srcRect/>
          <a:stretch/>
        </p:blipFill>
        <p:spPr>
          <a:xfrm>
            <a:off x="503239" y="573356"/>
            <a:ext cx="424127" cy="424127"/>
          </a:xfrm>
          <a:prstGeom prst="rect">
            <a:avLst/>
          </a:prstGeom>
          <a:noFill/>
          <a:ln>
            <a:noFill/>
          </a:ln>
        </p:spPr>
      </p:pic>
      <p:sp>
        <p:nvSpPr>
          <p:cNvPr id="53" name="Google Shape;53;p44"/>
          <p:cNvSpPr txBox="1">
            <a:spLocks noGrp="1"/>
          </p:cNvSpPr>
          <p:nvPr>
            <p:ph type="body" idx="1"/>
          </p:nvPr>
        </p:nvSpPr>
        <p:spPr>
          <a:xfrm>
            <a:off x="927366" y="1670049"/>
            <a:ext cx="7713398" cy="3527425"/>
          </a:xfrm>
          <a:prstGeom prst="rect">
            <a:avLst/>
          </a:prstGeom>
          <a:noFill/>
          <a:ln>
            <a:noFill/>
          </a:ln>
        </p:spPr>
        <p:txBody>
          <a:bodyPr spcFirstLastPara="1" wrap="square" lIns="0" tIns="0" rIns="0" bIns="0" anchor="t" anchorCtr="0">
            <a:noAutofit/>
          </a:bodyPr>
          <a:lstStyle>
            <a:lvl1pPr marL="457200" marR="0" lvl="0" indent="-342900" algn="just" rtl="0">
              <a:lnSpc>
                <a:spcPct val="85000"/>
              </a:lnSpc>
              <a:spcBef>
                <a:spcPts val="0"/>
              </a:spcBef>
              <a:spcAft>
                <a:spcPts val="0"/>
              </a:spcAft>
              <a:buClr>
                <a:schemeClr val="lt1"/>
              </a:buClr>
              <a:buSzPts val="1800"/>
              <a:buFont typeface="Noto Sans Symbols"/>
              <a:buChar char="▪"/>
              <a:defRPr sz="18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12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105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32"/>
          <p:cNvGrpSpPr/>
          <p:nvPr/>
        </p:nvGrpSpPr>
        <p:grpSpPr>
          <a:xfrm>
            <a:off x="793745" y="5369051"/>
            <a:ext cx="8104595" cy="215444"/>
            <a:chOff x="793745" y="5369051"/>
            <a:chExt cx="7954689" cy="215444"/>
          </a:xfrm>
        </p:grpSpPr>
        <p:sp>
          <p:nvSpPr>
            <p:cNvPr id="11" name="Google Shape;11;p32"/>
            <p:cNvSpPr txBox="1"/>
            <p:nvPr/>
          </p:nvSpPr>
          <p:spPr>
            <a:xfrm>
              <a:off x="793745" y="5369051"/>
              <a:ext cx="2133782"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ES" sz="800" b="0" i="0" u="none" strike="noStrike" cap="none" dirty="0">
                  <a:solidFill>
                    <a:srgbClr val="7F7F7F"/>
                  </a:solidFill>
                  <a:latin typeface="Calibri"/>
                  <a:ea typeface="Calibri"/>
                  <a:cs typeface="Calibri"/>
                  <a:sym typeface="Calibri"/>
                </a:rPr>
                <a:t>ANÁLISIS Y DISEÑO DE SISTEMAS II  •  SESIÓN 04</a:t>
              </a:r>
              <a:endParaRPr sz="800" b="0" i="0" u="none" strike="noStrike" cap="none" dirty="0">
                <a:solidFill>
                  <a:srgbClr val="7F7F7F"/>
                </a:solidFill>
                <a:latin typeface="Calibri"/>
                <a:ea typeface="Calibri"/>
                <a:cs typeface="Calibri"/>
                <a:sym typeface="Calibri"/>
              </a:endParaRPr>
            </a:p>
          </p:txBody>
        </p:sp>
        <p:sp>
          <p:nvSpPr>
            <p:cNvPr id="12" name="Google Shape;12;p32"/>
            <p:cNvSpPr/>
            <p:nvPr/>
          </p:nvSpPr>
          <p:spPr>
            <a:xfrm>
              <a:off x="7207627" y="5384440"/>
              <a:ext cx="1540807" cy="184666"/>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600"/>
                <a:buFont typeface="Arial"/>
                <a:buNone/>
              </a:pPr>
              <a:r>
                <a:rPr lang="es-ES" sz="600" b="0" i="0" u="none" strike="noStrike" cap="none" dirty="0">
                  <a:solidFill>
                    <a:srgbClr val="7F7F7F"/>
                  </a:solidFill>
                  <a:latin typeface="Calibri"/>
                  <a:ea typeface="Calibri"/>
                  <a:cs typeface="Calibri"/>
                  <a:sym typeface="Calibri"/>
                </a:rPr>
                <a:t>© 2023 ISIL. Todos los derechos reservados</a:t>
              </a:r>
              <a:endParaRPr sz="1400" b="0" i="0" u="none" strike="noStrike" cap="none" dirty="0">
                <a:solidFill>
                  <a:srgbClr val="000000"/>
                </a:solidFill>
                <a:latin typeface="Arial"/>
                <a:ea typeface="Arial"/>
                <a:cs typeface="Arial"/>
                <a:sym typeface="Arial"/>
              </a:endParaRPr>
            </a:p>
          </p:txBody>
        </p:sp>
      </p:grpSp>
      <p:pic>
        <p:nvPicPr>
          <p:cNvPr id="13" name="Google Shape;13;p32"/>
          <p:cNvPicPr preferRelativeResize="0"/>
          <p:nvPr/>
        </p:nvPicPr>
        <p:blipFill rotWithShape="1">
          <a:blip r:embed="rId14">
            <a:alphaModFix amt="20000"/>
          </a:blip>
          <a:srcRect/>
          <a:stretch/>
        </p:blipFill>
        <p:spPr>
          <a:xfrm>
            <a:off x="345172" y="5328911"/>
            <a:ext cx="448573" cy="25075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80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hyperlink" Target="http://www.bpminstitute.org/" TargetMode="External"/><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hyperlink" Target="https://www.ibm.com/cloud/learn/business-process-management" TargetMode="External"/><Relationship Id="rId4" Type="http://schemas.openxmlformats.org/officeDocument/2006/relationships/hyperlink" Target="https://www.bizagi.com/en/bpm-suite/bpm-products/modeler#bpmnexampl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
          <p:cNvSpPr/>
          <p:nvPr/>
        </p:nvSpPr>
        <p:spPr>
          <a:xfrm>
            <a:off x="0" y="0"/>
            <a:ext cx="9144000" cy="5715000"/>
          </a:xfrm>
          <a:prstGeom prst="rect">
            <a:avLst/>
          </a:prstGeom>
          <a:solidFill>
            <a:srgbClr val="1F85A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dirty="0">
              <a:solidFill>
                <a:schemeClr val="lt1"/>
              </a:solidFill>
              <a:latin typeface="Calibri"/>
              <a:ea typeface="Calibri"/>
              <a:cs typeface="Calibri"/>
              <a:sym typeface="Calibri"/>
            </a:endParaRPr>
          </a:p>
        </p:txBody>
      </p:sp>
      <p:sp>
        <p:nvSpPr>
          <p:cNvPr id="60" name="Google Shape;60;p1"/>
          <p:cNvSpPr txBox="1"/>
          <p:nvPr/>
        </p:nvSpPr>
        <p:spPr>
          <a:xfrm>
            <a:off x="2088505" y="1653293"/>
            <a:ext cx="87315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800"/>
              <a:buFont typeface="Calibri"/>
              <a:buNone/>
            </a:pPr>
            <a:r>
              <a:rPr lang="es-ES" sz="1800" b="0" i="0" u="none" strike="noStrike" cap="none" dirty="0">
                <a:solidFill>
                  <a:schemeClr val="lt1"/>
                </a:solidFill>
                <a:latin typeface="Calibri"/>
                <a:ea typeface="Calibri"/>
                <a:cs typeface="Calibri"/>
                <a:sym typeface="Calibri"/>
              </a:rPr>
              <a:t>SESIÓN</a:t>
            </a:r>
            <a:endParaRPr sz="1800" b="0" i="0" u="none" strike="noStrike" cap="none" dirty="0">
              <a:solidFill>
                <a:schemeClr val="dk1"/>
              </a:solidFill>
              <a:latin typeface="Calibri"/>
              <a:ea typeface="Calibri"/>
              <a:cs typeface="Calibri"/>
              <a:sym typeface="Calibri"/>
            </a:endParaRPr>
          </a:p>
        </p:txBody>
      </p:sp>
      <p:sp>
        <p:nvSpPr>
          <p:cNvPr id="61" name="Google Shape;61;p1"/>
          <p:cNvSpPr txBox="1"/>
          <p:nvPr/>
        </p:nvSpPr>
        <p:spPr>
          <a:xfrm>
            <a:off x="2051281" y="1730819"/>
            <a:ext cx="964250"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5800"/>
              <a:buFont typeface="Calibri"/>
              <a:buNone/>
            </a:pPr>
            <a:r>
              <a:rPr lang="es-ES" sz="5800" b="0" i="0" u="none" strike="noStrike" cap="none" dirty="0">
                <a:solidFill>
                  <a:srgbClr val="FFFFFF"/>
                </a:solidFill>
                <a:latin typeface="Calibri"/>
                <a:ea typeface="Calibri"/>
                <a:cs typeface="Calibri"/>
                <a:sym typeface="Calibri"/>
              </a:rPr>
              <a:t>04</a:t>
            </a:r>
            <a:endParaRPr sz="1800" b="0" i="0" u="none" strike="noStrike" cap="none" dirty="0">
              <a:solidFill>
                <a:schemeClr val="dk1"/>
              </a:solidFill>
              <a:latin typeface="Calibri"/>
              <a:ea typeface="Calibri"/>
              <a:cs typeface="Calibri"/>
              <a:sym typeface="Calibri"/>
            </a:endParaRPr>
          </a:p>
        </p:txBody>
      </p:sp>
      <p:sp>
        <p:nvSpPr>
          <p:cNvPr id="62" name="Google Shape;62;p1"/>
          <p:cNvSpPr txBox="1"/>
          <p:nvPr/>
        </p:nvSpPr>
        <p:spPr>
          <a:xfrm>
            <a:off x="3175138" y="1258990"/>
            <a:ext cx="5204092" cy="17542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s-ES" sz="3600" b="1" i="0" u="none" strike="noStrike" cap="none" dirty="0">
                <a:solidFill>
                  <a:schemeClr val="lt1"/>
                </a:solidFill>
                <a:latin typeface="Calibri"/>
                <a:ea typeface="Calibri"/>
                <a:cs typeface="Calibri"/>
                <a:sym typeface="Calibri"/>
              </a:rPr>
              <a:t>MODELAMIENTO DE PROCESOS DE NEGOCIO (BPM)</a:t>
            </a:r>
            <a:endParaRPr sz="3600" b="1" i="0" u="none" strike="noStrike" cap="none" dirty="0">
              <a:solidFill>
                <a:schemeClr val="lt1"/>
              </a:solidFill>
              <a:latin typeface="Calibri"/>
              <a:ea typeface="Calibri"/>
              <a:cs typeface="Calibri"/>
              <a:sym typeface="Calibri"/>
            </a:endParaRPr>
          </a:p>
        </p:txBody>
      </p:sp>
      <p:sp>
        <p:nvSpPr>
          <p:cNvPr id="63" name="Google Shape;63;p1"/>
          <p:cNvSpPr txBox="1"/>
          <p:nvPr/>
        </p:nvSpPr>
        <p:spPr>
          <a:xfrm>
            <a:off x="3056456" y="3301864"/>
            <a:ext cx="5026425" cy="83095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lt1"/>
              </a:buClr>
              <a:buSzPts val="1600"/>
              <a:buFont typeface="Arial"/>
              <a:buChar char="•"/>
            </a:pPr>
            <a:r>
              <a:rPr lang="es-ES" sz="1600" b="0" i="0" u="none" strike="noStrike" cap="none" dirty="0">
                <a:solidFill>
                  <a:schemeClr val="lt1"/>
                </a:solidFill>
                <a:latin typeface="Calibri"/>
                <a:ea typeface="Calibri"/>
                <a:cs typeface="Calibri"/>
                <a:sym typeface="Calibri"/>
              </a:rPr>
              <a:t>Procesos de negocio</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lt1"/>
              </a:buClr>
              <a:buSzPts val="1600"/>
              <a:buFont typeface="Arial"/>
              <a:buChar char="•"/>
            </a:pPr>
            <a:r>
              <a:rPr lang="es-ES" sz="1600" b="0" i="0" u="none" strike="noStrike" cap="none" dirty="0">
                <a:solidFill>
                  <a:schemeClr val="lt1"/>
                </a:solidFill>
                <a:latin typeface="Calibri"/>
                <a:ea typeface="Calibri"/>
                <a:cs typeface="Calibri"/>
                <a:sym typeface="Calibri"/>
              </a:rPr>
              <a:t>Modelado BPM</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lt1"/>
              </a:buClr>
              <a:buSzPts val="1600"/>
              <a:buFont typeface="Arial"/>
              <a:buChar char="•"/>
            </a:pPr>
            <a:r>
              <a:rPr lang="es-ES" sz="1600" b="0" i="0" u="none" strike="noStrike" cap="none" dirty="0">
                <a:solidFill>
                  <a:schemeClr val="lt1"/>
                </a:solidFill>
                <a:latin typeface="Calibri"/>
                <a:ea typeface="Calibri"/>
                <a:cs typeface="Calibri"/>
                <a:sym typeface="Calibri"/>
              </a:rPr>
              <a:t>Notación BPM</a:t>
            </a:r>
            <a:endParaRPr sz="1800" b="1" i="0" u="none" strike="noStrike" cap="none" dirty="0">
              <a:solidFill>
                <a:schemeClr val="lt1"/>
              </a:solidFill>
              <a:latin typeface="Calibri"/>
              <a:ea typeface="Calibri"/>
              <a:cs typeface="Calibri"/>
              <a:sym typeface="Calibri"/>
            </a:endParaRPr>
          </a:p>
        </p:txBody>
      </p:sp>
      <p:cxnSp>
        <p:nvCxnSpPr>
          <p:cNvPr id="64" name="Google Shape;64;p1"/>
          <p:cNvCxnSpPr/>
          <p:nvPr/>
        </p:nvCxnSpPr>
        <p:spPr>
          <a:xfrm>
            <a:off x="3056456" y="1777107"/>
            <a:ext cx="0" cy="720031"/>
          </a:xfrm>
          <a:prstGeom prst="straightConnector1">
            <a:avLst/>
          </a:prstGeom>
          <a:noFill/>
          <a:ln w="25400" cap="flat" cmpd="sng">
            <a:solidFill>
              <a:srgbClr val="FFFFFF"/>
            </a:solidFill>
            <a:prstDash val="solid"/>
            <a:round/>
            <a:headEnd type="none" w="sm" len="sm"/>
            <a:tailEnd type="none" w="sm" len="sm"/>
          </a:ln>
        </p:spPr>
      </p:cxnSp>
      <p:sp>
        <p:nvSpPr>
          <p:cNvPr id="65" name="Google Shape;65;p1"/>
          <p:cNvSpPr/>
          <p:nvPr/>
        </p:nvSpPr>
        <p:spPr>
          <a:xfrm>
            <a:off x="3289191" y="3013276"/>
            <a:ext cx="3672000" cy="193899"/>
          </a:xfrm>
          <a:prstGeom prst="rect">
            <a:avLst/>
          </a:prstGeom>
          <a:solidFill>
            <a:schemeClr val="lt1"/>
          </a:solid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F85A6"/>
              </a:buClr>
              <a:buSzPts val="1400"/>
              <a:buFont typeface="Calibri"/>
              <a:buNone/>
            </a:pPr>
            <a:r>
              <a:rPr lang="es-ES" sz="1400" b="1" i="0" u="none" strike="noStrike" cap="none" dirty="0">
                <a:solidFill>
                  <a:srgbClr val="1F85A6"/>
                </a:solidFill>
                <a:latin typeface="Calibri"/>
                <a:ea typeface="Calibri"/>
                <a:cs typeface="Calibri"/>
                <a:sym typeface="Calibri"/>
              </a:rPr>
              <a:t>UNIDAD DE APRENDIZAJE 2 – UA2</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2"/>
          <p:cNvSpPr/>
          <p:nvPr/>
        </p:nvSpPr>
        <p:spPr>
          <a:xfrm>
            <a:off x="407875" y="320830"/>
            <a:ext cx="7204493"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438AD7"/>
              </a:buClr>
              <a:buSzPts val="1700"/>
              <a:buFont typeface="Calibri"/>
              <a:buNone/>
            </a:pPr>
            <a:r>
              <a:rPr lang="es-ES" sz="1700" b="0" i="0" u="none" strike="noStrike" cap="none" dirty="0">
                <a:solidFill>
                  <a:srgbClr val="438AD7"/>
                </a:solidFill>
                <a:latin typeface="Calibri"/>
                <a:ea typeface="Calibri"/>
                <a:cs typeface="Calibri"/>
                <a:sym typeface="Calibri"/>
              </a:rPr>
              <a:t>/ INTRODUCCIÓN</a:t>
            </a:r>
            <a:endParaRPr sz="1800" b="0" i="0" u="none" strike="noStrike" cap="none" dirty="0">
              <a:solidFill>
                <a:schemeClr val="dk1"/>
              </a:solidFill>
              <a:latin typeface="Calibri"/>
              <a:ea typeface="Calibri"/>
              <a:cs typeface="Calibri"/>
              <a:sym typeface="Calibri"/>
            </a:endParaRPr>
          </a:p>
        </p:txBody>
      </p:sp>
      <p:sp>
        <p:nvSpPr>
          <p:cNvPr id="72" name="Google Shape;72;p2"/>
          <p:cNvSpPr txBox="1"/>
          <p:nvPr/>
        </p:nvSpPr>
        <p:spPr>
          <a:xfrm>
            <a:off x="571679" y="497801"/>
            <a:ext cx="7784512" cy="356393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0" i="0" u="none" strike="noStrike" cap="none" dirty="0">
                <a:solidFill>
                  <a:schemeClr val="dk1"/>
                </a:solidFill>
                <a:latin typeface="Calibri"/>
                <a:ea typeface="Calibri"/>
                <a:cs typeface="Calibri"/>
                <a:sym typeface="Calibri"/>
              </a:rPr>
              <a:t>BPM es una disciplina de gestión empresarial enfocada en sistematizar y facilitar los procesos individuales complejos de la organización, no solo dentro, sino también fuera de la empresa, lo que la convierte en esencial en todo proyecto de desarrollo de sistemas de información.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ES" sz="1600" b="0" i="0" u="none" strike="noStrike" cap="none" dirty="0">
                <a:solidFill>
                  <a:schemeClr val="dk1"/>
                </a:solidFill>
                <a:latin typeface="Calibri"/>
                <a:ea typeface="Calibri"/>
                <a:cs typeface="Calibri"/>
                <a:sym typeface="Calibri"/>
              </a:rPr>
              <a:t>Entonces, durante esta sesión:</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600"/>
              </a:spcBef>
              <a:spcAft>
                <a:spcPts val="0"/>
              </a:spcAft>
              <a:buClr>
                <a:srgbClr val="000000"/>
              </a:buClr>
              <a:buSzPts val="1600"/>
              <a:buFont typeface="Arial"/>
              <a:buNone/>
            </a:pPr>
            <a:r>
              <a:rPr lang="es-ES" sz="1600" b="1" i="0" u="none" strike="noStrike" cap="none" dirty="0">
                <a:solidFill>
                  <a:schemeClr val="dk1"/>
                </a:solidFill>
                <a:latin typeface="Calibri"/>
                <a:ea typeface="Calibri"/>
                <a:cs typeface="Calibri"/>
                <a:sym typeface="Calibri"/>
              </a:rPr>
              <a:t>Conocerás</a:t>
            </a:r>
            <a:r>
              <a:rPr lang="es-ES" sz="1600" b="0" i="0" u="none" strike="noStrike" cap="none" dirty="0">
                <a:solidFill>
                  <a:schemeClr val="dk1"/>
                </a:solidFill>
                <a:latin typeface="Calibri"/>
                <a:ea typeface="Calibri"/>
                <a:cs typeface="Calibri"/>
                <a:sym typeface="Calibri"/>
              </a:rPr>
              <a:t> los fundamentos de los Procesos de negocio.</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600"/>
              </a:spcBef>
              <a:spcAft>
                <a:spcPts val="0"/>
              </a:spcAft>
              <a:buClr>
                <a:srgbClr val="000000"/>
              </a:buClr>
              <a:buSzPts val="1600"/>
              <a:buFont typeface="Arial"/>
              <a:buNone/>
            </a:pPr>
            <a:r>
              <a:rPr lang="es-ES" sz="1600" b="1" i="0" u="none" strike="noStrike" cap="none" dirty="0">
                <a:solidFill>
                  <a:schemeClr val="dk1"/>
                </a:solidFill>
                <a:latin typeface="Calibri"/>
                <a:ea typeface="Calibri"/>
                <a:cs typeface="Calibri"/>
                <a:sym typeface="Calibri"/>
              </a:rPr>
              <a:t>Aprenderás</a:t>
            </a:r>
            <a:r>
              <a:rPr lang="es-ES" sz="1600" b="0" i="0" u="none" strike="noStrike" cap="none" dirty="0">
                <a:solidFill>
                  <a:schemeClr val="dk1"/>
                </a:solidFill>
                <a:latin typeface="Calibri"/>
                <a:ea typeface="Calibri"/>
                <a:cs typeface="Calibri"/>
                <a:sym typeface="Calibri"/>
              </a:rPr>
              <a:t> a emplear el Modelado BPM para la representación visual de los procesos de negocio.</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600"/>
              </a:spcBef>
              <a:spcAft>
                <a:spcPts val="600"/>
              </a:spcAft>
              <a:buClr>
                <a:srgbClr val="000000"/>
              </a:buClr>
              <a:buSzPts val="1600"/>
              <a:buFont typeface="Arial"/>
              <a:buNone/>
            </a:pPr>
            <a:r>
              <a:rPr lang="es-ES" sz="1600" b="1" i="0" u="none" strike="noStrike" cap="none" dirty="0">
                <a:solidFill>
                  <a:schemeClr val="dk1"/>
                </a:solidFill>
                <a:latin typeface="Calibri"/>
                <a:ea typeface="Calibri"/>
                <a:cs typeface="Calibri"/>
                <a:sym typeface="Calibri"/>
              </a:rPr>
              <a:t>Aprenderás</a:t>
            </a:r>
            <a:r>
              <a:rPr lang="es-ES" sz="1600" b="0" i="0" u="none" strike="noStrike" cap="none" dirty="0">
                <a:solidFill>
                  <a:schemeClr val="dk1"/>
                </a:solidFill>
                <a:latin typeface="Calibri"/>
                <a:ea typeface="Calibri"/>
                <a:cs typeface="Calibri"/>
                <a:sym typeface="Calibri"/>
              </a:rPr>
              <a:t> a utilizar la nomenclatura del Modelamiento de Procesos (BPMN).</a:t>
            </a:r>
            <a:endParaRPr sz="1200" b="0" i="0" u="none" strike="noStrike" cap="none" dirty="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
          <p:cNvSpPr/>
          <p:nvPr/>
        </p:nvSpPr>
        <p:spPr>
          <a:xfrm>
            <a:off x="0" y="0"/>
            <a:ext cx="9144000" cy="5715000"/>
          </a:xfrm>
          <a:prstGeom prst="rect">
            <a:avLst/>
          </a:prstGeom>
          <a:solidFill>
            <a:srgbClr val="1F85A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dirty="0">
              <a:solidFill>
                <a:schemeClr val="lt1"/>
              </a:solidFill>
              <a:latin typeface="Calibri"/>
              <a:ea typeface="Calibri"/>
              <a:cs typeface="Calibri"/>
              <a:sym typeface="Calibri"/>
            </a:endParaRPr>
          </a:p>
        </p:txBody>
      </p:sp>
      <p:sp>
        <p:nvSpPr>
          <p:cNvPr id="79" name="Google Shape;79;p3"/>
          <p:cNvSpPr/>
          <p:nvPr/>
        </p:nvSpPr>
        <p:spPr>
          <a:xfrm>
            <a:off x="424252" y="3703125"/>
            <a:ext cx="7966170" cy="523180"/>
          </a:xfrm>
          <a:prstGeom prst="rect">
            <a:avLst/>
          </a:prstGeom>
          <a:noFill/>
          <a:ln>
            <a:noFill/>
          </a:ln>
        </p:spPr>
        <p:txBody>
          <a:bodyPr spcFirstLastPara="1" wrap="square" lIns="91425" tIns="45700" rIns="91425" bIns="45700" anchor="t" anchorCtr="0">
            <a:spAutoFit/>
          </a:bodyPr>
          <a:lstStyle/>
          <a:p>
            <a:pPr marL="274638" marR="0" lvl="0" indent="-274638" algn="l" rtl="0">
              <a:lnSpc>
                <a:spcPct val="100000"/>
              </a:lnSpc>
              <a:spcBef>
                <a:spcPts val="0"/>
              </a:spcBef>
              <a:spcAft>
                <a:spcPts val="0"/>
              </a:spcAft>
              <a:buClr>
                <a:srgbClr val="000000"/>
              </a:buClr>
              <a:buSzPts val="2800"/>
              <a:buFont typeface="Arial"/>
              <a:buNone/>
            </a:pPr>
            <a:r>
              <a:rPr lang="es-ES" sz="2800" b="1" i="0" u="none" strike="noStrike" cap="none" dirty="0">
                <a:solidFill>
                  <a:schemeClr val="lt1"/>
                </a:solidFill>
                <a:latin typeface="Calibri"/>
                <a:ea typeface="Calibri"/>
                <a:cs typeface="Calibri"/>
                <a:sym typeface="Calibri"/>
              </a:rPr>
              <a:t>/	PROCESOS DE NEGOCIO</a:t>
            </a:r>
            <a:endParaRPr sz="1400" b="0" i="0" u="none" strike="noStrike" cap="none" dirty="0">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4"/>
          <p:cNvSpPr txBox="1">
            <a:spLocks noGrp="1"/>
          </p:cNvSpPr>
          <p:nvPr>
            <p:ph type="body" idx="3"/>
          </p:nvPr>
        </p:nvSpPr>
        <p:spPr>
          <a:xfrm>
            <a:off x="475687"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dirty="0">
                <a:solidFill>
                  <a:srgbClr val="0070C0"/>
                </a:solidFill>
              </a:rPr>
              <a:t>/ PROCESOS DE NEGOCIO</a:t>
            </a:r>
            <a:endParaRPr dirty="0"/>
          </a:p>
        </p:txBody>
      </p:sp>
      <p:pic>
        <p:nvPicPr>
          <p:cNvPr id="86" name="Google Shape;86;p4"/>
          <p:cNvPicPr preferRelativeResize="0">
            <a:picLocks noGrp="1"/>
          </p:cNvPicPr>
          <p:nvPr>
            <p:ph type="pic" idx="2"/>
          </p:nvPr>
        </p:nvPicPr>
        <p:blipFill rotWithShape="1">
          <a:blip r:embed="rId3">
            <a:alphaModFix/>
          </a:blip>
          <a:srcRect t="19468" b="19466"/>
          <a:stretch/>
        </p:blipFill>
        <p:spPr>
          <a:xfrm>
            <a:off x="1143931" y="3139184"/>
            <a:ext cx="6856138" cy="1999859"/>
          </a:xfrm>
          <a:prstGeom prst="rect">
            <a:avLst/>
          </a:prstGeom>
          <a:noFill/>
          <a:ln>
            <a:noFill/>
          </a:ln>
        </p:spPr>
      </p:pic>
      <p:sp>
        <p:nvSpPr>
          <p:cNvPr id="87" name="Google Shape;87;p4"/>
          <p:cNvSpPr txBox="1">
            <a:spLocks noGrp="1"/>
          </p:cNvSpPr>
          <p:nvPr>
            <p:ph type="body" idx="1"/>
          </p:nvPr>
        </p:nvSpPr>
        <p:spPr>
          <a:xfrm>
            <a:off x="475687" y="804863"/>
            <a:ext cx="8207375"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dirty="0"/>
              <a:t>¿EN QUÉ CONSISTEN?</a:t>
            </a:r>
            <a:endParaRPr dirty="0"/>
          </a:p>
        </p:txBody>
      </p:sp>
      <p:sp>
        <p:nvSpPr>
          <p:cNvPr id="88" name="Google Shape;88;p4"/>
          <p:cNvSpPr txBox="1">
            <a:spLocks noGrp="1"/>
          </p:cNvSpPr>
          <p:nvPr>
            <p:ph type="body" idx="4"/>
          </p:nvPr>
        </p:nvSpPr>
        <p:spPr>
          <a:xfrm>
            <a:off x="475687" y="1169422"/>
            <a:ext cx="8200800" cy="16920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Son un conjunto de actividades coordinadas que tienen como objetivo llevar a cabo una tarea o solucionar un problema específico. Estas actividades suelen estar interconectadas y pueden implicar diversas unidades organizativas, recursos humanos, tecnologías y otros elementos. </a:t>
            </a:r>
            <a:endParaRPr dirty="0"/>
          </a:p>
          <a:p>
            <a:pPr marL="266700" lvl="0" indent="-266700" algn="l" rtl="0">
              <a:lnSpc>
                <a:spcPct val="100000"/>
              </a:lnSpc>
              <a:spcBef>
                <a:spcPts val="600"/>
              </a:spcBef>
              <a:spcAft>
                <a:spcPts val="0"/>
              </a:spcAft>
              <a:buClr>
                <a:schemeClr val="dk1"/>
              </a:buClr>
              <a:buSzPts val="1200"/>
              <a:buChar char="❑"/>
            </a:pPr>
            <a:r>
              <a:rPr lang="es-ES" dirty="0"/>
              <a:t>La comprensión detallada de estos procesos es crucial para diseñar e implementar sistemas de información efectivos, ya que estos sistemas tienen que adaptarse y optimizar las operaciones y decisiones empresariales.</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5"/>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dirty="0">
                <a:solidFill>
                  <a:srgbClr val="0070C0"/>
                </a:solidFill>
              </a:rPr>
              <a:t>/ PROCESOS DE NEGOCIO</a:t>
            </a:r>
            <a:endParaRPr dirty="0"/>
          </a:p>
        </p:txBody>
      </p:sp>
      <p:sp>
        <p:nvSpPr>
          <p:cNvPr id="95" name="Google Shape;95;p5"/>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Son las actividades y tareas fundamentales que una organización lleva a cabo para crear y entregar un producto o servicio a sus clientes.</a:t>
            </a:r>
            <a:endParaRPr dirty="0"/>
          </a:p>
          <a:p>
            <a:pPr marL="266700" lvl="0" indent="-266700" algn="l" rtl="0">
              <a:lnSpc>
                <a:spcPct val="100000"/>
              </a:lnSpc>
              <a:spcBef>
                <a:spcPts val="1200"/>
              </a:spcBef>
              <a:spcAft>
                <a:spcPts val="0"/>
              </a:spcAft>
              <a:buClr>
                <a:schemeClr val="dk1"/>
              </a:buClr>
              <a:buSzPts val="1200"/>
              <a:buChar char="❑"/>
            </a:pPr>
            <a:r>
              <a:rPr lang="es-ES" dirty="0"/>
              <a:t>Son los procesos que agregan valor directamente y son cruciales para cumplir con la misión y los objetivos de la empresa. </a:t>
            </a:r>
            <a:endParaRPr dirty="0"/>
          </a:p>
          <a:p>
            <a:pPr marL="266700" lvl="0" indent="-266700" algn="l" rtl="0">
              <a:lnSpc>
                <a:spcPct val="100000"/>
              </a:lnSpc>
              <a:spcBef>
                <a:spcPts val="1200"/>
              </a:spcBef>
              <a:spcAft>
                <a:spcPts val="0"/>
              </a:spcAft>
              <a:buClr>
                <a:schemeClr val="dk1"/>
              </a:buClr>
              <a:buSzPts val="1200"/>
              <a:buChar char="❑"/>
            </a:pPr>
            <a:r>
              <a:rPr lang="es-ES" dirty="0"/>
              <a:t>Sin estos procesos, la empresa simplemente no podría funcionar ni cumplir su razón de ser (misión).</a:t>
            </a:r>
            <a:endParaRPr dirty="0"/>
          </a:p>
        </p:txBody>
      </p:sp>
      <p:sp>
        <p:nvSpPr>
          <p:cNvPr id="96" name="Google Shape;96;p5"/>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dirty="0"/>
              <a:t>PROCESOS CORE</a:t>
            </a:r>
            <a:endParaRPr dirty="0"/>
          </a:p>
        </p:txBody>
      </p:sp>
      <p:pic>
        <p:nvPicPr>
          <p:cNvPr id="97" name="Google Shape;97;p5"/>
          <p:cNvPicPr preferRelativeResize="0">
            <a:picLocks noGrp="1"/>
          </p:cNvPicPr>
          <p:nvPr>
            <p:ph type="pic" idx="2"/>
          </p:nvPr>
        </p:nvPicPr>
        <p:blipFill rotWithShape="1">
          <a:blip r:embed="rId3">
            <a:alphaModFix/>
          </a:blip>
          <a:srcRect l="9638" r="9640"/>
          <a:stretch/>
        </p:blipFill>
        <p:spPr>
          <a:xfrm>
            <a:off x="5062451" y="1040197"/>
            <a:ext cx="3341716" cy="363460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6"/>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dirty="0">
                <a:solidFill>
                  <a:srgbClr val="0070C0"/>
                </a:solidFill>
              </a:rPr>
              <a:t>/ PROCESOS DE NEGOCIO</a:t>
            </a:r>
            <a:endParaRPr dirty="0"/>
          </a:p>
        </p:txBody>
      </p:sp>
      <p:pic>
        <p:nvPicPr>
          <p:cNvPr id="104" name="Google Shape;104;p6"/>
          <p:cNvPicPr preferRelativeResize="0">
            <a:picLocks noGrp="1"/>
          </p:cNvPicPr>
          <p:nvPr>
            <p:ph type="pic" idx="2"/>
          </p:nvPr>
        </p:nvPicPr>
        <p:blipFill rotWithShape="1">
          <a:blip r:embed="rId3">
            <a:alphaModFix/>
          </a:blip>
          <a:srcRect l="21502" r="21500"/>
          <a:stretch/>
        </p:blipFill>
        <p:spPr>
          <a:xfrm>
            <a:off x="4962698" y="1177927"/>
            <a:ext cx="3491345" cy="3797349"/>
          </a:xfrm>
          <a:prstGeom prst="rect">
            <a:avLst/>
          </a:prstGeom>
          <a:noFill/>
          <a:ln>
            <a:noFill/>
          </a:ln>
        </p:spPr>
      </p:pic>
      <p:sp>
        <p:nvSpPr>
          <p:cNvPr id="105" name="Google Shape;105;p6"/>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accent1"/>
              </a:buClr>
              <a:buSzPts val="1200"/>
              <a:buChar char="❑"/>
            </a:pPr>
            <a:r>
              <a:rPr lang="es-ES" b="1" dirty="0">
                <a:solidFill>
                  <a:schemeClr val="accent1"/>
                </a:solidFill>
              </a:rPr>
              <a:t>Valor Agregado:</a:t>
            </a:r>
            <a:endParaRPr dirty="0"/>
          </a:p>
          <a:p>
            <a:pPr marL="265113" lvl="1" indent="0" algn="l" rtl="0">
              <a:lnSpc>
                <a:spcPct val="100000"/>
              </a:lnSpc>
              <a:spcBef>
                <a:spcPts val="300"/>
              </a:spcBef>
              <a:spcAft>
                <a:spcPts val="0"/>
              </a:spcAft>
              <a:buClr>
                <a:schemeClr val="dk1"/>
              </a:buClr>
              <a:buSzPts val="1600"/>
              <a:buNone/>
            </a:pPr>
            <a:r>
              <a:rPr lang="es-ES" dirty="0"/>
              <a:t>Estos procesos agregan valor directo al producto o servicio final.</a:t>
            </a:r>
            <a:endParaRPr dirty="0"/>
          </a:p>
          <a:p>
            <a:pPr marL="266700" lvl="0" indent="-266700" algn="l" rtl="0">
              <a:lnSpc>
                <a:spcPct val="100000"/>
              </a:lnSpc>
              <a:spcBef>
                <a:spcPts val="1200"/>
              </a:spcBef>
              <a:spcAft>
                <a:spcPts val="0"/>
              </a:spcAft>
              <a:buClr>
                <a:schemeClr val="accent1"/>
              </a:buClr>
              <a:buSzPts val="1200"/>
              <a:buChar char="❑"/>
            </a:pPr>
            <a:r>
              <a:rPr lang="es-ES" b="1" dirty="0">
                <a:solidFill>
                  <a:schemeClr val="accent1"/>
                </a:solidFill>
              </a:rPr>
              <a:t>Centro de la Operación:</a:t>
            </a:r>
            <a:endParaRPr dirty="0"/>
          </a:p>
          <a:p>
            <a:pPr marL="265113" lvl="1" indent="0" algn="l" rtl="0">
              <a:lnSpc>
                <a:spcPct val="100000"/>
              </a:lnSpc>
              <a:spcBef>
                <a:spcPts val="300"/>
              </a:spcBef>
              <a:spcAft>
                <a:spcPts val="0"/>
              </a:spcAft>
              <a:buClr>
                <a:schemeClr val="dk1"/>
              </a:buClr>
              <a:buSzPts val="1600"/>
              <a:buNone/>
            </a:pPr>
            <a:r>
              <a:rPr lang="es-ES" dirty="0"/>
              <a:t>Son los procesos que constituyen el núcleo de lo que hace la empresa.</a:t>
            </a:r>
            <a:endParaRPr dirty="0"/>
          </a:p>
          <a:p>
            <a:pPr marL="266700" lvl="0" indent="-266700" algn="l" rtl="0">
              <a:lnSpc>
                <a:spcPct val="100000"/>
              </a:lnSpc>
              <a:spcBef>
                <a:spcPts val="1200"/>
              </a:spcBef>
              <a:spcAft>
                <a:spcPts val="0"/>
              </a:spcAft>
              <a:buClr>
                <a:schemeClr val="accent1"/>
              </a:buClr>
              <a:buSzPts val="1200"/>
              <a:buChar char="❑"/>
            </a:pPr>
            <a:r>
              <a:rPr lang="es-ES" b="1" dirty="0">
                <a:solidFill>
                  <a:schemeClr val="accent1"/>
                </a:solidFill>
              </a:rPr>
              <a:t>Interacción Directa con el Cliente:</a:t>
            </a:r>
            <a:endParaRPr dirty="0"/>
          </a:p>
          <a:p>
            <a:pPr marL="265113" lvl="1" indent="0" algn="l" rtl="0">
              <a:lnSpc>
                <a:spcPct val="100000"/>
              </a:lnSpc>
              <a:spcBef>
                <a:spcPts val="300"/>
              </a:spcBef>
              <a:spcAft>
                <a:spcPts val="0"/>
              </a:spcAft>
              <a:buClr>
                <a:schemeClr val="dk1"/>
              </a:buClr>
              <a:buSzPts val="1600"/>
              <a:buNone/>
            </a:pPr>
            <a:r>
              <a:rPr lang="es-ES" dirty="0"/>
              <a:t>En muchos casos, implican un contacto directo con el cliente o usuario final.</a:t>
            </a:r>
            <a:endParaRPr dirty="0"/>
          </a:p>
          <a:p>
            <a:pPr marL="266700" lvl="0" indent="-266700" algn="l" rtl="0">
              <a:lnSpc>
                <a:spcPct val="100000"/>
              </a:lnSpc>
              <a:spcBef>
                <a:spcPts val="1200"/>
              </a:spcBef>
              <a:spcAft>
                <a:spcPts val="0"/>
              </a:spcAft>
              <a:buClr>
                <a:schemeClr val="accent1"/>
              </a:buClr>
              <a:buSzPts val="1200"/>
              <a:buChar char="❑"/>
            </a:pPr>
            <a:r>
              <a:rPr lang="es-ES" b="1" dirty="0">
                <a:solidFill>
                  <a:schemeClr val="accent1"/>
                </a:solidFill>
              </a:rPr>
              <a:t>Medibles y Optimizables:</a:t>
            </a:r>
            <a:endParaRPr dirty="0"/>
          </a:p>
          <a:p>
            <a:pPr marL="265113" lvl="1" indent="0" algn="l" rtl="0">
              <a:lnSpc>
                <a:spcPct val="100000"/>
              </a:lnSpc>
              <a:spcBef>
                <a:spcPts val="300"/>
              </a:spcBef>
              <a:spcAft>
                <a:spcPts val="0"/>
              </a:spcAft>
              <a:buClr>
                <a:schemeClr val="dk1"/>
              </a:buClr>
              <a:buSzPts val="1600"/>
              <a:buNone/>
            </a:pPr>
            <a:r>
              <a:rPr lang="es-ES" dirty="0"/>
              <a:t>Generalmente se pueden medir en términos de eficiencia, calidad y efectividad para la continua mejora.</a:t>
            </a:r>
            <a:endParaRPr dirty="0"/>
          </a:p>
        </p:txBody>
      </p:sp>
      <p:sp>
        <p:nvSpPr>
          <p:cNvPr id="106" name="Google Shape;106;p6"/>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dirty="0"/>
              <a:t>PROCESOS CORE, </a:t>
            </a:r>
            <a:r>
              <a:rPr lang="es-ES" sz="1400" dirty="0">
                <a:solidFill>
                  <a:srgbClr val="7F7F7F"/>
                </a:solidFill>
              </a:rPr>
              <a:t>Características</a:t>
            </a:r>
            <a:endParaRPr dirty="0">
              <a:solidFill>
                <a:srgbClr val="7F7F7F"/>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7"/>
          <p:cNvSpPr txBox="1">
            <a:spLocks noGrp="1"/>
          </p:cNvSpPr>
          <p:nvPr>
            <p:ph type="body" idx="1"/>
          </p:nvPr>
        </p:nvSpPr>
        <p:spPr>
          <a:xfrm>
            <a:off x="468313" y="810473"/>
            <a:ext cx="8207375" cy="354012"/>
          </a:xfrm>
          <a:prstGeom prst="rect">
            <a:avLst/>
          </a:prstGeom>
          <a:solidFill>
            <a:srgbClr val="FFFFCC"/>
          </a:solid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rgbClr val="3F3F3F"/>
              </a:buClr>
              <a:buSzPts val="1600"/>
              <a:buNone/>
            </a:pPr>
            <a:r>
              <a:rPr lang="es-ES" dirty="0"/>
              <a:t>PROCESOS CORE, </a:t>
            </a:r>
            <a:r>
              <a:rPr lang="es-ES" sz="1400" dirty="0">
                <a:solidFill>
                  <a:srgbClr val="7F7F7F"/>
                </a:solidFill>
              </a:rPr>
              <a:t>Ejemplos</a:t>
            </a:r>
            <a:endParaRPr dirty="0">
              <a:solidFill>
                <a:srgbClr val="7F7F7F"/>
              </a:solidFill>
            </a:endParaRPr>
          </a:p>
        </p:txBody>
      </p:sp>
      <p:sp>
        <p:nvSpPr>
          <p:cNvPr id="113" name="Google Shape;113;p7"/>
          <p:cNvSpPr txBox="1">
            <a:spLocks noGrp="1"/>
          </p:cNvSpPr>
          <p:nvPr>
            <p:ph type="body" idx="2"/>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chemeClr val="lt1"/>
              </a:buClr>
              <a:buSzPts val="1800"/>
              <a:buNone/>
            </a:pPr>
            <a:r>
              <a:rPr lang="es-ES" dirty="0"/>
              <a:t>/ PROCESOS DE NEGOCIO</a:t>
            </a:r>
            <a:endParaRPr dirty="0"/>
          </a:p>
        </p:txBody>
      </p:sp>
      <p:sp>
        <p:nvSpPr>
          <p:cNvPr id="114" name="Google Shape;114;p7"/>
          <p:cNvSpPr txBox="1">
            <a:spLocks noGrp="1"/>
          </p:cNvSpPr>
          <p:nvPr>
            <p:ph type="body" idx="3"/>
          </p:nvPr>
        </p:nvSpPr>
        <p:spPr>
          <a:xfrm>
            <a:off x="468313" y="1174363"/>
            <a:ext cx="8207400" cy="4130734"/>
          </a:xfrm>
          <a:prstGeom prst="rect">
            <a:avLst/>
          </a:prstGeom>
          <a:solidFill>
            <a:srgbClr val="FFFFCC"/>
          </a:solidFill>
          <a:ln>
            <a:noFill/>
          </a:ln>
        </p:spPr>
        <p:txBody>
          <a:bodyPr spcFirstLastPara="1" wrap="square" lIns="91425" tIns="45700" rIns="91425" bIns="45700" anchor="t" anchorCtr="0">
            <a:noAutofit/>
          </a:bodyPr>
          <a:lstStyle/>
          <a:p>
            <a:pPr marL="176213" lvl="0" indent="-176213" algn="l" rtl="0">
              <a:lnSpc>
                <a:spcPct val="90000"/>
              </a:lnSpc>
              <a:spcBef>
                <a:spcPts val="0"/>
              </a:spcBef>
              <a:spcAft>
                <a:spcPts val="0"/>
              </a:spcAft>
              <a:buClr>
                <a:srgbClr val="3F3F3F"/>
              </a:buClr>
              <a:buSzPts val="1200"/>
              <a:buFont typeface="Noto Sans Symbols"/>
              <a:buChar char="❑"/>
            </a:pPr>
            <a:r>
              <a:rPr lang="es-ES" dirty="0"/>
              <a:t>En una Fábrica de Autos</a:t>
            </a:r>
            <a:endParaRPr dirty="0"/>
          </a:p>
          <a:p>
            <a:pPr marL="558800" lvl="1" indent="-285750" algn="l">
              <a:buFont typeface="Arial" panose="020B0604020202020204" pitchFamily="34" charset="0"/>
              <a:buChar char="•"/>
            </a:pPr>
            <a:r>
              <a:rPr lang="es-ES" dirty="0"/>
              <a:t>Diseño del vehículo</a:t>
            </a:r>
            <a:endParaRPr dirty="0"/>
          </a:p>
          <a:p>
            <a:pPr marL="558800" lvl="1" indent="-285750" algn="l">
              <a:buFont typeface="Arial" panose="020B0604020202020204" pitchFamily="34" charset="0"/>
              <a:buChar char="•"/>
            </a:pPr>
            <a:r>
              <a:rPr lang="es-ES" dirty="0"/>
              <a:t>Ensamblaje</a:t>
            </a:r>
            <a:endParaRPr dirty="0"/>
          </a:p>
          <a:p>
            <a:pPr marL="558800" lvl="1" indent="-285750" algn="l">
              <a:buFont typeface="Arial" panose="020B0604020202020204" pitchFamily="34" charset="0"/>
              <a:buChar char="•"/>
            </a:pPr>
            <a:r>
              <a:rPr lang="es-ES" dirty="0"/>
              <a:t>Control de Calidad</a:t>
            </a:r>
            <a:endParaRPr dirty="0"/>
          </a:p>
          <a:p>
            <a:pPr marL="558800" lvl="1" indent="-285750" algn="l">
              <a:buFont typeface="Arial" panose="020B0604020202020204" pitchFamily="34" charset="0"/>
              <a:buChar char="•"/>
            </a:pPr>
            <a:r>
              <a:rPr lang="es-ES" dirty="0"/>
              <a:t>Distribución a concesionarios</a:t>
            </a:r>
            <a:endParaRPr dirty="0"/>
          </a:p>
          <a:p>
            <a:pPr marL="176213" lvl="0" indent="-176213" algn="l" rtl="0">
              <a:lnSpc>
                <a:spcPct val="90000"/>
              </a:lnSpc>
              <a:spcBef>
                <a:spcPts val="600"/>
              </a:spcBef>
              <a:spcAft>
                <a:spcPts val="0"/>
              </a:spcAft>
              <a:buClr>
                <a:srgbClr val="3F3F3F"/>
              </a:buClr>
              <a:buSzPts val="1200"/>
              <a:buFont typeface="Noto Sans Symbols"/>
              <a:buChar char="❑"/>
            </a:pPr>
            <a:r>
              <a:rPr lang="es-ES" dirty="0"/>
              <a:t>En un Hospital</a:t>
            </a:r>
            <a:endParaRPr dirty="0"/>
          </a:p>
          <a:p>
            <a:pPr marL="558800" lvl="1" indent="-285750" algn="l">
              <a:buFont typeface="Arial" panose="020B0604020202020204" pitchFamily="34" charset="0"/>
              <a:buChar char="•"/>
            </a:pPr>
            <a:r>
              <a:rPr lang="es-ES" dirty="0"/>
              <a:t>Admisión de pacientes</a:t>
            </a:r>
            <a:endParaRPr dirty="0"/>
          </a:p>
          <a:p>
            <a:pPr marL="558800" lvl="1" indent="-285750" algn="l">
              <a:buFont typeface="Arial" panose="020B0604020202020204" pitchFamily="34" charset="0"/>
              <a:buChar char="•"/>
            </a:pPr>
            <a:r>
              <a:rPr lang="es-ES" dirty="0"/>
              <a:t>Diagnóstico médico</a:t>
            </a:r>
            <a:endParaRPr dirty="0"/>
          </a:p>
          <a:p>
            <a:pPr marL="558800" lvl="1" indent="-285750" algn="l">
              <a:buFont typeface="Arial" panose="020B0604020202020204" pitchFamily="34" charset="0"/>
              <a:buChar char="•"/>
            </a:pPr>
            <a:r>
              <a:rPr lang="es-ES" dirty="0"/>
              <a:t>Realización de cirugías o tratamientos</a:t>
            </a:r>
            <a:endParaRPr dirty="0"/>
          </a:p>
          <a:p>
            <a:pPr marL="558800" lvl="1" indent="-285750" algn="l">
              <a:buFont typeface="Arial" panose="020B0604020202020204" pitchFamily="34" charset="0"/>
              <a:buChar char="•"/>
            </a:pPr>
            <a:r>
              <a:rPr lang="es-ES" dirty="0"/>
              <a:t>Alta y seguimiento</a:t>
            </a:r>
            <a:endParaRPr dirty="0"/>
          </a:p>
          <a:p>
            <a:pPr marL="176213" lvl="0" indent="-176213" algn="l" rtl="0">
              <a:lnSpc>
                <a:spcPct val="90000"/>
              </a:lnSpc>
              <a:spcBef>
                <a:spcPts val="600"/>
              </a:spcBef>
              <a:spcAft>
                <a:spcPts val="0"/>
              </a:spcAft>
              <a:buClr>
                <a:srgbClr val="3F3F3F"/>
              </a:buClr>
              <a:buSzPts val="1200"/>
              <a:buFont typeface="Noto Sans Symbols"/>
              <a:buChar char="❑"/>
            </a:pPr>
            <a:r>
              <a:rPr lang="es-ES" dirty="0"/>
              <a:t>En una Universidad</a:t>
            </a:r>
            <a:endParaRPr lang="es-PE" dirty="0"/>
          </a:p>
          <a:p>
            <a:pPr marL="558800" lvl="1" indent="-285750" algn="l">
              <a:buFont typeface="Arial" panose="020B0604020202020204" pitchFamily="34" charset="0"/>
              <a:buChar char="•"/>
            </a:pPr>
            <a:r>
              <a:rPr lang="es-PE" dirty="0"/>
              <a:t>Proceso de admisión</a:t>
            </a:r>
          </a:p>
          <a:p>
            <a:pPr marL="558800" lvl="1" indent="-285750" algn="l">
              <a:buFont typeface="Arial" panose="020B0604020202020204" pitchFamily="34" charset="0"/>
              <a:buChar char="•"/>
            </a:pPr>
            <a:r>
              <a:rPr lang="es-ES" dirty="0"/>
              <a:t>Desarrollo y entrega de cursos</a:t>
            </a:r>
            <a:endParaRPr dirty="0"/>
          </a:p>
          <a:p>
            <a:pPr marL="558800" lvl="1" indent="-285750" algn="l">
              <a:buFont typeface="Arial" panose="020B0604020202020204" pitchFamily="34" charset="0"/>
              <a:buChar char="•"/>
            </a:pPr>
            <a:r>
              <a:rPr lang="es-ES" dirty="0"/>
              <a:t>Evaluación y calificación</a:t>
            </a:r>
            <a:endParaRPr dirty="0"/>
          </a:p>
          <a:p>
            <a:pPr marL="558800" lvl="1" indent="-285750" algn="l">
              <a:buFont typeface="Arial" panose="020B0604020202020204" pitchFamily="34" charset="0"/>
              <a:buChar char="•"/>
            </a:pPr>
            <a:r>
              <a:rPr lang="es-ES" dirty="0"/>
              <a:t>Conferimiento de títulos</a:t>
            </a:r>
            <a:endParaRPr dirty="0"/>
          </a:p>
        </p:txBody>
      </p:sp>
      <p:pic>
        <p:nvPicPr>
          <p:cNvPr id="115" name="Google Shape;115;p7"/>
          <p:cNvPicPr preferRelativeResize="0"/>
          <p:nvPr/>
        </p:nvPicPr>
        <p:blipFill rotWithShape="1">
          <a:blip r:embed="rId3">
            <a:alphaModFix/>
          </a:blip>
          <a:srcRect/>
          <a:stretch/>
        </p:blipFill>
        <p:spPr>
          <a:xfrm>
            <a:off x="6991203" y="3764203"/>
            <a:ext cx="1368534" cy="1368534"/>
          </a:xfrm>
          <a:prstGeom prst="rect">
            <a:avLst/>
          </a:prstGeom>
          <a:noFill/>
          <a:ln>
            <a:noFill/>
          </a:ln>
        </p:spPr>
      </p:pic>
      <p:sp>
        <p:nvSpPr>
          <p:cNvPr id="116" name="Google Shape;116;p7"/>
          <p:cNvSpPr txBox="1">
            <a:spLocks noGrp="1"/>
          </p:cNvSpPr>
          <p:nvPr>
            <p:ph type="body" idx="3"/>
          </p:nvPr>
        </p:nvSpPr>
        <p:spPr>
          <a:xfrm>
            <a:off x="4327437" y="1174363"/>
            <a:ext cx="4032300" cy="3759000"/>
          </a:xfrm>
          <a:prstGeom prst="rect">
            <a:avLst/>
          </a:prstGeom>
          <a:noFill/>
          <a:ln>
            <a:noFill/>
          </a:ln>
        </p:spPr>
        <p:txBody>
          <a:bodyPr spcFirstLastPara="1" wrap="square" lIns="91425" tIns="45700" rIns="91425" bIns="45700" anchor="t" anchorCtr="0">
            <a:noAutofit/>
          </a:bodyPr>
          <a:lstStyle/>
          <a:p>
            <a:pPr marL="176212" lvl="0" indent="-176212" algn="l" rtl="0">
              <a:lnSpc>
                <a:spcPct val="90000"/>
              </a:lnSpc>
              <a:spcBef>
                <a:spcPts val="600"/>
              </a:spcBef>
              <a:spcAft>
                <a:spcPts val="0"/>
              </a:spcAft>
              <a:buClr>
                <a:srgbClr val="3F3F3F"/>
              </a:buClr>
              <a:buSzPts val="1200"/>
              <a:buFont typeface="Noto Sans Symbols"/>
              <a:buChar char="❑"/>
            </a:pPr>
            <a:r>
              <a:rPr lang="es-ES" dirty="0"/>
              <a:t>En un E-</a:t>
            </a:r>
            <a:r>
              <a:rPr lang="es-ES" dirty="0" err="1"/>
              <a:t>commerce</a:t>
            </a:r>
            <a:endParaRPr dirty="0"/>
          </a:p>
          <a:p>
            <a:pPr marL="558800" lvl="1" indent="-285750" algn="l">
              <a:buFont typeface="Arial" panose="020B0604020202020204" pitchFamily="34" charset="0"/>
              <a:buChar char="•"/>
            </a:pPr>
            <a:r>
              <a:rPr lang="es-ES" dirty="0"/>
              <a:t>Selección de productos a vender</a:t>
            </a:r>
            <a:endParaRPr dirty="0"/>
          </a:p>
          <a:p>
            <a:pPr marL="558800" lvl="1" indent="-285750" algn="l">
              <a:buFont typeface="Arial" panose="020B0604020202020204" pitchFamily="34" charset="0"/>
              <a:buChar char="•"/>
            </a:pPr>
            <a:r>
              <a:rPr lang="es-ES" dirty="0"/>
              <a:t>Gestión de inventario</a:t>
            </a:r>
            <a:endParaRPr dirty="0"/>
          </a:p>
          <a:p>
            <a:pPr marL="558800" lvl="1" indent="-285750" algn="l">
              <a:buFont typeface="Arial" panose="020B0604020202020204" pitchFamily="34" charset="0"/>
              <a:buChar char="•"/>
            </a:pPr>
            <a:r>
              <a:rPr lang="es-ES" dirty="0"/>
              <a:t>Proceso de compra en la web</a:t>
            </a:r>
            <a:endParaRPr dirty="0"/>
          </a:p>
          <a:p>
            <a:pPr marL="558800" lvl="1" indent="-285750" algn="l">
              <a:buFont typeface="Arial" panose="020B0604020202020204" pitchFamily="34" charset="0"/>
              <a:buChar char="•"/>
            </a:pPr>
            <a:r>
              <a:rPr lang="es-ES" dirty="0"/>
              <a:t>Logística y entrega al cliente</a:t>
            </a:r>
            <a:endParaRPr dirty="0"/>
          </a:p>
          <a:p>
            <a:pPr marL="176212" lvl="0" indent="-176212" algn="l" rtl="0">
              <a:lnSpc>
                <a:spcPct val="90000"/>
              </a:lnSpc>
              <a:spcBef>
                <a:spcPts val="600"/>
              </a:spcBef>
              <a:spcAft>
                <a:spcPts val="0"/>
              </a:spcAft>
              <a:buClr>
                <a:srgbClr val="3F3F3F"/>
              </a:buClr>
              <a:buSzPts val="1200"/>
              <a:buFont typeface="Noto Sans Symbols"/>
              <a:buChar char="❑"/>
            </a:pPr>
            <a:r>
              <a:rPr lang="es-ES" dirty="0"/>
              <a:t>En una Empresa de Software</a:t>
            </a:r>
            <a:endParaRPr dirty="0"/>
          </a:p>
          <a:p>
            <a:pPr marL="558800" lvl="1" indent="-285750" algn="l">
              <a:buFont typeface="Arial" panose="020B0604020202020204" pitchFamily="34" charset="0"/>
              <a:buChar char="•"/>
            </a:pPr>
            <a:r>
              <a:rPr lang="es-ES" dirty="0"/>
              <a:t>Desarrollo de software (diseño, codificación, pruebas)</a:t>
            </a:r>
            <a:endParaRPr dirty="0"/>
          </a:p>
          <a:p>
            <a:pPr marL="558800" lvl="1" indent="-285750" algn="l">
              <a:buFont typeface="Arial" panose="020B0604020202020204" pitchFamily="34" charset="0"/>
              <a:buChar char="•"/>
            </a:pPr>
            <a:r>
              <a:rPr lang="es-ES" dirty="0"/>
              <a:t>Actualización y mantenimiento</a:t>
            </a:r>
            <a:endParaRPr dirty="0"/>
          </a:p>
          <a:p>
            <a:pPr marL="558800" lvl="1" indent="-285750" algn="l">
              <a:buFont typeface="Arial" panose="020B0604020202020204" pitchFamily="34" charset="0"/>
              <a:buChar char="•"/>
            </a:pPr>
            <a:r>
              <a:rPr lang="es-ES" dirty="0"/>
              <a:t>Soporte al cliente</a:t>
            </a:r>
            <a:endParaRPr dirty="0"/>
          </a:p>
          <a:p>
            <a:pPr marL="176212" lvl="0" indent="-100012" algn="just" rtl="0">
              <a:lnSpc>
                <a:spcPct val="90000"/>
              </a:lnSpc>
              <a:spcBef>
                <a:spcPts val="600"/>
              </a:spcBef>
              <a:spcAft>
                <a:spcPts val="0"/>
              </a:spcAft>
              <a:buClr>
                <a:srgbClr val="3F3F3F"/>
              </a:buClr>
              <a:buSzPts val="1200"/>
              <a:buFont typeface="Noto Sans Symbols"/>
              <a:buNone/>
            </a:pP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8"/>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dirty="0">
                <a:solidFill>
                  <a:srgbClr val="0070C0"/>
                </a:solidFill>
              </a:rPr>
              <a:t>/ PROCESOS DE NEGOCIO</a:t>
            </a:r>
            <a:endParaRPr dirty="0"/>
          </a:p>
        </p:txBody>
      </p:sp>
      <p:sp>
        <p:nvSpPr>
          <p:cNvPr id="123" name="Google Shape;123;p8"/>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Son aquellos que, aunque no agregan valor directo al producto o servicio final que ofrece la organización, son esenciales para el buen funcionamiento de los procesos operativos. </a:t>
            </a:r>
            <a:endParaRPr dirty="0"/>
          </a:p>
          <a:p>
            <a:pPr marL="266700" lvl="0" indent="-266700" algn="l" rtl="0">
              <a:lnSpc>
                <a:spcPct val="100000"/>
              </a:lnSpc>
              <a:spcBef>
                <a:spcPts val="1200"/>
              </a:spcBef>
              <a:spcAft>
                <a:spcPts val="0"/>
              </a:spcAft>
              <a:buClr>
                <a:schemeClr val="dk1"/>
              </a:buClr>
              <a:buSzPts val="1200"/>
              <a:buChar char="❑"/>
            </a:pPr>
            <a:r>
              <a:rPr lang="es-ES" dirty="0"/>
              <a:t>En otras palabras, son actividades que facilitan y mejoran la eficiencia y efectividad de los procesos que sí están directamente relacionados con el objetivo principal de la organización.</a:t>
            </a:r>
            <a:endParaRPr dirty="0"/>
          </a:p>
        </p:txBody>
      </p:sp>
      <p:sp>
        <p:nvSpPr>
          <p:cNvPr id="124" name="Google Shape;124;p8"/>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dirty="0"/>
              <a:t>PROCESOS DE SOPORTE</a:t>
            </a:r>
            <a:endParaRPr dirty="0"/>
          </a:p>
        </p:txBody>
      </p:sp>
      <p:pic>
        <p:nvPicPr>
          <p:cNvPr id="125" name="Google Shape;125;p8"/>
          <p:cNvPicPr preferRelativeResize="0">
            <a:picLocks noGrp="1"/>
          </p:cNvPicPr>
          <p:nvPr>
            <p:ph type="pic" idx="2"/>
          </p:nvPr>
        </p:nvPicPr>
        <p:blipFill rotWithShape="1">
          <a:blip r:embed="rId3">
            <a:alphaModFix/>
          </a:blip>
          <a:srcRect l="22371" r="22371"/>
          <a:stretch/>
        </p:blipFill>
        <p:spPr>
          <a:xfrm>
            <a:off x="4937682" y="928443"/>
            <a:ext cx="3422121" cy="372205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9"/>
          <p:cNvSpPr txBox="1">
            <a:spLocks noGrp="1"/>
          </p:cNvSpPr>
          <p:nvPr>
            <p:ph type="body" idx="3"/>
          </p:nvPr>
        </p:nvSpPr>
        <p:spPr>
          <a:xfrm>
            <a:off x="468313" y="277813"/>
            <a:ext cx="8207400" cy="354000"/>
          </a:xfrm>
          <a:prstGeom prst="rect">
            <a:avLst/>
          </a:prstGeom>
          <a:noFill/>
          <a:ln>
            <a:noFill/>
          </a:ln>
        </p:spPr>
        <p:txBody>
          <a:bodyPr spcFirstLastPara="1" wrap="square" lIns="72000" tIns="36000" rIns="72000" bIns="36000" anchor="t" anchorCtr="0">
            <a:noAutofit/>
          </a:bodyPr>
          <a:lstStyle/>
          <a:p>
            <a:pPr marL="274637" lvl="0" indent="-274637" algn="l" rtl="0">
              <a:lnSpc>
                <a:spcPct val="100000"/>
              </a:lnSpc>
              <a:spcBef>
                <a:spcPts val="0"/>
              </a:spcBef>
              <a:spcAft>
                <a:spcPts val="0"/>
              </a:spcAft>
              <a:buClr>
                <a:srgbClr val="1F85A6"/>
              </a:buClr>
              <a:buSzPts val="1800"/>
              <a:buNone/>
            </a:pPr>
            <a:r>
              <a:rPr lang="es-ES" b="0" dirty="0">
                <a:solidFill>
                  <a:srgbClr val="0070C0"/>
                </a:solidFill>
              </a:rPr>
              <a:t>/ PROCESOS DE NEGOCIO</a:t>
            </a:r>
            <a:endParaRPr dirty="0"/>
          </a:p>
        </p:txBody>
      </p:sp>
      <p:sp>
        <p:nvSpPr>
          <p:cNvPr id="132" name="Google Shape;132;p9"/>
          <p:cNvSpPr txBox="1">
            <a:spLocks noGrp="1"/>
          </p:cNvSpPr>
          <p:nvPr>
            <p:ph type="body" idx="4"/>
          </p:nvPr>
        </p:nvSpPr>
        <p:spPr>
          <a:xfrm>
            <a:off x="468313" y="1177927"/>
            <a:ext cx="4685578"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accent1"/>
              </a:buClr>
              <a:buSzPts val="1200"/>
              <a:buChar char="❑"/>
            </a:pPr>
            <a:r>
              <a:rPr lang="es-ES" b="1" dirty="0">
                <a:solidFill>
                  <a:schemeClr val="accent1"/>
                </a:solidFill>
              </a:rPr>
              <a:t>No Agregan Valor Directo:</a:t>
            </a:r>
            <a:endParaRPr dirty="0"/>
          </a:p>
          <a:p>
            <a:pPr marL="265113" lvl="1" indent="0" algn="l" rtl="0">
              <a:lnSpc>
                <a:spcPct val="100000"/>
              </a:lnSpc>
              <a:spcBef>
                <a:spcPts val="300"/>
              </a:spcBef>
              <a:spcAft>
                <a:spcPts val="0"/>
              </a:spcAft>
              <a:buClr>
                <a:schemeClr val="dk1"/>
              </a:buClr>
              <a:buSzPts val="1600"/>
              <a:buNone/>
            </a:pPr>
            <a:r>
              <a:rPr lang="es-ES" dirty="0"/>
              <a:t>Aunque son esenciales, no añaden valor directo al producto o servicio final.</a:t>
            </a:r>
            <a:endParaRPr dirty="0"/>
          </a:p>
          <a:p>
            <a:pPr marL="266700" lvl="0" indent="-266700" algn="l" rtl="0">
              <a:lnSpc>
                <a:spcPct val="100000"/>
              </a:lnSpc>
              <a:spcBef>
                <a:spcPts val="1200"/>
              </a:spcBef>
              <a:spcAft>
                <a:spcPts val="0"/>
              </a:spcAft>
              <a:buClr>
                <a:schemeClr val="accent1"/>
              </a:buClr>
              <a:buSzPts val="1200"/>
              <a:buChar char="❑"/>
            </a:pPr>
            <a:r>
              <a:rPr lang="es-ES" b="1" dirty="0">
                <a:solidFill>
                  <a:schemeClr val="accent1"/>
                </a:solidFill>
              </a:rPr>
              <a:t>Facilitadores:</a:t>
            </a:r>
            <a:endParaRPr dirty="0"/>
          </a:p>
          <a:p>
            <a:pPr marL="265113" lvl="1" indent="0" algn="l" rtl="0">
              <a:lnSpc>
                <a:spcPct val="100000"/>
              </a:lnSpc>
              <a:spcBef>
                <a:spcPts val="300"/>
              </a:spcBef>
              <a:spcAft>
                <a:spcPts val="0"/>
              </a:spcAft>
              <a:buClr>
                <a:schemeClr val="dk1"/>
              </a:buClr>
              <a:buSzPts val="1600"/>
              <a:buNone/>
            </a:pPr>
            <a:r>
              <a:rPr lang="es-ES" dirty="0"/>
              <a:t>Actúan como engranajes que hacen que la máquina organizativa funcione más suavemente.</a:t>
            </a:r>
            <a:endParaRPr dirty="0"/>
          </a:p>
          <a:p>
            <a:pPr marL="266700" lvl="0" indent="-266700" algn="l" rtl="0">
              <a:lnSpc>
                <a:spcPct val="100000"/>
              </a:lnSpc>
              <a:spcBef>
                <a:spcPts val="1200"/>
              </a:spcBef>
              <a:spcAft>
                <a:spcPts val="0"/>
              </a:spcAft>
              <a:buClr>
                <a:schemeClr val="accent1"/>
              </a:buClr>
              <a:buSzPts val="1200"/>
              <a:buChar char="❑"/>
            </a:pPr>
            <a:r>
              <a:rPr lang="es-ES" b="1" dirty="0">
                <a:solidFill>
                  <a:schemeClr val="accent1"/>
                </a:solidFill>
              </a:rPr>
              <a:t>Transversales:</a:t>
            </a:r>
            <a:endParaRPr dirty="0"/>
          </a:p>
          <a:p>
            <a:pPr marL="265113" lvl="1" indent="0" algn="l" rtl="0">
              <a:lnSpc>
                <a:spcPct val="100000"/>
              </a:lnSpc>
              <a:spcBef>
                <a:spcPts val="300"/>
              </a:spcBef>
              <a:spcAft>
                <a:spcPts val="0"/>
              </a:spcAft>
              <a:buClr>
                <a:schemeClr val="dk1"/>
              </a:buClr>
              <a:buSzPts val="1600"/>
              <a:buNone/>
            </a:pPr>
            <a:r>
              <a:rPr lang="es-ES" dirty="0"/>
              <a:t>A menudo, afectan a múltiples departamentos o áreas de la organización.</a:t>
            </a:r>
            <a:endParaRPr dirty="0"/>
          </a:p>
          <a:p>
            <a:pPr marL="266700" lvl="0" indent="-266700" algn="l" rtl="0">
              <a:lnSpc>
                <a:spcPct val="100000"/>
              </a:lnSpc>
              <a:spcBef>
                <a:spcPts val="1200"/>
              </a:spcBef>
              <a:spcAft>
                <a:spcPts val="0"/>
              </a:spcAft>
              <a:buClr>
                <a:schemeClr val="accent1"/>
              </a:buClr>
              <a:buSzPts val="1200"/>
              <a:buChar char="❑"/>
            </a:pPr>
            <a:r>
              <a:rPr lang="es-ES" b="1" dirty="0">
                <a:solidFill>
                  <a:schemeClr val="accent1"/>
                </a:solidFill>
              </a:rPr>
              <a:t>Indispensables:</a:t>
            </a:r>
            <a:endParaRPr dirty="0"/>
          </a:p>
          <a:p>
            <a:pPr marL="265113" lvl="1" indent="0" algn="l" rtl="0">
              <a:lnSpc>
                <a:spcPct val="100000"/>
              </a:lnSpc>
              <a:spcBef>
                <a:spcPts val="300"/>
              </a:spcBef>
              <a:spcAft>
                <a:spcPts val="0"/>
              </a:spcAft>
              <a:buClr>
                <a:schemeClr val="dk1"/>
              </a:buClr>
              <a:buSzPts val="1600"/>
              <a:buNone/>
            </a:pPr>
            <a:r>
              <a:rPr lang="es-ES" dirty="0"/>
              <a:t>Un fallo en estos procesos podría tener un impacto negativo en los procesos operativos y, por ende, en el negocio.</a:t>
            </a:r>
            <a:endParaRPr dirty="0"/>
          </a:p>
        </p:txBody>
      </p:sp>
      <p:sp>
        <p:nvSpPr>
          <p:cNvPr id="133" name="Google Shape;133;p9"/>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dirty="0"/>
              <a:t>PROCESOS DE SOPORTE, </a:t>
            </a:r>
            <a:r>
              <a:rPr lang="es-ES" sz="1400" dirty="0">
                <a:solidFill>
                  <a:srgbClr val="7F7F7F"/>
                </a:solidFill>
              </a:rPr>
              <a:t>Características</a:t>
            </a:r>
            <a:endParaRPr dirty="0">
              <a:solidFill>
                <a:srgbClr val="7F7F7F"/>
              </a:solidFill>
            </a:endParaRPr>
          </a:p>
        </p:txBody>
      </p:sp>
      <p:pic>
        <p:nvPicPr>
          <p:cNvPr id="134" name="Google Shape;134;p9"/>
          <p:cNvPicPr preferRelativeResize="0">
            <a:picLocks noGrp="1"/>
          </p:cNvPicPr>
          <p:nvPr>
            <p:ph type="pic" idx="2"/>
          </p:nvPr>
        </p:nvPicPr>
        <p:blipFill rotWithShape="1">
          <a:blip r:embed="rId3">
            <a:alphaModFix/>
          </a:blip>
          <a:srcRect l="19338" r="19339"/>
          <a:stretch/>
        </p:blipFill>
        <p:spPr>
          <a:xfrm>
            <a:off x="5372108" y="1396538"/>
            <a:ext cx="3162264" cy="34394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0"/>
          <p:cNvSpPr txBox="1">
            <a:spLocks noGrp="1"/>
          </p:cNvSpPr>
          <p:nvPr>
            <p:ph type="body" idx="1"/>
          </p:nvPr>
        </p:nvSpPr>
        <p:spPr>
          <a:xfrm>
            <a:off x="468313" y="810473"/>
            <a:ext cx="8207375" cy="354012"/>
          </a:xfrm>
          <a:prstGeom prst="rect">
            <a:avLst/>
          </a:prstGeom>
          <a:solidFill>
            <a:srgbClr val="FFFFCC"/>
          </a:solid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rgbClr val="3F3F3F"/>
              </a:buClr>
              <a:buSzPts val="1600"/>
              <a:buNone/>
            </a:pPr>
            <a:r>
              <a:rPr lang="es-ES" dirty="0"/>
              <a:t>PROCESOS DE SOPORTE, </a:t>
            </a:r>
            <a:r>
              <a:rPr lang="es-ES" sz="1400" dirty="0">
                <a:solidFill>
                  <a:srgbClr val="7F7F7F"/>
                </a:solidFill>
              </a:rPr>
              <a:t>Ejemplos</a:t>
            </a:r>
            <a:endParaRPr dirty="0">
              <a:solidFill>
                <a:srgbClr val="7F7F7F"/>
              </a:solidFill>
            </a:endParaRPr>
          </a:p>
        </p:txBody>
      </p:sp>
      <p:sp>
        <p:nvSpPr>
          <p:cNvPr id="141" name="Google Shape;141;p10"/>
          <p:cNvSpPr txBox="1">
            <a:spLocks noGrp="1"/>
          </p:cNvSpPr>
          <p:nvPr>
            <p:ph type="body" idx="2"/>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chemeClr val="lt1"/>
              </a:buClr>
              <a:buSzPts val="1800"/>
              <a:buNone/>
            </a:pPr>
            <a:r>
              <a:rPr lang="es-ES" dirty="0"/>
              <a:t>/ PROCESOS DE NEGOCIO</a:t>
            </a:r>
            <a:endParaRPr dirty="0"/>
          </a:p>
        </p:txBody>
      </p:sp>
      <p:sp>
        <p:nvSpPr>
          <p:cNvPr id="142" name="Google Shape;142;p10"/>
          <p:cNvSpPr txBox="1">
            <a:spLocks noGrp="1"/>
          </p:cNvSpPr>
          <p:nvPr>
            <p:ph type="body" idx="3"/>
          </p:nvPr>
        </p:nvSpPr>
        <p:spPr>
          <a:xfrm>
            <a:off x="468325" y="1174375"/>
            <a:ext cx="4176300" cy="4005300"/>
          </a:xfrm>
          <a:prstGeom prst="rect">
            <a:avLst/>
          </a:prstGeom>
          <a:solidFill>
            <a:srgbClr val="FFFFCC"/>
          </a:solidFill>
          <a:ln>
            <a:noFill/>
          </a:ln>
        </p:spPr>
        <p:txBody>
          <a:bodyPr spcFirstLastPara="1" wrap="square" lIns="91425" tIns="45700" rIns="91425" bIns="45700" anchor="t" anchorCtr="0">
            <a:noAutofit/>
          </a:bodyPr>
          <a:lstStyle/>
          <a:p>
            <a:pPr marL="176213" lvl="0" indent="-176213" algn="just" rtl="0">
              <a:lnSpc>
                <a:spcPct val="90000"/>
              </a:lnSpc>
              <a:spcBef>
                <a:spcPts val="0"/>
              </a:spcBef>
              <a:spcAft>
                <a:spcPts val="0"/>
              </a:spcAft>
              <a:buClr>
                <a:srgbClr val="3F3F3F"/>
              </a:buClr>
              <a:buSzPts val="1200"/>
              <a:buFont typeface="Noto Sans Symbols"/>
              <a:buChar char="❑"/>
            </a:pPr>
            <a:r>
              <a:rPr lang="es-ES" dirty="0"/>
              <a:t>En una Empresa Corporativa</a:t>
            </a:r>
            <a:endParaRPr dirty="0"/>
          </a:p>
          <a:p>
            <a:pPr marL="558800" lvl="1" indent="-285750" algn="l">
              <a:buFont typeface="Arial" panose="020B0604020202020204" pitchFamily="34" charset="0"/>
              <a:buChar char="•"/>
            </a:pPr>
            <a:r>
              <a:rPr lang="es-ES" dirty="0"/>
              <a:t>Reclutamiento y gestión de talento</a:t>
            </a:r>
            <a:endParaRPr dirty="0"/>
          </a:p>
          <a:p>
            <a:pPr marL="558800" lvl="1" indent="-285750" algn="l">
              <a:buFont typeface="Arial" panose="020B0604020202020204" pitchFamily="34" charset="0"/>
              <a:buChar char="•"/>
            </a:pPr>
            <a:r>
              <a:rPr lang="es-ES" dirty="0"/>
              <a:t>Procesos de compras y gestión de proveedores</a:t>
            </a:r>
            <a:endParaRPr dirty="0"/>
          </a:p>
          <a:p>
            <a:pPr marL="558800" lvl="1" indent="-285750" algn="l">
              <a:buFont typeface="Arial" panose="020B0604020202020204" pitchFamily="34" charset="0"/>
              <a:buChar char="•"/>
            </a:pPr>
            <a:r>
              <a:rPr lang="es-ES" dirty="0"/>
              <a:t>Mantenimiento de instalaciones</a:t>
            </a:r>
            <a:endParaRPr dirty="0"/>
          </a:p>
          <a:p>
            <a:pPr marL="176213" lvl="0" indent="-176213" algn="l" rtl="0">
              <a:lnSpc>
                <a:spcPct val="90000"/>
              </a:lnSpc>
              <a:spcBef>
                <a:spcPts val="600"/>
              </a:spcBef>
              <a:spcAft>
                <a:spcPts val="0"/>
              </a:spcAft>
              <a:buClr>
                <a:srgbClr val="3F3F3F"/>
              </a:buClr>
              <a:buSzPts val="1200"/>
              <a:buFont typeface="Noto Sans Symbols"/>
              <a:buChar char="❑"/>
            </a:pPr>
            <a:r>
              <a:rPr lang="es-ES" dirty="0"/>
              <a:t>En una Aerolínea</a:t>
            </a:r>
            <a:endParaRPr dirty="0"/>
          </a:p>
          <a:p>
            <a:pPr marL="558800" lvl="1" indent="-285750" algn="l">
              <a:buFont typeface="Arial" panose="020B0604020202020204" pitchFamily="34" charset="0"/>
              <a:buChar char="•"/>
            </a:pPr>
            <a:r>
              <a:rPr lang="es-ES" dirty="0"/>
              <a:t>Mantenimiento de aeronaves</a:t>
            </a:r>
            <a:endParaRPr dirty="0"/>
          </a:p>
          <a:p>
            <a:pPr marL="558800" lvl="1" indent="-285750" algn="l">
              <a:buFont typeface="Arial" panose="020B0604020202020204" pitchFamily="34" charset="0"/>
              <a:buChar char="•"/>
            </a:pPr>
            <a:r>
              <a:rPr lang="es-ES" dirty="0"/>
              <a:t>Programación de tripulación</a:t>
            </a:r>
          </a:p>
          <a:p>
            <a:pPr marL="558800" lvl="1" indent="-285750" algn="l">
              <a:buFont typeface="Arial" panose="020B0604020202020204" pitchFamily="34" charset="0"/>
              <a:buChar char="•"/>
            </a:pPr>
            <a:r>
              <a:rPr lang="es-PE" dirty="0"/>
              <a:t>Gestión de reservas (aunque podría argumentarse que esto también es operativo, dependiendo de la perspectiva)</a:t>
            </a:r>
          </a:p>
          <a:p>
            <a:pPr marL="176213" lvl="0" indent="-176213" algn="l" rtl="0">
              <a:lnSpc>
                <a:spcPct val="90000"/>
              </a:lnSpc>
              <a:spcBef>
                <a:spcPts val="600"/>
              </a:spcBef>
              <a:spcAft>
                <a:spcPts val="0"/>
              </a:spcAft>
              <a:buClr>
                <a:srgbClr val="3F3F3F"/>
              </a:buClr>
              <a:buSzPts val="1200"/>
              <a:buFont typeface="Noto Sans Symbols"/>
              <a:buChar char="❑"/>
            </a:pPr>
            <a:r>
              <a:rPr lang="es-PE" dirty="0"/>
              <a:t>En un Restaurante</a:t>
            </a:r>
          </a:p>
          <a:p>
            <a:pPr marL="558800" lvl="1" indent="-285750" algn="l">
              <a:buFont typeface="Arial" panose="020B0604020202020204" pitchFamily="34" charset="0"/>
              <a:buChar char="•"/>
            </a:pPr>
            <a:r>
              <a:rPr lang="es-ES" dirty="0"/>
              <a:t>Compra de insumos y gestión de inventario</a:t>
            </a:r>
            <a:endParaRPr dirty="0"/>
          </a:p>
          <a:p>
            <a:pPr marL="558800" lvl="1" indent="-285750" algn="l">
              <a:buFont typeface="Arial" panose="020B0604020202020204" pitchFamily="34" charset="0"/>
              <a:buChar char="•"/>
            </a:pPr>
            <a:r>
              <a:rPr lang="es-ES" dirty="0"/>
              <a:t>Limpieza y mantenimiento del local</a:t>
            </a:r>
            <a:endParaRPr dirty="0"/>
          </a:p>
          <a:p>
            <a:pPr marL="558800" lvl="1" indent="-285750" algn="l">
              <a:buFont typeface="Arial" panose="020B0604020202020204" pitchFamily="34" charset="0"/>
              <a:buChar char="•"/>
            </a:pPr>
            <a:r>
              <a:rPr lang="es-ES" dirty="0"/>
              <a:t>Capacitación del personal</a:t>
            </a:r>
            <a:endParaRPr dirty="0"/>
          </a:p>
        </p:txBody>
      </p:sp>
      <p:sp>
        <p:nvSpPr>
          <p:cNvPr id="143" name="Google Shape;143;p10"/>
          <p:cNvSpPr txBox="1">
            <a:spLocks noGrp="1"/>
          </p:cNvSpPr>
          <p:nvPr>
            <p:ph type="body" idx="3"/>
          </p:nvPr>
        </p:nvSpPr>
        <p:spPr>
          <a:xfrm>
            <a:off x="4644625" y="1174375"/>
            <a:ext cx="4031100" cy="4005300"/>
          </a:xfrm>
          <a:prstGeom prst="rect">
            <a:avLst/>
          </a:prstGeom>
          <a:solidFill>
            <a:srgbClr val="FFFFCC"/>
          </a:solidFill>
          <a:ln>
            <a:noFill/>
          </a:ln>
        </p:spPr>
        <p:txBody>
          <a:bodyPr spcFirstLastPara="1" wrap="square" lIns="91425" tIns="45700" rIns="91425" bIns="45700" anchor="t" anchorCtr="0">
            <a:noAutofit/>
          </a:bodyPr>
          <a:lstStyle/>
          <a:p>
            <a:pPr marL="176212" lvl="0" indent="-176212" algn="just" rtl="0">
              <a:lnSpc>
                <a:spcPct val="90000"/>
              </a:lnSpc>
              <a:spcBef>
                <a:spcPts val="600"/>
              </a:spcBef>
              <a:spcAft>
                <a:spcPts val="0"/>
              </a:spcAft>
              <a:buClr>
                <a:srgbClr val="3F3F3F"/>
              </a:buClr>
              <a:buSzPts val="1200"/>
              <a:buFont typeface="Noto Sans Symbols"/>
              <a:buChar char="❑"/>
            </a:pPr>
            <a:r>
              <a:rPr lang="es-ES" dirty="0"/>
              <a:t>En una Editorial</a:t>
            </a:r>
            <a:endParaRPr lang="es-PE" dirty="0"/>
          </a:p>
          <a:p>
            <a:pPr marL="558800" lvl="1" indent="-285750" algn="l">
              <a:buFont typeface="Arial" panose="020B0604020202020204" pitchFamily="34" charset="0"/>
              <a:buChar char="•"/>
            </a:pPr>
            <a:r>
              <a:rPr lang="es-PE" dirty="0"/>
              <a:t>Revisión de contratos y licencias</a:t>
            </a:r>
          </a:p>
          <a:p>
            <a:pPr marL="558800" lvl="1" indent="-285750" algn="l">
              <a:buFont typeface="Arial" panose="020B0604020202020204" pitchFamily="34" charset="0"/>
              <a:buChar char="•"/>
            </a:pPr>
            <a:r>
              <a:rPr lang="es-ES" dirty="0"/>
              <a:t>Gestión de relaciones con autores</a:t>
            </a:r>
            <a:endParaRPr dirty="0"/>
          </a:p>
          <a:p>
            <a:pPr marL="558800" lvl="1" indent="-285750" algn="l">
              <a:buFont typeface="Arial" panose="020B0604020202020204" pitchFamily="34" charset="0"/>
              <a:buChar char="•"/>
            </a:pPr>
            <a:r>
              <a:rPr lang="es-ES" dirty="0"/>
              <a:t>Almacenamiento y distribución</a:t>
            </a:r>
            <a:endParaRPr dirty="0"/>
          </a:p>
          <a:p>
            <a:pPr marL="176212" lvl="0" indent="-176212" algn="l" rtl="0">
              <a:lnSpc>
                <a:spcPct val="90000"/>
              </a:lnSpc>
              <a:spcBef>
                <a:spcPts val="600"/>
              </a:spcBef>
              <a:spcAft>
                <a:spcPts val="0"/>
              </a:spcAft>
              <a:buClr>
                <a:srgbClr val="3F3F3F"/>
              </a:buClr>
              <a:buSzPts val="1200"/>
              <a:buFont typeface="Noto Sans Symbols"/>
              <a:buChar char="❑"/>
            </a:pPr>
            <a:r>
              <a:rPr lang="es-ES" dirty="0"/>
              <a:t>En un Banco</a:t>
            </a:r>
            <a:endParaRPr dirty="0"/>
          </a:p>
          <a:p>
            <a:pPr marL="558800" lvl="1" indent="-285750" algn="l">
              <a:buFont typeface="Arial" panose="020B0604020202020204" pitchFamily="34" charset="0"/>
              <a:buChar char="•"/>
            </a:pPr>
            <a:r>
              <a:rPr lang="es-ES" dirty="0"/>
              <a:t>Cumplimiento normativo y de regulaciones</a:t>
            </a:r>
            <a:endParaRPr dirty="0"/>
          </a:p>
          <a:p>
            <a:pPr marL="558800" lvl="1" indent="-285750" algn="l">
              <a:buFont typeface="Arial" panose="020B0604020202020204" pitchFamily="34" charset="0"/>
              <a:buChar char="•"/>
            </a:pPr>
            <a:r>
              <a:rPr lang="es-ES" dirty="0"/>
              <a:t>Gestión de riesgos</a:t>
            </a:r>
            <a:endParaRPr dirty="0"/>
          </a:p>
          <a:p>
            <a:pPr marL="558800" lvl="1" indent="-285750" algn="l">
              <a:buFont typeface="Arial" panose="020B0604020202020204" pitchFamily="34" charset="0"/>
              <a:buChar char="•"/>
            </a:pPr>
            <a:r>
              <a:rPr lang="es-ES" dirty="0"/>
              <a:t>Auditoría interna</a:t>
            </a:r>
            <a:endParaRPr dirty="0"/>
          </a:p>
          <a:p>
            <a:pPr marL="176212" lvl="0" indent="-100012" algn="just" rtl="0">
              <a:lnSpc>
                <a:spcPct val="90000"/>
              </a:lnSpc>
              <a:spcBef>
                <a:spcPts val="600"/>
              </a:spcBef>
              <a:spcAft>
                <a:spcPts val="0"/>
              </a:spcAft>
              <a:buClr>
                <a:srgbClr val="3F3F3F"/>
              </a:buClr>
              <a:buSzPts val="1200"/>
              <a:buFont typeface="Noto Sans Symbols"/>
              <a:buNone/>
            </a:pPr>
            <a:endParaRPr dirty="0"/>
          </a:p>
        </p:txBody>
      </p:sp>
      <p:pic>
        <p:nvPicPr>
          <p:cNvPr id="144" name="Google Shape;144;p10"/>
          <p:cNvPicPr preferRelativeResize="0"/>
          <p:nvPr/>
        </p:nvPicPr>
        <p:blipFill rotWithShape="1">
          <a:blip r:embed="rId3">
            <a:alphaModFix/>
          </a:blip>
          <a:srcRect/>
          <a:stretch/>
        </p:blipFill>
        <p:spPr>
          <a:xfrm>
            <a:off x="6900445" y="3698009"/>
            <a:ext cx="1305507" cy="115133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1"/>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dirty="0">
                <a:solidFill>
                  <a:srgbClr val="0070C0"/>
                </a:solidFill>
              </a:rPr>
              <a:t>/ PROCESOS DE NEGOCIO</a:t>
            </a:r>
            <a:endParaRPr dirty="0"/>
          </a:p>
        </p:txBody>
      </p:sp>
      <p:pic>
        <p:nvPicPr>
          <p:cNvPr id="151" name="Google Shape;151;p11"/>
          <p:cNvPicPr preferRelativeResize="0">
            <a:picLocks noGrp="1"/>
          </p:cNvPicPr>
          <p:nvPr>
            <p:ph type="pic" idx="2"/>
          </p:nvPr>
        </p:nvPicPr>
        <p:blipFill rotWithShape="1">
          <a:blip r:embed="rId3">
            <a:alphaModFix/>
          </a:blip>
          <a:srcRect l="19673" r="19673"/>
          <a:stretch/>
        </p:blipFill>
        <p:spPr>
          <a:xfrm>
            <a:off x="4709738" y="863467"/>
            <a:ext cx="3666692" cy="3988065"/>
          </a:xfrm>
          <a:prstGeom prst="rect">
            <a:avLst/>
          </a:prstGeom>
          <a:noFill/>
          <a:ln>
            <a:noFill/>
          </a:ln>
        </p:spPr>
      </p:pic>
      <p:sp>
        <p:nvSpPr>
          <p:cNvPr id="152" name="Google Shape;152;p11"/>
          <p:cNvSpPr txBox="1">
            <a:spLocks noGrp="1"/>
          </p:cNvSpPr>
          <p:nvPr>
            <p:ph type="body" idx="4"/>
          </p:nvPr>
        </p:nvSpPr>
        <p:spPr>
          <a:xfrm>
            <a:off x="468314" y="1280160"/>
            <a:ext cx="3704676" cy="3778436"/>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Son aquellos que guían la organización en su conjunto y que permiten tomar decisiones estratégicas, planificar y asignar recursos, y garantizar que los objetivos se cumplan.</a:t>
            </a:r>
            <a:endParaRPr dirty="0"/>
          </a:p>
          <a:p>
            <a:pPr marL="266700" lvl="0" indent="-266700" algn="l" rtl="0">
              <a:lnSpc>
                <a:spcPct val="100000"/>
              </a:lnSpc>
              <a:spcBef>
                <a:spcPts val="1200"/>
              </a:spcBef>
              <a:spcAft>
                <a:spcPts val="0"/>
              </a:spcAft>
              <a:buClr>
                <a:schemeClr val="dk1"/>
              </a:buClr>
              <a:buSzPts val="1200"/>
              <a:buChar char="❑"/>
            </a:pPr>
            <a:r>
              <a:rPr lang="es-ES" dirty="0"/>
              <a:t>A diferencia de los procesos operativos y de soporte, los procesos de gestión se enfocan más en el “qué” y el “por qué” en lugar del “cómo”.</a:t>
            </a:r>
            <a:endParaRPr dirty="0"/>
          </a:p>
        </p:txBody>
      </p:sp>
      <p:sp>
        <p:nvSpPr>
          <p:cNvPr id="153" name="Google Shape;153;p11"/>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dirty="0"/>
              <a:t>PROCESOS DE GESTIÓN</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2"/>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dirty="0">
                <a:solidFill>
                  <a:srgbClr val="0070C0"/>
                </a:solidFill>
              </a:rPr>
              <a:t>/ PROCESOS DE NEGOCIO</a:t>
            </a:r>
            <a:endParaRPr dirty="0"/>
          </a:p>
        </p:txBody>
      </p:sp>
      <p:sp>
        <p:nvSpPr>
          <p:cNvPr id="160" name="Google Shape;160;p12"/>
          <p:cNvSpPr txBox="1">
            <a:spLocks noGrp="1"/>
          </p:cNvSpPr>
          <p:nvPr>
            <p:ph type="body" idx="4"/>
          </p:nvPr>
        </p:nvSpPr>
        <p:spPr>
          <a:xfrm>
            <a:off x="468313" y="1177927"/>
            <a:ext cx="4319818"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accent1"/>
              </a:buClr>
              <a:buSzPts val="1200"/>
              <a:buChar char="❑"/>
            </a:pPr>
            <a:r>
              <a:rPr lang="es-ES" b="1" dirty="0">
                <a:solidFill>
                  <a:schemeClr val="accent1"/>
                </a:solidFill>
              </a:rPr>
              <a:t>Orientados a la Estrategia:</a:t>
            </a:r>
            <a:endParaRPr dirty="0"/>
          </a:p>
          <a:p>
            <a:pPr marL="265113" lvl="1" indent="0" algn="l" rtl="0">
              <a:lnSpc>
                <a:spcPct val="100000"/>
              </a:lnSpc>
              <a:spcBef>
                <a:spcPts val="300"/>
              </a:spcBef>
              <a:spcAft>
                <a:spcPts val="0"/>
              </a:spcAft>
              <a:buClr>
                <a:schemeClr val="dk1"/>
              </a:buClr>
              <a:buSzPts val="1600"/>
              <a:buNone/>
            </a:pPr>
            <a:r>
              <a:rPr lang="es-ES" dirty="0"/>
              <a:t>Están centrados en definir y alcanzar los objetivos a largo plazo de la organización.</a:t>
            </a:r>
            <a:endParaRPr dirty="0"/>
          </a:p>
          <a:p>
            <a:pPr marL="266700" lvl="0" indent="-266700" algn="l" rtl="0">
              <a:lnSpc>
                <a:spcPct val="100000"/>
              </a:lnSpc>
              <a:spcBef>
                <a:spcPts val="1200"/>
              </a:spcBef>
              <a:spcAft>
                <a:spcPts val="0"/>
              </a:spcAft>
              <a:buClr>
                <a:schemeClr val="accent1"/>
              </a:buClr>
              <a:buSzPts val="1200"/>
              <a:buChar char="❑"/>
            </a:pPr>
            <a:r>
              <a:rPr lang="es-ES" b="1" dirty="0">
                <a:solidFill>
                  <a:schemeClr val="accent1"/>
                </a:solidFill>
              </a:rPr>
              <a:t>Toma de Decisiones:</a:t>
            </a:r>
            <a:endParaRPr dirty="0"/>
          </a:p>
          <a:p>
            <a:pPr marL="265113" lvl="1" indent="0" algn="l" rtl="0">
              <a:lnSpc>
                <a:spcPct val="100000"/>
              </a:lnSpc>
              <a:spcBef>
                <a:spcPts val="300"/>
              </a:spcBef>
              <a:spcAft>
                <a:spcPts val="0"/>
              </a:spcAft>
              <a:buClr>
                <a:schemeClr val="dk1"/>
              </a:buClr>
              <a:buSzPts val="1600"/>
              <a:buNone/>
            </a:pPr>
            <a:r>
              <a:rPr lang="es-ES" dirty="0"/>
              <a:t>Involucran una gran cantidad de toma de decisiones, a menudo con implicaciones a largo plazo.</a:t>
            </a:r>
            <a:endParaRPr dirty="0"/>
          </a:p>
          <a:p>
            <a:pPr marL="266700" lvl="0" indent="-266700" algn="l" rtl="0">
              <a:lnSpc>
                <a:spcPct val="100000"/>
              </a:lnSpc>
              <a:spcBef>
                <a:spcPts val="1200"/>
              </a:spcBef>
              <a:spcAft>
                <a:spcPts val="0"/>
              </a:spcAft>
              <a:buClr>
                <a:schemeClr val="accent1"/>
              </a:buClr>
              <a:buSzPts val="1200"/>
              <a:buChar char="❑"/>
            </a:pPr>
            <a:r>
              <a:rPr lang="es-ES" b="1" dirty="0">
                <a:solidFill>
                  <a:schemeClr val="accent1"/>
                </a:solidFill>
              </a:rPr>
              <a:t>Alto Nivel:</a:t>
            </a:r>
            <a:endParaRPr dirty="0"/>
          </a:p>
          <a:p>
            <a:pPr marL="265113" lvl="1" indent="0" algn="l" rtl="0">
              <a:lnSpc>
                <a:spcPct val="100000"/>
              </a:lnSpc>
              <a:spcBef>
                <a:spcPts val="300"/>
              </a:spcBef>
              <a:spcAft>
                <a:spcPts val="0"/>
              </a:spcAft>
              <a:buClr>
                <a:schemeClr val="dk1"/>
              </a:buClr>
              <a:buSzPts val="1600"/>
              <a:buNone/>
            </a:pPr>
            <a:r>
              <a:rPr lang="es-ES" dirty="0"/>
              <a:t>Por lo general, son llevados a cabo por los niveles más altos de la organización.</a:t>
            </a:r>
            <a:endParaRPr dirty="0"/>
          </a:p>
          <a:p>
            <a:pPr marL="266700" lvl="0" indent="-266700" algn="l" rtl="0">
              <a:lnSpc>
                <a:spcPct val="100000"/>
              </a:lnSpc>
              <a:spcBef>
                <a:spcPts val="1200"/>
              </a:spcBef>
              <a:spcAft>
                <a:spcPts val="0"/>
              </a:spcAft>
              <a:buClr>
                <a:schemeClr val="accent1"/>
              </a:buClr>
              <a:buSzPts val="1200"/>
              <a:buChar char="❑"/>
            </a:pPr>
            <a:r>
              <a:rPr lang="es-ES" b="1" dirty="0">
                <a:solidFill>
                  <a:schemeClr val="accent1"/>
                </a:solidFill>
              </a:rPr>
              <a:t>Impacto Transversal:</a:t>
            </a:r>
            <a:endParaRPr dirty="0"/>
          </a:p>
          <a:p>
            <a:pPr marL="265113" lvl="1" indent="0" algn="l" rtl="0">
              <a:lnSpc>
                <a:spcPct val="100000"/>
              </a:lnSpc>
              <a:spcBef>
                <a:spcPts val="300"/>
              </a:spcBef>
              <a:spcAft>
                <a:spcPts val="0"/>
              </a:spcAft>
              <a:buClr>
                <a:schemeClr val="dk1"/>
              </a:buClr>
              <a:buSzPts val="1600"/>
              <a:buNone/>
            </a:pPr>
            <a:r>
              <a:rPr lang="es-ES" dirty="0"/>
              <a:t>Las decisiones tomadas en estos procesos suelen afectar a toda la organización.</a:t>
            </a:r>
            <a:endParaRPr dirty="0"/>
          </a:p>
        </p:txBody>
      </p:sp>
      <p:sp>
        <p:nvSpPr>
          <p:cNvPr id="161" name="Google Shape;161;p12"/>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dirty="0"/>
              <a:t>PROCESOS DE GESTIÓN, </a:t>
            </a:r>
            <a:r>
              <a:rPr lang="es-ES" sz="1400" dirty="0">
                <a:solidFill>
                  <a:srgbClr val="7F7F7F"/>
                </a:solidFill>
              </a:rPr>
              <a:t>Características</a:t>
            </a:r>
            <a:endParaRPr dirty="0">
              <a:solidFill>
                <a:srgbClr val="7F7F7F"/>
              </a:solidFill>
            </a:endParaRPr>
          </a:p>
        </p:txBody>
      </p:sp>
      <p:pic>
        <p:nvPicPr>
          <p:cNvPr id="162" name="Google Shape;162;p12"/>
          <p:cNvPicPr preferRelativeResize="0">
            <a:picLocks noGrp="1"/>
          </p:cNvPicPr>
          <p:nvPr>
            <p:ph type="pic" idx="2"/>
          </p:nvPr>
        </p:nvPicPr>
        <p:blipFill rotWithShape="1">
          <a:blip r:embed="rId3">
            <a:alphaModFix/>
          </a:blip>
          <a:srcRect l="19338" r="19339"/>
          <a:stretch/>
        </p:blipFill>
        <p:spPr>
          <a:xfrm>
            <a:off x="5092001" y="1064028"/>
            <a:ext cx="3475621" cy="378024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3"/>
          <p:cNvSpPr txBox="1">
            <a:spLocks noGrp="1"/>
          </p:cNvSpPr>
          <p:nvPr>
            <p:ph type="body" idx="1"/>
          </p:nvPr>
        </p:nvSpPr>
        <p:spPr>
          <a:xfrm>
            <a:off x="468313" y="810473"/>
            <a:ext cx="8207375" cy="354012"/>
          </a:xfrm>
          <a:prstGeom prst="rect">
            <a:avLst/>
          </a:prstGeom>
          <a:solidFill>
            <a:srgbClr val="FFFFCC"/>
          </a:solid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rgbClr val="3F3F3F"/>
              </a:buClr>
              <a:buSzPts val="1600"/>
              <a:buNone/>
            </a:pPr>
            <a:r>
              <a:rPr lang="es-ES" dirty="0"/>
              <a:t>PROCESOS DE GESTIÓN, </a:t>
            </a:r>
            <a:r>
              <a:rPr lang="es-ES" sz="1400" dirty="0">
                <a:solidFill>
                  <a:srgbClr val="7F7F7F"/>
                </a:solidFill>
              </a:rPr>
              <a:t>Ejemplos</a:t>
            </a:r>
            <a:endParaRPr dirty="0">
              <a:solidFill>
                <a:srgbClr val="7F7F7F"/>
              </a:solidFill>
            </a:endParaRPr>
          </a:p>
        </p:txBody>
      </p:sp>
      <p:sp>
        <p:nvSpPr>
          <p:cNvPr id="169" name="Google Shape;169;p13"/>
          <p:cNvSpPr txBox="1">
            <a:spLocks noGrp="1"/>
          </p:cNvSpPr>
          <p:nvPr>
            <p:ph type="body" idx="2"/>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chemeClr val="lt1"/>
              </a:buClr>
              <a:buSzPts val="1800"/>
              <a:buNone/>
            </a:pPr>
            <a:r>
              <a:rPr lang="es-ES" dirty="0"/>
              <a:t>/ PROCESOS DE NEGOCIO</a:t>
            </a:r>
            <a:endParaRPr dirty="0"/>
          </a:p>
        </p:txBody>
      </p:sp>
      <p:sp>
        <p:nvSpPr>
          <p:cNvPr id="170" name="Google Shape;170;p13"/>
          <p:cNvSpPr txBox="1">
            <a:spLocks noGrp="1"/>
          </p:cNvSpPr>
          <p:nvPr>
            <p:ph type="body" idx="3"/>
          </p:nvPr>
        </p:nvSpPr>
        <p:spPr>
          <a:xfrm>
            <a:off x="468325" y="1174375"/>
            <a:ext cx="4451700" cy="4096200"/>
          </a:xfrm>
          <a:prstGeom prst="rect">
            <a:avLst/>
          </a:prstGeom>
          <a:solidFill>
            <a:srgbClr val="FFFFCC"/>
          </a:solidFill>
          <a:ln>
            <a:noFill/>
          </a:ln>
        </p:spPr>
        <p:txBody>
          <a:bodyPr spcFirstLastPara="1" wrap="square" lIns="91425" tIns="45700" rIns="91425" bIns="45700" anchor="t" anchorCtr="0">
            <a:noAutofit/>
          </a:bodyPr>
          <a:lstStyle/>
          <a:p>
            <a:pPr marL="176213" lvl="0" indent="-176213" algn="just" rtl="0">
              <a:lnSpc>
                <a:spcPct val="90000"/>
              </a:lnSpc>
              <a:spcBef>
                <a:spcPts val="0"/>
              </a:spcBef>
              <a:spcAft>
                <a:spcPts val="0"/>
              </a:spcAft>
              <a:buSzPts val="1200"/>
              <a:buChar char="❑"/>
            </a:pPr>
            <a:r>
              <a:rPr lang="es-ES" dirty="0"/>
              <a:t>En una Empresa de Tecnología</a:t>
            </a:r>
            <a:endParaRPr dirty="0"/>
          </a:p>
          <a:p>
            <a:pPr marL="558802" lvl="1" indent="-285750" algn="l">
              <a:buFont typeface="Arial" panose="020B0604020202020204" pitchFamily="34" charset="0"/>
              <a:buChar char="•"/>
            </a:pPr>
            <a:r>
              <a:rPr lang="es-PE" sz="1300" dirty="0"/>
              <a:t>Definición de misiones y campañas</a:t>
            </a:r>
          </a:p>
          <a:p>
            <a:pPr marL="558000" lvl="1" indent="-285750" algn="l">
              <a:buFont typeface="Arial" panose="020B0604020202020204" pitchFamily="34" charset="0"/>
              <a:buChar char="•"/>
            </a:pPr>
            <a:r>
              <a:rPr lang="es-PE" sz="1300" dirty="0"/>
              <a:t>Planificación estratégica (por ejemplo, decidir entrar en nuevos mercados o lanzar nuevos productos)</a:t>
            </a:r>
          </a:p>
          <a:p>
            <a:pPr marL="558000" lvl="1" indent="-285750" algn="l">
              <a:buFont typeface="Arial" panose="020B0604020202020204" pitchFamily="34" charset="0"/>
              <a:buChar char="•"/>
            </a:pPr>
            <a:r>
              <a:rPr lang="es-PE" sz="1300" dirty="0"/>
              <a:t>Gestión de cartera de proyectos (decidir qué proyectos financiar y cuáles posponer o cancelar)</a:t>
            </a:r>
          </a:p>
          <a:p>
            <a:pPr marL="558000" lvl="1" indent="-285750" algn="l">
              <a:buFont typeface="Arial" panose="020B0604020202020204" pitchFamily="34" charset="0"/>
              <a:buChar char="•"/>
            </a:pPr>
            <a:r>
              <a:rPr lang="es-PE" sz="1300" dirty="0"/>
              <a:t>Gobernanza de la organización (estructura organizativa, políticas, etc.)</a:t>
            </a:r>
          </a:p>
          <a:p>
            <a:pPr marL="176213" lvl="0" indent="-176213" algn="l" rtl="0">
              <a:lnSpc>
                <a:spcPct val="90000"/>
              </a:lnSpc>
              <a:spcBef>
                <a:spcPts val="600"/>
              </a:spcBef>
              <a:spcAft>
                <a:spcPts val="0"/>
              </a:spcAft>
              <a:buClr>
                <a:srgbClr val="3F3F3F"/>
              </a:buClr>
              <a:buSzPts val="1200"/>
              <a:buFont typeface="Noto Sans Symbols"/>
              <a:buChar char="❑"/>
            </a:pPr>
            <a:r>
              <a:rPr lang="es-ES" dirty="0"/>
              <a:t>En una ONG</a:t>
            </a:r>
            <a:endParaRPr dirty="0"/>
          </a:p>
          <a:p>
            <a:pPr marL="558800" lvl="1" indent="-285750" algn="l">
              <a:buFont typeface="Arial" panose="020B0604020202020204" pitchFamily="34" charset="0"/>
              <a:buChar char="•"/>
            </a:pPr>
            <a:r>
              <a:rPr lang="es-ES" sz="1300" dirty="0"/>
              <a:t>Definición de misiones y campañas</a:t>
            </a:r>
            <a:endParaRPr sz="1300" dirty="0"/>
          </a:p>
          <a:p>
            <a:pPr marL="558800" lvl="1" indent="-285750" algn="l">
              <a:buFont typeface="Arial" panose="020B0604020202020204" pitchFamily="34" charset="0"/>
              <a:buChar char="•"/>
            </a:pPr>
            <a:r>
              <a:rPr lang="es-ES" sz="1300" dirty="0"/>
              <a:t>Captación y asignación de fondos</a:t>
            </a:r>
            <a:endParaRPr sz="1300" dirty="0"/>
          </a:p>
          <a:p>
            <a:pPr marL="558800" lvl="1" indent="-285750" algn="l">
              <a:buFont typeface="Arial" panose="020B0604020202020204" pitchFamily="34" charset="0"/>
              <a:buChar char="•"/>
            </a:pPr>
            <a:r>
              <a:rPr lang="es-ES" sz="1300" dirty="0"/>
              <a:t>Evaluación del impacto de las intervenciones</a:t>
            </a:r>
            <a:endParaRPr sz="1300" dirty="0"/>
          </a:p>
          <a:p>
            <a:pPr marL="176213" lvl="0" indent="-176213" algn="l" rtl="0">
              <a:lnSpc>
                <a:spcPct val="90000"/>
              </a:lnSpc>
              <a:spcBef>
                <a:spcPts val="600"/>
              </a:spcBef>
              <a:spcAft>
                <a:spcPts val="0"/>
              </a:spcAft>
              <a:buClr>
                <a:srgbClr val="3F3F3F"/>
              </a:buClr>
              <a:buSzPts val="1200"/>
              <a:buFont typeface="Noto Sans Symbols"/>
              <a:buChar char="❑"/>
            </a:pPr>
            <a:r>
              <a:rPr lang="es-ES" dirty="0"/>
              <a:t>En un Gobierno Local</a:t>
            </a:r>
            <a:endParaRPr dirty="0"/>
          </a:p>
          <a:p>
            <a:pPr marL="558800" lvl="1" indent="-285750" algn="l">
              <a:buFont typeface="Arial" panose="020B0604020202020204" pitchFamily="34" charset="0"/>
              <a:buChar char="•"/>
            </a:pPr>
            <a:r>
              <a:rPr lang="es-ES" sz="1300" dirty="0"/>
              <a:t>Planificación urbanística</a:t>
            </a:r>
            <a:endParaRPr sz="1300" dirty="0"/>
          </a:p>
          <a:p>
            <a:pPr marL="558800" lvl="1" indent="-285750" algn="l">
              <a:buFont typeface="Arial" panose="020B0604020202020204" pitchFamily="34" charset="0"/>
              <a:buChar char="•"/>
            </a:pPr>
            <a:r>
              <a:rPr lang="es-ES" sz="1300" dirty="0"/>
              <a:t>Distribución del presupuesto público</a:t>
            </a:r>
            <a:endParaRPr sz="1300" dirty="0"/>
          </a:p>
          <a:p>
            <a:pPr marL="558800" lvl="1" indent="-285750" algn="l">
              <a:buFont typeface="Arial" panose="020B0604020202020204" pitchFamily="34" charset="0"/>
              <a:buChar char="•"/>
            </a:pPr>
            <a:r>
              <a:rPr lang="es-ES" sz="1300" dirty="0"/>
              <a:t>Políticas de desarrollo sostenible</a:t>
            </a:r>
            <a:endParaRPr sz="1300" dirty="0"/>
          </a:p>
        </p:txBody>
      </p:sp>
      <p:sp>
        <p:nvSpPr>
          <p:cNvPr id="171" name="Google Shape;171;p13"/>
          <p:cNvSpPr txBox="1">
            <a:spLocks noGrp="1"/>
          </p:cNvSpPr>
          <p:nvPr>
            <p:ph type="body" idx="3"/>
          </p:nvPr>
        </p:nvSpPr>
        <p:spPr>
          <a:xfrm>
            <a:off x="4920025" y="1174375"/>
            <a:ext cx="3755700" cy="4096200"/>
          </a:xfrm>
          <a:prstGeom prst="rect">
            <a:avLst/>
          </a:prstGeom>
          <a:solidFill>
            <a:srgbClr val="FFFFCC"/>
          </a:solidFill>
          <a:ln>
            <a:noFill/>
          </a:ln>
        </p:spPr>
        <p:txBody>
          <a:bodyPr spcFirstLastPara="1" wrap="square" lIns="91425" tIns="45700" rIns="91425" bIns="45700" anchor="t" anchorCtr="0">
            <a:noAutofit/>
          </a:bodyPr>
          <a:lstStyle/>
          <a:p>
            <a:pPr marL="176212" lvl="0" indent="-176212" algn="l" rtl="0">
              <a:lnSpc>
                <a:spcPct val="90000"/>
              </a:lnSpc>
              <a:spcBef>
                <a:spcPts val="600"/>
              </a:spcBef>
              <a:spcAft>
                <a:spcPts val="0"/>
              </a:spcAft>
              <a:buClr>
                <a:srgbClr val="3F3F3F"/>
              </a:buClr>
              <a:buSzPts val="1200"/>
              <a:buFont typeface="Noto Sans Symbols"/>
              <a:buChar char="❑"/>
            </a:pPr>
            <a:r>
              <a:rPr lang="es-ES" dirty="0"/>
              <a:t>En una Institución Educativa</a:t>
            </a:r>
            <a:endParaRPr dirty="0"/>
          </a:p>
          <a:p>
            <a:pPr marL="558801" lvl="1" indent="-285750" algn="l">
              <a:buFont typeface="Arial" panose="020B0604020202020204" pitchFamily="34" charset="0"/>
              <a:buChar char="•"/>
            </a:pPr>
            <a:r>
              <a:rPr lang="es-ES" sz="1300" dirty="0"/>
              <a:t>Diseño o modificación de currículos</a:t>
            </a:r>
            <a:endParaRPr sz="1300" dirty="0"/>
          </a:p>
          <a:p>
            <a:pPr marL="558000" lvl="1" indent="-285750" algn="l">
              <a:buFont typeface="Arial" panose="020B0604020202020204" pitchFamily="34" charset="0"/>
              <a:buChar char="•"/>
            </a:pPr>
            <a:r>
              <a:rPr lang="es-ES" sz="1300" dirty="0"/>
              <a:t>Establecimiento de asociaciones con otras instituciones</a:t>
            </a:r>
            <a:endParaRPr sz="1300" dirty="0"/>
          </a:p>
          <a:p>
            <a:pPr marL="558801" lvl="1" indent="-285750" algn="l">
              <a:buFont typeface="Arial" panose="020B0604020202020204" pitchFamily="34" charset="0"/>
              <a:buChar char="•"/>
            </a:pPr>
            <a:r>
              <a:rPr lang="es-ES" sz="1300" dirty="0"/>
              <a:t>Definición de políticas de admisión y becas</a:t>
            </a:r>
            <a:endParaRPr sz="1300" dirty="0"/>
          </a:p>
          <a:p>
            <a:pPr marL="176212" lvl="0" indent="-176212" algn="l" rtl="0">
              <a:lnSpc>
                <a:spcPct val="90000"/>
              </a:lnSpc>
              <a:spcBef>
                <a:spcPts val="600"/>
              </a:spcBef>
              <a:spcAft>
                <a:spcPts val="0"/>
              </a:spcAft>
              <a:buClr>
                <a:srgbClr val="3F3F3F"/>
              </a:buClr>
              <a:buSzPts val="1200"/>
              <a:buFont typeface="Noto Sans Symbols"/>
              <a:buChar char="❑"/>
            </a:pPr>
            <a:r>
              <a:rPr lang="es-ES" dirty="0"/>
              <a:t>En un Hospital</a:t>
            </a:r>
            <a:endParaRPr dirty="0"/>
          </a:p>
          <a:p>
            <a:pPr marL="558800" lvl="1" indent="-285750" algn="l">
              <a:buFont typeface="Arial" panose="020B0604020202020204" pitchFamily="34" charset="0"/>
              <a:buChar char="•"/>
            </a:pPr>
            <a:r>
              <a:rPr lang="es-ES" sz="1300" dirty="0"/>
              <a:t>Planificación de servicios de salud a largo plazo</a:t>
            </a:r>
            <a:endParaRPr sz="1300" dirty="0"/>
          </a:p>
          <a:p>
            <a:pPr marL="558800" lvl="1" indent="-285750" algn="l">
              <a:buFont typeface="Arial" panose="020B0604020202020204" pitchFamily="34" charset="0"/>
              <a:buChar char="•"/>
            </a:pPr>
            <a:r>
              <a:rPr lang="es-ES" sz="1300" dirty="0"/>
              <a:t>Comités éticos para prácticas médicas</a:t>
            </a:r>
            <a:endParaRPr sz="1300" dirty="0"/>
          </a:p>
          <a:p>
            <a:pPr marL="558800" lvl="1" indent="-285750" algn="l">
              <a:buFont typeface="Arial" panose="020B0604020202020204" pitchFamily="34" charset="0"/>
              <a:buChar char="•"/>
            </a:pPr>
            <a:r>
              <a:rPr lang="es-ES" sz="1300" dirty="0"/>
              <a:t>Evaluación y acreditación de calidad</a:t>
            </a:r>
            <a:endParaRPr sz="1300" dirty="0"/>
          </a:p>
          <a:p>
            <a:pPr marL="176212" lvl="0" indent="-100012" algn="just" rtl="0">
              <a:lnSpc>
                <a:spcPct val="90000"/>
              </a:lnSpc>
              <a:spcBef>
                <a:spcPts val="600"/>
              </a:spcBef>
              <a:spcAft>
                <a:spcPts val="0"/>
              </a:spcAft>
              <a:buClr>
                <a:srgbClr val="3F3F3F"/>
              </a:buClr>
              <a:buSzPts val="1200"/>
              <a:buFont typeface="Noto Sans Symbols"/>
              <a:buNone/>
            </a:pPr>
            <a:endParaRPr dirty="0"/>
          </a:p>
        </p:txBody>
      </p:sp>
      <p:pic>
        <p:nvPicPr>
          <p:cNvPr id="172" name="Google Shape;172;p13"/>
          <p:cNvPicPr preferRelativeResize="0"/>
          <p:nvPr/>
        </p:nvPicPr>
        <p:blipFill rotWithShape="1">
          <a:blip r:embed="rId3">
            <a:alphaModFix/>
          </a:blip>
          <a:srcRect/>
          <a:stretch/>
        </p:blipFill>
        <p:spPr>
          <a:xfrm>
            <a:off x="6469421" y="3881469"/>
            <a:ext cx="1082262" cy="102305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4"/>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dirty="0"/>
              <a:t>BUSINESS PROCESS MANAGEMENT</a:t>
            </a:r>
            <a:endParaRPr dirty="0"/>
          </a:p>
        </p:txBody>
      </p:sp>
      <p:sp>
        <p:nvSpPr>
          <p:cNvPr id="179" name="Google Shape;179;p14"/>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dirty="0">
                <a:solidFill>
                  <a:srgbClr val="0070C0"/>
                </a:solidFill>
              </a:rPr>
              <a:t>/ PROCESOS DE NEGOCIO</a:t>
            </a:r>
            <a:endParaRPr dirty="0"/>
          </a:p>
        </p:txBody>
      </p:sp>
      <p:sp>
        <p:nvSpPr>
          <p:cNvPr id="180" name="Google Shape;180;p14"/>
          <p:cNvSpPr txBox="1">
            <a:spLocks noGrp="1"/>
          </p:cNvSpPr>
          <p:nvPr>
            <p:ph type="body" idx="4"/>
          </p:nvPr>
        </p:nvSpPr>
        <p:spPr>
          <a:xfrm>
            <a:off x="626255" y="1213513"/>
            <a:ext cx="4103687" cy="3811687"/>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La Gestión de Procesos de Negocio (BPM) es una disciplina que involucra la </a:t>
            </a:r>
            <a:r>
              <a:rPr lang="es-ES" b="1" dirty="0"/>
              <a:t>identificación</a:t>
            </a:r>
            <a:r>
              <a:rPr lang="es-ES" dirty="0"/>
              <a:t>, </a:t>
            </a:r>
            <a:r>
              <a:rPr lang="es-ES" b="1" dirty="0"/>
              <a:t>diseño</a:t>
            </a:r>
            <a:r>
              <a:rPr lang="es-ES" dirty="0"/>
              <a:t>, </a:t>
            </a:r>
            <a:r>
              <a:rPr lang="es-ES" b="1" dirty="0"/>
              <a:t>documentación</a:t>
            </a:r>
            <a:r>
              <a:rPr lang="es-ES" dirty="0"/>
              <a:t>, </a:t>
            </a:r>
            <a:r>
              <a:rPr lang="es-ES" b="1" dirty="0"/>
              <a:t>implementación</a:t>
            </a:r>
            <a:r>
              <a:rPr lang="es-ES" dirty="0"/>
              <a:t>, </a:t>
            </a:r>
            <a:r>
              <a:rPr lang="es-ES" b="1" dirty="0"/>
              <a:t>monitoreo y control</a:t>
            </a:r>
            <a:r>
              <a:rPr lang="es-ES" dirty="0"/>
              <a:t> de los procesos de negocio para lograr una </a:t>
            </a:r>
            <a:r>
              <a:rPr lang="es-ES" b="1" dirty="0"/>
              <a:t>mejora continua</a:t>
            </a:r>
            <a:r>
              <a:rPr lang="es-ES" dirty="0"/>
              <a:t> y </a:t>
            </a:r>
            <a:r>
              <a:rPr lang="es-ES" b="1" dirty="0"/>
              <a:t>consistente</a:t>
            </a:r>
            <a:r>
              <a:rPr lang="es-ES" dirty="0"/>
              <a:t> en la eficiencia y eficacia de la organización.</a:t>
            </a:r>
            <a:endParaRPr dirty="0"/>
          </a:p>
          <a:p>
            <a:pPr marL="266700" lvl="0" indent="-266700" algn="l" rtl="0">
              <a:lnSpc>
                <a:spcPct val="100000"/>
              </a:lnSpc>
              <a:spcBef>
                <a:spcPts val="1200"/>
              </a:spcBef>
              <a:spcAft>
                <a:spcPts val="0"/>
              </a:spcAft>
              <a:buClr>
                <a:schemeClr val="dk1"/>
              </a:buClr>
              <a:buSzPts val="1200"/>
              <a:buChar char="❑"/>
            </a:pPr>
            <a:r>
              <a:rPr lang="es-ES" dirty="0"/>
              <a:t>Se basa en la idea de que los procesos de negocio </a:t>
            </a:r>
            <a:r>
              <a:rPr lang="es-ES" b="1" dirty="0"/>
              <a:t>son activos</a:t>
            </a:r>
            <a:r>
              <a:rPr lang="es-ES" dirty="0"/>
              <a:t> de una organización que deben ser entendidos, gestionados y desarrollados para anunciar valor y permitir a la organización alcanzar sus objetivos.</a:t>
            </a:r>
            <a:endParaRPr dirty="0"/>
          </a:p>
        </p:txBody>
      </p:sp>
      <p:pic>
        <p:nvPicPr>
          <p:cNvPr id="181" name="Google Shape;181;p14"/>
          <p:cNvPicPr preferRelativeResize="0">
            <a:picLocks noGrp="1"/>
          </p:cNvPicPr>
          <p:nvPr>
            <p:ph type="pic" idx="2"/>
          </p:nvPr>
        </p:nvPicPr>
        <p:blipFill rotWithShape="1">
          <a:blip r:embed="rId3">
            <a:alphaModFix/>
          </a:blip>
          <a:srcRect t="372" b="374"/>
          <a:stretch/>
        </p:blipFill>
        <p:spPr>
          <a:xfrm>
            <a:off x="5062495" y="1095324"/>
            <a:ext cx="3613192" cy="392987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5"/>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dirty="0"/>
              <a:t>PRINCIPIOS BPM</a:t>
            </a:r>
            <a:endParaRPr dirty="0"/>
          </a:p>
        </p:txBody>
      </p:sp>
      <p:sp>
        <p:nvSpPr>
          <p:cNvPr id="188" name="Google Shape;188;p15"/>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dirty="0">
                <a:solidFill>
                  <a:srgbClr val="0070C0"/>
                </a:solidFill>
              </a:rPr>
              <a:t>/ PROCESOS DE NEGOCIO</a:t>
            </a:r>
            <a:endParaRPr dirty="0"/>
          </a:p>
        </p:txBody>
      </p:sp>
      <p:sp>
        <p:nvSpPr>
          <p:cNvPr id="189" name="Google Shape;189;p15"/>
          <p:cNvSpPr txBox="1">
            <a:spLocks noGrp="1"/>
          </p:cNvSpPr>
          <p:nvPr>
            <p:ph type="body" idx="4"/>
          </p:nvPr>
        </p:nvSpPr>
        <p:spPr>
          <a:xfrm>
            <a:off x="468313" y="1177927"/>
            <a:ext cx="4328131"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BPM se basa en varios </a:t>
            </a:r>
            <a:r>
              <a:rPr lang="es-ES" b="1" dirty="0"/>
              <a:t>principios fundamentales</a:t>
            </a:r>
            <a:r>
              <a:rPr lang="es-ES" dirty="0"/>
              <a:t> que buscan mejorar la eficiencia, la efectividad y la agilidad de los procesos en una organización.</a:t>
            </a:r>
            <a:endParaRPr dirty="0"/>
          </a:p>
          <a:p>
            <a:pPr marL="266700" lvl="0" indent="-266700" algn="l" rtl="0">
              <a:lnSpc>
                <a:spcPct val="100000"/>
              </a:lnSpc>
              <a:spcBef>
                <a:spcPts val="600"/>
              </a:spcBef>
              <a:spcAft>
                <a:spcPts val="0"/>
              </a:spcAft>
              <a:buClr>
                <a:schemeClr val="dk1"/>
              </a:buClr>
              <a:buSzPts val="1200"/>
              <a:buChar char="❑"/>
            </a:pPr>
            <a:r>
              <a:rPr lang="es-ES" dirty="0"/>
              <a:t>Los principales, son:</a:t>
            </a:r>
            <a:endParaRPr dirty="0"/>
          </a:p>
          <a:p>
            <a:pPr marL="531813" lvl="1" indent="-265113" algn="l" rtl="0">
              <a:lnSpc>
                <a:spcPct val="100000"/>
              </a:lnSpc>
              <a:spcBef>
                <a:spcPts val="600"/>
              </a:spcBef>
              <a:spcAft>
                <a:spcPts val="0"/>
              </a:spcAft>
              <a:buClr>
                <a:schemeClr val="dk1"/>
              </a:buClr>
              <a:buSzPts val="1600"/>
              <a:buChar char="→"/>
            </a:pPr>
            <a:r>
              <a:rPr lang="es-ES" dirty="0"/>
              <a:t>Enfoque en el cliente</a:t>
            </a:r>
            <a:endParaRPr dirty="0"/>
          </a:p>
          <a:p>
            <a:pPr marL="531813" lvl="1" indent="-265113" algn="l" rtl="0">
              <a:lnSpc>
                <a:spcPct val="100000"/>
              </a:lnSpc>
              <a:spcBef>
                <a:spcPts val="600"/>
              </a:spcBef>
              <a:spcAft>
                <a:spcPts val="0"/>
              </a:spcAft>
              <a:buClr>
                <a:schemeClr val="dk1"/>
              </a:buClr>
              <a:buSzPts val="1600"/>
              <a:buChar char="→"/>
            </a:pPr>
            <a:r>
              <a:rPr lang="es-ES" dirty="0"/>
              <a:t>Orientación a los procesos</a:t>
            </a:r>
            <a:endParaRPr dirty="0"/>
          </a:p>
          <a:p>
            <a:pPr marL="531813" lvl="1" indent="-265113" algn="l" rtl="0">
              <a:lnSpc>
                <a:spcPct val="100000"/>
              </a:lnSpc>
              <a:spcBef>
                <a:spcPts val="600"/>
              </a:spcBef>
              <a:spcAft>
                <a:spcPts val="0"/>
              </a:spcAft>
              <a:buClr>
                <a:schemeClr val="dk1"/>
              </a:buClr>
              <a:buSzPts val="1600"/>
              <a:buChar char="→"/>
            </a:pPr>
            <a:r>
              <a:rPr lang="es-ES" dirty="0"/>
              <a:t>Mejora continua</a:t>
            </a:r>
            <a:endParaRPr dirty="0"/>
          </a:p>
          <a:p>
            <a:pPr marL="531813" lvl="1" indent="-265113" algn="l" rtl="0">
              <a:lnSpc>
                <a:spcPct val="100000"/>
              </a:lnSpc>
              <a:spcBef>
                <a:spcPts val="600"/>
              </a:spcBef>
              <a:spcAft>
                <a:spcPts val="0"/>
              </a:spcAft>
              <a:buClr>
                <a:schemeClr val="dk1"/>
              </a:buClr>
              <a:buSzPts val="1600"/>
              <a:buChar char="→"/>
            </a:pPr>
            <a:r>
              <a:rPr lang="es-ES" dirty="0"/>
              <a:t>Participación y colaboración</a:t>
            </a:r>
            <a:endParaRPr dirty="0"/>
          </a:p>
          <a:p>
            <a:pPr marL="531813" lvl="1" indent="-265113" algn="l" rtl="0">
              <a:lnSpc>
                <a:spcPct val="100000"/>
              </a:lnSpc>
              <a:spcBef>
                <a:spcPts val="600"/>
              </a:spcBef>
              <a:spcAft>
                <a:spcPts val="0"/>
              </a:spcAft>
              <a:buClr>
                <a:schemeClr val="dk1"/>
              </a:buClr>
              <a:buSzPts val="1600"/>
              <a:buChar char="→"/>
            </a:pPr>
            <a:r>
              <a:rPr lang="es-ES" dirty="0"/>
              <a:t>Automatización y tecnología</a:t>
            </a:r>
            <a:endParaRPr dirty="0"/>
          </a:p>
          <a:p>
            <a:pPr marL="531813" lvl="1" indent="-265113" algn="l" rtl="0">
              <a:lnSpc>
                <a:spcPct val="100000"/>
              </a:lnSpc>
              <a:spcBef>
                <a:spcPts val="600"/>
              </a:spcBef>
              <a:spcAft>
                <a:spcPts val="0"/>
              </a:spcAft>
              <a:buClr>
                <a:schemeClr val="dk1"/>
              </a:buClr>
              <a:buSzPts val="1600"/>
              <a:buChar char="→"/>
            </a:pPr>
            <a:r>
              <a:rPr lang="es-ES" dirty="0"/>
              <a:t>Medición y análisis</a:t>
            </a:r>
            <a:endParaRPr dirty="0"/>
          </a:p>
          <a:p>
            <a:pPr marL="531813" lvl="1" indent="-265113" algn="l" rtl="0">
              <a:lnSpc>
                <a:spcPct val="100000"/>
              </a:lnSpc>
              <a:spcBef>
                <a:spcPts val="600"/>
              </a:spcBef>
              <a:spcAft>
                <a:spcPts val="0"/>
              </a:spcAft>
              <a:buClr>
                <a:schemeClr val="dk1"/>
              </a:buClr>
              <a:buSzPts val="1600"/>
              <a:buChar char="→"/>
            </a:pPr>
            <a:r>
              <a:rPr lang="es-ES" dirty="0"/>
              <a:t>Flexibilidad y agilidad</a:t>
            </a:r>
            <a:endParaRPr dirty="0"/>
          </a:p>
          <a:p>
            <a:pPr marL="531813" lvl="1" indent="-265113" algn="l" rtl="0">
              <a:lnSpc>
                <a:spcPct val="100000"/>
              </a:lnSpc>
              <a:spcBef>
                <a:spcPts val="600"/>
              </a:spcBef>
              <a:spcAft>
                <a:spcPts val="0"/>
              </a:spcAft>
              <a:buClr>
                <a:schemeClr val="dk1"/>
              </a:buClr>
              <a:buSzPts val="1600"/>
              <a:buChar char="→"/>
            </a:pPr>
            <a:r>
              <a:rPr lang="es-ES" dirty="0"/>
              <a:t>Gestión del cambio</a:t>
            </a:r>
            <a:endParaRPr dirty="0"/>
          </a:p>
        </p:txBody>
      </p:sp>
      <p:pic>
        <p:nvPicPr>
          <p:cNvPr id="190" name="Google Shape;190;p15"/>
          <p:cNvPicPr preferRelativeResize="0">
            <a:picLocks noGrp="1"/>
          </p:cNvPicPr>
          <p:nvPr>
            <p:ph type="pic" idx="2"/>
          </p:nvPr>
        </p:nvPicPr>
        <p:blipFill rotWithShape="1">
          <a:blip r:embed="rId3">
            <a:alphaModFix/>
          </a:blip>
          <a:srcRect t="372" b="374"/>
          <a:stretch/>
        </p:blipFill>
        <p:spPr>
          <a:xfrm>
            <a:off x="5062450" y="1163638"/>
            <a:ext cx="3505172" cy="381238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6"/>
          <p:cNvSpPr/>
          <p:nvPr/>
        </p:nvSpPr>
        <p:spPr>
          <a:xfrm>
            <a:off x="0" y="0"/>
            <a:ext cx="9144000" cy="5715000"/>
          </a:xfrm>
          <a:prstGeom prst="rect">
            <a:avLst/>
          </a:prstGeom>
          <a:solidFill>
            <a:srgbClr val="1F85A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dirty="0">
              <a:solidFill>
                <a:schemeClr val="lt1"/>
              </a:solidFill>
              <a:latin typeface="Calibri"/>
              <a:ea typeface="Calibri"/>
              <a:cs typeface="Calibri"/>
              <a:sym typeface="Calibri"/>
            </a:endParaRPr>
          </a:p>
        </p:txBody>
      </p:sp>
      <p:sp>
        <p:nvSpPr>
          <p:cNvPr id="197" name="Google Shape;197;p16"/>
          <p:cNvSpPr/>
          <p:nvPr/>
        </p:nvSpPr>
        <p:spPr>
          <a:xfrm>
            <a:off x="424252" y="3703125"/>
            <a:ext cx="7966170" cy="523180"/>
          </a:xfrm>
          <a:prstGeom prst="rect">
            <a:avLst/>
          </a:prstGeom>
          <a:noFill/>
          <a:ln>
            <a:noFill/>
          </a:ln>
        </p:spPr>
        <p:txBody>
          <a:bodyPr spcFirstLastPara="1" wrap="square" lIns="91425" tIns="45700" rIns="91425" bIns="45700" anchor="t" anchorCtr="0">
            <a:spAutoFit/>
          </a:bodyPr>
          <a:lstStyle/>
          <a:p>
            <a:pPr marL="274638" marR="0" lvl="0" indent="-274638" algn="l" rtl="0">
              <a:lnSpc>
                <a:spcPct val="100000"/>
              </a:lnSpc>
              <a:spcBef>
                <a:spcPts val="0"/>
              </a:spcBef>
              <a:spcAft>
                <a:spcPts val="0"/>
              </a:spcAft>
              <a:buClr>
                <a:srgbClr val="000000"/>
              </a:buClr>
              <a:buSzPts val="2800"/>
              <a:buFont typeface="Arial"/>
              <a:buNone/>
            </a:pPr>
            <a:r>
              <a:rPr lang="es-ES" sz="2800" b="1" i="0" u="none" strike="noStrike" cap="none" dirty="0">
                <a:solidFill>
                  <a:schemeClr val="lt1"/>
                </a:solidFill>
                <a:latin typeface="Calibri"/>
                <a:ea typeface="Calibri"/>
                <a:cs typeface="Calibri"/>
                <a:sym typeface="Calibri"/>
              </a:rPr>
              <a:t>/	MODELADO BPM</a:t>
            </a:r>
            <a:endParaRPr sz="2800" b="1" i="0" u="none" strike="noStrike" cap="none" dirty="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7"/>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dirty="0"/>
              <a:t>¿QUÉ ES?</a:t>
            </a:r>
            <a:endParaRPr dirty="0"/>
          </a:p>
        </p:txBody>
      </p:sp>
      <p:sp>
        <p:nvSpPr>
          <p:cNvPr id="204" name="Google Shape;204;p17"/>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0" lvl="0" indent="0" algn="l" rtl="0">
              <a:lnSpc>
                <a:spcPct val="100000"/>
              </a:lnSpc>
              <a:spcBef>
                <a:spcPts val="0"/>
              </a:spcBef>
              <a:spcAft>
                <a:spcPts val="0"/>
              </a:spcAft>
              <a:buClr>
                <a:srgbClr val="0070C0"/>
              </a:buClr>
              <a:buSzPts val="1800"/>
              <a:buNone/>
            </a:pPr>
            <a:r>
              <a:rPr lang="es-ES" b="0" dirty="0">
                <a:solidFill>
                  <a:srgbClr val="0070C0"/>
                </a:solidFill>
              </a:rPr>
              <a:t>/ MODELADO BPM</a:t>
            </a:r>
            <a:endParaRPr b="0" dirty="0">
              <a:solidFill>
                <a:srgbClr val="0070C0"/>
              </a:solidFill>
            </a:endParaRPr>
          </a:p>
        </p:txBody>
      </p:sp>
      <p:sp>
        <p:nvSpPr>
          <p:cNvPr id="205" name="Google Shape;205;p17"/>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El modelado BPM es una herramienta para la gestión de procesos empresariales, ya que permite </a:t>
            </a:r>
            <a:r>
              <a:rPr lang="es-ES" b="1" dirty="0"/>
              <a:t>representar visualmente los procesos</a:t>
            </a:r>
            <a:r>
              <a:rPr lang="es-ES" dirty="0"/>
              <a:t>, identificar áreas de mejora, </a:t>
            </a:r>
            <a:r>
              <a:rPr lang="es-ES" b="1" dirty="0"/>
              <a:t>analizar y optimizar los procesos</a:t>
            </a:r>
            <a:r>
              <a:rPr lang="es-ES" dirty="0"/>
              <a:t>, controlar y hacer seguimiento de los mismos, facilitar el cambio y utilizar un </a:t>
            </a:r>
            <a:r>
              <a:rPr lang="es-ES" b="1" dirty="0"/>
              <a:t>estándar de notación</a:t>
            </a:r>
            <a:r>
              <a:rPr lang="es-ES" dirty="0"/>
              <a:t> para la representación de los procesos.</a:t>
            </a:r>
            <a:endParaRPr dirty="0"/>
          </a:p>
          <a:p>
            <a:pPr marL="266700" lvl="0" indent="-266700" algn="l" rtl="0">
              <a:lnSpc>
                <a:spcPct val="100000"/>
              </a:lnSpc>
              <a:spcBef>
                <a:spcPts val="1200"/>
              </a:spcBef>
              <a:spcAft>
                <a:spcPts val="0"/>
              </a:spcAft>
              <a:buClr>
                <a:schemeClr val="dk1"/>
              </a:buClr>
              <a:buSzPts val="1200"/>
              <a:buChar char="❑"/>
            </a:pPr>
            <a:r>
              <a:rPr lang="es-ES" dirty="0"/>
              <a:t>En el modelado BPM, la información y los documentos son utilizados por los autores, lo que genera un flujo de cómo se llevan a cabo las actividades, desde su inicio hasta lograr el objetivo del proceso.</a:t>
            </a:r>
            <a:endParaRPr dirty="0"/>
          </a:p>
        </p:txBody>
      </p:sp>
      <p:pic>
        <p:nvPicPr>
          <p:cNvPr id="206" name="Google Shape;206;p17"/>
          <p:cNvPicPr preferRelativeResize="0">
            <a:picLocks noGrp="1"/>
          </p:cNvPicPr>
          <p:nvPr>
            <p:ph type="pic" idx="2"/>
          </p:nvPr>
        </p:nvPicPr>
        <p:blipFill rotWithShape="1">
          <a:blip r:embed="rId3">
            <a:alphaModFix/>
          </a:blip>
          <a:srcRect t="318" b="317"/>
          <a:stretch/>
        </p:blipFill>
        <p:spPr>
          <a:xfrm>
            <a:off x="4958328" y="971533"/>
            <a:ext cx="3467978" cy="377193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8"/>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dirty="0"/>
              <a:t>FUNCIONES BPM</a:t>
            </a:r>
            <a:endParaRPr dirty="0"/>
          </a:p>
        </p:txBody>
      </p:sp>
      <p:sp>
        <p:nvSpPr>
          <p:cNvPr id="213" name="Google Shape;213;p18"/>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0" lvl="0" indent="0" algn="l" rtl="0">
              <a:lnSpc>
                <a:spcPct val="100000"/>
              </a:lnSpc>
              <a:spcBef>
                <a:spcPts val="0"/>
              </a:spcBef>
              <a:spcAft>
                <a:spcPts val="0"/>
              </a:spcAft>
              <a:buClr>
                <a:srgbClr val="0070C0"/>
              </a:buClr>
              <a:buSzPts val="1800"/>
              <a:buNone/>
            </a:pPr>
            <a:r>
              <a:rPr lang="es-ES" b="0" dirty="0">
                <a:solidFill>
                  <a:srgbClr val="0070C0"/>
                </a:solidFill>
              </a:rPr>
              <a:t>/ MODELADO BPM</a:t>
            </a:r>
            <a:endParaRPr b="0" dirty="0">
              <a:solidFill>
                <a:srgbClr val="0070C0"/>
              </a:solidFill>
            </a:endParaRPr>
          </a:p>
        </p:txBody>
      </p:sp>
      <p:sp>
        <p:nvSpPr>
          <p:cNvPr id="214" name="Google Shape;214;p18"/>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El modelado BPM tiene varias funciones importantes en la gestión de procesos empresariales, algunas de las cuales se detallan a continuación:</a:t>
            </a:r>
            <a:endParaRPr dirty="0"/>
          </a:p>
          <a:p>
            <a:pPr marL="531813" lvl="1" indent="-265113" algn="l" rtl="0">
              <a:lnSpc>
                <a:spcPct val="100000"/>
              </a:lnSpc>
              <a:spcBef>
                <a:spcPts val="1200"/>
              </a:spcBef>
              <a:spcAft>
                <a:spcPts val="0"/>
              </a:spcAft>
              <a:buClr>
                <a:schemeClr val="dk1"/>
              </a:buClr>
              <a:buSzPts val="1600"/>
              <a:buChar char="→"/>
            </a:pPr>
            <a:r>
              <a:rPr lang="es-ES" dirty="0"/>
              <a:t>Representación visual</a:t>
            </a:r>
            <a:endParaRPr dirty="0"/>
          </a:p>
          <a:p>
            <a:pPr marL="531813" lvl="1" indent="-265113" algn="l" rtl="0">
              <a:lnSpc>
                <a:spcPct val="100000"/>
              </a:lnSpc>
              <a:spcBef>
                <a:spcPts val="1200"/>
              </a:spcBef>
              <a:spcAft>
                <a:spcPts val="0"/>
              </a:spcAft>
              <a:buClr>
                <a:schemeClr val="dk1"/>
              </a:buClr>
              <a:buSzPts val="1600"/>
              <a:buChar char="→"/>
            </a:pPr>
            <a:r>
              <a:rPr lang="es-ES" dirty="0"/>
              <a:t>Identificación de áreas de mejora</a:t>
            </a:r>
            <a:endParaRPr dirty="0"/>
          </a:p>
          <a:p>
            <a:pPr marL="531813" lvl="1" indent="-265113" algn="l" rtl="0">
              <a:lnSpc>
                <a:spcPct val="100000"/>
              </a:lnSpc>
              <a:spcBef>
                <a:spcPts val="1200"/>
              </a:spcBef>
              <a:spcAft>
                <a:spcPts val="0"/>
              </a:spcAft>
              <a:buClr>
                <a:schemeClr val="dk1"/>
              </a:buClr>
              <a:buSzPts val="1600"/>
              <a:buChar char="→"/>
            </a:pPr>
            <a:r>
              <a:rPr lang="es-ES" dirty="0"/>
              <a:t>Análisis y optimización</a:t>
            </a:r>
            <a:endParaRPr dirty="0"/>
          </a:p>
          <a:p>
            <a:pPr marL="531813" lvl="1" indent="-265113" algn="l" rtl="0">
              <a:lnSpc>
                <a:spcPct val="100000"/>
              </a:lnSpc>
              <a:spcBef>
                <a:spcPts val="1200"/>
              </a:spcBef>
              <a:spcAft>
                <a:spcPts val="0"/>
              </a:spcAft>
              <a:buClr>
                <a:schemeClr val="dk1"/>
              </a:buClr>
              <a:buSzPts val="1600"/>
              <a:buChar char="→"/>
            </a:pPr>
            <a:r>
              <a:rPr lang="es-ES" dirty="0"/>
              <a:t>Control y seguimiento</a:t>
            </a:r>
            <a:endParaRPr dirty="0"/>
          </a:p>
          <a:p>
            <a:pPr marL="531813" lvl="1" indent="-265113" algn="l" rtl="0">
              <a:lnSpc>
                <a:spcPct val="100000"/>
              </a:lnSpc>
              <a:spcBef>
                <a:spcPts val="1200"/>
              </a:spcBef>
              <a:spcAft>
                <a:spcPts val="0"/>
              </a:spcAft>
              <a:buClr>
                <a:schemeClr val="dk1"/>
              </a:buClr>
              <a:buSzPts val="1600"/>
              <a:buChar char="→"/>
            </a:pPr>
            <a:r>
              <a:rPr lang="es-ES" dirty="0"/>
              <a:t>Facilitación del cambio</a:t>
            </a:r>
            <a:endParaRPr dirty="0"/>
          </a:p>
          <a:p>
            <a:pPr marL="531813" lvl="1" indent="-265113" algn="l" rtl="0">
              <a:lnSpc>
                <a:spcPct val="100000"/>
              </a:lnSpc>
              <a:spcBef>
                <a:spcPts val="1200"/>
              </a:spcBef>
              <a:spcAft>
                <a:spcPts val="0"/>
              </a:spcAft>
              <a:buClr>
                <a:schemeClr val="dk1"/>
              </a:buClr>
              <a:buSzPts val="1600"/>
              <a:buChar char="→"/>
            </a:pPr>
            <a:r>
              <a:rPr lang="es-ES" dirty="0"/>
              <a:t>Estándar de notación</a:t>
            </a:r>
            <a:endParaRPr dirty="0"/>
          </a:p>
        </p:txBody>
      </p:sp>
      <p:pic>
        <p:nvPicPr>
          <p:cNvPr id="215" name="Google Shape;215;p18"/>
          <p:cNvPicPr preferRelativeResize="0">
            <a:picLocks noGrp="1"/>
          </p:cNvPicPr>
          <p:nvPr>
            <p:ph type="pic" idx="2"/>
          </p:nvPr>
        </p:nvPicPr>
        <p:blipFill rotWithShape="1">
          <a:blip r:embed="rId3">
            <a:alphaModFix/>
          </a:blip>
          <a:srcRect l="118" r="118"/>
          <a:stretch/>
        </p:blipFill>
        <p:spPr>
          <a:xfrm>
            <a:off x="4914086" y="809626"/>
            <a:ext cx="3437406" cy="373868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9"/>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0" lvl="0" indent="0" algn="l" rtl="0">
              <a:lnSpc>
                <a:spcPct val="100000"/>
              </a:lnSpc>
              <a:spcBef>
                <a:spcPts val="0"/>
              </a:spcBef>
              <a:spcAft>
                <a:spcPts val="0"/>
              </a:spcAft>
              <a:buClr>
                <a:srgbClr val="0070C0"/>
              </a:buClr>
              <a:buSzPts val="1800"/>
              <a:buNone/>
            </a:pPr>
            <a:r>
              <a:rPr lang="es-ES" b="0" dirty="0">
                <a:solidFill>
                  <a:srgbClr val="0070C0"/>
                </a:solidFill>
              </a:rPr>
              <a:t>/ MODELADO BPM</a:t>
            </a:r>
            <a:endParaRPr b="0" dirty="0">
              <a:solidFill>
                <a:srgbClr val="0070C0"/>
              </a:solidFill>
            </a:endParaRPr>
          </a:p>
        </p:txBody>
      </p:sp>
      <p:sp>
        <p:nvSpPr>
          <p:cNvPr id="222" name="Google Shape;222;p19"/>
          <p:cNvSpPr txBox="1">
            <a:spLocks noGrp="1"/>
          </p:cNvSpPr>
          <p:nvPr>
            <p:ph type="body" idx="4"/>
          </p:nvPr>
        </p:nvSpPr>
        <p:spPr>
          <a:xfrm>
            <a:off x="468313" y="1177927"/>
            <a:ext cx="4494385"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accent1"/>
              </a:buClr>
              <a:buSzPts val="1200"/>
              <a:buChar char="❑"/>
            </a:pPr>
            <a:r>
              <a:rPr lang="es-ES" b="1" i="1" dirty="0">
                <a:solidFill>
                  <a:schemeClr val="accent1"/>
                </a:solidFill>
              </a:rPr>
              <a:t>Actividades</a:t>
            </a:r>
            <a:r>
              <a:rPr lang="es-ES" dirty="0"/>
              <a:t>: Las tareas específicas que se deben realizar en un proceso.</a:t>
            </a:r>
            <a:endParaRPr dirty="0"/>
          </a:p>
          <a:p>
            <a:pPr marL="266700" lvl="0" indent="-266700" algn="l" rtl="0">
              <a:lnSpc>
                <a:spcPct val="100000"/>
              </a:lnSpc>
              <a:spcBef>
                <a:spcPts val="600"/>
              </a:spcBef>
              <a:spcAft>
                <a:spcPts val="0"/>
              </a:spcAft>
              <a:buClr>
                <a:schemeClr val="accent1"/>
              </a:buClr>
              <a:buSzPts val="1200"/>
              <a:buChar char="❑"/>
            </a:pPr>
            <a:r>
              <a:rPr lang="es-ES" b="1" i="1" dirty="0">
                <a:solidFill>
                  <a:schemeClr val="accent1"/>
                </a:solidFill>
              </a:rPr>
              <a:t>Roles</a:t>
            </a:r>
            <a:r>
              <a:rPr lang="es-ES" dirty="0"/>
              <a:t>: Los responsables de llevar a cabo cada actividad.</a:t>
            </a:r>
            <a:endParaRPr dirty="0"/>
          </a:p>
          <a:p>
            <a:pPr marL="266700" lvl="0" indent="-266700" algn="l" rtl="0">
              <a:lnSpc>
                <a:spcPct val="100000"/>
              </a:lnSpc>
              <a:spcBef>
                <a:spcPts val="600"/>
              </a:spcBef>
              <a:spcAft>
                <a:spcPts val="0"/>
              </a:spcAft>
              <a:buClr>
                <a:schemeClr val="accent1"/>
              </a:buClr>
              <a:buSzPts val="1200"/>
              <a:buChar char="❑"/>
            </a:pPr>
            <a:r>
              <a:rPr lang="es-ES" b="1" i="1" dirty="0">
                <a:solidFill>
                  <a:schemeClr val="accent1"/>
                </a:solidFill>
              </a:rPr>
              <a:t>Flujos</a:t>
            </a:r>
            <a:r>
              <a:rPr lang="es-ES" dirty="0"/>
              <a:t> </a:t>
            </a:r>
            <a:r>
              <a:rPr lang="es-ES" b="1" i="1" dirty="0">
                <a:solidFill>
                  <a:schemeClr val="accent1"/>
                </a:solidFill>
              </a:rPr>
              <a:t>de</a:t>
            </a:r>
            <a:r>
              <a:rPr lang="es-ES" dirty="0"/>
              <a:t> </a:t>
            </a:r>
            <a:r>
              <a:rPr lang="es-ES" b="1" i="1" dirty="0">
                <a:solidFill>
                  <a:schemeClr val="accent1"/>
                </a:solidFill>
              </a:rPr>
              <a:t>Trabajo</a:t>
            </a:r>
            <a:r>
              <a:rPr lang="es-ES" dirty="0"/>
              <a:t>: Las secuencias en las que se realizan las actividades y cómo se pasan los resultados de una a otra.</a:t>
            </a:r>
            <a:endParaRPr dirty="0"/>
          </a:p>
          <a:p>
            <a:pPr marL="266700" lvl="0" indent="-266700" algn="l" rtl="0">
              <a:lnSpc>
                <a:spcPct val="100000"/>
              </a:lnSpc>
              <a:spcBef>
                <a:spcPts val="600"/>
              </a:spcBef>
              <a:spcAft>
                <a:spcPts val="0"/>
              </a:spcAft>
              <a:buClr>
                <a:schemeClr val="accent1"/>
              </a:buClr>
              <a:buSzPts val="1200"/>
              <a:buChar char="❑"/>
            </a:pPr>
            <a:r>
              <a:rPr lang="es-ES" b="1" i="1" dirty="0">
                <a:solidFill>
                  <a:schemeClr val="accent1"/>
                </a:solidFill>
              </a:rPr>
              <a:t>Decisiones</a:t>
            </a:r>
            <a:r>
              <a:rPr lang="es-ES" dirty="0"/>
              <a:t>: Puntos en los que se deben tomar decisiones que afectan al curso del proceso.</a:t>
            </a:r>
            <a:endParaRPr dirty="0"/>
          </a:p>
          <a:p>
            <a:pPr marL="266700" lvl="0" indent="-266700" algn="l" rtl="0">
              <a:lnSpc>
                <a:spcPct val="100000"/>
              </a:lnSpc>
              <a:spcBef>
                <a:spcPts val="600"/>
              </a:spcBef>
              <a:spcAft>
                <a:spcPts val="0"/>
              </a:spcAft>
              <a:buClr>
                <a:schemeClr val="accent1"/>
              </a:buClr>
              <a:buSzPts val="1200"/>
              <a:buChar char="❑"/>
            </a:pPr>
            <a:r>
              <a:rPr lang="es-ES" b="1" i="1" dirty="0">
                <a:solidFill>
                  <a:schemeClr val="accent1"/>
                </a:solidFill>
              </a:rPr>
              <a:t>Datos</a:t>
            </a:r>
            <a:r>
              <a:rPr lang="es-ES" dirty="0"/>
              <a:t>: Los elementos de información que se usan y generan durante el proceso.</a:t>
            </a:r>
            <a:endParaRPr dirty="0"/>
          </a:p>
          <a:p>
            <a:pPr marL="266700" lvl="0" indent="-266700" algn="l" rtl="0">
              <a:lnSpc>
                <a:spcPct val="100000"/>
              </a:lnSpc>
              <a:spcBef>
                <a:spcPts val="600"/>
              </a:spcBef>
              <a:spcAft>
                <a:spcPts val="0"/>
              </a:spcAft>
              <a:buClr>
                <a:schemeClr val="accent1"/>
              </a:buClr>
              <a:buSzPts val="1200"/>
              <a:buChar char="❑"/>
            </a:pPr>
            <a:r>
              <a:rPr lang="es-ES" b="1" i="1" dirty="0">
                <a:solidFill>
                  <a:schemeClr val="accent1"/>
                </a:solidFill>
              </a:rPr>
              <a:t>Eventos</a:t>
            </a:r>
            <a:r>
              <a:rPr lang="es-ES" dirty="0"/>
              <a:t>: Factores que inician, alteran o concluyen un proceso.</a:t>
            </a:r>
            <a:endParaRPr dirty="0"/>
          </a:p>
        </p:txBody>
      </p:sp>
      <p:pic>
        <p:nvPicPr>
          <p:cNvPr id="223" name="Google Shape;223;p19"/>
          <p:cNvPicPr preferRelativeResize="0">
            <a:picLocks noGrp="1"/>
          </p:cNvPicPr>
          <p:nvPr>
            <p:ph type="pic" idx="2"/>
          </p:nvPr>
        </p:nvPicPr>
        <p:blipFill rotWithShape="1">
          <a:blip r:embed="rId3">
            <a:alphaModFix/>
          </a:blip>
          <a:srcRect t="372" b="374"/>
          <a:stretch/>
        </p:blipFill>
        <p:spPr>
          <a:xfrm>
            <a:off x="4962698" y="937744"/>
            <a:ext cx="3530110" cy="3839512"/>
          </a:xfrm>
          <a:prstGeom prst="rect">
            <a:avLst/>
          </a:prstGeom>
          <a:noFill/>
          <a:ln>
            <a:noFill/>
          </a:ln>
        </p:spPr>
      </p:pic>
      <p:sp>
        <p:nvSpPr>
          <p:cNvPr id="224" name="Google Shape;224;p19"/>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dirty="0"/>
              <a:t>ELEMENTOS COMUNES</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0"/>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0" lvl="0" indent="0" algn="l" rtl="0">
              <a:lnSpc>
                <a:spcPct val="100000"/>
              </a:lnSpc>
              <a:spcBef>
                <a:spcPts val="0"/>
              </a:spcBef>
              <a:spcAft>
                <a:spcPts val="0"/>
              </a:spcAft>
              <a:buClr>
                <a:srgbClr val="0070C0"/>
              </a:buClr>
              <a:buSzPts val="1800"/>
              <a:buNone/>
            </a:pPr>
            <a:r>
              <a:rPr lang="es-ES" b="0" dirty="0">
                <a:solidFill>
                  <a:srgbClr val="0070C0"/>
                </a:solidFill>
              </a:rPr>
              <a:t>/ MODELADO BPM</a:t>
            </a:r>
            <a:endParaRPr b="0" dirty="0">
              <a:solidFill>
                <a:srgbClr val="0070C0"/>
              </a:solidFill>
            </a:endParaRPr>
          </a:p>
        </p:txBody>
      </p:sp>
      <p:pic>
        <p:nvPicPr>
          <p:cNvPr id="231" name="Google Shape;231;p20"/>
          <p:cNvPicPr preferRelativeResize="0">
            <a:picLocks noGrp="1"/>
          </p:cNvPicPr>
          <p:nvPr>
            <p:ph type="pic" idx="2"/>
          </p:nvPr>
        </p:nvPicPr>
        <p:blipFill rotWithShape="1">
          <a:blip r:embed="rId3">
            <a:alphaModFix/>
          </a:blip>
          <a:srcRect t="372" b="374"/>
          <a:stretch/>
        </p:blipFill>
        <p:spPr>
          <a:xfrm>
            <a:off x="4974162" y="1271847"/>
            <a:ext cx="3269263" cy="3555803"/>
          </a:xfrm>
          <a:prstGeom prst="rect">
            <a:avLst/>
          </a:prstGeom>
          <a:noFill/>
          <a:ln>
            <a:noFill/>
          </a:ln>
        </p:spPr>
      </p:pic>
      <p:sp>
        <p:nvSpPr>
          <p:cNvPr id="232" name="Google Shape;232;p20"/>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dirty="0"/>
              <a:t>HERRAMIENTAS Y TÉCNICAS</a:t>
            </a:r>
            <a:endParaRPr dirty="0"/>
          </a:p>
        </p:txBody>
      </p:sp>
      <p:sp>
        <p:nvSpPr>
          <p:cNvPr id="233" name="Google Shape;233;p20"/>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accent1"/>
              </a:buClr>
              <a:buSzPts val="1200"/>
              <a:buChar char="❑"/>
            </a:pPr>
            <a:r>
              <a:rPr lang="es-ES" b="1" i="1" dirty="0">
                <a:solidFill>
                  <a:schemeClr val="accent1"/>
                </a:solidFill>
              </a:rPr>
              <a:t>BPMN (Business Process Model and Notation)</a:t>
            </a:r>
            <a:r>
              <a:rPr lang="es-ES" dirty="0"/>
              <a:t>: Es uno de los estándares más populares para el modelado de procesos de negocio. Permite una notación gráfica fácil de entender, abarcando desde procesos muy sencillos hasta flujos de trabajo muy complejos.</a:t>
            </a:r>
            <a:endParaRPr dirty="0"/>
          </a:p>
          <a:p>
            <a:pPr marL="266700" lvl="0" indent="-266700" algn="l" rtl="0">
              <a:lnSpc>
                <a:spcPct val="100000"/>
              </a:lnSpc>
              <a:spcBef>
                <a:spcPts val="1200"/>
              </a:spcBef>
              <a:spcAft>
                <a:spcPts val="0"/>
              </a:spcAft>
              <a:buClr>
                <a:schemeClr val="accent1"/>
              </a:buClr>
              <a:buSzPts val="1200"/>
              <a:buChar char="❑"/>
            </a:pPr>
            <a:r>
              <a:rPr lang="es-ES" b="1" i="1" dirty="0">
                <a:solidFill>
                  <a:schemeClr val="accent1"/>
                </a:solidFill>
              </a:rPr>
              <a:t>Flujogramas</a:t>
            </a:r>
            <a:r>
              <a:rPr lang="es-ES" dirty="0"/>
              <a:t>: Son más simples que el BPMN y se utilizan generalmente para procesos menos complicados.</a:t>
            </a:r>
            <a:endParaRPr dirty="0"/>
          </a:p>
          <a:p>
            <a:pPr marL="266700" lvl="0" indent="-266700" algn="l" rtl="0">
              <a:lnSpc>
                <a:spcPct val="100000"/>
              </a:lnSpc>
              <a:spcBef>
                <a:spcPts val="1200"/>
              </a:spcBef>
              <a:spcAft>
                <a:spcPts val="0"/>
              </a:spcAft>
              <a:buClr>
                <a:schemeClr val="accent1"/>
              </a:buClr>
              <a:buSzPts val="1200"/>
              <a:buChar char="❑"/>
            </a:pPr>
            <a:r>
              <a:rPr lang="es-ES" b="1" i="1" dirty="0">
                <a:solidFill>
                  <a:schemeClr val="accent1"/>
                </a:solidFill>
              </a:rPr>
              <a:t>Software</a:t>
            </a:r>
            <a:r>
              <a:rPr lang="es-ES" dirty="0"/>
              <a:t> </a:t>
            </a:r>
            <a:r>
              <a:rPr lang="es-ES" b="1" i="1" dirty="0">
                <a:solidFill>
                  <a:schemeClr val="accent1"/>
                </a:solidFill>
              </a:rPr>
              <a:t>Específico</a:t>
            </a:r>
            <a:r>
              <a:rPr lang="es-ES" dirty="0"/>
              <a:t>: Existen herramientas de software diseñadas para facilitar el modelado BPM, como Bizagi, Signavio, y muchas otras.</a:t>
            </a:r>
            <a:endParaRPr dirty="0"/>
          </a:p>
          <a:p>
            <a:pPr marL="266700" lvl="0" indent="-190500" algn="just" rtl="0">
              <a:lnSpc>
                <a:spcPct val="100000"/>
              </a:lnSpc>
              <a:spcBef>
                <a:spcPts val="1200"/>
              </a:spcBef>
              <a:spcAft>
                <a:spcPts val="0"/>
              </a:spcAft>
              <a:buClr>
                <a:schemeClr val="dk1"/>
              </a:buClr>
              <a:buSzPts val="1200"/>
              <a:buFont typeface="Noto Sans Symbols"/>
              <a:buNone/>
            </a:pP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1"/>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0" lvl="0" indent="0" algn="l" rtl="0">
              <a:lnSpc>
                <a:spcPct val="100000"/>
              </a:lnSpc>
              <a:spcBef>
                <a:spcPts val="0"/>
              </a:spcBef>
              <a:spcAft>
                <a:spcPts val="0"/>
              </a:spcAft>
              <a:buClr>
                <a:srgbClr val="0070C0"/>
              </a:buClr>
              <a:buSzPts val="1800"/>
              <a:buNone/>
            </a:pPr>
            <a:r>
              <a:rPr lang="es-ES" b="0" dirty="0">
                <a:solidFill>
                  <a:srgbClr val="0070C0"/>
                </a:solidFill>
              </a:rPr>
              <a:t>/ MODELADO BPM</a:t>
            </a:r>
            <a:endParaRPr b="0" dirty="0">
              <a:solidFill>
                <a:srgbClr val="0070C0"/>
              </a:solidFill>
            </a:endParaRPr>
          </a:p>
        </p:txBody>
      </p:sp>
      <p:pic>
        <p:nvPicPr>
          <p:cNvPr id="240" name="Google Shape;240;p21"/>
          <p:cNvPicPr preferRelativeResize="0">
            <a:picLocks noGrp="1"/>
          </p:cNvPicPr>
          <p:nvPr>
            <p:ph type="pic" idx="2"/>
          </p:nvPr>
        </p:nvPicPr>
        <p:blipFill rotWithShape="1">
          <a:blip r:embed="rId3">
            <a:alphaModFix/>
          </a:blip>
          <a:srcRect l="19338" r="19339"/>
          <a:stretch/>
        </p:blipFill>
        <p:spPr>
          <a:xfrm>
            <a:off x="5186272" y="1263533"/>
            <a:ext cx="3223407" cy="3505927"/>
          </a:xfrm>
          <a:prstGeom prst="rect">
            <a:avLst/>
          </a:prstGeom>
          <a:noFill/>
          <a:ln>
            <a:noFill/>
          </a:ln>
        </p:spPr>
      </p:pic>
      <p:sp>
        <p:nvSpPr>
          <p:cNvPr id="241" name="Google Shape;241;p21"/>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dirty="0"/>
              <a:t>IMPORTANCIA</a:t>
            </a:r>
            <a:endParaRPr dirty="0"/>
          </a:p>
        </p:txBody>
      </p:sp>
      <p:sp>
        <p:nvSpPr>
          <p:cNvPr id="242" name="Google Shape;242;p21"/>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accent1"/>
              </a:buClr>
              <a:buSzPts val="1200"/>
              <a:buChar char="❑"/>
            </a:pPr>
            <a:r>
              <a:rPr lang="es-ES" b="1" i="1" dirty="0">
                <a:solidFill>
                  <a:schemeClr val="accent1"/>
                </a:solidFill>
              </a:rPr>
              <a:t>Comprensión Clara</a:t>
            </a:r>
            <a:r>
              <a:rPr lang="es-ES" dirty="0"/>
              <a:t>: Ayuda a entender cómo funciona un proceso en detalle, esencial para cualquier intento de mejora.</a:t>
            </a:r>
            <a:endParaRPr dirty="0"/>
          </a:p>
          <a:p>
            <a:pPr marL="266700" lvl="0" indent="-266700" algn="l" rtl="0">
              <a:lnSpc>
                <a:spcPct val="100000"/>
              </a:lnSpc>
              <a:spcBef>
                <a:spcPts val="1200"/>
              </a:spcBef>
              <a:spcAft>
                <a:spcPts val="0"/>
              </a:spcAft>
              <a:buClr>
                <a:schemeClr val="accent1"/>
              </a:buClr>
              <a:buSzPts val="1200"/>
              <a:buChar char="❑"/>
            </a:pPr>
            <a:r>
              <a:rPr lang="es-ES" b="1" i="1" dirty="0">
                <a:solidFill>
                  <a:schemeClr val="accent1"/>
                </a:solidFill>
              </a:rPr>
              <a:t>Comunicación</a:t>
            </a:r>
            <a:r>
              <a:rPr lang="es-ES" dirty="0"/>
              <a:t>: Los modelos sirven como una forma efectiva de comunicar entre diferentes stakeholders.</a:t>
            </a:r>
            <a:endParaRPr dirty="0"/>
          </a:p>
          <a:p>
            <a:pPr marL="266700" lvl="0" indent="-266700" algn="l" rtl="0">
              <a:lnSpc>
                <a:spcPct val="100000"/>
              </a:lnSpc>
              <a:spcBef>
                <a:spcPts val="1200"/>
              </a:spcBef>
              <a:spcAft>
                <a:spcPts val="0"/>
              </a:spcAft>
              <a:buClr>
                <a:schemeClr val="accent1"/>
              </a:buClr>
              <a:buSzPts val="1200"/>
              <a:buChar char="❑"/>
            </a:pPr>
            <a:r>
              <a:rPr lang="es-ES" b="1" i="1" dirty="0">
                <a:solidFill>
                  <a:schemeClr val="accent1"/>
                </a:solidFill>
              </a:rPr>
              <a:t>Identificación</a:t>
            </a:r>
            <a:r>
              <a:rPr lang="es-ES" dirty="0"/>
              <a:t> </a:t>
            </a:r>
            <a:r>
              <a:rPr lang="es-ES" b="1" i="1" dirty="0">
                <a:solidFill>
                  <a:schemeClr val="accent1"/>
                </a:solidFill>
              </a:rPr>
              <a:t>de</a:t>
            </a:r>
            <a:r>
              <a:rPr lang="es-ES" dirty="0"/>
              <a:t> </a:t>
            </a:r>
            <a:r>
              <a:rPr lang="es-ES" b="1" i="1" dirty="0">
                <a:solidFill>
                  <a:schemeClr val="accent1"/>
                </a:solidFill>
              </a:rPr>
              <a:t>Problemas</a:t>
            </a:r>
            <a:r>
              <a:rPr lang="es-ES" dirty="0"/>
              <a:t>: A través del modelado, se pueden identificar cuellos de botella, redundancias, o ineficiencias.</a:t>
            </a:r>
            <a:endParaRPr dirty="0"/>
          </a:p>
          <a:p>
            <a:pPr marL="266700" lvl="0" indent="-266700" algn="l" rtl="0">
              <a:lnSpc>
                <a:spcPct val="100000"/>
              </a:lnSpc>
              <a:spcBef>
                <a:spcPts val="1200"/>
              </a:spcBef>
              <a:spcAft>
                <a:spcPts val="0"/>
              </a:spcAft>
              <a:buClr>
                <a:schemeClr val="accent1"/>
              </a:buClr>
              <a:buSzPts val="1200"/>
              <a:buChar char="❑"/>
            </a:pPr>
            <a:r>
              <a:rPr lang="es-ES" b="1" i="1" dirty="0">
                <a:solidFill>
                  <a:schemeClr val="accent1"/>
                </a:solidFill>
              </a:rPr>
              <a:t>Base</a:t>
            </a:r>
            <a:r>
              <a:rPr lang="es-ES" dirty="0"/>
              <a:t> </a:t>
            </a:r>
            <a:r>
              <a:rPr lang="es-ES" b="1" i="1" dirty="0">
                <a:solidFill>
                  <a:schemeClr val="accent1"/>
                </a:solidFill>
              </a:rPr>
              <a:t>para</a:t>
            </a:r>
            <a:r>
              <a:rPr lang="es-ES" dirty="0"/>
              <a:t> </a:t>
            </a:r>
            <a:r>
              <a:rPr lang="es-ES" b="1" i="1" dirty="0">
                <a:solidFill>
                  <a:schemeClr val="accent1"/>
                </a:solidFill>
              </a:rPr>
              <a:t>la</a:t>
            </a:r>
            <a:r>
              <a:rPr lang="es-ES" dirty="0"/>
              <a:t> </a:t>
            </a:r>
            <a:r>
              <a:rPr lang="es-ES" b="1" i="1" dirty="0">
                <a:solidFill>
                  <a:schemeClr val="accent1"/>
                </a:solidFill>
              </a:rPr>
              <a:t>Automatización</a:t>
            </a:r>
            <a:r>
              <a:rPr lang="es-ES" dirty="0"/>
              <a:t>: Un modelo bien definido es a menudo el primer paso para la automatización de un proceso, lo cual es fundamental en la transformación digital de una organización.</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2"/>
          <p:cNvSpPr/>
          <p:nvPr/>
        </p:nvSpPr>
        <p:spPr>
          <a:xfrm>
            <a:off x="0" y="0"/>
            <a:ext cx="9144000" cy="5715000"/>
          </a:xfrm>
          <a:prstGeom prst="rect">
            <a:avLst/>
          </a:prstGeom>
          <a:solidFill>
            <a:srgbClr val="1F85A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dirty="0">
              <a:solidFill>
                <a:schemeClr val="lt1"/>
              </a:solidFill>
              <a:latin typeface="Calibri"/>
              <a:ea typeface="Calibri"/>
              <a:cs typeface="Calibri"/>
              <a:sym typeface="Calibri"/>
            </a:endParaRPr>
          </a:p>
        </p:txBody>
      </p:sp>
      <p:sp>
        <p:nvSpPr>
          <p:cNvPr id="249" name="Google Shape;249;p22"/>
          <p:cNvSpPr/>
          <p:nvPr/>
        </p:nvSpPr>
        <p:spPr>
          <a:xfrm>
            <a:off x="424252" y="3703125"/>
            <a:ext cx="7966170" cy="523180"/>
          </a:xfrm>
          <a:prstGeom prst="rect">
            <a:avLst/>
          </a:prstGeom>
          <a:noFill/>
          <a:ln>
            <a:noFill/>
          </a:ln>
        </p:spPr>
        <p:txBody>
          <a:bodyPr spcFirstLastPara="1" wrap="square" lIns="91425" tIns="45700" rIns="91425" bIns="45700" anchor="t" anchorCtr="0">
            <a:spAutoFit/>
          </a:bodyPr>
          <a:lstStyle/>
          <a:p>
            <a:pPr marL="274638" marR="0" lvl="0" indent="-274638" algn="l" rtl="0">
              <a:lnSpc>
                <a:spcPct val="100000"/>
              </a:lnSpc>
              <a:spcBef>
                <a:spcPts val="0"/>
              </a:spcBef>
              <a:spcAft>
                <a:spcPts val="0"/>
              </a:spcAft>
              <a:buClr>
                <a:srgbClr val="000000"/>
              </a:buClr>
              <a:buSzPts val="2800"/>
              <a:buFont typeface="Arial"/>
              <a:buNone/>
            </a:pPr>
            <a:r>
              <a:rPr lang="es-ES" sz="2800" b="1" i="0" u="none" strike="noStrike" cap="none" dirty="0">
                <a:solidFill>
                  <a:schemeClr val="lt1"/>
                </a:solidFill>
                <a:latin typeface="Calibri"/>
                <a:ea typeface="Calibri"/>
                <a:cs typeface="Calibri"/>
                <a:sym typeface="Calibri"/>
              </a:rPr>
              <a:t>/	NOTACIÓN BPM</a:t>
            </a:r>
            <a:endParaRPr sz="2800" b="1" i="0" u="none" strike="noStrike" cap="none" dirty="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3"/>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0" lvl="0" indent="0" algn="l" rtl="0">
              <a:lnSpc>
                <a:spcPct val="100000"/>
              </a:lnSpc>
              <a:spcBef>
                <a:spcPts val="0"/>
              </a:spcBef>
              <a:spcAft>
                <a:spcPts val="0"/>
              </a:spcAft>
              <a:buClr>
                <a:srgbClr val="0070C0"/>
              </a:buClr>
              <a:buSzPts val="1800"/>
              <a:buNone/>
            </a:pPr>
            <a:r>
              <a:rPr lang="es-ES" b="0" dirty="0">
                <a:solidFill>
                  <a:srgbClr val="0070C0"/>
                </a:solidFill>
              </a:rPr>
              <a:t>/ NOTACIÓN BPM</a:t>
            </a:r>
            <a:endParaRPr b="0" dirty="0">
              <a:solidFill>
                <a:srgbClr val="0070C0"/>
              </a:solidFill>
            </a:endParaRPr>
          </a:p>
        </p:txBody>
      </p:sp>
      <p:sp>
        <p:nvSpPr>
          <p:cNvPr id="256" name="Google Shape;256;p23"/>
          <p:cNvSpPr txBox="1">
            <a:spLocks noGrp="1"/>
          </p:cNvSpPr>
          <p:nvPr>
            <p:ph type="body" idx="4"/>
          </p:nvPr>
        </p:nvSpPr>
        <p:spPr>
          <a:xfrm>
            <a:off x="468326" y="1177925"/>
            <a:ext cx="4384500"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b="1" dirty="0"/>
              <a:t>BPMN </a:t>
            </a:r>
            <a:r>
              <a:rPr lang="es-ES" dirty="0"/>
              <a:t>es un </a:t>
            </a:r>
            <a:r>
              <a:rPr lang="es-ES" b="1" dirty="0"/>
              <a:t>estándar gráfico</a:t>
            </a:r>
            <a:r>
              <a:rPr lang="es-ES" dirty="0"/>
              <a:t> para la representación de </a:t>
            </a:r>
            <a:r>
              <a:rPr lang="es-ES" b="1" dirty="0"/>
              <a:t>procesos de negocio</a:t>
            </a:r>
            <a:r>
              <a:rPr lang="es-ES" dirty="0"/>
              <a:t> en un diagrama. Fue desarrollado por la Object Management Group (OMG).</a:t>
            </a:r>
            <a:endParaRPr dirty="0"/>
          </a:p>
          <a:p>
            <a:pPr marL="266700" lvl="0" indent="-266700" algn="l" rtl="0">
              <a:lnSpc>
                <a:spcPct val="100000"/>
              </a:lnSpc>
              <a:spcBef>
                <a:spcPts val="1200"/>
              </a:spcBef>
              <a:spcAft>
                <a:spcPts val="0"/>
              </a:spcAft>
              <a:buClr>
                <a:schemeClr val="dk1"/>
              </a:buClr>
              <a:buSzPts val="1200"/>
              <a:buChar char="❑"/>
            </a:pPr>
            <a:r>
              <a:rPr lang="es-ES" dirty="0"/>
              <a:t>El objetivo de BPMN es proporcionar una notación que sea fácilmente entendible por todos los usuarios de negocio:</a:t>
            </a:r>
            <a:endParaRPr dirty="0"/>
          </a:p>
          <a:p>
            <a:pPr marL="531813" lvl="1" indent="-265113" algn="l" rtl="0">
              <a:lnSpc>
                <a:spcPct val="100000"/>
              </a:lnSpc>
              <a:spcBef>
                <a:spcPts val="600"/>
              </a:spcBef>
              <a:spcAft>
                <a:spcPts val="0"/>
              </a:spcAft>
              <a:buClr>
                <a:schemeClr val="dk1"/>
              </a:buClr>
              <a:buSzPts val="1600"/>
              <a:buChar char="→"/>
            </a:pPr>
            <a:r>
              <a:rPr lang="es-ES" dirty="0"/>
              <a:t>Analistas de negocio que crean los borradores iniciales del proceso.</a:t>
            </a:r>
            <a:endParaRPr dirty="0"/>
          </a:p>
          <a:p>
            <a:pPr marL="531813" lvl="1" indent="-265113" algn="l" rtl="0">
              <a:lnSpc>
                <a:spcPct val="100000"/>
              </a:lnSpc>
              <a:spcBef>
                <a:spcPts val="600"/>
              </a:spcBef>
              <a:spcAft>
                <a:spcPts val="0"/>
              </a:spcAft>
              <a:buClr>
                <a:schemeClr val="dk1"/>
              </a:buClr>
              <a:buSzPts val="1600"/>
              <a:buChar char="→"/>
            </a:pPr>
            <a:r>
              <a:rPr lang="es-ES" dirty="0"/>
              <a:t>Los desarrolladores técnicos responsables de implementar la tecnología que realizará estos procesos.</a:t>
            </a:r>
            <a:endParaRPr dirty="0"/>
          </a:p>
          <a:p>
            <a:pPr marL="531813" lvl="1" indent="-265113" algn="l" rtl="0">
              <a:lnSpc>
                <a:spcPct val="100000"/>
              </a:lnSpc>
              <a:spcBef>
                <a:spcPts val="600"/>
              </a:spcBef>
              <a:spcAft>
                <a:spcPts val="0"/>
              </a:spcAft>
              <a:buClr>
                <a:schemeClr val="dk1"/>
              </a:buClr>
              <a:buSzPts val="1600"/>
              <a:buChar char="→"/>
            </a:pPr>
            <a:r>
              <a:rPr lang="es-ES" dirty="0"/>
              <a:t>Los gerentes de negocio que monitorearán y gestionan estos procesos.</a:t>
            </a:r>
            <a:endParaRPr dirty="0"/>
          </a:p>
        </p:txBody>
      </p:sp>
      <p:pic>
        <p:nvPicPr>
          <p:cNvPr id="257" name="Google Shape;257;p23"/>
          <p:cNvPicPr preferRelativeResize="0">
            <a:picLocks noGrp="1"/>
          </p:cNvPicPr>
          <p:nvPr>
            <p:ph type="pic" idx="2"/>
          </p:nvPr>
        </p:nvPicPr>
        <p:blipFill rotWithShape="1">
          <a:blip r:embed="rId3">
            <a:alphaModFix/>
          </a:blip>
          <a:srcRect t="372" b="374"/>
          <a:stretch/>
        </p:blipFill>
        <p:spPr>
          <a:xfrm>
            <a:off x="5202350" y="1208781"/>
            <a:ext cx="3406835" cy="3705432"/>
          </a:xfrm>
          <a:prstGeom prst="rect">
            <a:avLst/>
          </a:prstGeom>
          <a:noFill/>
          <a:ln>
            <a:noFill/>
          </a:ln>
        </p:spPr>
      </p:pic>
      <p:sp>
        <p:nvSpPr>
          <p:cNvPr id="258" name="Google Shape;258;p23"/>
          <p:cNvSpPr txBox="1">
            <a:spLocks noGrp="1"/>
          </p:cNvSpPr>
          <p:nvPr>
            <p:ph type="body" idx="1"/>
          </p:nvPr>
        </p:nvSpPr>
        <p:spPr>
          <a:xfrm>
            <a:off x="468312" y="804863"/>
            <a:ext cx="4464000"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dirty="0"/>
              <a:t>MODELO Y NOTACIÓN DE PROCESOS DE NEGOCIO</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24"/>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dirty="0"/>
              <a:t>ELEMENTOS BPMN</a:t>
            </a:r>
            <a:endParaRPr dirty="0"/>
          </a:p>
        </p:txBody>
      </p:sp>
      <p:sp>
        <p:nvSpPr>
          <p:cNvPr id="265" name="Google Shape;265;p24"/>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0" lvl="0" indent="0" algn="l" rtl="0">
              <a:lnSpc>
                <a:spcPct val="100000"/>
              </a:lnSpc>
              <a:spcBef>
                <a:spcPts val="0"/>
              </a:spcBef>
              <a:spcAft>
                <a:spcPts val="0"/>
              </a:spcAft>
              <a:buClr>
                <a:srgbClr val="0070C0"/>
              </a:buClr>
              <a:buSzPts val="1800"/>
              <a:buNone/>
            </a:pPr>
            <a:r>
              <a:rPr lang="es-ES" b="0" dirty="0">
                <a:solidFill>
                  <a:srgbClr val="0070C0"/>
                </a:solidFill>
              </a:rPr>
              <a:t>/ NOTACIÓN BPM</a:t>
            </a:r>
            <a:endParaRPr b="0" dirty="0">
              <a:solidFill>
                <a:srgbClr val="0070C0"/>
              </a:solidFill>
            </a:endParaRPr>
          </a:p>
        </p:txBody>
      </p:sp>
      <p:sp>
        <p:nvSpPr>
          <p:cNvPr id="266" name="Google Shape;266;p24"/>
          <p:cNvSpPr txBox="1">
            <a:spLocks noGrp="1"/>
          </p:cNvSpPr>
          <p:nvPr>
            <p:ph type="body" idx="4"/>
          </p:nvPr>
        </p:nvSpPr>
        <p:spPr>
          <a:xfrm>
            <a:off x="468313" y="1177927"/>
            <a:ext cx="4524837"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BPMN utiliza una serie de elementos gráficos para representar los procesos de negocio. Estos elementos se dividen en cuatro categorías principales:</a:t>
            </a:r>
            <a:endParaRPr dirty="0"/>
          </a:p>
          <a:p>
            <a:pPr marL="531813" lvl="1" indent="-265113" algn="l" rtl="0">
              <a:lnSpc>
                <a:spcPct val="100000"/>
              </a:lnSpc>
              <a:spcBef>
                <a:spcPts val="600"/>
              </a:spcBef>
              <a:spcAft>
                <a:spcPts val="0"/>
              </a:spcAft>
              <a:buClr>
                <a:schemeClr val="dk1"/>
              </a:buClr>
              <a:buSzPts val="1600"/>
              <a:buChar char="→"/>
            </a:pPr>
            <a:r>
              <a:rPr lang="es-ES" dirty="0"/>
              <a:t>Flujos de control</a:t>
            </a:r>
            <a:endParaRPr dirty="0"/>
          </a:p>
          <a:p>
            <a:pPr marL="531813" lvl="1" indent="-265113" algn="l" rtl="0">
              <a:lnSpc>
                <a:spcPct val="100000"/>
              </a:lnSpc>
              <a:spcBef>
                <a:spcPts val="600"/>
              </a:spcBef>
              <a:spcAft>
                <a:spcPts val="0"/>
              </a:spcAft>
              <a:buClr>
                <a:schemeClr val="dk1"/>
              </a:buClr>
              <a:buSzPts val="1600"/>
              <a:buChar char="→"/>
            </a:pPr>
            <a:r>
              <a:rPr lang="es-ES" dirty="0"/>
              <a:t>Eventos</a:t>
            </a:r>
            <a:endParaRPr dirty="0"/>
          </a:p>
          <a:p>
            <a:pPr marL="531813" lvl="1" indent="-265113" algn="l" rtl="0">
              <a:lnSpc>
                <a:spcPct val="100000"/>
              </a:lnSpc>
              <a:spcBef>
                <a:spcPts val="600"/>
              </a:spcBef>
              <a:spcAft>
                <a:spcPts val="0"/>
              </a:spcAft>
              <a:buClr>
                <a:schemeClr val="dk1"/>
              </a:buClr>
              <a:buSzPts val="1600"/>
              <a:buChar char="→"/>
            </a:pPr>
            <a:r>
              <a:rPr lang="es-ES" dirty="0"/>
              <a:t>Actividades</a:t>
            </a:r>
            <a:endParaRPr dirty="0"/>
          </a:p>
          <a:p>
            <a:pPr marL="531813" lvl="1" indent="-265113" algn="l" rtl="0">
              <a:lnSpc>
                <a:spcPct val="100000"/>
              </a:lnSpc>
              <a:spcBef>
                <a:spcPts val="600"/>
              </a:spcBef>
              <a:spcAft>
                <a:spcPts val="0"/>
              </a:spcAft>
              <a:buClr>
                <a:schemeClr val="dk1"/>
              </a:buClr>
              <a:buSzPts val="1600"/>
              <a:buChar char="→"/>
            </a:pPr>
            <a:r>
              <a:rPr lang="es-ES" dirty="0"/>
              <a:t>Conectores</a:t>
            </a:r>
            <a:endParaRPr dirty="0"/>
          </a:p>
          <a:p>
            <a:pPr marL="266700" lvl="0" indent="-266700" algn="l" rtl="0">
              <a:lnSpc>
                <a:spcPct val="100000"/>
              </a:lnSpc>
              <a:spcBef>
                <a:spcPts val="1200"/>
              </a:spcBef>
              <a:spcAft>
                <a:spcPts val="0"/>
              </a:spcAft>
              <a:buClr>
                <a:schemeClr val="dk1"/>
              </a:buClr>
              <a:buSzPts val="1200"/>
              <a:buChar char="❑"/>
            </a:pPr>
            <a:r>
              <a:rPr lang="es-ES" dirty="0"/>
              <a:t>Los elementos BPMN proporcionan una notación estándar que es fácilmente entendible por todos los usuarios de negocio, facilitando la comunicación y la comprensión de los procesos de negocio.</a:t>
            </a:r>
            <a:endParaRPr dirty="0"/>
          </a:p>
        </p:txBody>
      </p:sp>
      <p:pic>
        <p:nvPicPr>
          <p:cNvPr id="267" name="Google Shape;267;p24"/>
          <p:cNvPicPr preferRelativeResize="0">
            <a:picLocks noGrp="1"/>
          </p:cNvPicPr>
          <p:nvPr>
            <p:ph type="pic" idx="2"/>
          </p:nvPr>
        </p:nvPicPr>
        <p:blipFill rotWithShape="1">
          <a:blip r:embed="rId3">
            <a:alphaModFix/>
          </a:blip>
          <a:srcRect t="372" b="374"/>
          <a:stretch/>
        </p:blipFill>
        <p:spPr>
          <a:xfrm>
            <a:off x="4993150" y="854850"/>
            <a:ext cx="3682538" cy="40053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5"/>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dirty="0"/>
              <a:t>ELEMENTOS BPMN</a:t>
            </a:r>
            <a:endParaRPr dirty="0"/>
          </a:p>
        </p:txBody>
      </p:sp>
      <p:sp>
        <p:nvSpPr>
          <p:cNvPr id="274" name="Google Shape;274;p25"/>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0" lvl="0" indent="0" algn="l" rtl="0">
              <a:lnSpc>
                <a:spcPct val="100000"/>
              </a:lnSpc>
              <a:spcBef>
                <a:spcPts val="0"/>
              </a:spcBef>
              <a:spcAft>
                <a:spcPts val="0"/>
              </a:spcAft>
              <a:buClr>
                <a:srgbClr val="0070C0"/>
              </a:buClr>
              <a:buSzPts val="1800"/>
              <a:buNone/>
            </a:pPr>
            <a:r>
              <a:rPr lang="es-ES" b="0" dirty="0">
                <a:solidFill>
                  <a:srgbClr val="0070C0"/>
                </a:solidFill>
              </a:rPr>
              <a:t>/ NOTACIÓN BPM</a:t>
            </a:r>
            <a:endParaRPr b="0" dirty="0">
              <a:solidFill>
                <a:srgbClr val="0070C0"/>
              </a:solidFill>
            </a:endParaRPr>
          </a:p>
        </p:txBody>
      </p:sp>
      <p:sp>
        <p:nvSpPr>
          <p:cNvPr id="275" name="Google Shape;275;p25"/>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rgbClr val="0070C0"/>
              </a:buClr>
              <a:buSzPts val="1200"/>
              <a:buNone/>
            </a:pPr>
            <a:r>
              <a:rPr lang="es-ES" b="1" i="1" u="sng" dirty="0">
                <a:solidFill>
                  <a:srgbClr val="0070C0"/>
                </a:solidFill>
              </a:rPr>
              <a:t>Flujos de Control:</a:t>
            </a:r>
            <a:endParaRPr dirty="0"/>
          </a:p>
          <a:p>
            <a:pPr marL="0" lvl="0" indent="0" algn="l" rtl="0">
              <a:lnSpc>
                <a:spcPct val="100000"/>
              </a:lnSpc>
              <a:spcBef>
                <a:spcPts val="600"/>
              </a:spcBef>
              <a:spcAft>
                <a:spcPts val="0"/>
              </a:spcAft>
              <a:buClr>
                <a:schemeClr val="dk1"/>
              </a:buClr>
              <a:buSzPts val="1200"/>
              <a:buNone/>
            </a:pPr>
            <a:r>
              <a:rPr lang="es-ES" dirty="0"/>
              <a:t>Estos son los elementos que muestran el orden de las actividades en un proceso.</a:t>
            </a:r>
            <a:endParaRPr dirty="0"/>
          </a:p>
          <a:p>
            <a:pPr marL="266700" lvl="0" indent="-266700" algn="l" rtl="0">
              <a:lnSpc>
                <a:spcPct val="100000"/>
              </a:lnSpc>
              <a:spcBef>
                <a:spcPts val="1200"/>
              </a:spcBef>
              <a:spcAft>
                <a:spcPts val="0"/>
              </a:spcAft>
              <a:buClr>
                <a:schemeClr val="dk1"/>
              </a:buClr>
              <a:buSzPts val="1200"/>
              <a:buChar char="❑"/>
            </a:pPr>
            <a:r>
              <a:rPr lang="es-ES" b="1" dirty="0"/>
              <a:t>Flujo de Secuencia</a:t>
            </a:r>
            <a:r>
              <a:rPr lang="es-ES" dirty="0"/>
              <a:t>: Representa la secuencia de las actividades. Es una flecha que conecta diferentes actividades y eventos en el orden en que ocurren.</a:t>
            </a:r>
            <a:endParaRPr dirty="0"/>
          </a:p>
          <a:p>
            <a:pPr marL="266700" lvl="0" indent="-266700" algn="l" rtl="0">
              <a:lnSpc>
                <a:spcPct val="100000"/>
              </a:lnSpc>
              <a:spcBef>
                <a:spcPts val="1200"/>
              </a:spcBef>
              <a:spcAft>
                <a:spcPts val="0"/>
              </a:spcAft>
              <a:buClr>
                <a:schemeClr val="dk1"/>
              </a:buClr>
              <a:buSzPts val="1200"/>
              <a:buChar char="❑"/>
            </a:pPr>
            <a:r>
              <a:rPr lang="es-ES" b="1" dirty="0"/>
              <a:t>Mensaje</a:t>
            </a:r>
            <a:r>
              <a:rPr lang="es-ES" dirty="0"/>
              <a:t>: Representa la comunicación entre dos entidades diferentes, como dos procesos o un proceso y un participante externo.</a:t>
            </a:r>
            <a:endParaRPr dirty="0"/>
          </a:p>
        </p:txBody>
      </p:sp>
      <p:pic>
        <p:nvPicPr>
          <p:cNvPr id="276" name="Google Shape;276;p25"/>
          <p:cNvPicPr preferRelativeResize="0">
            <a:picLocks noGrp="1"/>
          </p:cNvPicPr>
          <p:nvPr>
            <p:ph type="pic" idx="2"/>
          </p:nvPr>
        </p:nvPicPr>
        <p:blipFill rotWithShape="1">
          <a:blip r:embed="rId3">
            <a:alphaModFix/>
          </a:blip>
          <a:srcRect t="372" b="374"/>
          <a:stretch/>
        </p:blipFill>
        <p:spPr>
          <a:xfrm>
            <a:off x="5235875" y="1153247"/>
            <a:ext cx="3315121" cy="360568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6"/>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dirty="0"/>
              <a:t>ELEMENTOS BPMN</a:t>
            </a:r>
            <a:endParaRPr dirty="0"/>
          </a:p>
        </p:txBody>
      </p:sp>
      <p:sp>
        <p:nvSpPr>
          <p:cNvPr id="283" name="Google Shape;283;p26"/>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0" lvl="0" indent="0" algn="l" rtl="0">
              <a:lnSpc>
                <a:spcPct val="100000"/>
              </a:lnSpc>
              <a:spcBef>
                <a:spcPts val="0"/>
              </a:spcBef>
              <a:spcAft>
                <a:spcPts val="0"/>
              </a:spcAft>
              <a:buClr>
                <a:srgbClr val="0070C0"/>
              </a:buClr>
              <a:buSzPts val="1800"/>
              <a:buNone/>
            </a:pPr>
            <a:r>
              <a:rPr lang="es-ES" b="0" dirty="0">
                <a:solidFill>
                  <a:srgbClr val="0070C0"/>
                </a:solidFill>
              </a:rPr>
              <a:t>/ NOTACIÓN BPM</a:t>
            </a:r>
            <a:endParaRPr b="0" dirty="0">
              <a:solidFill>
                <a:srgbClr val="0070C0"/>
              </a:solidFill>
            </a:endParaRPr>
          </a:p>
        </p:txBody>
      </p:sp>
      <p:sp>
        <p:nvSpPr>
          <p:cNvPr id="284" name="Google Shape;284;p26"/>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70C0"/>
              </a:buClr>
              <a:buSzPts val="1200"/>
              <a:buNone/>
            </a:pPr>
            <a:r>
              <a:rPr lang="es-ES" b="1" i="1" u="sng" dirty="0">
                <a:solidFill>
                  <a:srgbClr val="0070C0"/>
                </a:solidFill>
              </a:rPr>
              <a:t>Eventos: </a:t>
            </a:r>
            <a:endParaRPr dirty="0"/>
          </a:p>
          <a:p>
            <a:pPr marL="0" lvl="0" indent="0" algn="l" rtl="0">
              <a:lnSpc>
                <a:spcPct val="100000"/>
              </a:lnSpc>
              <a:spcBef>
                <a:spcPts val="600"/>
              </a:spcBef>
              <a:spcAft>
                <a:spcPts val="0"/>
              </a:spcAft>
              <a:buClr>
                <a:schemeClr val="dk1"/>
              </a:buClr>
              <a:buSzPts val="1200"/>
              <a:buNone/>
            </a:pPr>
            <a:r>
              <a:rPr lang="es-ES" dirty="0"/>
              <a:t>Son sucesos que ocurren durante la ejecución de un proceso. Los eventos pueden ser de inicio, intermedios o de fin.</a:t>
            </a:r>
            <a:endParaRPr dirty="0"/>
          </a:p>
          <a:p>
            <a:pPr marL="266700" lvl="0" indent="-266700" algn="l" rtl="0">
              <a:lnSpc>
                <a:spcPct val="100000"/>
              </a:lnSpc>
              <a:spcBef>
                <a:spcPts val="1200"/>
              </a:spcBef>
              <a:spcAft>
                <a:spcPts val="0"/>
              </a:spcAft>
              <a:buClr>
                <a:schemeClr val="dk1"/>
              </a:buClr>
              <a:buSzPts val="1200"/>
              <a:buChar char="❑"/>
            </a:pPr>
            <a:r>
              <a:rPr lang="es-ES" b="1" dirty="0"/>
              <a:t>Evento de Inicio</a:t>
            </a:r>
            <a:r>
              <a:rPr lang="es-ES" dirty="0"/>
              <a:t>: Indica donde comienza un proceso particular. Se representa con un círculo verde.</a:t>
            </a:r>
            <a:endParaRPr dirty="0"/>
          </a:p>
          <a:p>
            <a:pPr marL="266700" lvl="0" indent="-266700" algn="l" rtl="0">
              <a:lnSpc>
                <a:spcPct val="100000"/>
              </a:lnSpc>
              <a:spcBef>
                <a:spcPts val="1200"/>
              </a:spcBef>
              <a:spcAft>
                <a:spcPts val="0"/>
              </a:spcAft>
              <a:buClr>
                <a:schemeClr val="dk1"/>
              </a:buClr>
              <a:buSzPts val="1200"/>
              <a:buChar char="❑"/>
            </a:pPr>
            <a:r>
              <a:rPr lang="es-ES" b="1" dirty="0"/>
              <a:t>Evento Intermedio</a:t>
            </a:r>
            <a:r>
              <a:rPr lang="es-ES" dirty="0"/>
              <a:t>: Representa un evento que ocurre durante la ejecución de un proceso. Se representa con un círculo doble.</a:t>
            </a:r>
            <a:endParaRPr dirty="0"/>
          </a:p>
          <a:p>
            <a:pPr marL="266700" lvl="0" indent="-266700" algn="l" rtl="0">
              <a:lnSpc>
                <a:spcPct val="100000"/>
              </a:lnSpc>
              <a:spcBef>
                <a:spcPts val="1200"/>
              </a:spcBef>
              <a:spcAft>
                <a:spcPts val="0"/>
              </a:spcAft>
              <a:buClr>
                <a:schemeClr val="dk1"/>
              </a:buClr>
              <a:buSzPts val="1200"/>
              <a:buChar char="❑"/>
            </a:pPr>
            <a:r>
              <a:rPr lang="es-ES" b="1" dirty="0"/>
              <a:t>Evento de Fin</a:t>
            </a:r>
            <a:r>
              <a:rPr lang="es-ES" dirty="0"/>
              <a:t>: Indica dónde termina un proceso. Se representa con un círculo rojo.</a:t>
            </a:r>
            <a:endParaRPr dirty="0"/>
          </a:p>
        </p:txBody>
      </p:sp>
      <p:pic>
        <p:nvPicPr>
          <p:cNvPr id="285" name="Google Shape;285;p26"/>
          <p:cNvPicPr preferRelativeResize="0">
            <a:picLocks noGrp="1"/>
          </p:cNvPicPr>
          <p:nvPr>
            <p:ph type="pic" idx="2"/>
          </p:nvPr>
        </p:nvPicPr>
        <p:blipFill rotWithShape="1">
          <a:blip r:embed="rId3">
            <a:alphaModFix/>
          </a:blip>
          <a:srcRect t="384" b="384"/>
          <a:stretch/>
        </p:blipFill>
        <p:spPr>
          <a:xfrm>
            <a:off x="5050042" y="1163638"/>
            <a:ext cx="3376263" cy="367218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7"/>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dirty="0"/>
              <a:t>ELEMENTOS BPMN</a:t>
            </a:r>
            <a:endParaRPr dirty="0"/>
          </a:p>
        </p:txBody>
      </p:sp>
      <p:sp>
        <p:nvSpPr>
          <p:cNvPr id="292" name="Google Shape;292;p27"/>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0" lvl="0" indent="0" algn="l" rtl="0">
              <a:lnSpc>
                <a:spcPct val="100000"/>
              </a:lnSpc>
              <a:spcBef>
                <a:spcPts val="0"/>
              </a:spcBef>
              <a:spcAft>
                <a:spcPts val="0"/>
              </a:spcAft>
              <a:buClr>
                <a:srgbClr val="0070C0"/>
              </a:buClr>
              <a:buSzPts val="1800"/>
              <a:buNone/>
            </a:pPr>
            <a:r>
              <a:rPr lang="es-ES" b="0" dirty="0">
                <a:solidFill>
                  <a:srgbClr val="0070C0"/>
                </a:solidFill>
              </a:rPr>
              <a:t>/ NOTACIÓN BPM</a:t>
            </a:r>
            <a:endParaRPr b="0" dirty="0">
              <a:solidFill>
                <a:srgbClr val="0070C0"/>
              </a:solidFill>
            </a:endParaRPr>
          </a:p>
        </p:txBody>
      </p:sp>
      <p:sp>
        <p:nvSpPr>
          <p:cNvPr id="293" name="Google Shape;293;p27"/>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rgbClr val="0070C0"/>
              </a:buClr>
              <a:buSzPts val="1200"/>
              <a:buNone/>
            </a:pPr>
            <a:r>
              <a:rPr lang="es-ES" b="1" i="1" u="sng" dirty="0">
                <a:solidFill>
                  <a:srgbClr val="0070C0"/>
                </a:solidFill>
              </a:rPr>
              <a:t>Actividades:</a:t>
            </a:r>
            <a:endParaRPr dirty="0"/>
          </a:p>
          <a:p>
            <a:pPr marL="0" lvl="0" indent="0" algn="l" rtl="0">
              <a:lnSpc>
                <a:spcPct val="100000"/>
              </a:lnSpc>
              <a:spcBef>
                <a:spcPts val="600"/>
              </a:spcBef>
              <a:spcAft>
                <a:spcPts val="0"/>
              </a:spcAft>
              <a:buClr>
                <a:schemeClr val="dk1"/>
              </a:buClr>
              <a:buSzPts val="1200"/>
              <a:buNone/>
            </a:pPr>
            <a:r>
              <a:rPr lang="es-ES" dirty="0"/>
              <a:t>Son las tareas o trabajos que se realizan en un proceso.</a:t>
            </a:r>
            <a:endParaRPr dirty="0"/>
          </a:p>
          <a:p>
            <a:pPr marL="266700" lvl="0" indent="-266700" algn="l" rtl="0">
              <a:lnSpc>
                <a:spcPct val="100000"/>
              </a:lnSpc>
              <a:spcBef>
                <a:spcPts val="1200"/>
              </a:spcBef>
              <a:spcAft>
                <a:spcPts val="0"/>
              </a:spcAft>
              <a:buClr>
                <a:schemeClr val="dk1"/>
              </a:buClr>
              <a:buSzPts val="1200"/>
              <a:buChar char="❑"/>
            </a:pPr>
            <a:r>
              <a:rPr lang="es-ES" b="1" dirty="0"/>
              <a:t>Tarea</a:t>
            </a:r>
            <a:r>
              <a:rPr lang="es-ES" dirty="0"/>
              <a:t>: Es una unidad de trabajo que se realiza en un proceso. Se representa con un rectángulo redondeado.</a:t>
            </a:r>
            <a:endParaRPr dirty="0"/>
          </a:p>
          <a:p>
            <a:pPr marL="266700" lvl="0" indent="-266700" algn="l" rtl="0">
              <a:lnSpc>
                <a:spcPct val="100000"/>
              </a:lnSpc>
              <a:spcBef>
                <a:spcPts val="1200"/>
              </a:spcBef>
              <a:spcAft>
                <a:spcPts val="0"/>
              </a:spcAft>
              <a:buClr>
                <a:schemeClr val="dk1"/>
              </a:buClr>
              <a:buSzPts val="1200"/>
              <a:buChar char="❑"/>
            </a:pPr>
            <a:r>
              <a:rPr lang="es-ES" b="1" dirty="0"/>
              <a:t>Sub-Proceso</a:t>
            </a:r>
            <a:r>
              <a:rPr lang="es-ES" dirty="0"/>
              <a:t>: Es un conjunto de tareas que se agrupan juntas y se pueden colapsar o expandir. Se representa con un rectángulo redondeado más grande.</a:t>
            </a:r>
            <a:endParaRPr dirty="0"/>
          </a:p>
        </p:txBody>
      </p:sp>
      <p:pic>
        <p:nvPicPr>
          <p:cNvPr id="294" name="Google Shape;294;p27"/>
          <p:cNvPicPr preferRelativeResize="0">
            <a:picLocks noGrp="1"/>
          </p:cNvPicPr>
          <p:nvPr>
            <p:ph type="pic" idx="2"/>
          </p:nvPr>
        </p:nvPicPr>
        <p:blipFill rotWithShape="1">
          <a:blip r:embed="rId3">
            <a:alphaModFix/>
          </a:blip>
          <a:srcRect t="372" b="374"/>
          <a:stretch/>
        </p:blipFill>
        <p:spPr>
          <a:xfrm>
            <a:off x="5104014" y="1104948"/>
            <a:ext cx="3430357" cy="37310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28"/>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dirty="0"/>
              <a:t>ELEMENTOS BPMN</a:t>
            </a:r>
            <a:endParaRPr dirty="0"/>
          </a:p>
        </p:txBody>
      </p:sp>
      <p:sp>
        <p:nvSpPr>
          <p:cNvPr id="301" name="Google Shape;301;p28"/>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0" lvl="0" indent="0" algn="l" rtl="0">
              <a:lnSpc>
                <a:spcPct val="100000"/>
              </a:lnSpc>
              <a:spcBef>
                <a:spcPts val="0"/>
              </a:spcBef>
              <a:spcAft>
                <a:spcPts val="0"/>
              </a:spcAft>
              <a:buClr>
                <a:srgbClr val="0070C0"/>
              </a:buClr>
              <a:buSzPts val="1800"/>
              <a:buNone/>
            </a:pPr>
            <a:r>
              <a:rPr lang="es-ES" b="0" dirty="0">
                <a:solidFill>
                  <a:srgbClr val="0070C0"/>
                </a:solidFill>
              </a:rPr>
              <a:t>/ NOTACIÓN BPM</a:t>
            </a:r>
            <a:endParaRPr b="0" dirty="0">
              <a:solidFill>
                <a:srgbClr val="0070C0"/>
              </a:solidFill>
            </a:endParaRPr>
          </a:p>
        </p:txBody>
      </p:sp>
      <p:sp>
        <p:nvSpPr>
          <p:cNvPr id="302" name="Google Shape;302;p28"/>
          <p:cNvSpPr txBox="1">
            <a:spLocks noGrp="1"/>
          </p:cNvSpPr>
          <p:nvPr>
            <p:ph type="body" idx="4"/>
          </p:nvPr>
        </p:nvSpPr>
        <p:spPr>
          <a:xfrm>
            <a:off x="468313" y="1177927"/>
            <a:ext cx="4752080" cy="4096800"/>
          </a:xfrm>
          <a:prstGeom prst="rect">
            <a:avLst/>
          </a:prstGeom>
          <a:noFill/>
          <a:ln>
            <a:noFill/>
          </a:ln>
        </p:spPr>
        <p:txBody>
          <a:bodyPr spcFirstLastPara="1" wrap="square" lIns="91425" tIns="45700" rIns="91425" bIns="45700" anchor="t" anchorCtr="0">
            <a:noAutofit/>
          </a:bodyPr>
          <a:lstStyle/>
          <a:p>
            <a:pPr marL="0" lvl="0" indent="0" algn="just" rtl="0">
              <a:lnSpc>
                <a:spcPct val="96000"/>
              </a:lnSpc>
              <a:spcBef>
                <a:spcPts val="0"/>
              </a:spcBef>
              <a:spcAft>
                <a:spcPts val="0"/>
              </a:spcAft>
              <a:buClr>
                <a:srgbClr val="0070C0"/>
              </a:buClr>
              <a:buSzPts val="1200"/>
              <a:buNone/>
            </a:pPr>
            <a:r>
              <a:rPr lang="es-ES" b="1" i="1" u="sng" dirty="0">
                <a:solidFill>
                  <a:srgbClr val="0070C0"/>
                </a:solidFill>
              </a:rPr>
              <a:t>Conectores:</a:t>
            </a:r>
            <a:endParaRPr dirty="0"/>
          </a:p>
          <a:p>
            <a:pPr marL="0" lvl="0" indent="0" algn="l" rtl="0">
              <a:lnSpc>
                <a:spcPct val="96000"/>
              </a:lnSpc>
              <a:spcBef>
                <a:spcPts val="600"/>
              </a:spcBef>
              <a:spcAft>
                <a:spcPts val="0"/>
              </a:spcAft>
              <a:buClr>
                <a:schemeClr val="dk1"/>
              </a:buClr>
              <a:buSzPts val="1200"/>
              <a:buNone/>
            </a:pPr>
            <a:r>
              <a:rPr lang="es-ES" dirty="0"/>
              <a:t>Son los elementos que controlan el flujo de secuencia entre actividades y eventos.</a:t>
            </a:r>
            <a:endParaRPr dirty="0"/>
          </a:p>
          <a:p>
            <a:pPr marL="266700" lvl="0" indent="-266700" algn="l" rtl="0">
              <a:lnSpc>
                <a:spcPct val="96000"/>
              </a:lnSpc>
              <a:spcBef>
                <a:spcPts val="1200"/>
              </a:spcBef>
              <a:spcAft>
                <a:spcPts val="0"/>
              </a:spcAft>
              <a:buClr>
                <a:schemeClr val="dk1"/>
              </a:buClr>
              <a:buSzPts val="1200"/>
              <a:buChar char="❑"/>
            </a:pPr>
            <a:r>
              <a:rPr lang="es-ES" b="1" dirty="0"/>
              <a:t>Puerta de Enlace Exclusiva</a:t>
            </a:r>
            <a:r>
              <a:rPr lang="es-ES" dirty="0"/>
              <a:t>: Sirve para controlar la divergencia y convergencia basada en condiciones. Se representa con un diamante vacío.</a:t>
            </a:r>
            <a:endParaRPr dirty="0"/>
          </a:p>
          <a:p>
            <a:pPr marL="266700" lvl="0" indent="-266700" algn="l" rtl="0">
              <a:lnSpc>
                <a:spcPct val="96000"/>
              </a:lnSpc>
              <a:spcBef>
                <a:spcPts val="1200"/>
              </a:spcBef>
              <a:spcAft>
                <a:spcPts val="0"/>
              </a:spcAft>
              <a:buClr>
                <a:schemeClr val="dk1"/>
              </a:buClr>
              <a:buSzPts val="1200"/>
              <a:buChar char="❑"/>
            </a:pPr>
            <a:r>
              <a:rPr lang="es-ES" b="1" dirty="0"/>
              <a:t>Puerta de Enlace Paralela</a:t>
            </a:r>
            <a:r>
              <a:rPr lang="es-ES" dirty="0"/>
              <a:t>: Sirve para controlar la divergencia y convergencia paralela. Se representa con un diamante con un signo de más.</a:t>
            </a:r>
            <a:endParaRPr dirty="0"/>
          </a:p>
          <a:p>
            <a:pPr marL="266700" lvl="0" indent="-266700" algn="l" rtl="0">
              <a:lnSpc>
                <a:spcPct val="96000"/>
              </a:lnSpc>
              <a:spcBef>
                <a:spcPts val="1200"/>
              </a:spcBef>
              <a:spcAft>
                <a:spcPts val="0"/>
              </a:spcAft>
              <a:buClr>
                <a:schemeClr val="dk1"/>
              </a:buClr>
              <a:buSzPts val="1200"/>
              <a:buChar char="❑"/>
            </a:pPr>
            <a:r>
              <a:rPr lang="es-ES" b="1" dirty="0"/>
              <a:t>Puerta de Enlace de Evento Basada</a:t>
            </a:r>
            <a:r>
              <a:rPr lang="es-ES" dirty="0"/>
              <a:t>: Sirve para controlar la divergencia y convergencia basada en eventos. Se representa con un diamante con un círculo doble dentro.</a:t>
            </a:r>
            <a:endParaRPr dirty="0"/>
          </a:p>
        </p:txBody>
      </p:sp>
      <p:pic>
        <p:nvPicPr>
          <p:cNvPr id="303" name="Google Shape;303;p28"/>
          <p:cNvPicPr preferRelativeResize="0">
            <a:picLocks noGrp="1"/>
          </p:cNvPicPr>
          <p:nvPr>
            <p:ph type="pic" idx="2"/>
          </p:nvPr>
        </p:nvPicPr>
        <p:blipFill rotWithShape="1">
          <a:blip r:embed="rId3">
            <a:alphaModFix/>
          </a:blip>
          <a:srcRect t="372" b="374"/>
          <a:stretch/>
        </p:blipFill>
        <p:spPr>
          <a:xfrm>
            <a:off x="5421710" y="1246908"/>
            <a:ext cx="3253978" cy="353917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dirty="0"/>
              <a:t>BENEFICIOS BPMN</a:t>
            </a:r>
            <a:endParaRPr dirty="0"/>
          </a:p>
        </p:txBody>
      </p:sp>
      <p:sp>
        <p:nvSpPr>
          <p:cNvPr id="310" name="Google Shape;310;p29"/>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0" lvl="0" indent="0" algn="l" rtl="0">
              <a:lnSpc>
                <a:spcPct val="100000"/>
              </a:lnSpc>
              <a:spcBef>
                <a:spcPts val="0"/>
              </a:spcBef>
              <a:spcAft>
                <a:spcPts val="0"/>
              </a:spcAft>
              <a:buClr>
                <a:srgbClr val="0070C0"/>
              </a:buClr>
              <a:buSzPts val="1800"/>
              <a:buNone/>
            </a:pPr>
            <a:r>
              <a:rPr lang="es-ES" b="0" dirty="0">
                <a:solidFill>
                  <a:srgbClr val="0070C0"/>
                </a:solidFill>
              </a:rPr>
              <a:t>/ NOTACIÓN BPM</a:t>
            </a:r>
            <a:endParaRPr b="0" dirty="0">
              <a:solidFill>
                <a:srgbClr val="0070C0"/>
              </a:solidFill>
            </a:endParaRPr>
          </a:p>
        </p:txBody>
      </p:sp>
      <p:sp>
        <p:nvSpPr>
          <p:cNvPr id="311" name="Google Shape;311;p29"/>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273050" lvl="0" indent="-273050" algn="l" rtl="0">
              <a:lnSpc>
                <a:spcPct val="100000"/>
              </a:lnSpc>
              <a:spcBef>
                <a:spcPts val="0"/>
              </a:spcBef>
              <a:spcAft>
                <a:spcPts val="0"/>
              </a:spcAft>
              <a:buClr>
                <a:schemeClr val="dk1"/>
              </a:buClr>
              <a:buSzPts val="1440"/>
              <a:buFont typeface="Calibri"/>
              <a:buAutoNum type="arabicPeriod"/>
            </a:pPr>
            <a:r>
              <a:rPr lang="es-ES" dirty="0"/>
              <a:t>Al ser un estándar, permite que todos los involucrados en el proceso, comprendan el modelo.</a:t>
            </a:r>
            <a:endParaRPr dirty="0"/>
          </a:p>
          <a:p>
            <a:pPr marL="273050" lvl="0" indent="-273050" algn="l" rtl="0">
              <a:lnSpc>
                <a:spcPct val="100000"/>
              </a:lnSpc>
              <a:spcBef>
                <a:spcPts val="1200"/>
              </a:spcBef>
              <a:spcAft>
                <a:spcPts val="0"/>
              </a:spcAft>
              <a:buClr>
                <a:schemeClr val="dk1"/>
              </a:buClr>
              <a:buSzPts val="1440"/>
              <a:buFont typeface="Calibri"/>
              <a:buAutoNum type="arabicPeriod"/>
            </a:pPr>
            <a:r>
              <a:rPr lang="es-ES" dirty="0"/>
              <a:t>Permite representar desde procesos muy simples hasta flujos de trabajo muy complejos, pudiendo escalar en complejidad según las necesidades.</a:t>
            </a:r>
            <a:endParaRPr dirty="0"/>
          </a:p>
          <a:p>
            <a:pPr marL="273050" lvl="0" indent="-273050" algn="l" rtl="0">
              <a:lnSpc>
                <a:spcPct val="100000"/>
              </a:lnSpc>
              <a:spcBef>
                <a:spcPts val="1200"/>
              </a:spcBef>
              <a:spcAft>
                <a:spcPts val="0"/>
              </a:spcAft>
              <a:buClr>
                <a:schemeClr val="dk1"/>
              </a:buClr>
              <a:buSzPts val="1440"/>
              <a:buFont typeface="Calibri"/>
              <a:buAutoNum type="arabicPeriod"/>
            </a:pPr>
            <a:r>
              <a:rPr lang="es-ES" dirty="0"/>
              <a:t>Muchas herramientas BPM tienen la capacidad de convertir un modelo BPMN en un conjunto de reglas y lógicas de negocio automatizadas.</a:t>
            </a:r>
            <a:endParaRPr dirty="0"/>
          </a:p>
          <a:p>
            <a:pPr marL="273050" lvl="0" indent="-273050" algn="l" rtl="0">
              <a:lnSpc>
                <a:spcPct val="100000"/>
              </a:lnSpc>
              <a:spcBef>
                <a:spcPts val="1200"/>
              </a:spcBef>
              <a:spcAft>
                <a:spcPts val="0"/>
              </a:spcAft>
              <a:buClr>
                <a:schemeClr val="dk1"/>
              </a:buClr>
              <a:buSzPts val="1440"/>
              <a:buFont typeface="Calibri"/>
              <a:buAutoNum type="arabicPeriod"/>
            </a:pPr>
            <a:r>
              <a:rPr lang="es-ES" dirty="0"/>
              <a:t>Los diagramas BPMN se pueden actualizar y adaptar fácilmente para reflejar los cambios, lo que facilita la mejora continua.</a:t>
            </a:r>
            <a:endParaRPr dirty="0"/>
          </a:p>
        </p:txBody>
      </p:sp>
      <p:pic>
        <p:nvPicPr>
          <p:cNvPr id="312" name="Google Shape;312;p29"/>
          <p:cNvPicPr preferRelativeResize="0">
            <a:picLocks noGrp="1"/>
          </p:cNvPicPr>
          <p:nvPr>
            <p:ph type="pic" idx="2"/>
          </p:nvPr>
        </p:nvPicPr>
        <p:blipFill rotWithShape="1">
          <a:blip r:embed="rId3">
            <a:alphaModFix/>
          </a:blip>
          <a:srcRect l="18894" r="18894"/>
          <a:stretch/>
        </p:blipFill>
        <p:spPr>
          <a:xfrm>
            <a:off x="5030464" y="1271846"/>
            <a:ext cx="3437406" cy="373868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30"/>
          <p:cNvSpPr/>
          <p:nvPr/>
        </p:nvSpPr>
        <p:spPr>
          <a:xfrm>
            <a:off x="0" y="0"/>
            <a:ext cx="9144000" cy="5715000"/>
          </a:xfrm>
          <a:prstGeom prst="rect">
            <a:avLst/>
          </a:prstGeom>
          <a:solidFill>
            <a:srgbClr val="1F85A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dirty="0">
              <a:solidFill>
                <a:schemeClr val="lt1"/>
              </a:solidFill>
              <a:latin typeface="Calibri"/>
              <a:ea typeface="Calibri"/>
              <a:cs typeface="Calibri"/>
              <a:sym typeface="Calibri"/>
            </a:endParaRPr>
          </a:p>
        </p:txBody>
      </p:sp>
      <p:sp>
        <p:nvSpPr>
          <p:cNvPr id="319" name="Google Shape;319;p30"/>
          <p:cNvSpPr/>
          <p:nvPr/>
        </p:nvSpPr>
        <p:spPr>
          <a:xfrm>
            <a:off x="1276149" y="788890"/>
            <a:ext cx="7204492" cy="4016444"/>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lt1"/>
              </a:buClr>
              <a:buSzPts val="1700"/>
              <a:buFont typeface="Arial"/>
              <a:buChar char="•"/>
            </a:pPr>
            <a:r>
              <a:rPr lang="es-ES" sz="1700" b="0" i="0" u="none" strike="noStrike" cap="none" dirty="0">
                <a:solidFill>
                  <a:schemeClr val="lt1"/>
                </a:solidFill>
                <a:latin typeface="Calibri"/>
                <a:ea typeface="Calibri"/>
                <a:cs typeface="Calibri"/>
                <a:sym typeface="Calibri"/>
              </a:rPr>
              <a:t>Entender los procesos de negocio –ya sean operativos, de soporte o de gestión– es crucial para diseñar e implementar sistemas de información efectivos que sirvan para optimizar y digitalizar una organización.</a:t>
            </a:r>
            <a:endParaRPr sz="1400" b="0" i="0" u="none" strike="noStrike" cap="none" dirty="0">
              <a:solidFill>
                <a:srgbClr val="000000"/>
              </a:solidFill>
              <a:latin typeface="Arial"/>
              <a:ea typeface="Arial"/>
              <a:cs typeface="Arial"/>
              <a:sym typeface="Arial"/>
            </a:endParaRPr>
          </a:p>
          <a:p>
            <a:pPr marL="285750" marR="0" lvl="0" indent="-177800" algn="l" rtl="0">
              <a:lnSpc>
                <a:spcPct val="100000"/>
              </a:lnSpc>
              <a:spcBef>
                <a:spcPts val="0"/>
              </a:spcBef>
              <a:spcAft>
                <a:spcPts val="0"/>
              </a:spcAft>
              <a:buClr>
                <a:schemeClr val="dk1"/>
              </a:buClr>
              <a:buSzPts val="1700"/>
              <a:buFont typeface="Arial"/>
              <a:buNone/>
            </a:pPr>
            <a:endParaRPr sz="1700" b="0" i="0" u="none" strike="noStrike" cap="none" dirty="0">
              <a:solidFill>
                <a:schemeClr val="lt1"/>
              </a:solidFill>
              <a:latin typeface="Calibri"/>
              <a:ea typeface="Calibri"/>
              <a:cs typeface="Calibri"/>
              <a:sym typeface="Calibri"/>
            </a:endParaRPr>
          </a:p>
          <a:p>
            <a:pPr marL="285750" marR="0" lvl="0" indent="-285750" algn="l" rtl="0">
              <a:lnSpc>
                <a:spcPct val="100000"/>
              </a:lnSpc>
              <a:spcBef>
                <a:spcPts val="0"/>
              </a:spcBef>
              <a:spcAft>
                <a:spcPts val="0"/>
              </a:spcAft>
              <a:buClr>
                <a:schemeClr val="lt1"/>
              </a:buClr>
              <a:buSzPts val="1700"/>
              <a:buFont typeface="Arial"/>
              <a:buChar char="•"/>
            </a:pPr>
            <a:r>
              <a:rPr lang="es-ES" sz="1700" b="0" i="0" u="none" strike="noStrike" cap="none" dirty="0">
                <a:solidFill>
                  <a:schemeClr val="lt1"/>
                </a:solidFill>
                <a:latin typeface="Calibri"/>
                <a:ea typeface="Calibri"/>
                <a:cs typeface="Calibri"/>
                <a:sym typeface="Calibri"/>
              </a:rPr>
              <a:t>BPMN es el lenguaje universal para modelar procesos, esta notación estándar ofrece un lenguaje gráfico claro y comprensible para todos los interesados en un proceso de negocio.</a:t>
            </a:r>
            <a:endParaRPr sz="1400" b="0" i="0" u="none" strike="noStrike" cap="none" dirty="0">
              <a:solidFill>
                <a:srgbClr val="000000"/>
              </a:solidFill>
              <a:latin typeface="Arial"/>
              <a:ea typeface="Arial"/>
              <a:cs typeface="Arial"/>
              <a:sym typeface="Arial"/>
            </a:endParaRPr>
          </a:p>
          <a:p>
            <a:pPr marL="285750" marR="0" lvl="0" indent="-177800" algn="l" rtl="0">
              <a:lnSpc>
                <a:spcPct val="100000"/>
              </a:lnSpc>
              <a:spcBef>
                <a:spcPts val="0"/>
              </a:spcBef>
              <a:spcAft>
                <a:spcPts val="0"/>
              </a:spcAft>
              <a:buClr>
                <a:schemeClr val="dk1"/>
              </a:buClr>
              <a:buSzPts val="1700"/>
              <a:buFont typeface="Arial"/>
              <a:buNone/>
            </a:pPr>
            <a:endParaRPr sz="1700" b="0" i="0" u="none" strike="noStrike" cap="none" dirty="0">
              <a:solidFill>
                <a:schemeClr val="lt1"/>
              </a:solidFill>
              <a:latin typeface="Calibri"/>
              <a:ea typeface="Calibri"/>
              <a:cs typeface="Calibri"/>
              <a:sym typeface="Calibri"/>
            </a:endParaRPr>
          </a:p>
          <a:p>
            <a:pPr marL="285750" marR="0" lvl="0" indent="-285750" algn="l" rtl="0">
              <a:lnSpc>
                <a:spcPct val="100000"/>
              </a:lnSpc>
              <a:spcBef>
                <a:spcPts val="0"/>
              </a:spcBef>
              <a:spcAft>
                <a:spcPts val="0"/>
              </a:spcAft>
              <a:buClr>
                <a:schemeClr val="lt1"/>
              </a:buClr>
              <a:buSzPts val="1700"/>
              <a:buFont typeface="Arial"/>
              <a:buChar char="•"/>
            </a:pPr>
            <a:r>
              <a:rPr lang="es-ES" sz="1700" b="0" i="0" u="none" strike="noStrike" cap="none" dirty="0">
                <a:solidFill>
                  <a:schemeClr val="lt1"/>
                </a:solidFill>
                <a:latin typeface="Calibri"/>
                <a:ea typeface="Calibri"/>
                <a:cs typeface="Calibri"/>
                <a:sym typeface="Calibri"/>
              </a:rPr>
              <a:t>La Gestión de Procesos de Negocio (BPM) va más allá de la simple documentación de cómo se hacen las cosas en una empresa, es una estrategia para identificar ineficiencias, implementar mejoras y adaptarse a cambios en el entorno empresarial.</a:t>
            </a:r>
            <a:endParaRPr sz="1400" b="0" i="0" u="none" strike="noStrike" cap="none" dirty="0">
              <a:solidFill>
                <a:srgbClr val="000000"/>
              </a:solidFill>
              <a:latin typeface="Arial"/>
              <a:ea typeface="Arial"/>
              <a:cs typeface="Arial"/>
              <a:sym typeface="Arial"/>
            </a:endParaRPr>
          </a:p>
          <a:p>
            <a:pPr marL="285750" marR="0" lvl="0" indent="-177800" algn="l" rtl="0">
              <a:lnSpc>
                <a:spcPct val="100000"/>
              </a:lnSpc>
              <a:spcBef>
                <a:spcPts val="0"/>
              </a:spcBef>
              <a:spcAft>
                <a:spcPts val="0"/>
              </a:spcAft>
              <a:buClr>
                <a:schemeClr val="dk1"/>
              </a:buClr>
              <a:buSzPts val="1700"/>
              <a:buFont typeface="Arial"/>
              <a:buNone/>
            </a:pPr>
            <a:endParaRPr sz="1700" b="0" i="0" u="none" strike="noStrike" cap="none" dirty="0">
              <a:solidFill>
                <a:schemeClr val="lt1"/>
              </a:solidFill>
              <a:latin typeface="Calibri"/>
              <a:ea typeface="Calibri"/>
              <a:cs typeface="Calibri"/>
              <a:sym typeface="Calibri"/>
            </a:endParaRPr>
          </a:p>
          <a:p>
            <a:pPr marL="285750" marR="0" lvl="0" indent="-285750" algn="l" rtl="0">
              <a:lnSpc>
                <a:spcPct val="100000"/>
              </a:lnSpc>
              <a:spcBef>
                <a:spcPts val="0"/>
              </a:spcBef>
              <a:spcAft>
                <a:spcPts val="0"/>
              </a:spcAft>
              <a:buClr>
                <a:schemeClr val="lt1"/>
              </a:buClr>
              <a:buSzPts val="1700"/>
              <a:buFont typeface="Arial"/>
              <a:buChar char="•"/>
            </a:pPr>
            <a:r>
              <a:rPr lang="es-ES" sz="1700" b="0" i="0" u="none" strike="noStrike" cap="none" dirty="0">
                <a:solidFill>
                  <a:schemeClr val="lt1"/>
                </a:solidFill>
                <a:latin typeface="Calibri"/>
                <a:ea typeface="Calibri"/>
                <a:cs typeface="Calibri"/>
                <a:sym typeface="Calibri"/>
              </a:rPr>
              <a:t>El modelado BPM es el puente entre estrategia y ejecución, siendo clave en proyectos de transformación digital y optimización.</a:t>
            </a:r>
            <a:endParaRPr sz="1400" b="0" i="0" u="none" strike="noStrike" cap="none" dirty="0">
              <a:solidFill>
                <a:srgbClr val="000000"/>
              </a:solidFill>
              <a:latin typeface="Arial"/>
              <a:ea typeface="Arial"/>
              <a:cs typeface="Arial"/>
              <a:sym typeface="Arial"/>
            </a:endParaRPr>
          </a:p>
        </p:txBody>
      </p:sp>
      <p:sp>
        <p:nvSpPr>
          <p:cNvPr id="320" name="Google Shape;320;p30"/>
          <p:cNvSpPr/>
          <p:nvPr/>
        </p:nvSpPr>
        <p:spPr>
          <a:xfrm>
            <a:off x="407875" y="320830"/>
            <a:ext cx="7204493"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Calibri"/>
              <a:buNone/>
            </a:pPr>
            <a:r>
              <a:rPr lang="es-ES" sz="1700" b="0" i="0" u="none" strike="noStrike" cap="none" dirty="0">
                <a:solidFill>
                  <a:schemeClr val="lt1"/>
                </a:solidFill>
                <a:latin typeface="Calibri"/>
                <a:ea typeface="Calibri"/>
                <a:cs typeface="Calibri"/>
                <a:sym typeface="Calibri"/>
              </a:rPr>
              <a:t>/ CONCLUSIONES</a:t>
            </a:r>
            <a:endParaRPr sz="1800" b="0" i="0" u="none" strike="noStrike" cap="none" dirty="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31"/>
          <p:cNvSpPr txBox="1"/>
          <p:nvPr/>
        </p:nvSpPr>
        <p:spPr>
          <a:xfrm>
            <a:off x="665324" y="857848"/>
            <a:ext cx="7892750" cy="3492049"/>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0" i="0" u="none" strike="noStrike" cap="none" dirty="0">
                <a:solidFill>
                  <a:schemeClr val="dk1"/>
                </a:solidFill>
                <a:latin typeface="Calibri"/>
                <a:ea typeface="Calibri"/>
                <a:cs typeface="Calibri"/>
                <a:sym typeface="Calibri"/>
              </a:rPr>
              <a:t>Weske, M. (2012). Business Process Management: Concepts, Languages, Architectures. Springer.</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ES" sz="1600" b="0" i="0" u="none" strike="noStrike" cap="none" dirty="0">
                <a:solidFill>
                  <a:schemeClr val="dk1"/>
                </a:solidFill>
                <a:latin typeface="Calibri"/>
                <a:ea typeface="Calibri"/>
                <a:cs typeface="Calibri"/>
                <a:sym typeface="Calibri"/>
              </a:rPr>
              <a:t>Harmon, P. (2014). Business Process Change: A Business Process Management Guide for Managers and Process Professionals. Morgan Kaufmann.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ES" sz="1600" b="0" i="0" u="none" strike="noStrike" cap="none" dirty="0">
                <a:solidFill>
                  <a:schemeClr val="dk1"/>
                </a:solidFill>
                <a:latin typeface="Calibri"/>
                <a:ea typeface="Calibri"/>
                <a:cs typeface="Calibri"/>
                <a:sym typeface="Calibri"/>
              </a:rPr>
              <a:t>Business Process Management (BPM) </a:t>
            </a:r>
            <a:endParaRPr sz="1400" b="0" i="0" u="none" strike="noStrike" cap="none" dirty="0">
              <a:solidFill>
                <a:srgbClr val="000000"/>
              </a:solidFill>
              <a:latin typeface="Arial"/>
              <a:ea typeface="Arial"/>
              <a:cs typeface="Arial"/>
              <a:sym typeface="Arial"/>
            </a:endParaRPr>
          </a:p>
          <a:p>
            <a:pPr marL="269875" marR="0" lvl="0" indent="0" algn="l" rtl="0">
              <a:lnSpc>
                <a:spcPct val="100000"/>
              </a:lnSpc>
              <a:spcBef>
                <a:spcPts val="0"/>
              </a:spcBef>
              <a:spcAft>
                <a:spcPts val="0"/>
              </a:spcAft>
              <a:buClr>
                <a:schemeClr val="dk1"/>
              </a:buClr>
              <a:buSzPts val="1600"/>
              <a:buFont typeface="Calibri"/>
              <a:buNone/>
            </a:pPr>
            <a:r>
              <a:rPr lang="es-ES" sz="1600" b="0" i="0" u="sng" strike="noStrike" cap="none" dirty="0">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http://www.bpminstitute.org</a:t>
            </a:r>
            <a:endParaRPr sz="1600" b="0" i="0" u="none" strike="noStrike" cap="none" dirty="0">
              <a:solidFill>
                <a:schemeClr val="dk1"/>
              </a:solidFill>
              <a:latin typeface="Calibri"/>
              <a:ea typeface="Calibri"/>
              <a:cs typeface="Calibri"/>
              <a:sym typeface="Calibri"/>
            </a:endParaRPr>
          </a:p>
          <a:p>
            <a:pPr marL="269875" marR="0" lvl="0" indent="0" algn="l" rtl="0">
              <a:lnSpc>
                <a:spcPct val="100000"/>
              </a:lnSpc>
              <a:spcBef>
                <a:spcPts val="0"/>
              </a:spcBef>
              <a:spcAft>
                <a:spcPts val="0"/>
              </a:spcAft>
              <a:buClr>
                <a:schemeClr val="dk1"/>
              </a:buClr>
              <a:buSzPts val="1600"/>
              <a:buFont typeface="Calibri"/>
              <a:buNone/>
            </a:pPr>
            <a:endParaRPr sz="16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ES" sz="1600" b="0" i="0" u="none" strike="noStrike" cap="none" dirty="0">
                <a:solidFill>
                  <a:schemeClr val="dk1"/>
                </a:solidFill>
                <a:latin typeface="Calibri"/>
                <a:ea typeface="Calibri"/>
                <a:cs typeface="Calibri"/>
                <a:sym typeface="Calibri"/>
              </a:rPr>
              <a:t>BPMN Tutorial</a:t>
            </a:r>
            <a:endParaRPr sz="1400" b="0" i="0" u="none" strike="noStrike" cap="none" dirty="0">
              <a:solidFill>
                <a:srgbClr val="000000"/>
              </a:solidFill>
              <a:latin typeface="Arial"/>
              <a:ea typeface="Arial"/>
              <a:cs typeface="Arial"/>
              <a:sym typeface="Arial"/>
            </a:endParaRPr>
          </a:p>
          <a:p>
            <a:pPr marL="0" marR="0" lvl="0" indent="269875" algn="l" rtl="0">
              <a:lnSpc>
                <a:spcPct val="100000"/>
              </a:lnSpc>
              <a:spcBef>
                <a:spcPts val="0"/>
              </a:spcBef>
              <a:spcAft>
                <a:spcPts val="0"/>
              </a:spcAft>
              <a:buClr>
                <a:srgbClr val="000000"/>
              </a:buClr>
              <a:buSzPts val="1600"/>
              <a:buFont typeface="Arial"/>
              <a:buNone/>
            </a:pPr>
            <a:r>
              <a:rPr lang="es-ES" sz="1600" b="0" i="0" u="sng" strike="noStrike" cap="none" dirty="0">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https://www.bizagi.com/en/bpm-suite/bpm-products/modeler#bpmnexamples</a:t>
            </a:r>
            <a:endParaRPr sz="1600" b="0" i="0" u="none" strike="noStrike" cap="none" dirty="0">
              <a:solidFill>
                <a:schemeClr val="dk1"/>
              </a:solidFill>
              <a:latin typeface="Calibri"/>
              <a:ea typeface="Calibri"/>
              <a:cs typeface="Calibri"/>
              <a:sym typeface="Calibri"/>
            </a:endParaRPr>
          </a:p>
          <a:p>
            <a:pPr marL="0" marR="0" lvl="0" indent="269875"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ES" sz="1600" b="0" i="0" u="none" strike="noStrike" cap="none" dirty="0">
                <a:solidFill>
                  <a:schemeClr val="dk1"/>
                </a:solidFill>
                <a:latin typeface="Calibri"/>
                <a:ea typeface="Calibri"/>
                <a:cs typeface="Calibri"/>
                <a:sym typeface="Calibri"/>
              </a:rPr>
              <a:t>What is Business Process Management (BPM)?</a:t>
            </a:r>
            <a:endParaRPr sz="1400" b="0" i="0" u="none" strike="noStrike" cap="none" dirty="0">
              <a:solidFill>
                <a:srgbClr val="000000"/>
              </a:solidFill>
              <a:latin typeface="Arial"/>
              <a:ea typeface="Arial"/>
              <a:cs typeface="Arial"/>
              <a:sym typeface="Arial"/>
            </a:endParaRPr>
          </a:p>
          <a:p>
            <a:pPr marL="269875" marR="0" lvl="0" indent="0" algn="l" rtl="0">
              <a:lnSpc>
                <a:spcPct val="100000"/>
              </a:lnSpc>
              <a:spcBef>
                <a:spcPts val="0"/>
              </a:spcBef>
              <a:spcAft>
                <a:spcPts val="0"/>
              </a:spcAft>
              <a:buClr>
                <a:schemeClr val="dk1"/>
              </a:buClr>
              <a:buSzPts val="1600"/>
              <a:buFont typeface="Calibri"/>
              <a:buNone/>
            </a:pPr>
            <a:r>
              <a:rPr lang="es-ES" sz="1600" b="0" i="0" u="sng" strike="noStrike" cap="none" dirty="0">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https://www.ibm.com/cloud/learn/business-process-management</a:t>
            </a:r>
            <a:endParaRPr sz="1600" b="0" i="0" u="none" strike="noStrike" cap="none" dirty="0">
              <a:solidFill>
                <a:schemeClr val="dk1"/>
              </a:solidFill>
              <a:latin typeface="Calibri"/>
              <a:ea typeface="Calibri"/>
              <a:cs typeface="Calibri"/>
              <a:sym typeface="Calibri"/>
            </a:endParaRPr>
          </a:p>
          <a:p>
            <a:pPr marL="269875" marR="0" lvl="0" indent="0" algn="l" rtl="0">
              <a:lnSpc>
                <a:spcPct val="100000"/>
              </a:lnSpc>
              <a:spcBef>
                <a:spcPts val="0"/>
              </a:spcBef>
              <a:spcAft>
                <a:spcPts val="0"/>
              </a:spcAft>
              <a:buClr>
                <a:schemeClr val="dk1"/>
              </a:buClr>
              <a:buSzPts val="1600"/>
              <a:buFont typeface="Calibri"/>
              <a:buNone/>
            </a:pPr>
            <a:endParaRPr sz="1600" b="0" i="0" u="none" strike="noStrike" cap="none" dirty="0">
              <a:solidFill>
                <a:schemeClr val="dk1"/>
              </a:solidFill>
              <a:latin typeface="Calibri"/>
              <a:ea typeface="Calibri"/>
              <a:cs typeface="Calibri"/>
              <a:sym typeface="Calibri"/>
            </a:endParaRPr>
          </a:p>
          <a:p>
            <a:pPr marL="174625" marR="0" lvl="0" indent="-73025"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p:txBody>
      </p:sp>
      <p:sp>
        <p:nvSpPr>
          <p:cNvPr id="327" name="Google Shape;327;p31"/>
          <p:cNvSpPr/>
          <p:nvPr/>
        </p:nvSpPr>
        <p:spPr>
          <a:xfrm>
            <a:off x="407875" y="320830"/>
            <a:ext cx="7204493"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438AD7"/>
              </a:buClr>
              <a:buSzPts val="1700"/>
              <a:buFont typeface="Calibri"/>
              <a:buNone/>
            </a:pPr>
            <a:r>
              <a:rPr lang="es-ES" sz="1700" b="0" i="0" u="none" strike="noStrike" cap="none" dirty="0">
                <a:solidFill>
                  <a:srgbClr val="438AD7"/>
                </a:solidFill>
                <a:latin typeface="Calibri"/>
                <a:ea typeface="Calibri"/>
                <a:cs typeface="Calibri"/>
                <a:sym typeface="Calibri"/>
              </a:rPr>
              <a:t>/ BIBLIOGRAFÍA</a:t>
            </a:r>
            <a:endParaRPr sz="1800" b="0" i="0" u="none" strike="noStrike" cap="none" dirty="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2608</Words>
  <Application>Microsoft Office PowerPoint</Application>
  <PresentationFormat>Presentación en pantalla (16:10)</PresentationFormat>
  <Paragraphs>289</Paragraphs>
  <Slides>31</Slides>
  <Notes>31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31</vt:i4>
      </vt:variant>
    </vt:vector>
  </HeadingPairs>
  <TitlesOfParts>
    <vt:vector size="36" baseType="lpstr">
      <vt:lpstr>Arial</vt:lpstr>
      <vt:lpstr>Calibri</vt:lpstr>
      <vt:lpstr>Delius</vt:lpstr>
      <vt:lpstr>Noto Sans Symbols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ISIL</dc:creator>
  <cp:lastModifiedBy>Arturo Vargas León</cp:lastModifiedBy>
  <cp:revision>2</cp:revision>
  <dcterms:created xsi:type="dcterms:W3CDTF">2016-10-06T14:52:02Z</dcterms:created>
  <dcterms:modified xsi:type="dcterms:W3CDTF">2024-01-26T17:58:39Z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