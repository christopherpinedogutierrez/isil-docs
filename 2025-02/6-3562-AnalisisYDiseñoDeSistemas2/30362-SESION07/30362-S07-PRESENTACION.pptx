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39" roundtripDataSignature="AMtx7mg8QG2FoFX/IXDqJuRSpaWvjXMD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46" name="Google Shape;146;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3" name="Google Shape;153;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2" name="Google Shape;162;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1" name="Google Shape;171;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9" name="Google Shape;179;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7" name="Google Shape;187;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6" name="Google Shape;196;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5" name="Google Shape;205;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4" name="Google Shape;214;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23" name="Google Shape;223;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0" name="Google Shape;230;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9" name="Google Shape;239;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8" name="Google Shape;248;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7" name="Google Shape;257;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6" name="Google Shape;266;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5" name="Google Shape;275;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4" name="Google Shape;284;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3" name="Google Shape;293;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2" name="Google Shape;302;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0" name="Google Shape;310;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9" name="Google Shape;319;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28" name="Google Shape;328;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336" name="Google Shape;336;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36"/>
          <p:cNvSpPr/>
          <p:nvPr>
            <p:ph idx="2" type="pic"/>
          </p:nvPr>
        </p:nvSpPr>
        <p:spPr>
          <a:xfrm>
            <a:off x="475687" y="2877477"/>
            <a:ext cx="8207375" cy="2394000"/>
          </a:xfrm>
          <a:prstGeom prst="rect">
            <a:avLst/>
          </a:prstGeom>
          <a:noFill/>
          <a:ln>
            <a:noFill/>
          </a:ln>
        </p:spPr>
      </p:sp>
      <p:sp>
        <p:nvSpPr>
          <p:cNvPr id="17" name="Google Shape;17;p3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3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3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1" name="Shape 21"/>
        <p:cNvGrpSpPr/>
        <p:nvPr/>
      </p:nvGrpSpPr>
      <p:grpSpPr>
        <a:xfrm>
          <a:off x="0" y="0"/>
          <a:ext cx="0" cy="0"/>
          <a:chOff x="0" y="0"/>
          <a:chExt cx="0" cy="0"/>
        </a:xfrm>
      </p:grpSpPr>
      <p:sp>
        <p:nvSpPr>
          <p:cNvPr id="22" name="Google Shape;22;p38"/>
          <p:cNvSpPr/>
          <p:nvPr>
            <p:ph idx="2" type="pic"/>
          </p:nvPr>
        </p:nvSpPr>
        <p:spPr>
          <a:xfrm>
            <a:off x="475687" y="2877477"/>
            <a:ext cx="8207375" cy="2394000"/>
          </a:xfrm>
          <a:prstGeom prst="rect">
            <a:avLst/>
          </a:prstGeom>
          <a:noFill/>
          <a:ln>
            <a:noFill/>
          </a:ln>
        </p:spPr>
      </p:sp>
      <p:sp>
        <p:nvSpPr>
          <p:cNvPr id="23" name="Google Shape;23;p3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3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6" name="Shape 26"/>
        <p:cNvGrpSpPr/>
        <p:nvPr/>
      </p:nvGrpSpPr>
      <p:grpSpPr>
        <a:xfrm>
          <a:off x="0" y="0"/>
          <a:ext cx="0" cy="0"/>
          <a:chOff x="0" y="0"/>
          <a:chExt cx="0" cy="0"/>
        </a:xfrm>
      </p:grpSpPr>
      <p:sp>
        <p:nvSpPr>
          <p:cNvPr id="27" name="Google Shape;27;p39"/>
          <p:cNvSpPr/>
          <p:nvPr>
            <p:ph idx="2" type="pic"/>
          </p:nvPr>
        </p:nvSpPr>
        <p:spPr>
          <a:xfrm>
            <a:off x="4572000" y="804863"/>
            <a:ext cx="4103688" cy="4463362"/>
          </a:xfrm>
          <a:prstGeom prst="rect">
            <a:avLst/>
          </a:prstGeom>
          <a:noFill/>
          <a:ln>
            <a:noFill/>
          </a:ln>
        </p:spPr>
      </p:sp>
      <p:sp>
        <p:nvSpPr>
          <p:cNvPr id="28" name="Google Shape;28;p3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3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39"/>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0"/>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 name="Google Shape;33;p40"/>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Google Shape;34;p40"/>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6" name="Shape 36"/>
        <p:cNvGrpSpPr/>
        <p:nvPr/>
      </p:nvGrpSpPr>
      <p:grpSpPr>
        <a:xfrm>
          <a:off x="0" y="0"/>
          <a:ext cx="0" cy="0"/>
          <a:chOff x="0" y="0"/>
          <a:chExt cx="0" cy="0"/>
        </a:xfrm>
      </p:grpSpPr>
      <p:sp>
        <p:nvSpPr>
          <p:cNvPr id="37" name="Google Shape;37;p42"/>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a:p>
        </p:txBody>
      </p:sp>
      <p:pic>
        <p:nvPicPr>
          <p:cNvPr id="38" name="Google Shape;38;p42"/>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9" name="Google Shape;39;p42"/>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40" name="Shape 40"/>
        <p:cNvGrpSpPr/>
        <p:nvPr/>
      </p:nvGrpSpPr>
      <p:grpSpPr>
        <a:xfrm>
          <a:off x="0" y="0"/>
          <a:ext cx="0" cy="0"/>
          <a:chOff x="0" y="0"/>
          <a:chExt cx="0" cy="0"/>
        </a:xfrm>
      </p:grpSpPr>
      <p:sp>
        <p:nvSpPr>
          <p:cNvPr id="41" name="Google Shape;41;p43"/>
          <p:cNvSpPr/>
          <p:nvPr>
            <p:ph idx="2" type="pic"/>
          </p:nvPr>
        </p:nvSpPr>
        <p:spPr>
          <a:xfrm>
            <a:off x="468313" y="1175705"/>
            <a:ext cx="8207375" cy="4096800"/>
          </a:xfrm>
          <a:prstGeom prst="rect">
            <a:avLst/>
          </a:prstGeom>
          <a:noFill/>
          <a:ln>
            <a:noFill/>
          </a:ln>
        </p:spPr>
      </p:sp>
      <p:sp>
        <p:nvSpPr>
          <p:cNvPr id="42" name="Google Shape;42;p43"/>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4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44"/>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45"/>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a:p>
        </p:txBody>
      </p:sp>
      <p:pic>
        <p:nvPicPr>
          <p:cNvPr id="48" name="Google Shape;48;p45"/>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45"/>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46"/>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a:p>
        </p:txBody>
      </p:sp>
      <p:pic>
        <p:nvPicPr>
          <p:cNvPr id="52" name="Google Shape;52;p46"/>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46"/>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4"/>
          <p:cNvGrpSpPr/>
          <p:nvPr/>
        </p:nvGrpSpPr>
        <p:grpSpPr>
          <a:xfrm>
            <a:off x="793745" y="5369051"/>
            <a:ext cx="8104595" cy="215444"/>
            <a:chOff x="793745" y="5369051"/>
            <a:chExt cx="7954689" cy="215444"/>
          </a:xfrm>
        </p:grpSpPr>
        <p:sp>
          <p:nvSpPr>
            <p:cNvPr id="11" name="Google Shape;11;p34"/>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800" u="none" cap="none" strike="noStrike">
                  <a:solidFill>
                    <a:srgbClr val="7F7F7F"/>
                  </a:solidFill>
                  <a:latin typeface="Calibri"/>
                  <a:ea typeface="Calibri"/>
                  <a:cs typeface="Calibri"/>
                  <a:sym typeface="Calibri"/>
                </a:rPr>
                <a:t>ANÁLISIS Y DISEÑO DE SISTEMAS II  •  SESIÓN 07</a:t>
              </a:r>
              <a:endParaRPr sz="800">
                <a:solidFill>
                  <a:srgbClr val="7F7F7F"/>
                </a:solidFill>
                <a:latin typeface="Calibri"/>
                <a:ea typeface="Calibri"/>
                <a:cs typeface="Calibri"/>
                <a:sym typeface="Calibri"/>
              </a:endParaRPr>
            </a:p>
          </p:txBody>
        </p:sp>
        <p:sp>
          <p:nvSpPr>
            <p:cNvPr id="12" name="Google Shape;12;p34"/>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s-ES" sz="600">
                  <a:solidFill>
                    <a:srgbClr val="7F7F7F"/>
                  </a:solidFill>
                  <a:latin typeface="Calibri"/>
                  <a:ea typeface="Calibri"/>
                  <a:cs typeface="Calibri"/>
                  <a:sym typeface="Calibri"/>
                </a:rPr>
                <a:t>© 2023 ISIL. Todos los derechos reservados</a:t>
              </a:r>
              <a:endParaRPr/>
            </a:p>
          </p:txBody>
        </p:sp>
      </p:grpSp>
      <p:pic>
        <p:nvPicPr>
          <p:cNvPr id="13" name="Google Shape;13;p34"/>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www.iso.org/standard/63500.html" TargetMode="External"/><Relationship Id="rId4" Type="http://schemas.openxmlformats.org/officeDocument/2006/relationships/hyperlink" Target="https://www.ibm.com/docs/en/rational-rose/2003.06.00/998_docs/en/Rose/case_tut/en/casetut.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Calibri"/>
              <a:buNone/>
            </a:pPr>
            <a:r>
              <a:rPr lang="es-ES" sz="1800">
                <a:solidFill>
                  <a:schemeClr val="lt1"/>
                </a:solidFill>
                <a:latin typeface="Calibri"/>
                <a:ea typeface="Calibri"/>
                <a:cs typeface="Calibri"/>
                <a:sym typeface="Calibri"/>
              </a:rPr>
              <a:t>SESIÓN</a:t>
            </a:r>
            <a:endParaRPr sz="1800">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FFFF"/>
              </a:buClr>
              <a:buSzPts val="5800"/>
              <a:buFont typeface="Calibri"/>
              <a:buNone/>
            </a:pPr>
            <a:r>
              <a:rPr lang="es-ES" sz="5800">
                <a:solidFill>
                  <a:srgbClr val="FFFFFF"/>
                </a:solidFill>
                <a:latin typeface="Calibri"/>
                <a:ea typeface="Calibri"/>
                <a:cs typeface="Calibri"/>
                <a:sym typeface="Calibri"/>
              </a:rPr>
              <a:t>07</a:t>
            </a:r>
            <a:endParaRPr sz="1800">
              <a:solidFill>
                <a:schemeClr val="dk1"/>
              </a:solidFill>
              <a:latin typeface="Calibri"/>
              <a:ea typeface="Calibri"/>
              <a:cs typeface="Calibri"/>
              <a:sym typeface="Calibri"/>
            </a:endParaRPr>
          </a:p>
        </p:txBody>
      </p:sp>
      <p:sp>
        <p:nvSpPr>
          <p:cNvPr id="62" name="Google Shape;62;p1"/>
          <p:cNvSpPr txBox="1"/>
          <p:nvPr/>
        </p:nvSpPr>
        <p:spPr>
          <a:xfrm>
            <a:off x="3175138" y="1364545"/>
            <a:ext cx="5422704" cy="1200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600">
                <a:solidFill>
                  <a:schemeClr val="lt1"/>
                </a:solidFill>
                <a:latin typeface="Calibri"/>
                <a:ea typeface="Calibri"/>
                <a:cs typeface="Calibri"/>
                <a:sym typeface="Calibri"/>
              </a:rPr>
              <a:t>ESPECIFICACIÓN DE </a:t>
            </a:r>
            <a:endParaRPr/>
          </a:p>
          <a:p>
            <a:pPr indent="0" lvl="0" marL="0" marR="0" rtl="0" algn="l">
              <a:spcBef>
                <a:spcPts val="0"/>
              </a:spcBef>
              <a:spcAft>
                <a:spcPts val="0"/>
              </a:spcAft>
              <a:buNone/>
            </a:pPr>
            <a:r>
              <a:rPr b="1" lang="es-ES" sz="3600">
                <a:solidFill>
                  <a:schemeClr val="lt1"/>
                </a:solidFill>
                <a:latin typeface="Calibri"/>
                <a:ea typeface="Calibri"/>
                <a:cs typeface="Calibri"/>
                <a:sym typeface="Calibri"/>
              </a:rPr>
              <a:t>CASOS DE USO</a:t>
            </a:r>
            <a:endParaRPr b="1" sz="3600">
              <a:solidFill>
                <a:schemeClr val="lt1"/>
              </a:solidFill>
              <a:latin typeface="Calibri"/>
              <a:ea typeface="Calibri"/>
              <a:cs typeface="Calibri"/>
              <a:sym typeface="Calibri"/>
            </a:endParaRPr>
          </a:p>
        </p:txBody>
      </p:sp>
      <p:sp>
        <p:nvSpPr>
          <p:cNvPr id="63" name="Google Shape;63;p1"/>
          <p:cNvSpPr txBox="1"/>
          <p:nvPr/>
        </p:nvSpPr>
        <p:spPr>
          <a:xfrm>
            <a:off x="3175138" y="2996279"/>
            <a:ext cx="5026425" cy="135417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Especificación de alto nivel</a:t>
            </a:r>
            <a:endParaRPr/>
          </a:p>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Especificación detallada</a:t>
            </a:r>
            <a:endParaRPr/>
          </a:p>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Documento técnico de definición del diagrama de casos de uso</a:t>
            </a:r>
            <a:endParaRPr/>
          </a:p>
          <a:p>
            <a:pPr indent="-184150" lvl="0" marL="285750" marR="0" rtl="0" algn="l">
              <a:spcBef>
                <a:spcPts val="0"/>
              </a:spcBef>
              <a:spcAft>
                <a:spcPts val="0"/>
              </a:spcAft>
              <a:buClr>
                <a:schemeClr val="lt1"/>
              </a:buClr>
              <a:buSzPts val="1600"/>
              <a:buFont typeface="Arial"/>
              <a:buNone/>
            </a:pPr>
            <a:r>
              <a:t/>
            </a:r>
            <a:endParaRPr b="1" sz="1800">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lang="es-ES" sz="1400">
                <a:solidFill>
                  <a:srgbClr val="1F85A6"/>
                </a:solidFill>
                <a:latin typeface="Calibri"/>
                <a:ea typeface="Calibri"/>
                <a:cs typeface="Calibri"/>
                <a:sym typeface="Calibri"/>
              </a:rPr>
              <a:t>UNIDAD DE APRENDIZAJE 2 – UA2</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438AD7"/>
              </a:buClr>
              <a:buSzPts val="1700"/>
              <a:buFont typeface="Calibri"/>
              <a:buNone/>
            </a:pPr>
            <a:r>
              <a:rPr lang="es-ES" sz="1700">
                <a:solidFill>
                  <a:srgbClr val="438AD7"/>
                </a:solidFill>
                <a:latin typeface="Calibri"/>
                <a:ea typeface="Calibri"/>
                <a:cs typeface="Calibri"/>
                <a:sym typeface="Calibri"/>
              </a:rPr>
              <a:t>/ INTRODUCCIÓN</a:t>
            </a:r>
            <a:endParaRPr sz="1800">
              <a:solidFill>
                <a:schemeClr val="dk1"/>
              </a:solidFill>
              <a:latin typeface="Calibri"/>
              <a:ea typeface="Calibri"/>
              <a:cs typeface="Calibri"/>
              <a:sym typeface="Calibri"/>
            </a:endParaRPr>
          </a:p>
        </p:txBody>
      </p:sp>
      <p:sp>
        <p:nvSpPr>
          <p:cNvPr id="72" name="Google Shape;72;p2"/>
          <p:cNvSpPr txBox="1"/>
          <p:nvPr/>
        </p:nvSpPr>
        <p:spPr>
          <a:xfrm>
            <a:off x="571679" y="909277"/>
            <a:ext cx="7784512" cy="3563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En un modelo UML, una especificación de caso de uso es un documento que describe el comportamiento de un sistema desde la perspectiva de un usuario. Es una narración que describe cómo un actor interactúa con el sistema para lograr un objetivo específico.</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600"/>
              </a:spcBef>
              <a:spcAft>
                <a:spcPts val="0"/>
              </a:spcAft>
              <a:buNone/>
            </a:pPr>
            <a:r>
              <a:rPr lang="es-ES" sz="1600">
                <a:solidFill>
                  <a:schemeClr val="dk1"/>
                </a:solidFill>
                <a:latin typeface="Calibri"/>
                <a:ea typeface="Calibri"/>
                <a:cs typeface="Calibri"/>
                <a:sym typeface="Calibri"/>
              </a:rPr>
              <a:t>Entonces, durante esta sesión:</a:t>
            </a:r>
            <a:endParaRPr/>
          </a:p>
          <a:p>
            <a:pPr indent="0" lvl="1" marL="457200" marR="0" rtl="0" algn="l">
              <a:spcBef>
                <a:spcPts val="600"/>
              </a:spcBef>
              <a:spcAft>
                <a:spcPts val="0"/>
              </a:spcAft>
              <a:buNone/>
            </a:pPr>
            <a:r>
              <a:t/>
            </a:r>
            <a:endParaRPr b="0" i="0" sz="1600" u="none" cap="none" strike="noStrike">
              <a:solidFill>
                <a:schemeClr val="dk1"/>
              </a:solidFill>
              <a:latin typeface="Calibri"/>
              <a:ea typeface="Calibri"/>
              <a:cs typeface="Calibri"/>
              <a:sym typeface="Calibri"/>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realizar una Especificación de alto nivel de Casos de uso.</a:t>
            </a:r>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Aprenderá</a:t>
            </a:r>
            <a:r>
              <a:rPr b="0" i="0" lang="es-ES" sz="1600" u="none" cap="none" strike="noStrike">
                <a:solidFill>
                  <a:schemeClr val="dk1"/>
                </a:solidFill>
                <a:latin typeface="Calibri"/>
                <a:ea typeface="Calibri"/>
                <a:cs typeface="Calibri"/>
                <a:sym typeface="Calibri"/>
              </a:rPr>
              <a:t>s a realizar una Especificación detallada de Casos de uso.</a:t>
            </a:r>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el procedimiento a seguir para elaborar un Documento técnico de definición del diagrama de casos de uso.</a:t>
            </a:r>
            <a:endParaRPr/>
          </a:p>
          <a:p>
            <a:pPr indent="0" lvl="1" marL="457200" marR="0" rtl="0" algn="l">
              <a:spcBef>
                <a:spcPts val="1800"/>
              </a:spcBef>
              <a:spcAft>
                <a:spcPts val="60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ESPECIFICACIÓN DE ALTO NIVEL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4"/>
          <p:cNvPicPr preferRelativeResize="0"/>
          <p:nvPr>
            <p:ph idx="2" type="pic"/>
          </p:nvPr>
        </p:nvPicPr>
        <p:blipFill rotWithShape="1">
          <a:blip r:embed="rId3">
            <a:alphaModFix/>
          </a:blip>
          <a:srcRect b="17480" l="0" r="0" t="17481"/>
          <a:stretch/>
        </p:blipFill>
        <p:spPr>
          <a:xfrm>
            <a:off x="1322654" y="3434070"/>
            <a:ext cx="6498691" cy="1895596"/>
          </a:xfrm>
          <a:prstGeom prst="rect">
            <a:avLst/>
          </a:prstGeom>
          <a:noFill/>
          <a:ln>
            <a:noFill/>
          </a:ln>
        </p:spPr>
      </p:pic>
      <p:sp>
        <p:nvSpPr>
          <p:cNvPr id="86" name="Google Shape;86;p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CONSISTE?</a:t>
            </a:r>
            <a:endParaRPr/>
          </a:p>
        </p:txBody>
      </p:sp>
      <p:sp>
        <p:nvSpPr>
          <p:cNvPr id="87" name="Google Shape;87;p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 ALTO NIVEL</a:t>
            </a:r>
            <a:endParaRPr/>
          </a:p>
        </p:txBody>
      </p:sp>
      <p:sp>
        <p:nvSpPr>
          <p:cNvPr id="88" name="Google Shape;88;p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Es una descripción general y concisa que aborda las interacciones entre un actor y el sistema, pero sin entrar en detalles técnicos o de implementación. </a:t>
            </a:r>
            <a:endParaRPr/>
          </a:p>
          <a:p>
            <a:pPr indent="-266700" lvl="0" marL="266700" rtl="0" algn="l">
              <a:spcBef>
                <a:spcPts val="600"/>
              </a:spcBef>
              <a:spcAft>
                <a:spcPts val="0"/>
              </a:spcAft>
              <a:buClr>
                <a:schemeClr val="dk1"/>
              </a:buClr>
              <a:buSzPts val="1200"/>
              <a:buChar char="❑"/>
            </a:pPr>
            <a:r>
              <a:rPr lang="es-ES"/>
              <a:t>Son especialmente útiles en las primeras etapas de un proyecto para entender el alcance y las metas sin perderse en los detalles técnicos.</a:t>
            </a:r>
            <a:endParaRPr/>
          </a:p>
          <a:p>
            <a:pPr indent="-266700" lvl="0" marL="266700" rtl="0" algn="l">
              <a:spcBef>
                <a:spcPts val="600"/>
              </a:spcBef>
              <a:spcAft>
                <a:spcPts val="0"/>
              </a:spcAft>
              <a:buClr>
                <a:schemeClr val="dk1"/>
              </a:buClr>
              <a:buSzPts val="1200"/>
              <a:buChar char="❑"/>
            </a:pPr>
            <a:r>
              <a:rPr lang="es-ES"/>
              <a:t>Son excelentes para la comunicación con stakeholders que no son técnicos y para establecer un entendimiento común del sistema que se va a desarrollar, se centra en “qué” hace el sistema en lugar de “cómo” lo hace.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 ALTO NIVEL</a:t>
            </a:r>
            <a:endParaRPr/>
          </a:p>
        </p:txBody>
      </p:sp>
      <p:pic>
        <p:nvPicPr>
          <p:cNvPr id="95" name="Google Shape;95;p5"/>
          <p:cNvPicPr preferRelativeResize="0"/>
          <p:nvPr>
            <p:ph idx="2" type="pic"/>
          </p:nvPr>
        </p:nvPicPr>
        <p:blipFill rotWithShape="1">
          <a:blip r:embed="rId3">
            <a:alphaModFix/>
          </a:blip>
          <a:srcRect b="0" l="19338" r="19339" t="0"/>
          <a:stretch/>
        </p:blipFill>
        <p:spPr>
          <a:xfrm>
            <a:off x="5597496" y="1346661"/>
            <a:ext cx="3078192" cy="3347985"/>
          </a:xfrm>
          <a:prstGeom prst="rect">
            <a:avLst/>
          </a:prstGeom>
          <a:noFill/>
          <a:ln>
            <a:noFill/>
          </a:ln>
        </p:spPr>
      </p:pic>
      <p:sp>
        <p:nvSpPr>
          <p:cNvPr id="96" name="Google Shape;96;p5"/>
          <p:cNvSpPr txBox="1"/>
          <p:nvPr>
            <p:ph idx="4" type="body"/>
          </p:nvPr>
        </p:nvSpPr>
        <p:spPr>
          <a:xfrm>
            <a:off x="468313" y="1058921"/>
            <a:ext cx="5054369" cy="4096800"/>
          </a:xfrm>
          <a:prstGeom prst="rect">
            <a:avLst/>
          </a:prstGeom>
          <a:noFill/>
          <a:ln>
            <a:noFill/>
          </a:ln>
        </p:spPr>
        <p:txBody>
          <a:bodyPr anchorCtr="0" anchor="t" bIns="45700" lIns="91425" spcFirstLastPara="1" rIns="91425" wrap="square" tIns="45700">
            <a:noAutofit/>
          </a:bodyPr>
          <a:lstStyle/>
          <a:p>
            <a:pPr indent="-265113" lvl="0" marL="265113" rtl="0" algn="l">
              <a:spcBef>
                <a:spcPts val="0"/>
              </a:spcBef>
              <a:spcAft>
                <a:spcPts val="0"/>
              </a:spcAft>
              <a:buClr>
                <a:schemeClr val="dk1"/>
              </a:buClr>
              <a:buSzPts val="1600"/>
              <a:buFont typeface="Calibri"/>
              <a:buAutoNum type="arabicPeriod"/>
            </a:pPr>
            <a:r>
              <a:rPr lang="es-ES"/>
              <a:t>Título del Caso de Uso </a:t>
            </a:r>
            <a:r>
              <a:rPr i="1" lang="es-ES">
                <a:solidFill>
                  <a:srgbClr val="7F7F7F"/>
                </a:solidFill>
              </a:rPr>
              <a:t>[Un nombre corto y descriptivo que lo identifique de manera única]</a:t>
            </a:r>
            <a:endParaRPr/>
          </a:p>
          <a:p>
            <a:pPr indent="-265113" lvl="0" marL="265113" rtl="0" algn="l">
              <a:spcBef>
                <a:spcPts val="600"/>
              </a:spcBef>
              <a:spcAft>
                <a:spcPts val="0"/>
              </a:spcAft>
              <a:buClr>
                <a:schemeClr val="dk1"/>
              </a:buClr>
              <a:buSzPts val="1600"/>
              <a:buFont typeface="Calibri"/>
              <a:buAutoNum type="arabicPeriod"/>
            </a:pPr>
            <a:r>
              <a:rPr lang="es-ES"/>
              <a:t>Actor Principal </a:t>
            </a:r>
            <a:r>
              <a:rPr i="1" lang="es-ES">
                <a:solidFill>
                  <a:srgbClr val="7F7F7F"/>
                </a:solidFill>
              </a:rPr>
              <a:t>[Quién o qué interactuará con el sistema para lograr un objetivo específico]</a:t>
            </a:r>
            <a:endParaRPr/>
          </a:p>
          <a:p>
            <a:pPr indent="-265113" lvl="0" marL="265113" rtl="0" algn="l">
              <a:spcBef>
                <a:spcPts val="600"/>
              </a:spcBef>
              <a:spcAft>
                <a:spcPts val="0"/>
              </a:spcAft>
              <a:buClr>
                <a:schemeClr val="dk1"/>
              </a:buClr>
              <a:buSzPts val="1600"/>
              <a:buFont typeface="Calibri"/>
              <a:buAutoNum type="arabicPeriod"/>
            </a:pPr>
            <a:r>
              <a:rPr lang="es-ES"/>
              <a:t>Precondiciones </a:t>
            </a:r>
            <a:r>
              <a:rPr i="1" lang="es-ES">
                <a:solidFill>
                  <a:srgbClr val="7F7F7F"/>
                </a:solidFill>
              </a:rPr>
              <a:t>[Las condiciones que deben cumplirse antes de que pueda iniciarse el caso de uso]</a:t>
            </a:r>
            <a:endParaRPr/>
          </a:p>
          <a:p>
            <a:pPr indent="-265113" lvl="0" marL="265113" rtl="0" algn="l">
              <a:spcBef>
                <a:spcPts val="600"/>
              </a:spcBef>
              <a:spcAft>
                <a:spcPts val="0"/>
              </a:spcAft>
              <a:buClr>
                <a:schemeClr val="dk1"/>
              </a:buClr>
              <a:buSzPts val="1600"/>
              <a:buFont typeface="Calibri"/>
              <a:buAutoNum type="arabicPeriod"/>
            </a:pPr>
            <a:r>
              <a:rPr lang="es-ES"/>
              <a:t>Flujo Principal </a:t>
            </a:r>
            <a:r>
              <a:rPr i="1" lang="es-ES">
                <a:solidFill>
                  <a:srgbClr val="7F7F7F"/>
                </a:solidFill>
              </a:rPr>
              <a:t>[Secuencia de pasos que describe de manera muy general la interacción normal entre el actor y el sistema]</a:t>
            </a:r>
            <a:endParaRPr/>
          </a:p>
          <a:p>
            <a:pPr indent="-265113" lvl="0" marL="265113" rtl="0" algn="l">
              <a:spcBef>
                <a:spcPts val="600"/>
              </a:spcBef>
              <a:spcAft>
                <a:spcPts val="0"/>
              </a:spcAft>
              <a:buClr>
                <a:schemeClr val="dk1"/>
              </a:buClr>
              <a:buSzPts val="1600"/>
              <a:buFont typeface="Calibri"/>
              <a:buAutoNum type="arabicPeriod"/>
            </a:pPr>
            <a:r>
              <a:rPr lang="es-ES"/>
              <a:t>Postcondiciones </a:t>
            </a:r>
            <a:r>
              <a:rPr i="1" lang="es-ES">
                <a:solidFill>
                  <a:srgbClr val="7F7F7F"/>
                </a:solidFill>
              </a:rPr>
              <a:t>[El estado en el que se encuentra el sistema después de que se ha completado el caso de uso]</a:t>
            </a:r>
            <a:endParaRPr/>
          </a:p>
          <a:p>
            <a:pPr indent="-265113" lvl="0" marL="265113" rtl="0" algn="l">
              <a:spcBef>
                <a:spcPts val="600"/>
              </a:spcBef>
              <a:spcAft>
                <a:spcPts val="0"/>
              </a:spcAft>
              <a:buClr>
                <a:schemeClr val="dk1"/>
              </a:buClr>
              <a:buSzPts val="1600"/>
              <a:buFont typeface="Calibri"/>
              <a:buAutoNum type="arabicPeriod"/>
            </a:pPr>
            <a:r>
              <a:rPr lang="es-ES"/>
              <a:t>Excepciones </a:t>
            </a:r>
            <a:r>
              <a:rPr i="1" lang="es-ES">
                <a:solidFill>
                  <a:srgbClr val="7F7F7F"/>
                </a:solidFill>
              </a:rPr>
              <a:t>[Situaciones en las que el flujo principal podría desviarse, pero que no se detallan completamente]</a:t>
            </a:r>
            <a:endParaRPr/>
          </a:p>
        </p:txBody>
      </p:sp>
      <p:sp>
        <p:nvSpPr>
          <p:cNvPr id="97" name="Google Shape;97;p5"/>
          <p:cNvSpPr txBox="1"/>
          <p:nvPr>
            <p:ph idx="1" type="body"/>
          </p:nvPr>
        </p:nvSpPr>
        <p:spPr>
          <a:xfrm>
            <a:off x="468313" y="668367"/>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COMPONENTES CLAVE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EJEMPLO: Caso de Uso “Realizar compra en línea”</a:t>
            </a:r>
            <a:endParaRPr/>
          </a:p>
        </p:txBody>
      </p:sp>
      <p:sp>
        <p:nvSpPr>
          <p:cNvPr id="104" name="Google Shape;104;p6"/>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ESPECIFICACIÓN DE ALTO NIVEL</a:t>
            </a:r>
            <a:endParaRPr/>
          </a:p>
        </p:txBody>
      </p:sp>
      <p:sp>
        <p:nvSpPr>
          <p:cNvPr id="105" name="Google Shape;105;p6"/>
          <p:cNvSpPr txBox="1"/>
          <p:nvPr>
            <p:ph idx="3" type="body"/>
          </p:nvPr>
        </p:nvSpPr>
        <p:spPr>
          <a:xfrm>
            <a:off x="468313" y="1174363"/>
            <a:ext cx="8207375" cy="3996153"/>
          </a:xfrm>
          <a:prstGeom prst="rect">
            <a:avLst/>
          </a:prstGeom>
          <a:solidFill>
            <a:srgbClr val="FFFFCC"/>
          </a:solidFill>
          <a:ln>
            <a:noFill/>
          </a:ln>
        </p:spPr>
        <p:txBody>
          <a:bodyPr anchorCtr="0" anchor="t" bIns="45700" lIns="91425" spcFirstLastPara="1" rIns="91425" wrap="square" tIns="45700">
            <a:noAutofit/>
          </a:bodyPr>
          <a:lstStyle/>
          <a:p>
            <a:pPr indent="-176213" lvl="0" marL="176213" rtl="0" algn="just">
              <a:lnSpc>
                <a:spcPct val="90000"/>
              </a:lnSpc>
              <a:spcBef>
                <a:spcPts val="0"/>
              </a:spcBef>
              <a:spcAft>
                <a:spcPts val="0"/>
              </a:spcAft>
              <a:buClr>
                <a:srgbClr val="3F3F3F"/>
              </a:buClr>
              <a:buSzPts val="1200"/>
              <a:buFont typeface="Noto Sans Symbols"/>
              <a:buChar char="❑"/>
            </a:pPr>
            <a:r>
              <a:rPr b="1" lang="es-ES">
                <a:solidFill>
                  <a:schemeClr val="dk1"/>
                </a:solidFill>
              </a:rPr>
              <a:t>Título del CU</a:t>
            </a:r>
            <a:r>
              <a:rPr lang="es-ES">
                <a:solidFill>
                  <a:schemeClr val="dk1"/>
                </a:solidFill>
              </a:rPr>
              <a:t>: Realizar compra en línea</a:t>
            </a:r>
            <a:endParaRPr/>
          </a:p>
          <a:p>
            <a:pPr indent="-176213" lvl="0" marL="176213" rtl="0" algn="just">
              <a:lnSpc>
                <a:spcPct val="90000"/>
              </a:lnSpc>
              <a:spcBef>
                <a:spcPts val="600"/>
              </a:spcBef>
              <a:spcAft>
                <a:spcPts val="0"/>
              </a:spcAft>
              <a:buClr>
                <a:srgbClr val="3F3F3F"/>
              </a:buClr>
              <a:buSzPts val="1200"/>
              <a:buFont typeface="Noto Sans Symbols"/>
              <a:buChar char="❑"/>
            </a:pPr>
            <a:r>
              <a:rPr b="1" lang="es-ES">
                <a:solidFill>
                  <a:schemeClr val="dk1"/>
                </a:solidFill>
              </a:rPr>
              <a:t>Actor Principal</a:t>
            </a:r>
            <a:r>
              <a:rPr lang="es-ES">
                <a:solidFill>
                  <a:schemeClr val="dk1"/>
                </a:solidFill>
              </a:rPr>
              <a:t>: Cliente</a:t>
            </a:r>
            <a:endParaRPr/>
          </a:p>
          <a:p>
            <a:pPr indent="-176213" lvl="0" marL="176213" rtl="0" algn="just">
              <a:lnSpc>
                <a:spcPct val="90000"/>
              </a:lnSpc>
              <a:spcBef>
                <a:spcPts val="600"/>
              </a:spcBef>
              <a:spcAft>
                <a:spcPts val="0"/>
              </a:spcAft>
              <a:buClr>
                <a:srgbClr val="3F3F3F"/>
              </a:buClr>
              <a:buSzPts val="1200"/>
              <a:buFont typeface="Noto Sans Symbols"/>
              <a:buChar char="❑"/>
            </a:pPr>
            <a:r>
              <a:rPr b="1" lang="es-ES">
                <a:solidFill>
                  <a:schemeClr val="dk1"/>
                </a:solidFill>
              </a:rPr>
              <a:t>Precondiciones:</a:t>
            </a:r>
            <a:endParaRPr/>
          </a:p>
          <a:p>
            <a:pPr indent="-177800" lvl="1" marL="450850" rtl="0" algn="just">
              <a:lnSpc>
                <a:spcPct val="90000"/>
              </a:lnSpc>
              <a:spcBef>
                <a:spcPts val="600"/>
              </a:spcBef>
              <a:spcAft>
                <a:spcPts val="0"/>
              </a:spcAft>
              <a:buSzPts val="1600"/>
              <a:buChar char="▪"/>
            </a:pPr>
            <a:r>
              <a:rPr lang="es-ES" sz="1600">
                <a:solidFill>
                  <a:schemeClr val="dk1"/>
                </a:solidFill>
              </a:rPr>
              <a:t>El cliente debe tener una cuenta y estar autenticado</a:t>
            </a:r>
            <a:endParaRPr/>
          </a:p>
          <a:p>
            <a:pPr indent="-176213" lvl="0" marL="176213" rtl="0" algn="just">
              <a:lnSpc>
                <a:spcPct val="90000"/>
              </a:lnSpc>
              <a:spcBef>
                <a:spcPts val="600"/>
              </a:spcBef>
              <a:spcAft>
                <a:spcPts val="0"/>
              </a:spcAft>
              <a:buClr>
                <a:srgbClr val="3F3F3F"/>
              </a:buClr>
              <a:buSzPts val="1200"/>
              <a:buFont typeface="Noto Sans Symbols"/>
              <a:buChar char="❑"/>
            </a:pPr>
            <a:r>
              <a:rPr b="1" lang="es-ES">
                <a:solidFill>
                  <a:schemeClr val="dk1"/>
                </a:solidFill>
              </a:rPr>
              <a:t>Flujo Principal:</a:t>
            </a:r>
            <a:endParaRPr/>
          </a:p>
          <a:p>
            <a:pPr indent="-185738" lvl="1" marL="450850" rtl="0" algn="just">
              <a:lnSpc>
                <a:spcPct val="90000"/>
              </a:lnSpc>
              <a:spcBef>
                <a:spcPts val="600"/>
              </a:spcBef>
              <a:spcAft>
                <a:spcPts val="0"/>
              </a:spcAft>
              <a:buSzPts val="1600"/>
              <a:buFont typeface="Calibri"/>
              <a:buAutoNum type="arabicPeriod"/>
            </a:pPr>
            <a:r>
              <a:rPr lang="es-ES" sz="1600">
                <a:solidFill>
                  <a:schemeClr val="dk1"/>
                </a:solidFill>
              </a:rPr>
              <a:t>El cliente navega al catálogo de productos</a:t>
            </a:r>
            <a:endParaRPr/>
          </a:p>
          <a:p>
            <a:pPr indent="-185738" lvl="1" marL="450850" rtl="0" algn="just">
              <a:lnSpc>
                <a:spcPct val="90000"/>
              </a:lnSpc>
              <a:spcBef>
                <a:spcPts val="600"/>
              </a:spcBef>
              <a:spcAft>
                <a:spcPts val="0"/>
              </a:spcAft>
              <a:buSzPts val="1600"/>
              <a:buFont typeface="Calibri"/>
              <a:buAutoNum type="arabicPeriod"/>
            </a:pPr>
            <a:r>
              <a:rPr lang="es-ES" sz="1600">
                <a:solidFill>
                  <a:schemeClr val="dk1"/>
                </a:solidFill>
              </a:rPr>
              <a:t>El cliente selecciona un producto</a:t>
            </a:r>
            <a:endParaRPr/>
          </a:p>
          <a:p>
            <a:pPr indent="-185738" lvl="1" marL="450850" rtl="0" algn="just">
              <a:lnSpc>
                <a:spcPct val="90000"/>
              </a:lnSpc>
              <a:spcBef>
                <a:spcPts val="600"/>
              </a:spcBef>
              <a:spcAft>
                <a:spcPts val="0"/>
              </a:spcAft>
              <a:buSzPts val="1600"/>
              <a:buFont typeface="Calibri"/>
              <a:buAutoNum type="arabicPeriod"/>
            </a:pPr>
            <a:r>
              <a:rPr lang="es-ES" sz="1600">
                <a:solidFill>
                  <a:schemeClr val="dk1"/>
                </a:solidFill>
              </a:rPr>
              <a:t>El cliente añade el producto al carrito de compras</a:t>
            </a:r>
            <a:endParaRPr/>
          </a:p>
          <a:p>
            <a:pPr indent="-185738" lvl="1" marL="450850" rtl="0" algn="just">
              <a:lnSpc>
                <a:spcPct val="90000"/>
              </a:lnSpc>
              <a:spcBef>
                <a:spcPts val="600"/>
              </a:spcBef>
              <a:spcAft>
                <a:spcPts val="0"/>
              </a:spcAft>
              <a:buSzPts val="1600"/>
              <a:buFont typeface="Calibri"/>
              <a:buAutoNum type="arabicPeriod"/>
            </a:pPr>
            <a:r>
              <a:rPr lang="es-ES" sz="1600">
                <a:solidFill>
                  <a:schemeClr val="dk1"/>
                </a:solidFill>
              </a:rPr>
              <a:t>El cliente procede al pago</a:t>
            </a:r>
            <a:endParaRPr/>
          </a:p>
          <a:p>
            <a:pPr indent="-176213" lvl="0" marL="176213" rtl="0" algn="just">
              <a:lnSpc>
                <a:spcPct val="90000"/>
              </a:lnSpc>
              <a:spcBef>
                <a:spcPts val="600"/>
              </a:spcBef>
              <a:spcAft>
                <a:spcPts val="0"/>
              </a:spcAft>
              <a:buClr>
                <a:srgbClr val="3F3F3F"/>
              </a:buClr>
              <a:buSzPts val="1200"/>
              <a:buFont typeface="Noto Sans Symbols"/>
              <a:buChar char="❑"/>
            </a:pPr>
            <a:r>
              <a:rPr lang="es-ES">
                <a:solidFill>
                  <a:schemeClr val="dk1"/>
                </a:solidFill>
              </a:rPr>
              <a:t>Postcondiciones:</a:t>
            </a:r>
            <a:endParaRPr/>
          </a:p>
          <a:p>
            <a:pPr indent="-177800" lvl="1" marL="450850" rtl="0" algn="just">
              <a:lnSpc>
                <a:spcPct val="90000"/>
              </a:lnSpc>
              <a:spcBef>
                <a:spcPts val="600"/>
              </a:spcBef>
              <a:spcAft>
                <a:spcPts val="0"/>
              </a:spcAft>
              <a:buSzPts val="1600"/>
              <a:buChar char="▪"/>
            </a:pPr>
            <a:r>
              <a:rPr lang="es-ES" sz="1600">
                <a:solidFill>
                  <a:schemeClr val="dk1"/>
                </a:solidFill>
              </a:rPr>
              <a:t>El producto se compra y se envía un correo electrónico de confirmación al cliente.</a:t>
            </a:r>
            <a:endParaRPr/>
          </a:p>
          <a:p>
            <a:pPr indent="-176213" lvl="0" marL="176213" rtl="0" algn="just">
              <a:lnSpc>
                <a:spcPct val="90000"/>
              </a:lnSpc>
              <a:spcBef>
                <a:spcPts val="600"/>
              </a:spcBef>
              <a:spcAft>
                <a:spcPts val="0"/>
              </a:spcAft>
              <a:buClr>
                <a:srgbClr val="3F3F3F"/>
              </a:buClr>
              <a:buSzPts val="1200"/>
              <a:buFont typeface="Noto Sans Symbols"/>
              <a:buChar char="❑"/>
            </a:pPr>
            <a:r>
              <a:rPr lang="es-ES">
                <a:solidFill>
                  <a:schemeClr val="dk1"/>
                </a:solidFill>
              </a:rPr>
              <a:t>Excepciones:</a:t>
            </a:r>
            <a:endParaRPr/>
          </a:p>
          <a:p>
            <a:pPr indent="-177800" lvl="1" marL="450850" rtl="0" algn="just">
              <a:lnSpc>
                <a:spcPct val="90000"/>
              </a:lnSpc>
              <a:spcBef>
                <a:spcPts val="600"/>
              </a:spcBef>
              <a:spcAft>
                <a:spcPts val="0"/>
              </a:spcAft>
              <a:buSzPts val="1600"/>
              <a:buChar char="▪"/>
            </a:pPr>
            <a:r>
              <a:rPr lang="es-ES" sz="1600">
                <a:solidFill>
                  <a:schemeClr val="dk1"/>
                </a:solidFill>
              </a:rPr>
              <a:t>Si el pago falla, se muestra un mensaje de error.</a:t>
            </a:r>
            <a:endParaRPr/>
          </a:p>
        </p:txBody>
      </p:sp>
      <p:pic>
        <p:nvPicPr>
          <p:cNvPr id="106" name="Google Shape;106;p6"/>
          <p:cNvPicPr preferRelativeResize="0"/>
          <p:nvPr/>
        </p:nvPicPr>
        <p:blipFill rotWithShape="1">
          <a:blip r:embed="rId3">
            <a:alphaModFix/>
          </a:blip>
          <a:srcRect b="0" l="0" r="0" t="0"/>
          <a:stretch/>
        </p:blipFill>
        <p:spPr>
          <a:xfrm>
            <a:off x="5720001" y="1343133"/>
            <a:ext cx="2673054" cy="21454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 ALTO NIVEL</a:t>
            </a:r>
            <a:endParaRPr/>
          </a:p>
        </p:txBody>
      </p:sp>
      <p:sp>
        <p:nvSpPr>
          <p:cNvPr id="113" name="Google Shape;113;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[1/4]</a:t>
            </a:r>
            <a:endParaRPr>
              <a:solidFill>
                <a:srgbClr val="7F7F7F"/>
              </a:solidFill>
            </a:endParaRPr>
          </a:p>
        </p:txBody>
      </p:sp>
      <p:pic>
        <p:nvPicPr>
          <p:cNvPr id="114" name="Google Shape;114;p7"/>
          <p:cNvPicPr preferRelativeResize="0"/>
          <p:nvPr>
            <p:ph idx="2" type="pic"/>
          </p:nvPr>
        </p:nvPicPr>
        <p:blipFill rotWithShape="1">
          <a:blip r:embed="rId3">
            <a:alphaModFix/>
          </a:blip>
          <a:srcRect b="0" l="17577" r="17576" t="0"/>
          <a:stretch/>
        </p:blipFill>
        <p:spPr>
          <a:xfrm>
            <a:off x="5585437" y="1404850"/>
            <a:ext cx="2940621" cy="3198356"/>
          </a:xfrm>
          <a:prstGeom prst="rect">
            <a:avLst/>
          </a:prstGeom>
          <a:noFill/>
          <a:ln>
            <a:noFill/>
          </a:ln>
        </p:spPr>
      </p:pic>
      <p:sp>
        <p:nvSpPr>
          <p:cNvPr id="115" name="Google Shape;115;p7"/>
          <p:cNvSpPr txBox="1"/>
          <p:nvPr>
            <p:ph idx="4" type="body"/>
          </p:nvPr>
        </p:nvSpPr>
        <p:spPr>
          <a:xfrm>
            <a:off x="468313" y="1177927"/>
            <a:ext cx="4851832"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Las especificaciones de alto nivel permiten una rápida iteración y ajustes, facilitan la comunicación y pueden ahorrar tiempo y recursos al evitar malentendidos y cambios de última hora. </a:t>
            </a:r>
            <a:endParaRPr/>
          </a:p>
          <a:p>
            <a:pPr indent="-266700" lvl="0" marL="266700" rtl="0" algn="l">
              <a:spcBef>
                <a:spcPts val="1200"/>
              </a:spcBef>
              <a:spcAft>
                <a:spcPts val="0"/>
              </a:spcAft>
              <a:buClr>
                <a:schemeClr val="dk1"/>
              </a:buClr>
              <a:buSzPts val="1200"/>
              <a:buChar char="❑"/>
            </a:pPr>
            <a:r>
              <a:rPr lang="es-ES"/>
              <a:t>Son especialmente útiles en entornos donde la agilidad y la adaptabilidad son clave; así como en la situaciones:</a:t>
            </a:r>
            <a:endParaRPr/>
          </a:p>
          <a:p>
            <a:pPr indent="-266700" lvl="0" marL="266700" rtl="0" algn="l">
              <a:spcBef>
                <a:spcPts val="1200"/>
              </a:spcBef>
              <a:spcAft>
                <a:spcPts val="0"/>
              </a:spcAft>
              <a:buClr>
                <a:schemeClr val="dk1"/>
              </a:buClr>
              <a:buSzPts val="1200"/>
              <a:buChar char="❑"/>
            </a:pPr>
            <a:r>
              <a:rPr b="1" lang="es-ES"/>
              <a:t>Fase Inicial de un Proyecto</a:t>
            </a:r>
            <a:endParaRPr/>
          </a:p>
          <a:p>
            <a:pPr indent="0" lvl="1" marL="265113" rtl="0" algn="l">
              <a:spcBef>
                <a:spcPts val="600"/>
              </a:spcBef>
              <a:spcAft>
                <a:spcPts val="0"/>
              </a:spcAft>
              <a:buClr>
                <a:schemeClr val="dk1"/>
              </a:buClr>
              <a:buSzPts val="1600"/>
              <a:buNone/>
            </a:pPr>
            <a:r>
              <a:rPr lang="es-ES"/>
              <a:t>En las etapas tempranas de un proyecto, cuando aún se están definiendo los requisitos y el alcance, una especificación de alto nivel puede ayudar a establecer un entendimiento común entre todas las partes interesadas.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 ALTO NIVEL</a:t>
            </a:r>
            <a:endParaRPr/>
          </a:p>
        </p:txBody>
      </p:sp>
      <p:sp>
        <p:nvSpPr>
          <p:cNvPr id="122" name="Google Shape;122;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[2/4]</a:t>
            </a:r>
            <a:endParaRPr>
              <a:solidFill>
                <a:srgbClr val="7F7F7F"/>
              </a:solidFill>
            </a:endParaRPr>
          </a:p>
        </p:txBody>
      </p:sp>
      <p:pic>
        <p:nvPicPr>
          <p:cNvPr id="123" name="Google Shape;123;p8"/>
          <p:cNvPicPr preferRelativeResize="0"/>
          <p:nvPr>
            <p:ph idx="2" type="pic"/>
          </p:nvPr>
        </p:nvPicPr>
        <p:blipFill rotWithShape="1">
          <a:blip r:embed="rId3">
            <a:alphaModFix/>
          </a:blip>
          <a:srcRect b="0" l="27017" r="27017" t="0"/>
          <a:stretch/>
        </p:blipFill>
        <p:spPr>
          <a:xfrm>
            <a:off x="5760720" y="1357936"/>
            <a:ext cx="2914968" cy="3170455"/>
          </a:xfrm>
          <a:prstGeom prst="rect">
            <a:avLst/>
          </a:prstGeom>
          <a:noFill/>
          <a:ln>
            <a:noFill/>
          </a:ln>
        </p:spPr>
      </p:pic>
      <p:sp>
        <p:nvSpPr>
          <p:cNvPr id="124" name="Google Shape;124;p8"/>
          <p:cNvSpPr txBox="1"/>
          <p:nvPr>
            <p:ph idx="4" type="body"/>
          </p:nvPr>
        </p:nvSpPr>
        <p:spPr>
          <a:xfrm>
            <a:off x="468313" y="1340387"/>
            <a:ext cx="4843520"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b="1" lang="es-ES"/>
              <a:t>Comunicación con Stakeholders No Técnicos</a:t>
            </a:r>
            <a:endParaRPr/>
          </a:p>
          <a:p>
            <a:pPr indent="0" lvl="1" marL="265113" rtl="0" algn="l">
              <a:spcBef>
                <a:spcPts val="600"/>
              </a:spcBef>
              <a:spcAft>
                <a:spcPts val="0"/>
              </a:spcAft>
              <a:buClr>
                <a:schemeClr val="dk1"/>
              </a:buClr>
              <a:buSzPts val="1600"/>
              <a:buNone/>
            </a:pPr>
            <a:r>
              <a:rPr lang="es-ES"/>
              <a:t>Cuando se necesita explicar el funcionamiento de un sistema a personas que no tienen un trasfondo técnico, como directivos, inversores o clientes, las especificaciones de alto nivel son una excelente herramienta de comunicación.</a:t>
            </a:r>
            <a:endParaRPr/>
          </a:p>
          <a:p>
            <a:pPr indent="-266700" lvl="0" marL="266700" rtl="0" algn="l">
              <a:spcBef>
                <a:spcPts val="1200"/>
              </a:spcBef>
              <a:spcAft>
                <a:spcPts val="0"/>
              </a:spcAft>
              <a:buClr>
                <a:schemeClr val="dk1"/>
              </a:buClr>
              <a:buSzPts val="1200"/>
              <a:buChar char="❑"/>
            </a:pPr>
            <a:r>
              <a:rPr b="1" lang="es-ES"/>
              <a:t>Proyectos Multidisciplinarios</a:t>
            </a:r>
            <a:endParaRPr/>
          </a:p>
          <a:p>
            <a:pPr indent="0" lvl="1" marL="265113" rtl="0" algn="l">
              <a:spcBef>
                <a:spcPts val="600"/>
              </a:spcBef>
              <a:spcAft>
                <a:spcPts val="0"/>
              </a:spcAft>
              <a:buClr>
                <a:schemeClr val="dk1"/>
              </a:buClr>
              <a:buSzPts val="1600"/>
              <a:buNone/>
            </a:pPr>
            <a:r>
              <a:rPr lang="es-ES"/>
              <a:t>En proyectos que involucran a varios departamentos o disciplinas, una especificación de alto nivel puede servir como un “contrato” que establece las expectativas y responsabilidades de cada parte.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 ALTO NIVEL</a:t>
            </a:r>
            <a:endParaRPr/>
          </a:p>
        </p:txBody>
      </p:sp>
      <p:sp>
        <p:nvSpPr>
          <p:cNvPr id="131" name="Google Shape;131;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[3/4]</a:t>
            </a:r>
            <a:endParaRPr>
              <a:solidFill>
                <a:srgbClr val="7F7F7F"/>
              </a:solidFill>
            </a:endParaRPr>
          </a:p>
        </p:txBody>
      </p:sp>
      <p:pic>
        <p:nvPicPr>
          <p:cNvPr id="132" name="Google Shape;132;p9"/>
          <p:cNvPicPr preferRelativeResize="0"/>
          <p:nvPr>
            <p:ph idx="2" type="pic"/>
          </p:nvPr>
        </p:nvPicPr>
        <p:blipFill rotWithShape="1">
          <a:blip r:embed="rId3">
            <a:alphaModFix/>
          </a:blip>
          <a:srcRect b="13468" l="0" r="0" t="13469"/>
          <a:stretch/>
        </p:blipFill>
        <p:spPr>
          <a:xfrm>
            <a:off x="5436523" y="1282990"/>
            <a:ext cx="3106161" cy="3378405"/>
          </a:xfrm>
          <a:prstGeom prst="rect">
            <a:avLst/>
          </a:prstGeom>
          <a:noFill/>
          <a:ln>
            <a:noFill/>
          </a:ln>
        </p:spPr>
      </p:pic>
      <p:sp>
        <p:nvSpPr>
          <p:cNvPr id="133" name="Google Shape;133;p9"/>
          <p:cNvSpPr txBox="1"/>
          <p:nvPr>
            <p:ph idx="4" type="body"/>
          </p:nvPr>
        </p:nvSpPr>
        <p:spPr>
          <a:xfrm>
            <a:off x="468313" y="1177927"/>
            <a:ext cx="4627389"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b="1" lang="es-ES"/>
              <a:t>Validación de Concepto</a:t>
            </a:r>
            <a:endParaRPr/>
          </a:p>
          <a:p>
            <a:pPr indent="0" lvl="1" marL="265113" rtl="0" algn="l">
              <a:spcBef>
                <a:spcPts val="600"/>
              </a:spcBef>
              <a:spcAft>
                <a:spcPts val="0"/>
              </a:spcAft>
              <a:buClr>
                <a:schemeClr val="dk1"/>
              </a:buClr>
              <a:buSzPts val="1600"/>
              <a:buNone/>
            </a:pPr>
            <a:r>
              <a:rPr lang="es-ES"/>
              <a:t>Antes de invertir recursos significativos en el desarrollo, una especificación de alto nivel puede ayudar a validar si el concepto es viable y si cumple con los objetivos comerciales o de otra índole.</a:t>
            </a:r>
            <a:endParaRPr/>
          </a:p>
          <a:p>
            <a:pPr indent="-266700" lvl="0" marL="266700" rtl="0" algn="l">
              <a:spcBef>
                <a:spcPts val="1200"/>
              </a:spcBef>
              <a:spcAft>
                <a:spcPts val="0"/>
              </a:spcAft>
              <a:buClr>
                <a:schemeClr val="dk1"/>
              </a:buClr>
              <a:buSzPts val="1200"/>
              <a:buChar char="❑"/>
            </a:pPr>
            <a:r>
              <a:rPr b="1" lang="es-ES"/>
              <a:t>Documentación y Capacitación</a:t>
            </a:r>
            <a:endParaRPr/>
          </a:p>
          <a:p>
            <a:pPr indent="0" lvl="1" marL="265113" rtl="0" algn="l">
              <a:spcBef>
                <a:spcPts val="600"/>
              </a:spcBef>
              <a:spcAft>
                <a:spcPts val="0"/>
              </a:spcAft>
              <a:buClr>
                <a:schemeClr val="dk1"/>
              </a:buClr>
              <a:buSzPts val="1600"/>
              <a:buNone/>
            </a:pPr>
            <a:r>
              <a:rPr lang="es-ES"/>
              <a:t>Las especificaciones de alto nivel pueden formar parte de la documentación del proyecto, y también pueden usarse como material de capacitación para nuevos miembros del equipo o para usuarios finales que necesitan entender el sistema rápidamente.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 ALTO NIVEL</a:t>
            </a:r>
            <a:endParaRPr/>
          </a:p>
        </p:txBody>
      </p:sp>
      <p:sp>
        <p:nvSpPr>
          <p:cNvPr id="140" name="Google Shape;140;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[4/4]</a:t>
            </a:r>
            <a:endParaRPr>
              <a:solidFill>
                <a:srgbClr val="7F7F7F"/>
              </a:solidFill>
            </a:endParaRPr>
          </a:p>
        </p:txBody>
      </p:sp>
      <p:pic>
        <p:nvPicPr>
          <p:cNvPr id="141" name="Google Shape;141;p10"/>
          <p:cNvPicPr preferRelativeResize="0"/>
          <p:nvPr>
            <p:ph idx="2" type="pic"/>
          </p:nvPr>
        </p:nvPicPr>
        <p:blipFill rotWithShape="1">
          <a:blip r:embed="rId3">
            <a:alphaModFix/>
          </a:blip>
          <a:srcRect b="0" l="19338" r="19339" t="0"/>
          <a:stretch/>
        </p:blipFill>
        <p:spPr>
          <a:xfrm>
            <a:off x="5569526" y="1380258"/>
            <a:ext cx="3039659" cy="3306075"/>
          </a:xfrm>
          <a:prstGeom prst="rect">
            <a:avLst/>
          </a:prstGeom>
          <a:noFill/>
          <a:ln>
            <a:noFill/>
          </a:ln>
        </p:spPr>
      </p:pic>
      <p:sp>
        <p:nvSpPr>
          <p:cNvPr id="142" name="Google Shape;142;p10"/>
          <p:cNvSpPr txBox="1"/>
          <p:nvPr>
            <p:ph idx="4" type="body"/>
          </p:nvPr>
        </p:nvSpPr>
        <p:spPr>
          <a:xfrm>
            <a:off x="468313" y="1277679"/>
            <a:ext cx="4801956"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b="1" lang="es-ES"/>
              <a:t>Proyectos de Transformación Digital en el Sector Público</a:t>
            </a:r>
            <a:endParaRPr/>
          </a:p>
          <a:p>
            <a:pPr indent="0" lvl="1" marL="265113" rtl="0" algn="l">
              <a:spcBef>
                <a:spcPts val="600"/>
              </a:spcBef>
              <a:spcAft>
                <a:spcPts val="0"/>
              </a:spcAft>
              <a:buClr>
                <a:schemeClr val="dk1"/>
              </a:buClr>
              <a:buSzPts val="1600"/>
              <a:buNone/>
            </a:pPr>
            <a:r>
              <a:rPr lang="es-ES"/>
              <a:t>En proyectos de transformación digital gubernamentales, donde la claridad y la transparencia son cruciales para el éxito del proyecto.</a:t>
            </a:r>
            <a:endParaRPr/>
          </a:p>
          <a:p>
            <a:pPr indent="-266700" lvl="0" marL="266700" rtl="0" algn="l">
              <a:spcBef>
                <a:spcPts val="1200"/>
              </a:spcBef>
              <a:spcAft>
                <a:spcPts val="0"/>
              </a:spcAft>
              <a:buClr>
                <a:schemeClr val="dk1"/>
              </a:buClr>
              <a:buSzPts val="1200"/>
              <a:buChar char="❑"/>
            </a:pPr>
            <a:r>
              <a:rPr b="1" lang="es-ES"/>
              <a:t>Proyectos Educativos</a:t>
            </a:r>
            <a:endParaRPr/>
          </a:p>
          <a:p>
            <a:pPr indent="0" lvl="1" marL="265113" rtl="0" algn="l">
              <a:spcBef>
                <a:spcPts val="600"/>
              </a:spcBef>
              <a:spcAft>
                <a:spcPts val="0"/>
              </a:spcAft>
              <a:buClr>
                <a:schemeClr val="dk1"/>
              </a:buClr>
              <a:buSzPts val="1600"/>
              <a:buNone/>
            </a:pPr>
            <a:r>
              <a:rPr lang="es-ES"/>
              <a:t>En un entorno académico, las especificaciones de alto nivel pueden usarse como una herramienta pedagógica para enseñar a los estudiantes cómo se inicia el proceso de desarrollo de software, permitiéndoles entender el “qué” antes de sumergirse en el “cómo”.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149" name="Google Shape;149;p11"/>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ESPECIFICACIÓN DETALLADA</a:t>
            </a:r>
            <a:endParaRPr b="1" sz="2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2"/>
          <p:cNvPicPr preferRelativeResize="0"/>
          <p:nvPr>
            <p:ph idx="2" type="pic"/>
          </p:nvPr>
        </p:nvPicPr>
        <p:blipFill rotWithShape="1">
          <a:blip r:embed="rId3">
            <a:alphaModFix/>
          </a:blip>
          <a:srcRect b="28137" l="0" r="0" t="28137"/>
          <a:stretch/>
        </p:blipFill>
        <p:spPr>
          <a:xfrm>
            <a:off x="1804793" y="3657149"/>
            <a:ext cx="5534414" cy="1614327"/>
          </a:xfrm>
          <a:prstGeom prst="rect">
            <a:avLst/>
          </a:prstGeom>
          <a:noFill/>
          <a:ln>
            <a:noFill/>
          </a:ln>
        </p:spPr>
      </p:pic>
      <p:sp>
        <p:nvSpPr>
          <p:cNvPr id="156" name="Google Shape;156;p12"/>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CONSISTE?</a:t>
            </a:r>
            <a:endParaRPr/>
          </a:p>
        </p:txBody>
      </p:sp>
      <p:sp>
        <p:nvSpPr>
          <p:cNvPr id="157" name="Google Shape;157;p12"/>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DETALLADA</a:t>
            </a:r>
            <a:endParaRPr b="0">
              <a:solidFill>
                <a:srgbClr val="0070C0"/>
              </a:solidFill>
            </a:endParaRPr>
          </a:p>
        </p:txBody>
      </p:sp>
      <p:sp>
        <p:nvSpPr>
          <p:cNvPr id="158" name="Google Shape;158;p12"/>
          <p:cNvSpPr txBox="1"/>
          <p:nvPr>
            <p:ph idx="4" type="body"/>
          </p:nvPr>
        </p:nvSpPr>
        <p:spPr>
          <a:xfrm>
            <a:off x="475687" y="1169421"/>
            <a:ext cx="8200800" cy="2487728"/>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Es una descripción exhaustiva que aborda no solo las interacciones entre el actor y el sistema, sino también los detalles técnicos, los flujos alternativos, las reglas de negocio y otros aspectos que afectan la implementación y el comportamiento del sistema.</a:t>
            </a:r>
            <a:endParaRPr/>
          </a:p>
          <a:p>
            <a:pPr indent="-266700" lvl="0" marL="266700" rtl="0" algn="l">
              <a:spcBef>
                <a:spcPts val="600"/>
              </a:spcBef>
              <a:spcAft>
                <a:spcPts val="0"/>
              </a:spcAft>
              <a:buClr>
                <a:schemeClr val="dk1"/>
              </a:buClr>
              <a:buSzPts val="1200"/>
              <a:buChar char="❑"/>
            </a:pPr>
            <a:r>
              <a:rPr lang="es-ES"/>
              <a:t>Son fundamentales cuando se entra en la fase de desarrollo y se necesitan instrucciones claras para los desarrolladores, testers y otros miembros del equipo técnico; sin embargo, requieren un tiempo considerable para ser creadas y mantenidas. </a:t>
            </a:r>
            <a:endParaRPr/>
          </a:p>
          <a:p>
            <a:pPr indent="-266700" lvl="0" marL="266700" rtl="0" algn="l">
              <a:spcBef>
                <a:spcPts val="600"/>
              </a:spcBef>
              <a:spcAft>
                <a:spcPts val="0"/>
              </a:spcAft>
              <a:buClr>
                <a:schemeClr val="dk1"/>
              </a:buClr>
              <a:buSzPts val="1200"/>
              <a:buChar char="❑"/>
            </a:pPr>
            <a:r>
              <a:rPr lang="es-ES"/>
              <a:t>A diferencia de una especificación de alto nivel, la especificación detallada se centra tanto en el “qué” como en el “cómo”.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DETALLADA</a:t>
            </a:r>
            <a:endParaRPr b="0">
              <a:solidFill>
                <a:srgbClr val="0070C0"/>
              </a:solidFill>
            </a:endParaRPr>
          </a:p>
        </p:txBody>
      </p:sp>
      <p:sp>
        <p:nvSpPr>
          <p:cNvPr id="165" name="Google Shape;165;p13"/>
          <p:cNvSpPr txBox="1"/>
          <p:nvPr>
            <p:ph idx="4" type="body"/>
          </p:nvPr>
        </p:nvSpPr>
        <p:spPr>
          <a:xfrm>
            <a:off x="983702" y="1177927"/>
            <a:ext cx="4103687" cy="4096800"/>
          </a:xfrm>
          <a:prstGeom prst="rect">
            <a:avLst/>
          </a:prstGeom>
          <a:noFill/>
          <a:ln>
            <a:noFill/>
          </a:ln>
        </p:spPr>
        <p:txBody>
          <a:bodyPr anchorCtr="0" anchor="t" bIns="45700" lIns="91425" spcFirstLastPara="1" rIns="91425" wrap="square" tIns="45700">
            <a:noAutofit/>
          </a:bodyPr>
          <a:lstStyle/>
          <a:p>
            <a:pPr indent="-265113" lvl="0" marL="265113" rtl="0" algn="just">
              <a:spcBef>
                <a:spcPts val="0"/>
              </a:spcBef>
              <a:spcAft>
                <a:spcPts val="0"/>
              </a:spcAft>
              <a:buClr>
                <a:schemeClr val="dk1"/>
              </a:buClr>
              <a:buSzPts val="1600"/>
              <a:buFont typeface="Calibri"/>
              <a:buAutoNum type="arabicPeriod"/>
            </a:pPr>
            <a:r>
              <a:rPr lang="es-ES"/>
              <a:t>Título del Caso de Uso</a:t>
            </a:r>
            <a:endParaRPr/>
          </a:p>
          <a:p>
            <a:pPr indent="-265113" lvl="0" marL="265113" rtl="0" algn="just">
              <a:spcBef>
                <a:spcPts val="1200"/>
              </a:spcBef>
              <a:spcAft>
                <a:spcPts val="0"/>
              </a:spcAft>
              <a:buClr>
                <a:schemeClr val="dk1"/>
              </a:buClr>
              <a:buSzPts val="1600"/>
              <a:buFont typeface="Calibri"/>
              <a:buAutoNum type="arabicPeriod"/>
            </a:pPr>
            <a:r>
              <a:rPr lang="es-ES"/>
              <a:t>Actor principal y Actores secundarios</a:t>
            </a:r>
            <a:endParaRPr/>
          </a:p>
          <a:p>
            <a:pPr indent="-265113" lvl="0" marL="265113" rtl="0" algn="just">
              <a:spcBef>
                <a:spcPts val="1200"/>
              </a:spcBef>
              <a:spcAft>
                <a:spcPts val="0"/>
              </a:spcAft>
              <a:buClr>
                <a:schemeClr val="dk1"/>
              </a:buClr>
              <a:buSzPts val="1600"/>
              <a:buFont typeface="Calibri"/>
              <a:buAutoNum type="arabicPeriod"/>
            </a:pPr>
            <a:r>
              <a:rPr lang="es-ES"/>
              <a:t>Precondiciones y Postcondiciones</a:t>
            </a:r>
            <a:endParaRPr/>
          </a:p>
          <a:p>
            <a:pPr indent="-265113" lvl="0" marL="265113" rtl="0" algn="just">
              <a:spcBef>
                <a:spcPts val="1200"/>
              </a:spcBef>
              <a:spcAft>
                <a:spcPts val="0"/>
              </a:spcAft>
              <a:buClr>
                <a:schemeClr val="dk1"/>
              </a:buClr>
              <a:buSzPts val="1600"/>
              <a:buFont typeface="Calibri"/>
              <a:buAutoNum type="arabicPeriod"/>
            </a:pPr>
            <a:r>
              <a:rPr lang="es-ES"/>
              <a:t>Flujo Principal</a:t>
            </a:r>
            <a:endParaRPr/>
          </a:p>
          <a:p>
            <a:pPr indent="-265113" lvl="0" marL="265113" rtl="0" algn="just">
              <a:spcBef>
                <a:spcPts val="1200"/>
              </a:spcBef>
              <a:spcAft>
                <a:spcPts val="0"/>
              </a:spcAft>
              <a:buClr>
                <a:schemeClr val="dk1"/>
              </a:buClr>
              <a:buSzPts val="1600"/>
              <a:buFont typeface="Calibri"/>
              <a:buAutoNum type="arabicPeriod"/>
            </a:pPr>
            <a:r>
              <a:rPr lang="es-ES"/>
              <a:t>Flujos Alternativos</a:t>
            </a:r>
            <a:endParaRPr/>
          </a:p>
          <a:p>
            <a:pPr indent="-265113" lvl="0" marL="265113" rtl="0" algn="just">
              <a:spcBef>
                <a:spcPts val="1200"/>
              </a:spcBef>
              <a:spcAft>
                <a:spcPts val="0"/>
              </a:spcAft>
              <a:buClr>
                <a:schemeClr val="dk1"/>
              </a:buClr>
              <a:buSzPts val="1600"/>
              <a:buFont typeface="Calibri"/>
              <a:buAutoNum type="arabicPeriod"/>
            </a:pPr>
            <a:r>
              <a:rPr lang="es-ES"/>
              <a:t>Excepciones y Flujos de error</a:t>
            </a:r>
            <a:endParaRPr/>
          </a:p>
          <a:p>
            <a:pPr indent="-265113" lvl="0" marL="265113" rtl="0" algn="just">
              <a:spcBef>
                <a:spcPts val="1200"/>
              </a:spcBef>
              <a:spcAft>
                <a:spcPts val="0"/>
              </a:spcAft>
              <a:buClr>
                <a:schemeClr val="dk1"/>
              </a:buClr>
              <a:buSzPts val="1600"/>
              <a:buFont typeface="Calibri"/>
              <a:buAutoNum type="arabicPeriod"/>
            </a:pPr>
            <a:r>
              <a:rPr lang="es-ES"/>
              <a:t>Reglas de negocio</a:t>
            </a:r>
            <a:endParaRPr/>
          </a:p>
          <a:p>
            <a:pPr indent="-265113" lvl="0" marL="265113" rtl="0" algn="just">
              <a:spcBef>
                <a:spcPts val="1200"/>
              </a:spcBef>
              <a:spcAft>
                <a:spcPts val="0"/>
              </a:spcAft>
              <a:buClr>
                <a:schemeClr val="dk1"/>
              </a:buClr>
              <a:buSzPts val="1600"/>
              <a:buFont typeface="Calibri"/>
              <a:buAutoNum type="arabicPeriod"/>
            </a:pPr>
            <a:r>
              <a:rPr lang="es-ES"/>
              <a:t>Requisitos no funcionales</a:t>
            </a:r>
            <a:endParaRPr/>
          </a:p>
          <a:p>
            <a:pPr indent="-265113" lvl="0" marL="265113" rtl="0" algn="just">
              <a:spcBef>
                <a:spcPts val="1200"/>
              </a:spcBef>
              <a:spcAft>
                <a:spcPts val="0"/>
              </a:spcAft>
              <a:buClr>
                <a:schemeClr val="dk1"/>
              </a:buClr>
              <a:buSzPts val="1600"/>
              <a:buFont typeface="Calibri"/>
              <a:buAutoNum type="arabicPeriod"/>
            </a:pPr>
            <a:r>
              <a:rPr lang="es-ES"/>
              <a:t>Diagrama</a:t>
            </a:r>
            <a:endParaRPr i="1" sz="1400">
              <a:solidFill>
                <a:srgbClr val="7F7F7F"/>
              </a:solidFill>
            </a:endParaRPr>
          </a:p>
        </p:txBody>
      </p:sp>
      <p:sp>
        <p:nvSpPr>
          <p:cNvPr id="166" name="Google Shape;166;p1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COMPONENTES CLAVE</a:t>
            </a:r>
            <a:endParaRPr/>
          </a:p>
        </p:txBody>
      </p:sp>
      <p:pic>
        <p:nvPicPr>
          <p:cNvPr id="167" name="Google Shape;167;p13"/>
          <p:cNvPicPr preferRelativeResize="0"/>
          <p:nvPr>
            <p:ph idx="2" type="pic"/>
          </p:nvPr>
        </p:nvPicPr>
        <p:blipFill rotWithShape="1">
          <a:blip r:embed="rId3">
            <a:alphaModFix/>
          </a:blip>
          <a:srcRect b="0" l="11129" r="11128" t="0"/>
          <a:stretch/>
        </p:blipFill>
        <p:spPr>
          <a:xfrm>
            <a:off x="5212079" y="1293060"/>
            <a:ext cx="3180975" cy="34597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EJEMPLO: Caso de Uso “Realizar compra en línea”</a:t>
            </a:r>
            <a:endParaRPr/>
          </a:p>
        </p:txBody>
      </p:sp>
      <p:sp>
        <p:nvSpPr>
          <p:cNvPr id="174" name="Google Shape;174;p14"/>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ESPECIFICACIÓN DETALLADA</a:t>
            </a:r>
            <a:endParaRPr/>
          </a:p>
        </p:txBody>
      </p:sp>
      <p:sp>
        <p:nvSpPr>
          <p:cNvPr id="175" name="Google Shape;175;p14"/>
          <p:cNvSpPr txBox="1"/>
          <p:nvPr>
            <p:ph idx="3" type="body"/>
          </p:nvPr>
        </p:nvSpPr>
        <p:spPr>
          <a:xfrm>
            <a:off x="468313" y="1174364"/>
            <a:ext cx="8207375" cy="3962902"/>
          </a:xfrm>
          <a:prstGeom prst="rect">
            <a:avLst/>
          </a:prstGeom>
          <a:solidFill>
            <a:srgbClr val="FFFFCC"/>
          </a:solidFill>
          <a:ln>
            <a:noFill/>
          </a:ln>
        </p:spPr>
        <p:txBody>
          <a:bodyPr anchorCtr="0" anchor="t" bIns="36000" lIns="72000" spcFirstLastPara="1" rIns="72000" wrap="square" tIns="36000">
            <a:noAutofit/>
          </a:bodyPr>
          <a:lstStyle/>
          <a:p>
            <a:pPr indent="-176213" lvl="0" marL="176213" rtl="0" algn="just">
              <a:lnSpc>
                <a:spcPct val="87000"/>
              </a:lnSpc>
              <a:spcBef>
                <a:spcPts val="0"/>
              </a:spcBef>
              <a:spcAft>
                <a:spcPts val="0"/>
              </a:spcAft>
              <a:buSzPts val="1200"/>
              <a:buChar char="❑"/>
            </a:pPr>
            <a:r>
              <a:rPr b="1" lang="es-ES">
                <a:solidFill>
                  <a:schemeClr val="dk1"/>
                </a:solidFill>
              </a:rPr>
              <a:t>Título del Caso de Uso</a:t>
            </a:r>
            <a:r>
              <a:rPr lang="es-ES">
                <a:solidFill>
                  <a:schemeClr val="dk1"/>
                </a:solidFill>
              </a:rPr>
              <a:t>: Realizar Compra en Línea</a:t>
            </a:r>
            <a:endParaRPr/>
          </a:p>
          <a:p>
            <a:pPr indent="-176213" lvl="0" marL="176213" rtl="0" algn="just">
              <a:lnSpc>
                <a:spcPct val="87000"/>
              </a:lnSpc>
              <a:spcBef>
                <a:spcPts val="0"/>
              </a:spcBef>
              <a:spcAft>
                <a:spcPts val="0"/>
              </a:spcAft>
              <a:buSzPts val="1200"/>
              <a:buChar char="❑"/>
            </a:pPr>
            <a:r>
              <a:rPr b="1" lang="es-ES">
                <a:solidFill>
                  <a:schemeClr val="dk1"/>
                </a:solidFill>
              </a:rPr>
              <a:t>Actor Principal</a:t>
            </a:r>
            <a:r>
              <a:rPr lang="es-ES">
                <a:solidFill>
                  <a:schemeClr val="dk1"/>
                </a:solidFill>
              </a:rPr>
              <a:t>: Cliente</a:t>
            </a:r>
            <a:endParaRPr/>
          </a:p>
          <a:p>
            <a:pPr indent="-176213" lvl="0" marL="176213" rtl="0" algn="just">
              <a:lnSpc>
                <a:spcPct val="87000"/>
              </a:lnSpc>
              <a:spcBef>
                <a:spcPts val="0"/>
              </a:spcBef>
              <a:spcAft>
                <a:spcPts val="0"/>
              </a:spcAft>
              <a:buSzPts val="1200"/>
              <a:buChar char="❑"/>
            </a:pPr>
            <a:r>
              <a:rPr b="1" lang="es-ES">
                <a:solidFill>
                  <a:schemeClr val="dk1"/>
                </a:solidFill>
              </a:rPr>
              <a:t>Actores Secundarios</a:t>
            </a:r>
            <a:r>
              <a:rPr lang="es-ES">
                <a:solidFill>
                  <a:schemeClr val="dk1"/>
                </a:solidFill>
              </a:rPr>
              <a:t>: Sistema de Pago, Sistema de Inventario</a:t>
            </a:r>
            <a:endParaRPr/>
          </a:p>
          <a:p>
            <a:pPr indent="-176213" lvl="0" marL="176213" rtl="0" algn="just">
              <a:lnSpc>
                <a:spcPct val="87000"/>
              </a:lnSpc>
              <a:spcBef>
                <a:spcPts val="0"/>
              </a:spcBef>
              <a:spcAft>
                <a:spcPts val="0"/>
              </a:spcAft>
              <a:buSzPts val="1200"/>
              <a:buChar char="❑"/>
            </a:pPr>
            <a:r>
              <a:rPr b="1" lang="es-ES">
                <a:solidFill>
                  <a:schemeClr val="dk1"/>
                </a:solidFill>
              </a:rPr>
              <a:t>Precondiciones</a:t>
            </a:r>
            <a:endParaRPr/>
          </a:p>
          <a:p>
            <a:pPr indent="-184149" lvl="1" marL="449263" rtl="0" algn="just">
              <a:lnSpc>
                <a:spcPct val="87000"/>
              </a:lnSpc>
              <a:spcBef>
                <a:spcPts val="0"/>
              </a:spcBef>
              <a:spcAft>
                <a:spcPts val="0"/>
              </a:spcAft>
              <a:buSzPts val="1600"/>
              <a:buChar char="▪"/>
            </a:pPr>
            <a:r>
              <a:rPr lang="es-ES" sz="1600">
                <a:solidFill>
                  <a:schemeClr val="dk1"/>
                </a:solidFill>
              </a:rPr>
              <a:t>El cliente debe estar autenticado.</a:t>
            </a:r>
            <a:endParaRPr/>
          </a:p>
          <a:p>
            <a:pPr indent="-184149" lvl="1" marL="449263" rtl="0" algn="just">
              <a:lnSpc>
                <a:spcPct val="87000"/>
              </a:lnSpc>
              <a:spcBef>
                <a:spcPts val="0"/>
              </a:spcBef>
              <a:spcAft>
                <a:spcPts val="0"/>
              </a:spcAft>
              <a:buSzPts val="1600"/>
              <a:buChar char="▪"/>
            </a:pPr>
            <a:r>
              <a:rPr lang="es-ES" sz="1600">
                <a:solidFill>
                  <a:schemeClr val="dk1"/>
                </a:solidFill>
              </a:rPr>
              <a:t>El carrito de compras no debe estar vacío.</a:t>
            </a:r>
            <a:endParaRPr/>
          </a:p>
          <a:p>
            <a:pPr indent="-176213" lvl="0" marL="176213" rtl="0" algn="just">
              <a:lnSpc>
                <a:spcPct val="87000"/>
              </a:lnSpc>
              <a:spcBef>
                <a:spcPts val="0"/>
              </a:spcBef>
              <a:spcAft>
                <a:spcPts val="0"/>
              </a:spcAft>
              <a:buSzPts val="1200"/>
              <a:buChar char="❑"/>
            </a:pPr>
            <a:r>
              <a:rPr b="1" lang="es-ES">
                <a:solidFill>
                  <a:schemeClr val="dk1"/>
                </a:solidFill>
              </a:rPr>
              <a:t>Flujo Principal</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cliente selecciona la opción “Realizar Compra”.</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sistema valida la disponibilidad de los productos en el inventario.</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sistema muestra las opciones de pago disponibles.</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cliente selecciona una opción de pago y confirma.</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sistema procesa el pago.</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sistema actualiza el inventario.</a:t>
            </a:r>
            <a:endParaRPr/>
          </a:p>
          <a:p>
            <a:pPr indent="-185738" lvl="1" marL="450850" rtl="0" algn="just">
              <a:lnSpc>
                <a:spcPct val="87000"/>
              </a:lnSpc>
              <a:spcBef>
                <a:spcPts val="0"/>
              </a:spcBef>
              <a:spcAft>
                <a:spcPts val="0"/>
              </a:spcAft>
              <a:buSzPts val="1600"/>
              <a:buFont typeface="Calibri"/>
              <a:buAutoNum type="arabicPeriod"/>
            </a:pPr>
            <a:r>
              <a:rPr lang="es-ES" sz="1600">
                <a:solidFill>
                  <a:schemeClr val="dk1"/>
                </a:solidFill>
              </a:rPr>
              <a:t>El sistema envía un correo electrónico de confirmación al cliente.</a:t>
            </a:r>
            <a:endParaRPr/>
          </a:p>
          <a:p>
            <a:pPr indent="-176213" lvl="0" marL="176213" rtl="0" algn="just">
              <a:lnSpc>
                <a:spcPct val="87000"/>
              </a:lnSpc>
              <a:spcBef>
                <a:spcPts val="0"/>
              </a:spcBef>
              <a:spcAft>
                <a:spcPts val="0"/>
              </a:spcAft>
              <a:buSzPts val="1200"/>
              <a:buChar char="❑"/>
            </a:pPr>
            <a:r>
              <a:rPr b="1" lang="es-ES">
                <a:solidFill>
                  <a:schemeClr val="dk1"/>
                </a:solidFill>
              </a:rPr>
              <a:t>Postcondiciones</a:t>
            </a:r>
            <a:endParaRPr/>
          </a:p>
          <a:p>
            <a:pPr indent="-184149" lvl="1" marL="449263" rtl="0" algn="just">
              <a:lnSpc>
                <a:spcPct val="87000"/>
              </a:lnSpc>
              <a:spcBef>
                <a:spcPts val="0"/>
              </a:spcBef>
              <a:spcAft>
                <a:spcPts val="0"/>
              </a:spcAft>
              <a:buSzPts val="1600"/>
              <a:buChar char="▪"/>
            </a:pPr>
            <a:r>
              <a:rPr lang="es-ES" sz="1600">
                <a:solidFill>
                  <a:schemeClr val="dk1"/>
                </a:solidFill>
              </a:rPr>
              <a:t>La compra se ha realizado con éxito.</a:t>
            </a:r>
            <a:endParaRPr/>
          </a:p>
          <a:p>
            <a:pPr indent="-184149" lvl="1" marL="449263" rtl="0" algn="just">
              <a:lnSpc>
                <a:spcPct val="87000"/>
              </a:lnSpc>
              <a:spcBef>
                <a:spcPts val="0"/>
              </a:spcBef>
              <a:spcAft>
                <a:spcPts val="0"/>
              </a:spcAft>
              <a:buSzPts val="1600"/>
              <a:buChar char="▪"/>
            </a:pPr>
            <a:r>
              <a:rPr lang="es-ES" sz="1600">
                <a:solidFill>
                  <a:schemeClr val="dk1"/>
                </a:solidFill>
              </a:rPr>
              <a:t>El inventario se ha actualizado.</a:t>
            </a:r>
            <a:endParaRPr/>
          </a:p>
          <a:p>
            <a:pPr indent="-184149" lvl="1" marL="449263" rtl="0" algn="just">
              <a:lnSpc>
                <a:spcPct val="87000"/>
              </a:lnSpc>
              <a:spcBef>
                <a:spcPts val="0"/>
              </a:spcBef>
              <a:spcAft>
                <a:spcPts val="0"/>
              </a:spcAft>
              <a:buSzPts val="1600"/>
              <a:buChar char="▪"/>
            </a:pPr>
            <a:r>
              <a:rPr lang="es-ES" sz="1600">
                <a:solidFill>
                  <a:schemeClr val="dk1"/>
                </a:solidFill>
              </a:rPr>
              <a:t>Se ha enviado un correo electrónico de confirmación al cliente.</a:t>
            </a:r>
            <a:endParaRPr/>
          </a:p>
          <a:p>
            <a:pPr indent="-176213" lvl="0" marL="176213" rtl="0" algn="just">
              <a:lnSpc>
                <a:spcPct val="87000"/>
              </a:lnSpc>
              <a:spcBef>
                <a:spcPts val="0"/>
              </a:spcBef>
              <a:spcAft>
                <a:spcPts val="0"/>
              </a:spcAft>
              <a:buSzPts val="1200"/>
              <a:buChar char="❑"/>
            </a:pPr>
            <a:r>
              <a:rPr b="1" lang="es-ES">
                <a:solidFill>
                  <a:schemeClr val="dk1"/>
                </a:solidFill>
              </a:rPr>
              <a:t>Flujos Alternativos</a:t>
            </a:r>
            <a:endParaRPr/>
          </a:p>
          <a:p>
            <a:pPr indent="-228600" lvl="1" marL="493712" rtl="0" algn="just">
              <a:lnSpc>
                <a:spcPct val="87000"/>
              </a:lnSpc>
              <a:spcBef>
                <a:spcPts val="0"/>
              </a:spcBef>
              <a:spcAft>
                <a:spcPts val="0"/>
              </a:spcAft>
              <a:buSzPts val="1600"/>
              <a:buFont typeface="Calibri"/>
              <a:buAutoNum type="alphaUcPeriod"/>
            </a:pPr>
            <a:r>
              <a:rPr lang="es-ES" sz="1600">
                <a:solidFill>
                  <a:schemeClr val="dk1"/>
                </a:solidFill>
              </a:rPr>
              <a:t>Cliente elige cambiar la dirección de envío:</a:t>
            </a:r>
            <a:endParaRPr/>
          </a:p>
          <a:p>
            <a:pPr indent="-173037" lvl="2" marL="715963" rtl="0" algn="just">
              <a:lnSpc>
                <a:spcPct val="87000"/>
              </a:lnSpc>
              <a:spcBef>
                <a:spcPts val="0"/>
              </a:spcBef>
              <a:spcAft>
                <a:spcPts val="0"/>
              </a:spcAft>
              <a:buClr>
                <a:srgbClr val="7F7F7F"/>
              </a:buClr>
              <a:buSzPts val="1600"/>
              <a:buFont typeface="Calibri"/>
              <a:buAutoNum type="arabicPeriod"/>
            </a:pPr>
            <a:r>
              <a:rPr lang="es-ES" sz="1600">
                <a:solidFill>
                  <a:srgbClr val="7F7F7F"/>
                </a:solidFill>
              </a:rPr>
              <a:t>Después del paso 3 del Flujo Principal, el cliente selecciona “Cambiar dirección de envío”.</a:t>
            </a:r>
            <a:endParaRPr/>
          </a:p>
          <a:p>
            <a:pPr indent="-173037" lvl="2" marL="715963" rtl="0" algn="just">
              <a:lnSpc>
                <a:spcPct val="87000"/>
              </a:lnSpc>
              <a:spcBef>
                <a:spcPts val="0"/>
              </a:spcBef>
              <a:spcAft>
                <a:spcPts val="0"/>
              </a:spcAft>
              <a:buClr>
                <a:srgbClr val="7F7F7F"/>
              </a:buClr>
              <a:buSzPts val="1600"/>
              <a:buFont typeface="Calibri"/>
              <a:buAutoNum type="arabicPeriod"/>
            </a:pPr>
            <a:r>
              <a:rPr lang="es-ES" sz="1600">
                <a:solidFill>
                  <a:srgbClr val="7F7F7F"/>
                </a:solidFill>
              </a:rPr>
              <a:t>El sistema muestra las direcciones guardadas o permite ingresar una nueva.</a:t>
            </a:r>
            <a:endParaRPr/>
          </a:p>
          <a:p>
            <a:pPr indent="-173037" lvl="2" marL="715963" rtl="0" algn="just">
              <a:lnSpc>
                <a:spcPct val="87000"/>
              </a:lnSpc>
              <a:spcBef>
                <a:spcPts val="0"/>
              </a:spcBef>
              <a:spcAft>
                <a:spcPts val="0"/>
              </a:spcAft>
              <a:buClr>
                <a:srgbClr val="7F7F7F"/>
              </a:buClr>
              <a:buSzPts val="1600"/>
              <a:buFont typeface="Calibri"/>
              <a:buAutoNum type="arabicPeriod"/>
            </a:pPr>
            <a:r>
              <a:rPr lang="es-ES" sz="1600">
                <a:solidFill>
                  <a:srgbClr val="7F7F7F"/>
                </a:solidFill>
              </a:rPr>
              <a:t>El cliente confirma la dirección y regresa al Flujo Principal en el paso 4.</a:t>
            </a:r>
            <a:endParaRPr sz="16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idx="1" type="body"/>
          </p:nvPr>
        </p:nvSpPr>
        <p:spPr>
          <a:xfrm>
            <a:off x="468313" y="702407"/>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EJEMPLO: Caso de Uso “Realizar compra en línea”</a:t>
            </a:r>
            <a:endParaRPr/>
          </a:p>
        </p:txBody>
      </p:sp>
      <p:sp>
        <p:nvSpPr>
          <p:cNvPr id="182" name="Google Shape;182;p15"/>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ESPECIFICACIÓN DETALLADA</a:t>
            </a:r>
            <a:endParaRPr/>
          </a:p>
        </p:txBody>
      </p:sp>
      <p:sp>
        <p:nvSpPr>
          <p:cNvPr id="183" name="Google Shape;183;p15"/>
          <p:cNvSpPr txBox="1"/>
          <p:nvPr>
            <p:ph idx="3" type="body"/>
          </p:nvPr>
        </p:nvSpPr>
        <p:spPr>
          <a:xfrm>
            <a:off x="468313" y="1127001"/>
            <a:ext cx="8207375" cy="4154094"/>
          </a:xfrm>
          <a:prstGeom prst="rect">
            <a:avLst/>
          </a:prstGeom>
          <a:solidFill>
            <a:srgbClr val="FFFFCC"/>
          </a:solidFill>
          <a:ln>
            <a:noFill/>
          </a:ln>
        </p:spPr>
        <p:txBody>
          <a:bodyPr anchorCtr="0" anchor="t" bIns="36000" lIns="72000" spcFirstLastPara="1" rIns="72000" wrap="square" tIns="36000">
            <a:noAutofit/>
          </a:bodyPr>
          <a:lstStyle/>
          <a:p>
            <a:pPr indent="-176213" lvl="0" marL="176213" rtl="0" algn="just">
              <a:lnSpc>
                <a:spcPct val="87000"/>
              </a:lnSpc>
              <a:spcBef>
                <a:spcPts val="0"/>
              </a:spcBef>
              <a:spcAft>
                <a:spcPts val="0"/>
              </a:spcAft>
              <a:buSzPts val="1200"/>
              <a:buChar char="❑"/>
            </a:pPr>
            <a:r>
              <a:rPr b="1" lang="es-ES">
                <a:solidFill>
                  <a:schemeClr val="dk1"/>
                </a:solidFill>
              </a:rPr>
              <a:t>Excepciones y Flujos de Error</a:t>
            </a:r>
            <a:endParaRPr/>
          </a:p>
          <a:p>
            <a:pPr indent="-187325" lvl="1" marL="450850" rtl="0" algn="just">
              <a:lnSpc>
                <a:spcPct val="87000"/>
              </a:lnSpc>
              <a:spcBef>
                <a:spcPts val="0"/>
              </a:spcBef>
              <a:spcAft>
                <a:spcPts val="0"/>
              </a:spcAft>
              <a:buSzPts val="1600"/>
              <a:buFont typeface="Calibri"/>
              <a:buAutoNum type="alphaUcPeriod"/>
            </a:pPr>
            <a:r>
              <a:rPr lang="es-ES" sz="1600">
                <a:solidFill>
                  <a:schemeClr val="dk1"/>
                </a:solidFill>
              </a:rPr>
              <a:t>Producto no disponible en inventario:</a:t>
            </a:r>
            <a:endParaRPr/>
          </a:p>
          <a:p>
            <a:pPr indent="-173037" lvl="2" marL="715963" rtl="0" algn="l">
              <a:lnSpc>
                <a:spcPct val="87000"/>
              </a:lnSpc>
              <a:spcBef>
                <a:spcPts val="0"/>
              </a:spcBef>
              <a:spcAft>
                <a:spcPts val="0"/>
              </a:spcAft>
              <a:buClr>
                <a:srgbClr val="7F7F7F"/>
              </a:buClr>
              <a:buSzPts val="1600"/>
              <a:buFont typeface="Calibri"/>
              <a:buAutoNum type="arabicPeriod"/>
            </a:pPr>
            <a:r>
              <a:rPr lang="es-ES" sz="1600">
                <a:solidFill>
                  <a:srgbClr val="7F7F7F"/>
                </a:solidFill>
              </a:rPr>
              <a:t>Si en el paso 2 del Flujo Principal el sistema detecta que un producto no está disponible, muestra un mensaje de error.</a:t>
            </a:r>
            <a:endParaRPr/>
          </a:p>
          <a:p>
            <a:pPr indent="-173037" lvl="2" marL="715963" rtl="0" algn="l">
              <a:lnSpc>
                <a:spcPct val="87000"/>
              </a:lnSpc>
              <a:spcBef>
                <a:spcPts val="0"/>
              </a:spcBef>
              <a:spcAft>
                <a:spcPts val="0"/>
              </a:spcAft>
              <a:buClr>
                <a:srgbClr val="7F7F7F"/>
              </a:buClr>
              <a:buSzPts val="1600"/>
              <a:buFont typeface="Calibri"/>
              <a:buAutoNum type="arabicPeriod"/>
            </a:pPr>
            <a:r>
              <a:rPr lang="es-ES" sz="1600">
                <a:solidFill>
                  <a:srgbClr val="7F7F7F"/>
                </a:solidFill>
              </a:rPr>
              <a:t>El cliente puede optar por eliminar el producto del carrito o reemplazarlo.</a:t>
            </a:r>
            <a:endParaRPr/>
          </a:p>
          <a:p>
            <a:pPr indent="-173037" lvl="2" marL="715963" rtl="0" algn="l">
              <a:lnSpc>
                <a:spcPct val="87000"/>
              </a:lnSpc>
              <a:spcBef>
                <a:spcPts val="0"/>
              </a:spcBef>
              <a:spcAft>
                <a:spcPts val="0"/>
              </a:spcAft>
              <a:buClr>
                <a:srgbClr val="7F7F7F"/>
              </a:buClr>
              <a:buSzPts val="1600"/>
              <a:buFont typeface="Calibri"/>
              <a:buAutoNum type="arabicPeriod"/>
            </a:pPr>
            <a:r>
              <a:rPr lang="es-ES" sz="1600">
                <a:solidFill>
                  <a:srgbClr val="7F7F7F"/>
                </a:solidFill>
              </a:rPr>
              <a:t>El flujo regresa al paso 2 del Flujo Principal.</a:t>
            </a:r>
            <a:endParaRPr/>
          </a:p>
          <a:p>
            <a:pPr indent="-187325" lvl="1" marL="450850" rtl="0" algn="l">
              <a:lnSpc>
                <a:spcPct val="87000"/>
              </a:lnSpc>
              <a:spcBef>
                <a:spcPts val="0"/>
              </a:spcBef>
              <a:spcAft>
                <a:spcPts val="0"/>
              </a:spcAft>
              <a:buSzPts val="1600"/>
              <a:buFont typeface="Calibri"/>
              <a:buAutoNum type="alphaUcPeriod"/>
            </a:pPr>
            <a:r>
              <a:rPr lang="es-ES" sz="1600">
                <a:solidFill>
                  <a:schemeClr val="dk1"/>
                </a:solidFill>
              </a:rPr>
              <a:t>Fallo en el procesamiento del pago:</a:t>
            </a:r>
            <a:endParaRPr/>
          </a:p>
          <a:p>
            <a:pPr indent="-173037" lvl="2" marL="715963" rtl="0" algn="l">
              <a:lnSpc>
                <a:spcPct val="87000"/>
              </a:lnSpc>
              <a:spcBef>
                <a:spcPts val="0"/>
              </a:spcBef>
              <a:spcAft>
                <a:spcPts val="0"/>
              </a:spcAft>
              <a:buClr>
                <a:srgbClr val="7F7F7F"/>
              </a:buClr>
              <a:buSzPts val="1600"/>
              <a:buFont typeface="Calibri"/>
              <a:buAutoNum type="arabicPeriod"/>
            </a:pPr>
            <a:r>
              <a:rPr lang="es-ES" sz="1600">
                <a:solidFill>
                  <a:srgbClr val="7F7F7F"/>
                </a:solidFill>
              </a:rPr>
              <a:t>Si en el paso 5 del Flujo Principal el sistema de pago falla, se muestra un mensaje de error al cliente.</a:t>
            </a:r>
            <a:endParaRPr/>
          </a:p>
          <a:p>
            <a:pPr indent="-173037" lvl="2" marL="715963" rtl="0" algn="l">
              <a:lnSpc>
                <a:spcPct val="87000"/>
              </a:lnSpc>
              <a:spcBef>
                <a:spcPts val="0"/>
              </a:spcBef>
              <a:spcAft>
                <a:spcPts val="0"/>
              </a:spcAft>
              <a:buClr>
                <a:srgbClr val="7F7F7F"/>
              </a:buClr>
              <a:buSzPts val="1600"/>
              <a:buFont typeface="Calibri"/>
              <a:buAutoNum type="arabicPeriod"/>
            </a:pPr>
            <a:r>
              <a:rPr lang="es-ES" sz="1600">
                <a:solidFill>
                  <a:srgbClr val="7F7F7F"/>
                </a:solidFill>
              </a:rPr>
              <a:t>Se ofrecen opciones para intentar el pago nuevamente o cambiar el método de pago.</a:t>
            </a:r>
            <a:endParaRPr/>
          </a:p>
          <a:p>
            <a:pPr indent="-173037" lvl="2" marL="715963" rtl="0" algn="l">
              <a:lnSpc>
                <a:spcPct val="87000"/>
              </a:lnSpc>
              <a:spcBef>
                <a:spcPts val="0"/>
              </a:spcBef>
              <a:spcAft>
                <a:spcPts val="0"/>
              </a:spcAft>
              <a:buClr>
                <a:srgbClr val="7F7F7F"/>
              </a:buClr>
              <a:buSzPts val="1600"/>
              <a:buFont typeface="Calibri"/>
              <a:buAutoNum type="arabicPeriod"/>
            </a:pPr>
            <a:r>
              <a:rPr lang="es-ES" sz="1600">
                <a:solidFill>
                  <a:srgbClr val="7F7F7F"/>
                </a:solidFill>
              </a:rPr>
              <a:t>El flujo regresa al paso 3 del Flujo Principal.</a:t>
            </a:r>
            <a:endParaRPr/>
          </a:p>
          <a:p>
            <a:pPr indent="-71437" lvl="2" marL="715963" rtl="0" algn="l">
              <a:lnSpc>
                <a:spcPct val="87000"/>
              </a:lnSpc>
              <a:spcBef>
                <a:spcPts val="0"/>
              </a:spcBef>
              <a:spcAft>
                <a:spcPts val="0"/>
              </a:spcAft>
              <a:buClr>
                <a:schemeClr val="dk1"/>
              </a:buClr>
              <a:buSzPts val="1600"/>
              <a:buFont typeface="Calibri"/>
              <a:buNone/>
            </a:pPr>
            <a:r>
              <a:t/>
            </a:r>
            <a:endParaRPr sz="1600">
              <a:solidFill>
                <a:srgbClr val="7F7F7F"/>
              </a:solidFill>
            </a:endParaRPr>
          </a:p>
          <a:p>
            <a:pPr indent="-176213" lvl="0" marL="176213" rtl="0" algn="l">
              <a:lnSpc>
                <a:spcPct val="87000"/>
              </a:lnSpc>
              <a:spcBef>
                <a:spcPts val="0"/>
              </a:spcBef>
              <a:spcAft>
                <a:spcPts val="0"/>
              </a:spcAft>
              <a:buSzPts val="1200"/>
              <a:buChar char="❑"/>
            </a:pPr>
            <a:r>
              <a:rPr b="1" lang="es-ES">
                <a:solidFill>
                  <a:schemeClr val="dk1"/>
                </a:solidFill>
              </a:rPr>
              <a:t>Reglas de Negocio</a:t>
            </a:r>
            <a:endParaRPr/>
          </a:p>
          <a:p>
            <a:pPr indent="-184149" lvl="1" marL="449263" rtl="0" algn="l">
              <a:lnSpc>
                <a:spcPct val="87000"/>
              </a:lnSpc>
              <a:spcBef>
                <a:spcPts val="0"/>
              </a:spcBef>
              <a:spcAft>
                <a:spcPts val="0"/>
              </a:spcAft>
              <a:buSzPts val="1600"/>
              <a:buChar char="▪"/>
            </a:pPr>
            <a:r>
              <a:rPr lang="es-ES" sz="1600">
                <a:solidFill>
                  <a:schemeClr val="dk1"/>
                </a:solidFill>
              </a:rPr>
              <a:t>Los descuentos solo se aplican si el cliente tiene un cupón válido.</a:t>
            </a:r>
            <a:endParaRPr/>
          </a:p>
          <a:p>
            <a:pPr indent="-184149" lvl="1" marL="449263" rtl="0" algn="l">
              <a:lnSpc>
                <a:spcPct val="87000"/>
              </a:lnSpc>
              <a:spcBef>
                <a:spcPts val="0"/>
              </a:spcBef>
              <a:spcAft>
                <a:spcPts val="0"/>
              </a:spcAft>
              <a:buSzPts val="1600"/>
              <a:buChar char="▪"/>
            </a:pPr>
            <a:r>
              <a:rPr lang="es-ES" sz="1600">
                <a:solidFill>
                  <a:schemeClr val="dk1"/>
                </a:solidFill>
              </a:rPr>
              <a:t>Límite de compra de 5 unidades por producto.</a:t>
            </a:r>
            <a:endParaRPr/>
          </a:p>
          <a:p>
            <a:pPr indent="-176213" lvl="0" marL="176213" rtl="0" algn="l">
              <a:lnSpc>
                <a:spcPct val="87000"/>
              </a:lnSpc>
              <a:spcBef>
                <a:spcPts val="0"/>
              </a:spcBef>
              <a:spcAft>
                <a:spcPts val="0"/>
              </a:spcAft>
              <a:buSzPts val="1200"/>
              <a:buChar char="❑"/>
            </a:pPr>
            <a:r>
              <a:rPr b="1" lang="es-ES">
                <a:solidFill>
                  <a:schemeClr val="dk1"/>
                </a:solidFill>
              </a:rPr>
              <a:t>Requisitos No Funcionales</a:t>
            </a:r>
            <a:endParaRPr/>
          </a:p>
          <a:p>
            <a:pPr indent="-184149" lvl="1" marL="449263" rtl="0" algn="l">
              <a:lnSpc>
                <a:spcPct val="87000"/>
              </a:lnSpc>
              <a:spcBef>
                <a:spcPts val="0"/>
              </a:spcBef>
              <a:spcAft>
                <a:spcPts val="0"/>
              </a:spcAft>
              <a:buSzPts val="1600"/>
              <a:buChar char="▪"/>
            </a:pPr>
            <a:r>
              <a:rPr lang="es-ES" sz="1600">
                <a:solidFill>
                  <a:schemeClr val="dk1"/>
                </a:solidFill>
              </a:rPr>
              <a:t>El tiempo de respuesta del sistema no debe superar los 2 segundos.</a:t>
            </a:r>
            <a:endParaRPr/>
          </a:p>
          <a:p>
            <a:pPr indent="-184149" lvl="1" marL="449263" rtl="0" algn="l">
              <a:lnSpc>
                <a:spcPct val="87000"/>
              </a:lnSpc>
              <a:spcBef>
                <a:spcPts val="0"/>
              </a:spcBef>
              <a:spcAft>
                <a:spcPts val="0"/>
              </a:spcAft>
              <a:buSzPts val="1600"/>
              <a:buChar char="▪"/>
            </a:pPr>
            <a:r>
              <a:rPr lang="es-ES" sz="1600">
                <a:solidFill>
                  <a:schemeClr val="dk1"/>
                </a:solidFill>
              </a:rPr>
              <a:t>Todas las transacciones deben ser seguras y cumplir con los estándares de PCI.</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DETALLADA</a:t>
            </a:r>
            <a:endParaRPr b="0">
              <a:solidFill>
                <a:srgbClr val="0070C0"/>
              </a:solidFill>
            </a:endParaRPr>
          </a:p>
        </p:txBody>
      </p:sp>
      <p:sp>
        <p:nvSpPr>
          <p:cNvPr id="190" name="Google Shape;190;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[1/4]</a:t>
            </a:r>
            <a:endParaRPr>
              <a:solidFill>
                <a:srgbClr val="7F7F7F"/>
              </a:solidFill>
            </a:endParaRPr>
          </a:p>
        </p:txBody>
      </p:sp>
      <p:pic>
        <p:nvPicPr>
          <p:cNvPr id="191" name="Google Shape;191;p16"/>
          <p:cNvPicPr preferRelativeResize="0"/>
          <p:nvPr>
            <p:ph idx="2" type="pic"/>
          </p:nvPr>
        </p:nvPicPr>
        <p:blipFill rotWithShape="1">
          <a:blip r:embed="rId3">
            <a:alphaModFix/>
          </a:blip>
          <a:srcRect b="0" l="19338" r="19339" t="0"/>
          <a:stretch/>
        </p:blipFill>
        <p:spPr>
          <a:xfrm>
            <a:off x="5801447" y="1529542"/>
            <a:ext cx="2749550" cy="2990538"/>
          </a:xfrm>
          <a:prstGeom prst="rect">
            <a:avLst/>
          </a:prstGeom>
          <a:noFill/>
          <a:ln>
            <a:noFill/>
          </a:ln>
        </p:spPr>
      </p:pic>
      <p:sp>
        <p:nvSpPr>
          <p:cNvPr id="192" name="Google Shape;192;p16"/>
          <p:cNvSpPr txBox="1"/>
          <p:nvPr>
            <p:ph idx="4" type="body"/>
          </p:nvPr>
        </p:nvSpPr>
        <p:spPr>
          <a:xfrm>
            <a:off x="468313" y="1177927"/>
            <a:ext cx="4993149"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Las especificaciones detalladas no </a:t>
            </a:r>
            <a:r>
              <a:rPr lang="es-ES"/>
              <a:t>sólo</a:t>
            </a:r>
            <a:r>
              <a:rPr lang="es-ES"/>
              <a:t> facilitan la fase de desarrollo, sino que también son útiles para el mantenimiento, las auditorías y la formación de nuevos miembros del equipo.</a:t>
            </a:r>
            <a:endParaRPr/>
          </a:p>
          <a:p>
            <a:pPr indent="-266700" lvl="0" marL="266700" rtl="0" algn="l">
              <a:spcBef>
                <a:spcPts val="1200"/>
              </a:spcBef>
              <a:spcAft>
                <a:spcPts val="0"/>
              </a:spcAft>
              <a:buClr>
                <a:schemeClr val="dk1"/>
              </a:buClr>
              <a:buSzPts val="1200"/>
              <a:buChar char="❑"/>
            </a:pPr>
            <a:r>
              <a:rPr lang="es-ES"/>
              <a:t>En entornos donde la precisión y el detalle son críticos, este tipo de especificación garantiza que los proyectos se ejecuten de manera efectiva y eficiente; así como en la siguientes situaciones:</a:t>
            </a:r>
            <a:endParaRPr/>
          </a:p>
          <a:p>
            <a:pPr indent="-266700" lvl="0" marL="266700" rtl="0" algn="l">
              <a:spcBef>
                <a:spcPts val="1200"/>
              </a:spcBef>
              <a:spcAft>
                <a:spcPts val="0"/>
              </a:spcAft>
              <a:buClr>
                <a:schemeClr val="dk1"/>
              </a:buClr>
              <a:buSzPts val="1200"/>
              <a:buChar char="❑"/>
            </a:pPr>
            <a:r>
              <a:rPr b="1" lang="es-ES"/>
              <a:t>Fase Inicial de Desarrollo</a:t>
            </a:r>
            <a:endParaRPr/>
          </a:p>
          <a:p>
            <a:pPr indent="0" lvl="1" marL="265113" rtl="0" algn="l">
              <a:spcBef>
                <a:spcPts val="600"/>
              </a:spcBef>
              <a:spcAft>
                <a:spcPts val="0"/>
              </a:spcAft>
              <a:buClr>
                <a:schemeClr val="dk1"/>
              </a:buClr>
              <a:buSzPts val="1600"/>
              <a:buNone/>
            </a:pPr>
            <a:r>
              <a:rPr lang="es-ES"/>
              <a:t>Cuando un proyecto ha pasado la fase de ideación y se encuentra en pleno desarrollo, las especificaciones detalladas son cruciales para guiar a los desarrolladores y testers.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DETALLADA</a:t>
            </a:r>
            <a:endParaRPr b="0">
              <a:solidFill>
                <a:srgbClr val="0070C0"/>
              </a:solidFill>
            </a:endParaRPr>
          </a:p>
        </p:txBody>
      </p:sp>
      <p:sp>
        <p:nvSpPr>
          <p:cNvPr id="199" name="Google Shape;199;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[2/4]</a:t>
            </a:r>
            <a:endParaRPr>
              <a:solidFill>
                <a:srgbClr val="7F7F7F"/>
              </a:solidFill>
            </a:endParaRPr>
          </a:p>
        </p:txBody>
      </p:sp>
      <p:pic>
        <p:nvPicPr>
          <p:cNvPr id="200" name="Google Shape;200;p17"/>
          <p:cNvPicPr preferRelativeResize="0"/>
          <p:nvPr>
            <p:ph idx="2" type="pic"/>
          </p:nvPr>
        </p:nvPicPr>
        <p:blipFill rotWithShape="1">
          <a:blip r:embed="rId3">
            <a:alphaModFix/>
          </a:blip>
          <a:srcRect b="0" l="4035" r="4035" t="0"/>
          <a:stretch/>
        </p:blipFill>
        <p:spPr>
          <a:xfrm>
            <a:off x="5442233" y="1404851"/>
            <a:ext cx="3108764" cy="3381236"/>
          </a:xfrm>
          <a:prstGeom prst="rect">
            <a:avLst/>
          </a:prstGeom>
          <a:noFill/>
          <a:ln>
            <a:noFill/>
          </a:ln>
        </p:spPr>
      </p:pic>
      <p:sp>
        <p:nvSpPr>
          <p:cNvPr id="201" name="Google Shape;201;p17"/>
          <p:cNvSpPr txBox="1"/>
          <p:nvPr>
            <p:ph idx="4" type="body"/>
          </p:nvPr>
        </p:nvSpPr>
        <p:spPr>
          <a:xfrm>
            <a:off x="468313" y="1177927"/>
            <a:ext cx="4544262" cy="4096800"/>
          </a:xfrm>
          <a:prstGeom prst="rect">
            <a:avLst/>
          </a:prstGeom>
          <a:noFill/>
          <a:ln>
            <a:noFill/>
          </a:ln>
        </p:spPr>
        <p:txBody>
          <a:bodyPr anchorCtr="0" anchor="t" bIns="45700" lIns="91425" spcFirstLastPara="1" rIns="91425" wrap="square" tIns="45700">
            <a:noAutofit/>
          </a:bodyPr>
          <a:lstStyle/>
          <a:p>
            <a:pPr indent="-266700" lvl="1" marL="266700" rtl="0" algn="l">
              <a:spcBef>
                <a:spcPts val="0"/>
              </a:spcBef>
              <a:spcAft>
                <a:spcPts val="0"/>
              </a:spcAft>
              <a:buClr>
                <a:schemeClr val="dk1"/>
              </a:buClr>
              <a:buSzPts val="1200"/>
              <a:buFont typeface="Noto Sans Symbols"/>
              <a:buChar char="❑"/>
            </a:pPr>
            <a:r>
              <a:rPr b="1" lang="es-ES"/>
              <a:t>Proyectos Complejos</a:t>
            </a:r>
            <a:endParaRPr/>
          </a:p>
          <a:p>
            <a:pPr indent="0" lvl="1" marL="265113" rtl="0" algn="l">
              <a:spcBef>
                <a:spcPts val="600"/>
              </a:spcBef>
              <a:spcAft>
                <a:spcPts val="0"/>
              </a:spcAft>
              <a:buClr>
                <a:schemeClr val="dk1"/>
              </a:buClr>
              <a:buSzPts val="1600"/>
              <a:buNone/>
            </a:pPr>
            <a:r>
              <a:rPr lang="es-ES"/>
              <a:t>En proyectos que tienen múltiples actores, reglas de negocio complicadas, o que interactúan con otros sistemas.</a:t>
            </a:r>
            <a:endParaRPr/>
          </a:p>
          <a:p>
            <a:pPr indent="-266700" lvl="1" marL="266700" rtl="0" algn="l">
              <a:spcBef>
                <a:spcPts val="1200"/>
              </a:spcBef>
              <a:spcAft>
                <a:spcPts val="0"/>
              </a:spcAft>
              <a:buClr>
                <a:schemeClr val="dk1"/>
              </a:buClr>
              <a:buSzPts val="1200"/>
              <a:buFont typeface="Noto Sans Symbols"/>
              <a:buChar char="❑"/>
            </a:pPr>
            <a:r>
              <a:rPr b="1" lang="es-ES"/>
              <a:t>Requerimientos Críticos de Negocio</a:t>
            </a:r>
            <a:endParaRPr/>
          </a:p>
          <a:p>
            <a:pPr indent="0" lvl="1" marL="265113" rtl="0" algn="l">
              <a:spcBef>
                <a:spcPts val="600"/>
              </a:spcBef>
              <a:spcAft>
                <a:spcPts val="0"/>
              </a:spcAft>
              <a:buClr>
                <a:schemeClr val="dk1"/>
              </a:buClr>
              <a:buSzPts val="1600"/>
              <a:buNone/>
            </a:pPr>
            <a:r>
              <a:rPr lang="es-ES"/>
              <a:t>Cuando los requisitos del negocio son muy específicos o críticos, como en sistemas financieros, médicos o de seguridad.</a:t>
            </a:r>
            <a:endParaRPr/>
          </a:p>
          <a:p>
            <a:pPr indent="-266700" lvl="1" marL="266700" rtl="0" algn="l">
              <a:spcBef>
                <a:spcPts val="1200"/>
              </a:spcBef>
              <a:spcAft>
                <a:spcPts val="0"/>
              </a:spcAft>
              <a:buClr>
                <a:schemeClr val="dk1"/>
              </a:buClr>
              <a:buSzPts val="1200"/>
              <a:buFont typeface="Noto Sans Symbols"/>
              <a:buChar char="❑"/>
            </a:pPr>
            <a:r>
              <a:rPr b="1" lang="es-ES"/>
              <a:t>Auditorías y Cumplimiento</a:t>
            </a:r>
            <a:endParaRPr/>
          </a:p>
          <a:p>
            <a:pPr indent="0" lvl="1" marL="265113" rtl="0" algn="l">
              <a:spcBef>
                <a:spcPts val="600"/>
              </a:spcBef>
              <a:spcAft>
                <a:spcPts val="0"/>
              </a:spcAft>
              <a:buClr>
                <a:schemeClr val="dk1"/>
              </a:buClr>
              <a:buSzPts val="1600"/>
              <a:buNone/>
            </a:pPr>
            <a:r>
              <a:rPr lang="es-ES"/>
              <a:t>En entornos donde se requiere cumplir con normativas o estándares, como GDPR en Europa o HIPAA en Estados Unidos, sirven como una forma de documentación que demuestra el cumplimiento.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DETALLADA</a:t>
            </a:r>
            <a:endParaRPr b="0">
              <a:solidFill>
                <a:srgbClr val="0070C0"/>
              </a:solidFill>
            </a:endParaRPr>
          </a:p>
        </p:txBody>
      </p:sp>
      <p:sp>
        <p:nvSpPr>
          <p:cNvPr id="208" name="Google Shape;208;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[3/4]</a:t>
            </a:r>
            <a:endParaRPr>
              <a:solidFill>
                <a:srgbClr val="7F7F7F"/>
              </a:solidFill>
            </a:endParaRPr>
          </a:p>
        </p:txBody>
      </p:sp>
      <p:pic>
        <p:nvPicPr>
          <p:cNvPr id="209" name="Google Shape;209;p18"/>
          <p:cNvPicPr preferRelativeResize="0"/>
          <p:nvPr>
            <p:ph idx="2" type="pic"/>
          </p:nvPr>
        </p:nvPicPr>
        <p:blipFill rotWithShape="1">
          <a:blip r:embed="rId3">
            <a:alphaModFix/>
          </a:blip>
          <a:srcRect b="0" l="19338" r="19339" t="0"/>
          <a:stretch/>
        </p:blipFill>
        <p:spPr>
          <a:xfrm>
            <a:off x="5669509" y="1487978"/>
            <a:ext cx="2856549" cy="3106916"/>
          </a:xfrm>
          <a:prstGeom prst="rect">
            <a:avLst/>
          </a:prstGeom>
          <a:noFill/>
          <a:ln>
            <a:noFill/>
          </a:ln>
        </p:spPr>
      </p:pic>
      <p:sp>
        <p:nvSpPr>
          <p:cNvPr id="210" name="Google Shape;210;p18"/>
          <p:cNvSpPr txBox="1"/>
          <p:nvPr>
            <p:ph idx="4" type="body"/>
          </p:nvPr>
        </p:nvSpPr>
        <p:spPr>
          <a:xfrm>
            <a:off x="468313" y="1177927"/>
            <a:ext cx="4851832" cy="4096800"/>
          </a:xfrm>
          <a:prstGeom prst="rect">
            <a:avLst/>
          </a:prstGeom>
          <a:noFill/>
          <a:ln>
            <a:noFill/>
          </a:ln>
        </p:spPr>
        <p:txBody>
          <a:bodyPr anchorCtr="0" anchor="t" bIns="45700" lIns="91425" spcFirstLastPara="1" rIns="91425" wrap="square" tIns="45700">
            <a:noAutofit/>
          </a:bodyPr>
          <a:lstStyle/>
          <a:p>
            <a:pPr indent="-266700" lvl="1" marL="266700" rtl="0" algn="l">
              <a:spcBef>
                <a:spcPts val="0"/>
              </a:spcBef>
              <a:spcAft>
                <a:spcPts val="0"/>
              </a:spcAft>
              <a:buClr>
                <a:schemeClr val="dk1"/>
              </a:buClr>
              <a:buSzPts val="1200"/>
              <a:buFont typeface="Noto Sans Symbols"/>
              <a:buChar char="❑"/>
            </a:pPr>
            <a:r>
              <a:rPr b="1" lang="es-ES"/>
              <a:t>Mantenimiento y Escalabilidad</a:t>
            </a:r>
            <a:endParaRPr/>
          </a:p>
          <a:p>
            <a:pPr indent="0" lvl="1" marL="265113" rtl="0" algn="l">
              <a:spcBef>
                <a:spcPts val="600"/>
              </a:spcBef>
              <a:spcAft>
                <a:spcPts val="0"/>
              </a:spcAft>
              <a:buClr>
                <a:schemeClr val="dk1"/>
              </a:buClr>
              <a:buSzPts val="1600"/>
              <a:buNone/>
            </a:pPr>
            <a:r>
              <a:rPr lang="es-ES"/>
              <a:t>Para proyectos que se espera que tengan una vida útil larga y que puedan necesitar actualizaciones o extensiones futuras, las especificaciones detalladas son una herramienta valiosa para cualquier equipo que tome el proyecto más adelante.</a:t>
            </a:r>
            <a:endParaRPr/>
          </a:p>
          <a:p>
            <a:pPr indent="-266700" lvl="1" marL="266700" rtl="0" algn="l">
              <a:spcBef>
                <a:spcPts val="1200"/>
              </a:spcBef>
              <a:spcAft>
                <a:spcPts val="0"/>
              </a:spcAft>
              <a:buClr>
                <a:schemeClr val="dk1"/>
              </a:buClr>
              <a:buSzPts val="1200"/>
              <a:buFont typeface="Noto Sans Symbols"/>
              <a:buChar char="❑"/>
            </a:pPr>
            <a:r>
              <a:rPr b="1" lang="es-ES"/>
              <a:t>Formación y Onboarding</a:t>
            </a:r>
            <a:endParaRPr b="1"/>
          </a:p>
          <a:p>
            <a:pPr indent="0" lvl="1" marL="265113" rtl="0" algn="l">
              <a:spcBef>
                <a:spcPts val="600"/>
              </a:spcBef>
              <a:spcAft>
                <a:spcPts val="0"/>
              </a:spcAft>
              <a:buClr>
                <a:schemeClr val="dk1"/>
              </a:buClr>
              <a:buSzPts val="1600"/>
              <a:buNone/>
            </a:pPr>
            <a:r>
              <a:rPr lang="es-ES"/>
              <a:t>Las especificaciones detalladas pueden ser un recurso educativo útil para formar a nuevos miembros del equipo, permitiéndoles entender rápidamente cómo funciona el sistema y qué se espera de él.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ESPECIFICACIÓN DETALLADA</a:t>
            </a:r>
            <a:endParaRPr b="0">
              <a:solidFill>
                <a:srgbClr val="0070C0"/>
              </a:solidFill>
            </a:endParaRPr>
          </a:p>
        </p:txBody>
      </p:sp>
      <p:sp>
        <p:nvSpPr>
          <p:cNvPr id="217" name="Google Shape;217;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ESCENARIOS SE USA?</a:t>
            </a:r>
            <a:r>
              <a:rPr lang="es-ES" sz="1400">
                <a:solidFill>
                  <a:srgbClr val="7F7F7F"/>
                </a:solidFill>
              </a:rPr>
              <a:t>   [4/4]</a:t>
            </a:r>
            <a:endParaRPr>
              <a:solidFill>
                <a:srgbClr val="7F7F7F"/>
              </a:solidFill>
            </a:endParaRPr>
          </a:p>
        </p:txBody>
      </p:sp>
      <p:pic>
        <p:nvPicPr>
          <p:cNvPr id="218" name="Google Shape;218;p19"/>
          <p:cNvPicPr preferRelativeResize="0"/>
          <p:nvPr>
            <p:ph idx="2" type="pic"/>
          </p:nvPr>
        </p:nvPicPr>
        <p:blipFill rotWithShape="1">
          <a:blip r:embed="rId3">
            <a:alphaModFix/>
          </a:blip>
          <a:srcRect b="0" l="19338" r="19339" t="0"/>
          <a:stretch/>
        </p:blipFill>
        <p:spPr>
          <a:xfrm>
            <a:off x="5558490" y="1371600"/>
            <a:ext cx="2917692" cy="3173417"/>
          </a:xfrm>
          <a:prstGeom prst="rect">
            <a:avLst/>
          </a:prstGeom>
          <a:noFill/>
          <a:ln>
            <a:noFill/>
          </a:ln>
        </p:spPr>
      </p:pic>
      <p:sp>
        <p:nvSpPr>
          <p:cNvPr id="219" name="Google Shape;219;p19"/>
          <p:cNvSpPr txBox="1"/>
          <p:nvPr>
            <p:ph idx="4" type="body"/>
          </p:nvPr>
        </p:nvSpPr>
        <p:spPr>
          <a:xfrm>
            <a:off x="468313" y="1177927"/>
            <a:ext cx="4777018" cy="4096800"/>
          </a:xfrm>
          <a:prstGeom prst="rect">
            <a:avLst/>
          </a:prstGeom>
          <a:noFill/>
          <a:ln>
            <a:noFill/>
          </a:ln>
        </p:spPr>
        <p:txBody>
          <a:bodyPr anchorCtr="0" anchor="t" bIns="45700" lIns="91425" spcFirstLastPara="1" rIns="91425" wrap="square" tIns="45700">
            <a:noAutofit/>
          </a:bodyPr>
          <a:lstStyle/>
          <a:p>
            <a:pPr indent="-266700" lvl="1" marL="266700" rtl="0" algn="l">
              <a:spcBef>
                <a:spcPts val="0"/>
              </a:spcBef>
              <a:spcAft>
                <a:spcPts val="0"/>
              </a:spcAft>
              <a:buClr>
                <a:schemeClr val="dk1"/>
              </a:buClr>
              <a:buSzPts val="1200"/>
              <a:buFont typeface="Noto Sans Symbols"/>
              <a:buChar char="❑"/>
            </a:pPr>
            <a:r>
              <a:rPr b="1" lang="es-ES"/>
              <a:t>Proyectos de Contratación Externa</a:t>
            </a:r>
            <a:endParaRPr/>
          </a:p>
          <a:p>
            <a:pPr indent="0" lvl="1" marL="265113" rtl="0" algn="l">
              <a:spcBef>
                <a:spcPts val="600"/>
              </a:spcBef>
              <a:spcAft>
                <a:spcPts val="0"/>
              </a:spcAft>
              <a:buClr>
                <a:schemeClr val="dk1"/>
              </a:buClr>
              <a:buSzPts val="1600"/>
              <a:buNone/>
            </a:pPr>
            <a:r>
              <a:rPr lang="es-ES"/>
              <a:t>Cuando partes del desarrollo se subcontratan o se realizan por equipos remotos, las especificaciones detalladas ayudan a asegurar que todos los equipos estén alineados en cuanto a los objetivos y requisitos.</a:t>
            </a:r>
            <a:endParaRPr/>
          </a:p>
          <a:p>
            <a:pPr indent="-266700" lvl="1" marL="266700" rtl="0" algn="l">
              <a:spcBef>
                <a:spcPts val="1200"/>
              </a:spcBef>
              <a:spcAft>
                <a:spcPts val="0"/>
              </a:spcAft>
              <a:buClr>
                <a:schemeClr val="dk1"/>
              </a:buClr>
              <a:buSzPts val="1200"/>
              <a:buFont typeface="Noto Sans Symbols"/>
              <a:buChar char="❑"/>
            </a:pPr>
            <a:r>
              <a:rPr b="1" lang="es-ES"/>
              <a:t>Proyectos Académicos Avanzados</a:t>
            </a:r>
            <a:endParaRPr/>
          </a:p>
          <a:p>
            <a:pPr indent="0" lvl="1" marL="265113" rtl="0" algn="l">
              <a:spcBef>
                <a:spcPts val="600"/>
              </a:spcBef>
              <a:spcAft>
                <a:spcPts val="0"/>
              </a:spcAft>
              <a:buClr>
                <a:schemeClr val="dk1"/>
              </a:buClr>
              <a:buSzPts val="1600"/>
              <a:buNone/>
            </a:pPr>
            <a:r>
              <a:rPr lang="es-ES"/>
              <a:t>En un contexto académico, especialmente en cursos de nivel avanzado o proyectos de fin de carrera, las especificaciones detalladas pueden enseñar a los estudiantes la importancia de la planificación y documentación exhaustiva en el desarrollo de software.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226" name="Google Shape;226;p20"/>
          <p:cNvSpPr/>
          <p:nvPr/>
        </p:nvSpPr>
        <p:spPr>
          <a:xfrm>
            <a:off x="424252" y="3703125"/>
            <a:ext cx="7966170" cy="954067"/>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DOCUMENTO TÉCNICO DE DEFINICIÓN DEL DIAGRAMA DE CASOS DE USO</a:t>
            </a:r>
            <a:endParaRPr b="1" sz="2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pic>
        <p:nvPicPr>
          <p:cNvPr id="233" name="Google Shape;233;p21"/>
          <p:cNvPicPr preferRelativeResize="0"/>
          <p:nvPr>
            <p:ph idx="2" type="pic"/>
          </p:nvPr>
        </p:nvPicPr>
        <p:blipFill rotWithShape="1">
          <a:blip r:embed="rId3">
            <a:alphaModFix/>
          </a:blip>
          <a:srcRect b="0" l="8481" r="8482" t="0"/>
          <a:stretch/>
        </p:blipFill>
        <p:spPr>
          <a:xfrm>
            <a:off x="5719781" y="1571105"/>
            <a:ext cx="2955906" cy="3214981"/>
          </a:xfrm>
          <a:prstGeom prst="rect">
            <a:avLst/>
          </a:prstGeom>
          <a:noFill/>
          <a:ln>
            <a:noFill/>
          </a:ln>
        </p:spPr>
      </p:pic>
      <p:sp>
        <p:nvSpPr>
          <p:cNvPr id="234" name="Google Shape;234;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ESTÁNDARES Y NORMAS TÉCNICAS</a:t>
            </a:r>
            <a:endParaRPr/>
          </a:p>
        </p:txBody>
      </p:sp>
      <p:sp>
        <p:nvSpPr>
          <p:cNvPr id="235" name="Google Shape;235;p21"/>
          <p:cNvSpPr txBox="1"/>
          <p:nvPr>
            <p:ph idx="4" type="body"/>
          </p:nvPr>
        </p:nvSpPr>
        <p:spPr>
          <a:xfrm>
            <a:off x="468313" y="1340387"/>
            <a:ext cx="4984836"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Facilitan la comunicación y comprensión entre los miembros del equipo, y contribuyen a la calidad y robustez del producto final.</a:t>
            </a:r>
            <a:endParaRPr/>
          </a:p>
          <a:p>
            <a:pPr indent="-266700" lvl="0" marL="266700" rtl="0" algn="l">
              <a:spcBef>
                <a:spcPts val="1200"/>
              </a:spcBef>
              <a:spcAft>
                <a:spcPts val="0"/>
              </a:spcAft>
              <a:buClr>
                <a:schemeClr val="dk1"/>
              </a:buClr>
              <a:buSzPts val="1200"/>
              <a:buChar char="❑"/>
            </a:pPr>
            <a:r>
              <a:rPr b="1" lang="es-ES"/>
              <a:t>ISO/IEC/IEEE 29148:</a:t>
            </a:r>
            <a:endParaRPr/>
          </a:p>
          <a:p>
            <a:pPr indent="0" lvl="1" marL="265113" rtl="0" algn="l">
              <a:spcBef>
                <a:spcPts val="1200"/>
              </a:spcBef>
              <a:spcAft>
                <a:spcPts val="0"/>
              </a:spcAft>
              <a:buClr>
                <a:schemeClr val="dk1"/>
              </a:buClr>
              <a:buSzPts val="1600"/>
              <a:buNone/>
            </a:pPr>
            <a:r>
              <a:rPr lang="es-ES"/>
              <a:t>Este estándar internacional cubre los requisitos para sistemas y software, y ofrece directrices para la documentación de casos de uso.</a:t>
            </a:r>
            <a:endParaRPr/>
          </a:p>
          <a:p>
            <a:pPr indent="-266700" lvl="0" marL="266700" rtl="0" algn="l">
              <a:spcBef>
                <a:spcPts val="1200"/>
              </a:spcBef>
              <a:spcAft>
                <a:spcPts val="0"/>
              </a:spcAft>
              <a:buClr>
                <a:schemeClr val="dk1"/>
              </a:buClr>
              <a:buSzPts val="1200"/>
              <a:buChar char="❑"/>
            </a:pPr>
            <a:r>
              <a:rPr b="1" lang="es-ES"/>
              <a:t>UML (Lenguaje Unificado de Modelado):</a:t>
            </a:r>
            <a:endParaRPr/>
          </a:p>
          <a:p>
            <a:pPr indent="0" lvl="1" marL="265113" rtl="0" algn="l">
              <a:spcBef>
                <a:spcPts val="1200"/>
              </a:spcBef>
              <a:spcAft>
                <a:spcPts val="0"/>
              </a:spcAft>
              <a:buClr>
                <a:schemeClr val="dk1"/>
              </a:buClr>
              <a:buSzPts val="1600"/>
              <a:buNone/>
            </a:pPr>
            <a:r>
              <a:rPr lang="es-ES"/>
              <a:t>Aunque no es una norma técnica en sí, UML es un estándar de facto para la modelización de software, y ofrece notaciones específicas para casos de uso.</a:t>
            </a:r>
            <a:endParaRPr/>
          </a:p>
          <a:p>
            <a:pPr indent="-190500" lvl="0" marL="266700" rtl="0" algn="just">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pic>
        <p:nvPicPr>
          <p:cNvPr id="242" name="Google Shape;242;p22"/>
          <p:cNvPicPr preferRelativeResize="0"/>
          <p:nvPr>
            <p:ph idx="2" type="pic"/>
          </p:nvPr>
        </p:nvPicPr>
        <p:blipFill rotWithShape="1">
          <a:blip r:embed="rId3">
            <a:alphaModFix/>
          </a:blip>
          <a:srcRect b="0" l="19338" r="19339" t="0"/>
          <a:stretch/>
        </p:blipFill>
        <p:spPr>
          <a:xfrm>
            <a:off x="5636029" y="1675707"/>
            <a:ext cx="2798590" cy="3043877"/>
          </a:xfrm>
          <a:prstGeom prst="rect">
            <a:avLst/>
          </a:prstGeom>
          <a:noFill/>
          <a:ln>
            <a:noFill/>
          </a:ln>
        </p:spPr>
      </p:pic>
      <p:sp>
        <p:nvSpPr>
          <p:cNvPr id="243" name="Google Shape;243;p2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BUENAS PRÁCTICAS   </a:t>
            </a:r>
            <a:r>
              <a:rPr lang="es-ES" sz="1400">
                <a:solidFill>
                  <a:srgbClr val="7F7F7F"/>
                </a:solidFill>
              </a:rPr>
              <a:t>[1/2]</a:t>
            </a:r>
            <a:endParaRPr>
              <a:solidFill>
                <a:srgbClr val="7F7F7F"/>
              </a:solidFill>
            </a:endParaRPr>
          </a:p>
        </p:txBody>
      </p:sp>
      <p:sp>
        <p:nvSpPr>
          <p:cNvPr id="244" name="Google Shape;244;p22"/>
          <p:cNvSpPr txBox="1"/>
          <p:nvPr>
            <p:ph idx="4" type="body"/>
          </p:nvPr>
        </p:nvSpPr>
        <p:spPr>
          <a:xfrm>
            <a:off x="468313" y="1177927"/>
            <a:ext cx="4594138" cy="4096800"/>
          </a:xfrm>
          <a:prstGeom prst="rect">
            <a:avLst/>
          </a:prstGeom>
          <a:noFill/>
          <a:ln>
            <a:noFill/>
          </a:ln>
        </p:spPr>
        <p:txBody>
          <a:bodyPr anchorCtr="0" anchor="t" bIns="45700" lIns="91425" spcFirstLastPara="1" rIns="91425" wrap="square" tIns="45700">
            <a:noAutofit/>
          </a:bodyPr>
          <a:lstStyle/>
          <a:p>
            <a:pPr indent="-265113" lvl="0" marL="265113" rtl="0" algn="l">
              <a:lnSpc>
                <a:spcPct val="90000"/>
              </a:lnSpc>
              <a:spcBef>
                <a:spcPts val="0"/>
              </a:spcBef>
              <a:spcAft>
                <a:spcPts val="0"/>
              </a:spcAft>
              <a:buClr>
                <a:schemeClr val="dk1"/>
              </a:buClr>
              <a:buSzPts val="1600"/>
              <a:buFont typeface="Calibri"/>
              <a:buAutoNum type="arabicParenR"/>
            </a:pPr>
            <a:r>
              <a:rPr lang="es-ES"/>
              <a:t>Utilizar un lenguaje coherente y </a:t>
            </a:r>
            <a:r>
              <a:rPr b="1" lang="es-ES"/>
              <a:t>terminología consistente</a:t>
            </a:r>
            <a:r>
              <a:rPr lang="es-ES"/>
              <a:t> es crucial para evitar confusiones.</a:t>
            </a:r>
            <a:endParaRPr/>
          </a:p>
          <a:p>
            <a:pPr indent="-265113" lvl="0" marL="265113" rtl="0" algn="l">
              <a:lnSpc>
                <a:spcPct val="90000"/>
              </a:lnSpc>
              <a:spcBef>
                <a:spcPts val="1200"/>
              </a:spcBef>
              <a:spcAft>
                <a:spcPts val="0"/>
              </a:spcAft>
              <a:buClr>
                <a:schemeClr val="dk1"/>
              </a:buClr>
              <a:buSzPts val="1600"/>
              <a:buFont typeface="Calibri"/>
              <a:buAutoNum type="arabicParenR"/>
            </a:pPr>
            <a:r>
              <a:rPr lang="es-ES"/>
              <a:t>Los casos de uso deben ser lo </a:t>
            </a:r>
            <a:r>
              <a:rPr b="1" lang="es-ES"/>
              <a:t>suficientemente claros y precisos</a:t>
            </a:r>
            <a:r>
              <a:rPr lang="es-ES"/>
              <a:t> como para que cualquier miembro del equipo pueda entenderlos, sin ambigüedades.</a:t>
            </a:r>
            <a:endParaRPr/>
          </a:p>
          <a:p>
            <a:pPr indent="-265113" lvl="0" marL="265113" rtl="0" algn="l">
              <a:lnSpc>
                <a:spcPct val="90000"/>
              </a:lnSpc>
              <a:spcBef>
                <a:spcPts val="1200"/>
              </a:spcBef>
              <a:spcAft>
                <a:spcPts val="0"/>
              </a:spcAft>
              <a:buClr>
                <a:schemeClr val="dk1"/>
              </a:buClr>
              <a:buSzPts val="1600"/>
              <a:buFont typeface="Calibri"/>
              <a:buAutoNum type="arabicParenR"/>
            </a:pPr>
            <a:r>
              <a:rPr lang="es-ES"/>
              <a:t>Mantener una </a:t>
            </a:r>
            <a:r>
              <a:rPr b="1" lang="es-ES"/>
              <a:t>trazabilidad entre los casos de uso y los requisitos</a:t>
            </a:r>
            <a:r>
              <a:rPr lang="es-ES"/>
              <a:t> del sistema puede ayudar a asegurar que todos los requisitos se están abordando adecuadamente.</a:t>
            </a:r>
            <a:endParaRPr/>
          </a:p>
          <a:p>
            <a:pPr indent="-265113" lvl="0" marL="265113" rtl="0" algn="l">
              <a:lnSpc>
                <a:spcPct val="90000"/>
              </a:lnSpc>
              <a:spcBef>
                <a:spcPts val="1200"/>
              </a:spcBef>
              <a:spcAft>
                <a:spcPts val="0"/>
              </a:spcAft>
              <a:buClr>
                <a:schemeClr val="dk1"/>
              </a:buClr>
              <a:buSzPts val="1600"/>
              <a:buFont typeface="Calibri"/>
              <a:buAutoNum type="arabicParenR"/>
            </a:pPr>
            <a:r>
              <a:rPr lang="es-ES"/>
              <a:t>Es recomendable que múltiples partes interesadas </a:t>
            </a:r>
            <a:r>
              <a:rPr b="1" lang="es-ES"/>
              <a:t>revisen</a:t>
            </a:r>
            <a:r>
              <a:rPr lang="es-ES"/>
              <a:t> las especificaciones para asegurar que cumplen con los requisitos y que no se han pasado por alto escenarios importantes.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pic>
        <p:nvPicPr>
          <p:cNvPr id="251" name="Google Shape;251;p23"/>
          <p:cNvPicPr preferRelativeResize="0"/>
          <p:nvPr>
            <p:ph idx="2" type="pic"/>
          </p:nvPr>
        </p:nvPicPr>
        <p:blipFill rotWithShape="1">
          <a:blip r:embed="rId3">
            <a:alphaModFix/>
          </a:blip>
          <a:srcRect b="0" l="19338" r="19339" t="0"/>
          <a:stretch/>
        </p:blipFill>
        <p:spPr>
          <a:xfrm>
            <a:off x="5681566" y="1571104"/>
            <a:ext cx="2994121" cy="3256545"/>
          </a:xfrm>
          <a:prstGeom prst="rect">
            <a:avLst/>
          </a:prstGeom>
          <a:noFill/>
          <a:ln>
            <a:noFill/>
          </a:ln>
        </p:spPr>
      </p:pic>
      <p:sp>
        <p:nvSpPr>
          <p:cNvPr id="252" name="Google Shape;252;p2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BUENAS PRÁCTICAS   </a:t>
            </a:r>
            <a:r>
              <a:rPr lang="es-ES" sz="1400">
                <a:solidFill>
                  <a:srgbClr val="7F7F7F"/>
                </a:solidFill>
              </a:rPr>
              <a:t>[2/2]</a:t>
            </a:r>
            <a:endParaRPr>
              <a:solidFill>
                <a:srgbClr val="7F7F7F"/>
              </a:solidFill>
            </a:endParaRPr>
          </a:p>
        </p:txBody>
      </p:sp>
      <p:sp>
        <p:nvSpPr>
          <p:cNvPr id="253" name="Google Shape;253;p23"/>
          <p:cNvSpPr txBox="1"/>
          <p:nvPr>
            <p:ph idx="4" type="body"/>
          </p:nvPr>
        </p:nvSpPr>
        <p:spPr>
          <a:xfrm>
            <a:off x="468313" y="1177927"/>
            <a:ext cx="4818582" cy="4096800"/>
          </a:xfrm>
          <a:prstGeom prst="rect">
            <a:avLst/>
          </a:prstGeom>
          <a:noFill/>
          <a:ln>
            <a:noFill/>
          </a:ln>
        </p:spPr>
        <p:txBody>
          <a:bodyPr anchorCtr="0" anchor="t" bIns="45700" lIns="91425" spcFirstLastPara="1" rIns="91425" wrap="square" tIns="45700">
            <a:noAutofit/>
          </a:bodyPr>
          <a:lstStyle/>
          <a:p>
            <a:pPr indent="-265113" lvl="0" marL="265113" rtl="0" algn="l">
              <a:lnSpc>
                <a:spcPct val="90000"/>
              </a:lnSpc>
              <a:spcBef>
                <a:spcPts val="0"/>
              </a:spcBef>
              <a:spcAft>
                <a:spcPts val="0"/>
              </a:spcAft>
              <a:buClr>
                <a:schemeClr val="dk1"/>
              </a:buClr>
              <a:buSzPts val="1600"/>
              <a:buFont typeface="Calibri"/>
              <a:buAutoNum type="arabicParenR" startAt="5"/>
            </a:pPr>
            <a:r>
              <a:rPr lang="es-ES"/>
              <a:t>Los casos de uso deben </a:t>
            </a:r>
            <a:r>
              <a:rPr b="1" lang="es-ES"/>
              <a:t>centrarse en lo que el actor quiere lograr</a:t>
            </a:r>
            <a:r>
              <a:rPr lang="es-ES"/>
              <a:t>, no en los detalles técnicos de cómo se logra.</a:t>
            </a:r>
            <a:endParaRPr/>
          </a:p>
          <a:p>
            <a:pPr indent="-265113" lvl="0" marL="265113" rtl="0" algn="l">
              <a:lnSpc>
                <a:spcPct val="90000"/>
              </a:lnSpc>
              <a:spcBef>
                <a:spcPts val="1200"/>
              </a:spcBef>
              <a:spcAft>
                <a:spcPts val="0"/>
              </a:spcAft>
              <a:buClr>
                <a:schemeClr val="dk1"/>
              </a:buClr>
              <a:buSzPts val="1600"/>
              <a:buFont typeface="Calibri"/>
              <a:buAutoNum type="arabicParenR" startAt="5"/>
            </a:pPr>
            <a:r>
              <a:rPr lang="es-ES"/>
              <a:t>Cada caso de uso debe </a:t>
            </a:r>
            <a:r>
              <a:rPr b="1" lang="es-ES"/>
              <a:t>representar una funcionalidad o proceso independiente</a:t>
            </a:r>
            <a:r>
              <a:rPr lang="es-ES"/>
              <a:t> que tenga sentido por sí mismo.</a:t>
            </a:r>
            <a:endParaRPr/>
          </a:p>
          <a:p>
            <a:pPr indent="-265113" lvl="0" marL="265113" rtl="0" algn="l">
              <a:lnSpc>
                <a:spcPct val="90000"/>
              </a:lnSpc>
              <a:spcBef>
                <a:spcPts val="1200"/>
              </a:spcBef>
              <a:spcAft>
                <a:spcPts val="0"/>
              </a:spcAft>
              <a:buClr>
                <a:schemeClr val="dk1"/>
              </a:buClr>
              <a:buSzPts val="1600"/>
              <a:buFont typeface="Calibri"/>
              <a:buAutoNum type="arabicParenR" startAt="5"/>
            </a:pPr>
            <a:r>
              <a:rPr lang="es-ES"/>
              <a:t>Utilizar una </a:t>
            </a:r>
            <a:r>
              <a:rPr b="1" lang="es-ES"/>
              <a:t>plantilla para las especificaciones</a:t>
            </a:r>
            <a:r>
              <a:rPr lang="es-ES"/>
              <a:t> puede ayudar a asegurar que todos los casos de uso se documenten de una manera coherente.</a:t>
            </a:r>
            <a:endParaRPr/>
          </a:p>
          <a:p>
            <a:pPr indent="-265113" lvl="0" marL="265113" rtl="0" algn="l">
              <a:lnSpc>
                <a:spcPct val="90000"/>
              </a:lnSpc>
              <a:spcBef>
                <a:spcPts val="1200"/>
              </a:spcBef>
              <a:spcAft>
                <a:spcPts val="0"/>
              </a:spcAft>
              <a:buClr>
                <a:schemeClr val="dk1"/>
              </a:buClr>
              <a:buSzPts val="1600"/>
              <a:buFont typeface="Calibri"/>
              <a:buAutoNum type="arabicParenR" startAt="5"/>
            </a:pPr>
            <a:r>
              <a:rPr b="1" lang="es-ES"/>
              <a:t>Los diagramas</a:t>
            </a:r>
            <a:r>
              <a:rPr lang="es-ES"/>
              <a:t> de casos de uso, secuencia o actividad pueden complementar y clarificar la descripción textual.</a:t>
            </a:r>
            <a:endParaRPr/>
          </a:p>
          <a:p>
            <a:pPr indent="-265113" lvl="0" marL="265113" rtl="0" algn="l">
              <a:lnSpc>
                <a:spcPct val="90000"/>
              </a:lnSpc>
              <a:spcBef>
                <a:spcPts val="1200"/>
              </a:spcBef>
              <a:spcAft>
                <a:spcPts val="0"/>
              </a:spcAft>
              <a:buClr>
                <a:schemeClr val="dk1"/>
              </a:buClr>
              <a:buSzPts val="1600"/>
              <a:buFont typeface="Calibri"/>
              <a:buAutoNum type="arabicParenR" startAt="5"/>
            </a:pPr>
            <a:r>
              <a:rPr lang="es-ES"/>
              <a:t>Los casos de uso no son documentos estáticos; </a:t>
            </a:r>
            <a:r>
              <a:rPr b="1" lang="es-ES"/>
              <a:t>deben revisarse y actualizarse</a:t>
            </a:r>
            <a:r>
              <a:rPr lang="es-ES"/>
              <a:t> a medida que el proyecto avanza.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24"/>
          <p:cNvPicPr preferRelativeResize="0"/>
          <p:nvPr>
            <p:ph idx="2" type="pic"/>
          </p:nvPr>
        </p:nvPicPr>
        <p:blipFill rotWithShape="1">
          <a:blip r:embed="rId3">
            <a:alphaModFix/>
          </a:blip>
          <a:srcRect b="38" l="0" r="0" t="39"/>
          <a:stretch/>
        </p:blipFill>
        <p:spPr>
          <a:xfrm>
            <a:off x="907948" y="3202691"/>
            <a:ext cx="6864451" cy="2002284"/>
          </a:xfrm>
          <a:prstGeom prst="rect">
            <a:avLst/>
          </a:prstGeom>
          <a:noFill/>
          <a:ln>
            <a:noFill/>
          </a:ln>
        </p:spPr>
      </p:pic>
      <p:sp>
        <p:nvSpPr>
          <p:cNvPr id="260" name="Google Shape;260;p2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EL ESTÁNDAR ISO/IEC/IEEE 29148</a:t>
            </a:r>
            <a:endParaRPr/>
          </a:p>
        </p:txBody>
      </p:sp>
      <p:sp>
        <p:nvSpPr>
          <p:cNvPr id="261" name="Google Shape;261;p2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sp>
        <p:nvSpPr>
          <p:cNvPr id="262" name="Google Shape;262;p2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Proporciona un conjunto de directrices para la especificación de requisitos de sistemas y software, incluidos los casos de uso. </a:t>
            </a:r>
            <a:endParaRPr/>
          </a:p>
          <a:p>
            <a:pPr indent="-266700" lvl="0" marL="266700" rtl="0" algn="l">
              <a:spcBef>
                <a:spcPts val="600"/>
              </a:spcBef>
              <a:spcAft>
                <a:spcPts val="0"/>
              </a:spcAft>
              <a:buClr>
                <a:schemeClr val="dk1"/>
              </a:buClr>
              <a:buSzPts val="1200"/>
              <a:buChar char="❑"/>
            </a:pPr>
            <a:r>
              <a:rPr lang="es-ES"/>
              <a:t>Al seguir estas directrices, los equipos de desarrollo pueden minimizar los riesgos asociados con requisitos mal definidos o incompletos.</a:t>
            </a:r>
            <a:endParaRPr/>
          </a:p>
          <a:p>
            <a:pPr indent="-266700" lvl="0" marL="266700" rtl="0" algn="l">
              <a:spcBef>
                <a:spcPts val="600"/>
              </a:spcBef>
              <a:spcAft>
                <a:spcPts val="0"/>
              </a:spcAft>
              <a:buClr>
                <a:schemeClr val="dk1"/>
              </a:buClr>
              <a:buSzPts val="1200"/>
              <a:buChar char="❑"/>
            </a:pPr>
            <a:r>
              <a:rPr lang="es-ES"/>
              <a:t>Aunque el estándar abarca una amplia gama de temas relacionados con la ingeniería de requisitos, las más relevantes se refieren a la especificación de casos de uso.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sp>
        <p:nvSpPr>
          <p:cNvPr id="269" name="Google Shape;269;p25"/>
          <p:cNvSpPr txBox="1"/>
          <p:nvPr>
            <p:ph idx="4" type="body"/>
          </p:nvPr>
        </p:nvSpPr>
        <p:spPr>
          <a:xfrm>
            <a:off x="601317" y="1385530"/>
            <a:ext cx="4743767" cy="3727447"/>
          </a:xfrm>
          <a:prstGeom prst="rect">
            <a:avLst/>
          </a:prstGeom>
          <a:noFill/>
          <a:ln>
            <a:noFill/>
          </a:ln>
        </p:spPr>
        <p:txBody>
          <a:bodyPr anchorCtr="0" anchor="t" bIns="45700" lIns="91425" spcFirstLastPara="1" rIns="91425" wrap="square" tIns="45700">
            <a:noAutofit/>
          </a:bodyPr>
          <a:lstStyle/>
          <a:p>
            <a:pPr indent="-265113" lvl="0" marL="265113" rtl="0" algn="l">
              <a:spcBef>
                <a:spcPts val="0"/>
              </a:spcBef>
              <a:spcAft>
                <a:spcPts val="0"/>
              </a:spcAft>
              <a:buClr>
                <a:schemeClr val="dk1"/>
              </a:buClr>
              <a:buSzPts val="1440"/>
              <a:buFont typeface="Calibri"/>
              <a:buAutoNum type="arabicParenR"/>
            </a:pPr>
            <a:r>
              <a:rPr b="1" lang="es-ES"/>
              <a:t>Identificar</a:t>
            </a:r>
            <a:r>
              <a:rPr lang="es-ES"/>
              <a:t> claramente los </a:t>
            </a:r>
            <a:r>
              <a:rPr b="1" lang="es-ES"/>
              <a:t>actores y los stakeholders</a:t>
            </a:r>
            <a:r>
              <a:rPr lang="es-ES"/>
              <a:t> que interactuarán con el sistema.</a:t>
            </a:r>
            <a:endParaRPr/>
          </a:p>
          <a:p>
            <a:pPr indent="-265113" lvl="0" marL="265113" rtl="0" algn="l">
              <a:spcBef>
                <a:spcPts val="1200"/>
              </a:spcBef>
              <a:spcAft>
                <a:spcPts val="0"/>
              </a:spcAft>
              <a:buClr>
                <a:schemeClr val="dk1"/>
              </a:buClr>
              <a:buSzPts val="1440"/>
              <a:buFont typeface="Calibri"/>
              <a:buAutoNum type="arabicParenR"/>
            </a:pPr>
            <a:r>
              <a:rPr lang="es-ES"/>
              <a:t>Proporcionar una </a:t>
            </a:r>
            <a:r>
              <a:rPr b="1" lang="es-ES"/>
              <a:t>descripción detallada del escenario</a:t>
            </a:r>
            <a:r>
              <a:rPr lang="es-ES"/>
              <a:t> en el que se utilizará el caso de uso, incluidas las precondiciones y postcondiciones.</a:t>
            </a:r>
            <a:endParaRPr/>
          </a:p>
          <a:p>
            <a:pPr indent="-265113" lvl="0" marL="265113" rtl="0" algn="l">
              <a:spcBef>
                <a:spcPts val="1200"/>
              </a:spcBef>
              <a:spcAft>
                <a:spcPts val="0"/>
              </a:spcAft>
              <a:buClr>
                <a:schemeClr val="dk1"/>
              </a:buClr>
              <a:buSzPts val="1440"/>
              <a:buFont typeface="Calibri"/>
              <a:buAutoNum type="arabicParenR"/>
            </a:pPr>
            <a:r>
              <a:rPr lang="es-ES"/>
              <a:t>Documentar el </a:t>
            </a:r>
            <a:r>
              <a:rPr b="1" lang="es-ES"/>
              <a:t>flujo de eventos</a:t>
            </a:r>
            <a:r>
              <a:rPr lang="es-ES"/>
              <a:t>, que incluye el flujo principal de actividades, flujos alternativos y excepciones, de forma clara y detallada para evitar ambigüedades.</a:t>
            </a:r>
            <a:endParaRPr/>
          </a:p>
          <a:p>
            <a:pPr indent="-265113" lvl="0" marL="265113" rtl="0" algn="l">
              <a:spcBef>
                <a:spcPts val="1200"/>
              </a:spcBef>
              <a:spcAft>
                <a:spcPts val="0"/>
              </a:spcAft>
              <a:buClr>
                <a:schemeClr val="dk1"/>
              </a:buClr>
              <a:buSzPts val="1440"/>
              <a:buFont typeface="Calibri"/>
              <a:buAutoNum type="arabicParenR"/>
            </a:pPr>
            <a:r>
              <a:rPr lang="es-ES"/>
              <a:t>Los requisitos que se derivan del caso de uso deben documentarse de manera explícita, incluidos tanto los </a:t>
            </a:r>
            <a:r>
              <a:rPr b="1" lang="es-ES"/>
              <a:t>requisitos funcionales</a:t>
            </a:r>
            <a:r>
              <a:rPr lang="es-ES"/>
              <a:t> como los </a:t>
            </a:r>
            <a:r>
              <a:rPr b="1" lang="es-ES"/>
              <a:t>no funcionales</a:t>
            </a:r>
            <a:r>
              <a:rPr lang="es-ES"/>
              <a:t>.</a:t>
            </a:r>
            <a:endParaRPr/>
          </a:p>
        </p:txBody>
      </p:sp>
      <p:sp>
        <p:nvSpPr>
          <p:cNvPr id="270" name="Google Shape;270;p2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DIRECTRICES ISO/IEC/IEEE 29148   </a:t>
            </a:r>
            <a:r>
              <a:rPr lang="es-ES" sz="1400">
                <a:solidFill>
                  <a:srgbClr val="7F7F7F"/>
                </a:solidFill>
              </a:rPr>
              <a:t>[1/2]</a:t>
            </a:r>
            <a:endParaRPr>
              <a:solidFill>
                <a:srgbClr val="7F7F7F"/>
              </a:solidFill>
            </a:endParaRPr>
          </a:p>
        </p:txBody>
      </p:sp>
      <p:pic>
        <p:nvPicPr>
          <p:cNvPr id="271" name="Google Shape;271;p25"/>
          <p:cNvPicPr preferRelativeResize="0"/>
          <p:nvPr>
            <p:ph idx="2" type="pic"/>
          </p:nvPr>
        </p:nvPicPr>
        <p:blipFill rotWithShape="1">
          <a:blip r:embed="rId3">
            <a:alphaModFix/>
          </a:blip>
          <a:srcRect b="0" l="19338" r="19339" t="0"/>
          <a:stretch/>
        </p:blipFill>
        <p:spPr>
          <a:xfrm>
            <a:off x="5747277" y="1729047"/>
            <a:ext cx="2795406" cy="304041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pic>
        <p:nvPicPr>
          <p:cNvPr id="278" name="Google Shape;278;p26"/>
          <p:cNvPicPr preferRelativeResize="0"/>
          <p:nvPr>
            <p:ph idx="2" type="pic"/>
          </p:nvPr>
        </p:nvPicPr>
        <p:blipFill rotWithShape="1">
          <a:blip r:embed="rId3">
            <a:alphaModFix/>
          </a:blip>
          <a:srcRect b="0" l="19673" r="19673" t="0"/>
          <a:stretch/>
        </p:blipFill>
        <p:spPr>
          <a:xfrm>
            <a:off x="5602778" y="1460174"/>
            <a:ext cx="2981470" cy="3242785"/>
          </a:xfrm>
          <a:prstGeom prst="rect">
            <a:avLst/>
          </a:prstGeom>
          <a:noFill/>
          <a:ln>
            <a:noFill/>
          </a:ln>
        </p:spPr>
      </p:pic>
      <p:sp>
        <p:nvSpPr>
          <p:cNvPr id="279" name="Google Shape;279;p26"/>
          <p:cNvSpPr txBox="1"/>
          <p:nvPr>
            <p:ph idx="4" type="body"/>
          </p:nvPr>
        </p:nvSpPr>
        <p:spPr>
          <a:xfrm>
            <a:off x="534814" y="1340387"/>
            <a:ext cx="4826894" cy="4096800"/>
          </a:xfrm>
          <a:prstGeom prst="rect">
            <a:avLst/>
          </a:prstGeom>
          <a:noFill/>
          <a:ln>
            <a:noFill/>
          </a:ln>
        </p:spPr>
        <p:txBody>
          <a:bodyPr anchorCtr="0" anchor="t" bIns="45700" lIns="91425" spcFirstLastPara="1" rIns="91425" wrap="square" tIns="45700">
            <a:noAutofit/>
          </a:bodyPr>
          <a:lstStyle/>
          <a:p>
            <a:pPr indent="-265113" lvl="0" marL="265113" rtl="0" algn="l">
              <a:spcBef>
                <a:spcPts val="0"/>
              </a:spcBef>
              <a:spcAft>
                <a:spcPts val="0"/>
              </a:spcAft>
              <a:buClr>
                <a:schemeClr val="dk1"/>
              </a:buClr>
              <a:buSzPts val="1440"/>
              <a:buFont typeface="Calibri"/>
              <a:buAutoNum type="arabicParenR" startAt="5"/>
            </a:pPr>
            <a:r>
              <a:rPr lang="es-ES"/>
              <a:t>Debe haber una </a:t>
            </a:r>
            <a:r>
              <a:rPr b="1" lang="es-ES"/>
              <a:t>trazabilidad</a:t>
            </a:r>
            <a:r>
              <a:rPr lang="es-ES"/>
              <a:t> clara entre los casos de uso y los requisitos del sistema para asegurar que todos los requisitos se estén abordando adecuadamente.</a:t>
            </a:r>
            <a:endParaRPr/>
          </a:p>
          <a:p>
            <a:pPr indent="-265113" lvl="0" marL="265113" rtl="0" algn="l">
              <a:spcBef>
                <a:spcPts val="1200"/>
              </a:spcBef>
              <a:spcAft>
                <a:spcPts val="0"/>
              </a:spcAft>
              <a:buClr>
                <a:schemeClr val="dk1"/>
              </a:buClr>
              <a:buSzPts val="1440"/>
              <a:buFont typeface="Calibri"/>
              <a:buAutoNum type="arabicParenR" startAt="5"/>
            </a:pPr>
            <a:r>
              <a:rPr lang="es-ES"/>
              <a:t>Establecer métodos para </a:t>
            </a:r>
            <a:r>
              <a:rPr b="1" lang="es-ES"/>
              <a:t>validar</a:t>
            </a:r>
            <a:r>
              <a:rPr lang="es-ES"/>
              <a:t> que los casos de uso cumplen con las necesidades del negocio y para </a:t>
            </a:r>
            <a:r>
              <a:rPr b="1" lang="es-ES"/>
              <a:t>verificar</a:t>
            </a:r>
            <a:r>
              <a:rPr lang="es-ES"/>
              <a:t> que el sistema implementado cumple con los casos de uso.</a:t>
            </a:r>
            <a:endParaRPr/>
          </a:p>
          <a:p>
            <a:pPr indent="-265113" lvl="0" marL="265113" rtl="0" algn="l">
              <a:spcBef>
                <a:spcPts val="1200"/>
              </a:spcBef>
              <a:spcAft>
                <a:spcPts val="0"/>
              </a:spcAft>
              <a:buClr>
                <a:schemeClr val="dk1"/>
              </a:buClr>
              <a:buSzPts val="1440"/>
              <a:buFont typeface="Calibri"/>
              <a:buAutoNum type="arabicParenR" startAt="5"/>
            </a:pPr>
            <a:r>
              <a:rPr lang="es-ES"/>
              <a:t>Tener un proceso para </a:t>
            </a:r>
            <a:r>
              <a:rPr b="1" lang="es-ES"/>
              <a:t>gestionar cambios</a:t>
            </a:r>
            <a:r>
              <a:rPr lang="es-ES"/>
              <a:t> en los casos de uso y en los requisitos asociados.</a:t>
            </a:r>
            <a:endParaRPr/>
          </a:p>
          <a:p>
            <a:pPr indent="-265113" lvl="0" marL="265113" rtl="0" algn="l">
              <a:spcBef>
                <a:spcPts val="1200"/>
              </a:spcBef>
              <a:spcAft>
                <a:spcPts val="0"/>
              </a:spcAft>
              <a:buClr>
                <a:schemeClr val="dk1"/>
              </a:buClr>
              <a:buSzPts val="1440"/>
              <a:buFont typeface="Calibri"/>
              <a:buAutoNum type="arabicParenR" startAt="5"/>
            </a:pPr>
            <a:r>
              <a:rPr lang="es-ES"/>
              <a:t>La documentación </a:t>
            </a:r>
            <a:r>
              <a:rPr b="1" lang="es-ES"/>
              <a:t>debe ser coherente</a:t>
            </a:r>
            <a:r>
              <a:rPr lang="es-ES"/>
              <a:t> y seguir una estructura que facilite su comprensión y revisión.</a:t>
            </a:r>
            <a:endParaRPr/>
          </a:p>
        </p:txBody>
      </p:sp>
      <p:sp>
        <p:nvSpPr>
          <p:cNvPr id="280" name="Google Shape;280;p2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DIRECTRICES ISO/IEC/IEEE 29148   </a:t>
            </a:r>
            <a:r>
              <a:rPr lang="es-ES" sz="1400">
                <a:solidFill>
                  <a:srgbClr val="7F7F7F"/>
                </a:solidFill>
              </a:rPr>
              <a:t>[2/2]</a:t>
            </a:r>
            <a:endParaRPr>
              <a:solidFill>
                <a:srgbClr val="7F7F7F"/>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27"/>
          <p:cNvPicPr preferRelativeResize="0"/>
          <p:nvPr>
            <p:ph idx="2" type="pic"/>
          </p:nvPr>
        </p:nvPicPr>
        <p:blipFill rotWithShape="1">
          <a:blip r:embed="rId3">
            <a:alphaModFix/>
          </a:blip>
          <a:srcRect b="28137" l="0" r="0" t="28137"/>
          <a:stretch/>
        </p:blipFill>
        <p:spPr>
          <a:xfrm>
            <a:off x="1518003" y="3400209"/>
            <a:ext cx="6107993" cy="1781634"/>
          </a:xfrm>
          <a:prstGeom prst="rect">
            <a:avLst/>
          </a:prstGeom>
          <a:noFill/>
          <a:ln>
            <a:noFill/>
          </a:ln>
        </p:spPr>
      </p:pic>
      <p:sp>
        <p:nvSpPr>
          <p:cNvPr id="287" name="Google Shape;287;p27"/>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DOCUMENTO: DEFINICIÓN DEL DIAGRAMA CASOS DE USO</a:t>
            </a:r>
            <a:endParaRPr/>
          </a:p>
        </p:txBody>
      </p:sp>
      <p:sp>
        <p:nvSpPr>
          <p:cNvPr id="288" name="Google Shape;288;p27"/>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DOCUMENTO TÉCNICO DE DEFINICIÓN DEL DIAGRAMA DE CASOS DE USO</a:t>
            </a:r>
            <a:endParaRPr b="0">
              <a:solidFill>
                <a:srgbClr val="0070C0"/>
              </a:solidFill>
            </a:endParaRPr>
          </a:p>
        </p:txBody>
      </p:sp>
      <p:sp>
        <p:nvSpPr>
          <p:cNvPr id="289" name="Google Shape;289;p27"/>
          <p:cNvSpPr txBox="1"/>
          <p:nvPr>
            <p:ph idx="4" type="body"/>
          </p:nvPr>
        </p:nvSpPr>
        <p:spPr>
          <a:xfrm>
            <a:off x="475687" y="1169422"/>
            <a:ext cx="801992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Es un documento formal que acompaña y complementa el diagrama de casos de uso y garantiza que todos los miembros del equipo de proyecto, desde desarrolladores y diseñadores hasta gerentes y stakeholders, tengan una comprensión clara y unificada de cómo se espera que funcione el sistema.</a:t>
            </a:r>
            <a:endParaRPr/>
          </a:p>
          <a:p>
            <a:pPr indent="-266700" lvl="0" marL="266700" rtl="0" algn="l">
              <a:spcBef>
                <a:spcPts val="600"/>
              </a:spcBef>
              <a:spcAft>
                <a:spcPts val="0"/>
              </a:spcAft>
              <a:buClr>
                <a:schemeClr val="dk1"/>
              </a:buClr>
              <a:buSzPts val="1200"/>
              <a:buChar char="❑"/>
            </a:pPr>
            <a:r>
              <a:rPr lang="es-ES"/>
              <a:t>Es especialmente valioso en proyectos complejos o de gran envergadura, y en contextos de transformación digital, donde la claridad y la precisión son cruciales para el éxito del proyecto.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DEFINICIÓN DEL DIAGRAMA CASOS DE USO – Sistema de Comercio Electrónico   </a:t>
            </a:r>
            <a:r>
              <a:rPr lang="es-ES" sz="1400">
                <a:solidFill>
                  <a:srgbClr val="7F7F7F"/>
                </a:solidFill>
              </a:rPr>
              <a:t>[1/2]</a:t>
            </a:r>
            <a:endParaRPr>
              <a:solidFill>
                <a:srgbClr val="7F7F7F"/>
              </a:solidFill>
            </a:endParaRPr>
          </a:p>
        </p:txBody>
      </p:sp>
      <p:sp>
        <p:nvSpPr>
          <p:cNvPr id="296" name="Google Shape;296;p28"/>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DOCUMENTO TÉCNICO DE DEFINICIÓN DEL DIAGRAMA DE CASOS DE USO</a:t>
            </a:r>
            <a:endParaRPr/>
          </a:p>
        </p:txBody>
      </p:sp>
      <p:sp>
        <p:nvSpPr>
          <p:cNvPr id="297" name="Google Shape;297;p28"/>
          <p:cNvSpPr txBox="1"/>
          <p:nvPr>
            <p:ph idx="3" type="body"/>
          </p:nvPr>
        </p:nvSpPr>
        <p:spPr>
          <a:xfrm>
            <a:off x="455250" y="1174363"/>
            <a:ext cx="8207375" cy="3896401"/>
          </a:xfrm>
          <a:prstGeom prst="rect">
            <a:avLst/>
          </a:prstGeom>
          <a:solidFill>
            <a:srgbClr val="FFFFCC"/>
          </a:solidFill>
          <a:ln>
            <a:noFill/>
          </a:ln>
        </p:spPr>
        <p:txBody>
          <a:bodyPr anchorCtr="0" anchor="t" bIns="45700" lIns="91425" spcFirstLastPara="1" rIns="91425" wrap="square" tIns="45700">
            <a:noAutofit/>
          </a:bodyPr>
          <a:lstStyle/>
          <a:p>
            <a:pPr indent="-176213" lvl="0" marL="176213" rtl="0" algn="just">
              <a:lnSpc>
                <a:spcPct val="85000"/>
              </a:lnSpc>
              <a:spcBef>
                <a:spcPts val="0"/>
              </a:spcBef>
              <a:spcAft>
                <a:spcPts val="0"/>
              </a:spcAft>
              <a:buSzPts val="1050"/>
              <a:buChar char="❑"/>
            </a:pPr>
            <a:r>
              <a:rPr b="1" lang="es-ES" sz="1400">
                <a:solidFill>
                  <a:schemeClr val="dk1"/>
                </a:solidFill>
              </a:rPr>
              <a:t>INTRODUCCIÓN</a:t>
            </a:r>
            <a:endParaRPr/>
          </a:p>
          <a:p>
            <a:pPr indent="0" lvl="1" marL="182563" rtl="0" algn="just">
              <a:lnSpc>
                <a:spcPct val="85000"/>
              </a:lnSpc>
              <a:spcBef>
                <a:spcPts val="0"/>
              </a:spcBef>
              <a:spcAft>
                <a:spcPts val="0"/>
              </a:spcAft>
              <a:buSzPts val="1400"/>
              <a:buNone/>
            </a:pPr>
            <a:r>
              <a:rPr lang="es-ES">
                <a:solidFill>
                  <a:schemeClr val="dk1"/>
                </a:solidFill>
              </a:rPr>
              <a:t>Este documento tiene como objetivo describir en detalle los casos de uso del sistema de comercio electrónico. Se proporciona para guiar el desarrollo y la prueba del sistema.</a:t>
            </a:r>
            <a:endParaRPr/>
          </a:p>
          <a:p>
            <a:pPr indent="0" lvl="1" marL="182563" rtl="0" algn="just">
              <a:lnSpc>
                <a:spcPct val="85000"/>
              </a:lnSpc>
              <a:spcBef>
                <a:spcPts val="0"/>
              </a:spcBef>
              <a:spcAft>
                <a:spcPts val="0"/>
              </a:spcAft>
              <a:buSzPts val="1400"/>
              <a:buNone/>
            </a:pPr>
            <a:r>
              <a:t/>
            </a:r>
            <a:endParaRPr>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OBJETIVOS Y ALCANCE</a:t>
            </a:r>
            <a:endParaRPr/>
          </a:p>
          <a:p>
            <a:pPr indent="0" lvl="1" marL="182563" rtl="0" algn="just">
              <a:lnSpc>
                <a:spcPct val="85000"/>
              </a:lnSpc>
              <a:spcBef>
                <a:spcPts val="0"/>
              </a:spcBef>
              <a:spcAft>
                <a:spcPts val="0"/>
              </a:spcAft>
              <a:buSzPts val="1400"/>
              <a:buNone/>
            </a:pPr>
            <a:r>
              <a:rPr lang="es-ES">
                <a:solidFill>
                  <a:schemeClr val="dk1"/>
                </a:solidFill>
              </a:rPr>
              <a:t>El objetivo del sistema es facilitar la compra y venta de productos en línea. Este documento cubre los casos de uso relacionados con los clientes, vendedores y administradores del sistema.</a:t>
            </a:r>
            <a:endParaRPr/>
          </a:p>
          <a:p>
            <a:pPr indent="0" lvl="1" marL="182563" rtl="0" algn="just">
              <a:lnSpc>
                <a:spcPct val="85000"/>
              </a:lnSpc>
              <a:spcBef>
                <a:spcPts val="0"/>
              </a:spcBef>
              <a:spcAft>
                <a:spcPts val="0"/>
              </a:spcAft>
              <a:buSzPts val="1400"/>
              <a:buNone/>
            </a:pPr>
            <a:r>
              <a:t/>
            </a:r>
            <a:endParaRPr>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ACTORES</a:t>
            </a:r>
            <a:endParaRPr/>
          </a:p>
          <a:p>
            <a:pPr indent="-171450" lvl="1" marL="444500" rtl="0" algn="just">
              <a:lnSpc>
                <a:spcPct val="85000"/>
              </a:lnSpc>
              <a:spcBef>
                <a:spcPts val="0"/>
              </a:spcBef>
              <a:spcAft>
                <a:spcPts val="0"/>
              </a:spcAft>
              <a:buSzPts val="1400"/>
              <a:buChar char="▪"/>
            </a:pPr>
            <a:r>
              <a:rPr lang="es-ES">
                <a:solidFill>
                  <a:schemeClr val="dk1"/>
                </a:solidFill>
              </a:rPr>
              <a:t>Cliente: Usuario que compra productos.</a:t>
            </a:r>
            <a:endParaRPr/>
          </a:p>
          <a:p>
            <a:pPr indent="-171450" lvl="1" marL="444500" rtl="0" algn="just">
              <a:lnSpc>
                <a:spcPct val="85000"/>
              </a:lnSpc>
              <a:spcBef>
                <a:spcPts val="0"/>
              </a:spcBef>
              <a:spcAft>
                <a:spcPts val="0"/>
              </a:spcAft>
              <a:buSzPts val="1400"/>
              <a:buChar char="▪"/>
            </a:pPr>
            <a:r>
              <a:rPr lang="es-ES">
                <a:solidFill>
                  <a:schemeClr val="dk1"/>
                </a:solidFill>
              </a:rPr>
              <a:t>Vendedor: Usuario que vende productos.</a:t>
            </a:r>
            <a:endParaRPr/>
          </a:p>
          <a:p>
            <a:pPr indent="-171450" lvl="1" marL="444500" rtl="0" algn="just">
              <a:lnSpc>
                <a:spcPct val="85000"/>
              </a:lnSpc>
              <a:spcBef>
                <a:spcPts val="0"/>
              </a:spcBef>
              <a:spcAft>
                <a:spcPts val="0"/>
              </a:spcAft>
              <a:buSzPts val="1400"/>
              <a:buChar char="▪"/>
            </a:pPr>
            <a:r>
              <a:rPr lang="es-ES">
                <a:solidFill>
                  <a:schemeClr val="dk1"/>
                </a:solidFill>
              </a:rPr>
              <a:t>Administrador: Usuario que gestiona el sistema.</a:t>
            </a:r>
            <a:endParaRPr/>
          </a:p>
          <a:p>
            <a:pPr indent="-82550" lvl="1" marL="444500" rtl="0" algn="just">
              <a:lnSpc>
                <a:spcPct val="85000"/>
              </a:lnSpc>
              <a:spcBef>
                <a:spcPts val="0"/>
              </a:spcBef>
              <a:spcAft>
                <a:spcPts val="0"/>
              </a:spcAft>
              <a:buSzPts val="1400"/>
              <a:buNone/>
            </a:pPr>
            <a:r>
              <a:t/>
            </a:r>
            <a:endParaRPr>
              <a:solidFill>
                <a:schemeClr val="dk1"/>
              </a:solidFill>
            </a:endParaRPr>
          </a:p>
          <a:p>
            <a:pPr indent="-109538" lvl="0" marL="176213" rtl="0" algn="just">
              <a:lnSpc>
                <a:spcPct val="85000"/>
              </a:lnSpc>
              <a:spcBef>
                <a:spcPts val="0"/>
              </a:spcBef>
              <a:spcAft>
                <a:spcPts val="0"/>
              </a:spcAft>
              <a:buSzPts val="1050"/>
              <a:buNone/>
            </a:pPr>
            <a:r>
              <a:t/>
            </a:r>
            <a:endParaRPr b="1" sz="1400">
              <a:solidFill>
                <a:schemeClr val="dk1"/>
              </a:solidFill>
            </a:endParaRPr>
          </a:p>
          <a:p>
            <a:pPr indent="-93662" lvl="1" marL="627063" rtl="0" algn="just">
              <a:lnSpc>
                <a:spcPct val="85000"/>
              </a:lnSpc>
              <a:spcBef>
                <a:spcPts val="0"/>
              </a:spcBef>
              <a:spcAft>
                <a:spcPts val="0"/>
              </a:spcAft>
              <a:buSzPts val="1400"/>
              <a:buFont typeface="Calibri"/>
              <a:buNone/>
            </a:pPr>
            <a:r>
              <a:t/>
            </a:r>
            <a:endParaRPr>
              <a:solidFill>
                <a:schemeClr val="dk1"/>
              </a:solidFill>
            </a:endParaRPr>
          </a:p>
        </p:txBody>
      </p:sp>
      <p:pic>
        <p:nvPicPr>
          <p:cNvPr id="298" name="Google Shape;298;p28"/>
          <p:cNvPicPr preferRelativeResize="0"/>
          <p:nvPr/>
        </p:nvPicPr>
        <p:blipFill rotWithShape="1">
          <a:blip r:embed="rId3">
            <a:alphaModFix/>
          </a:blip>
          <a:srcRect b="0" l="0" r="0" t="0"/>
          <a:stretch/>
        </p:blipFill>
        <p:spPr>
          <a:xfrm>
            <a:off x="5160822" y="2560944"/>
            <a:ext cx="3095666" cy="22826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DEFINICIÓN DEL DIAGRAMA CASOS DE USO – Sistema de Comercio Electrónico   </a:t>
            </a:r>
            <a:r>
              <a:rPr lang="es-ES" sz="1400">
                <a:solidFill>
                  <a:srgbClr val="7F7F7F"/>
                </a:solidFill>
              </a:rPr>
              <a:t>[1/2]</a:t>
            </a:r>
            <a:endParaRPr>
              <a:solidFill>
                <a:srgbClr val="7F7F7F"/>
              </a:solidFill>
            </a:endParaRPr>
          </a:p>
        </p:txBody>
      </p:sp>
      <p:sp>
        <p:nvSpPr>
          <p:cNvPr id="305" name="Google Shape;305;p29"/>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DOCUMENTO TÉCNICO DE DEFINICIÓN DEL DIAGRAMA DE CASOS DE USO</a:t>
            </a:r>
            <a:endParaRPr/>
          </a:p>
        </p:txBody>
      </p:sp>
      <p:sp>
        <p:nvSpPr>
          <p:cNvPr id="306" name="Google Shape;306;p29"/>
          <p:cNvSpPr txBox="1"/>
          <p:nvPr>
            <p:ph idx="3" type="body"/>
          </p:nvPr>
        </p:nvSpPr>
        <p:spPr>
          <a:xfrm>
            <a:off x="455250" y="1174363"/>
            <a:ext cx="8207375" cy="4012779"/>
          </a:xfrm>
          <a:prstGeom prst="rect">
            <a:avLst/>
          </a:prstGeom>
          <a:solidFill>
            <a:srgbClr val="FFFFCC"/>
          </a:solidFill>
          <a:ln>
            <a:noFill/>
          </a:ln>
        </p:spPr>
        <p:txBody>
          <a:bodyPr anchorCtr="0" anchor="t" bIns="45700" lIns="91425" spcFirstLastPara="1" rIns="91425" wrap="square" tIns="45700">
            <a:noAutofit/>
          </a:bodyPr>
          <a:lstStyle/>
          <a:p>
            <a:pPr indent="-109538" lvl="0" marL="176213" rtl="0" algn="just">
              <a:lnSpc>
                <a:spcPct val="85000"/>
              </a:lnSpc>
              <a:spcBef>
                <a:spcPts val="0"/>
              </a:spcBef>
              <a:spcAft>
                <a:spcPts val="0"/>
              </a:spcAft>
              <a:buSzPts val="1050"/>
              <a:buNone/>
            </a:pPr>
            <a:r>
              <a:t/>
            </a:r>
            <a:endParaRPr b="1" sz="1400">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CASOS DE USO</a:t>
            </a:r>
            <a:endParaRPr/>
          </a:p>
          <a:p>
            <a:pPr indent="0" lvl="1" marL="273050" rtl="0" algn="just">
              <a:lnSpc>
                <a:spcPct val="85000"/>
              </a:lnSpc>
              <a:spcBef>
                <a:spcPts val="0"/>
              </a:spcBef>
              <a:spcAft>
                <a:spcPts val="0"/>
              </a:spcAft>
              <a:buSzPts val="1400"/>
              <a:buNone/>
            </a:pPr>
            <a:r>
              <a:rPr lang="es-ES">
                <a:solidFill>
                  <a:schemeClr val="dk1"/>
                </a:solidFill>
              </a:rPr>
              <a:t>1. Realizar Compra</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Actor Principal: Cliente.</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Actores Secundarios: Sistema de Pago, Sistema de Inventario.</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Precondiciones: Cliente autenticado, carrito no vacío.</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Flujo Principal:</a:t>
            </a:r>
            <a:endParaRPr/>
          </a:p>
          <a:p>
            <a:pPr indent="-169862" lvl="2" marL="1071563" rtl="0" algn="just">
              <a:lnSpc>
                <a:spcPct val="85000"/>
              </a:lnSpc>
              <a:spcBef>
                <a:spcPts val="0"/>
              </a:spcBef>
              <a:spcAft>
                <a:spcPts val="0"/>
              </a:spcAft>
              <a:buClr>
                <a:schemeClr val="dk1"/>
              </a:buClr>
              <a:buSzPts val="1400"/>
              <a:buFont typeface="Calibri"/>
              <a:buAutoNum type="arabicPeriod"/>
            </a:pPr>
            <a:r>
              <a:rPr lang="es-ES"/>
              <a:t>El cliente selecciona “Realizar Compra”.</a:t>
            </a:r>
            <a:endParaRPr/>
          </a:p>
          <a:p>
            <a:pPr indent="-169862" lvl="2" marL="1071563" rtl="0" algn="just">
              <a:lnSpc>
                <a:spcPct val="85000"/>
              </a:lnSpc>
              <a:spcBef>
                <a:spcPts val="0"/>
              </a:spcBef>
              <a:spcAft>
                <a:spcPts val="0"/>
              </a:spcAft>
              <a:buClr>
                <a:schemeClr val="dk1"/>
              </a:buClr>
              <a:buSzPts val="1400"/>
              <a:buFont typeface="Calibri"/>
              <a:buAutoNum type="arabicPeriod"/>
            </a:pPr>
            <a:r>
              <a:rPr lang="es-ES"/>
              <a:t>El sistema valida el inventario.</a:t>
            </a:r>
            <a:endParaRPr/>
          </a:p>
          <a:p>
            <a:pPr indent="-169862" lvl="2" marL="1071563" rtl="0" algn="just">
              <a:lnSpc>
                <a:spcPct val="85000"/>
              </a:lnSpc>
              <a:spcBef>
                <a:spcPts val="0"/>
              </a:spcBef>
              <a:spcAft>
                <a:spcPts val="0"/>
              </a:spcAft>
              <a:buClr>
                <a:schemeClr val="dk1"/>
              </a:buClr>
              <a:buSzPts val="1400"/>
              <a:buFont typeface="Calibri"/>
              <a:buAutoNum type="arabicPeriod"/>
            </a:pPr>
            <a:r>
              <a:rPr lang="es-ES"/>
              <a:t>El sistema muestra opciones de pago.</a:t>
            </a:r>
            <a:endParaRPr/>
          </a:p>
          <a:p>
            <a:pPr indent="-169862" lvl="2" marL="1071563" rtl="0" algn="just">
              <a:lnSpc>
                <a:spcPct val="85000"/>
              </a:lnSpc>
              <a:spcBef>
                <a:spcPts val="0"/>
              </a:spcBef>
              <a:spcAft>
                <a:spcPts val="0"/>
              </a:spcAft>
              <a:buClr>
                <a:schemeClr val="dk1"/>
              </a:buClr>
              <a:buSzPts val="1400"/>
              <a:buFont typeface="Calibri"/>
              <a:buAutoNum type="arabicPeriod"/>
            </a:pPr>
            <a:r>
              <a:rPr lang="es-ES"/>
              <a:t>El cliente selecciona una opción de pago y confirma.</a:t>
            </a:r>
            <a:endParaRPr/>
          </a:p>
          <a:p>
            <a:pPr indent="-169862" lvl="2" marL="1071563" rtl="0" algn="just">
              <a:lnSpc>
                <a:spcPct val="85000"/>
              </a:lnSpc>
              <a:spcBef>
                <a:spcPts val="0"/>
              </a:spcBef>
              <a:spcAft>
                <a:spcPts val="0"/>
              </a:spcAft>
              <a:buClr>
                <a:schemeClr val="dk1"/>
              </a:buClr>
              <a:buSzPts val="1400"/>
              <a:buFont typeface="Calibri"/>
              <a:buAutoNum type="arabicPeriod"/>
            </a:pPr>
            <a:r>
              <a:rPr lang="es-ES"/>
              <a:t>El sistema procesa el pago.</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Postcondiciones: Compra realizada, inventario actualizado, correo de confirmación enviado.</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Flujos Alternativos:</a:t>
            </a:r>
            <a:endParaRPr/>
          </a:p>
          <a:p>
            <a:pPr indent="-157162" lvl="2" marL="1071563" rtl="0" algn="just">
              <a:lnSpc>
                <a:spcPct val="85000"/>
              </a:lnSpc>
              <a:spcBef>
                <a:spcPts val="0"/>
              </a:spcBef>
              <a:spcAft>
                <a:spcPts val="0"/>
              </a:spcAft>
              <a:buClr>
                <a:schemeClr val="dk1"/>
              </a:buClr>
              <a:buSzPts val="1400"/>
              <a:buFont typeface="Calibri"/>
              <a:buAutoNum type="arabicPeriod"/>
            </a:pPr>
            <a:r>
              <a:rPr lang="es-ES"/>
              <a:t>Cliente elige cambiar la dirección de envío.</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Excepciones y Flujos de Error:</a:t>
            </a:r>
            <a:endParaRPr/>
          </a:p>
          <a:p>
            <a:pPr indent="-157162" lvl="2" marL="1071563" rtl="0" algn="just">
              <a:lnSpc>
                <a:spcPct val="85000"/>
              </a:lnSpc>
              <a:spcBef>
                <a:spcPts val="0"/>
              </a:spcBef>
              <a:spcAft>
                <a:spcPts val="0"/>
              </a:spcAft>
              <a:buClr>
                <a:schemeClr val="dk1"/>
              </a:buClr>
              <a:buSzPts val="1400"/>
              <a:buFont typeface="Calibri"/>
              <a:buAutoNum type="arabicPeriod"/>
            </a:pPr>
            <a:r>
              <a:rPr lang="es-ES"/>
              <a:t>Producto no disponible en inventario.</a:t>
            </a:r>
            <a:endParaRPr/>
          </a:p>
          <a:p>
            <a:pPr indent="-157162" lvl="2" marL="1071563" rtl="0" algn="just">
              <a:lnSpc>
                <a:spcPct val="85000"/>
              </a:lnSpc>
              <a:spcBef>
                <a:spcPts val="0"/>
              </a:spcBef>
              <a:spcAft>
                <a:spcPts val="0"/>
              </a:spcAft>
              <a:buClr>
                <a:schemeClr val="dk1"/>
              </a:buClr>
              <a:buSzPts val="1400"/>
              <a:buFont typeface="Calibri"/>
              <a:buAutoNum type="arabicPeriod"/>
            </a:pPr>
            <a:r>
              <a:rPr lang="es-ES"/>
              <a:t>Fallo en el procesamiento del pago.</a:t>
            </a:r>
            <a:endParaRPr/>
          </a:p>
          <a:p>
            <a:pPr indent="0" lvl="1" marL="273050" rtl="0" algn="just">
              <a:lnSpc>
                <a:spcPct val="85000"/>
              </a:lnSpc>
              <a:spcBef>
                <a:spcPts val="0"/>
              </a:spcBef>
              <a:spcAft>
                <a:spcPts val="0"/>
              </a:spcAft>
              <a:buSzPts val="1400"/>
              <a:buNone/>
            </a:pPr>
            <a:r>
              <a:rPr lang="es-ES">
                <a:solidFill>
                  <a:schemeClr val="dk1"/>
                </a:solidFill>
              </a:rPr>
              <a:t>2. Añadir Producto al Inventario</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Actor Principal: Vendedor</a:t>
            </a:r>
            <a:endParaRPr/>
          </a:p>
          <a:p>
            <a:pPr indent="-182562" lvl="1" marL="627063" rtl="0" algn="just">
              <a:lnSpc>
                <a:spcPct val="85000"/>
              </a:lnSpc>
              <a:spcBef>
                <a:spcPts val="0"/>
              </a:spcBef>
              <a:spcAft>
                <a:spcPts val="0"/>
              </a:spcAft>
              <a:buSzPts val="1400"/>
              <a:buFont typeface="Calibri"/>
              <a:buChar char="−"/>
            </a:pPr>
            <a:r>
              <a:rPr lang="es-ES">
                <a:solidFill>
                  <a:schemeClr val="dk1"/>
                </a:solidFill>
              </a:rPr>
              <a:t>Precondiciones: Vendedor autenticado.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0"/>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DEFINICIÓN DEL DIAGRAMA CASOS DE USO – Sistema de Comercio Electrónico   </a:t>
            </a:r>
            <a:r>
              <a:rPr b="1" i="0" lang="es-ES" sz="1400" u="none" cap="none" strike="noStrike">
                <a:solidFill>
                  <a:srgbClr val="7F7F7F"/>
                </a:solidFill>
                <a:latin typeface="Calibri"/>
                <a:ea typeface="Calibri"/>
                <a:cs typeface="Calibri"/>
                <a:sym typeface="Calibri"/>
              </a:rPr>
              <a:t>[2/2]</a:t>
            </a:r>
            <a:endParaRPr/>
          </a:p>
        </p:txBody>
      </p:sp>
      <p:sp>
        <p:nvSpPr>
          <p:cNvPr id="313" name="Google Shape;313;p30"/>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DOCUMENTO TÉCNICO DE DEFINICIÓN DEL DIAGRAMA DE CASOS DE USO</a:t>
            </a:r>
            <a:endParaRPr/>
          </a:p>
        </p:txBody>
      </p:sp>
      <p:sp>
        <p:nvSpPr>
          <p:cNvPr id="314" name="Google Shape;314;p30"/>
          <p:cNvSpPr txBox="1"/>
          <p:nvPr>
            <p:ph idx="3" type="body"/>
          </p:nvPr>
        </p:nvSpPr>
        <p:spPr>
          <a:xfrm>
            <a:off x="455250" y="1174363"/>
            <a:ext cx="8207375" cy="3896401"/>
          </a:xfrm>
          <a:prstGeom prst="rect">
            <a:avLst/>
          </a:prstGeom>
          <a:solidFill>
            <a:srgbClr val="FFFFCC"/>
          </a:solidFill>
          <a:ln>
            <a:noFill/>
          </a:ln>
        </p:spPr>
        <p:txBody>
          <a:bodyPr anchorCtr="0" anchor="t" bIns="45700" lIns="91425" spcFirstLastPara="1" rIns="91425" wrap="square" tIns="45700">
            <a:noAutofit/>
          </a:bodyPr>
          <a:lstStyle/>
          <a:p>
            <a:pPr indent="-182562" lvl="1" marL="627063" rtl="0" algn="just">
              <a:lnSpc>
                <a:spcPct val="85000"/>
              </a:lnSpc>
              <a:spcBef>
                <a:spcPts val="0"/>
              </a:spcBef>
              <a:spcAft>
                <a:spcPts val="0"/>
              </a:spcAft>
              <a:buSzPts val="1600"/>
              <a:buFont typeface="Calibri"/>
              <a:buChar char="−"/>
            </a:pPr>
            <a:r>
              <a:rPr lang="es-ES" sz="1600">
                <a:solidFill>
                  <a:schemeClr val="dk1"/>
                </a:solidFill>
              </a:rPr>
              <a:t>Flujo Principal:</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El vendedor selecciona “Añadir Producto”.</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El vendedor completa los detalles del producto.</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El vendedor confirma la adición del producto.</a:t>
            </a:r>
            <a:endParaRPr/>
          </a:p>
          <a:p>
            <a:pPr indent="-182562" lvl="1" marL="627063" rtl="0" algn="just">
              <a:lnSpc>
                <a:spcPct val="85000"/>
              </a:lnSpc>
              <a:spcBef>
                <a:spcPts val="0"/>
              </a:spcBef>
              <a:spcAft>
                <a:spcPts val="0"/>
              </a:spcAft>
              <a:buSzPts val="1600"/>
              <a:buFont typeface="Calibri"/>
              <a:buChar char="−"/>
            </a:pPr>
            <a:r>
              <a:rPr lang="es-ES" sz="1600">
                <a:solidFill>
                  <a:schemeClr val="dk1"/>
                </a:solidFill>
              </a:rPr>
              <a:t>Postcondiciones: Producto añadido al inventario.</a:t>
            </a:r>
            <a:endParaRPr/>
          </a:p>
          <a:p>
            <a:pPr indent="-182562" lvl="1" marL="627063" rtl="0" algn="just">
              <a:lnSpc>
                <a:spcPct val="85000"/>
              </a:lnSpc>
              <a:spcBef>
                <a:spcPts val="0"/>
              </a:spcBef>
              <a:spcAft>
                <a:spcPts val="0"/>
              </a:spcAft>
              <a:buSzPts val="1600"/>
              <a:buFont typeface="Calibri"/>
              <a:buChar char="−"/>
            </a:pPr>
            <a:r>
              <a:rPr lang="es-ES" sz="1600">
                <a:solidFill>
                  <a:schemeClr val="dk1"/>
                </a:solidFill>
              </a:rPr>
              <a:t>Excepciones y Flujos de Error:</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Datos del producto incompletos o inválidos.</a:t>
            </a:r>
            <a:endParaRPr/>
          </a:p>
          <a:p>
            <a:pPr indent="0" lvl="2" marL="914400" rtl="0" algn="just">
              <a:lnSpc>
                <a:spcPct val="85000"/>
              </a:lnSpc>
              <a:spcBef>
                <a:spcPts val="0"/>
              </a:spcBef>
              <a:spcAft>
                <a:spcPts val="0"/>
              </a:spcAft>
              <a:buClr>
                <a:schemeClr val="dk1"/>
              </a:buClr>
              <a:buSzPts val="1600"/>
              <a:buNone/>
            </a:pPr>
            <a:r>
              <a:t/>
            </a:r>
            <a:endParaRPr sz="1600"/>
          </a:p>
          <a:p>
            <a:pPr indent="0" lvl="1" marL="273050" rtl="0" algn="just">
              <a:lnSpc>
                <a:spcPct val="85000"/>
              </a:lnSpc>
              <a:spcBef>
                <a:spcPts val="0"/>
              </a:spcBef>
              <a:spcAft>
                <a:spcPts val="0"/>
              </a:spcAft>
              <a:buSzPts val="1600"/>
              <a:buNone/>
            </a:pPr>
            <a:r>
              <a:rPr lang="es-ES" sz="1600">
                <a:solidFill>
                  <a:schemeClr val="dk1"/>
                </a:solidFill>
              </a:rPr>
              <a:t>3. Gestionar Usuarios</a:t>
            </a:r>
            <a:endParaRPr/>
          </a:p>
          <a:p>
            <a:pPr indent="-182562" lvl="1" marL="627063" rtl="0" algn="just">
              <a:lnSpc>
                <a:spcPct val="85000"/>
              </a:lnSpc>
              <a:spcBef>
                <a:spcPts val="0"/>
              </a:spcBef>
              <a:spcAft>
                <a:spcPts val="0"/>
              </a:spcAft>
              <a:buSzPts val="1600"/>
              <a:buFont typeface="Calibri"/>
              <a:buChar char="−"/>
            </a:pPr>
            <a:r>
              <a:rPr lang="es-ES" sz="1600">
                <a:solidFill>
                  <a:schemeClr val="dk1"/>
                </a:solidFill>
              </a:rPr>
              <a:t>Actor Principal: Administrador</a:t>
            </a:r>
            <a:endParaRPr/>
          </a:p>
          <a:p>
            <a:pPr indent="-182562" lvl="1" marL="627063" rtl="0" algn="just">
              <a:lnSpc>
                <a:spcPct val="85000"/>
              </a:lnSpc>
              <a:spcBef>
                <a:spcPts val="0"/>
              </a:spcBef>
              <a:spcAft>
                <a:spcPts val="0"/>
              </a:spcAft>
              <a:buSzPts val="1600"/>
              <a:buFont typeface="Calibri"/>
              <a:buChar char="−"/>
            </a:pPr>
            <a:r>
              <a:rPr lang="es-ES" sz="1600">
                <a:solidFill>
                  <a:schemeClr val="dk1"/>
                </a:solidFill>
              </a:rPr>
              <a:t>Flujo Principal:</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El administrador accede al panel de control.</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El administrador selecciona “Gestionar Usuarios”.</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El administrador realiza acciones como añadir, eliminar o modificar usuarios.</a:t>
            </a:r>
            <a:endParaRPr/>
          </a:p>
          <a:p>
            <a:pPr indent="-182562" lvl="1" marL="627063" rtl="0" algn="just">
              <a:lnSpc>
                <a:spcPct val="85000"/>
              </a:lnSpc>
              <a:spcBef>
                <a:spcPts val="0"/>
              </a:spcBef>
              <a:spcAft>
                <a:spcPts val="0"/>
              </a:spcAft>
              <a:buSzPts val="1600"/>
              <a:buFont typeface="Calibri"/>
              <a:buChar char="−"/>
            </a:pPr>
            <a:r>
              <a:rPr lang="es-ES" sz="1600">
                <a:solidFill>
                  <a:schemeClr val="dk1"/>
                </a:solidFill>
              </a:rPr>
              <a:t>Postcondiciones: Cambios en la gestión de usuarios efectuados.</a:t>
            </a:r>
            <a:endParaRPr/>
          </a:p>
          <a:p>
            <a:pPr indent="-182562" lvl="1" marL="627063" rtl="0" algn="just">
              <a:lnSpc>
                <a:spcPct val="85000"/>
              </a:lnSpc>
              <a:spcBef>
                <a:spcPts val="0"/>
              </a:spcBef>
              <a:spcAft>
                <a:spcPts val="0"/>
              </a:spcAft>
              <a:buSzPts val="1600"/>
              <a:buFont typeface="Calibri"/>
              <a:buChar char="−"/>
            </a:pPr>
            <a:r>
              <a:rPr lang="es-ES" sz="1600">
                <a:solidFill>
                  <a:schemeClr val="dk1"/>
                </a:solidFill>
              </a:rPr>
              <a:t>Excepciones y Flujos de Error:</a:t>
            </a:r>
            <a:endParaRPr/>
          </a:p>
          <a:p>
            <a:pPr indent="-157162" lvl="2" marL="1071563" rtl="0" algn="just">
              <a:lnSpc>
                <a:spcPct val="85000"/>
              </a:lnSpc>
              <a:spcBef>
                <a:spcPts val="0"/>
              </a:spcBef>
              <a:spcAft>
                <a:spcPts val="0"/>
              </a:spcAft>
              <a:buClr>
                <a:schemeClr val="dk1"/>
              </a:buClr>
              <a:buSzPts val="1600"/>
              <a:buFont typeface="Calibri"/>
              <a:buAutoNum type="arabicPeriod"/>
            </a:pPr>
            <a:r>
              <a:rPr lang="es-ES" sz="1600"/>
              <a:t>Acceso no autorizado.</a:t>
            </a:r>
            <a:endParaRPr/>
          </a:p>
          <a:p>
            <a:pPr indent="-123825" lvl="0" marL="176213" rtl="0" algn="just">
              <a:lnSpc>
                <a:spcPct val="85000"/>
              </a:lnSpc>
              <a:spcBef>
                <a:spcPts val="0"/>
              </a:spcBef>
              <a:spcAft>
                <a:spcPts val="0"/>
              </a:spcAft>
              <a:buSzPts val="825"/>
              <a:buNone/>
            </a:pPr>
            <a:r>
              <a:t/>
            </a:r>
            <a:endParaRPr sz="1100">
              <a:solidFill>
                <a:schemeClr val="dk1"/>
              </a:solidFill>
            </a:endParaRPr>
          </a:p>
        </p:txBody>
      </p:sp>
      <p:pic>
        <p:nvPicPr>
          <p:cNvPr id="315" name="Google Shape;315;p30"/>
          <p:cNvPicPr preferRelativeResize="0"/>
          <p:nvPr/>
        </p:nvPicPr>
        <p:blipFill rotWithShape="1">
          <a:blip r:embed="rId3">
            <a:alphaModFix/>
          </a:blip>
          <a:srcRect b="0" l="0" r="0" t="0"/>
          <a:stretch/>
        </p:blipFill>
        <p:spPr>
          <a:xfrm>
            <a:off x="5984404" y="1343133"/>
            <a:ext cx="2132293" cy="22640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1"/>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DEFINICIÓN DEL DIAGRAMA CASOS DE USO – Sistema de Comercio Electrónico   </a:t>
            </a:r>
            <a:r>
              <a:rPr b="1" i="0" lang="es-ES" sz="1400" u="none" cap="none" strike="noStrike">
                <a:solidFill>
                  <a:srgbClr val="7F7F7F"/>
                </a:solidFill>
                <a:latin typeface="Calibri"/>
                <a:ea typeface="Calibri"/>
                <a:cs typeface="Calibri"/>
                <a:sym typeface="Calibri"/>
              </a:rPr>
              <a:t>[2/2]</a:t>
            </a:r>
            <a:endParaRPr/>
          </a:p>
        </p:txBody>
      </p:sp>
      <p:sp>
        <p:nvSpPr>
          <p:cNvPr id="322" name="Google Shape;322;p31"/>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chemeClr val="lt1"/>
              </a:buClr>
              <a:buSzPts val="1800"/>
              <a:buNone/>
            </a:pPr>
            <a:r>
              <a:rPr lang="es-ES"/>
              <a:t>/ DOCUMENTO TÉCNICO DE DEFINICIÓN DEL DIAGRAMA DE CASOS DE USO</a:t>
            </a:r>
            <a:endParaRPr/>
          </a:p>
        </p:txBody>
      </p:sp>
      <p:sp>
        <p:nvSpPr>
          <p:cNvPr id="323" name="Google Shape;323;p31"/>
          <p:cNvSpPr txBox="1"/>
          <p:nvPr>
            <p:ph idx="3" type="body"/>
          </p:nvPr>
        </p:nvSpPr>
        <p:spPr>
          <a:xfrm>
            <a:off x="455250" y="1174363"/>
            <a:ext cx="8207375" cy="3996153"/>
          </a:xfrm>
          <a:prstGeom prst="rect">
            <a:avLst/>
          </a:prstGeom>
          <a:solidFill>
            <a:srgbClr val="FFFFCC"/>
          </a:solidFill>
          <a:ln>
            <a:noFill/>
          </a:ln>
        </p:spPr>
        <p:txBody>
          <a:bodyPr anchorCtr="0" anchor="t" bIns="45700" lIns="91425" spcFirstLastPara="1" rIns="91425" wrap="square" tIns="45700">
            <a:noAutofit/>
          </a:bodyPr>
          <a:lstStyle/>
          <a:p>
            <a:pPr indent="-176213" lvl="0" marL="176213" rtl="0" algn="just">
              <a:lnSpc>
                <a:spcPct val="85000"/>
              </a:lnSpc>
              <a:spcBef>
                <a:spcPts val="0"/>
              </a:spcBef>
              <a:spcAft>
                <a:spcPts val="0"/>
              </a:spcAft>
              <a:buSzPts val="1050"/>
              <a:buChar char="❑"/>
            </a:pPr>
            <a:r>
              <a:rPr b="1" lang="es-ES" sz="1400">
                <a:solidFill>
                  <a:schemeClr val="dk1"/>
                </a:solidFill>
              </a:rPr>
              <a:t>DIAGRAMA DE CASOS DE USO</a:t>
            </a:r>
            <a:endParaRPr/>
          </a:p>
          <a:p>
            <a:pPr indent="0" lvl="1" marL="182563" rtl="0" algn="just">
              <a:lnSpc>
                <a:spcPct val="85000"/>
              </a:lnSpc>
              <a:spcBef>
                <a:spcPts val="0"/>
              </a:spcBef>
              <a:spcAft>
                <a:spcPts val="0"/>
              </a:spcAft>
              <a:buSzPts val="1400"/>
              <a:buNone/>
            </a:pPr>
            <a:r>
              <a:rPr lang="es-ES">
                <a:solidFill>
                  <a:schemeClr val="dk1"/>
                </a:solidFill>
              </a:rPr>
              <a:t>(Se incluiría aquí el diagrama UML de casos de uso)</a:t>
            </a:r>
            <a:endParaRPr/>
          </a:p>
          <a:p>
            <a:pPr indent="0" lvl="1" marL="182563" rtl="0" algn="just">
              <a:lnSpc>
                <a:spcPct val="85000"/>
              </a:lnSpc>
              <a:spcBef>
                <a:spcPts val="0"/>
              </a:spcBef>
              <a:spcAft>
                <a:spcPts val="0"/>
              </a:spcAft>
              <a:buSzPts val="1400"/>
              <a:buNone/>
            </a:pPr>
            <a:r>
              <a:t/>
            </a:r>
            <a:endParaRPr>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GLOSARIO</a:t>
            </a:r>
            <a:endParaRPr/>
          </a:p>
          <a:p>
            <a:pPr indent="-169863" lvl="1" marL="444500" rtl="0" algn="just">
              <a:lnSpc>
                <a:spcPct val="85000"/>
              </a:lnSpc>
              <a:spcBef>
                <a:spcPts val="0"/>
              </a:spcBef>
              <a:spcAft>
                <a:spcPts val="0"/>
              </a:spcAft>
              <a:buSzPts val="1400"/>
              <a:buChar char="▪"/>
            </a:pPr>
            <a:r>
              <a:rPr lang="es-ES">
                <a:solidFill>
                  <a:schemeClr val="dk1"/>
                </a:solidFill>
              </a:rPr>
              <a:t>Inventario: Lista de productos disponibles para la venta.</a:t>
            </a:r>
            <a:endParaRPr/>
          </a:p>
          <a:p>
            <a:pPr indent="-169863" lvl="1" marL="444500" rtl="0" algn="just">
              <a:lnSpc>
                <a:spcPct val="85000"/>
              </a:lnSpc>
              <a:spcBef>
                <a:spcPts val="0"/>
              </a:spcBef>
              <a:spcAft>
                <a:spcPts val="0"/>
              </a:spcAft>
              <a:buSzPts val="1400"/>
              <a:buChar char="▪"/>
            </a:pPr>
            <a:r>
              <a:rPr lang="es-ES">
                <a:solidFill>
                  <a:schemeClr val="dk1"/>
                </a:solidFill>
              </a:rPr>
              <a:t>Sistema de Pago: Servicio externo para procesar transacciones de pago.</a:t>
            </a:r>
            <a:endParaRPr/>
          </a:p>
          <a:p>
            <a:pPr indent="-80963" lvl="1" marL="444500" rtl="0" algn="just">
              <a:lnSpc>
                <a:spcPct val="85000"/>
              </a:lnSpc>
              <a:spcBef>
                <a:spcPts val="0"/>
              </a:spcBef>
              <a:spcAft>
                <a:spcPts val="0"/>
              </a:spcAft>
              <a:buSzPts val="1400"/>
              <a:buNone/>
            </a:pPr>
            <a:r>
              <a:t/>
            </a:r>
            <a:endParaRPr>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TRAZABILIDAD</a:t>
            </a:r>
            <a:endParaRPr/>
          </a:p>
          <a:p>
            <a:pPr indent="-184149" lvl="1" marL="449263" rtl="0" algn="just">
              <a:lnSpc>
                <a:spcPct val="85000"/>
              </a:lnSpc>
              <a:spcBef>
                <a:spcPts val="0"/>
              </a:spcBef>
              <a:spcAft>
                <a:spcPts val="0"/>
              </a:spcAft>
              <a:buSzPts val="1400"/>
              <a:buChar char="▪"/>
            </a:pPr>
            <a:r>
              <a:rPr lang="es-ES">
                <a:solidFill>
                  <a:schemeClr val="dk1"/>
                </a:solidFill>
              </a:rPr>
              <a:t>Realizar Compra -&gt; Requisitos: R1, R2, R3</a:t>
            </a:r>
            <a:endParaRPr/>
          </a:p>
          <a:p>
            <a:pPr indent="-184149" lvl="1" marL="449263" rtl="0" algn="just">
              <a:lnSpc>
                <a:spcPct val="85000"/>
              </a:lnSpc>
              <a:spcBef>
                <a:spcPts val="0"/>
              </a:spcBef>
              <a:spcAft>
                <a:spcPts val="0"/>
              </a:spcAft>
              <a:buSzPts val="1400"/>
              <a:buChar char="▪"/>
            </a:pPr>
            <a:r>
              <a:rPr lang="es-ES">
                <a:solidFill>
                  <a:schemeClr val="dk1"/>
                </a:solidFill>
              </a:rPr>
              <a:t>Añadir Producto al Inventario -&gt; Requisitos: R4, R5</a:t>
            </a:r>
            <a:endParaRPr/>
          </a:p>
          <a:p>
            <a:pPr indent="-184149" lvl="1" marL="449263" rtl="0" algn="just">
              <a:lnSpc>
                <a:spcPct val="85000"/>
              </a:lnSpc>
              <a:spcBef>
                <a:spcPts val="0"/>
              </a:spcBef>
              <a:spcAft>
                <a:spcPts val="0"/>
              </a:spcAft>
              <a:buSzPts val="1400"/>
              <a:buChar char="▪"/>
            </a:pPr>
            <a:r>
              <a:rPr lang="es-ES">
                <a:solidFill>
                  <a:schemeClr val="dk1"/>
                </a:solidFill>
              </a:rPr>
              <a:t>Gestionar Usuarios -&gt; Requisitos: R6, R7</a:t>
            </a:r>
            <a:endParaRPr/>
          </a:p>
          <a:p>
            <a:pPr indent="-95249" lvl="1" marL="449263" rtl="0" algn="just">
              <a:lnSpc>
                <a:spcPct val="85000"/>
              </a:lnSpc>
              <a:spcBef>
                <a:spcPts val="0"/>
              </a:spcBef>
              <a:spcAft>
                <a:spcPts val="0"/>
              </a:spcAft>
              <a:buSzPts val="1400"/>
              <a:buNone/>
            </a:pPr>
            <a:r>
              <a:t/>
            </a:r>
            <a:endParaRPr>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ANEXOS</a:t>
            </a:r>
            <a:endParaRPr/>
          </a:p>
          <a:p>
            <a:pPr indent="-184149" lvl="1" marL="449263" rtl="0" algn="just">
              <a:lnSpc>
                <a:spcPct val="85000"/>
              </a:lnSpc>
              <a:spcBef>
                <a:spcPts val="0"/>
              </a:spcBef>
              <a:spcAft>
                <a:spcPts val="0"/>
              </a:spcAft>
              <a:buSzPts val="1400"/>
              <a:buChar char="▪"/>
            </a:pPr>
            <a:r>
              <a:rPr lang="es-ES">
                <a:solidFill>
                  <a:schemeClr val="dk1"/>
                </a:solidFill>
              </a:rPr>
              <a:t>Mockups de la interfaz de usuario.</a:t>
            </a:r>
            <a:endParaRPr/>
          </a:p>
          <a:p>
            <a:pPr indent="-184149" lvl="1" marL="449263" rtl="0" algn="just">
              <a:lnSpc>
                <a:spcPct val="85000"/>
              </a:lnSpc>
              <a:spcBef>
                <a:spcPts val="0"/>
              </a:spcBef>
              <a:spcAft>
                <a:spcPts val="0"/>
              </a:spcAft>
              <a:buSzPts val="1400"/>
              <a:buChar char="▪"/>
            </a:pPr>
            <a:r>
              <a:rPr lang="es-ES">
                <a:solidFill>
                  <a:schemeClr val="dk1"/>
                </a:solidFill>
              </a:rPr>
              <a:t>Diagramas de secuencia para flujos complejos.</a:t>
            </a:r>
            <a:endParaRPr/>
          </a:p>
          <a:p>
            <a:pPr indent="-95249" lvl="1" marL="449263" rtl="0" algn="just">
              <a:lnSpc>
                <a:spcPct val="85000"/>
              </a:lnSpc>
              <a:spcBef>
                <a:spcPts val="0"/>
              </a:spcBef>
              <a:spcAft>
                <a:spcPts val="0"/>
              </a:spcAft>
              <a:buSzPts val="1400"/>
              <a:buNone/>
            </a:pPr>
            <a:r>
              <a:t/>
            </a:r>
            <a:endParaRPr>
              <a:solidFill>
                <a:schemeClr val="dk1"/>
              </a:solidFill>
            </a:endParaRPr>
          </a:p>
          <a:p>
            <a:pPr indent="-176213" lvl="0" marL="176213" rtl="0" algn="just">
              <a:lnSpc>
                <a:spcPct val="85000"/>
              </a:lnSpc>
              <a:spcBef>
                <a:spcPts val="0"/>
              </a:spcBef>
              <a:spcAft>
                <a:spcPts val="0"/>
              </a:spcAft>
              <a:buSzPts val="1050"/>
              <a:buChar char="❑"/>
            </a:pPr>
            <a:r>
              <a:rPr b="1" lang="es-ES" sz="1400">
                <a:solidFill>
                  <a:schemeClr val="dk1"/>
                </a:solidFill>
              </a:rPr>
              <a:t>HISTORIAL DE REVISIONES</a:t>
            </a:r>
            <a:endParaRPr/>
          </a:p>
          <a:p>
            <a:pPr indent="-184149" lvl="1" marL="449263" rtl="0" algn="just">
              <a:lnSpc>
                <a:spcPct val="85000"/>
              </a:lnSpc>
              <a:spcBef>
                <a:spcPts val="0"/>
              </a:spcBef>
              <a:spcAft>
                <a:spcPts val="0"/>
              </a:spcAft>
              <a:buSzPts val="1400"/>
              <a:buChar char="▪"/>
            </a:pPr>
            <a:r>
              <a:rPr lang="es-ES">
                <a:solidFill>
                  <a:schemeClr val="dk1"/>
                </a:solidFill>
              </a:rPr>
              <a:t>Versión 1.0: Documento inicial - Autor: [Nombre], Fecha: [Fecha]</a:t>
            </a:r>
            <a:endParaRPr/>
          </a:p>
          <a:p>
            <a:pPr indent="-184149" lvl="1" marL="449263" rtl="0" algn="just">
              <a:lnSpc>
                <a:spcPct val="85000"/>
              </a:lnSpc>
              <a:spcBef>
                <a:spcPts val="0"/>
              </a:spcBef>
              <a:spcAft>
                <a:spcPts val="0"/>
              </a:spcAft>
              <a:buSzPts val="1400"/>
              <a:buChar char="▪"/>
            </a:pPr>
            <a:r>
              <a:rPr lang="es-ES">
                <a:solidFill>
                  <a:schemeClr val="dk1"/>
                </a:solidFill>
              </a:rPr>
              <a:t>Versión 1.1: Añadidas excepciones - Autor: [Nombre], Fecha: [Fecha]</a:t>
            </a:r>
            <a:endParaRPr/>
          </a:p>
        </p:txBody>
      </p:sp>
      <p:pic>
        <p:nvPicPr>
          <p:cNvPr id="324" name="Google Shape;324;p31"/>
          <p:cNvPicPr preferRelativeResize="0"/>
          <p:nvPr/>
        </p:nvPicPr>
        <p:blipFill rotWithShape="1">
          <a:blip r:embed="rId3">
            <a:alphaModFix/>
          </a:blip>
          <a:srcRect b="0" l="0" r="0" t="0"/>
          <a:stretch/>
        </p:blipFill>
        <p:spPr>
          <a:xfrm>
            <a:off x="5935287" y="2475926"/>
            <a:ext cx="2232452" cy="23704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331" name="Google Shape;331;p32"/>
          <p:cNvSpPr/>
          <p:nvPr/>
        </p:nvSpPr>
        <p:spPr>
          <a:xfrm>
            <a:off x="1276149" y="788890"/>
            <a:ext cx="7204492" cy="34932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Seguir estándares como el ISO/IEC/IEEE 29148 y adoptar buenas prácticas en la especificación de casos de uso minimiza riesgos y mejora la calidad del software desarrollado.</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El Documento Técnico de Definición del Diagrama de Casos de Uso no </a:t>
            </a:r>
            <a:r>
              <a:rPr lang="es-ES" sz="1700">
                <a:solidFill>
                  <a:schemeClr val="lt1"/>
                </a:solidFill>
                <a:latin typeface="Calibri"/>
                <a:ea typeface="Calibri"/>
                <a:cs typeface="Calibri"/>
                <a:sym typeface="Calibri"/>
              </a:rPr>
              <a:t>sólo</a:t>
            </a:r>
            <a:r>
              <a:rPr lang="es-ES" sz="1700">
                <a:solidFill>
                  <a:schemeClr val="lt1"/>
                </a:solidFill>
                <a:latin typeface="Calibri"/>
                <a:ea typeface="Calibri"/>
                <a:cs typeface="Calibri"/>
                <a:sym typeface="Calibri"/>
              </a:rPr>
              <a:t> detalla los casos de uso, sino que también sirve como un medio de comunicación entre todos los stakeholders, asegurando que todos tengan una comprensión clara y unificada del sistema.</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Aunque la creación de especificaciones detalladas y documentos técnicos requiere tiempo y esfuerzo inicial, estos recursos son fundamentales para el mantenimiento futuro, la escalabilidad y la auditoría del sistema, y su valor se extiende a lo largo del ciclo de vida del proyecto.</a:t>
            </a:r>
            <a:endParaRPr/>
          </a:p>
        </p:txBody>
      </p:sp>
      <p:sp>
        <p:nvSpPr>
          <p:cNvPr id="332" name="Google Shape;332;p3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700"/>
              <a:buFont typeface="Calibri"/>
              <a:buNone/>
            </a:pPr>
            <a:r>
              <a:rPr lang="es-ES" sz="1700">
                <a:solidFill>
                  <a:schemeClr val="lt1"/>
                </a:solidFill>
                <a:latin typeface="Calibri"/>
                <a:ea typeface="Calibri"/>
                <a:cs typeface="Calibri"/>
                <a:sym typeface="Calibri"/>
              </a:rPr>
              <a:t>/ CONCLUSIONES</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3"/>
          <p:cNvSpPr txBox="1"/>
          <p:nvPr/>
        </p:nvSpPr>
        <p:spPr>
          <a:xfrm>
            <a:off x="665324" y="857848"/>
            <a:ext cx="7892750" cy="3492049"/>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Jacobson, I., Christerson, M., Jonsson, P., &amp; Övergaard, G. (1992). Object-Oriented Software Engineering: A Use Case Driven Approach. Addison-Wesley.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Kulak, D., &amp; Guiney, D. (2000). Use Cases: Requirements in Context. ACM Press/McGraw-Hill.</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Cockburn, A. (2000). Writing Effective Use Cases. Addison-Wesley Professional.</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Regnell, B., Kimbler, K., &amp; Wesslén, A. (1995). Improving the use case driven approach to requirements engineering.</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ISO/IEC/IEEE 29148:2018 - </a:t>
            </a:r>
            <a:r>
              <a:rPr lang="es-ES" sz="1600" u="sng">
                <a:solidFill>
                  <a:schemeClr val="dk1"/>
                </a:solidFill>
                <a:latin typeface="Calibri"/>
                <a:ea typeface="Calibri"/>
                <a:cs typeface="Calibri"/>
                <a:sym typeface="Calibri"/>
                <a:hlinkClick r:id="rId3">
                  <a:extLst>
                    <a:ext uri="{A12FA001-AC4F-418D-AE19-62706E023703}">
                      <ahyp:hlinkClr val="tx"/>
                    </a:ext>
                  </a:extLst>
                </a:hlinkClick>
              </a:rPr>
              <a:t>https://www.iso.org/standard/63500.html</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Use Case Development: A Tutorial. </a:t>
            </a:r>
            <a:r>
              <a:rPr lang="es-ES" sz="1600" u="sng">
                <a:solidFill>
                  <a:schemeClr val="dk1"/>
                </a:solidFill>
                <a:latin typeface="Calibri"/>
                <a:ea typeface="Calibri"/>
                <a:cs typeface="Calibri"/>
                <a:sym typeface="Calibri"/>
                <a:hlinkClick r:id="rId4">
                  <a:extLst>
                    <a:ext uri="{A12FA001-AC4F-418D-AE19-62706E023703}">
                      <ahyp:hlinkClr val="tx"/>
                    </a:ext>
                  </a:extLst>
                </a:hlinkClick>
              </a:rPr>
              <a:t>https://www.ibm.com/docs/en/rational-rose/2003.06.00/998_docs/en/Rose/case_tut/en/casetut.htm</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269875"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73025" lvl="0" marL="174625" marR="0" rtl="0" algn="l">
              <a:spcBef>
                <a:spcPts val="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p:txBody>
      </p:sp>
      <p:sp>
        <p:nvSpPr>
          <p:cNvPr id="339" name="Google Shape;339;p33"/>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438AD7"/>
              </a:buClr>
              <a:buSzPts val="1700"/>
              <a:buFont typeface="Calibri"/>
              <a:buNone/>
            </a:pPr>
            <a:r>
              <a:rPr lang="es-ES" sz="1700">
                <a:solidFill>
                  <a:srgbClr val="438AD7"/>
                </a:solidFill>
                <a:latin typeface="Calibri"/>
                <a:ea typeface="Calibri"/>
                <a:cs typeface="Calibri"/>
                <a:sym typeface="Calibri"/>
              </a:rPr>
              <a:t>/ BIBLIOGRAFÍA</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