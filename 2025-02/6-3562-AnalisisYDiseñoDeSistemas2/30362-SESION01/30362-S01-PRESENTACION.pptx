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Lst>
  <p:sldSz cy="5715000" cx="9144000"/>
  <p:notesSz cx="6797675" cy="992662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2D200454-40CA-4A62-9FC3-DE9A4176ACB9}">
      <p15:notesGuideLst>
        <p15:guide id="1" orient="horz" pos="3126">
          <p15:clr>
            <a:srgbClr val="A4A3A4"/>
          </p15:clr>
        </p15:guide>
        <p15:guide id="2" pos="2141">
          <p15:clr>
            <a:srgbClr val="A4A3A4"/>
          </p15:clr>
        </p15:guide>
      </p15:notesGuideLst>
    </p:ext>
    <p:ext uri="GoogleSlidesCustomDataVersion2">
      <go:slidesCustomData xmlns:go="http://customooxmlschemas.google.com/" r:id="rId45" roundtripDataSignature="AMtx7miuMd5xNI0/BSeOoZuhRXmy01p02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notesViewPr>
    <p:cSldViewPr snapToGrid="0">
      <p:cViewPr varScale="1">
        <p:scale>
          <a:sx n="100" d="100"/>
          <a:sy n="100" d="100"/>
        </p:scale>
        <p:origin x="0" y="0"/>
      </p:cViewPr>
      <p:guideLst>
        <p:guide pos="3126" orient="horz"/>
        <p:guide pos="2141"/>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slide" Target="slides/slide37.xml"/><Relationship Id="rId41" Type="http://schemas.openxmlformats.org/officeDocument/2006/relationships/slide" Target="slides/slide36.xml"/><Relationship Id="rId22" Type="http://schemas.openxmlformats.org/officeDocument/2006/relationships/slide" Target="slides/slide17.xml"/><Relationship Id="rId44" Type="http://schemas.openxmlformats.org/officeDocument/2006/relationships/slide" Target="slides/slide39.xml"/><Relationship Id="rId21" Type="http://schemas.openxmlformats.org/officeDocument/2006/relationships/slide" Target="slides/slide16.xml"/><Relationship Id="rId43" Type="http://schemas.openxmlformats.org/officeDocument/2006/relationships/slide" Target="slides/slide38.xml"/><Relationship Id="rId24" Type="http://schemas.openxmlformats.org/officeDocument/2006/relationships/slide" Target="slides/slide19.xml"/><Relationship Id="rId23" Type="http://schemas.openxmlformats.org/officeDocument/2006/relationships/slide" Target="slides/slide18.xml"/><Relationship Id="rId45" Type="http://customschemas.google.com/relationships/presentationmetadata" Target="meta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1"/>
            <a:ext cx="2945659" cy="498056"/>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50443" y="1"/>
            <a:ext cx="2945659" cy="498056"/>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428584"/>
            <a:ext cx="2945659" cy="498055"/>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1: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 name="Google Shape;56;p1: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95250" lvl="0" marL="171450" rtl="0" algn="l">
              <a:lnSpc>
                <a:spcPct val="100000"/>
              </a:lnSpc>
              <a:spcBef>
                <a:spcPts val="0"/>
              </a:spcBef>
              <a:spcAft>
                <a:spcPts val="0"/>
              </a:spcAft>
              <a:buClr>
                <a:schemeClr val="dk1"/>
              </a:buClr>
              <a:buSzPts val="1200"/>
              <a:buFont typeface="Arial"/>
              <a:buNone/>
            </a:pPr>
            <a:r>
              <a:t/>
            </a:r>
            <a:endParaRPr>
              <a:latin typeface="Arial"/>
              <a:ea typeface="Arial"/>
              <a:cs typeface="Arial"/>
              <a:sym typeface="Arial"/>
            </a:endParaRPr>
          </a:p>
        </p:txBody>
      </p:sp>
      <p:sp>
        <p:nvSpPr>
          <p:cNvPr id="57" name="Google Shape;57;p1: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fld id="{00000000-1234-1234-1234-123412341234}" type="slidenum">
              <a:rPr lang="es-E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2: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 name="Google Shape;68;p2: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69" name="Google Shape;69;p2: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fld id="{00000000-1234-1234-1234-123412341234}" type="slidenum">
              <a:rPr lang="es-E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3: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 name="Google Shape;75;p3: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latin typeface="Arial"/>
              <a:ea typeface="Arial"/>
              <a:cs typeface="Arial"/>
              <a:sym typeface="Arial"/>
            </a:endParaRPr>
          </a:p>
          <a:p>
            <a:pPr indent="0" lvl="0" marL="0" rtl="0" algn="l">
              <a:lnSpc>
                <a:spcPct val="100000"/>
              </a:lnSpc>
              <a:spcBef>
                <a:spcPts val="0"/>
              </a:spcBef>
              <a:spcAft>
                <a:spcPts val="0"/>
              </a:spcAft>
              <a:buClr>
                <a:schemeClr val="dk1"/>
              </a:buClr>
              <a:buSzPts val="1200"/>
              <a:buFont typeface="Calibri"/>
              <a:buNone/>
            </a:pPr>
            <a:r>
              <a:t/>
            </a:r>
            <a:endParaRPr>
              <a:latin typeface="Arial"/>
              <a:ea typeface="Arial"/>
              <a:cs typeface="Arial"/>
              <a:sym typeface="Arial"/>
            </a:endParaRPr>
          </a:p>
        </p:txBody>
      </p:sp>
      <p:sp>
        <p:nvSpPr>
          <p:cNvPr id="76" name="Google Shape;76;p3: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fld id="{00000000-1234-1234-1234-123412341234}" type="slidenum">
              <a:rPr lang="es-E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4: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 name="Google Shape;82;p4: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s-ES" sz="1200">
                <a:solidFill>
                  <a:schemeClr val="dk1"/>
                </a:solidFill>
                <a:latin typeface="Calibri"/>
                <a:ea typeface="Calibri"/>
                <a:cs typeface="Calibri"/>
                <a:sym typeface="Calibri"/>
              </a:rPr>
              <a:t>No solo garantiza que el producto final sea robusto y confiable, sino que también puede ahorrar tiempo y recursos al evitar errores costosos más adelante en el proceso.</a:t>
            </a:r>
            <a:endParaRPr>
              <a:latin typeface="Calibri"/>
              <a:ea typeface="Calibri"/>
              <a:cs typeface="Calibri"/>
              <a:sym typeface="Calibri"/>
            </a:endParaRPr>
          </a:p>
        </p:txBody>
      </p:sp>
      <p:sp>
        <p:nvSpPr>
          <p:cNvPr id="83" name="Google Shape;83;p4: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5: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 name="Google Shape;91;p5: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92" name="Google Shape;92;p5: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6: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 name="Google Shape;100;p6: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01" name="Google Shape;101;p6: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7: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 name="Google Shape;109;p7: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10" name="Google Shape;110;p7: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8: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 name="Google Shape;118;p8: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19" name="Google Shape;119;p8: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9: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 name="Google Shape;127;p9: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28" name="Google Shape;128;p9: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0: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 name="Google Shape;136;p10: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37" name="Google Shape;137;p10: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1: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 name="Google Shape;145;p11: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46" name="Google Shape;146;p11: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2: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4" name="Google Shape;154;p12: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55" name="Google Shape;155;p12: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3: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3" name="Google Shape;163;p13: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64" name="Google Shape;164;p13: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4: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 name="Google Shape;172;p14: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73" name="Google Shape;173;p14: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5: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1" name="Google Shape;181;p15: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82" name="Google Shape;182;p15: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6: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0" name="Google Shape;190;p16: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91" name="Google Shape;191;p16: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7: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9" name="Google Shape;199;p17: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latin typeface="Arial"/>
              <a:ea typeface="Arial"/>
              <a:cs typeface="Arial"/>
              <a:sym typeface="Arial"/>
            </a:endParaRPr>
          </a:p>
          <a:p>
            <a:pPr indent="0" lvl="0" marL="0" rtl="0" algn="l">
              <a:lnSpc>
                <a:spcPct val="100000"/>
              </a:lnSpc>
              <a:spcBef>
                <a:spcPts val="0"/>
              </a:spcBef>
              <a:spcAft>
                <a:spcPts val="0"/>
              </a:spcAft>
              <a:buClr>
                <a:schemeClr val="dk1"/>
              </a:buClr>
              <a:buSzPts val="1200"/>
              <a:buFont typeface="Calibri"/>
              <a:buNone/>
            </a:pPr>
            <a:r>
              <a:t/>
            </a:r>
            <a:endParaRPr>
              <a:latin typeface="Arial"/>
              <a:ea typeface="Arial"/>
              <a:cs typeface="Arial"/>
              <a:sym typeface="Arial"/>
            </a:endParaRPr>
          </a:p>
        </p:txBody>
      </p:sp>
      <p:sp>
        <p:nvSpPr>
          <p:cNvPr id="200" name="Google Shape;200;p17: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fld id="{00000000-1234-1234-1234-123412341234}" type="slidenum">
              <a:rPr lang="es-E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8: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6" name="Google Shape;206;p18: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s-ES" sz="1200">
                <a:solidFill>
                  <a:schemeClr val="dk1"/>
                </a:solidFill>
                <a:latin typeface="Calibri"/>
                <a:ea typeface="Calibri"/>
                <a:cs typeface="Calibri"/>
                <a:sym typeface="Calibri"/>
              </a:rPr>
              <a:t>No solo garantiza que el producto final sea robusto y confiable, sino que también puede ahorrar tiempo y recursos al evitar errores costosos más adelante en el proceso.</a:t>
            </a:r>
            <a:endParaRPr>
              <a:latin typeface="Calibri"/>
              <a:ea typeface="Calibri"/>
              <a:cs typeface="Calibri"/>
              <a:sym typeface="Calibri"/>
            </a:endParaRPr>
          </a:p>
        </p:txBody>
      </p:sp>
      <p:sp>
        <p:nvSpPr>
          <p:cNvPr id="207" name="Google Shape;207;p18: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9: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5" name="Google Shape;215;p19: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216" name="Google Shape;216;p19: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20: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4" name="Google Shape;224;p20: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225" name="Google Shape;225;p20: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21: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3" name="Google Shape;233;p21: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234" name="Google Shape;234;p21: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22: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2" name="Google Shape;242;p22: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243" name="Google Shape;243;p22: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23: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1" name="Google Shape;251;p23: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252" name="Google Shape;252;p23: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24: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0" name="Google Shape;260;p24: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261" name="Google Shape;261;p24: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25: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9" name="Google Shape;269;p25: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270" name="Google Shape;270;p25: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26: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8" name="Google Shape;278;p26: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279" name="Google Shape;279;p26: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27: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7" name="Google Shape;287;p27: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288" name="Google Shape;288;p27: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28: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6" name="Google Shape;296;p28: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latin typeface="Arial"/>
              <a:ea typeface="Arial"/>
              <a:cs typeface="Arial"/>
              <a:sym typeface="Arial"/>
            </a:endParaRPr>
          </a:p>
          <a:p>
            <a:pPr indent="0" lvl="0" marL="0" rtl="0" algn="l">
              <a:lnSpc>
                <a:spcPct val="100000"/>
              </a:lnSpc>
              <a:spcBef>
                <a:spcPts val="0"/>
              </a:spcBef>
              <a:spcAft>
                <a:spcPts val="0"/>
              </a:spcAft>
              <a:buClr>
                <a:schemeClr val="dk1"/>
              </a:buClr>
              <a:buSzPts val="1200"/>
              <a:buFont typeface="Calibri"/>
              <a:buNone/>
            </a:pPr>
            <a:r>
              <a:t/>
            </a:r>
            <a:endParaRPr>
              <a:latin typeface="Arial"/>
              <a:ea typeface="Arial"/>
              <a:cs typeface="Arial"/>
              <a:sym typeface="Arial"/>
            </a:endParaRPr>
          </a:p>
        </p:txBody>
      </p:sp>
      <p:sp>
        <p:nvSpPr>
          <p:cNvPr id="297" name="Google Shape;297;p28: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fld id="{00000000-1234-1234-1234-123412341234}" type="slidenum">
              <a:rPr lang="es-E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29: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3" name="Google Shape;303;p29: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s-ES" sz="1200">
                <a:solidFill>
                  <a:schemeClr val="dk1"/>
                </a:solidFill>
                <a:latin typeface="Calibri"/>
                <a:ea typeface="Calibri"/>
                <a:cs typeface="Calibri"/>
                <a:sym typeface="Calibri"/>
              </a:rPr>
              <a:t>No solo garantiza que el producto final sea robusto y confiable, sino que también puede ahorrar tiempo y recursos al evitar errores costosos más adelante en el proceso.</a:t>
            </a:r>
            <a:endParaRPr>
              <a:latin typeface="Calibri"/>
              <a:ea typeface="Calibri"/>
              <a:cs typeface="Calibri"/>
              <a:sym typeface="Calibri"/>
            </a:endParaRPr>
          </a:p>
        </p:txBody>
      </p:sp>
      <p:sp>
        <p:nvSpPr>
          <p:cNvPr id="304" name="Google Shape;304;p29: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30: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2" name="Google Shape;312;p30: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313" name="Google Shape;313;p30: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31: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1" name="Google Shape;321;p31: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322" name="Google Shape;322;p31: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32: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0" name="Google Shape;330;p32: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331" name="Google Shape;331;p32: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33: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9" name="Google Shape;339;p33: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340" name="Google Shape;340;p33: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34: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7" name="Google Shape;347;p34: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348" name="Google Shape;348;p34: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35: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4" name="Google Shape;354;p35: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355" name="Google Shape;355;p35: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36: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3" name="Google Shape;363;p36: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364" name="Google Shape;364;p36: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37: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2" name="Google Shape;372;p37: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373" name="Google Shape;373;p37: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38: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1" name="Google Shape;381;p38: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b="0" sz="1200">
              <a:latin typeface="Arial"/>
              <a:ea typeface="Arial"/>
              <a:cs typeface="Arial"/>
              <a:sym typeface="Arial"/>
            </a:endParaRPr>
          </a:p>
        </p:txBody>
      </p:sp>
      <p:sp>
        <p:nvSpPr>
          <p:cNvPr id="382" name="Google Shape;382;p38: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fld id="{00000000-1234-1234-1234-123412341234}" type="slidenum">
              <a:rPr lang="es-E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39: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9" name="Google Shape;389;p39: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3" marL="0" marR="0" rtl="0" algn="l">
              <a:lnSpc>
                <a:spcPct val="100000"/>
              </a:lnSpc>
              <a:spcBef>
                <a:spcPts val="0"/>
              </a:spcBef>
              <a:spcAft>
                <a:spcPts val="0"/>
              </a:spcAft>
              <a:buClr>
                <a:schemeClr val="dk1"/>
              </a:buClr>
              <a:buSzPts val="1200"/>
              <a:buFont typeface="Arial"/>
              <a:buNone/>
            </a:pPr>
            <a:r>
              <a:rPr lang="es-ES" sz="1200">
                <a:solidFill>
                  <a:schemeClr val="dk1"/>
                </a:solidFill>
                <a:latin typeface="Arial"/>
                <a:ea typeface="Arial"/>
                <a:cs typeface="Arial"/>
                <a:sym typeface="Arial"/>
              </a:rPr>
              <a:t> </a:t>
            </a:r>
            <a:endParaRPr/>
          </a:p>
          <a:p>
            <a:pPr indent="0" lvl="0" marL="0" rtl="0" algn="l">
              <a:lnSpc>
                <a:spcPct val="100000"/>
              </a:lnSpc>
              <a:spcBef>
                <a:spcPts val="0"/>
              </a:spcBef>
              <a:spcAft>
                <a:spcPts val="0"/>
              </a:spcAft>
              <a:buClr>
                <a:schemeClr val="dk1"/>
              </a:buClr>
              <a:buSzPts val="1200"/>
              <a:buFont typeface="Calibri"/>
              <a:buNone/>
            </a:pPr>
            <a:r>
              <a:t/>
            </a:r>
            <a:endParaRPr sz="1200">
              <a:latin typeface="Arial"/>
              <a:ea typeface="Arial"/>
              <a:cs typeface="Arial"/>
              <a:sym typeface="Arial"/>
            </a:endParaRPr>
          </a:p>
        </p:txBody>
      </p:sp>
      <p:sp>
        <p:nvSpPr>
          <p:cNvPr id="390" name="Google Shape;390;p39: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fld id="{00000000-1234-1234-1234-123412341234}" type="slidenum">
              <a:rPr lang="es-E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4.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p:cSld name="Diapositiva de título">
    <p:spTree>
      <p:nvGrpSpPr>
        <p:cNvPr id="14" name="Shape 14"/>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_Subtema con Imagen Horizontal">
  <p:cSld name="1_Diapo_Subtema con Imagen Horizontal">
    <p:spTree>
      <p:nvGrpSpPr>
        <p:cNvPr id="15" name="Shape 15"/>
        <p:cNvGrpSpPr/>
        <p:nvPr/>
      </p:nvGrpSpPr>
      <p:grpSpPr>
        <a:xfrm>
          <a:off x="0" y="0"/>
          <a:ext cx="0" cy="0"/>
          <a:chOff x="0" y="0"/>
          <a:chExt cx="0" cy="0"/>
        </a:xfrm>
      </p:grpSpPr>
      <p:sp>
        <p:nvSpPr>
          <p:cNvPr id="16" name="Google Shape;16;p42"/>
          <p:cNvSpPr/>
          <p:nvPr>
            <p:ph idx="2" type="pic"/>
          </p:nvPr>
        </p:nvSpPr>
        <p:spPr>
          <a:xfrm>
            <a:off x="475687" y="2877477"/>
            <a:ext cx="8207375" cy="2394000"/>
          </a:xfrm>
          <a:prstGeom prst="rect">
            <a:avLst/>
          </a:prstGeom>
          <a:noFill/>
          <a:ln>
            <a:noFill/>
          </a:ln>
        </p:spPr>
      </p:sp>
      <p:sp>
        <p:nvSpPr>
          <p:cNvPr id="17" name="Google Shape;17;p42"/>
          <p:cNvSpPr txBox="1"/>
          <p:nvPr>
            <p:ph idx="1" type="body"/>
          </p:nvPr>
        </p:nvSpPr>
        <p:spPr>
          <a:xfrm>
            <a:off x="475687" y="804863"/>
            <a:ext cx="8207375" cy="354012"/>
          </a:xfrm>
          <a:prstGeom prst="rect">
            <a:avLst/>
          </a:prstGeom>
          <a:noFill/>
          <a:ln>
            <a:noFill/>
          </a:ln>
        </p:spPr>
        <p:txBody>
          <a:bodyPr anchorCtr="0" anchor="ctr" bIns="36000" lIns="72000" spcFirstLastPara="1" rIns="72000" wrap="square" tIns="36000">
            <a:noAutofit/>
          </a:bodyPr>
          <a:lstStyle>
            <a:lvl1pPr indent="-228600" lvl="0" marL="457200" marR="0" rtl="0" algn="l">
              <a:lnSpc>
                <a:spcPct val="85000"/>
              </a:lnSpc>
              <a:spcBef>
                <a:spcPts val="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8" name="Google Shape;18;p42"/>
          <p:cNvSpPr txBox="1"/>
          <p:nvPr>
            <p:ph idx="3" type="body"/>
          </p:nvPr>
        </p:nvSpPr>
        <p:spPr>
          <a:xfrm>
            <a:off x="475687" y="277813"/>
            <a:ext cx="8207375" cy="354012"/>
          </a:xfrm>
          <a:prstGeom prst="rect">
            <a:avLst/>
          </a:prstGeom>
          <a:noFill/>
          <a:ln>
            <a:noFill/>
          </a:ln>
        </p:spPr>
        <p:txBody>
          <a:bodyPr anchorCtr="0" anchor="t" bIns="36000" lIns="72000" spcFirstLastPara="1" rIns="72000" wrap="square" tIns="36000">
            <a:noAutofit/>
          </a:bodyPr>
          <a:lstStyle>
            <a:lvl1pPr indent="-228600" lvl="0" marL="457200" marR="0" rtl="0" algn="l">
              <a:lnSpc>
                <a:spcPct val="100000"/>
              </a:lnSpc>
              <a:spcBef>
                <a:spcPts val="360"/>
              </a:spcBef>
              <a:spcAft>
                <a:spcPts val="0"/>
              </a:spcAft>
              <a:buClr>
                <a:srgbClr val="1F85A6"/>
              </a:buClr>
              <a:buSzPts val="1800"/>
              <a:buFont typeface="Arial"/>
              <a:buNone/>
              <a:defRPr b="1" i="0" sz="1800" u="none" cap="none" strike="noStrike">
                <a:solidFill>
                  <a:srgbClr val="1F85A6"/>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9" name="Google Shape;19;p42"/>
          <p:cNvSpPr txBox="1"/>
          <p:nvPr>
            <p:ph idx="4" type="body"/>
          </p:nvPr>
        </p:nvSpPr>
        <p:spPr>
          <a:xfrm>
            <a:off x="475687" y="1169422"/>
            <a:ext cx="8200800" cy="1692000"/>
          </a:xfrm>
          <a:prstGeom prst="rect">
            <a:avLst/>
          </a:prstGeom>
          <a:noFill/>
          <a:ln>
            <a:noFill/>
          </a:ln>
        </p:spPr>
        <p:txBody>
          <a:bodyPr anchorCtr="0" anchor="t" bIns="45700" lIns="91425" spcFirstLastPara="1" rIns="91425" wrap="square" tIns="45700">
            <a:noAutofit/>
          </a:bodyPr>
          <a:lstStyle>
            <a:lvl1pPr indent="-304800" lvl="0" marL="457200" marR="0" rtl="0" algn="just">
              <a:lnSpc>
                <a:spcPct val="100000"/>
              </a:lnSpc>
              <a:spcBef>
                <a:spcPts val="0"/>
              </a:spcBef>
              <a:spcAft>
                <a:spcPts val="0"/>
              </a:spcAft>
              <a:buClr>
                <a:schemeClr val="dk1"/>
              </a:buClr>
              <a:buSzPts val="1200"/>
              <a:buFont typeface="Noto Sans Symbols"/>
              <a:buChar char="❑"/>
              <a:defRPr b="0" i="0" sz="1600" u="none" cap="none" strike="noStrike">
                <a:solidFill>
                  <a:schemeClr val="dk1"/>
                </a:solidFill>
                <a:latin typeface="Calibri"/>
                <a:ea typeface="Calibri"/>
                <a:cs typeface="Calibri"/>
                <a:sym typeface="Calibri"/>
              </a:defRPr>
            </a:lvl1pPr>
            <a:lvl2pPr indent="-330200" lvl="1" marL="914400" marR="0" rtl="0" algn="just">
              <a:lnSpc>
                <a:spcPct val="100000"/>
              </a:lnSpc>
              <a:spcBef>
                <a:spcPts val="1200"/>
              </a:spcBef>
              <a:spcAft>
                <a:spcPts val="0"/>
              </a:spcAft>
              <a:buClr>
                <a:schemeClr val="dk1"/>
              </a:buClr>
              <a:buSzPts val="1600"/>
              <a:buFont typeface="Delius"/>
              <a:buChar char="→"/>
              <a:defRPr b="0" i="0" sz="1600" u="none" cap="none" strike="noStrike">
                <a:solidFill>
                  <a:schemeClr val="dk1"/>
                </a:solidFill>
                <a:latin typeface="Calibri"/>
                <a:ea typeface="Calibri"/>
                <a:cs typeface="Calibri"/>
                <a:sym typeface="Calibri"/>
              </a:defRPr>
            </a:lvl2pPr>
            <a:lvl3pPr indent="-330200" lvl="2" marL="1371600" marR="0" rtl="0" algn="just">
              <a:lnSpc>
                <a:spcPct val="100000"/>
              </a:lnSpc>
              <a:spcBef>
                <a:spcPts val="120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3pPr>
            <a:lvl4pPr indent="-330200" lvl="3" marL="1828800" marR="0" rtl="0" algn="l">
              <a:lnSpc>
                <a:spcPct val="100000"/>
              </a:lnSpc>
              <a:spcBef>
                <a:spcPts val="12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4pPr>
            <a:lvl5pPr indent="-330200" lvl="4" marL="22860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pos="295">
          <p15:clr>
            <a:srgbClr val="FBAE40"/>
          </p15:clr>
        </p15:guide>
        <p15:guide id="2" pos="5465">
          <p15:clr>
            <a:srgbClr val="FBAE40"/>
          </p15:clr>
        </p15:guide>
        <p15:guide id="3" orient="horz" pos="1800">
          <p15:clr>
            <a:srgbClr val="FBAE40"/>
          </p15:clr>
        </p15:guide>
        <p15:guide id="4" orient="horz" pos="507">
          <p15:clr>
            <a:srgbClr val="FBAE40"/>
          </p15:clr>
        </p15:guide>
        <p15:guide id="5" orient="horz" pos="332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0" name="Shape 20"/>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_Subtema con Imagen Horizontal">
  <p:cSld name="Diapo_Subtema con Imagen Horizontal">
    <p:spTree>
      <p:nvGrpSpPr>
        <p:cNvPr id="21" name="Shape 21"/>
        <p:cNvGrpSpPr/>
        <p:nvPr/>
      </p:nvGrpSpPr>
      <p:grpSpPr>
        <a:xfrm>
          <a:off x="0" y="0"/>
          <a:ext cx="0" cy="0"/>
          <a:chOff x="0" y="0"/>
          <a:chExt cx="0" cy="0"/>
        </a:xfrm>
      </p:grpSpPr>
      <p:sp>
        <p:nvSpPr>
          <p:cNvPr id="22" name="Google Shape;22;p44"/>
          <p:cNvSpPr/>
          <p:nvPr>
            <p:ph idx="2" type="pic"/>
          </p:nvPr>
        </p:nvSpPr>
        <p:spPr>
          <a:xfrm>
            <a:off x="475687" y="2877477"/>
            <a:ext cx="8207375" cy="2394000"/>
          </a:xfrm>
          <a:prstGeom prst="rect">
            <a:avLst/>
          </a:prstGeom>
          <a:noFill/>
          <a:ln>
            <a:noFill/>
          </a:ln>
        </p:spPr>
      </p:sp>
      <p:sp>
        <p:nvSpPr>
          <p:cNvPr id="23" name="Google Shape;23;p44"/>
          <p:cNvSpPr txBox="1"/>
          <p:nvPr>
            <p:ph idx="1" type="body"/>
          </p:nvPr>
        </p:nvSpPr>
        <p:spPr>
          <a:xfrm>
            <a:off x="475687" y="804863"/>
            <a:ext cx="8207375" cy="354012"/>
          </a:xfrm>
          <a:prstGeom prst="rect">
            <a:avLst/>
          </a:prstGeom>
          <a:noFill/>
          <a:ln>
            <a:noFill/>
          </a:ln>
        </p:spPr>
        <p:txBody>
          <a:bodyPr anchorCtr="0" anchor="ctr" bIns="36000" lIns="72000" spcFirstLastPara="1" rIns="72000" wrap="square" tIns="36000">
            <a:noAutofit/>
          </a:bodyPr>
          <a:lstStyle>
            <a:lvl1pPr indent="-228600" lvl="0" marL="457200" marR="0" rtl="0" algn="l">
              <a:lnSpc>
                <a:spcPct val="85000"/>
              </a:lnSpc>
              <a:spcBef>
                <a:spcPts val="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4" name="Google Shape;24;p44"/>
          <p:cNvSpPr txBox="1"/>
          <p:nvPr>
            <p:ph idx="3" type="body"/>
          </p:nvPr>
        </p:nvSpPr>
        <p:spPr>
          <a:xfrm>
            <a:off x="475687" y="277813"/>
            <a:ext cx="8207375" cy="354012"/>
          </a:xfrm>
          <a:prstGeom prst="rect">
            <a:avLst/>
          </a:prstGeom>
          <a:noFill/>
          <a:ln>
            <a:noFill/>
          </a:ln>
        </p:spPr>
        <p:txBody>
          <a:bodyPr anchorCtr="0" anchor="t" bIns="36000" lIns="72000" spcFirstLastPara="1" rIns="72000" wrap="square" tIns="36000">
            <a:noAutofit/>
          </a:bodyPr>
          <a:lstStyle>
            <a:lvl1pPr indent="-228600" lvl="0" marL="457200" marR="0" rtl="0" algn="l">
              <a:lnSpc>
                <a:spcPct val="100000"/>
              </a:lnSpc>
              <a:spcBef>
                <a:spcPts val="360"/>
              </a:spcBef>
              <a:spcAft>
                <a:spcPts val="0"/>
              </a:spcAft>
              <a:buClr>
                <a:srgbClr val="1F85A6"/>
              </a:buClr>
              <a:buSzPts val="1800"/>
              <a:buFont typeface="Arial"/>
              <a:buNone/>
              <a:defRPr b="1" i="0" sz="1800" u="none" cap="none" strike="noStrike">
                <a:solidFill>
                  <a:srgbClr val="1F85A6"/>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5" name="Google Shape;25;p44"/>
          <p:cNvSpPr txBox="1"/>
          <p:nvPr>
            <p:ph idx="4" type="body"/>
          </p:nvPr>
        </p:nvSpPr>
        <p:spPr>
          <a:xfrm>
            <a:off x="475687" y="1169422"/>
            <a:ext cx="8200800" cy="1692000"/>
          </a:xfrm>
          <a:prstGeom prst="rect">
            <a:avLst/>
          </a:prstGeom>
          <a:noFill/>
          <a:ln>
            <a:noFill/>
          </a:ln>
        </p:spPr>
        <p:txBody>
          <a:bodyPr anchorCtr="0" anchor="t" bIns="45700" lIns="91425" spcFirstLastPara="1" rIns="91425" wrap="square" tIns="45700">
            <a:noAutofit/>
          </a:bodyPr>
          <a:lstStyle>
            <a:lvl1pPr indent="-304800" lvl="0" marL="457200" marR="0" rtl="0" algn="just">
              <a:lnSpc>
                <a:spcPct val="100000"/>
              </a:lnSpc>
              <a:spcBef>
                <a:spcPts val="0"/>
              </a:spcBef>
              <a:spcAft>
                <a:spcPts val="0"/>
              </a:spcAft>
              <a:buClr>
                <a:schemeClr val="dk1"/>
              </a:buClr>
              <a:buSzPts val="1200"/>
              <a:buFont typeface="Noto Sans Symbols"/>
              <a:buChar char="❑"/>
              <a:defRPr b="0" i="0" sz="1600" u="none" cap="none" strike="noStrike">
                <a:solidFill>
                  <a:schemeClr val="dk1"/>
                </a:solidFill>
                <a:latin typeface="Calibri"/>
                <a:ea typeface="Calibri"/>
                <a:cs typeface="Calibri"/>
                <a:sym typeface="Calibri"/>
              </a:defRPr>
            </a:lvl1pPr>
            <a:lvl2pPr indent="-330200" lvl="1" marL="914400" marR="0" rtl="0" algn="just">
              <a:lnSpc>
                <a:spcPct val="100000"/>
              </a:lnSpc>
              <a:spcBef>
                <a:spcPts val="1200"/>
              </a:spcBef>
              <a:spcAft>
                <a:spcPts val="0"/>
              </a:spcAft>
              <a:buClr>
                <a:schemeClr val="dk1"/>
              </a:buClr>
              <a:buSzPts val="1600"/>
              <a:buFont typeface="Delius"/>
              <a:buChar char="→"/>
              <a:defRPr b="0" i="0" sz="1600" u="none" cap="none" strike="noStrike">
                <a:solidFill>
                  <a:schemeClr val="dk1"/>
                </a:solidFill>
                <a:latin typeface="Calibri"/>
                <a:ea typeface="Calibri"/>
                <a:cs typeface="Calibri"/>
                <a:sym typeface="Calibri"/>
              </a:defRPr>
            </a:lvl2pPr>
            <a:lvl3pPr indent="-330200" lvl="2" marL="1371600" marR="0" rtl="0" algn="just">
              <a:lnSpc>
                <a:spcPct val="100000"/>
              </a:lnSpc>
              <a:spcBef>
                <a:spcPts val="120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3pPr>
            <a:lvl4pPr indent="-330200" lvl="3" marL="1828800" marR="0" rtl="0" algn="l">
              <a:lnSpc>
                <a:spcPct val="100000"/>
              </a:lnSpc>
              <a:spcBef>
                <a:spcPts val="12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4pPr>
            <a:lvl5pPr indent="-330200" lvl="4" marL="22860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pos="295">
          <p15:clr>
            <a:srgbClr val="FBAE40"/>
          </p15:clr>
        </p15:guide>
        <p15:guide id="2" pos="5465">
          <p15:clr>
            <a:srgbClr val="FBAE40"/>
          </p15:clr>
        </p15:guide>
        <p15:guide id="3" orient="horz" pos="1800">
          <p15:clr>
            <a:srgbClr val="FBAE40"/>
          </p15:clr>
        </p15:guide>
        <p15:guide id="4" orient="horz" pos="507">
          <p15:clr>
            <a:srgbClr val="FBAE40"/>
          </p15:clr>
        </p15:guide>
        <p15:guide id="5" orient="horz" pos="332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_Subtema con Imagen Vertical">
  <p:cSld name="Diapo_Subtema con Imagen Vertical">
    <p:spTree>
      <p:nvGrpSpPr>
        <p:cNvPr id="26" name="Shape 26"/>
        <p:cNvGrpSpPr/>
        <p:nvPr/>
      </p:nvGrpSpPr>
      <p:grpSpPr>
        <a:xfrm>
          <a:off x="0" y="0"/>
          <a:ext cx="0" cy="0"/>
          <a:chOff x="0" y="0"/>
          <a:chExt cx="0" cy="0"/>
        </a:xfrm>
      </p:grpSpPr>
      <p:sp>
        <p:nvSpPr>
          <p:cNvPr id="27" name="Google Shape;27;p45"/>
          <p:cNvSpPr/>
          <p:nvPr>
            <p:ph idx="2" type="pic"/>
          </p:nvPr>
        </p:nvSpPr>
        <p:spPr>
          <a:xfrm>
            <a:off x="4572000" y="804863"/>
            <a:ext cx="4103688" cy="4463362"/>
          </a:xfrm>
          <a:prstGeom prst="rect">
            <a:avLst/>
          </a:prstGeom>
          <a:noFill/>
          <a:ln>
            <a:noFill/>
          </a:ln>
        </p:spPr>
      </p:sp>
      <p:sp>
        <p:nvSpPr>
          <p:cNvPr id="28" name="Google Shape;28;p45"/>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lvl1pPr indent="-228600" lvl="0" marL="457200" marR="0" rtl="0" algn="l">
              <a:lnSpc>
                <a:spcPct val="85000"/>
              </a:lnSpc>
              <a:spcBef>
                <a:spcPts val="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9" name="Google Shape;29;p45"/>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lvl1pPr indent="-228600" lvl="0" marL="457200" marR="0" rtl="0" algn="l">
              <a:lnSpc>
                <a:spcPct val="100000"/>
              </a:lnSpc>
              <a:spcBef>
                <a:spcPts val="360"/>
              </a:spcBef>
              <a:spcAft>
                <a:spcPts val="0"/>
              </a:spcAft>
              <a:buClr>
                <a:srgbClr val="1F85A6"/>
              </a:buClr>
              <a:buSzPts val="1800"/>
              <a:buFont typeface="Arial"/>
              <a:buNone/>
              <a:defRPr b="1" i="0" sz="1800" u="none" cap="none" strike="noStrike">
                <a:solidFill>
                  <a:srgbClr val="1F85A6"/>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30" name="Google Shape;30;p45"/>
          <p:cNvSpPr txBox="1"/>
          <p:nvPr>
            <p:ph idx="4" type="body"/>
          </p:nvPr>
        </p:nvSpPr>
        <p:spPr>
          <a:xfrm>
            <a:off x="468313" y="1177927"/>
            <a:ext cx="4103687" cy="4096800"/>
          </a:xfrm>
          <a:prstGeom prst="rect">
            <a:avLst/>
          </a:prstGeom>
          <a:noFill/>
          <a:ln>
            <a:noFill/>
          </a:ln>
        </p:spPr>
        <p:txBody>
          <a:bodyPr anchorCtr="0" anchor="t" bIns="45700" lIns="91425" spcFirstLastPara="1" rIns="91425" wrap="square" tIns="45700">
            <a:noAutofit/>
          </a:bodyPr>
          <a:lstStyle>
            <a:lvl1pPr indent="-304800" lvl="0" marL="457200" marR="0" rtl="0" algn="just">
              <a:lnSpc>
                <a:spcPct val="100000"/>
              </a:lnSpc>
              <a:spcBef>
                <a:spcPts val="0"/>
              </a:spcBef>
              <a:spcAft>
                <a:spcPts val="0"/>
              </a:spcAft>
              <a:buClr>
                <a:schemeClr val="dk1"/>
              </a:buClr>
              <a:buSzPts val="1200"/>
              <a:buFont typeface="Noto Sans Symbols"/>
              <a:buChar char="❑"/>
              <a:defRPr b="0" i="0" sz="1600" u="none" cap="none" strike="noStrike">
                <a:solidFill>
                  <a:schemeClr val="dk1"/>
                </a:solidFill>
                <a:latin typeface="Calibri"/>
                <a:ea typeface="Calibri"/>
                <a:cs typeface="Calibri"/>
                <a:sym typeface="Calibri"/>
              </a:defRPr>
            </a:lvl1pPr>
            <a:lvl2pPr indent="-330200" lvl="1" marL="914400" marR="0" rtl="0" algn="just">
              <a:lnSpc>
                <a:spcPct val="100000"/>
              </a:lnSpc>
              <a:spcBef>
                <a:spcPts val="1200"/>
              </a:spcBef>
              <a:spcAft>
                <a:spcPts val="0"/>
              </a:spcAft>
              <a:buClr>
                <a:schemeClr val="dk1"/>
              </a:buClr>
              <a:buSzPts val="1600"/>
              <a:buFont typeface="Delius"/>
              <a:buChar char="→"/>
              <a:defRPr b="0" i="0" sz="1600" u="none" cap="none" strike="noStrike">
                <a:solidFill>
                  <a:schemeClr val="dk1"/>
                </a:solidFill>
                <a:latin typeface="Calibri"/>
                <a:ea typeface="Calibri"/>
                <a:cs typeface="Calibri"/>
                <a:sym typeface="Calibri"/>
              </a:defRPr>
            </a:lvl2pPr>
            <a:lvl3pPr indent="-330200" lvl="2" marL="1371600" marR="0" rtl="0" algn="just">
              <a:lnSpc>
                <a:spcPct val="100000"/>
              </a:lnSpc>
              <a:spcBef>
                <a:spcPts val="120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3pPr>
            <a:lvl4pPr indent="-330200" lvl="3" marL="1828800" marR="0" rtl="0" algn="l">
              <a:lnSpc>
                <a:spcPct val="100000"/>
              </a:lnSpc>
              <a:spcBef>
                <a:spcPts val="12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4pPr>
            <a:lvl5pPr indent="-330200" lvl="4" marL="2286000" marR="0" rtl="0" algn="l">
              <a:lnSpc>
                <a:spcPct val="100000"/>
              </a:lnSpc>
              <a:spcBef>
                <a:spcPts val="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pos="295">
          <p15:clr>
            <a:srgbClr val="FBAE40"/>
          </p15:clr>
        </p15:guide>
        <p15:guide id="2" pos="5465">
          <p15:clr>
            <a:srgbClr val="FBAE40"/>
          </p15:clr>
        </p15:guide>
        <p15:guide id="3" orient="horz" pos="1800">
          <p15:clr>
            <a:srgbClr val="FBAE40"/>
          </p15:clr>
        </p15:guide>
        <p15:guide id="4" orient="horz" pos="507">
          <p15:clr>
            <a:srgbClr val="FBAE40"/>
          </p15:clr>
        </p15:guide>
        <p15:guide id="5" orient="horz" pos="3320">
          <p15:clr>
            <a:srgbClr val="FBAE40"/>
          </p15:clr>
        </p15:guide>
        <p15:guide id="6" pos="288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31" name="Shape 31"/>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_Introduccion">
  <p:cSld name="Diapo_Introduccion">
    <p:bg>
      <p:bgPr>
        <a:solidFill>
          <a:srgbClr val="F2F2F2"/>
        </a:solidFill>
      </p:bgPr>
    </p:bg>
    <p:spTree>
      <p:nvGrpSpPr>
        <p:cNvPr id="32" name="Shape 32"/>
        <p:cNvGrpSpPr/>
        <p:nvPr/>
      </p:nvGrpSpPr>
      <p:grpSpPr>
        <a:xfrm>
          <a:off x="0" y="0"/>
          <a:ext cx="0" cy="0"/>
          <a:chOff x="0" y="0"/>
          <a:chExt cx="0" cy="0"/>
        </a:xfrm>
      </p:grpSpPr>
      <p:sp>
        <p:nvSpPr>
          <p:cNvPr id="33" name="Google Shape;33;p47"/>
          <p:cNvSpPr/>
          <p:nvPr/>
        </p:nvSpPr>
        <p:spPr>
          <a:xfrm>
            <a:off x="503238" y="997483"/>
            <a:ext cx="1945800" cy="24929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1620"/>
              <a:buFont typeface="Calibri"/>
              <a:buNone/>
            </a:pPr>
            <a:r>
              <a:rPr b="1" i="0" lang="es-ES" sz="1620" u="none" cap="none" strike="noStrike">
                <a:solidFill>
                  <a:schemeClr val="dk1"/>
                </a:solidFill>
                <a:latin typeface="Calibri"/>
                <a:ea typeface="Calibri"/>
                <a:cs typeface="Calibri"/>
                <a:sym typeface="Calibri"/>
              </a:rPr>
              <a:t>INTRODUCCIÓN</a:t>
            </a:r>
            <a:endParaRPr b="0" i="0" sz="1400" u="none" cap="none" strike="noStrike">
              <a:solidFill>
                <a:srgbClr val="000000"/>
              </a:solidFill>
              <a:latin typeface="Arial"/>
              <a:ea typeface="Arial"/>
              <a:cs typeface="Arial"/>
              <a:sym typeface="Arial"/>
            </a:endParaRPr>
          </a:p>
        </p:txBody>
      </p:sp>
      <p:pic>
        <p:nvPicPr>
          <p:cNvPr id="34" name="Google Shape;34;p47"/>
          <p:cNvPicPr preferRelativeResize="0"/>
          <p:nvPr/>
        </p:nvPicPr>
        <p:blipFill rotWithShape="1">
          <a:blip r:embed="rId2">
            <a:alphaModFix/>
          </a:blip>
          <a:srcRect b="0" l="0" r="0" t="0"/>
          <a:stretch/>
        </p:blipFill>
        <p:spPr>
          <a:xfrm>
            <a:off x="503239" y="573356"/>
            <a:ext cx="424127" cy="424127"/>
          </a:xfrm>
          <a:prstGeom prst="rect">
            <a:avLst/>
          </a:prstGeom>
          <a:solidFill>
            <a:srgbClr val="F2F2F2"/>
          </a:solidFill>
          <a:ln>
            <a:noFill/>
          </a:ln>
        </p:spPr>
      </p:pic>
      <p:sp>
        <p:nvSpPr>
          <p:cNvPr id="35" name="Google Shape;35;p47"/>
          <p:cNvSpPr txBox="1"/>
          <p:nvPr>
            <p:ph idx="1" type="body"/>
          </p:nvPr>
        </p:nvSpPr>
        <p:spPr>
          <a:xfrm>
            <a:off x="503238" y="1670050"/>
            <a:ext cx="8137525" cy="3563938"/>
          </a:xfrm>
          <a:prstGeom prst="rect">
            <a:avLst/>
          </a:prstGeom>
          <a:noFill/>
          <a:ln>
            <a:noFill/>
          </a:ln>
        </p:spPr>
        <p:txBody>
          <a:bodyPr anchorCtr="0" anchor="t" bIns="45700" lIns="91425" spcFirstLastPara="1" rIns="91425" wrap="square" tIns="45700">
            <a:noAutofit/>
          </a:bodyPr>
          <a:lstStyle>
            <a:lvl1pPr indent="-304800" lvl="0" marL="457200" marR="0" rtl="0" algn="just">
              <a:lnSpc>
                <a:spcPct val="100000"/>
              </a:lnSpc>
              <a:spcBef>
                <a:spcPts val="0"/>
              </a:spcBef>
              <a:spcAft>
                <a:spcPts val="0"/>
              </a:spcAft>
              <a:buClr>
                <a:schemeClr val="dk1"/>
              </a:buClr>
              <a:buSzPts val="1200"/>
              <a:buFont typeface="Noto Sans Symbols"/>
              <a:buChar char="❑"/>
              <a:defRPr b="0" i="0" sz="1600" u="none" cap="none" strike="noStrike">
                <a:solidFill>
                  <a:schemeClr val="dk1"/>
                </a:solidFill>
                <a:latin typeface="Calibri"/>
                <a:ea typeface="Calibri"/>
                <a:cs typeface="Calibri"/>
                <a:sym typeface="Calibri"/>
              </a:defRPr>
            </a:lvl1pPr>
            <a:lvl2pPr indent="-330200" lvl="1" marL="914400" marR="0" rtl="0" algn="just">
              <a:lnSpc>
                <a:spcPct val="100000"/>
              </a:lnSpc>
              <a:spcBef>
                <a:spcPts val="1200"/>
              </a:spcBef>
              <a:spcAft>
                <a:spcPts val="0"/>
              </a:spcAft>
              <a:buClr>
                <a:schemeClr val="dk1"/>
              </a:buClr>
              <a:buSzPts val="1600"/>
              <a:buFont typeface="Delius"/>
              <a:buChar char="→"/>
              <a:defRPr b="0" i="0" sz="1600" u="none" cap="none" strike="noStrike">
                <a:solidFill>
                  <a:schemeClr val="dk1"/>
                </a:solidFill>
                <a:latin typeface="Calibri"/>
                <a:ea typeface="Calibri"/>
                <a:cs typeface="Calibri"/>
                <a:sym typeface="Calibri"/>
              </a:defRPr>
            </a:lvl2pPr>
            <a:lvl3pPr indent="-330200" lvl="2" marL="1371600" marR="0" rtl="0" algn="just">
              <a:lnSpc>
                <a:spcPct val="100000"/>
              </a:lnSpc>
              <a:spcBef>
                <a:spcPts val="120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3pPr>
            <a:lvl4pPr indent="-330200" lvl="3" marL="1828800" marR="0" rtl="0" algn="l">
              <a:lnSpc>
                <a:spcPct val="85000"/>
              </a:lnSpc>
              <a:spcBef>
                <a:spcPts val="12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4pPr>
            <a:lvl5pPr indent="-330200" lvl="4" marL="2286000" marR="0" rtl="0" algn="l">
              <a:lnSpc>
                <a:spcPct val="85000"/>
              </a:lnSpc>
              <a:spcBef>
                <a:spcPts val="12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12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orient="horz" pos="1052">
          <p15:clr>
            <a:srgbClr val="FBAE40"/>
          </p15:clr>
        </p15:guide>
        <p15:guide id="2" pos="317">
          <p15:clr>
            <a:srgbClr val="FBAE40"/>
          </p15:clr>
        </p15:guide>
        <p15:guide id="3" pos="5443">
          <p15:clr>
            <a:srgbClr val="FBAE40"/>
          </p15:clr>
        </p15:guide>
        <p15:guide id="4" orient="horz" pos="3297">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_Subtema con Cuadro">
  <p:cSld name="Diapo_Subtema con Cuadro">
    <p:spTree>
      <p:nvGrpSpPr>
        <p:cNvPr id="36" name="Shape 36"/>
        <p:cNvGrpSpPr/>
        <p:nvPr/>
      </p:nvGrpSpPr>
      <p:grpSpPr>
        <a:xfrm>
          <a:off x="0" y="0"/>
          <a:ext cx="0" cy="0"/>
          <a:chOff x="0" y="0"/>
          <a:chExt cx="0" cy="0"/>
        </a:xfrm>
      </p:grpSpPr>
      <p:sp>
        <p:nvSpPr>
          <p:cNvPr id="37" name="Google Shape;37;p48"/>
          <p:cNvSpPr/>
          <p:nvPr>
            <p:ph idx="2" type="pic"/>
          </p:nvPr>
        </p:nvSpPr>
        <p:spPr>
          <a:xfrm>
            <a:off x="468313" y="1175705"/>
            <a:ext cx="8207375" cy="4096800"/>
          </a:xfrm>
          <a:prstGeom prst="rect">
            <a:avLst/>
          </a:prstGeom>
          <a:noFill/>
          <a:ln>
            <a:noFill/>
          </a:ln>
        </p:spPr>
      </p:sp>
      <p:sp>
        <p:nvSpPr>
          <p:cNvPr id="38" name="Google Shape;38;p48"/>
          <p:cNvSpPr txBox="1"/>
          <p:nvPr>
            <p:ph idx="1" type="body"/>
          </p:nvPr>
        </p:nvSpPr>
        <p:spPr>
          <a:xfrm>
            <a:off x="468313" y="810473"/>
            <a:ext cx="8207375" cy="354012"/>
          </a:xfrm>
          <a:prstGeom prst="rect">
            <a:avLst/>
          </a:prstGeom>
          <a:noFill/>
          <a:ln>
            <a:noFill/>
          </a:ln>
        </p:spPr>
        <p:txBody>
          <a:bodyPr anchorCtr="0" anchor="ctr" bIns="36000" lIns="72000" spcFirstLastPara="1" rIns="72000" wrap="square" tIns="36000">
            <a:noAutofit/>
          </a:bodyPr>
          <a:lstStyle>
            <a:lvl1pPr indent="-228600" lvl="0" marL="457200" marR="0" rtl="0" algn="l">
              <a:lnSpc>
                <a:spcPct val="85000"/>
              </a:lnSpc>
              <a:spcBef>
                <a:spcPts val="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39" name="Google Shape;39;p48"/>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lvl1pPr indent="-228600" lvl="0" marL="457200" marR="0" rtl="0" algn="l">
              <a:lnSpc>
                <a:spcPct val="100000"/>
              </a:lnSpc>
              <a:spcBef>
                <a:spcPts val="360"/>
              </a:spcBef>
              <a:spcAft>
                <a:spcPts val="0"/>
              </a:spcAft>
              <a:buClr>
                <a:srgbClr val="1F85A6"/>
              </a:buClr>
              <a:buSzPts val="1800"/>
              <a:buFont typeface="Arial"/>
              <a:buNone/>
              <a:defRPr b="1" i="0" sz="1800" u="none" cap="none" strike="noStrike">
                <a:solidFill>
                  <a:srgbClr val="1F85A6"/>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pos="295">
          <p15:clr>
            <a:srgbClr val="FBAE40"/>
          </p15:clr>
        </p15:guide>
        <p15:guide id="2" pos="5465">
          <p15:clr>
            <a:srgbClr val="FBAE40"/>
          </p15:clr>
        </p15:guide>
        <p15:guide id="3" orient="horz" pos="1800">
          <p15:clr>
            <a:srgbClr val="FBAE40"/>
          </p15:clr>
        </p15:guide>
        <p15:guide id="4" orient="horz" pos="507">
          <p15:clr>
            <a:srgbClr val="FBAE40"/>
          </p15:clr>
        </p15:guide>
        <p15:guide id="5" orient="horz" pos="3320">
          <p15:clr>
            <a:srgbClr val="FBAE40"/>
          </p15:clr>
        </p15:guide>
        <p15:guide id="6" pos="288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_Full texto">
  <p:cSld name="Diapo_Full texto">
    <p:bg>
      <p:bgPr>
        <a:blipFill>
          <a:blip r:embed="rId2">
            <a:alphaModFix/>
          </a:blip>
          <a:stretch>
            <a:fillRect/>
          </a:stretch>
        </a:blipFill>
      </p:bgPr>
    </p:bg>
    <p:spTree>
      <p:nvGrpSpPr>
        <p:cNvPr id="40" name="Shape 40"/>
        <p:cNvGrpSpPr/>
        <p:nvPr/>
      </p:nvGrpSpPr>
      <p:grpSpPr>
        <a:xfrm>
          <a:off x="0" y="0"/>
          <a:ext cx="0" cy="0"/>
          <a:chOff x="0" y="0"/>
          <a:chExt cx="0" cy="0"/>
        </a:xfrm>
      </p:grpSpPr>
      <p:sp>
        <p:nvSpPr>
          <p:cNvPr id="41" name="Google Shape;41;p49"/>
          <p:cNvSpPr txBox="1"/>
          <p:nvPr>
            <p:ph idx="1" type="body"/>
          </p:nvPr>
        </p:nvSpPr>
        <p:spPr>
          <a:xfrm>
            <a:off x="468313" y="810473"/>
            <a:ext cx="8207375" cy="354012"/>
          </a:xfrm>
          <a:prstGeom prst="rect">
            <a:avLst/>
          </a:prstGeom>
          <a:solidFill>
            <a:srgbClr val="FFFFCC"/>
          </a:solidFill>
          <a:ln>
            <a:noFill/>
          </a:ln>
        </p:spPr>
        <p:txBody>
          <a:bodyPr anchorCtr="0" anchor="ctr" bIns="36000" lIns="72000" spcFirstLastPara="1" rIns="72000" wrap="square" tIns="36000">
            <a:noAutofit/>
          </a:bodyPr>
          <a:lstStyle>
            <a:lvl1pPr indent="-228600" lvl="0" marL="457200" marR="0" rtl="0" algn="l">
              <a:lnSpc>
                <a:spcPct val="85000"/>
              </a:lnSpc>
              <a:spcBef>
                <a:spcPts val="0"/>
              </a:spcBef>
              <a:spcAft>
                <a:spcPts val="0"/>
              </a:spcAft>
              <a:buClr>
                <a:srgbClr val="3F3F3F"/>
              </a:buClr>
              <a:buSzPts val="1600"/>
              <a:buFont typeface="Arial"/>
              <a:buNone/>
              <a:defRPr b="1" i="0" sz="1600" u="none" cap="none" strike="noStrike">
                <a:solidFill>
                  <a:srgbClr val="3F3F3F"/>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42" name="Google Shape;42;p49"/>
          <p:cNvSpPr txBox="1"/>
          <p:nvPr>
            <p:ph idx="2"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lvl1pPr indent="-228600" lvl="0" marL="457200" marR="0" rtl="0" algn="l">
              <a:lnSpc>
                <a:spcPct val="100000"/>
              </a:lnSpc>
              <a:spcBef>
                <a:spcPts val="360"/>
              </a:spcBef>
              <a:spcAft>
                <a:spcPts val="0"/>
              </a:spcAft>
              <a:buClr>
                <a:schemeClr val="lt1"/>
              </a:buClr>
              <a:buSzPts val="1800"/>
              <a:buFont typeface="Arial"/>
              <a:buNone/>
              <a:defRPr b="1" i="0" sz="1800" u="none" cap="none" strike="noStrike">
                <a:solidFill>
                  <a:schemeClr val="lt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43" name="Google Shape;43;p49"/>
          <p:cNvSpPr txBox="1"/>
          <p:nvPr>
            <p:ph idx="3" type="body"/>
          </p:nvPr>
        </p:nvSpPr>
        <p:spPr>
          <a:xfrm>
            <a:off x="468313" y="1174363"/>
            <a:ext cx="8207375" cy="4540637"/>
          </a:xfrm>
          <a:prstGeom prst="rect">
            <a:avLst/>
          </a:prstGeom>
          <a:solidFill>
            <a:srgbClr val="FFFFCC"/>
          </a:solidFill>
          <a:ln>
            <a:noFill/>
          </a:ln>
        </p:spPr>
        <p:txBody>
          <a:bodyPr anchorCtr="0" anchor="t" bIns="45700" lIns="91425" spcFirstLastPara="1" rIns="91425" wrap="square" tIns="45700">
            <a:noAutofit/>
          </a:bodyPr>
          <a:lstStyle>
            <a:lvl1pPr indent="-304800" lvl="0" marL="457200" marR="0" rtl="0" algn="just">
              <a:lnSpc>
                <a:spcPct val="90000"/>
              </a:lnSpc>
              <a:spcBef>
                <a:spcPts val="0"/>
              </a:spcBef>
              <a:spcAft>
                <a:spcPts val="0"/>
              </a:spcAft>
              <a:buClr>
                <a:srgbClr val="3F3F3F"/>
              </a:buClr>
              <a:buSzPts val="1200"/>
              <a:buFont typeface="Noto Sans Symbols"/>
              <a:buChar char="❑"/>
              <a:defRPr b="0" i="1" sz="1600" u="none" cap="none" strike="noStrike">
                <a:solidFill>
                  <a:srgbClr val="7F7F7F"/>
                </a:solidFill>
                <a:latin typeface="Calibri"/>
                <a:ea typeface="Calibri"/>
                <a:cs typeface="Calibri"/>
                <a:sym typeface="Calibri"/>
              </a:defRPr>
            </a:lvl1pPr>
            <a:lvl2pPr indent="-317500" lvl="1" marL="914400" marR="0" rtl="0" algn="just">
              <a:lnSpc>
                <a:spcPct val="90000"/>
              </a:lnSpc>
              <a:spcBef>
                <a:spcPts val="600"/>
              </a:spcBef>
              <a:spcAft>
                <a:spcPts val="0"/>
              </a:spcAft>
              <a:buClr>
                <a:srgbClr val="3F3F3F"/>
              </a:buClr>
              <a:buSzPts val="1400"/>
              <a:buFont typeface="Noto Sans Symbols"/>
              <a:buChar char="▪"/>
              <a:defRPr b="0" i="1" sz="1400" u="none" cap="none" strike="noStrike">
                <a:solidFill>
                  <a:srgbClr val="7F7F7F"/>
                </a:solidFill>
                <a:latin typeface="Calibri"/>
                <a:ea typeface="Calibri"/>
                <a:cs typeface="Calibri"/>
                <a:sym typeface="Calibri"/>
              </a:defRPr>
            </a:lvl2pPr>
            <a:lvl3pPr indent="-317500" lvl="2" marL="1371600" marR="0" rtl="0" algn="just">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3pPr>
            <a:lvl4pPr indent="-317500" lvl="3" marL="1828800" marR="0" rtl="0" algn="just">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just">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6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pos="295">
          <p15:clr>
            <a:srgbClr val="FBAE40"/>
          </p15:clr>
        </p15:guide>
        <p15:guide id="2" pos="5465">
          <p15:clr>
            <a:srgbClr val="FBAE40"/>
          </p15:clr>
        </p15:guide>
        <p15:guide id="3" orient="horz" pos="1800">
          <p15:clr>
            <a:srgbClr val="FBAE40"/>
          </p15:clr>
        </p15:guide>
        <p15:guide id="4" orient="horz" pos="507">
          <p15:clr>
            <a:srgbClr val="FBAE40"/>
          </p15:clr>
        </p15:guide>
        <p15:guide id="5" orient="horz" pos="3320">
          <p15:clr>
            <a:srgbClr val="FBAE40"/>
          </p15:clr>
        </p15:guide>
        <p15:guide id="6" pos="288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_Subtema">
  <p:cSld name="Diapo_Subtema">
    <p:bg>
      <p:bgPr>
        <a:blipFill>
          <a:blip r:embed="rId2">
            <a:alphaModFix/>
          </a:blip>
          <a:stretch>
            <a:fillRect/>
          </a:stretch>
        </a:blipFill>
      </p:bgPr>
    </p:bg>
    <p:spTree>
      <p:nvGrpSpPr>
        <p:cNvPr id="44" name="Shape 44"/>
        <p:cNvGrpSpPr/>
        <p:nvPr/>
      </p:nvGrpSpPr>
      <p:grpSpPr>
        <a:xfrm>
          <a:off x="0" y="0"/>
          <a:ext cx="0" cy="0"/>
          <a:chOff x="0" y="0"/>
          <a:chExt cx="0" cy="0"/>
        </a:xfrm>
      </p:grpSpPr>
      <p:sp>
        <p:nvSpPr>
          <p:cNvPr id="45" name="Google Shape;45;p50"/>
          <p:cNvSpPr txBox="1"/>
          <p:nvPr>
            <p:ph idx="1" type="body"/>
          </p:nvPr>
        </p:nvSpPr>
        <p:spPr>
          <a:xfrm>
            <a:off x="468314" y="3714841"/>
            <a:ext cx="5543549" cy="8100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85000"/>
              </a:lnSpc>
              <a:spcBef>
                <a:spcPts val="0"/>
              </a:spcBef>
              <a:spcAft>
                <a:spcPts val="0"/>
              </a:spcAft>
              <a:buClr>
                <a:schemeClr val="lt1"/>
              </a:buClr>
              <a:buSzPts val="2800"/>
              <a:buFont typeface="Arial"/>
              <a:buNone/>
              <a:defRPr b="1" i="0" sz="2800" u="none" cap="none" strike="noStrike">
                <a:solidFill>
                  <a:schemeClr val="lt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pos="295">
          <p15:clr>
            <a:srgbClr val="FBAE40"/>
          </p15:clr>
        </p15:guide>
        <p15:guide id="2" pos="3787">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_Conclusiones">
  <p:cSld name="Diapo_Conclusiones">
    <p:bg>
      <p:bgPr>
        <a:blipFill>
          <a:blip r:embed="rId2">
            <a:alphaModFix/>
          </a:blip>
          <a:stretch>
            <a:fillRect/>
          </a:stretch>
        </a:blipFill>
      </p:bgPr>
    </p:bg>
    <p:spTree>
      <p:nvGrpSpPr>
        <p:cNvPr id="46" name="Shape 46"/>
        <p:cNvGrpSpPr/>
        <p:nvPr/>
      </p:nvGrpSpPr>
      <p:grpSpPr>
        <a:xfrm>
          <a:off x="0" y="0"/>
          <a:ext cx="0" cy="0"/>
          <a:chOff x="0" y="0"/>
          <a:chExt cx="0" cy="0"/>
        </a:xfrm>
      </p:grpSpPr>
      <p:sp>
        <p:nvSpPr>
          <p:cNvPr id="47" name="Google Shape;47;p51"/>
          <p:cNvSpPr/>
          <p:nvPr/>
        </p:nvSpPr>
        <p:spPr>
          <a:xfrm>
            <a:off x="503238" y="997483"/>
            <a:ext cx="1945800" cy="24929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FFFFFF"/>
              </a:buClr>
              <a:buSzPts val="1620"/>
              <a:buFont typeface="Calibri"/>
              <a:buNone/>
            </a:pPr>
            <a:r>
              <a:rPr b="1" i="0" lang="es-ES" sz="1620" u="none" cap="none" strike="noStrike">
                <a:solidFill>
                  <a:srgbClr val="FFFFFF"/>
                </a:solidFill>
                <a:latin typeface="Calibri"/>
                <a:ea typeface="Calibri"/>
                <a:cs typeface="Calibri"/>
                <a:sym typeface="Calibri"/>
              </a:rPr>
              <a:t>CONCLUSIONES</a:t>
            </a:r>
            <a:endParaRPr b="0" i="0" sz="1400" u="none" cap="none" strike="noStrike">
              <a:solidFill>
                <a:srgbClr val="000000"/>
              </a:solidFill>
              <a:latin typeface="Arial"/>
              <a:ea typeface="Arial"/>
              <a:cs typeface="Arial"/>
              <a:sym typeface="Arial"/>
            </a:endParaRPr>
          </a:p>
        </p:txBody>
      </p:sp>
      <p:pic>
        <p:nvPicPr>
          <p:cNvPr id="48" name="Google Shape;48;p51"/>
          <p:cNvPicPr preferRelativeResize="0"/>
          <p:nvPr/>
        </p:nvPicPr>
        <p:blipFill rotWithShape="1">
          <a:blip r:embed="rId3">
            <a:alphaModFix/>
          </a:blip>
          <a:srcRect b="0" l="0" r="0" t="0"/>
          <a:stretch/>
        </p:blipFill>
        <p:spPr>
          <a:xfrm>
            <a:off x="503239" y="573356"/>
            <a:ext cx="424127" cy="424127"/>
          </a:xfrm>
          <a:prstGeom prst="rect">
            <a:avLst/>
          </a:prstGeom>
          <a:noFill/>
          <a:ln>
            <a:noFill/>
          </a:ln>
        </p:spPr>
      </p:pic>
      <p:sp>
        <p:nvSpPr>
          <p:cNvPr id="49" name="Google Shape;49;p51"/>
          <p:cNvSpPr txBox="1"/>
          <p:nvPr>
            <p:ph idx="1" type="body"/>
          </p:nvPr>
        </p:nvSpPr>
        <p:spPr>
          <a:xfrm>
            <a:off x="927366" y="1670909"/>
            <a:ext cx="7713398" cy="3526566"/>
          </a:xfrm>
          <a:prstGeom prst="rect">
            <a:avLst/>
          </a:prstGeom>
          <a:noFill/>
          <a:ln>
            <a:noFill/>
          </a:ln>
        </p:spPr>
        <p:txBody>
          <a:bodyPr anchorCtr="0" anchor="t" bIns="0" lIns="0" spcFirstLastPara="1" rIns="0" wrap="square" tIns="0">
            <a:noAutofit/>
          </a:bodyPr>
          <a:lstStyle>
            <a:lvl1pPr indent="-342900" lvl="0" marL="457200" marR="0" rtl="0" algn="just">
              <a:lnSpc>
                <a:spcPct val="85000"/>
              </a:lnSpc>
              <a:spcBef>
                <a:spcPts val="0"/>
              </a:spcBef>
              <a:spcAft>
                <a:spcPts val="0"/>
              </a:spcAft>
              <a:buClr>
                <a:schemeClr val="lt1"/>
              </a:buClr>
              <a:buSzPts val="1800"/>
              <a:buFont typeface="Calibri"/>
              <a:buAutoNum type="arabicPeriod"/>
              <a:defRPr b="0" i="0" sz="1800" u="none" cap="none" strike="noStrike">
                <a:solidFill>
                  <a:schemeClr val="lt1"/>
                </a:solidFill>
                <a:latin typeface="Calibri"/>
                <a:ea typeface="Calibri"/>
                <a:cs typeface="Calibri"/>
                <a:sym typeface="Calibri"/>
              </a:defRPr>
            </a:lvl1pPr>
            <a:lvl2pPr indent="-406400" lvl="1" marL="914400" marR="0" rtl="0" algn="l">
              <a:lnSpc>
                <a:spcPct val="100000"/>
              </a:lnSpc>
              <a:spcBef>
                <a:spcPts val="12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orient="horz" pos="105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_Bibliografía">
  <p:cSld name="Diapo_Bibliografía">
    <p:bg>
      <p:bgPr>
        <a:blipFill>
          <a:blip r:embed="rId2">
            <a:alphaModFix/>
          </a:blip>
          <a:stretch>
            <a:fillRect/>
          </a:stretch>
        </a:blipFill>
      </p:bgPr>
    </p:bg>
    <p:spTree>
      <p:nvGrpSpPr>
        <p:cNvPr id="50" name="Shape 50"/>
        <p:cNvGrpSpPr/>
        <p:nvPr/>
      </p:nvGrpSpPr>
      <p:grpSpPr>
        <a:xfrm>
          <a:off x="0" y="0"/>
          <a:ext cx="0" cy="0"/>
          <a:chOff x="0" y="0"/>
          <a:chExt cx="0" cy="0"/>
        </a:xfrm>
      </p:grpSpPr>
      <p:sp>
        <p:nvSpPr>
          <p:cNvPr id="51" name="Google Shape;51;p52"/>
          <p:cNvSpPr/>
          <p:nvPr/>
        </p:nvSpPr>
        <p:spPr>
          <a:xfrm>
            <a:off x="503238" y="997483"/>
            <a:ext cx="1945800" cy="24929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FFFFFF"/>
              </a:buClr>
              <a:buSzPts val="1620"/>
              <a:buFont typeface="Calibri"/>
              <a:buNone/>
            </a:pPr>
            <a:r>
              <a:rPr b="1" i="0" lang="es-ES" sz="1620" u="none" cap="none" strike="noStrike">
                <a:solidFill>
                  <a:srgbClr val="FFFFFF"/>
                </a:solidFill>
                <a:latin typeface="Calibri"/>
                <a:ea typeface="Calibri"/>
                <a:cs typeface="Calibri"/>
                <a:sym typeface="Calibri"/>
              </a:rPr>
              <a:t>BIBLIOGRAFÍA</a:t>
            </a:r>
            <a:endParaRPr b="0" i="0" sz="1400" u="none" cap="none" strike="noStrike">
              <a:solidFill>
                <a:srgbClr val="000000"/>
              </a:solidFill>
              <a:latin typeface="Arial"/>
              <a:ea typeface="Arial"/>
              <a:cs typeface="Arial"/>
              <a:sym typeface="Arial"/>
            </a:endParaRPr>
          </a:p>
        </p:txBody>
      </p:sp>
      <p:pic>
        <p:nvPicPr>
          <p:cNvPr id="52" name="Google Shape;52;p52"/>
          <p:cNvPicPr preferRelativeResize="0"/>
          <p:nvPr/>
        </p:nvPicPr>
        <p:blipFill rotWithShape="1">
          <a:blip r:embed="rId3">
            <a:alphaModFix/>
          </a:blip>
          <a:srcRect b="0" l="0" r="0" t="0"/>
          <a:stretch/>
        </p:blipFill>
        <p:spPr>
          <a:xfrm>
            <a:off x="503239" y="573356"/>
            <a:ext cx="424127" cy="424127"/>
          </a:xfrm>
          <a:prstGeom prst="rect">
            <a:avLst/>
          </a:prstGeom>
          <a:noFill/>
          <a:ln>
            <a:noFill/>
          </a:ln>
        </p:spPr>
      </p:pic>
      <p:sp>
        <p:nvSpPr>
          <p:cNvPr id="53" name="Google Shape;53;p52"/>
          <p:cNvSpPr txBox="1"/>
          <p:nvPr>
            <p:ph idx="1" type="body"/>
          </p:nvPr>
        </p:nvSpPr>
        <p:spPr>
          <a:xfrm>
            <a:off x="927366" y="1670049"/>
            <a:ext cx="7713398" cy="3527425"/>
          </a:xfrm>
          <a:prstGeom prst="rect">
            <a:avLst/>
          </a:prstGeom>
          <a:noFill/>
          <a:ln>
            <a:noFill/>
          </a:ln>
        </p:spPr>
        <p:txBody>
          <a:bodyPr anchorCtr="0" anchor="t" bIns="0" lIns="0" spcFirstLastPara="1" rIns="0" wrap="square" tIns="0">
            <a:noAutofit/>
          </a:bodyPr>
          <a:lstStyle>
            <a:lvl1pPr indent="-342900" lvl="0" marL="457200" marR="0" rtl="0" algn="just">
              <a:lnSpc>
                <a:spcPct val="85000"/>
              </a:lnSpc>
              <a:spcBef>
                <a:spcPts val="0"/>
              </a:spcBef>
              <a:spcAft>
                <a:spcPts val="0"/>
              </a:spcAft>
              <a:buClr>
                <a:schemeClr val="lt1"/>
              </a:buClr>
              <a:buSzPts val="1800"/>
              <a:buFont typeface="Noto Sans Symbols"/>
              <a:buChar char="▪"/>
              <a:defRPr b="0" i="0" sz="1800" u="none" cap="none" strike="noStrike">
                <a:solidFill>
                  <a:schemeClr val="lt1"/>
                </a:solidFill>
                <a:latin typeface="Calibri"/>
                <a:ea typeface="Calibri"/>
                <a:cs typeface="Calibri"/>
                <a:sym typeface="Calibri"/>
              </a:defRPr>
            </a:lvl1pPr>
            <a:lvl2pPr indent="-406400" lvl="1" marL="914400" marR="0" rtl="0" algn="l">
              <a:lnSpc>
                <a:spcPct val="100000"/>
              </a:lnSpc>
              <a:spcBef>
                <a:spcPts val="12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orient="horz" pos="1052">
          <p15:clr>
            <a:srgbClr val="FBAE40"/>
          </p15:clr>
        </p15:guide>
      </p15:sldGuideLst>
    </p:ext>
  </p:extLs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4" Type="http://schemas.openxmlformats.org/officeDocument/2006/relationships/theme" Target="../theme/theme2.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grpSp>
        <p:nvGrpSpPr>
          <p:cNvPr id="10" name="Google Shape;10;p40"/>
          <p:cNvGrpSpPr/>
          <p:nvPr/>
        </p:nvGrpSpPr>
        <p:grpSpPr>
          <a:xfrm>
            <a:off x="793745" y="5369051"/>
            <a:ext cx="8104595" cy="215444"/>
            <a:chOff x="793745" y="5369051"/>
            <a:chExt cx="7954689" cy="215444"/>
          </a:xfrm>
        </p:grpSpPr>
        <p:sp>
          <p:nvSpPr>
            <p:cNvPr id="11" name="Google Shape;11;p40"/>
            <p:cNvSpPr txBox="1"/>
            <p:nvPr/>
          </p:nvSpPr>
          <p:spPr>
            <a:xfrm>
              <a:off x="793745" y="5369051"/>
              <a:ext cx="2133782" cy="2154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s-ES" sz="800" u="none" cap="none" strike="noStrike">
                  <a:solidFill>
                    <a:srgbClr val="7F7F7F"/>
                  </a:solidFill>
                  <a:latin typeface="Calibri"/>
                  <a:ea typeface="Calibri"/>
                  <a:cs typeface="Calibri"/>
                  <a:sym typeface="Calibri"/>
                </a:rPr>
                <a:t>ANÁLISIS Y DISEÑO DE SISTEMAS II  •  SESIÓN 01</a:t>
              </a:r>
              <a:endParaRPr b="0" i="0" sz="800" u="none" cap="none" strike="noStrike">
                <a:solidFill>
                  <a:srgbClr val="7F7F7F"/>
                </a:solidFill>
                <a:latin typeface="Calibri"/>
                <a:ea typeface="Calibri"/>
                <a:cs typeface="Calibri"/>
                <a:sym typeface="Calibri"/>
              </a:endParaRPr>
            </a:p>
          </p:txBody>
        </p:sp>
        <p:sp>
          <p:nvSpPr>
            <p:cNvPr id="12" name="Google Shape;12;p40"/>
            <p:cNvSpPr/>
            <p:nvPr/>
          </p:nvSpPr>
          <p:spPr>
            <a:xfrm>
              <a:off x="7207627" y="5384440"/>
              <a:ext cx="1540807" cy="184666"/>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600"/>
                <a:buFont typeface="Arial"/>
                <a:buNone/>
              </a:pPr>
              <a:r>
                <a:rPr b="0" i="0" lang="es-ES" sz="600" u="none" cap="none" strike="noStrike">
                  <a:solidFill>
                    <a:srgbClr val="7F7F7F"/>
                  </a:solidFill>
                  <a:latin typeface="Calibri"/>
                  <a:ea typeface="Calibri"/>
                  <a:cs typeface="Calibri"/>
                  <a:sym typeface="Calibri"/>
                </a:rPr>
                <a:t>© 2023 ISIL. Todos los derechos reservados</a:t>
              </a:r>
              <a:endParaRPr b="0" i="0" sz="1400" u="none" cap="none" strike="noStrike">
                <a:solidFill>
                  <a:srgbClr val="000000"/>
                </a:solidFill>
                <a:latin typeface="Arial"/>
                <a:ea typeface="Arial"/>
                <a:cs typeface="Arial"/>
                <a:sym typeface="Arial"/>
              </a:endParaRPr>
            </a:p>
          </p:txBody>
        </p:sp>
      </p:grpSp>
      <p:pic>
        <p:nvPicPr>
          <p:cNvPr id="13" name="Google Shape;13;p40"/>
          <p:cNvPicPr preferRelativeResize="0"/>
          <p:nvPr/>
        </p:nvPicPr>
        <p:blipFill rotWithShape="1">
          <a:blip r:embed="rId1">
            <a:alphaModFix amt="20000"/>
          </a:blip>
          <a:srcRect b="0" l="0" r="0" t="0"/>
          <a:stretch/>
        </p:blipFill>
        <p:spPr>
          <a:xfrm>
            <a:off x="345172" y="5328911"/>
            <a:ext cx="448573" cy="25075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800">
          <p15:clr>
            <a:srgbClr val="F26B43"/>
          </p15:clr>
        </p15:guide>
        <p15:guide id="2" pos="288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1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2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2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2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2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 Id="rId3"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 Id="rId3" Type="http://schemas.openxmlformats.org/officeDocument/2006/relationships/image" Target="../media/image2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 Id="rId3" Type="http://schemas.openxmlformats.org/officeDocument/2006/relationships/image" Target="../media/image2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 Id="rId3" Type="http://schemas.openxmlformats.org/officeDocument/2006/relationships/image" Target="../media/image2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 Id="rId3" Type="http://schemas.openxmlformats.org/officeDocument/2006/relationships/image" Target="../media/image2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 Id="rId3" Type="http://schemas.openxmlformats.org/officeDocument/2006/relationships/image" Target="../media/image2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 Id="rId3" Type="http://schemas.openxmlformats.org/officeDocument/2006/relationships/image" Target="../media/image3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 Id="rId3" Type="http://schemas.openxmlformats.org/officeDocument/2006/relationships/image" Target="../media/image3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 Id="rId3" Type="http://schemas.openxmlformats.org/officeDocument/2006/relationships/image" Target="../media/image3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 Id="rId3" Type="http://schemas.openxmlformats.org/officeDocument/2006/relationships/image" Target="../media/image3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 Id="rId3" Type="http://schemas.openxmlformats.org/officeDocument/2006/relationships/image" Target="../media/image2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 Id="rId3" Type="http://schemas.openxmlformats.org/officeDocument/2006/relationships/image" Target="../media/image3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5.xml"/><Relationship Id="rId3" Type="http://schemas.openxmlformats.org/officeDocument/2006/relationships/image" Target="../media/image3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6.xml"/><Relationship Id="rId3" Type="http://schemas.openxmlformats.org/officeDocument/2006/relationships/image" Target="../media/image3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7.xml"/><Relationship Id="rId3" Type="http://schemas.openxmlformats.org/officeDocument/2006/relationships/image" Target="../media/image3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 Id="rId3" Type="http://schemas.openxmlformats.org/officeDocument/2006/relationships/hyperlink" Target="https://www.infoworld.com/category/software-architecture/" TargetMode="External"/><Relationship Id="rId4" Type="http://schemas.openxmlformats.org/officeDocument/2006/relationships/hyperlink" Target="https://martinfowler.com/" TargetMode="External"/><Relationship Id="rId5" Type="http://schemas.openxmlformats.org/officeDocument/2006/relationships/hyperlink" Target="https://www.udacity.com/course/software-architecture-design--ud821"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
          <p:cNvSpPr/>
          <p:nvPr/>
        </p:nvSpPr>
        <p:spPr>
          <a:xfrm>
            <a:off x="0" y="14248"/>
            <a:ext cx="9144000" cy="5715000"/>
          </a:xfrm>
          <a:prstGeom prst="rect">
            <a:avLst/>
          </a:prstGeom>
          <a:solidFill>
            <a:srgbClr val="1F85A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Calibri"/>
              <a:ea typeface="Calibri"/>
              <a:cs typeface="Calibri"/>
              <a:sym typeface="Calibri"/>
            </a:endParaRPr>
          </a:p>
        </p:txBody>
      </p:sp>
      <p:sp>
        <p:nvSpPr>
          <p:cNvPr id="60" name="Google Shape;60;p1"/>
          <p:cNvSpPr txBox="1"/>
          <p:nvPr/>
        </p:nvSpPr>
        <p:spPr>
          <a:xfrm>
            <a:off x="2088505" y="1653293"/>
            <a:ext cx="87315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Calibri"/>
              <a:buNone/>
            </a:pPr>
            <a:r>
              <a:rPr b="0" i="0" lang="es-ES" sz="1800" u="none" cap="none" strike="noStrike">
                <a:solidFill>
                  <a:schemeClr val="lt1"/>
                </a:solidFill>
                <a:latin typeface="Calibri"/>
                <a:ea typeface="Calibri"/>
                <a:cs typeface="Calibri"/>
                <a:sym typeface="Calibri"/>
              </a:rPr>
              <a:t>SESIÓN</a:t>
            </a:r>
            <a:endParaRPr b="0" i="0" sz="1800" u="none" cap="none" strike="noStrike">
              <a:solidFill>
                <a:schemeClr val="dk1"/>
              </a:solidFill>
              <a:latin typeface="Calibri"/>
              <a:ea typeface="Calibri"/>
              <a:cs typeface="Calibri"/>
              <a:sym typeface="Calibri"/>
            </a:endParaRPr>
          </a:p>
        </p:txBody>
      </p:sp>
      <p:sp>
        <p:nvSpPr>
          <p:cNvPr id="61" name="Google Shape;61;p1"/>
          <p:cNvSpPr txBox="1"/>
          <p:nvPr/>
        </p:nvSpPr>
        <p:spPr>
          <a:xfrm>
            <a:off x="2051281" y="1730819"/>
            <a:ext cx="964250" cy="10156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5800"/>
              <a:buFont typeface="Calibri"/>
              <a:buNone/>
            </a:pPr>
            <a:r>
              <a:rPr b="0" i="0" lang="es-ES" sz="5800" u="none" cap="none" strike="noStrike">
                <a:solidFill>
                  <a:srgbClr val="FFFFFF"/>
                </a:solidFill>
                <a:latin typeface="Calibri"/>
                <a:ea typeface="Calibri"/>
                <a:cs typeface="Calibri"/>
                <a:sym typeface="Calibri"/>
              </a:rPr>
              <a:t>01</a:t>
            </a:r>
            <a:endParaRPr b="0" i="0" sz="1800" u="none" cap="none" strike="noStrike">
              <a:solidFill>
                <a:schemeClr val="dk1"/>
              </a:solidFill>
              <a:latin typeface="Calibri"/>
              <a:ea typeface="Calibri"/>
              <a:cs typeface="Calibri"/>
              <a:sym typeface="Calibri"/>
            </a:endParaRPr>
          </a:p>
        </p:txBody>
      </p:sp>
      <p:sp>
        <p:nvSpPr>
          <p:cNvPr id="62" name="Google Shape;62;p1"/>
          <p:cNvSpPr txBox="1"/>
          <p:nvPr/>
        </p:nvSpPr>
        <p:spPr>
          <a:xfrm>
            <a:off x="3175138" y="1422481"/>
            <a:ext cx="5422704" cy="1200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s-ES" sz="3600" u="none" cap="none" strike="noStrike">
                <a:solidFill>
                  <a:schemeClr val="lt1"/>
                </a:solidFill>
                <a:latin typeface="Calibri"/>
                <a:ea typeface="Calibri"/>
                <a:cs typeface="Calibri"/>
                <a:sym typeface="Calibri"/>
              </a:rPr>
              <a:t>INTRODUCCIÓN AL DISEÑO DE SISTEMAS</a:t>
            </a:r>
            <a:endParaRPr b="1" i="0" sz="3600" u="none" cap="none" strike="noStrike">
              <a:solidFill>
                <a:schemeClr val="lt1"/>
              </a:solidFill>
              <a:latin typeface="Calibri"/>
              <a:ea typeface="Calibri"/>
              <a:cs typeface="Calibri"/>
              <a:sym typeface="Calibri"/>
            </a:endParaRPr>
          </a:p>
        </p:txBody>
      </p:sp>
      <p:sp>
        <p:nvSpPr>
          <p:cNvPr id="63" name="Google Shape;63;p1"/>
          <p:cNvSpPr txBox="1"/>
          <p:nvPr/>
        </p:nvSpPr>
        <p:spPr>
          <a:xfrm>
            <a:off x="3175138" y="2996279"/>
            <a:ext cx="5026425" cy="1107955"/>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lt1"/>
              </a:buClr>
              <a:buSzPts val="1600"/>
              <a:buFont typeface="Arial"/>
              <a:buChar char="•"/>
            </a:pPr>
            <a:r>
              <a:rPr b="0" i="0" lang="es-ES" sz="1600" u="none" cap="none" strike="noStrike">
                <a:solidFill>
                  <a:schemeClr val="lt1"/>
                </a:solidFill>
                <a:latin typeface="Calibri"/>
                <a:ea typeface="Calibri"/>
                <a:cs typeface="Calibri"/>
                <a:sym typeface="Calibri"/>
              </a:rPr>
              <a:t>Conceptos de diseño de sistemas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lt1"/>
              </a:buClr>
              <a:buSzPts val="1600"/>
              <a:buFont typeface="Arial"/>
              <a:buChar char="•"/>
            </a:pPr>
            <a:r>
              <a:rPr b="0" i="0" lang="es-ES" sz="1600" u="none" cap="none" strike="noStrike">
                <a:solidFill>
                  <a:schemeClr val="lt1"/>
                </a:solidFill>
                <a:latin typeface="Calibri"/>
                <a:ea typeface="Calibri"/>
                <a:cs typeface="Calibri"/>
                <a:sym typeface="Calibri"/>
              </a:rPr>
              <a:t>Buenas prácticas de diseño de sistemas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lt1"/>
              </a:buClr>
              <a:buSzPts val="1600"/>
              <a:buFont typeface="Arial"/>
              <a:buChar char="•"/>
            </a:pPr>
            <a:r>
              <a:rPr b="0" i="0" lang="es-ES" sz="1600" u="none" cap="none" strike="noStrike">
                <a:solidFill>
                  <a:schemeClr val="lt1"/>
                </a:solidFill>
                <a:latin typeface="Calibri"/>
                <a:ea typeface="Calibri"/>
                <a:cs typeface="Calibri"/>
                <a:sym typeface="Calibri"/>
              </a:rPr>
              <a:t>Diseño de la arquitectura del sistema</a:t>
            </a:r>
            <a:endParaRPr b="0" i="0" sz="1400" u="none" cap="none" strike="noStrike">
              <a:solidFill>
                <a:srgbClr val="000000"/>
              </a:solidFill>
              <a:latin typeface="Arial"/>
              <a:ea typeface="Arial"/>
              <a:cs typeface="Arial"/>
              <a:sym typeface="Arial"/>
            </a:endParaRPr>
          </a:p>
          <a:p>
            <a:pPr indent="-184150" lvl="0" marL="285750" marR="0" rtl="0" algn="l">
              <a:lnSpc>
                <a:spcPct val="100000"/>
              </a:lnSpc>
              <a:spcBef>
                <a:spcPts val="0"/>
              </a:spcBef>
              <a:spcAft>
                <a:spcPts val="0"/>
              </a:spcAft>
              <a:buClr>
                <a:schemeClr val="lt1"/>
              </a:buClr>
              <a:buSzPts val="1600"/>
              <a:buFont typeface="Arial"/>
              <a:buNone/>
            </a:pPr>
            <a:r>
              <a:t/>
            </a:r>
            <a:endParaRPr b="0" i="0" sz="1800" u="none" cap="none" strike="noStrike">
              <a:solidFill>
                <a:schemeClr val="dk1"/>
              </a:solidFill>
              <a:latin typeface="Calibri"/>
              <a:ea typeface="Calibri"/>
              <a:cs typeface="Calibri"/>
              <a:sym typeface="Calibri"/>
            </a:endParaRPr>
          </a:p>
        </p:txBody>
      </p:sp>
      <p:cxnSp>
        <p:nvCxnSpPr>
          <p:cNvPr id="64" name="Google Shape;64;p1"/>
          <p:cNvCxnSpPr/>
          <p:nvPr/>
        </p:nvCxnSpPr>
        <p:spPr>
          <a:xfrm>
            <a:off x="3056456" y="1777107"/>
            <a:ext cx="0" cy="720031"/>
          </a:xfrm>
          <a:prstGeom prst="straightConnector1">
            <a:avLst/>
          </a:prstGeom>
          <a:noFill/>
          <a:ln cap="flat" cmpd="sng" w="25400">
            <a:solidFill>
              <a:srgbClr val="FFFFFF"/>
            </a:solidFill>
            <a:prstDash val="solid"/>
            <a:round/>
            <a:headEnd len="sm" w="sm" type="none"/>
            <a:tailEnd len="sm" w="sm" type="none"/>
          </a:ln>
        </p:spPr>
      </p:cxnSp>
      <p:sp>
        <p:nvSpPr>
          <p:cNvPr id="65" name="Google Shape;65;p1"/>
          <p:cNvSpPr/>
          <p:nvPr/>
        </p:nvSpPr>
        <p:spPr>
          <a:xfrm>
            <a:off x="3289191" y="2568993"/>
            <a:ext cx="3672000" cy="193899"/>
          </a:xfrm>
          <a:prstGeom prst="rect">
            <a:avLst/>
          </a:prstGeom>
          <a:solidFill>
            <a:schemeClr val="lt1"/>
          </a:solid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F85A6"/>
              </a:buClr>
              <a:buSzPts val="1400"/>
              <a:buFont typeface="Calibri"/>
              <a:buNone/>
            </a:pPr>
            <a:r>
              <a:rPr b="1" i="0" lang="es-ES" sz="1400" u="none" cap="none" strike="noStrike">
                <a:solidFill>
                  <a:srgbClr val="1F85A6"/>
                </a:solidFill>
                <a:latin typeface="Calibri"/>
                <a:ea typeface="Calibri"/>
                <a:cs typeface="Calibri"/>
                <a:sym typeface="Calibri"/>
              </a:rPr>
              <a:t>UNIDAD DE APRENDIZAJE 1 – UA1</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2"/>
          <p:cNvSpPr/>
          <p:nvPr/>
        </p:nvSpPr>
        <p:spPr>
          <a:xfrm>
            <a:off x="407875" y="320830"/>
            <a:ext cx="7204493" cy="35394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38AD7"/>
              </a:buClr>
              <a:buSzPts val="1700"/>
              <a:buFont typeface="Calibri"/>
              <a:buNone/>
            </a:pPr>
            <a:r>
              <a:rPr b="0" i="0" lang="es-ES" sz="1700" u="none" cap="none" strike="noStrike">
                <a:solidFill>
                  <a:srgbClr val="438AD7"/>
                </a:solidFill>
                <a:latin typeface="Calibri"/>
                <a:ea typeface="Calibri"/>
                <a:cs typeface="Calibri"/>
                <a:sym typeface="Calibri"/>
              </a:rPr>
              <a:t>/ INTRODUCCIÓN</a:t>
            </a:r>
            <a:endParaRPr b="0" i="0" sz="1800" u="none" cap="none" strike="noStrike">
              <a:solidFill>
                <a:schemeClr val="dk1"/>
              </a:solidFill>
              <a:latin typeface="Calibri"/>
              <a:ea typeface="Calibri"/>
              <a:cs typeface="Calibri"/>
              <a:sym typeface="Calibri"/>
            </a:endParaRPr>
          </a:p>
        </p:txBody>
      </p:sp>
      <p:sp>
        <p:nvSpPr>
          <p:cNvPr id="72" name="Google Shape;72;p2"/>
          <p:cNvSpPr txBox="1"/>
          <p:nvPr/>
        </p:nvSpPr>
        <p:spPr>
          <a:xfrm>
            <a:off x="679744" y="753134"/>
            <a:ext cx="7784512" cy="356393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s-ES" sz="1600" u="none" cap="none" strike="noStrike">
                <a:solidFill>
                  <a:schemeClr val="dk1"/>
                </a:solidFill>
                <a:latin typeface="Calibri"/>
                <a:ea typeface="Calibri"/>
                <a:cs typeface="Calibri"/>
                <a:sym typeface="Calibri"/>
              </a:rPr>
              <a:t>El diseño de sistemas de información es una parte fundamental del desarrollo de sistemas de información. Es el proceso que toma los requisitos del sistema, definidos en el análisis de sistemas, y los convierte en una especificación detallada de cómo se construirá el sistema.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600"/>
              </a:spcBef>
              <a:spcAft>
                <a:spcPts val="0"/>
              </a:spcAft>
              <a:buClr>
                <a:srgbClr val="000000"/>
              </a:buClr>
              <a:buSzPts val="1600"/>
              <a:buFont typeface="Arial"/>
              <a:buNone/>
            </a:pPr>
            <a:r>
              <a:rPr b="0" i="0" lang="es-ES" sz="1600" u="none" cap="none" strike="noStrike">
                <a:solidFill>
                  <a:schemeClr val="dk1"/>
                </a:solidFill>
                <a:latin typeface="Calibri"/>
                <a:ea typeface="Calibri"/>
                <a:cs typeface="Calibri"/>
                <a:sym typeface="Calibri"/>
              </a:rPr>
              <a:t>Entonces, durante esta sesión:</a:t>
            </a:r>
            <a:endParaRPr b="0" i="0" sz="1400" u="none" cap="none" strike="noStrike">
              <a:solidFill>
                <a:srgbClr val="000000"/>
              </a:solidFill>
              <a:latin typeface="Arial"/>
              <a:ea typeface="Arial"/>
              <a:cs typeface="Arial"/>
              <a:sym typeface="Arial"/>
            </a:endParaRPr>
          </a:p>
          <a:p>
            <a:pPr indent="0" lvl="1" marL="457200" marR="0" rtl="0" algn="l">
              <a:lnSpc>
                <a:spcPct val="100000"/>
              </a:lnSpc>
              <a:spcBef>
                <a:spcPts val="600"/>
              </a:spcBef>
              <a:spcAft>
                <a:spcPts val="0"/>
              </a:spcAft>
              <a:buClr>
                <a:srgbClr val="000000"/>
              </a:buClr>
              <a:buSzPts val="1600"/>
              <a:buFont typeface="Arial"/>
              <a:buNone/>
            </a:pPr>
            <a:r>
              <a:rPr b="1" i="0" lang="es-ES" sz="1600" u="none" cap="none" strike="noStrike">
                <a:solidFill>
                  <a:schemeClr val="dk1"/>
                </a:solidFill>
                <a:latin typeface="Calibri"/>
                <a:ea typeface="Calibri"/>
                <a:cs typeface="Calibri"/>
                <a:sym typeface="Calibri"/>
              </a:rPr>
              <a:t>Conocerás</a:t>
            </a:r>
            <a:r>
              <a:rPr b="0" i="0" lang="es-ES" sz="1600" u="none" cap="none" strike="noStrike">
                <a:solidFill>
                  <a:schemeClr val="dk1"/>
                </a:solidFill>
                <a:latin typeface="Calibri"/>
                <a:ea typeface="Calibri"/>
                <a:cs typeface="Calibri"/>
                <a:sym typeface="Calibri"/>
              </a:rPr>
              <a:t> los principales conceptos de diseño de sistemas.</a:t>
            </a:r>
            <a:endParaRPr b="0" i="0" sz="1400" u="none" cap="none" strike="noStrike">
              <a:solidFill>
                <a:srgbClr val="000000"/>
              </a:solidFill>
              <a:latin typeface="Arial"/>
              <a:ea typeface="Arial"/>
              <a:cs typeface="Arial"/>
              <a:sym typeface="Arial"/>
            </a:endParaRPr>
          </a:p>
          <a:p>
            <a:pPr indent="0" lvl="1" marL="457200" marR="0" rtl="0" algn="l">
              <a:lnSpc>
                <a:spcPct val="100000"/>
              </a:lnSpc>
              <a:spcBef>
                <a:spcPts val="600"/>
              </a:spcBef>
              <a:spcAft>
                <a:spcPts val="0"/>
              </a:spcAft>
              <a:buClr>
                <a:srgbClr val="000000"/>
              </a:buClr>
              <a:buSzPts val="1600"/>
              <a:buFont typeface="Arial"/>
              <a:buNone/>
            </a:pPr>
            <a:r>
              <a:rPr b="1" i="0" lang="es-ES" sz="1600" u="none" cap="none" strike="noStrike">
                <a:solidFill>
                  <a:schemeClr val="dk1"/>
                </a:solidFill>
                <a:latin typeface="Calibri"/>
                <a:ea typeface="Calibri"/>
                <a:cs typeface="Calibri"/>
                <a:sym typeface="Calibri"/>
              </a:rPr>
              <a:t>Aprenderás</a:t>
            </a:r>
            <a:r>
              <a:rPr b="0" i="0" lang="es-ES" sz="1600" u="none" cap="none" strike="noStrike">
                <a:solidFill>
                  <a:schemeClr val="dk1"/>
                </a:solidFill>
                <a:latin typeface="Calibri"/>
                <a:ea typeface="Calibri"/>
                <a:cs typeface="Calibri"/>
                <a:sym typeface="Calibri"/>
              </a:rPr>
              <a:t> a usar buenas prácticas de diseño de sistemas en un proyecto de desarrollo de sistemas.</a:t>
            </a:r>
            <a:endParaRPr b="0" i="0" sz="1400" u="none" cap="none" strike="noStrike">
              <a:solidFill>
                <a:srgbClr val="000000"/>
              </a:solidFill>
              <a:latin typeface="Arial"/>
              <a:ea typeface="Arial"/>
              <a:cs typeface="Arial"/>
              <a:sym typeface="Arial"/>
            </a:endParaRPr>
          </a:p>
          <a:p>
            <a:pPr indent="0" lvl="1" marL="457200" marR="0" rtl="0" algn="l">
              <a:lnSpc>
                <a:spcPct val="100000"/>
              </a:lnSpc>
              <a:spcBef>
                <a:spcPts val="600"/>
              </a:spcBef>
              <a:spcAft>
                <a:spcPts val="600"/>
              </a:spcAft>
              <a:buClr>
                <a:srgbClr val="000000"/>
              </a:buClr>
              <a:buSzPts val="1600"/>
              <a:buFont typeface="Arial"/>
              <a:buNone/>
            </a:pPr>
            <a:r>
              <a:rPr b="1" i="0" lang="es-ES" sz="1600" u="none" cap="none" strike="noStrike">
                <a:solidFill>
                  <a:schemeClr val="dk1"/>
                </a:solidFill>
                <a:latin typeface="Calibri"/>
                <a:ea typeface="Calibri"/>
                <a:cs typeface="Calibri"/>
                <a:sym typeface="Calibri"/>
              </a:rPr>
              <a:t>Comprenderás </a:t>
            </a:r>
            <a:r>
              <a:rPr b="0" i="0" lang="es-ES" sz="1600" u="none" cap="none" strike="noStrike">
                <a:solidFill>
                  <a:schemeClr val="dk1"/>
                </a:solidFill>
                <a:latin typeface="Calibri"/>
                <a:ea typeface="Calibri"/>
                <a:cs typeface="Calibri"/>
                <a:sym typeface="Calibri"/>
              </a:rPr>
              <a:t>el alcance del diseño de la arquitectura del sistema.</a:t>
            </a:r>
            <a:endParaRPr b="0" i="0" sz="1600" u="none" cap="none" strike="noStrike">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3"/>
          <p:cNvSpPr/>
          <p:nvPr/>
        </p:nvSpPr>
        <p:spPr>
          <a:xfrm>
            <a:off x="0" y="0"/>
            <a:ext cx="9144000" cy="5715000"/>
          </a:xfrm>
          <a:prstGeom prst="rect">
            <a:avLst/>
          </a:prstGeom>
          <a:solidFill>
            <a:srgbClr val="1F85A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Calibri"/>
              <a:ea typeface="Calibri"/>
              <a:cs typeface="Calibri"/>
              <a:sym typeface="Calibri"/>
            </a:endParaRPr>
          </a:p>
        </p:txBody>
      </p:sp>
      <p:sp>
        <p:nvSpPr>
          <p:cNvPr id="79" name="Google Shape;79;p3"/>
          <p:cNvSpPr/>
          <p:nvPr/>
        </p:nvSpPr>
        <p:spPr>
          <a:xfrm>
            <a:off x="424252" y="3703125"/>
            <a:ext cx="7966170" cy="523180"/>
          </a:xfrm>
          <a:prstGeom prst="rect">
            <a:avLst/>
          </a:prstGeom>
          <a:noFill/>
          <a:ln>
            <a:noFill/>
          </a:ln>
        </p:spPr>
        <p:txBody>
          <a:bodyPr anchorCtr="0" anchor="t" bIns="45700" lIns="91425" spcFirstLastPara="1" rIns="91425" wrap="square" tIns="45700">
            <a:spAutoFit/>
          </a:bodyPr>
          <a:lstStyle/>
          <a:p>
            <a:pPr indent="-274638" lvl="0" marL="274638" marR="0" rtl="0" algn="l">
              <a:lnSpc>
                <a:spcPct val="100000"/>
              </a:lnSpc>
              <a:spcBef>
                <a:spcPts val="0"/>
              </a:spcBef>
              <a:spcAft>
                <a:spcPts val="0"/>
              </a:spcAft>
              <a:buClr>
                <a:srgbClr val="000000"/>
              </a:buClr>
              <a:buSzPts val="2800"/>
              <a:buFont typeface="Arial"/>
              <a:buNone/>
            </a:pPr>
            <a:r>
              <a:rPr b="1" i="0" lang="es-ES" sz="2800" u="none" cap="none" strike="noStrike">
                <a:solidFill>
                  <a:schemeClr val="lt1"/>
                </a:solidFill>
                <a:latin typeface="Calibri"/>
                <a:ea typeface="Calibri"/>
                <a:cs typeface="Calibri"/>
                <a:sym typeface="Calibri"/>
              </a:rPr>
              <a:t>/ CONCEPTOS DE DISEÑO DE SISTEMAS</a:t>
            </a:r>
            <a:endParaRPr b="1" i="0" sz="1600" u="none" cap="none" strike="noStrike">
              <a:solidFill>
                <a:schemeClr val="lt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4"/>
          <p:cNvSpPr txBox="1"/>
          <p:nvPr>
            <p:ph idx="3" type="body"/>
          </p:nvPr>
        </p:nvSpPr>
        <p:spPr>
          <a:xfrm>
            <a:off x="475687"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CONCEPTOS DE DISEÑO DE SISTEMAS</a:t>
            </a:r>
            <a:endParaRPr/>
          </a:p>
        </p:txBody>
      </p:sp>
      <p:pic>
        <p:nvPicPr>
          <p:cNvPr id="86" name="Google Shape;86;p4"/>
          <p:cNvPicPr preferRelativeResize="0"/>
          <p:nvPr>
            <p:ph idx="2" type="pic"/>
          </p:nvPr>
        </p:nvPicPr>
        <p:blipFill rotWithShape="1">
          <a:blip r:embed="rId3">
            <a:alphaModFix/>
          </a:blip>
          <a:srcRect b="13357" l="0" r="0" t="13357"/>
          <a:stretch/>
        </p:blipFill>
        <p:spPr>
          <a:xfrm>
            <a:off x="1156400" y="3129262"/>
            <a:ext cx="6831200" cy="1992585"/>
          </a:xfrm>
          <a:prstGeom prst="rect">
            <a:avLst/>
          </a:prstGeom>
          <a:noFill/>
          <a:ln>
            <a:noFill/>
          </a:ln>
        </p:spPr>
      </p:pic>
      <p:sp>
        <p:nvSpPr>
          <p:cNvPr id="87" name="Google Shape;87;p4"/>
          <p:cNvSpPr txBox="1"/>
          <p:nvPr>
            <p:ph idx="4" type="body"/>
          </p:nvPr>
        </p:nvSpPr>
        <p:spPr>
          <a:xfrm>
            <a:off x="475687" y="1169422"/>
            <a:ext cx="8200800" cy="16920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El diseño de sistemas es como el “plano” en la construcción de un edificio. Si tienes un diseño sólido desde el principio, te ahorrarás muchos problemas más adelante. </a:t>
            </a:r>
            <a:endParaRPr/>
          </a:p>
          <a:p>
            <a:pPr indent="-266700" lvl="0" marL="266700" rtl="0" algn="l">
              <a:lnSpc>
                <a:spcPct val="100000"/>
              </a:lnSpc>
              <a:spcBef>
                <a:spcPts val="600"/>
              </a:spcBef>
              <a:spcAft>
                <a:spcPts val="0"/>
              </a:spcAft>
              <a:buClr>
                <a:schemeClr val="dk1"/>
              </a:buClr>
              <a:buSzPts val="1200"/>
              <a:buChar char="❑"/>
            </a:pPr>
            <a:r>
              <a:rPr lang="es-ES"/>
              <a:t>En esta fase, se toman las especificaciones y requisitos identificados y se traducen en una “arquitectura” que los desarrolladores pueden implementar.</a:t>
            </a:r>
            <a:endParaRPr/>
          </a:p>
          <a:p>
            <a:pPr indent="-266700" lvl="0" marL="266700" rtl="0" algn="l">
              <a:lnSpc>
                <a:spcPct val="100000"/>
              </a:lnSpc>
              <a:spcBef>
                <a:spcPts val="600"/>
              </a:spcBef>
              <a:spcAft>
                <a:spcPts val="0"/>
              </a:spcAft>
              <a:buClr>
                <a:schemeClr val="dk1"/>
              </a:buClr>
              <a:buSzPts val="1200"/>
              <a:buChar char="❑"/>
            </a:pPr>
            <a:r>
              <a:rPr lang="es-ES"/>
              <a:t>Aquí es donde se toman decisiones sobre cómo se organizarán los datos, cómo se procesarán y cómo interactúan los diferentes componentes del sistema.</a:t>
            </a:r>
            <a:endParaRPr/>
          </a:p>
        </p:txBody>
      </p:sp>
      <p:sp>
        <p:nvSpPr>
          <p:cNvPr id="88" name="Google Shape;88;p4"/>
          <p:cNvSpPr txBox="1"/>
          <p:nvPr>
            <p:ph idx="1" type="body"/>
          </p:nvPr>
        </p:nvSpPr>
        <p:spPr>
          <a:xfrm>
            <a:off x="475687" y="804863"/>
            <a:ext cx="8207375"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EL DISEÑO DE SISTEMAS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5"/>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CONCEPTOS DE DISEÑO DE SISTEMAS</a:t>
            </a:r>
            <a:endParaRPr/>
          </a:p>
        </p:txBody>
      </p:sp>
      <p:sp>
        <p:nvSpPr>
          <p:cNvPr id="95" name="Google Shape;95;p5"/>
          <p:cNvSpPr txBox="1"/>
          <p:nvPr>
            <p:ph idx="4" type="body"/>
          </p:nvPr>
        </p:nvSpPr>
        <p:spPr>
          <a:xfrm>
            <a:off x="468313" y="1177927"/>
            <a:ext cx="4103687"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Es el esquema de alto nivel que muestra cómo se organizan los diferentes </a:t>
            </a:r>
            <a:r>
              <a:rPr b="1" lang="es-ES"/>
              <a:t>componentes del software</a:t>
            </a:r>
            <a:r>
              <a:rPr lang="es-ES"/>
              <a:t> y cómo interactúan entre sí.</a:t>
            </a:r>
            <a:endParaRPr/>
          </a:p>
          <a:p>
            <a:pPr indent="-266700" lvl="0" marL="266700" rtl="0" algn="l">
              <a:lnSpc>
                <a:spcPct val="100000"/>
              </a:lnSpc>
              <a:spcBef>
                <a:spcPts val="1200"/>
              </a:spcBef>
              <a:spcAft>
                <a:spcPts val="0"/>
              </a:spcAft>
              <a:buClr>
                <a:schemeClr val="dk1"/>
              </a:buClr>
              <a:buSzPts val="1200"/>
              <a:buChar char="❑"/>
            </a:pPr>
            <a:r>
              <a:rPr lang="es-ES"/>
              <a:t>Incluye la organización de módulos, la asignación de responsabilidades y la definición de interfaces y comunicaciones entre componentes.</a:t>
            </a:r>
            <a:endParaRPr/>
          </a:p>
          <a:p>
            <a:pPr indent="-266700" lvl="0" marL="266700" rtl="0" algn="l">
              <a:lnSpc>
                <a:spcPct val="100000"/>
              </a:lnSpc>
              <a:spcBef>
                <a:spcPts val="1200"/>
              </a:spcBef>
              <a:spcAft>
                <a:spcPts val="0"/>
              </a:spcAft>
              <a:buClr>
                <a:schemeClr val="dk1"/>
              </a:buClr>
              <a:buSzPts val="1050"/>
              <a:buChar char="❑"/>
            </a:pPr>
            <a:r>
              <a:rPr i="1" lang="es-ES" sz="1400" u="sng"/>
              <a:t>Ejemplo</a:t>
            </a:r>
            <a:r>
              <a:rPr i="1" lang="es-ES" sz="1400"/>
              <a:t>: </a:t>
            </a:r>
            <a:r>
              <a:rPr i="1" lang="es-ES" sz="1400">
                <a:solidFill>
                  <a:srgbClr val="7F7F7F"/>
                </a:solidFill>
              </a:rPr>
              <a:t>Imagina que estás construyendo un sistema de comercio electrónico. La arquitectura podría incluir un frontend para la interacción del usuario, un backend para el procesamiento de la lógica empresarial, una base de datos para almacenar información del producto y del usuario, y una API para manejar pagos.</a:t>
            </a:r>
            <a:endParaRPr/>
          </a:p>
        </p:txBody>
      </p:sp>
      <p:sp>
        <p:nvSpPr>
          <p:cNvPr id="96" name="Google Shape;96;p5"/>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ARQUITECTURA DEL SISTEMA</a:t>
            </a:r>
            <a:endParaRPr/>
          </a:p>
        </p:txBody>
      </p:sp>
      <p:pic>
        <p:nvPicPr>
          <p:cNvPr id="97" name="Google Shape;97;p5"/>
          <p:cNvPicPr preferRelativeResize="0"/>
          <p:nvPr>
            <p:ph idx="2" type="pic"/>
          </p:nvPr>
        </p:nvPicPr>
        <p:blipFill rotWithShape="1">
          <a:blip r:embed="rId3">
            <a:alphaModFix/>
          </a:blip>
          <a:srcRect b="374" l="0" r="0" t="372"/>
          <a:stretch/>
        </p:blipFill>
        <p:spPr>
          <a:xfrm>
            <a:off x="4572000" y="804863"/>
            <a:ext cx="4103688" cy="4463362"/>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6"/>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CONCEPTOS DE DISEÑO DE SISTEMAS</a:t>
            </a:r>
            <a:endParaRPr/>
          </a:p>
        </p:txBody>
      </p:sp>
      <p:pic>
        <p:nvPicPr>
          <p:cNvPr id="104" name="Google Shape;104;p6"/>
          <p:cNvPicPr preferRelativeResize="0"/>
          <p:nvPr>
            <p:ph idx="2" type="pic"/>
          </p:nvPr>
        </p:nvPicPr>
        <p:blipFill rotWithShape="1">
          <a:blip r:embed="rId3">
            <a:alphaModFix/>
          </a:blip>
          <a:srcRect b="0" l="4034" r="4035" t="0"/>
          <a:stretch/>
        </p:blipFill>
        <p:spPr>
          <a:xfrm>
            <a:off x="5103543" y="1163638"/>
            <a:ext cx="3322763" cy="3613992"/>
          </a:xfrm>
          <a:prstGeom prst="rect">
            <a:avLst/>
          </a:prstGeom>
          <a:noFill/>
          <a:ln>
            <a:noFill/>
          </a:ln>
        </p:spPr>
      </p:pic>
      <p:sp>
        <p:nvSpPr>
          <p:cNvPr id="105" name="Google Shape;105;p6"/>
          <p:cNvSpPr txBox="1"/>
          <p:nvPr>
            <p:ph idx="4" type="body"/>
          </p:nvPr>
        </p:nvSpPr>
        <p:spPr>
          <a:xfrm>
            <a:off x="468313" y="1177927"/>
            <a:ext cx="4103687"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La descomposición modular implica </a:t>
            </a:r>
            <a:r>
              <a:rPr b="1" lang="es-ES"/>
              <a:t>dividir un sistema complejo en partes más pequeñas y manejables</a:t>
            </a:r>
            <a:r>
              <a:rPr lang="es-ES"/>
              <a:t>, llamadas módulos.</a:t>
            </a:r>
            <a:endParaRPr/>
          </a:p>
          <a:p>
            <a:pPr indent="-266700" lvl="0" marL="266700" rtl="0" algn="l">
              <a:lnSpc>
                <a:spcPct val="100000"/>
              </a:lnSpc>
              <a:spcBef>
                <a:spcPts val="1200"/>
              </a:spcBef>
              <a:spcAft>
                <a:spcPts val="0"/>
              </a:spcAft>
              <a:buClr>
                <a:schemeClr val="dk1"/>
              </a:buClr>
              <a:buSzPts val="1200"/>
              <a:buChar char="❑"/>
            </a:pPr>
            <a:r>
              <a:rPr lang="es-ES"/>
              <a:t>Cada módulo se encarga de una funcionalidad específica y opera de manera independiente tanto como sea posible.</a:t>
            </a:r>
            <a:endParaRPr/>
          </a:p>
          <a:p>
            <a:pPr indent="-266700" lvl="0" marL="266700" rtl="0" algn="l">
              <a:lnSpc>
                <a:spcPct val="100000"/>
              </a:lnSpc>
              <a:spcBef>
                <a:spcPts val="1200"/>
              </a:spcBef>
              <a:spcAft>
                <a:spcPts val="0"/>
              </a:spcAft>
              <a:buClr>
                <a:schemeClr val="dk1"/>
              </a:buClr>
              <a:buSzPts val="1050"/>
              <a:buChar char="❑"/>
            </a:pPr>
            <a:r>
              <a:rPr i="1" lang="es-ES" sz="1400" u="sng"/>
              <a:t>Ejemplo</a:t>
            </a:r>
            <a:r>
              <a:rPr i="1" lang="es-ES" sz="1400"/>
              <a:t>: </a:t>
            </a:r>
            <a:r>
              <a:rPr i="1" lang="es-ES" sz="1400">
                <a:solidFill>
                  <a:srgbClr val="7F7F7F"/>
                </a:solidFill>
              </a:rPr>
              <a:t>En el mismo sistema de comercio electrónico, podrías tener módulos separados para manejar la autenticación de usuarios, el carrito de compras, la gestión de productos, y el procesamiento de pagos. Cada uno de estos módulos se desarrolla y se mantiene de forma independiente pero trabajan juntos para formar el sistema completo.</a:t>
            </a:r>
            <a:endParaRPr/>
          </a:p>
        </p:txBody>
      </p:sp>
      <p:sp>
        <p:nvSpPr>
          <p:cNvPr id="106" name="Google Shape;106;p6"/>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DESCOMPOSICIÓN MODULAR</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7"/>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CONCEPTOS DE DISEÑO DE SISTEMAS</a:t>
            </a:r>
            <a:endParaRPr/>
          </a:p>
        </p:txBody>
      </p:sp>
      <p:pic>
        <p:nvPicPr>
          <p:cNvPr id="113" name="Google Shape;113;p7"/>
          <p:cNvPicPr preferRelativeResize="0"/>
          <p:nvPr>
            <p:ph idx="2" type="pic"/>
          </p:nvPr>
        </p:nvPicPr>
        <p:blipFill rotWithShape="1">
          <a:blip r:embed="rId3">
            <a:alphaModFix/>
          </a:blip>
          <a:srcRect b="374" l="0" r="0" t="372"/>
          <a:stretch/>
        </p:blipFill>
        <p:spPr>
          <a:xfrm>
            <a:off x="4829696" y="984554"/>
            <a:ext cx="3422044" cy="3721974"/>
          </a:xfrm>
          <a:prstGeom prst="rect">
            <a:avLst/>
          </a:prstGeom>
          <a:noFill/>
          <a:ln>
            <a:noFill/>
          </a:ln>
        </p:spPr>
      </p:pic>
      <p:sp>
        <p:nvSpPr>
          <p:cNvPr id="114" name="Google Shape;114;p7"/>
          <p:cNvSpPr txBox="1"/>
          <p:nvPr>
            <p:ph idx="4" type="body"/>
          </p:nvPr>
        </p:nvSpPr>
        <p:spPr>
          <a:xfrm>
            <a:off x="468314" y="1177927"/>
            <a:ext cx="3845992"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La abstracción es el concepto de ignorar los detalles menos importantes para </a:t>
            </a:r>
            <a:r>
              <a:rPr b="1" lang="es-ES"/>
              <a:t>centrarse en las características esenciales</a:t>
            </a:r>
            <a:r>
              <a:rPr lang="es-ES"/>
              <a:t>. </a:t>
            </a:r>
            <a:endParaRPr/>
          </a:p>
          <a:p>
            <a:pPr indent="-266700" lvl="0" marL="266700" rtl="0" algn="l">
              <a:lnSpc>
                <a:spcPct val="100000"/>
              </a:lnSpc>
              <a:spcBef>
                <a:spcPts val="1200"/>
              </a:spcBef>
              <a:spcAft>
                <a:spcPts val="0"/>
              </a:spcAft>
              <a:buClr>
                <a:schemeClr val="dk1"/>
              </a:buClr>
              <a:buSzPts val="1200"/>
              <a:buChar char="❑"/>
            </a:pPr>
            <a:r>
              <a:rPr lang="es-ES"/>
              <a:t>Esto permite una comprensión más clara del sistema y facilita su diseño y mantenimiento.</a:t>
            </a:r>
            <a:endParaRPr/>
          </a:p>
          <a:p>
            <a:pPr indent="-266700" lvl="0" marL="266700" rtl="0" algn="l">
              <a:lnSpc>
                <a:spcPct val="100000"/>
              </a:lnSpc>
              <a:spcBef>
                <a:spcPts val="1200"/>
              </a:spcBef>
              <a:spcAft>
                <a:spcPts val="0"/>
              </a:spcAft>
              <a:buClr>
                <a:schemeClr val="dk1"/>
              </a:buClr>
              <a:buSzPts val="1050"/>
              <a:buChar char="❑"/>
            </a:pPr>
            <a:r>
              <a:rPr i="1" lang="es-ES" sz="1400" u="sng"/>
              <a:t>Ejemplo</a:t>
            </a:r>
            <a:r>
              <a:rPr i="1" lang="es-ES" sz="1400"/>
              <a:t>: </a:t>
            </a:r>
            <a:r>
              <a:rPr i="1" lang="es-ES" sz="1400">
                <a:solidFill>
                  <a:srgbClr val="7F7F7F"/>
                </a:solidFill>
              </a:rPr>
              <a:t>Cuando usas un auto, no necesitas saber cómo funciona exactamente el motor para poder conducir. El funcionamiento interno del motor es una abstracción que te permite centrarte en la tarea de conducir.</a:t>
            </a:r>
            <a:endParaRPr/>
          </a:p>
        </p:txBody>
      </p:sp>
      <p:sp>
        <p:nvSpPr>
          <p:cNvPr id="115" name="Google Shape;115;p7"/>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ABSTRACCIÓN</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8"/>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CONCEPTOS DE DISEÑO DE SISTEMAS</a:t>
            </a:r>
            <a:endParaRPr/>
          </a:p>
        </p:txBody>
      </p:sp>
      <p:pic>
        <p:nvPicPr>
          <p:cNvPr id="122" name="Google Shape;122;p8"/>
          <p:cNvPicPr preferRelativeResize="0"/>
          <p:nvPr>
            <p:ph idx="2" type="pic"/>
          </p:nvPr>
        </p:nvPicPr>
        <p:blipFill rotWithShape="1">
          <a:blip r:embed="rId3">
            <a:alphaModFix/>
          </a:blip>
          <a:srcRect b="374" l="0" r="0" t="372"/>
          <a:stretch/>
        </p:blipFill>
        <p:spPr>
          <a:xfrm>
            <a:off x="4995948" y="986632"/>
            <a:ext cx="3471921" cy="3776223"/>
          </a:xfrm>
          <a:prstGeom prst="rect">
            <a:avLst/>
          </a:prstGeom>
          <a:noFill/>
          <a:ln>
            <a:noFill/>
          </a:ln>
        </p:spPr>
      </p:pic>
      <p:sp>
        <p:nvSpPr>
          <p:cNvPr id="123" name="Google Shape;123;p8"/>
          <p:cNvSpPr txBox="1"/>
          <p:nvPr>
            <p:ph idx="4" type="body"/>
          </p:nvPr>
        </p:nvSpPr>
        <p:spPr>
          <a:xfrm>
            <a:off x="468313" y="1177927"/>
            <a:ext cx="4103687"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El encapsulamiento es una técnica de diseño de software que implica </a:t>
            </a:r>
            <a:r>
              <a:rPr b="1" lang="es-ES"/>
              <a:t>ocultar los detalles internos de un módulo</a:t>
            </a:r>
            <a:r>
              <a:rPr lang="es-ES"/>
              <a:t> y exponer sólo las operaciones que son seguras y relevantes para el resto del sistema. </a:t>
            </a:r>
            <a:endParaRPr/>
          </a:p>
          <a:p>
            <a:pPr indent="-266700" lvl="0" marL="266700" rtl="0" algn="l">
              <a:lnSpc>
                <a:spcPct val="100000"/>
              </a:lnSpc>
              <a:spcBef>
                <a:spcPts val="1200"/>
              </a:spcBef>
              <a:spcAft>
                <a:spcPts val="0"/>
              </a:spcAft>
              <a:buClr>
                <a:schemeClr val="dk1"/>
              </a:buClr>
              <a:buSzPts val="1200"/>
              <a:buChar char="❑"/>
            </a:pPr>
            <a:r>
              <a:rPr lang="es-ES"/>
              <a:t>Esto mejora la seguridad y la integridad de los datos.</a:t>
            </a:r>
            <a:endParaRPr/>
          </a:p>
          <a:p>
            <a:pPr indent="-266700" lvl="0" marL="266700" rtl="0" algn="l">
              <a:lnSpc>
                <a:spcPct val="100000"/>
              </a:lnSpc>
              <a:spcBef>
                <a:spcPts val="1200"/>
              </a:spcBef>
              <a:spcAft>
                <a:spcPts val="0"/>
              </a:spcAft>
              <a:buClr>
                <a:schemeClr val="dk1"/>
              </a:buClr>
              <a:buSzPts val="1050"/>
              <a:buChar char="❑"/>
            </a:pPr>
            <a:r>
              <a:rPr i="1" lang="es-ES" sz="1400" u="sng"/>
              <a:t>Ejemplo</a:t>
            </a:r>
            <a:r>
              <a:rPr i="1" lang="es-ES" sz="1400"/>
              <a:t>: </a:t>
            </a:r>
            <a:r>
              <a:rPr i="1" lang="es-ES" sz="1400">
                <a:solidFill>
                  <a:srgbClr val="7F7F7F"/>
                </a:solidFill>
              </a:rPr>
              <a:t>En una aplicación bancaria, el módulo que maneja las transacciones financieras encapsulan los detalles de cómo se realizan las transferencias de dinero entre cuentas. Solo expondrá métodos como </a:t>
            </a:r>
            <a:r>
              <a:rPr i="1" lang="es-ES" sz="1400">
                <a:solidFill>
                  <a:srgbClr val="0070C0"/>
                </a:solidFill>
              </a:rPr>
              <a:t>depositar()</a:t>
            </a:r>
            <a:r>
              <a:rPr i="1" lang="es-ES" sz="1400">
                <a:solidFill>
                  <a:srgbClr val="7F7F7F"/>
                </a:solidFill>
              </a:rPr>
              <a:t>, </a:t>
            </a:r>
            <a:r>
              <a:rPr i="1" lang="es-ES" sz="1400">
                <a:solidFill>
                  <a:srgbClr val="0070C0"/>
                </a:solidFill>
              </a:rPr>
              <a:t>retirar()</a:t>
            </a:r>
            <a:r>
              <a:rPr i="1" lang="es-ES" sz="1400">
                <a:solidFill>
                  <a:srgbClr val="7F7F7F"/>
                </a:solidFill>
              </a:rPr>
              <a:t> y </a:t>
            </a:r>
            <a:r>
              <a:rPr i="1" lang="es-ES" sz="1400">
                <a:solidFill>
                  <a:srgbClr val="0070C0"/>
                </a:solidFill>
              </a:rPr>
              <a:t>transferir()</a:t>
            </a:r>
            <a:r>
              <a:rPr i="1" lang="es-ES" sz="1400">
                <a:solidFill>
                  <a:srgbClr val="7F7F7F"/>
                </a:solidFill>
              </a:rPr>
              <a:t>, asegurando que los detalles internos no sean accesibles para el resto del sistema.</a:t>
            </a:r>
            <a:endParaRPr/>
          </a:p>
        </p:txBody>
      </p:sp>
      <p:sp>
        <p:nvSpPr>
          <p:cNvPr id="124" name="Google Shape;124;p8"/>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ENCAPSULAMIENTO</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9"/>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CONCEPTOS DE DISEÑO DE SISTEMAS</a:t>
            </a:r>
            <a:endParaRPr/>
          </a:p>
        </p:txBody>
      </p:sp>
      <p:pic>
        <p:nvPicPr>
          <p:cNvPr id="131" name="Google Shape;131;p9"/>
          <p:cNvPicPr preferRelativeResize="0"/>
          <p:nvPr>
            <p:ph idx="2" type="pic"/>
          </p:nvPr>
        </p:nvPicPr>
        <p:blipFill rotWithShape="1">
          <a:blip r:embed="rId3">
            <a:alphaModFix/>
          </a:blip>
          <a:srcRect b="374" l="0" r="0" t="372"/>
          <a:stretch/>
        </p:blipFill>
        <p:spPr>
          <a:xfrm>
            <a:off x="5120639" y="1163638"/>
            <a:ext cx="3471921" cy="3776223"/>
          </a:xfrm>
          <a:prstGeom prst="rect">
            <a:avLst/>
          </a:prstGeom>
          <a:noFill/>
          <a:ln>
            <a:noFill/>
          </a:ln>
        </p:spPr>
      </p:pic>
      <p:sp>
        <p:nvSpPr>
          <p:cNvPr id="132" name="Google Shape;132;p9"/>
          <p:cNvSpPr txBox="1"/>
          <p:nvPr>
            <p:ph idx="4" type="body"/>
          </p:nvPr>
        </p:nvSpPr>
        <p:spPr>
          <a:xfrm>
            <a:off x="468313" y="1177927"/>
            <a:ext cx="4103687"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La “Separación de Concerns” se refiere a la práctica de </a:t>
            </a:r>
            <a:r>
              <a:rPr b="1" lang="es-ES"/>
              <a:t>dividir un programa en distintas secciones</a:t>
            </a:r>
            <a:r>
              <a:rPr lang="es-ES"/>
              <a:t>, cada una de las cuales aborda un “concern” (preocupación o aspecto) específico. </a:t>
            </a:r>
            <a:endParaRPr/>
          </a:p>
          <a:p>
            <a:pPr indent="-266700" lvl="0" marL="266700" rtl="0" algn="l">
              <a:lnSpc>
                <a:spcPct val="100000"/>
              </a:lnSpc>
              <a:spcBef>
                <a:spcPts val="1200"/>
              </a:spcBef>
              <a:spcAft>
                <a:spcPts val="0"/>
              </a:spcAft>
              <a:buClr>
                <a:schemeClr val="dk1"/>
              </a:buClr>
              <a:buSzPts val="1200"/>
              <a:buChar char="❑"/>
            </a:pPr>
            <a:r>
              <a:rPr lang="es-ES"/>
              <a:t>Esto facilita la modularidad y hace que el código sea más fácil de entender, mantener y escalar.</a:t>
            </a:r>
            <a:endParaRPr/>
          </a:p>
          <a:p>
            <a:pPr indent="-266700" lvl="0" marL="266700" rtl="0" algn="l">
              <a:lnSpc>
                <a:spcPct val="100000"/>
              </a:lnSpc>
              <a:spcBef>
                <a:spcPts val="1200"/>
              </a:spcBef>
              <a:spcAft>
                <a:spcPts val="0"/>
              </a:spcAft>
              <a:buClr>
                <a:schemeClr val="dk1"/>
              </a:buClr>
              <a:buSzPts val="1050"/>
              <a:buChar char="❑"/>
            </a:pPr>
            <a:r>
              <a:rPr i="1" lang="es-ES" sz="1400" u="sng"/>
              <a:t>Ejemplo</a:t>
            </a:r>
            <a:r>
              <a:rPr i="1" lang="es-ES" sz="1400"/>
              <a:t>: </a:t>
            </a:r>
            <a:r>
              <a:rPr i="1" lang="es-ES" sz="1400">
                <a:solidFill>
                  <a:srgbClr val="7F7F7F"/>
                </a:solidFill>
              </a:rPr>
              <a:t>En una aplicación web, podrías separar los “concerns” en tres capas principales: la capa de presentación (frontend), la capa de lógica de negocio (backend) y la capa de datos (base de datos). Cada capa tiene responsabilidades específicas y no se mezclan entre sí.</a:t>
            </a:r>
            <a:endParaRPr/>
          </a:p>
        </p:txBody>
      </p:sp>
      <p:sp>
        <p:nvSpPr>
          <p:cNvPr id="133" name="Google Shape;133;p9"/>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SEPARACIÓN DE CONCERNS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10"/>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CONCEPTOS DE DISEÑO DE SISTEMAS</a:t>
            </a:r>
            <a:endParaRPr/>
          </a:p>
        </p:txBody>
      </p:sp>
      <p:pic>
        <p:nvPicPr>
          <p:cNvPr id="140" name="Google Shape;140;p10"/>
          <p:cNvPicPr preferRelativeResize="0"/>
          <p:nvPr>
            <p:ph idx="2" type="pic"/>
          </p:nvPr>
        </p:nvPicPr>
        <p:blipFill rotWithShape="1">
          <a:blip r:embed="rId3">
            <a:alphaModFix/>
          </a:blip>
          <a:srcRect b="374" l="0" r="0" t="372"/>
          <a:stretch/>
        </p:blipFill>
        <p:spPr>
          <a:xfrm>
            <a:off x="4572000" y="804863"/>
            <a:ext cx="4103688" cy="4463362"/>
          </a:xfrm>
          <a:prstGeom prst="rect">
            <a:avLst/>
          </a:prstGeom>
          <a:noFill/>
          <a:ln>
            <a:noFill/>
          </a:ln>
        </p:spPr>
      </p:pic>
      <p:sp>
        <p:nvSpPr>
          <p:cNvPr id="141" name="Google Shape;141;p10"/>
          <p:cNvSpPr txBox="1"/>
          <p:nvPr>
            <p:ph idx="4" type="body"/>
          </p:nvPr>
        </p:nvSpPr>
        <p:spPr>
          <a:xfrm>
            <a:off x="750945" y="1163638"/>
            <a:ext cx="3280727"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Los patrones de diseño </a:t>
            </a:r>
            <a:r>
              <a:rPr b="1" lang="es-ES"/>
              <a:t>son soluciones probadas a problemas comunes</a:t>
            </a:r>
            <a:r>
              <a:rPr lang="es-ES"/>
              <a:t> que se encuentran en el diseño de software. </a:t>
            </a:r>
            <a:endParaRPr/>
          </a:p>
          <a:p>
            <a:pPr indent="-266700" lvl="0" marL="266700" rtl="0" algn="l">
              <a:lnSpc>
                <a:spcPct val="100000"/>
              </a:lnSpc>
              <a:spcBef>
                <a:spcPts val="1200"/>
              </a:spcBef>
              <a:spcAft>
                <a:spcPts val="0"/>
              </a:spcAft>
              <a:buClr>
                <a:schemeClr val="dk1"/>
              </a:buClr>
              <a:buSzPts val="1200"/>
              <a:buChar char="❑"/>
            </a:pPr>
            <a:r>
              <a:rPr lang="es-ES"/>
              <a:t>Estos patrones ofrecen una estructura que puede ayudar a resolver problemas similares de manera más eficiente.</a:t>
            </a:r>
            <a:endParaRPr/>
          </a:p>
          <a:p>
            <a:pPr indent="-266700" lvl="0" marL="266700" rtl="0" algn="l">
              <a:lnSpc>
                <a:spcPct val="100000"/>
              </a:lnSpc>
              <a:spcBef>
                <a:spcPts val="1200"/>
              </a:spcBef>
              <a:spcAft>
                <a:spcPts val="0"/>
              </a:spcAft>
              <a:buClr>
                <a:schemeClr val="dk1"/>
              </a:buClr>
              <a:buSzPts val="1050"/>
              <a:buChar char="❑"/>
            </a:pPr>
            <a:r>
              <a:rPr i="1" lang="es-ES" sz="1400" u="sng"/>
              <a:t>Ejemplo</a:t>
            </a:r>
            <a:r>
              <a:rPr i="1" lang="es-ES" sz="1400"/>
              <a:t>: </a:t>
            </a:r>
            <a:r>
              <a:rPr i="1" lang="es-ES" sz="1400">
                <a:solidFill>
                  <a:srgbClr val="7F7F7F"/>
                </a:solidFill>
              </a:rPr>
              <a:t>El patrón “Singleton” asegura que una clase tenga solo una instancia y proporciona un punto de acceso global a ella. Esto es útil, por ejemplo, para un gestor de configuración en una aplicación, donde solo quieres una única instancia que maneje todas las configuraciones.</a:t>
            </a:r>
            <a:endParaRPr/>
          </a:p>
        </p:txBody>
      </p:sp>
      <p:sp>
        <p:nvSpPr>
          <p:cNvPr id="142" name="Google Shape;142;p10"/>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PATRONES DE DISEÑO</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1"/>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CONCEPTOS DE DISEÑO DE SISTEMAS</a:t>
            </a:r>
            <a:endParaRPr/>
          </a:p>
        </p:txBody>
      </p:sp>
      <p:pic>
        <p:nvPicPr>
          <p:cNvPr id="149" name="Google Shape;149;p11"/>
          <p:cNvPicPr preferRelativeResize="0"/>
          <p:nvPr>
            <p:ph idx="2" type="pic"/>
          </p:nvPr>
        </p:nvPicPr>
        <p:blipFill rotWithShape="1">
          <a:blip r:embed="rId3">
            <a:alphaModFix/>
          </a:blip>
          <a:srcRect b="0" l="4034" r="4035" t="0"/>
          <a:stretch/>
        </p:blipFill>
        <p:spPr>
          <a:xfrm>
            <a:off x="5154208" y="986632"/>
            <a:ext cx="3521478" cy="3830123"/>
          </a:xfrm>
          <a:prstGeom prst="rect">
            <a:avLst/>
          </a:prstGeom>
          <a:noFill/>
          <a:ln>
            <a:noFill/>
          </a:ln>
        </p:spPr>
      </p:pic>
      <p:sp>
        <p:nvSpPr>
          <p:cNvPr id="150" name="Google Shape;150;p11"/>
          <p:cNvSpPr txBox="1"/>
          <p:nvPr>
            <p:ph idx="4" type="body"/>
          </p:nvPr>
        </p:nvSpPr>
        <p:spPr>
          <a:xfrm>
            <a:off x="468314" y="1177927"/>
            <a:ext cx="4103686"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b="1" lang="es-ES"/>
              <a:t>UI</a:t>
            </a:r>
            <a:r>
              <a:rPr lang="es-ES"/>
              <a:t> (</a:t>
            </a:r>
            <a:r>
              <a:rPr b="1" lang="es-ES"/>
              <a:t>Interfaz de Usuario</a:t>
            </a:r>
            <a:r>
              <a:rPr lang="es-ES"/>
              <a:t>): Se refiere al diseño de las interfaces a través de las cuales los usuarios interactúan con una aplicación.</a:t>
            </a:r>
            <a:endParaRPr/>
          </a:p>
          <a:p>
            <a:pPr indent="-266700" lvl="0" marL="266700" rtl="0" algn="l">
              <a:lnSpc>
                <a:spcPct val="100000"/>
              </a:lnSpc>
              <a:spcBef>
                <a:spcPts val="1200"/>
              </a:spcBef>
              <a:spcAft>
                <a:spcPts val="0"/>
              </a:spcAft>
              <a:buClr>
                <a:schemeClr val="dk1"/>
              </a:buClr>
              <a:buSzPts val="1200"/>
              <a:buChar char="❑"/>
            </a:pPr>
            <a:r>
              <a:rPr b="1" lang="es-ES"/>
              <a:t>UX</a:t>
            </a:r>
            <a:r>
              <a:rPr lang="es-ES"/>
              <a:t> (</a:t>
            </a:r>
            <a:r>
              <a:rPr b="1" lang="es-ES"/>
              <a:t>Experiencia de Usuario</a:t>
            </a:r>
            <a:r>
              <a:rPr lang="es-ES"/>
              <a:t>): Es más amplio y se refiere a la experiencia general que un usuario tiene al interactuar con un sistema, incluido el diseño, la utilidad y la eficiencia.</a:t>
            </a:r>
            <a:endParaRPr/>
          </a:p>
          <a:p>
            <a:pPr indent="-266700" lvl="0" marL="266700" rtl="0" algn="l">
              <a:lnSpc>
                <a:spcPct val="100000"/>
              </a:lnSpc>
              <a:spcBef>
                <a:spcPts val="1200"/>
              </a:spcBef>
              <a:spcAft>
                <a:spcPts val="0"/>
              </a:spcAft>
              <a:buClr>
                <a:schemeClr val="dk1"/>
              </a:buClr>
              <a:buSzPts val="1050"/>
              <a:buChar char="❑"/>
            </a:pPr>
            <a:r>
              <a:rPr i="1" lang="es-ES" sz="1400" u="sng"/>
              <a:t>Ejemplo</a:t>
            </a:r>
            <a:r>
              <a:rPr i="1" lang="es-ES" sz="1400"/>
              <a:t>: </a:t>
            </a:r>
            <a:r>
              <a:rPr i="1" lang="es-ES" sz="1400">
                <a:solidFill>
                  <a:srgbClr val="7F7F7F"/>
                </a:solidFill>
              </a:rPr>
              <a:t>Supongamos que estás diseñando una aplicación móvil para reservar vuelos. La UI incluiría el diseño de los botones, los campos de texto y los menús. La UX, por otro lado, consideraría cómo el usuario encuentra el vuelo que desea, cómo se siente durante el proceso y cuán fácil es completar la reserva.</a:t>
            </a:r>
            <a:endParaRPr/>
          </a:p>
        </p:txBody>
      </p:sp>
      <p:sp>
        <p:nvSpPr>
          <p:cNvPr id="151" name="Google Shape;151;p11"/>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INTERFAZ / EXPERIENCIA DE USUARIO</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12"/>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CONCEPTOS DE DISEÑO DE SISTEMAS</a:t>
            </a:r>
            <a:endParaRPr/>
          </a:p>
        </p:txBody>
      </p:sp>
      <p:pic>
        <p:nvPicPr>
          <p:cNvPr id="158" name="Google Shape;158;p12"/>
          <p:cNvPicPr preferRelativeResize="0"/>
          <p:nvPr>
            <p:ph idx="2" type="pic"/>
          </p:nvPr>
        </p:nvPicPr>
        <p:blipFill rotWithShape="1">
          <a:blip r:embed="rId3">
            <a:alphaModFix/>
          </a:blip>
          <a:srcRect b="0" l="11676" r="11676" t="0"/>
          <a:stretch/>
        </p:blipFill>
        <p:spPr>
          <a:xfrm>
            <a:off x="4862046" y="986632"/>
            <a:ext cx="3697264" cy="4021316"/>
          </a:xfrm>
          <a:prstGeom prst="rect">
            <a:avLst/>
          </a:prstGeom>
          <a:noFill/>
          <a:ln>
            <a:noFill/>
          </a:ln>
        </p:spPr>
      </p:pic>
      <p:sp>
        <p:nvSpPr>
          <p:cNvPr id="159" name="Google Shape;159;p12"/>
          <p:cNvSpPr txBox="1"/>
          <p:nvPr>
            <p:ph idx="4" type="body"/>
          </p:nvPr>
        </p:nvSpPr>
        <p:spPr>
          <a:xfrm>
            <a:off x="468313" y="1177927"/>
            <a:ext cx="4103687"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La base de datos es </a:t>
            </a:r>
            <a:r>
              <a:rPr b="1" lang="es-ES"/>
              <a:t>donde se almacena la información</a:t>
            </a:r>
            <a:r>
              <a:rPr lang="es-ES"/>
              <a:t> que maneja una aplicación. </a:t>
            </a:r>
            <a:endParaRPr/>
          </a:p>
          <a:p>
            <a:pPr indent="-266700" lvl="0" marL="266700" rtl="0" algn="l">
              <a:lnSpc>
                <a:spcPct val="100000"/>
              </a:lnSpc>
              <a:spcBef>
                <a:spcPts val="1200"/>
              </a:spcBef>
              <a:spcAft>
                <a:spcPts val="0"/>
              </a:spcAft>
              <a:buClr>
                <a:schemeClr val="dk1"/>
              </a:buClr>
              <a:buSzPts val="1200"/>
              <a:buChar char="❑"/>
            </a:pPr>
            <a:r>
              <a:rPr lang="es-ES"/>
              <a:t>El diseño de la base de datos implica decidir qué datos se almacenarán, cómo se organizarán y cómo se accederá a ellos.</a:t>
            </a:r>
            <a:endParaRPr/>
          </a:p>
          <a:p>
            <a:pPr indent="-266700" lvl="0" marL="266700" rtl="0" algn="l">
              <a:lnSpc>
                <a:spcPct val="100000"/>
              </a:lnSpc>
              <a:spcBef>
                <a:spcPts val="1200"/>
              </a:spcBef>
              <a:spcAft>
                <a:spcPts val="0"/>
              </a:spcAft>
              <a:buClr>
                <a:schemeClr val="dk1"/>
              </a:buClr>
              <a:buSzPts val="1050"/>
              <a:buChar char="❑"/>
            </a:pPr>
            <a:r>
              <a:rPr i="1" lang="es-ES" sz="1400" u="sng"/>
              <a:t>Ejemplo</a:t>
            </a:r>
            <a:r>
              <a:rPr i="1" lang="es-ES" sz="1400"/>
              <a:t>: </a:t>
            </a:r>
            <a:r>
              <a:rPr i="1" lang="es-ES" sz="1400">
                <a:solidFill>
                  <a:srgbClr val="7F7F7F"/>
                </a:solidFill>
              </a:rPr>
              <a:t>En un sistema de gestión de bibliotecas, la base de datos podría tener tablas para libros, usuarios, préstamos y multas. Cada tabla tendría campos específicos; por ejemplo, la tabla de libros podría tener campos como ISBN, título, autor y estado (disponible o prestado).</a:t>
            </a:r>
            <a:endParaRPr/>
          </a:p>
        </p:txBody>
      </p:sp>
      <p:sp>
        <p:nvSpPr>
          <p:cNvPr id="160" name="Google Shape;160;p12"/>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BASE DE DATOS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13"/>
          <p:cNvSpPr txBox="1"/>
          <p:nvPr>
            <p:ph idx="3" type="body"/>
          </p:nvPr>
        </p:nvSpPr>
        <p:spPr>
          <a:xfrm>
            <a:off x="468313" y="236250"/>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CONCEPTOS DE DISEÑO DE SISTEMAS</a:t>
            </a:r>
            <a:endParaRPr/>
          </a:p>
        </p:txBody>
      </p:sp>
      <p:sp>
        <p:nvSpPr>
          <p:cNvPr id="167" name="Google Shape;167;p13"/>
          <p:cNvSpPr txBox="1"/>
          <p:nvPr>
            <p:ph idx="4" type="body"/>
          </p:nvPr>
        </p:nvSpPr>
        <p:spPr>
          <a:xfrm>
            <a:off x="609630" y="1177927"/>
            <a:ext cx="3729614"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La seguridad en el diseño de sistemas implica tomar medidas para </a:t>
            </a:r>
            <a:r>
              <a:rPr b="1" lang="es-ES"/>
              <a:t>proteger</a:t>
            </a:r>
            <a:r>
              <a:rPr lang="es-ES"/>
              <a:t> la integridad, disponibilidad y confidencialidad de los datos y servicios del sistema. </a:t>
            </a:r>
            <a:endParaRPr/>
          </a:p>
          <a:p>
            <a:pPr indent="-266700" lvl="0" marL="266700" rtl="0" algn="l">
              <a:lnSpc>
                <a:spcPct val="100000"/>
              </a:lnSpc>
              <a:spcBef>
                <a:spcPts val="1200"/>
              </a:spcBef>
              <a:spcAft>
                <a:spcPts val="0"/>
              </a:spcAft>
              <a:buClr>
                <a:schemeClr val="dk1"/>
              </a:buClr>
              <a:buSzPts val="1200"/>
              <a:buChar char="❑"/>
            </a:pPr>
            <a:r>
              <a:rPr lang="es-ES"/>
              <a:t>Esto incluye aspectos como autenticación, autorización, cifrado y auditoría.</a:t>
            </a:r>
            <a:endParaRPr/>
          </a:p>
          <a:p>
            <a:pPr indent="-266700" lvl="0" marL="266700" rtl="0" algn="l">
              <a:lnSpc>
                <a:spcPct val="100000"/>
              </a:lnSpc>
              <a:spcBef>
                <a:spcPts val="1200"/>
              </a:spcBef>
              <a:spcAft>
                <a:spcPts val="0"/>
              </a:spcAft>
              <a:buClr>
                <a:schemeClr val="dk1"/>
              </a:buClr>
              <a:buSzPts val="1050"/>
              <a:buChar char="❑"/>
            </a:pPr>
            <a:r>
              <a:rPr i="1" lang="es-ES" sz="1400" u="sng"/>
              <a:t>Ejemplo</a:t>
            </a:r>
            <a:r>
              <a:rPr i="1" lang="es-ES" sz="1400"/>
              <a:t>: </a:t>
            </a:r>
            <a:r>
              <a:rPr i="1" lang="es-ES" sz="1400">
                <a:solidFill>
                  <a:srgbClr val="7F7F7F"/>
                </a:solidFill>
              </a:rPr>
              <a:t>En una aplicación de banca en línea, la seguridad es crítica. Podrías implementar autenticación de dos factores para garantizar que solo los usuarios autorizados tengan acceso a las cuentas. Además, todas las transacciones podrían cifrarse para proteger la confidencialidad de los datos.</a:t>
            </a:r>
            <a:endParaRPr/>
          </a:p>
        </p:txBody>
      </p:sp>
      <p:sp>
        <p:nvSpPr>
          <p:cNvPr id="168" name="Google Shape;168;p13"/>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SEGURIDAD</a:t>
            </a:r>
            <a:endParaRPr/>
          </a:p>
        </p:txBody>
      </p:sp>
      <p:pic>
        <p:nvPicPr>
          <p:cNvPr id="169" name="Google Shape;169;p13"/>
          <p:cNvPicPr preferRelativeResize="0"/>
          <p:nvPr>
            <p:ph idx="2" type="pic"/>
          </p:nvPr>
        </p:nvPicPr>
        <p:blipFill rotWithShape="1">
          <a:blip r:embed="rId3">
            <a:alphaModFix/>
          </a:blip>
          <a:srcRect b="374" l="0" r="0" t="372"/>
          <a:stretch/>
        </p:blipFill>
        <p:spPr>
          <a:xfrm>
            <a:off x="4881901" y="1177927"/>
            <a:ext cx="3544406" cy="3855061"/>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4"/>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CONCEPTOS DE DISEÑO DE SISTEMAS</a:t>
            </a:r>
            <a:endParaRPr/>
          </a:p>
        </p:txBody>
      </p:sp>
      <p:pic>
        <p:nvPicPr>
          <p:cNvPr id="176" name="Google Shape;176;p14"/>
          <p:cNvPicPr preferRelativeResize="0"/>
          <p:nvPr>
            <p:ph idx="2" type="pic"/>
          </p:nvPr>
        </p:nvPicPr>
        <p:blipFill rotWithShape="1">
          <a:blip r:embed="rId3">
            <a:alphaModFix/>
          </a:blip>
          <a:srcRect b="0" l="4128" r="4127" t="0"/>
          <a:stretch/>
        </p:blipFill>
        <p:spPr>
          <a:xfrm>
            <a:off x="5120168" y="1234038"/>
            <a:ext cx="3322763" cy="3613992"/>
          </a:xfrm>
          <a:prstGeom prst="rect">
            <a:avLst/>
          </a:prstGeom>
          <a:noFill/>
          <a:ln>
            <a:noFill/>
          </a:ln>
        </p:spPr>
      </p:pic>
      <p:sp>
        <p:nvSpPr>
          <p:cNvPr id="177" name="Google Shape;177;p14"/>
          <p:cNvSpPr txBox="1"/>
          <p:nvPr>
            <p:ph idx="4" type="body"/>
          </p:nvPr>
        </p:nvSpPr>
        <p:spPr>
          <a:xfrm>
            <a:off x="468313" y="1177927"/>
            <a:ext cx="4045498"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b="1" lang="es-ES"/>
              <a:t>Escalabilidad</a:t>
            </a:r>
            <a:r>
              <a:rPr lang="es-ES"/>
              <a:t>: Se refiere a la capacidad del sistema para manejar un aumento en la carga de trabajo o demanda de manera efectiva.</a:t>
            </a:r>
            <a:endParaRPr/>
          </a:p>
          <a:p>
            <a:pPr indent="-266700" lvl="0" marL="266700" rtl="0" algn="l">
              <a:lnSpc>
                <a:spcPct val="100000"/>
              </a:lnSpc>
              <a:spcBef>
                <a:spcPts val="1200"/>
              </a:spcBef>
              <a:spcAft>
                <a:spcPts val="0"/>
              </a:spcAft>
              <a:buClr>
                <a:schemeClr val="dk1"/>
              </a:buClr>
              <a:buSzPts val="1200"/>
              <a:buChar char="❑"/>
            </a:pPr>
            <a:r>
              <a:rPr b="1" lang="es-ES"/>
              <a:t>Rendimiento</a:t>
            </a:r>
            <a:r>
              <a:rPr lang="es-ES"/>
              <a:t>: Es la eficiencia con la que un sistema realiza sus tareas bajo una carga determinada.</a:t>
            </a:r>
            <a:endParaRPr/>
          </a:p>
          <a:p>
            <a:pPr indent="-266700" lvl="0" marL="266700" rtl="0" algn="l">
              <a:lnSpc>
                <a:spcPct val="100000"/>
              </a:lnSpc>
              <a:spcBef>
                <a:spcPts val="1200"/>
              </a:spcBef>
              <a:spcAft>
                <a:spcPts val="0"/>
              </a:spcAft>
              <a:buClr>
                <a:schemeClr val="dk1"/>
              </a:buClr>
              <a:buSzPts val="1050"/>
              <a:buChar char="❑"/>
            </a:pPr>
            <a:r>
              <a:rPr i="1" lang="es-ES" sz="1400" u="sng"/>
              <a:t>Ejemplo</a:t>
            </a:r>
            <a:r>
              <a:rPr i="1" lang="es-ES" sz="1400"/>
              <a:t>: </a:t>
            </a:r>
            <a:r>
              <a:rPr i="1" lang="es-ES" sz="1400">
                <a:solidFill>
                  <a:srgbClr val="7F7F7F"/>
                </a:solidFill>
              </a:rPr>
              <a:t>Si tienes un sitio web de comercio electrónico que recibe un alto tráfico durante las temporadas de vacaciones, deberías diseñar el sistema para que pueda escalar rápidamente, añadiendo más servidores según sea necesario. El rendimiento podría optimizarse mediante el uso de cachés y balanceadores de carga.</a:t>
            </a:r>
            <a:endParaRPr/>
          </a:p>
        </p:txBody>
      </p:sp>
      <p:sp>
        <p:nvSpPr>
          <p:cNvPr id="178" name="Google Shape;178;p14"/>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ESCALABILIDAD Y RENDIMIENTO</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15"/>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CONCEPTOS DE DISEÑO DE SISTEMAS</a:t>
            </a:r>
            <a:endParaRPr/>
          </a:p>
        </p:txBody>
      </p:sp>
      <p:sp>
        <p:nvSpPr>
          <p:cNvPr id="185" name="Google Shape;185;p15"/>
          <p:cNvSpPr txBox="1"/>
          <p:nvPr>
            <p:ph idx="4" type="body"/>
          </p:nvPr>
        </p:nvSpPr>
        <p:spPr>
          <a:xfrm>
            <a:off x="742632" y="1177927"/>
            <a:ext cx="4103687"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La integración de sistemas implica conectar diferentes sistemas informáticos para que funcionen como una unidad cohesiva. </a:t>
            </a:r>
            <a:endParaRPr/>
          </a:p>
          <a:p>
            <a:pPr indent="-266700" lvl="0" marL="266700" rtl="0" algn="l">
              <a:lnSpc>
                <a:spcPct val="100000"/>
              </a:lnSpc>
              <a:spcBef>
                <a:spcPts val="1200"/>
              </a:spcBef>
              <a:spcAft>
                <a:spcPts val="0"/>
              </a:spcAft>
              <a:buClr>
                <a:schemeClr val="dk1"/>
              </a:buClr>
              <a:buSzPts val="1200"/>
              <a:buChar char="❑"/>
            </a:pPr>
            <a:r>
              <a:rPr lang="es-ES"/>
              <a:t>Esto puede incluir la integración de bases de datos, aplicaciones y otros recursos.</a:t>
            </a:r>
            <a:endParaRPr/>
          </a:p>
          <a:p>
            <a:pPr indent="-266700" lvl="0" marL="266700" rtl="0" algn="l">
              <a:lnSpc>
                <a:spcPct val="100000"/>
              </a:lnSpc>
              <a:spcBef>
                <a:spcPts val="1200"/>
              </a:spcBef>
              <a:spcAft>
                <a:spcPts val="0"/>
              </a:spcAft>
              <a:buClr>
                <a:schemeClr val="dk1"/>
              </a:buClr>
              <a:buSzPts val="1050"/>
              <a:buChar char="❑"/>
            </a:pPr>
            <a:r>
              <a:rPr i="1" lang="es-ES" sz="1400" u="sng"/>
              <a:t>Ejemplo</a:t>
            </a:r>
            <a:r>
              <a:rPr i="1" lang="es-ES" sz="1400"/>
              <a:t>: </a:t>
            </a:r>
            <a:r>
              <a:rPr i="1" lang="es-ES" sz="1400">
                <a:solidFill>
                  <a:srgbClr val="7F7F7F"/>
                </a:solidFill>
              </a:rPr>
              <a:t>En un hospital, podrías tener un sistema de registro de pacientes, otro para la gestión de citas y un tercero para la facturación. La integración efectiva de estos sistemas permitiría que un cambio en el registro de un paciente se refleje automáticamente en los otros sistemas relacionados.</a:t>
            </a:r>
            <a:endParaRPr/>
          </a:p>
        </p:txBody>
      </p:sp>
      <p:sp>
        <p:nvSpPr>
          <p:cNvPr id="186" name="Google Shape;186;p15"/>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INTEGRACIÓN DE SISTEMAS</a:t>
            </a:r>
            <a:endParaRPr/>
          </a:p>
        </p:txBody>
      </p:sp>
      <p:pic>
        <p:nvPicPr>
          <p:cNvPr id="187" name="Google Shape;187;p15"/>
          <p:cNvPicPr preferRelativeResize="0"/>
          <p:nvPr>
            <p:ph idx="2" type="pic"/>
          </p:nvPr>
        </p:nvPicPr>
        <p:blipFill rotWithShape="1">
          <a:blip r:embed="rId3">
            <a:alphaModFix/>
          </a:blip>
          <a:srcRect b="374" l="0" r="0" t="372"/>
          <a:stretch/>
        </p:blipFill>
        <p:spPr>
          <a:xfrm>
            <a:off x="5120639" y="986632"/>
            <a:ext cx="3471921" cy="3776223"/>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16"/>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CONCEPTOS DE DISEÑO DE SISTEMAS</a:t>
            </a:r>
            <a:endParaRPr/>
          </a:p>
        </p:txBody>
      </p:sp>
      <p:sp>
        <p:nvSpPr>
          <p:cNvPr id="194" name="Google Shape;194;p16"/>
          <p:cNvSpPr txBox="1"/>
          <p:nvPr>
            <p:ph idx="4" type="body"/>
          </p:nvPr>
        </p:nvSpPr>
        <p:spPr>
          <a:xfrm>
            <a:off x="875637" y="1249287"/>
            <a:ext cx="3779491" cy="3933288"/>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La documentación es el conjunto de materiales escritos que explican cómo funciona un sistema, cómo mantenerlo y cómo usarlo. </a:t>
            </a:r>
            <a:endParaRPr/>
          </a:p>
          <a:p>
            <a:pPr indent="-266700" lvl="0" marL="266700" rtl="0" algn="l">
              <a:lnSpc>
                <a:spcPct val="100000"/>
              </a:lnSpc>
              <a:spcBef>
                <a:spcPts val="1200"/>
              </a:spcBef>
              <a:spcAft>
                <a:spcPts val="0"/>
              </a:spcAft>
              <a:buClr>
                <a:schemeClr val="dk1"/>
              </a:buClr>
              <a:buSzPts val="1200"/>
              <a:buChar char="❑"/>
            </a:pPr>
            <a:r>
              <a:rPr lang="es-ES"/>
              <a:t>Esto es crucial tanto para los desarrolladores como para los usuarios finales.</a:t>
            </a:r>
            <a:endParaRPr/>
          </a:p>
          <a:p>
            <a:pPr indent="-266700" lvl="0" marL="266700" rtl="0" algn="l">
              <a:lnSpc>
                <a:spcPct val="100000"/>
              </a:lnSpc>
              <a:spcBef>
                <a:spcPts val="1200"/>
              </a:spcBef>
              <a:spcAft>
                <a:spcPts val="0"/>
              </a:spcAft>
              <a:buClr>
                <a:schemeClr val="dk1"/>
              </a:buClr>
              <a:buSzPts val="1050"/>
              <a:buChar char="❑"/>
            </a:pPr>
            <a:r>
              <a:rPr i="1" lang="es-ES" sz="1400" u="sng"/>
              <a:t>Ejemplo</a:t>
            </a:r>
            <a:r>
              <a:rPr i="1" lang="es-ES" sz="1400"/>
              <a:t>: </a:t>
            </a:r>
            <a:r>
              <a:rPr i="1" lang="es-ES" sz="1400">
                <a:solidFill>
                  <a:srgbClr val="7F7F7F"/>
                </a:solidFill>
              </a:rPr>
              <a:t>En un proyecto de software empresarial, la documentación podría incluir manuales de usuario, documentación técnica para desarrolladores, diagramas de arquitectura y guías de instalación y configuración.</a:t>
            </a:r>
            <a:endParaRPr/>
          </a:p>
        </p:txBody>
      </p:sp>
      <p:sp>
        <p:nvSpPr>
          <p:cNvPr id="195" name="Google Shape;195;p16"/>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DOCUMENTACIÓN</a:t>
            </a:r>
            <a:endParaRPr/>
          </a:p>
        </p:txBody>
      </p:sp>
      <p:pic>
        <p:nvPicPr>
          <p:cNvPr id="196" name="Google Shape;196;p16"/>
          <p:cNvPicPr preferRelativeResize="0"/>
          <p:nvPr>
            <p:ph idx="2" type="pic"/>
          </p:nvPr>
        </p:nvPicPr>
        <p:blipFill rotWithShape="1">
          <a:blip r:embed="rId3">
            <a:alphaModFix/>
          </a:blip>
          <a:srcRect b="374" l="0" r="0" t="372"/>
          <a:stretch/>
        </p:blipFill>
        <p:spPr>
          <a:xfrm>
            <a:off x="5059359" y="890856"/>
            <a:ext cx="3616329" cy="3933288"/>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17"/>
          <p:cNvSpPr/>
          <p:nvPr/>
        </p:nvSpPr>
        <p:spPr>
          <a:xfrm>
            <a:off x="0" y="0"/>
            <a:ext cx="9144000" cy="5715000"/>
          </a:xfrm>
          <a:prstGeom prst="rect">
            <a:avLst/>
          </a:prstGeom>
          <a:solidFill>
            <a:srgbClr val="1F85A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Calibri"/>
              <a:ea typeface="Calibri"/>
              <a:cs typeface="Calibri"/>
              <a:sym typeface="Calibri"/>
            </a:endParaRPr>
          </a:p>
        </p:txBody>
      </p:sp>
      <p:sp>
        <p:nvSpPr>
          <p:cNvPr id="203" name="Google Shape;203;p17"/>
          <p:cNvSpPr/>
          <p:nvPr/>
        </p:nvSpPr>
        <p:spPr>
          <a:xfrm>
            <a:off x="424252" y="3703125"/>
            <a:ext cx="7966170" cy="523180"/>
          </a:xfrm>
          <a:prstGeom prst="rect">
            <a:avLst/>
          </a:prstGeom>
          <a:noFill/>
          <a:ln>
            <a:noFill/>
          </a:ln>
        </p:spPr>
        <p:txBody>
          <a:bodyPr anchorCtr="0" anchor="t" bIns="45700" lIns="91425" spcFirstLastPara="1" rIns="91425" wrap="square" tIns="45700">
            <a:spAutoFit/>
          </a:bodyPr>
          <a:lstStyle/>
          <a:p>
            <a:pPr indent="-274638" lvl="0" marL="274638" marR="0" rtl="0" algn="l">
              <a:lnSpc>
                <a:spcPct val="100000"/>
              </a:lnSpc>
              <a:spcBef>
                <a:spcPts val="0"/>
              </a:spcBef>
              <a:spcAft>
                <a:spcPts val="0"/>
              </a:spcAft>
              <a:buClr>
                <a:srgbClr val="000000"/>
              </a:buClr>
              <a:buSzPts val="2800"/>
              <a:buFont typeface="Arial"/>
              <a:buNone/>
            </a:pPr>
            <a:r>
              <a:rPr b="1" i="0" lang="es-ES" sz="2800" u="none" cap="none" strike="noStrike">
                <a:solidFill>
                  <a:schemeClr val="lt1"/>
                </a:solidFill>
                <a:latin typeface="Calibri"/>
                <a:ea typeface="Calibri"/>
                <a:cs typeface="Calibri"/>
                <a:sym typeface="Calibri"/>
              </a:rPr>
              <a:t>/ BUENAS PRÁCTICAS DE DISEÑO DE SISTEMAS</a:t>
            </a:r>
            <a:endParaRPr b="1" i="0" sz="1600" u="none" cap="none" strike="noStrike">
              <a:solidFill>
                <a:schemeClr val="lt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18"/>
          <p:cNvSpPr txBox="1"/>
          <p:nvPr>
            <p:ph idx="3" type="body"/>
          </p:nvPr>
        </p:nvSpPr>
        <p:spPr>
          <a:xfrm>
            <a:off x="475687"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BUENAS PRÁCTICAS DE DISEÑO DE SISTEMAS</a:t>
            </a:r>
            <a:endParaRPr/>
          </a:p>
        </p:txBody>
      </p:sp>
      <p:sp>
        <p:nvSpPr>
          <p:cNvPr id="210" name="Google Shape;210;p18"/>
          <p:cNvSpPr txBox="1"/>
          <p:nvPr>
            <p:ph idx="4" type="body"/>
          </p:nvPr>
        </p:nvSpPr>
        <p:spPr>
          <a:xfrm>
            <a:off x="475687" y="1169422"/>
            <a:ext cx="8200800" cy="16920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Son un conjunto de métodos y técnicas que se han demostrado eficaces para crear sistemas de alta calidad. Estas prácticas se basan en la experiencia de los profesionales del diseño de sistemas y en la investigación académica.</a:t>
            </a:r>
            <a:endParaRPr/>
          </a:p>
          <a:p>
            <a:pPr indent="-266700" lvl="0" marL="266700" rtl="0" algn="l">
              <a:lnSpc>
                <a:spcPct val="100000"/>
              </a:lnSpc>
              <a:spcBef>
                <a:spcPts val="1200"/>
              </a:spcBef>
              <a:spcAft>
                <a:spcPts val="0"/>
              </a:spcAft>
              <a:buClr>
                <a:schemeClr val="dk1"/>
              </a:buClr>
              <a:buSzPts val="1200"/>
              <a:buChar char="❑"/>
            </a:pPr>
            <a:r>
              <a:rPr lang="es-ES"/>
              <a:t>Abarcan todos los aspectos del proceso de diseño, desde la definición de los requisitos hasta la implementación y el mantenimiento del sistema.</a:t>
            </a:r>
            <a:endParaRPr/>
          </a:p>
        </p:txBody>
      </p:sp>
      <p:sp>
        <p:nvSpPr>
          <p:cNvPr id="211" name="Google Shape;211;p18"/>
          <p:cNvSpPr txBox="1"/>
          <p:nvPr>
            <p:ph idx="1" type="body"/>
          </p:nvPr>
        </p:nvSpPr>
        <p:spPr>
          <a:xfrm>
            <a:off x="475687" y="804863"/>
            <a:ext cx="8207375"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¿EN QUÉ CONSISTEN?</a:t>
            </a:r>
            <a:endParaRPr/>
          </a:p>
        </p:txBody>
      </p:sp>
      <p:pic>
        <p:nvPicPr>
          <p:cNvPr id="212" name="Google Shape;212;p18"/>
          <p:cNvPicPr preferRelativeResize="0"/>
          <p:nvPr>
            <p:ph idx="2" type="pic"/>
          </p:nvPr>
        </p:nvPicPr>
        <p:blipFill rotWithShape="1">
          <a:blip r:embed="rId3">
            <a:alphaModFix/>
          </a:blip>
          <a:srcRect b="28106" l="0" r="0" t="28106"/>
          <a:stretch/>
        </p:blipFill>
        <p:spPr>
          <a:xfrm>
            <a:off x="812360" y="3011685"/>
            <a:ext cx="7519280" cy="219329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19"/>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BUENAS PRÁCTICAS DE DISEÑO DE SISTEMAS</a:t>
            </a:r>
            <a:endParaRPr/>
          </a:p>
        </p:txBody>
      </p:sp>
      <p:sp>
        <p:nvSpPr>
          <p:cNvPr id="219" name="Google Shape;219;p19"/>
          <p:cNvSpPr txBox="1"/>
          <p:nvPr>
            <p:ph idx="4" type="body"/>
          </p:nvPr>
        </p:nvSpPr>
        <p:spPr>
          <a:xfrm>
            <a:off x="468313" y="1177927"/>
            <a:ext cx="4311505" cy="4096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1"/>
              </a:buClr>
              <a:buSzPts val="1200"/>
              <a:buNone/>
            </a:pPr>
            <a:r>
              <a:rPr b="1" i="1" lang="es-ES">
                <a:solidFill>
                  <a:schemeClr val="accent1"/>
                </a:solidFill>
              </a:rPr>
              <a:t>¿En qué consiste?</a:t>
            </a:r>
            <a:endParaRPr/>
          </a:p>
          <a:p>
            <a:pPr indent="-266700" lvl="0" marL="266700" rtl="0" algn="l">
              <a:lnSpc>
                <a:spcPct val="100000"/>
              </a:lnSpc>
              <a:spcBef>
                <a:spcPts val="300"/>
              </a:spcBef>
              <a:spcAft>
                <a:spcPts val="0"/>
              </a:spcAft>
              <a:buClr>
                <a:schemeClr val="dk1"/>
              </a:buClr>
              <a:buSzPts val="1200"/>
              <a:buChar char="❑"/>
            </a:pPr>
            <a:r>
              <a:rPr lang="es-ES"/>
              <a:t>Dividir el sistema en módulos más pequeños y manejables que puedan desarrollarse y mantenerse de manera independiente.</a:t>
            </a:r>
            <a:endParaRPr/>
          </a:p>
          <a:p>
            <a:pPr indent="0" lvl="0" marL="0" rtl="0" algn="l">
              <a:lnSpc>
                <a:spcPct val="100000"/>
              </a:lnSpc>
              <a:spcBef>
                <a:spcPts val="1200"/>
              </a:spcBef>
              <a:spcAft>
                <a:spcPts val="0"/>
              </a:spcAft>
              <a:buClr>
                <a:schemeClr val="accent1"/>
              </a:buClr>
              <a:buSzPts val="1200"/>
              <a:buNone/>
            </a:pPr>
            <a:r>
              <a:rPr b="1" i="1" lang="es-ES">
                <a:solidFill>
                  <a:schemeClr val="accent1"/>
                </a:solidFill>
              </a:rPr>
              <a:t>¿Por qué es una buena práctica?</a:t>
            </a:r>
            <a:endParaRPr/>
          </a:p>
          <a:p>
            <a:pPr indent="-266700" lvl="0" marL="266700" rtl="0" algn="l">
              <a:lnSpc>
                <a:spcPct val="100000"/>
              </a:lnSpc>
              <a:spcBef>
                <a:spcPts val="300"/>
              </a:spcBef>
              <a:spcAft>
                <a:spcPts val="0"/>
              </a:spcAft>
              <a:buClr>
                <a:schemeClr val="dk1"/>
              </a:buClr>
              <a:buSzPts val="1200"/>
              <a:buChar char="❑"/>
            </a:pPr>
            <a:r>
              <a:rPr lang="es-ES"/>
              <a:t>Facilita la mantenibilidad, permite la reutilización de código y hace que el sistema sea más fácil de entender.</a:t>
            </a:r>
            <a:endParaRPr/>
          </a:p>
          <a:p>
            <a:pPr indent="0" lvl="0" marL="0" rtl="0" algn="l">
              <a:lnSpc>
                <a:spcPct val="100000"/>
              </a:lnSpc>
              <a:spcBef>
                <a:spcPts val="3000"/>
              </a:spcBef>
              <a:spcAft>
                <a:spcPts val="0"/>
              </a:spcAft>
              <a:buClr>
                <a:schemeClr val="accent1"/>
              </a:buClr>
              <a:buSzPts val="1050"/>
              <a:buNone/>
            </a:pPr>
            <a:r>
              <a:rPr b="1" i="1" lang="es-ES" sz="1400" u="sng">
                <a:solidFill>
                  <a:schemeClr val="accent1"/>
                </a:solidFill>
              </a:rPr>
              <a:t>Ejemplo</a:t>
            </a:r>
            <a:r>
              <a:rPr b="1" i="1" lang="es-ES" sz="1400">
                <a:solidFill>
                  <a:schemeClr val="accent1"/>
                </a:solidFill>
              </a:rPr>
              <a:t>: </a:t>
            </a:r>
            <a:r>
              <a:rPr i="1" lang="es-ES" sz="1400">
                <a:solidFill>
                  <a:srgbClr val="7F7F7F"/>
                </a:solidFill>
              </a:rPr>
              <a:t>En un sistema de gestión de inventario, podrías tener módulos separados para la gestión de productos, la gestión de proveedores y la gestión de pedidos. Cada módulo se encargaría de una parte específica del sistema general.</a:t>
            </a:r>
            <a:endParaRPr/>
          </a:p>
        </p:txBody>
      </p:sp>
      <p:sp>
        <p:nvSpPr>
          <p:cNvPr id="220" name="Google Shape;220;p19"/>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DISEÑO MODULAR</a:t>
            </a:r>
            <a:endParaRPr/>
          </a:p>
        </p:txBody>
      </p:sp>
      <p:pic>
        <p:nvPicPr>
          <p:cNvPr id="221" name="Google Shape;221;p19"/>
          <p:cNvPicPr preferRelativeResize="0"/>
          <p:nvPr>
            <p:ph idx="2" type="pic"/>
          </p:nvPr>
        </p:nvPicPr>
        <p:blipFill rotWithShape="1">
          <a:blip r:embed="rId3">
            <a:alphaModFix/>
          </a:blip>
          <a:srcRect b="374" l="0" r="0" t="372"/>
          <a:stretch/>
        </p:blipFill>
        <p:spPr>
          <a:xfrm>
            <a:off x="5270268" y="1298655"/>
            <a:ext cx="3322292" cy="3613479"/>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20"/>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BUENAS PRÁCTICAS DE DISEÑO DE SISTEMAS</a:t>
            </a:r>
            <a:endParaRPr/>
          </a:p>
        </p:txBody>
      </p:sp>
      <p:pic>
        <p:nvPicPr>
          <p:cNvPr id="228" name="Google Shape;228;p20"/>
          <p:cNvPicPr preferRelativeResize="0"/>
          <p:nvPr>
            <p:ph idx="2" type="pic"/>
          </p:nvPr>
        </p:nvPicPr>
        <p:blipFill rotWithShape="1">
          <a:blip r:embed="rId3">
            <a:alphaModFix/>
          </a:blip>
          <a:srcRect b="0" l="3495" r="3495" t="0"/>
          <a:stretch/>
        </p:blipFill>
        <p:spPr>
          <a:xfrm>
            <a:off x="5547223" y="1504604"/>
            <a:ext cx="2978835" cy="3239920"/>
          </a:xfrm>
          <a:prstGeom prst="rect">
            <a:avLst/>
          </a:prstGeom>
          <a:noFill/>
          <a:ln>
            <a:noFill/>
          </a:ln>
        </p:spPr>
      </p:pic>
      <p:sp>
        <p:nvSpPr>
          <p:cNvPr id="229" name="Google Shape;229;p20"/>
          <p:cNvSpPr txBox="1"/>
          <p:nvPr>
            <p:ph idx="4" type="body"/>
          </p:nvPr>
        </p:nvSpPr>
        <p:spPr>
          <a:xfrm>
            <a:off x="468313" y="1177927"/>
            <a:ext cx="4103687" cy="4096800"/>
          </a:xfrm>
          <a:prstGeom prst="rect">
            <a:avLst/>
          </a:prstGeom>
          <a:no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1"/>
              </a:buClr>
              <a:buSzPts val="1200"/>
              <a:buNone/>
            </a:pPr>
            <a:r>
              <a:rPr b="1" i="1" lang="es-ES">
                <a:solidFill>
                  <a:schemeClr val="accent1"/>
                </a:solidFill>
              </a:rPr>
              <a:t>¿En qué consiste?</a:t>
            </a:r>
            <a:endParaRPr/>
          </a:p>
          <a:p>
            <a:pPr indent="-266700" lvl="0" marL="266700" rtl="0" algn="just">
              <a:lnSpc>
                <a:spcPct val="100000"/>
              </a:lnSpc>
              <a:spcBef>
                <a:spcPts val="300"/>
              </a:spcBef>
              <a:spcAft>
                <a:spcPts val="0"/>
              </a:spcAft>
              <a:buClr>
                <a:schemeClr val="dk1"/>
              </a:buClr>
              <a:buSzPts val="1200"/>
              <a:buFont typeface="Noto Sans Symbols"/>
              <a:buChar char="❑"/>
            </a:pPr>
            <a:r>
              <a:rPr lang="es-ES"/>
              <a:t>Cada módulo o componente del sistema debe tener una única responsabilidad o función.</a:t>
            </a:r>
            <a:endParaRPr/>
          </a:p>
          <a:p>
            <a:pPr indent="0" lvl="0" marL="0" rtl="0" algn="just">
              <a:lnSpc>
                <a:spcPct val="100000"/>
              </a:lnSpc>
              <a:spcBef>
                <a:spcPts val="1200"/>
              </a:spcBef>
              <a:spcAft>
                <a:spcPts val="0"/>
              </a:spcAft>
              <a:buClr>
                <a:schemeClr val="accent1"/>
              </a:buClr>
              <a:buSzPts val="1200"/>
              <a:buNone/>
            </a:pPr>
            <a:r>
              <a:rPr b="1" i="1" lang="es-ES">
                <a:solidFill>
                  <a:schemeClr val="accent1"/>
                </a:solidFill>
              </a:rPr>
              <a:t>¿Por qué es una buena práctica?</a:t>
            </a:r>
            <a:endParaRPr/>
          </a:p>
          <a:p>
            <a:pPr indent="-266700" lvl="0" marL="266700" rtl="0" algn="just">
              <a:lnSpc>
                <a:spcPct val="100000"/>
              </a:lnSpc>
              <a:spcBef>
                <a:spcPts val="300"/>
              </a:spcBef>
              <a:spcAft>
                <a:spcPts val="0"/>
              </a:spcAft>
              <a:buClr>
                <a:schemeClr val="dk1"/>
              </a:buClr>
              <a:buSzPts val="1200"/>
              <a:buFont typeface="Noto Sans Symbols"/>
              <a:buChar char="❑"/>
            </a:pPr>
            <a:r>
              <a:rPr lang="es-ES"/>
              <a:t>Reduce la complejidad, mejora la legibilidad del código y facilita las pruebas y el mantenimiento.</a:t>
            </a:r>
            <a:endParaRPr/>
          </a:p>
          <a:p>
            <a:pPr indent="0" lvl="0" marL="0" marR="0" rtl="0" algn="just">
              <a:lnSpc>
                <a:spcPct val="100000"/>
              </a:lnSpc>
              <a:spcBef>
                <a:spcPts val="3000"/>
              </a:spcBef>
              <a:spcAft>
                <a:spcPts val="0"/>
              </a:spcAft>
              <a:buClr>
                <a:srgbClr val="4F81BD"/>
              </a:buClr>
              <a:buSzPts val="1050"/>
              <a:buFont typeface="Noto Sans Symbols"/>
              <a:buNone/>
            </a:pPr>
            <a:r>
              <a:rPr b="1" i="1" lang="es-ES" sz="1400" u="sng" cap="none" strike="noStrike">
                <a:solidFill>
                  <a:srgbClr val="4F81BD"/>
                </a:solidFill>
                <a:latin typeface="Calibri"/>
                <a:ea typeface="Calibri"/>
                <a:cs typeface="Calibri"/>
                <a:sym typeface="Calibri"/>
              </a:rPr>
              <a:t>Ejemplo</a:t>
            </a:r>
            <a:r>
              <a:rPr b="1" i="1" lang="es-ES" sz="1400" u="none" cap="none" strike="noStrike">
                <a:solidFill>
                  <a:srgbClr val="4F81BD"/>
                </a:solidFill>
                <a:latin typeface="Calibri"/>
                <a:ea typeface="Calibri"/>
                <a:cs typeface="Calibri"/>
                <a:sym typeface="Calibri"/>
              </a:rPr>
              <a:t>: </a:t>
            </a:r>
            <a:r>
              <a:rPr b="0" i="1" lang="es-ES" sz="1400" u="none" cap="none" strike="noStrike">
                <a:solidFill>
                  <a:srgbClr val="7F7F7F"/>
                </a:solidFill>
                <a:latin typeface="Calibri"/>
                <a:ea typeface="Calibri"/>
                <a:cs typeface="Calibri"/>
                <a:sym typeface="Calibri"/>
              </a:rPr>
              <a:t>En una aplicación de correo electrónico, podrías tener un componente dedicado exclusivamente a la gestión de la bandeja de entrada, otro para el envío de correos y otro para la gestión de contactos.</a:t>
            </a:r>
            <a:endParaRPr/>
          </a:p>
        </p:txBody>
      </p:sp>
      <p:sp>
        <p:nvSpPr>
          <p:cNvPr id="230" name="Google Shape;230;p20"/>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PRINCIPIO DE RESPONSABILIDAD ÚNICA</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21"/>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BUENAS PRÁCTICAS DE DISEÑO DE SISTEMAS</a:t>
            </a:r>
            <a:endParaRPr/>
          </a:p>
        </p:txBody>
      </p:sp>
      <p:pic>
        <p:nvPicPr>
          <p:cNvPr id="237" name="Google Shape;237;p21"/>
          <p:cNvPicPr preferRelativeResize="0"/>
          <p:nvPr>
            <p:ph idx="2" type="pic"/>
          </p:nvPr>
        </p:nvPicPr>
        <p:blipFill rotWithShape="1">
          <a:blip r:embed="rId3">
            <a:alphaModFix/>
          </a:blip>
          <a:srcRect b="374" l="0" r="0" t="372"/>
          <a:stretch/>
        </p:blipFill>
        <p:spPr>
          <a:xfrm>
            <a:off x="5452280" y="1762297"/>
            <a:ext cx="3223407" cy="3505927"/>
          </a:xfrm>
          <a:prstGeom prst="rect">
            <a:avLst/>
          </a:prstGeom>
          <a:noFill/>
          <a:ln>
            <a:noFill/>
          </a:ln>
        </p:spPr>
      </p:pic>
      <p:sp>
        <p:nvSpPr>
          <p:cNvPr id="238" name="Google Shape;238;p21"/>
          <p:cNvSpPr txBox="1"/>
          <p:nvPr>
            <p:ph idx="4" type="body"/>
          </p:nvPr>
        </p:nvSpPr>
        <p:spPr>
          <a:xfrm>
            <a:off x="717695" y="1340387"/>
            <a:ext cx="4294880" cy="4096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1"/>
              </a:buClr>
              <a:buSzPts val="1200"/>
              <a:buNone/>
            </a:pPr>
            <a:r>
              <a:rPr b="1" i="1" lang="es-ES">
                <a:solidFill>
                  <a:schemeClr val="accent1"/>
                </a:solidFill>
              </a:rPr>
              <a:t>¿En qué consiste?</a:t>
            </a:r>
            <a:endParaRPr/>
          </a:p>
          <a:p>
            <a:pPr indent="-266700" lvl="0" marL="266700" rtl="0" algn="l">
              <a:lnSpc>
                <a:spcPct val="100000"/>
              </a:lnSpc>
              <a:spcBef>
                <a:spcPts val="300"/>
              </a:spcBef>
              <a:spcAft>
                <a:spcPts val="0"/>
              </a:spcAft>
              <a:buClr>
                <a:schemeClr val="dk1"/>
              </a:buClr>
              <a:buSzPts val="1200"/>
              <a:buChar char="❑"/>
            </a:pPr>
            <a:r>
              <a:rPr lang="es-ES"/>
              <a:t>Ocultar los detalles de implementación y exponer sólo las interfaces necesarias para interactuar con un módulo o componente.</a:t>
            </a:r>
            <a:endParaRPr/>
          </a:p>
          <a:p>
            <a:pPr indent="0" lvl="0" marL="0" rtl="0" algn="l">
              <a:lnSpc>
                <a:spcPct val="100000"/>
              </a:lnSpc>
              <a:spcBef>
                <a:spcPts val="1200"/>
              </a:spcBef>
              <a:spcAft>
                <a:spcPts val="0"/>
              </a:spcAft>
              <a:buClr>
                <a:schemeClr val="accent1"/>
              </a:buClr>
              <a:buSzPts val="1200"/>
              <a:buNone/>
            </a:pPr>
            <a:r>
              <a:rPr b="1" i="1" lang="es-ES">
                <a:solidFill>
                  <a:schemeClr val="accent1"/>
                </a:solidFill>
              </a:rPr>
              <a:t>¿Por qué es una buena práctica?</a:t>
            </a:r>
            <a:endParaRPr/>
          </a:p>
          <a:p>
            <a:pPr indent="-266700" lvl="0" marL="266700" rtl="0" algn="l">
              <a:lnSpc>
                <a:spcPct val="100000"/>
              </a:lnSpc>
              <a:spcBef>
                <a:spcPts val="300"/>
              </a:spcBef>
              <a:spcAft>
                <a:spcPts val="0"/>
              </a:spcAft>
              <a:buClr>
                <a:schemeClr val="dk1"/>
              </a:buClr>
              <a:buSzPts val="1200"/>
              <a:buChar char="❑"/>
            </a:pPr>
            <a:r>
              <a:rPr lang="es-ES"/>
              <a:t>Mejora la seguridad y permite cambios en el código subyacente sin afectar a otros componentes del sistema.</a:t>
            </a:r>
            <a:endParaRPr/>
          </a:p>
          <a:p>
            <a:pPr indent="0" lvl="0" marL="0" rtl="0" algn="l">
              <a:lnSpc>
                <a:spcPct val="100000"/>
              </a:lnSpc>
              <a:spcBef>
                <a:spcPts val="3000"/>
              </a:spcBef>
              <a:spcAft>
                <a:spcPts val="0"/>
              </a:spcAft>
              <a:buClr>
                <a:srgbClr val="4F81BD"/>
              </a:buClr>
              <a:buSzPts val="1050"/>
              <a:buNone/>
            </a:pPr>
            <a:r>
              <a:rPr b="1" i="1" lang="es-ES" sz="1400" u="sng" cap="none" strike="noStrike">
                <a:solidFill>
                  <a:srgbClr val="4F81BD"/>
                </a:solidFill>
                <a:latin typeface="Calibri"/>
                <a:ea typeface="Calibri"/>
                <a:cs typeface="Calibri"/>
                <a:sym typeface="Calibri"/>
              </a:rPr>
              <a:t>Ejemplo</a:t>
            </a:r>
            <a:r>
              <a:rPr b="1" i="1" lang="es-ES" sz="1400" u="none" cap="none" strike="noStrike">
                <a:solidFill>
                  <a:srgbClr val="4F81BD"/>
                </a:solidFill>
                <a:latin typeface="Calibri"/>
                <a:ea typeface="Calibri"/>
                <a:cs typeface="Calibri"/>
                <a:sym typeface="Calibri"/>
              </a:rPr>
              <a:t>: </a:t>
            </a:r>
            <a:r>
              <a:rPr b="0" i="1" lang="es-ES" sz="1400" u="none" cap="none" strike="noStrike">
                <a:solidFill>
                  <a:srgbClr val="7F7F7F"/>
                </a:solidFill>
                <a:latin typeface="Calibri"/>
                <a:ea typeface="Calibri"/>
                <a:cs typeface="Calibri"/>
                <a:sym typeface="Calibri"/>
              </a:rPr>
              <a:t>En un sistema de pago en línea, el módulo de pagos podría ofrecer una interfaz simple como </a:t>
            </a:r>
            <a:r>
              <a:rPr i="1" lang="es-ES" sz="1400">
                <a:solidFill>
                  <a:srgbClr val="00B050"/>
                </a:solidFill>
              </a:rPr>
              <a:t>realizar Pago </a:t>
            </a:r>
            <a:r>
              <a:rPr b="0" i="1" lang="es-ES" sz="1400" u="none" cap="none" strike="noStrike">
                <a:solidFill>
                  <a:srgbClr val="00B050"/>
                </a:solidFill>
                <a:latin typeface="Calibri"/>
                <a:ea typeface="Calibri"/>
                <a:cs typeface="Calibri"/>
                <a:sym typeface="Calibri"/>
              </a:rPr>
              <a:t>(monto, moneda)</a:t>
            </a:r>
            <a:r>
              <a:rPr b="0" i="1" lang="es-ES" sz="1400" u="none" cap="none" strike="noStrike">
                <a:solidFill>
                  <a:srgbClr val="7F7F7F"/>
                </a:solidFill>
                <a:latin typeface="Calibri"/>
                <a:ea typeface="Calibri"/>
                <a:cs typeface="Calibri"/>
                <a:sym typeface="Calibri"/>
              </a:rPr>
              <a:t> que oculta la complejidad de interactuar con diferentes proveedores de servicios de pago.</a:t>
            </a:r>
            <a:endParaRPr/>
          </a:p>
        </p:txBody>
      </p:sp>
      <p:sp>
        <p:nvSpPr>
          <p:cNvPr id="239" name="Google Shape;239;p21"/>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ABSTRACCIÓN Y ENCAPSULAMIENTO</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2"/>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BUENAS PRÁCTICAS DE DISEÑO DE SISTEMAS</a:t>
            </a:r>
            <a:endParaRPr/>
          </a:p>
        </p:txBody>
      </p:sp>
      <p:sp>
        <p:nvSpPr>
          <p:cNvPr id="246" name="Google Shape;246;p22"/>
          <p:cNvSpPr txBox="1"/>
          <p:nvPr>
            <p:ph idx="4" type="body"/>
          </p:nvPr>
        </p:nvSpPr>
        <p:spPr>
          <a:xfrm>
            <a:off x="468313" y="1177927"/>
            <a:ext cx="4560887" cy="4096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1"/>
              </a:buClr>
              <a:buSzPts val="1200"/>
              <a:buNone/>
            </a:pPr>
            <a:r>
              <a:rPr b="1" i="1" lang="es-ES">
                <a:solidFill>
                  <a:schemeClr val="accent1"/>
                </a:solidFill>
              </a:rPr>
              <a:t>¿En qué consiste?</a:t>
            </a:r>
            <a:endParaRPr/>
          </a:p>
          <a:p>
            <a:pPr indent="-266700" lvl="0" marL="266700" rtl="0" algn="l">
              <a:lnSpc>
                <a:spcPct val="100000"/>
              </a:lnSpc>
              <a:spcBef>
                <a:spcPts val="300"/>
              </a:spcBef>
              <a:spcAft>
                <a:spcPts val="0"/>
              </a:spcAft>
              <a:buClr>
                <a:schemeClr val="dk1"/>
              </a:buClr>
              <a:buSzPts val="1200"/>
              <a:buChar char="❑"/>
            </a:pPr>
            <a:r>
              <a:rPr lang="es-ES"/>
              <a:t>Aplicar patrones de diseño probados para resolver problemas comunes en el diseño de software.</a:t>
            </a:r>
            <a:endParaRPr/>
          </a:p>
          <a:p>
            <a:pPr indent="0" lvl="0" marL="0" rtl="0" algn="l">
              <a:lnSpc>
                <a:spcPct val="100000"/>
              </a:lnSpc>
              <a:spcBef>
                <a:spcPts val="1200"/>
              </a:spcBef>
              <a:spcAft>
                <a:spcPts val="0"/>
              </a:spcAft>
              <a:buClr>
                <a:schemeClr val="accent1"/>
              </a:buClr>
              <a:buSzPts val="1200"/>
              <a:buNone/>
            </a:pPr>
            <a:r>
              <a:rPr b="1" i="1" lang="es-ES">
                <a:solidFill>
                  <a:schemeClr val="accent1"/>
                </a:solidFill>
              </a:rPr>
              <a:t>¿Por qué es una buena práctica?</a:t>
            </a:r>
            <a:endParaRPr/>
          </a:p>
          <a:p>
            <a:pPr indent="-266700" lvl="0" marL="266700" rtl="0" algn="l">
              <a:lnSpc>
                <a:spcPct val="100000"/>
              </a:lnSpc>
              <a:spcBef>
                <a:spcPts val="300"/>
              </a:spcBef>
              <a:spcAft>
                <a:spcPts val="0"/>
              </a:spcAft>
              <a:buClr>
                <a:schemeClr val="dk1"/>
              </a:buClr>
              <a:buSzPts val="1200"/>
              <a:buChar char="❑"/>
            </a:pPr>
            <a:r>
              <a:rPr lang="es-ES"/>
              <a:t>Los patrones de diseño son soluciones probadas que pueden aumentar la eficiencia del desarrollo y facilitar la resolución de problemas complejos.</a:t>
            </a:r>
            <a:endParaRPr/>
          </a:p>
          <a:p>
            <a:pPr indent="0" lvl="0" marL="0" marR="0" rtl="0" algn="l">
              <a:lnSpc>
                <a:spcPct val="100000"/>
              </a:lnSpc>
              <a:spcBef>
                <a:spcPts val="3000"/>
              </a:spcBef>
              <a:spcAft>
                <a:spcPts val="0"/>
              </a:spcAft>
              <a:buClr>
                <a:srgbClr val="4F81BD"/>
              </a:buClr>
              <a:buSzPts val="1050"/>
              <a:buFont typeface="Noto Sans Symbols"/>
              <a:buNone/>
            </a:pPr>
            <a:r>
              <a:rPr b="1" i="1" lang="es-ES" sz="1400" u="sng" cap="none" strike="noStrike">
                <a:solidFill>
                  <a:srgbClr val="4F81BD"/>
                </a:solidFill>
                <a:latin typeface="Calibri"/>
                <a:ea typeface="Calibri"/>
                <a:cs typeface="Calibri"/>
                <a:sym typeface="Calibri"/>
              </a:rPr>
              <a:t>Ejemplo</a:t>
            </a:r>
            <a:r>
              <a:rPr b="1" i="1" lang="es-ES" sz="1400" u="none" cap="none" strike="noStrike">
                <a:solidFill>
                  <a:srgbClr val="4F81BD"/>
                </a:solidFill>
                <a:latin typeface="Calibri"/>
                <a:ea typeface="Calibri"/>
                <a:cs typeface="Calibri"/>
                <a:sym typeface="Calibri"/>
              </a:rPr>
              <a:t>: </a:t>
            </a:r>
            <a:r>
              <a:rPr b="0" i="1" lang="es-ES" sz="1400" u="none" cap="none" strike="noStrike">
                <a:solidFill>
                  <a:srgbClr val="7F7F7F"/>
                </a:solidFill>
                <a:latin typeface="Calibri"/>
                <a:ea typeface="Calibri"/>
                <a:cs typeface="Calibri"/>
                <a:sym typeface="Calibri"/>
              </a:rPr>
              <a:t>Si estás construyendo un sistema de notificaciones, podrías usar el patrón </a:t>
            </a:r>
            <a:r>
              <a:rPr b="0" i="1" lang="es-ES" sz="1400" u="none" cap="none" strike="noStrike">
                <a:solidFill>
                  <a:srgbClr val="00B050"/>
                </a:solidFill>
                <a:latin typeface="Calibri"/>
                <a:ea typeface="Calibri"/>
                <a:cs typeface="Calibri"/>
                <a:sym typeface="Calibri"/>
              </a:rPr>
              <a:t>Observer</a:t>
            </a:r>
            <a:r>
              <a:rPr b="0" i="1" lang="es-ES" sz="1400" u="none" cap="none" strike="noStrike">
                <a:solidFill>
                  <a:srgbClr val="7F7F7F"/>
                </a:solidFill>
                <a:latin typeface="Calibri"/>
                <a:ea typeface="Calibri"/>
                <a:cs typeface="Calibri"/>
                <a:sym typeface="Calibri"/>
              </a:rPr>
              <a:t> para permitir que diferentes partes del sistema se suscriban a eventos de notificación sin tener que conocer los detalles de cómo se generan esas notificaciones.</a:t>
            </a:r>
            <a:endParaRPr/>
          </a:p>
        </p:txBody>
      </p:sp>
      <p:sp>
        <p:nvSpPr>
          <p:cNvPr id="247" name="Google Shape;247;p22"/>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USO DE PATRONES DE DISEÑO</a:t>
            </a:r>
            <a:endParaRPr/>
          </a:p>
        </p:txBody>
      </p:sp>
      <p:pic>
        <p:nvPicPr>
          <p:cNvPr id="248" name="Google Shape;248;p22"/>
          <p:cNvPicPr preferRelativeResize="0"/>
          <p:nvPr>
            <p:ph idx="2" type="pic"/>
          </p:nvPr>
        </p:nvPicPr>
        <p:blipFill rotWithShape="1">
          <a:blip r:embed="rId3">
            <a:alphaModFix/>
          </a:blip>
          <a:srcRect b="374" l="0" r="0" t="372"/>
          <a:stretch/>
        </p:blipFill>
        <p:spPr>
          <a:xfrm>
            <a:off x="5394960" y="1260967"/>
            <a:ext cx="3072910" cy="334224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23"/>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BUENAS PRÁCTICAS DE DISEÑO DE SISTEMAS</a:t>
            </a:r>
            <a:endParaRPr/>
          </a:p>
        </p:txBody>
      </p:sp>
      <p:pic>
        <p:nvPicPr>
          <p:cNvPr id="255" name="Google Shape;255;p23"/>
          <p:cNvPicPr preferRelativeResize="0"/>
          <p:nvPr>
            <p:ph idx="2" type="pic"/>
          </p:nvPr>
        </p:nvPicPr>
        <p:blipFill rotWithShape="1">
          <a:blip r:embed="rId3">
            <a:alphaModFix/>
          </a:blip>
          <a:srcRect b="0" l="4034" r="4035" t="0"/>
          <a:stretch/>
        </p:blipFill>
        <p:spPr>
          <a:xfrm>
            <a:off x="5212081" y="1354983"/>
            <a:ext cx="3272414" cy="3559230"/>
          </a:xfrm>
          <a:prstGeom prst="rect">
            <a:avLst/>
          </a:prstGeom>
          <a:noFill/>
          <a:ln>
            <a:noFill/>
          </a:ln>
        </p:spPr>
      </p:pic>
      <p:sp>
        <p:nvSpPr>
          <p:cNvPr id="256" name="Google Shape;256;p23"/>
          <p:cNvSpPr txBox="1"/>
          <p:nvPr>
            <p:ph idx="4" type="body"/>
          </p:nvPr>
        </p:nvSpPr>
        <p:spPr>
          <a:xfrm>
            <a:off x="759259" y="1177927"/>
            <a:ext cx="4103687" cy="4096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1"/>
              </a:buClr>
              <a:buSzPts val="1200"/>
              <a:buNone/>
            </a:pPr>
            <a:r>
              <a:rPr b="1" i="1" lang="es-ES">
                <a:solidFill>
                  <a:schemeClr val="accent1"/>
                </a:solidFill>
              </a:rPr>
              <a:t>¿En qué consiste?</a:t>
            </a:r>
            <a:endParaRPr/>
          </a:p>
          <a:p>
            <a:pPr indent="-266700" lvl="0" marL="266700" rtl="0" algn="l">
              <a:lnSpc>
                <a:spcPct val="100000"/>
              </a:lnSpc>
              <a:spcBef>
                <a:spcPts val="300"/>
              </a:spcBef>
              <a:spcAft>
                <a:spcPts val="0"/>
              </a:spcAft>
              <a:buClr>
                <a:schemeClr val="dk1"/>
              </a:buClr>
              <a:buSzPts val="1200"/>
              <a:buChar char="❑"/>
            </a:pPr>
            <a:r>
              <a:rPr lang="es-ES"/>
              <a:t>Diseñar el sistema para que pueda manejar un aumento en la carga de trabajo sin afectar negativamente el rendimiento.</a:t>
            </a:r>
            <a:endParaRPr/>
          </a:p>
          <a:p>
            <a:pPr indent="0" lvl="0" marL="0" rtl="0" algn="l">
              <a:lnSpc>
                <a:spcPct val="100000"/>
              </a:lnSpc>
              <a:spcBef>
                <a:spcPts val="1200"/>
              </a:spcBef>
              <a:spcAft>
                <a:spcPts val="0"/>
              </a:spcAft>
              <a:buClr>
                <a:schemeClr val="accent1"/>
              </a:buClr>
              <a:buSzPts val="1200"/>
              <a:buNone/>
            </a:pPr>
            <a:r>
              <a:rPr b="1" i="1" lang="es-ES">
                <a:solidFill>
                  <a:schemeClr val="accent1"/>
                </a:solidFill>
              </a:rPr>
              <a:t>¿Por qué es una buena práctica?</a:t>
            </a:r>
            <a:endParaRPr/>
          </a:p>
          <a:p>
            <a:pPr indent="-266700" lvl="0" marL="266700" rtl="0" algn="l">
              <a:lnSpc>
                <a:spcPct val="100000"/>
              </a:lnSpc>
              <a:spcBef>
                <a:spcPts val="300"/>
              </a:spcBef>
              <a:spcAft>
                <a:spcPts val="0"/>
              </a:spcAft>
              <a:buClr>
                <a:schemeClr val="dk1"/>
              </a:buClr>
              <a:buSzPts val="1200"/>
              <a:buChar char="❑"/>
            </a:pPr>
            <a:r>
              <a:rPr lang="es-ES"/>
              <a:t>Prepara al sistema para el crecimiento futuro, evitando costosos rediseños o refactorizaciones.</a:t>
            </a:r>
            <a:endParaRPr/>
          </a:p>
          <a:p>
            <a:pPr indent="0" lvl="0" marL="0" marR="0" rtl="0" algn="l">
              <a:lnSpc>
                <a:spcPct val="100000"/>
              </a:lnSpc>
              <a:spcBef>
                <a:spcPts val="3000"/>
              </a:spcBef>
              <a:spcAft>
                <a:spcPts val="0"/>
              </a:spcAft>
              <a:buClr>
                <a:srgbClr val="4F81BD"/>
              </a:buClr>
              <a:buSzPts val="1050"/>
              <a:buFont typeface="Noto Sans Symbols"/>
              <a:buNone/>
            </a:pPr>
            <a:r>
              <a:rPr b="1" i="1" lang="es-ES" sz="1400" u="sng" cap="none" strike="noStrike">
                <a:solidFill>
                  <a:srgbClr val="4F81BD"/>
                </a:solidFill>
                <a:latin typeface="Calibri"/>
                <a:ea typeface="Calibri"/>
                <a:cs typeface="Calibri"/>
                <a:sym typeface="Calibri"/>
              </a:rPr>
              <a:t>Ejemplo</a:t>
            </a:r>
            <a:r>
              <a:rPr b="1" i="1" lang="es-ES" sz="1400" u="none" cap="none" strike="noStrike">
                <a:solidFill>
                  <a:srgbClr val="4F81BD"/>
                </a:solidFill>
                <a:latin typeface="Calibri"/>
                <a:ea typeface="Calibri"/>
                <a:cs typeface="Calibri"/>
                <a:sym typeface="Calibri"/>
              </a:rPr>
              <a:t>: </a:t>
            </a:r>
            <a:r>
              <a:rPr b="0" i="1" lang="es-ES" sz="1400" u="none" cap="none" strike="noStrike">
                <a:solidFill>
                  <a:srgbClr val="7F7F7F"/>
                </a:solidFill>
                <a:latin typeface="Calibri"/>
                <a:ea typeface="Calibri"/>
                <a:cs typeface="Calibri"/>
                <a:sym typeface="Calibri"/>
              </a:rPr>
              <a:t>En una red social, podrías diseñar la arquitectura para que los servidores se puedan añadir o quitar dinámicamente en función de la carga de trabajo, utilizando técnicas como balanceo de carga y microservicios.</a:t>
            </a:r>
            <a:endParaRPr/>
          </a:p>
        </p:txBody>
      </p:sp>
      <p:sp>
        <p:nvSpPr>
          <p:cNvPr id="257" name="Google Shape;257;p23"/>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DISEÑO ORIENTADO A LA ESCALABILIDAD</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24"/>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BUENAS PRÁCTICAS DE DISEÑO DE SISTEMAS</a:t>
            </a:r>
            <a:endParaRPr/>
          </a:p>
        </p:txBody>
      </p:sp>
      <p:sp>
        <p:nvSpPr>
          <p:cNvPr id="264" name="Google Shape;264;p24"/>
          <p:cNvSpPr txBox="1"/>
          <p:nvPr>
            <p:ph idx="4" type="body"/>
          </p:nvPr>
        </p:nvSpPr>
        <p:spPr>
          <a:xfrm>
            <a:off x="834074" y="1194409"/>
            <a:ext cx="3887556" cy="4096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1"/>
              </a:buClr>
              <a:buSzPts val="1200"/>
              <a:buNone/>
            </a:pPr>
            <a:r>
              <a:rPr b="1" i="1" lang="es-ES">
                <a:solidFill>
                  <a:schemeClr val="accent1"/>
                </a:solidFill>
              </a:rPr>
              <a:t>¿En qué consiste?</a:t>
            </a:r>
            <a:endParaRPr/>
          </a:p>
          <a:p>
            <a:pPr indent="-266700" lvl="0" marL="266700" rtl="0" algn="l">
              <a:lnSpc>
                <a:spcPct val="100000"/>
              </a:lnSpc>
              <a:spcBef>
                <a:spcPts val="300"/>
              </a:spcBef>
              <a:spcAft>
                <a:spcPts val="0"/>
              </a:spcAft>
              <a:buClr>
                <a:schemeClr val="dk1"/>
              </a:buClr>
              <a:buSzPts val="1200"/>
              <a:buChar char="❑"/>
            </a:pPr>
            <a:r>
              <a:rPr lang="es-ES"/>
              <a:t>Incorporar consideraciones de seguridad desde las primeras etapas del diseño, en lugar de añadirlas como una idea posterior.</a:t>
            </a:r>
            <a:endParaRPr/>
          </a:p>
          <a:p>
            <a:pPr indent="0" lvl="0" marL="0" rtl="0" algn="l">
              <a:lnSpc>
                <a:spcPct val="100000"/>
              </a:lnSpc>
              <a:spcBef>
                <a:spcPts val="1200"/>
              </a:spcBef>
              <a:spcAft>
                <a:spcPts val="0"/>
              </a:spcAft>
              <a:buClr>
                <a:schemeClr val="accent1"/>
              </a:buClr>
              <a:buSzPts val="1200"/>
              <a:buNone/>
            </a:pPr>
            <a:r>
              <a:rPr b="1" i="1" lang="es-ES">
                <a:solidFill>
                  <a:schemeClr val="accent1"/>
                </a:solidFill>
              </a:rPr>
              <a:t>¿Por qué es una buena práctica?</a:t>
            </a:r>
            <a:endParaRPr/>
          </a:p>
          <a:p>
            <a:pPr indent="-266700" lvl="0" marL="266700" rtl="0" algn="l">
              <a:lnSpc>
                <a:spcPct val="100000"/>
              </a:lnSpc>
              <a:spcBef>
                <a:spcPts val="300"/>
              </a:spcBef>
              <a:spcAft>
                <a:spcPts val="0"/>
              </a:spcAft>
              <a:buClr>
                <a:schemeClr val="dk1"/>
              </a:buClr>
              <a:buSzPts val="1200"/>
              <a:buChar char="❑"/>
            </a:pPr>
            <a:r>
              <a:rPr lang="es-ES"/>
              <a:t>Reduce la vulnerabilidad del sistema a ataques y mejora la confianza del usuario.</a:t>
            </a:r>
            <a:endParaRPr/>
          </a:p>
          <a:p>
            <a:pPr indent="0" lvl="0" marL="0" marR="0" rtl="0" algn="l">
              <a:lnSpc>
                <a:spcPct val="100000"/>
              </a:lnSpc>
              <a:spcBef>
                <a:spcPts val="3000"/>
              </a:spcBef>
              <a:spcAft>
                <a:spcPts val="0"/>
              </a:spcAft>
              <a:buClr>
                <a:srgbClr val="4F81BD"/>
              </a:buClr>
              <a:buSzPts val="1050"/>
              <a:buFont typeface="Noto Sans Symbols"/>
              <a:buNone/>
            </a:pPr>
            <a:r>
              <a:rPr b="1" i="1" lang="es-ES" sz="1400" u="sng" cap="none" strike="noStrike">
                <a:solidFill>
                  <a:srgbClr val="4F81BD"/>
                </a:solidFill>
                <a:latin typeface="Calibri"/>
                <a:ea typeface="Calibri"/>
                <a:cs typeface="Calibri"/>
                <a:sym typeface="Calibri"/>
              </a:rPr>
              <a:t>Ejemplo</a:t>
            </a:r>
            <a:r>
              <a:rPr b="1" i="1" lang="es-ES" sz="1400" u="none" cap="none" strike="noStrike">
                <a:solidFill>
                  <a:srgbClr val="4F81BD"/>
                </a:solidFill>
                <a:latin typeface="Calibri"/>
                <a:ea typeface="Calibri"/>
                <a:cs typeface="Calibri"/>
                <a:sym typeface="Calibri"/>
              </a:rPr>
              <a:t>: </a:t>
            </a:r>
            <a:r>
              <a:rPr b="0" i="1" lang="es-ES" sz="1400" u="none" cap="none" strike="noStrike">
                <a:solidFill>
                  <a:srgbClr val="7F7F7F"/>
                </a:solidFill>
                <a:latin typeface="Calibri"/>
                <a:ea typeface="Calibri"/>
                <a:cs typeface="Calibri"/>
                <a:sym typeface="Calibri"/>
              </a:rPr>
              <a:t>En una aplicación de almacenamiento en la nube, podrías implementar el cifrado de extremo a extremo desde el inicio, asegurando que solo los usuarios puedan acceder a sus propios datos.</a:t>
            </a:r>
            <a:endParaRPr/>
          </a:p>
        </p:txBody>
      </p:sp>
      <p:sp>
        <p:nvSpPr>
          <p:cNvPr id="265" name="Google Shape;265;p24"/>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ENFOQUE EN LA SEGURIDAD DESDE EL DISEÑO</a:t>
            </a:r>
            <a:endParaRPr/>
          </a:p>
        </p:txBody>
      </p:sp>
      <p:pic>
        <p:nvPicPr>
          <p:cNvPr id="266" name="Google Shape;266;p24"/>
          <p:cNvPicPr preferRelativeResize="0"/>
          <p:nvPr>
            <p:ph idx="2" type="pic"/>
          </p:nvPr>
        </p:nvPicPr>
        <p:blipFill rotWithShape="1">
          <a:blip r:embed="rId3">
            <a:alphaModFix/>
          </a:blip>
          <a:srcRect b="374" l="0" r="0" t="372"/>
          <a:stretch/>
        </p:blipFill>
        <p:spPr>
          <a:xfrm>
            <a:off x="5088807" y="1483101"/>
            <a:ext cx="3154620" cy="3431112"/>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25"/>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BUENAS PRÁCTICAS DE DISEÑO DE SISTEMAS</a:t>
            </a:r>
            <a:endParaRPr/>
          </a:p>
        </p:txBody>
      </p:sp>
      <p:pic>
        <p:nvPicPr>
          <p:cNvPr id="273" name="Google Shape;273;p25"/>
          <p:cNvPicPr preferRelativeResize="0"/>
          <p:nvPr>
            <p:ph idx="2" type="pic"/>
          </p:nvPr>
        </p:nvPicPr>
        <p:blipFill rotWithShape="1">
          <a:blip r:embed="rId3">
            <a:alphaModFix/>
          </a:blip>
          <a:srcRect b="0" l="19338" r="19339" t="0"/>
          <a:stretch/>
        </p:blipFill>
        <p:spPr>
          <a:xfrm>
            <a:off x="5371041" y="1370544"/>
            <a:ext cx="3055264" cy="3323047"/>
          </a:xfrm>
          <a:prstGeom prst="rect">
            <a:avLst/>
          </a:prstGeom>
          <a:noFill/>
          <a:ln>
            <a:noFill/>
          </a:ln>
        </p:spPr>
      </p:pic>
      <p:sp>
        <p:nvSpPr>
          <p:cNvPr id="274" name="Google Shape;274;p25"/>
          <p:cNvSpPr txBox="1"/>
          <p:nvPr>
            <p:ph idx="4" type="body"/>
          </p:nvPr>
        </p:nvSpPr>
        <p:spPr>
          <a:xfrm>
            <a:off x="717695" y="1185183"/>
            <a:ext cx="4527636" cy="4096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1"/>
              </a:buClr>
              <a:buSzPts val="1200"/>
              <a:buNone/>
            </a:pPr>
            <a:r>
              <a:rPr b="1" i="1" lang="es-ES">
                <a:solidFill>
                  <a:schemeClr val="accent1"/>
                </a:solidFill>
              </a:rPr>
              <a:t>¿En qué consiste?</a:t>
            </a:r>
            <a:endParaRPr/>
          </a:p>
          <a:p>
            <a:pPr indent="-266700" lvl="0" marL="266700" rtl="0" algn="l">
              <a:lnSpc>
                <a:spcPct val="100000"/>
              </a:lnSpc>
              <a:spcBef>
                <a:spcPts val="300"/>
              </a:spcBef>
              <a:spcAft>
                <a:spcPts val="0"/>
              </a:spcAft>
              <a:buClr>
                <a:schemeClr val="dk1"/>
              </a:buClr>
              <a:buSzPts val="1200"/>
              <a:buChar char="❑"/>
            </a:pPr>
            <a:r>
              <a:rPr lang="es-ES"/>
              <a:t>Crear documentación detallada que explique el diseño, las decisiones tomadas, y cómo interactúan los diferentes componentes.</a:t>
            </a:r>
            <a:endParaRPr/>
          </a:p>
          <a:p>
            <a:pPr indent="0" lvl="0" marL="0" rtl="0" algn="l">
              <a:lnSpc>
                <a:spcPct val="100000"/>
              </a:lnSpc>
              <a:spcBef>
                <a:spcPts val="1200"/>
              </a:spcBef>
              <a:spcAft>
                <a:spcPts val="0"/>
              </a:spcAft>
              <a:buClr>
                <a:schemeClr val="accent1"/>
              </a:buClr>
              <a:buSzPts val="1200"/>
              <a:buNone/>
            </a:pPr>
            <a:r>
              <a:rPr b="1" i="1" lang="es-ES">
                <a:solidFill>
                  <a:schemeClr val="accent1"/>
                </a:solidFill>
              </a:rPr>
              <a:t>¿Por qué es una buena práctica?</a:t>
            </a:r>
            <a:endParaRPr/>
          </a:p>
          <a:p>
            <a:pPr indent="-266700" lvl="0" marL="266700" rtl="0" algn="l">
              <a:lnSpc>
                <a:spcPct val="100000"/>
              </a:lnSpc>
              <a:spcBef>
                <a:spcPts val="300"/>
              </a:spcBef>
              <a:spcAft>
                <a:spcPts val="0"/>
              </a:spcAft>
              <a:buClr>
                <a:schemeClr val="dk1"/>
              </a:buClr>
              <a:buSzPts val="1200"/>
              <a:buChar char="❑"/>
            </a:pPr>
            <a:r>
              <a:rPr lang="es-ES"/>
              <a:t>Facilita el mantenimiento y la extensión futura del sistema, y ayuda a nuevos desarrolladores a entender rápidamente el proyecto.</a:t>
            </a:r>
            <a:endParaRPr/>
          </a:p>
          <a:p>
            <a:pPr indent="0" lvl="0" marL="0" marR="0" rtl="0" algn="l">
              <a:lnSpc>
                <a:spcPct val="100000"/>
              </a:lnSpc>
              <a:spcBef>
                <a:spcPts val="2400"/>
              </a:spcBef>
              <a:spcAft>
                <a:spcPts val="0"/>
              </a:spcAft>
              <a:buClr>
                <a:srgbClr val="4F81BD"/>
              </a:buClr>
              <a:buSzPts val="1050"/>
              <a:buFont typeface="Noto Sans Symbols"/>
              <a:buNone/>
            </a:pPr>
            <a:r>
              <a:rPr b="1" i="1" lang="es-ES" sz="1400" u="sng" cap="none" strike="noStrike">
                <a:solidFill>
                  <a:srgbClr val="4F81BD"/>
                </a:solidFill>
                <a:latin typeface="Calibri"/>
                <a:ea typeface="Calibri"/>
                <a:cs typeface="Calibri"/>
                <a:sym typeface="Calibri"/>
              </a:rPr>
              <a:t>Ejemplo</a:t>
            </a:r>
            <a:r>
              <a:rPr b="1" i="1" lang="es-ES" sz="1400" u="none" cap="none" strike="noStrike">
                <a:solidFill>
                  <a:srgbClr val="4F81BD"/>
                </a:solidFill>
                <a:latin typeface="Calibri"/>
                <a:ea typeface="Calibri"/>
                <a:cs typeface="Calibri"/>
                <a:sym typeface="Calibri"/>
              </a:rPr>
              <a:t>: </a:t>
            </a:r>
            <a:r>
              <a:rPr b="0" i="1" lang="es-ES" sz="1400" u="none" cap="none" strike="noStrike">
                <a:solidFill>
                  <a:srgbClr val="7F7F7F"/>
                </a:solidFill>
                <a:latin typeface="Calibri"/>
                <a:ea typeface="Calibri"/>
                <a:cs typeface="Calibri"/>
                <a:sym typeface="Calibri"/>
              </a:rPr>
              <a:t>En un proyecto de código abierto, podrías incluir una documentación completa que abarque desde la instalación y configuración hasta ejemplos de uso y contribución para futuros desarrolladores.</a:t>
            </a:r>
            <a:endParaRPr/>
          </a:p>
        </p:txBody>
      </p:sp>
      <p:sp>
        <p:nvSpPr>
          <p:cNvPr id="275" name="Google Shape;275;p25"/>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DOCUMENTACIÓN EXHAUSTIVA</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26"/>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BUENAS PRÁCTICAS DE DISEÑO DE SISTEMAS</a:t>
            </a:r>
            <a:endParaRPr/>
          </a:p>
        </p:txBody>
      </p:sp>
      <p:pic>
        <p:nvPicPr>
          <p:cNvPr id="282" name="Google Shape;282;p26"/>
          <p:cNvPicPr preferRelativeResize="0"/>
          <p:nvPr>
            <p:ph idx="2" type="pic"/>
          </p:nvPr>
        </p:nvPicPr>
        <p:blipFill rotWithShape="1">
          <a:blip r:embed="rId3">
            <a:alphaModFix/>
          </a:blip>
          <a:srcRect b="0" l="8618" r="8617" t="0"/>
          <a:stretch/>
        </p:blipFill>
        <p:spPr>
          <a:xfrm>
            <a:off x="5253643" y="1300733"/>
            <a:ext cx="3322292" cy="3613479"/>
          </a:xfrm>
          <a:prstGeom prst="rect">
            <a:avLst/>
          </a:prstGeom>
          <a:noFill/>
          <a:ln>
            <a:noFill/>
          </a:ln>
        </p:spPr>
      </p:pic>
      <p:sp>
        <p:nvSpPr>
          <p:cNvPr id="283" name="Google Shape;283;p26"/>
          <p:cNvSpPr txBox="1"/>
          <p:nvPr>
            <p:ph idx="4" type="body"/>
          </p:nvPr>
        </p:nvSpPr>
        <p:spPr>
          <a:xfrm>
            <a:off x="634567" y="1183759"/>
            <a:ext cx="4319818" cy="4096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1"/>
              </a:buClr>
              <a:buSzPts val="1200"/>
              <a:buNone/>
            </a:pPr>
            <a:r>
              <a:rPr b="1" i="1" lang="es-ES">
                <a:solidFill>
                  <a:schemeClr val="accent1"/>
                </a:solidFill>
              </a:rPr>
              <a:t>¿En qué consiste?</a:t>
            </a:r>
            <a:endParaRPr/>
          </a:p>
          <a:p>
            <a:pPr indent="-266700" lvl="0" marL="266700" rtl="0" algn="l">
              <a:lnSpc>
                <a:spcPct val="100000"/>
              </a:lnSpc>
              <a:spcBef>
                <a:spcPts val="300"/>
              </a:spcBef>
              <a:spcAft>
                <a:spcPts val="0"/>
              </a:spcAft>
              <a:buClr>
                <a:schemeClr val="dk1"/>
              </a:buClr>
              <a:buSzPts val="1200"/>
              <a:buChar char="❑"/>
            </a:pPr>
            <a:r>
              <a:rPr lang="es-ES"/>
              <a:t>Involucrar a los usuarios en el proceso de diseño para asegurarse de que el sistema cumpla con sus necesidades y expectativas.</a:t>
            </a:r>
            <a:endParaRPr/>
          </a:p>
          <a:p>
            <a:pPr indent="0" lvl="0" marL="0" rtl="0" algn="l">
              <a:lnSpc>
                <a:spcPct val="100000"/>
              </a:lnSpc>
              <a:spcBef>
                <a:spcPts val="1200"/>
              </a:spcBef>
              <a:spcAft>
                <a:spcPts val="0"/>
              </a:spcAft>
              <a:buClr>
                <a:schemeClr val="accent1"/>
              </a:buClr>
              <a:buSzPts val="1200"/>
              <a:buNone/>
            </a:pPr>
            <a:r>
              <a:rPr b="1" i="1" lang="es-ES">
                <a:solidFill>
                  <a:schemeClr val="accent1"/>
                </a:solidFill>
              </a:rPr>
              <a:t>¿Por qué es una buena práctica?</a:t>
            </a:r>
            <a:endParaRPr/>
          </a:p>
          <a:p>
            <a:pPr indent="-266700" lvl="0" marL="266700" rtl="0" algn="l">
              <a:lnSpc>
                <a:spcPct val="100000"/>
              </a:lnSpc>
              <a:spcBef>
                <a:spcPts val="300"/>
              </a:spcBef>
              <a:spcAft>
                <a:spcPts val="0"/>
              </a:spcAft>
              <a:buClr>
                <a:schemeClr val="dk1"/>
              </a:buClr>
              <a:buSzPts val="1200"/>
              <a:buChar char="❑"/>
            </a:pPr>
            <a:r>
              <a:rPr lang="es-ES"/>
              <a:t>Mejora la adopción del sistema y la satisfacción del usuario, lo que a menudo es crítico para el éxito del proyecto.</a:t>
            </a:r>
            <a:endParaRPr/>
          </a:p>
          <a:p>
            <a:pPr indent="0" lvl="0" marL="0" marR="0" rtl="0" algn="l">
              <a:lnSpc>
                <a:spcPct val="100000"/>
              </a:lnSpc>
              <a:spcBef>
                <a:spcPts val="3000"/>
              </a:spcBef>
              <a:spcAft>
                <a:spcPts val="0"/>
              </a:spcAft>
              <a:buClr>
                <a:srgbClr val="4F81BD"/>
              </a:buClr>
              <a:buSzPts val="1050"/>
              <a:buFont typeface="Noto Sans Symbols"/>
              <a:buNone/>
            </a:pPr>
            <a:r>
              <a:rPr b="1" i="1" lang="es-ES" sz="1400" u="sng" cap="none" strike="noStrike">
                <a:solidFill>
                  <a:srgbClr val="4F81BD"/>
                </a:solidFill>
                <a:latin typeface="Calibri"/>
                <a:ea typeface="Calibri"/>
                <a:cs typeface="Calibri"/>
                <a:sym typeface="Calibri"/>
              </a:rPr>
              <a:t>Ejemplo</a:t>
            </a:r>
            <a:r>
              <a:rPr b="1" i="1" lang="es-ES" sz="1400" u="none" cap="none" strike="noStrike">
                <a:solidFill>
                  <a:srgbClr val="4F81BD"/>
                </a:solidFill>
                <a:latin typeface="Calibri"/>
                <a:ea typeface="Calibri"/>
                <a:cs typeface="Calibri"/>
                <a:sym typeface="Calibri"/>
              </a:rPr>
              <a:t>: </a:t>
            </a:r>
            <a:r>
              <a:rPr b="0" i="1" lang="es-ES" sz="1400" u="none" cap="none" strike="noStrike">
                <a:solidFill>
                  <a:srgbClr val="7F7F7F"/>
                </a:solidFill>
                <a:latin typeface="Calibri"/>
                <a:ea typeface="Calibri"/>
                <a:cs typeface="Calibri"/>
                <a:sym typeface="Calibri"/>
              </a:rPr>
              <a:t>Si estás desarrollando una aplicación móvil para el seguimiento de la salud, podrías realizar entrevistas con usuarios potenciales para entender sus necesidades y luego diseñar la interfaz y las funcionalidades en torno a esos requisitos.</a:t>
            </a:r>
            <a:endParaRPr/>
          </a:p>
        </p:txBody>
      </p:sp>
      <p:sp>
        <p:nvSpPr>
          <p:cNvPr id="284" name="Google Shape;284;p26"/>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DISEÑO CENTRADO EN EL USUARIO</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27"/>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BUENAS PRÁCTICAS DE DISEÑO DE SISTEMAS</a:t>
            </a:r>
            <a:endParaRPr/>
          </a:p>
        </p:txBody>
      </p:sp>
      <p:pic>
        <p:nvPicPr>
          <p:cNvPr id="291" name="Google Shape;291;p27"/>
          <p:cNvPicPr preferRelativeResize="0"/>
          <p:nvPr>
            <p:ph idx="2" type="pic"/>
          </p:nvPr>
        </p:nvPicPr>
        <p:blipFill rotWithShape="1">
          <a:blip r:embed="rId3">
            <a:alphaModFix/>
          </a:blip>
          <a:srcRect b="374" l="0" r="0" t="372"/>
          <a:stretch/>
        </p:blipFill>
        <p:spPr>
          <a:xfrm>
            <a:off x="5162203" y="1246485"/>
            <a:ext cx="3372168" cy="3667727"/>
          </a:xfrm>
          <a:prstGeom prst="rect">
            <a:avLst/>
          </a:prstGeom>
          <a:noFill/>
          <a:ln>
            <a:noFill/>
          </a:ln>
        </p:spPr>
      </p:pic>
      <p:sp>
        <p:nvSpPr>
          <p:cNvPr id="292" name="Google Shape;292;p27"/>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CONSIDERACIONES</a:t>
            </a:r>
            <a:endParaRPr/>
          </a:p>
        </p:txBody>
      </p:sp>
      <p:sp>
        <p:nvSpPr>
          <p:cNvPr id="293" name="Google Shape;293;p27"/>
          <p:cNvSpPr txBox="1"/>
          <p:nvPr>
            <p:ph idx="4" type="body"/>
          </p:nvPr>
        </p:nvSpPr>
        <p:spPr>
          <a:xfrm>
            <a:off x="676131" y="1163638"/>
            <a:ext cx="4103687"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Estas buenas prácticas no son sólo teóricas; tienen un impacto real en la calidad del sistema final. </a:t>
            </a:r>
            <a:endParaRPr/>
          </a:p>
          <a:p>
            <a:pPr indent="-266700" lvl="0" marL="266700" rtl="0" algn="l">
              <a:lnSpc>
                <a:spcPct val="100000"/>
              </a:lnSpc>
              <a:spcBef>
                <a:spcPts val="1200"/>
              </a:spcBef>
              <a:spcAft>
                <a:spcPts val="0"/>
              </a:spcAft>
              <a:buClr>
                <a:schemeClr val="dk1"/>
              </a:buClr>
              <a:buSzPts val="1200"/>
              <a:buChar char="❑"/>
            </a:pPr>
            <a:r>
              <a:rPr lang="es-ES"/>
              <a:t>Un diseño modular bien ejecutado puede hacer que un sistema sea mucho más fácil de mantener y extender en el futuro. La seguridad desde el diseño no sólo protege la integridad del sistema, sino que también puede evitar costosos incidentes de seguridad. </a:t>
            </a:r>
            <a:endParaRPr/>
          </a:p>
          <a:p>
            <a:pPr indent="-266700" lvl="0" marL="266700" rtl="0" algn="l">
              <a:lnSpc>
                <a:spcPct val="100000"/>
              </a:lnSpc>
              <a:spcBef>
                <a:spcPts val="1200"/>
              </a:spcBef>
              <a:spcAft>
                <a:spcPts val="0"/>
              </a:spcAft>
              <a:buClr>
                <a:schemeClr val="dk1"/>
              </a:buClr>
              <a:buSzPts val="1200"/>
              <a:buChar char="❑"/>
            </a:pPr>
            <a:r>
              <a:rPr lang="es-ES"/>
              <a:t>Invertir tiempo en seguir estas buenas prácticas durante la fase de diseño puede ahorrar mucho tiempo y recursos en etapas posteriores del ciclo de vida del desarrollo.</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28"/>
          <p:cNvSpPr/>
          <p:nvPr/>
        </p:nvSpPr>
        <p:spPr>
          <a:xfrm>
            <a:off x="0" y="0"/>
            <a:ext cx="9144000" cy="5715000"/>
          </a:xfrm>
          <a:prstGeom prst="rect">
            <a:avLst/>
          </a:prstGeom>
          <a:solidFill>
            <a:srgbClr val="1F85A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Calibri"/>
              <a:ea typeface="Calibri"/>
              <a:cs typeface="Calibri"/>
              <a:sym typeface="Calibri"/>
            </a:endParaRPr>
          </a:p>
        </p:txBody>
      </p:sp>
      <p:sp>
        <p:nvSpPr>
          <p:cNvPr id="300" name="Google Shape;300;p28"/>
          <p:cNvSpPr/>
          <p:nvPr/>
        </p:nvSpPr>
        <p:spPr>
          <a:xfrm>
            <a:off x="424252" y="3703125"/>
            <a:ext cx="7966170" cy="523180"/>
          </a:xfrm>
          <a:prstGeom prst="rect">
            <a:avLst/>
          </a:prstGeom>
          <a:noFill/>
          <a:ln>
            <a:noFill/>
          </a:ln>
        </p:spPr>
        <p:txBody>
          <a:bodyPr anchorCtr="0" anchor="t" bIns="45700" lIns="91425" spcFirstLastPara="1" rIns="91425" wrap="square" tIns="45700">
            <a:spAutoFit/>
          </a:bodyPr>
          <a:lstStyle/>
          <a:p>
            <a:pPr indent="-274638" lvl="0" marL="274638" marR="0" rtl="0" algn="l">
              <a:lnSpc>
                <a:spcPct val="100000"/>
              </a:lnSpc>
              <a:spcBef>
                <a:spcPts val="0"/>
              </a:spcBef>
              <a:spcAft>
                <a:spcPts val="0"/>
              </a:spcAft>
              <a:buClr>
                <a:srgbClr val="000000"/>
              </a:buClr>
              <a:buSzPts val="2800"/>
              <a:buFont typeface="Arial"/>
              <a:buNone/>
            </a:pPr>
            <a:r>
              <a:rPr b="1" i="0" lang="es-ES" sz="2800" u="none" cap="none" strike="noStrike">
                <a:solidFill>
                  <a:schemeClr val="lt1"/>
                </a:solidFill>
                <a:latin typeface="Calibri"/>
                <a:ea typeface="Calibri"/>
                <a:cs typeface="Calibri"/>
                <a:sym typeface="Calibri"/>
              </a:rPr>
              <a:t>/ DISEÑO DE LA ARQUITECTURA DEL SISTEMA</a:t>
            </a:r>
            <a:endParaRPr b="1" i="0" sz="1600" u="none" cap="none" strike="noStrike">
              <a:solidFill>
                <a:schemeClr val="lt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29"/>
          <p:cNvSpPr txBox="1"/>
          <p:nvPr>
            <p:ph idx="3" type="body"/>
          </p:nvPr>
        </p:nvSpPr>
        <p:spPr>
          <a:xfrm>
            <a:off x="475687"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DISEÑO DE LA ARQUITECTURA DEL SISTEMA</a:t>
            </a:r>
            <a:endParaRPr/>
          </a:p>
        </p:txBody>
      </p:sp>
      <p:sp>
        <p:nvSpPr>
          <p:cNvPr id="307" name="Google Shape;307;p29"/>
          <p:cNvSpPr txBox="1"/>
          <p:nvPr>
            <p:ph idx="4" type="body"/>
          </p:nvPr>
        </p:nvSpPr>
        <p:spPr>
          <a:xfrm>
            <a:off x="475687" y="1169422"/>
            <a:ext cx="8200800" cy="16920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Es una de las etapas más críticas en el desarrollo de software y sistemas de información. </a:t>
            </a:r>
            <a:endParaRPr/>
          </a:p>
          <a:p>
            <a:pPr indent="-266700" lvl="0" marL="266700" rtl="0" algn="l">
              <a:lnSpc>
                <a:spcPct val="100000"/>
              </a:lnSpc>
              <a:spcBef>
                <a:spcPts val="1200"/>
              </a:spcBef>
              <a:spcAft>
                <a:spcPts val="0"/>
              </a:spcAft>
              <a:buClr>
                <a:schemeClr val="dk1"/>
              </a:buClr>
              <a:buSzPts val="1200"/>
              <a:buChar char="❑"/>
            </a:pPr>
            <a:r>
              <a:rPr lang="es-ES"/>
              <a:t>En esta fase se define la estructura general del sistema, incluyendo cómo se organizan y se interconectan sus diferentes componentes. </a:t>
            </a:r>
            <a:endParaRPr/>
          </a:p>
          <a:p>
            <a:pPr indent="-266700" lvl="0" marL="266700" rtl="0" algn="l">
              <a:lnSpc>
                <a:spcPct val="100000"/>
              </a:lnSpc>
              <a:spcBef>
                <a:spcPts val="1200"/>
              </a:spcBef>
              <a:spcAft>
                <a:spcPts val="0"/>
              </a:spcAft>
              <a:buClr>
                <a:schemeClr val="dk1"/>
              </a:buClr>
              <a:buSzPts val="1200"/>
              <a:buChar char="❑"/>
            </a:pPr>
            <a:r>
              <a:rPr lang="es-ES"/>
              <a:t>Aquí se toman decisiones clave que afectarán a todo el ciclo de vida del proyecto, desde el desarrollo hasta el mantenimiento y la escalabilidad.</a:t>
            </a:r>
            <a:endParaRPr/>
          </a:p>
        </p:txBody>
      </p:sp>
      <p:sp>
        <p:nvSpPr>
          <p:cNvPr id="308" name="Google Shape;308;p29"/>
          <p:cNvSpPr txBox="1"/>
          <p:nvPr>
            <p:ph idx="1" type="body"/>
          </p:nvPr>
        </p:nvSpPr>
        <p:spPr>
          <a:xfrm>
            <a:off x="475687" y="804863"/>
            <a:ext cx="8207375"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¿EN QUÉ CONSISTE?</a:t>
            </a:r>
            <a:endParaRPr/>
          </a:p>
        </p:txBody>
      </p:sp>
      <p:pic>
        <p:nvPicPr>
          <p:cNvPr id="309" name="Google Shape;309;p29"/>
          <p:cNvPicPr preferRelativeResize="0"/>
          <p:nvPr>
            <p:ph idx="2" type="pic"/>
          </p:nvPr>
        </p:nvPicPr>
        <p:blipFill rotWithShape="1">
          <a:blip r:embed="rId3">
            <a:alphaModFix/>
          </a:blip>
          <a:srcRect b="37" l="0" r="0" t="39"/>
          <a:stretch/>
        </p:blipFill>
        <p:spPr>
          <a:xfrm>
            <a:off x="1064600" y="3125584"/>
            <a:ext cx="7014800" cy="2046139"/>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30"/>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DISEÑO DE LA ARQUITECTURA DEL SISTEMA</a:t>
            </a:r>
            <a:endParaRPr/>
          </a:p>
        </p:txBody>
      </p:sp>
      <p:sp>
        <p:nvSpPr>
          <p:cNvPr id="316" name="Google Shape;316;p30"/>
          <p:cNvSpPr txBox="1"/>
          <p:nvPr>
            <p:ph idx="4" type="body"/>
          </p:nvPr>
        </p:nvSpPr>
        <p:spPr>
          <a:xfrm>
            <a:off x="468313" y="1177927"/>
            <a:ext cx="4825204"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b="1" lang="es-ES"/>
              <a:t>Componentes y Módulos:</a:t>
            </a:r>
            <a:endParaRPr/>
          </a:p>
          <a:p>
            <a:pPr indent="0" lvl="1" marL="265113" rtl="0" algn="l">
              <a:lnSpc>
                <a:spcPct val="100000"/>
              </a:lnSpc>
              <a:spcBef>
                <a:spcPts val="300"/>
              </a:spcBef>
              <a:spcAft>
                <a:spcPts val="0"/>
              </a:spcAft>
              <a:buClr>
                <a:schemeClr val="dk1"/>
              </a:buClr>
              <a:buSzPts val="1600"/>
              <a:buNone/>
            </a:pPr>
            <a:r>
              <a:rPr lang="es-ES"/>
              <a:t>Identificación de las principales piezas funcionales del sistema, que podrían ser módulos de software, microservicios, bibliotecas, etc.</a:t>
            </a:r>
            <a:endParaRPr/>
          </a:p>
          <a:p>
            <a:pPr indent="-266700" lvl="0" marL="266700" rtl="0" algn="l">
              <a:lnSpc>
                <a:spcPct val="100000"/>
              </a:lnSpc>
              <a:spcBef>
                <a:spcPts val="1200"/>
              </a:spcBef>
              <a:spcAft>
                <a:spcPts val="0"/>
              </a:spcAft>
              <a:buClr>
                <a:schemeClr val="dk1"/>
              </a:buClr>
              <a:buSzPts val="1200"/>
              <a:buChar char="❑"/>
            </a:pPr>
            <a:r>
              <a:rPr b="1" lang="es-ES"/>
              <a:t>Interconexión:</a:t>
            </a:r>
            <a:endParaRPr/>
          </a:p>
          <a:p>
            <a:pPr indent="0" lvl="1" marL="265113" rtl="0" algn="l">
              <a:lnSpc>
                <a:spcPct val="100000"/>
              </a:lnSpc>
              <a:spcBef>
                <a:spcPts val="300"/>
              </a:spcBef>
              <a:spcAft>
                <a:spcPts val="0"/>
              </a:spcAft>
              <a:buClr>
                <a:schemeClr val="dk1"/>
              </a:buClr>
              <a:buSzPts val="1600"/>
              <a:buNone/>
            </a:pPr>
            <a:r>
              <a:rPr lang="es-ES"/>
              <a:t>Definición de cómo estos componentes se comunicarán entre sí. Esto puede implicar el uso de APIs, colas de mensajes, bases de datos compartidas, etc.</a:t>
            </a:r>
            <a:endParaRPr/>
          </a:p>
          <a:p>
            <a:pPr indent="-266700" lvl="0" marL="266700" rtl="0" algn="l">
              <a:lnSpc>
                <a:spcPct val="100000"/>
              </a:lnSpc>
              <a:spcBef>
                <a:spcPts val="1200"/>
              </a:spcBef>
              <a:spcAft>
                <a:spcPts val="0"/>
              </a:spcAft>
              <a:buClr>
                <a:schemeClr val="dk1"/>
              </a:buClr>
              <a:buSzPts val="1200"/>
              <a:buChar char="❑"/>
            </a:pPr>
            <a:r>
              <a:rPr b="1" lang="es-ES"/>
              <a:t>Flujo de Datos:</a:t>
            </a:r>
            <a:endParaRPr/>
          </a:p>
          <a:p>
            <a:pPr indent="0" lvl="1" marL="265113" rtl="0" algn="l">
              <a:lnSpc>
                <a:spcPct val="100000"/>
              </a:lnSpc>
              <a:spcBef>
                <a:spcPts val="300"/>
              </a:spcBef>
              <a:spcAft>
                <a:spcPts val="0"/>
              </a:spcAft>
              <a:buClr>
                <a:schemeClr val="dk1"/>
              </a:buClr>
              <a:buSzPts val="1600"/>
              <a:buNone/>
            </a:pPr>
            <a:r>
              <a:rPr lang="es-ES"/>
              <a:t>Descripción de cómo los datos se moverán a través del sistema, desde la entrada hasta la salida, pasando por cualquier procesamiento intermedio.</a:t>
            </a:r>
            <a:endParaRPr/>
          </a:p>
        </p:txBody>
      </p:sp>
      <p:sp>
        <p:nvSpPr>
          <p:cNvPr id="317" name="Google Shape;317;p30"/>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COMPONENTES</a:t>
            </a:r>
            <a:r>
              <a:rPr lang="es-ES" sz="1400">
                <a:solidFill>
                  <a:srgbClr val="7F7F7F"/>
                </a:solidFill>
              </a:rPr>
              <a:t>   [1/3]</a:t>
            </a:r>
            <a:endParaRPr>
              <a:solidFill>
                <a:srgbClr val="7F7F7F"/>
              </a:solidFill>
            </a:endParaRPr>
          </a:p>
        </p:txBody>
      </p:sp>
      <p:pic>
        <p:nvPicPr>
          <p:cNvPr id="318" name="Google Shape;318;p30"/>
          <p:cNvPicPr preferRelativeResize="0"/>
          <p:nvPr>
            <p:ph idx="2" type="pic"/>
          </p:nvPr>
        </p:nvPicPr>
        <p:blipFill rotWithShape="1">
          <a:blip r:embed="rId3">
            <a:alphaModFix/>
          </a:blip>
          <a:srcRect b="0" l="90" r="88" t="0"/>
          <a:stretch/>
        </p:blipFill>
        <p:spPr>
          <a:xfrm>
            <a:off x="5293517" y="1177927"/>
            <a:ext cx="3498549" cy="380518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31"/>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DISEÑO DE LA ARQUITECTURA DEL SISTEMA</a:t>
            </a:r>
            <a:endParaRPr/>
          </a:p>
        </p:txBody>
      </p:sp>
      <p:sp>
        <p:nvSpPr>
          <p:cNvPr id="325" name="Google Shape;325;p31"/>
          <p:cNvSpPr txBox="1"/>
          <p:nvPr>
            <p:ph idx="4" type="body"/>
          </p:nvPr>
        </p:nvSpPr>
        <p:spPr>
          <a:xfrm>
            <a:off x="468313" y="1177927"/>
            <a:ext cx="4768705"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b="1" lang="es-ES"/>
              <a:t>Capas de Software:</a:t>
            </a:r>
            <a:endParaRPr/>
          </a:p>
          <a:p>
            <a:pPr indent="0" lvl="1" marL="265113" rtl="0" algn="l">
              <a:lnSpc>
                <a:spcPct val="100000"/>
              </a:lnSpc>
              <a:spcBef>
                <a:spcPts val="300"/>
              </a:spcBef>
              <a:spcAft>
                <a:spcPts val="0"/>
              </a:spcAft>
              <a:buClr>
                <a:schemeClr val="dk1"/>
              </a:buClr>
              <a:buSzPts val="1600"/>
              <a:buNone/>
            </a:pPr>
            <a:r>
              <a:rPr lang="es-ES"/>
              <a:t>En sistemas más complejos, los componentes se organizan a menudo en capas que abordan diferentes “concerns”, como la presentación, la lógica de negocio y el acceso a datos.</a:t>
            </a:r>
            <a:endParaRPr/>
          </a:p>
          <a:p>
            <a:pPr indent="-266700" lvl="0" marL="266700" rtl="0" algn="l">
              <a:lnSpc>
                <a:spcPct val="100000"/>
              </a:lnSpc>
              <a:spcBef>
                <a:spcPts val="1200"/>
              </a:spcBef>
              <a:spcAft>
                <a:spcPts val="0"/>
              </a:spcAft>
              <a:buClr>
                <a:schemeClr val="dk1"/>
              </a:buClr>
              <a:buSzPts val="1200"/>
              <a:buChar char="❑"/>
            </a:pPr>
            <a:r>
              <a:rPr b="1" lang="es-ES"/>
              <a:t>Escalabilidad y Rendimiento:</a:t>
            </a:r>
            <a:endParaRPr/>
          </a:p>
          <a:p>
            <a:pPr indent="0" lvl="1" marL="265113" rtl="0" algn="l">
              <a:lnSpc>
                <a:spcPct val="100000"/>
              </a:lnSpc>
              <a:spcBef>
                <a:spcPts val="300"/>
              </a:spcBef>
              <a:spcAft>
                <a:spcPts val="0"/>
              </a:spcAft>
              <a:buClr>
                <a:schemeClr val="dk1"/>
              </a:buClr>
              <a:buSzPts val="1600"/>
              <a:buNone/>
            </a:pPr>
            <a:r>
              <a:rPr lang="es-ES"/>
              <a:t>Diseño de mecanismos que permitan al sistema manejar un aumento de la carga, como balanceadores de carga, cachés y bases de datos distribuidas.</a:t>
            </a:r>
            <a:endParaRPr/>
          </a:p>
          <a:p>
            <a:pPr indent="-266700" lvl="0" marL="266700" rtl="0" algn="l">
              <a:lnSpc>
                <a:spcPct val="100000"/>
              </a:lnSpc>
              <a:spcBef>
                <a:spcPts val="1200"/>
              </a:spcBef>
              <a:spcAft>
                <a:spcPts val="0"/>
              </a:spcAft>
              <a:buClr>
                <a:schemeClr val="dk1"/>
              </a:buClr>
              <a:buSzPts val="1200"/>
              <a:buChar char="❑"/>
            </a:pPr>
            <a:r>
              <a:rPr b="1" lang="es-ES"/>
              <a:t>Seguridad:</a:t>
            </a:r>
            <a:endParaRPr/>
          </a:p>
          <a:p>
            <a:pPr indent="0" lvl="1" marL="265113" rtl="0" algn="l">
              <a:lnSpc>
                <a:spcPct val="100000"/>
              </a:lnSpc>
              <a:spcBef>
                <a:spcPts val="300"/>
              </a:spcBef>
              <a:spcAft>
                <a:spcPts val="0"/>
              </a:spcAft>
              <a:buClr>
                <a:schemeClr val="dk1"/>
              </a:buClr>
              <a:buSzPts val="1600"/>
              <a:buNone/>
            </a:pPr>
            <a:r>
              <a:rPr lang="es-ES"/>
              <a:t>Incorporación de características de seguridad, como autenticación, autorización, cifrado y auditoría.</a:t>
            </a:r>
            <a:endParaRPr/>
          </a:p>
        </p:txBody>
      </p:sp>
      <p:sp>
        <p:nvSpPr>
          <p:cNvPr id="326" name="Google Shape;326;p31"/>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COMPONENTES  </a:t>
            </a:r>
            <a:r>
              <a:rPr b="1" i="0" lang="es-ES" sz="1400" u="none" cap="none" strike="noStrike">
                <a:solidFill>
                  <a:srgbClr val="7F7F7F"/>
                </a:solidFill>
                <a:latin typeface="Calibri"/>
                <a:ea typeface="Calibri"/>
                <a:cs typeface="Calibri"/>
                <a:sym typeface="Calibri"/>
              </a:rPr>
              <a:t> [2/3]</a:t>
            </a:r>
            <a:endParaRPr/>
          </a:p>
        </p:txBody>
      </p:sp>
      <p:pic>
        <p:nvPicPr>
          <p:cNvPr id="327" name="Google Shape;327;p31"/>
          <p:cNvPicPr preferRelativeResize="0"/>
          <p:nvPr>
            <p:ph idx="2" type="pic"/>
          </p:nvPr>
        </p:nvPicPr>
        <p:blipFill rotWithShape="1">
          <a:blip r:embed="rId3">
            <a:alphaModFix/>
          </a:blip>
          <a:srcRect b="374" l="0" r="0" t="372"/>
          <a:stretch/>
        </p:blipFill>
        <p:spPr>
          <a:xfrm>
            <a:off x="5434194" y="1487977"/>
            <a:ext cx="3017049" cy="3281483"/>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32"/>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DISEÑO DE LA ARQUITECTURA DEL SISTEMA</a:t>
            </a:r>
            <a:endParaRPr/>
          </a:p>
        </p:txBody>
      </p:sp>
      <p:sp>
        <p:nvSpPr>
          <p:cNvPr id="334" name="Google Shape;334;p32"/>
          <p:cNvSpPr txBox="1"/>
          <p:nvPr>
            <p:ph idx="4" type="body"/>
          </p:nvPr>
        </p:nvSpPr>
        <p:spPr>
          <a:xfrm>
            <a:off x="468313" y="1177927"/>
            <a:ext cx="4777018"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b="1" lang="es-ES"/>
              <a:t>Resiliencia y Recuperación:</a:t>
            </a:r>
            <a:endParaRPr/>
          </a:p>
          <a:p>
            <a:pPr indent="0" lvl="1" marL="265113" rtl="0" algn="l">
              <a:lnSpc>
                <a:spcPct val="100000"/>
              </a:lnSpc>
              <a:spcBef>
                <a:spcPts val="300"/>
              </a:spcBef>
              <a:spcAft>
                <a:spcPts val="0"/>
              </a:spcAft>
              <a:buClr>
                <a:schemeClr val="dk1"/>
              </a:buClr>
              <a:buSzPts val="1600"/>
              <a:buNone/>
            </a:pPr>
            <a:r>
              <a:rPr lang="es-ES"/>
              <a:t>Planificación de cómo el sistema se recuperará de fallos y errores, que puede incluir redundancia, copias de seguridad y protocolos de recuperación.</a:t>
            </a:r>
            <a:endParaRPr/>
          </a:p>
          <a:p>
            <a:pPr indent="-266700" lvl="0" marL="266700" rtl="0" algn="l">
              <a:lnSpc>
                <a:spcPct val="100000"/>
              </a:lnSpc>
              <a:spcBef>
                <a:spcPts val="1200"/>
              </a:spcBef>
              <a:spcAft>
                <a:spcPts val="0"/>
              </a:spcAft>
              <a:buClr>
                <a:schemeClr val="dk1"/>
              </a:buClr>
              <a:buSzPts val="1200"/>
              <a:buChar char="❑"/>
            </a:pPr>
            <a:r>
              <a:rPr b="1" lang="es-ES"/>
              <a:t>Interoperabilidad:</a:t>
            </a:r>
            <a:endParaRPr/>
          </a:p>
          <a:p>
            <a:pPr indent="0" lvl="1" marL="265113" rtl="0" algn="l">
              <a:lnSpc>
                <a:spcPct val="100000"/>
              </a:lnSpc>
              <a:spcBef>
                <a:spcPts val="300"/>
              </a:spcBef>
              <a:spcAft>
                <a:spcPts val="0"/>
              </a:spcAft>
              <a:buClr>
                <a:schemeClr val="dk1"/>
              </a:buClr>
              <a:buSzPts val="1600"/>
              <a:buNone/>
            </a:pPr>
            <a:r>
              <a:rPr lang="es-ES"/>
              <a:t>Si el sistema debe interactuar con otros sistemas externos, la arquitectura debe diseñarse para facilitar esta integración.</a:t>
            </a:r>
            <a:endParaRPr/>
          </a:p>
          <a:p>
            <a:pPr indent="-266700" lvl="0" marL="266700" rtl="0" algn="l">
              <a:lnSpc>
                <a:spcPct val="100000"/>
              </a:lnSpc>
              <a:spcBef>
                <a:spcPts val="1200"/>
              </a:spcBef>
              <a:spcAft>
                <a:spcPts val="0"/>
              </a:spcAft>
              <a:buClr>
                <a:schemeClr val="dk1"/>
              </a:buClr>
              <a:buSzPts val="1200"/>
              <a:buChar char="❑"/>
            </a:pPr>
            <a:r>
              <a:rPr b="1" lang="es-ES"/>
              <a:t>Documentación:</a:t>
            </a:r>
            <a:endParaRPr/>
          </a:p>
          <a:p>
            <a:pPr indent="0" lvl="1" marL="265113" rtl="0" algn="l">
              <a:lnSpc>
                <a:spcPct val="100000"/>
              </a:lnSpc>
              <a:spcBef>
                <a:spcPts val="300"/>
              </a:spcBef>
              <a:spcAft>
                <a:spcPts val="0"/>
              </a:spcAft>
              <a:buClr>
                <a:schemeClr val="dk1"/>
              </a:buClr>
              <a:buSzPts val="1600"/>
              <a:buNone/>
            </a:pPr>
            <a:r>
              <a:rPr lang="es-ES"/>
              <a:t>Creación de documentos y diagramas que describen la arquitectura de manera que los desarrolladores, administradores y otras partes interesadas puedan entenderla.</a:t>
            </a:r>
            <a:endParaRPr/>
          </a:p>
        </p:txBody>
      </p:sp>
      <p:sp>
        <p:nvSpPr>
          <p:cNvPr id="335" name="Google Shape;335;p32"/>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COMPONENTES   </a:t>
            </a:r>
            <a:r>
              <a:rPr b="1" i="0" lang="es-ES" sz="1400" u="none" cap="none" strike="noStrike">
                <a:solidFill>
                  <a:srgbClr val="7F7F7F"/>
                </a:solidFill>
                <a:latin typeface="Calibri"/>
                <a:ea typeface="Calibri"/>
                <a:cs typeface="Calibri"/>
                <a:sym typeface="Calibri"/>
              </a:rPr>
              <a:t> [3/3]</a:t>
            </a:r>
            <a:endParaRPr/>
          </a:p>
        </p:txBody>
      </p:sp>
      <p:pic>
        <p:nvPicPr>
          <p:cNvPr id="336" name="Google Shape;336;p32"/>
          <p:cNvPicPr preferRelativeResize="0"/>
          <p:nvPr>
            <p:ph idx="2" type="pic"/>
          </p:nvPr>
        </p:nvPicPr>
        <p:blipFill rotWithShape="1">
          <a:blip r:embed="rId3">
            <a:alphaModFix/>
          </a:blip>
          <a:srcRect b="0" l="9608" r="9608" t="0"/>
          <a:stretch/>
        </p:blipFill>
        <p:spPr>
          <a:xfrm>
            <a:off x="5498017" y="1233384"/>
            <a:ext cx="2986478" cy="3248232"/>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33"/>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DISEÑO DE LA ARQUITECTURA DEL SISTEMA</a:t>
            </a:r>
            <a:endParaRPr/>
          </a:p>
        </p:txBody>
      </p:sp>
      <p:sp>
        <p:nvSpPr>
          <p:cNvPr id="343" name="Google Shape;343;p33"/>
          <p:cNvSpPr/>
          <p:nvPr/>
        </p:nvSpPr>
        <p:spPr>
          <a:xfrm>
            <a:off x="468313" y="862722"/>
            <a:ext cx="8085484"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s-ES" sz="1600" u="none" cap="none" strike="noStrike">
                <a:solidFill>
                  <a:schemeClr val="dk1"/>
                </a:solidFill>
                <a:latin typeface="Calibri"/>
                <a:ea typeface="Calibri"/>
                <a:cs typeface="Calibri"/>
                <a:sym typeface="Calibri"/>
              </a:rPr>
              <a:t>Imaginemos que estamos diseñando la arquitectura para un sistema de comercio electrónico.</a:t>
            </a:r>
            <a:endParaRPr b="0" i="0" sz="1400" u="none" cap="none" strike="noStrike">
              <a:solidFill>
                <a:srgbClr val="000000"/>
              </a:solidFill>
              <a:latin typeface="Arial"/>
              <a:ea typeface="Arial"/>
              <a:cs typeface="Arial"/>
              <a:sym typeface="Arial"/>
            </a:endParaRPr>
          </a:p>
        </p:txBody>
      </p:sp>
      <p:sp>
        <p:nvSpPr>
          <p:cNvPr id="344" name="Google Shape;344;p33"/>
          <p:cNvSpPr txBox="1"/>
          <p:nvPr/>
        </p:nvSpPr>
        <p:spPr>
          <a:xfrm>
            <a:off x="468313" y="1448683"/>
            <a:ext cx="8085483" cy="3422575"/>
          </a:xfrm>
          <a:prstGeom prst="rect">
            <a:avLst/>
          </a:prstGeom>
          <a:noFill/>
          <a:ln>
            <a:noFill/>
          </a:ln>
        </p:spPr>
        <p:txBody>
          <a:bodyPr anchorCtr="0" anchor="t" bIns="45700" lIns="91425" spcFirstLastPara="1" rIns="91425" wrap="square" tIns="45700">
            <a:noAutofit/>
          </a:bodyPr>
          <a:lstStyle/>
          <a:p>
            <a:pPr indent="-266700" lvl="0" marL="266700" marR="0" rtl="0" algn="l">
              <a:lnSpc>
                <a:spcPct val="100000"/>
              </a:lnSpc>
              <a:spcBef>
                <a:spcPts val="0"/>
              </a:spcBef>
              <a:spcAft>
                <a:spcPts val="0"/>
              </a:spcAft>
              <a:buClr>
                <a:srgbClr val="558ED5"/>
              </a:buClr>
              <a:buSzPts val="1200"/>
              <a:buFont typeface="Noto Sans Symbols"/>
              <a:buChar char="❑"/>
            </a:pPr>
            <a:r>
              <a:rPr b="0" i="0" lang="es-ES" sz="1600" u="none" cap="none" strike="noStrike">
                <a:solidFill>
                  <a:srgbClr val="558ED5"/>
                </a:solidFill>
                <a:latin typeface="Calibri"/>
                <a:ea typeface="Calibri"/>
                <a:cs typeface="Calibri"/>
                <a:sym typeface="Calibri"/>
              </a:rPr>
              <a:t>Componentes y Módulos: </a:t>
            </a:r>
            <a:r>
              <a:rPr b="0" i="0" lang="es-ES" sz="1600" u="none" cap="none" strike="noStrike">
                <a:solidFill>
                  <a:schemeClr val="dk1"/>
                </a:solidFill>
                <a:latin typeface="Calibri"/>
                <a:ea typeface="Calibri"/>
                <a:cs typeface="Calibri"/>
                <a:sym typeface="Calibri"/>
              </a:rPr>
              <a:t>Podríamos tener módulos para la gestión de inventario, el carrito de compras, el procesamiento de pagos y la gestión de usuarios.</a:t>
            </a:r>
            <a:endParaRPr b="0" i="0" sz="1400" u="none" cap="none" strike="noStrike">
              <a:solidFill>
                <a:srgbClr val="000000"/>
              </a:solidFill>
              <a:latin typeface="Arial"/>
              <a:ea typeface="Arial"/>
              <a:cs typeface="Arial"/>
              <a:sym typeface="Arial"/>
            </a:endParaRPr>
          </a:p>
          <a:p>
            <a:pPr indent="-266700" lvl="0" marL="266700" marR="0" rtl="0" algn="l">
              <a:lnSpc>
                <a:spcPct val="100000"/>
              </a:lnSpc>
              <a:spcBef>
                <a:spcPts val="1200"/>
              </a:spcBef>
              <a:spcAft>
                <a:spcPts val="0"/>
              </a:spcAft>
              <a:buClr>
                <a:srgbClr val="558ED5"/>
              </a:buClr>
              <a:buSzPts val="1200"/>
              <a:buFont typeface="Noto Sans Symbols"/>
              <a:buChar char="❑"/>
            </a:pPr>
            <a:r>
              <a:rPr b="0" i="0" lang="es-ES" sz="1600" u="none" cap="none" strike="noStrike">
                <a:solidFill>
                  <a:srgbClr val="558ED5"/>
                </a:solidFill>
                <a:latin typeface="Calibri"/>
                <a:ea typeface="Calibri"/>
                <a:cs typeface="Calibri"/>
                <a:sym typeface="Calibri"/>
              </a:rPr>
              <a:t>Interconexión: </a:t>
            </a:r>
            <a:r>
              <a:rPr b="0" i="0" lang="es-ES" sz="1600" u="none" cap="none" strike="noStrike">
                <a:solidFill>
                  <a:schemeClr val="dk1"/>
                </a:solidFill>
                <a:latin typeface="Calibri"/>
                <a:ea typeface="Calibri"/>
                <a:cs typeface="Calibri"/>
                <a:sym typeface="Calibri"/>
              </a:rPr>
              <a:t>Estos módulos podrían comunicarse a través de APIs RESTful.</a:t>
            </a:r>
            <a:endParaRPr b="0" i="0" sz="1400" u="none" cap="none" strike="noStrike">
              <a:solidFill>
                <a:srgbClr val="000000"/>
              </a:solidFill>
              <a:latin typeface="Arial"/>
              <a:ea typeface="Arial"/>
              <a:cs typeface="Arial"/>
              <a:sym typeface="Arial"/>
            </a:endParaRPr>
          </a:p>
          <a:p>
            <a:pPr indent="-266700" lvl="0" marL="266700" marR="0" rtl="0" algn="l">
              <a:lnSpc>
                <a:spcPct val="100000"/>
              </a:lnSpc>
              <a:spcBef>
                <a:spcPts val="1200"/>
              </a:spcBef>
              <a:spcAft>
                <a:spcPts val="0"/>
              </a:spcAft>
              <a:buClr>
                <a:srgbClr val="558ED5"/>
              </a:buClr>
              <a:buSzPts val="1200"/>
              <a:buFont typeface="Noto Sans Symbols"/>
              <a:buChar char="❑"/>
            </a:pPr>
            <a:r>
              <a:rPr b="0" i="0" lang="es-ES" sz="1600" u="none" cap="none" strike="noStrike">
                <a:solidFill>
                  <a:srgbClr val="558ED5"/>
                </a:solidFill>
                <a:latin typeface="Calibri"/>
                <a:ea typeface="Calibri"/>
                <a:cs typeface="Calibri"/>
                <a:sym typeface="Calibri"/>
              </a:rPr>
              <a:t>Flujo de Datos: </a:t>
            </a:r>
            <a:r>
              <a:rPr b="0" i="0" lang="es-ES" sz="1600" u="none" cap="none" strike="noStrike">
                <a:solidFill>
                  <a:schemeClr val="dk1"/>
                </a:solidFill>
                <a:latin typeface="Calibri"/>
                <a:ea typeface="Calibri"/>
                <a:cs typeface="Calibri"/>
                <a:sym typeface="Calibri"/>
              </a:rPr>
              <a:t>Cuando un usuario realiza una compra, los datos podrían fluir desde el módulo del carrito de compras al módulo de procesamiento de pagos y finalmente al módulo de gestión de inventario para actualizar las existencias.</a:t>
            </a:r>
            <a:endParaRPr b="0" i="0" sz="1400" u="none" cap="none" strike="noStrike">
              <a:solidFill>
                <a:srgbClr val="000000"/>
              </a:solidFill>
              <a:latin typeface="Arial"/>
              <a:ea typeface="Arial"/>
              <a:cs typeface="Arial"/>
              <a:sym typeface="Arial"/>
            </a:endParaRPr>
          </a:p>
          <a:p>
            <a:pPr indent="-266700" lvl="0" marL="266700" marR="0" rtl="0" algn="l">
              <a:lnSpc>
                <a:spcPct val="100000"/>
              </a:lnSpc>
              <a:spcBef>
                <a:spcPts val="1200"/>
              </a:spcBef>
              <a:spcAft>
                <a:spcPts val="0"/>
              </a:spcAft>
              <a:buClr>
                <a:srgbClr val="558ED5"/>
              </a:buClr>
              <a:buSzPts val="1200"/>
              <a:buFont typeface="Noto Sans Symbols"/>
              <a:buChar char="❑"/>
            </a:pPr>
            <a:r>
              <a:rPr b="0" i="0" lang="es-ES" sz="1600" u="none" cap="none" strike="noStrike">
                <a:solidFill>
                  <a:srgbClr val="558ED5"/>
                </a:solidFill>
                <a:latin typeface="Calibri"/>
                <a:ea typeface="Calibri"/>
                <a:cs typeface="Calibri"/>
                <a:sym typeface="Calibri"/>
              </a:rPr>
              <a:t>Capas de Software: </a:t>
            </a:r>
            <a:r>
              <a:rPr b="0" i="0" lang="es-ES" sz="1600" u="none" cap="none" strike="noStrike">
                <a:solidFill>
                  <a:schemeClr val="dk1"/>
                </a:solidFill>
                <a:latin typeface="Calibri"/>
                <a:ea typeface="Calibri"/>
                <a:cs typeface="Calibri"/>
                <a:sym typeface="Calibri"/>
              </a:rPr>
              <a:t>Podríamos tener una capa de presentación (frontend), una capa de lógica de negocio (backend) y una capa de datos (base de datos).</a:t>
            </a:r>
            <a:endParaRPr b="0" i="0" sz="1400" u="none" cap="none" strike="noStrike">
              <a:solidFill>
                <a:srgbClr val="000000"/>
              </a:solidFill>
              <a:latin typeface="Arial"/>
              <a:ea typeface="Arial"/>
              <a:cs typeface="Arial"/>
              <a:sym typeface="Arial"/>
            </a:endParaRPr>
          </a:p>
          <a:p>
            <a:pPr indent="-266700" lvl="0" marL="266700" marR="0" rtl="0" algn="l">
              <a:lnSpc>
                <a:spcPct val="100000"/>
              </a:lnSpc>
              <a:spcBef>
                <a:spcPts val="1200"/>
              </a:spcBef>
              <a:spcAft>
                <a:spcPts val="0"/>
              </a:spcAft>
              <a:buClr>
                <a:srgbClr val="558ED5"/>
              </a:buClr>
              <a:buSzPts val="1200"/>
              <a:buFont typeface="Noto Sans Symbols"/>
              <a:buChar char="❑"/>
            </a:pPr>
            <a:r>
              <a:rPr b="0" i="0" lang="es-ES" sz="1600" u="none" cap="none" strike="noStrike">
                <a:solidFill>
                  <a:srgbClr val="558ED5"/>
                </a:solidFill>
                <a:latin typeface="Calibri"/>
                <a:ea typeface="Calibri"/>
                <a:cs typeface="Calibri"/>
                <a:sym typeface="Calibri"/>
              </a:rPr>
              <a:t>Escalabilidad y Rendimiento: </a:t>
            </a:r>
            <a:r>
              <a:rPr b="0" i="0" lang="es-ES" sz="1600" u="none" cap="none" strike="noStrike">
                <a:solidFill>
                  <a:schemeClr val="dk1"/>
                </a:solidFill>
                <a:latin typeface="Calibri"/>
                <a:ea typeface="Calibri"/>
                <a:cs typeface="Calibri"/>
                <a:sym typeface="Calibri"/>
              </a:rPr>
              <a:t>Podríamos usar un balanceador de carga para distribuir las solicitudes de los usuarios entre múltiples servidores.</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1200"/>
              </a:spcBef>
              <a:spcAft>
                <a:spcPts val="0"/>
              </a:spcAft>
              <a:buClr>
                <a:schemeClr val="dk1"/>
              </a:buClr>
              <a:buSzPts val="1200"/>
              <a:buFont typeface="Noto Sans Symbols"/>
              <a:buNone/>
            </a:pPr>
            <a:r>
              <a:t/>
            </a:r>
            <a:endParaRPr b="0" i="0" sz="1600" u="none" cap="none" strike="noStrike">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34"/>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DISEÑO DE LA ARQUITECTURA DEL SISTEMA</a:t>
            </a:r>
            <a:endParaRPr/>
          </a:p>
        </p:txBody>
      </p:sp>
      <p:sp>
        <p:nvSpPr>
          <p:cNvPr id="351" name="Google Shape;351;p34"/>
          <p:cNvSpPr txBox="1"/>
          <p:nvPr/>
        </p:nvSpPr>
        <p:spPr>
          <a:xfrm>
            <a:off x="468313" y="1174363"/>
            <a:ext cx="8207375" cy="2366859"/>
          </a:xfrm>
          <a:prstGeom prst="rect">
            <a:avLst/>
          </a:prstGeom>
          <a:noFill/>
          <a:ln>
            <a:noFill/>
          </a:ln>
        </p:spPr>
        <p:txBody>
          <a:bodyPr anchorCtr="0" anchor="t" bIns="45700" lIns="91425" spcFirstLastPara="1" rIns="91425" wrap="square" tIns="45700">
            <a:noAutofit/>
          </a:bodyPr>
          <a:lstStyle/>
          <a:p>
            <a:pPr indent="-266700" lvl="0" marL="266700" marR="0" rtl="0" algn="l">
              <a:lnSpc>
                <a:spcPct val="100000"/>
              </a:lnSpc>
              <a:spcBef>
                <a:spcPts val="0"/>
              </a:spcBef>
              <a:spcAft>
                <a:spcPts val="0"/>
              </a:spcAft>
              <a:buClr>
                <a:srgbClr val="558ED5"/>
              </a:buClr>
              <a:buSzPts val="1200"/>
              <a:buFont typeface="Noto Sans Symbols"/>
              <a:buChar char="❑"/>
            </a:pPr>
            <a:r>
              <a:rPr b="0" i="0" lang="es-ES" sz="1600" u="none" cap="none" strike="noStrike">
                <a:solidFill>
                  <a:srgbClr val="558ED5"/>
                </a:solidFill>
                <a:latin typeface="Calibri"/>
                <a:ea typeface="Calibri"/>
                <a:cs typeface="Calibri"/>
                <a:sym typeface="Calibri"/>
              </a:rPr>
              <a:t>Seguridad: </a:t>
            </a:r>
            <a:r>
              <a:rPr b="0" i="0" lang="es-ES" sz="1600" u="none" cap="none" strike="noStrike">
                <a:solidFill>
                  <a:schemeClr val="dk1"/>
                </a:solidFill>
                <a:latin typeface="Calibri"/>
                <a:ea typeface="Calibri"/>
                <a:cs typeface="Calibri"/>
                <a:sym typeface="Calibri"/>
              </a:rPr>
              <a:t>Implementaremos autenticación de dos factores para los usuarios y cifrado para las transacciones financieras.</a:t>
            </a:r>
            <a:endParaRPr b="0" i="0" sz="1400" u="none" cap="none" strike="noStrike">
              <a:solidFill>
                <a:srgbClr val="000000"/>
              </a:solidFill>
              <a:latin typeface="Arial"/>
              <a:ea typeface="Arial"/>
              <a:cs typeface="Arial"/>
              <a:sym typeface="Arial"/>
            </a:endParaRPr>
          </a:p>
          <a:p>
            <a:pPr indent="-266700" lvl="0" marL="266700" marR="0" rtl="0" algn="l">
              <a:lnSpc>
                <a:spcPct val="100000"/>
              </a:lnSpc>
              <a:spcBef>
                <a:spcPts val="1200"/>
              </a:spcBef>
              <a:spcAft>
                <a:spcPts val="0"/>
              </a:spcAft>
              <a:buClr>
                <a:srgbClr val="558ED5"/>
              </a:buClr>
              <a:buSzPts val="1200"/>
              <a:buFont typeface="Noto Sans Symbols"/>
              <a:buChar char="❑"/>
            </a:pPr>
            <a:r>
              <a:rPr b="0" i="0" lang="es-ES" sz="1600" u="none" cap="none" strike="noStrike">
                <a:solidFill>
                  <a:srgbClr val="558ED5"/>
                </a:solidFill>
                <a:latin typeface="Calibri"/>
                <a:ea typeface="Calibri"/>
                <a:cs typeface="Calibri"/>
                <a:sym typeface="Calibri"/>
              </a:rPr>
              <a:t>Resiliencia y Recuperación: </a:t>
            </a:r>
            <a:r>
              <a:rPr b="0" i="0" lang="es-ES" sz="1600" u="none" cap="none" strike="noStrike">
                <a:solidFill>
                  <a:schemeClr val="dk1"/>
                </a:solidFill>
                <a:latin typeface="Calibri"/>
                <a:ea typeface="Calibri"/>
                <a:cs typeface="Calibri"/>
                <a:sym typeface="Calibri"/>
              </a:rPr>
              <a:t>Tendríamos copias de seguridad regulares y un plan de recuperación ante desastres.</a:t>
            </a:r>
            <a:endParaRPr b="0" i="0" sz="1400" u="none" cap="none" strike="noStrike">
              <a:solidFill>
                <a:srgbClr val="000000"/>
              </a:solidFill>
              <a:latin typeface="Arial"/>
              <a:ea typeface="Arial"/>
              <a:cs typeface="Arial"/>
              <a:sym typeface="Arial"/>
            </a:endParaRPr>
          </a:p>
          <a:p>
            <a:pPr indent="-266700" lvl="0" marL="266700" marR="0" rtl="0" algn="l">
              <a:lnSpc>
                <a:spcPct val="100000"/>
              </a:lnSpc>
              <a:spcBef>
                <a:spcPts val="1200"/>
              </a:spcBef>
              <a:spcAft>
                <a:spcPts val="0"/>
              </a:spcAft>
              <a:buClr>
                <a:srgbClr val="558ED5"/>
              </a:buClr>
              <a:buSzPts val="1200"/>
              <a:buFont typeface="Noto Sans Symbols"/>
              <a:buChar char="❑"/>
            </a:pPr>
            <a:r>
              <a:rPr b="0" i="0" lang="es-ES" sz="1600" u="none" cap="none" strike="noStrike">
                <a:solidFill>
                  <a:srgbClr val="558ED5"/>
                </a:solidFill>
                <a:latin typeface="Calibri"/>
                <a:ea typeface="Calibri"/>
                <a:cs typeface="Calibri"/>
                <a:sym typeface="Calibri"/>
              </a:rPr>
              <a:t>Interoperabilidad: </a:t>
            </a:r>
            <a:r>
              <a:rPr b="0" i="0" lang="es-ES" sz="1600" u="none" cap="none" strike="noStrike">
                <a:solidFill>
                  <a:schemeClr val="dk1"/>
                </a:solidFill>
                <a:latin typeface="Calibri"/>
                <a:ea typeface="Calibri"/>
                <a:cs typeface="Calibri"/>
                <a:sym typeface="Calibri"/>
              </a:rPr>
              <a:t>Si necesitamos conectar con un sistema de gestión de almacenes, nuestra arquitectura debería facilitar esa integración.</a:t>
            </a:r>
            <a:endParaRPr b="0" i="0" sz="1400" u="none" cap="none" strike="noStrike">
              <a:solidFill>
                <a:srgbClr val="000000"/>
              </a:solidFill>
              <a:latin typeface="Arial"/>
              <a:ea typeface="Arial"/>
              <a:cs typeface="Arial"/>
              <a:sym typeface="Arial"/>
            </a:endParaRPr>
          </a:p>
          <a:p>
            <a:pPr indent="-190500" lvl="0" marL="266700" marR="0" rtl="0" algn="just">
              <a:lnSpc>
                <a:spcPct val="100000"/>
              </a:lnSpc>
              <a:spcBef>
                <a:spcPts val="1200"/>
              </a:spcBef>
              <a:spcAft>
                <a:spcPts val="0"/>
              </a:spcAft>
              <a:buClr>
                <a:schemeClr val="dk1"/>
              </a:buClr>
              <a:buSzPts val="1200"/>
              <a:buFont typeface="Noto Sans Symbols"/>
              <a:buNone/>
            </a:pPr>
            <a:r>
              <a:t/>
            </a:r>
            <a:endParaRPr b="0" i="0" sz="1600" u="none" cap="none" strike="noStrike">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35"/>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DISEÑO DE LA ARQUITECTURA DEL SISTEMA</a:t>
            </a:r>
            <a:endParaRPr/>
          </a:p>
        </p:txBody>
      </p:sp>
      <p:pic>
        <p:nvPicPr>
          <p:cNvPr id="358" name="Google Shape;358;p35"/>
          <p:cNvPicPr preferRelativeResize="0"/>
          <p:nvPr>
            <p:ph idx="2" type="pic"/>
          </p:nvPr>
        </p:nvPicPr>
        <p:blipFill rotWithShape="1">
          <a:blip r:embed="rId3">
            <a:alphaModFix/>
          </a:blip>
          <a:srcRect b="374" l="0" r="0" t="372"/>
          <a:stretch/>
        </p:blipFill>
        <p:spPr>
          <a:xfrm>
            <a:off x="5402009" y="1371600"/>
            <a:ext cx="3124049" cy="3397861"/>
          </a:xfrm>
          <a:prstGeom prst="rect">
            <a:avLst/>
          </a:prstGeom>
          <a:noFill/>
          <a:ln>
            <a:noFill/>
          </a:ln>
        </p:spPr>
      </p:pic>
      <p:sp>
        <p:nvSpPr>
          <p:cNvPr id="359" name="Google Shape;359;p35"/>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METODOLOGÍAS</a:t>
            </a:r>
            <a:endParaRPr/>
          </a:p>
        </p:txBody>
      </p:sp>
      <p:sp>
        <p:nvSpPr>
          <p:cNvPr id="360" name="Google Shape;360;p35"/>
          <p:cNvSpPr txBox="1"/>
          <p:nvPr>
            <p:ph idx="4" type="body"/>
          </p:nvPr>
        </p:nvSpPr>
        <p:spPr>
          <a:xfrm>
            <a:off x="468313" y="1177927"/>
            <a:ext cx="4833944"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Arquitectura Dirigida por Modelos (MDA):</a:t>
            </a:r>
            <a:endParaRPr/>
          </a:p>
          <a:p>
            <a:pPr indent="0" lvl="1" marL="265113" rtl="0" algn="l">
              <a:lnSpc>
                <a:spcPct val="100000"/>
              </a:lnSpc>
              <a:spcBef>
                <a:spcPts val="0"/>
              </a:spcBef>
              <a:spcAft>
                <a:spcPts val="0"/>
              </a:spcAft>
              <a:buClr>
                <a:srgbClr val="7F7F7F"/>
              </a:buClr>
              <a:buSzPts val="1400"/>
              <a:buNone/>
            </a:pPr>
            <a:r>
              <a:rPr lang="es-ES" sz="1400">
                <a:solidFill>
                  <a:srgbClr val="7F7F7F"/>
                </a:solidFill>
              </a:rPr>
              <a:t>Utiliza modelos para definir la arquitectura, lo que facilita la comunicación entre los stakeholders y permite una implementación más eficiente.</a:t>
            </a:r>
            <a:endParaRPr/>
          </a:p>
          <a:p>
            <a:pPr indent="-266700" lvl="0" marL="266700" rtl="0" algn="l">
              <a:lnSpc>
                <a:spcPct val="100000"/>
              </a:lnSpc>
              <a:spcBef>
                <a:spcPts val="1200"/>
              </a:spcBef>
              <a:spcAft>
                <a:spcPts val="0"/>
              </a:spcAft>
              <a:buClr>
                <a:schemeClr val="dk1"/>
              </a:buClr>
              <a:buSzPts val="1200"/>
              <a:buChar char="❑"/>
            </a:pPr>
            <a:r>
              <a:rPr lang="es-ES"/>
              <a:t>Arquitectura Orientada a Servicios (SOA):</a:t>
            </a:r>
            <a:endParaRPr/>
          </a:p>
          <a:p>
            <a:pPr indent="0" lvl="1" marL="265113" rtl="0" algn="l">
              <a:lnSpc>
                <a:spcPct val="100000"/>
              </a:lnSpc>
              <a:spcBef>
                <a:spcPts val="0"/>
              </a:spcBef>
              <a:spcAft>
                <a:spcPts val="0"/>
              </a:spcAft>
              <a:buClr>
                <a:srgbClr val="7F7F7F"/>
              </a:buClr>
              <a:buSzPts val="1400"/>
              <a:buNone/>
            </a:pPr>
            <a:r>
              <a:rPr lang="es-ES" sz="1400">
                <a:solidFill>
                  <a:srgbClr val="7F7F7F"/>
                </a:solidFill>
              </a:rPr>
              <a:t>Enfoca el diseño del sistema en torno a servicios independientes que interactúan entre sí.</a:t>
            </a:r>
            <a:endParaRPr/>
          </a:p>
          <a:p>
            <a:pPr indent="-266700" lvl="0" marL="266700" rtl="0" algn="l">
              <a:lnSpc>
                <a:spcPct val="100000"/>
              </a:lnSpc>
              <a:spcBef>
                <a:spcPts val="1200"/>
              </a:spcBef>
              <a:spcAft>
                <a:spcPts val="0"/>
              </a:spcAft>
              <a:buClr>
                <a:schemeClr val="dk1"/>
              </a:buClr>
              <a:buSzPts val="1200"/>
              <a:buChar char="❑"/>
            </a:pPr>
            <a:r>
              <a:rPr lang="es-ES"/>
              <a:t>Microservicios:</a:t>
            </a:r>
            <a:endParaRPr/>
          </a:p>
          <a:p>
            <a:pPr indent="0" lvl="1" marL="265113" rtl="0" algn="l">
              <a:lnSpc>
                <a:spcPct val="100000"/>
              </a:lnSpc>
              <a:spcBef>
                <a:spcPts val="0"/>
              </a:spcBef>
              <a:spcAft>
                <a:spcPts val="0"/>
              </a:spcAft>
              <a:buClr>
                <a:srgbClr val="7F7F7F"/>
              </a:buClr>
              <a:buSzPts val="1400"/>
              <a:buNone/>
            </a:pPr>
            <a:r>
              <a:rPr lang="es-ES" sz="1400">
                <a:solidFill>
                  <a:srgbClr val="7F7F7F"/>
                </a:solidFill>
              </a:rPr>
              <a:t>Similar a SOA pero más granular, donde cada servicio es una aplicación independiente que puede ser desarrollada, desplegada y escalada de forma independiente.</a:t>
            </a:r>
            <a:endParaRPr/>
          </a:p>
          <a:p>
            <a:pPr indent="-266700" lvl="0" marL="266700" rtl="0" algn="l">
              <a:lnSpc>
                <a:spcPct val="100000"/>
              </a:lnSpc>
              <a:spcBef>
                <a:spcPts val="1200"/>
              </a:spcBef>
              <a:spcAft>
                <a:spcPts val="0"/>
              </a:spcAft>
              <a:buClr>
                <a:schemeClr val="dk1"/>
              </a:buClr>
              <a:buSzPts val="1200"/>
              <a:buChar char="❑"/>
            </a:pPr>
            <a:r>
              <a:rPr lang="es-ES"/>
              <a:t>Arquitectura en Capas:</a:t>
            </a:r>
            <a:endParaRPr/>
          </a:p>
          <a:p>
            <a:pPr indent="0" lvl="1" marL="265113" rtl="0" algn="l">
              <a:lnSpc>
                <a:spcPct val="100000"/>
              </a:lnSpc>
              <a:spcBef>
                <a:spcPts val="0"/>
              </a:spcBef>
              <a:spcAft>
                <a:spcPts val="0"/>
              </a:spcAft>
              <a:buClr>
                <a:srgbClr val="7F7F7F"/>
              </a:buClr>
              <a:buSzPts val="1400"/>
              <a:buNone/>
            </a:pPr>
            <a:r>
              <a:rPr lang="es-ES" sz="1400">
                <a:solidFill>
                  <a:srgbClr val="7F7F7F"/>
                </a:solidFill>
              </a:rPr>
              <a:t>Divide el sistema en capas lógicas (por ejemplo, presentación, lógica de negocio, acceso a datos) para separar responsabilidades.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36"/>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DISEÑO DE LA ARQUITECTURA DEL SISTEMA</a:t>
            </a:r>
            <a:endParaRPr/>
          </a:p>
        </p:txBody>
      </p:sp>
      <p:sp>
        <p:nvSpPr>
          <p:cNvPr id="367" name="Google Shape;367;p36"/>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TÉCNICAS</a:t>
            </a:r>
            <a:endParaRPr/>
          </a:p>
        </p:txBody>
      </p:sp>
      <p:sp>
        <p:nvSpPr>
          <p:cNvPr id="368" name="Google Shape;368;p36"/>
          <p:cNvSpPr txBox="1"/>
          <p:nvPr>
            <p:ph idx="4" type="body"/>
          </p:nvPr>
        </p:nvSpPr>
        <p:spPr>
          <a:xfrm>
            <a:off x="468313" y="1177927"/>
            <a:ext cx="4486072"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Diagramas de Arquitectura:</a:t>
            </a:r>
            <a:endParaRPr/>
          </a:p>
          <a:p>
            <a:pPr indent="0" lvl="1" marL="265113" rtl="0" algn="l">
              <a:lnSpc>
                <a:spcPct val="100000"/>
              </a:lnSpc>
              <a:spcBef>
                <a:spcPts val="0"/>
              </a:spcBef>
              <a:spcAft>
                <a:spcPts val="0"/>
              </a:spcAft>
              <a:buClr>
                <a:srgbClr val="7F7F7F"/>
              </a:buClr>
              <a:buSzPts val="1400"/>
              <a:buNone/>
            </a:pPr>
            <a:r>
              <a:rPr lang="es-ES" sz="1400">
                <a:solidFill>
                  <a:srgbClr val="7F7F7F"/>
                </a:solidFill>
              </a:rPr>
              <a:t>Utilizados para visualizar la estructura general del sistema, incluyendo componentes y relaciones.</a:t>
            </a:r>
            <a:endParaRPr/>
          </a:p>
          <a:p>
            <a:pPr indent="-266700" lvl="0" marL="266700" rtl="0" algn="l">
              <a:lnSpc>
                <a:spcPct val="100000"/>
              </a:lnSpc>
              <a:spcBef>
                <a:spcPts val="1200"/>
              </a:spcBef>
              <a:spcAft>
                <a:spcPts val="0"/>
              </a:spcAft>
              <a:buClr>
                <a:schemeClr val="dk1"/>
              </a:buClr>
              <a:buSzPts val="1200"/>
              <a:buChar char="❑"/>
            </a:pPr>
            <a:r>
              <a:rPr lang="es-ES"/>
              <a:t>Patrones de Diseño:</a:t>
            </a:r>
            <a:endParaRPr/>
          </a:p>
          <a:p>
            <a:pPr indent="0" lvl="1" marL="265113" rtl="0" algn="l">
              <a:lnSpc>
                <a:spcPct val="100000"/>
              </a:lnSpc>
              <a:spcBef>
                <a:spcPts val="0"/>
              </a:spcBef>
              <a:spcAft>
                <a:spcPts val="0"/>
              </a:spcAft>
              <a:buClr>
                <a:srgbClr val="7F7F7F"/>
              </a:buClr>
              <a:buSzPts val="1400"/>
              <a:buNone/>
            </a:pPr>
            <a:r>
              <a:rPr lang="es-ES" sz="1400">
                <a:solidFill>
                  <a:srgbClr val="7F7F7F"/>
                </a:solidFill>
              </a:rPr>
              <a:t>Soluciones probadas a problemas comunes que se pueden utilizar como plantillas durante el diseño.</a:t>
            </a:r>
            <a:endParaRPr/>
          </a:p>
          <a:p>
            <a:pPr indent="-266700" lvl="0" marL="266700" rtl="0" algn="l">
              <a:lnSpc>
                <a:spcPct val="100000"/>
              </a:lnSpc>
              <a:spcBef>
                <a:spcPts val="1200"/>
              </a:spcBef>
              <a:spcAft>
                <a:spcPts val="0"/>
              </a:spcAft>
              <a:buClr>
                <a:schemeClr val="dk1"/>
              </a:buClr>
              <a:buSzPts val="1200"/>
              <a:buChar char="❑"/>
            </a:pPr>
            <a:r>
              <a:rPr lang="es-ES"/>
              <a:t>Principios SOLID:</a:t>
            </a:r>
            <a:endParaRPr/>
          </a:p>
          <a:p>
            <a:pPr indent="0" lvl="1" marL="265113" rtl="0" algn="l">
              <a:lnSpc>
                <a:spcPct val="100000"/>
              </a:lnSpc>
              <a:spcBef>
                <a:spcPts val="0"/>
              </a:spcBef>
              <a:spcAft>
                <a:spcPts val="0"/>
              </a:spcAft>
              <a:buClr>
                <a:srgbClr val="7F7F7F"/>
              </a:buClr>
              <a:buSzPts val="1400"/>
              <a:buNone/>
            </a:pPr>
            <a:r>
              <a:rPr lang="es-ES" sz="1400">
                <a:solidFill>
                  <a:srgbClr val="7F7F7F"/>
                </a:solidFill>
              </a:rPr>
              <a:t>Un conjunto de principios de diseño orientado a objetos que ayudan a crear sistemas más mantenibles y robustos.</a:t>
            </a:r>
            <a:endParaRPr/>
          </a:p>
          <a:p>
            <a:pPr indent="-266700" lvl="0" marL="266700" rtl="0" algn="l">
              <a:lnSpc>
                <a:spcPct val="100000"/>
              </a:lnSpc>
              <a:spcBef>
                <a:spcPts val="1200"/>
              </a:spcBef>
              <a:spcAft>
                <a:spcPts val="0"/>
              </a:spcAft>
              <a:buClr>
                <a:schemeClr val="dk1"/>
              </a:buClr>
              <a:buSzPts val="1200"/>
              <a:buChar char="❑"/>
            </a:pPr>
            <a:r>
              <a:rPr lang="es-ES"/>
              <a:t>Prototipado:</a:t>
            </a:r>
            <a:endParaRPr/>
          </a:p>
          <a:p>
            <a:pPr indent="0" lvl="1" marL="265113" rtl="0" algn="l">
              <a:lnSpc>
                <a:spcPct val="100000"/>
              </a:lnSpc>
              <a:spcBef>
                <a:spcPts val="0"/>
              </a:spcBef>
              <a:spcAft>
                <a:spcPts val="0"/>
              </a:spcAft>
              <a:buClr>
                <a:srgbClr val="7F7F7F"/>
              </a:buClr>
              <a:buSzPts val="1400"/>
              <a:buNone/>
            </a:pPr>
            <a:r>
              <a:rPr lang="es-ES" sz="1400">
                <a:solidFill>
                  <a:srgbClr val="7F7F7F"/>
                </a:solidFill>
              </a:rPr>
              <a:t>Crear un modelo funcional del sistema o de partes del sistema para validar decisiones de diseño.</a:t>
            </a:r>
            <a:endParaRPr/>
          </a:p>
        </p:txBody>
      </p:sp>
      <p:pic>
        <p:nvPicPr>
          <p:cNvPr id="369" name="Google Shape;369;p36"/>
          <p:cNvPicPr preferRelativeResize="0"/>
          <p:nvPr>
            <p:ph idx="2" type="pic"/>
          </p:nvPr>
        </p:nvPicPr>
        <p:blipFill rotWithShape="1">
          <a:blip r:embed="rId3">
            <a:alphaModFix/>
          </a:blip>
          <a:srcRect b="374" l="0" r="0" t="372"/>
          <a:stretch/>
        </p:blipFill>
        <p:spPr>
          <a:xfrm>
            <a:off x="5148455" y="1280016"/>
            <a:ext cx="3360978" cy="3655556"/>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37"/>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DISEÑO DE LA ARQUITECTURA DEL SISTEMA</a:t>
            </a:r>
            <a:endParaRPr/>
          </a:p>
        </p:txBody>
      </p:sp>
      <p:pic>
        <p:nvPicPr>
          <p:cNvPr id="376" name="Google Shape;376;p37"/>
          <p:cNvPicPr preferRelativeResize="0"/>
          <p:nvPr>
            <p:ph idx="2" type="pic"/>
          </p:nvPr>
        </p:nvPicPr>
        <p:blipFill rotWithShape="1">
          <a:blip r:embed="rId3">
            <a:alphaModFix/>
          </a:blip>
          <a:srcRect b="374" l="0" r="0" t="372"/>
          <a:stretch/>
        </p:blipFill>
        <p:spPr>
          <a:xfrm>
            <a:off x="5411584" y="1485279"/>
            <a:ext cx="3264103" cy="3550190"/>
          </a:xfrm>
          <a:prstGeom prst="rect">
            <a:avLst/>
          </a:prstGeom>
          <a:noFill/>
          <a:ln>
            <a:noFill/>
          </a:ln>
        </p:spPr>
      </p:pic>
      <p:sp>
        <p:nvSpPr>
          <p:cNvPr id="377" name="Google Shape;377;p37"/>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HERRAMIENTAS</a:t>
            </a:r>
            <a:endParaRPr/>
          </a:p>
        </p:txBody>
      </p:sp>
      <p:sp>
        <p:nvSpPr>
          <p:cNvPr id="378" name="Google Shape;378;p37"/>
          <p:cNvSpPr txBox="1"/>
          <p:nvPr>
            <p:ph idx="4" type="body"/>
          </p:nvPr>
        </p:nvSpPr>
        <p:spPr>
          <a:xfrm>
            <a:off x="468313" y="1177927"/>
            <a:ext cx="4785331"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Enterprise Architect:</a:t>
            </a:r>
            <a:endParaRPr/>
          </a:p>
          <a:p>
            <a:pPr indent="0" lvl="1" marL="265113" rtl="0" algn="l">
              <a:lnSpc>
                <a:spcPct val="100000"/>
              </a:lnSpc>
              <a:spcBef>
                <a:spcPts val="0"/>
              </a:spcBef>
              <a:spcAft>
                <a:spcPts val="0"/>
              </a:spcAft>
              <a:buClr>
                <a:srgbClr val="7F7F7F"/>
              </a:buClr>
              <a:buSzPts val="1400"/>
              <a:buNone/>
            </a:pPr>
            <a:r>
              <a:rPr lang="es-ES" sz="1400">
                <a:solidFill>
                  <a:srgbClr val="7F7F7F"/>
                </a:solidFill>
              </a:rPr>
              <a:t>Para modelado y diseño que soporta múltiples frameworks y notaciones.</a:t>
            </a:r>
            <a:endParaRPr/>
          </a:p>
          <a:p>
            <a:pPr indent="-266700" lvl="0" marL="266700" rtl="0" algn="l">
              <a:lnSpc>
                <a:spcPct val="100000"/>
              </a:lnSpc>
              <a:spcBef>
                <a:spcPts val="1200"/>
              </a:spcBef>
              <a:spcAft>
                <a:spcPts val="0"/>
              </a:spcAft>
              <a:buClr>
                <a:schemeClr val="dk1"/>
              </a:buClr>
              <a:buSzPts val="1200"/>
              <a:buChar char="❑"/>
            </a:pPr>
            <a:r>
              <a:rPr lang="es-ES"/>
              <a:t>Microsoft Visio:</a:t>
            </a:r>
            <a:endParaRPr/>
          </a:p>
          <a:p>
            <a:pPr indent="0" lvl="1" marL="265113" rtl="0" algn="l">
              <a:lnSpc>
                <a:spcPct val="100000"/>
              </a:lnSpc>
              <a:spcBef>
                <a:spcPts val="0"/>
              </a:spcBef>
              <a:spcAft>
                <a:spcPts val="0"/>
              </a:spcAft>
              <a:buClr>
                <a:srgbClr val="7F7F7F"/>
              </a:buClr>
              <a:buSzPts val="1400"/>
              <a:buNone/>
            </a:pPr>
            <a:r>
              <a:rPr lang="es-ES" sz="1400">
                <a:solidFill>
                  <a:srgbClr val="7F7F7F"/>
                </a:solidFill>
              </a:rPr>
              <a:t>Para crear diagramas de arquitectura.</a:t>
            </a:r>
            <a:endParaRPr/>
          </a:p>
          <a:p>
            <a:pPr indent="-266700" lvl="0" marL="266700" rtl="0" algn="l">
              <a:lnSpc>
                <a:spcPct val="100000"/>
              </a:lnSpc>
              <a:spcBef>
                <a:spcPts val="1200"/>
              </a:spcBef>
              <a:spcAft>
                <a:spcPts val="0"/>
              </a:spcAft>
              <a:buClr>
                <a:schemeClr val="dk1"/>
              </a:buClr>
              <a:buSzPts val="1200"/>
              <a:buChar char="❑"/>
            </a:pPr>
            <a:r>
              <a:rPr lang="es-ES"/>
              <a:t>Archimate:</a:t>
            </a:r>
            <a:endParaRPr/>
          </a:p>
          <a:p>
            <a:pPr indent="0" lvl="1" marL="265113" rtl="0" algn="l">
              <a:lnSpc>
                <a:spcPct val="100000"/>
              </a:lnSpc>
              <a:spcBef>
                <a:spcPts val="0"/>
              </a:spcBef>
              <a:spcAft>
                <a:spcPts val="0"/>
              </a:spcAft>
              <a:buClr>
                <a:srgbClr val="7F7F7F"/>
              </a:buClr>
              <a:buSzPts val="1400"/>
              <a:buNone/>
            </a:pPr>
            <a:r>
              <a:rPr lang="es-ES" sz="1400">
                <a:solidFill>
                  <a:srgbClr val="7F7F7F"/>
                </a:solidFill>
              </a:rPr>
              <a:t>Lenguaje de modelado para describir arquitecturas empresariales.</a:t>
            </a:r>
            <a:endParaRPr/>
          </a:p>
          <a:p>
            <a:pPr indent="-266700" lvl="0" marL="266700" rtl="0" algn="l">
              <a:lnSpc>
                <a:spcPct val="100000"/>
              </a:lnSpc>
              <a:spcBef>
                <a:spcPts val="1200"/>
              </a:spcBef>
              <a:spcAft>
                <a:spcPts val="0"/>
              </a:spcAft>
              <a:buClr>
                <a:schemeClr val="dk1"/>
              </a:buClr>
              <a:buSzPts val="1200"/>
              <a:buChar char="❑"/>
            </a:pPr>
            <a:r>
              <a:rPr lang="es-ES"/>
              <a:t>Docker y Kubernetes:</a:t>
            </a:r>
            <a:endParaRPr/>
          </a:p>
          <a:p>
            <a:pPr indent="0" lvl="1" marL="265113" rtl="0" algn="l">
              <a:lnSpc>
                <a:spcPct val="100000"/>
              </a:lnSpc>
              <a:spcBef>
                <a:spcPts val="0"/>
              </a:spcBef>
              <a:spcAft>
                <a:spcPts val="0"/>
              </a:spcAft>
              <a:buClr>
                <a:srgbClr val="7F7F7F"/>
              </a:buClr>
              <a:buSzPts val="1400"/>
              <a:buNone/>
            </a:pPr>
            <a:r>
              <a:rPr lang="es-ES" sz="1400">
                <a:solidFill>
                  <a:srgbClr val="7F7F7F"/>
                </a:solidFill>
              </a:rPr>
              <a:t>Para arquitecturas basadas en contenedores y microservicios para el despliegue y la gestión.</a:t>
            </a:r>
            <a:endParaRPr/>
          </a:p>
          <a:p>
            <a:pPr indent="-266700" lvl="0" marL="266700" rtl="0" algn="l">
              <a:lnSpc>
                <a:spcPct val="100000"/>
              </a:lnSpc>
              <a:spcBef>
                <a:spcPts val="1200"/>
              </a:spcBef>
              <a:spcAft>
                <a:spcPts val="0"/>
              </a:spcAft>
              <a:buClr>
                <a:schemeClr val="dk1"/>
              </a:buClr>
              <a:buSzPts val="1200"/>
              <a:buChar char="❑"/>
            </a:pPr>
            <a:r>
              <a:rPr lang="es-ES"/>
              <a:t>Git:</a:t>
            </a:r>
            <a:endParaRPr/>
          </a:p>
          <a:p>
            <a:pPr indent="0" lvl="1" marL="265113" rtl="0" algn="l">
              <a:lnSpc>
                <a:spcPct val="100000"/>
              </a:lnSpc>
              <a:spcBef>
                <a:spcPts val="0"/>
              </a:spcBef>
              <a:spcAft>
                <a:spcPts val="0"/>
              </a:spcAft>
              <a:buClr>
                <a:srgbClr val="7F7F7F"/>
              </a:buClr>
              <a:buSzPts val="1400"/>
              <a:buNone/>
            </a:pPr>
            <a:r>
              <a:rPr lang="es-ES" sz="1400">
                <a:solidFill>
                  <a:srgbClr val="7F7F7F"/>
                </a:solidFill>
              </a:rPr>
              <a:t>No es una herramienta de diseño per se, pero es crucial para la gestión de versiones del código y la documentación de la arquitectura.</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38"/>
          <p:cNvSpPr/>
          <p:nvPr/>
        </p:nvSpPr>
        <p:spPr>
          <a:xfrm>
            <a:off x="0" y="0"/>
            <a:ext cx="9144000" cy="5715000"/>
          </a:xfrm>
          <a:prstGeom prst="rect">
            <a:avLst/>
          </a:prstGeom>
          <a:solidFill>
            <a:srgbClr val="1F85A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Calibri"/>
              <a:ea typeface="Calibri"/>
              <a:cs typeface="Calibri"/>
              <a:sym typeface="Calibri"/>
            </a:endParaRPr>
          </a:p>
        </p:txBody>
      </p:sp>
      <p:sp>
        <p:nvSpPr>
          <p:cNvPr id="385" name="Google Shape;385;p38"/>
          <p:cNvSpPr/>
          <p:nvPr/>
        </p:nvSpPr>
        <p:spPr>
          <a:xfrm>
            <a:off x="1276149" y="980083"/>
            <a:ext cx="7204492" cy="3754834"/>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lt1"/>
              </a:buClr>
              <a:buSzPts val="1700"/>
              <a:buFont typeface="Arial"/>
              <a:buChar char="•"/>
            </a:pPr>
            <a:r>
              <a:rPr b="0" i="0" lang="es-ES" sz="1700" u="none" cap="none" strike="noStrike">
                <a:solidFill>
                  <a:schemeClr val="lt1"/>
                </a:solidFill>
                <a:latin typeface="Calibri"/>
                <a:ea typeface="Calibri"/>
                <a:cs typeface="Calibri"/>
                <a:sym typeface="Calibri"/>
              </a:rPr>
              <a:t>Tomar decisiones acertadas en el Diseño de la Arquitectura establece la base para la eficiencia, escalabilidad y seguridad del sistema completo.</a:t>
            </a:r>
            <a:endParaRPr b="0" i="0" sz="1400" u="none" cap="none" strike="noStrike">
              <a:solidFill>
                <a:srgbClr val="000000"/>
              </a:solidFill>
              <a:latin typeface="Arial"/>
              <a:ea typeface="Arial"/>
              <a:cs typeface="Arial"/>
              <a:sym typeface="Arial"/>
            </a:endParaRPr>
          </a:p>
          <a:p>
            <a:pPr indent="-177800" lvl="0" marL="285750" marR="0" rtl="0" algn="l">
              <a:lnSpc>
                <a:spcPct val="100000"/>
              </a:lnSpc>
              <a:spcBef>
                <a:spcPts val="0"/>
              </a:spcBef>
              <a:spcAft>
                <a:spcPts val="0"/>
              </a:spcAft>
              <a:buClr>
                <a:schemeClr val="dk1"/>
              </a:buClr>
              <a:buSzPts val="1700"/>
              <a:buFont typeface="Arial"/>
              <a:buNone/>
            </a:pPr>
            <a:r>
              <a:t/>
            </a:r>
            <a:endParaRPr b="0" i="0" sz="1700" u="none" cap="none" strike="noStrike">
              <a:solidFill>
                <a:schemeClr val="lt1"/>
              </a:solidFill>
              <a:latin typeface="Calibri"/>
              <a:ea typeface="Calibri"/>
              <a:cs typeface="Calibri"/>
              <a:sym typeface="Calibri"/>
            </a:endParaRPr>
          </a:p>
          <a:p>
            <a:pPr indent="-285750" lvl="0" marL="285750" marR="0" rtl="0" algn="l">
              <a:lnSpc>
                <a:spcPct val="100000"/>
              </a:lnSpc>
              <a:spcBef>
                <a:spcPts val="0"/>
              </a:spcBef>
              <a:spcAft>
                <a:spcPts val="0"/>
              </a:spcAft>
              <a:buClr>
                <a:schemeClr val="lt1"/>
              </a:buClr>
              <a:buSzPts val="1700"/>
              <a:buFont typeface="Arial"/>
              <a:buChar char="•"/>
            </a:pPr>
            <a:r>
              <a:rPr b="0" i="0" lang="es-ES" sz="1700" u="none" cap="none" strike="noStrike">
                <a:solidFill>
                  <a:schemeClr val="lt1"/>
                </a:solidFill>
                <a:latin typeface="Calibri"/>
                <a:ea typeface="Calibri"/>
                <a:cs typeface="Calibri"/>
                <a:sym typeface="Calibri"/>
              </a:rPr>
              <a:t>Ignorar principios de diseño sólidos como la modularidad, la responsabilidad única y la seguridad desde el inicio puede llevar a problemas graves a largo plazo.</a:t>
            </a:r>
            <a:endParaRPr b="0" i="0" sz="1400" u="none" cap="none" strike="noStrike">
              <a:solidFill>
                <a:srgbClr val="000000"/>
              </a:solidFill>
              <a:latin typeface="Arial"/>
              <a:ea typeface="Arial"/>
              <a:cs typeface="Arial"/>
              <a:sym typeface="Arial"/>
            </a:endParaRPr>
          </a:p>
          <a:p>
            <a:pPr indent="-177800" lvl="0" marL="285750" marR="0" rtl="0" algn="l">
              <a:lnSpc>
                <a:spcPct val="100000"/>
              </a:lnSpc>
              <a:spcBef>
                <a:spcPts val="0"/>
              </a:spcBef>
              <a:spcAft>
                <a:spcPts val="0"/>
              </a:spcAft>
              <a:buClr>
                <a:schemeClr val="dk1"/>
              </a:buClr>
              <a:buSzPts val="1700"/>
              <a:buFont typeface="Arial"/>
              <a:buNone/>
            </a:pPr>
            <a:r>
              <a:t/>
            </a:r>
            <a:endParaRPr b="0" i="0" sz="1700" u="none" cap="none" strike="noStrike">
              <a:solidFill>
                <a:schemeClr val="lt1"/>
              </a:solidFill>
              <a:latin typeface="Calibri"/>
              <a:ea typeface="Calibri"/>
              <a:cs typeface="Calibri"/>
              <a:sym typeface="Calibri"/>
            </a:endParaRPr>
          </a:p>
          <a:p>
            <a:pPr indent="-285750" lvl="0" marL="285750" marR="0" rtl="0" algn="l">
              <a:lnSpc>
                <a:spcPct val="100000"/>
              </a:lnSpc>
              <a:spcBef>
                <a:spcPts val="0"/>
              </a:spcBef>
              <a:spcAft>
                <a:spcPts val="0"/>
              </a:spcAft>
              <a:buClr>
                <a:schemeClr val="lt1"/>
              </a:buClr>
              <a:buSzPts val="1700"/>
              <a:buFont typeface="Arial"/>
              <a:buChar char="•"/>
            </a:pPr>
            <a:r>
              <a:rPr b="0" i="0" lang="es-ES" sz="1700" u="none" cap="none" strike="noStrike">
                <a:solidFill>
                  <a:schemeClr val="lt1"/>
                </a:solidFill>
                <a:latin typeface="Calibri"/>
                <a:ea typeface="Calibri"/>
                <a:cs typeface="Calibri"/>
                <a:sym typeface="Calibri"/>
              </a:rPr>
              <a:t>No hay una </a:t>
            </a:r>
            <a:r>
              <a:rPr lang="es-ES" sz="1700">
                <a:solidFill>
                  <a:schemeClr val="lt1"/>
                </a:solidFill>
                <a:latin typeface="Calibri"/>
                <a:ea typeface="Calibri"/>
                <a:cs typeface="Calibri"/>
                <a:sym typeface="Calibri"/>
              </a:rPr>
              <a:t>“</a:t>
            </a:r>
            <a:r>
              <a:rPr b="0" i="0" lang="es-ES" sz="1700" u="none" cap="none" strike="noStrike">
                <a:solidFill>
                  <a:schemeClr val="lt1"/>
                </a:solidFill>
                <a:latin typeface="Calibri"/>
                <a:ea typeface="Calibri"/>
                <a:cs typeface="Calibri"/>
                <a:sym typeface="Calibri"/>
              </a:rPr>
              <a:t>talla única</a:t>
            </a:r>
            <a:r>
              <a:rPr lang="es-ES" sz="1700">
                <a:solidFill>
                  <a:schemeClr val="lt1"/>
                </a:solidFill>
                <a:latin typeface="Calibri"/>
                <a:ea typeface="Calibri"/>
                <a:cs typeface="Calibri"/>
                <a:sym typeface="Calibri"/>
              </a:rPr>
              <a:t>”</a:t>
            </a:r>
            <a:r>
              <a:rPr b="0" i="0" lang="es-ES" sz="1700" u="none" cap="none" strike="noStrike">
                <a:solidFill>
                  <a:schemeClr val="lt1"/>
                </a:solidFill>
                <a:latin typeface="Calibri"/>
                <a:ea typeface="Calibri"/>
                <a:cs typeface="Calibri"/>
                <a:sym typeface="Calibri"/>
              </a:rPr>
              <a:t> en cuanto a metodologías y herramientas; la elección debe basarse en los requisitos específicos del proyecto y las necesidades del equipo.</a:t>
            </a:r>
            <a:endParaRPr b="0" i="0" sz="1400" u="none" cap="none" strike="noStrike">
              <a:solidFill>
                <a:srgbClr val="000000"/>
              </a:solidFill>
              <a:latin typeface="Arial"/>
              <a:ea typeface="Arial"/>
              <a:cs typeface="Arial"/>
              <a:sym typeface="Arial"/>
            </a:endParaRPr>
          </a:p>
          <a:p>
            <a:pPr indent="-177800" lvl="0" marL="285750" marR="0" rtl="0" algn="l">
              <a:lnSpc>
                <a:spcPct val="100000"/>
              </a:lnSpc>
              <a:spcBef>
                <a:spcPts val="0"/>
              </a:spcBef>
              <a:spcAft>
                <a:spcPts val="0"/>
              </a:spcAft>
              <a:buClr>
                <a:schemeClr val="dk1"/>
              </a:buClr>
              <a:buSzPts val="1700"/>
              <a:buFont typeface="Arial"/>
              <a:buNone/>
            </a:pPr>
            <a:r>
              <a:t/>
            </a:r>
            <a:endParaRPr b="0" i="0" sz="1700" u="none" cap="none" strike="noStrike">
              <a:solidFill>
                <a:schemeClr val="lt1"/>
              </a:solidFill>
              <a:latin typeface="Calibri"/>
              <a:ea typeface="Calibri"/>
              <a:cs typeface="Calibri"/>
              <a:sym typeface="Calibri"/>
            </a:endParaRPr>
          </a:p>
          <a:p>
            <a:pPr indent="-285750" lvl="0" marL="285750" marR="0" rtl="0" algn="l">
              <a:lnSpc>
                <a:spcPct val="100000"/>
              </a:lnSpc>
              <a:spcBef>
                <a:spcPts val="0"/>
              </a:spcBef>
              <a:spcAft>
                <a:spcPts val="0"/>
              </a:spcAft>
              <a:buClr>
                <a:schemeClr val="lt1"/>
              </a:buClr>
              <a:buSzPts val="1700"/>
              <a:buFont typeface="Arial"/>
              <a:buChar char="•"/>
            </a:pPr>
            <a:r>
              <a:rPr b="0" i="0" lang="es-ES" sz="1700" u="none" cap="none" strike="noStrike">
                <a:solidFill>
                  <a:schemeClr val="lt1"/>
                </a:solidFill>
                <a:latin typeface="Calibri"/>
                <a:ea typeface="Calibri"/>
                <a:cs typeface="Calibri"/>
                <a:sym typeface="Calibri"/>
              </a:rPr>
              <a:t>Mantener una documentación detallada y facilitar la comunicación entre los diferentes stakeholders no </a:t>
            </a:r>
            <a:r>
              <a:rPr lang="es-ES" sz="1700">
                <a:solidFill>
                  <a:schemeClr val="lt1"/>
                </a:solidFill>
                <a:latin typeface="Calibri"/>
                <a:ea typeface="Calibri"/>
                <a:cs typeface="Calibri"/>
                <a:sym typeface="Calibri"/>
              </a:rPr>
              <a:t>sólo</a:t>
            </a:r>
            <a:r>
              <a:rPr b="0" i="0" lang="es-ES" sz="1700" u="none" cap="none" strike="noStrike">
                <a:solidFill>
                  <a:schemeClr val="lt1"/>
                </a:solidFill>
                <a:latin typeface="Calibri"/>
                <a:ea typeface="Calibri"/>
                <a:cs typeface="Calibri"/>
                <a:sym typeface="Calibri"/>
              </a:rPr>
              <a:t> mejora el proceso de desarrollo, sino que también es vital para el mantenimiento y la escalabilidad futura del sistema.</a:t>
            </a:r>
            <a:endParaRPr b="0" i="0" sz="1400" u="none" cap="none" strike="noStrike">
              <a:solidFill>
                <a:srgbClr val="000000"/>
              </a:solidFill>
              <a:latin typeface="Arial"/>
              <a:ea typeface="Arial"/>
              <a:cs typeface="Arial"/>
              <a:sym typeface="Arial"/>
            </a:endParaRPr>
          </a:p>
        </p:txBody>
      </p:sp>
      <p:sp>
        <p:nvSpPr>
          <p:cNvPr id="386" name="Google Shape;386;p38"/>
          <p:cNvSpPr/>
          <p:nvPr/>
        </p:nvSpPr>
        <p:spPr>
          <a:xfrm>
            <a:off x="407875" y="320830"/>
            <a:ext cx="7204493" cy="35394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700"/>
              <a:buFont typeface="Calibri"/>
              <a:buNone/>
            </a:pPr>
            <a:r>
              <a:rPr b="0" i="0" lang="es-ES" sz="1700" u="none" cap="none" strike="noStrike">
                <a:solidFill>
                  <a:schemeClr val="lt1"/>
                </a:solidFill>
                <a:latin typeface="Calibri"/>
                <a:ea typeface="Calibri"/>
                <a:cs typeface="Calibri"/>
                <a:sym typeface="Calibri"/>
              </a:rPr>
              <a:t>/ CONCLUSIONES</a:t>
            </a:r>
            <a:endParaRPr b="0" i="0" sz="1800" u="none" cap="none" strike="noStrike">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39"/>
          <p:cNvSpPr txBox="1"/>
          <p:nvPr/>
        </p:nvSpPr>
        <p:spPr>
          <a:xfrm>
            <a:off x="665324" y="857848"/>
            <a:ext cx="7892750" cy="3492049"/>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s-ES" sz="1600" u="none" cap="none" strike="noStrike">
                <a:solidFill>
                  <a:schemeClr val="dk1"/>
                </a:solidFill>
                <a:latin typeface="Calibri"/>
                <a:ea typeface="Calibri"/>
                <a:cs typeface="Calibri"/>
                <a:sym typeface="Calibri"/>
              </a:rPr>
              <a:t>Bass, L., Clements, P., &amp; Kazman, R. (2012). Software Architecture in Practice (3rd ed.). Addison-Wesley.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0" i="0" lang="es-ES" sz="1600" u="none" cap="none" strike="noStrike">
                <a:solidFill>
                  <a:schemeClr val="dk1"/>
                </a:solidFill>
                <a:latin typeface="Calibri"/>
                <a:ea typeface="Calibri"/>
                <a:cs typeface="Calibri"/>
                <a:sym typeface="Calibri"/>
              </a:rPr>
              <a:t>Martin, R. C. (2002). Agile Software Development, Principles, Patterns, and Practices. Prentice Hall.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0" i="0" lang="es-ES" sz="1600" u="none" cap="none" strike="noStrike">
                <a:solidFill>
                  <a:schemeClr val="dk1"/>
                </a:solidFill>
                <a:latin typeface="Calibri"/>
                <a:ea typeface="Calibri"/>
                <a:cs typeface="Calibri"/>
                <a:sym typeface="Calibri"/>
              </a:rPr>
              <a:t>Fowler, M. (2002). Patterns of Enterprise Application Architecture. Addison-Wesley.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0" i="0" lang="es-ES" sz="1600" u="sng" cap="none" strike="noStrike">
                <a:solidFill>
                  <a:schemeClr val="dk1"/>
                </a:solidFill>
                <a:latin typeface="Calibri"/>
                <a:ea typeface="Calibri"/>
                <a:cs typeface="Calibri"/>
                <a:sym typeface="Calibri"/>
                <a:hlinkClick r:id="rId3">
                  <a:extLst>
                    <a:ext uri="{A12FA001-AC4F-418D-AE19-62706E023703}">
                      <ahyp:hlinkClr val="tx"/>
                    </a:ext>
                  </a:extLst>
                </a:hlinkClick>
              </a:rPr>
              <a:t>https://www.infoworld.com/category/software-architecture/</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0" i="0" lang="es-ES" sz="1600" u="sng" cap="none" strike="noStrike">
                <a:solidFill>
                  <a:schemeClr val="dk1"/>
                </a:solidFill>
                <a:latin typeface="Calibri"/>
                <a:ea typeface="Calibri"/>
                <a:cs typeface="Calibri"/>
                <a:sym typeface="Calibri"/>
                <a:hlinkClick r:id="rId4">
                  <a:extLst>
                    <a:ext uri="{A12FA001-AC4F-418D-AE19-62706E023703}">
                      <ahyp:hlinkClr val="tx"/>
                    </a:ext>
                  </a:extLst>
                </a:hlinkClick>
              </a:rPr>
              <a:t>https://martinfowler.com/</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0" i="0" lang="es-ES" sz="1600" u="sng" cap="none" strike="noStrike">
                <a:solidFill>
                  <a:schemeClr val="dk1"/>
                </a:solidFill>
                <a:latin typeface="Calibri"/>
                <a:ea typeface="Calibri"/>
                <a:cs typeface="Calibri"/>
                <a:sym typeface="Calibri"/>
                <a:hlinkClick r:id="rId5">
                  <a:extLst>
                    <a:ext uri="{A12FA001-AC4F-418D-AE19-62706E023703}">
                      <ahyp:hlinkClr val="tx"/>
                    </a:ext>
                  </a:extLst>
                </a:hlinkClick>
              </a:rPr>
              <a:t>https://www.udacity.com/course/software-architecture-design--ud821</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chemeClr val="dk1"/>
              </a:solidFill>
              <a:latin typeface="Calibri"/>
              <a:ea typeface="Calibri"/>
              <a:cs typeface="Calibri"/>
              <a:sym typeface="Calibri"/>
            </a:endParaRPr>
          </a:p>
          <a:p>
            <a:pPr indent="-73025" lvl="0" marL="174625" marR="0" rtl="0" algn="l">
              <a:lnSpc>
                <a:spcPct val="100000"/>
              </a:lnSpc>
              <a:spcBef>
                <a:spcPts val="0"/>
              </a:spcBef>
              <a:spcAft>
                <a:spcPts val="0"/>
              </a:spcAft>
              <a:buClr>
                <a:schemeClr val="dk1"/>
              </a:buClr>
              <a:buSzPts val="1600"/>
              <a:buFont typeface="Arial"/>
              <a:buNone/>
            </a:pPr>
            <a:r>
              <a:t/>
            </a:r>
            <a:endParaRPr b="0" i="0" sz="1600" u="none" cap="none" strike="noStrike">
              <a:solidFill>
                <a:schemeClr val="dk1"/>
              </a:solidFill>
              <a:latin typeface="Calibri"/>
              <a:ea typeface="Calibri"/>
              <a:cs typeface="Calibri"/>
              <a:sym typeface="Calibri"/>
            </a:endParaRPr>
          </a:p>
        </p:txBody>
      </p:sp>
      <p:sp>
        <p:nvSpPr>
          <p:cNvPr id="393" name="Google Shape;393;p39"/>
          <p:cNvSpPr/>
          <p:nvPr/>
        </p:nvSpPr>
        <p:spPr>
          <a:xfrm>
            <a:off x="407875" y="320830"/>
            <a:ext cx="7204493" cy="35394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38AD7"/>
              </a:buClr>
              <a:buSzPts val="1700"/>
              <a:buFont typeface="Calibri"/>
              <a:buNone/>
            </a:pPr>
            <a:r>
              <a:rPr b="0" i="0" lang="es-ES" sz="1700" u="none" cap="none" strike="noStrike">
                <a:solidFill>
                  <a:srgbClr val="438AD7"/>
                </a:solidFill>
                <a:latin typeface="Calibri"/>
                <a:ea typeface="Calibri"/>
                <a:cs typeface="Calibri"/>
                <a:sym typeface="Calibri"/>
              </a:rPr>
              <a:t>/ BIBLIOGRAFÍA</a:t>
            </a:r>
            <a:endParaRPr b="0" i="0" sz="1800" u="none" cap="none" strike="noStrike">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2016-10-06T14:52:02Z</dcterms:created>
  <dc:creator>ISIL</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5400A83D-B4FE-497C-9E2F-ACF3BA8DEF15</vt:lpwstr>
  </property>
  <property fmtid="{D5CDD505-2E9C-101B-9397-08002B2CF9AE}" pid="3" name="ArticulatePath">
    <vt:lpwstr>plantilla_cursos_presenciales-v3.1.6</vt:lpwstr>
  </property>
</Properties>
</file>