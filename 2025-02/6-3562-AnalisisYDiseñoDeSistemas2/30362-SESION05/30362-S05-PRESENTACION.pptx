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715000" cx="9144000"/>
  <p:notesSz cx="6797675" cy="992662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2D200454-40CA-4A62-9FC3-DE9A4176ACB9}">
      <p15:notesGuideLst>
        <p15:guide id="1" orient="horz" pos="3126">
          <p15:clr>
            <a:srgbClr val="A4A3A4"/>
          </p15:clr>
        </p15:guide>
        <p15:guide id="2" pos="2141">
          <p15:clr>
            <a:srgbClr val="A4A3A4"/>
          </p15:clr>
        </p15:guide>
      </p15:notesGuideLst>
    </p:ext>
    <p:ext uri="GoogleSlidesCustomDataVersion2">
      <go:slidesCustomData xmlns:go="http://customooxmlschemas.google.com/" r:id="rId51" roundtripDataSignature="AMtx7mjuAxzWBmnt9uLFfO9HfXaIjuxn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notesViewPr>
    <p:cSldViewPr snapToGrid="0">
      <p:cViewPr varScale="1">
        <p:scale>
          <a:sx n="100" d="100"/>
          <a:sy n="100" d="100"/>
        </p:scale>
        <p:origin x="0" y="0"/>
      </p:cViewPr>
      <p:guideLst>
        <p:guide pos="3126" orient="horz"/>
        <p:guide pos="214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customschemas.google.com/relationships/presentationmetadata" Target="metadata"/><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45659" cy="498056"/>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0443" y="1"/>
            <a:ext cx="2945659" cy="498056"/>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428584"/>
            <a:ext cx="2945659" cy="49805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95250" lvl="0" marL="171450" rtl="0" algn="l">
              <a:spcBef>
                <a:spcPts val="0"/>
              </a:spcBef>
              <a:spcAft>
                <a:spcPts val="0"/>
              </a:spcAft>
              <a:buClr>
                <a:schemeClr val="dk1"/>
              </a:buClr>
              <a:buSzPts val="1200"/>
              <a:buFont typeface="Arial"/>
              <a:buNone/>
            </a:pPr>
            <a:r>
              <a:t/>
            </a:r>
            <a:endParaRPr>
              <a:latin typeface="Arial"/>
              <a:ea typeface="Arial"/>
              <a:cs typeface="Arial"/>
              <a:sym typeface="Arial"/>
            </a:endParaRPr>
          </a:p>
        </p:txBody>
      </p:sp>
      <p:sp>
        <p:nvSpPr>
          <p:cNvPr id="57" name="Google Shape;57;p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69" name="Google Shape;69;p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p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76" name="Google Shape;76;p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83" name="Google Shape;83;p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 name="Google Shape;91;p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ES"/>
              <a:t>UML 1.0 fue adoptada rápidamente porque satisfacía una necesidad latente: estandarizar las diversas técnicas de modelado existentes. </a:t>
            </a:r>
            <a:endParaRPr/>
          </a:p>
          <a:p>
            <a:pPr indent="0" lvl="0" marL="0" rtl="0" algn="l">
              <a:spcBef>
                <a:spcPts val="0"/>
              </a:spcBef>
              <a:spcAft>
                <a:spcPts val="0"/>
              </a:spcAft>
              <a:buNone/>
            </a:pPr>
            <a:r>
              <a:rPr lang="es-ES"/>
              <a:t>UML 1.1 fue adoptado por el OMG (Object Management Group) en 1997 como estándar.</a:t>
            </a:r>
            <a:endParaRPr/>
          </a:p>
          <a:p>
            <a:pPr indent="0" lvl="0" marL="0" rtl="0" algn="l">
              <a:spcBef>
                <a:spcPts val="0"/>
              </a:spcBef>
              <a:spcAft>
                <a:spcPts val="0"/>
              </a:spcAft>
              <a:buNone/>
            </a:pPr>
            <a:r>
              <a:rPr lang="es-ES"/>
              <a:t>UML 2.0 trajo una serie de mejoras y nuevas funcionalidades, incluyendo diagramas más complejos como los diagramas de secuencia y de actividad mejorados. También se hicieron mejoras para permitir el modelado de sistemas más complejos y para facilitar el desarrollo de software orientado a aspectos.</a:t>
            </a:r>
            <a:endParaRPr/>
          </a:p>
          <a:p>
            <a:pPr indent="0" lvl="0" marL="0" rtl="0" algn="l">
              <a:spcBef>
                <a:spcPts val="0"/>
              </a:spcBef>
              <a:spcAft>
                <a:spcPts val="0"/>
              </a:spcAft>
              <a:buNone/>
            </a:pPr>
            <a:r>
              <a:rPr lang="es-ES"/>
              <a:t>Las últimas versiones han enfocado en mejorar la usabilidad y en añadir capacidades para el modelado de sistemas en tiempo real, entre otras cosas.</a:t>
            </a:r>
            <a:endParaRPr/>
          </a:p>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92" name="Google Shape;92;p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0" name="Google Shape;100;p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09" name="Google Shape;109;p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18" name="Google Shape;118;p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27" name="Google Shape;127;p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1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36" name="Google Shape;136;p1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1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45" name="Google Shape;145;p1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1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154" name="Google Shape;154;p1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1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61" name="Google Shape;161;p1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0" name="Google Shape;170;p1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1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79" name="Google Shape;179;p1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88" name="Google Shape;188;p1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197" name="Google Shape;197;p1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06" name="Google Shape;206;p1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a:latin typeface="Arial"/>
              <a:ea typeface="Arial"/>
              <a:cs typeface="Arial"/>
              <a:sym typeface="Arial"/>
            </a:endParaRPr>
          </a:p>
        </p:txBody>
      </p:sp>
      <p:sp>
        <p:nvSpPr>
          <p:cNvPr id="215" name="Google Shape;215;p1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2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22" name="Google Shape;222;p2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2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43" name="Google Shape;243;p2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2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52" name="Google Shape;252;p2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2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61" name="Google Shape;261;p2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0" name="Google Shape;270;p2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79" name="Google Shape;279;p2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7" name="Google Shape;287;p2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88" name="Google Shape;288;p2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2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297" name="Google Shape;297;p2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06" name="Google Shape;306;p2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2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15" name="Google Shape;315;p2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3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24" name="Google Shape;324;p3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3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33" name="Google Shape;333;p3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3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p3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42" name="Google Shape;342;p3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3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51" name="Google Shape;351;p3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p3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0" name="Google Shape;360;p3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3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69" name="Google Shape;369;p3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6: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36: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78" name="Google Shape;378;p36: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7: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p37: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88" name="Google Shape;388;p37: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8: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p38: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397" name="Google Shape;397;p38: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9: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39: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06" name="Google Shape;406;p39: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40: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4" name="Google Shape;414;p40: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15" name="Google Shape;415;p40: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41: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41: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24" name="Google Shape;424;p41: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2: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2" name="Google Shape;432;p42: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33" name="Google Shape;433;p42: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3: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43: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t/>
            </a:r>
            <a:endParaRPr>
              <a:latin typeface="Calibri"/>
              <a:ea typeface="Calibri"/>
              <a:cs typeface="Calibri"/>
              <a:sym typeface="Calibri"/>
            </a:endParaRPr>
          </a:p>
        </p:txBody>
      </p:sp>
      <p:sp>
        <p:nvSpPr>
          <p:cNvPr id="442" name="Google Shape;442;p43: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44: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p44: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152400" lvl="0" marL="228600" rtl="0" algn="l">
              <a:spcBef>
                <a:spcPts val="0"/>
              </a:spcBef>
              <a:spcAft>
                <a:spcPts val="0"/>
              </a:spcAft>
              <a:buClr>
                <a:schemeClr val="dk1"/>
              </a:buClr>
              <a:buSzPts val="1200"/>
              <a:buFont typeface="Calibri"/>
              <a:buNone/>
            </a:pPr>
            <a:r>
              <a:t/>
            </a:r>
            <a:endParaRPr b="0" sz="1200">
              <a:latin typeface="Arial"/>
              <a:ea typeface="Arial"/>
              <a:cs typeface="Arial"/>
              <a:sym typeface="Arial"/>
            </a:endParaRPr>
          </a:p>
        </p:txBody>
      </p:sp>
      <p:sp>
        <p:nvSpPr>
          <p:cNvPr id="451" name="Google Shape;451;p44: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45:notes"/>
          <p:cNvSpPr/>
          <p:nvPr>
            <p:ph idx="2" type="sldImg"/>
          </p:nvPr>
        </p:nvSpPr>
        <p:spPr>
          <a:xfrm>
            <a:off x="719138" y="1241425"/>
            <a:ext cx="5359400" cy="33496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45:notes"/>
          <p:cNvSpPr txBox="1"/>
          <p:nvPr>
            <p:ph idx="1" type="body"/>
          </p:nvPr>
        </p:nvSpPr>
        <p:spPr>
          <a:xfrm>
            <a:off x="679768" y="4777194"/>
            <a:ext cx="5438140" cy="3908615"/>
          </a:xfrm>
          <a:prstGeom prst="rect">
            <a:avLst/>
          </a:prstGeom>
          <a:noFill/>
          <a:ln>
            <a:noFill/>
          </a:ln>
        </p:spPr>
        <p:txBody>
          <a:bodyPr anchorCtr="0" anchor="t" bIns="45700" lIns="91425" spcFirstLastPara="1" rIns="91425" wrap="square" tIns="45700">
            <a:noAutofit/>
          </a:bodyPr>
          <a:lstStyle/>
          <a:p>
            <a:pPr indent="0" lvl="3" marL="0" marR="0" rtl="0" algn="l">
              <a:lnSpc>
                <a:spcPct val="100000"/>
              </a:lnSpc>
              <a:spcBef>
                <a:spcPts val="0"/>
              </a:spcBef>
              <a:spcAft>
                <a:spcPts val="0"/>
              </a:spcAft>
              <a:buClr>
                <a:schemeClr val="dk1"/>
              </a:buClr>
              <a:buSzPts val="1200"/>
              <a:buFont typeface="Arial"/>
              <a:buNone/>
            </a:pPr>
            <a:r>
              <a:rPr lang="es-ES" sz="1200">
                <a:solidFill>
                  <a:schemeClr val="dk1"/>
                </a:solidFill>
                <a:latin typeface="Arial"/>
                <a:ea typeface="Arial"/>
                <a:cs typeface="Arial"/>
                <a:sym typeface="Arial"/>
              </a:rPr>
              <a:t> </a:t>
            </a:r>
            <a:endParaRPr/>
          </a:p>
          <a:p>
            <a:pPr indent="0" lvl="0" marL="0" rtl="0" algn="l">
              <a:spcBef>
                <a:spcPts val="0"/>
              </a:spcBef>
              <a:spcAft>
                <a:spcPts val="0"/>
              </a:spcAft>
              <a:buClr>
                <a:schemeClr val="dk1"/>
              </a:buClr>
              <a:buSzPts val="1200"/>
              <a:buFont typeface="Calibri"/>
              <a:buNone/>
            </a:pPr>
            <a:r>
              <a:t/>
            </a:r>
            <a:endParaRPr sz="1200">
              <a:latin typeface="Arial"/>
              <a:ea typeface="Arial"/>
              <a:cs typeface="Arial"/>
              <a:sym typeface="Arial"/>
            </a:endParaRPr>
          </a:p>
        </p:txBody>
      </p:sp>
      <p:sp>
        <p:nvSpPr>
          <p:cNvPr id="459" name="Google Shape;459;p45:notes"/>
          <p:cNvSpPr txBox="1"/>
          <p:nvPr>
            <p:ph idx="12" type="sldNum"/>
          </p:nvPr>
        </p:nvSpPr>
        <p:spPr>
          <a:xfrm>
            <a:off x="3850443" y="9428584"/>
            <a:ext cx="2945659" cy="49805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Clr>
                <a:schemeClr val="dk1"/>
              </a:buClr>
              <a:buSzPts val="1200"/>
              <a:buFont typeface="Calibri"/>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spTree>
      <p:nvGrpSpPr>
        <p:cNvPr id="14" name="Shape 14"/>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1_Diapo_Subtema con Imagen Horizontal">
    <p:spTree>
      <p:nvGrpSpPr>
        <p:cNvPr id="15" name="Shape 15"/>
        <p:cNvGrpSpPr/>
        <p:nvPr/>
      </p:nvGrpSpPr>
      <p:grpSpPr>
        <a:xfrm>
          <a:off x="0" y="0"/>
          <a:ext cx="0" cy="0"/>
          <a:chOff x="0" y="0"/>
          <a:chExt cx="0" cy="0"/>
        </a:xfrm>
      </p:grpSpPr>
      <p:sp>
        <p:nvSpPr>
          <p:cNvPr id="16" name="Google Shape;16;p48"/>
          <p:cNvSpPr/>
          <p:nvPr>
            <p:ph idx="2" type="pic"/>
          </p:nvPr>
        </p:nvSpPr>
        <p:spPr>
          <a:xfrm>
            <a:off x="475687" y="2877477"/>
            <a:ext cx="8207375" cy="2394000"/>
          </a:xfrm>
          <a:prstGeom prst="rect">
            <a:avLst/>
          </a:prstGeom>
          <a:noFill/>
          <a:ln>
            <a:noFill/>
          </a:ln>
        </p:spPr>
      </p:sp>
      <p:sp>
        <p:nvSpPr>
          <p:cNvPr id="17" name="Google Shape;17;p4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8" name="Google Shape;18;p4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9" name="Google Shape;19;p4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Horizontal">
  <p:cSld name="Diapo_Subtema con Imagen Horizontal">
    <p:spTree>
      <p:nvGrpSpPr>
        <p:cNvPr id="21" name="Shape 21"/>
        <p:cNvGrpSpPr/>
        <p:nvPr/>
      </p:nvGrpSpPr>
      <p:grpSpPr>
        <a:xfrm>
          <a:off x="0" y="0"/>
          <a:ext cx="0" cy="0"/>
          <a:chOff x="0" y="0"/>
          <a:chExt cx="0" cy="0"/>
        </a:xfrm>
      </p:grpSpPr>
      <p:sp>
        <p:nvSpPr>
          <p:cNvPr id="22" name="Google Shape;22;p50"/>
          <p:cNvSpPr/>
          <p:nvPr>
            <p:ph idx="2" type="pic"/>
          </p:nvPr>
        </p:nvSpPr>
        <p:spPr>
          <a:xfrm>
            <a:off x="475687" y="2877477"/>
            <a:ext cx="8207375" cy="2394000"/>
          </a:xfrm>
          <a:prstGeom prst="rect">
            <a:avLst/>
          </a:prstGeom>
          <a:noFill/>
          <a:ln>
            <a:noFill/>
          </a:ln>
        </p:spPr>
      </p:sp>
      <p:sp>
        <p:nvSpPr>
          <p:cNvPr id="23" name="Google Shape;23;p5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4" name="Google Shape;24;p5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5" name="Google Shape;25;p5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Cuadro">
  <p:cSld name="Diapo_Subtema con Cuadro">
    <p:spTree>
      <p:nvGrpSpPr>
        <p:cNvPr id="26" name="Shape 26"/>
        <p:cNvGrpSpPr/>
        <p:nvPr/>
      </p:nvGrpSpPr>
      <p:grpSpPr>
        <a:xfrm>
          <a:off x="0" y="0"/>
          <a:ext cx="0" cy="0"/>
          <a:chOff x="0" y="0"/>
          <a:chExt cx="0" cy="0"/>
        </a:xfrm>
      </p:grpSpPr>
      <p:sp>
        <p:nvSpPr>
          <p:cNvPr id="27" name="Google Shape;27;p51"/>
          <p:cNvSpPr/>
          <p:nvPr>
            <p:ph idx="2" type="pic"/>
          </p:nvPr>
        </p:nvSpPr>
        <p:spPr>
          <a:xfrm>
            <a:off x="468313" y="1175705"/>
            <a:ext cx="8207375" cy="4096800"/>
          </a:xfrm>
          <a:prstGeom prst="rect">
            <a:avLst/>
          </a:prstGeom>
          <a:noFill/>
          <a:ln>
            <a:noFill/>
          </a:ln>
        </p:spPr>
      </p:sp>
      <p:sp>
        <p:nvSpPr>
          <p:cNvPr id="28" name="Google Shape;28;p51"/>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9" name="Google Shape;29;p5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con Imagen Vertical">
  <p:cSld name="Diapo_Subtema con Imagen Vertical">
    <p:spTree>
      <p:nvGrpSpPr>
        <p:cNvPr id="30" name="Shape 30"/>
        <p:cNvGrpSpPr/>
        <p:nvPr/>
      </p:nvGrpSpPr>
      <p:grpSpPr>
        <a:xfrm>
          <a:off x="0" y="0"/>
          <a:ext cx="0" cy="0"/>
          <a:chOff x="0" y="0"/>
          <a:chExt cx="0" cy="0"/>
        </a:xfrm>
      </p:grpSpPr>
      <p:sp>
        <p:nvSpPr>
          <p:cNvPr id="31" name="Google Shape;31;p52"/>
          <p:cNvSpPr/>
          <p:nvPr>
            <p:ph idx="2" type="pic"/>
          </p:nvPr>
        </p:nvSpPr>
        <p:spPr>
          <a:xfrm>
            <a:off x="4572000" y="804863"/>
            <a:ext cx="4103688" cy="4463362"/>
          </a:xfrm>
          <a:prstGeom prst="rect">
            <a:avLst/>
          </a:prstGeom>
          <a:noFill/>
          <a:ln>
            <a:noFill/>
          </a:ln>
        </p:spPr>
      </p:sp>
      <p:sp>
        <p:nvSpPr>
          <p:cNvPr id="32" name="Google Shape;32;p5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3" name="Google Shape;33;p5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rgbClr val="1F85A6"/>
              </a:buClr>
              <a:buSzPts val="1800"/>
              <a:buFont typeface="Arial"/>
              <a:buNone/>
              <a:defRPr b="1" i="0" sz="1800" u="none" cap="none" strike="noStrike">
                <a:solidFill>
                  <a:srgbClr val="1F85A6"/>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4" name="Google Shape;34;p5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lvl1pPr indent="-304800" lvl="0" marL="457200" marR="0" rtl="0" algn="just">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5" name="Shape 35"/>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Introduccion">
  <p:cSld name="Diapo_Introduccion">
    <p:bg>
      <p:bgPr>
        <a:solidFill>
          <a:srgbClr val="F2F2F2"/>
        </a:solidFill>
      </p:bgPr>
    </p:bg>
    <p:spTree>
      <p:nvGrpSpPr>
        <p:cNvPr id="36" name="Shape 36"/>
        <p:cNvGrpSpPr/>
        <p:nvPr/>
      </p:nvGrpSpPr>
      <p:grpSpPr>
        <a:xfrm>
          <a:off x="0" y="0"/>
          <a:ext cx="0" cy="0"/>
          <a:chOff x="0" y="0"/>
          <a:chExt cx="0" cy="0"/>
        </a:xfrm>
      </p:grpSpPr>
      <p:sp>
        <p:nvSpPr>
          <p:cNvPr id="37" name="Google Shape;37;p54"/>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620"/>
              <a:buFont typeface="Calibri"/>
              <a:buNone/>
            </a:pPr>
            <a:r>
              <a:rPr b="1" i="0" lang="es-ES" sz="1620" u="none" cap="none" strike="noStrike">
                <a:solidFill>
                  <a:schemeClr val="dk1"/>
                </a:solidFill>
                <a:latin typeface="Calibri"/>
                <a:ea typeface="Calibri"/>
                <a:cs typeface="Calibri"/>
                <a:sym typeface="Calibri"/>
              </a:rPr>
              <a:t>INTRODUCCIÓN</a:t>
            </a:r>
            <a:endParaRPr/>
          </a:p>
        </p:txBody>
      </p:sp>
      <p:pic>
        <p:nvPicPr>
          <p:cNvPr id="38" name="Google Shape;38;p54"/>
          <p:cNvPicPr preferRelativeResize="0"/>
          <p:nvPr/>
        </p:nvPicPr>
        <p:blipFill rotWithShape="1">
          <a:blip r:embed="rId2">
            <a:alphaModFix/>
          </a:blip>
          <a:srcRect b="0" l="0" r="0" t="0"/>
          <a:stretch/>
        </p:blipFill>
        <p:spPr>
          <a:xfrm>
            <a:off x="503239" y="573356"/>
            <a:ext cx="424127" cy="424127"/>
          </a:xfrm>
          <a:prstGeom prst="rect">
            <a:avLst/>
          </a:prstGeom>
          <a:solidFill>
            <a:srgbClr val="F2F2F2"/>
          </a:solidFill>
          <a:ln>
            <a:noFill/>
          </a:ln>
        </p:spPr>
      </p:pic>
      <p:sp>
        <p:nvSpPr>
          <p:cNvPr id="39" name="Google Shape;39;p54"/>
          <p:cNvSpPr txBox="1"/>
          <p:nvPr>
            <p:ph idx="1" type="body"/>
          </p:nvPr>
        </p:nvSpPr>
        <p:spPr>
          <a:xfrm>
            <a:off x="503238" y="1670050"/>
            <a:ext cx="8137525" cy="3563938"/>
          </a:xfrm>
          <a:prstGeom prst="rect">
            <a:avLst/>
          </a:prstGeom>
          <a:noFill/>
          <a:ln>
            <a:noFill/>
          </a:ln>
        </p:spPr>
        <p:txBody>
          <a:bodyPr anchorCtr="0" anchor="t" bIns="45700" lIns="91425" spcFirstLastPara="1" rIns="91425" wrap="square" tIns="45700">
            <a:noAutofit/>
          </a:bodyPr>
          <a:lstStyle>
            <a:lvl1pPr indent="-304800" lvl="0" marL="457200" marR="0" rtl="0" algn="just">
              <a:lnSpc>
                <a:spcPct val="100000"/>
              </a:lnSpc>
              <a:spcBef>
                <a:spcPts val="0"/>
              </a:spcBef>
              <a:spcAft>
                <a:spcPts val="0"/>
              </a:spcAft>
              <a:buClr>
                <a:schemeClr val="dk1"/>
              </a:buClr>
              <a:buSzPts val="1200"/>
              <a:buFont typeface="Noto Sans Symbols"/>
              <a:buChar char="❑"/>
              <a:defRPr b="0" i="0" sz="1600" u="none" cap="none" strike="noStrike">
                <a:solidFill>
                  <a:schemeClr val="dk1"/>
                </a:solidFill>
                <a:latin typeface="Calibri"/>
                <a:ea typeface="Calibri"/>
                <a:cs typeface="Calibri"/>
                <a:sym typeface="Calibri"/>
              </a:defRPr>
            </a:lvl1pPr>
            <a:lvl2pPr indent="-330200" lvl="1" marL="914400" marR="0" rtl="0" algn="just">
              <a:lnSpc>
                <a:spcPct val="100000"/>
              </a:lnSpc>
              <a:spcBef>
                <a:spcPts val="1200"/>
              </a:spcBef>
              <a:spcAft>
                <a:spcPts val="0"/>
              </a:spcAft>
              <a:buClr>
                <a:schemeClr val="dk1"/>
              </a:buClr>
              <a:buSzPts val="1600"/>
              <a:buFont typeface="Delius"/>
              <a:buChar char="→"/>
              <a:defRPr b="0" i="0" sz="1600" u="none" cap="none" strike="noStrike">
                <a:solidFill>
                  <a:schemeClr val="dk1"/>
                </a:solidFill>
                <a:latin typeface="Calibri"/>
                <a:ea typeface="Calibri"/>
                <a:cs typeface="Calibri"/>
                <a:sym typeface="Calibri"/>
              </a:defRPr>
            </a:lvl2pPr>
            <a:lvl3pPr indent="-330200" lvl="2" marL="1371600" marR="0" rtl="0" algn="just">
              <a:lnSpc>
                <a:spcPct val="100000"/>
              </a:lnSpc>
              <a:spcBef>
                <a:spcPts val="120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3pPr>
            <a:lvl4pPr indent="-330200" lvl="3" marL="18288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lnSpc>
                <a:spcPct val="85000"/>
              </a:lnSpc>
              <a:spcBef>
                <a:spcPts val="120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55600" lvl="5" marL="2743200" marR="0" rtl="0" algn="l">
              <a:spcBef>
                <a:spcPts val="12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guide id="2" pos="317">
          <p15:clr>
            <a:srgbClr val="FBAE40"/>
          </p15:clr>
        </p15:guide>
        <p15:guide id="3" pos="5443">
          <p15:clr>
            <a:srgbClr val="FBAE40"/>
          </p15:clr>
        </p15:guide>
        <p15:guide id="4" orient="horz" pos="3297">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Full texto">
  <p:cSld name="Diapo_Full texto">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55"/>
          <p:cNvSpPr txBox="1"/>
          <p:nvPr>
            <p:ph idx="1" type="body"/>
          </p:nvPr>
        </p:nvSpPr>
        <p:spPr>
          <a:xfrm>
            <a:off x="468313" y="810473"/>
            <a:ext cx="8207375" cy="354012"/>
          </a:xfrm>
          <a:prstGeom prst="rect">
            <a:avLst/>
          </a:prstGeom>
          <a:solidFill>
            <a:srgbClr val="FFFFCC"/>
          </a:solidFill>
          <a:ln>
            <a:noFill/>
          </a:ln>
        </p:spPr>
        <p:txBody>
          <a:bodyPr anchorCtr="0" anchor="ctr" bIns="36000" lIns="72000" spcFirstLastPara="1" rIns="72000" wrap="square" tIns="36000">
            <a:noAutofit/>
          </a:bodyPr>
          <a:lstStyle>
            <a:lvl1pPr indent="-228600" lvl="0" marL="457200" marR="0" rtl="0" algn="l">
              <a:lnSpc>
                <a:spcPct val="85000"/>
              </a:lnSpc>
              <a:spcBef>
                <a:spcPts val="0"/>
              </a:spcBef>
              <a:spcAft>
                <a:spcPts val="0"/>
              </a:spcAft>
              <a:buClr>
                <a:srgbClr val="3F3F3F"/>
              </a:buClr>
              <a:buSzPts val="1600"/>
              <a:buFont typeface="Arial"/>
              <a:buNone/>
              <a:defRPr b="1" i="0" sz="1600" u="none" cap="none" strike="noStrike">
                <a:solidFill>
                  <a:srgbClr val="3F3F3F"/>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2" name="Google Shape;42;p55"/>
          <p:cNvSpPr txBox="1"/>
          <p:nvPr>
            <p:ph idx="2"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lvl1pPr indent="-228600" lvl="0" marL="457200" marR="0" rtl="0" algn="l">
              <a:spcBef>
                <a:spcPts val="360"/>
              </a:spcBef>
              <a:spcAft>
                <a:spcPts val="0"/>
              </a:spcAft>
              <a:buClr>
                <a:schemeClr val="lt1"/>
              </a:buClr>
              <a:buSzPts val="1800"/>
              <a:buFont typeface="Arial"/>
              <a:buNone/>
              <a:defRPr b="1" i="0" sz="1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43" name="Google Shape;43;p55"/>
          <p:cNvSpPr txBox="1"/>
          <p:nvPr>
            <p:ph idx="3" type="body"/>
          </p:nvPr>
        </p:nvSpPr>
        <p:spPr>
          <a:xfrm>
            <a:off x="468313" y="1174363"/>
            <a:ext cx="8207375" cy="4540637"/>
          </a:xfrm>
          <a:prstGeom prst="rect">
            <a:avLst/>
          </a:prstGeom>
          <a:solidFill>
            <a:srgbClr val="FFFFCC"/>
          </a:solidFill>
          <a:ln>
            <a:noFill/>
          </a:ln>
        </p:spPr>
        <p:txBody>
          <a:bodyPr anchorCtr="0" anchor="t" bIns="45700" lIns="91425" spcFirstLastPara="1" rIns="91425" wrap="square" tIns="45700">
            <a:noAutofit/>
          </a:bodyPr>
          <a:lstStyle>
            <a:lvl1pPr indent="-304800" lvl="0" marL="457200" marR="0" rtl="0" algn="just">
              <a:lnSpc>
                <a:spcPct val="90000"/>
              </a:lnSpc>
              <a:spcBef>
                <a:spcPts val="0"/>
              </a:spcBef>
              <a:spcAft>
                <a:spcPts val="0"/>
              </a:spcAft>
              <a:buClr>
                <a:srgbClr val="3F3F3F"/>
              </a:buClr>
              <a:buSzPts val="1200"/>
              <a:buFont typeface="Noto Sans Symbols"/>
              <a:buChar char="❑"/>
              <a:defRPr b="0" i="1" sz="1600" u="none" cap="none" strike="noStrike">
                <a:solidFill>
                  <a:srgbClr val="7F7F7F"/>
                </a:solidFill>
                <a:latin typeface="Calibri"/>
                <a:ea typeface="Calibri"/>
                <a:cs typeface="Calibri"/>
                <a:sym typeface="Calibri"/>
              </a:defRPr>
            </a:lvl1pPr>
            <a:lvl2pPr indent="-317500" lvl="1" marL="914400" marR="0" rtl="0" algn="just">
              <a:lnSpc>
                <a:spcPct val="90000"/>
              </a:lnSpc>
              <a:spcBef>
                <a:spcPts val="600"/>
              </a:spcBef>
              <a:spcAft>
                <a:spcPts val="0"/>
              </a:spcAft>
              <a:buClr>
                <a:srgbClr val="3F3F3F"/>
              </a:buClr>
              <a:buSzPts val="1400"/>
              <a:buFont typeface="Noto Sans Symbols"/>
              <a:buChar char="▪"/>
              <a:defRPr b="0" i="1" sz="1400" u="none" cap="none" strike="noStrike">
                <a:solidFill>
                  <a:srgbClr val="7F7F7F"/>
                </a:solidFill>
                <a:latin typeface="Calibri"/>
                <a:ea typeface="Calibri"/>
                <a:cs typeface="Calibri"/>
                <a:sym typeface="Calibri"/>
              </a:defRPr>
            </a:lvl2pPr>
            <a:lvl3pPr indent="-317500" lvl="2" marL="13716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3pPr>
            <a:lvl4pPr indent="-317500" lvl="3" marL="18288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just">
              <a:lnSpc>
                <a:spcPct val="90000"/>
              </a:lnSpc>
              <a:spcBef>
                <a:spcPts val="6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55600" lvl="5" marL="2743200" marR="0" rtl="0" algn="l">
              <a:spcBef>
                <a:spcPts val="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Subtema">
  <p:cSld name="Diapo_Subtema">
    <p:bg>
      <p:bgPr>
        <a:blipFill>
          <a:blip r:embed="rId2">
            <a:alphaModFix/>
          </a:blip>
          <a:stretch>
            <a:fillRect/>
          </a:stretch>
        </a:blipFill>
      </p:bgPr>
    </p:bg>
    <p:spTree>
      <p:nvGrpSpPr>
        <p:cNvPr id="44" name="Shape 44"/>
        <p:cNvGrpSpPr/>
        <p:nvPr/>
      </p:nvGrpSpPr>
      <p:grpSpPr>
        <a:xfrm>
          <a:off x="0" y="0"/>
          <a:ext cx="0" cy="0"/>
          <a:chOff x="0" y="0"/>
          <a:chExt cx="0" cy="0"/>
        </a:xfrm>
      </p:grpSpPr>
      <p:sp>
        <p:nvSpPr>
          <p:cNvPr id="45" name="Google Shape;45;p56"/>
          <p:cNvSpPr txBox="1"/>
          <p:nvPr>
            <p:ph idx="1" type="body"/>
          </p:nvPr>
        </p:nvSpPr>
        <p:spPr>
          <a:xfrm>
            <a:off x="468314" y="3714841"/>
            <a:ext cx="5543549" cy="8100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85000"/>
              </a:lnSpc>
              <a:spcBef>
                <a:spcPts val="0"/>
              </a:spcBef>
              <a:spcAft>
                <a:spcPts val="0"/>
              </a:spcAft>
              <a:buClr>
                <a:schemeClr val="lt1"/>
              </a:buClr>
              <a:buSzPts val="2800"/>
              <a:buFont typeface="Arial"/>
              <a:buNone/>
              <a:defRPr b="1" i="0" sz="2800" u="none" cap="none" strike="noStrike">
                <a:solidFill>
                  <a:schemeClr val="lt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295">
          <p15:clr>
            <a:srgbClr val="FBAE40"/>
          </p15:clr>
        </p15:guide>
        <p15:guide id="2" pos="378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Conclusiones">
  <p:cSld name="Diapo_Conclusiones">
    <p:bg>
      <p:bgPr>
        <a:blipFill>
          <a:blip r:embed="rId2">
            <a:alphaModFix/>
          </a:blip>
          <a:stretch>
            <a:fillRect/>
          </a:stretch>
        </a:blipFill>
      </p:bgPr>
    </p:bg>
    <p:spTree>
      <p:nvGrpSpPr>
        <p:cNvPr id="46" name="Shape 46"/>
        <p:cNvGrpSpPr/>
        <p:nvPr/>
      </p:nvGrpSpPr>
      <p:grpSpPr>
        <a:xfrm>
          <a:off x="0" y="0"/>
          <a:ext cx="0" cy="0"/>
          <a:chOff x="0" y="0"/>
          <a:chExt cx="0" cy="0"/>
        </a:xfrm>
      </p:grpSpPr>
      <p:sp>
        <p:nvSpPr>
          <p:cNvPr id="47" name="Google Shape;47;p57"/>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CONCLUSIONES</a:t>
            </a:r>
            <a:endParaRPr/>
          </a:p>
        </p:txBody>
      </p:sp>
      <p:pic>
        <p:nvPicPr>
          <p:cNvPr id="48" name="Google Shape;48;p57"/>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49" name="Google Shape;49;p57"/>
          <p:cNvSpPr txBox="1"/>
          <p:nvPr>
            <p:ph idx="1" type="body"/>
          </p:nvPr>
        </p:nvSpPr>
        <p:spPr>
          <a:xfrm>
            <a:off x="927366" y="1670909"/>
            <a:ext cx="7713398" cy="3526566"/>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Calibri"/>
              <a:buAutoNum type="arabicPeriod"/>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_Bibliografía">
  <p:cSld name="Diapo_Bibliografía">
    <p:bg>
      <p:bgPr>
        <a:blipFill>
          <a:blip r:embed="rId2">
            <a:alphaModFix/>
          </a:blip>
          <a:stretch>
            <a:fillRect/>
          </a:stretch>
        </a:blipFill>
      </p:bgPr>
    </p:bg>
    <p:spTree>
      <p:nvGrpSpPr>
        <p:cNvPr id="50" name="Shape 50"/>
        <p:cNvGrpSpPr/>
        <p:nvPr/>
      </p:nvGrpSpPr>
      <p:grpSpPr>
        <a:xfrm>
          <a:off x="0" y="0"/>
          <a:ext cx="0" cy="0"/>
          <a:chOff x="0" y="0"/>
          <a:chExt cx="0" cy="0"/>
        </a:xfrm>
      </p:grpSpPr>
      <p:sp>
        <p:nvSpPr>
          <p:cNvPr id="51" name="Google Shape;51;p58"/>
          <p:cNvSpPr/>
          <p:nvPr/>
        </p:nvSpPr>
        <p:spPr>
          <a:xfrm>
            <a:off x="503238" y="997483"/>
            <a:ext cx="1945800" cy="2492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FFFFF"/>
              </a:buClr>
              <a:buSzPts val="1620"/>
              <a:buFont typeface="Calibri"/>
              <a:buNone/>
            </a:pPr>
            <a:r>
              <a:rPr b="1" i="0" lang="es-ES" sz="1620" u="none" cap="none" strike="noStrike">
                <a:solidFill>
                  <a:srgbClr val="FFFFFF"/>
                </a:solidFill>
                <a:latin typeface="Calibri"/>
                <a:ea typeface="Calibri"/>
                <a:cs typeface="Calibri"/>
                <a:sym typeface="Calibri"/>
              </a:rPr>
              <a:t>BIBLIOGRAFÍA</a:t>
            </a:r>
            <a:endParaRPr/>
          </a:p>
        </p:txBody>
      </p:sp>
      <p:pic>
        <p:nvPicPr>
          <p:cNvPr id="52" name="Google Shape;52;p58"/>
          <p:cNvPicPr preferRelativeResize="0"/>
          <p:nvPr/>
        </p:nvPicPr>
        <p:blipFill rotWithShape="1">
          <a:blip r:embed="rId3">
            <a:alphaModFix/>
          </a:blip>
          <a:srcRect b="0" l="0" r="0" t="0"/>
          <a:stretch/>
        </p:blipFill>
        <p:spPr>
          <a:xfrm>
            <a:off x="503239" y="573356"/>
            <a:ext cx="424127" cy="424127"/>
          </a:xfrm>
          <a:prstGeom prst="rect">
            <a:avLst/>
          </a:prstGeom>
          <a:noFill/>
          <a:ln>
            <a:noFill/>
          </a:ln>
        </p:spPr>
      </p:pic>
      <p:sp>
        <p:nvSpPr>
          <p:cNvPr id="53" name="Google Shape;53;p58"/>
          <p:cNvSpPr txBox="1"/>
          <p:nvPr>
            <p:ph idx="1" type="body"/>
          </p:nvPr>
        </p:nvSpPr>
        <p:spPr>
          <a:xfrm>
            <a:off x="927366" y="1670049"/>
            <a:ext cx="7713398" cy="3527425"/>
          </a:xfrm>
          <a:prstGeom prst="rect">
            <a:avLst/>
          </a:prstGeom>
          <a:noFill/>
          <a:ln>
            <a:noFill/>
          </a:ln>
        </p:spPr>
        <p:txBody>
          <a:bodyPr anchorCtr="0" anchor="t" bIns="0" lIns="0" spcFirstLastPara="1" rIns="0" wrap="square" tIns="0">
            <a:noAutofit/>
          </a:bodyPr>
          <a:lstStyle>
            <a:lvl1pPr indent="-342900" lvl="0" marL="457200" marR="0" rtl="0" algn="just">
              <a:lnSpc>
                <a:spcPct val="85000"/>
              </a:lnSpc>
              <a:spcBef>
                <a:spcPts val="0"/>
              </a:spcBef>
              <a:spcAft>
                <a:spcPts val="0"/>
              </a:spcAft>
              <a:buClr>
                <a:schemeClr val="lt1"/>
              </a:buClr>
              <a:buSzPts val="1800"/>
              <a:buFont typeface="Noto Sans Symbols"/>
              <a:buChar char="▪"/>
              <a:defRPr b="0" i="0" sz="1800" u="none" cap="none" strike="noStrike">
                <a:solidFill>
                  <a:schemeClr val="lt1"/>
                </a:solidFill>
                <a:latin typeface="Calibri"/>
                <a:ea typeface="Calibri"/>
                <a:cs typeface="Calibri"/>
                <a:sym typeface="Calibri"/>
              </a:defRPr>
            </a:lvl1pPr>
            <a:lvl2pPr indent="-406400" lvl="1" marL="914400" marR="0" rtl="0" algn="l">
              <a:spcBef>
                <a:spcPts val="12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orient="horz" pos="1052">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38.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46"/>
          <p:cNvGrpSpPr/>
          <p:nvPr/>
        </p:nvGrpSpPr>
        <p:grpSpPr>
          <a:xfrm>
            <a:off x="793745" y="5369051"/>
            <a:ext cx="8104595" cy="215444"/>
            <a:chOff x="793745" y="5369051"/>
            <a:chExt cx="7954689" cy="215444"/>
          </a:xfrm>
        </p:grpSpPr>
        <p:sp>
          <p:nvSpPr>
            <p:cNvPr id="11" name="Google Shape;11;p46"/>
            <p:cNvSpPr txBox="1"/>
            <p:nvPr/>
          </p:nvSpPr>
          <p:spPr>
            <a:xfrm>
              <a:off x="793745" y="5369051"/>
              <a:ext cx="2133782"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s-ES" sz="800" u="none" cap="none" strike="noStrike">
                  <a:solidFill>
                    <a:srgbClr val="7F7F7F"/>
                  </a:solidFill>
                  <a:latin typeface="Calibri"/>
                  <a:ea typeface="Calibri"/>
                  <a:cs typeface="Calibri"/>
                  <a:sym typeface="Calibri"/>
                </a:rPr>
                <a:t>ANÁLISIS Y DISEÑO DE SISTEMAS II  •  SESIÓN 05</a:t>
              </a:r>
              <a:endParaRPr sz="800">
                <a:solidFill>
                  <a:srgbClr val="7F7F7F"/>
                </a:solidFill>
                <a:latin typeface="Calibri"/>
                <a:ea typeface="Calibri"/>
                <a:cs typeface="Calibri"/>
                <a:sym typeface="Calibri"/>
              </a:endParaRPr>
            </a:p>
          </p:txBody>
        </p:sp>
        <p:sp>
          <p:nvSpPr>
            <p:cNvPr id="12" name="Google Shape;12;p46"/>
            <p:cNvSpPr/>
            <p:nvPr/>
          </p:nvSpPr>
          <p:spPr>
            <a:xfrm>
              <a:off x="7207627" y="5384440"/>
              <a:ext cx="1540807" cy="184666"/>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s-ES" sz="600">
                  <a:solidFill>
                    <a:srgbClr val="7F7F7F"/>
                  </a:solidFill>
                  <a:latin typeface="Calibri"/>
                  <a:ea typeface="Calibri"/>
                  <a:cs typeface="Calibri"/>
                  <a:sym typeface="Calibri"/>
                </a:rPr>
                <a:t>© 2023 ISIL. Todos los derechos reservados</a:t>
              </a:r>
              <a:endParaRPr/>
            </a:p>
          </p:txBody>
        </p:sp>
      </p:grpSp>
      <p:pic>
        <p:nvPicPr>
          <p:cNvPr id="13" name="Google Shape;13;p46"/>
          <p:cNvPicPr preferRelativeResize="0"/>
          <p:nvPr/>
        </p:nvPicPr>
        <p:blipFill rotWithShape="1">
          <a:blip r:embed="rId1">
            <a:alphaModFix amt="20000"/>
          </a:blip>
          <a:srcRect b="0" l="0" r="0" t="0"/>
          <a:stretch/>
        </p:blipFill>
        <p:spPr>
          <a:xfrm>
            <a:off x="345172" y="5328911"/>
            <a:ext cx="448573" cy="2507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80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4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3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3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image" Target="../media/image3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image" Target="../media/image4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hyperlink" Target="https://www.visual-paradigm.com/guide/uml-unified-modeling-language/uml-diagram-types/" TargetMode="External"/><Relationship Id="rId4" Type="http://schemas.openxmlformats.org/officeDocument/2006/relationships/hyperlink" Target="http://www.uml.org/what-is-uml.htm" TargetMode="External"/><Relationship Id="rId5" Type="http://schemas.openxmlformats.org/officeDocument/2006/relationships/hyperlink" Target="https://developer.ibm.com/articles/the-class-diagra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p:nvPr/>
        </p:nvSpPr>
        <p:spPr>
          <a:xfrm>
            <a:off x="0" y="14248"/>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60" name="Google Shape;60;p1"/>
          <p:cNvSpPr txBox="1"/>
          <p:nvPr/>
        </p:nvSpPr>
        <p:spPr>
          <a:xfrm>
            <a:off x="2088505" y="1653293"/>
            <a:ext cx="8731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800"/>
              <a:buFont typeface="Calibri"/>
              <a:buNone/>
            </a:pPr>
            <a:r>
              <a:rPr lang="es-ES" sz="1800">
                <a:solidFill>
                  <a:schemeClr val="lt1"/>
                </a:solidFill>
                <a:latin typeface="Calibri"/>
                <a:ea typeface="Calibri"/>
                <a:cs typeface="Calibri"/>
                <a:sym typeface="Calibri"/>
              </a:rPr>
              <a:t>SESIÓN</a:t>
            </a:r>
            <a:endParaRPr sz="1800">
              <a:solidFill>
                <a:schemeClr val="dk1"/>
              </a:solidFill>
              <a:latin typeface="Calibri"/>
              <a:ea typeface="Calibri"/>
              <a:cs typeface="Calibri"/>
              <a:sym typeface="Calibri"/>
            </a:endParaRPr>
          </a:p>
        </p:txBody>
      </p:sp>
      <p:sp>
        <p:nvSpPr>
          <p:cNvPr id="61" name="Google Shape;61;p1"/>
          <p:cNvSpPr txBox="1"/>
          <p:nvPr/>
        </p:nvSpPr>
        <p:spPr>
          <a:xfrm>
            <a:off x="2051281" y="1730819"/>
            <a:ext cx="96425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FFFF"/>
              </a:buClr>
              <a:buSzPts val="5800"/>
              <a:buFont typeface="Calibri"/>
              <a:buNone/>
            </a:pPr>
            <a:r>
              <a:rPr lang="es-ES" sz="5800">
                <a:solidFill>
                  <a:srgbClr val="FFFFFF"/>
                </a:solidFill>
                <a:latin typeface="Calibri"/>
                <a:ea typeface="Calibri"/>
                <a:cs typeface="Calibri"/>
                <a:sym typeface="Calibri"/>
              </a:rPr>
              <a:t>05</a:t>
            </a:r>
            <a:endParaRPr sz="1800">
              <a:solidFill>
                <a:schemeClr val="dk1"/>
              </a:solidFill>
              <a:latin typeface="Calibri"/>
              <a:ea typeface="Calibri"/>
              <a:cs typeface="Calibri"/>
              <a:sym typeface="Calibri"/>
            </a:endParaRPr>
          </a:p>
        </p:txBody>
      </p:sp>
      <p:sp>
        <p:nvSpPr>
          <p:cNvPr id="62" name="Google Shape;62;p1"/>
          <p:cNvSpPr txBox="1"/>
          <p:nvPr/>
        </p:nvSpPr>
        <p:spPr>
          <a:xfrm>
            <a:off x="3289191" y="1237815"/>
            <a:ext cx="5422704" cy="120028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ES" sz="3600">
                <a:solidFill>
                  <a:schemeClr val="lt1"/>
                </a:solidFill>
                <a:latin typeface="Calibri"/>
                <a:ea typeface="Calibri"/>
                <a:cs typeface="Calibri"/>
                <a:sym typeface="Calibri"/>
              </a:rPr>
              <a:t>MODELAMIENTO DEL SISTEMA (UML)</a:t>
            </a:r>
            <a:endParaRPr b="1" sz="3600">
              <a:solidFill>
                <a:schemeClr val="lt1"/>
              </a:solidFill>
              <a:latin typeface="Calibri"/>
              <a:ea typeface="Calibri"/>
              <a:cs typeface="Calibri"/>
              <a:sym typeface="Calibri"/>
            </a:endParaRPr>
          </a:p>
        </p:txBody>
      </p:sp>
      <p:sp>
        <p:nvSpPr>
          <p:cNvPr id="63" name="Google Shape;63;p1"/>
          <p:cNvSpPr txBox="1"/>
          <p:nvPr/>
        </p:nvSpPr>
        <p:spPr>
          <a:xfrm>
            <a:off x="3175138" y="2996279"/>
            <a:ext cx="5026425" cy="83095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UML como lenguaje</a:t>
            </a:r>
            <a:endParaRPr/>
          </a:p>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Modelo UML</a:t>
            </a:r>
            <a:endParaRPr/>
          </a:p>
          <a:p>
            <a:pPr indent="-285750" lvl="0" marL="285750" marR="0" rtl="0" algn="l">
              <a:spcBef>
                <a:spcPts val="0"/>
              </a:spcBef>
              <a:spcAft>
                <a:spcPts val="0"/>
              </a:spcAft>
              <a:buClr>
                <a:schemeClr val="lt1"/>
              </a:buClr>
              <a:buSzPts val="1600"/>
              <a:buFont typeface="Arial"/>
              <a:buChar char="•"/>
            </a:pPr>
            <a:r>
              <a:rPr lang="es-ES" sz="1600">
                <a:solidFill>
                  <a:schemeClr val="lt1"/>
                </a:solidFill>
                <a:latin typeface="Calibri"/>
                <a:ea typeface="Calibri"/>
                <a:cs typeface="Calibri"/>
                <a:sym typeface="Calibri"/>
              </a:rPr>
              <a:t>Diagramas UML</a:t>
            </a:r>
            <a:endParaRPr b="1" sz="1800">
              <a:solidFill>
                <a:schemeClr val="lt1"/>
              </a:solidFill>
              <a:latin typeface="Calibri"/>
              <a:ea typeface="Calibri"/>
              <a:cs typeface="Calibri"/>
              <a:sym typeface="Calibri"/>
            </a:endParaRPr>
          </a:p>
        </p:txBody>
      </p:sp>
      <p:cxnSp>
        <p:nvCxnSpPr>
          <p:cNvPr id="64" name="Google Shape;64;p1"/>
          <p:cNvCxnSpPr/>
          <p:nvPr/>
        </p:nvCxnSpPr>
        <p:spPr>
          <a:xfrm>
            <a:off x="3056456" y="1777107"/>
            <a:ext cx="0" cy="720031"/>
          </a:xfrm>
          <a:prstGeom prst="straightConnector1">
            <a:avLst/>
          </a:prstGeom>
          <a:noFill/>
          <a:ln cap="flat" cmpd="sng" w="25400">
            <a:solidFill>
              <a:srgbClr val="FFFFFF"/>
            </a:solidFill>
            <a:prstDash val="solid"/>
            <a:round/>
            <a:headEnd len="sm" w="sm" type="none"/>
            <a:tailEnd len="sm" w="sm" type="none"/>
          </a:ln>
        </p:spPr>
      </p:cxnSp>
      <p:sp>
        <p:nvSpPr>
          <p:cNvPr id="65" name="Google Shape;65;p1"/>
          <p:cNvSpPr/>
          <p:nvPr/>
        </p:nvSpPr>
        <p:spPr>
          <a:xfrm>
            <a:off x="3289191" y="2568993"/>
            <a:ext cx="3672000" cy="193899"/>
          </a:xfrm>
          <a:prstGeom prst="rect">
            <a:avLst/>
          </a:prstGeom>
          <a:solidFill>
            <a:schemeClr val="lt1"/>
          </a:solid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F85A6"/>
              </a:buClr>
              <a:buSzPts val="1400"/>
              <a:buFont typeface="Calibri"/>
              <a:buNone/>
            </a:pPr>
            <a:r>
              <a:rPr b="1" lang="es-ES" sz="1400">
                <a:solidFill>
                  <a:srgbClr val="1F85A6"/>
                </a:solidFill>
                <a:latin typeface="Calibri"/>
                <a:ea typeface="Calibri"/>
                <a:cs typeface="Calibri"/>
                <a:sym typeface="Calibri"/>
              </a:rPr>
              <a:t>UNIDAD DE APRENDIZAJE 2 – UA2</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2"/>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INTRODUCCIÓN</a:t>
            </a:r>
            <a:endParaRPr sz="1800">
              <a:solidFill>
                <a:schemeClr val="dk1"/>
              </a:solidFill>
              <a:latin typeface="Calibri"/>
              <a:ea typeface="Calibri"/>
              <a:cs typeface="Calibri"/>
              <a:sym typeface="Calibri"/>
            </a:endParaRPr>
          </a:p>
        </p:txBody>
      </p:sp>
      <p:sp>
        <p:nvSpPr>
          <p:cNvPr id="72" name="Google Shape;72;p2"/>
          <p:cNvSpPr txBox="1"/>
          <p:nvPr/>
        </p:nvSpPr>
        <p:spPr>
          <a:xfrm>
            <a:off x="571679" y="497801"/>
            <a:ext cx="7784512" cy="35639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UML se utiliza principalmente en el desarrollo de software orientado a objetos. Al ampliar el estándar en la versión 2.0, también es adecuado para visualizar procesos.</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600"/>
              </a:spcBef>
              <a:spcAft>
                <a:spcPts val="0"/>
              </a:spcAft>
              <a:buNone/>
            </a:pPr>
            <a:r>
              <a:rPr lang="es-ES" sz="1600">
                <a:solidFill>
                  <a:schemeClr val="dk1"/>
                </a:solidFill>
                <a:latin typeface="Calibri"/>
                <a:ea typeface="Calibri"/>
                <a:cs typeface="Calibri"/>
                <a:sym typeface="Calibri"/>
              </a:rPr>
              <a:t>Entonces, durante esta sesión:</a:t>
            </a:r>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Conocerás</a:t>
            </a:r>
            <a:r>
              <a:rPr b="0" i="0" lang="es-ES" sz="1600" u="none" cap="none" strike="noStrike">
                <a:solidFill>
                  <a:schemeClr val="dk1"/>
                </a:solidFill>
                <a:latin typeface="Calibri"/>
                <a:ea typeface="Calibri"/>
                <a:cs typeface="Calibri"/>
                <a:sym typeface="Calibri"/>
              </a:rPr>
              <a:t> los principios y elementos del UML como lenguaje.</a:t>
            </a:r>
            <a:endParaRPr/>
          </a:p>
          <a:p>
            <a:pPr indent="0" lvl="1" marL="457200" marR="0" rtl="0" algn="l">
              <a:spcBef>
                <a:spcPts val="600"/>
              </a:spcBef>
              <a:spcAft>
                <a:spcPts val="0"/>
              </a:spcAft>
              <a:buNone/>
            </a:pPr>
            <a:r>
              <a:rPr b="1" i="0" lang="es-ES" sz="1600" u="none" cap="none" strike="noStrike">
                <a:solidFill>
                  <a:schemeClr val="dk1"/>
                </a:solidFill>
                <a:latin typeface="Calibri"/>
                <a:ea typeface="Calibri"/>
                <a:cs typeface="Calibri"/>
                <a:sym typeface="Calibri"/>
              </a:rPr>
              <a:t>Aprenderás</a:t>
            </a:r>
            <a:r>
              <a:rPr b="0" i="0" lang="es-ES" sz="1600" u="none" cap="none" strike="noStrike">
                <a:solidFill>
                  <a:schemeClr val="dk1"/>
                </a:solidFill>
                <a:latin typeface="Calibri"/>
                <a:ea typeface="Calibri"/>
                <a:cs typeface="Calibri"/>
                <a:sym typeface="Calibri"/>
              </a:rPr>
              <a:t> a elaborar un Modelo UML.</a:t>
            </a:r>
            <a:endParaRPr/>
          </a:p>
          <a:p>
            <a:pPr indent="0" lvl="1" marL="457200" marR="0" rtl="0" algn="l">
              <a:spcBef>
                <a:spcPts val="600"/>
              </a:spcBef>
              <a:spcAft>
                <a:spcPts val="600"/>
              </a:spcAft>
              <a:buNone/>
            </a:pPr>
            <a:r>
              <a:rPr b="1" i="0" lang="es-ES" sz="1600" u="none" cap="none" strike="noStrike">
                <a:solidFill>
                  <a:schemeClr val="dk1"/>
                </a:solidFill>
                <a:latin typeface="Calibri"/>
                <a:ea typeface="Calibri"/>
                <a:cs typeface="Calibri"/>
                <a:sym typeface="Calibri"/>
              </a:rPr>
              <a:t>Comprenderás</a:t>
            </a:r>
            <a:r>
              <a:rPr b="0" i="0" lang="es-ES" sz="1600" u="none" cap="none" strike="noStrike">
                <a:solidFill>
                  <a:schemeClr val="dk1"/>
                </a:solidFill>
                <a:latin typeface="Calibri"/>
                <a:ea typeface="Calibri"/>
                <a:cs typeface="Calibri"/>
                <a:sym typeface="Calibri"/>
              </a:rPr>
              <a:t> cómo se utilizan los Diagramas UML en el modelado de un sistema.</a:t>
            </a:r>
            <a:endParaRPr b="0" i="0" sz="12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79" name="Google Shape;79;p3"/>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UML COMO LENGUAJE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4"/>
          <p:cNvPicPr preferRelativeResize="0"/>
          <p:nvPr>
            <p:ph idx="2" type="pic"/>
          </p:nvPr>
        </p:nvPicPr>
        <p:blipFill rotWithShape="1">
          <a:blip r:embed="rId3">
            <a:alphaModFix/>
          </a:blip>
          <a:srcRect b="38" l="0" r="0" t="39"/>
          <a:stretch/>
        </p:blipFill>
        <p:spPr>
          <a:xfrm>
            <a:off x="475687" y="2877477"/>
            <a:ext cx="8207375" cy="2394000"/>
          </a:xfrm>
          <a:prstGeom prst="rect">
            <a:avLst/>
          </a:prstGeom>
          <a:noFill/>
          <a:ln>
            <a:noFill/>
          </a:ln>
        </p:spPr>
      </p:pic>
      <p:sp>
        <p:nvSpPr>
          <p:cNvPr id="86" name="Google Shape;86;p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ORIGEN DE UML</a:t>
            </a:r>
            <a:endParaRPr/>
          </a:p>
        </p:txBody>
      </p:sp>
      <p:sp>
        <p:nvSpPr>
          <p:cNvPr id="87" name="Google Shape;87;p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88" name="Google Shape;88;p4"/>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UML tiene sus raíces en varios métodos de modelado de sistemas y de software que se desarrollaron en los años 80 y 90:</a:t>
            </a:r>
            <a:endParaRPr/>
          </a:p>
          <a:p>
            <a:pPr indent="-265113" lvl="1" marL="531813" rtl="0" algn="l">
              <a:spcBef>
                <a:spcPts val="600"/>
              </a:spcBef>
              <a:spcAft>
                <a:spcPts val="0"/>
              </a:spcAft>
              <a:buClr>
                <a:schemeClr val="dk1"/>
              </a:buClr>
              <a:buSzPts val="1400"/>
              <a:buChar char="→"/>
            </a:pPr>
            <a:r>
              <a:rPr lang="es-ES" sz="1400"/>
              <a:t>Ivar Jacobson (OOSE, Object-Oriented Software Engineering).</a:t>
            </a:r>
            <a:endParaRPr/>
          </a:p>
          <a:p>
            <a:pPr indent="-265113" lvl="1" marL="531813" rtl="0" algn="l">
              <a:spcBef>
                <a:spcPts val="600"/>
              </a:spcBef>
              <a:spcAft>
                <a:spcPts val="0"/>
              </a:spcAft>
              <a:buClr>
                <a:schemeClr val="dk1"/>
              </a:buClr>
              <a:buSzPts val="1400"/>
              <a:buChar char="→"/>
            </a:pPr>
            <a:r>
              <a:rPr lang="es-ES" sz="1400"/>
              <a:t>Grady Booch (Método Booch).</a:t>
            </a:r>
            <a:endParaRPr/>
          </a:p>
          <a:p>
            <a:pPr indent="-265113" lvl="1" marL="531813" rtl="0" algn="l">
              <a:spcBef>
                <a:spcPts val="600"/>
              </a:spcBef>
              <a:spcAft>
                <a:spcPts val="0"/>
              </a:spcAft>
              <a:buClr>
                <a:schemeClr val="dk1"/>
              </a:buClr>
              <a:buSzPts val="1400"/>
              <a:buChar char="→"/>
            </a:pPr>
            <a:r>
              <a:rPr lang="es-ES" sz="1400"/>
              <a:t>James Rumbaugh (OMT, Object Modeling Technique).</a:t>
            </a:r>
            <a:endParaRPr/>
          </a:p>
          <a:p>
            <a:pPr indent="-266700" lvl="0" marL="266700" rtl="0" algn="l">
              <a:spcBef>
                <a:spcPts val="1200"/>
              </a:spcBef>
              <a:spcAft>
                <a:spcPts val="0"/>
              </a:spcAft>
              <a:buClr>
                <a:schemeClr val="dk1"/>
              </a:buClr>
              <a:buSzPts val="1200"/>
              <a:buChar char="❑"/>
            </a:pPr>
            <a:r>
              <a:rPr lang="es-ES"/>
              <a:t>Se unieron en Rational Software, con la idea de integrar estos métodos en una sola “lengua franca” que sirviera para el modelado de sistemas y software.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5"/>
          <p:cNvPicPr preferRelativeResize="0"/>
          <p:nvPr>
            <p:ph idx="2" type="pic"/>
          </p:nvPr>
        </p:nvPicPr>
        <p:blipFill rotWithShape="1">
          <a:blip r:embed="rId3">
            <a:alphaModFix/>
          </a:blip>
          <a:srcRect b="559" l="0" r="0" t="560"/>
          <a:stretch/>
        </p:blipFill>
        <p:spPr>
          <a:xfrm>
            <a:off x="568066" y="1343133"/>
            <a:ext cx="7586720" cy="3786993"/>
          </a:xfrm>
          <a:prstGeom prst="rect">
            <a:avLst/>
          </a:prstGeom>
          <a:noFill/>
          <a:ln>
            <a:noFill/>
          </a:ln>
        </p:spPr>
      </p:pic>
      <p:sp>
        <p:nvSpPr>
          <p:cNvPr id="95" name="Google Shape;95;p5"/>
          <p:cNvSpPr txBox="1"/>
          <p:nvPr>
            <p:ph idx="1" type="body"/>
          </p:nvPr>
        </p:nvSpPr>
        <p:spPr>
          <a:xfrm>
            <a:off x="468313" y="81047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EVOLUCIÓN DE UML</a:t>
            </a:r>
            <a:endParaRPr/>
          </a:p>
        </p:txBody>
      </p:sp>
      <p:sp>
        <p:nvSpPr>
          <p:cNvPr id="96" name="Google Shape;96;p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EL DISEÑO Y ARQUITECTURA DE SOFTWARE</a:t>
            </a:r>
            <a:endParaRPr/>
          </a:p>
        </p:txBody>
      </p:sp>
      <p:sp>
        <p:nvSpPr>
          <p:cNvPr id="103" name="Google Shape;103;p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04" name="Google Shape;104;p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Uno de los usos más evidentes es para diseñar la arquitectura de un sistema de software antes de su implementación.</a:t>
            </a:r>
            <a:endParaRPr/>
          </a:p>
          <a:p>
            <a:pPr indent="-266700" lvl="0" marL="266700" rtl="0" algn="l">
              <a:spcBef>
                <a:spcPts val="1200"/>
              </a:spcBef>
              <a:spcAft>
                <a:spcPts val="0"/>
              </a:spcAft>
              <a:buClr>
                <a:schemeClr val="dk1"/>
              </a:buClr>
              <a:buSzPts val="1200"/>
              <a:buChar char="❑"/>
            </a:pPr>
            <a:r>
              <a:rPr lang="es-ES"/>
              <a:t>Por ejemplo, en un Sistema de gestión de bibliotecas, podrías utilizar un </a:t>
            </a:r>
            <a:r>
              <a:rPr b="1" lang="es-ES"/>
              <a:t>diagrama de clases</a:t>
            </a:r>
            <a:r>
              <a:rPr lang="es-ES"/>
              <a:t> para mostrar cómo las clases </a:t>
            </a:r>
            <a:r>
              <a:rPr i="1" lang="es-ES">
                <a:solidFill>
                  <a:srgbClr val="C00000"/>
                </a:solidFill>
              </a:rPr>
              <a:t>Libro</a:t>
            </a:r>
            <a:r>
              <a:rPr lang="es-ES"/>
              <a:t>, </a:t>
            </a:r>
            <a:r>
              <a:rPr i="1" lang="es-ES">
                <a:solidFill>
                  <a:srgbClr val="0070C0"/>
                </a:solidFill>
              </a:rPr>
              <a:t>Usuario</a:t>
            </a:r>
            <a:r>
              <a:rPr lang="es-ES"/>
              <a:t>, </a:t>
            </a:r>
            <a:r>
              <a:rPr i="1" lang="es-ES">
                <a:solidFill>
                  <a:srgbClr val="4F6128"/>
                </a:solidFill>
              </a:rPr>
              <a:t>Préstamo</a:t>
            </a:r>
            <a:r>
              <a:rPr lang="es-ES"/>
              <a:t>, etc., interactúan entre sí.</a:t>
            </a:r>
            <a:endParaRPr/>
          </a:p>
        </p:txBody>
      </p:sp>
      <p:pic>
        <p:nvPicPr>
          <p:cNvPr id="105" name="Google Shape;105;p6"/>
          <p:cNvPicPr preferRelativeResize="0"/>
          <p:nvPr>
            <p:ph idx="2" type="pic"/>
          </p:nvPr>
        </p:nvPicPr>
        <p:blipFill rotWithShape="1">
          <a:blip r:embed="rId3">
            <a:alphaModFix/>
          </a:blip>
          <a:srcRect b="634" l="0" r="0" t="634"/>
          <a:stretch/>
        </p:blipFill>
        <p:spPr>
          <a:xfrm>
            <a:off x="475687" y="2877477"/>
            <a:ext cx="8207375" cy="2394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7"/>
          <p:cNvPicPr preferRelativeResize="0"/>
          <p:nvPr>
            <p:ph idx="2" type="pic"/>
          </p:nvPr>
        </p:nvPicPr>
        <p:blipFill rotWithShape="1">
          <a:blip r:embed="rId3">
            <a:alphaModFix/>
          </a:blip>
          <a:srcRect b="712" l="0" r="0" t="711"/>
          <a:stretch/>
        </p:blipFill>
        <p:spPr>
          <a:xfrm>
            <a:off x="5012574" y="1177927"/>
            <a:ext cx="3189288" cy="3468818"/>
          </a:xfrm>
          <a:prstGeom prst="rect">
            <a:avLst/>
          </a:prstGeom>
          <a:noFill/>
          <a:ln>
            <a:noFill/>
          </a:ln>
        </p:spPr>
      </p:pic>
      <p:sp>
        <p:nvSpPr>
          <p:cNvPr id="112" name="Google Shape;112;p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LA DOCUMENTACIÓN</a:t>
            </a:r>
            <a:endParaRPr/>
          </a:p>
        </p:txBody>
      </p:sp>
      <p:sp>
        <p:nvSpPr>
          <p:cNvPr id="113" name="Google Shape;113;p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14" name="Google Shape;114;p7"/>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UML ofrece una forma estandarizada de documentar un sistema, lo cual es útil tanto durante el desarrollo como para la mantención.</a:t>
            </a:r>
            <a:endParaRPr/>
          </a:p>
          <a:p>
            <a:pPr indent="-266700" lvl="0" marL="266700" rtl="0" algn="l">
              <a:spcBef>
                <a:spcPts val="1200"/>
              </a:spcBef>
              <a:spcAft>
                <a:spcPts val="0"/>
              </a:spcAft>
              <a:buClr>
                <a:schemeClr val="dk1"/>
              </a:buClr>
              <a:buSzPts val="1200"/>
              <a:buChar char="❑"/>
            </a:pPr>
            <a:r>
              <a:rPr lang="es-ES"/>
              <a:t>Por ejemplo, en un sistema de gestión de pensiones, un </a:t>
            </a:r>
            <a:r>
              <a:rPr b="1" lang="es-ES"/>
              <a:t>diagrama de casos de uso</a:t>
            </a:r>
            <a:r>
              <a:rPr lang="es-ES"/>
              <a:t> podría ilustrar las distintas operaciones que pueden realizar los usuarios, administradores y el sistema de backend.</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EL ANÁLISIS DE REQUISITOS</a:t>
            </a:r>
            <a:endParaRPr/>
          </a:p>
        </p:txBody>
      </p:sp>
      <p:sp>
        <p:nvSpPr>
          <p:cNvPr id="121" name="Google Shape;121;p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22" name="Google Shape;122;p8"/>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Los diagramas de casos de uso son especialmente útiles para capturar requisitos funcionales del sistema.</a:t>
            </a:r>
            <a:endParaRPr/>
          </a:p>
          <a:p>
            <a:pPr indent="-266700" lvl="0" marL="266700" rtl="0" algn="l">
              <a:spcBef>
                <a:spcPts val="1200"/>
              </a:spcBef>
              <a:spcAft>
                <a:spcPts val="0"/>
              </a:spcAft>
              <a:buClr>
                <a:schemeClr val="dk1"/>
              </a:buClr>
              <a:buSzPts val="1200"/>
              <a:buChar char="❑"/>
            </a:pPr>
            <a:r>
              <a:rPr lang="es-ES"/>
              <a:t>Por ejemplo, si estás trabajando en un proyecto de transformación digital en la administración pública, podrías utilizar </a:t>
            </a:r>
            <a:r>
              <a:rPr b="1" lang="es-ES"/>
              <a:t>diagramas de casos de uso</a:t>
            </a:r>
            <a:r>
              <a:rPr lang="es-ES"/>
              <a:t> para capturar las diferentes interacciones que los ciudadanos tendrán con el sistema.</a:t>
            </a:r>
            <a:endParaRPr/>
          </a:p>
        </p:txBody>
      </p:sp>
      <p:pic>
        <p:nvPicPr>
          <p:cNvPr id="123" name="Google Shape;123;p8"/>
          <p:cNvPicPr preferRelativeResize="0"/>
          <p:nvPr>
            <p:ph idx="2" type="pic"/>
          </p:nvPr>
        </p:nvPicPr>
        <p:blipFill rotWithShape="1">
          <a:blip r:embed="rId3">
            <a:alphaModFix/>
          </a:blip>
          <a:srcRect b="374" l="0" r="0" t="373"/>
          <a:stretch/>
        </p:blipFill>
        <p:spPr>
          <a:xfrm>
            <a:off x="4954386" y="1163638"/>
            <a:ext cx="3305666" cy="35953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9"/>
          <p:cNvPicPr preferRelativeResize="0"/>
          <p:nvPr>
            <p:ph idx="2" type="pic"/>
          </p:nvPr>
        </p:nvPicPr>
        <p:blipFill rotWithShape="1">
          <a:blip r:embed="rId3">
            <a:alphaModFix/>
          </a:blip>
          <a:srcRect b="374" l="0" r="0" t="373"/>
          <a:stretch/>
        </p:blipFill>
        <p:spPr>
          <a:xfrm>
            <a:off x="4862946" y="946785"/>
            <a:ext cx="3513484" cy="3821429"/>
          </a:xfrm>
          <a:prstGeom prst="rect">
            <a:avLst/>
          </a:prstGeom>
          <a:noFill/>
          <a:ln>
            <a:noFill/>
          </a:ln>
        </p:spPr>
      </p:pic>
      <p:sp>
        <p:nvSpPr>
          <p:cNvPr id="130" name="Google Shape;130;p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LA COMUNICACIÓN</a:t>
            </a:r>
            <a:endParaRPr/>
          </a:p>
        </p:txBody>
      </p:sp>
      <p:sp>
        <p:nvSpPr>
          <p:cNvPr id="131" name="Google Shape;131;p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32" name="Google Shape;132;p9"/>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UML ayuda a visualizar y comunicar de manera más efectiva las ideas complejas, facilitando la colaboración entre equipos multidisciplinarios.</a:t>
            </a:r>
            <a:endParaRPr/>
          </a:p>
          <a:p>
            <a:pPr indent="-266700" lvl="0" marL="266700" rtl="0" algn="l">
              <a:spcBef>
                <a:spcPts val="1200"/>
              </a:spcBef>
              <a:spcAft>
                <a:spcPts val="0"/>
              </a:spcAft>
              <a:buClr>
                <a:schemeClr val="dk1"/>
              </a:buClr>
              <a:buSzPts val="1200"/>
              <a:buChar char="❑"/>
            </a:pPr>
            <a:r>
              <a:rPr lang="es-ES"/>
              <a:t>Por ejemplo, en un proyecto de desarrollo de software en el que se involucran tanto desarrolladores como partes interesadas no técnicas (como gerentes de proyecto o inversores), los </a:t>
            </a:r>
            <a:r>
              <a:rPr b="1" lang="es-ES"/>
              <a:t>diagramas UML</a:t>
            </a:r>
            <a:r>
              <a:rPr lang="es-ES"/>
              <a:t> sirven como un lenguaje común para asegurarse de que todos tengan la misma información e interpretación.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10"/>
          <p:cNvPicPr preferRelativeResize="0"/>
          <p:nvPr>
            <p:ph idx="2" type="pic"/>
          </p:nvPr>
        </p:nvPicPr>
        <p:blipFill rotWithShape="1">
          <a:blip r:embed="rId3">
            <a:alphaModFix/>
          </a:blip>
          <a:srcRect b="38" l="0" r="0" t="39"/>
          <a:stretch/>
        </p:blipFill>
        <p:spPr>
          <a:xfrm>
            <a:off x="475687" y="2877477"/>
            <a:ext cx="8207375" cy="2394000"/>
          </a:xfrm>
          <a:prstGeom prst="rect">
            <a:avLst/>
          </a:prstGeom>
          <a:noFill/>
          <a:ln>
            <a:noFill/>
          </a:ln>
        </p:spPr>
      </p:pic>
      <p:sp>
        <p:nvSpPr>
          <p:cNvPr id="139" name="Google Shape;139;p10"/>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LA SIMULACIÓN Y GENERACIÓN DE CÓDIGO</a:t>
            </a:r>
            <a:endParaRPr/>
          </a:p>
        </p:txBody>
      </p:sp>
      <p:sp>
        <p:nvSpPr>
          <p:cNvPr id="140" name="Google Shape;140;p10"/>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41" name="Google Shape;141;p10"/>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Algunas herramientas modernas permiten convertir diagramas UML en código, o viceversa, facilitando así una especie de desarrollo impulsado por modelos.</a:t>
            </a:r>
            <a:endParaRPr/>
          </a:p>
          <a:p>
            <a:pPr indent="-266700" lvl="0" marL="266700" rtl="0" algn="l">
              <a:spcBef>
                <a:spcPts val="1200"/>
              </a:spcBef>
              <a:spcAft>
                <a:spcPts val="0"/>
              </a:spcAft>
              <a:buClr>
                <a:schemeClr val="dk1"/>
              </a:buClr>
              <a:buSzPts val="1200"/>
              <a:buChar char="❑"/>
            </a:pPr>
            <a:r>
              <a:rPr lang="es-ES"/>
              <a:t>Por ejemplo, herramientas como IBM’s Rational Rose permiten la </a:t>
            </a:r>
            <a:r>
              <a:rPr b="1" lang="es-ES"/>
              <a:t>generación de esqueletos de código</a:t>
            </a:r>
            <a:r>
              <a:rPr lang="es-ES"/>
              <a:t> a partir de diagramas UML, acelerando el proceso de desarrollo.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11"/>
          <p:cNvPicPr preferRelativeResize="0"/>
          <p:nvPr>
            <p:ph idx="2" type="pic"/>
          </p:nvPr>
        </p:nvPicPr>
        <p:blipFill rotWithShape="1">
          <a:blip r:embed="rId3">
            <a:alphaModFix/>
          </a:blip>
          <a:srcRect b="374" l="0" r="0" t="373"/>
          <a:stretch/>
        </p:blipFill>
        <p:spPr>
          <a:xfrm>
            <a:off x="4937760" y="986632"/>
            <a:ext cx="3480233" cy="3785263"/>
          </a:xfrm>
          <a:prstGeom prst="rect">
            <a:avLst/>
          </a:prstGeom>
          <a:noFill/>
          <a:ln>
            <a:noFill/>
          </a:ln>
        </p:spPr>
      </p:pic>
      <p:sp>
        <p:nvSpPr>
          <p:cNvPr id="148" name="Google Shape;148;p1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UML EN LA PLANIFICACIÓN DE PROYECTOS</a:t>
            </a:r>
            <a:endParaRPr/>
          </a:p>
        </p:txBody>
      </p:sp>
      <p:sp>
        <p:nvSpPr>
          <p:cNvPr id="149" name="Google Shape;149;p1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UML COMO LENGUAJE</a:t>
            </a:r>
            <a:endParaRPr/>
          </a:p>
        </p:txBody>
      </p:sp>
      <p:sp>
        <p:nvSpPr>
          <p:cNvPr id="150" name="Google Shape;150;p1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En el ámbito de la gestión de proyectos, UML puede ayudar a visualizar el flujo de actividades y la dependencia entre ellas.</a:t>
            </a:r>
            <a:endParaRPr/>
          </a:p>
          <a:p>
            <a:pPr indent="-266700" lvl="0" marL="266700" rtl="0" algn="l">
              <a:spcBef>
                <a:spcPts val="1200"/>
              </a:spcBef>
              <a:spcAft>
                <a:spcPts val="0"/>
              </a:spcAft>
              <a:buClr>
                <a:schemeClr val="dk1"/>
              </a:buClr>
              <a:buSzPts val="1200"/>
              <a:buChar char="❑"/>
            </a:pPr>
            <a:r>
              <a:rPr lang="es-ES"/>
              <a:t>Por ejemplo, un </a:t>
            </a:r>
            <a:r>
              <a:rPr b="1" lang="es-ES"/>
              <a:t>diagrama de actividades</a:t>
            </a:r>
            <a:r>
              <a:rPr lang="es-ES"/>
              <a:t> podría usarse para planificar las fases de un proyecto de implementación de un nuevo sistema de pensiones, mostrando las dependencias entre las distintas actividades como evaluación de requisitos, desarrollo, pruebas, etc.</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2"/>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157" name="Google Shape;157;p12"/>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MODELO UML</a:t>
            </a:r>
            <a:endParaRPr b="1" sz="2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¿QUÉ ES?</a:t>
            </a:r>
            <a:endParaRPr/>
          </a:p>
        </p:txBody>
      </p:sp>
      <p:sp>
        <p:nvSpPr>
          <p:cNvPr id="164" name="Google Shape;164;p1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
        <p:nvSpPr>
          <p:cNvPr id="165" name="Google Shape;165;p13"/>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Un modelo UML (Unified Modeling Language) es una representación gráfica que describe los elementos y las interacciones en un sistema de software o negocios. </a:t>
            </a:r>
            <a:endParaRPr/>
          </a:p>
          <a:p>
            <a:pPr indent="-266700" lvl="0" marL="266700" rtl="0" algn="l">
              <a:spcBef>
                <a:spcPts val="1200"/>
              </a:spcBef>
              <a:spcAft>
                <a:spcPts val="0"/>
              </a:spcAft>
              <a:buClr>
                <a:schemeClr val="dk1"/>
              </a:buClr>
              <a:buSzPts val="1200"/>
              <a:buChar char="❑"/>
            </a:pPr>
            <a:r>
              <a:rPr lang="es-ES"/>
              <a:t>Un modelo UML no es simplemente un diagrama, sino un conjunto de diagramas que trabajan en conjunto para ofrecer una vista completa del sistema bajo desarrollo. </a:t>
            </a:r>
            <a:endParaRPr/>
          </a:p>
          <a:p>
            <a:pPr indent="-266700" lvl="0" marL="266700" rtl="0" algn="l">
              <a:spcBef>
                <a:spcPts val="1200"/>
              </a:spcBef>
              <a:spcAft>
                <a:spcPts val="0"/>
              </a:spcAft>
              <a:buClr>
                <a:schemeClr val="dk1"/>
              </a:buClr>
              <a:buSzPts val="1200"/>
              <a:buChar char="❑"/>
            </a:pPr>
            <a:r>
              <a:rPr lang="es-ES"/>
              <a:t>Cada tipo de diagrama muestra un aspecto diferente del sistema, y juntos, ofrecen una imagen detallada de cómo funcionará.</a:t>
            </a:r>
            <a:endParaRPr/>
          </a:p>
        </p:txBody>
      </p:sp>
      <p:pic>
        <p:nvPicPr>
          <p:cNvPr id="166" name="Google Shape;166;p13"/>
          <p:cNvPicPr preferRelativeResize="0"/>
          <p:nvPr>
            <p:ph idx="2" type="pic"/>
          </p:nvPr>
        </p:nvPicPr>
        <p:blipFill rotWithShape="1">
          <a:blip r:embed="rId3">
            <a:alphaModFix/>
          </a:blip>
          <a:srcRect b="374" l="0" r="0" t="373"/>
          <a:stretch/>
        </p:blipFill>
        <p:spPr>
          <a:xfrm>
            <a:off x="5137264" y="1177927"/>
            <a:ext cx="3247477" cy="35321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4"/>
          <p:cNvPicPr preferRelativeResize="0"/>
          <p:nvPr>
            <p:ph idx="2" type="pic"/>
          </p:nvPr>
        </p:nvPicPr>
        <p:blipFill rotWithShape="1">
          <a:blip r:embed="rId3">
            <a:alphaModFix/>
          </a:blip>
          <a:srcRect b="38" l="0" r="0" t="39"/>
          <a:stretch/>
        </p:blipFill>
        <p:spPr>
          <a:xfrm>
            <a:off x="1182269" y="3182254"/>
            <a:ext cx="6906015" cy="2014408"/>
          </a:xfrm>
          <a:prstGeom prst="rect">
            <a:avLst/>
          </a:prstGeom>
          <a:noFill/>
          <a:ln>
            <a:noFill/>
          </a:ln>
        </p:spPr>
      </p:pic>
      <p:sp>
        <p:nvSpPr>
          <p:cNvPr id="173" name="Google Shape;173;p14"/>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COMPONENTES BÁSICOS DE UN MODELO UML</a:t>
            </a:r>
            <a:endParaRPr/>
          </a:p>
        </p:txBody>
      </p:sp>
      <p:sp>
        <p:nvSpPr>
          <p:cNvPr id="174" name="Google Shape;174;p14"/>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
        <p:nvSpPr>
          <p:cNvPr id="175" name="Google Shape;175;p14"/>
          <p:cNvSpPr txBox="1"/>
          <p:nvPr>
            <p:ph idx="4" type="body"/>
          </p:nvPr>
        </p:nvSpPr>
        <p:spPr>
          <a:xfrm>
            <a:off x="475687" y="1169422"/>
            <a:ext cx="8200800" cy="25380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lang="es-ES"/>
              <a:t>Un modelo UML típicamente incluye:</a:t>
            </a:r>
            <a:endParaRPr/>
          </a:p>
          <a:p>
            <a:pPr indent="-266700" lvl="0" marL="266700" rtl="0" algn="l">
              <a:spcBef>
                <a:spcPts val="1200"/>
              </a:spcBef>
              <a:spcAft>
                <a:spcPts val="0"/>
              </a:spcAft>
              <a:buClr>
                <a:schemeClr val="dk1"/>
              </a:buClr>
              <a:buSzPts val="1200"/>
              <a:buChar char="❑"/>
            </a:pPr>
            <a:r>
              <a:rPr b="1" i="1" lang="es-ES"/>
              <a:t>Elementos de Modelado</a:t>
            </a:r>
            <a:r>
              <a:rPr lang="es-ES"/>
              <a:t>: Son bloques de construcción básicos en UML (Clases, Interfaces, Colaboraciones, y sus Relaciones).</a:t>
            </a:r>
            <a:endParaRPr/>
          </a:p>
          <a:p>
            <a:pPr indent="-266700" lvl="0" marL="266700" rtl="0" algn="l">
              <a:spcBef>
                <a:spcPts val="1200"/>
              </a:spcBef>
              <a:spcAft>
                <a:spcPts val="0"/>
              </a:spcAft>
              <a:buClr>
                <a:schemeClr val="dk1"/>
              </a:buClr>
              <a:buSzPts val="1200"/>
              <a:buChar char="❑"/>
            </a:pPr>
            <a:r>
              <a:rPr b="1" i="1" lang="es-ES"/>
              <a:t>Diagramas</a:t>
            </a:r>
            <a:r>
              <a:rPr lang="es-ES"/>
              <a:t>: Son representaciones gráficas de los elementos y sus relaciones (Diagramas de clases, de secuencia, de actividades, de casos de uso, entre otros).</a:t>
            </a:r>
            <a:endParaRPr/>
          </a:p>
          <a:p>
            <a:pPr indent="-266700" lvl="0" marL="266700" rtl="0" algn="l">
              <a:spcBef>
                <a:spcPts val="1200"/>
              </a:spcBef>
              <a:spcAft>
                <a:spcPts val="0"/>
              </a:spcAft>
              <a:buClr>
                <a:schemeClr val="dk1"/>
              </a:buClr>
              <a:buSzPts val="1200"/>
              <a:buChar char="❑"/>
            </a:pPr>
            <a:r>
              <a:rPr b="1" i="1" lang="es-ES"/>
              <a:t>Vistas</a:t>
            </a:r>
            <a:r>
              <a:rPr lang="es-ES"/>
              <a:t>: Son agrupaciones de diagramas que representan un aspecto específico del sistema (una “vista de diseño” podría incluir diagramas relacionados con la arquitectura del sistema).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15"/>
          <p:cNvPicPr preferRelativeResize="0"/>
          <p:nvPr>
            <p:ph idx="2" type="pic"/>
          </p:nvPr>
        </p:nvPicPr>
        <p:blipFill rotWithShape="1">
          <a:blip r:embed="rId3">
            <a:alphaModFix/>
          </a:blip>
          <a:srcRect b="374" l="0" r="0" t="373"/>
          <a:stretch/>
        </p:blipFill>
        <p:spPr>
          <a:xfrm>
            <a:off x="5163466" y="1163638"/>
            <a:ext cx="3437406" cy="3738683"/>
          </a:xfrm>
          <a:prstGeom prst="rect">
            <a:avLst/>
          </a:prstGeom>
          <a:noFill/>
          <a:ln>
            <a:noFill/>
          </a:ln>
        </p:spPr>
      </p:pic>
      <p:sp>
        <p:nvSpPr>
          <p:cNvPr id="182" name="Google Shape;182;p15"/>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ELEMENTOS ESTRUCTURALES</a:t>
            </a:r>
            <a:endParaRPr/>
          </a:p>
        </p:txBody>
      </p:sp>
      <p:sp>
        <p:nvSpPr>
          <p:cNvPr id="183" name="Google Shape;183;p1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
        <p:nvSpPr>
          <p:cNvPr id="184" name="Google Shape;184;p15"/>
          <p:cNvSpPr txBox="1"/>
          <p:nvPr>
            <p:ph idx="4" type="body"/>
          </p:nvPr>
        </p:nvSpPr>
        <p:spPr>
          <a:xfrm>
            <a:off x="468313" y="1177927"/>
            <a:ext cx="4511011"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i="1" lang="es-ES" u="sng"/>
              <a:t>Clase</a:t>
            </a:r>
            <a:r>
              <a:rPr lang="es-ES"/>
              <a:t>: Representa un tipo de objeto en el sistema y define sus atributos (variables) y métodos (funciones).</a:t>
            </a:r>
            <a:endParaRPr/>
          </a:p>
          <a:p>
            <a:pPr indent="-266700" lvl="0" marL="266700" rtl="0" algn="l">
              <a:spcBef>
                <a:spcPts val="1000"/>
              </a:spcBef>
              <a:spcAft>
                <a:spcPts val="0"/>
              </a:spcAft>
              <a:buClr>
                <a:schemeClr val="dk1"/>
              </a:buClr>
              <a:buSzPts val="1200"/>
              <a:buChar char="❑"/>
            </a:pPr>
            <a:r>
              <a:rPr b="1" i="1" lang="es-ES" u="sng"/>
              <a:t>Interfaz</a:t>
            </a:r>
            <a:r>
              <a:rPr lang="es-ES"/>
              <a:t>: Especifica un contrato que las clases que implementa deben seguir, y definen las operaciones de dichas clases.</a:t>
            </a:r>
            <a:endParaRPr/>
          </a:p>
          <a:p>
            <a:pPr indent="-266700" lvl="0" marL="266700" rtl="0" algn="l">
              <a:spcBef>
                <a:spcPts val="1000"/>
              </a:spcBef>
              <a:spcAft>
                <a:spcPts val="0"/>
              </a:spcAft>
              <a:buClr>
                <a:schemeClr val="dk1"/>
              </a:buClr>
              <a:buSzPts val="1200"/>
              <a:buChar char="❑"/>
            </a:pPr>
            <a:r>
              <a:rPr b="1" i="1" lang="es-ES" u="sng"/>
              <a:t>Componente</a:t>
            </a:r>
            <a:r>
              <a:rPr lang="es-ES"/>
              <a:t>: Parte modular de un sistema con una interfaz bien definida.</a:t>
            </a:r>
            <a:endParaRPr/>
          </a:p>
          <a:p>
            <a:pPr indent="-266700" lvl="0" marL="266700" rtl="0" algn="l">
              <a:spcBef>
                <a:spcPts val="1000"/>
              </a:spcBef>
              <a:spcAft>
                <a:spcPts val="0"/>
              </a:spcAft>
              <a:buClr>
                <a:schemeClr val="dk1"/>
              </a:buClr>
              <a:buSzPts val="1200"/>
              <a:buChar char="❑"/>
            </a:pPr>
            <a:r>
              <a:rPr b="1" i="1" lang="es-ES" u="sng"/>
              <a:t>Objeto</a:t>
            </a:r>
            <a:r>
              <a:rPr lang="es-ES"/>
              <a:t>: Instancia de una clase.</a:t>
            </a:r>
            <a:endParaRPr/>
          </a:p>
          <a:p>
            <a:pPr indent="-266700" lvl="0" marL="266700" rtl="0" algn="l">
              <a:spcBef>
                <a:spcPts val="1000"/>
              </a:spcBef>
              <a:spcAft>
                <a:spcPts val="0"/>
              </a:spcAft>
              <a:buClr>
                <a:schemeClr val="dk1"/>
              </a:buClr>
              <a:buSzPts val="1200"/>
              <a:buChar char="❑"/>
            </a:pPr>
            <a:r>
              <a:rPr b="1" i="1" lang="es-ES" u="sng"/>
              <a:t>Nodo</a:t>
            </a:r>
            <a:r>
              <a:rPr lang="es-ES"/>
              <a:t>: Representa una entidad física en el sistema (servidor, computadora).</a:t>
            </a:r>
            <a:endParaRPr/>
          </a:p>
          <a:p>
            <a:pPr indent="-266700" lvl="0" marL="266700" rtl="0" algn="l">
              <a:spcBef>
                <a:spcPts val="1000"/>
              </a:spcBef>
              <a:spcAft>
                <a:spcPts val="0"/>
              </a:spcAft>
              <a:buClr>
                <a:schemeClr val="dk1"/>
              </a:buClr>
              <a:buSzPts val="1200"/>
              <a:buChar char="❑"/>
            </a:pPr>
            <a:r>
              <a:rPr b="1" i="1" lang="es-ES" u="sng"/>
              <a:t>Artefacto</a:t>
            </a:r>
            <a:r>
              <a:rPr lang="es-ES"/>
              <a:t>: Representa una pieza de información que es utilizada o producida por un sistema de software.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16"/>
          <p:cNvPicPr preferRelativeResize="0"/>
          <p:nvPr>
            <p:ph idx="2" type="pic"/>
          </p:nvPr>
        </p:nvPicPr>
        <p:blipFill rotWithShape="1">
          <a:blip r:embed="rId3">
            <a:alphaModFix/>
          </a:blip>
          <a:srcRect b="374" l="0" r="0" t="373"/>
          <a:stretch/>
        </p:blipFill>
        <p:spPr>
          <a:xfrm>
            <a:off x="5043068" y="1163638"/>
            <a:ext cx="3391549" cy="3688807"/>
          </a:xfrm>
          <a:prstGeom prst="rect">
            <a:avLst/>
          </a:prstGeom>
          <a:noFill/>
          <a:ln>
            <a:noFill/>
          </a:ln>
        </p:spPr>
      </p:pic>
      <p:sp>
        <p:nvSpPr>
          <p:cNvPr id="191" name="Google Shape;191;p16"/>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ELEMENTOS DE COMPORTAMIENTO</a:t>
            </a:r>
            <a:endParaRPr/>
          </a:p>
        </p:txBody>
      </p:sp>
      <p:sp>
        <p:nvSpPr>
          <p:cNvPr id="192" name="Google Shape;192;p16"/>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
        <p:nvSpPr>
          <p:cNvPr id="193" name="Google Shape;193;p16"/>
          <p:cNvSpPr txBox="1"/>
          <p:nvPr>
            <p:ph idx="4" type="body"/>
          </p:nvPr>
        </p:nvSpPr>
        <p:spPr>
          <a:xfrm>
            <a:off x="468313" y="1177927"/>
            <a:ext cx="4574755"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i="1" lang="es-ES" u="sng"/>
              <a:t>Actividad</a:t>
            </a:r>
            <a:r>
              <a:rPr lang="es-ES"/>
              <a:t>: Representa una operación o un flujo de trabajo dentro del sistema.</a:t>
            </a:r>
            <a:endParaRPr/>
          </a:p>
          <a:p>
            <a:pPr indent="-266700" lvl="0" marL="266700" rtl="0" algn="l">
              <a:spcBef>
                <a:spcPts val="1200"/>
              </a:spcBef>
              <a:spcAft>
                <a:spcPts val="0"/>
              </a:spcAft>
              <a:buClr>
                <a:schemeClr val="dk1"/>
              </a:buClr>
              <a:buSzPts val="1200"/>
              <a:buChar char="❑"/>
            </a:pPr>
            <a:r>
              <a:rPr b="1" i="1" lang="es-ES" u="sng"/>
              <a:t>Caso de Uso</a:t>
            </a:r>
            <a:r>
              <a:rPr lang="es-ES"/>
              <a:t>: Describe una funcionalidad o comportamiento del sistema sin revelar la estructura interna, enfocándose en lo que el sistema debe hacer en respuesta a estímulos externos.</a:t>
            </a:r>
            <a:endParaRPr/>
          </a:p>
          <a:p>
            <a:pPr indent="-266700" lvl="0" marL="266700" rtl="0" algn="l">
              <a:spcBef>
                <a:spcPts val="1200"/>
              </a:spcBef>
              <a:spcAft>
                <a:spcPts val="0"/>
              </a:spcAft>
              <a:buClr>
                <a:schemeClr val="dk1"/>
              </a:buClr>
              <a:buSzPts val="1200"/>
              <a:buChar char="❑"/>
            </a:pPr>
            <a:r>
              <a:rPr b="1" i="1" lang="es-ES" u="sng"/>
              <a:t>Estado</a:t>
            </a:r>
            <a:r>
              <a:rPr lang="es-ES"/>
              <a:t>: Representa una condición o situación específica durante la vida de un objeto.</a:t>
            </a:r>
            <a:endParaRPr/>
          </a:p>
          <a:p>
            <a:pPr indent="-266700" lvl="0" marL="266700" rtl="0" algn="l">
              <a:spcBef>
                <a:spcPts val="1200"/>
              </a:spcBef>
              <a:spcAft>
                <a:spcPts val="0"/>
              </a:spcAft>
              <a:buClr>
                <a:schemeClr val="dk1"/>
              </a:buClr>
              <a:buSzPts val="1200"/>
              <a:buChar char="❑"/>
            </a:pPr>
            <a:r>
              <a:rPr b="1" i="1" lang="es-ES" u="sng"/>
              <a:t>Interacción</a:t>
            </a:r>
            <a:r>
              <a:rPr lang="es-ES"/>
              <a:t>: Representa cómo diferentes objetos colaboran para lograr un comportamiento específico.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OTROS ELEMENTOS UML</a:t>
            </a:r>
            <a:endParaRPr/>
          </a:p>
        </p:txBody>
      </p:sp>
      <p:sp>
        <p:nvSpPr>
          <p:cNvPr id="200" name="Google Shape;200;p1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
        <p:nvSpPr>
          <p:cNvPr id="201" name="Google Shape;201;p17"/>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lang="es-ES"/>
              <a:t>Elementos de AGRUPACIÓN</a:t>
            </a:r>
            <a:endParaRPr/>
          </a:p>
          <a:p>
            <a:pPr indent="-266700" lvl="0" marL="266700" rtl="0" algn="l">
              <a:spcBef>
                <a:spcPts val="1200"/>
              </a:spcBef>
              <a:spcAft>
                <a:spcPts val="0"/>
              </a:spcAft>
              <a:buClr>
                <a:schemeClr val="dk1"/>
              </a:buClr>
              <a:buSzPts val="1200"/>
              <a:buChar char="❑"/>
            </a:pPr>
            <a:r>
              <a:rPr b="1" i="1" lang="es-ES" u="sng"/>
              <a:t>Paquete</a:t>
            </a:r>
            <a:r>
              <a:rPr lang="es-ES"/>
              <a:t>: Utilizado para agrupar elementos relacionados. Puede contener clases, casos de uso, componentes y otros paquetes.</a:t>
            </a:r>
            <a:endParaRPr/>
          </a:p>
          <a:p>
            <a:pPr indent="0" lvl="0" marL="0" rtl="0" algn="l">
              <a:spcBef>
                <a:spcPts val="1200"/>
              </a:spcBef>
              <a:spcAft>
                <a:spcPts val="0"/>
              </a:spcAft>
              <a:buClr>
                <a:schemeClr val="dk1"/>
              </a:buClr>
              <a:buSzPts val="1200"/>
              <a:buNone/>
            </a:pPr>
            <a:r>
              <a:t/>
            </a:r>
            <a:endParaRPr b="1"/>
          </a:p>
          <a:p>
            <a:pPr indent="0" lvl="0" marL="0" rtl="0" algn="l">
              <a:spcBef>
                <a:spcPts val="1200"/>
              </a:spcBef>
              <a:spcAft>
                <a:spcPts val="0"/>
              </a:spcAft>
              <a:buClr>
                <a:schemeClr val="dk1"/>
              </a:buClr>
              <a:buSzPts val="1200"/>
              <a:buNone/>
            </a:pPr>
            <a:r>
              <a:rPr b="1" lang="es-ES"/>
              <a:t>Elementos de ANOTACIÓN</a:t>
            </a:r>
            <a:endParaRPr/>
          </a:p>
          <a:p>
            <a:pPr indent="-266700" lvl="0" marL="266700" rtl="0" algn="l">
              <a:spcBef>
                <a:spcPts val="1200"/>
              </a:spcBef>
              <a:spcAft>
                <a:spcPts val="0"/>
              </a:spcAft>
              <a:buClr>
                <a:schemeClr val="dk1"/>
              </a:buClr>
              <a:buSzPts val="1200"/>
              <a:buChar char="❑"/>
            </a:pPr>
            <a:r>
              <a:rPr b="1" i="1" lang="es-ES" u="sng"/>
              <a:t>Nota</a:t>
            </a:r>
            <a:r>
              <a:rPr lang="es-ES"/>
              <a:t>: Utilizada para añadir información adicional o comentarios a cualquier elemento en un diagrama.</a:t>
            </a:r>
            <a:endParaRPr/>
          </a:p>
          <a:p>
            <a:pPr indent="-190500" lvl="0" marL="266700" rtl="0" algn="just">
              <a:spcBef>
                <a:spcPts val="1200"/>
              </a:spcBef>
              <a:spcAft>
                <a:spcPts val="0"/>
              </a:spcAft>
              <a:buClr>
                <a:schemeClr val="dk1"/>
              </a:buClr>
              <a:buSzPts val="1200"/>
              <a:buFont typeface="Noto Sans Symbols"/>
              <a:buNone/>
            </a:pPr>
            <a:r>
              <a:t/>
            </a:r>
            <a:endParaRPr/>
          </a:p>
        </p:txBody>
      </p:sp>
      <p:pic>
        <p:nvPicPr>
          <p:cNvPr id="202" name="Google Shape;202;p17"/>
          <p:cNvPicPr preferRelativeResize="0"/>
          <p:nvPr>
            <p:ph idx="2" type="pic"/>
          </p:nvPr>
        </p:nvPicPr>
        <p:blipFill rotWithShape="1">
          <a:blip r:embed="rId3">
            <a:alphaModFix/>
          </a:blip>
          <a:srcRect b="374" l="0" r="0" t="373"/>
          <a:stretch/>
        </p:blipFill>
        <p:spPr>
          <a:xfrm>
            <a:off x="4896195" y="1177927"/>
            <a:ext cx="3355543" cy="36496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18"/>
          <p:cNvPicPr preferRelativeResize="0"/>
          <p:nvPr>
            <p:ph idx="2" type="pic"/>
          </p:nvPr>
        </p:nvPicPr>
        <p:blipFill rotWithShape="1">
          <a:blip r:embed="rId3">
            <a:alphaModFix/>
          </a:blip>
          <a:srcRect b="38" l="0" r="0" t="39"/>
          <a:stretch/>
        </p:blipFill>
        <p:spPr>
          <a:xfrm>
            <a:off x="475687" y="2877477"/>
            <a:ext cx="8207375" cy="2394000"/>
          </a:xfrm>
          <a:prstGeom prst="rect">
            <a:avLst/>
          </a:prstGeom>
          <a:noFill/>
          <a:ln>
            <a:noFill/>
          </a:ln>
        </p:spPr>
      </p:pic>
      <p:sp>
        <p:nvSpPr>
          <p:cNvPr id="209" name="Google Shape;209;p18"/>
          <p:cNvSpPr txBox="1"/>
          <p:nvPr>
            <p:ph idx="4" type="body"/>
          </p:nvPr>
        </p:nvSpPr>
        <p:spPr>
          <a:xfrm>
            <a:off x="471600" y="1076157"/>
            <a:ext cx="8200800" cy="16920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b="1" i="1" lang="es-ES" u="sng"/>
              <a:t>Asociación</a:t>
            </a:r>
            <a:r>
              <a:rPr lang="es-ES"/>
              <a:t>: Indica que hay una relación entre dos clases, pero no define la naturaleza específica de esa relación.</a:t>
            </a:r>
            <a:endParaRPr/>
          </a:p>
          <a:p>
            <a:pPr indent="-266700" lvl="0" marL="266700" rtl="0" algn="l">
              <a:spcBef>
                <a:spcPts val="600"/>
              </a:spcBef>
              <a:spcAft>
                <a:spcPts val="0"/>
              </a:spcAft>
              <a:buClr>
                <a:schemeClr val="dk1"/>
              </a:buClr>
              <a:buSzPts val="1200"/>
              <a:buChar char="❑"/>
            </a:pPr>
            <a:r>
              <a:rPr b="1" i="1" lang="es-ES" u="sng"/>
              <a:t>Agregación</a:t>
            </a:r>
            <a:r>
              <a:rPr lang="es-ES"/>
              <a:t>: Tipo especial de asociación que representa una relación ‘todo-parte’ entre la clase ‘todo’ y la clase ‘parte’.</a:t>
            </a:r>
            <a:endParaRPr/>
          </a:p>
          <a:p>
            <a:pPr indent="-266700" lvl="0" marL="266700" rtl="0" algn="l">
              <a:spcBef>
                <a:spcPts val="600"/>
              </a:spcBef>
              <a:spcAft>
                <a:spcPts val="0"/>
              </a:spcAft>
              <a:buClr>
                <a:schemeClr val="dk1"/>
              </a:buClr>
              <a:buSzPts val="1200"/>
              <a:buChar char="❑"/>
            </a:pPr>
            <a:r>
              <a:rPr b="1" i="1" lang="es-ES" u="sng"/>
              <a:t>Composición</a:t>
            </a:r>
            <a:r>
              <a:rPr lang="es-ES"/>
              <a:t>: Similar a la agregación, pero con una dependencia más fuerte entre ‘todo’ y ‘parte’. Si el ‘todo’ se destruye, la ‘parte’ también se destruirá.</a:t>
            </a:r>
            <a:endParaRPr/>
          </a:p>
          <a:p>
            <a:pPr indent="-266700" lvl="0" marL="266700" rtl="0" algn="l">
              <a:spcBef>
                <a:spcPts val="600"/>
              </a:spcBef>
              <a:spcAft>
                <a:spcPts val="0"/>
              </a:spcAft>
              <a:buClr>
                <a:schemeClr val="dk1"/>
              </a:buClr>
              <a:buSzPts val="1200"/>
              <a:buChar char="❑"/>
            </a:pPr>
            <a:r>
              <a:rPr b="1" i="1" lang="es-ES" u="sng"/>
              <a:t>Herencia</a:t>
            </a:r>
            <a:r>
              <a:rPr lang="es-ES"/>
              <a:t>: Representa la relación entre una clase ‘padre’ y una o más clases ‘hijo’.</a:t>
            </a:r>
            <a:endParaRPr/>
          </a:p>
          <a:p>
            <a:pPr indent="-266700" lvl="0" marL="266700" rtl="0" algn="l">
              <a:spcBef>
                <a:spcPts val="600"/>
              </a:spcBef>
              <a:spcAft>
                <a:spcPts val="0"/>
              </a:spcAft>
              <a:buClr>
                <a:schemeClr val="dk1"/>
              </a:buClr>
              <a:buSzPts val="1200"/>
              <a:buChar char="❑"/>
            </a:pPr>
            <a:r>
              <a:rPr b="1" i="1" lang="es-ES" u="sng"/>
              <a:t>Dependencia</a:t>
            </a:r>
            <a:r>
              <a:rPr lang="es-ES"/>
              <a:t>: Indica que un elemento depende de otro para realizar su función.</a:t>
            </a:r>
            <a:endParaRPr/>
          </a:p>
          <a:p>
            <a:pPr indent="-266700" lvl="0" marL="266700" rtl="0" algn="l">
              <a:spcBef>
                <a:spcPts val="600"/>
              </a:spcBef>
              <a:spcAft>
                <a:spcPts val="0"/>
              </a:spcAft>
              <a:buClr>
                <a:schemeClr val="dk1"/>
              </a:buClr>
              <a:buSzPts val="1200"/>
              <a:buChar char="❑"/>
            </a:pPr>
            <a:r>
              <a:rPr b="1" i="1" lang="es-ES" u="sng"/>
              <a:t>Realización</a:t>
            </a:r>
            <a:r>
              <a:rPr lang="es-ES"/>
              <a:t>: Indica que una clase o interfaz implementa un comportamiento especificado por otra clase o interfaz.</a:t>
            </a:r>
            <a:endParaRPr/>
          </a:p>
          <a:p>
            <a:pPr indent="-190500" lvl="0" marL="266700" rtl="0" algn="just">
              <a:spcBef>
                <a:spcPts val="600"/>
              </a:spcBef>
              <a:spcAft>
                <a:spcPts val="0"/>
              </a:spcAft>
              <a:buClr>
                <a:schemeClr val="dk1"/>
              </a:buClr>
              <a:buSzPts val="1200"/>
              <a:buNone/>
            </a:pPr>
            <a:r>
              <a:t/>
            </a:r>
            <a:endParaRPr/>
          </a:p>
        </p:txBody>
      </p:sp>
      <p:sp>
        <p:nvSpPr>
          <p:cNvPr id="210" name="Google Shape;210;p18"/>
          <p:cNvSpPr txBox="1"/>
          <p:nvPr>
            <p:ph idx="1" type="body"/>
          </p:nvPr>
        </p:nvSpPr>
        <p:spPr>
          <a:xfrm>
            <a:off x="475687" y="722145"/>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RELACIONES</a:t>
            </a:r>
            <a:endParaRPr/>
          </a:p>
        </p:txBody>
      </p:sp>
      <p:sp>
        <p:nvSpPr>
          <p:cNvPr id="211" name="Google Shape;211;p1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MODELO UML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9"/>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218" name="Google Shape;218;p19"/>
          <p:cNvSpPr/>
          <p:nvPr/>
        </p:nvSpPr>
        <p:spPr>
          <a:xfrm>
            <a:off x="424252" y="3703125"/>
            <a:ext cx="7966170" cy="523180"/>
          </a:xfrm>
          <a:prstGeom prst="rect">
            <a:avLst/>
          </a:prstGeom>
          <a:noFill/>
          <a:ln>
            <a:noFill/>
          </a:ln>
        </p:spPr>
        <p:txBody>
          <a:bodyPr anchorCtr="0" anchor="t" bIns="45700" lIns="91425" spcFirstLastPara="1" rIns="91425" wrap="square" tIns="45700">
            <a:spAutoFit/>
          </a:bodyPr>
          <a:lstStyle/>
          <a:p>
            <a:pPr indent="-274638" lvl="0" marL="274638" marR="0" rtl="0" algn="l">
              <a:spcBef>
                <a:spcPts val="0"/>
              </a:spcBef>
              <a:spcAft>
                <a:spcPts val="0"/>
              </a:spcAft>
              <a:buNone/>
            </a:pPr>
            <a:r>
              <a:rPr b="1" lang="es-ES" sz="2800">
                <a:solidFill>
                  <a:schemeClr val="lt1"/>
                </a:solidFill>
                <a:latin typeface="Calibri"/>
                <a:ea typeface="Calibri"/>
                <a:cs typeface="Calibri"/>
                <a:sym typeface="Calibri"/>
              </a:rPr>
              <a:t>/	DIAGRAMAS UML</a:t>
            </a:r>
            <a:endParaRPr b="1" sz="2800">
              <a:solidFill>
                <a:schemeClr val="lt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grpSp>
        <p:nvGrpSpPr>
          <p:cNvPr id="225" name="Google Shape;225;p20"/>
          <p:cNvGrpSpPr/>
          <p:nvPr/>
        </p:nvGrpSpPr>
        <p:grpSpPr>
          <a:xfrm>
            <a:off x="470876" y="1971035"/>
            <a:ext cx="8202245" cy="3048377"/>
            <a:chOff x="2564" y="68404"/>
            <a:chExt cx="8202245" cy="3048377"/>
          </a:xfrm>
        </p:grpSpPr>
        <p:sp>
          <p:nvSpPr>
            <p:cNvPr id="226" name="Google Shape;226;p20"/>
            <p:cNvSpPr/>
            <p:nvPr/>
          </p:nvSpPr>
          <p:spPr>
            <a:xfrm>
              <a:off x="2564" y="68404"/>
              <a:ext cx="2500684" cy="550427"/>
            </a:xfrm>
            <a:prstGeom prst="rect">
              <a:avLst/>
            </a:prstGeom>
            <a:solidFill>
              <a:srgbClr val="49ACC5"/>
            </a:solidFill>
            <a:ln cap="flat" cmpd="sng" w="25400">
              <a:solidFill>
                <a:srgbClr val="49AC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0"/>
            <p:cNvSpPr txBox="1"/>
            <p:nvPr/>
          </p:nvSpPr>
          <p:spPr>
            <a:xfrm>
              <a:off x="2564" y="68404"/>
              <a:ext cx="2500684" cy="550427"/>
            </a:xfrm>
            <a:prstGeom prst="rect">
              <a:avLst/>
            </a:prstGeom>
            <a:noFill/>
            <a:ln>
              <a:noFill/>
            </a:ln>
          </p:spPr>
          <p:txBody>
            <a:bodyPr anchorCtr="0" anchor="ctr" bIns="56875" lIns="99550" spcFirstLastPara="1" rIns="99550" wrap="square" tIns="56875">
              <a:noAutofit/>
            </a:bodyPr>
            <a:lstStyle/>
            <a:p>
              <a:pPr indent="0" lvl="0" marL="0" marR="0" rtl="0" algn="ctr">
                <a:lnSpc>
                  <a:spcPct val="100000"/>
                </a:lnSpc>
                <a:spcBef>
                  <a:spcPts val="0"/>
                </a:spcBef>
                <a:spcAft>
                  <a:spcPts val="0"/>
                </a:spcAft>
                <a:buClr>
                  <a:schemeClr val="lt1"/>
                </a:buClr>
                <a:buSzPts val="1400"/>
                <a:buFont typeface="Calibri"/>
                <a:buNone/>
              </a:pPr>
              <a:r>
                <a:rPr b="1" lang="es-ES" sz="1400">
                  <a:solidFill>
                    <a:schemeClr val="lt1"/>
                  </a:solidFill>
                  <a:latin typeface="Calibri"/>
                  <a:ea typeface="Calibri"/>
                  <a:cs typeface="Calibri"/>
                  <a:sym typeface="Calibri"/>
                </a:rPr>
                <a:t>DIAGRAMAS ESTRUCTURALES</a:t>
              </a:r>
              <a:endParaRPr b="1" sz="1400">
                <a:solidFill>
                  <a:schemeClr val="lt1"/>
                </a:solidFill>
                <a:latin typeface="Calibri"/>
                <a:ea typeface="Calibri"/>
                <a:cs typeface="Calibri"/>
                <a:sym typeface="Calibri"/>
              </a:endParaRPr>
            </a:p>
          </p:txBody>
        </p:sp>
        <p:sp>
          <p:nvSpPr>
            <p:cNvPr id="228" name="Google Shape;228;p20"/>
            <p:cNvSpPr/>
            <p:nvPr/>
          </p:nvSpPr>
          <p:spPr>
            <a:xfrm>
              <a:off x="2564" y="618831"/>
              <a:ext cx="2500684" cy="2497950"/>
            </a:xfrm>
            <a:prstGeom prst="rect">
              <a:avLst/>
            </a:prstGeom>
            <a:solidFill>
              <a:srgbClr val="CDE1E8">
                <a:alpha val="89803"/>
              </a:srgbClr>
            </a:solidFill>
            <a:ln cap="flat" cmpd="sng" w="25400">
              <a:solidFill>
                <a:srgbClr val="CDE1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
            <p:cNvSpPr txBox="1"/>
            <p:nvPr/>
          </p:nvSpPr>
          <p:spPr>
            <a:xfrm>
              <a:off x="2564" y="618831"/>
              <a:ext cx="2500684" cy="2497950"/>
            </a:xfrm>
            <a:prstGeom prst="rect">
              <a:avLst/>
            </a:prstGeom>
            <a:noFill/>
            <a:ln>
              <a:noFill/>
            </a:ln>
          </p:spPr>
          <p:txBody>
            <a:bodyPr anchorCtr="0" anchor="t" bIns="104000" lIns="69325" spcFirstLastPara="1" rIns="92450" wrap="square" tIns="69325">
              <a:noAutofit/>
            </a:bodyPr>
            <a:lstStyle/>
            <a:p>
              <a:pPr indent="-176213" lvl="1" marL="176213" marR="0" rtl="0" algn="l">
                <a:lnSpc>
                  <a:spcPct val="100000"/>
                </a:lnSpc>
                <a:spcBef>
                  <a:spcPts val="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Clases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Objetos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Componentes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Despliegue</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Paquetes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Estructura Compuesta</a:t>
              </a:r>
              <a:endParaRPr/>
            </a:p>
          </p:txBody>
        </p:sp>
        <p:sp>
          <p:nvSpPr>
            <p:cNvPr id="230" name="Google Shape;230;p20"/>
            <p:cNvSpPr/>
            <p:nvPr/>
          </p:nvSpPr>
          <p:spPr>
            <a:xfrm>
              <a:off x="2853345" y="68404"/>
              <a:ext cx="2500684" cy="550427"/>
            </a:xfrm>
            <a:prstGeom prst="rect">
              <a:avLst/>
            </a:prstGeom>
            <a:solidFill>
              <a:srgbClr val="5FDF45"/>
            </a:solidFill>
            <a:ln cap="flat" cmpd="sng" w="25400">
              <a:solidFill>
                <a:srgbClr val="5FDF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0"/>
            <p:cNvSpPr txBox="1"/>
            <p:nvPr/>
          </p:nvSpPr>
          <p:spPr>
            <a:xfrm>
              <a:off x="2853345" y="68404"/>
              <a:ext cx="2500684" cy="550427"/>
            </a:xfrm>
            <a:prstGeom prst="rect">
              <a:avLst/>
            </a:prstGeom>
            <a:noFill/>
            <a:ln>
              <a:noFill/>
            </a:ln>
          </p:spPr>
          <p:txBody>
            <a:bodyPr anchorCtr="0" anchor="ctr" bIns="56875" lIns="99550" spcFirstLastPara="1" rIns="99550" wrap="square" tIns="56875">
              <a:noAutofit/>
            </a:bodyPr>
            <a:lstStyle/>
            <a:p>
              <a:pPr indent="0" lvl="0" marL="0" marR="0" rtl="0" algn="ctr">
                <a:lnSpc>
                  <a:spcPct val="100000"/>
                </a:lnSpc>
                <a:spcBef>
                  <a:spcPts val="0"/>
                </a:spcBef>
                <a:spcAft>
                  <a:spcPts val="0"/>
                </a:spcAft>
                <a:buClr>
                  <a:schemeClr val="lt1"/>
                </a:buClr>
                <a:buSzPts val="1400"/>
                <a:buFont typeface="Calibri"/>
                <a:buNone/>
              </a:pPr>
              <a:r>
                <a:rPr b="1" lang="es-ES" sz="1400">
                  <a:solidFill>
                    <a:schemeClr val="lt1"/>
                  </a:solidFill>
                  <a:latin typeface="Calibri"/>
                  <a:ea typeface="Calibri"/>
                  <a:cs typeface="Calibri"/>
                  <a:sym typeface="Calibri"/>
                </a:rPr>
                <a:t>DIAGRAMAS DE COMPORTAMIENTO</a:t>
              </a:r>
              <a:endParaRPr b="1" sz="1400">
                <a:solidFill>
                  <a:schemeClr val="lt1"/>
                </a:solidFill>
                <a:latin typeface="Calibri"/>
                <a:ea typeface="Calibri"/>
                <a:cs typeface="Calibri"/>
                <a:sym typeface="Calibri"/>
              </a:endParaRPr>
            </a:p>
          </p:txBody>
        </p:sp>
        <p:sp>
          <p:nvSpPr>
            <p:cNvPr id="232" name="Google Shape;232;p20"/>
            <p:cNvSpPr/>
            <p:nvPr/>
          </p:nvSpPr>
          <p:spPr>
            <a:xfrm>
              <a:off x="2853345" y="618831"/>
              <a:ext cx="2500684" cy="2497950"/>
            </a:xfrm>
            <a:prstGeom prst="rect">
              <a:avLst/>
            </a:prstGeom>
            <a:solidFill>
              <a:srgbClr val="D2F2CB">
                <a:alpha val="89803"/>
              </a:srgbClr>
            </a:solidFill>
            <a:ln cap="flat" cmpd="sng" w="25400">
              <a:solidFill>
                <a:srgbClr val="D2F2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20"/>
            <p:cNvSpPr txBox="1"/>
            <p:nvPr/>
          </p:nvSpPr>
          <p:spPr>
            <a:xfrm>
              <a:off x="2853345" y="618831"/>
              <a:ext cx="2500684" cy="2497950"/>
            </a:xfrm>
            <a:prstGeom prst="rect">
              <a:avLst/>
            </a:prstGeom>
            <a:noFill/>
            <a:ln>
              <a:noFill/>
            </a:ln>
          </p:spPr>
          <p:txBody>
            <a:bodyPr anchorCtr="0" anchor="t" bIns="104000" lIns="69325" spcFirstLastPara="1" rIns="92450" wrap="square" tIns="69325">
              <a:noAutofit/>
            </a:bodyPr>
            <a:lstStyle/>
            <a:p>
              <a:pPr indent="-176213" lvl="1" marL="176213" marR="0" rtl="0" algn="l">
                <a:lnSpc>
                  <a:spcPct val="100000"/>
                </a:lnSpc>
                <a:spcBef>
                  <a:spcPts val="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Casos de Uso</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Secuencia</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Actividades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Estados</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Colaboración/Comunicación</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Interacción General</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 de Temporización</a:t>
              </a:r>
              <a:endParaRPr/>
            </a:p>
          </p:txBody>
        </p:sp>
        <p:sp>
          <p:nvSpPr>
            <p:cNvPr id="234" name="Google Shape;234;p20"/>
            <p:cNvSpPr/>
            <p:nvPr/>
          </p:nvSpPr>
          <p:spPr>
            <a:xfrm>
              <a:off x="5704125" y="68404"/>
              <a:ext cx="2500684" cy="550427"/>
            </a:xfrm>
            <a:prstGeom prst="rect">
              <a:avLst/>
            </a:prstGeom>
            <a:solidFill>
              <a:srgbClr val="F69444"/>
            </a:solidFill>
            <a:ln cap="flat" cmpd="sng" w="25400">
              <a:solidFill>
                <a:srgbClr val="F69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0"/>
            <p:cNvSpPr txBox="1"/>
            <p:nvPr/>
          </p:nvSpPr>
          <p:spPr>
            <a:xfrm>
              <a:off x="5704125" y="68404"/>
              <a:ext cx="2500684" cy="550427"/>
            </a:xfrm>
            <a:prstGeom prst="rect">
              <a:avLst/>
            </a:prstGeom>
            <a:noFill/>
            <a:ln>
              <a:noFill/>
            </a:ln>
          </p:spPr>
          <p:txBody>
            <a:bodyPr anchorCtr="0" anchor="ctr" bIns="56875" lIns="99550" spcFirstLastPara="1" rIns="99550" wrap="square" tIns="56875">
              <a:noAutofit/>
            </a:bodyPr>
            <a:lstStyle/>
            <a:p>
              <a:pPr indent="0" lvl="0" marL="0" marR="0" rtl="0" algn="ctr">
                <a:lnSpc>
                  <a:spcPct val="100000"/>
                </a:lnSpc>
                <a:spcBef>
                  <a:spcPts val="0"/>
                </a:spcBef>
                <a:spcAft>
                  <a:spcPts val="0"/>
                </a:spcAft>
                <a:buClr>
                  <a:schemeClr val="lt1"/>
                </a:buClr>
                <a:buSzPts val="1400"/>
                <a:buFont typeface="Calibri"/>
                <a:buNone/>
              </a:pPr>
              <a:r>
                <a:rPr b="1" lang="es-ES" sz="1400">
                  <a:solidFill>
                    <a:schemeClr val="lt1"/>
                  </a:solidFill>
                  <a:latin typeface="Calibri"/>
                  <a:ea typeface="Calibri"/>
                  <a:cs typeface="Calibri"/>
                  <a:sym typeface="Calibri"/>
                </a:rPr>
                <a:t>DIAGRAMAS DE INTERACCIÓN</a:t>
              </a:r>
              <a:endParaRPr b="1" sz="1400">
                <a:solidFill>
                  <a:schemeClr val="lt1"/>
                </a:solidFill>
                <a:latin typeface="Calibri"/>
                <a:ea typeface="Calibri"/>
                <a:cs typeface="Calibri"/>
                <a:sym typeface="Calibri"/>
              </a:endParaRPr>
            </a:p>
          </p:txBody>
        </p:sp>
        <p:sp>
          <p:nvSpPr>
            <p:cNvPr id="236" name="Google Shape;236;p20"/>
            <p:cNvSpPr/>
            <p:nvPr/>
          </p:nvSpPr>
          <p:spPr>
            <a:xfrm>
              <a:off x="5704125" y="618831"/>
              <a:ext cx="2500684" cy="2497950"/>
            </a:xfrm>
            <a:prstGeom prst="rect">
              <a:avLst/>
            </a:prstGeom>
            <a:solidFill>
              <a:srgbClr val="FBDACB">
                <a:alpha val="89803"/>
              </a:srgbClr>
            </a:solidFill>
            <a:ln cap="flat" cmpd="sng" w="25400">
              <a:solidFill>
                <a:srgbClr val="FBDACB">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0"/>
            <p:cNvSpPr txBox="1"/>
            <p:nvPr/>
          </p:nvSpPr>
          <p:spPr>
            <a:xfrm>
              <a:off x="5704125" y="618831"/>
              <a:ext cx="2500684" cy="2497950"/>
            </a:xfrm>
            <a:prstGeom prst="rect">
              <a:avLst/>
            </a:prstGeom>
            <a:noFill/>
            <a:ln>
              <a:noFill/>
            </a:ln>
          </p:spPr>
          <p:txBody>
            <a:bodyPr anchorCtr="0" anchor="t" bIns="104000" lIns="69325" spcFirstLastPara="1" rIns="92450" wrap="square" tIns="69325">
              <a:noAutofit/>
            </a:bodyPr>
            <a:lstStyle/>
            <a:p>
              <a:pPr indent="-176213" lvl="1" marL="176213" marR="0" rtl="0" algn="l">
                <a:lnSpc>
                  <a:spcPct val="100000"/>
                </a:lnSpc>
                <a:spcBef>
                  <a:spcPts val="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Diagramas de Secuencia</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Diagramas de Comunicación</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Diagramas de Interacción General</a:t>
              </a:r>
              <a:endParaRPr/>
            </a:p>
            <a:p>
              <a:pPr indent="-176213" lvl="1" marL="176213" marR="0" rtl="0" algn="l">
                <a:lnSpc>
                  <a:spcPct val="100000"/>
                </a:lnSpc>
                <a:spcBef>
                  <a:spcPts val="600"/>
                </a:spcBef>
                <a:spcAft>
                  <a:spcPts val="0"/>
                </a:spcAft>
                <a:buClr>
                  <a:schemeClr val="dk1"/>
                </a:buClr>
                <a:buSzPts val="1300"/>
                <a:buFont typeface="Calibri"/>
                <a:buAutoNum type="arabicPeriod"/>
              </a:pPr>
              <a:r>
                <a:rPr b="0" i="0" lang="es-ES" sz="1300" u="none" cap="none" strike="noStrike">
                  <a:solidFill>
                    <a:schemeClr val="dk1"/>
                  </a:solidFill>
                  <a:latin typeface="Calibri"/>
                  <a:ea typeface="Calibri"/>
                  <a:cs typeface="Calibri"/>
                  <a:sym typeface="Calibri"/>
                </a:rPr>
                <a:t>Diagramas de Temporización</a:t>
              </a:r>
              <a:endParaRPr/>
            </a:p>
          </p:txBody>
        </p:sp>
      </p:grpSp>
      <p:pic>
        <p:nvPicPr>
          <p:cNvPr id="238" name="Google Shape;238;p20"/>
          <p:cNvPicPr preferRelativeResize="0"/>
          <p:nvPr/>
        </p:nvPicPr>
        <p:blipFill rotWithShape="1">
          <a:blip r:embed="rId3">
            <a:alphaModFix/>
          </a:blip>
          <a:srcRect b="0" l="0" r="0" t="0"/>
          <a:stretch/>
        </p:blipFill>
        <p:spPr>
          <a:xfrm>
            <a:off x="481913" y="818499"/>
            <a:ext cx="1675754" cy="955179"/>
          </a:xfrm>
          <a:prstGeom prst="rect">
            <a:avLst/>
          </a:prstGeom>
          <a:noFill/>
          <a:ln>
            <a:noFill/>
          </a:ln>
        </p:spPr>
      </p:pic>
      <p:pic>
        <p:nvPicPr>
          <p:cNvPr id="239" name="Google Shape;239;p20"/>
          <p:cNvPicPr preferRelativeResize="0"/>
          <p:nvPr/>
        </p:nvPicPr>
        <p:blipFill rotWithShape="1">
          <a:blip r:embed="rId4">
            <a:alphaModFix/>
          </a:blip>
          <a:srcRect b="0" l="0" r="0" t="0"/>
          <a:stretch/>
        </p:blipFill>
        <p:spPr>
          <a:xfrm>
            <a:off x="7642483" y="818127"/>
            <a:ext cx="962255" cy="9622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46" name="Google Shape;246;p21"/>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CLASES </a:t>
            </a:r>
            <a:r>
              <a:rPr i="1" lang="es-ES" sz="1400">
                <a:solidFill>
                  <a:srgbClr val="7F7F7F"/>
                </a:solidFill>
              </a:rPr>
              <a:t>[SI Comercio Electrónico]</a:t>
            </a:r>
            <a:endParaRPr i="1">
              <a:solidFill>
                <a:srgbClr val="7F7F7F"/>
              </a:solidFill>
            </a:endParaRPr>
          </a:p>
        </p:txBody>
      </p:sp>
      <p:sp>
        <p:nvSpPr>
          <p:cNvPr id="247" name="Google Shape;247;p21"/>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Actores:</a:t>
            </a:r>
            <a:endParaRPr/>
          </a:p>
          <a:p>
            <a:pPr indent="-179387" lvl="1" marL="446088" rtl="0" algn="l">
              <a:spcBef>
                <a:spcPts val="300"/>
              </a:spcBef>
              <a:spcAft>
                <a:spcPts val="0"/>
              </a:spcAft>
              <a:buClr>
                <a:schemeClr val="dk1"/>
              </a:buClr>
              <a:buSzPts val="1600"/>
              <a:buFont typeface="Noto Sans Symbols"/>
              <a:buChar char="▪"/>
            </a:pPr>
            <a:r>
              <a:rPr b="1" lang="es-ES"/>
              <a:t>Cliente</a:t>
            </a:r>
            <a:r>
              <a:rPr lang="es-ES"/>
              <a:t>: Representa al usuario del sistema. Tiene métodos para buscar productos, añadirlos al carrito y realizar pagos.</a:t>
            </a:r>
            <a:endParaRPr/>
          </a:p>
          <a:p>
            <a:pPr indent="-179387" lvl="1" marL="446088" rtl="0" algn="l">
              <a:spcBef>
                <a:spcPts val="300"/>
              </a:spcBef>
              <a:spcAft>
                <a:spcPts val="0"/>
              </a:spcAft>
              <a:buClr>
                <a:schemeClr val="dk1"/>
              </a:buClr>
              <a:buSzPts val="1600"/>
              <a:buFont typeface="Noto Sans Symbols"/>
              <a:buChar char="▪"/>
            </a:pPr>
            <a:r>
              <a:rPr b="1" lang="es-ES"/>
              <a:t>Vendedor</a:t>
            </a:r>
            <a:r>
              <a:rPr lang="es-ES"/>
              <a:t>: Encargado de verificar el stock y procesar pedidos.</a:t>
            </a:r>
            <a:endParaRPr/>
          </a:p>
          <a:p>
            <a:pPr indent="-179387" lvl="1" marL="446088" rtl="0" algn="l">
              <a:spcBef>
                <a:spcPts val="300"/>
              </a:spcBef>
              <a:spcAft>
                <a:spcPts val="0"/>
              </a:spcAft>
              <a:buClr>
                <a:schemeClr val="dk1"/>
              </a:buClr>
              <a:buSzPts val="1600"/>
              <a:buFont typeface="Noto Sans Symbols"/>
              <a:buChar char="▪"/>
            </a:pPr>
            <a:r>
              <a:rPr b="1" lang="es-ES"/>
              <a:t>Producto</a:t>
            </a:r>
            <a:r>
              <a:rPr lang="es-ES"/>
              <a:t>: Contiene información sobre los productos disponibles.</a:t>
            </a:r>
            <a:endParaRPr/>
          </a:p>
          <a:p>
            <a:pPr indent="-179387" lvl="1" marL="446088" rtl="0" algn="l">
              <a:spcBef>
                <a:spcPts val="300"/>
              </a:spcBef>
              <a:spcAft>
                <a:spcPts val="0"/>
              </a:spcAft>
              <a:buClr>
                <a:schemeClr val="dk1"/>
              </a:buClr>
              <a:buSzPts val="1600"/>
              <a:buFont typeface="Noto Sans Symbols"/>
              <a:buChar char="▪"/>
            </a:pPr>
            <a:r>
              <a:rPr b="1" lang="es-ES"/>
              <a:t>Pedido</a:t>
            </a:r>
            <a:r>
              <a:rPr lang="es-ES"/>
              <a:t>: Representa un pedido realizado por un cliente.</a:t>
            </a:r>
            <a:endParaRPr/>
          </a:p>
          <a:p>
            <a:pPr indent="-179387" lvl="1" marL="446088" rtl="0" algn="l">
              <a:spcBef>
                <a:spcPts val="300"/>
              </a:spcBef>
              <a:spcAft>
                <a:spcPts val="0"/>
              </a:spcAft>
              <a:buClr>
                <a:schemeClr val="dk1"/>
              </a:buClr>
              <a:buSzPts val="1600"/>
              <a:buFont typeface="Noto Sans Symbols"/>
              <a:buChar char="▪"/>
            </a:pPr>
            <a:r>
              <a:rPr lang="es-ES"/>
              <a:t>Si</a:t>
            </a:r>
            <a:r>
              <a:rPr b="1" lang="es-ES"/>
              <a:t>stemaDePago</a:t>
            </a:r>
            <a:r>
              <a:rPr lang="es-ES"/>
              <a:t>: Encargado de procesar las transacciones de pago.</a:t>
            </a:r>
            <a:endParaRPr/>
          </a:p>
          <a:p>
            <a:pPr indent="-209550" lvl="0" marL="266700" rtl="0" algn="just">
              <a:spcBef>
                <a:spcPts val="600"/>
              </a:spcBef>
              <a:spcAft>
                <a:spcPts val="0"/>
              </a:spcAft>
              <a:buClr>
                <a:schemeClr val="dk1"/>
              </a:buClr>
              <a:buSzPts val="900"/>
              <a:buNone/>
            </a:pPr>
            <a:r>
              <a:t/>
            </a:r>
            <a:endParaRPr sz="1200"/>
          </a:p>
        </p:txBody>
      </p:sp>
      <p:pic>
        <p:nvPicPr>
          <p:cNvPr id="248" name="Google Shape;248;p21"/>
          <p:cNvPicPr preferRelativeResize="0"/>
          <p:nvPr>
            <p:ph idx="2" type="pic"/>
          </p:nvPr>
        </p:nvPicPr>
        <p:blipFill rotWithShape="1">
          <a:blip r:embed="rId3">
            <a:alphaModFix/>
          </a:blip>
          <a:srcRect b="374" l="0" r="0" t="373"/>
          <a:stretch/>
        </p:blipFill>
        <p:spPr>
          <a:xfrm>
            <a:off x="4977632" y="1246908"/>
            <a:ext cx="3498549" cy="38051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55" name="Google Shape;255;p22"/>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CLASES </a:t>
            </a:r>
            <a:r>
              <a:rPr i="1" lang="es-ES" sz="1400">
                <a:solidFill>
                  <a:srgbClr val="7F7F7F"/>
                </a:solidFill>
              </a:rPr>
              <a:t>[SI Comercio Electrónico]</a:t>
            </a:r>
            <a:endParaRPr i="1">
              <a:solidFill>
                <a:srgbClr val="7F7F7F"/>
              </a:solidFill>
            </a:endParaRPr>
          </a:p>
        </p:txBody>
      </p:sp>
      <p:sp>
        <p:nvSpPr>
          <p:cNvPr id="256" name="Google Shape;256;p22"/>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Relaciones:</a:t>
            </a:r>
            <a:endParaRPr/>
          </a:p>
          <a:p>
            <a:pPr indent="-179387" lvl="1" marL="446088" rtl="0" algn="l">
              <a:spcBef>
                <a:spcPts val="300"/>
              </a:spcBef>
              <a:spcAft>
                <a:spcPts val="0"/>
              </a:spcAft>
              <a:buClr>
                <a:schemeClr val="dk1"/>
              </a:buClr>
              <a:buSzPts val="1600"/>
              <a:buFont typeface="Noto Sans Symbols"/>
              <a:buChar char="▪"/>
            </a:pPr>
            <a:r>
              <a:rPr lang="es-ES"/>
              <a:t>El </a:t>
            </a:r>
            <a:r>
              <a:rPr b="1" lang="es-ES"/>
              <a:t>Cliente</a:t>
            </a:r>
            <a:r>
              <a:rPr lang="es-ES"/>
              <a:t> busca </a:t>
            </a:r>
            <a:r>
              <a:rPr b="1" lang="es-ES"/>
              <a:t>Productos</a:t>
            </a:r>
            <a:r>
              <a:rPr lang="es-ES"/>
              <a:t> y realiza </a:t>
            </a:r>
            <a:r>
              <a:rPr b="1" lang="es-ES"/>
              <a:t>Pedidos</a:t>
            </a:r>
            <a:r>
              <a:rPr lang="es-ES"/>
              <a:t>.</a:t>
            </a:r>
            <a:endParaRPr/>
          </a:p>
          <a:p>
            <a:pPr indent="-179387" lvl="1" marL="446088" rtl="0" algn="l">
              <a:spcBef>
                <a:spcPts val="300"/>
              </a:spcBef>
              <a:spcAft>
                <a:spcPts val="0"/>
              </a:spcAft>
              <a:buClr>
                <a:schemeClr val="dk1"/>
              </a:buClr>
              <a:buSzPts val="1600"/>
              <a:buFont typeface="Noto Sans Symbols"/>
              <a:buChar char="▪"/>
            </a:pPr>
            <a:r>
              <a:rPr lang="es-ES"/>
              <a:t>El </a:t>
            </a:r>
            <a:r>
              <a:rPr b="1" lang="es-ES"/>
              <a:t>Vendedor</a:t>
            </a:r>
            <a:r>
              <a:rPr lang="es-ES"/>
              <a:t> verifica el stock de </a:t>
            </a:r>
            <a:r>
              <a:rPr b="1" lang="es-ES"/>
              <a:t>Productos</a:t>
            </a:r>
            <a:r>
              <a:rPr lang="es-ES"/>
              <a:t> y procesa </a:t>
            </a:r>
            <a:r>
              <a:rPr b="1" lang="es-ES"/>
              <a:t>Pedidos</a:t>
            </a:r>
            <a:r>
              <a:rPr lang="es-ES"/>
              <a:t>.</a:t>
            </a:r>
            <a:endParaRPr/>
          </a:p>
          <a:p>
            <a:pPr indent="-179387" lvl="1" marL="446088" rtl="0" algn="l">
              <a:spcBef>
                <a:spcPts val="300"/>
              </a:spcBef>
              <a:spcAft>
                <a:spcPts val="0"/>
              </a:spcAft>
              <a:buClr>
                <a:schemeClr val="dk1"/>
              </a:buClr>
              <a:buSzPts val="1600"/>
              <a:buFont typeface="Noto Sans Symbols"/>
              <a:buChar char="▪"/>
            </a:pPr>
            <a:r>
              <a:rPr lang="es-ES"/>
              <a:t>El </a:t>
            </a:r>
            <a:r>
              <a:rPr b="1" lang="es-ES"/>
              <a:t>Cliente</a:t>
            </a:r>
            <a:r>
              <a:rPr lang="es-ES"/>
              <a:t> interactúa con el </a:t>
            </a:r>
            <a:r>
              <a:rPr b="1" lang="es-ES"/>
              <a:t>SistemaDePago</a:t>
            </a:r>
            <a:r>
              <a:rPr lang="es-ES"/>
              <a:t> para realizar pagos.</a:t>
            </a:r>
            <a:endParaRPr/>
          </a:p>
          <a:p>
            <a:pPr indent="-179387" lvl="1" marL="446088" rtl="0" algn="l">
              <a:spcBef>
                <a:spcPts val="300"/>
              </a:spcBef>
              <a:spcAft>
                <a:spcPts val="0"/>
              </a:spcAft>
              <a:buClr>
                <a:schemeClr val="dk1"/>
              </a:buClr>
              <a:buSzPts val="1600"/>
              <a:buFont typeface="Noto Sans Symbols"/>
              <a:buChar char="▪"/>
            </a:pPr>
            <a:r>
              <a:rPr lang="es-ES"/>
              <a:t>Un </a:t>
            </a:r>
            <a:r>
              <a:rPr b="1" lang="es-ES"/>
              <a:t>Pedido</a:t>
            </a:r>
            <a:r>
              <a:rPr lang="es-ES"/>
              <a:t> contiene varios </a:t>
            </a:r>
            <a:r>
              <a:rPr b="1" lang="es-ES"/>
              <a:t>Productos</a:t>
            </a:r>
            <a:r>
              <a:rPr lang="es-ES"/>
              <a:t>.</a:t>
            </a:r>
            <a:endParaRPr/>
          </a:p>
        </p:txBody>
      </p:sp>
      <p:pic>
        <p:nvPicPr>
          <p:cNvPr id="257" name="Google Shape;257;p22"/>
          <p:cNvPicPr preferRelativeResize="0"/>
          <p:nvPr>
            <p:ph idx="2" type="pic"/>
          </p:nvPr>
        </p:nvPicPr>
        <p:blipFill rotWithShape="1">
          <a:blip r:embed="rId3">
            <a:alphaModFix/>
          </a:blip>
          <a:srcRect b="374" l="0" r="0" t="373"/>
          <a:stretch/>
        </p:blipFill>
        <p:spPr>
          <a:xfrm>
            <a:off x="4882174" y="1034430"/>
            <a:ext cx="3452692" cy="37553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id="263" name="Google Shape;263;p23"/>
          <p:cNvPicPr preferRelativeResize="0"/>
          <p:nvPr>
            <p:ph idx="2" type="pic"/>
          </p:nvPr>
        </p:nvPicPr>
        <p:blipFill rotWithShape="1">
          <a:blip r:embed="rId3">
            <a:alphaModFix/>
          </a:blip>
          <a:srcRect b="480" l="0" r="0" t="480"/>
          <a:stretch/>
        </p:blipFill>
        <p:spPr>
          <a:xfrm>
            <a:off x="4572000" y="804863"/>
            <a:ext cx="4103688" cy="4463362"/>
          </a:xfrm>
          <a:prstGeom prst="rect">
            <a:avLst/>
          </a:prstGeom>
          <a:noFill/>
          <a:ln>
            <a:noFill/>
          </a:ln>
        </p:spPr>
      </p:pic>
      <p:sp>
        <p:nvSpPr>
          <p:cNvPr id="264" name="Google Shape;264;p23"/>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OBJETOS </a:t>
            </a:r>
            <a:r>
              <a:rPr i="1" lang="es-ES" sz="1400">
                <a:solidFill>
                  <a:srgbClr val="7F7F7F"/>
                </a:solidFill>
              </a:rPr>
              <a:t>[SI Comercio Electrónico]</a:t>
            </a:r>
            <a:endParaRPr i="1">
              <a:solidFill>
                <a:srgbClr val="7F7F7F"/>
              </a:solidFill>
            </a:endParaRPr>
          </a:p>
        </p:txBody>
      </p:sp>
      <p:sp>
        <p:nvSpPr>
          <p:cNvPr id="265" name="Google Shape;265;p2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66" name="Google Shape;266;p23"/>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Objetos:</a:t>
            </a:r>
            <a:endParaRPr/>
          </a:p>
          <a:p>
            <a:pPr indent="-177800" lvl="1" marL="444500" rtl="0" algn="l">
              <a:spcBef>
                <a:spcPts val="300"/>
              </a:spcBef>
              <a:spcAft>
                <a:spcPts val="0"/>
              </a:spcAft>
              <a:buClr>
                <a:schemeClr val="dk1"/>
              </a:buClr>
              <a:buSzPts val="1600"/>
              <a:buFont typeface="Noto Sans Symbols"/>
              <a:buChar char="▪"/>
            </a:pPr>
            <a:r>
              <a:rPr b="1" lang="es-ES"/>
              <a:t>Carrito1</a:t>
            </a:r>
            <a:r>
              <a:rPr lang="es-ES"/>
              <a:t>: Un carrito con id 1, que contiene productos como “Manzana” y “Banana”, y tiene un total de 20.00.</a:t>
            </a:r>
            <a:endParaRPr/>
          </a:p>
          <a:p>
            <a:pPr indent="-177800" lvl="1" marL="444500" rtl="0" algn="l">
              <a:spcBef>
                <a:spcPts val="300"/>
              </a:spcBef>
              <a:spcAft>
                <a:spcPts val="0"/>
              </a:spcAft>
              <a:buClr>
                <a:schemeClr val="dk1"/>
              </a:buClr>
              <a:buSzPts val="1600"/>
              <a:buFont typeface="Noto Sans Symbols"/>
              <a:buChar char="▪"/>
            </a:pPr>
            <a:r>
              <a:rPr b="1" lang="es-ES"/>
              <a:t>Carrito2</a:t>
            </a:r>
            <a:r>
              <a:rPr lang="es-ES"/>
              <a:t>: Otro carrito con id 2, que contiene productos como “Leche” y “Pan”, y tiene un total de 15.00.</a:t>
            </a:r>
            <a:endParaRPr/>
          </a:p>
          <a:p>
            <a:pPr indent="-177800" lvl="1" marL="444500" rtl="0" algn="l">
              <a:spcBef>
                <a:spcPts val="300"/>
              </a:spcBef>
              <a:spcAft>
                <a:spcPts val="0"/>
              </a:spcAft>
              <a:buClr>
                <a:schemeClr val="dk1"/>
              </a:buClr>
              <a:buSzPts val="1600"/>
              <a:buFont typeface="Noto Sans Symbols"/>
              <a:buChar char="▪"/>
            </a:pPr>
            <a:r>
              <a:rPr b="1" lang="es-ES"/>
              <a:t>Cliente1</a:t>
            </a:r>
            <a:r>
              <a:rPr lang="es-ES"/>
              <a:t>: Un cliente llamado “Juan” con un correo electrónico específico.</a:t>
            </a:r>
            <a:endParaRPr/>
          </a:p>
          <a:p>
            <a:pPr indent="-177800" lvl="1" marL="444500" rtl="0" algn="l">
              <a:spcBef>
                <a:spcPts val="300"/>
              </a:spcBef>
              <a:spcAft>
                <a:spcPts val="0"/>
              </a:spcAft>
              <a:buClr>
                <a:schemeClr val="dk1"/>
              </a:buClr>
              <a:buSzPts val="1600"/>
              <a:buFont typeface="Noto Sans Symbols"/>
              <a:buChar char="▪"/>
            </a:pPr>
            <a:r>
              <a:rPr b="1" lang="es-ES"/>
              <a:t>Cliente2</a:t>
            </a:r>
            <a:r>
              <a:rPr lang="es-ES"/>
              <a:t>: Otro cliente llamado “María” con un correo electrónico específico.</a:t>
            </a:r>
            <a:endParaRPr/>
          </a:p>
          <a:p>
            <a:pPr indent="-266700" lvl="0" marL="266700" rtl="0" algn="l">
              <a:spcBef>
                <a:spcPts val="600"/>
              </a:spcBef>
              <a:spcAft>
                <a:spcPts val="0"/>
              </a:spcAft>
              <a:buClr>
                <a:schemeClr val="dk1"/>
              </a:buClr>
              <a:buSzPts val="1200"/>
              <a:buChar char="❑"/>
            </a:pPr>
            <a:r>
              <a:rPr lang="es-ES"/>
              <a:t>Relaciones:</a:t>
            </a:r>
            <a:endParaRPr/>
          </a:p>
          <a:p>
            <a:pPr indent="-177800" lvl="1" marL="444500" rtl="0" algn="l">
              <a:spcBef>
                <a:spcPts val="300"/>
              </a:spcBef>
              <a:spcAft>
                <a:spcPts val="0"/>
              </a:spcAft>
              <a:buClr>
                <a:schemeClr val="dk1"/>
              </a:buClr>
              <a:buSzPts val="1600"/>
              <a:buFont typeface="Noto Sans Symbols"/>
              <a:buChar char="▪"/>
            </a:pPr>
            <a:r>
              <a:rPr b="1" lang="es-ES"/>
              <a:t>Cliente1</a:t>
            </a:r>
            <a:r>
              <a:rPr lang="es-ES"/>
              <a:t> tiene </a:t>
            </a:r>
            <a:r>
              <a:rPr b="1" lang="es-ES"/>
              <a:t>Carrito1</a:t>
            </a:r>
            <a:r>
              <a:rPr lang="es-ES"/>
              <a:t>.</a:t>
            </a:r>
            <a:endParaRPr/>
          </a:p>
          <a:p>
            <a:pPr indent="-177800" lvl="1" marL="444500" rtl="0" algn="l">
              <a:spcBef>
                <a:spcPts val="300"/>
              </a:spcBef>
              <a:spcAft>
                <a:spcPts val="0"/>
              </a:spcAft>
              <a:buClr>
                <a:schemeClr val="dk1"/>
              </a:buClr>
              <a:buSzPts val="1600"/>
              <a:buFont typeface="Noto Sans Symbols"/>
              <a:buChar char="▪"/>
            </a:pPr>
            <a:r>
              <a:rPr b="1" lang="es-ES"/>
              <a:t>Cliente2</a:t>
            </a:r>
            <a:r>
              <a:rPr lang="es-ES"/>
              <a:t> tiene </a:t>
            </a:r>
            <a:r>
              <a:rPr b="1" lang="es-ES"/>
              <a:t>Carrito2</a:t>
            </a:r>
            <a:r>
              <a:rPr lang="es-ES"/>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24"/>
          <p:cNvPicPr preferRelativeResize="0"/>
          <p:nvPr>
            <p:ph idx="2" type="pic"/>
          </p:nvPr>
        </p:nvPicPr>
        <p:blipFill rotWithShape="1">
          <a:blip r:embed="rId3">
            <a:alphaModFix/>
          </a:blip>
          <a:srcRect b="374" l="0" r="0" t="373"/>
          <a:stretch/>
        </p:blipFill>
        <p:spPr>
          <a:xfrm>
            <a:off x="5093342" y="1047403"/>
            <a:ext cx="3490906" cy="3796872"/>
          </a:xfrm>
          <a:prstGeom prst="rect">
            <a:avLst/>
          </a:prstGeom>
          <a:noFill/>
          <a:ln>
            <a:noFill/>
          </a:ln>
        </p:spPr>
      </p:pic>
      <p:sp>
        <p:nvSpPr>
          <p:cNvPr id="273" name="Google Shape;273;p2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74" name="Google Shape;274;p24"/>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COMPONENTES </a:t>
            </a:r>
            <a:r>
              <a:rPr i="1" lang="es-ES" sz="1400">
                <a:solidFill>
                  <a:srgbClr val="7F7F7F"/>
                </a:solidFill>
              </a:rPr>
              <a:t>[SI Comercio Electrónico]</a:t>
            </a:r>
            <a:endParaRPr i="1">
              <a:solidFill>
                <a:srgbClr val="7F7F7F"/>
              </a:solidFill>
            </a:endParaRPr>
          </a:p>
        </p:txBody>
      </p:sp>
      <p:sp>
        <p:nvSpPr>
          <p:cNvPr id="275" name="Google Shape;275;p24"/>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Componentes:</a:t>
            </a:r>
            <a:endParaRPr/>
          </a:p>
          <a:p>
            <a:pPr indent="-177800" lvl="1" marL="444500" rtl="0" algn="l">
              <a:spcBef>
                <a:spcPts val="300"/>
              </a:spcBef>
              <a:spcAft>
                <a:spcPts val="0"/>
              </a:spcAft>
              <a:buClr>
                <a:schemeClr val="dk1"/>
              </a:buClr>
              <a:buSzPts val="1600"/>
              <a:buFont typeface="Noto Sans Symbols"/>
              <a:buChar char="▪"/>
            </a:pPr>
            <a:r>
              <a:rPr b="1" lang="es-ES"/>
              <a:t>Interfaz de Usuario</a:t>
            </a:r>
            <a:r>
              <a:rPr lang="es-ES"/>
              <a:t>: Se encarga de la interacción con el cliente.</a:t>
            </a:r>
            <a:endParaRPr/>
          </a:p>
          <a:p>
            <a:pPr indent="-177800" lvl="1" marL="444500" rtl="0" algn="l">
              <a:spcBef>
                <a:spcPts val="300"/>
              </a:spcBef>
              <a:spcAft>
                <a:spcPts val="0"/>
              </a:spcAft>
              <a:buClr>
                <a:schemeClr val="dk1"/>
              </a:buClr>
              <a:buSzPts val="1600"/>
              <a:buFont typeface="Noto Sans Symbols"/>
              <a:buChar char="▪"/>
            </a:pPr>
            <a:r>
              <a:rPr b="1" lang="es-ES"/>
              <a:t>Lógica de Negocio</a:t>
            </a:r>
            <a:r>
              <a:rPr lang="es-ES"/>
              <a:t>: Contiene toda la lógica de negocio, como la verificación del stock y el procesamiento de pedidos.</a:t>
            </a:r>
            <a:endParaRPr/>
          </a:p>
          <a:p>
            <a:pPr indent="-177800" lvl="1" marL="444500" rtl="0" algn="l">
              <a:spcBef>
                <a:spcPts val="300"/>
              </a:spcBef>
              <a:spcAft>
                <a:spcPts val="0"/>
              </a:spcAft>
              <a:buClr>
                <a:schemeClr val="dk1"/>
              </a:buClr>
              <a:buSzPts val="1600"/>
              <a:buFont typeface="Noto Sans Symbols"/>
              <a:buChar char="▪"/>
            </a:pPr>
            <a:r>
              <a:rPr b="1" lang="es-ES"/>
              <a:t>Gestión de Productos</a:t>
            </a:r>
            <a:r>
              <a:rPr lang="es-ES"/>
              <a:t>: Se encarga de todo lo relacionado con los productos.</a:t>
            </a:r>
            <a:endParaRPr/>
          </a:p>
          <a:p>
            <a:pPr indent="-177800" lvl="1" marL="444500" rtl="0" algn="l">
              <a:spcBef>
                <a:spcPts val="300"/>
              </a:spcBef>
              <a:spcAft>
                <a:spcPts val="0"/>
              </a:spcAft>
              <a:buClr>
                <a:schemeClr val="dk1"/>
              </a:buClr>
              <a:buSzPts val="1600"/>
              <a:buFont typeface="Noto Sans Symbols"/>
              <a:buChar char="▪"/>
            </a:pPr>
            <a:r>
              <a:rPr b="1" lang="es-ES"/>
              <a:t>Gestión de Pedidos</a:t>
            </a:r>
            <a:r>
              <a:rPr lang="es-ES"/>
              <a:t>: Maneja la creación y el seguimiento de los pedidos.</a:t>
            </a:r>
            <a:endParaRPr/>
          </a:p>
          <a:p>
            <a:pPr indent="-177800" lvl="1" marL="444500" rtl="0" algn="l">
              <a:spcBef>
                <a:spcPts val="300"/>
              </a:spcBef>
              <a:spcAft>
                <a:spcPts val="0"/>
              </a:spcAft>
              <a:buClr>
                <a:schemeClr val="dk1"/>
              </a:buClr>
              <a:buSzPts val="1600"/>
              <a:buFont typeface="Noto Sans Symbols"/>
              <a:buChar char="▪"/>
            </a:pPr>
            <a:r>
              <a:rPr b="1" lang="es-ES"/>
              <a:t>Sistema de Pago</a:t>
            </a:r>
            <a:r>
              <a:rPr lang="es-ES"/>
              <a:t>: Procesa las transacciones de pago.</a:t>
            </a:r>
            <a:endParaRPr/>
          </a:p>
          <a:p>
            <a:pPr indent="-177800" lvl="1" marL="444500" rtl="0" algn="l">
              <a:spcBef>
                <a:spcPts val="300"/>
              </a:spcBef>
              <a:spcAft>
                <a:spcPts val="0"/>
              </a:spcAft>
              <a:buClr>
                <a:schemeClr val="dk1"/>
              </a:buClr>
              <a:buSzPts val="1600"/>
              <a:buFont typeface="Noto Sans Symbols"/>
              <a:buChar char="▪"/>
            </a:pPr>
            <a:r>
              <a:rPr b="1" lang="es-ES"/>
              <a:t>Base de Datos</a:t>
            </a:r>
            <a:r>
              <a:rPr lang="es-ES"/>
              <a:t>: Almacena toda la información relevante.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25"/>
          <p:cNvPicPr preferRelativeResize="0"/>
          <p:nvPr>
            <p:ph idx="2" type="pic"/>
          </p:nvPr>
        </p:nvPicPr>
        <p:blipFill rotWithShape="1">
          <a:blip r:embed="rId3">
            <a:alphaModFix/>
          </a:blip>
          <a:srcRect b="374" l="0" r="0" t="373"/>
          <a:stretch/>
        </p:blipFill>
        <p:spPr>
          <a:xfrm>
            <a:off x="4572000" y="947506"/>
            <a:ext cx="3773824" cy="4104587"/>
          </a:xfrm>
          <a:prstGeom prst="rect">
            <a:avLst/>
          </a:prstGeom>
          <a:noFill/>
          <a:ln>
            <a:noFill/>
          </a:ln>
        </p:spPr>
      </p:pic>
      <p:sp>
        <p:nvSpPr>
          <p:cNvPr id="282" name="Google Shape;282;p2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83" name="Google Shape;283;p25"/>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COMPONENTES </a:t>
            </a:r>
            <a:r>
              <a:rPr i="1" lang="es-ES" sz="1400">
                <a:solidFill>
                  <a:srgbClr val="7F7F7F"/>
                </a:solidFill>
              </a:rPr>
              <a:t>[SI Comercio Electrónico]</a:t>
            </a:r>
            <a:endParaRPr i="1">
              <a:solidFill>
                <a:srgbClr val="7F7F7F"/>
              </a:solidFill>
            </a:endParaRPr>
          </a:p>
        </p:txBody>
      </p:sp>
      <p:sp>
        <p:nvSpPr>
          <p:cNvPr id="284" name="Google Shape;284;p25"/>
          <p:cNvSpPr txBox="1"/>
          <p:nvPr>
            <p:ph idx="4" type="body"/>
          </p:nvPr>
        </p:nvSpPr>
        <p:spPr>
          <a:xfrm>
            <a:off x="468313" y="1177927"/>
            <a:ext cx="3762865"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Relaciones:</a:t>
            </a:r>
            <a:endParaRPr/>
          </a:p>
          <a:p>
            <a:pPr indent="-177800" lvl="1" marL="444500" rtl="0" algn="l">
              <a:spcBef>
                <a:spcPts val="300"/>
              </a:spcBef>
              <a:spcAft>
                <a:spcPts val="0"/>
              </a:spcAft>
              <a:buClr>
                <a:schemeClr val="dk1"/>
              </a:buClr>
              <a:buSzPts val="1600"/>
              <a:buFont typeface="Noto Sans Symbols"/>
              <a:buChar char="▪"/>
            </a:pPr>
            <a:r>
              <a:rPr lang="es-ES"/>
              <a:t>La </a:t>
            </a:r>
            <a:r>
              <a:rPr b="1" lang="es-ES"/>
              <a:t>Interfaz de Usuario </a:t>
            </a:r>
            <a:r>
              <a:rPr lang="es-ES"/>
              <a:t>interactúa con la </a:t>
            </a:r>
            <a:r>
              <a:rPr b="1" lang="es-ES"/>
              <a:t>Lógica de Negocio</a:t>
            </a:r>
            <a:r>
              <a:rPr lang="es-ES"/>
              <a:t>.</a:t>
            </a:r>
            <a:endParaRPr/>
          </a:p>
          <a:p>
            <a:pPr indent="-177800" lvl="1" marL="444500" rtl="0" algn="l">
              <a:spcBef>
                <a:spcPts val="300"/>
              </a:spcBef>
              <a:spcAft>
                <a:spcPts val="0"/>
              </a:spcAft>
              <a:buClr>
                <a:schemeClr val="dk1"/>
              </a:buClr>
              <a:buSzPts val="1600"/>
              <a:buFont typeface="Noto Sans Symbols"/>
              <a:buChar char="▪"/>
            </a:pPr>
            <a:r>
              <a:rPr lang="es-ES"/>
              <a:t>La </a:t>
            </a:r>
            <a:r>
              <a:rPr b="1" lang="es-ES"/>
              <a:t>Lógica de Negocio </a:t>
            </a:r>
            <a:r>
              <a:rPr lang="es-ES"/>
              <a:t>se comunica con </a:t>
            </a:r>
            <a:r>
              <a:rPr b="1" lang="es-ES"/>
              <a:t>Gestión de Productos</a:t>
            </a:r>
            <a:r>
              <a:rPr lang="es-ES"/>
              <a:t>, </a:t>
            </a:r>
            <a:r>
              <a:rPr b="1" lang="es-ES"/>
              <a:t>Gestión de Pedidos </a:t>
            </a:r>
            <a:r>
              <a:rPr lang="es-ES"/>
              <a:t>y </a:t>
            </a:r>
            <a:r>
              <a:rPr b="1" lang="es-ES"/>
              <a:t>Sistema de Pago</a:t>
            </a:r>
            <a:r>
              <a:rPr lang="es-ES"/>
              <a:t>.</a:t>
            </a:r>
            <a:endParaRPr/>
          </a:p>
          <a:p>
            <a:pPr indent="-177800" lvl="1" marL="444500" rtl="0" algn="l">
              <a:spcBef>
                <a:spcPts val="300"/>
              </a:spcBef>
              <a:spcAft>
                <a:spcPts val="0"/>
              </a:spcAft>
              <a:buClr>
                <a:schemeClr val="dk1"/>
              </a:buClr>
              <a:buSzPts val="1600"/>
              <a:buFont typeface="Noto Sans Symbols"/>
              <a:buChar char="▪"/>
            </a:pPr>
            <a:r>
              <a:rPr lang="es-ES"/>
              <a:t>Todos los componentes de gestión interactúan con la </a:t>
            </a:r>
            <a:r>
              <a:rPr b="1" lang="es-ES"/>
              <a:t>Base de Datos</a:t>
            </a:r>
            <a:r>
              <a:rPr lang="es-ES"/>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id="290" name="Google Shape;290;p26"/>
          <p:cNvPicPr preferRelativeResize="0"/>
          <p:nvPr>
            <p:ph idx="2" type="pic"/>
          </p:nvPr>
        </p:nvPicPr>
        <p:blipFill rotWithShape="1">
          <a:blip r:embed="rId3">
            <a:alphaModFix/>
          </a:blip>
          <a:srcRect b="38" l="0" r="0" t="39"/>
          <a:stretch/>
        </p:blipFill>
        <p:spPr>
          <a:xfrm>
            <a:off x="1431651" y="3489143"/>
            <a:ext cx="6423877" cy="1873773"/>
          </a:xfrm>
          <a:prstGeom prst="rect">
            <a:avLst/>
          </a:prstGeom>
          <a:noFill/>
          <a:ln>
            <a:noFill/>
          </a:ln>
        </p:spPr>
      </p:pic>
      <p:sp>
        <p:nvSpPr>
          <p:cNvPr id="291" name="Google Shape;291;p26"/>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DESPLIEGUE </a:t>
            </a:r>
            <a:r>
              <a:rPr i="1" lang="es-ES" sz="1400">
                <a:solidFill>
                  <a:srgbClr val="7F7F7F"/>
                </a:solidFill>
              </a:rPr>
              <a:t>[SI Comercio Electrónico]</a:t>
            </a:r>
            <a:endParaRPr i="1">
              <a:solidFill>
                <a:srgbClr val="7F7F7F"/>
              </a:solidFill>
            </a:endParaRPr>
          </a:p>
        </p:txBody>
      </p:sp>
      <p:sp>
        <p:nvSpPr>
          <p:cNvPr id="292" name="Google Shape;292;p2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293" name="Google Shape;293;p26"/>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just">
              <a:spcBef>
                <a:spcPts val="0"/>
              </a:spcBef>
              <a:spcAft>
                <a:spcPts val="0"/>
              </a:spcAft>
              <a:buClr>
                <a:schemeClr val="dk1"/>
              </a:buClr>
              <a:buSzPts val="1200"/>
              <a:buChar char="❑"/>
            </a:pPr>
            <a:r>
              <a:rPr lang="es-ES"/>
              <a:t>Componentes:</a:t>
            </a:r>
            <a:endParaRPr/>
          </a:p>
          <a:p>
            <a:pPr indent="-177800" lvl="1" marL="444500" rtl="0" algn="just">
              <a:spcBef>
                <a:spcPts val="300"/>
              </a:spcBef>
              <a:spcAft>
                <a:spcPts val="0"/>
              </a:spcAft>
              <a:buClr>
                <a:schemeClr val="dk1"/>
              </a:buClr>
              <a:buSzPts val="1600"/>
              <a:buFont typeface="Noto Sans Symbols"/>
              <a:buChar char="▪"/>
            </a:pPr>
            <a:r>
              <a:rPr b="1" lang="es-ES"/>
              <a:t>Servidor</a:t>
            </a:r>
            <a:r>
              <a:rPr lang="es-ES"/>
              <a:t>: Contiene el servidor web, el servidor de aplicaciones y el servidor de base de datos.</a:t>
            </a:r>
            <a:endParaRPr/>
          </a:p>
          <a:p>
            <a:pPr indent="-177800" lvl="1" marL="444500" rtl="0" algn="just">
              <a:spcBef>
                <a:spcPts val="300"/>
              </a:spcBef>
              <a:spcAft>
                <a:spcPts val="0"/>
              </a:spcAft>
              <a:buClr>
                <a:schemeClr val="dk1"/>
              </a:buClr>
              <a:buSzPts val="1600"/>
              <a:buFont typeface="Noto Sans Symbols"/>
              <a:buChar char="▪"/>
            </a:pPr>
            <a:r>
              <a:rPr b="1" lang="es-ES"/>
              <a:t>Cliente</a:t>
            </a:r>
            <a:r>
              <a:rPr lang="es-ES"/>
              <a:t>: Representa a los usuarios que acceden al sistema a través de un navegador web.</a:t>
            </a:r>
            <a:endParaRPr/>
          </a:p>
          <a:p>
            <a:pPr indent="-177800" lvl="1" marL="444500" rtl="0" algn="just">
              <a:spcBef>
                <a:spcPts val="300"/>
              </a:spcBef>
              <a:spcAft>
                <a:spcPts val="0"/>
              </a:spcAft>
              <a:buClr>
                <a:schemeClr val="dk1"/>
              </a:buClr>
              <a:buSzPts val="1600"/>
              <a:buFont typeface="Noto Sans Symbols"/>
              <a:buChar char="▪"/>
            </a:pPr>
            <a:r>
              <a:rPr b="1" lang="es-ES"/>
              <a:t>Red</a:t>
            </a:r>
            <a:r>
              <a:rPr lang="es-ES"/>
              <a:t>: Incluye un firewall y un balanceador de carga para gestionar el tráfico.</a:t>
            </a:r>
            <a:endParaRPr/>
          </a:p>
          <a:p>
            <a:pPr indent="-266700" lvl="0" marL="266700" rtl="0" algn="just">
              <a:spcBef>
                <a:spcPts val="600"/>
              </a:spcBef>
              <a:spcAft>
                <a:spcPts val="0"/>
              </a:spcAft>
              <a:buClr>
                <a:schemeClr val="dk1"/>
              </a:buClr>
              <a:buSzPts val="1200"/>
              <a:buChar char="❑"/>
            </a:pPr>
            <a:r>
              <a:rPr lang="es-ES"/>
              <a:t>Relaciones:</a:t>
            </a:r>
            <a:endParaRPr/>
          </a:p>
          <a:p>
            <a:pPr indent="-177800" lvl="1" marL="444500" rtl="0" algn="just">
              <a:spcBef>
                <a:spcPts val="300"/>
              </a:spcBef>
              <a:spcAft>
                <a:spcPts val="0"/>
              </a:spcAft>
              <a:buClr>
                <a:schemeClr val="dk1"/>
              </a:buClr>
              <a:buSzPts val="1600"/>
              <a:buFont typeface="Noto Sans Symbols"/>
              <a:buChar char="▪"/>
            </a:pPr>
            <a:r>
              <a:rPr lang="es-ES"/>
              <a:t>El </a:t>
            </a:r>
            <a:r>
              <a:rPr b="1" lang="es-ES"/>
              <a:t>Cliente</a:t>
            </a:r>
            <a:r>
              <a:rPr lang="es-ES"/>
              <a:t> se comunica con la </a:t>
            </a:r>
            <a:r>
              <a:rPr b="1" lang="es-ES"/>
              <a:t>Red</a:t>
            </a:r>
            <a:r>
              <a:rPr lang="es-ES"/>
              <a:t> a través de HTTP/HTTPS.</a:t>
            </a:r>
            <a:endParaRPr/>
          </a:p>
          <a:p>
            <a:pPr indent="-177800" lvl="1" marL="444500" rtl="0" algn="just">
              <a:spcBef>
                <a:spcPts val="300"/>
              </a:spcBef>
              <a:spcAft>
                <a:spcPts val="0"/>
              </a:spcAft>
              <a:buClr>
                <a:schemeClr val="dk1"/>
              </a:buClr>
              <a:buSzPts val="1600"/>
              <a:buFont typeface="Noto Sans Symbols"/>
              <a:buChar char="▪"/>
            </a:pPr>
            <a:r>
              <a:rPr lang="es-ES"/>
              <a:t>La </a:t>
            </a:r>
            <a:r>
              <a:rPr b="1" lang="es-ES"/>
              <a:t>Red</a:t>
            </a:r>
            <a:r>
              <a:rPr lang="es-ES"/>
              <a:t> redirige las solicitudes al </a:t>
            </a:r>
            <a:r>
              <a:rPr b="1" lang="es-ES"/>
              <a:t>Servidor</a:t>
            </a:r>
            <a:r>
              <a:rPr lang="es-ES"/>
              <a:t>.</a:t>
            </a:r>
            <a:endParaRPr/>
          </a:p>
          <a:p>
            <a:pPr indent="-177800" lvl="1" marL="444500" rtl="0" algn="just">
              <a:spcBef>
                <a:spcPts val="300"/>
              </a:spcBef>
              <a:spcAft>
                <a:spcPts val="0"/>
              </a:spcAft>
              <a:buClr>
                <a:schemeClr val="dk1"/>
              </a:buClr>
              <a:buSzPts val="1600"/>
              <a:buFont typeface="Noto Sans Symbols"/>
              <a:buChar char="▪"/>
            </a:pPr>
            <a:r>
              <a:rPr lang="es-ES"/>
              <a:t>El </a:t>
            </a:r>
            <a:r>
              <a:rPr b="1" lang="es-ES"/>
              <a:t>Servidor</a:t>
            </a:r>
            <a:r>
              <a:rPr lang="es-ES"/>
              <a:t> se comunica internamente para acceder a la base de datos.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27"/>
          <p:cNvPicPr preferRelativeResize="0"/>
          <p:nvPr>
            <p:ph idx="2" type="pic"/>
          </p:nvPr>
        </p:nvPicPr>
        <p:blipFill rotWithShape="1">
          <a:blip r:embed="rId3">
            <a:alphaModFix/>
          </a:blip>
          <a:srcRect b="38" l="0" r="0" t="39"/>
          <a:stretch/>
        </p:blipFill>
        <p:spPr>
          <a:xfrm>
            <a:off x="234618" y="2968917"/>
            <a:ext cx="8207375" cy="2394000"/>
          </a:xfrm>
          <a:prstGeom prst="rect">
            <a:avLst/>
          </a:prstGeom>
          <a:noFill/>
          <a:ln>
            <a:noFill/>
          </a:ln>
        </p:spPr>
      </p:pic>
      <p:sp>
        <p:nvSpPr>
          <p:cNvPr id="300" name="Google Shape;300;p27"/>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PAQUETES </a:t>
            </a:r>
            <a:r>
              <a:rPr i="1" lang="es-ES" sz="1400">
                <a:solidFill>
                  <a:srgbClr val="7F7F7F"/>
                </a:solidFill>
              </a:rPr>
              <a:t>[SI Comercio Electrónico]</a:t>
            </a:r>
            <a:endParaRPr i="1">
              <a:solidFill>
                <a:srgbClr val="7F7F7F"/>
              </a:solidFill>
            </a:endParaRPr>
          </a:p>
        </p:txBody>
      </p:sp>
      <p:sp>
        <p:nvSpPr>
          <p:cNvPr id="301" name="Google Shape;301;p27"/>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02" name="Google Shape;302;p27"/>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just">
              <a:spcBef>
                <a:spcPts val="0"/>
              </a:spcBef>
              <a:spcAft>
                <a:spcPts val="0"/>
              </a:spcAft>
              <a:buClr>
                <a:schemeClr val="dk1"/>
              </a:buClr>
              <a:buSzPts val="1200"/>
              <a:buChar char="❑"/>
            </a:pPr>
            <a:r>
              <a:rPr lang="es-ES"/>
              <a:t>Paquetes:</a:t>
            </a:r>
            <a:endParaRPr/>
          </a:p>
          <a:p>
            <a:pPr indent="-177800" lvl="1" marL="444500" rtl="0" algn="just">
              <a:spcBef>
                <a:spcPts val="300"/>
              </a:spcBef>
              <a:spcAft>
                <a:spcPts val="0"/>
              </a:spcAft>
              <a:buClr>
                <a:schemeClr val="dk1"/>
              </a:buClr>
              <a:buSzPts val="1600"/>
              <a:buFont typeface="Noto Sans Symbols"/>
              <a:buChar char="▪"/>
            </a:pPr>
            <a:r>
              <a:rPr b="1" lang="es-ES"/>
              <a:t>Gestión de Usuarios</a:t>
            </a:r>
            <a:r>
              <a:rPr lang="es-ES"/>
              <a:t>: Maneja todo lo relacionado con la autenticación, el perfil del usuario, etc.</a:t>
            </a:r>
            <a:endParaRPr/>
          </a:p>
          <a:p>
            <a:pPr indent="-177800" lvl="1" marL="444500" rtl="0" algn="just">
              <a:spcBef>
                <a:spcPts val="300"/>
              </a:spcBef>
              <a:spcAft>
                <a:spcPts val="0"/>
              </a:spcAft>
              <a:buClr>
                <a:schemeClr val="dk1"/>
              </a:buClr>
              <a:buSzPts val="1600"/>
              <a:buFont typeface="Noto Sans Symbols"/>
              <a:buChar char="▪"/>
            </a:pPr>
            <a:r>
              <a:rPr b="1" lang="es-ES"/>
              <a:t>Gestión de Productos</a:t>
            </a:r>
            <a:r>
              <a:rPr lang="es-ES"/>
              <a:t>: Se encarga de la administración de productos en el catálogo.</a:t>
            </a:r>
            <a:endParaRPr/>
          </a:p>
          <a:p>
            <a:pPr indent="-177800" lvl="1" marL="444500" rtl="0" algn="just">
              <a:spcBef>
                <a:spcPts val="300"/>
              </a:spcBef>
              <a:spcAft>
                <a:spcPts val="0"/>
              </a:spcAft>
              <a:buClr>
                <a:schemeClr val="dk1"/>
              </a:buClr>
              <a:buSzPts val="1600"/>
              <a:buFont typeface="Noto Sans Symbols"/>
              <a:buChar char="▪"/>
            </a:pPr>
            <a:r>
              <a:rPr b="1" lang="es-ES"/>
              <a:t>Gestión de Carrito</a:t>
            </a:r>
            <a:r>
              <a:rPr lang="es-ES"/>
              <a:t>: Maneja las operaciones del carrito de compras.</a:t>
            </a:r>
            <a:endParaRPr/>
          </a:p>
          <a:p>
            <a:pPr indent="-177800" lvl="1" marL="444500" rtl="0" algn="just">
              <a:spcBef>
                <a:spcPts val="300"/>
              </a:spcBef>
              <a:spcAft>
                <a:spcPts val="0"/>
              </a:spcAft>
              <a:buClr>
                <a:schemeClr val="dk1"/>
              </a:buClr>
              <a:buSzPts val="1600"/>
              <a:buFont typeface="Noto Sans Symbols"/>
              <a:buChar char="▪"/>
            </a:pPr>
            <a:r>
              <a:rPr b="1" lang="es-ES"/>
              <a:t>Gestión de Pagos</a:t>
            </a:r>
            <a:r>
              <a:rPr lang="es-ES"/>
              <a:t>: Procesa los pagos y transacciones.</a:t>
            </a:r>
            <a:endParaRPr/>
          </a:p>
          <a:p>
            <a:pPr indent="-177800" lvl="1" marL="444500" rtl="0" algn="just">
              <a:spcBef>
                <a:spcPts val="300"/>
              </a:spcBef>
              <a:spcAft>
                <a:spcPts val="0"/>
              </a:spcAft>
              <a:buClr>
                <a:schemeClr val="dk1"/>
              </a:buClr>
              <a:buSzPts val="1600"/>
              <a:buFont typeface="Noto Sans Symbols"/>
              <a:buChar char="▪"/>
            </a:pPr>
            <a:r>
              <a:rPr b="1" lang="es-ES"/>
              <a:t>Gestión de Envíos</a:t>
            </a:r>
            <a:r>
              <a:rPr lang="es-ES"/>
              <a:t>: Administra la logística de los envíos.</a:t>
            </a:r>
            <a:endParaRPr/>
          </a:p>
          <a:p>
            <a:pPr indent="-266700" lvl="0" marL="266700" rtl="0" algn="just">
              <a:spcBef>
                <a:spcPts val="600"/>
              </a:spcBef>
              <a:spcAft>
                <a:spcPts val="0"/>
              </a:spcAft>
              <a:buClr>
                <a:schemeClr val="dk1"/>
              </a:buClr>
              <a:buSzPts val="1200"/>
              <a:buChar char="❑"/>
            </a:pPr>
            <a:r>
              <a:rPr lang="es-ES"/>
              <a:t>Relaciones:</a:t>
            </a:r>
            <a:endParaRPr/>
          </a:p>
          <a:p>
            <a:pPr indent="-177800" lvl="1" marL="444500" rtl="0" algn="just">
              <a:spcBef>
                <a:spcPts val="300"/>
              </a:spcBef>
              <a:spcAft>
                <a:spcPts val="0"/>
              </a:spcAft>
              <a:buClr>
                <a:schemeClr val="dk1"/>
              </a:buClr>
              <a:buSzPts val="1600"/>
              <a:buFont typeface="Noto Sans Symbols"/>
              <a:buChar char="▪"/>
            </a:pPr>
            <a:r>
              <a:rPr lang="es-ES"/>
              <a:t>Los paquetes están interconectados para reflejar las dependencias entre ellos.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8"/>
          <p:cNvSpPr txBox="1"/>
          <p:nvPr>
            <p:ph idx="1" type="body"/>
          </p:nvPr>
        </p:nvSpPr>
        <p:spPr>
          <a:xfrm>
            <a:off x="475687" y="804863"/>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ESTRUCTURA COMPUESTA </a:t>
            </a:r>
            <a:r>
              <a:rPr i="1" lang="es-ES" sz="1400">
                <a:solidFill>
                  <a:srgbClr val="7F7F7F"/>
                </a:solidFill>
              </a:rPr>
              <a:t>[SI Comercio Electrónico]</a:t>
            </a:r>
            <a:endParaRPr i="1">
              <a:solidFill>
                <a:srgbClr val="7F7F7F"/>
              </a:solidFill>
            </a:endParaRPr>
          </a:p>
        </p:txBody>
      </p:sp>
      <p:sp>
        <p:nvSpPr>
          <p:cNvPr id="309" name="Google Shape;309;p28"/>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10" name="Google Shape;310;p28"/>
          <p:cNvSpPr txBox="1"/>
          <p:nvPr>
            <p:ph idx="4" type="body"/>
          </p:nvPr>
        </p:nvSpPr>
        <p:spPr>
          <a:xfrm>
            <a:off x="475687" y="1169422"/>
            <a:ext cx="8200800" cy="1692000"/>
          </a:xfrm>
          <a:prstGeom prst="rect">
            <a:avLst/>
          </a:prstGeom>
          <a:noFill/>
          <a:ln>
            <a:noFill/>
          </a:ln>
        </p:spPr>
        <p:txBody>
          <a:bodyPr anchorCtr="0" anchor="t" bIns="45700" lIns="91425" spcFirstLastPara="1" rIns="91425" wrap="square" tIns="45700">
            <a:noAutofit/>
          </a:bodyPr>
          <a:lstStyle/>
          <a:p>
            <a:pPr indent="-266700" lvl="0" marL="266700" rtl="0" algn="just">
              <a:spcBef>
                <a:spcPts val="0"/>
              </a:spcBef>
              <a:spcAft>
                <a:spcPts val="0"/>
              </a:spcAft>
              <a:buClr>
                <a:schemeClr val="dk1"/>
              </a:buClr>
              <a:buSzPts val="1200"/>
              <a:buChar char="❑"/>
            </a:pPr>
            <a:r>
              <a:rPr lang="es-ES"/>
              <a:t>Paquetes y Componentes:</a:t>
            </a:r>
            <a:endParaRPr/>
          </a:p>
          <a:p>
            <a:pPr indent="-177800" lvl="1" marL="444500" rtl="0" algn="just">
              <a:spcBef>
                <a:spcPts val="300"/>
              </a:spcBef>
              <a:spcAft>
                <a:spcPts val="0"/>
              </a:spcAft>
              <a:buClr>
                <a:schemeClr val="dk1"/>
              </a:buClr>
              <a:buSzPts val="1600"/>
              <a:buFont typeface="Noto Sans Symbols"/>
              <a:buChar char="▪"/>
            </a:pPr>
            <a:r>
              <a:rPr b="1" lang="es-ES"/>
              <a:t>Gestión de Usuarios</a:t>
            </a:r>
            <a:r>
              <a:rPr lang="es-ES"/>
              <a:t>: Dividido en “Autenticación” y “Perfil”.</a:t>
            </a:r>
            <a:endParaRPr/>
          </a:p>
          <a:p>
            <a:pPr indent="-177800" lvl="1" marL="444500" rtl="0" algn="just">
              <a:spcBef>
                <a:spcPts val="300"/>
              </a:spcBef>
              <a:spcAft>
                <a:spcPts val="0"/>
              </a:spcAft>
              <a:buClr>
                <a:schemeClr val="dk1"/>
              </a:buClr>
              <a:buSzPts val="1600"/>
              <a:buFont typeface="Noto Sans Symbols"/>
              <a:buChar char="▪"/>
            </a:pPr>
            <a:r>
              <a:rPr b="1" lang="es-ES"/>
              <a:t>Gestión de Productos</a:t>
            </a:r>
            <a:r>
              <a:rPr lang="es-ES"/>
              <a:t>: Incluye “Catálogo” e “Inventario”.</a:t>
            </a:r>
            <a:endParaRPr/>
          </a:p>
          <a:p>
            <a:pPr indent="-177800" lvl="1" marL="444500" rtl="0" algn="just">
              <a:spcBef>
                <a:spcPts val="300"/>
              </a:spcBef>
              <a:spcAft>
                <a:spcPts val="0"/>
              </a:spcAft>
              <a:buClr>
                <a:schemeClr val="dk1"/>
              </a:buClr>
              <a:buSzPts val="1600"/>
              <a:buFont typeface="Noto Sans Symbols"/>
              <a:buChar char="▪"/>
            </a:pPr>
            <a:r>
              <a:rPr b="1" lang="es-ES"/>
              <a:t>Gestión de Carrito</a:t>
            </a:r>
            <a:r>
              <a:rPr lang="es-ES"/>
              <a:t>: Compuesto por “Items” y “Total”.</a:t>
            </a:r>
            <a:endParaRPr/>
          </a:p>
          <a:p>
            <a:pPr indent="-177800" lvl="1" marL="444500" rtl="0" algn="just">
              <a:spcBef>
                <a:spcPts val="300"/>
              </a:spcBef>
              <a:spcAft>
                <a:spcPts val="0"/>
              </a:spcAft>
              <a:buClr>
                <a:schemeClr val="dk1"/>
              </a:buClr>
              <a:buSzPts val="1600"/>
              <a:buFont typeface="Noto Sans Symbols"/>
              <a:buChar char="▪"/>
            </a:pPr>
            <a:r>
              <a:rPr b="1" lang="es-ES"/>
              <a:t>Gestión de Pagos</a:t>
            </a:r>
            <a:r>
              <a:rPr lang="es-ES"/>
              <a:t>: Incluye “Transacción” y “Facturación”.</a:t>
            </a:r>
            <a:endParaRPr/>
          </a:p>
          <a:p>
            <a:pPr indent="-177800" lvl="1" marL="444500" rtl="0" algn="just">
              <a:spcBef>
                <a:spcPts val="300"/>
              </a:spcBef>
              <a:spcAft>
                <a:spcPts val="0"/>
              </a:spcAft>
              <a:buClr>
                <a:schemeClr val="dk1"/>
              </a:buClr>
              <a:buSzPts val="1600"/>
              <a:buFont typeface="Noto Sans Symbols"/>
              <a:buChar char="▪"/>
            </a:pPr>
            <a:r>
              <a:rPr b="1" lang="es-ES"/>
              <a:t>Gestión de Envíos</a:t>
            </a:r>
            <a:r>
              <a:rPr lang="es-ES"/>
              <a:t>: Contiene “Logística” y “Rastreo”.</a:t>
            </a:r>
            <a:endParaRPr/>
          </a:p>
        </p:txBody>
      </p:sp>
      <p:pic>
        <p:nvPicPr>
          <p:cNvPr id="311" name="Google Shape;311;p28"/>
          <p:cNvPicPr preferRelativeResize="0"/>
          <p:nvPr>
            <p:ph idx="2" type="pic"/>
          </p:nvPr>
        </p:nvPicPr>
        <p:blipFill rotWithShape="1">
          <a:blip r:embed="rId3">
            <a:alphaModFix/>
          </a:blip>
          <a:srcRect b="38" l="0" r="0" t="39"/>
          <a:stretch/>
        </p:blipFill>
        <p:spPr>
          <a:xfrm>
            <a:off x="475687" y="2877477"/>
            <a:ext cx="8207375" cy="2394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29"/>
          <p:cNvPicPr preferRelativeResize="0"/>
          <p:nvPr>
            <p:ph idx="2" type="pic"/>
          </p:nvPr>
        </p:nvPicPr>
        <p:blipFill rotWithShape="1">
          <a:blip r:embed="rId3">
            <a:alphaModFix/>
          </a:blip>
          <a:srcRect b="374" l="0" r="0" t="373"/>
          <a:stretch/>
        </p:blipFill>
        <p:spPr>
          <a:xfrm>
            <a:off x="4713318" y="804863"/>
            <a:ext cx="4103688" cy="4463362"/>
          </a:xfrm>
          <a:prstGeom prst="rect">
            <a:avLst/>
          </a:prstGeom>
          <a:noFill/>
          <a:ln>
            <a:noFill/>
          </a:ln>
        </p:spPr>
      </p:pic>
      <p:sp>
        <p:nvSpPr>
          <p:cNvPr id="318" name="Google Shape;318;p2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19" name="Google Shape;319;p29"/>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CASOS DE USO </a:t>
            </a:r>
            <a:r>
              <a:rPr i="1" lang="es-ES" sz="1400">
                <a:solidFill>
                  <a:srgbClr val="7F7F7F"/>
                </a:solidFill>
              </a:rPr>
              <a:t>[SI Comercio Electrónico]</a:t>
            </a:r>
            <a:endParaRPr i="1">
              <a:solidFill>
                <a:srgbClr val="7F7F7F"/>
              </a:solidFill>
            </a:endParaRPr>
          </a:p>
        </p:txBody>
      </p:sp>
      <p:sp>
        <p:nvSpPr>
          <p:cNvPr id="320" name="Google Shape;320;p29"/>
          <p:cNvSpPr txBox="1"/>
          <p:nvPr>
            <p:ph idx="4" type="body"/>
          </p:nvPr>
        </p:nvSpPr>
        <p:spPr>
          <a:xfrm>
            <a:off x="468313" y="1177927"/>
            <a:ext cx="3962371"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Actores:</a:t>
            </a:r>
            <a:endParaRPr/>
          </a:p>
          <a:p>
            <a:pPr indent="-179387" lvl="1" marL="446088" rtl="0" algn="l">
              <a:spcBef>
                <a:spcPts val="600"/>
              </a:spcBef>
              <a:spcAft>
                <a:spcPts val="0"/>
              </a:spcAft>
              <a:buClr>
                <a:schemeClr val="dk1"/>
              </a:buClr>
              <a:buSzPts val="1600"/>
              <a:buFont typeface="Noto Sans Symbols"/>
              <a:buChar char="▪"/>
            </a:pPr>
            <a:r>
              <a:rPr b="1" lang="es-ES"/>
              <a:t>Cliente</a:t>
            </a:r>
            <a:r>
              <a:rPr lang="es-ES"/>
              <a:t>: Es el usuario que interactúa con el sistema para buscar productos, añadirlos al carrito y realizar pagos.</a:t>
            </a:r>
            <a:endParaRPr/>
          </a:p>
          <a:p>
            <a:pPr indent="-179387" lvl="1" marL="446088" rtl="0" algn="l">
              <a:spcBef>
                <a:spcPts val="600"/>
              </a:spcBef>
              <a:spcAft>
                <a:spcPts val="0"/>
              </a:spcAft>
              <a:buClr>
                <a:schemeClr val="dk1"/>
              </a:buClr>
              <a:buSzPts val="1600"/>
              <a:buFont typeface="Noto Sans Symbols"/>
              <a:buChar char="▪"/>
            </a:pPr>
            <a:r>
              <a:rPr b="1" lang="es-ES"/>
              <a:t>Vendedor</a:t>
            </a:r>
            <a:r>
              <a:rPr lang="es-ES"/>
              <a:t>: Es el encargado de verificar el stock de los productos y procesar los pedidos.</a:t>
            </a:r>
            <a:endParaRPr/>
          </a:p>
          <a:p>
            <a:pPr indent="-179387" lvl="1" marL="446088" rtl="0" algn="l">
              <a:spcBef>
                <a:spcPts val="300"/>
              </a:spcBef>
              <a:spcAft>
                <a:spcPts val="0"/>
              </a:spcAft>
              <a:buClr>
                <a:schemeClr val="dk1"/>
              </a:buClr>
              <a:buSzPts val="1600"/>
              <a:buFont typeface="Noto Sans Symbols"/>
              <a:buChar char="▪"/>
            </a:pPr>
            <a:r>
              <a:rPr b="1" lang="es-ES"/>
              <a:t>Sistema de Pago</a:t>
            </a:r>
            <a:r>
              <a:rPr lang="es-ES"/>
              <a:t>: Es un sistema externo que se encarga de procesar los pagos.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pic>
        <p:nvPicPr>
          <p:cNvPr id="326" name="Google Shape;326;p30"/>
          <p:cNvPicPr preferRelativeResize="0"/>
          <p:nvPr>
            <p:ph idx="2" type="pic"/>
          </p:nvPr>
        </p:nvPicPr>
        <p:blipFill rotWithShape="1">
          <a:blip r:embed="rId3">
            <a:alphaModFix/>
          </a:blip>
          <a:srcRect b="374" l="0" r="0" t="373"/>
          <a:stretch/>
        </p:blipFill>
        <p:spPr>
          <a:xfrm>
            <a:off x="4572000" y="804863"/>
            <a:ext cx="4103688" cy="4463362"/>
          </a:xfrm>
          <a:prstGeom prst="rect">
            <a:avLst/>
          </a:prstGeom>
          <a:noFill/>
          <a:ln>
            <a:noFill/>
          </a:ln>
        </p:spPr>
      </p:pic>
      <p:sp>
        <p:nvSpPr>
          <p:cNvPr id="327" name="Google Shape;327;p3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7" lvl="0" marL="274637"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a:p>
            <a:pPr indent="-274638" lvl="0" marL="274638" rtl="0" algn="l">
              <a:spcBef>
                <a:spcPts val="0"/>
              </a:spcBef>
              <a:spcAft>
                <a:spcPts val="0"/>
              </a:spcAft>
              <a:buClr>
                <a:srgbClr val="0070C0"/>
              </a:buClr>
              <a:buSzPts val="1800"/>
              <a:buNone/>
            </a:pPr>
            <a:r>
              <a:t/>
            </a:r>
            <a:endParaRPr>
              <a:solidFill>
                <a:srgbClr val="0070C0"/>
              </a:solidFill>
            </a:endParaRPr>
          </a:p>
        </p:txBody>
      </p:sp>
      <p:sp>
        <p:nvSpPr>
          <p:cNvPr id="328" name="Google Shape;328;p30"/>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CASOS DE USO </a:t>
            </a:r>
            <a:r>
              <a:rPr i="1" lang="es-ES" sz="1400">
                <a:solidFill>
                  <a:srgbClr val="7F7F7F"/>
                </a:solidFill>
              </a:rPr>
              <a:t>[SI Comercio Electrónico]</a:t>
            </a:r>
            <a:endParaRPr i="1">
              <a:solidFill>
                <a:srgbClr val="7F7F7F"/>
              </a:solidFill>
            </a:endParaRPr>
          </a:p>
        </p:txBody>
      </p:sp>
      <p:sp>
        <p:nvSpPr>
          <p:cNvPr id="329" name="Google Shape;329;p30"/>
          <p:cNvSpPr txBox="1"/>
          <p:nvPr>
            <p:ph idx="4" type="body"/>
          </p:nvPr>
        </p:nvSpPr>
        <p:spPr>
          <a:xfrm>
            <a:off x="468313" y="1177927"/>
            <a:ext cx="4103687"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Casos de Uso:</a:t>
            </a:r>
            <a:endParaRPr/>
          </a:p>
          <a:p>
            <a:pPr indent="-179387" lvl="1" marL="446088" rtl="0" algn="l">
              <a:spcBef>
                <a:spcPts val="300"/>
              </a:spcBef>
              <a:spcAft>
                <a:spcPts val="0"/>
              </a:spcAft>
              <a:buClr>
                <a:schemeClr val="dk1"/>
              </a:buClr>
              <a:buSzPts val="1600"/>
              <a:buFont typeface="Noto Sans Symbols"/>
              <a:buChar char="▪"/>
            </a:pPr>
            <a:r>
              <a:rPr b="1" lang="es-ES"/>
              <a:t>Buscar Producto</a:t>
            </a:r>
            <a:r>
              <a:rPr lang="es-ES"/>
              <a:t>: El cliente puede buscar productos en el sistema.</a:t>
            </a:r>
            <a:endParaRPr/>
          </a:p>
          <a:p>
            <a:pPr indent="-179387" lvl="1" marL="446088" rtl="0" algn="l">
              <a:spcBef>
                <a:spcPts val="300"/>
              </a:spcBef>
              <a:spcAft>
                <a:spcPts val="0"/>
              </a:spcAft>
              <a:buClr>
                <a:schemeClr val="dk1"/>
              </a:buClr>
              <a:buSzPts val="1600"/>
              <a:buFont typeface="Noto Sans Symbols"/>
              <a:buChar char="▪"/>
            </a:pPr>
            <a:r>
              <a:rPr b="1" lang="es-ES"/>
              <a:t>Añadir al Carrito</a:t>
            </a:r>
            <a:r>
              <a:rPr lang="es-ES"/>
              <a:t>: El cliente puede añadir productos al carrito de compras.</a:t>
            </a:r>
            <a:endParaRPr/>
          </a:p>
          <a:p>
            <a:pPr indent="-179387" lvl="1" marL="446088" rtl="0" algn="l">
              <a:spcBef>
                <a:spcPts val="300"/>
              </a:spcBef>
              <a:spcAft>
                <a:spcPts val="0"/>
              </a:spcAft>
              <a:buClr>
                <a:schemeClr val="dk1"/>
              </a:buClr>
              <a:buSzPts val="1600"/>
              <a:buFont typeface="Noto Sans Symbols"/>
              <a:buChar char="▪"/>
            </a:pPr>
            <a:r>
              <a:rPr b="1" lang="es-ES"/>
              <a:t>Realizar Pago</a:t>
            </a:r>
            <a:r>
              <a:rPr lang="es-ES"/>
              <a:t>: El cliente puede realizar el pago de los productos en el carrito.</a:t>
            </a:r>
            <a:endParaRPr/>
          </a:p>
          <a:p>
            <a:pPr indent="-179387" lvl="1" marL="446088" rtl="0" algn="l">
              <a:spcBef>
                <a:spcPts val="300"/>
              </a:spcBef>
              <a:spcAft>
                <a:spcPts val="0"/>
              </a:spcAft>
              <a:buClr>
                <a:schemeClr val="dk1"/>
              </a:buClr>
              <a:buSzPts val="1600"/>
              <a:buFont typeface="Noto Sans Symbols"/>
              <a:buChar char="▪"/>
            </a:pPr>
            <a:r>
              <a:rPr b="1" lang="es-ES"/>
              <a:t>Verificar Stock</a:t>
            </a:r>
            <a:r>
              <a:rPr lang="es-ES"/>
              <a:t>: El vendedor verifica la disponibilidad de los productos.</a:t>
            </a:r>
            <a:endParaRPr/>
          </a:p>
          <a:p>
            <a:pPr indent="-179387" lvl="1" marL="446088" rtl="0" algn="l">
              <a:spcBef>
                <a:spcPts val="300"/>
              </a:spcBef>
              <a:spcAft>
                <a:spcPts val="0"/>
              </a:spcAft>
              <a:buClr>
                <a:schemeClr val="dk1"/>
              </a:buClr>
              <a:buSzPts val="1600"/>
              <a:buFont typeface="Noto Sans Symbols"/>
              <a:buChar char="▪"/>
            </a:pPr>
            <a:r>
              <a:rPr b="1" lang="es-ES"/>
              <a:t>Procesar Pedido</a:t>
            </a:r>
            <a:r>
              <a:rPr lang="es-ES"/>
              <a:t>: El vendedor procesa los pedidos realizados.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pic>
        <p:nvPicPr>
          <p:cNvPr id="336" name="Google Shape;336;p31"/>
          <p:cNvPicPr preferRelativeResize="0"/>
          <p:nvPr>
            <p:ph idx="2" type="pic"/>
          </p:nvPr>
        </p:nvPicPr>
        <p:blipFill rotWithShape="1">
          <a:blip r:embed="rId3">
            <a:alphaModFix/>
          </a:blip>
          <a:srcRect b="367" l="6968" r="0" t="377"/>
          <a:stretch/>
        </p:blipFill>
        <p:spPr>
          <a:xfrm>
            <a:off x="5481900" y="857225"/>
            <a:ext cx="3421900" cy="4000551"/>
          </a:xfrm>
          <a:prstGeom prst="rect">
            <a:avLst/>
          </a:prstGeom>
          <a:noFill/>
          <a:ln>
            <a:noFill/>
          </a:ln>
        </p:spPr>
      </p:pic>
      <p:sp>
        <p:nvSpPr>
          <p:cNvPr id="337" name="Google Shape;337;p31"/>
          <p:cNvSpPr txBox="1"/>
          <p:nvPr>
            <p:ph idx="1" type="body"/>
          </p:nvPr>
        </p:nvSpPr>
        <p:spPr>
          <a:xfrm>
            <a:off x="468312" y="680230"/>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SECUENCIA </a:t>
            </a:r>
            <a:r>
              <a:rPr i="1" lang="es-ES" sz="1400">
                <a:solidFill>
                  <a:srgbClr val="7F7F7F"/>
                </a:solidFill>
              </a:rPr>
              <a:t>[SI Comercio Electrónico]</a:t>
            </a:r>
            <a:endParaRPr i="1">
              <a:solidFill>
                <a:srgbClr val="7F7F7F"/>
              </a:solidFill>
            </a:endParaRPr>
          </a:p>
        </p:txBody>
      </p:sp>
      <p:sp>
        <p:nvSpPr>
          <p:cNvPr id="338" name="Google Shape;338;p31"/>
          <p:cNvSpPr txBox="1"/>
          <p:nvPr>
            <p:ph idx="4" type="body"/>
          </p:nvPr>
        </p:nvSpPr>
        <p:spPr>
          <a:xfrm>
            <a:off x="354565" y="1034242"/>
            <a:ext cx="5165085"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Flujo de interacción:</a:t>
            </a:r>
            <a:endParaRPr/>
          </a:p>
          <a:p>
            <a:pPr indent="-177800" lvl="1" marL="444500" rtl="0" algn="l">
              <a:spcBef>
                <a:spcPts val="300"/>
              </a:spcBef>
              <a:spcAft>
                <a:spcPts val="0"/>
              </a:spcAft>
              <a:buClr>
                <a:schemeClr val="dk1"/>
              </a:buClr>
              <a:buSzPts val="1600"/>
              <a:buFont typeface="Calibri"/>
              <a:buAutoNum type="arabicPeriod"/>
            </a:pPr>
            <a:r>
              <a:rPr b="1" lang="es-ES"/>
              <a:t>Buscar Producto</a:t>
            </a:r>
            <a:r>
              <a:rPr lang="es-ES"/>
              <a:t>: El cliente inicia una búsqueda de producto en el sistema.</a:t>
            </a:r>
            <a:endParaRPr/>
          </a:p>
          <a:p>
            <a:pPr indent="-177800" lvl="1" marL="444500" rtl="0" algn="l">
              <a:spcBef>
                <a:spcPts val="300"/>
              </a:spcBef>
              <a:spcAft>
                <a:spcPts val="0"/>
              </a:spcAft>
              <a:buClr>
                <a:schemeClr val="dk1"/>
              </a:buClr>
              <a:buSzPts val="1600"/>
              <a:buFont typeface="Calibri"/>
              <a:buAutoNum type="arabicPeriod"/>
            </a:pPr>
            <a:r>
              <a:rPr b="1" lang="es-ES"/>
              <a:t>Verificar Stock</a:t>
            </a:r>
            <a:r>
              <a:rPr lang="es-ES"/>
              <a:t>: El sistema consulta al vendedor para verificar el stock del producto.</a:t>
            </a:r>
            <a:endParaRPr/>
          </a:p>
          <a:p>
            <a:pPr indent="-177800" lvl="1" marL="444500" rtl="0" algn="l">
              <a:spcBef>
                <a:spcPts val="300"/>
              </a:spcBef>
              <a:spcAft>
                <a:spcPts val="0"/>
              </a:spcAft>
              <a:buClr>
                <a:schemeClr val="dk1"/>
              </a:buClr>
              <a:buSzPts val="1600"/>
              <a:buFont typeface="Calibri"/>
              <a:buAutoNum type="arabicPeriod"/>
            </a:pPr>
            <a:r>
              <a:rPr b="1" lang="es-ES"/>
              <a:t>Mostrar Productos</a:t>
            </a:r>
            <a:r>
              <a:rPr lang="es-ES"/>
              <a:t>: El sistema muestra los productos disponibles al cliente.</a:t>
            </a:r>
            <a:endParaRPr/>
          </a:p>
          <a:p>
            <a:pPr indent="-177800" lvl="1" marL="444500" rtl="0" algn="l">
              <a:spcBef>
                <a:spcPts val="300"/>
              </a:spcBef>
              <a:spcAft>
                <a:spcPts val="0"/>
              </a:spcAft>
              <a:buClr>
                <a:schemeClr val="dk1"/>
              </a:buClr>
              <a:buSzPts val="1600"/>
              <a:buFont typeface="Calibri"/>
              <a:buAutoNum type="arabicPeriod"/>
            </a:pPr>
            <a:r>
              <a:rPr b="1" lang="es-ES"/>
              <a:t>Añadir al Carrito</a:t>
            </a:r>
            <a:r>
              <a:rPr lang="es-ES"/>
              <a:t>: El cliente añade productos al carrito.</a:t>
            </a:r>
            <a:endParaRPr/>
          </a:p>
          <a:p>
            <a:pPr indent="-177800" lvl="1" marL="444500" rtl="0" algn="l">
              <a:spcBef>
                <a:spcPts val="300"/>
              </a:spcBef>
              <a:spcAft>
                <a:spcPts val="0"/>
              </a:spcAft>
              <a:buClr>
                <a:schemeClr val="dk1"/>
              </a:buClr>
              <a:buSzPts val="1600"/>
              <a:buFont typeface="Calibri"/>
              <a:buAutoNum type="arabicPeriod"/>
            </a:pPr>
            <a:r>
              <a:rPr b="1" lang="es-ES"/>
              <a:t>Realizar Pago</a:t>
            </a:r>
            <a:r>
              <a:rPr lang="es-ES"/>
              <a:t>: El cliente decide realizar el pago.</a:t>
            </a:r>
            <a:endParaRPr/>
          </a:p>
          <a:p>
            <a:pPr indent="-177800" lvl="1" marL="444500" rtl="0" algn="l">
              <a:spcBef>
                <a:spcPts val="300"/>
              </a:spcBef>
              <a:spcAft>
                <a:spcPts val="0"/>
              </a:spcAft>
              <a:buClr>
                <a:schemeClr val="dk1"/>
              </a:buClr>
              <a:buSzPts val="1600"/>
              <a:buFont typeface="Calibri"/>
              <a:buAutoNum type="arabicPeriod"/>
            </a:pPr>
            <a:r>
              <a:rPr b="1" lang="es-ES"/>
              <a:t>Procesar Transacción</a:t>
            </a:r>
            <a:r>
              <a:rPr lang="es-ES"/>
              <a:t>: El sistema interactúa con el sistema de pago para procesar la transacción.</a:t>
            </a:r>
            <a:endParaRPr/>
          </a:p>
          <a:p>
            <a:pPr indent="-177800" lvl="1" marL="444500" rtl="0" algn="l">
              <a:spcBef>
                <a:spcPts val="300"/>
              </a:spcBef>
              <a:spcAft>
                <a:spcPts val="0"/>
              </a:spcAft>
              <a:buClr>
                <a:schemeClr val="dk1"/>
              </a:buClr>
              <a:buSzPts val="1600"/>
              <a:buFont typeface="Calibri"/>
              <a:buAutoNum type="arabicPeriod"/>
            </a:pPr>
            <a:r>
              <a:rPr b="1" lang="es-ES"/>
              <a:t>Procesar Pedido</a:t>
            </a:r>
            <a:r>
              <a:rPr lang="es-ES"/>
              <a:t>: Una vez que la transacción es exitosa, el vendedor procesa el pedido.</a:t>
            </a:r>
            <a:endParaRPr/>
          </a:p>
          <a:p>
            <a:pPr indent="-177800" lvl="1" marL="444500" rtl="0" algn="l">
              <a:spcBef>
                <a:spcPts val="300"/>
              </a:spcBef>
              <a:spcAft>
                <a:spcPts val="0"/>
              </a:spcAft>
              <a:buClr>
                <a:schemeClr val="dk1"/>
              </a:buClr>
              <a:buSzPts val="1600"/>
              <a:buFont typeface="Calibri"/>
              <a:buAutoNum type="arabicPeriod"/>
            </a:pPr>
            <a:r>
              <a:rPr b="1" lang="es-ES"/>
              <a:t>Confirmar Pedido</a:t>
            </a:r>
            <a:r>
              <a:rPr lang="es-ES"/>
              <a:t>: Finalmente, el sistema confirma el pedido al cliente.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32"/>
          <p:cNvPicPr preferRelativeResize="0"/>
          <p:nvPr>
            <p:ph idx="2" type="pic"/>
          </p:nvPr>
        </p:nvPicPr>
        <p:blipFill rotWithShape="1">
          <a:blip r:embed="rId3">
            <a:alphaModFix/>
          </a:blip>
          <a:srcRect b="367" l="0" r="12018" t="377"/>
          <a:stretch/>
        </p:blipFill>
        <p:spPr>
          <a:xfrm>
            <a:off x="5207925" y="702025"/>
            <a:ext cx="3610450" cy="4463350"/>
          </a:xfrm>
          <a:prstGeom prst="rect">
            <a:avLst/>
          </a:prstGeom>
          <a:noFill/>
          <a:ln>
            <a:noFill/>
          </a:ln>
        </p:spPr>
      </p:pic>
      <p:sp>
        <p:nvSpPr>
          <p:cNvPr id="345" name="Google Shape;345;p32"/>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ACTIVIDADES </a:t>
            </a:r>
            <a:r>
              <a:rPr i="1" lang="es-ES" sz="1400">
                <a:solidFill>
                  <a:srgbClr val="7F7F7F"/>
                </a:solidFill>
              </a:rPr>
              <a:t>[SI Comercio Electrónico]</a:t>
            </a:r>
            <a:endParaRPr i="1">
              <a:solidFill>
                <a:srgbClr val="7F7F7F"/>
              </a:solidFill>
            </a:endParaRPr>
          </a:p>
        </p:txBody>
      </p:sp>
      <p:sp>
        <p:nvSpPr>
          <p:cNvPr id="346" name="Google Shape;346;p3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47" name="Google Shape;347;p32"/>
          <p:cNvSpPr txBox="1"/>
          <p:nvPr>
            <p:ph idx="4" type="body"/>
          </p:nvPr>
        </p:nvSpPr>
        <p:spPr>
          <a:xfrm>
            <a:off x="468325" y="1177925"/>
            <a:ext cx="5169000"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Flujo de actividades:</a:t>
            </a:r>
            <a:endParaRPr/>
          </a:p>
          <a:p>
            <a:pPr indent="-177800" lvl="1" marL="444500" rtl="0" algn="l">
              <a:spcBef>
                <a:spcPts val="300"/>
              </a:spcBef>
              <a:spcAft>
                <a:spcPts val="0"/>
              </a:spcAft>
              <a:buClr>
                <a:schemeClr val="dk1"/>
              </a:buClr>
              <a:buSzPts val="1600"/>
              <a:buFont typeface="Calibri"/>
              <a:buAutoNum type="arabicPeriod"/>
            </a:pPr>
            <a:r>
              <a:rPr b="1" lang="es-ES"/>
              <a:t>Iniciar sesión</a:t>
            </a:r>
            <a:r>
              <a:rPr lang="es-ES"/>
              <a:t>: El usuario intenta iniciar sesión en el sistema.</a:t>
            </a:r>
            <a:endParaRPr/>
          </a:p>
          <a:p>
            <a:pPr indent="-177800" lvl="1" marL="444500" rtl="0" algn="l">
              <a:spcBef>
                <a:spcPts val="300"/>
              </a:spcBef>
              <a:spcAft>
                <a:spcPts val="0"/>
              </a:spcAft>
              <a:buClr>
                <a:schemeClr val="dk1"/>
              </a:buClr>
              <a:buSzPts val="1600"/>
              <a:buFont typeface="Calibri"/>
              <a:buAutoNum type="arabicPeriod"/>
            </a:pPr>
            <a:r>
              <a:rPr b="1" lang="es-ES"/>
              <a:t>Verificación de autenticación</a:t>
            </a:r>
            <a:r>
              <a:rPr lang="es-ES"/>
              <a:t>: Si el usuario ya está autenticado, puede acceder directamente al catálogo de productos. De lo contrario, debe registrarse.</a:t>
            </a:r>
            <a:endParaRPr/>
          </a:p>
          <a:p>
            <a:pPr indent="-177800" lvl="1" marL="444500" rtl="0" algn="l">
              <a:spcBef>
                <a:spcPts val="300"/>
              </a:spcBef>
              <a:spcAft>
                <a:spcPts val="0"/>
              </a:spcAft>
              <a:buClr>
                <a:schemeClr val="dk1"/>
              </a:buClr>
              <a:buSzPts val="1600"/>
              <a:buFont typeface="Calibri"/>
              <a:buAutoNum type="arabicPeriod"/>
            </a:pPr>
            <a:r>
              <a:rPr b="1" lang="es-ES"/>
              <a:t>Ver catálogo de productos</a:t>
            </a:r>
            <a:r>
              <a:rPr lang="es-ES"/>
              <a:t>: El usuario navega por el catálogo de productos disponibles.</a:t>
            </a:r>
            <a:endParaRPr/>
          </a:p>
          <a:p>
            <a:pPr indent="-177800" lvl="1" marL="444500" rtl="0" algn="l">
              <a:spcBef>
                <a:spcPts val="300"/>
              </a:spcBef>
              <a:spcAft>
                <a:spcPts val="0"/>
              </a:spcAft>
              <a:buClr>
                <a:schemeClr val="dk1"/>
              </a:buClr>
              <a:buSzPts val="1600"/>
              <a:buFont typeface="Calibri"/>
              <a:buAutoNum type="arabicPeriod"/>
            </a:pPr>
            <a:r>
              <a:rPr b="1" lang="es-ES"/>
              <a:t>Seleccionar pro</a:t>
            </a:r>
            <a:r>
              <a:rPr lang="es-ES"/>
              <a:t>ductos: El usuario selecciona los productos que desea comprar.</a:t>
            </a:r>
            <a:endParaRPr/>
          </a:p>
          <a:p>
            <a:pPr indent="-177800" lvl="1" marL="444500" rtl="0" algn="l">
              <a:spcBef>
                <a:spcPts val="300"/>
              </a:spcBef>
              <a:spcAft>
                <a:spcPts val="0"/>
              </a:spcAft>
              <a:buClr>
                <a:schemeClr val="dk1"/>
              </a:buClr>
              <a:buSzPts val="1600"/>
              <a:buFont typeface="Calibri"/>
              <a:buAutoNum type="arabicPeriod"/>
            </a:pPr>
            <a:r>
              <a:rPr b="1" lang="es-ES"/>
              <a:t>Agregar al carrito</a:t>
            </a:r>
            <a:r>
              <a:rPr lang="es-ES"/>
              <a:t>: Los productos seleccionados se agregan al carrito de compras.</a:t>
            </a:r>
            <a:endParaRPr/>
          </a:p>
          <a:p>
            <a:pPr indent="-177800" lvl="1" marL="444500" rtl="0" algn="l">
              <a:spcBef>
                <a:spcPts val="300"/>
              </a:spcBef>
              <a:spcAft>
                <a:spcPts val="0"/>
              </a:spcAft>
              <a:buClr>
                <a:schemeClr val="dk1"/>
              </a:buClr>
              <a:buSzPts val="1600"/>
              <a:buFont typeface="Calibri"/>
              <a:buAutoNum type="arabicPeriod"/>
            </a:pPr>
            <a:r>
              <a:rPr b="1" lang="es-ES"/>
              <a:t>Finalizar compra</a:t>
            </a:r>
            <a:r>
              <a:rPr lang="es-ES"/>
              <a:t>: Si el usuario decide finalizar la compra, procede al pago y confirma el envío. De lo contrario, puede continuar comprando.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3"/>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ESTADO </a:t>
            </a:r>
            <a:r>
              <a:rPr i="1" lang="es-ES" sz="1400">
                <a:solidFill>
                  <a:srgbClr val="7F7F7F"/>
                </a:solidFill>
              </a:rPr>
              <a:t>[SI Comercio Electrónico]</a:t>
            </a:r>
            <a:endParaRPr i="1">
              <a:solidFill>
                <a:srgbClr val="7F7F7F"/>
              </a:solidFill>
            </a:endParaRPr>
          </a:p>
        </p:txBody>
      </p:sp>
      <p:sp>
        <p:nvSpPr>
          <p:cNvPr id="354" name="Google Shape;354;p3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55" name="Google Shape;355;p33"/>
          <p:cNvSpPr txBox="1"/>
          <p:nvPr>
            <p:ph idx="4" type="body"/>
          </p:nvPr>
        </p:nvSpPr>
        <p:spPr>
          <a:xfrm>
            <a:off x="468313" y="1177927"/>
            <a:ext cx="5824422" cy="4096800"/>
          </a:xfrm>
          <a:prstGeom prst="rect">
            <a:avLst/>
          </a:prstGeom>
          <a:noFill/>
          <a:ln>
            <a:noFill/>
          </a:ln>
        </p:spPr>
        <p:txBody>
          <a:bodyPr anchorCtr="0" anchor="t" bIns="45700" lIns="91425" spcFirstLastPara="1" rIns="91425" wrap="square" tIns="45700">
            <a:noAutofit/>
          </a:bodyPr>
          <a:lstStyle/>
          <a:p>
            <a:pPr indent="-266700" lvl="0" marL="266700" rtl="0" algn="just">
              <a:spcBef>
                <a:spcPts val="0"/>
              </a:spcBef>
              <a:spcAft>
                <a:spcPts val="0"/>
              </a:spcAft>
              <a:buClr>
                <a:schemeClr val="dk1"/>
              </a:buClr>
              <a:buSzPts val="1200"/>
              <a:buChar char="❑"/>
            </a:pPr>
            <a:r>
              <a:rPr lang="es-ES"/>
              <a:t>Estados Principales:</a:t>
            </a:r>
            <a:endParaRPr/>
          </a:p>
          <a:p>
            <a:pPr indent="-177800" lvl="1" marL="444500" rtl="0" algn="just">
              <a:spcBef>
                <a:spcPts val="300"/>
              </a:spcBef>
              <a:spcAft>
                <a:spcPts val="0"/>
              </a:spcAft>
              <a:buClr>
                <a:schemeClr val="dk1"/>
              </a:buClr>
              <a:buSzPts val="1600"/>
              <a:buFont typeface="Noto Sans Symbols"/>
              <a:buChar char="▪"/>
            </a:pPr>
            <a:r>
              <a:rPr b="1" lang="es-ES"/>
              <a:t>NoRegistrado</a:t>
            </a:r>
            <a:r>
              <a:rPr lang="es-ES"/>
              <a:t>: El usuario aún no se ha registrado.</a:t>
            </a:r>
            <a:endParaRPr/>
          </a:p>
          <a:p>
            <a:pPr indent="-177800" lvl="1" marL="444500" rtl="0" algn="just">
              <a:spcBef>
                <a:spcPts val="300"/>
              </a:spcBef>
              <a:spcAft>
                <a:spcPts val="0"/>
              </a:spcAft>
              <a:buClr>
                <a:schemeClr val="dk1"/>
              </a:buClr>
              <a:buSzPts val="1600"/>
              <a:buFont typeface="Noto Sans Symbols"/>
              <a:buChar char="▪"/>
            </a:pPr>
            <a:r>
              <a:rPr b="1" lang="es-ES"/>
              <a:t>Registrado</a:t>
            </a:r>
            <a:r>
              <a:rPr lang="es-ES"/>
              <a:t>: El usuario se ha registrado pero no ha iniciado sesión.</a:t>
            </a:r>
            <a:endParaRPr/>
          </a:p>
          <a:p>
            <a:pPr indent="-177800" lvl="1" marL="444500" rtl="0" algn="just">
              <a:spcBef>
                <a:spcPts val="300"/>
              </a:spcBef>
              <a:spcAft>
                <a:spcPts val="0"/>
              </a:spcAft>
              <a:buClr>
                <a:schemeClr val="dk1"/>
              </a:buClr>
              <a:buSzPts val="1600"/>
              <a:buFont typeface="Noto Sans Symbols"/>
              <a:buChar char="▪"/>
            </a:pPr>
            <a:r>
              <a:rPr b="1" lang="es-ES"/>
              <a:t>Autenticado</a:t>
            </a:r>
            <a:r>
              <a:rPr lang="es-ES"/>
              <a:t>: El usuario ha iniciado sesión.</a:t>
            </a:r>
            <a:endParaRPr/>
          </a:p>
          <a:p>
            <a:pPr indent="-266700" lvl="0" marL="266700" rtl="0" algn="just">
              <a:spcBef>
                <a:spcPts val="600"/>
              </a:spcBef>
              <a:spcAft>
                <a:spcPts val="0"/>
              </a:spcAft>
              <a:buClr>
                <a:schemeClr val="dk1"/>
              </a:buClr>
              <a:buSzPts val="1200"/>
              <a:buChar char="❑"/>
            </a:pPr>
            <a:r>
              <a:rPr lang="es-ES"/>
              <a:t>Subestados de “Autenticado”:</a:t>
            </a:r>
            <a:endParaRPr/>
          </a:p>
          <a:p>
            <a:pPr indent="-177800" lvl="1" marL="444500" rtl="0" algn="just">
              <a:spcBef>
                <a:spcPts val="300"/>
              </a:spcBef>
              <a:spcAft>
                <a:spcPts val="0"/>
              </a:spcAft>
              <a:buClr>
                <a:schemeClr val="dk1"/>
              </a:buClr>
              <a:buSzPts val="1600"/>
              <a:buFont typeface="Noto Sans Symbols"/>
              <a:buChar char="▪"/>
            </a:pPr>
            <a:r>
              <a:rPr b="1" lang="es-ES"/>
              <a:t>Navegando</a:t>
            </a:r>
            <a:r>
              <a:rPr lang="es-ES"/>
              <a:t>: El usuario está navegando por el catálogo.</a:t>
            </a:r>
            <a:endParaRPr/>
          </a:p>
          <a:p>
            <a:pPr indent="-177800" lvl="1" marL="444500" rtl="0" algn="just">
              <a:spcBef>
                <a:spcPts val="300"/>
              </a:spcBef>
              <a:spcAft>
                <a:spcPts val="0"/>
              </a:spcAft>
              <a:buClr>
                <a:schemeClr val="dk1"/>
              </a:buClr>
              <a:buSzPts val="1600"/>
              <a:buFont typeface="Noto Sans Symbols"/>
              <a:buChar char="▪"/>
            </a:pPr>
            <a:r>
              <a:rPr b="1" lang="es-ES"/>
              <a:t>Carrito</a:t>
            </a:r>
            <a:r>
              <a:rPr lang="es-ES"/>
              <a:t>: El usuario ha añadido productos al carrito.</a:t>
            </a:r>
            <a:endParaRPr/>
          </a:p>
          <a:p>
            <a:pPr indent="-177800" lvl="1" marL="444500" rtl="0" algn="just">
              <a:spcBef>
                <a:spcPts val="300"/>
              </a:spcBef>
              <a:spcAft>
                <a:spcPts val="0"/>
              </a:spcAft>
              <a:buClr>
                <a:schemeClr val="dk1"/>
              </a:buClr>
              <a:buSzPts val="1600"/>
              <a:buFont typeface="Noto Sans Symbols"/>
              <a:buChar char="▪"/>
            </a:pPr>
            <a:r>
              <a:rPr b="1" lang="es-ES"/>
              <a:t>Pago</a:t>
            </a:r>
            <a:r>
              <a:rPr lang="es-ES"/>
              <a:t>: El usuario está en el proceso de pago.</a:t>
            </a:r>
            <a:endParaRPr/>
          </a:p>
          <a:p>
            <a:pPr indent="-177800" lvl="1" marL="444500" rtl="0" algn="just">
              <a:spcBef>
                <a:spcPts val="300"/>
              </a:spcBef>
              <a:spcAft>
                <a:spcPts val="0"/>
              </a:spcAft>
              <a:buClr>
                <a:schemeClr val="dk1"/>
              </a:buClr>
              <a:buSzPts val="1600"/>
              <a:buFont typeface="Noto Sans Symbols"/>
              <a:buChar char="▪"/>
            </a:pPr>
            <a:r>
              <a:rPr b="1" lang="es-ES"/>
              <a:t>Confirmado</a:t>
            </a:r>
            <a:r>
              <a:rPr lang="es-ES"/>
              <a:t>: La compra ha sido confirmada.</a:t>
            </a:r>
            <a:endParaRPr/>
          </a:p>
          <a:p>
            <a:pPr indent="-266700" lvl="0" marL="266700" rtl="0" algn="just">
              <a:spcBef>
                <a:spcPts val="600"/>
              </a:spcBef>
              <a:spcAft>
                <a:spcPts val="0"/>
              </a:spcAft>
              <a:buClr>
                <a:schemeClr val="dk1"/>
              </a:buClr>
              <a:buSzPts val="1200"/>
              <a:buChar char="❑"/>
            </a:pPr>
            <a:r>
              <a:rPr lang="es-ES"/>
              <a:t>Transiciones:</a:t>
            </a:r>
            <a:endParaRPr/>
          </a:p>
          <a:p>
            <a:pPr indent="-177800" lvl="1" marL="444500" rtl="0" algn="just">
              <a:spcBef>
                <a:spcPts val="300"/>
              </a:spcBef>
              <a:spcAft>
                <a:spcPts val="0"/>
              </a:spcAft>
              <a:buClr>
                <a:schemeClr val="dk1"/>
              </a:buClr>
              <a:buSzPts val="1600"/>
              <a:buFont typeface="Noto Sans Symbols"/>
              <a:buChar char="▪"/>
            </a:pPr>
            <a:r>
              <a:rPr lang="es-ES"/>
              <a:t>Las flechas representan las transiciones entre los estados, generalmente desencadenadas por alguna acción del usuario.</a:t>
            </a:r>
            <a:endParaRPr/>
          </a:p>
        </p:txBody>
      </p:sp>
      <p:pic>
        <p:nvPicPr>
          <p:cNvPr id="356" name="Google Shape;356;p33"/>
          <p:cNvPicPr preferRelativeResize="0"/>
          <p:nvPr/>
        </p:nvPicPr>
        <p:blipFill rotWithShape="1">
          <a:blip r:embed="rId3">
            <a:alphaModFix/>
          </a:blip>
          <a:srcRect b="0" l="0" r="0" t="0"/>
          <a:stretch/>
        </p:blipFill>
        <p:spPr>
          <a:xfrm>
            <a:off x="6780068" y="471745"/>
            <a:ext cx="1604422" cy="480298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34"/>
          <p:cNvPicPr preferRelativeResize="0"/>
          <p:nvPr>
            <p:ph idx="2" type="pic"/>
          </p:nvPr>
        </p:nvPicPr>
        <p:blipFill rotWithShape="1">
          <a:blip r:embed="rId3">
            <a:alphaModFix/>
          </a:blip>
          <a:srcRect b="374" l="0" r="0" t="373"/>
          <a:stretch/>
        </p:blipFill>
        <p:spPr>
          <a:xfrm>
            <a:off x="5467735" y="1404851"/>
            <a:ext cx="3383906" cy="3680494"/>
          </a:xfrm>
          <a:prstGeom prst="rect">
            <a:avLst/>
          </a:prstGeom>
          <a:noFill/>
          <a:ln>
            <a:noFill/>
          </a:ln>
        </p:spPr>
      </p:pic>
      <p:sp>
        <p:nvSpPr>
          <p:cNvPr id="363" name="Google Shape;363;p34"/>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COLABORACIÓN </a:t>
            </a:r>
            <a:r>
              <a:rPr i="1" lang="es-ES" sz="1400">
                <a:solidFill>
                  <a:srgbClr val="7F7F7F"/>
                </a:solidFill>
              </a:rPr>
              <a:t>[SI Comercio Electrónico]</a:t>
            </a:r>
            <a:endParaRPr i="1">
              <a:solidFill>
                <a:srgbClr val="7F7F7F"/>
              </a:solidFill>
            </a:endParaRPr>
          </a:p>
        </p:txBody>
      </p:sp>
      <p:sp>
        <p:nvSpPr>
          <p:cNvPr id="364" name="Google Shape;364;p34"/>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65" name="Google Shape;365;p34"/>
          <p:cNvSpPr txBox="1"/>
          <p:nvPr>
            <p:ph idx="4" type="body"/>
          </p:nvPr>
        </p:nvSpPr>
        <p:spPr>
          <a:xfrm>
            <a:off x="468325" y="1177925"/>
            <a:ext cx="5073900"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Actores:</a:t>
            </a:r>
            <a:endParaRPr/>
          </a:p>
          <a:p>
            <a:pPr indent="-177800" lvl="1" marL="444500" rtl="0" algn="l">
              <a:spcBef>
                <a:spcPts val="300"/>
              </a:spcBef>
              <a:spcAft>
                <a:spcPts val="0"/>
              </a:spcAft>
              <a:buClr>
                <a:schemeClr val="dk1"/>
              </a:buClr>
              <a:buSzPts val="1600"/>
              <a:buFont typeface="Noto Sans Symbols"/>
              <a:buChar char="▪"/>
            </a:pPr>
            <a:r>
              <a:rPr b="1" lang="es-ES"/>
              <a:t>Cliente</a:t>
            </a:r>
            <a:r>
              <a:rPr lang="es-ES"/>
              <a:t>: El usuario que realiza la compra.</a:t>
            </a:r>
            <a:endParaRPr/>
          </a:p>
          <a:p>
            <a:pPr indent="-177800" lvl="1" marL="444500" rtl="0" algn="l">
              <a:spcBef>
                <a:spcPts val="300"/>
              </a:spcBef>
              <a:spcAft>
                <a:spcPts val="0"/>
              </a:spcAft>
              <a:buClr>
                <a:schemeClr val="dk1"/>
              </a:buClr>
              <a:buSzPts val="1600"/>
              <a:buFont typeface="Noto Sans Symbols"/>
              <a:buChar char="▪"/>
            </a:pPr>
            <a:r>
              <a:rPr b="1" lang="es-ES"/>
              <a:t>Sistema</a:t>
            </a:r>
            <a:r>
              <a:rPr lang="es-ES"/>
              <a:t>: El sistema de comercio electrónico.</a:t>
            </a:r>
            <a:endParaRPr/>
          </a:p>
          <a:p>
            <a:pPr indent="-177800" lvl="1" marL="444500" rtl="0" algn="l">
              <a:spcBef>
                <a:spcPts val="300"/>
              </a:spcBef>
              <a:spcAft>
                <a:spcPts val="0"/>
              </a:spcAft>
              <a:buClr>
                <a:schemeClr val="dk1"/>
              </a:buClr>
              <a:buSzPts val="1600"/>
              <a:buFont typeface="Noto Sans Symbols"/>
              <a:buChar char="▪"/>
            </a:pPr>
            <a:r>
              <a:rPr b="1" lang="es-ES"/>
              <a:t>Banco</a:t>
            </a:r>
            <a:r>
              <a:rPr lang="es-ES"/>
              <a:t>: El sistema de pagos.</a:t>
            </a:r>
            <a:endParaRPr/>
          </a:p>
          <a:p>
            <a:pPr indent="-177800" lvl="1" marL="444500" rtl="0" algn="l">
              <a:spcBef>
                <a:spcPts val="300"/>
              </a:spcBef>
              <a:spcAft>
                <a:spcPts val="0"/>
              </a:spcAft>
              <a:buClr>
                <a:schemeClr val="dk1"/>
              </a:buClr>
              <a:buSzPts val="1600"/>
              <a:buFont typeface="Noto Sans Symbols"/>
              <a:buChar char="▪"/>
            </a:pPr>
            <a:r>
              <a:rPr b="1" lang="es-ES"/>
              <a:t>ProveedorEnvio</a:t>
            </a:r>
            <a:r>
              <a:rPr lang="es-ES"/>
              <a:t>: El proveedor de servicios de envío.</a:t>
            </a:r>
            <a:endParaRPr/>
          </a:p>
          <a:p>
            <a:pPr indent="-266700" lvl="0" marL="266700" rtl="0" algn="l">
              <a:spcBef>
                <a:spcPts val="600"/>
              </a:spcBef>
              <a:spcAft>
                <a:spcPts val="0"/>
              </a:spcAft>
              <a:buClr>
                <a:schemeClr val="dk1"/>
              </a:buClr>
              <a:buSzPts val="1200"/>
              <a:buChar char="❑"/>
            </a:pPr>
            <a:r>
              <a:rPr lang="es-ES"/>
              <a:t>Flujo de Interacciones:</a:t>
            </a:r>
            <a:endParaRPr/>
          </a:p>
          <a:p>
            <a:pPr indent="-177800" lvl="1" marL="444500" rtl="0" algn="l">
              <a:spcBef>
                <a:spcPts val="300"/>
              </a:spcBef>
              <a:spcAft>
                <a:spcPts val="0"/>
              </a:spcAft>
              <a:buClr>
                <a:schemeClr val="dk1"/>
              </a:buClr>
              <a:buSzPts val="1600"/>
              <a:buFont typeface="Noto Sans Symbols"/>
              <a:buChar char="▪"/>
            </a:pPr>
            <a:r>
              <a:rPr lang="es-ES"/>
              <a:t>El Cliente selecciona productos y el Sistema muestra el carrito.</a:t>
            </a:r>
            <a:endParaRPr/>
          </a:p>
          <a:p>
            <a:pPr indent="-177800" lvl="1" marL="444500" rtl="0" algn="l">
              <a:spcBef>
                <a:spcPts val="300"/>
              </a:spcBef>
              <a:spcAft>
                <a:spcPts val="0"/>
              </a:spcAft>
              <a:buClr>
                <a:schemeClr val="dk1"/>
              </a:buClr>
              <a:buSzPts val="1600"/>
              <a:buFont typeface="Noto Sans Symbols"/>
              <a:buChar char="▪"/>
            </a:pPr>
            <a:r>
              <a:rPr lang="es-ES"/>
              <a:t>El Cliente confirma la compra y el Sistema solicita el pago al Banco.</a:t>
            </a:r>
            <a:endParaRPr/>
          </a:p>
          <a:p>
            <a:pPr indent="-177800" lvl="1" marL="444500" rtl="0" algn="l">
              <a:spcBef>
                <a:spcPts val="300"/>
              </a:spcBef>
              <a:spcAft>
                <a:spcPts val="0"/>
              </a:spcAft>
              <a:buClr>
                <a:schemeClr val="dk1"/>
              </a:buClr>
              <a:buSzPts val="1600"/>
              <a:buFont typeface="Noto Sans Symbols"/>
              <a:buChar char="▪"/>
            </a:pPr>
            <a:r>
              <a:rPr lang="es-ES"/>
              <a:t>El Banco confirma el pago y el Sistema solicita el envío al ProveedorEnvio.</a:t>
            </a:r>
            <a:endParaRPr/>
          </a:p>
          <a:p>
            <a:pPr indent="-177800" lvl="1" marL="444500" rtl="0" algn="l">
              <a:spcBef>
                <a:spcPts val="300"/>
              </a:spcBef>
              <a:spcAft>
                <a:spcPts val="0"/>
              </a:spcAft>
              <a:buClr>
                <a:schemeClr val="dk1"/>
              </a:buClr>
              <a:buSzPts val="1600"/>
              <a:buFont typeface="Noto Sans Symbols"/>
              <a:buChar char="▪"/>
            </a:pPr>
            <a:r>
              <a:rPr lang="es-ES"/>
              <a:t>El ProveedorEnvio confirma el envío y el Sistema informa al Cliente.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id="371" name="Google Shape;371;p35"/>
          <p:cNvPicPr preferRelativeResize="0"/>
          <p:nvPr>
            <p:ph idx="2" type="pic"/>
          </p:nvPr>
        </p:nvPicPr>
        <p:blipFill rotWithShape="1">
          <a:blip r:embed="rId3">
            <a:alphaModFix/>
          </a:blip>
          <a:srcRect b="374" l="0" r="0" t="373"/>
          <a:stretch/>
        </p:blipFill>
        <p:spPr>
          <a:xfrm>
            <a:off x="5398903" y="1496291"/>
            <a:ext cx="3467978" cy="3771934"/>
          </a:xfrm>
          <a:prstGeom prst="rect">
            <a:avLst/>
          </a:prstGeom>
          <a:noFill/>
          <a:ln>
            <a:noFill/>
          </a:ln>
        </p:spPr>
      </p:pic>
      <p:sp>
        <p:nvSpPr>
          <p:cNvPr id="372" name="Google Shape;372;p35"/>
          <p:cNvSpPr txBox="1"/>
          <p:nvPr>
            <p:ph idx="1" type="body"/>
          </p:nvPr>
        </p:nvSpPr>
        <p:spPr>
          <a:xfrm>
            <a:off x="468312" y="809626"/>
            <a:ext cx="8208000"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INTERACCIÓN GENERAL </a:t>
            </a:r>
            <a:r>
              <a:rPr i="1" lang="es-ES" sz="1400">
                <a:solidFill>
                  <a:srgbClr val="7F7F7F"/>
                </a:solidFill>
              </a:rPr>
              <a:t>[SI Comercio Electrónico]</a:t>
            </a:r>
            <a:endParaRPr i="1">
              <a:solidFill>
                <a:srgbClr val="7F7F7F"/>
              </a:solidFill>
            </a:endParaRPr>
          </a:p>
        </p:txBody>
      </p:sp>
      <p:sp>
        <p:nvSpPr>
          <p:cNvPr id="373" name="Google Shape;373;p35"/>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74" name="Google Shape;374;p35"/>
          <p:cNvSpPr txBox="1"/>
          <p:nvPr>
            <p:ph idx="4" type="body"/>
          </p:nvPr>
        </p:nvSpPr>
        <p:spPr>
          <a:xfrm>
            <a:off x="468326" y="1177925"/>
            <a:ext cx="5030700" cy="4096800"/>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Actores:</a:t>
            </a:r>
            <a:endParaRPr/>
          </a:p>
          <a:p>
            <a:pPr indent="-177800" lvl="1" marL="444500" rtl="0" algn="l">
              <a:spcBef>
                <a:spcPts val="300"/>
              </a:spcBef>
              <a:spcAft>
                <a:spcPts val="0"/>
              </a:spcAft>
              <a:buClr>
                <a:schemeClr val="dk1"/>
              </a:buClr>
              <a:buSzPts val="1600"/>
              <a:buFont typeface="Noto Sans Symbols"/>
              <a:buChar char="▪"/>
            </a:pPr>
            <a:r>
              <a:rPr b="1" lang="es-ES"/>
              <a:t>Cliente</a:t>
            </a:r>
            <a:r>
              <a:rPr lang="es-ES"/>
              <a:t>: El usuario que realiza la compra.</a:t>
            </a:r>
            <a:endParaRPr/>
          </a:p>
          <a:p>
            <a:pPr indent="-177800" lvl="1" marL="444500" rtl="0" algn="l">
              <a:spcBef>
                <a:spcPts val="300"/>
              </a:spcBef>
              <a:spcAft>
                <a:spcPts val="0"/>
              </a:spcAft>
              <a:buClr>
                <a:schemeClr val="dk1"/>
              </a:buClr>
              <a:buSzPts val="1600"/>
              <a:buFont typeface="Noto Sans Symbols"/>
              <a:buChar char="▪"/>
            </a:pPr>
            <a:r>
              <a:rPr b="1" lang="es-ES"/>
              <a:t>Sistema</a:t>
            </a:r>
            <a:r>
              <a:rPr lang="es-ES"/>
              <a:t>: El sistema de comercio electrónico.</a:t>
            </a:r>
            <a:endParaRPr/>
          </a:p>
          <a:p>
            <a:pPr indent="-177800" lvl="1" marL="444500" rtl="0" algn="l">
              <a:spcBef>
                <a:spcPts val="300"/>
              </a:spcBef>
              <a:spcAft>
                <a:spcPts val="0"/>
              </a:spcAft>
              <a:buClr>
                <a:schemeClr val="dk1"/>
              </a:buClr>
              <a:buSzPts val="1600"/>
              <a:buFont typeface="Noto Sans Symbols"/>
              <a:buChar char="▪"/>
            </a:pPr>
            <a:r>
              <a:rPr b="1" lang="es-ES"/>
              <a:t>Banco</a:t>
            </a:r>
            <a:r>
              <a:rPr lang="es-ES"/>
              <a:t>: El sistema de pagos.</a:t>
            </a:r>
            <a:endParaRPr/>
          </a:p>
          <a:p>
            <a:pPr indent="-177800" lvl="1" marL="444500" rtl="0" algn="l">
              <a:spcBef>
                <a:spcPts val="300"/>
              </a:spcBef>
              <a:spcAft>
                <a:spcPts val="0"/>
              </a:spcAft>
              <a:buClr>
                <a:schemeClr val="dk1"/>
              </a:buClr>
              <a:buSzPts val="1600"/>
              <a:buFont typeface="Noto Sans Symbols"/>
              <a:buChar char="▪"/>
            </a:pPr>
            <a:r>
              <a:rPr b="1" lang="es-ES"/>
              <a:t>ProveedorEnvio</a:t>
            </a:r>
            <a:r>
              <a:rPr lang="es-ES"/>
              <a:t>: El proveedor de servicios de envío.</a:t>
            </a:r>
            <a:endParaRPr/>
          </a:p>
          <a:p>
            <a:pPr indent="-266700" lvl="0" marL="266700" rtl="0" algn="l">
              <a:spcBef>
                <a:spcPts val="600"/>
              </a:spcBef>
              <a:spcAft>
                <a:spcPts val="0"/>
              </a:spcAft>
              <a:buClr>
                <a:schemeClr val="dk1"/>
              </a:buClr>
              <a:buSzPts val="1200"/>
              <a:buChar char="❑"/>
            </a:pPr>
            <a:r>
              <a:rPr lang="es-ES"/>
              <a:t>Flujo de Interacciones </a:t>
            </a:r>
            <a:r>
              <a:rPr i="1" lang="es-ES"/>
              <a:t>(Igual que en el diagrama de secuencia, pero con referencias que agrupan las interacciones)</a:t>
            </a:r>
            <a:r>
              <a:rPr lang="es-ES"/>
              <a:t>:</a:t>
            </a:r>
            <a:endParaRPr/>
          </a:p>
          <a:p>
            <a:pPr indent="-177800" lvl="1" marL="444500" rtl="0" algn="l">
              <a:spcBef>
                <a:spcPts val="300"/>
              </a:spcBef>
              <a:spcAft>
                <a:spcPts val="0"/>
              </a:spcAft>
              <a:buClr>
                <a:schemeClr val="dk1"/>
              </a:buClr>
              <a:buSzPts val="1600"/>
              <a:buFont typeface="Noto Sans Symbols"/>
              <a:buChar char="▪"/>
            </a:pPr>
            <a:r>
              <a:rPr b="1" lang="es-ES"/>
              <a:t>Interacción de compra</a:t>
            </a:r>
            <a:r>
              <a:rPr lang="es-ES"/>
              <a:t>: Entre el Cliente y el Sistema.</a:t>
            </a:r>
            <a:endParaRPr/>
          </a:p>
          <a:p>
            <a:pPr indent="-177800" lvl="1" marL="444500" rtl="0" algn="l">
              <a:spcBef>
                <a:spcPts val="300"/>
              </a:spcBef>
              <a:spcAft>
                <a:spcPts val="0"/>
              </a:spcAft>
              <a:buClr>
                <a:schemeClr val="dk1"/>
              </a:buClr>
              <a:buSzPts val="1600"/>
              <a:buFont typeface="Noto Sans Symbols"/>
              <a:buChar char="▪"/>
            </a:pPr>
            <a:r>
              <a:rPr b="1" lang="es-ES"/>
              <a:t>Proceso de pago</a:t>
            </a:r>
            <a:r>
              <a:rPr lang="es-ES"/>
              <a:t>: Entre el Sistema y el Banco.</a:t>
            </a:r>
            <a:endParaRPr/>
          </a:p>
          <a:p>
            <a:pPr indent="-177800" lvl="1" marL="444500" rtl="0" algn="l">
              <a:spcBef>
                <a:spcPts val="300"/>
              </a:spcBef>
              <a:spcAft>
                <a:spcPts val="0"/>
              </a:spcAft>
              <a:buClr>
                <a:schemeClr val="dk1"/>
              </a:buClr>
              <a:buSzPts val="1600"/>
              <a:buFont typeface="Noto Sans Symbols"/>
              <a:buChar char="▪"/>
            </a:pPr>
            <a:r>
              <a:rPr b="1" lang="es-ES"/>
              <a:t>Proceso de envío</a:t>
            </a:r>
            <a:r>
              <a:rPr lang="es-ES"/>
              <a:t>: Entre el Sistema y el ProveedorEnvio.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pic>
        <p:nvPicPr>
          <p:cNvPr id="380" name="Google Shape;380;p36"/>
          <p:cNvPicPr preferRelativeResize="0"/>
          <p:nvPr>
            <p:ph idx="2" type="pic"/>
          </p:nvPr>
        </p:nvPicPr>
        <p:blipFill rotWithShape="1">
          <a:blip r:embed="rId3">
            <a:alphaModFix/>
          </a:blip>
          <a:srcRect b="38" l="0" r="0" t="39"/>
          <a:stretch/>
        </p:blipFill>
        <p:spPr>
          <a:xfrm>
            <a:off x="475687" y="2877477"/>
            <a:ext cx="8207375" cy="2394000"/>
          </a:xfrm>
          <a:prstGeom prst="rect">
            <a:avLst/>
          </a:prstGeom>
          <a:noFill/>
          <a:ln>
            <a:noFill/>
          </a:ln>
        </p:spPr>
      </p:pic>
      <p:sp>
        <p:nvSpPr>
          <p:cNvPr id="381" name="Google Shape;381;p36"/>
          <p:cNvSpPr txBox="1"/>
          <p:nvPr>
            <p:ph idx="1" type="body"/>
          </p:nvPr>
        </p:nvSpPr>
        <p:spPr>
          <a:xfrm>
            <a:off x="475687" y="654721"/>
            <a:ext cx="8207375"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DIAGRAMA DE TEMPORIZACIÓN </a:t>
            </a:r>
            <a:r>
              <a:rPr i="1" lang="es-ES" sz="1400">
                <a:solidFill>
                  <a:srgbClr val="7F7F7F"/>
                </a:solidFill>
              </a:rPr>
              <a:t>[SI Comercio Electrónico]</a:t>
            </a:r>
            <a:endParaRPr i="1">
              <a:solidFill>
                <a:srgbClr val="7F7F7F"/>
              </a:solidFill>
            </a:endParaRPr>
          </a:p>
        </p:txBody>
      </p:sp>
      <p:sp>
        <p:nvSpPr>
          <p:cNvPr id="382" name="Google Shape;382;p36"/>
          <p:cNvSpPr txBox="1"/>
          <p:nvPr>
            <p:ph idx="3" type="body"/>
          </p:nvPr>
        </p:nvSpPr>
        <p:spPr>
          <a:xfrm>
            <a:off x="475687"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83" name="Google Shape;383;p36"/>
          <p:cNvSpPr txBox="1"/>
          <p:nvPr>
            <p:ph idx="4" type="body"/>
          </p:nvPr>
        </p:nvSpPr>
        <p:spPr>
          <a:xfrm>
            <a:off x="471600" y="1037275"/>
            <a:ext cx="3646200" cy="2213100"/>
          </a:xfrm>
          <a:prstGeom prst="rect">
            <a:avLst/>
          </a:prstGeom>
          <a:noFill/>
          <a:ln>
            <a:noFill/>
          </a:ln>
        </p:spPr>
        <p:txBody>
          <a:bodyPr anchorCtr="0" anchor="t" bIns="45700" lIns="91425" spcFirstLastPara="1" rIns="91425" wrap="square" tIns="45700">
            <a:noAutofit/>
          </a:bodyPr>
          <a:lstStyle/>
          <a:p>
            <a:pPr indent="-266700" lvl="0" marL="266700" rtl="0" algn="just">
              <a:spcBef>
                <a:spcPts val="0"/>
              </a:spcBef>
              <a:spcAft>
                <a:spcPts val="0"/>
              </a:spcAft>
              <a:buClr>
                <a:schemeClr val="dk1"/>
              </a:buClr>
              <a:buSzPts val="1200"/>
              <a:buChar char="❑"/>
            </a:pPr>
            <a:r>
              <a:rPr lang="es-ES"/>
              <a:t>Cliente:</a:t>
            </a:r>
            <a:endParaRPr/>
          </a:p>
          <a:p>
            <a:pPr indent="-177800" lvl="1" marL="444500" rtl="0" algn="just">
              <a:spcBef>
                <a:spcPts val="300"/>
              </a:spcBef>
              <a:spcAft>
                <a:spcPts val="0"/>
              </a:spcAft>
              <a:buClr>
                <a:schemeClr val="dk1"/>
              </a:buClr>
              <a:buSzPts val="1600"/>
              <a:buFont typeface="Noto Sans Symbols"/>
              <a:buChar char="▪"/>
            </a:pPr>
            <a:r>
              <a:rPr lang="es-ES"/>
              <a:t>Navegando durante 5 días.</a:t>
            </a:r>
            <a:endParaRPr/>
          </a:p>
          <a:p>
            <a:pPr indent="-177800" lvl="1" marL="444500" rtl="0" algn="just">
              <a:spcBef>
                <a:spcPts val="300"/>
              </a:spcBef>
              <a:spcAft>
                <a:spcPts val="0"/>
              </a:spcAft>
              <a:buClr>
                <a:schemeClr val="dk1"/>
              </a:buClr>
              <a:buSzPts val="1600"/>
              <a:buFont typeface="Noto Sans Symbols"/>
              <a:buChar char="▪"/>
            </a:pPr>
            <a:r>
              <a:rPr lang="es-ES"/>
              <a:t>Comprando durante 5 días.</a:t>
            </a:r>
            <a:endParaRPr/>
          </a:p>
          <a:p>
            <a:pPr indent="-177800" lvl="1" marL="444500" rtl="0" algn="just">
              <a:spcBef>
                <a:spcPts val="300"/>
              </a:spcBef>
              <a:spcAft>
                <a:spcPts val="0"/>
              </a:spcAft>
              <a:buClr>
                <a:schemeClr val="dk1"/>
              </a:buClr>
              <a:buSzPts val="1600"/>
              <a:buFont typeface="Noto Sans Symbols"/>
              <a:buChar char="▪"/>
            </a:pPr>
            <a:r>
              <a:rPr lang="es-ES"/>
              <a:t>Pagando durante 5 días.</a:t>
            </a:r>
            <a:endParaRPr/>
          </a:p>
          <a:p>
            <a:pPr indent="-177800" lvl="1" marL="444500" rtl="0" algn="just">
              <a:spcBef>
                <a:spcPts val="300"/>
              </a:spcBef>
              <a:spcAft>
                <a:spcPts val="0"/>
              </a:spcAft>
              <a:buClr>
                <a:schemeClr val="dk1"/>
              </a:buClr>
              <a:buSzPts val="1600"/>
              <a:buFont typeface="Noto Sans Symbols"/>
              <a:buChar char="▪"/>
            </a:pPr>
            <a:r>
              <a:rPr lang="es-ES"/>
              <a:t>Esperando durante 5 días.</a:t>
            </a:r>
            <a:endParaRPr/>
          </a:p>
          <a:p>
            <a:pPr indent="-177800" lvl="1" marL="444500" rtl="0" algn="just">
              <a:spcBef>
                <a:spcPts val="300"/>
              </a:spcBef>
              <a:spcAft>
                <a:spcPts val="0"/>
              </a:spcAft>
              <a:buClr>
                <a:schemeClr val="dk1"/>
              </a:buClr>
              <a:buSzPts val="1600"/>
              <a:buFont typeface="Noto Sans Symbols"/>
              <a:buChar char="▪"/>
            </a:pPr>
            <a:r>
              <a:rPr lang="es-ES"/>
              <a:t>Recibiendo durante 5 días.</a:t>
            </a:r>
            <a:endParaRPr/>
          </a:p>
          <a:p>
            <a:pPr indent="-177800" lvl="1" marL="444500" rtl="0" algn="just">
              <a:spcBef>
                <a:spcPts val="300"/>
              </a:spcBef>
              <a:spcAft>
                <a:spcPts val="0"/>
              </a:spcAft>
              <a:buClr>
                <a:schemeClr val="dk1"/>
              </a:buClr>
              <a:buSzPts val="1600"/>
              <a:buFont typeface="Noto Sans Symbols"/>
              <a:buChar char="▪"/>
            </a:pPr>
            <a:r>
              <a:rPr lang="es-ES"/>
              <a:t>Finalizado durante 5 días.</a:t>
            </a:r>
            <a:endParaRPr/>
          </a:p>
        </p:txBody>
      </p:sp>
      <p:sp>
        <p:nvSpPr>
          <p:cNvPr id="384" name="Google Shape;384;p36"/>
          <p:cNvSpPr txBox="1"/>
          <p:nvPr>
            <p:ph idx="4" type="body"/>
          </p:nvPr>
        </p:nvSpPr>
        <p:spPr>
          <a:xfrm>
            <a:off x="4506425" y="1155125"/>
            <a:ext cx="3375300" cy="1357200"/>
          </a:xfrm>
          <a:prstGeom prst="rect">
            <a:avLst/>
          </a:prstGeom>
          <a:noFill/>
          <a:ln>
            <a:noFill/>
          </a:ln>
        </p:spPr>
        <p:txBody>
          <a:bodyPr anchorCtr="0" anchor="t" bIns="45700" lIns="91425" spcFirstLastPara="1" rIns="91425" wrap="square" tIns="45700">
            <a:noAutofit/>
          </a:bodyPr>
          <a:lstStyle/>
          <a:p>
            <a:pPr indent="-266700" lvl="0" marL="266700" rtl="0" algn="just">
              <a:spcBef>
                <a:spcPts val="600"/>
              </a:spcBef>
              <a:spcAft>
                <a:spcPts val="0"/>
              </a:spcAft>
              <a:buClr>
                <a:schemeClr val="dk1"/>
              </a:buClr>
              <a:buSzPts val="1200"/>
              <a:buChar char="❑"/>
            </a:pPr>
            <a:r>
              <a:rPr lang="es-ES"/>
              <a:t>Sistema:</a:t>
            </a:r>
            <a:endParaRPr/>
          </a:p>
          <a:p>
            <a:pPr indent="-177800" lvl="1" marL="444500" rtl="0" algn="just">
              <a:spcBef>
                <a:spcPts val="300"/>
              </a:spcBef>
              <a:spcAft>
                <a:spcPts val="0"/>
              </a:spcAft>
              <a:buClr>
                <a:schemeClr val="dk1"/>
              </a:buClr>
              <a:buSzPts val="1600"/>
              <a:buFont typeface="Noto Sans Symbols"/>
              <a:buChar char="▪"/>
            </a:pPr>
            <a:r>
              <a:rPr lang="es-ES"/>
              <a:t>Esperando durante 5 días.</a:t>
            </a:r>
            <a:endParaRPr/>
          </a:p>
          <a:p>
            <a:pPr indent="-177800" lvl="1" marL="444500" rtl="0" algn="just">
              <a:spcBef>
                <a:spcPts val="300"/>
              </a:spcBef>
              <a:spcAft>
                <a:spcPts val="0"/>
              </a:spcAft>
              <a:buClr>
                <a:schemeClr val="dk1"/>
              </a:buClr>
              <a:buSzPts val="1600"/>
              <a:buFont typeface="Noto Sans Symbols"/>
              <a:buChar char="▪"/>
            </a:pPr>
            <a:r>
              <a:rPr lang="es-ES"/>
              <a:t>Procesando durante 15 días.</a:t>
            </a:r>
            <a:endParaRPr/>
          </a:p>
          <a:p>
            <a:pPr indent="-177800" lvl="1" marL="444500" rtl="0" algn="just">
              <a:spcBef>
                <a:spcPts val="300"/>
              </a:spcBef>
              <a:spcAft>
                <a:spcPts val="0"/>
              </a:spcAft>
              <a:buClr>
                <a:schemeClr val="dk1"/>
              </a:buClr>
              <a:buSzPts val="1600"/>
              <a:buFont typeface="Noto Sans Symbols"/>
              <a:buChar char="▪"/>
            </a:pPr>
            <a:r>
              <a:rPr lang="es-ES"/>
              <a:t>Finalizado durante 10 días.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pic>
        <p:nvPicPr>
          <p:cNvPr id="390" name="Google Shape;390;p37"/>
          <p:cNvPicPr preferRelativeResize="0"/>
          <p:nvPr>
            <p:ph idx="2" type="pic"/>
          </p:nvPr>
        </p:nvPicPr>
        <p:blipFill rotWithShape="1">
          <a:blip r:embed="rId3">
            <a:alphaModFix/>
          </a:blip>
          <a:srcRect b="0" l="19338" r="19339" t="0"/>
          <a:stretch/>
        </p:blipFill>
        <p:spPr>
          <a:xfrm>
            <a:off x="5261958" y="809626"/>
            <a:ext cx="3272415" cy="3559231"/>
          </a:xfrm>
          <a:prstGeom prst="rect">
            <a:avLst/>
          </a:prstGeom>
          <a:noFill/>
          <a:ln>
            <a:noFill/>
          </a:ln>
        </p:spPr>
      </p:pic>
      <p:sp>
        <p:nvSpPr>
          <p:cNvPr id="391" name="Google Shape;391;p37"/>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392" name="Google Shape;392;p37"/>
          <p:cNvSpPr txBox="1"/>
          <p:nvPr>
            <p:ph idx="4" type="body"/>
          </p:nvPr>
        </p:nvSpPr>
        <p:spPr>
          <a:xfrm>
            <a:off x="1100080" y="1337907"/>
            <a:ext cx="3413731"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i="1" lang="es-ES" u="sng"/>
              <a:t>Diagrama de Casos de Uso</a:t>
            </a:r>
            <a:endParaRPr/>
          </a:p>
          <a:p>
            <a:pPr indent="-266700" lvl="0" marL="266700" rtl="0" algn="l">
              <a:spcBef>
                <a:spcPts val="600"/>
              </a:spcBef>
              <a:spcAft>
                <a:spcPts val="0"/>
              </a:spcAft>
              <a:buClr>
                <a:schemeClr val="dk1"/>
              </a:buClr>
              <a:buSzPts val="1200"/>
              <a:buChar char="❑"/>
            </a:pPr>
            <a:r>
              <a:rPr lang="es-ES"/>
              <a:t>Este diagrama es fundamental para capturar y entender los requisitos funcionales del sistema. Define cómo los usuarios externos (actores) interactuarán con el sistema.</a:t>
            </a:r>
            <a:endParaRPr/>
          </a:p>
        </p:txBody>
      </p:sp>
      <p:sp>
        <p:nvSpPr>
          <p:cNvPr id="393" name="Google Shape;393;p37"/>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REQUISITOS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38"/>
          <p:cNvPicPr preferRelativeResize="0"/>
          <p:nvPr>
            <p:ph idx="2" type="pic"/>
          </p:nvPr>
        </p:nvPicPr>
        <p:blipFill rotWithShape="1">
          <a:blip r:embed="rId3">
            <a:alphaModFix/>
          </a:blip>
          <a:srcRect b="0" l="19338" r="19339" t="0"/>
          <a:stretch/>
        </p:blipFill>
        <p:spPr>
          <a:xfrm>
            <a:off x="5436523" y="1192474"/>
            <a:ext cx="3239164" cy="3523065"/>
          </a:xfrm>
          <a:prstGeom prst="rect">
            <a:avLst/>
          </a:prstGeom>
          <a:noFill/>
          <a:ln>
            <a:noFill/>
          </a:ln>
        </p:spPr>
      </p:pic>
      <p:sp>
        <p:nvSpPr>
          <p:cNvPr id="400" name="Google Shape;400;p38"/>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01" name="Google Shape;401;p38"/>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ANÁLISIS</a:t>
            </a:r>
            <a:endParaRPr/>
          </a:p>
        </p:txBody>
      </p:sp>
      <p:sp>
        <p:nvSpPr>
          <p:cNvPr id="402" name="Google Shape;402;p38"/>
          <p:cNvSpPr txBox="1"/>
          <p:nvPr>
            <p:ph idx="4" type="body"/>
          </p:nvPr>
        </p:nvSpPr>
        <p:spPr>
          <a:xfrm>
            <a:off x="468313" y="1177927"/>
            <a:ext cx="4627389"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i="1" lang="es-ES" u="sng"/>
              <a:t>Diagrama de Clases (en un nivel básico)</a:t>
            </a:r>
            <a:endParaRPr/>
          </a:p>
          <a:p>
            <a:pPr indent="-266700" lvl="0" marL="266700" rtl="0" algn="l">
              <a:spcBef>
                <a:spcPts val="600"/>
              </a:spcBef>
              <a:spcAft>
                <a:spcPts val="0"/>
              </a:spcAft>
              <a:buClr>
                <a:schemeClr val="dk1"/>
              </a:buClr>
              <a:buSzPts val="1200"/>
              <a:buChar char="❑"/>
            </a:pPr>
            <a:r>
              <a:rPr lang="es-ES"/>
              <a:t>Se puede empezar a bosquejar las principales clases y sus relaciones, aunque sin un nivel de detalle muy alto.</a:t>
            </a:r>
            <a:endParaRPr/>
          </a:p>
          <a:p>
            <a:pPr indent="0" lvl="0" marL="0" rtl="0" algn="l">
              <a:spcBef>
                <a:spcPts val="1200"/>
              </a:spcBef>
              <a:spcAft>
                <a:spcPts val="0"/>
              </a:spcAft>
              <a:buClr>
                <a:schemeClr val="dk1"/>
              </a:buClr>
              <a:buSzPts val="1200"/>
              <a:buNone/>
            </a:pPr>
            <a:r>
              <a:rPr b="1" i="1" lang="es-ES" u="sng"/>
              <a:t>Diagrama de Actividades</a:t>
            </a:r>
            <a:endParaRPr/>
          </a:p>
          <a:p>
            <a:pPr indent="-266700" lvl="0" marL="266700" rtl="0" algn="l">
              <a:spcBef>
                <a:spcPts val="600"/>
              </a:spcBef>
              <a:spcAft>
                <a:spcPts val="0"/>
              </a:spcAft>
              <a:buClr>
                <a:schemeClr val="dk1"/>
              </a:buClr>
              <a:buSzPts val="1200"/>
              <a:buChar char="❑"/>
            </a:pPr>
            <a:r>
              <a:rPr lang="es-ES"/>
              <a:t>Este es especialmente útil si el sistema tiene lógicas de negocio o flujos de trabajo complejos.</a:t>
            </a:r>
            <a:endParaRPr/>
          </a:p>
          <a:p>
            <a:pPr indent="0" lvl="0" marL="0" rtl="0" algn="l">
              <a:spcBef>
                <a:spcPts val="1200"/>
              </a:spcBef>
              <a:spcAft>
                <a:spcPts val="0"/>
              </a:spcAft>
              <a:buClr>
                <a:schemeClr val="dk1"/>
              </a:buClr>
              <a:buSzPts val="1200"/>
              <a:buNone/>
            </a:pPr>
            <a:r>
              <a:rPr b="1" i="1" lang="es-ES" u="sng"/>
              <a:t>Diagrama de Estados</a:t>
            </a:r>
            <a:endParaRPr/>
          </a:p>
          <a:p>
            <a:pPr indent="-266700" lvl="0" marL="266700" rtl="0" algn="l">
              <a:spcBef>
                <a:spcPts val="600"/>
              </a:spcBef>
              <a:spcAft>
                <a:spcPts val="0"/>
              </a:spcAft>
              <a:buClr>
                <a:schemeClr val="dk1"/>
              </a:buClr>
              <a:buSzPts val="1200"/>
              <a:buChar char="❑"/>
            </a:pPr>
            <a:r>
              <a:rPr lang="es-ES"/>
              <a:t>Si algunos de los elementos del sistema tienen comportamientos complejos que cambian de estado, este diagrama puede ser útil.</a:t>
            </a:r>
            <a:endParaRPr/>
          </a:p>
          <a:p>
            <a:pPr indent="-190500" lvl="0" marL="266700" rtl="0" algn="just">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pic>
        <p:nvPicPr>
          <p:cNvPr id="408" name="Google Shape;408;p39"/>
          <p:cNvPicPr preferRelativeResize="0"/>
          <p:nvPr>
            <p:ph idx="2" type="pic"/>
          </p:nvPr>
        </p:nvPicPr>
        <p:blipFill rotWithShape="1">
          <a:blip r:embed="rId3">
            <a:alphaModFix/>
          </a:blip>
          <a:srcRect b="0" l="19338" r="19339" t="0"/>
          <a:stretch/>
        </p:blipFill>
        <p:spPr>
          <a:xfrm>
            <a:off x="5453148" y="1522172"/>
            <a:ext cx="3222539" cy="3504983"/>
          </a:xfrm>
          <a:prstGeom prst="rect">
            <a:avLst/>
          </a:prstGeom>
          <a:noFill/>
          <a:ln>
            <a:noFill/>
          </a:ln>
        </p:spPr>
      </p:pic>
      <p:sp>
        <p:nvSpPr>
          <p:cNvPr id="409" name="Google Shape;409;p39"/>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10" name="Google Shape;410;p39"/>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DISEÑO</a:t>
            </a:r>
            <a:endParaRPr/>
          </a:p>
        </p:txBody>
      </p:sp>
      <p:sp>
        <p:nvSpPr>
          <p:cNvPr id="411" name="Google Shape;411;p39"/>
          <p:cNvSpPr txBox="1"/>
          <p:nvPr>
            <p:ph idx="4" type="body"/>
          </p:nvPr>
        </p:nvSpPr>
        <p:spPr>
          <a:xfrm>
            <a:off x="468313" y="1177927"/>
            <a:ext cx="4768705"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i="1" lang="es-ES" u="sng"/>
              <a:t>Diagrama de Clases (detallado)</a:t>
            </a:r>
            <a:endParaRPr/>
          </a:p>
          <a:p>
            <a:pPr indent="-266700" lvl="0" marL="266700" rtl="0" algn="l">
              <a:spcBef>
                <a:spcPts val="600"/>
              </a:spcBef>
              <a:spcAft>
                <a:spcPts val="0"/>
              </a:spcAft>
              <a:buClr>
                <a:schemeClr val="dk1"/>
              </a:buClr>
              <a:buSzPts val="1200"/>
              <a:buChar char="❑"/>
            </a:pPr>
            <a:r>
              <a:rPr lang="es-ES"/>
              <a:t>Aquí, este diagrama se expande para incluir más detalles como atributos y métodos específicos de las clases.</a:t>
            </a:r>
            <a:endParaRPr/>
          </a:p>
          <a:p>
            <a:pPr indent="0" lvl="0" marL="0" rtl="0" algn="l">
              <a:spcBef>
                <a:spcPts val="1200"/>
              </a:spcBef>
              <a:spcAft>
                <a:spcPts val="0"/>
              </a:spcAft>
              <a:buClr>
                <a:schemeClr val="dk1"/>
              </a:buClr>
              <a:buSzPts val="1200"/>
              <a:buNone/>
            </a:pPr>
            <a:r>
              <a:rPr b="1" i="1" lang="es-ES" u="sng"/>
              <a:t>Diagrama de Secuencia</a:t>
            </a:r>
            <a:endParaRPr/>
          </a:p>
          <a:p>
            <a:pPr indent="-266700" lvl="0" marL="266700" rtl="0" algn="l">
              <a:spcBef>
                <a:spcPts val="600"/>
              </a:spcBef>
              <a:spcAft>
                <a:spcPts val="0"/>
              </a:spcAft>
              <a:buClr>
                <a:schemeClr val="dk1"/>
              </a:buClr>
              <a:buSzPts val="1200"/>
              <a:buChar char="❑"/>
            </a:pPr>
            <a:r>
              <a:rPr lang="es-ES"/>
              <a:t>define cómo los objetos colaboran para lograr ciertos comportamientos.</a:t>
            </a:r>
            <a:endParaRPr/>
          </a:p>
          <a:p>
            <a:pPr indent="0" lvl="0" marL="0" rtl="0" algn="l">
              <a:spcBef>
                <a:spcPts val="1200"/>
              </a:spcBef>
              <a:spcAft>
                <a:spcPts val="0"/>
              </a:spcAft>
              <a:buClr>
                <a:schemeClr val="dk1"/>
              </a:buClr>
              <a:buSzPts val="1200"/>
              <a:buNone/>
            </a:pPr>
            <a:r>
              <a:rPr b="1" i="1" lang="es-ES" u="sng"/>
              <a:t>Diagrama de Componentes</a:t>
            </a:r>
            <a:endParaRPr/>
          </a:p>
          <a:p>
            <a:pPr indent="-266700" lvl="0" marL="266700" rtl="0" algn="l">
              <a:spcBef>
                <a:spcPts val="600"/>
              </a:spcBef>
              <a:spcAft>
                <a:spcPts val="0"/>
              </a:spcAft>
              <a:buClr>
                <a:schemeClr val="dk1"/>
              </a:buClr>
              <a:buSzPts val="1200"/>
              <a:buChar char="❑"/>
            </a:pPr>
            <a:r>
              <a:rPr lang="es-ES"/>
              <a:t>Representar la arquitectura de alto nivel del sistema en sus componentes de software.</a:t>
            </a:r>
            <a:endParaRPr/>
          </a:p>
          <a:p>
            <a:pPr indent="0" lvl="0" marL="0" rtl="0" algn="l">
              <a:spcBef>
                <a:spcPts val="1200"/>
              </a:spcBef>
              <a:spcAft>
                <a:spcPts val="0"/>
              </a:spcAft>
              <a:buClr>
                <a:schemeClr val="dk1"/>
              </a:buClr>
              <a:buSzPts val="1200"/>
              <a:buNone/>
            </a:pPr>
            <a:r>
              <a:rPr b="1" i="1" lang="es-ES" u="sng"/>
              <a:t>Diagrama de Estructura Compuesta</a:t>
            </a:r>
            <a:endParaRPr/>
          </a:p>
          <a:p>
            <a:pPr indent="-266700" lvl="0" marL="266700" rtl="0" algn="l">
              <a:spcBef>
                <a:spcPts val="600"/>
              </a:spcBef>
              <a:spcAft>
                <a:spcPts val="0"/>
              </a:spcAft>
              <a:buClr>
                <a:schemeClr val="dk1"/>
              </a:buClr>
              <a:buSzPts val="1200"/>
              <a:buChar char="❑"/>
            </a:pPr>
            <a:r>
              <a:rPr lang="es-ES"/>
              <a:t>Modela el sistema interno de clases complejas (compuestas por otras clases).</a:t>
            </a:r>
            <a:endParaRPr/>
          </a:p>
          <a:p>
            <a:pPr indent="-190500" lvl="0" marL="266700" rtl="0" algn="just">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id="417" name="Google Shape;417;p40"/>
          <p:cNvPicPr preferRelativeResize="0"/>
          <p:nvPr>
            <p:ph idx="2" type="pic"/>
          </p:nvPr>
        </p:nvPicPr>
        <p:blipFill rotWithShape="1">
          <a:blip r:embed="rId3">
            <a:alphaModFix/>
          </a:blip>
          <a:srcRect b="0" l="19338" r="19339" t="0"/>
          <a:stretch/>
        </p:blipFill>
        <p:spPr>
          <a:xfrm>
            <a:off x="5278580" y="1319141"/>
            <a:ext cx="3172663" cy="3450736"/>
          </a:xfrm>
          <a:prstGeom prst="rect">
            <a:avLst/>
          </a:prstGeom>
          <a:noFill/>
          <a:ln>
            <a:noFill/>
          </a:ln>
        </p:spPr>
      </p:pic>
      <p:sp>
        <p:nvSpPr>
          <p:cNvPr id="418" name="Google Shape;418;p40"/>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19" name="Google Shape;419;p40"/>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IMPLEMENTACIÓN</a:t>
            </a:r>
            <a:endParaRPr/>
          </a:p>
        </p:txBody>
      </p:sp>
      <p:sp>
        <p:nvSpPr>
          <p:cNvPr id="420" name="Google Shape;420;p40"/>
          <p:cNvSpPr txBox="1"/>
          <p:nvPr>
            <p:ph idx="4" type="body"/>
          </p:nvPr>
        </p:nvSpPr>
        <p:spPr>
          <a:xfrm>
            <a:off x="892261" y="1443934"/>
            <a:ext cx="4103687" cy="4096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i="1" lang="es-ES" u="sng"/>
              <a:t>Diagrama de Despliegue</a:t>
            </a:r>
            <a:endParaRPr/>
          </a:p>
          <a:p>
            <a:pPr indent="-266700" lvl="0" marL="266700" rtl="0" algn="l">
              <a:spcBef>
                <a:spcPts val="600"/>
              </a:spcBef>
              <a:spcAft>
                <a:spcPts val="0"/>
              </a:spcAft>
              <a:buClr>
                <a:schemeClr val="dk1"/>
              </a:buClr>
              <a:buSzPts val="1200"/>
              <a:buChar char="❑"/>
            </a:pPr>
            <a:r>
              <a:rPr lang="es-ES"/>
              <a:t>Este diagrama se convierte en crucial si estás en el punto de configurar tu infraestructura para el sistema.</a:t>
            </a:r>
            <a:endParaRPr/>
          </a:p>
          <a:p>
            <a:pPr indent="0" lvl="0" marL="0" rtl="0" algn="l">
              <a:spcBef>
                <a:spcPts val="1200"/>
              </a:spcBef>
              <a:spcAft>
                <a:spcPts val="0"/>
              </a:spcAft>
              <a:buClr>
                <a:schemeClr val="dk1"/>
              </a:buClr>
              <a:buSzPts val="1200"/>
              <a:buNone/>
            </a:pPr>
            <a:r>
              <a:rPr b="1" i="1" lang="es-ES" u="sng"/>
              <a:t>Diagrama de Paquetes</a:t>
            </a:r>
            <a:endParaRPr/>
          </a:p>
          <a:p>
            <a:pPr indent="-266700" lvl="0" marL="266700" rtl="0" algn="l">
              <a:spcBef>
                <a:spcPts val="600"/>
              </a:spcBef>
              <a:spcAft>
                <a:spcPts val="0"/>
              </a:spcAft>
              <a:buClr>
                <a:schemeClr val="dk1"/>
              </a:buClr>
              <a:buSzPts val="1200"/>
              <a:buChar char="❑"/>
            </a:pPr>
            <a:r>
              <a:rPr lang="es-ES"/>
              <a:t>Este diagrama puede ayudar en esta fase para entender cómo se organiza el código fuente.</a:t>
            </a:r>
            <a:endParaRPr/>
          </a:p>
          <a:p>
            <a:pPr indent="-190500" lvl="0" marL="266700" rtl="0" algn="just">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pic>
        <p:nvPicPr>
          <p:cNvPr id="426" name="Google Shape;426;p41"/>
          <p:cNvPicPr preferRelativeResize="0"/>
          <p:nvPr>
            <p:ph idx="2" type="pic"/>
          </p:nvPr>
        </p:nvPicPr>
        <p:blipFill rotWithShape="1">
          <a:blip r:embed="rId3">
            <a:alphaModFix/>
          </a:blip>
          <a:srcRect b="0" l="19338" r="19339" t="0"/>
          <a:stretch/>
        </p:blipFill>
        <p:spPr>
          <a:xfrm>
            <a:off x="4962699" y="986632"/>
            <a:ext cx="3488545" cy="3794304"/>
          </a:xfrm>
          <a:prstGeom prst="rect">
            <a:avLst/>
          </a:prstGeom>
          <a:noFill/>
          <a:ln>
            <a:noFill/>
          </a:ln>
        </p:spPr>
      </p:pic>
      <p:sp>
        <p:nvSpPr>
          <p:cNvPr id="427" name="Google Shape;427;p41"/>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28" name="Google Shape;428;p41"/>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PRUEBAS</a:t>
            </a:r>
            <a:endParaRPr/>
          </a:p>
        </p:txBody>
      </p:sp>
      <p:sp>
        <p:nvSpPr>
          <p:cNvPr id="429" name="Google Shape;429;p41"/>
          <p:cNvSpPr txBox="1"/>
          <p:nvPr>
            <p:ph idx="4" type="body"/>
          </p:nvPr>
        </p:nvSpPr>
        <p:spPr>
          <a:xfrm>
            <a:off x="784196" y="1391661"/>
            <a:ext cx="3488545" cy="352905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None/>
            </a:pPr>
            <a:r>
              <a:rPr b="1" i="1" lang="es-ES" u="sng"/>
              <a:t>Diagrama de Actividades</a:t>
            </a:r>
            <a:endParaRPr/>
          </a:p>
          <a:p>
            <a:pPr indent="-266700" lvl="0" marL="266700" rtl="0" algn="l">
              <a:spcBef>
                <a:spcPts val="600"/>
              </a:spcBef>
              <a:spcAft>
                <a:spcPts val="0"/>
              </a:spcAft>
              <a:buClr>
                <a:schemeClr val="dk1"/>
              </a:buClr>
              <a:buSzPts val="1200"/>
              <a:buChar char="❑"/>
            </a:pPr>
            <a:r>
              <a:rPr lang="es-ES"/>
              <a:t>Puede ser útil para planificar y representar diferentes flujos de trabajo en pruebas automatizadas o manuales.</a:t>
            </a:r>
            <a:endParaRPr/>
          </a:p>
          <a:p>
            <a:pPr indent="0" lvl="0" marL="0" rtl="0" algn="l">
              <a:spcBef>
                <a:spcPts val="1200"/>
              </a:spcBef>
              <a:spcAft>
                <a:spcPts val="0"/>
              </a:spcAft>
              <a:buClr>
                <a:schemeClr val="dk1"/>
              </a:buClr>
              <a:buSzPts val="1200"/>
              <a:buNone/>
            </a:pPr>
            <a:r>
              <a:rPr b="1" i="1" lang="es-ES" u="sng"/>
              <a:t>Diagrama de Secuencia</a:t>
            </a:r>
            <a:endParaRPr/>
          </a:p>
          <a:p>
            <a:pPr indent="-266700" lvl="0" marL="266700" rtl="0" algn="l">
              <a:spcBef>
                <a:spcPts val="600"/>
              </a:spcBef>
              <a:spcAft>
                <a:spcPts val="0"/>
              </a:spcAft>
              <a:buClr>
                <a:schemeClr val="dk1"/>
              </a:buClr>
              <a:buSzPts val="1200"/>
              <a:buChar char="❑"/>
            </a:pPr>
            <a:r>
              <a:rPr lang="es-ES"/>
              <a:t>Es útil para entender y documentar flujos de pruebas específicas.</a:t>
            </a:r>
            <a:endParaRPr/>
          </a:p>
          <a:p>
            <a:pPr indent="-190500" lvl="0" marL="266700" rtl="0" algn="just">
              <a:spcBef>
                <a:spcPts val="1200"/>
              </a:spcBef>
              <a:spcAft>
                <a:spcPts val="0"/>
              </a:spcAft>
              <a:buClr>
                <a:schemeClr val="dk1"/>
              </a:buClr>
              <a:buSzPts val="1200"/>
              <a:buFont typeface="Noto Sans Symbols"/>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pic>
        <p:nvPicPr>
          <p:cNvPr id="435" name="Google Shape;435;p42"/>
          <p:cNvPicPr preferRelativeResize="0"/>
          <p:nvPr>
            <p:ph idx="2" type="pic"/>
          </p:nvPr>
        </p:nvPicPr>
        <p:blipFill rotWithShape="1">
          <a:blip r:embed="rId3">
            <a:alphaModFix/>
          </a:blip>
          <a:srcRect b="0" l="19338" r="19339" t="0"/>
          <a:stretch/>
        </p:blipFill>
        <p:spPr>
          <a:xfrm>
            <a:off x="4779817" y="1029697"/>
            <a:ext cx="3563361" cy="3875677"/>
          </a:xfrm>
          <a:prstGeom prst="rect">
            <a:avLst/>
          </a:prstGeom>
          <a:noFill/>
          <a:ln>
            <a:noFill/>
          </a:ln>
        </p:spPr>
      </p:pic>
      <p:sp>
        <p:nvSpPr>
          <p:cNvPr id="436" name="Google Shape;436;p42"/>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37" name="Google Shape;437;p42"/>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EN LA FASE DE MANTENIMIENTO</a:t>
            </a:r>
            <a:endParaRPr/>
          </a:p>
        </p:txBody>
      </p:sp>
      <p:sp>
        <p:nvSpPr>
          <p:cNvPr id="438" name="Google Shape;438;p42"/>
          <p:cNvSpPr txBox="1"/>
          <p:nvPr>
            <p:ph idx="4" type="body"/>
          </p:nvPr>
        </p:nvSpPr>
        <p:spPr>
          <a:xfrm>
            <a:off x="692757" y="1226691"/>
            <a:ext cx="3779490" cy="3678683"/>
          </a:xfrm>
          <a:prstGeom prst="rect">
            <a:avLst/>
          </a:prstGeom>
          <a:noFill/>
          <a:ln>
            <a:noFill/>
          </a:ln>
        </p:spPr>
        <p:txBody>
          <a:bodyPr anchorCtr="0" anchor="t" bIns="45700" lIns="91425" spcFirstLastPara="1" rIns="91425" wrap="square" tIns="45700">
            <a:noAutofit/>
          </a:bodyPr>
          <a:lstStyle/>
          <a:p>
            <a:pPr indent="-266700" lvl="0" marL="266700" rtl="0" algn="l">
              <a:spcBef>
                <a:spcPts val="0"/>
              </a:spcBef>
              <a:spcAft>
                <a:spcPts val="0"/>
              </a:spcAft>
              <a:buClr>
                <a:schemeClr val="dk1"/>
              </a:buClr>
              <a:buSzPts val="1200"/>
              <a:buChar char="❑"/>
            </a:pPr>
            <a:r>
              <a:rPr lang="es-ES"/>
              <a:t>Todos los diagramas UML son útiles en esta fase para entender el sistema existente, planificar mejoras o resolver problemas.</a:t>
            </a:r>
            <a:endParaRPr/>
          </a:p>
          <a:p>
            <a:pPr indent="-266700" lvl="0" marL="266700" rtl="0" algn="l">
              <a:spcBef>
                <a:spcPts val="1200"/>
              </a:spcBef>
              <a:spcAft>
                <a:spcPts val="0"/>
              </a:spcAft>
              <a:buClr>
                <a:schemeClr val="dk1"/>
              </a:buClr>
              <a:buSzPts val="1200"/>
              <a:buChar char="❑"/>
            </a:pPr>
            <a:r>
              <a:rPr lang="es-ES"/>
              <a:t>La utilización de diagramas UML puede ser muy flexible y dependerá de las necesidades específicas del proyecto, las metodologías utilizadas, y las preferencias del equipo de desarrollo.</a:t>
            </a:r>
            <a:endParaRPr/>
          </a:p>
          <a:p>
            <a:pPr indent="-266700" lvl="0" marL="266700" rtl="0" algn="l">
              <a:spcBef>
                <a:spcPts val="1200"/>
              </a:spcBef>
              <a:spcAft>
                <a:spcPts val="0"/>
              </a:spcAft>
              <a:buClr>
                <a:schemeClr val="dk1"/>
              </a:buClr>
              <a:buSzPts val="1200"/>
              <a:buChar char="❑"/>
            </a:pPr>
            <a:r>
              <a:rPr lang="es-ES"/>
              <a:t>Tener un enfoque faseado para el uso de diagramas UML puede ayudar en la planificación y ejecución exitosa del proyecto.</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pic>
        <p:nvPicPr>
          <p:cNvPr id="444" name="Google Shape;444;p43"/>
          <p:cNvPicPr preferRelativeResize="0"/>
          <p:nvPr>
            <p:ph idx="2" type="pic"/>
          </p:nvPr>
        </p:nvPicPr>
        <p:blipFill rotWithShape="1">
          <a:blip r:embed="rId3">
            <a:alphaModFix/>
          </a:blip>
          <a:srcRect b="0" l="19338" r="19339" t="0"/>
          <a:stretch/>
        </p:blipFill>
        <p:spPr>
          <a:xfrm>
            <a:off x="5503025" y="1186380"/>
            <a:ext cx="3072910" cy="3342240"/>
          </a:xfrm>
          <a:prstGeom prst="rect">
            <a:avLst/>
          </a:prstGeom>
          <a:noFill/>
          <a:ln>
            <a:noFill/>
          </a:ln>
        </p:spPr>
      </p:pic>
      <p:sp>
        <p:nvSpPr>
          <p:cNvPr id="445" name="Google Shape;445;p43"/>
          <p:cNvSpPr txBox="1"/>
          <p:nvPr>
            <p:ph idx="3" type="body"/>
          </p:nvPr>
        </p:nvSpPr>
        <p:spPr>
          <a:xfrm>
            <a:off x="468313" y="277813"/>
            <a:ext cx="8207375" cy="354012"/>
          </a:xfrm>
          <a:prstGeom prst="rect">
            <a:avLst/>
          </a:prstGeom>
          <a:noFill/>
          <a:ln>
            <a:noFill/>
          </a:ln>
        </p:spPr>
        <p:txBody>
          <a:bodyPr anchorCtr="0" anchor="t" bIns="36000" lIns="72000" spcFirstLastPara="1" rIns="72000" wrap="square" tIns="36000">
            <a:noAutofit/>
          </a:bodyPr>
          <a:lstStyle/>
          <a:p>
            <a:pPr indent="-274638" lvl="0" marL="274638" rtl="0" algn="l">
              <a:spcBef>
                <a:spcPts val="0"/>
              </a:spcBef>
              <a:spcAft>
                <a:spcPts val="0"/>
              </a:spcAft>
              <a:buClr>
                <a:srgbClr val="0070C0"/>
              </a:buClr>
              <a:buSzPts val="1800"/>
              <a:buNone/>
            </a:pPr>
            <a:r>
              <a:rPr b="0" lang="es-ES">
                <a:solidFill>
                  <a:srgbClr val="0070C0"/>
                </a:solidFill>
              </a:rPr>
              <a:t>/ DIAGRAMAS UML</a:t>
            </a:r>
            <a:endParaRPr b="0">
              <a:solidFill>
                <a:srgbClr val="0070C0"/>
              </a:solidFill>
            </a:endParaRPr>
          </a:p>
        </p:txBody>
      </p:sp>
      <p:sp>
        <p:nvSpPr>
          <p:cNvPr id="446" name="Google Shape;446;p43"/>
          <p:cNvSpPr txBox="1"/>
          <p:nvPr>
            <p:ph idx="1" type="body"/>
          </p:nvPr>
        </p:nvSpPr>
        <p:spPr>
          <a:xfrm>
            <a:off x="468313" y="809626"/>
            <a:ext cx="4103687" cy="354012"/>
          </a:xfrm>
          <a:prstGeom prst="rect">
            <a:avLst/>
          </a:prstGeom>
          <a:noFill/>
          <a:ln>
            <a:noFill/>
          </a:ln>
        </p:spPr>
        <p:txBody>
          <a:bodyPr anchorCtr="0" anchor="ctr" bIns="36000" lIns="72000" spcFirstLastPara="1" rIns="72000" wrap="square" tIns="36000">
            <a:noAutofit/>
          </a:bodyPr>
          <a:lstStyle/>
          <a:p>
            <a:pPr indent="0" lvl="0" marL="0" rtl="0" algn="l">
              <a:lnSpc>
                <a:spcPct val="85000"/>
              </a:lnSpc>
              <a:spcBef>
                <a:spcPts val="0"/>
              </a:spcBef>
              <a:spcAft>
                <a:spcPts val="0"/>
              </a:spcAft>
              <a:buClr>
                <a:schemeClr val="dk1"/>
              </a:buClr>
              <a:buSzPts val="1600"/>
              <a:buNone/>
            </a:pPr>
            <a:r>
              <a:rPr lang="es-ES"/>
              <a:t>BUENAS PRÁCTICAS GENERALES</a:t>
            </a:r>
            <a:endParaRPr/>
          </a:p>
        </p:txBody>
      </p:sp>
      <p:sp>
        <p:nvSpPr>
          <p:cNvPr id="447" name="Google Shape;447;p43"/>
          <p:cNvSpPr txBox="1"/>
          <p:nvPr>
            <p:ph idx="4" type="body"/>
          </p:nvPr>
        </p:nvSpPr>
        <p:spPr>
          <a:xfrm>
            <a:off x="468313" y="1233776"/>
            <a:ext cx="4519323" cy="4096800"/>
          </a:xfrm>
          <a:prstGeom prst="rect">
            <a:avLst/>
          </a:prstGeom>
          <a:noFill/>
          <a:ln>
            <a:noFill/>
          </a:ln>
        </p:spPr>
        <p:txBody>
          <a:bodyPr anchorCtr="0" anchor="t" bIns="45700" lIns="91425" spcFirstLastPara="1" rIns="91425" wrap="square" tIns="45700">
            <a:noAutofit/>
          </a:bodyPr>
          <a:lstStyle/>
          <a:p>
            <a:pPr indent="-174625" lvl="0" marL="174625" rtl="0" algn="l">
              <a:spcBef>
                <a:spcPts val="0"/>
              </a:spcBef>
              <a:spcAft>
                <a:spcPts val="0"/>
              </a:spcAft>
              <a:buClr>
                <a:schemeClr val="dk1"/>
              </a:buClr>
              <a:buSzPts val="1600"/>
              <a:buFont typeface="Calibri"/>
              <a:buAutoNum type="arabicPeriod"/>
            </a:pPr>
            <a:r>
              <a:rPr b="1" i="1" lang="es-ES" u="sng"/>
              <a:t>Menos es Más</a:t>
            </a:r>
            <a:r>
              <a:rPr lang="es-ES"/>
              <a:t>: No intentes representar cada detalle en un solo diagrama, eso lo haría difícil de leer y mantener.</a:t>
            </a:r>
            <a:endParaRPr/>
          </a:p>
          <a:p>
            <a:pPr indent="-174625" lvl="0" marL="174625" rtl="0" algn="l">
              <a:spcBef>
                <a:spcPts val="900"/>
              </a:spcBef>
              <a:spcAft>
                <a:spcPts val="0"/>
              </a:spcAft>
              <a:buClr>
                <a:schemeClr val="dk1"/>
              </a:buClr>
              <a:buSzPts val="1600"/>
              <a:buFont typeface="Calibri"/>
              <a:buAutoNum type="arabicPeriod"/>
            </a:pPr>
            <a:r>
              <a:rPr b="1" i="1" lang="es-ES" u="sng"/>
              <a:t>Itera y Refina</a:t>
            </a:r>
            <a:r>
              <a:rPr lang="es-ES"/>
              <a:t>: Los diagramas deben actualizarse a medida que el sistema evoluciona.</a:t>
            </a:r>
            <a:endParaRPr/>
          </a:p>
          <a:p>
            <a:pPr indent="-174625" lvl="0" marL="174625" rtl="0" algn="l">
              <a:spcBef>
                <a:spcPts val="900"/>
              </a:spcBef>
              <a:spcAft>
                <a:spcPts val="0"/>
              </a:spcAft>
              <a:buClr>
                <a:schemeClr val="dk1"/>
              </a:buClr>
              <a:buSzPts val="1600"/>
              <a:buFont typeface="Calibri"/>
              <a:buAutoNum type="arabicPeriod"/>
            </a:pPr>
            <a:r>
              <a:rPr b="1" i="1" lang="es-ES" u="sng"/>
              <a:t>Centra el Enfoque</a:t>
            </a:r>
            <a:r>
              <a:rPr lang="es-ES"/>
              <a:t>: Cada diagrama debe centrarse en un aspecto particular del sistema.</a:t>
            </a:r>
            <a:endParaRPr/>
          </a:p>
          <a:p>
            <a:pPr indent="-174625" lvl="0" marL="174625" rtl="0" algn="l">
              <a:spcBef>
                <a:spcPts val="900"/>
              </a:spcBef>
              <a:spcAft>
                <a:spcPts val="0"/>
              </a:spcAft>
              <a:buClr>
                <a:schemeClr val="dk1"/>
              </a:buClr>
              <a:buSzPts val="1600"/>
              <a:buFont typeface="Calibri"/>
              <a:buAutoNum type="arabicPeriod"/>
            </a:pPr>
            <a:r>
              <a:rPr b="1" i="1" lang="es-ES" u="sng"/>
              <a:t>Consistencia</a:t>
            </a:r>
            <a:r>
              <a:rPr lang="es-ES"/>
              <a:t>: Mantén la consistencia en notación y nivel de detalle entre los diferentes tipos de diagramas.</a:t>
            </a:r>
            <a:endParaRPr/>
          </a:p>
          <a:p>
            <a:pPr indent="-174625" lvl="0" marL="174625" rtl="0" algn="l">
              <a:spcBef>
                <a:spcPts val="900"/>
              </a:spcBef>
              <a:spcAft>
                <a:spcPts val="0"/>
              </a:spcAft>
              <a:buClr>
                <a:schemeClr val="dk1"/>
              </a:buClr>
              <a:buSzPts val="1600"/>
              <a:buFont typeface="Calibri"/>
              <a:buAutoNum type="arabicPeriod"/>
            </a:pPr>
            <a:r>
              <a:rPr b="1" i="1" lang="es-ES" u="sng"/>
              <a:t>Documenta</a:t>
            </a:r>
            <a:r>
              <a:rPr lang="es-ES"/>
              <a:t>: Utiliza notas y leyendas para explicar partes del diagrama que podrían no ser inmediatamente claras.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4"/>
          <p:cNvSpPr/>
          <p:nvPr/>
        </p:nvSpPr>
        <p:spPr>
          <a:xfrm>
            <a:off x="0" y="0"/>
            <a:ext cx="9144000" cy="5715000"/>
          </a:xfrm>
          <a:prstGeom prst="rect">
            <a:avLst/>
          </a:prstGeom>
          <a:solidFill>
            <a:srgbClr val="1F85A6"/>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454" name="Google Shape;454;p44"/>
          <p:cNvSpPr/>
          <p:nvPr/>
        </p:nvSpPr>
        <p:spPr>
          <a:xfrm>
            <a:off x="1276149" y="788890"/>
            <a:ext cx="7204492" cy="427805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Los Diagramas UML pueden adaptarse a diferentes fases del ciclo de vida del desarrollo de sistemas, desde la recolección de requisitos hasta el mantenimiento, y son útiles para equipos con distintas metodologías y tamaños.</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No existe un “Modelo UML completo” estandarizado, la selección de diagramas UML a utilizar depende de las necesidades específicas del proyecto y del equipo de desarrollo.</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Cada diagrama UML tiene un propósito específico y se centra en un aspecto específico del sistema.</a:t>
            </a:r>
            <a:endParaRPr/>
          </a:p>
          <a:p>
            <a:pPr indent="-177800" lvl="0" marL="285750" marR="0" rtl="0" algn="l">
              <a:spcBef>
                <a:spcPts val="0"/>
              </a:spcBef>
              <a:spcAft>
                <a:spcPts val="0"/>
              </a:spcAft>
              <a:buClr>
                <a:schemeClr val="dk1"/>
              </a:buClr>
              <a:buSzPts val="1700"/>
              <a:buFont typeface="Arial"/>
              <a:buNone/>
            </a:pPr>
            <a:r>
              <a:t/>
            </a:r>
            <a:endParaRPr sz="1700">
              <a:solidFill>
                <a:schemeClr val="lt1"/>
              </a:solidFill>
              <a:latin typeface="Calibri"/>
              <a:ea typeface="Calibri"/>
              <a:cs typeface="Calibri"/>
              <a:sym typeface="Calibri"/>
            </a:endParaRPr>
          </a:p>
          <a:p>
            <a:pPr indent="-285750" lvl="0" marL="285750" marR="0" rtl="0" algn="l">
              <a:spcBef>
                <a:spcPts val="0"/>
              </a:spcBef>
              <a:spcAft>
                <a:spcPts val="0"/>
              </a:spcAft>
              <a:buClr>
                <a:schemeClr val="lt1"/>
              </a:buClr>
              <a:buSzPts val="1700"/>
              <a:buFont typeface="Arial"/>
              <a:buChar char="•"/>
            </a:pPr>
            <a:r>
              <a:rPr lang="es-ES" sz="1700">
                <a:solidFill>
                  <a:schemeClr val="lt1"/>
                </a:solidFill>
                <a:latin typeface="Calibri"/>
                <a:ea typeface="Calibri"/>
                <a:cs typeface="Calibri"/>
                <a:sym typeface="Calibri"/>
              </a:rPr>
              <a:t>Emplear diagramas pertinentes en las fases apropiadas del desarrollo puede facilitar la comprensión del sistema, mejorar la comunicación entre los miembros del equipo y servir como documentación útil a lo largo del proyecto.</a:t>
            </a:r>
            <a:endParaRPr/>
          </a:p>
        </p:txBody>
      </p:sp>
      <p:sp>
        <p:nvSpPr>
          <p:cNvPr id="455" name="Google Shape;455;p44"/>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lt1"/>
              </a:buClr>
              <a:buSzPts val="1700"/>
              <a:buFont typeface="Calibri"/>
              <a:buNone/>
            </a:pPr>
            <a:r>
              <a:rPr lang="es-ES" sz="1700">
                <a:solidFill>
                  <a:schemeClr val="lt1"/>
                </a:solidFill>
                <a:latin typeface="Calibri"/>
                <a:ea typeface="Calibri"/>
                <a:cs typeface="Calibri"/>
                <a:sym typeface="Calibri"/>
              </a:rPr>
              <a:t>/ CONCLUSIONES</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5"/>
          <p:cNvSpPr txBox="1"/>
          <p:nvPr/>
        </p:nvSpPr>
        <p:spPr>
          <a:xfrm>
            <a:off x="665325" y="781650"/>
            <a:ext cx="8036700" cy="43047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None/>
            </a:pPr>
            <a:r>
              <a:rPr lang="es-ES" sz="1600">
                <a:solidFill>
                  <a:schemeClr val="dk1"/>
                </a:solidFill>
                <a:latin typeface="Calibri"/>
                <a:ea typeface="Calibri"/>
                <a:cs typeface="Calibri"/>
                <a:sym typeface="Calibri"/>
              </a:rPr>
              <a:t>Visual Paradigm. (2022). </a:t>
            </a:r>
            <a:r>
              <a:rPr lang="es-ES" sz="1600" u="sng">
                <a:solidFill>
                  <a:schemeClr val="dk1"/>
                </a:solidFill>
                <a:latin typeface="Calibri"/>
                <a:ea typeface="Calibri"/>
                <a:cs typeface="Calibri"/>
                <a:sym typeface="Calibri"/>
                <a:hlinkClick r:id="rId3">
                  <a:extLst>
                    <a:ext uri="{A12FA001-AC4F-418D-AE19-62706E023703}">
                      <ahyp:hlinkClr val="tx"/>
                    </a:ext>
                  </a:extLst>
                </a:hlinkClick>
              </a:rPr>
              <a:t>https://www.visual-paradigm.com/guide/uml-unified-modeling-language/uml-diagram-types/</a:t>
            </a:r>
            <a:r>
              <a:rPr lang="es-ES"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UML.org. (2021). What is UML? </a:t>
            </a:r>
            <a:r>
              <a:rPr lang="es-ES" sz="1600" u="sng">
                <a:solidFill>
                  <a:schemeClr val="dk1"/>
                </a:solidFill>
                <a:latin typeface="Calibri"/>
                <a:ea typeface="Calibri"/>
                <a:cs typeface="Calibri"/>
                <a:sym typeface="Calibri"/>
                <a:hlinkClick r:id="rId4">
                  <a:extLst>
                    <a:ext uri="{A12FA001-AC4F-418D-AE19-62706E023703}">
                      <ahyp:hlinkClr val="tx"/>
                    </a:ext>
                  </a:extLst>
                </a:hlinkClick>
              </a:rPr>
              <a:t>http://www.uml.org/what-is-uml.htm</a:t>
            </a:r>
            <a:r>
              <a:rPr lang="es-ES"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IBM Developer. (2020). </a:t>
            </a:r>
            <a:r>
              <a:rPr lang="es-ES" sz="1600" u="sng">
                <a:solidFill>
                  <a:schemeClr val="dk1"/>
                </a:solidFill>
                <a:latin typeface="Calibri"/>
                <a:ea typeface="Calibri"/>
                <a:cs typeface="Calibri"/>
                <a:sym typeface="Calibri"/>
                <a:hlinkClick r:id="rId5">
                  <a:extLst>
                    <a:ext uri="{A12FA001-AC4F-418D-AE19-62706E023703}">
                      <ahyp:hlinkClr val="tx"/>
                    </a:ext>
                  </a:extLst>
                </a:hlinkClick>
              </a:rPr>
              <a:t>https://developer.ibm.com/articles/the-class-diagram/</a:t>
            </a:r>
            <a:r>
              <a:rPr lang="es-ES" sz="1600">
                <a:solidFill>
                  <a:schemeClr val="dk1"/>
                </a:solidFill>
                <a:latin typeface="Calibri"/>
                <a:ea typeface="Calibri"/>
                <a:cs typeface="Calibri"/>
                <a:sym typeface="Calibri"/>
              </a:rPr>
              <a:t> </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Dennis, A., Wixom, B. H., &amp; Tegarden, D. (2015). Systems Analysis and Design: An Object-Oriented Approach with UML. Wiley.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Ambler, S. W., &amp; Jeffries, R. (2002). Introduction to UML 2. Addison-Wesley.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Fowler, M. (2003). UML Distilled: A Brief Guide to the Standard Object Modeling Language (3rd ed.). Addison-Wesley.</a:t>
            </a:r>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s-ES" sz="1600">
                <a:solidFill>
                  <a:schemeClr val="dk1"/>
                </a:solidFill>
                <a:latin typeface="Calibri"/>
                <a:ea typeface="Calibri"/>
                <a:cs typeface="Calibri"/>
                <a:sym typeface="Calibri"/>
              </a:rPr>
              <a:t>Dennis, A., &amp; Valacich, J. S. (2001). The Emergence of the Unified Modeling Language (UML). Information Systems Management, 18(3), 56–63.</a:t>
            </a:r>
            <a:endParaRPr/>
          </a:p>
          <a:p>
            <a:pPr indent="0" lvl="0" marL="269875" marR="0" rtl="0" algn="l">
              <a:spcBef>
                <a:spcPts val="0"/>
              </a:spcBef>
              <a:spcAft>
                <a:spcPts val="0"/>
              </a:spcAft>
              <a:buClr>
                <a:schemeClr val="dk1"/>
              </a:buClr>
              <a:buSzPts val="1600"/>
              <a:buFont typeface="Calibri"/>
              <a:buNone/>
            </a:pPr>
            <a:r>
              <a:t/>
            </a:r>
            <a:endParaRPr sz="1600">
              <a:solidFill>
                <a:schemeClr val="dk1"/>
              </a:solidFill>
              <a:latin typeface="Calibri"/>
              <a:ea typeface="Calibri"/>
              <a:cs typeface="Calibri"/>
              <a:sym typeface="Calibri"/>
            </a:endParaRPr>
          </a:p>
          <a:p>
            <a:pPr indent="-73025" lvl="0" marL="174625" marR="0" rtl="0" algn="l">
              <a:spcBef>
                <a:spcPts val="0"/>
              </a:spcBef>
              <a:spcAft>
                <a:spcPts val="0"/>
              </a:spcAft>
              <a:buClr>
                <a:schemeClr val="dk1"/>
              </a:buClr>
              <a:buSzPts val="1600"/>
              <a:buFont typeface="Arial"/>
              <a:buNone/>
            </a:pPr>
            <a:r>
              <a:t/>
            </a:r>
            <a:endParaRPr sz="1600">
              <a:solidFill>
                <a:schemeClr val="dk1"/>
              </a:solidFill>
              <a:latin typeface="Calibri"/>
              <a:ea typeface="Calibri"/>
              <a:cs typeface="Calibri"/>
              <a:sym typeface="Calibri"/>
            </a:endParaRPr>
          </a:p>
        </p:txBody>
      </p:sp>
      <p:sp>
        <p:nvSpPr>
          <p:cNvPr id="462" name="Google Shape;462;p45"/>
          <p:cNvSpPr/>
          <p:nvPr/>
        </p:nvSpPr>
        <p:spPr>
          <a:xfrm>
            <a:off x="407875" y="320830"/>
            <a:ext cx="7204493"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438AD7"/>
              </a:buClr>
              <a:buSzPts val="1700"/>
              <a:buFont typeface="Calibri"/>
              <a:buNone/>
            </a:pPr>
            <a:r>
              <a:rPr lang="es-ES" sz="1700">
                <a:solidFill>
                  <a:srgbClr val="438AD7"/>
                </a:solidFill>
                <a:latin typeface="Calibri"/>
                <a:ea typeface="Calibri"/>
                <a:cs typeface="Calibri"/>
                <a:sym typeface="Calibri"/>
              </a:rPr>
              <a:t>/ BIBLIOGRAFÍA</a:t>
            </a:r>
            <a:endParaRPr sz="18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2016-10-06T14:52:02Z</dcterms:created>
  <dc:creator>ISIL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