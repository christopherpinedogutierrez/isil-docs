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715000" cx="9144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42" roundtripDataSignature="AMtx7mhuE49cVDZvvK+nXkgwNV25+LjR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30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1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3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3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3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Subtema con Imagen Horizontal">
  <p:cSld name="1_Diapo_Subtema con Imagen Horizontal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>
            <p:ph idx="2" type="pic"/>
          </p:nvPr>
        </p:nvSpPr>
        <p:spPr>
          <a:xfrm>
            <a:off x="475687" y="2877477"/>
            <a:ext cx="8207375" cy="2394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9"/>
          <p:cNvSpPr txBox="1"/>
          <p:nvPr>
            <p:ph idx="1" type="body"/>
          </p:nvPr>
        </p:nvSpPr>
        <p:spPr>
          <a:xfrm>
            <a:off x="475687" y="80486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3" type="body"/>
          </p:nvPr>
        </p:nvSpPr>
        <p:spPr>
          <a:xfrm>
            <a:off x="475687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1F85A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F85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9"/>
          <p:cNvSpPr txBox="1"/>
          <p:nvPr>
            <p:ph idx="4" type="body"/>
          </p:nvPr>
        </p:nvSpPr>
        <p:spPr>
          <a:xfrm>
            <a:off x="475687" y="1169422"/>
            <a:ext cx="82008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elius"/>
              <a:buChar char="→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5">
          <p15:clr>
            <a:srgbClr val="FBAE40"/>
          </p15:clr>
        </p15:guide>
        <p15:guide id="2" pos="5465">
          <p15:clr>
            <a:srgbClr val="FBAE40"/>
          </p15:clr>
        </p15:guide>
        <p15:guide id="3" orient="horz" pos="1800">
          <p15:clr>
            <a:srgbClr val="FBAE40"/>
          </p15:clr>
        </p15:guide>
        <p15:guide id="4" orient="horz" pos="507">
          <p15:clr>
            <a:srgbClr val="FBAE40"/>
          </p15:clr>
        </p15:guide>
        <p15:guide id="5" orient="horz" pos="33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Subtema con Imagen Vertical">
  <p:cSld name="Diapo_Subtema con Imagen Vertic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/>
          <p:nvPr>
            <p:ph idx="2" type="pic"/>
          </p:nvPr>
        </p:nvSpPr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1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1F85A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F85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41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elius"/>
              <a:buChar char="→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5">
          <p15:clr>
            <a:srgbClr val="FBAE40"/>
          </p15:clr>
        </p15:guide>
        <p15:guide id="2" pos="5465">
          <p15:clr>
            <a:srgbClr val="FBAE40"/>
          </p15:clr>
        </p15:guide>
        <p15:guide id="3" orient="horz" pos="1800">
          <p15:clr>
            <a:srgbClr val="FBAE40"/>
          </p15:clr>
        </p15:guide>
        <p15:guide id="4" orient="horz" pos="507">
          <p15:clr>
            <a:srgbClr val="FBAE40"/>
          </p15:clr>
        </p15:guide>
        <p15:guide id="5" orient="horz" pos="3320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Introduccion">
  <p:cSld name="Diapo_Introduccion">
    <p:bg>
      <p:bgPr>
        <a:solidFill>
          <a:srgbClr val="F2F2F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/>
          <p:nvPr/>
        </p:nvSpPr>
        <p:spPr>
          <a:xfrm>
            <a:off x="503238" y="997483"/>
            <a:ext cx="19458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None/>
            </a:pPr>
            <a:r>
              <a:rPr b="1" i="0" lang="es-ES" sz="1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/>
          </a:p>
        </p:txBody>
      </p:sp>
      <p:pic>
        <p:nvPicPr>
          <p:cNvPr id="29" name="Google Shape;2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3239" y="573356"/>
            <a:ext cx="424127" cy="4241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30" name="Google Shape;30;p43"/>
          <p:cNvSpPr txBox="1"/>
          <p:nvPr>
            <p:ph idx="1" type="body"/>
          </p:nvPr>
        </p:nvSpPr>
        <p:spPr>
          <a:xfrm>
            <a:off x="503238" y="1670050"/>
            <a:ext cx="8137525" cy="3563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elius"/>
              <a:buChar char="→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52">
          <p15:clr>
            <a:srgbClr val="FBAE40"/>
          </p15:clr>
        </p15:guide>
        <p15:guide id="2" pos="317">
          <p15:clr>
            <a:srgbClr val="FBAE40"/>
          </p15:clr>
        </p15:guide>
        <p15:guide id="3" pos="5443">
          <p15:clr>
            <a:srgbClr val="FBAE40"/>
          </p15:clr>
        </p15:guide>
        <p15:guide id="4" orient="horz" pos="329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Subtema con Imagen Horizontal">
  <p:cSld name="Diapo_Subtema con Imagen Horizontal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/>
          <p:nvPr>
            <p:ph idx="2" type="pic"/>
          </p:nvPr>
        </p:nvSpPr>
        <p:spPr>
          <a:xfrm>
            <a:off x="475687" y="2877477"/>
            <a:ext cx="8207375" cy="23940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4"/>
          <p:cNvSpPr txBox="1"/>
          <p:nvPr>
            <p:ph idx="1" type="body"/>
          </p:nvPr>
        </p:nvSpPr>
        <p:spPr>
          <a:xfrm>
            <a:off x="475687" y="80486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44"/>
          <p:cNvSpPr txBox="1"/>
          <p:nvPr>
            <p:ph idx="3" type="body"/>
          </p:nvPr>
        </p:nvSpPr>
        <p:spPr>
          <a:xfrm>
            <a:off x="475687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1F85A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F85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4"/>
          <p:cNvSpPr txBox="1"/>
          <p:nvPr>
            <p:ph idx="4" type="body"/>
          </p:nvPr>
        </p:nvSpPr>
        <p:spPr>
          <a:xfrm>
            <a:off x="475687" y="1169422"/>
            <a:ext cx="82008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elius"/>
              <a:buChar char="→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5">
          <p15:clr>
            <a:srgbClr val="FBAE40"/>
          </p15:clr>
        </p15:guide>
        <p15:guide id="2" pos="5465">
          <p15:clr>
            <a:srgbClr val="FBAE40"/>
          </p15:clr>
        </p15:guide>
        <p15:guide id="3" orient="horz" pos="1800">
          <p15:clr>
            <a:srgbClr val="FBAE40"/>
          </p15:clr>
        </p15:guide>
        <p15:guide id="4" orient="horz" pos="507">
          <p15:clr>
            <a:srgbClr val="FBAE40"/>
          </p15:clr>
        </p15:guide>
        <p15:guide id="5" orient="horz" pos="33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Subtema con Cuadro">
  <p:cSld name="Diapo_Subtema con Cuadro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/>
          <p:nvPr>
            <p:ph idx="2" type="pic"/>
          </p:nvPr>
        </p:nvSpPr>
        <p:spPr>
          <a:xfrm>
            <a:off x="468313" y="1175705"/>
            <a:ext cx="8207375" cy="4096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5"/>
          <p:cNvSpPr txBox="1"/>
          <p:nvPr>
            <p:ph idx="1" type="body"/>
          </p:nvPr>
        </p:nvSpPr>
        <p:spPr>
          <a:xfrm>
            <a:off x="468313" y="81047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45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1F85A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F85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5">
          <p15:clr>
            <a:srgbClr val="FBAE40"/>
          </p15:clr>
        </p15:guide>
        <p15:guide id="2" pos="5465">
          <p15:clr>
            <a:srgbClr val="FBAE40"/>
          </p15:clr>
        </p15:guide>
        <p15:guide id="3" orient="horz" pos="1800">
          <p15:clr>
            <a:srgbClr val="FBAE40"/>
          </p15:clr>
        </p15:guide>
        <p15:guide id="4" orient="horz" pos="507">
          <p15:clr>
            <a:srgbClr val="FBAE40"/>
          </p15:clr>
        </p15:guide>
        <p15:guide id="5" orient="horz" pos="3320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Full texto">
  <p:cSld name="Diapo_Full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468313" y="810473"/>
            <a:ext cx="8207375" cy="3540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46"/>
          <p:cNvSpPr txBox="1"/>
          <p:nvPr>
            <p:ph idx="2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46"/>
          <p:cNvSpPr txBox="1"/>
          <p:nvPr>
            <p:ph idx="3" type="body"/>
          </p:nvPr>
        </p:nvSpPr>
        <p:spPr>
          <a:xfrm>
            <a:off x="468313" y="1174363"/>
            <a:ext cx="8207375" cy="45406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Noto Sans Symbols"/>
              <a:buChar char="❑"/>
              <a:defRPr b="0" i="1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Char char="▪"/>
              <a:defRPr b="0" i="1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5">
          <p15:clr>
            <a:srgbClr val="FBAE40"/>
          </p15:clr>
        </p15:guide>
        <p15:guide id="2" pos="5465">
          <p15:clr>
            <a:srgbClr val="FBAE40"/>
          </p15:clr>
        </p15:guide>
        <p15:guide id="3" orient="horz" pos="1800">
          <p15:clr>
            <a:srgbClr val="FBAE40"/>
          </p15:clr>
        </p15:guide>
        <p15:guide id="4" orient="horz" pos="507">
          <p15:clr>
            <a:srgbClr val="FBAE40"/>
          </p15:clr>
        </p15:guide>
        <p15:guide id="5" orient="horz" pos="3320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Subtema">
  <p:cSld name="Diapo_Subtem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idx="1" type="body"/>
          </p:nvPr>
        </p:nvSpPr>
        <p:spPr>
          <a:xfrm>
            <a:off x="468314" y="3714841"/>
            <a:ext cx="5543549" cy="81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5">
          <p15:clr>
            <a:srgbClr val="FBAE40"/>
          </p15:clr>
        </p15:guide>
        <p15:guide id="2" pos="378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Conclusiones">
  <p:cSld name="Diapo_Conclusione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/>
          <p:nvPr/>
        </p:nvSpPr>
        <p:spPr>
          <a:xfrm>
            <a:off x="503238" y="997483"/>
            <a:ext cx="19458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Calibri"/>
              <a:buNone/>
            </a:pPr>
            <a:r>
              <a:rPr b="1" i="0" lang="es-ES" sz="16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pic>
        <p:nvPicPr>
          <p:cNvPr id="48" name="Google Shape;4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9" y="573356"/>
            <a:ext cx="424127" cy="42412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8"/>
          <p:cNvSpPr txBox="1"/>
          <p:nvPr>
            <p:ph idx="1" type="body"/>
          </p:nvPr>
        </p:nvSpPr>
        <p:spPr>
          <a:xfrm>
            <a:off x="927366" y="1670909"/>
            <a:ext cx="7713398" cy="3526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_Bibliografía">
  <p:cSld name="Diapo_Bibliografí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/>
          <p:nvPr/>
        </p:nvSpPr>
        <p:spPr>
          <a:xfrm>
            <a:off x="503238" y="997483"/>
            <a:ext cx="1945800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Calibri"/>
              <a:buNone/>
            </a:pPr>
            <a:r>
              <a:rPr b="1" i="0" lang="es-ES" sz="16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52" name="Google Shape;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9" y="573356"/>
            <a:ext cx="424127" cy="42412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9"/>
          <p:cNvSpPr txBox="1"/>
          <p:nvPr>
            <p:ph idx="1" type="body"/>
          </p:nvPr>
        </p:nvSpPr>
        <p:spPr>
          <a:xfrm>
            <a:off x="927366" y="1670049"/>
            <a:ext cx="7713398" cy="3527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7"/>
          <p:cNvGrpSpPr/>
          <p:nvPr/>
        </p:nvGrpSpPr>
        <p:grpSpPr>
          <a:xfrm>
            <a:off x="793745" y="5369051"/>
            <a:ext cx="8104595" cy="215444"/>
            <a:chOff x="793745" y="5369051"/>
            <a:chExt cx="7954689" cy="215444"/>
          </a:xfrm>
        </p:grpSpPr>
        <p:sp>
          <p:nvSpPr>
            <p:cNvPr id="11" name="Google Shape;11;p37"/>
            <p:cNvSpPr txBox="1"/>
            <p:nvPr/>
          </p:nvSpPr>
          <p:spPr>
            <a:xfrm>
              <a:off x="793745" y="5369051"/>
              <a:ext cx="21337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ANÁLISIS Y DISEÑO DE SISTEMAS II  •  SESIÓN 12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37"/>
            <p:cNvSpPr/>
            <p:nvPr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2023 ISIL. Todos los derechos reservados</a:t>
              </a:r>
              <a:endParaRPr/>
            </a:p>
          </p:txBody>
        </p:sp>
      </p:grpSp>
      <p:pic>
        <p:nvPicPr>
          <p:cNvPr id="13" name="Google Shape;13;p37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345172" y="5328911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80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ibm.com/articles/the-introduction-to-uml/" TargetMode="External"/><Relationship Id="rId4" Type="http://schemas.openxmlformats.org/officeDocument/2006/relationships/hyperlink" Target="https://www.tutorialspoint.com/uml/index.htm" TargetMode="External"/><Relationship Id="rId5" Type="http://schemas.openxmlformats.org/officeDocument/2006/relationships/hyperlink" Target="https://www.visual-paradigm.com/guide/uml-unified-modeling-languag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/>
          <p:nvPr/>
        </p:nvSpPr>
        <p:spPr>
          <a:xfrm>
            <a:off x="0" y="14248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088505" y="1653293"/>
            <a:ext cx="8731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2051281" y="1730819"/>
            <a:ext cx="96425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lang="es-E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3175138" y="1777107"/>
            <a:ext cx="5422704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RELACIONES UML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3175138" y="2996279"/>
            <a:ext cx="5026425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Asociaciones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Multiplicidad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Composición, Agregación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Herencia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Polimorfismo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"/>
          <p:cNvCxnSpPr/>
          <p:nvPr/>
        </p:nvCxnSpPr>
        <p:spPr>
          <a:xfrm>
            <a:off x="3056456" y="1777107"/>
            <a:ext cx="0" cy="720031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/>
          <p:nvPr/>
        </p:nvSpPr>
        <p:spPr>
          <a:xfrm>
            <a:off x="3289191" y="2568993"/>
            <a:ext cx="3672000" cy="1938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85A6"/>
              </a:buClr>
              <a:buSzPts val="1400"/>
              <a:buFont typeface="Calibri"/>
              <a:buNone/>
            </a:pPr>
            <a:r>
              <a:rPr b="1" lang="es-ES" sz="1400">
                <a:solidFill>
                  <a:srgbClr val="1F85A6"/>
                </a:solidFill>
                <a:latin typeface="Calibri"/>
                <a:ea typeface="Calibri"/>
                <a:cs typeface="Calibri"/>
                <a:sym typeface="Calibri"/>
              </a:rPr>
              <a:t>UNIDAD DE APRENDIZAJE 4 – UA4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8AD7"/>
              </a:buClr>
              <a:buSzPts val="1700"/>
              <a:buFont typeface="Calibri"/>
              <a:buNone/>
            </a:pPr>
            <a:r>
              <a:rPr lang="es-ES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INTRODUCCIÓN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573212" y="761206"/>
            <a:ext cx="7784512" cy="3563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contexto del análisis y diseño de sistemas de información, las relaciones UML son útiles para visualizar y documentar varios aspectos de la arquitectura y diseño de un sistema de software. Permiten modelar las interacciones y dependencias entre clases, interfaces, componentes, etc. Esto ayuda a entender mejor el diseño del sistema y cómo cambios en una parte pueden afectar otras partes.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Entonces, durante esta sesión: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Conocerá</a:t>
            </a: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los conceptos y definiciones clave relacionados a los diagramas de clases.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Aprenderás</a:t>
            </a: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identificar los elementos del diagrama de clases.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Comprenderás</a:t>
            </a: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cuándo es pertinente el apropiado uso del diagrama de clases.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24252" y="3703125"/>
            <a:ext cx="796617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638" lvl="0" marL="274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	ASOCIACIONES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ASOCIACIÓN</a:t>
            </a:r>
            <a:endParaRPr/>
          </a:p>
        </p:txBody>
      </p:sp>
      <p:pic>
        <p:nvPicPr>
          <p:cNvPr id="86" name="Google Shape;86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887269" y="797270"/>
            <a:ext cx="3788418" cy="41204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>
            <p:ph idx="4" type="body"/>
          </p:nvPr>
        </p:nvSpPr>
        <p:spPr>
          <a:xfrm>
            <a:off x="468313" y="1501777"/>
            <a:ext cx="4418956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En UML, hay varios tipos de relaciones que se utilizan para describir cómo los elementos en un modelo interactúan entre sí. Las siguientes son las relaciones más comunes: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Asociación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Agregación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Composición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Herencia (Generalización)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Dependencia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Realización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Asociación dirigida (Navegabilidad)</a:t>
            </a:r>
            <a:endParaRPr/>
          </a:p>
          <a:p>
            <a:pPr indent="-265113" lvl="1" marL="5318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→"/>
            </a:pPr>
            <a:r>
              <a:rPr lang="es-ES"/>
              <a:t>Inclusión y Extensión (en Casos de Uso)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68313" y="1147765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¿EN QUÉ CONSISTEN?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68312" y="705129"/>
            <a:ext cx="1874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 UML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ASOCIACIÓN</a:t>
            </a:r>
            <a:endParaRPr/>
          </a:p>
        </p:txBody>
      </p:sp>
      <p:pic>
        <p:nvPicPr>
          <p:cNvPr id="96" name="Google Shape;96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Una asociación en UML representa una relación entre dos clases que indica alguna forma de colaboración o conexión entre ellas. 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Una asociación muestra que los objetos de una clase están de alguna manera conectados o relacionados con los objetos de otra clase.</a:t>
            </a:r>
            <a:endParaRPr/>
          </a:p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¿QUÉ 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ASOCIACIÓN</a:t>
            </a:r>
            <a:endParaRPr/>
          </a:p>
        </p:txBody>
      </p:sp>
      <p:pic>
        <p:nvPicPr>
          <p:cNvPr id="105" name="Google Shape;105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1" l="0" r="0" t="382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Multiplicidad: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Indica cuántas instancias de una clase pueden estar asociadas con una instancia de otra clase. 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Rol: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Se puede asignar un “rol” para describir el propósito o la forma en que una clase participa en la asociación.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Direccionalidad: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asociación puede ser unidireccional o bidireccional. En una asociación unidireccional, una clase está consciente de la otra, pero no al revés.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CARACTERÍSTICAS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ASOCIACIÓN</a:t>
            </a:r>
            <a:endParaRPr/>
          </a:p>
        </p:txBody>
      </p:sp>
      <p:pic>
        <p:nvPicPr>
          <p:cNvPr id="114" name="Google Shape;114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5010150" y="895349"/>
            <a:ext cx="3845344" cy="41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468312" y="718343"/>
            <a:ext cx="82080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1 – Asociación entre Profesor y Curso</a:t>
            </a:r>
            <a:endParaRPr/>
          </a:p>
        </p:txBody>
      </p:sp>
      <p:sp>
        <p:nvSpPr>
          <p:cNvPr id="116" name="Google Shape;116;p7"/>
          <p:cNvSpPr txBox="1"/>
          <p:nvPr>
            <p:ph idx="4" type="body"/>
          </p:nvPr>
        </p:nvSpPr>
        <p:spPr>
          <a:xfrm>
            <a:off x="467688" y="1072355"/>
            <a:ext cx="454183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Multiplicidad: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 profesor puede enseñar varios cursos, y un curso puede ser enseñado por un profesor.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Rol: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El profesor “enseña” y el curso es “enseñado por”.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Direccionalidad: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Bidireccional, ya que tanto el profesor como el curso necesitan estar conscientes el uno del otro para la relación.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conectando las clases “Profesor” y “Curso”, con la multiplicidad “1..*” cerca de “Curso” y “1” cerca de “Profesor”.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ASOCIACIÓN</a:t>
            </a:r>
            <a:endParaRPr/>
          </a:p>
        </p:txBody>
      </p:sp>
      <p:pic>
        <p:nvPicPr>
          <p:cNvPr id="123" name="Google Shape;123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5476875" y="1225867"/>
            <a:ext cx="3398838" cy="369673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467687" y="676827"/>
            <a:ext cx="82080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2 – Asociación entre Cliente y Cuenta Bancaria</a:t>
            </a:r>
            <a:endParaRPr/>
          </a:p>
        </p:txBody>
      </p:sp>
      <p:sp>
        <p:nvSpPr>
          <p:cNvPr id="125" name="Google Shape;125;p8"/>
          <p:cNvSpPr txBox="1"/>
          <p:nvPr>
            <p:ph idx="4" type="body"/>
          </p:nvPr>
        </p:nvSpPr>
        <p:spPr>
          <a:xfrm>
            <a:off x="468313" y="1020830"/>
            <a:ext cx="5008562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Multiplicidad:</a:t>
            </a:r>
            <a:endParaRPr/>
          </a:p>
          <a:p>
            <a:pPr indent="0" lvl="1" marL="265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 cliente puede tener múltiples cuentas bancarias, pero una cuenta bancaria pertenece a un solo cliente.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Rol:</a:t>
            </a:r>
            <a:endParaRPr/>
          </a:p>
          <a:p>
            <a:pPr indent="0" lvl="1" marL="265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El cliente “posee” la cuenta bancaria, y la cuenta bancaria es “propiedad de” un cliente.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Direccionalidad:</a:t>
            </a:r>
            <a:endParaRPr/>
          </a:p>
          <a:p>
            <a:pPr indent="0" lvl="1" marL="265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Unidireccional, ya que la cuenta necesita saber quién es su propietario, pero el cliente no necesita saber necesariamente todos los detalles de su cuenta en este contexto.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conectando las clases “Cliente” y “CuentaBancaria”, con la multiplicidad “1..*” cerca de “CuentaBancaria” y “1” cerca de “Cliente”, y una flecha apuntando hacia “Cliente” para indicar la direccionalidad.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24252" y="3703125"/>
            <a:ext cx="796617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638" lvl="0" marL="274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	MULTIPLICIDAD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MULTIPLICIDAD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139" name="Google Shape;139;p10"/>
          <p:cNvSpPr txBox="1"/>
          <p:nvPr>
            <p:ph idx="4" type="body"/>
          </p:nvPr>
        </p:nvSpPr>
        <p:spPr>
          <a:xfrm>
            <a:off x="735014" y="1177927"/>
            <a:ext cx="3408362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Especifica cuántas instancias de una clase pueden estar asociadas con instancias de otra clase. 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La multiplicidad se indica generalmente junto a la línea de asociación en un diagrama de clases de UML.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La multiplicidad es crucial para entender las restricciones y reglas de negocio en un sistema.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¿QUÉ ES?</a:t>
            </a:r>
            <a:endParaRPr/>
          </a:p>
        </p:txBody>
      </p:sp>
      <p:pic>
        <p:nvPicPr>
          <p:cNvPr id="141" name="Google Shape;141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3815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MULTIPLICIDAD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468312" y="809626"/>
            <a:ext cx="82080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EJEMPLOS</a:t>
            </a:r>
            <a:endParaRPr/>
          </a:p>
        </p:txBody>
      </p:sp>
      <p:sp>
        <p:nvSpPr>
          <p:cNvPr id="149" name="Google Shape;149;p11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Un estudiante puede estar inscrito en múltiples cursos, y un curso puede tener múltiples estudiantes inscritos.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Una persona puede tener cero o un pasaporte, y un pasaporte pertenece a exactamente una persona.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Un pedido debe tener al menos un producto, pero puede tener más, y un producto puede estar en cero o más pedidos.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Una biblioteca puede tener entre 100 y 10,000 libros, y un libro puede estar en una o más bibliotecas.</a:t>
            </a:r>
            <a:endParaRPr/>
          </a:p>
        </p:txBody>
      </p:sp>
      <p:pic>
        <p:nvPicPr>
          <p:cNvPr id="150" name="Google Shape;150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67" l="0" r="0" t="268"/>
          <a:stretch/>
        </p:blipFill>
        <p:spPr>
          <a:xfrm>
            <a:off x="4571999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24252" y="3703125"/>
            <a:ext cx="796617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638" lvl="0" marL="274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	COMPOSICIÓN, AGREGACIÓN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COMPOSICIÓN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164" name="Google Shape;164;p13"/>
          <p:cNvSpPr txBox="1"/>
          <p:nvPr>
            <p:ph idx="4" type="body"/>
          </p:nvPr>
        </p:nvSpPr>
        <p:spPr>
          <a:xfrm>
            <a:off x="468313" y="1177927"/>
            <a:ext cx="423703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Es una forma fuerte de “agregación” que implica una relación de propiedad muy fuerte entre el contenedor (la clase “todo”) y las partes contenidas.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La composición es especialmente útil para modelar relaciones en las que la vida de un objeto está intrínsecamente ligada a la vida de otro. 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Por ejemplo, en un sistema de gestión universitaria, saber que los departamentos están fuertemente vinculados a la universidad puede influir en cómo se diseñan las operaciones de eliminación o fusión de departamentos.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¿QUÉ ES?</a:t>
            </a:r>
            <a:endParaRPr/>
          </a:p>
        </p:txBody>
      </p:sp>
      <p:pic>
        <p:nvPicPr>
          <p:cNvPr id="166" name="Google Shape;166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895850" y="1163638"/>
            <a:ext cx="3638550" cy="395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COMPOSICIÓN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173" name="Google Shape;173;p14"/>
          <p:cNvSpPr txBox="1"/>
          <p:nvPr>
            <p:ph idx="1" type="body"/>
          </p:nvPr>
        </p:nvSpPr>
        <p:spPr>
          <a:xfrm>
            <a:off x="468313" y="703265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CARACTERÍSTICAS</a:t>
            </a:r>
            <a:endParaRPr/>
          </a:p>
        </p:txBody>
      </p:sp>
      <p:pic>
        <p:nvPicPr>
          <p:cNvPr id="174" name="Google Shape;174;p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5191126" y="1769806"/>
            <a:ext cx="3371850" cy="366738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 txBox="1"/>
          <p:nvPr>
            <p:ph idx="4" type="body"/>
          </p:nvPr>
        </p:nvSpPr>
        <p:spPr>
          <a:xfrm>
            <a:off x="468312" y="1057277"/>
            <a:ext cx="5018088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Propiedad: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Si el objeto contenedor es destruido, entonces los objetos contenidos también serán destruidos. Esto establece una relación de “muerte” entre el contenedor y los contenidos.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Exclusividad: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 objeto contenido solo puede ser parte de un objeto contenedor a la vez.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Direccionalidad: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relación es unidireccional, del contenedor al contenido.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Simbología en UML:</a:t>
            </a:r>
            <a:endParaRPr/>
          </a:p>
          <a:p>
            <a:pPr indent="0" lvl="1" marL="2651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composición se representa con una línea que conecta el contenedor y el contenido, con un diamante relleno en el extremo que apunta hacia el contenedor.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COMPOSICIÓN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182" name="Google Shape;182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800600" y="811365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1 – Universidad y Departamento</a:t>
            </a:r>
            <a:endParaRPr/>
          </a:p>
        </p:txBody>
      </p:sp>
      <p:sp>
        <p:nvSpPr>
          <p:cNvPr id="184" name="Google Shape;184;p15"/>
          <p:cNvSpPr txBox="1"/>
          <p:nvPr>
            <p:ph idx="4" type="body"/>
          </p:nvPr>
        </p:nvSpPr>
        <p:spPr>
          <a:xfrm>
            <a:off x="801688" y="135746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universidad está compuesta por varios departamentos. Si la universidad se cierra, los departamentos también desaparecerán.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desde la clase “Universidad” hasta la clase “Departamento”, con un diamante relleno cerca de “Universidad” y la multiplicidad “1..*” cerca de “Departamento”.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COMPOSICIÓN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191" name="Google Shape;191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2 – Orden de Compra y Artículos</a:t>
            </a:r>
            <a:endParaRPr/>
          </a:p>
        </p:txBody>
      </p:sp>
      <p:sp>
        <p:nvSpPr>
          <p:cNvPr id="193" name="Google Shape;193;p16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orden de compra contiene varios artículos. Si se cancela la orden de compra, los artículos asociados también se eliminarán.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desde la clase “OrdenDeCompra” hasta la clase “Artículo”, con un diamante relleno cerca de “OrdenDeCompra” y la multiplicidad “1..*” cerca de “Artículo”.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COMPOSICIÓN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00" name="Google Shape;200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3 – Cuerpo Humano y Órganos</a:t>
            </a:r>
            <a:endParaRPr/>
          </a:p>
        </p:txBody>
      </p:sp>
      <p:sp>
        <p:nvSpPr>
          <p:cNvPr id="202" name="Google Shape;202;p17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 cuerpo humano está compuesto por varios órganos. Si el cuerpo humano deja de existir, los órganos también dejarán de existir.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desde la clase “CuerpoHumano” hasta la clase “Órgano”, con un diamante relleno cerca de “CuerpoHumano” y la multiplicidad “1..*” cerca de “Órgano”.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AGREGACIÓN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209" name="Google Shape;209;p18"/>
          <p:cNvSpPr txBox="1"/>
          <p:nvPr>
            <p:ph idx="4" type="body"/>
          </p:nvPr>
        </p:nvSpPr>
        <p:spPr>
          <a:xfrm>
            <a:off x="468313" y="11779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A diferencia de la “Composición”, la agregación es una forma más débil de asociación que representa una relación de “todo-parte” sin una fuerte dependencia entre las partes y el todo.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Es útil para modelar relaciones en las que los objetos tienen cierta autonomía o independencia del objeto contenedor. 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Puede ser crucial para modelar sistemas donde los componentes tienen grados variables de autonomía, como en un sistema de gestión de recursos humanos o en una plataforma de servicios públicos en línea.</a:t>
            </a:r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¿QUE ES?</a:t>
            </a:r>
            <a:endParaRPr/>
          </a:p>
        </p:txBody>
      </p:sp>
      <p:pic>
        <p:nvPicPr>
          <p:cNvPr id="211" name="Google Shape;211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AGREGACIÓN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468313" y="693738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CARACTERÍSTICAS</a:t>
            </a:r>
            <a:endParaRPr/>
          </a:p>
        </p:txBody>
      </p:sp>
      <p:sp>
        <p:nvSpPr>
          <p:cNvPr id="219" name="Google Shape;219;p19"/>
          <p:cNvSpPr txBox="1"/>
          <p:nvPr>
            <p:ph idx="4" type="body"/>
          </p:nvPr>
        </p:nvSpPr>
        <p:spPr>
          <a:xfrm>
            <a:off x="468313" y="1077839"/>
            <a:ext cx="5084762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Propiedad: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En una agregación, la destrucción del objeto contenedor (el “todo”) no implica la destrucción de los objetos contenidos (las “partes”).</a:t>
            </a:r>
            <a:endParaRPr/>
          </a:p>
          <a:p>
            <a:pPr indent="-2667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Exclusividad: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A diferencia de la composición, en la agregación un objeto contenido puede ser parte de más de un objeto contenedor.</a:t>
            </a:r>
            <a:endParaRPr/>
          </a:p>
          <a:p>
            <a:pPr indent="-2667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Direccionalidad: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Generalmente es unidireccional, del contenedor al contenido.</a:t>
            </a:r>
            <a:endParaRPr/>
          </a:p>
          <a:p>
            <a:pPr indent="-2667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Simbología en UML: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agregación se representa con una línea que conecta el contenedor y el contenido, con un diamante sin rellenar en el extremo que apunta hacia el contenedor.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220" name="Google Shape;220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5838825" y="1533525"/>
            <a:ext cx="3176861" cy="3455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AGREGACIÓN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27" name="Google Shape;227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1 – Equipo de fútbol y Jugadores</a:t>
            </a:r>
            <a:endParaRPr/>
          </a:p>
        </p:txBody>
      </p:sp>
      <p:sp>
        <p:nvSpPr>
          <p:cNvPr id="229" name="Google Shape;229;p20"/>
          <p:cNvSpPr txBox="1"/>
          <p:nvPr>
            <p:ph idx="4" type="body"/>
          </p:nvPr>
        </p:nvSpPr>
        <p:spPr>
          <a:xfrm>
            <a:off x="858838" y="134038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 equipo de fútbol está compuesto por jugadores. Si se disuelve el equipo, los jugadores siguen existiendo.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desde la clase “EquipoDeFútbol” hasta la clase “Jugador”, con un diamante sin rellenar cerca de “EquipoDeFútbol” y la multiplicidad “11” cerca de “Jugador” (un equipo de fútbol tiene 11 jugadores en el campo).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AGREGACIÓN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36" name="Google Shape;236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2 – Biblioteca y Libros</a:t>
            </a:r>
            <a:endParaRPr/>
          </a:p>
        </p:txBody>
      </p:sp>
      <p:sp>
        <p:nvSpPr>
          <p:cNvPr id="238" name="Google Shape;238;p21"/>
          <p:cNvSpPr txBox="1"/>
          <p:nvPr>
            <p:ph idx="4" type="body"/>
          </p:nvPr>
        </p:nvSpPr>
        <p:spPr>
          <a:xfrm>
            <a:off x="954089" y="1340387"/>
            <a:ext cx="3732212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biblioteca contiene libros, pero si la biblioteca cierra, los libros no desaparecen necesariamente.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desde la clase “Biblioteca” hasta la clase “Libro”, con un diamante sin rellenar cerca de “Biblioteca” y la multiplicidad “0..*” cerca de “Libro”.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AGREGACIÓN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45" name="Google Shape;245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926200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3 – Empresa y Empleados</a:t>
            </a:r>
            <a:endParaRPr/>
          </a:p>
        </p:txBody>
      </p:sp>
      <p:sp>
        <p:nvSpPr>
          <p:cNvPr id="247" name="Google Shape;247;p22"/>
          <p:cNvSpPr txBox="1"/>
          <p:nvPr>
            <p:ph idx="4" type="body"/>
          </p:nvPr>
        </p:nvSpPr>
        <p:spPr>
          <a:xfrm>
            <a:off x="754063" y="1292762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empresa tiene empleados, pero si la empresa cierra, los empleados no desaparecen, simplemente se quedan sin empleo.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desde la clase “Empresa” hasta la clase “Empleado”, con un diamante sin rellenar cerca de “Empresa” y la multiplicidad “1..*” cerca de “Empleado”.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24252" y="3703125"/>
            <a:ext cx="796617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638" lvl="0" marL="274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	HERENCIA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HERENCIA</a:t>
            </a:r>
            <a:endParaRPr b="0">
              <a:solidFill>
                <a:srgbClr val="0070C0"/>
              </a:solidFill>
            </a:endParaRPr>
          </a:p>
        </p:txBody>
      </p:sp>
      <p:sp>
        <p:nvSpPr>
          <p:cNvPr id="261" name="Google Shape;261;p24"/>
          <p:cNvSpPr txBox="1"/>
          <p:nvPr>
            <p:ph idx="4" type="body"/>
          </p:nvPr>
        </p:nvSpPr>
        <p:spPr>
          <a:xfrm>
            <a:off x="877888" y="1349226"/>
            <a:ext cx="37988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La herencia es crucial para crear jerarquías de clases y sistemas de objetos bien estructurados.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Esta relación permite que una clase (la subclase) herede atributos y métodos de otra clase (la superclase).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Puede ser especialmente útil para modelar y codificar sistemas complejos con muchas entidades que comparten características comunes, pero también tienen sus propias particularidades.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¿QUÉ ES?</a:t>
            </a:r>
            <a:endParaRPr/>
          </a:p>
        </p:txBody>
      </p:sp>
      <p:pic>
        <p:nvPicPr>
          <p:cNvPr id="263" name="Google Shape;263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HERENCIA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70" name="Google Shape;270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0" r="89" t="0"/>
          <a:stretch/>
        </p:blipFill>
        <p:spPr>
          <a:xfrm>
            <a:off x="5305425" y="847692"/>
            <a:ext cx="3695700" cy="401961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>
            <p:ph idx="1" type="body"/>
          </p:nvPr>
        </p:nvSpPr>
        <p:spPr>
          <a:xfrm>
            <a:off x="468313" y="67068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CARACTERÍSTICAS</a:t>
            </a:r>
            <a:endParaRPr/>
          </a:p>
        </p:txBody>
      </p:sp>
      <p:sp>
        <p:nvSpPr>
          <p:cNvPr id="272" name="Google Shape;272;p25"/>
          <p:cNvSpPr txBox="1"/>
          <p:nvPr>
            <p:ph idx="4" type="body"/>
          </p:nvPr>
        </p:nvSpPr>
        <p:spPr>
          <a:xfrm>
            <a:off x="468313" y="1012693"/>
            <a:ext cx="45608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Reutilización de código: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herencia permite la reutilización de código, ya que la subclase hereda todas las características de la superclase.</a:t>
            </a:r>
            <a:endParaRPr/>
          </a:p>
          <a:p>
            <a:pPr indent="-2667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Especialización: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subclase es una forma especializada de la superclase. Puede añadir nuevos atributos y métodos o sobrescribir los heredados.</a:t>
            </a:r>
            <a:endParaRPr/>
          </a:p>
          <a:p>
            <a:pPr indent="-2667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Relación “Is a”: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herencia establece una relación “Is a" entre la subclase y la superclase.</a:t>
            </a:r>
            <a:endParaRPr/>
          </a:p>
          <a:p>
            <a:pPr indent="-2667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Simbología en UML:</a:t>
            </a:r>
            <a:endParaRPr/>
          </a:p>
          <a:p>
            <a:pPr indent="0" lvl="1" marL="265113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herencia se representa con una línea que tiene una flecha en un extremo. La flecha apunta hacia la superclase.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HERENCIA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79" name="Google Shape;279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1 – Vehículo y Automóvil</a:t>
            </a:r>
            <a:endParaRPr/>
          </a:p>
        </p:txBody>
      </p:sp>
      <p:sp>
        <p:nvSpPr>
          <p:cNvPr id="281" name="Google Shape;281;p26"/>
          <p:cNvSpPr txBox="1"/>
          <p:nvPr>
            <p:ph idx="4" type="body"/>
          </p:nvPr>
        </p:nvSpPr>
        <p:spPr>
          <a:xfrm>
            <a:off x="754063" y="134038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clase “Automóvil” hereda atributos como “velocidad máxima” y “peso” de la clase “Vehículo”, y podría añadir nuevos atributos como “número de puertas”.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con una flecha desde la clase “Automóvil” apuntando hacia la clase “Vehículo”.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HERENCIA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88" name="Google Shape;288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2 – Empleado y Gerente</a:t>
            </a:r>
            <a:endParaRPr/>
          </a:p>
        </p:txBody>
      </p:sp>
      <p:sp>
        <p:nvSpPr>
          <p:cNvPr id="290" name="Google Shape;290;p27"/>
          <p:cNvSpPr txBox="1"/>
          <p:nvPr>
            <p:ph idx="4" type="body"/>
          </p:nvPr>
        </p:nvSpPr>
        <p:spPr>
          <a:xfrm>
            <a:off x="906463" y="1473202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clase “Gerente” hereda atributos como “nombre” y “sueldo” de la clase “Empleado”, y podría añadir nuevos atributos como “departamento a cargo”.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Una línea con una flecha desde la clase “Gerente” apuntando hacia la clase “Empleado”.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HERENCIA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297" name="Google Shape;297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468313" y="809626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3 – Forma y Círculo/Triángulo</a:t>
            </a:r>
            <a:endParaRPr/>
          </a:p>
        </p:txBody>
      </p:sp>
      <p:sp>
        <p:nvSpPr>
          <p:cNvPr id="299" name="Google Shape;299;p28"/>
          <p:cNvSpPr txBox="1"/>
          <p:nvPr>
            <p:ph idx="4" type="body"/>
          </p:nvPr>
        </p:nvSpPr>
        <p:spPr>
          <a:xfrm>
            <a:off x="754063" y="1416052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Las clases “Círculo” y “Triángulo” heredan atributos como “color” y “tamaño” de la clase “Forma”, y podrían añadir nuevos métodos como “calcular área”</a:t>
            </a:r>
            <a:r>
              <a:rPr lang="es-ES" sz="1400"/>
              <a:t>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Líneas con flechas desde las clases “Círculo” y “Triángulo” apuntando hacia la clase “Forma”.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424252" y="3703125"/>
            <a:ext cx="796617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638" lvl="0" marL="274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	POLIMORFISMO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POLIMORFISMO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313" name="Google Shape;313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0"/>
          <p:cNvSpPr txBox="1"/>
          <p:nvPr>
            <p:ph idx="4" type="body"/>
          </p:nvPr>
        </p:nvSpPr>
        <p:spPr>
          <a:xfrm>
            <a:off x="468313" y="101917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Se refiere a la capacidad de objetos de diferentes clases para ser tratados como objetos de una clase común. En otras palabras, diferentes objetos pueden responder a una misma operación o mensaje de manera específica según su tipo.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El polimorfismo es especialmente útil en la construcción de sistemas extensibles y mantenibles.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lang="es-ES"/>
              <a:t>Puede ser útil para diseñar sistemas que necesitan adaptarse a diferentes tipos de operaciones o entidades, como un sistema de gestión de pagos que debe manejar múltiples métodos de pago.</a:t>
            </a:r>
            <a:endParaRPr/>
          </a:p>
        </p:txBody>
      </p:sp>
      <p:sp>
        <p:nvSpPr>
          <p:cNvPr id="315" name="Google Shape;315;p30"/>
          <p:cNvSpPr txBox="1"/>
          <p:nvPr>
            <p:ph idx="1" type="body"/>
          </p:nvPr>
        </p:nvSpPr>
        <p:spPr>
          <a:xfrm>
            <a:off x="468312" y="665165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¿QUÉ 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POLIMORFISMO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322" name="Google Shape;322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5648324" y="1299330"/>
            <a:ext cx="3236913" cy="352061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>
            <p:ph idx="1" type="body"/>
          </p:nvPr>
        </p:nvSpPr>
        <p:spPr>
          <a:xfrm>
            <a:off x="468312" y="650877"/>
            <a:ext cx="4103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CARACTERÍSTICAS</a:t>
            </a:r>
            <a:endParaRPr/>
          </a:p>
        </p:txBody>
      </p:sp>
      <p:sp>
        <p:nvSpPr>
          <p:cNvPr id="324" name="Google Shape;324;p31"/>
          <p:cNvSpPr txBox="1"/>
          <p:nvPr>
            <p:ph idx="4" type="body"/>
          </p:nvPr>
        </p:nvSpPr>
        <p:spPr>
          <a:xfrm>
            <a:off x="468311" y="1011239"/>
            <a:ext cx="4989514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Flexibilidad:</a:t>
            </a:r>
            <a:endParaRPr/>
          </a:p>
          <a:p>
            <a:pPr indent="0" lvl="1" marL="265113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El polimorfismo permite escribir código que funciona de manera genérica para un rango de tipos de datos.</a:t>
            </a:r>
            <a:endParaRPr/>
          </a:p>
          <a:p>
            <a:pPr indent="-266700" lvl="0" marL="2667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Abstracción:</a:t>
            </a:r>
            <a:endParaRPr/>
          </a:p>
          <a:p>
            <a:pPr indent="0" lvl="1" marL="265113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Facilita la abstracción al permitir que se trate a diferentes objetos como instancias de su superclase común.</a:t>
            </a:r>
            <a:endParaRPr/>
          </a:p>
          <a:p>
            <a:pPr indent="-266700" lvl="0" marL="2667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Desacoplamiento:</a:t>
            </a:r>
            <a:endParaRPr/>
          </a:p>
          <a:p>
            <a:pPr indent="0" lvl="1" marL="265113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Ayuda a desacoplar el código, ya que permite que las clases o métodos no tengan que conocer todos los detalles de las clases con las que interactúan.</a:t>
            </a:r>
            <a:endParaRPr/>
          </a:p>
          <a:p>
            <a:pPr indent="-266700" lvl="0" marL="2667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Simbología en UML:</a:t>
            </a:r>
            <a:endParaRPr/>
          </a:p>
          <a:p>
            <a:pPr indent="0" lvl="1" marL="265113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En UML se representa mediante la relación de herencia junto con la notación de operaciones en la superclase que serán sobrescritas o implementadas por las subclases.</a:t>
            </a:r>
            <a:endParaRPr/>
          </a:p>
          <a:p>
            <a:pPr indent="-190500" lvl="0" marL="2667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POLIMORFISMO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331" name="Google Shape;331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572000" y="8048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2"/>
          <p:cNvSpPr txBox="1"/>
          <p:nvPr>
            <p:ph idx="1" type="body"/>
          </p:nvPr>
        </p:nvSpPr>
        <p:spPr>
          <a:xfrm>
            <a:off x="468312" y="809626"/>
            <a:ext cx="82080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1 – Forma y sus Subclases (Círculo, Cuadrado)</a:t>
            </a:r>
            <a:endParaRPr/>
          </a:p>
        </p:txBody>
      </p:sp>
      <p:sp>
        <p:nvSpPr>
          <p:cNvPr id="333" name="Google Shape;333;p32"/>
          <p:cNvSpPr txBox="1"/>
          <p:nvPr>
            <p:ph idx="4" type="body"/>
          </p:nvPr>
        </p:nvSpPr>
        <p:spPr>
          <a:xfrm>
            <a:off x="792163" y="125412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Tenemos una superclase “Forma” con un método “dibujar()”. Las subclases “Círculo” y “Cuadrado” sobrescriben este método para proporcionar su propia implementación.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clase “Forma” tiene un método “dibujar()”, y hay líneas de herencia que apuntan desde “Círculo” y “Cuadrado” hacia “Forma”.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POLIMORFISMO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340" name="Google Shape;340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5040312" y="881063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 txBox="1"/>
          <p:nvPr>
            <p:ph idx="1" type="body"/>
          </p:nvPr>
        </p:nvSpPr>
        <p:spPr>
          <a:xfrm>
            <a:off x="468312" y="809626"/>
            <a:ext cx="82080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2 – Animal y sus Subclases (Perro, Gato)</a:t>
            </a:r>
            <a:endParaRPr/>
          </a:p>
        </p:txBody>
      </p:sp>
      <p:sp>
        <p:nvSpPr>
          <p:cNvPr id="342" name="Google Shape;342;p33"/>
          <p:cNvSpPr txBox="1"/>
          <p:nvPr>
            <p:ph idx="4" type="body"/>
          </p:nvPr>
        </p:nvSpPr>
        <p:spPr>
          <a:xfrm>
            <a:off x="839788" y="1340387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superclase “Animal” tiene un método “hacerSonido()”. Las subclases “Perro” y “Gato” sobrescriben este método para ladrar y maullar, respectivamente.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clase “Animal” tiene un método “hacerSonido()”, y hay líneas de herencia que apuntan desde “Perro” y “Gato” </a:t>
            </a:r>
            <a:r>
              <a:rPr lang="es-ES"/>
              <a:t>hacia</a:t>
            </a:r>
            <a:r>
              <a:rPr lang="es-ES"/>
              <a:t> “Animal”.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/>
          <p:nvPr>
            <p:ph idx="3" type="body"/>
          </p:nvPr>
        </p:nvSpPr>
        <p:spPr>
          <a:xfrm>
            <a:off x="468313" y="277813"/>
            <a:ext cx="82073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274638" lvl="0" marL="274638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b="0" lang="es-ES">
                <a:solidFill>
                  <a:srgbClr val="0070C0"/>
                </a:solidFill>
              </a:rPr>
              <a:t>/ POLIMORFISMO</a:t>
            </a:r>
            <a:endParaRPr b="0">
              <a:solidFill>
                <a:srgbClr val="0070C0"/>
              </a:solidFill>
            </a:endParaRPr>
          </a:p>
        </p:txBody>
      </p:sp>
      <p:pic>
        <p:nvPicPr>
          <p:cNvPr id="349" name="Google Shape;349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4" l="0" r="0" t="373"/>
          <a:stretch/>
        </p:blipFill>
        <p:spPr>
          <a:xfrm>
            <a:off x="4906962" y="986632"/>
            <a:ext cx="4103688" cy="446336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>
            <p:ph idx="1" type="body"/>
          </p:nvPr>
        </p:nvSpPr>
        <p:spPr>
          <a:xfrm>
            <a:off x="468312" y="809626"/>
            <a:ext cx="82080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EJEMPLO 3 – Pago y sus Subclases (PagoConTarjeta, PagoEnEfectivo)</a:t>
            </a:r>
            <a:endParaRPr/>
          </a:p>
        </p:txBody>
      </p:sp>
      <p:sp>
        <p:nvSpPr>
          <p:cNvPr id="351" name="Google Shape;351;p34"/>
          <p:cNvSpPr txBox="1"/>
          <p:nvPr>
            <p:ph idx="4" type="body"/>
          </p:nvPr>
        </p:nvSpPr>
        <p:spPr>
          <a:xfrm>
            <a:off x="1154113" y="1369864"/>
            <a:ext cx="4103687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Descripción: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superclase “Pago” tiene un método “realizarPago()”. Las subclases “PagoConTarjeta” y “PagoEnEfectivo” proporcionan su propia implementación de este método</a:t>
            </a:r>
            <a:r>
              <a:rPr lang="es-ES" sz="1400"/>
              <a:t>.</a:t>
            </a:r>
            <a:endParaRPr/>
          </a:p>
          <a:p>
            <a:pPr indent="-266700" lvl="0" marL="2667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❑"/>
            </a:pPr>
            <a:r>
              <a:rPr b="1" i="1" lang="es-ES"/>
              <a:t>Representación UML:</a:t>
            </a:r>
            <a:endParaRPr/>
          </a:p>
          <a:p>
            <a:pPr indent="0" lvl="1" marL="265113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/>
              <a:t>La clase “Pago” tiene un método “realizarPago()”, y hay líneas de herencia que apuntan desde “PagoConTarjeta” y “PagoEnEfectivo” hacia “Pago”.</a:t>
            </a:r>
            <a:endParaRPr/>
          </a:p>
          <a:p>
            <a:pPr indent="-190500" lvl="0" marL="2667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/>
          <p:nvPr/>
        </p:nvSpPr>
        <p:spPr>
          <a:xfrm>
            <a:off x="1276149" y="788890"/>
            <a:ext cx="7204492" cy="401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E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multiplicidad en UML establece cuántas instancias de una clase pueden estar asociadas con instancias de otra, siendo crucial para entender las restricciones y reglas de negocio en un sistema.</a:t>
            </a:r>
            <a:endParaRPr/>
          </a:p>
          <a:p>
            <a:pPr indent="-1778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E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la relación de composición, la destrucción del objeto contenedor lleva a la destrucción de los objetos contenidos, estableciendo una relación de propiedad fuerte y exclusiva entre ellos.</a:t>
            </a:r>
            <a:endParaRPr/>
          </a:p>
          <a:p>
            <a:pPr indent="-1778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E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relación de agregación representa una relación de “todo-parte” débil, donde los objetos contenidos pueden existir independientemente del objeto contenedor.</a:t>
            </a:r>
            <a:endParaRPr/>
          </a:p>
          <a:p>
            <a:pPr indent="-1778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E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polimorfismo permite que diferentes objetos sean tratados como si fueran del mismo tipo, facilitando la reutilización de código y haciendo que los sistemas sean más extensibles y mantenibles.</a:t>
            </a:r>
            <a:endParaRPr/>
          </a:p>
        </p:txBody>
      </p:sp>
      <p:sp>
        <p:nvSpPr>
          <p:cNvPr id="359" name="Google Shape;359;p3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s-E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CONCLUSIONES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/>
        </p:nvSpPr>
        <p:spPr>
          <a:xfrm>
            <a:off x="665324" y="857848"/>
            <a:ext cx="7892750" cy="42761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Martin, R. C. (2002). UML for Java Programmers. Prentice Hall.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Fowler, M. (2003). UML Distilled: A Brief Guide to the Standard Object Modeling Language (3rd ed.). Addison-Wesley.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Larman, C. (2004). Applying UML and Patterns: An Introduction to Object-Oriented Analysis and Design and Iterative Development" (3rd ed.). Prentice Hall.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Developer: UML Basics.</a:t>
            </a:r>
            <a:endParaRPr/>
          </a:p>
          <a:p>
            <a:pPr indent="0" lvl="0" marL="2619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E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https://developer.ibm.com/articles/the-introduction-to-uml/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19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Tutorialspoint: UML Tutorial.</a:t>
            </a:r>
            <a:endParaRPr/>
          </a:p>
          <a:p>
            <a:pPr indent="0" lvl="0" marL="2619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E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https://www.tutorialspoint.com/uml/index.htm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19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Paradigm: Guide to UML.</a:t>
            </a:r>
            <a:endParaRPr/>
          </a:p>
          <a:p>
            <a:pPr indent="0" lvl="0" marL="2619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E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https://www.visual-paradigm.com/guide/uml-unified-modeling-language/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19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8AD7"/>
              </a:buClr>
              <a:buSzPts val="1700"/>
              <a:buFont typeface="Calibri"/>
              <a:buNone/>
            </a:pPr>
            <a:r>
              <a:rPr lang="es-ES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BIBLIOGRAFÍA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