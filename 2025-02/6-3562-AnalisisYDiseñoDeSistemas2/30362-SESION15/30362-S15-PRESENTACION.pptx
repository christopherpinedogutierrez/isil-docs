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715000" cx="9144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3126">
          <p15:clr>
            <a:srgbClr val="A4A3A4"/>
          </p15:clr>
        </p15:guide>
        <p15:guide id="2" pos="2141">
          <p15:clr>
            <a:srgbClr val="A4A3A4"/>
          </p15:clr>
        </p15:guide>
      </p15:notesGuideLst>
    </p:ext>
    <p:ext uri="GoogleSlidesCustomDataVersion2">
      <go:slidesCustomData xmlns:go="http://customooxmlschemas.google.com/" r:id="rId32" roundtripDataSignature="AMtx7mi+36cYI6tpRZImbxfj1IlDBBO4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3126" orient="horz"/>
        <p:guide pos="2141"/>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45659" cy="498056"/>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1"/>
            <a:ext cx="2945659" cy="498056"/>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4"/>
            <a:ext cx="2945659" cy="49805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latin typeface="Arial"/>
              <a:ea typeface="Arial"/>
              <a:cs typeface="Arial"/>
              <a:sym typeface="Arial"/>
            </a:endParaRPr>
          </a:p>
        </p:txBody>
      </p:sp>
      <p:sp>
        <p:nvSpPr>
          <p:cNvPr id="57" name="Google Shape;57;p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69" name="Google Shape;69;p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76" name="Google Shape;76;p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83" name="Google Shape;83;p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92" name="Google Shape;92;p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01" name="Google Shape;101;p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0" name="Google Shape;110;p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9" name="Google Shape;119;p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28" name="Google Shape;128;p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1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37" name="Google Shape;137;p1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46" name="Google Shape;146;p1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1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55" name="Google Shape;155;p1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1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64" name="Google Shape;164;p1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73" name="Google Shape;173;p1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1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82" name="Google Shape;182;p1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91" name="Google Shape;191;p1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00" name="Google Shape;200;p1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09" name="Google Shape;209;p1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18" name="Google Shape;218;p1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2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227" name="Google Shape;227;p2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2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34" name="Google Shape;234;p2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2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43" name="Google Shape;243;p2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2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52" name="Google Shape;252;p2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2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61" name="Google Shape;261;p2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2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b="0" sz="1200">
              <a:latin typeface="Arial"/>
              <a:ea typeface="Arial"/>
              <a:cs typeface="Arial"/>
              <a:sym typeface="Arial"/>
            </a:endParaRPr>
          </a:p>
        </p:txBody>
      </p:sp>
      <p:sp>
        <p:nvSpPr>
          <p:cNvPr id="270" name="Google Shape;270;p2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2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3" marL="0" marR="0" rtl="0" algn="l">
              <a:lnSpc>
                <a:spcPct val="100000"/>
              </a:lnSpc>
              <a:spcBef>
                <a:spcPts val="0"/>
              </a:spcBef>
              <a:spcAft>
                <a:spcPts val="0"/>
              </a:spcAft>
              <a:buClr>
                <a:schemeClr val="dk1"/>
              </a:buClr>
              <a:buSzPts val="1200"/>
              <a:buFont typeface="Arial"/>
              <a:buNone/>
            </a:pPr>
            <a:r>
              <a:rPr lang="es-ES" sz="1200">
                <a:solidFill>
                  <a:schemeClr val="dk1"/>
                </a:solidFill>
                <a:latin typeface="Arial"/>
                <a:ea typeface="Arial"/>
                <a:cs typeface="Arial"/>
                <a:sym typeface="Arial"/>
              </a:rPr>
              <a:t> </a:t>
            </a:r>
            <a:endParaRPr/>
          </a:p>
          <a:p>
            <a:pPr indent="0" lvl="0" marL="0" rtl="0" algn="l">
              <a:spcBef>
                <a:spcPts val="0"/>
              </a:spcBef>
              <a:spcAft>
                <a:spcPts val="0"/>
              </a:spcAft>
              <a:buClr>
                <a:schemeClr val="dk1"/>
              </a:buClr>
              <a:buSzPts val="1200"/>
              <a:buFont typeface="Calibri"/>
              <a:buNone/>
            </a:pPr>
            <a:r>
              <a:t/>
            </a:r>
            <a:endParaRPr sz="1200">
              <a:latin typeface="Arial"/>
              <a:ea typeface="Arial"/>
              <a:cs typeface="Arial"/>
              <a:sym typeface="Arial"/>
            </a:endParaRPr>
          </a:p>
        </p:txBody>
      </p:sp>
      <p:sp>
        <p:nvSpPr>
          <p:cNvPr id="278" name="Google Shape;278;p2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Diapositiva de título">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1_Diapo_Subtema con Imagen Horizontal">
    <p:spTree>
      <p:nvGrpSpPr>
        <p:cNvPr id="15" name="Shape 15"/>
        <p:cNvGrpSpPr/>
        <p:nvPr/>
      </p:nvGrpSpPr>
      <p:grpSpPr>
        <a:xfrm>
          <a:off x="0" y="0"/>
          <a:ext cx="0" cy="0"/>
          <a:chOff x="0" y="0"/>
          <a:chExt cx="0" cy="0"/>
        </a:xfrm>
      </p:grpSpPr>
      <p:sp>
        <p:nvSpPr>
          <p:cNvPr id="16" name="Google Shape;16;p29"/>
          <p:cNvSpPr/>
          <p:nvPr>
            <p:ph idx="2" type="pic"/>
          </p:nvPr>
        </p:nvSpPr>
        <p:spPr>
          <a:xfrm>
            <a:off x="475687" y="2877477"/>
            <a:ext cx="8207375" cy="2394000"/>
          </a:xfrm>
          <a:prstGeom prst="rect">
            <a:avLst/>
          </a:prstGeom>
          <a:noFill/>
          <a:ln>
            <a:noFill/>
          </a:ln>
        </p:spPr>
      </p:sp>
      <p:sp>
        <p:nvSpPr>
          <p:cNvPr id="17" name="Google Shape;17;p29"/>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 name="Google Shape;18;p29"/>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 name="Google Shape;19;p29"/>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 name="Shape 2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Vertical">
  <p:cSld name="Diapo_Subtema con Imagen Vertical">
    <p:spTree>
      <p:nvGrpSpPr>
        <p:cNvPr id="21" name="Shape 21"/>
        <p:cNvGrpSpPr/>
        <p:nvPr/>
      </p:nvGrpSpPr>
      <p:grpSpPr>
        <a:xfrm>
          <a:off x="0" y="0"/>
          <a:ext cx="0" cy="0"/>
          <a:chOff x="0" y="0"/>
          <a:chExt cx="0" cy="0"/>
        </a:xfrm>
      </p:grpSpPr>
      <p:sp>
        <p:nvSpPr>
          <p:cNvPr id="22" name="Google Shape;22;p31"/>
          <p:cNvSpPr/>
          <p:nvPr>
            <p:ph idx="2" type="pic"/>
          </p:nvPr>
        </p:nvSpPr>
        <p:spPr>
          <a:xfrm>
            <a:off x="4572000" y="804863"/>
            <a:ext cx="4103688" cy="4463362"/>
          </a:xfrm>
          <a:prstGeom prst="rect">
            <a:avLst/>
          </a:prstGeom>
          <a:noFill/>
          <a:ln>
            <a:noFill/>
          </a:ln>
        </p:spPr>
      </p:sp>
      <p:sp>
        <p:nvSpPr>
          <p:cNvPr id="23" name="Google Shape;23;p3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 name="Google Shape;24;p3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31"/>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lvl1pPr indent="-304800" lvl="0" marL="457200" marR="0" rtl="0" algn="just">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Diapo_Subtema con Imagen Horizontal">
    <p:spTree>
      <p:nvGrpSpPr>
        <p:cNvPr id="26" name="Shape 26"/>
        <p:cNvGrpSpPr/>
        <p:nvPr/>
      </p:nvGrpSpPr>
      <p:grpSpPr>
        <a:xfrm>
          <a:off x="0" y="0"/>
          <a:ext cx="0" cy="0"/>
          <a:chOff x="0" y="0"/>
          <a:chExt cx="0" cy="0"/>
        </a:xfrm>
      </p:grpSpPr>
      <p:sp>
        <p:nvSpPr>
          <p:cNvPr id="27" name="Google Shape;27;p32"/>
          <p:cNvSpPr/>
          <p:nvPr>
            <p:ph idx="2" type="pic"/>
          </p:nvPr>
        </p:nvSpPr>
        <p:spPr>
          <a:xfrm>
            <a:off x="475687" y="2877477"/>
            <a:ext cx="8207375" cy="2394000"/>
          </a:xfrm>
          <a:prstGeom prst="rect">
            <a:avLst/>
          </a:prstGeom>
          <a:noFill/>
          <a:ln>
            <a:noFill/>
          </a:ln>
        </p:spPr>
      </p:sp>
      <p:sp>
        <p:nvSpPr>
          <p:cNvPr id="28" name="Google Shape;28;p32"/>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9" name="Google Shape;29;p32"/>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0" name="Google Shape;30;p32"/>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1" name="Shape 3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Introduccion">
  <p:cSld name="Diapo_Introduccion">
    <p:bg>
      <p:bgPr>
        <a:solidFill>
          <a:srgbClr val="F2F2F2"/>
        </a:solidFill>
      </p:bgPr>
    </p:bg>
    <p:spTree>
      <p:nvGrpSpPr>
        <p:cNvPr id="32" name="Shape 32"/>
        <p:cNvGrpSpPr/>
        <p:nvPr/>
      </p:nvGrpSpPr>
      <p:grpSpPr>
        <a:xfrm>
          <a:off x="0" y="0"/>
          <a:ext cx="0" cy="0"/>
          <a:chOff x="0" y="0"/>
          <a:chExt cx="0" cy="0"/>
        </a:xfrm>
      </p:grpSpPr>
      <p:sp>
        <p:nvSpPr>
          <p:cNvPr id="33" name="Google Shape;33;p34"/>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20"/>
              <a:buFont typeface="Calibri"/>
              <a:buNone/>
            </a:pPr>
            <a:r>
              <a:rPr b="1" i="0" lang="es-ES" sz="1620" u="none" cap="none" strike="noStrike">
                <a:solidFill>
                  <a:schemeClr val="dk1"/>
                </a:solidFill>
                <a:latin typeface="Calibri"/>
                <a:ea typeface="Calibri"/>
                <a:cs typeface="Calibri"/>
                <a:sym typeface="Calibri"/>
              </a:rPr>
              <a:t>INTRODUCCIÓN</a:t>
            </a:r>
            <a:endParaRPr/>
          </a:p>
        </p:txBody>
      </p:sp>
      <p:pic>
        <p:nvPicPr>
          <p:cNvPr id="34" name="Google Shape;34;p34"/>
          <p:cNvPicPr preferRelativeResize="0"/>
          <p:nvPr/>
        </p:nvPicPr>
        <p:blipFill rotWithShape="1">
          <a:blip r:embed="rId2">
            <a:alphaModFix/>
          </a:blip>
          <a:srcRect b="0" l="0" r="0" t="0"/>
          <a:stretch/>
        </p:blipFill>
        <p:spPr>
          <a:xfrm>
            <a:off x="503239" y="573356"/>
            <a:ext cx="424127" cy="424127"/>
          </a:xfrm>
          <a:prstGeom prst="rect">
            <a:avLst/>
          </a:prstGeom>
          <a:solidFill>
            <a:srgbClr val="F2F2F2"/>
          </a:solidFill>
          <a:ln>
            <a:noFill/>
          </a:ln>
        </p:spPr>
      </p:pic>
      <p:sp>
        <p:nvSpPr>
          <p:cNvPr id="35" name="Google Shape;35;p34"/>
          <p:cNvSpPr txBox="1"/>
          <p:nvPr>
            <p:ph idx="1" type="body"/>
          </p:nvPr>
        </p:nvSpPr>
        <p:spPr>
          <a:xfrm>
            <a:off x="503238" y="1670050"/>
            <a:ext cx="8137525" cy="3563938"/>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guide id="2" pos="317">
          <p15:clr>
            <a:srgbClr val="FBAE40"/>
          </p15:clr>
        </p15:guide>
        <p15:guide id="3" pos="5443">
          <p15:clr>
            <a:srgbClr val="FBAE40"/>
          </p15:clr>
        </p15:guide>
        <p15:guide id="4" orient="horz" pos="329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Cuadro">
  <p:cSld name="Diapo_Subtema con Cuadro">
    <p:spTree>
      <p:nvGrpSpPr>
        <p:cNvPr id="36" name="Shape 36"/>
        <p:cNvGrpSpPr/>
        <p:nvPr/>
      </p:nvGrpSpPr>
      <p:grpSpPr>
        <a:xfrm>
          <a:off x="0" y="0"/>
          <a:ext cx="0" cy="0"/>
          <a:chOff x="0" y="0"/>
          <a:chExt cx="0" cy="0"/>
        </a:xfrm>
      </p:grpSpPr>
      <p:sp>
        <p:nvSpPr>
          <p:cNvPr id="37" name="Google Shape;37;p35"/>
          <p:cNvSpPr/>
          <p:nvPr>
            <p:ph idx="2" type="pic"/>
          </p:nvPr>
        </p:nvSpPr>
        <p:spPr>
          <a:xfrm>
            <a:off x="468313" y="1175705"/>
            <a:ext cx="8207375" cy="4096800"/>
          </a:xfrm>
          <a:prstGeom prst="rect">
            <a:avLst/>
          </a:prstGeom>
          <a:noFill/>
          <a:ln>
            <a:noFill/>
          </a:ln>
        </p:spPr>
      </p:sp>
      <p:sp>
        <p:nvSpPr>
          <p:cNvPr id="38" name="Google Shape;38;p35"/>
          <p:cNvSpPr txBox="1"/>
          <p:nvPr>
            <p:ph idx="1" type="body"/>
          </p:nvPr>
        </p:nvSpPr>
        <p:spPr>
          <a:xfrm>
            <a:off x="468313" y="81047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9" name="Google Shape;39;p3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Full texto">
  <p:cSld name="Diapo_Full texto">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36"/>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rgbClr val="3F3F3F"/>
              </a:buClr>
              <a:buSzPts val="1600"/>
              <a:buFont typeface="Arial"/>
              <a:buNone/>
              <a:defRPr b="1" i="0" sz="1600" u="none" cap="none" strike="noStrike">
                <a:solidFill>
                  <a:srgbClr val="3F3F3F"/>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2" name="Google Shape;42;p36"/>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spcBef>
                <a:spcPts val="36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3" name="Google Shape;43;p36"/>
          <p:cNvSpPr txBox="1"/>
          <p:nvPr>
            <p:ph idx="3" type="body"/>
          </p:nvPr>
        </p:nvSpPr>
        <p:spPr>
          <a:xfrm>
            <a:off x="468313" y="1174363"/>
            <a:ext cx="8207375" cy="4540637"/>
          </a:xfrm>
          <a:prstGeom prst="rect">
            <a:avLst/>
          </a:prstGeom>
          <a:solidFill>
            <a:srgbClr val="FFFFCC"/>
          </a:solidFill>
          <a:ln>
            <a:noFill/>
          </a:ln>
        </p:spPr>
        <p:txBody>
          <a:bodyPr anchorCtr="0" anchor="t" bIns="45700" lIns="91425" spcFirstLastPara="1" rIns="91425" wrap="square" tIns="45700">
            <a:noAutofit/>
          </a:bodyPr>
          <a:lstStyle>
            <a:lvl1pPr indent="-304800" lvl="0" marL="457200" marR="0" rtl="0" algn="just">
              <a:lnSpc>
                <a:spcPct val="90000"/>
              </a:lnSpc>
              <a:spcBef>
                <a:spcPts val="0"/>
              </a:spcBef>
              <a:spcAft>
                <a:spcPts val="0"/>
              </a:spcAft>
              <a:buClr>
                <a:srgbClr val="3F3F3F"/>
              </a:buClr>
              <a:buSzPts val="1200"/>
              <a:buFont typeface="Noto Sans Symbols"/>
              <a:buChar char="❑"/>
              <a:defRPr b="0" i="1" sz="1600" u="none" cap="none" strike="noStrike">
                <a:solidFill>
                  <a:srgbClr val="7F7F7F"/>
                </a:solidFill>
                <a:latin typeface="Calibri"/>
                <a:ea typeface="Calibri"/>
                <a:cs typeface="Calibri"/>
                <a:sym typeface="Calibri"/>
              </a:defRPr>
            </a:lvl1pPr>
            <a:lvl2pPr indent="-317500" lvl="1" marL="914400" marR="0" rtl="0" algn="just">
              <a:lnSpc>
                <a:spcPct val="90000"/>
              </a:lnSpc>
              <a:spcBef>
                <a:spcPts val="600"/>
              </a:spcBef>
              <a:spcAft>
                <a:spcPts val="0"/>
              </a:spcAft>
              <a:buClr>
                <a:srgbClr val="3F3F3F"/>
              </a:buClr>
              <a:buSzPts val="1400"/>
              <a:buFont typeface="Noto Sans Symbols"/>
              <a:buChar char="▪"/>
              <a:defRPr b="0" i="1" sz="1400" u="none" cap="none" strike="noStrike">
                <a:solidFill>
                  <a:srgbClr val="7F7F7F"/>
                </a:solidFill>
                <a:latin typeface="Calibri"/>
                <a:ea typeface="Calibri"/>
                <a:cs typeface="Calibri"/>
                <a:sym typeface="Calibri"/>
              </a:defRPr>
            </a:lvl2pPr>
            <a:lvl3pPr indent="-317500" lvl="2" marL="13716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3pPr>
            <a:lvl4pPr indent="-317500" lvl="3" marL="18288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55600" lvl="5" marL="2743200" marR="0" rtl="0" algn="l">
              <a:spcBef>
                <a:spcPts val="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p:cSld name="Diapo_Subtema">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37"/>
          <p:cNvSpPr txBox="1"/>
          <p:nvPr>
            <p:ph idx="1" type="body"/>
          </p:nvPr>
        </p:nvSpPr>
        <p:spPr>
          <a:xfrm>
            <a:off x="468314" y="3714841"/>
            <a:ext cx="5543549" cy="8100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5000"/>
              </a:lnSpc>
              <a:spcBef>
                <a:spcPts val="0"/>
              </a:spcBef>
              <a:spcAft>
                <a:spcPts val="0"/>
              </a:spcAft>
              <a:buClr>
                <a:schemeClr val="lt1"/>
              </a:buClr>
              <a:buSzPts val="2800"/>
              <a:buFont typeface="Arial"/>
              <a:buNone/>
              <a:defRPr b="1" i="0" sz="2800" u="none" cap="none" strike="noStrike">
                <a:solidFill>
                  <a:schemeClr val="lt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378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Conclusiones">
  <p:cSld name="Diapo_Conclusiones">
    <p:bg>
      <p:bgPr>
        <a:blipFill>
          <a:blip r:embed="rId2">
            <a:alphaModFix/>
          </a:blip>
          <a:stretch>
            <a:fillRect/>
          </a:stretch>
        </a:blipFill>
      </p:bgPr>
    </p:bg>
    <p:spTree>
      <p:nvGrpSpPr>
        <p:cNvPr id="46" name="Shape 46"/>
        <p:cNvGrpSpPr/>
        <p:nvPr/>
      </p:nvGrpSpPr>
      <p:grpSpPr>
        <a:xfrm>
          <a:off x="0" y="0"/>
          <a:ext cx="0" cy="0"/>
          <a:chOff x="0" y="0"/>
          <a:chExt cx="0" cy="0"/>
        </a:xfrm>
      </p:grpSpPr>
      <p:sp>
        <p:nvSpPr>
          <p:cNvPr id="47" name="Google Shape;47;p38"/>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CONCLUSIONES</a:t>
            </a:r>
            <a:endParaRPr/>
          </a:p>
        </p:txBody>
      </p:sp>
      <p:pic>
        <p:nvPicPr>
          <p:cNvPr id="48" name="Google Shape;48;p38"/>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49" name="Google Shape;49;p38"/>
          <p:cNvSpPr txBox="1"/>
          <p:nvPr>
            <p:ph idx="1" type="body"/>
          </p:nvPr>
        </p:nvSpPr>
        <p:spPr>
          <a:xfrm>
            <a:off x="927366" y="1670909"/>
            <a:ext cx="7713398" cy="3526566"/>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Calibri"/>
              <a:buAutoNum type="arabicPeriod"/>
              <a:defRPr b="0" i="0" sz="1800" u="none" cap="none" strike="noStrike">
                <a:solidFill>
                  <a:schemeClr val="lt1"/>
                </a:solidFill>
                <a:latin typeface="Calibri"/>
                <a:ea typeface="Calibri"/>
                <a:cs typeface="Calibri"/>
                <a:sym typeface="Calibri"/>
              </a:defRPr>
            </a:lvl1pPr>
            <a:lvl2pPr indent="-406400" lvl="1" marL="914400" marR="0" rtl="0" algn="l">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Bibliografía">
  <p:cSld name="Diapo_Bibliografía">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39"/>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BIBLIOGRAFÍA</a:t>
            </a:r>
            <a:endParaRPr/>
          </a:p>
        </p:txBody>
      </p:sp>
      <p:pic>
        <p:nvPicPr>
          <p:cNvPr id="52" name="Google Shape;52;p39"/>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53" name="Google Shape;53;p39"/>
          <p:cNvSpPr txBox="1"/>
          <p:nvPr>
            <p:ph idx="1" type="body"/>
          </p:nvPr>
        </p:nvSpPr>
        <p:spPr>
          <a:xfrm>
            <a:off x="927366" y="1670049"/>
            <a:ext cx="7713398" cy="3527425"/>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Noto Sans Symbols"/>
              <a:buChar char="▪"/>
              <a:defRPr b="0" i="0" sz="1800" u="none" cap="none" strike="noStrike">
                <a:solidFill>
                  <a:schemeClr val="lt1"/>
                </a:solidFill>
                <a:latin typeface="Calibri"/>
                <a:ea typeface="Calibri"/>
                <a:cs typeface="Calibri"/>
                <a:sym typeface="Calibri"/>
              </a:defRPr>
            </a:lvl1pPr>
            <a:lvl2pPr indent="-406400" lvl="1" marL="914400" marR="0" rtl="0" algn="l">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27"/>
          <p:cNvGrpSpPr/>
          <p:nvPr/>
        </p:nvGrpSpPr>
        <p:grpSpPr>
          <a:xfrm>
            <a:off x="793745" y="5369051"/>
            <a:ext cx="8104595" cy="215444"/>
            <a:chOff x="793745" y="5369051"/>
            <a:chExt cx="7954689" cy="215444"/>
          </a:xfrm>
        </p:grpSpPr>
        <p:sp>
          <p:nvSpPr>
            <p:cNvPr id="11" name="Google Shape;11;p27"/>
            <p:cNvSpPr txBox="1"/>
            <p:nvPr/>
          </p:nvSpPr>
          <p:spPr>
            <a:xfrm>
              <a:off x="793745" y="5369051"/>
              <a:ext cx="213378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800" u="none" cap="none" strike="noStrike">
                  <a:solidFill>
                    <a:srgbClr val="7F7F7F"/>
                  </a:solidFill>
                  <a:latin typeface="Calibri"/>
                  <a:ea typeface="Calibri"/>
                  <a:cs typeface="Calibri"/>
                  <a:sym typeface="Calibri"/>
                </a:rPr>
                <a:t>ANÁLISIS Y DISEÑO DE SISTEMAS II  •  SESIÓN 15</a:t>
              </a:r>
              <a:endParaRPr sz="800">
                <a:solidFill>
                  <a:srgbClr val="7F7F7F"/>
                </a:solidFill>
                <a:latin typeface="Calibri"/>
                <a:ea typeface="Calibri"/>
                <a:cs typeface="Calibri"/>
                <a:sym typeface="Calibri"/>
              </a:endParaRPr>
            </a:p>
          </p:txBody>
        </p:sp>
        <p:sp>
          <p:nvSpPr>
            <p:cNvPr id="12" name="Google Shape;12;p27"/>
            <p:cNvSpPr/>
            <p:nvPr/>
          </p:nvSpPr>
          <p:spPr>
            <a:xfrm>
              <a:off x="7207627" y="5384440"/>
              <a:ext cx="1540807" cy="184666"/>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s-ES" sz="600">
                  <a:solidFill>
                    <a:srgbClr val="7F7F7F"/>
                  </a:solidFill>
                  <a:latin typeface="Calibri"/>
                  <a:ea typeface="Calibri"/>
                  <a:cs typeface="Calibri"/>
                  <a:sym typeface="Calibri"/>
                </a:rPr>
                <a:t>© 2023 ISIL. Todos los derechos reservados</a:t>
              </a:r>
              <a:endParaRPr/>
            </a:p>
          </p:txBody>
        </p:sp>
      </p:grpSp>
      <p:pic>
        <p:nvPicPr>
          <p:cNvPr id="13" name="Google Shape;13;p27"/>
          <p:cNvPicPr preferRelativeResize="0"/>
          <p:nvPr/>
        </p:nvPicPr>
        <p:blipFill rotWithShape="1">
          <a:blip r:embed="rId1">
            <a:alphaModFix amt="20000"/>
          </a:blip>
          <a:srcRect b="0" l="0" r="0" t="0"/>
          <a:stretch/>
        </p:blipFill>
        <p:spPr>
          <a:xfrm>
            <a:off x="345172" y="5328911"/>
            <a:ext cx="448573" cy="2507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80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hyperlink" Target="https://www.scrumguides.org/scrum-guide.html" TargetMode="External"/><Relationship Id="rId4" Type="http://schemas.openxmlformats.org/officeDocument/2006/relationships/hyperlink" Target="http://www.agilemodeling.com/artifacts/classDiagram.ht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60" name="Google Shape;60;p1"/>
          <p:cNvSpPr txBox="1"/>
          <p:nvPr/>
        </p:nvSpPr>
        <p:spPr>
          <a:xfrm>
            <a:off x="2088505" y="1653293"/>
            <a:ext cx="8731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Calibri"/>
              <a:buNone/>
            </a:pPr>
            <a:r>
              <a:rPr lang="es-ES" sz="1800">
                <a:solidFill>
                  <a:schemeClr val="lt1"/>
                </a:solidFill>
                <a:latin typeface="Calibri"/>
                <a:ea typeface="Calibri"/>
                <a:cs typeface="Calibri"/>
                <a:sym typeface="Calibri"/>
              </a:rPr>
              <a:t>SESIÓN</a:t>
            </a:r>
            <a:endParaRPr sz="1800">
              <a:solidFill>
                <a:schemeClr val="dk1"/>
              </a:solidFill>
              <a:latin typeface="Calibri"/>
              <a:ea typeface="Calibri"/>
              <a:cs typeface="Calibri"/>
              <a:sym typeface="Calibri"/>
            </a:endParaRPr>
          </a:p>
        </p:txBody>
      </p:sp>
      <p:sp>
        <p:nvSpPr>
          <p:cNvPr id="61" name="Google Shape;61;p1"/>
          <p:cNvSpPr txBox="1"/>
          <p:nvPr/>
        </p:nvSpPr>
        <p:spPr>
          <a:xfrm>
            <a:off x="2051281" y="1730819"/>
            <a:ext cx="964250" cy="9848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FFFFFF"/>
              </a:buClr>
              <a:buSzPts val="5800"/>
              <a:buFont typeface="Calibri"/>
              <a:buNone/>
            </a:pPr>
            <a:r>
              <a:rPr lang="es-ES" sz="5800">
                <a:solidFill>
                  <a:srgbClr val="FFFFFF"/>
                </a:solidFill>
                <a:latin typeface="Calibri"/>
                <a:ea typeface="Calibri"/>
                <a:cs typeface="Calibri"/>
                <a:sym typeface="Calibri"/>
              </a:rPr>
              <a:t>15</a:t>
            </a:r>
            <a:endParaRPr sz="1800">
              <a:solidFill>
                <a:schemeClr val="dk1"/>
              </a:solidFill>
              <a:latin typeface="Calibri"/>
              <a:ea typeface="Calibri"/>
              <a:cs typeface="Calibri"/>
              <a:sym typeface="Calibri"/>
            </a:endParaRPr>
          </a:p>
        </p:txBody>
      </p:sp>
      <p:sp>
        <p:nvSpPr>
          <p:cNvPr id="62" name="Google Shape;62;p1"/>
          <p:cNvSpPr txBox="1"/>
          <p:nvPr/>
        </p:nvSpPr>
        <p:spPr>
          <a:xfrm>
            <a:off x="3175138" y="1368705"/>
            <a:ext cx="5422704" cy="1200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600">
                <a:solidFill>
                  <a:schemeClr val="lt1"/>
                </a:solidFill>
                <a:latin typeface="Calibri"/>
                <a:ea typeface="Calibri"/>
                <a:cs typeface="Calibri"/>
                <a:sym typeface="Calibri"/>
              </a:rPr>
              <a:t>INTEGRACIÓN DE </a:t>
            </a:r>
            <a:endParaRPr/>
          </a:p>
          <a:p>
            <a:pPr indent="0" lvl="0" marL="0" marR="0" rtl="0" algn="l">
              <a:spcBef>
                <a:spcPts val="0"/>
              </a:spcBef>
              <a:spcAft>
                <a:spcPts val="0"/>
              </a:spcAft>
              <a:buNone/>
            </a:pPr>
            <a:r>
              <a:rPr b="1" lang="es-ES" sz="3600">
                <a:solidFill>
                  <a:schemeClr val="lt1"/>
                </a:solidFill>
                <a:latin typeface="Calibri"/>
                <a:ea typeface="Calibri"/>
                <a:cs typeface="Calibri"/>
                <a:sym typeface="Calibri"/>
              </a:rPr>
              <a:t>MODELO UML</a:t>
            </a:r>
            <a:endParaRPr b="1" sz="3600">
              <a:solidFill>
                <a:schemeClr val="lt1"/>
              </a:solidFill>
              <a:latin typeface="Calibri"/>
              <a:ea typeface="Calibri"/>
              <a:cs typeface="Calibri"/>
              <a:sym typeface="Calibri"/>
            </a:endParaRPr>
          </a:p>
        </p:txBody>
      </p:sp>
      <p:sp>
        <p:nvSpPr>
          <p:cNvPr id="63" name="Google Shape;63;p1"/>
          <p:cNvSpPr txBox="1"/>
          <p:nvPr/>
        </p:nvSpPr>
        <p:spPr>
          <a:xfrm>
            <a:off x="3175138" y="2996279"/>
            <a:ext cx="5026425" cy="86173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Metodologías y herramientas UML</a:t>
            </a:r>
            <a:endParaRPr/>
          </a:p>
          <a:p>
            <a:pPr indent="-285750" lvl="0" marL="285750" marR="0" rtl="0" algn="l">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Tendencias y perspectivas ágiles en el modelado UML</a:t>
            </a:r>
            <a:endParaRPr/>
          </a:p>
          <a:p>
            <a:pPr indent="-171450" lvl="0" marL="285750" marR="0" rtl="0" algn="l">
              <a:spcBef>
                <a:spcPts val="0"/>
              </a:spcBef>
              <a:spcAft>
                <a:spcPts val="0"/>
              </a:spcAft>
              <a:buClr>
                <a:schemeClr val="dk1"/>
              </a:buClr>
              <a:buSzPts val="1800"/>
              <a:buFont typeface="Arial"/>
              <a:buNone/>
            </a:pPr>
            <a:r>
              <a:t/>
            </a:r>
            <a:endParaRPr b="1" sz="1800">
              <a:solidFill>
                <a:schemeClr val="lt1"/>
              </a:solidFill>
              <a:latin typeface="Calibri"/>
              <a:ea typeface="Calibri"/>
              <a:cs typeface="Calibri"/>
              <a:sym typeface="Calibri"/>
            </a:endParaRPr>
          </a:p>
        </p:txBody>
      </p:sp>
      <p:cxnSp>
        <p:nvCxnSpPr>
          <p:cNvPr id="64" name="Google Shape;64;p1"/>
          <p:cNvCxnSpPr/>
          <p:nvPr/>
        </p:nvCxnSpPr>
        <p:spPr>
          <a:xfrm>
            <a:off x="3056456" y="1777107"/>
            <a:ext cx="0" cy="720031"/>
          </a:xfrm>
          <a:prstGeom prst="straightConnector1">
            <a:avLst/>
          </a:prstGeom>
          <a:noFill/>
          <a:ln cap="flat" cmpd="sng" w="25400">
            <a:solidFill>
              <a:srgbClr val="FFFFFF"/>
            </a:solidFill>
            <a:prstDash val="solid"/>
            <a:round/>
            <a:headEnd len="sm" w="sm" type="none"/>
            <a:tailEnd len="sm" w="sm" type="none"/>
          </a:ln>
        </p:spPr>
      </p:cxnSp>
      <p:sp>
        <p:nvSpPr>
          <p:cNvPr id="65" name="Google Shape;65;p1"/>
          <p:cNvSpPr/>
          <p:nvPr/>
        </p:nvSpPr>
        <p:spPr>
          <a:xfrm>
            <a:off x="3289191" y="2568993"/>
            <a:ext cx="3672000" cy="193899"/>
          </a:xfrm>
          <a:prstGeom prst="rect">
            <a:avLst/>
          </a:prstGeom>
          <a:solidFill>
            <a:schemeClr val="lt1"/>
          </a:solid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F85A6"/>
              </a:buClr>
              <a:buSzPts val="1400"/>
              <a:buFont typeface="Calibri"/>
              <a:buNone/>
            </a:pPr>
            <a:r>
              <a:rPr b="1" lang="es-ES" sz="1400">
                <a:solidFill>
                  <a:srgbClr val="1F85A6"/>
                </a:solidFill>
                <a:latin typeface="Calibri"/>
                <a:ea typeface="Calibri"/>
                <a:cs typeface="Calibri"/>
                <a:sym typeface="Calibri"/>
              </a:rPr>
              <a:t>UNIDAD DE APRENDIZAJE 4 – UA4</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438AD7"/>
              </a:buClr>
              <a:buSzPts val="1700"/>
              <a:buFont typeface="Calibri"/>
              <a:buNone/>
            </a:pPr>
            <a:r>
              <a:rPr lang="es-ES" sz="1700">
                <a:solidFill>
                  <a:srgbClr val="438AD7"/>
                </a:solidFill>
                <a:latin typeface="Calibri"/>
                <a:ea typeface="Calibri"/>
                <a:cs typeface="Calibri"/>
                <a:sym typeface="Calibri"/>
              </a:rPr>
              <a:t>/ INTRODUCCIÓN</a:t>
            </a:r>
            <a:endParaRPr sz="1800">
              <a:solidFill>
                <a:schemeClr val="dk1"/>
              </a:solidFill>
              <a:latin typeface="Calibri"/>
              <a:ea typeface="Calibri"/>
              <a:cs typeface="Calibri"/>
              <a:sym typeface="Calibri"/>
            </a:endParaRPr>
          </a:p>
        </p:txBody>
      </p:sp>
      <p:sp>
        <p:nvSpPr>
          <p:cNvPr id="72" name="Google Shape;72;p2"/>
          <p:cNvSpPr txBox="1"/>
          <p:nvPr/>
        </p:nvSpPr>
        <p:spPr>
          <a:xfrm>
            <a:off x="573212" y="906087"/>
            <a:ext cx="7784512" cy="373338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1600">
                <a:solidFill>
                  <a:schemeClr val="dk1"/>
                </a:solidFill>
                <a:latin typeface="Calibri"/>
                <a:ea typeface="Calibri"/>
                <a:cs typeface="Calibri"/>
                <a:sym typeface="Calibri"/>
              </a:rPr>
              <a:t>En el contexto del análisis y diseño de sistemas de información, las metodologías de desarrollo de sistemas de información son enfoques estructurados para crear software. Proporcionan un marco de trabajo que consiste en tareas, actividades, roles, prácticas y reglas para el desarrollo de software. </a:t>
            </a:r>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UML es independiente de las metodologías, pero se puede integrar en varios grados con la mayoría de ellas para modelado de software. No todas las metodologías requieren o utilizan UML extensivamente.</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Entonces, durante esta sesión:</a:t>
            </a:r>
            <a:endParaRPr/>
          </a:p>
          <a:p>
            <a:pPr indent="0" lvl="0" marL="0" marR="0" rtl="0" algn="l">
              <a:spcBef>
                <a:spcPts val="600"/>
              </a:spcBef>
              <a:spcAft>
                <a:spcPts val="0"/>
              </a:spcAft>
              <a:buNone/>
            </a:pPr>
            <a:r>
              <a:t/>
            </a:r>
            <a:endParaRPr sz="1600">
              <a:solidFill>
                <a:schemeClr val="dk1"/>
              </a:solidFill>
              <a:latin typeface="Calibri"/>
              <a:ea typeface="Calibri"/>
              <a:cs typeface="Calibri"/>
              <a:sym typeface="Calibri"/>
            </a:endParaRPr>
          </a:p>
          <a:p>
            <a:pPr indent="0" lvl="1" marL="457200" marR="0" rtl="0" algn="l">
              <a:spcBef>
                <a:spcPts val="600"/>
              </a:spcBef>
              <a:spcAft>
                <a:spcPts val="0"/>
              </a:spcAft>
              <a:buNone/>
            </a:pPr>
            <a:r>
              <a:rPr b="1" i="0" lang="es-ES" sz="1600" u="none" cap="none" strike="noStrike">
                <a:solidFill>
                  <a:schemeClr val="dk1"/>
                </a:solidFill>
                <a:latin typeface="Calibri"/>
                <a:ea typeface="Calibri"/>
                <a:cs typeface="Calibri"/>
                <a:sym typeface="Calibri"/>
              </a:rPr>
              <a:t>Conocerás</a:t>
            </a:r>
            <a:r>
              <a:rPr b="0" i="0" lang="es-ES" sz="1600" u="none" cap="none" strike="noStrike">
                <a:solidFill>
                  <a:schemeClr val="dk1"/>
                </a:solidFill>
                <a:latin typeface="Calibri"/>
                <a:ea typeface="Calibri"/>
                <a:cs typeface="Calibri"/>
                <a:sym typeface="Calibri"/>
              </a:rPr>
              <a:t> las principales Metodologías y herramientas UML que te permitan llevar a cabo el análisis y diseño de sistemas de información.</a:t>
            </a:r>
            <a:endParaRPr/>
          </a:p>
          <a:p>
            <a:pPr indent="0" lvl="1" marL="457200" marR="0" rtl="0" algn="l">
              <a:spcBef>
                <a:spcPts val="600"/>
              </a:spcBef>
              <a:spcAft>
                <a:spcPts val="0"/>
              </a:spcAft>
              <a:buNone/>
            </a:pPr>
            <a:r>
              <a:rPr b="1" i="0" lang="es-ES" sz="1600" u="none" cap="none" strike="noStrike">
                <a:solidFill>
                  <a:schemeClr val="dk1"/>
                </a:solidFill>
                <a:latin typeface="Calibri"/>
                <a:ea typeface="Calibri"/>
                <a:cs typeface="Calibri"/>
                <a:sym typeface="Calibri"/>
              </a:rPr>
              <a:t>Conocerás</a:t>
            </a:r>
            <a:r>
              <a:rPr b="0" i="0" lang="es-ES" sz="1600" u="none" cap="none" strike="noStrike">
                <a:solidFill>
                  <a:schemeClr val="dk1"/>
                </a:solidFill>
                <a:latin typeface="Calibri"/>
                <a:ea typeface="Calibri"/>
                <a:cs typeface="Calibri"/>
                <a:sym typeface="Calibri"/>
              </a:rPr>
              <a:t> cuáles son las tendencias y perspectivas ágiles en el modelado UML.</a:t>
            </a:r>
            <a:endParaRPr/>
          </a:p>
          <a:p>
            <a:pPr indent="0" lvl="1" marL="457200" marR="0" rtl="0" algn="l">
              <a:spcBef>
                <a:spcPts val="600"/>
              </a:spcBef>
              <a:spcAft>
                <a:spcPts val="600"/>
              </a:spcAft>
              <a:buNone/>
            </a:pPr>
            <a:r>
              <a:t/>
            </a:r>
            <a:endParaRPr b="0" i="0" sz="11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79" name="Google Shape;79;p3"/>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spcBef>
                <a:spcPts val="0"/>
              </a:spcBef>
              <a:spcAft>
                <a:spcPts val="0"/>
              </a:spcAft>
              <a:buNone/>
            </a:pPr>
            <a:r>
              <a:rPr b="1" lang="es-ES" sz="2800">
                <a:solidFill>
                  <a:schemeClr val="lt1"/>
                </a:solidFill>
                <a:latin typeface="Calibri"/>
                <a:ea typeface="Calibri"/>
                <a:cs typeface="Calibri"/>
                <a:sym typeface="Calibri"/>
              </a:rPr>
              <a:t>/	METODOLOGÍAS Y HERRAMIENTAS UML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METODOLOGÍAS Y HERRAMIENTAS UML</a:t>
            </a:r>
            <a:endParaRPr/>
          </a:p>
        </p:txBody>
      </p:sp>
      <p:pic>
        <p:nvPicPr>
          <p:cNvPr id="86" name="Google Shape;86;p4"/>
          <p:cNvPicPr preferRelativeResize="0"/>
          <p:nvPr>
            <p:ph idx="2" type="pic"/>
          </p:nvPr>
        </p:nvPicPr>
        <p:blipFill rotWithShape="1">
          <a:blip r:embed="rId3">
            <a:alphaModFix/>
          </a:blip>
          <a:srcRect b="160" l="0" r="0" t="161"/>
          <a:stretch/>
        </p:blipFill>
        <p:spPr>
          <a:xfrm>
            <a:off x="5029198" y="1177927"/>
            <a:ext cx="3538423" cy="3848553"/>
          </a:xfrm>
          <a:prstGeom prst="rect">
            <a:avLst/>
          </a:prstGeom>
          <a:noFill/>
          <a:ln>
            <a:noFill/>
          </a:ln>
        </p:spPr>
      </p:pic>
      <p:sp>
        <p:nvSpPr>
          <p:cNvPr id="87" name="Google Shape;87;p4"/>
          <p:cNvSpPr txBox="1"/>
          <p:nvPr>
            <p:ph idx="4" type="body"/>
          </p:nvPr>
        </p:nvSpPr>
        <p:spPr>
          <a:xfrm>
            <a:off x="468313" y="1177927"/>
            <a:ext cx="4660640"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None/>
            </a:pPr>
            <a:r>
              <a:rPr lang="es-ES"/>
              <a:t>UML se utiliza para visualizar, especificar, construir y documentar artefactos de un sistema, por lo que se integra bien con diversas metodologías de desarrollo de software. Las más comunes, son:</a:t>
            </a:r>
            <a:endParaRPr/>
          </a:p>
          <a:p>
            <a:pPr indent="-271463" lvl="1" marL="271463" rtl="0" algn="l">
              <a:spcBef>
                <a:spcPts val="600"/>
              </a:spcBef>
              <a:spcAft>
                <a:spcPts val="0"/>
              </a:spcAft>
              <a:buClr>
                <a:schemeClr val="dk1"/>
              </a:buClr>
              <a:buSzPts val="1600"/>
              <a:buFont typeface="Calibri"/>
              <a:buAutoNum type="arabicParenR"/>
            </a:pPr>
            <a:r>
              <a:rPr lang="es-ES"/>
              <a:t>RUP (Rational Unified Process)</a:t>
            </a:r>
            <a:endParaRPr/>
          </a:p>
          <a:p>
            <a:pPr indent="-271463" lvl="1" marL="271463" rtl="0" algn="l">
              <a:spcBef>
                <a:spcPts val="600"/>
              </a:spcBef>
              <a:spcAft>
                <a:spcPts val="0"/>
              </a:spcAft>
              <a:buClr>
                <a:schemeClr val="dk1"/>
              </a:buClr>
              <a:buSzPts val="1600"/>
              <a:buFont typeface="Calibri"/>
              <a:buAutoNum type="arabicParenR"/>
            </a:pPr>
            <a:r>
              <a:rPr lang="es-ES"/>
              <a:t>Scrum</a:t>
            </a:r>
            <a:endParaRPr/>
          </a:p>
          <a:p>
            <a:pPr indent="-271463" lvl="1" marL="271463" rtl="0" algn="l">
              <a:spcBef>
                <a:spcPts val="600"/>
              </a:spcBef>
              <a:spcAft>
                <a:spcPts val="0"/>
              </a:spcAft>
              <a:buClr>
                <a:schemeClr val="dk1"/>
              </a:buClr>
              <a:buSzPts val="1600"/>
              <a:buFont typeface="Calibri"/>
              <a:buAutoNum type="arabicParenR"/>
            </a:pPr>
            <a:r>
              <a:rPr lang="es-ES"/>
              <a:t>Extreme Programming (XP)</a:t>
            </a:r>
            <a:endParaRPr/>
          </a:p>
          <a:p>
            <a:pPr indent="-271463" lvl="1" marL="271463" rtl="0" algn="l">
              <a:spcBef>
                <a:spcPts val="600"/>
              </a:spcBef>
              <a:spcAft>
                <a:spcPts val="0"/>
              </a:spcAft>
              <a:buClr>
                <a:schemeClr val="dk1"/>
              </a:buClr>
              <a:buSzPts val="1600"/>
              <a:buFont typeface="Calibri"/>
              <a:buAutoNum type="arabicParenR"/>
            </a:pPr>
            <a:r>
              <a:rPr lang="es-ES"/>
              <a:t>Modelo en Cascada</a:t>
            </a:r>
            <a:endParaRPr/>
          </a:p>
          <a:p>
            <a:pPr indent="-271463" lvl="1" marL="271463" rtl="0" algn="l">
              <a:spcBef>
                <a:spcPts val="600"/>
              </a:spcBef>
              <a:spcAft>
                <a:spcPts val="0"/>
              </a:spcAft>
              <a:buClr>
                <a:schemeClr val="dk1"/>
              </a:buClr>
              <a:buSzPts val="1600"/>
              <a:buFont typeface="Calibri"/>
              <a:buAutoNum type="arabicParenR"/>
            </a:pPr>
            <a:r>
              <a:rPr lang="es-ES"/>
              <a:t>Kanban</a:t>
            </a:r>
            <a:endParaRPr/>
          </a:p>
          <a:p>
            <a:pPr indent="-271463" lvl="1" marL="271463" rtl="0" algn="l">
              <a:spcBef>
                <a:spcPts val="600"/>
              </a:spcBef>
              <a:spcAft>
                <a:spcPts val="0"/>
              </a:spcAft>
              <a:buClr>
                <a:schemeClr val="dk1"/>
              </a:buClr>
              <a:buSzPts val="1600"/>
              <a:buFont typeface="Calibri"/>
              <a:buAutoNum type="arabicParenR"/>
            </a:pPr>
            <a:r>
              <a:rPr lang="es-ES"/>
              <a:t>Lean Software Development</a:t>
            </a:r>
            <a:endParaRPr/>
          </a:p>
          <a:p>
            <a:pPr indent="-271463" lvl="1" marL="271463" rtl="0" algn="l">
              <a:spcBef>
                <a:spcPts val="600"/>
              </a:spcBef>
              <a:spcAft>
                <a:spcPts val="0"/>
              </a:spcAft>
              <a:buClr>
                <a:schemeClr val="dk1"/>
              </a:buClr>
              <a:buSzPts val="1600"/>
              <a:buFont typeface="Calibri"/>
              <a:buAutoNum type="arabicParenR"/>
            </a:pPr>
            <a:r>
              <a:rPr lang="es-ES"/>
              <a:t>Feature-Driven Development (FDD)</a:t>
            </a:r>
            <a:endParaRPr/>
          </a:p>
          <a:p>
            <a:pPr indent="-271463" lvl="1" marL="271463" rtl="0" algn="l">
              <a:spcBef>
                <a:spcPts val="600"/>
              </a:spcBef>
              <a:spcAft>
                <a:spcPts val="0"/>
              </a:spcAft>
              <a:buClr>
                <a:schemeClr val="dk1"/>
              </a:buClr>
              <a:buSzPts val="1600"/>
              <a:buFont typeface="Calibri"/>
              <a:buAutoNum type="arabicParenR"/>
            </a:pPr>
            <a:r>
              <a:rPr lang="es-ES"/>
              <a:t>Dynamic Systems Development Method (DSDM)</a:t>
            </a:r>
            <a:endParaRPr/>
          </a:p>
        </p:txBody>
      </p:sp>
      <p:sp>
        <p:nvSpPr>
          <p:cNvPr id="88" name="Google Shape;88;p4"/>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METODOLOGÍAS DE DESARROLLO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METODOLOGÍAS Y HERRAMIENTAS UML</a:t>
            </a:r>
            <a:endParaRPr/>
          </a:p>
        </p:txBody>
      </p:sp>
      <p:sp>
        <p:nvSpPr>
          <p:cNvPr id="95" name="Google Shape;95;p5"/>
          <p:cNvSpPr txBox="1"/>
          <p:nvPr>
            <p:ph idx="4" type="body"/>
          </p:nvPr>
        </p:nvSpPr>
        <p:spPr>
          <a:xfrm>
            <a:off x="468313" y="1177927"/>
            <a:ext cx="4494385"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1200"/>
              <a:buNone/>
            </a:pPr>
            <a:r>
              <a:rPr b="1" i="1" lang="es-ES">
                <a:solidFill>
                  <a:schemeClr val="accent1"/>
                </a:solidFill>
              </a:rPr>
              <a:t>Características Principales:</a:t>
            </a:r>
            <a:endParaRPr/>
          </a:p>
          <a:p>
            <a:pPr indent="-266700" lvl="0" marL="266700" rtl="0" algn="l">
              <a:spcBef>
                <a:spcPts val="300"/>
              </a:spcBef>
              <a:spcAft>
                <a:spcPts val="0"/>
              </a:spcAft>
              <a:buClr>
                <a:schemeClr val="dk1"/>
              </a:buClr>
              <a:buSzPts val="1200"/>
              <a:buChar char="❑"/>
            </a:pPr>
            <a:r>
              <a:rPr b="1" i="1" lang="es-ES"/>
              <a:t>Fases: </a:t>
            </a:r>
            <a:r>
              <a:rPr lang="es-ES"/>
              <a:t>Incepción, elaboración, construcción y transición.</a:t>
            </a:r>
            <a:endParaRPr/>
          </a:p>
          <a:p>
            <a:pPr indent="-266700" lvl="0" marL="266700" rtl="0" algn="l">
              <a:spcBef>
                <a:spcPts val="300"/>
              </a:spcBef>
              <a:spcAft>
                <a:spcPts val="0"/>
              </a:spcAft>
              <a:buClr>
                <a:schemeClr val="dk1"/>
              </a:buClr>
              <a:buSzPts val="1200"/>
              <a:buChar char="❑"/>
            </a:pPr>
            <a:r>
              <a:rPr lang="es-ES"/>
              <a:t>Se desarrolla en ciclos iterativos e incrementales.</a:t>
            </a:r>
            <a:endParaRPr/>
          </a:p>
          <a:p>
            <a:pPr indent="-266700" lvl="0" marL="266700" rtl="0" algn="l">
              <a:spcBef>
                <a:spcPts val="300"/>
              </a:spcBef>
              <a:spcAft>
                <a:spcPts val="0"/>
              </a:spcAft>
              <a:buClr>
                <a:schemeClr val="dk1"/>
              </a:buClr>
              <a:buSzPts val="1200"/>
              <a:buChar char="❑"/>
            </a:pPr>
            <a:r>
              <a:rPr lang="es-ES"/>
              <a:t>Define roles específicos y actividades para cada fase.</a:t>
            </a:r>
            <a:endParaRPr/>
          </a:p>
          <a:p>
            <a:pPr indent="0" lvl="0" marL="0" rtl="0" algn="l">
              <a:spcBef>
                <a:spcPts val="900"/>
              </a:spcBef>
              <a:spcAft>
                <a:spcPts val="0"/>
              </a:spcAft>
              <a:buClr>
                <a:schemeClr val="accent1"/>
              </a:buClr>
              <a:buSzPts val="1200"/>
              <a:buNone/>
            </a:pPr>
            <a:r>
              <a:rPr b="1" i="1" lang="es-ES">
                <a:solidFill>
                  <a:schemeClr val="accent1"/>
                </a:solidFill>
              </a:rPr>
              <a:t>Integración con UML:</a:t>
            </a:r>
            <a:endParaRPr/>
          </a:p>
          <a:p>
            <a:pPr indent="-266700" lvl="0" marL="266700" rtl="0" algn="l">
              <a:spcBef>
                <a:spcPts val="300"/>
              </a:spcBef>
              <a:spcAft>
                <a:spcPts val="0"/>
              </a:spcAft>
              <a:buClr>
                <a:schemeClr val="dk1"/>
              </a:buClr>
              <a:buSzPts val="1200"/>
              <a:buChar char="❑"/>
            </a:pPr>
            <a:r>
              <a:rPr lang="es-ES"/>
              <a:t>UML se utiliza para crear diagramas de casos de uso durante la fase de incepción.</a:t>
            </a:r>
            <a:endParaRPr/>
          </a:p>
          <a:p>
            <a:pPr indent="-266700" lvl="0" marL="266700" rtl="0" algn="l">
              <a:spcBef>
                <a:spcPts val="300"/>
              </a:spcBef>
              <a:spcAft>
                <a:spcPts val="0"/>
              </a:spcAft>
              <a:buClr>
                <a:schemeClr val="dk1"/>
              </a:buClr>
              <a:buSzPts val="1200"/>
              <a:buChar char="❑"/>
            </a:pPr>
            <a:r>
              <a:rPr lang="es-ES"/>
              <a:t>En la fase de elaboración, se utilizan diagramas de clases, de secuencia y de componentes.</a:t>
            </a:r>
            <a:endParaRPr/>
          </a:p>
          <a:p>
            <a:pPr indent="-266700" lvl="0" marL="266700" rtl="0" algn="l">
              <a:spcBef>
                <a:spcPts val="300"/>
              </a:spcBef>
              <a:spcAft>
                <a:spcPts val="0"/>
              </a:spcAft>
              <a:buClr>
                <a:schemeClr val="dk1"/>
              </a:buClr>
              <a:buSzPts val="1200"/>
              <a:buChar char="❑"/>
            </a:pPr>
            <a:r>
              <a:rPr lang="es-ES"/>
              <a:t>Durante la construcción, los diagramas UML ayudan a traducir los modelos en código.</a:t>
            </a:r>
            <a:endParaRPr/>
          </a:p>
        </p:txBody>
      </p:sp>
      <p:sp>
        <p:nvSpPr>
          <p:cNvPr id="96" name="Google Shape;96;p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RUP (RATIONAL UNIFIED PROCESS)</a:t>
            </a:r>
            <a:endParaRPr/>
          </a:p>
        </p:txBody>
      </p:sp>
      <p:pic>
        <p:nvPicPr>
          <p:cNvPr id="97" name="Google Shape;97;p5"/>
          <p:cNvPicPr preferRelativeResize="0"/>
          <p:nvPr>
            <p:ph idx="2" type="pic"/>
          </p:nvPr>
        </p:nvPicPr>
        <p:blipFill rotWithShape="1">
          <a:blip r:embed="rId3">
            <a:alphaModFix/>
          </a:blip>
          <a:srcRect b="160" l="0" r="0" t="161"/>
          <a:stretch/>
        </p:blipFill>
        <p:spPr>
          <a:xfrm>
            <a:off x="5322719" y="1177926"/>
            <a:ext cx="3422044" cy="372197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METODOLOGÍAS Y HERRAMIENTAS UML</a:t>
            </a:r>
            <a:endParaRPr/>
          </a:p>
        </p:txBody>
      </p:sp>
      <p:pic>
        <p:nvPicPr>
          <p:cNvPr id="104" name="Google Shape;104;p6"/>
          <p:cNvPicPr preferRelativeResize="0"/>
          <p:nvPr>
            <p:ph idx="2" type="pic"/>
          </p:nvPr>
        </p:nvPicPr>
        <p:blipFill rotWithShape="1">
          <a:blip r:embed="rId3">
            <a:alphaModFix/>
          </a:blip>
          <a:srcRect b="160" l="0" r="0" t="161"/>
          <a:stretch/>
        </p:blipFill>
        <p:spPr>
          <a:xfrm>
            <a:off x="5112326" y="1177927"/>
            <a:ext cx="3563361" cy="3875677"/>
          </a:xfrm>
          <a:prstGeom prst="rect">
            <a:avLst/>
          </a:prstGeom>
          <a:noFill/>
          <a:ln>
            <a:noFill/>
          </a:ln>
        </p:spPr>
      </p:pic>
      <p:sp>
        <p:nvSpPr>
          <p:cNvPr id="105" name="Google Shape;105;p6"/>
          <p:cNvSpPr txBox="1"/>
          <p:nvPr>
            <p:ph idx="4" type="body"/>
          </p:nvPr>
        </p:nvSpPr>
        <p:spPr>
          <a:xfrm>
            <a:off x="759259" y="1177927"/>
            <a:ext cx="4103687"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1200"/>
              <a:buNone/>
            </a:pPr>
            <a:r>
              <a:rPr b="1" i="1" lang="es-ES">
                <a:solidFill>
                  <a:schemeClr val="accent1"/>
                </a:solidFill>
              </a:rPr>
              <a:t>Características Principales:</a:t>
            </a:r>
            <a:endParaRPr/>
          </a:p>
          <a:p>
            <a:pPr indent="-266700" lvl="0" marL="266700" rtl="0" algn="l">
              <a:spcBef>
                <a:spcPts val="300"/>
              </a:spcBef>
              <a:spcAft>
                <a:spcPts val="0"/>
              </a:spcAft>
              <a:buClr>
                <a:schemeClr val="dk1"/>
              </a:buClr>
              <a:buSzPts val="1200"/>
              <a:buChar char="❑"/>
            </a:pPr>
            <a:r>
              <a:rPr lang="es-ES"/>
              <a:t>Se centra en la entrega rápida y eficiente.</a:t>
            </a:r>
            <a:endParaRPr/>
          </a:p>
          <a:p>
            <a:pPr indent="-266700" lvl="0" marL="266700" rtl="0" algn="l">
              <a:spcBef>
                <a:spcPts val="300"/>
              </a:spcBef>
              <a:spcAft>
                <a:spcPts val="0"/>
              </a:spcAft>
              <a:buClr>
                <a:schemeClr val="dk1"/>
              </a:buClr>
              <a:buSzPts val="1200"/>
              <a:buChar char="❑"/>
            </a:pPr>
            <a:r>
              <a:rPr b="1" i="1" lang="es-ES"/>
              <a:t>Sprints</a:t>
            </a:r>
            <a:r>
              <a:rPr lang="es-ES"/>
              <a:t>: Ciclos de desarrollo cortos.</a:t>
            </a:r>
            <a:endParaRPr/>
          </a:p>
          <a:p>
            <a:pPr indent="-266700" lvl="0" marL="266700" rtl="0" algn="l">
              <a:spcBef>
                <a:spcPts val="300"/>
              </a:spcBef>
              <a:spcAft>
                <a:spcPts val="0"/>
              </a:spcAft>
              <a:buClr>
                <a:schemeClr val="dk1"/>
              </a:buClr>
              <a:buSzPts val="1200"/>
              <a:buChar char="❑"/>
            </a:pPr>
            <a:r>
              <a:rPr b="1" i="1" lang="es-ES"/>
              <a:t>Roles</a:t>
            </a:r>
            <a:r>
              <a:rPr lang="es-ES"/>
              <a:t>: Scrum Master, Product Owner, y Equipo de Desarrollo.</a:t>
            </a:r>
            <a:endParaRPr/>
          </a:p>
          <a:p>
            <a:pPr indent="0" lvl="0" marL="0" rtl="0" algn="l">
              <a:spcBef>
                <a:spcPts val="1500"/>
              </a:spcBef>
              <a:spcAft>
                <a:spcPts val="0"/>
              </a:spcAft>
              <a:buClr>
                <a:schemeClr val="accent1"/>
              </a:buClr>
              <a:buSzPts val="1200"/>
              <a:buNone/>
            </a:pPr>
            <a:r>
              <a:rPr b="1" i="1" lang="es-ES">
                <a:solidFill>
                  <a:schemeClr val="accent1"/>
                </a:solidFill>
              </a:rPr>
              <a:t>Integración con UML:</a:t>
            </a:r>
            <a:endParaRPr/>
          </a:p>
          <a:p>
            <a:pPr indent="-266700" lvl="0" marL="266700" rtl="0" algn="l">
              <a:spcBef>
                <a:spcPts val="300"/>
              </a:spcBef>
              <a:spcAft>
                <a:spcPts val="0"/>
              </a:spcAft>
              <a:buClr>
                <a:schemeClr val="dk1"/>
              </a:buClr>
              <a:buSzPts val="1200"/>
              <a:buChar char="❑"/>
            </a:pPr>
            <a:r>
              <a:rPr lang="es-ES"/>
              <a:t>Los diagramas de casos de uso pueden ayudar a definir historias de usuario.</a:t>
            </a:r>
            <a:endParaRPr/>
          </a:p>
          <a:p>
            <a:pPr indent="-266700" lvl="0" marL="266700" rtl="0" algn="l">
              <a:spcBef>
                <a:spcPts val="300"/>
              </a:spcBef>
              <a:spcAft>
                <a:spcPts val="0"/>
              </a:spcAft>
              <a:buClr>
                <a:schemeClr val="dk1"/>
              </a:buClr>
              <a:buSzPts val="1200"/>
              <a:buChar char="❑"/>
            </a:pPr>
            <a:r>
              <a:rPr lang="es-ES"/>
              <a:t>Los diagramas de secuencia y actividad pueden ser útiles durante las reuniones de revisión.</a:t>
            </a:r>
            <a:endParaRPr/>
          </a:p>
        </p:txBody>
      </p:sp>
      <p:sp>
        <p:nvSpPr>
          <p:cNvPr id="106" name="Google Shape;106;p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SCRUM</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METODOLOGÍAS Y HERRAMIENTAS UML</a:t>
            </a:r>
            <a:endParaRPr/>
          </a:p>
        </p:txBody>
      </p:sp>
      <p:sp>
        <p:nvSpPr>
          <p:cNvPr id="113" name="Google Shape;113;p7"/>
          <p:cNvSpPr txBox="1"/>
          <p:nvPr>
            <p:ph idx="4" type="body"/>
          </p:nvPr>
        </p:nvSpPr>
        <p:spPr>
          <a:xfrm>
            <a:off x="817447" y="1273609"/>
            <a:ext cx="4103687"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1200"/>
              <a:buNone/>
            </a:pPr>
            <a:r>
              <a:rPr b="1" i="1" lang="es-ES">
                <a:solidFill>
                  <a:schemeClr val="accent1"/>
                </a:solidFill>
              </a:rPr>
              <a:t>Características Principales:</a:t>
            </a:r>
            <a:endParaRPr/>
          </a:p>
          <a:p>
            <a:pPr indent="-266700" lvl="0" marL="266700" rtl="0" algn="l">
              <a:spcBef>
                <a:spcPts val="300"/>
              </a:spcBef>
              <a:spcAft>
                <a:spcPts val="0"/>
              </a:spcAft>
              <a:buClr>
                <a:schemeClr val="dk1"/>
              </a:buClr>
              <a:buSzPts val="1200"/>
              <a:buChar char="❑"/>
            </a:pPr>
            <a:r>
              <a:rPr lang="es-ES"/>
              <a:t>Enfocado en la adaptabilidad.</a:t>
            </a:r>
            <a:endParaRPr/>
          </a:p>
          <a:p>
            <a:pPr indent="-266700" lvl="0" marL="266700" rtl="0" algn="l">
              <a:spcBef>
                <a:spcPts val="300"/>
              </a:spcBef>
              <a:spcAft>
                <a:spcPts val="0"/>
              </a:spcAft>
              <a:buClr>
                <a:schemeClr val="dk1"/>
              </a:buClr>
              <a:buSzPts val="1200"/>
              <a:buChar char="❑"/>
            </a:pPr>
            <a:r>
              <a:rPr lang="es-ES"/>
              <a:t>Las pruebas continuas son fundamentales.</a:t>
            </a:r>
            <a:endParaRPr/>
          </a:p>
          <a:p>
            <a:pPr indent="-266700" lvl="0" marL="266700" rtl="0" algn="l">
              <a:spcBef>
                <a:spcPts val="300"/>
              </a:spcBef>
              <a:spcAft>
                <a:spcPts val="0"/>
              </a:spcAft>
              <a:buClr>
                <a:schemeClr val="dk1"/>
              </a:buClr>
              <a:buSzPts val="1200"/>
              <a:buChar char="❑"/>
            </a:pPr>
            <a:r>
              <a:rPr lang="es-ES"/>
              <a:t>Programación en Parejas (dos desarrolladores trabajan juntos en la misma tarea).</a:t>
            </a:r>
            <a:endParaRPr/>
          </a:p>
          <a:p>
            <a:pPr indent="0" lvl="0" marL="0" rtl="0" algn="l">
              <a:spcBef>
                <a:spcPts val="1500"/>
              </a:spcBef>
              <a:spcAft>
                <a:spcPts val="0"/>
              </a:spcAft>
              <a:buClr>
                <a:schemeClr val="accent1"/>
              </a:buClr>
              <a:buSzPts val="1200"/>
              <a:buNone/>
            </a:pPr>
            <a:r>
              <a:rPr b="1" i="1" lang="es-ES">
                <a:solidFill>
                  <a:schemeClr val="accent1"/>
                </a:solidFill>
              </a:rPr>
              <a:t>Integración con UML:</a:t>
            </a:r>
            <a:endParaRPr/>
          </a:p>
          <a:p>
            <a:pPr indent="-266700" lvl="0" marL="266700" rtl="0" algn="l">
              <a:spcBef>
                <a:spcPts val="300"/>
              </a:spcBef>
              <a:spcAft>
                <a:spcPts val="0"/>
              </a:spcAft>
              <a:buClr>
                <a:schemeClr val="dk1"/>
              </a:buClr>
              <a:buSzPts val="1200"/>
              <a:buChar char="❑"/>
            </a:pPr>
            <a:r>
              <a:rPr lang="es-ES"/>
              <a:t>UML se utiliza para crear diseños simples, pero efectivos.</a:t>
            </a:r>
            <a:endParaRPr/>
          </a:p>
          <a:p>
            <a:pPr indent="-266700" lvl="0" marL="266700" rtl="0" algn="l">
              <a:spcBef>
                <a:spcPts val="300"/>
              </a:spcBef>
              <a:spcAft>
                <a:spcPts val="0"/>
              </a:spcAft>
              <a:buClr>
                <a:schemeClr val="dk1"/>
              </a:buClr>
              <a:buSzPts val="1200"/>
              <a:buChar char="❑"/>
            </a:pPr>
            <a:r>
              <a:rPr lang="es-ES"/>
              <a:t>Los diagramas UML pueden actualizarse constantemente durante la refactorización.</a:t>
            </a:r>
            <a:endParaRPr/>
          </a:p>
        </p:txBody>
      </p:sp>
      <p:sp>
        <p:nvSpPr>
          <p:cNvPr id="114" name="Google Shape;114;p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EXTREME PROGRAMMING (XP)</a:t>
            </a:r>
            <a:endParaRPr/>
          </a:p>
        </p:txBody>
      </p:sp>
      <p:pic>
        <p:nvPicPr>
          <p:cNvPr id="115" name="Google Shape;115;p7"/>
          <p:cNvPicPr preferRelativeResize="0"/>
          <p:nvPr>
            <p:ph idx="2" type="pic"/>
          </p:nvPr>
        </p:nvPicPr>
        <p:blipFill rotWithShape="1">
          <a:blip r:embed="rId3">
            <a:alphaModFix/>
          </a:blip>
          <a:srcRect b="160" l="0" r="0" t="161"/>
          <a:stretch/>
        </p:blipFill>
        <p:spPr>
          <a:xfrm>
            <a:off x="5253643" y="1273609"/>
            <a:ext cx="3347230" cy="364060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METODOLOGÍAS Y HERRAMIENTAS UML</a:t>
            </a:r>
            <a:endParaRPr/>
          </a:p>
        </p:txBody>
      </p:sp>
      <p:pic>
        <p:nvPicPr>
          <p:cNvPr id="122" name="Google Shape;122;p8"/>
          <p:cNvPicPr preferRelativeResize="0"/>
          <p:nvPr>
            <p:ph idx="2" type="pic"/>
          </p:nvPr>
        </p:nvPicPr>
        <p:blipFill rotWithShape="1">
          <a:blip r:embed="rId3">
            <a:alphaModFix/>
          </a:blip>
          <a:srcRect b="160" l="0" r="0" t="161"/>
          <a:stretch/>
        </p:blipFill>
        <p:spPr>
          <a:xfrm>
            <a:off x="5253643" y="1255527"/>
            <a:ext cx="3363855" cy="3658685"/>
          </a:xfrm>
          <a:prstGeom prst="rect">
            <a:avLst/>
          </a:prstGeom>
          <a:noFill/>
          <a:ln>
            <a:noFill/>
          </a:ln>
        </p:spPr>
      </p:pic>
      <p:sp>
        <p:nvSpPr>
          <p:cNvPr id="123" name="Google Shape;123;p8"/>
          <p:cNvSpPr txBox="1"/>
          <p:nvPr>
            <p:ph idx="4" type="body"/>
          </p:nvPr>
        </p:nvSpPr>
        <p:spPr>
          <a:xfrm>
            <a:off x="717695" y="1263696"/>
            <a:ext cx="4103687"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1200"/>
              <a:buNone/>
            </a:pPr>
            <a:r>
              <a:rPr b="1" i="1" lang="es-ES">
                <a:solidFill>
                  <a:schemeClr val="accent1"/>
                </a:solidFill>
              </a:rPr>
              <a:t>Características Principales:</a:t>
            </a:r>
            <a:endParaRPr/>
          </a:p>
          <a:p>
            <a:pPr indent="-266700" lvl="0" marL="266700" rtl="0" algn="l">
              <a:spcBef>
                <a:spcPts val="300"/>
              </a:spcBef>
              <a:spcAft>
                <a:spcPts val="0"/>
              </a:spcAft>
              <a:buClr>
                <a:schemeClr val="dk1"/>
              </a:buClr>
              <a:buSzPts val="1200"/>
              <a:buChar char="❑"/>
            </a:pPr>
            <a:r>
              <a:rPr lang="es-ES"/>
              <a:t>Las fases no se superponen.</a:t>
            </a:r>
            <a:endParaRPr/>
          </a:p>
          <a:p>
            <a:pPr indent="-266700" lvl="0" marL="266700" rtl="0" algn="l">
              <a:spcBef>
                <a:spcPts val="300"/>
              </a:spcBef>
              <a:spcAft>
                <a:spcPts val="0"/>
              </a:spcAft>
              <a:buClr>
                <a:schemeClr val="dk1"/>
              </a:buClr>
              <a:buSzPts val="1200"/>
              <a:buChar char="❑"/>
            </a:pPr>
            <a:r>
              <a:rPr lang="es-ES"/>
              <a:t>Cada fase requiere documentación completa.</a:t>
            </a:r>
            <a:endParaRPr/>
          </a:p>
          <a:p>
            <a:pPr indent="0" lvl="0" marL="0" rtl="0" algn="l">
              <a:spcBef>
                <a:spcPts val="1500"/>
              </a:spcBef>
              <a:spcAft>
                <a:spcPts val="0"/>
              </a:spcAft>
              <a:buClr>
                <a:schemeClr val="accent1"/>
              </a:buClr>
              <a:buSzPts val="1200"/>
              <a:buNone/>
            </a:pPr>
            <a:r>
              <a:rPr b="1" i="1" lang="es-ES">
                <a:solidFill>
                  <a:schemeClr val="accent1"/>
                </a:solidFill>
              </a:rPr>
              <a:t>Integración con UML:</a:t>
            </a:r>
            <a:endParaRPr/>
          </a:p>
          <a:p>
            <a:pPr indent="-266700" lvl="0" marL="266700" rtl="0" algn="l">
              <a:spcBef>
                <a:spcPts val="300"/>
              </a:spcBef>
              <a:spcAft>
                <a:spcPts val="0"/>
              </a:spcAft>
              <a:buClr>
                <a:schemeClr val="dk1"/>
              </a:buClr>
              <a:buSzPts val="1200"/>
              <a:buChar char="❑"/>
            </a:pPr>
            <a:r>
              <a:rPr lang="es-ES"/>
              <a:t>Análisis de Requisitos: Diagramas de casos de uso.</a:t>
            </a:r>
            <a:endParaRPr/>
          </a:p>
          <a:p>
            <a:pPr indent="-266700" lvl="0" marL="266700" rtl="0" algn="l">
              <a:spcBef>
                <a:spcPts val="300"/>
              </a:spcBef>
              <a:spcAft>
                <a:spcPts val="0"/>
              </a:spcAft>
              <a:buClr>
                <a:schemeClr val="dk1"/>
              </a:buClr>
              <a:buSzPts val="1200"/>
              <a:buChar char="❑"/>
            </a:pPr>
            <a:r>
              <a:rPr lang="es-ES"/>
              <a:t>Diseño del Sistema: Diagramas de clases y de secuencia.</a:t>
            </a:r>
            <a:endParaRPr/>
          </a:p>
          <a:p>
            <a:pPr indent="-266700" lvl="0" marL="266700" rtl="0" algn="l">
              <a:spcBef>
                <a:spcPts val="300"/>
              </a:spcBef>
              <a:spcAft>
                <a:spcPts val="0"/>
              </a:spcAft>
              <a:buClr>
                <a:schemeClr val="dk1"/>
              </a:buClr>
              <a:buSzPts val="1200"/>
              <a:buChar char="❑"/>
            </a:pPr>
            <a:r>
              <a:rPr lang="es-ES"/>
              <a:t>Implementación: Los diagramas UML sirven como base para la codificación.</a:t>
            </a:r>
            <a:endParaRPr/>
          </a:p>
        </p:txBody>
      </p:sp>
      <p:sp>
        <p:nvSpPr>
          <p:cNvPr id="124" name="Google Shape;124;p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MODELO EN CASCADA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METODOLOGÍAS Y HERRAMIENTAS UML</a:t>
            </a:r>
            <a:endParaRPr/>
          </a:p>
        </p:txBody>
      </p:sp>
      <p:pic>
        <p:nvPicPr>
          <p:cNvPr id="131" name="Google Shape;131;p9"/>
          <p:cNvPicPr preferRelativeResize="0"/>
          <p:nvPr>
            <p:ph idx="2" type="pic"/>
          </p:nvPr>
        </p:nvPicPr>
        <p:blipFill rotWithShape="1">
          <a:blip r:embed="rId3">
            <a:alphaModFix/>
          </a:blip>
          <a:srcRect b="160" l="0" r="0" t="161"/>
          <a:stretch/>
        </p:blipFill>
        <p:spPr>
          <a:xfrm>
            <a:off x="5215352" y="1504603"/>
            <a:ext cx="3460335" cy="3763621"/>
          </a:xfrm>
          <a:prstGeom prst="rect">
            <a:avLst/>
          </a:prstGeom>
          <a:noFill/>
          <a:ln>
            <a:noFill/>
          </a:ln>
        </p:spPr>
      </p:pic>
      <p:sp>
        <p:nvSpPr>
          <p:cNvPr id="132" name="Google Shape;132;p9"/>
          <p:cNvSpPr txBox="1"/>
          <p:nvPr>
            <p:ph idx="4" type="body"/>
          </p:nvPr>
        </p:nvSpPr>
        <p:spPr>
          <a:xfrm>
            <a:off x="925513" y="1177927"/>
            <a:ext cx="4103687"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1200"/>
              <a:buNone/>
            </a:pPr>
            <a:r>
              <a:rPr b="1" i="1" lang="es-ES">
                <a:solidFill>
                  <a:schemeClr val="accent1"/>
                </a:solidFill>
              </a:rPr>
              <a:t>Características Principales:</a:t>
            </a:r>
            <a:endParaRPr/>
          </a:p>
          <a:p>
            <a:pPr indent="-266700" lvl="0" marL="266700" rtl="0" algn="l">
              <a:spcBef>
                <a:spcPts val="300"/>
              </a:spcBef>
              <a:spcAft>
                <a:spcPts val="0"/>
              </a:spcAft>
              <a:buClr>
                <a:schemeClr val="dk1"/>
              </a:buClr>
              <a:buSzPts val="1200"/>
              <a:buChar char="❑"/>
            </a:pPr>
            <a:r>
              <a:rPr lang="es-ES"/>
              <a:t>Se centra en el flujo de trabajo continuo.</a:t>
            </a:r>
            <a:endParaRPr/>
          </a:p>
          <a:p>
            <a:pPr indent="-266700" lvl="0" marL="266700" rtl="0" algn="l">
              <a:spcBef>
                <a:spcPts val="300"/>
              </a:spcBef>
              <a:spcAft>
                <a:spcPts val="0"/>
              </a:spcAft>
              <a:buClr>
                <a:schemeClr val="dk1"/>
              </a:buClr>
              <a:buSzPts val="1200"/>
              <a:buChar char="❑"/>
            </a:pPr>
            <a:r>
              <a:rPr lang="es-ES"/>
              <a:t>Usa tableros para visualizar el estado del trabajo.</a:t>
            </a:r>
            <a:endParaRPr/>
          </a:p>
          <a:p>
            <a:pPr indent="-266700" lvl="0" marL="266700" rtl="0" algn="l">
              <a:spcBef>
                <a:spcPts val="300"/>
              </a:spcBef>
              <a:spcAft>
                <a:spcPts val="0"/>
              </a:spcAft>
              <a:buClr>
                <a:schemeClr val="dk1"/>
              </a:buClr>
              <a:buSzPts val="1200"/>
              <a:buChar char="❑"/>
            </a:pPr>
            <a:r>
              <a:rPr lang="es-ES"/>
              <a:t>Limita la cantidad de trabajo (WIP) en cada fase.</a:t>
            </a:r>
            <a:endParaRPr/>
          </a:p>
          <a:p>
            <a:pPr indent="0" lvl="0" marL="0" rtl="0" algn="l">
              <a:spcBef>
                <a:spcPts val="1500"/>
              </a:spcBef>
              <a:spcAft>
                <a:spcPts val="0"/>
              </a:spcAft>
              <a:buClr>
                <a:schemeClr val="accent1"/>
              </a:buClr>
              <a:buSzPts val="1200"/>
              <a:buNone/>
            </a:pPr>
            <a:r>
              <a:rPr b="1" i="1" lang="es-ES">
                <a:solidFill>
                  <a:schemeClr val="accent1"/>
                </a:solidFill>
              </a:rPr>
              <a:t>Integración con UML:</a:t>
            </a:r>
            <a:endParaRPr/>
          </a:p>
          <a:p>
            <a:pPr indent="-266700" lvl="0" marL="266700" rtl="0" algn="l">
              <a:spcBef>
                <a:spcPts val="300"/>
              </a:spcBef>
              <a:spcAft>
                <a:spcPts val="0"/>
              </a:spcAft>
              <a:buClr>
                <a:schemeClr val="dk1"/>
              </a:buClr>
              <a:buSzPts val="1200"/>
              <a:buChar char="❑"/>
            </a:pPr>
            <a:r>
              <a:rPr lang="es-ES"/>
              <a:t>Los diagramas de actividad y estados pueden ayudar a visualizar el flujo de trabajo.</a:t>
            </a:r>
            <a:endParaRPr/>
          </a:p>
          <a:p>
            <a:pPr indent="-266700" lvl="0" marL="266700" rtl="0" algn="l">
              <a:spcBef>
                <a:spcPts val="300"/>
              </a:spcBef>
              <a:spcAft>
                <a:spcPts val="0"/>
              </a:spcAft>
              <a:buClr>
                <a:schemeClr val="dk1"/>
              </a:buClr>
              <a:buSzPts val="1200"/>
              <a:buChar char="❑"/>
            </a:pPr>
            <a:r>
              <a:rPr lang="es-ES"/>
              <a:t>Diagramas de casos de uso pueden aclarar los requisitos y expectativas.</a:t>
            </a:r>
            <a:endParaRPr/>
          </a:p>
        </p:txBody>
      </p:sp>
      <p:sp>
        <p:nvSpPr>
          <p:cNvPr id="133" name="Google Shape;133;p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KANBAN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METODOLOGÍAS Y HERRAMIENTAS UML</a:t>
            </a:r>
            <a:endParaRPr/>
          </a:p>
        </p:txBody>
      </p:sp>
      <p:pic>
        <p:nvPicPr>
          <p:cNvPr id="140" name="Google Shape;140;p10"/>
          <p:cNvPicPr preferRelativeResize="0"/>
          <p:nvPr>
            <p:ph idx="2" type="pic"/>
          </p:nvPr>
        </p:nvPicPr>
        <p:blipFill rotWithShape="1">
          <a:blip r:embed="rId3">
            <a:alphaModFix/>
          </a:blip>
          <a:srcRect b="160" l="0" r="0" t="161"/>
          <a:stretch/>
        </p:blipFill>
        <p:spPr>
          <a:xfrm>
            <a:off x="5195453" y="1261054"/>
            <a:ext cx="3355543" cy="3649645"/>
          </a:xfrm>
          <a:prstGeom prst="rect">
            <a:avLst/>
          </a:prstGeom>
          <a:noFill/>
          <a:ln>
            <a:noFill/>
          </a:ln>
        </p:spPr>
      </p:pic>
      <p:sp>
        <p:nvSpPr>
          <p:cNvPr id="141" name="Google Shape;141;p10"/>
          <p:cNvSpPr txBox="1"/>
          <p:nvPr>
            <p:ph idx="4" type="body"/>
          </p:nvPr>
        </p:nvSpPr>
        <p:spPr>
          <a:xfrm>
            <a:off x="792509" y="1261054"/>
            <a:ext cx="4103687"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1200"/>
              <a:buNone/>
            </a:pPr>
            <a:r>
              <a:rPr b="1" i="1" lang="es-ES">
                <a:solidFill>
                  <a:schemeClr val="accent1"/>
                </a:solidFill>
              </a:rPr>
              <a:t>Características Principales:</a:t>
            </a:r>
            <a:endParaRPr/>
          </a:p>
          <a:p>
            <a:pPr indent="-266700" lvl="0" marL="266700" rtl="0" algn="l">
              <a:spcBef>
                <a:spcPts val="300"/>
              </a:spcBef>
              <a:spcAft>
                <a:spcPts val="0"/>
              </a:spcAft>
              <a:buClr>
                <a:schemeClr val="dk1"/>
              </a:buClr>
              <a:buSzPts val="1200"/>
              <a:buChar char="❑"/>
            </a:pPr>
            <a:r>
              <a:rPr lang="es-ES"/>
              <a:t>Se centra en eliminar todo lo que no añade valor.</a:t>
            </a:r>
            <a:endParaRPr/>
          </a:p>
          <a:p>
            <a:pPr indent="-266700" lvl="0" marL="266700" rtl="0" algn="l">
              <a:spcBef>
                <a:spcPts val="300"/>
              </a:spcBef>
              <a:spcAft>
                <a:spcPts val="0"/>
              </a:spcAft>
              <a:buClr>
                <a:schemeClr val="dk1"/>
              </a:buClr>
              <a:buSzPts val="1200"/>
              <a:buChar char="❑"/>
            </a:pPr>
            <a:r>
              <a:rPr lang="es-ES"/>
              <a:t>Busca mejorar la eficiencia en cada etapa.</a:t>
            </a:r>
            <a:endParaRPr/>
          </a:p>
          <a:p>
            <a:pPr indent="0" lvl="0" marL="0" rtl="0" algn="l">
              <a:spcBef>
                <a:spcPts val="1500"/>
              </a:spcBef>
              <a:spcAft>
                <a:spcPts val="0"/>
              </a:spcAft>
              <a:buClr>
                <a:schemeClr val="accent1"/>
              </a:buClr>
              <a:buSzPts val="1200"/>
              <a:buNone/>
            </a:pPr>
            <a:r>
              <a:rPr b="1" i="1" lang="es-ES">
                <a:solidFill>
                  <a:schemeClr val="accent1"/>
                </a:solidFill>
              </a:rPr>
              <a:t>Integración con UML:</a:t>
            </a:r>
            <a:endParaRPr/>
          </a:p>
          <a:p>
            <a:pPr indent="-266700" lvl="0" marL="266700" rtl="0" algn="l">
              <a:spcBef>
                <a:spcPts val="300"/>
              </a:spcBef>
              <a:spcAft>
                <a:spcPts val="0"/>
              </a:spcAft>
              <a:buClr>
                <a:schemeClr val="dk1"/>
              </a:buClr>
              <a:buSzPts val="1200"/>
              <a:buChar char="❑"/>
            </a:pPr>
            <a:r>
              <a:rPr lang="es-ES"/>
              <a:t>Diagramas de actividad pueden ayudar a identificar áreas de desperdicio.</a:t>
            </a:r>
            <a:endParaRPr/>
          </a:p>
          <a:p>
            <a:pPr indent="-266700" lvl="0" marL="266700" rtl="0" algn="l">
              <a:spcBef>
                <a:spcPts val="300"/>
              </a:spcBef>
              <a:spcAft>
                <a:spcPts val="0"/>
              </a:spcAft>
              <a:buClr>
                <a:schemeClr val="dk1"/>
              </a:buClr>
              <a:buSzPts val="1200"/>
              <a:buChar char="❑"/>
            </a:pPr>
            <a:r>
              <a:rPr lang="es-ES"/>
              <a:t>UML ayuda a mantener la documentación al mínimo necesario, pero suficiente.</a:t>
            </a:r>
            <a:endParaRPr/>
          </a:p>
        </p:txBody>
      </p:sp>
      <p:sp>
        <p:nvSpPr>
          <p:cNvPr id="142" name="Google Shape;142;p1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LEAN SOFTWARE DEVELOPMENT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1"/>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FEATURE-DRIVEN DEVELOPMENT (FDD)</a:t>
            </a:r>
            <a:endParaRPr/>
          </a:p>
        </p:txBody>
      </p:sp>
      <p:sp>
        <p:nvSpPr>
          <p:cNvPr id="149" name="Google Shape;149;p11"/>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METODOLOGÍAS Y HERRAMIENTAS UML</a:t>
            </a:r>
            <a:endParaRPr/>
          </a:p>
        </p:txBody>
      </p:sp>
      <p:pic>
        <p:nvPicPr>
          <p:cNvPr id="150" name="Google Shape;150;p11"/>
          <p:cNvPicPr preferRelativeResize="0"/>
          <p:nvPr>
            <p:ph idx="2" type="pic"/>
          </p:nvPr>
        </p:nvPicPr>
        <p:blipFill rotWithShape="1">
          <a:blip r:embed="rId3">
            <a:alphaModFix/>
          </a:blip>
          <a:srcRect b="0" l="966" r="966" t="0"/>
          <a:stretch/>
        </p:blipFill>
        <p:spPr>
          <a:xfrm>
            <a:off x="1015083" y="3196451"/>
            <a:ext cx="7113833" cy="2075026"/>
          </a:xfrm>
          <a:prstGeom prst="rect">
            <a:avLst/>
          </a:prstGeom>
          <a:noFill/>
          <a:ln>
            <a:noFill/>
          </a:ln>
        </p:spPr>
      </p:pic>
      <p:sp>
        <p:nvSpPr>
          <p:cNvPr id="151" name="Google Shape;151;p11"/>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1200"/>
              <a:buNone/>
            </a:pPr>
            <a:r>
              <a:rPr b="1" i="1" lang="es-ES">
                <a:solidFill>
                  <a:schemeClr val="accent1"/>
                </a:solidFill>
              </a:rPr>
              <a:t>Características Principales:</a:t>
            </a:r>
            <a:endParaRPr/>
          </a:p>
          <a:p>
            <a:pPr indent="-266700" lvl="0" marL="266700" rtl="0" algn="l">
              <a:spcBef>
                <a:spcPts val="300"/>
              </a:spcBef>
              <a:spcAft>
                <a:spcPts val="0"/>
              </a:spcAft>
              <a:buClr>
                <a:schemeClr val="dk1"/>
              </a:buClr>
              <a:buSzPts val="1200"/>
              <a:buChar char="❑"/>
            </a:pPr>
            <a:r>
              <a:rPr lang="es-ES"/>
              <a:t>Descompone el sistema en “características” más pequeñas y manejables.</a:t>
            </a:r>
            <a:endParaRPr/>
          </a:p>
          <a:p>
            <a:pPr indent="-266700" lvl="0" marL="266700" rtl="0" algn="l">
              <a:spcBef>
                <a:spcPts val="300"/>
              </a:spcBef>
              <a:spcAft>
                <a:spcPts val="0"/>
              </a:spcAft>
              <a:buClr>
                <a:schemeClr val="dk1"/>
              </a:buClr>
              <a:buSzPts val="1200"/>
              <a:buChar char="❑"/>
            </a:pPr>
            <a:r>
              <a:rPr lang="es-ES"/>
              <a:t>Modelado y Construcción son las dos actividades principales.</a:t>
            </a:r>
            <a:endParaRPr/>
          </a:p>
          <a:p>
            <a:pPr indent="0" lvl="0" marL="0" rtl="0" algn="l">
              <a:spcBef>
                <a:spcPts val="1500"/>
              </a:spcBef>
              <a:spcAft>
                <a:spcPts val="0"/>
              </a:spcAft>
              <a:buClr>
                <a:schemeClr val="accent1"/>
              </a:buClr>
              <a:buSzPts val="1200"/>
              <a:buNone/>
            </a:pPr>
            <a:r>
              <a:rPr b="1" i="1" lang="es-ES">
                <a:solidFill>
                  <a:schemeClr val="accent1"/>
                </a:solidFill>
              </a:rPr>
              <a:t>Integración con UML:</a:t>
            </a:r>
            <a:endParaRPr/>
          </a:p>
          <a:p>
            <a:pPr indent="-266700" lvl="0" marL="266700" rtl="0" algn="l">
              <a:spcBef>
                <a:spcPts val="300"/>
              </a:spcBef>
              <a:spcAft>
                <a:spcPts val="0"/>
              </a:spcAft>
              <a:buClr>
                <a:schemeClr val="dk1"/>
              </a:buClr>
              <a:buSzPts val="1200"/>
              <a:buChar char="❑"/>
            </a:pPr>
            <a:r>
              <a:rPr lang="es-ES"/>
              <a:t>Se utiliza UML para crear un modelo de dominio en la fase inicial.</a:t>
            </a:r>
            <a:endParaRPr/>
          </a:p>
          <a:p>
            <a:pPr indent="-266700" lvl="0" marL="266700" rtl="0" algn="l">
              <a:spcBef>
                <a:spcPts val="300"/>
              </a:spcBef>
              <a:spcAft>
                <a:spcPts val="0"/>
              </a:spcAft>
              <a:buClr>
                <a:schemeClr val="dk1"/>
              </a:buClr>
              <a:buSzPts val="1200"/>
              <a:buChar char="❑"/>
            </a:pPr>
            <a:r>
              <a:rPr lang="es-ES"/>
              <a:t>Los diagramas de clases y secuencia se utilizan para planificar la implementación de cada característica.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METODOLOGÍAS Y HERRAMIENTAS UML</a:t>
            </a:r>
            <a:endParaRPr/>
          </a:p>
        </p:txBody>
      </p:sp>
      <p:pic>
        <p:nvPicPr>
          <p:cNvPr id="158" name="Google Shape;158;p12"/>
          <p:cNvPicPr preferRelativeResize="0"/>
          <p:nvPr>
            <p:ph idx="2" type="pic"/>
          </p:nvPr>
        </p:nvPicPr>
        <p:blipFill rotWithShape="1">
          <a:blip r:embed="rId3">
            <a:alphaModFix/>
          </a:blip>
          <a:srcRect b="160" l="0" r="0" t="161"/>
          <a:stretch/>
        </p:blipFill>
        <p:spPr>
          <a:xfrm>
            <a:off x="4886313" y="1010669"/>
            <a:ext cx="3689621" cy="4013003"/>
          </a:xfrm>
          <a:prstGeom prst="rect">
            <a:avLst/>
          </a:prstGeom>
          <a:noFill/>
          <a:ln>
            <a:noFill/>
          </a:ln>
        </p:spPr>
      </p:pic>
      <p:sp>
        <p:nvSpPr>
          <p:cNvPr id="159" name="Google Shape;159;p12"/>
          <p:cNvSpPr txBox="1"/>
          <p:nvPr>
            <p:ph idx="4" type="body"/>
          </p:nvPr>
        </p:nvSpPr>
        <p:spPr>
          <a:xfrm>
            <a:off x="949827" y="1336676"/>
            <a:ext cx="3621549" cy="368699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1200"/>
              <a:buNone/>
            </a:pPr>
            <a:r>
              <a:rPr b="1" i="1" lang="es-ES">
                <a:solidFill>
                  <a:schemeClr val="accent1"/>
                </a:solidFill>
              </a:rPr>
              <a:t>Características Principales:</a:t>
            </a:r>
            <a:endParaRPr/>
          </a:p>
          <a:p>
            <a:pPr indent="-266700" lvl="0" marL="266700" rtl="0" algn="l">
              <a:spcBef>
                <a:spcPts val="300"/>
              </a:spcBef>
              <a:spcAft>
                <a:spcPts val="0"/>
              </a:spcAft>
              <a:buClr>
                <a:schemeClr val="dk1"/>
              </a:buClr>
              <a:buSzPts val="1200"/>
              <a:buChar char="❑"/>
            </a:pPr>
            <a:r>
              <a:rPr lang="es-ES"/>
              <a:t>Es uno de los marcos de desarrollo ágil más antiguos.</a:t>
            </a:r>
            <a:endParaRPr/>
          </a:p>
          <a:p>
            <a:pPr indent="-266700" lvl="0" marL="266700" rtl="0" algn="l">
              <a:spcBef>
                <a:spcPts val="300"/>
              </a:spcBef>
              <a:spcAft>
                <a:spcPts val="0"/>
              </a:spcAft>
              <a:buClr>
                <a:schemeClr val="dk1"/>
              </a:buClr>
              <a:buSzPts val="1200"/>
              <a:buChar char="❑"/>
            </a:pPr>
            <a:r>
              <a:rPr lang="es-ES"/>
              <a:t>Se centra en entregar un sistema funcional rápidamente.</a:t>
            </a:r>
            <a:endParaRPr/>
          </a:p>
          <a:p>
            <a:pPr indent="0" lvl="0" marL="0" rtl="0" algn="l">
              <a:spcBef>
                <a:spcPts val="1500"/>
              </a:spcBef>
              <a:spcAft>
                <a:spcPts val="0"/>
              </a:spcAft>
              <a:buClr>
                <a:schemeClr val="accent1"/>
              </a:buClr>
              <a:buSzPts val="1200"/>
              <a:buNone/>
            </a:pPr>
            <a:r>
              <a:rPr b="1" i="1" lang="es-ES">
                <a:solidFill>
                  <a:schemeClr val="accent1"/>
                </a:solidFill>
              </a:rPr>
              <a:t>Integración con UML:</a:t>
            </a:r>
            <a:endParaRPr/>
          </a:p>
          <a:p>
            <a:pPr indent="-266700" lvl="0" marL="266700" rtl="0" algn="l">
              <a:spcBef>
                <a:spcPts val="300"/>
              </a:spcBef>
              <a:spcAft>
                <a:spcPts val="0"/>
              </a:spcAft>
              <a:buClr>
                <a:schemeClr val="dk1"/>
              </a:buClr>
              <a:buSzPts val="1200"/>
              <a:buChar char="❑"/>
            </a:pPr>
            <a:r>
              <a:rPr lang="es-ES"/>
              <a:t>Diagramas de casos de uso y de actividad para desarrollar prototipos.</a:t>
            </a:r>
            <a:endParaRPr/>
          </a:p>
          <a:p>
            <a:pPr indent="-266700" lvl="0" marL="266700" rtl="0" algn="l">
              <a:spcBef>
                <a:spcPts val="300"/>
              </a:spcBef>
              <a:spcAft>
                <a:spcPts val="0"/>
              </a:spcAft>
              <a:buClr>
                <a:schemeClr val="dk1"/>
              </a:buClr>
              <a:buSzPts val="1200"/>
              <a:buChar char="❑"/>
            </a:pPr>
            <a:r>
              <a:rPr lang="es-ES"/>
              <a:t>Diagramas de clases y de secuencia para revisar y mejorar el diseño.</a:t>
            </a:r>
            <a:endParaRPr/>
          </a:p>
        </p:txBody>
      </p:sp>
      <p:sp>
        <p:nvSpPr>
          <p:cNvPr id="160" name="Google Shape;160;p12"/>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DYNAMIC SYSTEMS DEVELOPMENT METHOD (DSDM)</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METODOLOGÍAS Y HERRAMIENTAS UML</a:t>
            </a:r>
            <a:endParaRPr/>
          </a:p>
        </p:txBody>
      </p:sp>
      <p:pic>
        <p:nvPicPr>
          <p:cNvPr id="167" name="Google Shape;167;p13"/>
          <p:cNvPicPr preferRelativeResize="0"/>
          <p:nvPr>
            <p:ph idx="2" type="pic"/>
          </p:nvPr>
        </p:nvPicPr>
        <p:blipFill rotWithShape="1">
          <a:blip r:embed="rId3">
            <a:alphaModFix/>
          </a:blip>
          <a:srcRect b="160" l="0" r="0" t="161"/>
          <a:stretch/>
        </p:blipFill>
        <p:spPr>
          <a:xfrm>
            <a:off x="5261956" y="1391147"/>
            <a:ext cx="3239164" cy="3523065"/>
          </a:xfrm>
          <a:prstGeom prst="rect">
            <a:avLst/>
          </a:prstGeom>
          <a:noFill/>
          <a:ln>
            <a:noFill/>
          </a:ln>
        </p:spPr>
      </p:pic>
      <p:sp>
        <p:nvSpPr>
          <p:cNvPr id="168" name="Google Shape;168;p13"/>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HERRAMIENTAS QUE IMPLEMENTAN UML</a:t>
            </a:r>
            <a:endParaRPr/>
          </a:p>
        </p:txBody>
      </p:sp>
      <p:sp>
        <p:nvSpPr>
          <p:cNvPr id="169" name="Google Shape;169;p13"/>
          <p:cNvSpPr txBox="1"/>
          <p:nvPr>
            <p:ph idx="4" type="body"/>
          </p:nvPr>
        </p:nvSpPr>
        <p:spPr>
          <a:xfrm>
            <a:off x="892262" y="1322333"/>
            <a:ext cx="4103687"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1200"/>
              <a:buNone/>
            </a:pPr>
            <a:r>
              <a:rPr b="1" lang="es-ES">
                <a:solidFill>
                  <a:schemeClr val="accent1"/>
                </a:solidFill>
              </a:rPr>
              <a:t>ENTERPRISE ARCHITECT:</a:t>
            </a:r>
            <a:endParaRPr/>
          </a:p>
          <a:p>
            <a:pPr indent="-266700" lvl="0" marL="266700" rtl="0" algn="l">
              <a:spcBef>
                <a:spcPts val="300"/>
              </a:spcBef>
              <a:spcAft>
                <a:spcPts val="0"/>
              </a:spcAft>
              <a:buClr>
                <a:schemeClr val="dk1"/>
              </a:buClr>
              <a:buSzPts val="1200"/>
              <a:buChar char="❑"/>
            </a:pPr>
            <a:r>
              <a:rPr lang="es-ES"/>
              <a:t>Soporta múltiples tipos de diagramas UML y otros estándares de modelado.</a:t>
            </a:r>
            <a:endParaRPr/>
          </a:p>
          <a:p>
            <a:pPr indent="-266700" lvl="0" marL="266700" rtl="0" algn="l">
              <a:spcBef>
                <a:spcPts val="300"/>
              </a:spcBef>
              <a:spcAft>
                <a:spcPts val="0"/>
              </a:spcAft>
              <a:buClr>
                <a:schemeClr val="dk1"/>
              </a:buClr>
              <a:buSzPts val="1200"/>
              <a:buChar char="❑"/>
            </a:pPr>
            <a:r>
              <a:rPr lang="es-ES"/>
              <a:t>Se integra con entornos de desarrollo como Visual Studio y Eclipse.</a:t>
            </a:r>
            <a:endParaRPr/>
          </a:p>
          <a:p>
            <a:pPr indent="-266700" lvl="0" marL="266700" rtl="0" algn="l">
              <a:spcBef>
                <a:spcPts val="300"/>
              </a:spcBef>
              <a:spcAft>
                <a:spcPts val="0"/>
              </a:spcAft>
              <a:buClr>
                <a:schemeClr val="dk1"/>
              </a:buClr>
              <a:buSzPts val="1200"/>
              <a:buChar char="❑"/>
            </a:pPr>
            <a:r>
              <a:rPr lang="es-ES"/>
              <a:t>Permite la colaboración en equipo en tiempo real.</a:t>
            </a:r>
            <a:endParaRPr/>
          </a:p>
          <a:p>
            <a:pPr indent="0" lvl="0" marL="0" rtl="0" algn="l">
              <a:spcBef>
                <a:spcPts val="1500"/>
              </a:spcBef>
              <a:spcAft>
                <a:spcPts val="0"/>
              </a:spcAft>
              <a:buClr>
                <a:schemeClr val="accent1"/>
              </a:buClr>
              <a:buSzPts val="1200"/>
              <a:buNone/>
            </a:pPr>
            <a:r>
              <a:rPr b="1" lang="es-ES">
                <a:solidFill>
                  <a:schemeClr val="accent1"/>
                </a:solidFill>
              </a:rPr>
              <a:t>LUCIDCHART</a:t>
            </a:r>
            <a:endParaRPr/>
          </a:p>
          <a:p>
            <a:pPr indent="-266700" lvl="0" marL="266700" rtl="0" algn="l">
              <a:spcBef>
                <a:spcPts val="300"/>
              </a:spcBef>
              <a:spcAft>
                <a:spcPts val="0"/>
              </a:spcAft>
              <a:buClr>
                <a:schemeClr val="dk1"/>
              </a:buClr>
              <a:buSzPts val="1200"/>
              <a:buChar char="❑"/>
            </a:pPr>
            <a:r>
              <a:rPr lang="es-ES"/>
              <a:t>Acceso en línea desde cualquier dispositivo.</a:t>
            </a:r>
            <a:endParaRPr/>
          </a:p>
          <a:p>
            <a:pPr indent="-266700" lvl="0" marL="266700" rtl="0" algn="l">
              <a:spcBef>
                <a:spcPts val="300"/>
              </a:spcBef>
              <a:spcAft>
                <a:spcPts val="0"/>
              </a:spcAft>
              <a:buClr>
                <a:schemeClr val="dk1"/>
              </a:buClr>
              <a:buSzPts val="1200"/>
              <a:buChar char="❑"/>
            </a:pPr>
            <a:r>
              <a:rPr lang="es-ES"/>
              <a:t>Interfaz de arrastrar y soltar.</a:t>
            </a:r>
            <a:endParaRPr/>
          </a:p>
          <a:p>
            <a:pPr indent="-266700" lvl="0" marL="266700" rtl="0" algn="l">
              <a:spcBef>
                <a:spcPts val="300"/>
              </a:spcBef>
              <a:spcAft>
                <a:spcPts val="0"/>
              </a:spcAft>
              <a:buClr>
                <a:schemeClr val="dk1"/>
              </a:buClr>
              <a:buSzPts val="1200"/>
              <a:buChar char="❑"/>
            </a:pPr>
            <a:r>
              <a:rPr lang="es-ES"/>
              <a:t>Permite la edición colaborativa y tiene integración con Google Drive.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METODOLOGÍAS Y HERRAMIENTAS UML</a:t>
            </a:r>
            <a:endParaRPr/>
          </a:p>
        </p:txBody>
      </p:sp>
      <p:pic>
        <p:nvPicPr>
          <p:cNvPr id="176" name="Google Shape;176;p14"/>
          <p:cNvPicPr preferRelativeResize="0"/>
          <p:nvPr>
            <p:ph idx="2" type="pic"/>
          </p:nvPr>
        </p:nvPicPr>
        <p:blipFill rotWithShape="1">
          <a:blip r:embed="rId3">
            <a:alphaModFix/>
          </a:blip>
          <a:srcRect b="160" l="0" r="0" t="161"/>
          <a:stretch/>
        </p:blipFill>
        <p:spPr>
          <a:xfrm>
            <a:off x="5024280" y="1296785"/>
            <a:ext cx="3651407" cy="3971440"/>
          </a:xfrm>
          <a:prstGeom prst="rect">
            <a:avLst/>
          </a:prstGeom>
          <a:noFill/>
          <a:ln>
            <a:noFill/>
          </a:ln>
        </p:spPr>
      </p:pic>
      <p:sp>
        <p:nvSpPr>
          <p:cNvPr id="177" name="Google Shape;177;p14"/>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HERRAMIENTAS QUE IMPLEMENTAN UML</a:t>
            </a:r>
            <a:endParaRPr/>
          </a:p>
        </p:txBody>
      </p:sp>
      <p:sp>
        <p:nvSpPr>
          <p:cNvPr id="178" name="Google Shape;178;p14"/>
          <p:cNvSpPr txBox="1"/>
          <p:nvPr>
            <p:ph idx="4" type="body"/>
          </p:nvPr>
        </p:nvSpPr>
        <p:spPr>
          <a:xfrm>
            <a:off x="468313" y="1177927"/>
            <a:ext cx="4555967"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1200"/>
              <a:buNone/>
            </a:pPr>
            <a:r>
              <a:rPr b="1" lang="es-ES">
                <a:solidFill>
                  <a:schemeClr val="accent1"/>
                </a:solidFill>
              </a:rPr>
              <a:t>IBM ENGINEERING SYSTEMS DESIGN RHAPSODY</a:t>
            </a:r>
            <a:endParaRPr/>
          </a:p>
          <a:p>
            <a:pPr indent="-266700" lvl="0" marL="266700" rtl="0" algn="l">
              <a:spcBef>
                <a:spcPts val="300"/>
              </a:spcBef>
              <a:spcAft>
                <a:spcPts val="0"/>
              </a:spcAft>
              <a:buClr>
                <a:schemeClr val="dk1"/>
              </a:buClr>
              <a:buSzPts val="1200"/>
              <a:buChar char="❑"/>
            </a:pPr>
            <a:r>
              <a:rPr lang="es-ES"/>
              <a:t>No solo se centra en el software, sino también en sistemas más amplios.</a:t>
            </a:r>
            <a:endParaRPr/>
          </a:p>
          <a:p>
            <a:pPr indent="-266700" lvl="0" marL="266700" rtl="0" algn="l">
              <a:spcBef>
                <a:spcPts val="300"/>
              </a:spcBef>
              <a:spcAft>
                <a:spcPts val="0"/>
              </a:spcAft>
              <a:buClr>
                <a:schemeClr val="dk1"/>
              </a:buClr>
              <a:buSzPts val="1200"/>
              <a:buChar char="❑"/>
            </a:pPr>
            <a:r>
              <a:rPr lang="es-ES"/>
              <a:t>Capacidad para generar código a partir de modelos UML.</a:t>
            </a:r>
            <a:endParaRPr/>
          </a:p>
          <a:p>
            <a:pPr indent="-266700" lvl="0" marL="266700" rtl="0" algn="l">
              <a:spcBef>
                <a:spcPts val="300"/>
              </a:spcBef>
              <a:spcAft>
                <a:spcPts val="0"/>
              </a:spcAft>
              <a:buClr>
                <a:schemeClr val="dk1"/>
              </a:buClr>
              <a:buSzPts val="1200"/>
              <a:buChar char="❑"/>
            </a:pPr>
            <a:r>
              <a:rPr lang="es-ES"/>
              <a:t>Ofrece capacidades de simulación para validar el diseño.</a:t>
            </a:r>
            <a:endParaRPr/>
          </a:p>
          <a:p>
            <a:pPr indent="0" lvl="0" marL="0" rtl="0" algn="l">
              <a:spcBef>
                <a:spcPts val="1500"/>
              </a:spcBef>
              <a:spcAft>
                <a:spcPts val="0"/>
              </a:spcAft>
              <a:buClr>
                <a:schemeClr val="accent1"/>
              </a:buClr>
              <a:buSzPts val="1200"/>
              <a:buNone/>
            </a:pPr>
            <a:r>
              <a:rPr b="1" lang="es-ES">
                <a:solidFill>
                  <a:schemeClr val="accent1"/>
                </a:solidFill>
              </a:rPr>
              <a:t>VISUAL PARADIGM</a:t>
            </a:r>
            <a:endParaRPr/>
          </a:p>
          <a:p>
            <a:pPr indent="-266700" lvl="0" marL="266700" rtl="0" algn="l">
              <a:spcBef>
                <a:spcPts val="300"/>
              </a:spcBef>
              <a:spcAft>
                <a:spcPts val="0"/>
              </a:spcAft>
              <a:buClr>
                <a:schemeClr val="dk1"/>
              </a:buClr>
              <a:buSzPts val="1200"/>
              <a:buChar char="❑"/>
            </a:pPr>
            <a:r>
              <a:rPr lang="es-ES"/>
              <a:t>Soporta BPMN, diagramas de red, Matriz ERD, etc.</a:t>
            </a:r>
            <a:endParaRPr/>
          </a:p>
          <a:p>
            <a:pPr indent="-266700" lvl="0" marL="266700" rtl="0" algn="l">
              <a:spcBef>
                <a:spcPts val="300"/>
              </a:spcBef>
              <a:spcAft>
                <a:spcPts val="0"/>
              </a:spcAft>
              <a:buClr>
                <a:schemeClr val="dk1"/>
              </a:buClr>
              <a:buSzPts val="1200"/>
              <a:buChar char="❑"/>
            </a:pPr>
            <a:r>
              <a:rPr lang="es-ES"/>
              <a:t>Genera código para varios lenguajes de programación.</a:t>
            </a:r>
            <a:endParaRPr/>
          </a:p>
          <a:p>
            <a:pPr indent="-266700" lvl="0" marL="266700" rtl="0" algn="l">
              <a:spcBef>
                <a:spcPts val="300"/>
              </a:spcBef>
              <a:spcAft>
                <a:spcPts val="0"/>
              </a:spcAft>
              <a:buClr>
                <a:schemeClr val="dk1"/>
              </a:buClr>
              <a:buSzPts val="1200"/>
              <a:buChar char="❑"/>
            </a:pPr>
            <a:r>
              <a:rPr lang="es-ES"/>
              <a:t>Ofrece una variedad de plantillas para acelerar el proceso de modelado.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METODOLOGÍAS Y HERRAMIENTAS UML</a:t>
            </a:r>
            <a:endParaRPr/>
          </a:p>
        </p:txBody>
      </p:sp>
      <p:sp>
        <p:nvSpPr>
          <p:cNvPr id="185" name="Google Shape;185;p1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HERRAMIENTAS QUE IMPLEMENTAN UML</a:t>
            </a:r>
            <a:endParaRPr/>
          </a:p>
        </p:txBody>
      </p:sp>
      <p:sp>
        <p:nvSpPr>
          <p:cNvPr id="186" name="Google Shape;186;p15"/>
          <p:cNvSpPr txBox="1"/>
          <p:nvPr>
            <p:ph idx="4" type="body"/>
          </p:nvPr>
        </p:nvSpPr>
        <p:spPr>
          <a:xfrm>
            <a:off x="781440" y="1340387"/>
            <a:ext cx="4502698"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1200"/>
              <a:buNone/>
            </a:pPr>
            <a:r>
              <a:rPr b="1" lang="es-ES">
                <a:solidFill>
                  <a:schemeClr val="accent1"/>
                </a:solidFill>
              </a:rPr>
              <a:t>STARUML</a:t>
            </a:r>
            <a:endParaRPr/>
          </a:p>
          <a:p>
            <a:pPr indent="-266700" lvl="0" marL="266700" rtl="0" algn="l">
              <a:spcBef>
                <a:spcPts val="300"/>
              </a:spcBef>
              <a:spcAft>
                <a:spcPts val="0"/>
              </a:spcAft>
              <a:buClr>
                <a:schemeClr val="dk1"/>
              </a:buClr>
              <a:buSzPts val="1200"/>
              <a:buChar char="❑"/>
            </a:pPr>
            <a:r>
              <a:rPr lang="es-ES"/>
              <a:t>Diseño de interfaz de usuario limpio y sencillo.</a:t>
            </a:r>
            <a:endParaRPr/>
          </a:p>
          <a:p>
            <a:pPr indent="-266700" lvl="0" marL="266700" rtl="0" algn="l">
              <a:spcBef>
                <a:spcPts val="300"/>
              </a:spcBef>
              <a:spcAft>
                <a:spcPts val="0"/>
              </a:spcAft>
              <a:buClr>
                <a:schemeClr val="dk1"/>
              </a:buClr>
              <a:buSzPts val="1200"/>
              <a:buChar char="❑"/>
            </a:pPr>
            <a:r>
              <a:rPr lang="es-ES"/>
              <a:t>Permite agregar funcionalidades mediante extensiones.</a:t>
            </a:r>
            <a:endParaRPr/>
          </a:p>
          <a:p>
            <a:pPr indent="-266700" lvl="0" marL="266700" rtl="0" algn="l">
              <a:spcBef>
                <a:spcPts val="300"/>
              </a:spcBef>
              <a:spcAft>
                <a:spcPts val="0"/>
              </a:spcAft>
              <a:buClr>
                <a:schemeClr val="dk1"/>
              </a:buClr>
              <a:buSzPts val="1200"/>
              <a:buChar char="❑"/>
            </a:pPr>
            <a:r>
              <a:rPr lang="es-ES"/>
              <a:t>Disponible para Windows, macOS y Linux.</a:t>
            </a:r>
            <a:endParaRPr/>
          </a:p>
          <a:p>
            <a:pPr indent="0" lvl="0" marL="0" rtl="0" algn="l">
              <a:spcBef>
                <a:spcPts val="1500"/>
              </a:spcBef>
              <a:spcAft>
                <a:spcPts val="0"/>
              </a:spcAft>
              <a:buClr>
                <a:schemeClr val="accent1"/>
              </a:buClr>
              <a:buSzPts val="1200"/>
              <a:buNone/>
            </a:pPr>
            <a:r>
              <a:rPr b="1" lang="es-ES">
                <a:solidFill>
                  <a:schemeClr val="accent1"/>
                </a:solidFill>
              </a:rPr>
              <a:t>DIA</a:t>
            </a:r>
            <a:endParaRPr/>
          </a:p>
          <a:p>
            <a:pPr indent="-266700" lvl="0" marL="266700" rtl="0" algn="l">
              <a:spcBef>
                <a:spcPts val="300"/>
              </a:spcBef>
              <a:spcAft>
                <a:spcPts val="0"/>
              </a:spcAft>
              <a:buClr>
                <a:schemeClr val="dk1"/>
              </a:buClr>
              <a:buSzPts val="1200"/>
              <a:buChar char="❑"/>
            </a:pPr>
            <a:r>
              <a:rPr lang="es-ES"/>
              <a:t>Es una herramienta gratuita y de código abierto.</a:t>
            </a:r>
            <a:endParaRPr/>
          </a:p>
          <a:p>
            <a:pPr indent="-266700" lvl="0" marL="266700" rtl="0" algn="l">
              <a:spcBef>
                <a:spcPts val="300"/>
              </a:spcBef>
              <a:spcAft>
                <a:spcPts val="0"/>
              </a:spcAft>
              <a:buClr>
                <a:schemeClr val="dk1"/>
              </a:buClr>
              <a:buSzPts val="1200"/>
              <a:buChar char="❑"/>
            </a:pPr>
            <a:r>
              <a:rPr lang="es-ES"/>
              <a:t>Permite crear tus propios elementos de diagrama.</a:t>
            </a:r>
            <a:endParaRPr/>
          </a:p>
          <a:p>
            <a:pPr indent="-266700" lvl="0" marL="266700" rtl="0" algn="l">
              <a:spcBef>
                <a:spcPts val="300"/>
              </a:spcBef>
              <a:spcAft>
                <a:spcPts val="0"/>
              </a:spcAft>
              <a:buClr>
                <a:schemeClr val="dk1"/>
              </a:buClr>
              <a:buSzPts val="1200"/>
              <a:buChar char="❑"/>
            </a:pPr>
            <a:r>
              <a:rPr lang="es-ES"/>
              <a:t>Ofrece múltiples formatos de exportación, incluidos SVG, PNG y EPS.</a:t>
            </a:r>
            <a:endParaRPr/>
          </a:p>
        </p:txBody>
      </p:sp>
      <p:pic>
        <p:nvPicPr>
          <p:cNvPr id="187" name="Google Shape;187;p15"/>
          <p:cNvPicPr preferRelativeResize="0"/>
          <p:nvPr>
            <p:ph idx="2" type="pic"/>
          </p:nvPr>
        </p:nvPicPr>
        <p:blipFill rotWithShape="1">
          <a:blip r:embed="rId3">
            <a:alphaModFix/>
          </a:blip>
          <a:srcRect b="480" l="0" r="0" t="480"/>
          <a:stretch/>
        </p:blipFill>
        <p:spPr>
          <a:xfrm>
            <a:off x="5284138" y="1579417"/>
            <a:ext cx="3391549" cy="368880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METODOLOGÍAS Y HERRAMIENTAS UML</a:t>
            </a:r>
            <a:endParaRPr/>
          </a:p>
        </p:txBody>
      </p:sp>
      <p:pic>
        <p:nvPicPr>
          <p:cNvPr id="194" name="Google Shape;194;p16"/>
          <p:cNvPicPr preferRelativeResize="0"/>
          <p:nvPr>
            <p:ph idx="2" type="pic"/>
          </p:nvPr>
        </p:nvPicPr>
        <p:blipFill rotWithShape="1">
          <a:blip r:embed="rId3">
            <a:alphaModFix/>
          </a:blip>
          <a:srcRect b="160" l="0" r="0" t="161"/>
          <a:stretch/>
        </p:blipFill>
        <p:spPr>
          <a:xfrm>
            <a:off x="4889268" y="1072341"/>
            <a:ext cx="3628478" cy="3946501"/>
          </a:xfrm>
          <a:prstGeom prst="rect">
            <a:avLst/>
          </a:prstGeom>
          <a:noFill/>
          <a:ln>
            <a:noFill/>
          </a:ln>
        </p:spPr>
      </p:pic>
      <p:sp>
        <p:nvSpPr>
          <p:cNvPr id="195" name="Google Shape;195;p1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HERRAMIENTAS QUE IMPLEMENTAN UML</a:t>
            </a:r>
            <a:endParaRPr/>
          </a:p>
        </p:txBody>
      </p:sp>
      <p:sp>
        <p:nvSpPr>
          <p:cNvPr id="196" name="Google Shape;196;p16"/>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1200"/>
              <a:buNone/>
            </a:pPr>
            <a:r>
              <a:rPr b="1" lang="es-ES">
                <a:solidFill>
                  <a:schemeClr val="accent1"/>
                </a:solidFill>
              </a:rPr>
              <a:t>ARGOUML</a:t>
            </a:r>
            <a:endParaRPr/>
          </a:p>
          <a:p>
            <a:pPr indent="-266700" lvl="0" marL="266700" rtl="0" algn="l">
              <a:spcBef>
                <a:spcPts val="300"/>
              </a:spcBef>
              <a:spcAft>
                <a:spcPts val="0"/>
              </a:spcAft>
              <a:buClr>
                <a:schemeClr val="dk1"/>
              </a:buClr>
              <a:buSzPts val="1200"/>
              <a:buChar char="❑"/>
            </a:pPr>
            <a:r>
              <a:rPr lang="es-ES"/>
              <a:t>Es gratuito y de código abierto.</a:t>
            </a:r>
            <a:endParaRPr/>
          </a:p>
          <a:p>
            <a:pPr indent="-266700" lvl="0" marL="266700" rtl="0" algn="l">
              <a:spcBef>
                <a:spcPts val="300"/>
              </a:spcBef>
              <a:spcAft>
                <a:spcPts val="0"/>
              </a:spcAft>
              <a:buClr>
                <a:schemeClr val="dk1"/>
              </a:buClr>
              <a:buSzPts val="1200"/>
              <a:buChar char="❑"/>
            </a:pPr>
            <a:r>
              <a:rPr lang="es-ES"/>
              <a:t>Funciona en cualquier sistema que soporte Java.</a:t>
            </a:r>
            <a:endParaRPr/>
          </a:p>
          <a:p>
            <a:pPr indent="-266700" lvl="0" marL="266700" rtl="0" algn="l">
              <a:spcBef>
                <a:spcPts val="300"/>
              </a:spcBef>
              <a:spcAft>
                <a:spcPts val="0"/>
              </a:spcAft>
              <a:buClr>
                <a:schemeClr val="dk1"/>
              </a:buClr>
              <a:buSzPts val="1200"/>
              <a:buChar char="❑"/>
            </a:pPr>
            <a:r>
              <a:rPr lang="es-ES"/>
              <a:t>Soporta generación de código en varios lenguajes como C++, Java y PHP.</a:t>
            </a:r>
            <a:endParaRPr/>
          </a:p>
          <a:p>
            <a:pPr indent="0" lvl="0" marL="0" rtl="0" algn="l">
              <a:spcBef>
                <a:spcPts val="1500"/>
              </a:spcBef>
              <a:spcAft>
                <a:spcPts val="0"/>
              </a:spcAft>
              <a:buClr>
                <a:schemeClr val="accent1"/>
              </a:buClr>
              <a:buSzPts val="1200"/>
              <a:buNone/>
            </a:pPr>
            <a:r>
              <a:rPr b="1" lang="es-ES">
                <a:solidFill>
                  <a:schemeClr val="accent1"/>
                </a:solidFill>
              </a:rPr>
              <a:t>MAGICDRAW</a:t>
            </a:r>
            <a:endParaRPr/>
          </a:p>
          <a:p>
            <a:pPr indent="-266700" lvl="0" marL="266700" rtl="0" algn="l">
              <a:spcBef>
                <a:spcPts val="300"/>
              </a:spcBef>
              <a:spcAft>
                <a:spcPts val="0"/>
              </a:spcAft>
              <a:buClr>
                <a:schemeClr val="dk1"/>
              </a:buClr>
              <a:buSzPts val="1200"/>
              <a:buChar char="❑"/>
            </a:pPr>
            <a:r>
              <a:rPr lang="es-ES"/>
              <a:t>Ofrece capacidades avanzadas para modelado de sistemas empresariales.</a:t>
            </a:r>
            <a:endParaRPr/>
          </a:p>
          <a:p>
            <a:pPr indent="-266700" lvl="0" marL="266700" rtl="0" algn="l">
              <a:spcBef>
                <a:spcPts val="300"/>
              </a:spcBef>
              <a:spcAft>
                <a:spcPts val="0"/>
              </a:spcAft>
              <a:buClr>
                <a:schemeClr val="dk1"/>
              </a:buClr>
              <a:buSzPts val="1200"/>
              <a:buChar char="❑"/>
            </a:pPr>
            <a:r>
              <a:rPr lang="es-ES"/>
              <a:t>Permite la extensión de funcionalidades a través de plugins.</a:t>
            </a:r>
            <a:endParaRPr/>
          </a:p>
          <a:p>
            <a:pPr indent="-266700" lvl="0" marL="266700" rtl="0" algn="l">
              <a:spcBef>
                <a:spcPts val="300"/>
              </a:spcBef>
              <a:spcAft>
                <a:spcPts val="0"/>
              </a:spcAft>
              <a:buClr>
                <a:schemeClr val="dk1"/>
              </a:buClr>
              <a:buSzPts val="1200"/>
              <a:buChar char="❑"/>
            </a:pPr>
            <a:r>
              <a:rPr lang="es-ES"/>
              <a:t>Facilita la colaboración en equipo con un repositorio centralizado.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METODOLOGÍAS Y HERRAMIENTAS UML</a:t>
            </a:r>
            <a:endParaRPr/>
          </a:p>
        </p:txBody>
      </p:sp>
      <p:pic>
        <p:nvPicPr>
          <p:cNvPr id="203" name="Google Shape;203;p17"/>
          <p:cNvPicPr preferRelativeResize="0"/>
          <p:nvPr>
            <p:ph idx="2" type="pic"/>
          </p:nvPr>
        </p:nvPicPr>
        <p:blipFill rotWithShape="1">
          <a:blip r:embed="rId3">
            <a:alphaModFix/>
          </a:blip>
          <a:srcRect b="160" l="0" r="0" t="161"/>
          <a:stretch/>
        </p:blipFill>
        <p:spPr>
          <a:xfrm>
            <a:off x="4915000" y="1177927"/>
            <a:ext cx="3760687" cy="4090298"/>
          </a:xfrm>
          <a:prstGeom prst="rect">
            <a:avLst/>
          </a:prstGeom>
          <a:noFill/>
          <a:ln>
            <a:noFill/>
          </a:ln>
        </p:spPr>
      </p:pic>
      <p:sp>
        <p:nvSpPr>
          <p:cNvPr id="204" name="Google Shape;204;p1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HERRAMIENTAS QUE IMPLEMENTAN UML</a:t>
            </a:r>
            <a:endParaRPr/>
          </a:p>
        </p:txBody>
      </p:sp>
      <p:sp>
        <p:nvSpPr>
          <p:cNvPr id="205" name="Google Shape;205;p17"/>
          <p:cNvSpPr txBox="1"/>
          <p:nvPr>
            <p:ph idx="4" type="body"/>
          </p:nvPr>
        </p:nvSpPr>
        <p:spPr>
          <a:xfrm>
            <a:off x="603495" y="1261054"/>
            <a:ext cx="4311505"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1200"/>
              <a:buNone/>
            </a:pPr>
            <a:r>
              <a:rPr b="1" lang="es-ES">
                <a:solidFill>
                  <a:schemeClr val="accent1"/>
                </a:solidFill>
              </a:rPr>
              <a:t>ASTAH</a:t>
            </a:r>
            <a:endParaRPr/>
          </a:p>
          <a:p>
            <a:pPr indent="-266700" lvl="0" marL="266700" rtl="0" algn="l">
              <a:spcBef>
                <a:spcPts val="300"/>
              </a:spcBef>
              <a:spcAft>
                <a:spcPts val="0"/>
              </a:spcAft>
              <a:buClr>
                <a:schemeClr val="dk1"/>
              </a:buClr>
              <a:buSzPts val="1200"/>
              <a:buChar char="❑"/>
            </a:pPr>
            <a:r>
              <a:rPr lang="es-ES"/>
              <a:t>Fácil de usar con una interfaz gráfica amigable.</a:t>
            </a:r>
            <a:endParaRPr/>
          </a:p>
          <a:p>
            <a:pPr indent="-266700" lvl="0" marL="266700" rtl="0" algn="l">
              <a:spcBef>
                <a:spcPts val="300"/>
              </a:spcBef>
              <a:spcAft>
                <a:spcPts val="0"/>
              </a:spcAft>
              <a:buClr>
                <a:schemeClr val="dk1"/>
              </a:buClr>
              <a:buSzPts val="1200"/>
              <a:buChar char="❑"/>
            </a:pPr>
            <a:r>
              <a:rPr lang="es-ES"/>
              <a:t>Además de UML, también soporta ERD (Diagrama de Relación de Entidades).</a:t>
            </a:r>
            <a:endParaRPr/>
          </a:p>
          <a:p>
            <a:pPr indent="-266700" lvl="0" marL="266700" rtl="0" algn="l">
              <a:spcBef>
                <a:spcPts val="300"/>
              </a:spcBef>
              <a:spcAft>
                <a:spcPts val="0"/>
              </a:spcAft>
              <a:buClr>
                <a:schemeClr val="dk1"/>
              </a:buClr>
              <a:buSzPts val="1200"/>
              <a:buChar char="❑"/>
            </a:pPr>
            <a:r>
              <a:rPr lang="es-ES"/>
              <a:t>Ofrece varias ediciones, incluida una versión comunitaria gratuita.</a:t>
            </a:r>
            <a:endParaRPr/>
          </a:p>
          <a:p>
            <a:pPr indent="0" lvl="0" marL="0" rtl="0" algn="l">
              <a:spcBef>
                <a:spcPts val="1500"/>
              </a:spcBef>
              <a:spcAft>
                <a:spcPts val="0"/>
              </a:spcAft>
              <a:buClr>
                <a:schemeClr val="accent1"/>
              </a:buClr>
              <a:buSzPts val="1200"/>
              <a:buNone/>
            </a:pPr>
            <a:r>
              <a:rPr b="1" lang="es-ES">
                <a:solidFill>
                  <a:schemeClr val="accent1"/>
                </a:solidFill>
              </a:rPr>
              <a:t>UMBRELLO</a:t>
            </a:r>
            <a:endParaRPr/>
          </a:p>
          <a:p>
            <a:pPr indent="-266700" lvl="0" marL="266700" rtl="0" algn="l">
              <a:spcBef>
                <a:spcPts val="300"/>
              </a:spcBef>
              <a:spcAft>
                <a:spcPts val="0"/>
              </a:spcAft>
              <a:buClr>
                <a:schemeClr val="dk1"/>
              </a:buClr>
              <a:buSzPts val="1200"/>
              <a:buChar char="❑"/>
            </a:pPr>
            <a:r>
              <a:rPr lang="es-ES"/>
              <a:t>Es una herramienta gratuita y de código abierto.</a:t>
            </a:r>
            <a:endParaRPr/>
          </a:p>
          <a:p>
            <a:pPr indent="-266700" lvl="0" marL="266700" rtl="0" algn="l">
              <a:spcBef>
                <a:spcPts val="300"/>
              </a:spcBef>
              <a:spcAft>
                <a:spcPts val="0"/>
              </a:spcAft>
              <a:buClr>
                <a:schemeClr val="dk1"/>
              </a:buClr>
              <a:buSzPts val="1200"/>
              <a:buChar char="❑"/>
            </a:pPr>
            <a:r>
              <a:rPr lang="es-ES"/>
              <a:t>Funciona en sistemas Unix, Windows y macOS.</a:t>
            </a:r>
            <a:endParaRPr/>
          </a:p>
          <a:p>
            <a:pPr indent="-266700" lvl="0" marL="266700" rtl="0" algn="l">
              <a:spcBef>
                <a:spcPts val="300"/>
              </a:spcBef>
              <a:spcAft>
                <a:spcPts val="0"/>
              </a:spcAft>
              <a:buClr>
                <a:schemeClr val="dk1"/>
              </a:buClr>
              <a:buSzPts val="1200"/>
              <a:buChar char="❑"/>
            </a:pPr>
            <a:r>
              <a:rPr lang="es-ES"/>
              <a:t>Soporta varios lenguajes de programación como C++, Python y PHP.</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METODOLOGÍAS Y HERRAMIENTAS UML</a:t>
            </a:r>
            <a:endParaRPr/>
          </a:p>
        </p:txBody>
      </p:sp>
      <p:pic>
        <p:nvPicPr>
          <p:cNvPr id="212" name="Google Shape;212;p18"/>
          <p:cNvPicPr preferRelativeResize="0"/>
          <p:nvPr>
            <p:ph idx="2" type="pic"/>
          </p:nvPr>
        </p:nvPicPr>
        <p:blipFill rotWithShape="1">
          <a:blip r:embed="rId3">
            <a:alphaModFix/>
          </a:blip>
          <a:srcRect b="160" l="0" r="0" t="161"/>
          <a:stretch/>
        </p:blipFill>
        <p:spPr>
          <a:xfrm>
            <a:off x="5238281" y="1177927"/>
            <a:ext cx="3437406" cy="3738683"/>
          </a:xfrm>
          <a:prstGeom prst="rect">
            <a:avLst/>
          </a:prstGeom>
          <a:noFill/>
          <a:ln>
            <a:noFill/>
          </a:ln>
        </p:spPr>
      </p:pic>
      <p:sp>
        <p:nvSpPr>
          <p:cNvPr id="213" name="Google Shape;213;p1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HERRAMIENTAS QUE IMPLEMENTAN UML</a:t>
            </a:r>
            <a:endParaRPr/>
          </a:p>
        </p:txBody>
      </p:sp>
      <p:sp>
        <p:nvSpPr>
          <p:cNvPr id="214" name="Google Shape;214;p18"/>
          <p:cNvSpPr txBox="1"/>
          <p:nvPr>
            <p:ph idx="4" type="body"/>
          </p:nvPr>
        </p:nvSpPr>
        <p:spPr>
          <a:xfrm>
            <a:off x="883950" y="1177927"/>
            <a:ext cx="4103687"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1200"/>
              <a:buNone/>
            </a:pPr>
            <a:r>
              <a:rPr b="1" lang="es-ES">
                <a:solidFill>
                  <a:schemeClr val="accent1"/>
                </a:solidFill>
              </a:rPr>
              <a:t>YED GRAPH EDITOR</a:t>
            </a:r>
            <a:endParaRPr/>
          </a:p>
          <a:p>
            <a:pPr indent="-266700" lvl="0" marL="266700" rtl="0" algn="l">
              <a:spcBef>
                <a:spcPts val="300"/>
              </a:spcBef>
              <a:spcAft>
                <a:spcPts val="0"/>
              </a:spcAft>
              <a:buClr>
                <a:schemeClr val="dk1"/>
              </a:buClr>
              <a:buSzPts val="1200"/>
              <a:buChar char="❑"/>
            </a:pPr>
            <a:r>
              <a:rPr lang="es-ES"/>
              <a:t>Además de UML, es fuerte en la creación de diagramas de flujo y redes.</a:t>
            </a:r>
            <a:endParaRPr/>
          </a:p>
          <a:p>
            <a:pPr indent="-266700" lvl="0" marL="266700" rtl="0" algn="l">
              <a:spcBef>
                <a:spcPts val="300"/>
              </a:spcBef>
              <a:spcAft>
                <a:spcPts val="0"/>
              </a:spcAft>
              <a:buClr>
                <a:schemeClr val="dk1"/>
              </a:buClr>
              <a:buSzPts val="1200"/>
              <a:buChar char="❑"/>
            </a:pPr>
            <a:r>
              <a:rPr lang="es-ES"/>
              <a:t>Ofrece algoritmos de diseño automáticos.</a:t>
            </a:r>
            <a:endParaRPr/>
          </a:p>
          <a:p>
            <a:pPr indent="-266700" lvl="0" marL="266700" rtl="0" algn="l">
              <a:spcBef>
                <a:spcPts val="300"/>
              </a:spcBef>
              <a:spcAft>
                <a:spcPts val="0"/>
              </a:spcAft>
              <a:buClr>
                <a:schemeClr val="dk1"/>
              </a:buClr>
              <a:buSzPts val="1200"/>
              <a:buChar char="❑"/>
            </a:pPr>
            <a:r>
              <a:rPr lang="es-ES"/>
              <a:t>Disponible para Windows, macOS y Linux.</a:t>
            </a:r>
            <a:endParaRPr/>
          </a:p>
          <a:p>
            <a:pPr indent="0" lvl="0" marL="0" rtl="0" algn="l">
              <a:spcBef>
                <a:spcPts val="1500"/>
              </a:spcBef>
              <a:spcAft>
                <a:spcPts val="0"/>
              </a:spcAft>
              <a:buClr>
                <a:schemeClr val="accent1"/>
              </a:buClr>
              <a:buSzPts val="1200"/>
              <a:buNone/>
            </a:pPr>
            <a:r>
              <a:rPr b="1" lang="es-ES">
                <a:solidFill>
                  <a:schemeClr val="accent1"/>
                </a:solidFill>
              </a:rPr>
              <a:t>PLANTUML</a:t>
            </a:r>
            <a:endParaRPr/>
          </a:p>
          <a:p>
            <a:pPr indent="-266700" lvl="0" marL="266700" rtl="0" algn="l">
              <a:spcBef>
                <a:spcPts val="300"/>
              </a:spcBef>
              <a:spcAft>
                <a:spcPts val="0"/>
              </a:spcAft>
              <a:buClr>
                <a:schemeClr val="dk1"/>
              </a:buClr>
              <a:buSzPts val="1200"/>
              <a:buChar char="❑"/>
            </a:pPr>
            <a:r>
              <a:rPr lang="es-ES"/>
              <a:t>Utiliza un lenguaje de descripción de texto para crear diagramas UML.</a:t>
            </a:r>
            <a:endParaRPr/>
          </a:p>
          <a:p>
            <a:pPr indent="-266700" lvl="0" marL="266700" rtl="0" algn="l">
              <a:spcBef>
                <a:spcPts val="300"/>
              </a:spcBef>
              <a:spcAft>
                <a:spcPts val="0"/>
              </a:spcAft>
              <a:buClr>
                <a:schemeClr val="dk1"/>
              </a:buClr>
              <a:buSzPts val="1200"/>
              <a:buChar char="❑"/>
            </a:pPr>
            <a:r>
              <a:rPr lang="es-ES"/>
              <a:t>Se puede integrar con IDEs como Eclipse, IntelliJ IDEA y NetBeans.</a:t>
            </a:r>
            <a:endParaRPr/>
          </a:p>
          <a:p>
            <a:pPr indent="-266700" lvl="0" marL="266700" rtl="0" algn="l">
              <a:spcBef>
                <a:spcPts val="300"/>
              </a:spcBef>
              <a:spcAft>
                <a:spcPts val="0"/>
              </a:spcAft>
              <a:buClr>
                <a:schemeClr val="dk1"/>
              </a:buClr>
              <a:buSzPts val="1200"/>
              <a:buChar char="❑"/>
            </a:pPr>
            <a:r>
              <a:rPr lang="es-ES"/>
              <a:t>Genera diagramas automáticamente a partir del texto descriptivo.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METODOLOGÍAS Y HERRAMIENTAS UML</a:t>
            </a:r>
            <a:endParaRPr/>
          </a:p>
        </p:txBody>
      </p:sp>
      <p:pic>
        <p:nvPicPr>
          <p:cNvPr id="221" name="Google Shape;221;p19"/>
          <p:cNvPicPr preferRelativeResize="0"/>
          <p:nvPr>
            <p:ph idx="2" type="pic"/>
          </p:nvPr>
        </p:nvPicPr>
        <p:blipFill rotWithShape="1">
          <a:blip r:embed="rId3">
            <a:alphaModFix/>
          </a:blip>
          <a:srcRect b="160" l="0" r="0" t="161"/>
          <a:stretch/>
        </p:blipFill>
        <p:spPr>
          <a:xfrm>
            <a:off x="4954386" y="1349225"/>
            <a:ext cx="3603192" cy="3918999"/>
          </a:xfrm>
          <a:prstGeom prst="rect">
            <a:avLst/>
          </a:prstGeom>
          <a:noFill/>
          <a:ln>
            <a:noFill/>
          </a:ln>
        </p:spPr>
      </p:pic>
      <p:sp>
        <p:nvSpPr>
          <p:cNvPr id="222" name="Google Shape;222;p1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HERRAMIENTAS QUE IMPLEMENTAN UML</a:t>
            </a:r>
            <a:endParaRPr/>
          </a:p>
        </p:txBody>
      </p:sp>
      <p:sp>
        <p:nvSpPr>
          <p:cNvPr id="223" name="Google Shape;223;p19"/>
          <p:cNvSpPr txBox="1"/>
          <p:nvPr>
            <p:ph idx="4" type="body"/>
          </p:nvPr>
        </p:nvSpPr>
        <p:spPr>
          <a:xfrm>
            <a:off x="850699" y="1349226"/>
            <a:ext cx="4103687"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1200"/>
              <a:buNone/>
            </a:pPr>
            <a:r>
              <a:rPr b="1" lang="es-ES">
                <a:solidFill>
                  <a:schemeClr val="accent1"/>
                </a:solidFill>
              </a:rPr>
              <a:t>BOUML</a:t>
            </a:r>
            <a:endParaRPr/>
          </a:p>
          <a:p>
            <a:pPr indent="-266700" lvl="0" marL="266700" rtl="0" algn="l">
              <a:spcBef>
                <a:spcPts val="300"/>
              </a:spcBef>
              <a:spcAft>
                <a:spcPts val="0"/>
              </a:spcAft>
              <a:buClr>
                <a:schemeClr val="dk1"/>
              </a:buClr>
              <a:buSzPts val="1200"/>
              <a:buChar char="❑"/>
            </a:pPr>
            <a:r>
              <a:rPr lang="es-ES"/>
              <a:t>Conocido por su velocidad y bajo uso de recursos.</a:t>
            </a:r>
            <a:endParaRPr/>
          </a:p>
          <a:p>
            <a:pPr indent="-266700" lvl="0" marL="266700" rtl="0" algn="l">
              <a:spcBef>
                <a:spcPts val="300"/>
              </a:spcBef>
              <a:spcAft>
                <a:spcPts val="0"/>
              </a:spcAft>
              <a:buClr>
                <a:schemeClr val="dk1"/>
              </a:buClr>
              <a:buSzPts val="1200"/>
              <a:buChar char="❑"/>
            </a:pPr>
            <a:r>
              <a:rPr lang="es-ES"/>
              <a:t>Soporta múltiples lenguajes de programación.</a:t>
            </a:r>
            <a:endParaRPr/>
          </a:p>
          <a:p>
            <a:pPr indent="-266700" lvl="0" marL="266700" rtl="0" algn="l">
              <a:spcBef>
                <a:spcPts val="300"/>
              </a:spcBef>
              <a:spcAft>
                <a:spcPts val="0"/>
              </a:spcAft>
              <a:buClr>
                <a:schemeClr val="dk1"/>
              </a:buClr>
              <a:buSzPts val="1200"/>
              <a:buChar char="❑"/>
            </a:pPr>
            <a:r>
              <a:rPr lang="es-ES"/>
              <a:t>Disponible para Linux, Windows y macOS.</a:t>
            </a:r>
            <a:endParaRPr/>
          </a:p>
          <a:p>
            <a:pPr indent="0" lvl="0" marL="0" rtl="0" algn="l">
              <a:spcBef>
                <a:spcPts val="1500"/>
              </a:spcBef>
              <a:spcAft>
                <a:spcPts val="0"/>
              </a:spcAft>
              <a:buClr>
                <a:schemeClr val="accent1"/>
              </a:buClr>
              <a:buSzPts val="1200"/>
              <a:buNone/>
            </a:pPr>
            <a:r>
              <a:rPr b="1" lang="es-ES">
                <a:solidFill>
                  <a:schemeClr val="accent1"/>
                </a:solidFill>
              </a:rPr>
              <a:t>UMODEL</a:t>
            </a:r>
            <a:endParaRPr/>
          </a:p>
          <a:p>
            <a:pPr indent="-266700" lvl="0" marL="266700" rtl="0" algn="l">
              <a:spcBef>
                <a:spcPts val="300"/>
              </a:spcBef>
              <a:spcAft>
                <a:spcPts val="0"/>
              </a:spcAft>
              <a:buClr>
                <a:schemeClr val="dk1"/>
              </a:buClr>
              <a:buSzPts val="1200"/>
              <a:buChar char="❑"/>
            </a:pPr>
            <a:r>
              <a:rPr lang="es-ES"/>
              <a:t>Se integra completamente con Microsoft Visual Studio.</a:t>
            </a:r>
            <a:endParaRPr/>
          </a:p>
          <a:p>
            <a:pPr indent="-266700" lvl="0" marL="266700" rtl="0" algn="l">
              <a:spcBef>
                <a:spcPts val="300"/>
              </a:spcBef>
              <a:spcAft>
                <a:spcPts val="0"/>
              </a:spcAft>
              <a:buClr>
                <a:schemeClr val="dk1"/>
              </a:buClr>
              <a:buSzPts val="1200"/>
              <a:buChar char="❑"/>
            </a:pPr>
            <a:r>
              <a:rPr lang="es-ES"/>
              <a:t>Permite la sincronización bidireccional entre modelos UML y código fuente.</a:t>
            </a:r>
            <a:endParaRPr/>
          </a:p>
          <a:p>
            <a:pPr indent="-266700" lvl="0" marL="266700" rtl="0" algn="l">
              <a:spcBef>
                <a:spcPts val="300"/>
              </a:spcBef>
              <a:spcAft>
                <a:spcPts val="0"/>
              </a:spcAft>
              <a:buClr>
                <a:schemeClr val="dk1"/>
              </a:buClr>
              <a:buSzPts val="1200"/>
              <a:buChar char="❑"/>
            </a:pPr>
            <a:r>
              <a:rPr lang="es-ES"/>
              <a:t>Puede generar documentación HTML o Word a partir de modelos UML.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0"/>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230" name="Google Shape;230;p20"/>
          <p:cNvSpPr/>
          <p:nvPr/>
        </p:nvSpPr>
        <p:spPr>
          <a:xfrm>
            <a:off x="424252" y="3703125"/>
            <a:ext cx="7966170" cy="954067"/>
          </a:xfrm>
          <a:prstGeom prst="rect">
            <a:avLst/>
          </a:prstGeom>
          <a:noFill/>
          <a:ln>
            <a:noFill/>
          </a:ln>
        </p:spPr>
        <p:txBody>
          <a:bodyPr anchorCtr="0" anchor="t" bIns="45700" lIns="91425" spcFirstLastPara="1" rIns="91425" wrap="square" tIns="45700">
            <a:spAutoFit/>
          </a:bodyPr>
          <a:lstStyle/>
          <a:p>
            <a:pPr indent="-274638" lvl="0" marL="274638" marR="0" rtl="0" algn="l">
              <a:spcBef>
                <a:spcPts val="0"/>
              </a:spcBef>
              <a:spcAft>
                <a:spcPts val="0"/>
              </a:spcAft>
              <a:buNone/>
            </a:pPr>
            <a:r>
              <a:rPr b="1" lang="es-ES" sz="2800">
                <a:solidFill>
                  <a:schemeClr val="lt1"/>
                </a:solidFill>
                <a:latin typeface="Calibri"/>
                <a:ea typeface="Calibri"/>
                <a:cs typeface="Calibri"/>
                <a:sym typeface="Calibri"/>
              </a:rPr>
              <a:t>/	TENDENCIAS Y PERSPECTIVAS ÁGILES EN EL MODELADO UML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TENDENCIAS Y PERSPECTIVAS ÁGILES EN EL MODELADO UML</a:t>
            </a:r>
            <a:endParaRPr b="0">
              <a:solidFill>
                <a:srgbClr val="0070C0"/>
              </a:solidFill>
            </a:endParaRPr>
          </a:p>
        </p:txBody>
      </p:sp>
      <p:sp>
        <p:nvSpPr>
          <p:cNvPr id="237" name="Google Shape;237;p21"/>
          <p:cNvSpPr txBox="1"/>
          <p:nvPr>
            <p:ph idx="4" type="body"/>
          </p:nvPr>
        </p:nvSpPr>
        <p:spPr>
          <a:xfrm>
            <a:off x="692756" y="1252742"/>
            <a:ext cx="3954058" cy="4096800"/>
          </a:xfrm>
          <a:prstGeom prst="rect">
            <a:avLst/>
          </a:prstGeom>
          <a:noFill/>
          <a:ln>
            <a:noFill/>
          </a:ln>
        </p:spPr>
        <p:txBody>
          <a:bodyPr anchorCtr="0" anchor="t" bIns="45700" lIns="91425" spcFirstLastPara="1" rIns="91425" wrap="square" tIns="45700">
            <a:noAutofit/>
          </a:bodyPr>
          <a:lstStyle/>
          <a:p>
            <a:pPr indent="-271463" lvl="0" marL="271463" rtl="0" algn="l">
              <a:spcBef>
                <a:spcPts val="0"/>
              </a:spcBef>
              <a:spcAft>
                <a:spcPts val="0"/>
              </a:spcAft>
              <a:buClr>
                <a:schemeClr val="accent1"/>
              </a:buClr>
              <a:buSzPts val="1600"/>
              <a:buFont typeface="Calibri"/>
              <a:buAutoNum type="arabicParenR"/>
            </a:pPr>
            <a:r>
              <a:rPr b="1" lang="es-ES">
                <a:solidFill>
                  <a:schemeClr val="accent1"/>
                </a:solidFill>
              </a:rPr>
              <a:t>Integración con Metodologías Ágiles</a:t>
            </a:r>
            <a:endParaRPr/>
          </a:p>
          <a:p>
            <a:pPr indent="0" lvl="1" marL="265113" rtl="0" algn="l">
              <a:spcBef>
                <a:spcPts val="600"/>
              </a:spcBef>
              <a:spcAft>
                <a:spcPts val="0"/>
              </a:spcAft>
              <a:buClr>
                <a:schemeClr val="dk1"/>
              </a:buClr>
              <a:buSzPts val="1600"/>
              <a:buNone/>
            </a:pPr>
            <a:r>
              <a:rPr lang="es-ES"/>
              <a:t>La adopción de metodologías ágiles como Scrum y Kanban ha llevado a una integración más estrecha con UML para facilitar la planificación y la comunicación dentro del equipo.</a:t>
            </a:r>
            <a:endParaRPr/>
          </a:p>
          <a:p>
            <a:pPr indent="-271463" lvl="0" marL="271463" rtl="0" algn="l">
              <a:spcBef>
                <a:spcPts val="2400"/>
              </a:spcBef>
              <a:spcAft>
                <a:spcPts val="0"/>
              </a:spcAft>
              <a:buClr>
                <a:schemeClr val="accent1"/>
              </a:buClr>
              <a:buSzPts val="1600"/>
              <a:buFont typeface="Calibri"/>
              <a:buAutoNum type="arabicParenR"/>
            </a:pPr>
            <a:r>
              <a:rPr b="1" lang="es-ES">
                <a:solidFill>
                  <a:schemeClr val="accent1"/>
                </a:solidFill>
              </a:rPr>
              <a:t>Modelado de Sistemas Empresariales</a:t>
            </a:r>
            <a:endParaRPr/>
          </a:p>
          <a:p>
            <a:pPr indent="0" lvl="1" marL="265113" rtl="0" algn="l">
              <a:spcBef>
                <a:spcPts val="600"/>
              </a:spcBef>
              <a:spcAft>
                <a:spcPts val="0"/>
              </a:spcAft>
              <a:buClr>
                <a:schemeClr val="dk1"/>
              </a:buClr>
              <a:buSzPts val="1600"/>
              <a:buNone/>
            </a:pPr>
            <a:r>
              <a:rPr lang="es-ES"/>
              <a:t>UML se está utilizando cada vez más para modelar sistemas empresariales completos, no solo aplicaciones de software. Esto incluye la integración con otros estándares de modelado como BPMN para procesos de negocio.</a:t>
            </a:r>
            <a:endParaRPr/>
          </a:p>
        </p:txBody>
      </p:sp>
      <p:sp>
        <p:nvSpPr>
          <p:cNvPr id="238" name="Google Shape;238;p2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UML ESTÁ EVOLUCIONANDO</a:t>
            </a:r>
            <a:endParaRPr/>
          </a:p>
        </p:txBody>
      </p:sp>
      <p:pic>
        <p:nvPicPr>
          <p:cNvPr id="239" name="Google Shape;239;p21"/>
          <p:cNvPicPr preferRelativeResize="0"/>
          <p:nvPr>
            <p:ph idx="2" type="pic"/>
          </p:nvPr>
        </p:nvPicPr>
        <p:blipFill rotWithShape="1">
          <a:blip r:embed="rId3">
            <a:alphaModFix/>
          </a:blip>
          <a:srcRect b="160" l="0" r="0" t="161"/>
          <a:stretch/>
        </p:blipFill>
        <p:spPr>
          <a:xfrm>
            <a:off x="5029200" y="1546251"/>
            <a:ext cx="3422044" cy="372197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TENDENCIAS Y PERSPECTIVAS ÁGILES EN EL MODELADO UML</a:t>
            </a:r>
            <a:endParaRPr b="0">
              <a:solidFill>
                <a:srgbClr val="0070C0"/>
              </a:solidFill>
            </a:endParaRPr>
          </a:p>
        </p:txBody>
      </p:sp>
      <p:sp>
        <p:nvSpPr>
          <p:cNvPr id="246" name="Google Shape;246;p22"/>
          <p:cNvSpPr txBox="1"/>
          <p:nvPr>
            <p:ph idx="4" type="body"/>
          </p:nvPr>
        </p:nvSpPr>
        <p:spPr>
          <a:xfrm>
            <a:off x="709384" y="1427309"/>
            <a:ext cx="3787803" cy="4096800"/>
          </a:xfrm>
          <a:prstGeom prst="rect">
            <a:avLst/>
          </a:prstGeom>
          <a:noFill/>
          <a:ln>
            <a:noFill/>
          </a:ln>
        </p:spPr>
        <p:txBody>
          <a:bodyPr anchorCtr="0" anchor="t" bIns="45700" lIns="91425" spcFirstLastPara="1" rIns="91425" wrap="square" tIns="45700">
            <a:noAutofit/>
          </a:bodyPr>
          <a:lstStyle/>
          <a:p>
            <a:pPr indent="-271463" lvl="0" marL="271463" rtl="0" algn="l">
              <a:spcBef>
                <a:spcPts val="0"/>
              </a:spcBef>
              <a:spcAft>
                <a:spcPts val="0"/>
              </a:spcAft>
              <a:buClr>
                <a:schemeClr val="accent1"/>
              </a:buClr>
              <a:buSzPts val="1600"/>
              <a:buFont typeface="Calibri"/>
              <a:buAutoNum type="arabicParenR" startAt="3"/>
            </a:pPr>
            <a:r>
              <a:rPr b="1" lang="es-ES">
                <a:solidFill>
                  <a:schemeClr val="accent1"/>
                </a:solidFill>
              </a:rPr>
              <a:t>Automatización y Generación de Código</a:t>
            </a:r>
            <a:endParaRPr/>
          </a:p>
          <a:p>
            <a:pPr indent="0" lvl="1" marL="265113" rtl="0" algn="l">
              <a:spcBef>
                <a:spcPts val="600"/>
              </a:spcBef>
              <a:spcAft>
                <a:spcPts val="0"/>
              </a:spcAft>
              <a:buClr>
                <a:schemeClr val="dk1"/>
              </a:buClr>
              <a:buSzPts val="1600"/>
              <a:buNone/>
            </a:pPr>
            <a:r>
              <a:rPr lang="es-ES"/>
              <a:t>Las herramientas modernas de UML ofrecen capacidades de generación de código, lo que permite un desarrollo más rápido y coherente.</a:t>
            </a:r>
            <a:endParaRPr/>
          </a:p>
          <a:p>
            <a:pPr indent="-271463" lvl="0" marL="271463" rtl="0" algn="l">
              <a:spcBef>
                <a:spcPts val="2400"/>
              </a:spcBef>
              <a:spcAft>
                <a:spcPts val="0"/>
              </a:spcAft>
              <a:buClr>
                <a:schemeClr val="accent1"/>
              </a:buClr>
              <a:buSzPts val="1600"/>
              <a:buFont typeface="Calibri"/>
              <a:buAutoNum type="arabicParenR" startAt="3"/>
            </a:pPr>
            <a:r>
              <a:rPr b="1" lang="es-ES">
                <a:solidFill>
                  <a:schemeClr val="accent1"/>
                </a:solidFill>
              </a:rPr>
              <a:t>Modelado de Arquitecturas de Microservicios</a:t>
            </a:r>
            <a:endParaRPr/>
          </a:p>
          <a:p>
            <a:pPr indent="0" lvl="1" marL="265113" rtl="0" algn="l">
              <a:spcBef>
                <a:spcPts val="600"/>
              </a:spcBef>
              <a:spcAft>
                <a:spcPts val="0"/>
              </a:spcAft>
              <a:buClr>
                <a:schemeClr val="dk1"/>
              </a:buClr>
              <a:buSzPts val="1600"/>
              <a:buNone/>
            </a:pPr>
            <a:r>
              <a:rPr lang="es-ES"/>
              <a:t>Con la popularidad de las arquitecturas de microservicios, UML se está adaptando para modelar estos sistemas más complejos y distribuidos.</a:t>
            </a:r>
            <a:endParaRPr/>
          </a:p>
        </p:txBody>
      </p:sp>
      <p:sp>
        <p:nvSpPr>
          <p:cNvPr id="247" name="Google Shape;247;p2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UML ESTÁ EVOLUCIONANDO</a:t>
            </a:r>
            <a:endParaRPr/>
          </a:p>
        </p:txBody>
      </p:sp>
      <p:pic>
        <p:nvPicPr>
          <p:cNvPr id="248" name="Google Shape;248;p22"/>
          <p:cNvPicPr preferRelativeResize="0"/>
          <p:nvPr>
            <p:ph idx="2" type="pic"/>
          </p:nvPr>
        </p:nvPicPr>
        <p:blipFill rotWithShape="1">
          <a:blip r:embed="rId3">
            <a:alphaModFix/>
          </a:blip>
          <a:srcRect b="160" l="0" r="0" t="161"/>
          <a:stretch/>
        </p:blipFill>
        <p:spPr>
          <a:xfrm>
            <a:off x="4646814" y="1171424"/>
            <a:ext cx="3712990" cy="403842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TENDENCIAS Y PERSPECTIVAS ÁGILES EN EL MODELADO UML</a:t>
            </a:r>
            <a:endParaRPr b="0">
              <a:solidFill>
                <a:srgbClr val="0070C0"/>
              </a:solidFill>
            </a:endParaRPr>
          </a:p>
        </p:txBody>
      </p:sp>
      <p:pic>
        <p:nvPicPr>
          <p:cNvPr id="255" name="Google Shape;255;p23"/>
          <p:cNvPicPr preferRelativeResize="0"/>
          <p:nvPr>
            <p:ph idx="2" type="pic"/>
          </p:nvPr>
        </p:nvPicPr>
        <p:blipFill rotWithShape="1">
          <a:blip r:embed="rId3">
            <a:alphaModFix/>
          </a:blip>
          <a:srcRect b="160" l="0" r="0" t="161"/>
          <a:stretch/>
        </p:blipFill>
        <p:spPr>
          <a:xfrm>
            <a:off x="4812067" y="1243585"/>
            <a:ext cx="3639176" cy="3958137"/>
          </a:xfrm>
          <a:prstGeom prst="rect">
            <a:avLst/>
          </a:prstGeom>
          <a:noFill/>
          <a:ln>
            <a:noFill/>
          </a:ln>
        </p:spPr>
      </p:pic>
      <p:sp>
        <p:nvSpPr>
          <p:cNvPr id="256" name="Google Shape;256;p23"/>
          <p:cNvSpPr txBox="1"/>
          <p:nvPr>
            <p:ph idx="4" type="body"/>
          </p:nvPr>
        </p:nvSpPr>
        <p:spPr>
          <a:xfrm>
            <a:off x="809137" y="1310088"/>
            <a:ext cx="3639176" cy="3811687"/>
          </a:xfrm>
          <a:prstGeom prst="rect">
            <a:avLst/>
          </a:prstGeom>
          <a:noFill/>
          <a:ln>
            <a:noFill/>
          </a:ln>
        </p:spPr>
        <p:txBody>
          <a:bodyPr anchorCtr="0" anchor="t" bIns="45700" lIns="91425" spcFirstLastPara="1" rIns="91425" wrap="square" tIns="45700">
            <a:noAutofit/>
          </a:bodyPr>
          <a:lstStyle/>
          <a:p>
            <a:pPr indent="-271463" lvl="0" marL="271463" rtl="0" algn="l">
              <a:spcBef>
                <a:spcPts val="0"/>
              </a:spcBef>
              <a:spcAft>
                <a:spcPts val="0"/>
              </a:spcAft>
              <a:buClr>
                <a:schemeClr val="accent1"/>
              </a:buClr>
              <a:buSzPts val="1600"/>
              <a:buFont typeface="Calibri"/>
              <a:buAutoNum type="arabicParenR" startAt="5"/>
            </a:pPr>
            <a:r>
              <a:rPr b="1" lang="es-ES">
                <a:solidFill>
                  <a:schemeClr val="accent1"/>
                </a:solidFill>
              </a:rPr>
              <a:t>UML en la Nube</a:t>
            </a:r>
            <a:endParaRPr/>
          </a:p>
          <a:p>
            <a:pPr indent="0" lvl="1" marL="265113" rtl="0" algn="l">
              <a:spcBef>
                <a:spcPts val="600"/>
              </a:spcBef>
              <a:spcAft>
                <a:spcPts val="0"/>
              </a:spcAft>
              <a:buClr>
                <a:schemeClr val="dk1"/>
              </a:buClr>
              <a:buSzPts val="1600"/>
              <a:buNone/>
            </a:pPr>
            <a:r>
              <a:rPr lang="es-ES"/>
              <a:t>Las herramientas basadas en la nube para el modelado UML están ganando popularidad debido a su accesibilidad y capacidades de colaboración en tiempo real.</a:t>
            </a:r>
            <a:endParaRPr/>
          </a:p>
          <a:p>
            <a:pPr indent="-271463" lvl="0" marL="271463" rtl="0" algn="l">
              <a:spcBef>
                <a:spcPts val="2400"/>
              </a:spcBef>
              <a:spcAft>
                <a:spcPts val="0"/>
              </a:spcAft>
              <a:buClr>
                <a:schemeClr val="accent1"/>
              </a:buClr>
              <a:buSzPts val="1600"/>
              <a:buFont typeface="Calibri"/>
              <a:buAutoNum type="arabicParenR" startAt="5"/>
            </a:pPr>
            <a:r>
              <a:rPr b="1" lang="es-ES">
                <a:solidFill>
                  <a:schemeClr val="accent1"/>
                </a:solidFill>
              </a:rPr>
              <a:t>UML para Big Data y Análisis</a:t>
            </a:r>
            <a:endParaRPr/>
          </a:p>
          <a:p>
            <a:pPr indent="0" lvl="1" marL="265113" rtl="0" algn="l">
              <a:spcBef>
                <a:spcPts val="600"/>
              </a:spcBef>
              <a:spcAft>
                <a:spcPts val="0"/>
              </a:spcAft>
              <a:buClr>
                <a:schemeClr val="dk1"/>
              </a:buClr>
              <a:buSzPts val="1600"/>
              <a:buNone/>
            </a:pPr>
            <a:r>
              <a:rPr lang="es-ES"/>
              <a:t>El modelado UML se está extendiendo al dominio del big data y el análisis, ayudando a diseñar sistemas que puedan manejar grandes volúmenes de datos.</a:t>
            </a:r>
            <a:endParaRPr/>
          </a:p>
        </p:txBody>
      </p:sp>
      <p:sp>
        <p:nvSpPr>
          <p:cNvPr id="257" name="Google Shape;257;p23"/>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UML ESTÁ EVOLUCIONANDO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TENDENCIAS Y PERSPECTIVAS ÁGILES EN EL MODELADO UML</a:t>
            </a:r>
            <a:endParaRPr b="0">
              <a:solidFill>
                <a:srgbClr val="0070C0"/>
              </a:solidFill>
            </a:endParaRPr>
          </a:p>
        </p:txBody>
      </p:sp>
      <p:pic>
        <p:nvPicPr>
          <p:cNvPr id="264" name="Google Shape;264;p24"/>
          <p:cNvPicPr preferRelativeResize="0"/>
          <p:nvPr>
            <p:ph idx="2" type="pic"/>
          </p:nvPr>
        </p:nvPicPr>
        <p:blipFill rotWithShape="1">
          <a:blip r:embed="rId3">
            <a:alphaModFix/>
          </a:blip>
          <a:srcRect b="0" l="25180" r="25180" t="0"/>
          <a:stretch/>
        </p:blipFill>
        <p:spPr>
          <a:xfrm>
            <a:off x="4842119" y="1305931"/>
            <a:ext cx="3512171" cy="3820001"/>
          </a:xfrm>
          <a:prstGeom prst="rect">
            <a:avLst/>
          </a:prstGeom>
          <a:noFill/>
          <a:ln>
            <a:noFill/>
          </a:ln>
        </p:spPr>
      </p:pic>
      <p:sp>
        <p:nvSpPr>
          <p:cNvPr id="265" name="Google Shape;265;p24"/>
          <p:cNvSpPr txBox="1"/>
          <p:nvPr>
            <p:ph idx="4" type="body"/>
          </p:nvPr>
        </p:nvSpPr>
        <p:spPr>
          <a:xfrm>
            <a:off x="789710" y="1305931"/>
            <a:ext cx="3512170" cy="3820000"/>
          </a:xfrm>
          <a:prstGeom prst="rect">
            <a:avLst/>
          </a:prstGeom>
          <a:noFill/>
          <a:ln>
            <a:noFill/>
          </a:ln>
        </p:spPr>
        <p:txBody>
          <a:bodyPr anchorCtr="0" anchor="t" bIns="45700" lIns="91425" spcFirstLastPara="1" rIns="91425" wrap="square" tIns="45700">
            <a:noAutofit/>
          </a:bodyPr>
          <a:lstStyle/>
          <a:p>
            <a:pPr indent="-271463" lvl="0" marL="271463" rtl="0" algn="l">
              <a:spcBef>
                <a:spcPts val="0"/>
              </a:spcBef>
              <a:spcAft>
                <a:spcPts val="0"/>
              </a:spcAft>
              <a:buClr>
                <a:schemeClr val="accent1"/>
              </a:buClr>
              <a:buSzPts val="1600"/>
              <a:buFont typeface="Calibri"/>
              <a:buAutoNum type="arabicParenR" startAt="7"/>
            </a:pPr>
            <a:r>
              <a:rPr b="1" lang="es-ES">
                <a:solidFill>
                  <a:schemeClr val="accent1"/>
                </a:solidFill>
              </a:rPr>
              <a:t>UML en IoT (Internet de las Cosas)</a:t>
            </a:r>
            <a:endParaRPr/>
          </a:p>
          <a:p>
            <a:pPr indent="0" lvl="1" marL="265113" rtl="0" algn="l">
              <a:spcBef>
                <a:spcPts val="600"/>
              </a:spcBef>
              <a:spcAft>
                <a:spcPts val="0"/>
              </a:spcAft>
              <a:buClr>
                <a:schemeClr val="dk1"/>
              </a:buClr>
              <a:buSzPts val="1600"/>
              <a:buNone/>
            </a:pPr>
            <a:r>
              <a:rPr lang="es-ES"/>
              <a:t>Con el auge de IoT, UML también se está utilizando para modelar la interacción entre dispositivos y sistemas en esta área emergente.</a:t>
            </a:r>
            <a:endParaRPr/>
          </a:p>
          <a:p>
            <a:pPr indent="-271463" lvl="0" marL="271463" rtl="0" algn="l">
              <a:spcBef>
                <a:spcPts val="2400"/>
              </a:spcBef>
              <a:spcAft>
                <a:spcPts val="0"/>
              </a:spcAft>
              <a:buClr>
                <a:schemeClr val="accent1"/>
              </a:buClr>
              <a:buSzPts val="1600"/>
              <a:buFont typeface="Calibri"/>
              <a:buAutoNum type="arabicParenR" startAt="7"/>
            </a:pPr>
            <a:r>
              <a:rPr b="1" lang="es-ES">
                <a:solidFill>
                  <a:schemeClr val="accent1"/>
                </a:solidFill>
              </a:rPr>
              <a:t>Enfoque en la Usabilidad y Experiencia de Usuario</a:t>
            </a:r>
            <a:endParaRPr/>
          </a:p>
          <a:p>
            <a:pPr indent="0" lvl="1" marL="265113" rtl="0" algn="l">
              <a:spcBef>
                <a:spcPts val="600"/>
              </a:spcBef>
              <a:spcAft>
                <a:spcPts val="0"/>
              </a:spcAft>
              <a:buClr>
                <a:schemeClr val="dk1"/>
              </a:buClr>
              <a:buSzPts val="1600"/>
              <a:buNone/>
            </a:pPr>
            <a:r>
              <a:rPr lang="es-ES"/>
              <a:t>Las herramientas de UML están poniendo más énfasis en la usabilidad y la experiencia del usuario, haciendo que el modelado sea más accesible para personas que no son expertas en UML.</a:t>
            </a:r>
            <a:endParaRPr/>
          </a:p>
        </p:txBody>
      </p:sp>
      <p:sp>
        <p:nvSpPr>
          <p:cNvPr id="266" name="Google Shape;266;p24"/>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UML ESTÁ EVOLUCIONANDO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5"/>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273" name="Google Shape;273;p25"/>
          <p:cNvSpPr/>
          <p:nvPr/>
        </p:nvSpPr>
        <p:spPr>
          <a:xfrm>
            <a:off x="1210822" y="794746"/>
            <a:ext cx="7409475" cy="427805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lt1"/>
              </a:buClr>
              <a:buSzPts val="1700"/>
              <a:buFont typeface="Arial"/>
              <a:buChar char="•"/>
            </a:pPr>
            <a:r>
              <a:rPr lang="es-ES" sz="1700">
                <a:solidFill>
                  <a:schemeClr val="lt1"/>
                </a:solidFill>
                <a:latin typeface="Calibri"/>
                <a:ea typeface="Calibri"/>
                <a:cs typeface="Calibri"/>
                <a:sym typeface="Calibri"/>
              </a:rPr>
              <a:t>El lenguaje de modelado UML se adapta a una amplia gama de metodologías de desarrollo de software, desde enfoques ágiles como Scrum hasta modelos más tradicionales como el enfoque en cascada.</a:t>
            </a:r>
            <a:endParaRPr/>
          </a:p>
          <a:p>
            <a:pPr indent="-177800" lvl="0" marL="285750" marR="0" rtl="0" algn="l">
              <a:spcBef>
                <a:spcPts val="0"/>
              </a:spcBef>
              <a:spcAft>
                <a:spcPts val="0"/>
              </a:spcAft>
              <a:buClr>
                <a:schemeClr val="dk1"/>
              </a:buClr>
              <a:buSzPts val="1700"/>
              <a:buFont typeface="Arial"/>
              <a:buNone/>
            </a:pPr>
            <a:r>
              <a:t/>
            </a:r>
            <a:endParaRPr sz="17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700"/>
              <a:buFont typeface="Arial"/>
              <a:buChar char="•"/>
            </a:pPr>
            <a:r>
              <a:rPr lang="es-ES" sz="1700">
                <a:solidFill>
                  <a:schemeClr val="lt1"/>
                </a:solidFill>
                <a:latin typeface="Calibri"/>
                <a:ea typeface="Calibri"/>
                <a:cs typeface="Calibri"/>
                <a:sym typeface="Calibri"/>
              </a:rPr>
              <a:t>Existe una gran variedad de herramientas de software para el modelado UML, desde soluciones empresariales como Enterprise Architect hasta opciones de código abierto como DIA y Umbrello. Esto permite a los equipos elegir la herramienta que mejor se adapte a sus necesidades específicas.</a:t>
            </a:r>
            <a:endParaRPr/>
          </a:p>
          <a:p>
            <a:pPr indent="-177800" lvl="0" marL="285750" marR="0" rtl="0" algn="l">
              <a:spcBef>
                <a:spcPts val="0"/>
              </a:spcBef>
              <a:spcAft>
                <a:spcPts val="0"/>
              </a:spcAft>
              <a:buClr>
                <a:schemeClr val="dk1"/>
              </a:buClr>
              <a:buSzPts val="1700"/>
              <a:buFont typeface="Arial"/>
              <a:buNone/>
            </a:pPr>
            <a:r>
              <a:t/>
            </a:r>
            <a:endParaRPr sz="17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700"/>
              <a:buFont typeface="Arial"/>
              <a:buChar char="•"/>
            </a:pPr>
            <a:r>
              <a:rPr lang="es-ES" sz="1700">
                <a:solidFill>
                  <a:schemeClr val="lt1"/>
                </a:solidFill>
                <a:latin typeface="Calibri"/>
                <a:ea typeface="Calibri"/>
                <a:cs typeface="Calibri"/>
                <a:sym typeface="Calibri"/>
              </a:rPr>
              <a:t>Las tendencias en el modelado UML, como la integración con metodologías ágiles y el enfoque en sistemas empresariales y microservicios, muestran cómo UML se adapta a las necesidades cambiantes de la industria del software.</a:t>
            </a:r>
            <a:endParaRPr/>
          </a:p>
          <a:p>
            <a:pPr indent="-177800" lvl="0" marL="285750" marR="0" rtl="0" algn="l">
              <a:spcBef>
                <a:spcPts val="0"/>
              </a:spcBef>
              <a:spcAft>
                <a:spcPts val="0"/>
              </a:spcAft>
              <a:buClr>
                <a:schemeClr val="dk1"/>
              </a:buClr>
              <a:buSzPts val="1700"/>
              <a:buFont typeface="Arial"/>
              <a:buNone/>
            </a:pPr>
            <a:r>
              <a:t/>
            </a:r>
            <a:endParaRPr sz="17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700"/>
              <a:buFont typeface="Arial"/>
              <a:buChar char="•"/>
            </a:pPr>
            <a:r>
              <a:rPr lang="es-ES" sz="1700">
                <a:solidFill>
                  <a:schemeClr val="lt1"/>
                </a:solidFill>
                <a:latin typeface="Calibri"/>
                <a:ea typeface="Calibri"/>
                <a:cs typeface="Calibri"/>
                <a:sym typeface="Calibri"/>
              </a:rPr>
              <a:t>El uso de UML no solo ayuda en la fase de diseño, sino que también facilita la comunicación dentro del equipo de desarrollo y con los stakeholders, lo que resulta en un proceso de desarrollo más eficiente y efectivo.</a:t>
            </a:r>
            <a:endParaRPr/>
          </a:p>
        </p:txBody>
      </p:sp>
      <p:sp>
        <p:nvSpPr>
          <p:cNvPr id="274" name="Google Shape;274;p25"/>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700"/>
              <a:buFont typeface="Calibri"/>
              <a:buNone/>
            </a:pPr>
            <a:r>
              <a:rPr lang="es-ES" sz="1700">
                <a:solidFill>
                  <a:schemeClr val="lt1"/>
                </a:solidFill>
                <a:latin typeface="Calibri"/>
                <a:ea typeface="Calibri"/>
                <a:cs typeface="Calibri"/>
                <a:sym typeface="Calibri"/>
              </a:rPr>
              <a:t>/ CONCLUSIONES</a:t>
            </a:r>
            <a:endParaRPr sz="1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6"/>
          <p:cNvSpPr txBox="1"/>
          <p:nvPr/>
        </p:nvSpPr>
        <p:spPr>
          <a:xfrm>
            <a:off x="625625" y="791346"/>
            <a:ext cx="7892750" cy="4276127"/>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lang="es-ES" sz="1600">
                <a:solidFill>
                  <a:schemeClr val="dk1"/>
                </a:solidFill>
                <a:latin typeface="Calibri"/>
                <a:ea typeface="Calibri"/>
                <a:cs typeface="Calibri"/>
                <a:sym typeface="Calibri"/>
              </a:rPr>
              <a:t>Jacobson, I., Christerson, M., Jonsson, P., &amp; Övergaard, G. (1992). Object-Oriented Software Engineering: A Use Case Driven Approach. Addison-Wesley.</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Schwaber, K., &amp; Sutherland, J. (2017). Scrum Guide. URL: </a:t>
            </a:r>
            <a:r>
              <a:rPr lang="es-ES" sz="1600" u="sng">
                <a:solidFill>
                  <a:schemeClr val="dk1"/>
                </a:solidFill>
                <a:latin typeface="Calibri"/>
                <a:ea typeface="Calibri"/>
                <a:cs typeface="Calibri"/>
                <a:sym typeface="Calibri"/>
                <a:hlinkClick r:id="rId3">
                  <a:extLst>
                    <a:ext uri="{A12FA001-AC4F-418D-AE19-62706E023703}">
                      <ahyp:hlinkClr val="tx"/>
                    </a:ext>
                  </a:extLst>
                </a:hlinkClick>
              </a:rPr>
              <a:t>https://www.scrumguides.org/scrum-guide.html</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Ambler, S. W. (2004). Introduction to UML 2 Class Diagrams. Agile Modeling. URL: </a:t>
            </a:r>
            <a:r>
              <a:rPr lang="es-ES" sz="1600" u="sng">
                <a:solidFill>
                  <a:schemeClr val="dk1"/>
                </a:solidFill>
                <a:latin typeface="Calibri"/>
                <a:ea typeface="Calibri"/>
                <a:cs typeface="Calibri"/>
                <a:sym typeface="Calibri"/>
                <a:hlinkClick r:id="rId4">
                  <a:extLst>
                    <a:ext uri="{A12FA001-AC4F-418D-AE19-62706E023703}">
                      <ahyp:hlinkClr val="tx"/>
                    </a:ext>
                  </a:extLst>
                </a:hlinkClick>
              </a:rPr>
              <a:t>http://www.agilemodeling.com/artifacts/classDiagram.htm</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Chonoles, M. J., &amp; Schardt, J. A. (2003). UML 2 for Dummies. Wiley.</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Selic, B. (2016). What Will It Take? A View on Adoption of Model-Based Methods in Practice. </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Software &amp; Systems Modeling, 15(2), 555-571.</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Stahl, T., &amp; Voelter, M. (2006). Model-Driven Software Development: Technology, Engineering, Management. Wiley.</a:t>
            </a:r>
            <a:endParaRPr/>
          </a:p>
          <a:p>
            <a:pPr indent="0" lvl="0" marL="261938"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p:txBody>
      </p:sp>
      <p:sp>
        <p:nvSpPr>
          <p:cNvPr id="281" name="Google Shape;281;p26"/>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438AD7"/>
              </a:buClr>
              <a:buSzPts val="1700"/>
              <a:buFont typeface="Calibri"/>
              <a:buNone/>
            </a:pPr>
            <a:r>
              <a:rPr lang="es-ES" sz="1700">
                <a:solidFill>
                  <a:srgbClr val="438AD7"/>
                </a:solidFill>
                <a:latin typeface="Calibri"/>
                <a:ea typeface="Calibri"/>
                <a:cs typeface="Calibri"/>
                <a:sym typeface="Calibri"/>
              </a:rPr>
              <a:t>/ BIBLIOGRAFÍA</a:t>
            </a:r>
            <a:endParaRPr sz="1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2016-10-06T14:52:02Z</dcterms:created>
  <dc:creator>ISIL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