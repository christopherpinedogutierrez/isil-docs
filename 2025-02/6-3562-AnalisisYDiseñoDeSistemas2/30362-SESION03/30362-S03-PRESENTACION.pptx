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715000" cx="9144000"/>
  <p:notesSz cx="6858000" cy="9144000"/>
  <p:embeddedFontLst>
    <p:embeddedFont>
      <p:font typeface="Arial Narrow"/>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88">
          <p15:clr>
            <a:srgbClr val="A4A3A4"/>
          </p15:clr>
        </p15:guide>
        <p15:guide id="2" orient="horz" pos="2344">
          <p15:clr>
            <a:srgbClr val="A4A3A4"/>
          </p15:clr>
        </p15:guide>
        <p15:guide id="3" orient="horz" pos="303">
          <p15:clr>
            <a:srgbClr val="A4A3A4"/>
          </p15:clr>
        </p15:guide>
        <p15:guide id="4" orient="horz" pos="575">
          <p15:clr>
            <a:srgbClr val="A4A3A4"/>
          </p15:clr>
        </p15:guide>
        <p15:guide id="5" orient="horz" pos="3274">
          <p15:clr>
            <a:srgbClr val="A4A3A4"/>
          </p15:clr>
        </p15:guide>
        <p15:guide id="6" orient="horz" pos="1324">
          <p15:clr>
            <a:srgbClr val="A4A3A4"/>
          </p15:clr>
        </p15:guide>
        <p15:guide id="7" pos="295">
          <p15:clr>
            <a:srgbClr val="A4A3A4"/>
          </p15:clr>
        </p15:guide>
        <p15:guide id="8" orient="horz" pos="1913">
          <p15:clr>
            <a:srgbClr val="A4A3A4"/>
          </p15:clr>
        </p15:guide>
        <p15:guide id="9" pos="3039">
          <p15:clr>
            <a:srgbClr val="A4A3A4"/>
          </p15:clr>
        </p15:guide>
        <p15:guide id="10" pos="2721">
          <p15:clr>
            <a:srgbClr val="A4A3A4"/>
          </p15:clr>
        </p15:guide>
        <p15:guide id="11" pos="2880">
          <p15:clr>
            <a:srgbClr val="A4A3A4"/>
          </p15:clr>
        </p15:guide>
        <p15:guide id="12" pos="2041">
          <p15:clr>
            <a:srgbClr val="A4A3A4"/>
          </p15:clr>
        </p15:guide>
      </p15:sldGuideLst>
    </p:ext>
    <p:ext uri="GoogleSlidesCustomDataVersion2">
      <go:slidesCustomData xmlns:go="http://customooxmlschemas.google.com/" r:id="rId50" roundtripDataSignature="AMtx7mjn3AXeE7H2wZQ0H1hfRdIaHbx8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1FAAAF-390B-45C5-8ABE-32D9CDC8B455}">
  <a:tblStyle styleId="{111FAAAF-390B-45C5-8ABE-32D9CDC8B455}" styleName="Table_0">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ECEAF0"/>
          </a:solidFill>
        </a:fill>
      </a:tcStyle>
    </a:wholeTbl>
    <a:band1H>
      <a:tcTxStyle b="off" i="off"/>
      <a:tcStyle>
        <a:fill>
          <a:solidFill>
            <a:srgbClr val="D7D2DF"/>
          </a:solidFill>
        </a:fill>
      </a:tcStyle>
    </a:band1H>
    <a:band2H>
      <a:tcTxStyle b="off" i="off"/>
    </a:band2H>
    <a:band1V>
      <a:tcTxStyle b="off" i="off"/>
      <a:tcStyle>
        <a:fill>
          <a:solidFill>
            <a:srgbClr val="D7D2DF"/>
          </a:solidFill>
        </a:fill>
      </a:tcStyle>
    </a:band1V>
    <a:band2V>
      <a:tcTxStyle b="off" i="off"/>
    </a:band2V>
    <a:lastCol>
      <a:tcTxStyle b="on" i="off"/>
    </a:lastCol>
    <a:firstCol>
      <a:tcTxStyle b="on" i="off"/>
    </a:firstCol>
    <a:lastRow>
      <a:tcTxStyle b="on" i="off"/>
      <a:tcStyle>
        <a:tcBdr>
          <a:top>
            <a:ln cap="flat" cmpd="sng" w="25400">
              <a:solidFill>
                <a:schemeClr val="accent4"/>
              </a:solidFill>
              <a:prstDash val="solid"/>
              <a:round/>
              <a:headEnd len="sm" w="sm" type="none"/>
              <a:tailEnd len="sm" w="sm" type="none"/>
            </a:ln>
          </a:top>
        </a:tcBdr>
        <a:fill>
          <a:solidFill>
            <a:srgbClr val="ECEAF0"/>
          </a:solidFill>
        </a:fill>
      </a:tcStyle>
    </a:lastRow>
    <a:seCell>
      <a:tcTxStyle b="off" i="off"/>
    </a:seCell>
    <a:swCell>
      <a:tcTxStyle b="off" i="off"/>
    </a:swCell>
    <a:firstRow>
      <a:tcTxStyle b="on" i="off"/>
      <a:tcStyle>
        <a:fill>
          <a:solidFill>
            <a:srgbClr val="ECEAF0"/>
          </a:solidFill>
        </a:fill>
      </a:tcStyle>
    </a:firstRow>
    <a:neCell>
      <a:tcTxStyle b="off" i="off"/>
    </a:neCell>
    <a:nwCell>
      <a:tcTxStyle b="off" i="off"/>
    </a:nwCell>
  </a:tblStyle>
  <a:tblStyle styleId="{63A7DF9A-704E-4A4E-BD0A-183781F1E98E}" styleName="Table_1">
    <a:wholeTbl>
      <a:tcTxStyle b="off" i="off">
        <a:font>
          <a:latin typeface="Calibri"/>
          <a:ea typeface="Calibri"/>
          <a:cs typeface="Calibri"/>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12700">
              <a:solidFill>
                <a:schemeClr val="accent2"/>
              </a:solidFill>
              <a:prstDash val="solid"/>
              <a:round/>
              <a:headEnd len="sm" w="sm" type="none"/>
              <a:tailEnd len="sm" w="sm" type="none"/>
            </a:ln>
          </a:insideV>
        </a:tcBdr>
        <a:fill>
          <a:solidFill>
            <a:srgbClr val="F4E8E8"/>
          </a:solidFill>
        </a:fill>
      </a:tcStyle>
    </a:wholeTbl>
    <a:band1H>
      <a:tcTxStyle b="off" i="off"/>
      <a:tcStyle>
        <a:fill>
          <a:solidFill>
            <a:srgbClr val="E8CFCF"/>
          </a:solidFill>
        </a:fill>
      </a:tcStyle>
    </a:band1H>
    <a:band2H>
      <a:tcTxStyle b="off" i="off"/>
    </a:band2H>
    <a:band1V>
      <a:tcTxStyle b="off" i="off"/>
      <a:tcStyle>
        <a:fill>
          <a:solidFill>
            <a:srgbClr val="E8CFCF"/>
          </a:solidFill>
        </a:fill>
      </a:tcStyle>
    </a:band1V>
    <a:band2V>
      <a:tcTxStyle b="off" i="off"/>
    </a:band2V>
    <a:lastCol>
      <a:tcTxStyle b="on" i="off"/>
    </a:lastCol>
    <a:firstCol>
      <a:tcTxStyle b="on" i="off"/>
    </a:firstCol>
    <a:lastRow>
      <a:tcTxStyle b="on" i="off"/>
      <a:tcStyle>
        <a:tcBdr>
          <a:top>
            <a:ln cap="flat" cmpd="sng" w="25400">
              <a:solidFill>
                <a:schemeClr val="accent2"/>
              </a:solidFill>
              <a:prstDash val="solid"/>
              <a:round/>
              <a:headEnd len="sm" w="sm" type="none"/>
              <a:tailEnd len="sm" w="sm" type="none"/>
            </a:ln>
          </a:top>
        </a:tcBdr>
        <a:fill>
          <a:solidFill>
            <a:srgbClr val="F4E8E8"/>
          </a:solidFill>
        </a:fill>
      </a:tcStyle>
    </a:lastRow>
    <a:seCell>
      <a:tcTxStyle b="off" i="off"/>
    </a:seCell>
    <a:swCell>
      <a:tcTxStyle b="off" i="off"/>
    </a:swCell>
    <a:firstRow>
      <a:tcTxStyle b="on" i="off"/>
      <a:tcStyle>
        <a:fill>
          <a:solidFill>
            <a:srgbClr val="F4E8E8"/>
          </a:solidFill>
        </a:fill>
      </a:tcStyle>
    </a:firstRow>
    <a:neCell>
      <a:tcTxStyle b="off" i="off"/>
    </a:neCell>
    <a:nwCell>
      <a:tcTxStyle b="off" i="off"/>
    </a:nwCell>
  </a:tblStyle>
  <a:tblStyle styleId="{3E0D9EF6-88FE-49E6-BAF1-B571CBEF09A6}" styleName="Table_2">
    <a:wholeTbl>
      <a:tcTxStyle b="off" i="off">
        <a:font>
          <a:latin typeface="Calibri"/>
          <a:ea typeface="Calibri"/>
          <a:cs typeface="Calibri"/>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E8F1F5"/>
          </a:solidFill>
        </a:fill>
      </a:tcStyle>
    </a:wholeTbl>
    <a:band1H>
      <a:tcTxStyle b="off" i="off"/>
      <a:tcStyle>
        <a:fill>
          <a:solidFill>
            <a:srgbClr val="CEE2EA"/>
          </a:solidFill>
        </a:fill>
      </a:tcStyle>
    </a:band1H>
    <a:band2H>
      <a:tcTxStyle b="off" i="off"/>
    </a:band2H>
    <a:band1V>
      <a:tcTxStyle b="off" i="off"/>
      <a:tcStyle>
        <a:fill>
          <a:solidFill>
            <a:srgbClr val="CEE2EA"/>
          </a:solidFill>
        </a:fill>
      </a:tcStyle>
    </a:band1V>
    <a:band2V>
      <a:tcTxStyle b="off" i="off"/>
    </a:band2V>
    <a:lastCol>
      <a:tcTxStyle b="on" i="off"/>
    </a:lastCol>
    <a:firstCol>
      <a:tcTxStyle b="on" i="off"/>
    </a:firstCol>
    <a:lastRow>
      <a:tcTxStyle b="on" i="off"/>
      <a:tcStyle>
        <a:tcBdr>
          <a:top>
            <a:ln cap="flat" cmpd="sng" w="25400">
              <a:solidFill>
                <a:schemeClr val="accent5"/>
              </a:solidFill>
              <a:prstDash val="solid"/>
              <a:round/>
              <a:headEnd len="sm" w="sm" type="none"/>
              <a:tailEnd len="sm" w="sm" type="none"/>
            </a:ln>
          </a:top>
        </a:tcBdr>
        <a:fill>
          <a:solidFill>
            <a:srgbClr val="E8F1F5"/>
          </a:solidFill>
        </a:fill>
      </a:tcStyle>
    </a:lastRow>
    <a:seCell>
      <a:tcTxStyle b="off" i="off"/>
    </a:seCell>
    <a:swCell>
      <a:tcTxStyle b="off" i="off"/>
    </a:swCell>
    <a:firstRow>
      <a:tcTxStyle b="on" i="off"/>
      <a:tcStyle>
        <a:fill>
          <a:solidFill>
            <a:srgbClr val="E8F1F5"/>
          </a:solidFill>
        </a:fill>
      </a:tcStyle>
    </a:firstRow>
    <a:neCell>
      <a:tcTxStyle b="off" i="off"/>
    </a:neCell>
    <a:nwCell>
      <a:tcTxStyle b="off" i="off"/>
    </a:nwCell>
  </a:tblStyle>
  <a:tblStyle styleId="{A57087F9-4250-4EDC-A8BF-423FF0896F0B}" styleName="Table_3">
    <a:wholeTbl>
      <a:tcTxStyle b="off" i="off">
        <a:font>
          <a:latin typeface="Calibri"/>
          <a:ea typeface="Calibri"/>
          <a:cs typeface="Calibri"/>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b="off" i="off"/>
      <a:tcStyle>
        <a:fill>
          <a:solidFill>
            <a:srgbClr val="E8F1F5"/>
          </a:solidFill>
        </a:fill>
      </a:tcStyle>
    </a:band1H>
    <a:band2H>
      <a:tcTxStyle b="off" i="off"/>
    </a:band2H>
    <a:band1V>
      <a:tcTxStyle b="off" i="off"/>
      <a:tcStyle>
        <a:fill>
          <a:solidFill>
            <a:srgbClr val="E8F1F5"/>
          </a:solidFill>
        </a:fill>
      </a:tcStyle>
    </a:band1V>
    <a:band2V>
      <a:tcTxStyle b="off" i="off"/>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chemeClr val="lt1"/>
          </a:solidFill>
        </a:fill>
      </a:tcStyle>
    </a:lastRow>
    <a:seCell>
      <a:tcTxStyle b="off" i="off"/>
    </a:seCell>
    <a:swCell>
      <a:tcTxStyle b="off" i="off"/>
    </a:swCell>
    <a:firstRow>
      <a:tcTxStyle b="on" i="off">
        <a:font>
          <a:latin typeface="Calibri"/>
          <a:ea typeface="Calibri"/>
          <a:cs typeface="Calibri"/>
        </a:font>
        <a:schemeClr val="lt1"/>
      </a:tcTxStyle>
      <a:tcStyle>
        <a:fill>
          <a:solidFill>
            <a:schemeClr val="accent5"/>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88"/>
        <p:guide pos="2344" orient="horz"/>
        <p:guide pos="303" orient="horz"/>
        <p:guide pos="575" orient="horz"/>
        <p:guide pos="3274" orient="horz"/>
        <p:guide pos="1324" orient="horz"/>
        <p:guide pos="295"/>
        <p:guide pos="1913" orient="horz"/>
        <p:guide pos="3039"/>
        <p:guide pos="2721"/>
        <p:guide pos="2880"/>
        <p:guide pos="204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ArialNarrow-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rialNarrow-italic.fntdata"/><Relationship Id="rId47" Type="http://schemas.openxmlformats.org/officeDocument/2006/relationships/font" Target="fonts/ArialNarrow-bold.fntdata"/><Relationship Id="rId49" Type="http://schemas.openxmlformats.org/officeDocument/2006/relationships/font" Target="fonts/ArialNarrow-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g2b3932c9162_0_0:notes"/>
          <p:cNvSpPr/>
          <p:nvPr>
            <p:ph idx="2" type="sldImg"/>
          </p:nvPr>
        </p:nvSpPr>
        <p:spPr>
          <a:xfrm>
            <a:off x="725520" y="1143550"/>
            <a:ext cx="54072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g2b3932c9162_0_0:notes"/>
          <p:cNvSpPr txBox="1"/>
          <p:nvPr>
            <p:ph idx="1" type="body"/>
          </p:nvPr>
        </p:nvSpPr>
        <p:spPr>
          <a:xfrm>
            <a:off x="685801" y="4400555"/>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20" name="Google Shape;20;g2b3932c9162_0_0:notes"/>
          <p:cNvSpPr txBox="1"/>
          <p:nvPr>
            <p:ph idx="12" type="sldNum"/>
          </p:nvPr>
        </p:nvSpPr>
        <p:spPr>
          <a:xfrm>
            <a:off x="3884613" y="8685225"/>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P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 name="Google Shape;31;p2: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 name="Google Shape;44;p4: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5: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6: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7: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8: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p9: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10: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1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12: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1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14: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p15: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p16: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p17: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8: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p19: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20: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8" name="Google Shape;638;p2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p22: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7" name="Google Shape;697;p2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0: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733" name="Google Shape;73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P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3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32: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3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34: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35: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36: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37: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p38: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7" name="Google Shape;877;p39: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 name="Google Shape;916;p40: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 name="Google Shape;923;p4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42: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4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4: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7" name="Google Shape;1097;p25: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26"/>
          <p:cNvGrpSpPr/>
          <p:nvPr/>
        </p:nvGrpSpPr>
        <p:grpSpPr>
          <a:xfrm>
            <a:off x="944054" y="5343295"/>
            <a:ext cx="7804380" cy="215444"/>
            <a:chOff x="944054" y="5343295"/>
            <a:chExt cx="7804380" cy="215444"/>
          </a:xfrm>
        </p:grpSpPr>
        <p:sp>
          <p:nvSpPr>
            <p:cNvPr id="11" name="Google Shape;11;p26"/>
            <p:cNvSpPr txBox="1"/>
            <p:nvPr/>
          </p:nvSpPr>
          <p:spPr>
            <a:xfrm>
              <a:off x="944054" y="5343295"/>
              <a:ext cx="2173993"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PE" sz="800" u="none" cap="none" strike="noStrike">
                  <a:solidFill>
                    <a:srgbClr val="7F7F7F"/>
                  </a:solidFill>
                  <a:latin typeface="Calibri"/>
                  <a:ea typeface="Calibri"/>
                  <a:cs typeface="Calibri"/>
                  <a:sym typeface="Calibri"/>
                </a:rPr>
                <a:t>ANÁLISIS Y DISEÑO DE SISTEMAS II  •  SESIÓN 03</a:t>
              </a:r>
              <a:endParaRPr b="0" i="0" sz="800" u="none" cap="none" strike="noStrike">
                <a:solidFill>
                  <a:srgbClr val="7F7F7F"/>
                </a:solidFill>
                <a:latin typeface="Calibri"/>
                <a:ea typeface="Calibri"/>
                <a:cs typeface="Calibri"/>
                <a:sym typeface="Calibri"/>
              </a:endParaRPr>
            </a:p>
          </p:txBody>
        </p:sp>
        <p:sp>
          <p:nvSpPr>
            <p:cNvPr id="12" name="Google Shape;12;p26"/>
            <p:cNvSpPr/>
            <p:nvPr/>
          </p:nvSpPr>
          <p:spPr>
            <a:xfrm>
              <a:off x="7204422" y="5371562"/>
              <a:ext cx="1544012"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PE" sz="600" u="none" cap="none" strike="noStrike">
                  <a:solidFill>
                    <a:srgbClr val="7F7F7F"/>
                  </a:solidFill>
                  <a:latin typeface="Calibri"/>
                  <a:ea typeface="Calibri"/>
                  <a:cs typeface="Calibri"/>
                  <a:sym typeface="Calibri"/>
                </a:rPr>
                <a:t>© 2020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26"/>
          <p:cNvPicPr preferRelativeResize="0"/>
          <p:nvPr/>
        </p:nvPicPr>
        <p:blipFill rotWithShape="1">
          <a:blip r:embed="rId1">
            <a:alphaModFix amt="20000"/>
          </a:blip>
          <a:srcRect b="0" l="0" r="0" t="0"/>
          <a:stretch/>
        </p:blipFill>
        <p:spPr>
          <a:xfrm>
            <a:off x="495300" y="5322472"/>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www.omg.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g2b3932c9162_0_0"/>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3" name="Google Shape;23;g2b3932c9162_0_0"/>
          <p:cNvSpPr txBox="1"/>
          <p:nvPr/>
        </p:nvSpPr>
        <p:spPr>
          <a:xfrm>
            <a:off x="2088505" y="1653293"/>
            <a:ext cx="87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PE"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24" name="Google Shape;24;g2b3932c9162_0_0"/>
          <p:cNvSpPr txBox="1"/>
          <p:nvPr/>
        </p:nvSpPr>
        <p:spPr>
          <a:xfrm>
            <a:off x="2051281" y="1730819"/>
            <a:ext cx="964200" cy="98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PE" sz="5800" u="none" cap="none" strike="noStrike">
                <a:solidFill>
                  <a:srgbClr val="FFFFFF"/>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25" name="Google Shape;25;g2b3932c9162_0_0"/>
          <p:cNvSpPr txBox="1"/>
          <p:nvPr/>
        </p:nvSpPr>
        <p:spPr>
          <a:xfrm>
            <a:off x="3175138" y="1729721"/>
            <a:ext cx="5422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lang="es-PE" sz="3600">
                <a:solidFill>
                  <a:schemeClr val="lt1"/>
                </a:solidFill>
                <a:latin typeface="Calibri"/>
                <a:ea typeface="Calibri"/>
                <a:cs typeface="Calibri"/>
                <a:sym typeface="Calibri"/>
              </a:rPr>
              <a:t>MODELAMIENTO DE DATOS</a:t>
            </a:r>
            <a:endParaRPr b="1" i="0" sz="3600" u="none" cap="none" strike="noStrike">
              <a:solidFill>
                <a:schemeClr val="lt1"/>
              </a:solidFill>
              <a:latin typeface="Calibri"/>
              <a:ea typeface="Calibri"/>
              <a:cs typeface="Calibri"/>
              <a:sym typeface="Calibri"/>
            </a:endParaRPr>
          </a:p>
        </p:txBody>
      </p:sp>
      <p:sp>
        <p:nvSpPr>
          <p:cNvPr id="26" name="Google Shape;26;g2b3932c9162_0_0"/>
          <p:cNvSpPr txBox="1"/>
          <p:nvPr/>
        </p:nvSpPr>
        <p:spPr>
          <a:xfrm>
            <a:off x="3175138" y="2996279"/>
            <a:ext cx="5026500" cy="831000"/>
          </a:xfrm>
          <a:prstGeom prst="rect">
            <a:avLst/>
          </a:prstGeom>
          <a:noFill/>
          <a:ln>
            <a:noFill/>
          </a:ln>
        </p:spPr>
        <p:txBody>
          <a:bodyPr anchorCtr="0" anchor="t" bIns="45700" lIns="91425" spcFirstLastPara="1" rIns="91425" wrap="square" tIns="45700">
            <a:spAutoFit/>
          </a:bodyPr>
          <a:lstStyle/>
          <a:p>
            <a:pPr indent="-330200" lvl="0" marL="457200" rtl="0" algn="l">
              <a:spcBef>
                <a:spcPts val="0"/>
              </a:spcBef>
              <a:spcAft>
                <a:spcPts val="0"/>
              </a:spcAft>
              <a:buClr>
                <a:schemeClr val="lt1"/>
              </a:buClr>
              <a:buSzPts val="1600"/>
              <a:buChar char="•"/>
            </a:pPr>
            <a:r>
              <a:rPr lang="es-PE" sz="1600">
                <a:solidFill>
                  <a:schemeClr val="lt1"/>
                </a:solidFill>
                <a:latin typeface="Calibri"/>
                <a:ea typeface="Calibri"/>
                <a:cs typeface="Calibri"/>
                <a:sym typeface="Calibri"/>
              </a:rPr>
              <a:t>El modelo conceptual de datos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Char char="•"/>
            </a:pPr>
            <a:r>
              <a:rPr lang="es-PE" sz="1600">
                <a:solidFill>
                  <a:schemeClr val="lt1"/>
                </a:solidFill>
                <a:latin typeface="Calibri"/>
                <a:ea typeface="Calibri"/>
                <a:cs typeface="Calibri"/>
                <a:sym typeface="Calibri"/>
              </a:rPr>
              <a:t>El modelo lógico de datos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Char char="•"/>
            </a:pPr>
            <a:r>
              <a:rPr lang="es-PE" sz="1600">
                <a:solidFill>
                  <a:schemeClr val="lt1"/>
                </a:solidFill>
                <a:latin typeface="Calibri"/>
                <a:ea typeface="Calibri"/>
                <a:cs typeface="Calibri"/>
                <a:sym typeface="Calibri"/>
              </a:rPr>
              <a:t>Modelo físico de datos</a:t>
            </a:r>
            <a:endParaRPr b="1" i="0" sz="1800" u="none" cap="none" strike="noStrike">
              <a:solidFill>
                <a:schemeClr val="dk1"/>
              </a:solidFill>
              <a:latin typeface="Calibri"/>
              <a:ea typeface="Calibri"/>
              <a:cs typeface="Calibri"/>
              <a:sym typeface="Calibri"/>
            </a:endParaRPr>
          </a:p>
        </p:txBody>
      </p:sp>
      <p:cxnSp>
        <p:nvCxnSpPr>
          <p:cNvPr id="27" name="Google Shape;27;g2b3932c9162_0_0"/>
          <p:cNvCxnSpPr/>
          <p:nvPr/>
        </p:nvCxnSpPr>
        <p:spPr>
          <a:xfrm>
            <a:off x="3056456" y="1777107"/>
            <a:ext cx="0" cy="720000"/>
          </a:xfrm>
          <a:prstGeom prst="straightConnector1">
            <a:avLst/>
          </a:prstGeom>
          <a:noFill/>
          <a:ln cap="flat" cmpd="sng" w="25400">
            <a:solidFill>
              <a:srgbClr val="FFFFFF"/>
            </a:solidFill>
            <a:prstDash val="solid"/>
            <a:round/>
            <a:headEnd len="sm" w="sm" type="none"/>
            <a:tailEnd len="sm" w="sm" type="none"/>
          </a:ln>
        </p:spPr>
      </p:cxnSp>
      <p:sp>
        <p:nvSpPr>
          <p:cNvPr id="28" name="Google Shape;28;g2b3932c9162_0_0"/>
          <p:cNvSpPr/>
          <p:nvPr/>
        </p:nvSpPr>
        <p:spPr>
          <a:xfrm>
            <a:off x="3289191" y="2568993"/>
            <a:ext cx="3672000" cy="193800"/>
          </a:xfrm>
          <a:prstGeom prst="rect">
            <a:avLst/>
          </a:prstGeom>
          <a:solidFill>
            <a:schemeClr val="lt1"/>
          </a:solid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F85A6"/>
              </a:buClr>
              <a:buSzPts val="1400"/>
              <a:buFont typeface="Calibri"/>
              <a:buNone/>
            </a:pPr>
            <a:r>
              <a:rPr b="1" i="0" lang="es-PE" sz="1400" u="none" cap="none" strike="noStrike">
                <a:solidFill>
                  <a:srgbClr val="1F85A6"/>
                </a:solidFill>
                <a:latin typeface="Calibri"/>
                <a:ea typeface="Calibri"/>
                <a:cs typeface="Calibri"/>
                <a:sym typeface="Calibri"/>
              </a:rPr>
              <a:t>UNIDAD DE APRENDIZAJE 1 – UA1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p:nvPr/>
        </p:nvSpPr>
        <p:spPr>
          <a:xfrm>
            <a:off x="468314" y="304800"/>
            <a:ext cx="8067420"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INTRODUCCIÓN</a:t>
            </a:r>
            <a:endParaRPr b="0" i="0" sz="1800" u="none" cap="none" strike="noStrike">
              <a:solidFill>
                <a:srgbClr val="000000"/>
              </a:solidFill>
              <a:latin typeface="Arial"/>
              <a:ea typeface="Arial"/>
              <a:cs typeface="Arial"/>
              <a:sym typeface="Arial"/>
            </a:endParaRPr>
          </a:p>
        </p:txBody>
      </p:sp>
      <p:sp>
        <p:nvSpPr>
          <p:cNvPr id="34" name="Google Shape;34;p2"/>
          <p:cNvSpPr/>
          <p:nvPr/>
        </p:nvSpPr>
        <p:spPr>
          <a:xfrm>
            <a:off x="468312" y="912813"/>
            <a:ext cx="8009261" cy="372409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185738" lvl="0" marL="185738"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En esta sesión </a:t>
            </a:r>
            <a:r>
              <a:rPr b="1" i="0" lang="es-PE" sz="1600" u="none" cap="none" strike="noStrike">
                <a:solidFill>
                  <a:schemeClr val="dk1"/>
                </a:solidFill>
                <a:latin typeface="Calibri"/>
                <a:ea typeface="Calibri"/>
                <a:cs typeface="Calibri"/>
                <a:sym typeface="Calibri"/>
              </a:rPr>
              <a:t>aprenderás </a:t>
            </a:r>
            <a:r>
              <a:rPr b="0" i="0" lang="es-PE" sz="1600" u="none" cap="none" strike="noStrike">
                <a:solidFill>
                  <a:schemeClr val="dk1"/>
                </a:solidFill>
                <a:latin typeface="Calibri"/>
                <a:ea typeface="Calibri"/>
                <a:cs typeface="Calibri"/>
                <a:sym typeface="Calibri"/>
              </a:rPr>
              <a:t>sobre el modelo de datos: conceptual, lógico y físico.</a:t>
            </a:r>
            <a:endParaRPr/>
          </a:p>
          <a:p>
            <a:pPr indent="-84138" lvl="0" marL="185738"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85738" lvl="0" marL="185738" marR="0" rtl="0" algn="just">
              <a:lnSpc>
                <a:spcPct val="100000"/>
              </a:lnSpc>
              <a:spcBef>
                <a:spcPts val="0"/>
              </a:spcBef>
              <a:spcAft>
                <a:spcPts val="0"/>
              </a:spcAft>
              <a:buClr>
                <a:schemeClr val="dk1"/>
              </a:buClr>
              <a:buSzPts val="1600"/>
              <a:buFont typeface="Arial"/>
              <a:buChar char="•"/>
            </a:pPr>
            <a:r>
              <a:rPr b="1" i="0" lang="es-PE" sz="1600" u="none" cap="none" strike="noStrike">
                <a:solidFill>
                  <a:schemeClr val="dk1"/>
                </a:solidFill>
                <a:latin typeface="Calibri"/>
                <a:ea typeface="Calibri"/>
                <a:cs typeface="Calibri"/>
                <a:sym typeface="Calibri"/>
              </a:rPr>
              <a:t>Conocerás</a:t>
            </a:r>
            <a:r>
              <a:rPr b="0" i="0" lang="es-PE" sz="1600" u="none" cap="none" strike="noStrike">
                <a:solidFill>
                  <a:schemeClr val="dk1"/>
                </a:solidFill>
                <a:latin typeface="Calibri"/>
                <a:ea typeface="Calibri"/>
                <a:cs typeface="Calibri"/>
                <a:sym typeface="Calibri"/>
              </a:rPr>
              <a:t> sobre el modelo de datos lógicos, que constituye una representación abstracta de una posible implementación. Del mismo modo, tendrás un acercamiento sobre el modelo conceptual de datos, que es una representación con más alto nivel, con una serie de requisitos y conjuntos y relaciones de datos conectados.</a:t>
            </a:r>
            <a:endParaRPr/>
          </a:p>
          <a:p>
            <a:pPr indent="-84138" lvl="0" marL="185738"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85738" lvl="0" marL="185738" marR="0" rtl="0" algn="just">
              <a:lnSpc>
                <a:spcPct val="100000"/>
              </a:lnSpc>
              <a:spcBef>
                <a:spcPts val="0"/>
              </a:spcBef>
              <a:spcAft>
                <a:spcPts val="0"/>
              </a:spcAft>
              <a:buClr>
                <a:schemeClr val="dk1"/>
              </a:buClr>
              <a:buSzPts val="1600"/>
              <a:buFont typeface="Arial"/>
              <a:buChar char="•"/>
            </a:pPr>
            <a:r>
              <a:rPr b="1" i="0" lang="es-PE" sz="1600" u="none" cap="none" strike="noStrike">
                <a:solidFill>
                  <a:schemeClr val="dk1"/>
                </a:solidFill>
                <a:latin typeface="Calibri"/>
                <a:ea typeface="Calibri"/>
                <a:cs typeface="Calibri"/>
                <a:sym typeface="Calibri"/>
              </a:rPr>
              <a:t>Aprenderás </a:t>
            </a:r>
            <a:r>
              <a:rPr b="0" i="0" lang="es-PE" sz="1600" u="none" cap="none" strike="noStrike">
                <a:solidFill>
                  <a:schemeClr val="dk1"/>
                </a:solidFill>
                <a:latin typeface="Calibri"/>
                <a:ea typeface="Calibri"/>
                <a:cs typeface="Calibri"/>
                <a:sym typeface="Calibri"/>
              </a:rPr>
              <a:t>sobre el modelo físico de datos, cuyo </a:t>
            </a:r>
            <a:r>
              <a:rPr b="0" i="0" lang="es-PE" sz="1600" u="none" cap="none" strike="noStrike">
                <a:solidFill>
                  <a:srgbClr val="000000"/>
                </a:solidFill>
                <a:latin typeface="Calibri"/>
                <a:ea typeface="Calibri"/>
                <a:cs typeface="Calibri"/>
                <a:sym typeface="Calibri"/>
              </a:rPr>
              <a:t>modelo es la representación de la vista física de los datos y es dependiente del tipo de Base de Datos.</a:t>
            </a:r>
            <a:endParaRPr/>
          </a:p>
          <a:p>
            <a:pPr indent="0" lvl="0" marL="0" marR="0" rtl="0" algn="just">
              <a:lnSpc>
                <a:spcPct val="100000"/>
              </a:lnSpc>
              <a:spcBef>
                <a:spcPts val="0"/>
              </a:spcBef>
              <a:spcAft>
                <a:spcPts val="0"/>
              </a:spcAft>
              <a:buNone/>
            </a:pPr>
            <a:r>
              <a:t/>
            </a:r>
            <a:endParaRPr b="0" i="0" sz="1600" u="none" cap="none" strike="noStrike">
              <a:solidFill>
                <a:srgbClr val="000000"/>
              </a:solidFill>
              <a:latin typeface="Calibri"/>
              <a:ea typeface="Calibri"/>
              <a:cs typeface="Calibri"/>
              <a:sym typeface="Calibri"/>
            </a:endParaRPr>
          </a:p>
          <a:p>
            <a:pPr indent="-182563" lvl="0" marL="182563"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Las consideraciones físicas pueden hacer que el modelo de datos físicos sea bastante diferente del modelo de datos lógicos.</a:t>
            </a:r>
            <a:endParaRPr/>
          </a:p>
          <a:p>
            <a:pPr indent="-96838" lvl="0" marL="185738"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71438" lvl="0" marL="185738"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 name="Google Shape;41;p3"/>
          <p:cNvSpPr/>
          <p:nvPr/>
        </p:nvSpPr>
        <p:spPr>
          <a:xfrm>
            <a:off x="424252" y="3703125"/>
            <a:ext cx="7966170"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Arial"/>
              <a:buNone/>
            </a:pPr>
            <a:r>
              <a:rPr b="1" i="0" lang="es-PE" sz="2800" u="none" cap="none" strike="noStrike">
                <a:solidFill>
                  <a:schemeClr val="lt1"/>
                </a:solidFill>
                <a:latin typeface="Calibri"/>
                <a:ea typeface="Calibri"/>
                <a:cs typeface="Calibri"/>
                <a:sym typeface="Calibri"/>
              </a:rPr>
              <a:t>/ EL MODELO CONCEPTUAL DE DATOS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4"/>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
        <p:nvSpPr>
          <p:cNvPr id="47" name="Google Shape;47;p4"/>
          <p:cNvSpPr/>
          <p:nvPr/>
        </p:nvSpPr>
        <p:spPr>
          <a:xfrm>
            <a:off x="4824414" y="2790667"/>
            <a:ext cx="3851274" cy="61555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s-PE" sz="2000" u="none" cap="none" strike="noStrike">
                <a:solidFill>
                  <a:schemeClr val="dk1"/>
                </a:solidFill>
                <a:latin typeface="Calibri"/>
                <a:ea typeface="Calibri"/>
                <a:cs typeface="Calibri"/>
                <a:sym typeface="Calibri"/>
              </a:rPr>
              <a:t>¿QUÉ ACTIVIDAD</a:t>
            </a:r>
            <a:endParaRPr/>
          </a:p>
          <a:p>
            <a:pPr indent="0" lvl="0" marL="0" marR="0" rtl="0" algn="ctr">
              <a:lnSpc>
                <a:spcPct val="100000"/>
              </a:lnSpc>
              <a:spcBef>
                <a:spcPts val="0"/>
              </a:spcBef>
              <a:spcAft>
                <a:spcPts val="0"/>
              </a:spcAft>
              <a:buClr>
                <a:srgbClr val="000000"/>
              </a:buClr>
              <a:buSzPts val="2000"/>
              <a:buFont typeface="Arial"/>
              <a:buNone/>
            </a:pPr>
            <a:r>
              <a:rPr b="1" i="0" lang="es-PE" sz="2000" u="none" cap="none" strike="noStrike">
                <a:solidFill>
                  <a:schemeClr val="dk1"/>
                </a:solidFill>
                <a:latin typeface="Calibri"/>
                <a:ea typeface="Calibri"/>
                <a:cs typeface="Calibri"/>
                <a:sym typeface="Calibri"/>
              </a:rPr>
              <a:t>DESARROLLAREMOS?</a:t>
            </a:r>
            <a:endParaRPr b="1" i="0" sz="2000" u="none" cap="none" strike="noStrike">
              <a:solidFill>
                <a:schemeClr val="dk1"/>
              </a:solidFill>
              <a:latin typeface="Calibri"/>
              <a:ea typeface="Calibri"/>
              <a:cs typeface="Calibri"/>
              <a:sym typeface="Calibri"/>
            </a:endParaRPr>
          </a:p>
        </p:txBody>
      </p:sp>
      <p:grpSp>
        <p:nvGrpSpPr>
          <p:cNvPr id="48" name="Google Shape;48;p4"/>
          <p:cNvGrpSpPr/>
          <p:nvPr/>
        </p:nvGrpSpPr>
        <p:grpSpPr>
          <a:xfrm>
            <a:off x="906202" y="912814"/>
            <a:ext cx="3413614" cy="4284662"/>
            <a:chOff x="2696458" y="864913"/>
            <a:chExt cx="3480572" cy="4368705"/>
          </a:xfrm>
        </p:grpSpPr>
        <p:sp>
          <p:nvSpPr>
            <p:cNvPr id="49" name="Google Shape;49;p4"/>
            <p:cNvSpPr txBox="1"/>
            <p:nvPr/>
          </p:nvSpPr>
          <p:spPr>
            <a:xfrm>
              <a:off x="3098642" y="864913"/>
              <a:ext cx="801363" cy="46166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[early Elaboration Iteration]</a:t>
              </a:r>
              <a:endParaRPr b="0" i="0" sz="1000" u="none" cap="none" strike="noStrike">
                <a:solidFill>
                  <a:schemeClr val="dk1"/>
                </a:solidFill>
                <a:latin typeface="Calibri"/>
                <a:ea typeface="Calibri"/>
                <a:cs typeface="Calibri"/>
                <a:sym typeface="Calibri"/>
              </a:endParaRPr>
            </a:p>
          </p:txBody>
        </p:sp>
        <p:sp>
          <p:nvSpPr>
            <p:cNvPr id="50" name="Google Shape;50;p4"/>
            <p:cNvSpPr txBox="1"/>
            <p:nvPr/>
          </p:nvSpPr>
          <p:spPr>
            <a:xfrm>
              <a:off x="4709661" y="1018801"/>
              <a:ext cx="106865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[Inception Iteration (Optional) ]</a:t>
              </a:r>
              <a:endParaRPr b="0" i="0" sz="1000" u="none" cap="none" strike="noStrike">
                <a:solidFill>
                  <a:schemeClr val="dk1"/>
                </a:solidFill>
                <a:latin typeface="Calibri"/>
                <a:ea typeface="Calibri"/>
                <a:cs typeface="Calibri"/>
                <a:sym typeface="Calibri"/>
              </a:endParaRPr>
            </a:p>
          </p:txBody>
        </p:sp>
        <p:sp>
          <p:nvSpPr>
            <p:cNvPr id="51" name="Google Shape;51;p4"/>
            <p:cNvSpPr txBox="1"/>
            <p:nvPr/>
          </p:nvSpPr>
          <p:spPr>
            <a:xfrm>
              <a:off x="2926881" y="1720938"/>
              <a:ext cx="1144884"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Define a Candidate Architecture</a:t>
              </a:r>
              <a:endParaRPr b="0" i="0" sz="1000" u="none" cap="none" strike="noStrike">
                <a:solidFill>
                  <a:schemeClr val="dk1"/>
                </a:solidFill>
                <a:latin typeface="Calibri"/>
                <a:ea typeface="Calibri"/>
                <a:cs typeface="Calibri"/>
                <a:sym typeface="Calibri"/>
              </a:endParaRPr>
            </a:p>
          </p:txBody>
        </p:sp>
        <p:sp>
          <p:nvSpPr>
            <p:cNvPr id="52" name="Google Shape;52;p4"/>
            <p:cNvSpPr txBox="1"/>
            <p:nvPr/>
          </p:nvSpPr>
          <p:spPr>
            <a:xfrm>
              <a:off x="4677894" y="1720938"/>
              <a:ext cx="1144800" cy="313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Perform Architectural Synthesis</a:t>
              </a:r>
              <a:endParaRPr b="0" i="0" sz="1000" u="none" cap="none" strike="noStrike">
                <a:solidFill>
                  <a:schemeClr val="dk1"/>
                </a:solidFill>
                <a:latin typeface="Calibri"/>
                <a:ea typeface="Calibri"/>
                <a:cs typeface="Calibri"/>
                <a:sym typeface="Calibri"/>
              </a:endParaRPr>
            </a:p>
          </p:txBody>
        </p:sp>
        <p:grpSp>
          <p:nvGrpSpPr>
            <p:cNvPr id="53" name="Google Shape;53;p4"/>
            <p:cNvGrpSpPr/>
            <p:nvPr/>
          </p:nvGrpSpPr>
          <p:grpSpPr>
            <a:xfrm>
              <a:off x="4603443" y="2578358"/>
              <a:ext cx="430745" cy="308403"/>
              <a:chOff x="668215" y="3001108"/>
              <a:chExt cx="990600" cy="709246"/>
            </a:xfrm>
          </p:grpSpPr>
          <p:sp>
            <p:nvSpPr>
              <p:cNvPr id="54" name="Google Shape;54;p4"/>
              <p:cNvSpPr/>
              <p:nvPr/>
            </p:nvSpPr>
            <p:spPr>
              <a:xfrm>
                <a:off x="668215" y="3001108"/>
                <a:ext cx="990600" cy="709246"/>
              </a:xfrm>
              <a:prstGeom prst="roundRect">
                <a:avLst>
                  <a:gd fmla="val 16667" name="adj"/>
                </a:avLst>
              </a:prstGeom>
              <a:solidFill>
                <a:srgbClr val="99C6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 name="Google Shape;55;p4"/>
              <p:cNvSpPr/>
              <p:nvPr/>
            </p:nvSpPr>
            <p:spPr>
              <a:xfrm>
                <a:off x="932090" y="3220173"/>
                <a:ext cx="152400" cy="152400"/>
              </a:xfrm>
              <a:prstGeom prst="ellipse">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 name="Google Shape;56;p4"/>
              <p:cNvSpPr/>
              <p:nvPr/>
            </p:nvSpPr>
            <p:spPr>
              <a:xfrm>
                <a:off x="875603" y="3396706"/>
                <a:ext cx="197164" cy="181708"/>
              </a:xfrm>
              <a:prstGeom prst="parallelogram">
                <a:avLst>
                  <a:gd fmla="val 25000" name="adj"/>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 name="Google Shape;57;p4"/>
              <p:cNvSpPr/>
              <p:nvPr/>
            </p:nvSpPr>
            <p:spPr>
              <a:xfrm>
                <a:off x="1022995" y="3140290"/>
                <a:ext cx="356060" cy="356060"/>
              </a:xfrm>
              <a:prstGeom prst="snipRoundRect">
                <a:avLst>
                  <a:gd fmla="val 16667" name="adj1"/>
                  <a:gd fmla="val 16667" name="adj2"/>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 name="Google Shape;58;p4"/>
              <p:cNvSpPr/>
              <p:nvPr/>
            </p:nvSpPr>
            <p:spPr>
              <a:xfrm>
                <a:off x="1095516" y="3361537"/>
                <a:ext cx="445075" cy="216877"/>
              </a:xfrm>
              <a:prstGeom prst="homePlate">
                <a:avLst>
                  <a:gd fmla="val 50000" name="adj"/>
                </a:avLst>
              </a:prstGeom>
              <a:solidFill>
                <a:srgbClr val="F2D0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9" name="Google Shape;59;p4"/>
            <p:cNvSpPr txBox="1"/>
            <p:nvPr/>
          </p:nvSpPr>
          <p:spPr>
            <a:xfrm>
              <a:off x="4246373" y="2883664"/>
              <a:ext cx="1144884"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Analyze Behavior</a:t>
              </a:r>
              <a:endParaRPr b="0" i="0" sz="1000" u="none" cap="none" strike="noStrike">
                <a:solidFill>
                  <a:schemeClr val="dk1"/>
                </a:solidFill>
                <a:latin typeface="Calibri"/>
                <a:ea typeface="Calibri"/>
                <a:cs typeface="Calibri"/>
                <a:sym typeface="Calibri"/>
              </a:endParaRPr>
            </a:p>
          </p:txBody>
        </p:sp>
        <p:grpSp>
          <p:nvGrpSpPr>
            <p:cNvPr id="60" name="Google Shape;60;p4"/>
            <p:cNvGrpSpPr/>
            <p:nvPr/>
          </p:nvGrpSpPr>
          <p:grpSpPr>
            <a:xfrm>
              <a:off x="2914009" y="2979223"/>
              <a:ext cx="430745" cy="308403"/>
              <a:chOff x="668215" y="3001108"/>
              <a:chExt cx="990600" cy="709246"/>
            </a:xfrm>
          </p:grpSpPr>
          <p:sp>
            <p:nvSpPr>
              <p:cNvPr id="61" name="Google Shape;61;p4"/>
              <p:cNvSpPr/>
              <p:nvPr/>
            </p:nvSpPr>
            <p:spPr>
              <a:xfrm>
                <a:off x="668215" y="3001108"/>
                <a:ext cx="990600" cy="709246"/>
              </a:xfrm>
              <a:prstGeom prst="roundRect">
                <a:avLst>
                  <a:gd fmla="val 16667" name="adj"/>
                </a:avLst>
              </a:prstGeom>
              <a:solidFill>
                <a:srgbClr val="99C6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 name="Google Shape;62;p4"/>
              <p:cNvSpPr/>
              <p:nvPr/>
            </p:nvSpPr>
            <p:spPr>
              <a:xfrm>
                <a:off x="932090" y="3220173"/>
                <a:ext cx="152400" cy="152400"/>
              </a:xfrm>
              <a:prstGeom prst="ellipse">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 name="Google Shape;63;p4"/>
              <p:cNvSpPr/>
              <p:nvPr/>
            </p:nvSpPr>
            <p:spPr>
              <a:xfrm>
                <a:off x="875603" y="3396706"/>
                <a:ext cx="197164" cy="181708"/>
              </a:xfrm>
              <a:prstGeom prst="parallelogram">
                <a:avLst>
                  <a:gd fmla="val 25000" name="adj"/>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 name="Google Shape;64;p4"/>
              <p:cNvSpPr/>
              <p:nvPr/>
            </p:nvSpPr>
            <p:spPr>
              <a:xfrm>
                <a:off x="1022995" y="3140290"/>
                <a:ext cx="356060" cy="356060"/>
              </a:xfrm>
              <a:prstGeom prst="snipRoundRect">
                <a:avLst>
                  <a:gd fmla="val 16667" name="adj1"/>
                  <a:gd fmla="val 16667" name="adj2"/>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 name="Google Shape;65;p4"/>
              <p:cNvSpPr/>
              <p:nvPr/>
            </p:nvSpPr>
            <p:spPr>
              <a:xfrm>
                <a:off x="1095516" y="3361537"/>
                <a:ext cx="445075" cy="216877"/>
              </a:xfrm>
              <a:prstGeom prst="homePlate">
                <a:avLst>
                  <a:gd fmla="val 50000" name="adj"/>
                </a:avLst>
              </a:prstGeom>
              <a:solidFill>
                <a:srgbClr val="F2D0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6" name="Google Shape;66;p4"/>
            <p:cNvSpPr txBox="1"/>
            <p:nvPr/>
          </p:nvSpPr>
          <p:spPr>
            <a:xfrm>
              <a:off x="2696458" y="3261298"/>
              <a:ext cx="865800" cy="313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Refine the </a:t>
              </a:r>
              <a:r>
                <a:rPr lang="es-PE" sz="1000">
                  <a:solidFill>
                    <a:schemeClr val="dk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67" name="Google Shape;67;p4"/>
            <p:cNvSpPr txBox="1"/>
            <p:nvPr/>
          </p:nvSpPr>
          <p:spPr>
            <a:xfrm>
              <a:off x="5311184" y="3247523"/>
              <a:ext cx="865846"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[optional]</a:t>
              </a:r>
              <a:endParaRPr b="0" i="0" sz="1000" u="none" cap="none" strike="noStrike">
                <a:solidFill>
                  <a:schemeClr val="dk1"/>
                </a:solidFill>
                <a:latin typeface="Calibri"/>
                <a:ea typeface="Calibri"/>
                <a:cs typeface="Calibri"/>
                <a:sym typeface="Calibri"/>
              </a:endParaRPr>
            </a:p>
          </p:txBody>
        </p:sp>
        <p:grpSp>
          <p:nvGrpSpPr>
            <p:cNvPr id="68" name="Google Shape;68;p4"/>
            <p:cNvGrpSpPr/>
            <p:nvPr/>
          </p:nvGrpSpPr>
          <p:grpSpPr>
            <a:xfrm>
              <a:off x="3880839" y="3605268"/>
              <a:ext cx="430745" cy="308403"/>
              <a:chOff x="668215" y="3001108"/>
              <a:chExt cx="990600" cy="709246"/>
            </a:xfrm>
          </p:grpSpPr>
          <p:sp>
            <p:nvSpPr>
              <p:cNvPr id="69" name="Google Shape;69;p4"/>
              <p:cNvSpPr/>
              <p:nvPr/>
            </p:nvSpPr>
            <p:spPr>
              <a:xfrm>
                <a:off x="668215" y="3001108"/>
                <a:ext cx="990600" cy="709246"/>
              </a:xfrm>
              <a:prstGeom prst="roundRect">
                <a:avLst>
                  <a:gd fmla="val 16667" name="adj"/>
                </a:avLst>
              </a:prstGeom>
              <a:solidFill>
                <a:srgbClr val="99C6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 name="Google Shape;70;p4"/>
              <p:cNvSpPr/>
              <p:nvPr/>
            </p:nvSpPr>
            <p:spPr>
              <a:xfrm>
                <a:off x="932090" y="3220173"/>
                <a:ext cx="152400" cy="152400"/>
              </a:xfrm>
              <a:prstGeom prst="ellipse">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 name="Google Shape;71;p4"/>
              <p:cNvSpPr/>
              <p:nvPr/>
            </p:nvSpPr>
            <p:spPr>
              <a:xfrm>
                <a:off x="875603" y="3396706"/>
                <a:ext cx="197164" cy="181708"/>
              </a:xfrm>
              <a:prstGeom prst="parallelogram">
                <a:avLst>
                  <a:gd fmla="val 25000" name="adj"/>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 name="Google Shape;72;p4"/>
              <p:cNvSpPr/>
              <p:nvPr/>
            </p:nvSpPr>
            <p:spPr>
              <a:xfrm>
                <a:off x="1022995" y="3140290"/>
                <a:ext cx="356060" cy="356060"/>
              </a:xfrm>
              <a:prstGeom prst="snipRoundRect">
                <a:avLst>
                  <a:gd fmla="val 16667" name="adj1"/>
                  <a:gd fmla="val 16667" name="adj2"/>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 name="Google Shape;73;p4"/>
              <p:cNvSpPr/>
              <p:nvPr/>
            </p:nvSpPr>
            <p:spPr>
              <a:xfrm>
                <a:off x="1095516" y="3361537"/>
                <a:ext cx="445075" cy="216877"/>
              </a:xfrm>
              <a:prstGeom prst="homePlate">
                <a:avLst>
                  <a:gd fmla="val 50000" name="adj"/>
                </a:avLst>
              </a:prstGeom>
              <a:solidFill>
                <a:srgbClr val="F2D0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74" name="Google Shape;74;p4"/>
            <p:cNvGrpSpPr/>
            <p:nvPr/>
          </p:nvGrpSpPr>
          <p:grpSpPr>
            <a:xfrm>
              <a:off x="5209271" y="3605268"/>
              <a:ext cx="430745" cy="308403"/>
              <a:chOff x="668215" y="3001108"/>
              <a:chExt cx="990600" cy="709246"/>
            </a:xfrm>
          </p:grpSpPr>
          <p:sp>
            <p:nvSpPr>
              <p:cNvPr id="75" name="Google Shape;75;p4"/>
              <p:cNvSpPr/>
              <p:nvPr/>
            </p:nvSpPr>
            <p:spPr>
              <a:xfrm>
                <a:off x="668215" y="3001108"/>
                <a:ext cx="990600" cy="709246"/>
              </a:xfrm>
              <a:prstGeom prst="roundRect">
                <a:avLst>
                  <a:gd fmla="val 16667" name="adj"/>
                </a:avLst>
              </a:prstGeom>
              <a:solidFill>
                <a:srgbClr val="99C6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 name="Google Shape;76;p4"/>
              <p:cNvSpPr/>
              <p:nvPr/>
            </p:nvSpPr>
            <p:spPr>
              <a:xfrm>
                <a:off x="932090" y="3220173"/>
                <a:ext cx="152400" cy="152400"/>
              </a:xfrm>
              <a:prstGeom prst="ellipse">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 name="Google Shape;77;p4"/>
              <p:cNvSpPr/>
              <p:nvPr/>
            </p:nvSpPr>
            <p:spPr>
              <a:xfrm>
                <a:off x="875603" y="3396706"/>
                <a:ext cx="197164" cy="181708"/>
              </a:xfrm>
              <a:prstGeom prst="parallelogram">
                <a:avLst>
                  <a:gd fmla="val 25000" name="adj"/>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 name="Google Shape;78;p4"/>
              <p:cNvSpPr/>
              <p:nvPr/>
            </p:nvSpPr>
            <p:spPr>
              <a:xfrm>
                <a:off x="1022995" y="3140290"/>
                <a:ext cx="356060" cy="356060"/>
              </a:xfrm>
              <a:prstGeom prst="snipRoundRect">
                <a:avLst>
                  <a:gd fmla="val 16667" name="adj1"/>
                  <a:gd fmla="val 16667" name="adj2"/>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 name="Google Shape;79;p4"/>
              <p:cNvSpPr/>
              <p:nvPr/>
            </p:nvSpPr>
            <p:spPr>
              <a:xfrm>
                <a:off x="1095516" y="3361537"/>
                <a:ext cx="445075" cy="216877"/>
              </a:xfrm>
              <a:prstGeom prst="homePlate">
                <a:avLst>
                  <a:gd fmla="val 50000" name="adj"/>
                </a:avLst>
              </a:prstGeom>
              <a:solidFill>
                <a:srgbClr val="F2D0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0" name="Google Shape;80;p4"/>
            <p:cNvSpPr txBox="1"/>
            <p:nvPr/>
          </p:nvSpPr>
          <p:spPr>
            <a:xfrm>
              <a:off x="3663288" y="3930146"/>
              <a:ext cx="865800" cy="313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lang="es-PE" sz="1000">
                  <a:solidFill>
                    <a:schemeClr val="dk1"/>
                  </a:solidFill>
                  <a:latin typeface="Calibri"/>
                  <a:ea typeface="Calibri"/>
                  <a:cs typeface="Calibri"/>
                  <a:sym typeface="Calibri"/>
                </a:rPr>
                <a:t>Design</a:t>
              </a:r>
              <a:r>
                <a:rPr b="0" i="0" lang="es-PE" sz="1000" u="none" cap="none" strike="noStrike">
                  <a:solidFill>
                    <a:schemeClr val="dk1"/>
                  </a:solidFill>
                  <a:latin typeface="Calibri"/>
                  <a:ea typeface="Calibri"/>
                  <a:cs typeface="Calibri"/>
                  <a:sym typeface="Calibri"/>
                </a:rPr>
                <a:t> Components</a:t>
              </a:r>
              <a:endParaRPr b="0" i="0" sz="1000" u="none" cap="none" strike="noStrike">
                <a:solidFill>
                  <a:schemeClr val="dk1"/>
                </a:solidFill>
                <a:latin typeface="Calibri"/>
                <a:ea typeface="Calibri"/>
                <a:cs typeface="Calibri"/>
                <a:sym typeface="Calibri"/>
              </a:endParaRPr>
            </a:p>
          </p:txBody>
        </p:sp>
        <p:sp>
          <p:nvSpPr>
            <p:cNvPr id="81" name="Google Shape;81;p4"/>
            <p:cNvSpPr txBox="1"/>
            <p:nvPr/>
          </p:nvSpPr>
          <p:spPr>
            <a:xfrm>
              <a:off x="4991720" y="3912390"/>
              <a:ext cx="865800" cy="313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lang="es-PE" sz="1000">
                  <a:solidFill>
                    <a:schemeClr val="dk1"/>
                  </a:solidFill>
                  <a:latin typeface="Calibri"/>
                  <a:ea typeface="Calibri"/>
                  <a:cs typeface="Calibri"/>
                  <a:sym typeface="Calibri"/>
                </a:rPr>
                <a:t>Design</a:t>
              </a:r>
              <a:r>
                <a:rPr b="0" i="0" lang="es-PE" sz="1000" u="none" cap="none" strike="noStrike">
                  <a:solidFill>
                    <a:schemeClr val="dk1"/>
                  </a:solidFill>
                  <a:latin typeface="Calibri"/>
                  <a:ea typeface="Calibri"/>
                  <a:cs typeface="Calibri"/>
                  <a:sym typeface="Calibri"/>
                </a:rPr>
                <a:t> the database</a:t>
              </a:r>
              <a:endParaRPr b="0" i="0" sz="1000" u="none" cap="none" strike="noStrike">
                <a:solidFill>
                  <a:schemeClr val="dk1"/>
                </a:solidFill>
                <a:latin typeface="Calibri"/>
                <a:ea typeface="Calibri"/>
                <a:cs typeface="Calibri"/>
                <a:sym typeface="Calibri"/>
              </a:endParaRPr>
            </a:p>
          </p:txBody>
        </p:sp>
        <p:cxnSp>
          <p:nvCxnSpPr>
            <p:cNvPr id="82" name="Google Shape;82;p4"/>
            <p:cNvCxnSpPr/>
            <p:nvPr/>
          </p:nvCxnSpPr>
          <p:spPr>
            <a:xfrm rot="10800000">
              <a:off x="5231044" y="1335992"/>
              <a:ext cx="485" cy="160009"/>
            </a:xfrm>
            <a:prstGeom prst="straightConnector1">
              <a:avLst/>
            </a:prstGeom>
            <a:noFill/>
            <a:ln cap="flat" cmpd="sng" w="28575">
              <a:solidFill>
                <a:schemeClr val="dk1"/>
              </a:solidFill>
              <a:prstDash val="solid"/>
              <a:round/>
              <a:headEnd len="sm" w="sm" type="none"/>
              <a:tailEnd len="sm" w="sm" type="none"/>
            </a:ln>
          </p:spPr>
        </p:cxnSp>
        <p:cxnSp>
          <p:nvCxnSpPr>
            <p:cNvPr id="83" name="Google Shape;83;p4"/>
            <p:cNvCxnSpPr/>
            <p:nvPr/>
          </p:nvCxnSpPr>
          <p:spPr>
            <a:xfrm rot="10800000">
              <a:off x="3508606" y="1335992"/>
              <a:ext cx="485" cy="160009"/>
            </a:xfrm>
            <a:prstGeom prst="straightConnector1">
              <a:avLst/>
            </a:prstGeom>
            <a:noFill/>
            <a:ln cap="flat" cmpd="sng" w="28575">
              <a:solidFill>
                <a:schemeClr val="dk1"/>
              </a:solidFill>
              <a:prstDash val="solid"/>
              <a:round/>
              <a:headEnd len="sm" w="sm" type="none"/>
              <a:tailEnd len="sm" w="sm" type="none"/>
            </a:ln>
          </p:spPr>
        </p:cxnSp>
        <p:cxnSp>
          <p:nvCxnSpPr>
            <p:cNvPr id="84" name="Google Shape;84;p4"/>
            <p:cNvCxnSpPr/>
            <p:nvPr/>
          </p:nvCxnSpPr>
          <p:spPr>
            <a:xfrm rot="10800000">
              <a:off x="3499081" y="1344758"/>
              <a:ext cx="1744906" cy="0"/>
            </a:xfrm>
            <a:prstGeom prst="straightConnector1">
              <a:avLst/>
            </a:prstGeom>
            <a:noFill/>
            <a:ln cap="flat" cmpd="sng" w="28575">
              <a:solidFill>
                <a:schemeClr val="dk1"/>
              </a:solidFill>
              <a:prstDash val="solid"/>
              <a:round/>
              <a:headEnd len="sm" w="sm" type="none"/>
              <a:tailEnd len="sm" w="sm" type="none"/>
            </a:ln>
          </p:spPr>
        </p:cxnSp>
        <p:sp>
          <p:nvSpPr>
            <p:cNvPr id="85" name="Google Shape;85;p4"/>
            <p:cNvSpPr/>
            <p:nvPr/>
          </p:nvSpPr>
          <p:spPr>
            <a:xfrm>
              <a:off x="3976875" y="1259655"/>
              <a:ext cx="439539" cy="179195"/>
            </a:xfrm>
            <a:prstGeom prst="diamond">
              <a:avLst/>
            </a:prstGeom>
            <a:solidFill>
              <a:srgbClr val="E5594B"/>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86" name="Google Shape;86;p4"/>
            <p:cNvCxnSpPr/>
            <p:nvPr/>
          </p:nvCxnSpPr>
          <p:spPr>
            <a:xfrm flipH="1">
              <a:off x="4195989" y="965345"/>
              <a:ext cx="1311" cy="274369"/>
            </a:xfrm>
            <a:prstGeom prst="straightConnector1">
              <a:avLst/>
            </a:prstGeom>
            <a:noFill/>
            <a:ln cap="flat" cmpd="sng" w="28575">
              <a:solidFill>
                <a:schemeClr val="dk1"/>
              </a:solidFill>
              <a:prstDash val="solid"/>
              <a:round/>
              <a:headEnd len="sm" w="sm" type="none"/>
              <a:tailEnd len="med" w="med" type="triangle"/>
            </a:ln>
          </p:spPr>
        </p:cxnSp>
        <p:sp>
          <p:nvSpPr>
            <p:cNvPr id="87" name="Google Shape;87;p4"/>
            <p:cNvSpPr/>
            <p:nvPr/>
          </p:nvSpPr>
          <p:spPr>
            <a:xfrm>
              <a:off x="4118403" y="906540"/>
              <a:ext cx="156482" cy="156482"/>
            </a:xfrm>
            <a:prstGeom prst="ellipse">
              <a:avLst/>
            </a:prstGeom>
            <a:solidFill>
              <a:schemeClr val="dk1"/>
            </a:solidFill>
            <a:ln cap="flat" cmpd="sng" w="25400">
              <a:solidFill>
                <a:srgbClr val="E559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8" name="Google Shape;88;p4"/>
            <p:cNvGrpSpPr/>
            <p:nvPr/>
          </p:nvGrpSpPr>
          <p:grpSpPr>
            <a:xfrm>
              <a:off x="3283951" y="1402687"/>
              <a:ext cx="430745" cy="308403"/>
              <a:chOff x="668215" y="3001108"/>
              <a:chExt cx="990600" cy="709246"/>
            </a:xfrm>
          </p:grpSpPr>
          <p:sp>
            <p:nvSpPr>
              <p:cNvPr id="89" name="Google Shape;89;p4"/>
              <p:cNvSpPr/>
              <p:nvPr/>
            </p:nvSpPr>
            <p:spPr>
              <a:xfrm>
                <a:off x="668215" y="3001108"/>
                <a:ext cx="990600" cy="709246"/>
              </a:xfrm>
              <a:prstGeom prst="roundRect">
                <a:avLst>
                  <a:gd fmla="val 16667" name="adj"/>
                </a:avLst>
              </a:prstGeom>
              <a:solidFill>
                <a:srgbClr val="99C6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 name="Google Shape;90;p4"/>
              <p:cNvSpPr/>
              <p:nvPr/>
            </p:nvSpPr>
            <p:spPr>
              <a:xfrm>
                <a:off x="932090" y="3220173"/>
                <a:ext cx="152400" cy="152400"/>
              </a:xfrm>
              <a:prstGeom prst="ellipse">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4"/>
              <p:cNvSpPr/>
              <p:nvPr/>
            </p:nvSpPr>
            <p:spPr>
              <a:xfrm>
                <a:off x="875603" y="3396706"/>
                <a:ext cx="197164" cy="181708"/>
              </a:xfrm>
              <a:prstGeom prst="parallelogram">
                <a:avLst>
                  <a:gd fmla="val 25000" name="adj"/>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4"/>
              <p:cNvSpPr/>
              <p:nvPr/>
            </p:nvSpPr>
            <p:spPr>
              <a:xfrm>
                <a:off x="1022995" y="3140290"/>
                <a:ext cx="356060" cy="356060"/>
              </a:xfrm>
              <a:prstGeom prst="snipRoundRect">
                <a:avLst>
                  <a:gd fmla="val 16667" name="adj1"/>
                  <a:gd fmla="val 16667" name="adj2"/>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4"/>
              <p:cNvSpPr/>
              <p:nvPr/>
            </p:nvSpPr>
            <p:spPr>
              <a:xfrm>
                <a:off x="1095516" y="3361537"/>
                <a:ext cx="445075" cy="216877"/>
              </a:xfrm>
              <a:prstGeom prst="homePlate">
                <a:avLst>
                  <a:gd fmla="val 50000" name="adj"/>
                </a:avLst>
              </a:prstGeom>
              <a:solidFill>
                <a:srgbClr val="F2D0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94" name="Google Shape;94;p4"/>
            <p:cNvGrpSpPr/>
            <p:nvPr/>
          </p:nvGrpSpPr>
          <p:grpSpPr>
            <a:xfrm>
              <a:off x="5034964" y="1402687"/>
              <a:ext cx="430745" cy="308403"/>
              <a:chOff x="668215" y="3001108"/>
              <a:chExt cx="990600" cy="709246"/>
            </a:xfrm>
          </p:grpSpPr>
          <p:sp>
            <p:nvSpPr>
              <p:cNvPr id="95" name="Google Shape;95;p4"/>
              <p:cNvSpPr/>
              <p:nvPr/>
            </p:nvSpPr>
            <p:spPr>
              <a:xfrm>
                <a:off x="668215" y="3001108"/>
                <a:ext cx="990600" cy="709246"/>
              </a:xfrm>
              <a:prstGeom prst="roundRect">
                <a:avLst>
                  <a:gd fmla="val 16667" name="adj"/>
                </a:avLst>
              </a:prstGeom>
              <a:solidFill>
                <a:srgbClr val="99C6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4"/>
              <p:cNvSpPr/>
              <p:nvPr/>
            </p:nvSpPr>
            <p:spPr>
              <a:xfrm>
                <a:off x="932090" y="3220173"/>
                <a:ext cx="152400" cy="152400"/>
              </a:xfrm>
              <a:prstGeom prst="ellipse">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4"/>
              <p:cNvSpPr/>
              <p:nvPr/>
            </p:nvSpPr>
            <p:spPr>
              <a:xfrm>
                <a:off x="875603" y="3396706"/>
                <a:ext cx="197164" cy="181708"/>
              </a:xfrm>
              <a:prstGeom prst="parallelogram">
                <a:avLst>
                  <a:gd fmla="val 25000" name="adj"/>
                </a:avLst>
              </a:prstGeom>
              <a:solidFill>
                <a:srgbClr val="67529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4"/>
              <p:cNvSpPr/>
              <p:nvPr/>
            </p:nvSpPr>
            <p:spPr>
              <a:xfrm>
                <a:off x="1022995" y="3140290"/>
                <a:ext cx="356060" cy="356060"/>
              </a:xfrm>
              <a:prstGeom prst="snipRoundRect">
                <a:avLst>
                  <a:gd fmla="val 16667" name="adj1"/>
                  <a:gd fmla="val 16667" name="adj2"/>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4"/>
              <p:cNvSpPr/>
              <p:nvPr/>
            </p:nvSpPr>
            <p:spPr>
              <a:xfrm>
                <a:off x="1095516" y="3361537"/>
                <a:ext cx="445075" cy="216877"/>
              </a:xfrm>
              <a:prstGeom prst="homePlate">
                <a:avLst>
                  <a:gd fmla="val 50000" name="adj"/>
                </a:avLst>
              </a:prstGeom>
              <a:solidFill>
                <a:srgbClr val="F2D0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cxnSp>
          <p:nvCxnSpPr>
            <p:cNvPr id="100" name="Google Shape;100;p4"/>
            <p:cNvCxnSpPr/>
            <p:nvPr/>
          </p:nvCxnSpPr>
          <p:spPr>
            <a:xfrm flipH="1">
              <a:off x="4193174" y="1438850"/>
              <a:ext cx="3471" cy="543739"/>
            </a:xfrm>
            <a:prstGeom prst="straightConnector1">
              <a:avLst/>
            </a:prstGeom>
            <a:noFill/>
            <a:ln cap="flat" cmpd="sng" w="28575">
              <a:solidFill>
                <a:schemeClr val="dk1"/>
              </a:solidFill>
              <a:prstDash val="solid"/>
              <a:round/>
              <a:headEnd len="sm" w="sm" type="none"/>
              <a:tailEnd len="med" w="med" type="triangle"/>
            </a:ln>
          </p:spPr>
        </p:cxnSp>
        <p:cxnSp>
          <p:nvCxnSpPr>
            <p:cNvPr id="101" name="Google Shape;101;p4"/>
            <p:cNvCxnSpPr/>
            <p:nvPr/>
          </p:nvCxnSpPr>
          <p:spPr>
            <a:xfrm flipH="1">
              <a:off x="4195989" y="2073388"/>
              <a:ext cx="1311" cy="274369"/>
            </a:xfrm>
            <a:prstGeom prst="straightConnector1">
              <a:avLst/>
            </a:prstGeom>
            <a:noFill/>
            <a:ln cap="flat" cmpd="sng" w="28575">
              <a:solidFill>
                <a:schemeClr val="dk1"/>
              </a:solidFill>
              <a:prstDash val="solid"/>
              <a:round/>
              <a:headEnd len="sm" w="sm" type="none"/>
              <a:tailEnd len="med" w="med" type="triangle"/>
            </a:ln>
          </p:spPr>
        </p:cxnSp>
        <p:sp>
          <p:nvSpPr>
            <p:cNvPr id="102" name="Google Shape;102;p4"/>
            <p:cNvSpPr/>
            <p:nvPr/>
          </p:nvSpPr>
          <p:spPr>
            <a:xfrm>
              <a:off x="3976875" y="2002530"/>
              <a:ext cx="439539" cy="179195"/>
            </a:xfrm>
            <a:prstGeom prst="diamond">
              <a:avLst/>
            </a:prstGeom>
            <a:solidFill>
              <a:srgbClr val="E5594B"/>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03" name="Google Shape;103;p4"/>
            <p:cNvCxnSpPr/>
            <p:nvPr/>
          </p:nvCxnSpPr>
          <p:spPr>
            <a:xfrm>
              <a:off x="3469755" y="2094452"/>
              <a:ext cx="474780" cy="0"/>
            </a:xfrm>
            <a:prstGeom prst="straightConnector1">
              <a:avLst/>
            </a:prstGeom>
            <a:noFill/>
            <a:ln cap="flat" cmpd="sng" w="28575">
              <a:solidFill>
                <a:schemeClr val="dk1"/>
              </a:solidFill>
              <a:prstDash val="solid"/>
              <a:round/>
              <a:headEnd len="sm" w="sm" type="none"/>
              <a:tailEnd len="med" w="med" type="triangle"/>
            </a:ln>
          </p:spPr>
        </p:cxnSp>
        <p:cxnSp>
          <p:nvCxnSpPr>
            <p:cNvPr id="104" name="Google Shape;104;p4"/>
            <p:cNvCxnSpPr/>
            <p:nvPr/>
          </p:nvCxnSpPr>
          <p:spPr>
            <a:xfrm rot="10800000">
              <a:off x="3482455" y="2017807"/>
              <a:ext cx="186" cy="83051"/>
            </a:xfrm>
            <a:prstGeom prst="straightConnector1">
              <a:avLst/>
            </a:prstGeom>
            <a:noFill/>
            <a:ln cap="flat" cmpd="sng" w="28575">
              <a:solidFill>
                <a:schemeClr val="dk1"/>
              </a:solidFill>
              <a:prstDash val="solid"/>
              <a:round/>
              <a:headEnd len="sm" w="sm" type="none"/>
              <a:tailEnd len="sm" w="sm" type="none"/>
            </a:ln>
          </p:spPr>
        </p:cxnSp>
        <p:cxnSp>
          <p:nvCxnSpPr>
            <p:cNvPr id="105" name="Google Shape;105;p4"/>
            <p:cNvCxnSpPr/>
            <p:nvPr/>
          </p:nvCxnSpPr>
          <p:spPr>
            <a:xfrm flipH="1">
              <a:off x="5249681" y="2022831"/>
              <a:ext cx="1311" cy="274369"/>
            </a:xfrm>
            <a:prstGeom prst="straightConnector1">
              <a:avLst/>
            </a:prstGeom>
            <a:noFill/>
            <a:ln cap="flat" cmpd="sng" w="28575">
              <a:solidFill>
                <a:schemeClr val="dk1"/>
              </a:solidFill>
              <a:prstDash val="solid"/>
              <a:round/>
              <a:headEnd len="sm" w="sm" type="none"/>
              <a:tailEnd len="med" w="med" type="triangle"/>
            </a:ln>
          </p:spPr>
        </p:cxnSp>
        <p:grpSp>
          <p:nvGrpSpPr>
            <p:cNvPr id="106" name="Google Shape;106;p4"/>
            <p:cNvGrpSpPr/>
            <p:nvPr/>
          </p:nvGrpSpPr>
          <p:grpSpPr>
            <a:xfrm>
              <a:off x="5133683" y="2328126"/>
              <a:ext cx="233306" cy="233306"/>
              <a:chOff x="5583122" y="2561026"/>
              <a:chExt cx="233306" cy="233306"/>
            </a:xfrm>
          </p:grpSpPr>
          <p:sp>
            <p:nvSpPr>
              <p:cNvPr id="107" name="Google Shape;107;p4"/>
              <p:cNvSpPr/>
              <p:nvPr/>
            </p:nvSpPr>
            <p:spPr>
              <a:xfrm>
                <a:off x="5583122" y="2561026"/>
                <a:ext cx="233306" cy="233306"/>
              </a:xfrm>
              <a:prstGeom prst="ellipse">
                <a:avLst/>
              </a:prstGeom>
              <a:solidFill>
                <a:schemeClr val="lt1"/>
              </a:solidFill>
              <a:ln cap="flat" cmpd="sng" w="25400">
                <a:solidFill>
                  <a:srgbClr val="E559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4"/>
              <p:cNvSpPr/>
              <p:nvPr/>
            </p:nvSpPr>
            <p:spPr>
              <a:xfrm>
                <a:off x="5621534" y="2599438"/>
                <a:ext cx="156482" cy="156482"/>
              </a:xfrm>
              <a:prstGeom prst="ellipse">
                <a:avLst/>
              </a:prstGeom>
              <a:solidFill>
                <a:schemeClr val="dk1"/>
              </a:solidFill>
              <a:ln cap="flat" cmpd="sng" w="25400">
                <a:solidFill>
                  <a:srgbClr val="E559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09" name="Google Shape;109;p4"/>
            <p:cNvCxnSpPr/>
            <p:nvPr/>
          </p:nvCxnSpPr>
          <p:spPr>
            <a:xfrm rot="5400000">
              <a:off x="3049444" y="2452849"/>
              <a:ext cx="588228" cy="432300"/>
            </a:xfrm>
            <a:prstGeom prst="bentConnector3">
              <a:avLst>
                <a:gd fmla="val 47713" name="adj1"/>
              </a:avLst>
            </a:prstGeom>
            <a:noFill/>
            <a:ln cap="flat" cmpd="sng" w="28575">
              <a:solidFill>
                <a:schemeClr val="dk1"/>
              </a:solidFill>
              <a:prstDash val="solid"/>
              <a:round/>
              <a:headEnd len="sm" w="sm" type="none"/>
              <a:tailEnd len="med" w="med" type="triangle"/>
            </a:ln>
          </p:spPr>
        </p:cxnSp>
        <p:cxnSp>
          <p:nvCxnSpPr>
            <p:cNvPr id="110" name="Google Shape;110;p4"/>
            <p:cNvCxnSpPr/>
            <p:nvPr/>
          </p:nvCxnSpPr>
          <p:spPr>
            <a:xfrm>
              <a:off x="4818815" y="2374885"/>
              <a:ext cx="1" cy="186547"/>
            </a:xfrm>
            <a:prstGeom prst="straightConnector1">
              <a:avLst/>
            </a:prstGeom>
            <a:noFill/>
            <a:ln cap="flat" cmpd="sng" w="28575">
              <a:solidFill>
                <a:schemeClr val="dk1"/>
              </a:solidFill>
              <a:prstDash val="solid"/>
              <a:round/>
              <a:headEnd len="sm" w="sm" type="none"/>
              <a:tailEnd len="med" w="med" type="triangle"/>
            </a:ln>
          </p:spPr>
        </p:cxnSp>
        <p:cxnSp>
          <p:nvCxnSpPr>
            <p:cNvPr id="111" name="Google Shape;111;p4"/>
            <p:cNvCxnSpPr/>
            <p:nvPr/>
          </p:nvCxnSpPr>
          <p:spPr>
            <a:xfrm>
              <a:off x="4818815" y="3026959"/>
              <a:ext cx="0" cy="163979"/>
            </a:xfrm>
            <a:prstGeom prst="straightConnector1">
              <a:avLst/>
            </a:prstGeom>
            <a:noFill/>
            <a:ln cap="flat" cmpd="sng" w="28575">
              <a:solidFill>
                <a:schemeClr val="dk1"/>
              </a:solidFill>
              <a:prstDash val="solid"/>
              <a:round/>
              <a:headEnd len="sm" w="sm" type="none"/>
              <a:tailEnd len="med" w="med" type="triangle"/>
            </a:ln>
          </p:spPr>
        </p:cxnSp>
        <p:cxnSp>
          <p:nvCxnSpPr>
            <p:cNvPr id="112" name="Google Shape;112;p4"/>
            <p:cNvCxnSpPr/>
            <p:nvPr/>
          </p:nvCxnSpPr>
          <p:spPr>
            <a:xfrm rot="10800000">
              <a:off x="3475862" y="2382413"/>
              <a:ext cx="1439720" cy="0"/>
            </a:xfrm>
            <a:prstGeom prst="straightConnector1">
              <a:avLst/>
            </a:prstGeom>
            <a:noFill/>
            <a:ln cap="flat" cmpd="sng" w="38100">
              <a:solidFill>
                <a:srgbClr val="0197A7"/>
              </a:solidFill>
              <a:prstDash val="solid"/>
              <a:round/>
              <a:headEnd len="sm" w="sm" type="none"/>
              <a:tailEnd len="sm" w="sm" type="none"/>
            </a:ln>
          </p:spPr>
        </p:cxnSp>
        <p:cxnSp>
          <p:nvCxnSpPr>
            <p:cNvPr id="113" name="Google Shape;113;p4"/>
            <p:cNvCxnSpPr/>
            <p:nvPr/>
          </p:nvCxnSpPr>
          <p:spPr>
            <a:xfrm>
              <a:off x="4096211" y="3206751"/>
              <a:ext cx="0" cy="374596"/>
            </a:xfrm>
            <a:prstGeom prst="straightConnector1">
              <a:avLst/>
            </a:prstGeom>
            <a:noFill/>
            <a:ln cap="flat" cmpd="sng" w="28575">
              <a:solidFill>
                <a:schemeClr val="dk1"/>
              </a:solidFill>
              <a:prstDash val="solid"/>
              <a:round/>
              <a:headEnd len="sm" w="sm" type="none"/>
              <a:tailEnd len="med" w="med" type="triangle"/>
            </a:ln>
          </p:spPr>
        </p:cxnSp>
        <p:cxnSp>
          <p:nvCxnSpPr>
            <p:cNvPr id="114" name="Google Shape;114;p4"/>
            <p:cNvCxnSpPr/>
            <p:nvPr/>
          </p:nvCxnSpPr>
          <p:spPr>
            <a:xfrm>
              <a:off x="5424643" y="3206751"/>
              <a:ext cx="0" cy="374596"/>
            </a:xfrm>
            <a:prstGeom prst="straightConnector1">
              <a:avLst/>
            </a:prstGeom>
            <a:noFill/>
            <a:ln cap="flat" cmpd="sng" w="28575">
              <a:solidFill>
                <a:schemeClr val="dk1"/>
              </a:solidFill>
              <a:prstDash val="solid"/>
              <a:round/>
              <a:headEnd len="sm" w="sm" type="none"/>
              <a:tailEnd len="med" w="med" type="triangle"/>
            </a:ln>
          </p:spPr>
        </p:cxnSp>
        <p:cxnSp>
          <p:nvCxnSpPr>
            <p:cNvPr id="115" name="Google Shape;115;p4"/>
            <p:cNvCxnSpPr/>
            <p:nvPr/>
          </p:nvCxnSpPr>
          <p:spPr>
            <a:xfrm>
              <a:off x="4096211" y="4241454"/>
              <a:ext cx="0" cy="374596"/>
            </a:xfrm>
            <a:prstGeom prst="straightConnector1">
              <a:avLst/>
            </a:prstGeom>
            <a:noFill/>
            <a:ln cap="flat" cmpd="sng" w="28575">
              <a:solidFill>
                <a:schemeClr val="dk1"/>
              </a:solidFill>
              <a:prstDash val="solid"/>
              <a:round/>
              <a:headEnd len="sm" w="sm" type="none"/>
              <a:tailEnd len="med" w="med" type="triangle"/>
            </a:ln>
          </p:spPr>
        </p:cxnSp>
        <p:cxnSp>
          <p:nvCxnSpPr>
            <p:cNvPr id="116" name="Google Shape;116;p4"/>
            <p:cNvCxnSpPr/>
            <p:nvPr/>
          </p:nvCxnSpPr>
          <p:spPr>
            <a:xfrm>
              <a:off x="5424643" y="4241454"/>
              <a:ext cx="0" cy="374596"/>
            </a:xfrm>
            <a:prstGeom prst="straightConnector1">
              <a:avLst/>
            </a:prstGeom>
            <a:noFill/>
            <a:ln cap="flat" cmpd="sng" w="28575">
              <a:solidFill>
                <a:schemeClr val="dk1"/>
              </a:solidFill>
              <a:prstDash val="solid"/>
              <a:round/>
              <a:headEnd len="sm" w="sm" type="none"/>
              <a:tailEnd len="med" w="med" type="triangle"/>
            </a:ln>
          </p:spPr>
        </p:cxnSp>
        <p:cxnSp>
          <p:nvCxnSpPr>
            <p:cNvPr id="117" name="Google Shape;117;p4"/>
            <p:cNvCxnSpPr/>
            <p:nvPr/>
          </p:nvCxnSpPr>
          <p:spPr>
            <a:xfrm>
              <a:off x="4771974" y="4650522"/>
              <a:ext cx="0" cy="163979"/>
            </a:xfrm>
            <a:prstGeom prst="straightConnector1">
              <a:avLst/>
            </a:prstGeom>
            <a:noFill/>
            <a:ln cap="flat" cmpd="sng" w="28575">
              <a:solidFill>
                <a:schemeClr val="dk1"/>
              </a:solidFill>
              <a:prstDash val="solid"/>
              <a:round/>
              <a:headEnd len="sm" w="sm" type="none"/>
              <a:tailEnd len="med" w="med" type="triangle"/>
            </a:ln>
          </p:spPr>
        </p:cxnSp>
        <p:cxnSp>
          <p:nvCxnSpPr>
            <p:cNvPr id="118" name="Google Shape;118;p4"/>
            <p:cNvCxnSpPr/>
            <p:nvPr/>
          </p:nvCxnSpPr>
          <p:spPr>
            <a:xfrm>
              <a:off x="3129381" y="3605268"/>
              <a:ext cx="0" cy="1209233"/>
            </a:xfrm>
            <a:prstGeom prst="straightConnector1">
              <a:avLst/>
            </a:prstGeom>
            <a:noFill/>
            <a:ln cap="flat" cmpd="sng" w="28575">
              <a:solidFill>
                <a:schemeClr val="dk1"/>
              </a:solidFill>
              <a:prstDash val="solid"/>
              <a:round/>
              <a:headEnd len="sm" w="sm" type="none"/>
              <a:tailEnd len="med" w="med" type="triangle"/>
            </a:ln>
          </p:spPr>
        </p:cxnSp>
        <p:cxnSp>
          <p:nvCxnSpPr>
            <p:cNvPr id="119" name="Google Shape;119;p4"/>
            <p:cNvCxnSpPr/>
            <p:nvPr/>
          </p:nvCxnSpPr>
          <p:spPr>
            <a:xfrm>
              <a:off x="4292289" y="4845571"/>
              <a:ext cx="0" cy="163979"/>
            </a:xfrm>
            <a:prstGeom prst="straightConnector1">
              <a:avLst/>
            </a:prstGeom>
            <a:noFill/>
            <a:ln cap="flat" cmpd="sng" w="28575">
              <a:solidFill>
                <a:schemeClr val="dk1"/>
              </a:solidFill>
              <a:prstDash val="solid"/>
              <a:round/>
              <a:headEnd len="sm" w="sm" type="none"/>
              <a:tailEnd len="med" w="med" type="triangle"/>
            </a:ln>
          </p:spPr>
        </p:cxnSp>
        <p:cxnSp>
          <p:nvCxnSpPr>
            <p:cNvPr id="120" name="Google Shape;120;p4"/>
            <p:cNvCxnSpPr/>
            <p:nvPr/>
          </p:nvCxnSpPr>
          <p:spPr>
            <a:xfrm rot="10800000">
              <a:off x="3844776" y="3221940"/>
              <a:ext cx="1800499" cy="0"/>
            </a:xfrm>
            <a:prstGeom prst="straightConnector1">
              <a:avLst/>
            </a:prstGeom>
            <a:noFill/>
            <a:ln cap="flat" cmpd="sng" w="38100">
              <a:solidFill>
                <a:srgbClr val="0197A7"/>
              </a:solidFill>
              <a:prstDash val="solid"/>
              <a:round/>
              <a:headEnd len="sm" w="sm" type="none"/>
              <a:tailEnd len="sm" w="sm" type="none"/>
            </a:ln>
          </p:spPr>
        </p:cxnSp>
        <p:grpSp>
          <p:nvGrpSpPr>
            <p:cNvPr id="121" name="Google Shape;121;p4"/>
            <p:cNvGrpSpPr/>
            <p:nvPr/>
          </p:nvGrpSpPr>
          <p:grpSpPr>
            <a:xfrm>
              <a:off x="4196644" y="5042328"/>
              <a:ext cx="191290" cy="191290"/>
              <a:chOff x="5583122" y="2561026"/>
              <a:chExt cx="233306" cy="233306"/>
            </a:xfrm>
          </p:grpSpPr>
          <p:sp>
            <p:nvSpPr>
              <p:cNvPr id="122" name="Google Shape;122;p4"/>
              <p:cNvSpPr/>
              <p:nvPr/>
            </p:nvSpPr>
            <p:spPr>
              <a:xfrm>
                <a:off x="5583122" y="2561026"/>
                <a:ext cx="233306" cy="233306"/>
              </a:xfrm>
              <a:prstGeom prst="ellipse">
                <a:avLst/>
              </a:prstGeom>
              <a:solidFill>
                <a:schemeClr val="lt1"/>
              </a:solidFill>
              <a:ln cap="flat" cmpd="sng" w="12700">
                <a:solidFill>
                  <a:srgbClr val="E559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4"/>
              <p:cNvSpPr/>
              <p:nvPr/>
            </p:nvSpPr>
            <p:spPr>
              <a:xfrm>
                <a:off x="5621534" y="2599438"/>
                <a:ext cx="156482" cy="156482"/>
              </a:xfrm>
              <a:prstGeom prst="ellipse">
                <a:avLst/>
              </a:prstGeom>
              <a:solidFill>
                <a:schemeClr val="dk1"/>
              </a:solidFill>
              <a:ln cap="flat" cmpd="sng" w="19050">
                <a:solidFill>
                  <a:srgbClr val="E559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24" name="Google Shape;124;p4"/>
            <p:cNvCxnSpPr/>
            <p:nvPr/>
          </p:nvCxnSpPr>
          <p:spPr>
            <a:xfrm rot="10800000">
              <a:off x="2954576" y="4856686"/>
              <a:ext cx="2028204" cy="0"/>
            </a:xfrm>
            <a:prstGeom prst="straightConnector1">
              <a:avLst/>
            </a:prstGeom>
            <a:noFill/>
            <a:ln cap="flat" cmpd="sng" w="38100">
              <a:solidFill>
                <a:srgbClr val="0197A7"/>
              </a:solidFill>
              <a:prstDash val="solid"/>
              <a:round/>
              <a:headEnd len="sm" w="sm" type="none"/>
              <a:tailEnd len="sm" w="sm" type="none"/>
            </a:ln>
          </p:spPr>
        </p:cxnSp>
        <p:cxnSp>
          <p:nvCxnSpPr>
            <p:cNvPr id="125" name="Google Shape;125;p4"/>
            <p:cNvCxnSpPr/>
            <p:nvPr/>
          </p:nvCxnSpPr>
          <p:spPr>
            <a:xfrm rot="10800000">
              <a:off x="3836238" y="4645992"/>
              <a:ext cx="1800499" cy="0"/>
            </a:xfrm>
            <a:prstGeom prst="straightConnector1">
              <a:avLst/>
            </a:prstGeom>
            <a:noFill/>
            <a:ln cap="flat" cmpd="sng" w="38100">
              <a:solidFill>
                <a:srgbClr val="0197A7"/>
              </a:solidFill>
              <a:prstDash val="solid"/>
              <a:round/>
              <a:headEnd len="sm" w="sm" type="none"/>
              <a:tailEnd len="sm" w="sm" type="none"/>
            </a:ln>
          </p:spPr>
        </p:cxnSp>
      </p:grpSp>
      <p:sp>
        <p:nvSpPr>
          <p:cNvPr id="126" name="Google Shape;126;p4"/>
          <p:cNvSpPr/>
          <p:nvPr/>
        </p:nvSpPr>
        <p:spPr>
          <a:xfrm>
            <a:off x="5103679" y="3992138"/>
            <a:ext cx="3608521" cy="1117744"/>
          </a:xfrm>
          <a:prstGeom prst="wedgeRectCallout">
            <a:avLst>
              <a:gd fmla="val -90140" name="adj1"/>
              <a:gd fmla="val -41672" name="adj2"/>
            </a:avLst>
          </a:prstGeom>
          <a:solidFill>
            <a:srgbClr val="7AC3CD"/>
          </a:solidFill>
          <a:ln>
            <a:noFill/>
          </a:ln>
        </p:spPr>
        <p:txBody>
          <a:bodyPr anchorCtr="0" anchor="ctr" bIns="52125" lIns="104275" spcFirstLastPara="1" rIns="104275" wrap="square" tIns="52125">
            <a:no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rgbClr val="D1042B"/>
                </a:solidFill>
                <a:latin typeface="Calibri"/>
                <a:ea typeface="Calibri"/>
                <a:cs typeface="Calibri"/>
                <a:sym typeface="Calibri"/>
              </a:rPr>
              <a:t>Identificación de las clases </a:t>
            </a:r>
            <a:r>
              <a:rPr b="1" i="0" lang="es-PE" sz="1600" u="none" cap="none" strike="noStrike">
                <a:solidFill>
                  <a:schemeClr val="lt1"/>
                </a:solidFill>
                <a:latin typeface="Calibri"/>
                <a:ea typeface="Calibri"/>
                <a:cs typeface="Calibri"/>
                <a:sym typeface="Calibri"/>
              </a:rPr>
              <a:t>persistentes para crear el modelamiento de datos. </a:t>
            </a:r>
            <a:endParaRPr b="0" i="0" sz="1400" u="none" cap="none" strike="noStrike">
              <a:solidFill>
                <a:schemeClr val="lt1"/>
              </a:solidFill>
              <a:latin typeface="Arial"/>
              <a:ea typeface="Arial"/>
              <a:cs typeface="Arial"/>
              <a:sym typeface="Arial"/>
            </a:endParaRPr>
          </a:p>
        </p:txBody>
      </p:sp>
      <p:pic>
        <p:nvPicPr>
          <p:cNvPr id="127" name="Google Shape;127;p4"/>
          <p:cNvPicPr preferRelativeResize="0"/>
          <p:nvPr/>
        </p:nvPicPr>
        <p:blipFill rotWithShape="1">
          <a:blip r:embed="rId3">
            <a:alphaModFix/>
          </a:blip>
          <a:srcRect b="0" l="0" r="0" t="0"/>
          <a:stretch/>
        </p:blipFill>
        <p:spPr>
          <a:xfrm>
            <a:off x="5989910" y="1049880"/>
            <a:ext cx="1520283" cy="152028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p:nvPr/>
        </p:nvSpPr>
        <p:spPr>
          <a:xfrm>
            <a:off x="468313" y="1918009"/>
            <a:ext cx="8243887" cy="3279465"/>
          </a:xfrm>
          <a:prstGeom prst="rect">
            <a:avLst/>
          </a:prstGeom>
          <a:solidFill>
            <a:srgbClr val="DEE4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33" name="Google Shape;133;p5"/>
          <p:cNvGrpSpPr/>
          <p:nvPr/>
        </p:nvGrpSpPr>
        <p:grpSpPr>
          <a:xfrm>
            <a:off x="2905623" y="2370804"/>
            <a:ext cx="3918926" cy="2739877"/>
            <a:chOff x="3028284" y="2214690"/>
            <a:chExt cx="3918926" cy="2739877"/>
          </a:xfrm>
        </p:grpSpPr>
        <p:sp>
          <p:nvSpPr>
            <p:cNvPr id="134" name="Google Shape;134;p5"/>
            <p:cNvSpPr txBox="1"/>
            <p:nvPr/>
          </p:nvSpPr>
          <p:spPr>
            <a:xfrm>
              <a:off x="3028284" y="2711321"/>
              <a:ext cx="882027"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Class4</a:t>
              </a:r>
              <a:r>
                <a:rPr b="0" baseline="30000" i="0" lang="es-PE" sz="1800" u="none" cap="none" strike="noStrike">
                  <a:solidFill>
                    <a:schemeClr val="dk1"/>
                  </a:solidFill>
                  <a:latin typeface="Calibri"/>
                  <a:ea typeface="Calibri"/>
                  <a:cs typeface="Calibri"/>
                  <a:sym typeface="Calibri"/>
                </a:rPr>
                <a:t>1..*</a:t>
              </a:r>
              <a:endParaRPr b="0" baseline="30000" i="0" sz="1800" u="none" cap="none" strike="noStrike">
                <a:solidFill>
                  <a:schemeClr val="dk1"/>
                </a:solidFill>
                <a:latin typeface="Calibri"/>
                <a:ea typeface="Calibri"/>
                <a:cs typeface="Calibri"/>
                <a:sym typeface="Calibri"/>
              </a:endParaRPr>
            </a:p>
          </p:txBody>
        </p:sp>
        <p:cxnSp>
          <p:nvCxnSpPr>
            <p:cNvPr id="135" name="Google Shape;135;p5"/>
            <p:cNvCxnSpPr/>
            <p:nvPr/>
          </p:nvCxnSpPr>
          <p:spPr>
            <a:xfrm>
              <a:off x="3131848" y="2993749"/>
              <a:ext cx="674898" cy="0"/>
            </a:xfrm>
            <a:prstGeom prst="straightConnector1">
              <a:avLst/>
            </a:prstGeom>
            <a:noFill/>
            <a:ln cap="flat" cmpd="sng" w="28575">
              <a:solidFill>
                <a:schemeClr val="dk1"/>
              </a:solidFill>
              <a:prstDash val="solid"/>
              <a:round/>
              <a:headEnd len="sm" w="sm" type="none"/>
              <a:tailEnd len="sm" w="sm" type="none"/>
            </a:ln>
          </p:spPr>
        </p:cxnSp>
        <p:grpSp>
          <p:nvGrpSpPr>
            <p:cNvPr id="136" name="Google Shape;136;p5"/>
            <p:cNvGrpSpPr/>
            <p:nvPr/>
          </p:nvGrpSpPr>
          <p:grpSpPr>
            <a:xfrm>
              <a:off x="3232600" y="2214690"/>
              <a:ext cx="473394" cy="480181"/>
              <a:chOff x="6223284" y="-360580"/>
              <a:chExt cx="594967" cy="603500"/>
            </a:xfrm>
          </p:grpSpPr>
          <p:sp>
            <p:nvSpPr>
              <p:cNvPr id="137" name="Google Shape;137;p5"/>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8" name="Google Shape;138;p5"/>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139" name="Google Shape;139;p5"/>
            <p:cNvSpPr txBox="1"/>
            <p:nvPr/>
          </p:nvSpPr>
          <p:spPr>
            <a:xfrm>
              <a:off x="3130730" y="3071429"/>
              <a:ext cx="265938"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1</a:t>
              </a:r>
              <a:endParaRPr b="0" baseline="30000" i="0" sz="1800" u="none" cap="none" strike="noStrike">
                <a:solidFill>
                  <a:schemeClr val="dk1"/>
                </a:solidFill>
                <a:latin typeface="Calibri"/>
                <a:ea typeface="Calibri"/>
                <a:cs typeface="Calibri"/>
                <a:sym typeface="Calibri"/>
              </a:endParaRPr>
            </a:p>
          </p:txBody>
        </p:sp>
        <p:sp>
          <p:nvSpPr>
            <p:cNvPr id="140" name="Google Shape;140;p5"/>
            <p:cNvSpPr txBox="1"/>
            <p:nvPr/>
          </p:nvSpPr>
          <p:spPr>
            <a:xfrm>
              <a:off x="3130730" y="3537874"/>
              <a:ext cx="264523"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a:t>
              </a:r>
              <a:endParaRPr b="0" baseline="30000" i="0" sz="1800" u="none" cap="none" strike="noStrike">
                <a:solidFill>
                  <a:schemeClr val="dk1"/>
                </a:solidFill>
                <a:latin typeface="Calibri"/>
                <a:ea typeface="Calibri"/>
                <a:cs typeface="Calibri"/>
                <a:sym typeface="Calibri"/>
              </a:endParaRPr>
            </a:p>
          </p:txBody>
        </p:sp>
        <p:sp>
          <p:nvSpPr>
            <p:cNvPr id="141" name="Google Shape;141;p5"/>
            <p:cNvSpPr txBox="1"/>
            <p:nvPr/>
          </p:nvSpPr>
          <p:spPr>
            <a:xfrm>
              <a:off x="3097276" y="4585276"/>
              <a:ext cx="995221"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Class5</a:t>
              </a:r>
              <a:endParaRPr b="0" baseline="30000" i="0" sz="1800" u="none" cap="none" strike="noStrike">
                <a:solidFill>
                  <a:schemeClr val="dk1"/>
                </a:solidFill>
                <a:latin typeface="Calibri"/>
                <a:ea typeface="Calibri"/>
                <a:cs typeface="Calibri"/>
                <a:sym typeface="Calibri"/>
              </a:endParaRPr>
            </a:p>
          </p:txBody>
        </p:sp>
        <p:grpSp>
          <p:nvGrpSpPr>
            <p:cNvPr id="142" name="Google Shape;142;p5"/>
            <p:cNvGrpSpPr/>
            <p:nvPr/>
          </p:nvGrpSpPr>
          <p:grpSpPr>
            <a:xfrm>
              <a:off x="3232600" y="4077973"/>
              <a:ext cx="473394" cy="480181"/>
              <a:chOff x="6223284" y="-360580"/>
              <a:chExt cx="594967" cy="603500"/>
            </a:xfrm>
          </p:grpSpPr>
          <p:sp>
            <p:nvSpPr>
              <p:cNvPr id="143" name="Google Shape;143;p5"/>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44" name="Google Shape;144;p5"/>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grpSp>
          <p:nvGrpSpPr>
            <p:cNvPr id="145" name="Google Shape;145;p5"/>
            <p:cNvGrpSpPr/>
            <p:nvPr/>
          </p:nvGrpSpPr>
          <p:grpSpPr>
            <a:xfrm>
              <a:off x="3366485" y="2916197"/>
              <a:ext cx="205625" cy="1083000"/>
              <a:chOff x="5076258" y="2981132"/>
              <a:chExt cx="233266" cy="1228584"/>
            </a:xfrm>
          </p:grpSpPr>
          <p:cxnSp>
            <p:nvCxnSpPr>
              <p:cNvPr id="146" name="Google Shape;146;p5"/>
              <p:cNvCxnSpPr/>
              <p:nvPr/>
            </p:nvCxnSpPr>
            <p:spPr>
              <a:xfrm flipH="1" rot="-5400000">
                <a:off x="4670823" y="3680874"/>
                <a:ext cx="1047157" cy="10527"/>
              </a:xfrm>
              <a:prstGeom prst="straightConnector1">
                <a:avLst/>
              </a:prstGeom>
              <a:noFill/>
              <a:ln cap="flat" cmpd="sng" w="38100">
                <a:solidFill>
                  <a:srgbClr val="E5594B"/>
                </a:solidFill>
                <a:prstDash val="solid"/>
                <a:round/>
                <a:headEnd len="sm" w="sm" type="none"/>
                <a:tailEnd len="med" w="med" type="triangle"/>
              </a:ln>
            </p:spPr>
          </p:cxnSp>
          <p:sp>
            <p:nvSpPr>
              <p:cNvPr id="147" name="Google Shape;147;p5"/>
              <p:cNvSpPr/>
              <p:nvPr/>
            </p:nvSpPr>
            <p:spPr>
              <a:xfrm>
                <a:off x="5076258" y="2981132"/>
                <a:ext cx="233266" cy="327310"/>
              </a:xfrm>
              <a:prstGeom prst="diamond">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48" name="Google Shape;148;p5"/>
            <p:cNvCxnSpPr/>
            <p:nvPr/>
          </p:nvCxnSpPr>
          <p:spPr>
            <a:xfrm>
              <a:off x="3773557" y="2509248"/>
              <a:ext cx="2202107" cy="825251"/>
            </a:xfrm>
            <a:prstGeom prst="straightConnector1">
              <a:avLst/>
            </a:prstGeom>
            <a:noFill/>
            <a:ln cap="flat" cmpd="sng" w="28575">
              <a:solidFill>
                <a:srgbClr val="595959"/>
              </a:solidFill>
              <a:prstDash val="solid"/>
              <a:round/>
              <a:headEnd len="sm" w="sm" type="none"/>
              <a:tailEnd len="sm" w="sm" type="none"/>
            </a:ln>
          </p:spPr>
        </p:cxnSp>
        <p:sp>
          <p:nvSpPr>
            <p:cNvPr id="149" name="Google Shape;149;p5"/>
            <p:cNvSpPr txBox="1"/>
            <p:nvPr/>
          </p:nvSpPr>
          <p:spPr>
            <a:xfrm>
              <a:off x="5865542" y="3682180"/>
              <a:ext cx="1081668"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Class8</a:t>
              </a:r>
              <a:endParaRPr b="0" baseline="30000" i="0" sz="1800" u="none" cap="none" strike="noStrike">
                <a:solidFill>
                  <a:schemeClr val="dk1"/>
                </a:solidFill>
                <a:latin typeface="Calibri"/>
                <a:ea typeface="Calibri"/>
                <a:cs typeface="Calibri"/>
                <a:sym typeface="Calibri"/>
              </a:endParaRPr>
            </a:p>
          </p:txBody>
        </p:sp>
        <p:cxnSp>
          <p:nvCxnSpPr>
            <p:cNvPr id="150" name="Google Shape;150;p5"/>
            <p:cNvCxnSpPr/>
            <p:nvPr/>
          </p:nvCxnSpPr>
          <p:spPr>
            <a:xfrm>
              <a:off x="5953512" y="3964607"/>
              <a:ext cx="674898" cy="0"/>
            </a:xfrm>
            <a:prstGeom prst="straightConnector1">
              <a:avLst/>
            </a:prstGeom>
            <a:noFill/>
            <a:ln cap="flat" cmpd="sng" w="28575">
              <a:solidFill>
                <a:schemeClr val="dk1"/>
              </a:solidFill>
              <a:prstDash val="solid"/>
              <a:round/>
              <a:headEnd len="sm" w="sm" type="none"/>
              <a:tailEnd len="sm" w="sm" type="none"/>
            </a:ln>
          </p:spPr>
        </p:cxnSp>
        <p:grpSp>
          <p:nvGrpSpPr>
            <p:cNvPr id="151" name="Google Shape;151;p5"/>
            <p:cNvGrpSpPr/>
            <p:nvPr/>
          </p:nvGrpSpPr>
          <p:grpSpPr>
            <a:xfrm>
              <a:off x="6054264" y="3185549"/>
              <a:ext cx="473394" cy="480181"/>
              <a:chOff x="6223284" y="-360580"/>
              <a:chExt cx="594967" cy="603500"/>
            </a:xfrm>
          </p:grpSpPr>
          <p:sp>
            <p:nvSpPr>
              <p:cNvPr id="152" name="Google Shape;152;p5"/>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53" name="Google Shape;153;p5"/>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154" name="Google Shape;154;p5"/>
            <p:cNvSpPr txBox="1"/>
            <p:nvPr/>
          </p:nvSpPr>
          <p:spPr>
            <a:xfrm>
              <a:off x="5307807" y="3207257"/>
              <a:ext cx="265938"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1</a:t>
              </a:r>
              <a:endParaRPr b="0" baseline="30000" i="0" sz="1800" u="none" cap="none" strike="noStrike">
                <a:solidFill>
                  <a:schemeClr val="dk1"/>
                </a:solidFill>
                <a:latin typeface="Calibri"/>
                <a:ea typeface="Calibri"/>
                <a:cs typeface="Calibri"/>
                <a:sym typeface="Calibri"/>
              </a:endParaRPr>
            </a:p>
          </p:txBody>
        </p:sp>
      </p:grpSp>
      <p:sp>
        <p:nvSpPr>
          <p:cNvPr id="155" name="Google Shape;155;p5"/>
          <p:cNvSpPr/>
          <p:nvPr/>
        </p:nvSpPr>
        <p:spPr>
          <a:xfrm>
            <a:off x="483338" y="912813"/>
            <a:ext cx="8228862" cy="738664"/>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Es el </a:t>
            </a:r>
            <a:r>
              <a:rPr b="1" i="0" lang="es-PE" sz="1600" u="none" cap="none" strike="noStrike">
                <a:solidFill>
                  <a:schemeClr val="dk1"/>
                </a:solidFill>
                <a:latin typeface="Calibri"/>
                <a:ea typeface="Calibri"/>
                <a:cs typeface="Calibri"/>
                <a:sym typeface="Calibri"/>
              </a:rPr>
              <a:t>esquema o descripción de alto nivel </a:t>
            </a:r>
            <a:r>
              <a:rPr b="0" i="0" lang="es-PE" sz="1600" u="none" cap="none" strike="noStrike">
                <a:solidFill>
                  <a:srgbClr val="E5594B"/>
                </a:solidFill>
                <a:latin typeface="Calibri"/>
                <a:ea typeface="Calibri"/>
                <a:cs typeface="Calibri"/>
                <a:sym typeface="Calibri"/>
              </a:rPr>
              <a:t> </a:t>
            </a:r>
            <a:r>
              <a:rPr b="0" i="0" lang="es-PE" sz="1600" u="none" cap="none" strike="noStrike">
                <a:solidFill>
                  <a:schemeClr val="dk1"/>
                </a:solidFill>
                <a:latin typeface="Calibri"/>
                <a:ea typeface="Calibri"/>
                <a:cs typeface="Calibri"/>
                <a:sym typeface="Calibri"/>
              </a:rPr>
              <a:t>de la estructura de los datos de un sistema, independientemente de la implementación posterior de la base de datos. También conocido como modelo del dominio porque representa conceptos significativos de un dominio de problema.</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p:nvPr/>
        </p:nvSpPr>
        <p:spPr>
          <a:xfrm>
            <a:off x="514695" y="912813"/>
            <a:ext cx="8160993" cy="24622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IMPORTANCIA DEL MODELO CONCEPTUAL</a:t>
            </a:r>
            <a:endParaRPr b="0" i="0" sz="1400" u="none" cap="none" strike="noStrike">
              <a:solidFill>
                <a:srgbClr val="000000"/>
              </a:solidFill>
              <a:latin typeface="Arial"/>
              <a:ea typeface="Arial"/>
              <a:cs typeface="Arial"/>
              <a:sym typeface="Arial"/>
            </a:endParaRPr>
          </a:p>
        </p:txBody>
      </p:sp>
      <p:sp>
        <p:nvSpPr>
          <p:cNvPr id="162" name="Google Shape;162;p6"/>
          <p:cNvSpPr txBox="1"/>
          <p:nvPr/>
        </p:nvSpPr>
        <p:spPr>
          <a:xfrm>
            <a:off x="482764" y="3106495"/>
            <a:ext cx="8192924" cy="1336413"/>
          </a:xfrm>
          <a:prstGeom prst="rect">
            <a:avLst/>
          </a:prstGeom>
          <a:solidFill>
            <a:srgbClr val="67529F"/>
          </a:solidFill>
          <a:ln>
            <a:noFill/>
          </a:ln>
        </p:spPr>
        <p:txBody>
          <a:bodyPr anchorCtr="0" anchor="t" bIns="52125" lIns="104275" spcFirstLastPara="1" rIns="104275" wrap="square" tIns="52125">
            <a:spAutoFit/>
          </a:bodyPr>
          <a:lstStyle/>
          <a:p>
            <a:pPr indent="0" lvl="0" marL="177800" marR="0" rtl="0" algn="l">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Equipo de desarrolladores</a:t>
            </a:r>
            <a:br>
              <a:rPr b="1" i="0" lang="es-PE" sz="1600" u="none" cap="none" strike="noStrike">
                <a:solidFill>
                  <a:schemeClr val="lt1"/>
                </a:solidFill>
                <a:latin typeface="Calibri"/>
                <a:ea typeface="Calibri"/>
                <a:cs typeface="Calibri"/>
                <a:sym typeface="Calibri"/>
              </a:rPr>
            </a:br>
            <a:r>
              <a:rPr b="0" i="0" lang="es-PE" sz="1600" u="none" cap="none" strike="noStrike">
                <a:solidFill>
                  <a:schemeClr val="lt1"/>
                </a:solidFill>
                <a:latin typeface="Calibri"/>
                <a:ea typeface="Calibri"/>
                <a:cs typeface="Calibri"/>
                <a:sym typeface="Calibri"/>
              </a:rPr>
              <a:t>Permitirá identificar las clases del dominio que serán implementadas utilizando un lenguaje de programación.</a:t>
            </a:r>
            <a:br>
              <a:rPr b="0" i="0" lang="es-PE" sz="1600" u="none" cap="none" strike="noStrike">
                <a:solidFill>
                  <a:schemeClr val="lt1"/>
                </a:solidFill>
                <a:latin typeface="Calibri"/>
                <a:ea typeface="Calibri"/>
                <a:cs typeface="Calibri"/>
                <a:sym typeface="Calibri"/>
              </a:rPr>
            </a:br>
            <a:r>
              <a:rPr b="0" i="0" lang="es-PE" sz="1600" u="none" cap="none" strike="noStrike">
                <a:solidFill>
                  <a:schemeClr val="lt1"/>
                </a:solidFill>
                <a:latin typeface="Calibri"/>
                <a:ea typeface="Calibri"/>
                <a:cs typeface="Calibri"/>
                <a:sym typeface="Calibri"/>
              </a:rPr>
              <a:t>Por ejemplo: Si es en JAVA y se sigue patrón DAO, por cada entidad se crea: un bean, una interfaz y una clase DAO.</a:t>
            </a:r>
            <a:endParaRPr b="1" i="0" sz="1600" u="none" cap="none" strike="noStrike">
              <a:solidFill>
                <a:schemeClr val="lt1"/>
              </a:solidFill>
              <a:latin typeface="Calibri"/>
              <a:ea typeface="Calibri"/>
              <a:cs typeface="Calibri"/>
              <a:sym typeface="Calibri"/>
            </a:endParaRPr>
          </a:p>
        </p:txBody>
      </p:sp>
      <p:sp>
        <p:nvSpPr>
          <p:cNvPr id="163" name="Google Shape;163;p6"/>
          <p:cNvSpPr txBox="1"/>
          <p:nvPr/>
        </p:nvSpPr>
        <p:spPr>
          <a:xfrm>
            <a:off x="3443785" y="1656786"/>
            <a:ext cx="5231903" cy="843970"/>
          </a:xfrm>
          <a:prstGeom prst="rect">
            <a:avLst/>
          </a:prstGeom>
          <a:solidFill>
            <a:srgbClr val="2EB1B5"/>
          </a:solidFill>
          <a:ln>
            <a:noFill/>
          </a:ln>
        </p:spPr>
        <p:txBody>
          <a:bodyPr anchorCtr="0" anchor="t" bIns="52125" lIns="104275" spcFirstLastPara="1" rIns="104275" wrap="square" tIns="52125">
            <a:spAutoFit/>
          </a:bodyPr>
          <a:lstStyle/>
          <a:p>
            <a:pPr indent="127000" lvl="0" marL="50800" marR="0" rtl="0" algn="l">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Equipo de base de datos</a:t>
            </a:r>
            <a:endParaRPr b="0" i="0" sz="1400" u="none" cap="none" strike="noStrike">
              <a:solidFill>
                <a:srgbClr val="000000"/>
              </a:solidFill>
              <a:latin typeface="Arial"/>
              <a:ea typeface="Arial"/>
              <a:cs typeface="Arial"/>
              <a:sym typeface="Arial"/>
            </a:endParaRPr>
          </a:p>
          <a:p>
            <a:pPr indent="0" lvl="0" marL="177800" marR="0" rtl="0" algn="l">
              <a:lnSpc>
                <a:spcPct val="100000"/>
              </a:lnSpc>
              <a:spcBef>
                <a:spcPts val="0"/>
              </a:spcBef>
              <a:spcAft>
                <a:spcPts val="0"/>
              </a:spcAft>
              <a:buClr>
                <a:srgbClr val="000000"/>
              </a:buClr>
              <a:buSzPts val="1600"/>
              <a:buFont typeface="Arial"/>
              <a:buNone/>
            </a:pPr>
            <a:r>
              <a:rPr b="0" i="0" lang="es-PE" sz="1600" u="none" cap="none" strike="noStrike">
                <a:solidFill>
                  <a:schemeClr val="lt1"/>
                </a:solidFill>
                <a:latin typeface="Calibri"/>
                <a:ea typeface="Calibri"/>
                <a:cs typeface="Calibri"/>
                <a:sym typeface="Calibri"/>
              </a:rPr>
              <a:t>Permitirá crear el modelo físico donde se identificará las tablas relacionales de la base de datos.</a:t>
            </a:r>
            <a:endParaRPr b="0" i="0" sz="1600" u="none" cap="none" strike="noStrike">
              <a:solidFill>
                <a:schemeClr val="lt1"/>
              </a:solidFill>
              <a:latin typeface="Calibri"/>
              <a:ea typeface="Calibri"/>
              <a:cs typeface="Calibri"/>
              <a:sym typeface="Calibri"/>
            </a:endParaRPr>
          </a:p>
        </p:txBody>
      </p:sp>
      <p:grpSp>
        <p:nvGrpSpPr>
          <p:cNvPr id="164" name="Google Shape;164;p6"/>
          <p:cNvGrpSpPr/>
          <p:nvPr/>
        </p:nvGrpSpPr>
        <p:grpSpPr>
          <a:xfrm>
            <a:off x="476381" y="1656786"/>
            <a:ext cx="2836300" cy="1319134"/>
            <a:chOff x="562" y="1117"/>
            <a:chExt cx="2222" cy="1377"/>
          </a:xfrm>
        </p:grpSpPr>
        <p:sp>
          <p:nvSpPr>
            <p:cNvPr id="165" name="Google Shape;165;p6"/>
            <p:cNvSpPr/>
            <p:nvPr/>
          </p:nvSpPr>
          <p:spPr>
            <a:xfrm>
              <a:off x="562" y="1117"/>
              <a:ext cx="2222" cy="725"/>
            </a:xfrm>
            <a:prstGeom prst="rightArrowCallout">
              <a:avLst>
                <a:gd fmla="val 24963" name="adj1"/>
                <a:gd fmla="val 25000" name="adj2"/>
                <a:gd fmla="val 27044" name="adj3"/>
                <a:gd fmla="val 71120" name="adj4"/>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BENEFICIARÁ 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DOS EQUIPOS</a:t>
              </a:r>
              <a:endParaRPr b="1" i="0" sz="1600" u="none" cap="none" strike="noStrike">
                <a:solidFill>
                  <a:schemeClr val="lt1"/>
                </a:solidFill>
                <a:latin typeface="Calibri"/>
                <a:ea typeface="Calibri"/>
                <a:cs typeface="Calibri"/>
                <a:sym typeface="Calibri"/>
              </a:endParaRPr>
            </a:p>
          </p:txBody>
        </p:sp>
        <p:sp>
          <p:nvSpPr>
            <p:cNvPr id="166" name="Google Shape;166;p6"/>
            <p:cNvSpPr/>
            <p:nvPr/>
          </p:nvSpPr>
          <p:spPr>
            <a:xfrm>
              <a:off x="1293" y="1761"/>
              <a:ext cx="248" cy="733"/>
            </a:xfrm>
            <a:prstGeom prst="downArrow">
              <a:avLst>
                <a:gd fmla="val 50000" name="adj1"/>
                <a:gd fmla="val 54578" name="adj2"/>
              </a:avLst>
            </a:prstGeom>
            <a:solidFill>
              <a:srgbClr val="E5594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grpSp>
      <p:sp>
        <p:nvSpPr>
          <p:cNvPr id="167" name="Google Shape;167;p6"/>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p:nvPr/>
        </p:nvSpPr>
        <p:spPr>
          <a:xfrm>
            <a:off x="474422" y="3112118"/>
            <a:ext cx="3361859" cy="2106914"/>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7"/>
          <p:cNvSpPr/>
          <p:nvPr/>
        </p:nvSpPr>
        <p:spPr>
          <a:xfrm>
            <a:off x="474422" y="1228876"/>
            <a:ext cx="3361859" cy="1808012"/>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7"/>
          <p:cNvSpPr/>
          <p:nvPr/>
        </p:nvSpPr>
        <p:spPr>
          <a:xfrm>
            <a:off x="3968222" y="2787805"/>
            <a:ext cx="4707466" cy="243122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7"/>
          <p:cNvSpPr/>
          <p:nvPr/>
        </p:nvSpPr>
        <p:spPr>
          <a:xfrm>
            <a:off x="514695" y="912813"/>
            <a:ext cx="8160993" cy="24622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CONSTRUCCIÓN DEL MODELO CONCEPTUAL</a:t>
            </a:r>
            <a:endParaRPr b="0" i="0" sz="1400" u="none" cap="none" strike="noStrike">
              <a:solidFill>
                <a:srgbClr val="000000"/>
              </a:solidFill>
              <a:latin typeface="Arial"/>
              <a:ea typeface="Arial"/>
              <a:cs typeface="Arial"/>
              <a:sym typeface="Arial"/>
            </a:endParaRPr>
          </a:p>
        </p:txBody>
      </p:sp>
      <p:sp>
        <p:nvSpPr>
          <p:cNvPr id="176" name="Google Shape;176;p7"/>
          <p:cNvSpPr/>
          <p:nvPr/>
        </p:nvSpPr>
        <p:spPr>
          <a:xfrm>
            <a:off x="3966854" y="1234302"/>
            <a:ext cx="4708835" cy="1486596"/>
          </a:xfrm>
          <a:prstGeom prst="rect">
            <a:avLst/>
          </a:prstGeom>
          <a:solidFill>
            <a:srgbClr val="DAEE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7"/>
          <p:cNvSpPr/>
          <p:nvPr/>
        </p:nvSpPr>
        <p:spPr>
          <a:xfrm>
            <a:off x="4150521" y="1402827"/>
            <a:ext cx="4371481" cy="1107996"/>
          </a:xfrm>
          <a:prstGeom prst="rect">
            <a:avLst/>
          </a:prstGeom>
          <a:noFill/>
          <a:ln>
            <a:noFill/>
          </a:ln>
        </p:spPr>
        <p:txBody>
          <a:bodyPr anchorCtr="0" anchor="t" bIns="45700" lIns="91425" spcFirstLastPara="1" rIns="91425" wrap="square" tIns="45700">
            <a:spAutoFit/>
          </a:bodyPr>
          <a:lstStyle/>
          <a:p>
            <a:pPr indent="-184150" lvl="0" marL="18415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Identificar </a:t>
            </a:r>
            <a:r>
              <a:rPr b="1" i="0" lang="es-PE" sz="1600" u="none" cap="none" strike="noStrike">
                <a:solidFill>
                  <a:srgbClr val="FF0000"/>
                </a:solidFill>
                <a:latin typeface="Calibri"/>
                <a:ea typeface="Calibri"/>
                <a:cs typeface="Calibri"/>
                <a:sym typeface="Calibri"/>
              </a:rPr>
              <a:t>clases de entidad </a:t>
            </a:r>
            <a:r>
              <a:rPr b="0" i="0" lang="es-PE" sz="1600" u="none" cap="none" strike="noStrike">
                <a:solidFill>
                  <a:schemeClr val="dk1"/>
                </a:solidFill>
                <a:latin typeface="Calibri"/>
                <a:ea typeface="Calibri"/>
                <a:cs typeface="Calibri"/>
                <a:sym typeface="Calibri"/>
              </a:rPr>
              <a:t>con sus atributos</a:t>
            </a:r>
            <a:endParaRPr b="0" i="0" sz="1400" u="none" cap="none" strike="noStrike">
              <a:solidFill>
                <a:srgbClr val="000000"/>
              </a:solidFill>
              <a:latin typeface="Arial"/>
              <a:ea typeface="Arial"/>
              <a:cs typeface="Arial"/>
              <a:sym typeface="Arial"/>
            </a:endParaRPr>
          </a:p>
          <a:p>
            <a:pPr indent="-184150" lvl="0" marL="18415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Identificar </a:t>
            </a:r>
            <a:r>
              <a:rPr b="1" i="0" lang="es-PE" sz="1600" u="none" cap="none" strike="noStrike">
                <a:solidFill>
                  <a:srgbClr val="FF0000"/>
                </a:solidFill>
                <a:latin typeface="Calibri"/>
                <a:ea typeface="Calibri"/>
                <a:cs typeface="Calibri"/>
                <a:sym typeface="Calibri"/>
              </a:rPr>
              <a:t>asociaciones y multiplicidades</a:t>
            </a:r>
            <a:endParaRPr b="0" i="0" sz="1400" u="none" cap="none" strike="noStrike">
              <a:solidFill>
                <a:srgbClr val="000000"/>
              </a:solidFill>
              <a:latin typeface="Arial"/>
              <a:ea typeface="Arial"/>
              <a:cs typeface="Arial"/>
              <a:sym typeface="Arial"/>
            </a:endParaRPr>
          </a:p>
          <a:p>
            <a:pPr indent="-184150" lvl="0" marL="18415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Identificar </a:t>
            </a:r>
            <a:r>
              <a:rPr b="1" i="0" lang="es-PE" sz="1600" u="none" cap="none" strike="noStrike">
                <a:solidFill>
                  <a:srgbClr val="FF0000"/>
                </a:solidFill>
                <a:latin typeface="Calibri"/>
                <a:ea typeface="Calibri"/>
                <a:cs typeface="Calibri"/>
                <a:sym typeface="Calibri"/>
              </a:rPr>
              <a:t>agregaciones y multiplicidades</a:t>
            </a:r>
            <a:endParaRPr b="0" i="0" sz="1400" u="none" cap="none" strike="noStrike">
              <a:solidFill>
                <a:srgbClr val="000000"/>
              </a:solidFill>
              <a:latin typeface="Arial"/>
              <a:ea typeface="Arial"/>
              <a:cs typeface="Arial"/>
              <a:sym typeface="Arial"/>
            </a:endParaRPr>
          </a:p>
          <a:p>
            <a:pPr indent="-184150" lvl="0" marL="18415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Definir </a:t>
            </a:r>
            <a:r>
              <a:rPr b="1" i="0" lang="es-PE" sz="1600" u="none" cap="none" strike="noStrike">
                <a:solidFill>
                  <a:srgbClr val="FF0000"/>
                </a:solidFill>
                <a:latin typeface="Calibri"/>
                <a:ea typeface="Calibri"/>
                <a:cs typeface="Calibri"/>
                <a:sym typeface="Calibri"/>
              </a:rPr>
              <a:t>jerarquías</a:t>
            </a:r>
            <a:r>
              <a:rPr b="0" i="0" lang="es-PE" sz="1600" u="none" cap="none" strike="noStrike">
                <a:solidFill>
                  <a:schemeClr val="dk1"/>
                </a:solidFill>
                <a:latin typeface="Calibri"/>
                <a:ea typeface="Calibri"/>
                <a:cs typeface="Calibri"/>
                <a:sym typeface="Calibri"/>
              </a:rPr>
              <a:t> (opcional)</a:t>
            </a:r>
            <a:endParaRPr b="0" i="0" sz="1400" u="none" cap="none" strike="noStrike">
              <a:solidFill>
                <a:srgbClr val="000000"/>
              </a:solidFill>
              <a:latin typeface="Arial"/>
              <a:ea typeface="Arial"/>
              <a:cs typeface="Arial"/>
              <a:sym typeface="Arial"/>
            </a:endParaRPr>
          </a:p>
        </p:txBody>
      </p:sp>
      <p:grpSp>
        <p:nvGrpSpPr>
          <p:cNvPr id="178" name="Google Shape;178;p7"/>
          <p:cNvGrpSpPr/>
          <p:nvPr/>
        </p:nvGrpSpPr>
        <p:grpSpPr>
          <a:xfrm>
            <a:off x="1107433" y="1397001"/>
            <a:ext cx="1988663" cy="1593358"/>
            <a:chOff x="1020793" y="1427501"/>
            <a:chExt cx="2334252" cy="1870251"/>
          </a:xfrm>
        </p:grpSpPr>
        <p:grpSp>
          <p:nvGrpSpPr>
            <p:cNvPr id="179" name="Google Shape;179;p7"/>
            <p:cNvGrpSpPr/>
            <p:nvPr/>
          </p:nvGrpSpPr>
          <p:grpSpPr>
            <a:xfrm>
              <a:off x="1142550" y="2006749"/>
              <a:ext cx="470407" cy="327660"/>
              <a:chOff x="3809896" y="2590238"/>
              <a:chExt cx="850992" cy="592755"/>
            </a:xfrm>
          </p:grpSpPr>
          <p:sp>
            <p:nvSpPr>
              <p:cNvPr id="180" name="Google Shape;180;p7"/>
              <p:cNvSpPr/>
              <p:nvPr/>
            </p:nvSpPr>
            <p:spPr>
              <a:xfrm>
                <a:off x="4068133" y="2590238"/>
                <a:ext cx="592755" cy="59275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81" name="Google Shape;181;p7"/>
              <p:cNvCxnSpPr/>
              <p:nvPr/>
            </p:nvCxnSpPr>
            <p:spPr>
              <a:xfrm>
                <a:off x="3815900" y="2628379"/>
                <a:ext cx="0" cy="516473"/>
              </a:xfrm>
              <a:prstGeom prst="straightConnector1">
                <a:avLst/>
              </a:prstGeom>
              <a:noFill/>
              <a:ln cap="flat" cmpd="sng" w="38100">
                <a:solidFill>
                  <a:schemeClr val="dk1"/>
                </a:solidFill>
                <a:prstDash val="solid"/>
                <a:round/>
                <a:headEnd len="sm" w="sm" type="none"/>
                <a:tailEnd len="sm" w="sm" type="none"/>
              </a:ln>
            </p:spPr>
          </p:cxnSp>
          <p:cxnSp>
            <p:nvCxnSpPr>
              <p:cNvPr id="182" name="Google Shape;182;p7"/>
              <p:cNvCxnSpPr/>
              <p:nvPr/>
            </p:nvCxnSpPr>
            <p:spPr>
              <a:xfrm>
                <a:off x="3809896" y="2885748"/>
                <a:ext cx="258237" cy="1735"/>
              </a:xfrm>
              <a:prstGeom prst="straightConnector1">
                <a:avLst/>
              </a:prstGeom>
              <a:noFill/>
              <a:ln cap="flat" cmpd="sng" w="38100">
                <a:solidFill>
                  <a:schemeClr val="dk1"/>
                </a:solidFill>
                <a:prstDash val="solid"/>
                <a:round/>
                <a:headEnd len="sm" w="sm" type="none"/>
                <a:tailEnd len="sm" w="sm" type="none"/>
              </a:ln>
            </p:spPr>
          </p:cxnSp>
        </p:grpSp>
        <p:grpSp>
          <p:nvGrpSpPr>
            <p:cNvPr id="183" name="Google Shape;183;p7"/>
            <p:cNvGrpSpPr/>
            <p:nvPr/>
          </p:nvGrpSpPr>
          <p:grpSpPr>
            <a:xfrm>
              <a:off x="2830459" y="2636325"/>
              <a:ext cx="328885" cy="333600"/>
              <a:chOff x="6223284" y="-360580"/>
              <a:chExt cx="594967" cy="603500"/>
            </a:xfrm>
          </p:grpSpPr>
          <p:sp>
            <p:nvSpPr>
              <p:cNvPr id="184" name="Google Shape;184;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85" name="Google Shape;185;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grpSp>
          <p:nvGrpSpPr>
            <p:cNvPr id="186" name="Google Shape;186;p7"/>
            <p:cNvGrpSpPr/>
            <p:nvPr/>
          </p:nvGrpSpPr>
          <p:grpSpPr>
            <a:xfrm>
              <a:off x="2095832" y="1984021"/>
              <a:ext cx="327660" cy="364380"/>
              <a:chOff x="4039676" y="3573286"/>
              <a:chExt cx="592755" cy="659182"/>
            </a:xfrm>
          </p:grpSpPr>
          <p:sp>
            <p:nvSpPr>
              <p:cNvPr id="187" name="Google Shape;187;p7"/>
              <p:cNvSpPr/>
              <p:nvPr/>
            </p:nvSpPr>
            <p:spPr>
              <a:xfrm>
                <a:off x="4039676" y="3639713"/>
                <a:ext cx="592755" cy="59275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7"/>
              <p:cNvSpPr/>
              <p:nvPr/>
            </p:nvSpPr>
            <p:spPr>
              <a:xfrm rot="1438027">
                <a:off x="4254845" y="3589092"/>
                <a:ext cx="97828" cy="94251"/>
              </a:xfrm>
              <a:prstGeom prst="corner">
                <a:avLst>
                  <a:gd fmla="val 22051" name="adj1"/>
                  <a:gd fmla="val 26350" name="adj2"/>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89" name="Google Shape;189;p7"/>
            <p:cNvGrpSpPr/>
            <p:nvPr/>
          </p:nvGrpSpPr>
          <p:grpSpPr>
            <a:xfrm>
              <a:off x="2830459" y="1427501"/>
              <a:ext cx="328885" cy="333600"/>
              <a:chOff x="6223284" y="-360580"/>
              <a:chExt cx="594967" cy="603500"/>
            </a:xfrm>
          </p:grpSpPr>
          <p:sp>
            <p:nvSpPr>
              <p:cNvPr id="190" name="Google Shape;190;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91" name="Google Shape;191;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192" name="Google Shape;192;p7"/>
            <p:cNvSpPr txBox="1"/>
            <p:nvPr/>
          </p:nvSpPr>
          <p:spPr>
            <a:xfrm>
              <a:off x="2634758" y="1763519"/>
              <a:ext cx="720287" cy="3251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Class 4</a:t>
              </a:r>
              <a:endParaRPr b="0" i="0" sz="1200" u="none" cap="none" strike="noStrike">
                <a:solidFill>
                  <a:schemeClr val="dk1"/>
                </a:solidFill>
                <a:latin typeface="Calibri"/>
                <a:ea typeface="Calibri"/>
                <a:cs typeface="Calibri"/>
                <a:sym typeface="Calibri"/>
              </a:endParaRPr>
            </a:p>
          </p:txBody>
        </p:sp>
        <p:sp>
          <p:nvSpPr>
            <p:cNvPr id="193" name="Google Shape;193;p7"/>
            <p:cNvSpPr txBox="1"/>
            <p:nvPr/>
          </p:nvSpPr>
          <p:spPr>
            <a:xfrm>
              <a:off x="2634758" y="2972616"/>
              <a:ext cx="720287" cy="3251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Class 5</a:t>
              </a:r>
              <a:endParaRPr b="0" i="0" sz="1200" u="none" cap="none" strike="noStrike">
                <a:solidFill>
                  <a:schemeClr val="dk1"/>
                </a:solidFill>
                <a:latin typeface="Calibri"/>
                <a:ea typeface="Calibri"/>
                <a:cs typeface="Calibri"/>
                <a:sym typeface="Calibri"/>
              </a:endParaRPr>
            </a:p>
          </p:txBody>
        </p:sp>
        <p:sp>
          <p:nvSpPr>
            <p:cNvPr id="194" name="Google Shape;194;p7"/>
            <p:cNvSpPr txBox="1"/>
            <p:nvPr/>
          </p:nvSpPr>
          <p:spPr>
            <a:xfrm>
              <a:off x="1891394" y="2380200"/>
              <a:ext cx="720287" cy="3251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Class 2</a:t>
              </a:r>
              <a:endParaRPr b="0" i="0" sz="1200" u="none" cap="none" strike="noStrike">
                <a:solidFill>
                  <a:schemeClr val="dk1"/>
                </a:solidFill>
                <a:latin typeface="Calibri"/>
                <a:ea typeface="Calibri"/>
                <a:cs typeface="Calibri"/>
                <a:sym typeface="Calibri"/>
              </a:endParaRPr>
            </a:p>
          </p:txBody>
        </p:sp>
        <p:sp>
          <p:nvSpPr>
            <p:cNvPr id="195" name="Google Shape;195;p7"/>
            <p:cNvSpPr txBox="1"/>
            <p:nvPr/>
          </p:nvSpPr>
          <p:spPr>
            <a:xfrm>
              <a:off x="1020793" y="2380200"/>
              <a:ext cx="720287" cy="3251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Class 1</a:t>
              </a:r>
              <a:endParaRPr b="0" i="0" sz="1200" u="none" cap="none" strike="noStrike">
                <a:solidFill>
                  <a:schemeClr val="dk1"/>
                </a:solidFill>
                <a:latin typeface="Calibri"/>
                <a:ea typeface="Calibri"/>
                <a:cs typeface="Calibri"/>
                <a:sym typeface="Calibri"/>
              </a:endParaRPr>
            </a:p>
          </p:txBody>
        </p:sp>
        <p:cxnSp>
          <p:nvCxnSpPr>
            <p:cNvPr id="196" name="Google Shape;196;p7"/>
            <p:cNvCxnSpPr/>
            <p:nvPr/>
          </p:nvCxnSpPr>
          <p:spPr>
            <a:xfrm>
              <a:off x="1651023" y="2170099"/>
              <a:ext cx="404376" cy="0"/>
            </a:xfrm>
            <a:prstGeom prst="straightConnector1">
              <a:avLst/>
            </a:prstGeom>
            <a:noFill/>
            <a:ln cap="flat" cmpd="sng" w="28575">
              <a:solidFill>
                <a:schemeClr val="dk1"/>
              </a:solidFill>
              <a:prstDash val="solid"/>
              <a:round/>
              <a:headEnd len="sm" w="sm" type="none"/>
              <a:tailEnd len="sm" w="sm" type="none"/>
            </a:ln>
          </p:spPr>
        </p:cxnSp>
        <p:cxnSp>
          <p:nvCxnSpPr>
            <p:cNvPr id="197" name="Google Shape;197;p7"/>
            <p:cNvCxnSpPr/>
            <p:nvPr/>
          </p:nvCxnSpPr>
          <p:spPr>
            <a:xfrm flipH="1" rot="10800000">
              <a:off x="2414642" y="1677826"/>
              <a:ext cx="354216" cy="336248"/>
            </a:xfrm>
            <a:prstGeom prst="straightConnector1">
              <a:avLst/>
            </a:prstGeom>
            <a:noFill/>
            <a:ln cap="flat" cmpd="sng" w="28575">
              <a:solidFill>
                <a:schemeClr val="dk1"/>
              </a:solidFill>
              <a:prstDash val="solid"/>
              <a:round/>
              <a:headEnd len="sm" w="sm" type="none"/>
              <a:tailEnd len="sm" w="sm" type="none"/>
            </a:ln>
          </p:spPr>
        </p:cxnSp>
        <p:cxnSp>
          <p:nvCxnSpPr>
            <p:cNvPr id="198" name="Google Shape;198;p7"/>
            <p:cNvCxnSpPr/>
            <p:nvPr/>
          </p:nvCxnSpPr>
          <p:spPr>
            <a:xfrm>
              <a:off x="2414642" y="2340759"/>
              <a:ext cx="354216" cy="336248"/>
            </a:xfrm>
            <a:prstGeom prst="straightConnector1">
              <a:avLst/>
            </a:prstGeom>
            <a:noFill/>
            <a:ln cap="flat" cmpd="sng" w="28575">
              <a:solidFill>
                <a:schemeClr val="dk1"/>
              </a:solidFill>
              <a:prstDash val="solid"/>
              <a:round/>
              <a:headEnd len="sm" w="sm" type="none"/>
              <a:tailEnd len="sm" w="sm" type="none"/>
            </a:ln>
          </p:spPr>
        </p:cxnSp>
      </p:grpSp>
      <p:grpSp>
        <p:nvGrpSpPr>
          <p:cNvPr id="199" name="Google Shape;199;p7"/>
          <p:cNvGrpSpPr/>
          <p:nvPr/>
        </p:nvGrpSpPr>
        <p:grpSpPr>
          <a:xfrm>
            <a:off x="1036137" y="3271942"/>
            <a:ext cx="2266864" cy="1870537"/>
            <a:chOff x="705099" y="3105911"/>
            <a:chExt cx="2731392" cy="2253849"/>
          </a:xfrm>
        </p:grpSpPr>
        <p:sp>
          <p:nvSpPr>
            <p:cNvPr id="200" name="Google Shape;200;p7"/>
            <p:cNvSpPr txBox="1"/>
            <p:nvPr/>
          </p:nvSpPr>
          <p:spPr>
            <a:xfrm>
              <a:off x="1798413" y="4295579"/>
              <a:ext cx="720289" cy="315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dk1"/>
                  </a:solidFill>
                  <a:latin typeface="Calibri"/>
                  <a:ea typeface="Calibri"/>
                  <a:cs typeface="Calibri"/>
                  <a:sym typeface="Calibri"/>
                </a:rPr>
                <a:t>Class 7</a:t>
              </a:r>
              <a:endParaRPr b="0" i="0" sz="1100" u="none" cap="none" strike="noStrike">
                <a:solidFill>
                  <a:schemeClr val="dk1"/>
                </a:solidFill>
                <a:latin typeface="Calibri"/>
                <a:ea typeface="Calibri"/>
                <a:cs typeface="Calibri"/>
                <a:sym typeface="Calibri"/>
              </a:endParaRPr>
            </a:p>
          </p:txBody>
        </p:sp>
        <p:grpSp>
          <p:nvGrpSpPr>
            <p:cNvPr id="201" name="Google Shape;201;p7"/>
            <p:cNvGrpSpPr/>
            <p:nvPr/>
          </p:nvGrpSpPr>
          <p:grpSpPr>
            <a:xfrm>
              <a:off x="2911905" y="3268577"/>
              <a:ext cx="328885" cy="333600"/>
              <a:chOff x="6223284" y="-360580"/>
              <a:chExt cx="594967" cy="603500"/>
            </a:xfrm>
          </p:grpSpPr>
          <p:sp>
            <p:nvSpPr>
              <p:cNvPr id="202" name="Google Shape;202;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03" name="Google Shape;203;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204" name="Google Shape;204;p7"/>
            <p:cNvSpPr txBox="1"/>
            <p:nvPr/>
          </p:nvSpPr>
          <p:spPr>
            <a:xfrm>
              <a:off x="2716202" y="3604868"/>
              <a:ext cx="720289" cy="315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dk1"/>
                  </a:solidFill>
                  <a:latin typeface="Calibri"/>
                  <a:ea typeface="Calibri"/>
                  <a:cs typeface="Calibri"/>
                  <a:sym typeface="Calibri"/>
                </a:rPr>
                <a:t>Class 8</a:t>
              </a:r>
              <a:endParaRPr b="0" i="0" sz="1100" u="none" cap="none" strike="noStrike">
                <a:solidFill>
                  <a:schemeClr val="dk1"/>
                </a:solidFill>
                <a:latin typeface="Calibri"/>
                <a:ea typeface="Calibri"/>
                <a:cs typeface="Calibri"/>
                <a:sym typeface="Calibri"/>
              </a:endParaRPr>
            </a:p>
          </p:txBody>
        </p:sp>
        <p:grpSp>
          <p:nvGrpSpPr>
            <p:cNvPr id="205" name="Google Shape;205;p7"/>
            <p:cNvGrpSpPr/>
            <p:nvPr/>
          </p:nvGrpSpPr>
          <p:grpSpPr>
            <a:xfrm>
              <a:off x="2814626" y="4708250"/>
              <a:ext cx="328885" cy="333600"/>
              <a:chOff x="6223284" y="-360580"/>
              <a:chExt cx="594967" cy="603500"/>
            </a:xfrm>
          </p:grpSpPr>
          <p:sp>
            <p:nvSpPr>
              <p:cNvPr id="206" name="Google Shape;206;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07" name="Google Shape;207;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208" name="Google Shape;208;p7"/>
            <p:cNvSpPr txBox="1"/>
            <p:nvPr/>
          </p:nvSpPr>
          <p:spPr>
            <a:xfrm>
              <a:off x="2579773" y="5044541"/>
              <a:ext cx="798111" cy="315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dk1"/>
                  </a:solidFill>
                  <a:latin typeface="Calibri"/>
                  <a:ea typeface="Calibri"/>
                  <a:cs typeface="Calibri"/>
                  <a:sym typeface="Calibri"/>
                </a:rPr>
                <a:t>Class 10</a:t>
              </a:r>
              <a:endParaRPr b="0" i="0" sz="1100" u="none" cap="none" strike="noStrike">
                <a:solidFill>
                  <a:schemeClr val="dk1"/>
                </a:solidFill>
                <a:latin typeface="Calibri"/>
                <a:ea typeface="Calibri"/>
                <a:cs typeface="Calibri"/>
                <a:sym typeface="Calibri"/>
              </a:endParaRPr>
            </a:p>
          </p:txBody>
        </p:sp>
        <p:grpSp>
          <p:nvGrpSpPr>
            <p:cNvPr id="209" name="Google Shape;209;p7"/>
            <p:cNvGrpSpPr/>
            <p:nvPr/>
          </p:nvGrpSpPr>
          <p:grpSpPr>
            <a:xfrm>
              <a:off x="1205619" y="4708250"/>
              <a:ext cx="328885" cy="333600"/>
              <a:chOff x="6223284" y="-360580"/>
              <a:chExt cx="594967" cy="603500"/>
            </a:xfrm>
          </p:grpSpPr>
          <p:sp>
            <p:nvSpPr>
              <p:cNvPr id="210" name="Google Shape;210;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11" name="Google Shape;211;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212" name="Google Shape;212;p7"/>
            <p:cNvSpPr txBox="1"/>
            <p:nvPr/>
          </p:nvSpPr>
          <p:spPr>
            <a:xfrm>
              <a:off x="1017652" y="5044541"/>
              <a:ext cx="720289" cy="315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dk1"/>
                  </a:solidFill>
                  <a:latin typeface="Calibri"/>
                  <a:ea typeface="Calibri"/>
                  <a:cs typeface="Calibri"/>
                  <a:sym typeface="Calibri"/>
                </a:rPr>
                <a:t>Class 9</a:t>
              </a:r>
              <a:endParaRPr b="0" i="0" sz="1100" u="none" cap="none" strike="noStrike">
                <a:solidFill>
                  <a:schemeClr val="dk1"/>
                </a:solidFill>
                <a:latin typeface="Calibri"/>
                <a:ea typeface="Calibri"/>
                <a:cs typeface="Calibri"/>
                <a:sym typeface="Calibri"/>
              </a:endParaRPr>
            </a:p>
          </p:txBody>
        </p:sp>
        <p:sp>
          <p:nvSpPr>
            <p:cNvPr id="213" name="Google Shape;213;p7"/>
            <p:cNvSpPr txBox="1"/>
            <p:nvPr/>
          </p:nvSpPr>
          <p:spPr>
            <a:xfrm>
              <a:off x="705099" y="4295579"/>
              <a:ext cx="720289" cy="315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dk1"/>
                  </a:solidFill>
                  <a:latin typeface="Calibri"/>
                  <a:ea typeface="Calibri"/>
                  <a:cs typeface="Calibri"/>
                  <a:sym typeface="Calibri"/>
                </a:rPr>
                <a:t>Class 9</a:t>
              </a:r>
              <a:endParaRPr b="0" i="0" sz="1100" u="none" cap="none" strike="noStrike">
                <a:solidFill>
                  <a:schemeClr val="dk1"/>
                </a:solidFill>
                <a:latin typeface="Calibri"/>
                <a:ea typeface="Calibri"/>
                <a:cs typeface="Calibri"/>
                <a:sym typeface="Calibri"/>
              </a:endParaRPr>
            </a:p>
          </p:txBody>
        </p:sp>
        <p:grpSp>
          <p:nvGrpSpPr>
            <p:cNvPr id="214" name="Google Shape;214;p7"/>
            <p:cNvGrpSpPr/>
            <p:nvPr/>
          </p:nvGrpSpPr>
          <p:grpSpPr>
            <a:xfrm>
              <a:off x="830040" y="3901612"/>
              <a:ext cx="470407" cy="327660"/>
              <a:chOff x="3809896" y="2590238"/>
              <a:chExt cx="850992" cy="592755"/>
            </a:xfrm>
          </p:grpSpPr>
          <p:sp>
            <p:nvSpPr>
              <p:cNvPr id="215" name="Google Shape;215;p7"/>
              <p:cNvSpPr/>
              <p:nvPr/>
            </p:nvSpPr>
            <p:spPr>
              <a:xfrm>
                <a:off x="4068133" y="2590238"/>
                <a:ext cx="592755" cy="59275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16" name="Google Shape;216;p7"/>
              <p:cNvCxnSpPr/>
              <p:nvPr/>
            </p:nvCxnSpPr>
            <p:spPr>
              <a:xfrm>
                <a:off x="3815900" y="2628379"/>
                <a:ext cx="0" cy="516473"/>
              </a:xfrm>
              <a:prstGeom prst="straightConnector1">
                <a:avLst/>
              </a:prstGeom>
              <a:noFill/>
              <a:ln cap="flat" cmpd="sng" w="38100">
                <a:solidFill>
                  <a:schemeClr val="dk1"/>
                </a:solidFill>
                <a:prstDash val="solid"/>
                <a:round/>
                <a:headEnd len="sm" w="sm" type="none"/>
                <a:tailEnd len="sm" w="sm" type="none"/>
              </a:ln>
            </p:spPr>
          </p:cxnSp>
          <p:cxnSp>
            <p:nvCxnSpPr>
              <p:cNvPr id="217" name="Google Shape;217;p7"/>
              <p:cNvCxnSpPr/>
              <p:nvPr/>
            </p:nvCxnSpPr>
            <p:spPr>
              <a:xfrm>
                <a:off x="3809896" y="2885748"/>
                <a:ext cx="258237" cy="1735"/>
              </a:xfrm>
              <a:prstGeom prst="straightConnector1">
                <a:avLst/>
              </a:prstGeom>
              <a:noFill/>
              <a:ln cap="flat" cmpd="sng" w="38100">
                <a:solidFill>
                  <a:schemeClr val="dk1"/>
                </a:solidFill>
                <a:prstDash val="solid"/>
                <a:round/>
                <a:headEnd len="sm" w="sm" type="none"/>
                <a:tailEnd len="sm" w="sm" type="none"/>
              </a:ln>
            </p:spPr>
          </p:cxnSp>
        </p:grpSp>
        <p:grpSp>
          <p:nvGrpSpPr>
            <p:cNvPr id="218" name="Google Shape;218;p7"/>
            <p:cNvGrpSpPr/>
            <p:nvPr/>
          </p:nvGrpSpPr>
          <p:grpSpPr>
            <a:xfrm>
              <a:off x="830040" y="3105911"/>
              <a:ext cx="470407" cy="327660"/>
              <a:chOff x="3809896" y="2590238"/>
              <a:chExt cx="850992" cy="592755"/>
            </a:xfrm>
          </p:grpSpPr>
          <p:sp>
            <p:nvSpPr>
              <p:cNvPr id="219" name="Google Shape;219;p7"/>
              <p:cNvSpPr/>
              <p:nvPr/>
            </p:nvSpPr>
            <p:spPr>
              <a:xfrm>
                <a:off x="4068133" y="2590238"/>
                <a:ext cx="592755" cy="59275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20" name="Google Shape;220;p7"/>
              <p:cNvCxnSpPr/>
              <p:nvPr/>
            </p:nvCxnSpPr>
            <p:spPr>
              <a:xfrm>
                <a:off x="3815900" y="2628379"/>
                <a:ext cx="0" cy="516473"/>
              </a:xfrm>
              <a:prstGeom prst="straightConnector1">
                <a:avLst/>
              </a:prstGeom>
              <a:noFill/>
              <a:ln cap="flat" cmpd="sng" w="38100">
                <a:solidFill>
                  <a:schemeClr val="dk1"/>
                </a:solidFill>
                <a:prstDash val="solid"/>
                <a:round/>
                <a:headEnd len="sm" w="sm" type="none"/>
                <a:tailEnd len="sm" w="sm" type="none"/>
              </a:ln>
            </p:spPr>
          </p:cxnSp>
          <p:cxnSp>
            <p:nvCxnSpPr>
              <p:cNvPr id="221" name="Google Shape;221;p7"/>
              <p:cNvCxnSpPr/>
              <p:nvPr/>
            </p:nvCxnSpPr>
            <p:spPr>
              <a:xfrm>
                <a:off x="3809896" y="2885748"/>
                <a:ext cx="258237" cy="1735"/>
              </a:xfrm>
              <a:prstGeom prst="straightConnector1">
                <a:avLst/>
              </a:prstGeom>
              <a:noFill/>
              <a:ln cap="flat" cmpd="sng" w="38100">
                <a:solidFill>
                  <a:schemeClr val="dk1"/>
                </a:solidFill>
                <a:prstDash val="solid"/>
                <a:round/>
                <a:headEnd len="sm" w="sm" type="none"/>
                <a:tailEnd len="sm" w="sm" type="none"/>
              </a:ln>
            </p:spPr>
          </p:cxnSp>
        </p:grpSp>
        <p:grpSp>
          <p:nvGrpSpPr>
            <p:cNvPr id="222" name="Google Shape;222;p7"/>
            <p:cNvGrpSpPr/>
            <p:nvPr/>
          </p:nvGrpSpPr>
          <p:grpSpPr>
            <a:xfrm>
              <a:off x="2006448" y="3878884"/>
              <a:ext cx="327660" cy="364380"/>
              <a:chOff x="4039676" y="3573286"/>
              <a:chExt cx="592755" cy="659182"/>
            </a:xfrm>
          </p:grpSpPr>
          <p:sp>
            <p:nvSpPr>
              <p:cNvPr id="223" name="Google Shape;223;p7"/>
              <p:cNvSpPr/>
              <p:nvPr/>
            </p:nvSpPr>
            <p:spPr>
              <a:xfrm>
                <a:off x="4039676" y="3639713"/>
                <a:ext cx="592755" cy="59275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p:nvPr/>
            </p:nvSpPr>
            <p:spPr>
              <a:xfrm rot="1438027">
                <a:off x="4254845" y="3589092"/>
                <a:ext cx="97828" cy="94251"/>
              </a:xfrm>
              <a:prstGeom prst="corner">
                <a:avLst>
                  <a:gd fmla="val 22051" name="adj1"/>
                  <a:gd fmla="val 26350" name="adj2"/>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25" name="Google Shape;225;p7"/>
            <p:cNvSpPr txBox="1"/>
            <p:nvPr/>
          </p:nvSpPr>
          <p:spPr>
            <a:xfrm>
              <a:off x="705099" y="3462491"/>
              <a:ext cx="720289" cy="315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dk1"/>
                  </a:solidFill>
                  <a:latin typeface="Calibri"/>
                  <a:ea typeface="Calibri"/>
                  <a:cs typeface="Calibri"/>
                  <a:sym typeface="Calibri"/>
                </a:rPr>
                <a:t>Class 9</a:t>
              </a:r>
              <a:endParaRPr b="0" i="0" sz="1100" u="none" cap="none" strike="noStrike">
                <a:solidFill>
                  <a:schemeClr val="dk1"/>
                </a:solidFill>
                <a:latin typeface="Calibri"/>
                <a:ea typeface="Calibri"/>
                <a:cs typeface="Calibri"/>
                <a:sym typeface="Calibri"/>
              </a:endParaRPr>
            </a:p>
          </p:txBody>
        </p:sp>
        <p:cxnSp>
          <p:nvCxnSpPr>
            <p:cNvPr id="226" name="Google Shape;226;p7"/>
            <p:cNvCxnSpPr/>
            <p:nvPr/>
          </p:nvCxnSpPr>
          <p:spPr>
            <a:xfrm>
              <a:off x="2390618" y="4282176"/>
              <a:ext cx="354216" cy="336248"/>
            </a:xfrm>
            <a:prstGeom prst="straightConnector1">
              <a:avLst/>
            </a:prstGeom>
            <a:noFill/>
            <a:ln cap="flat" cmpd="sng" w="28575">
              <a:solidFill>
                <a:schemeClr val="dk1"/>
              </a:solidFill>
              <a:prstDash val="solid"/>
              <a:round/>
              <a:headEnd len="sm" w="sm" type="none"/>
              <a:tailEnd len="sm" w="sm" type="none"/>
            </a:ln>
          </p:spPr>
        </p:cxnSp>
        <p:cxnSp>
          <p:nvCxnSpPr>
            <p:cNvPr id="227" name="Google Shape;227;p7"/>
            <p:cNvCxnSpPr/>
            <p:nvPr/>
          </p:nvCxnSpPr>
          <p:spPr>
            <a:xfrm flipH="1">
              <a:off x="1581419" y="4282176"/>
              <a:ext cx="354216" cy="336248"/>
            </a:xfrm>
            <a:prstGeom prst="straightConnector1">
              <a:avLst/>
            </a:prstGeom>
            <a:noFill/>
            <a:ln cap="flat" cmpd="sng" w="28575">
              <a:solidFill>
                <a:schemeClr val="dk1"/>
              </a:solidFill>
              <a:prstDash val="solid"/>
              <a:round/>
              <a:headEnd len="sm" w="sm" type="none"/>
              <a:tailEnd len="sm" w="sm" type="none"/>
            </a:ln>
          </p:spPr>
        </p:cxnSp>
        <p:cxnSp>
          <p:nvCxnSpPr>
            <p:cNvPr id="228" name="Google Shape;228;p7"/>
            <p:cNvCxnSpPr/>
            <p:nvPr/>
          </p:nvCxnSpPr>
          <p:spPr>
            <a:xfrm rot="10800000">
              <a:off x="1583436" y="3505502"/>
              <a:ext cx="354216" cy="336248"/>
            </a:xfrm>
            <a:prstGeom prst="straightConnector1">
              <a:avLst/>
            </a:prstGeom>
            <a:noFill/>
            <a:ln cap="flat" cmpd="sng" w="28575">
              <a:solidFill>
                <a:schemeClr val="dk1"/>
              </a:solidFill>
              <a:prstDash val="solid"/>
              <a:round/>
              <a:headEnd len="sm" w="sm" type="none"/>
              <a:tailEnd len="sm" w="sm" type="none"/>
            </a:ln>
          </p:spPr>
        </p:cxnSp>
        <p:cxnSp>
          <p:nvCxnSpPr>
            <p:cNvPr id="229" name="Google Shape;229;p7"/>
            <p:cNvCxnSpPr/>
            <p:nvPr/>
          </p:nvCxnSpPr>
          <p:spPr>
            <a:xfrm flipH="1" rot="10800000">
              <a:off x="2390618" y="3472232"/>
              <a:ext cx="354216" cy="336248"/>
            </a:xfrm>
            <a:prstGeom prst="straightConnector1">
              <a:avLst/>
            </a:prstGeom>
            <a:noFill/>
            <a:ln cap="flat" cmpd="sng" w="28575">
              <a:solidFill>
                <a:schemeClr val="dk1"/>
              </a:solidFill>
              <a:prstDash val="solid"/>
              <a:round/>
              <a:headEnd len="sm" w="sm" type="none"/>
              <a:tailEnd len="sm" w="sm" type="none"/>
            </a:ln>
          </p:spPr>
        </p:cxnSp>
      </p:grpSp>
      <p:grpSp>
        <p:nvGrpSpPr>
          <p:cNvPr id="230" name="Google Shape;230;p7"/>
          <p:cNvGrpSpPr/>
          <p:nvPr/>
        </p:nvGrpSpPr>
        <p:grpSpPr>
          <a:xfrm>
            <a:off x="4036729" y="2979188"/>
            <a:ext cx="4652202" cy="2184093"/>
            <a:chOff x="3980974" y="2923433"/>
            <a:chExt cx="4652202" cy="2184093"/>
          </a:xfrm>
        </p:grpSpPr>
        <p:grpSp>
          <p:nvGrpSpPr>
            <p:cNvPr id="231" name="Google Shape;231;p7"/>
            <p:cNvGrpSpPr/>
            <p:nvPr/>
          </p:nvGrpSpPr>
          <p:grpSpPr>
            <a:xfrm>
              <a:off x="3980974" y="2923433"/>
              <a:ext cx="4652202" cy="2184093"/>
              <a:chOff x="3971246" y="3137446"/>
              <a:chExt cx="4652202" cy="2184093"/>
            </a:xfrm>
          </p:grpSpPr>
          <p:sp>
            <p:nvSpPr>
              <p:cNvPr id="232" name="Google Shape;232;p7"/>
              <p:cNvSpPr txBox="1"/>
              <p:nvPr/>
            </p:nvSpPr>
            <p:spPr>
              <a:xfrm>
                <a:off x="7753550" y="3478661"/>
                <a:ext cx="869898"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Class 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e2</a:t>
                </a:r>
                <a:endParaRPr b="0" i="0" sz="900" u="none" cap="none" strike="noStrike">
                  <a:solidFill>
                    <a:schemeClr val="dk1"/>
                  </a:solidFill>
                  <a:latin typeface="Calibri"/>
                  <a:ea typeface="Calibri"/>
                  <a:cs typeface="Calibri"/>
                  <a:sym typeface="Calibri"/>
                </a:endParaRPr>
              </a:p>
            </p:txBody>
          </p:sp>
          <p:cxnSp>
            <p:nvCxnSpPr>
              <p:cNvPr id="233" name="Google Shape;233;p7"/>
              <p:cNvCxnSpPr/>
              <p:nvPr/>
            </p:nvCxnSpPr>
            <p:spPr>
              <a:xfrm>
                <a:off x="7931423" y="3654215"/>
                <a:ext cx="514152" cy="0"/>
              </a:xfrm>
              <a:prstGeom prst="straightConnector1">
                <a:avLst/>
              </a:prstGeom>
              <a:noFill/>
              <a:ln cap="flat" cmpd="sng" w="19050">
                <a:solidFill>
                  <a:schemeClr val="dk1"/>
                </a:solidFill>
                <a:prstDash val="solid"/>
                <a:round/>
                <a:headEnd len="sm" w="sm" type="none"/>
                <a:tailEnd len="sm" w="sm" type="none"/>
              </a:ln>
            </p:spPr>
          </p:cxnSp>
          <p:grpSp>
            <p:nvGrpSpPr>
              <p:cNvPr id="234" name="Google Shape;234;p7"/>
              <p:cNvGrpSpPr/>
              <p:nvPr/>
            </p:nvGrpSpPr>
            <p:grpSpPr>
              <a:xfrm>
                <a:off x="8024057" y="3142370"/>
                <a:ext cx="328885" cy="333600"/>
                <a:chOff x="6223284" y="-360580"/>
                <a:chExt cx="594967" cy="603500"/>
              </a:xfrm>
            </p:grpSpPr>
            <p:sp>
              <p:nvSpPr>
                <p:cNvPr id="235" name="Google Shape;235;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36" name="Google Shape;236;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grpSp>
            <p:nvGrpSpPr>
              <p:cNvPr id="237" name="Google Shape;237;p7"/>
              <p:cNvGrpSpPr/>
              <p:nvPr/>
            </p:nvGrpSpPr>
            <p:grpSpPr>
              <a:xfrm>
                <a:off x="7753550" y="4477417"/>
                <a:ext cx="869898" cy="751343"/>
                <a:chOff x="7578448" y="4492083"/>
                <a:chExt cx="869898" cy="751343"/>
              </a:xfrm>
            </p:grpSpPr>
            <p:sp>
              <p:nvSpPr>
                <p:cNvPr id="238" name="Google Shape;238;p7"/>
                <p:cNvSpPr txBox="1"/>
                <p:nvPr/>
              </p:nvSpPr>
              <p:spPr>
                <a:xfrm>
                  <a:off x="7578448" y="4874094"/>
                  <a:ext cx="869898"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Class 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attribute1</a:t>
                  </a:r>
                  <a:endParaRPr b="0" i="0" sz="1400" u="none" cap="none" strike="noStrike">
                    <a:solidFill>
                      <a:srgbClr val="000000"/>
                    </a:solidFill>
                    <a:latin typeface="Arial"/>
                    <a:ea typeface="Arial"/>
                    <a:cs typeface="Arial"/>
                    <a:sym typeface="Arial"/>
                  </a:endParaRPr>
                </a:p>
              </p:txBody>
            </p:sp>
            <p:cxnSp>
              <p:nvCxnSpPr>
                <p:cNvPr id="239" name="Google Shape;239;p7"/>
                <p:cNvCxnSpPr/>
                <p:nvPr/>
              </p:nvCxnSpPr>
              <p:spPr>
                <a:xfrm>
                  <a:off x="7756321" y="5056654"/>
                  <a:ext cx="514152" cy="0"/>
                </a:xfrm>
                <a:prstGeom prst="straightConnector1">
                  <a:avLst/>
                </a:prstGeom>
                <a:noFill/>
                <a:ln cap="flat" cmpd="sng" w="19050">
                  <a:solidFill>
                    <a:schemeClr val="dk1"/>
                  </a:solidFill>
                  <a:prstDash val="solid"/>
                  <a:round/>
                  <a:headEnd len="sm" w="sm" type="none"/>
                  <a:tailEnd len="sm" w="sm" type="none"/>
                </a:ln>
              </p:spPr>
            </p:cxnSp>
            <p:grpSp>
              <p:nvGrpSpPr>
                <p:cNvPr id="240" name="Google Shape;240;p7"/>
                <p:cNvGrpSpPr/>
                <p:nvPr/>
              </p:nvGrpSpPr>
              <p:grpSpPr>
                <a:xfrm>
                  <a:off x="7848955" y="4492083"/>
                  <a:ext cx="328885" cy="333600"/>
                  <a:chOff x="6223284" y="-360580"/>
                  <a:chExt cx="594967" cy="603500"/>
                </a:xfrm>
              </p:grpSpPr>
              <p:sp>
                <p:nvSpPr>
                  <p:cNvPr id="241" name="Google Shape;241;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42" name="Google Shape;242;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grpSp>
          <p:sp>
            <p:nvSpPr>
              <p:cNvPr id="243" name="Google Shape;243;p7"/>
              <p:cNvSpPr txBox="1"/>
              <p:nvPr/>
            </p:nvSpPr>
            <p:spPr>
              <a:xfrm>
                <a:off x="7787470" y="4205642"/>
                <a:ext cx="365806" cy="235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baseline="30000" i="0" lang="es-PE" sz="1400" u="none" cap="none" strike="noStrike">
                    <a:solidFill>
                      <a:schemeClr val="dk1"/>
                    </a:solidFill>
                    <a:latin typeface="Calibri"/>
                    <a:ea typeface="Calibri"/>
                    <a:cs typeface="Calibri"/>
                    <a:sym typeface="Calibri"/>
                  </a:rPr>
                  <a:t>1..*</a:t>
                </a:r>
                <a:endParaRPr b="0" baseline="30000" i="0" sz="1400" u="none" cap="none" strike="noStrike">
                  <a:solidFill>
                    <a:schemeClr val="dk1"/>
                  </a:solidFill>
                  <a:latin typeface="Calibri"/>
                  <a:ea typeface="Calibri"/>
                  <a:cs typeface="Calibri"/>
                  <a:sym typeface="Calibri"/>
                </a:endParaRPr>
              </a:p>
            </p:txBody>
          </p:sp>
          <p:grpSp>
            <p:nvGrpSpPr>
              <p:cNvPr id="244" name="Google Shape;244;p7"/>
              <p:cNvGrpSpPr/>
              <p:nvPr/>
            </p:nvGrpSpPr>
            <p:grpSpPr>
              <a:xfrm>
                <a:off x="8123578" y="3382519"/>
                <a:ext cx="151336" cy="998058"/>
                <a:chOff x="6187016" y="3788010"/>
                <a:chExt cx="151138" cy="996754"/>
              </a:xfrm>
            </p:grpSpPr>
            <p:cxnSp>
              <p:nvCxnSpPr>
                <p:cNvPr id="245" name="Google Shape;245;p7"/>
                <p:cNvCxnSpPr/>
                <p:nvPr/>
              </p:nvCxnSpPr>
              <p:spPr>
                <a:xfrm flipH="1" rot="-5400000">
                  <a:off x="5800502" y="4318588"/>
                  <a:ext cx="923072" cy="9280"/>
                </a:xfrm>
                <a:prstGeom prst="straightConnector1">
                  <a:avLst/>
                </a:prstGeom>
                <a:noFill/>
                <a:ln cap="flat" cmpd="sng" w="38100">
                  <a:solidFill>
                    <a:srgbClr val="E5594B"/>
                  </a:solidFill>
                  <a:prstDash val="solid"/>
                  <a:round/>
                  <a:headEnd len="sm" w="sm" type="none"/>
                  <a:tailEnd len="med" w="med" type="triangle"/>
                </a:ln>
              </p:spPr>
            </p:cxnSp>
            <p:sp>
              <p:nvSpPr>
                <p:cNvPr id="246" name="Google Shape;246;p7"/>
                <p:cNvSpPr/>
                <p:nvPr/>
              </p:nvSpPr>
              <p:spPr>
                <a:xfrm>
                  <a:off x="6187016" y="3788010"/>
                  <a:ext cx="151138" cy="182251"/>
                </a:xfrm>
                <a:prstGeom prst="diamond">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7"/>
              <p:cNvGrpSpPr/>
              <p:nvPr/>
            </p:nvGrpSpPr>
            <p:grpSpPr>
              <a:xfrm>
                <a:off x="6152828" y="4477417"/>
                <a:ext cx="869898" cy="844122"/>
                <a:chOff x="5977726" y="4477417"/>
                <a:chExt cx="869898" cy="844122"/>
              </a:xfrm>
            </p:grpSpPr>
            <p:sp>
              <p:nvSpPr>
                <p:cNvPr id="248" name="Google Shape;248;p7"/>
                <p:cNvSpPr txBox="1"/>
                <p:nvPr/>
              </p:nvSpPr>
              <p:spPr>
                <a:xfrm>
                  <a:off x="5977726" y="4813708"/>
                  <a:ext cx="869898"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Class 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cxnSp>
              <p:nvCxnSpPr>
                <p:cNvPr id="249" name="Google Shape;249;p7"/>
                <p:cNvCxnSpPr/>
                <p:nvPr/>
              </p:nvCxnSpPr>
              <p:spPr>
                <a:xfrm>
                  <a:off x="6155599" y="4992765"/>
                  <a:ext cx="514152" cy="0"/>
                </a:xfrm>
                <a:prstGeom prst="straightConnector1">
                  <a:avLst/>
                </a:prstGeom>
                <a:noFill/>
                <a:ln cap="flat" cmpd="sng" w="19050">
                  <a:solidFill>
                    <a:schemeClr val="dk1"/>
                  </a:solidFill>
                  <a:prstDash val="solid"/>
                  <a:round/>
                  <a:headEnd len="sm" w="sm" type="none"/>
                  <a:tailEnd len="sm" w="sm" type="none"/>
                </a:ln>
              </p:spPr>
            </p:cxnSp>
            <p:sp>
              <p:nvSpPr>
                <p:cNvPr id="250" name="Google Shape;250;p7"/>
                <p:cNvSpPr/>
                <p:nvPr/>
              </p:nvSpPr>
              <p:spPr>
                <a:xfrm>
                  <a:off x="6248233" y="4477417"/>
                  <a:ext cx="327663" cy="327660"/>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51" name="Google Shape;251;p7"/>
                <p:cNvCxnSpPr/>
                <p:nvPr/>
              </p:nvCxnSpPr>
              <p:spPr>
                <a:xfrm>
                  <a:off x="6266007" y="4811017"/>
                  <a:ext cx="311111" cy="0"/>
                </a:xfrm>
                <a:prstGeom prst="straightConnector1">
                  <a:avLst/>
                </a:prstGeom>
                <a:noFill/>
                <a:ln cap="flat" cmpd="sng" w="38100">
                  <a:solidFill>
                    <a:schemeClr val="dk1"/>
                  </a:solidFill>
                  <a:prstDash val="solid"/>
                  <a:round/>
                  <a:headEnd len="sm" w="sm" type="none"/>
                  <a:tailEnd len="sm" w="sm" type="none"/>
                </a:ln>
              </p:spPr>
            </p:cxnSp>
          </p:grpSp>
          <p:sp>
            <p:nvSpPr>
              <p:cNvPr id="252" name="Google Shape;252;p7"/>
              <p:cNvSpPr txBox="1"/>
              <p:nvPr/>
            </p:nvSpPr>
            <p:spPr>
              <a:xfrm>
                <a:off x="6089360" y="4010426"/>
                <a:ext cx="99683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Clase Asociativa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attribute1</a:t>
                </a:r>
                <a:endParaRPr b="0" i="0" sz="900" u="none" cap="none" strike="noStrike">
                  <a:solidFill>
                    <a:schemeClr val="dk1"/>
                  </a:solidFill>
                  <a:latin typeface="Calibri"/>
                  <a:ea typeface="Calibri"/>
                  <a:cs typeface="Calibri"/>
                  <a:sym typeface="Calibri"/>
                </a:endParaRPr>
              </a:p>
            </p:txBody>
          </p:sp>
          <p:cxnSp>
            <p:nvCxnSpPr>
              <p:cNvPr id="253" name="Google Shape;253;p7"/>
              <p:cNvCxnSpPr/>
              <p:nvPr/>
            </p:nvCxnSpPr>
            <p:spPr>
              <a:xfrm>
                <a:off x="6197125" y="4194447"/>
                <a:ext cx="775017" cy="0"/>
              </a:xfrm>
              <a:prstGeom prst="straightConnector1">
                <a:avLst/>
              </a:prstGeom>
              <a:noFill/>
              <a:ln cap="flat" cmpd="sng" w="19050">
                <a:solidFill>
                  <a:schemeClr val="dk1"/>
                </a:solidFill>
                <a:prstDash val="solid"/>
                <a:round/>
                <a:headEnd len="sm" w="sm" type="none"/>
                <a:tailEnd len="sm" w="sm" type="none"/>
              </a:ln>
            </p:spPr>
          </p:cxnSp>
          <p:grpSp>
            <p:nvGrpSpPr>
              <p:cNvPr id="254" name="Google Shape;254;p7"/>
              <p:cNvGrpSpPr/>
              <p:nvPr/>
            </p:nvGrpSpPr>
            <p:grpSpPr>
              <a:xfrm>
                <a:off x="6423335" y="3674135"/>
                <a:ext cx="328885" cy="333600"/>
                <a:chOff x="6223284" y="-360580"/>
                <a:chExt cx="594967" cy="603500"/>
              </a:xfrm>
            </p:grpSpPr>
            <p:sp>
              <p:nvSpPr>
                <p:cNvPr id="255" name="Google Shape;255;p7"/>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56" name="Google Shape;256;p7"/>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grpSp>
            <p:nvGrpSpPr>
              <p:cNvPr id="257" name="Google Shape;257;p7"/>
              <p:cNvGrpSpPr/>
              <p:nvPr/>
            </p:nvGrpSpPr>
            <p:grpSpPr>
              <a:xfrm>
                <a:off x="3971246" y="3360445"/>
                <a:ext cx="870000" cy="1121391"/>
                <a:chOff x="5977726" y="4477417"/>
                <a:chExt cx="870000" cy="1121391"/>
              </a:xfrm>
            </p:grpSpPr>
            <p:sp>
              <p:nvSpPr>
                <p:cNvPr id="258" name="Google Shape;258;p7"/>
                <p:cNvSpPr txBox="1"/>
                <p:nvPr/>
              </p:nvSpPr>
              <p:spPr>
                <a:xfrm>
                  <a:off x="5977726" y="4813708"/>
                  <a:ext cx="870000" cy="78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Class 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lang="es-PE" sz="900">
                      <a:solidFill>
                        <a:schemeClr val="dk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cxnSp>
              <p:nvCxnSpPr>
                <p:cNvPr id="259" name="Google Shape;259;p7"/>
                <p:cNvCxnSpPr/>
                <p:nvPr/>
              </p:nvCxnSpPr>
              <p:spPr>
                <a:xfrm>
                  <a:off x="6155599" y="4997729"/>
                  <a:ext cx="514152" cy="0"/>
                </a:xfrm>
                <a:prstGeom prst="straightConnector1">
                  <a:avLst/>
                </a:prstGeom>
                <a:noFill/>
                <a:ln cap="flat" cmpd="sng" w="19050">
                  <a:solidFill>
                    <a:schemeClr val="dk1"/>
                  </a:solidFill>
                  <a:prstDash val="solid"/>
                  <a:round/>
                  <a:headEnd len="sm" w="sm" type="none"/>
                  <a:tailEnd len="sm" w="sm" type="none"/>
                </a:ln>
              </p:spPr>
            </p:cxnSp>
            <p:sp>
              <p:nvSpPr>
                <p:cNvPr id="260" name="Google Shape;260;p7"/>
                <p:cNvSpPr/>
                <p:nvPr/>
              </p:nvSpPr>
              <p:spPr>
                <a:xfrm>
                  <a:off x="6248233" y="4477417"/>
                  <a:ext cx="327663" cy="327660"/>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1" name="Google Shape;261;p7"/>
                <p:cNvCxnSpPr/>
                <p:nvPr/>
              </p:nvCxnSpPr>
              <p:spPr>
                <a:xfrm>
                  <a:off x="6266007" y="4811017"/>
                  <a:ext cx="311111" cy="0"/>
                </a:xfrm>
                <a:prstGeom prst="straightConnector1">
                  <a:avLst/>
                </a:prstGeom>
                <a:noFill/>
                <a:ln cap="flat" cmpd="sng" w="38100">
                  <a:solidFill>
                    <a:schemeClr val="dk1"/>
                  </a:solidFill>
                  <a:prstDash val="solid"/>
                  <a:round/>
                  <a:headEnd len="sm" w="sm" type="none"/>
                  <a:tailEnd len="sm" w="sm" type="none"/>
                </a:ln>
              </p:spPr>
            </p:cxnSp>
          </p:grpSp>
          <p:grpSp>
            <p:nvGrpSpPr>
              <p:cNvPr id="262" name="Google Shape;262;p7"/>
              <p:cNvGrpSpPr/>
              <p:nvPr/>
            </p:nvGrpSpPr>
            <p:grpSpPr>
              <a:xfrm>
                <a:off x="4673981" y="4327042"/>
                <a:ext cx="870000" cy="982791"/>
                <a:chOff x="5977726" y="4477417"/>
                <a:chExt cx="870000" cy="982791"/>
              </a:xfrm>
            </p:grpSpPr>
            <p:sp>
              <p:nvSpPr>
                <p:cNvPr id="263" name="Google Shape;263;p7"/>
                <p:cNvSpPr txBox="1"/>
                <p:nvPr/>
              </p:nvSpPr>
              <p:spPr>
                <a:xfrm>
                  <a:off x="5977726" y="4813708"/>
                  <a:ext cx="870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Class 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lang="es-PE" sz="900">
                      <a:solidFill>
                        <a:schemeClr val="dk1"/>
                      </a:solidFill>
                      <a:latin typeface="Calibri"/>
                      <a:ea typeface="Calibri"/>
                      <a:cs typeface="Calibri"/>
                      <a:sym typeface="Calibri"/>
                    </a:rPr>
                    <a:t>attribute</a:t>
                  </a:r>
                  <a:r>
                    <a:rPr b="0" i="0" lang="es-PE" sz="900" u="none" cap="none" strike="noStrike">
                      <a:solidFill>
                        <a:schemeClr val="dk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cxnSp>
              <p:nvCxnSpPr>
                <p:cNvPr id="264" name="Google Shape;264;p7"/>
                <p:cNvCxnSpPr/>
                <p:nvPr/>
              </p:nvCxnSpPr>
              <p:spPr>
                <a:xfrm>
                  <a:off x="6155599" y="4999771"/>
                  <a:ext cx="514152" cy="0"/>
                </a:xfrm>
                <a:prstGeom prst="straightConnector1">
                  <a:avLst/>
                </a:prstGeom>
                <a:noFill/>
                <a:ln cap="flat" cmpd="sng" w="19050">
                  <a:solidFill>
                    <a:schemeClr val="dk1"/>
                  </a:solidFill>
                  <a:prstDash val="solid"/>
                  <a:round/>
                  <a:headEnd len="sm" w="sm" type="none"/>
                  <a:tailEnd len="sm" w="sm" type="none"/>
                </a:ln>
              </p:spPr>
            </p:cxnSp>
            <p:sp>
              <p:nvSpPr>
                <p:cNvPr id="265" name="Google Shape;265;p7"/>
                <p:cNvSpPr/>
                <p:nvPr/>
              </p:nvSpPr>
              <p:spPr>
                <a:xfrm>
                  <a:off x="6248233" y="4477417"/>
                  <a:ext cx="327663" cy="327660"/>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6" name="Google Shape;266;p7"/>
                <p:cNvCxnSpPr/>
                <p:nvPr/>
              </p:nvCxnSpPr>
              <p:spPr>
                <a:xfrm>
                  <a:off x="6266007" y="4811017"/>
                  <a:ext cx="311111" cy="0"/>
                </a:xfrm>
                <a:prstGeom prst="straightConnector1">
                  <a:avLst/>
                </a:prstGeom>
                <a:noFill/>
                <a:ln cap="flat" cmpd="sng" w="38100">
                  <a:solidFill>
                    <a:schemeClr val="dk1"/>
                  </a:solidFill>
                  <a:prstDash val="solid"/>
                  <a:round/>
                  <a:headEnd len="sm" w="sm" type="none"/>
                  <a:tailEnd len="sm" w="sm" type="none"/>
                </a:ln>
              </p:spPr>
            </p:cxnSp>
          </p:grpSp>
          <p:cxnSp>
            <p:nvCxnSpPr>
              <p:cNvPr id="267" name="Google Shape;267;p7"/>
              <p:cNvCxnSpPr/>
              <p:nvPr/>
            </p:nvCxnSpPr>
            <p:spPr>
              <a:xfrm flipH="1">
                <a:off x="4673982" y="3268690"/>
                <a:ext cx="3257441" cy="193613"/>
              </a:xfrm>
              <a:prstGeom prst="straightConnector1">
                <a:avLst/>
              </a:prstGeom>
              <a:noFill/>
              <a:ln cap="flat" cmpd="sng" w="28575">
                <a:solidFill>
                  <a:schemeClr val="dk1"/>
                </a:solidFill>
                <a:prstDash val="solid"/>
                <a:round/>
                <a:headEnd len="sm" w="sm" type="none"/>
                <a:tailEnd len="sm" w="sm" type="none"/>
              </a:ln>
            </p:spPr>
          </p:cxnSp>
          <p:cxnSp>
            <p:nvCxnSpPr>
              <p:cNvPr id="268" name="Google Shape;268;p7"/>
              <p:cNvCxnSpPr/>
              <p:nvPr/>
            </p:nvCxnSpPr>
            <p:spPr>
              <a:xfrm rot="10800000">
                <a:off x="6089360" y="3373993"/>
                <a:ext cx="333975" cy="300142"/>
              </a:xfrm>
              <a:prstGeom prst="straightConnector1">
                <a:avLst/>
              </a:prstGeom>
              <a:noFill/>
              <a:ln cap="flat" cmpd="sng" w="28575">
                <a:solidFill>
                  <a:schemeClr val="dk1"/>
                </a:solidFill>
                <a:prstDash val="solid"/>
                <a:round/>
                <a:headEnd len="sm" w="sm" type="none"/>
                <a:tailEnd len="sm" w="sm" type="none"/>
              </a:ln>
            </p:spPr>
          </p:cxnSp>
          <p:cxnSp>
            <p:nvCxnSpPr>
              <p:cNvPr id="269" name="Google Shape;269;p7"/>
              <p:cNvCxnSpPr/>
              <p:nvPr/>
            </p:nvCxnSpPr>
            <p:spPr>
              <a:xfrm>
                <a:off x="5379618" y="4465707"/>
                <a:ext cx="963680" cy="79205"/>
              </a:xfrm>
              <a:prstGeom prst="straightConnector1">
                <a:avLst/>
              </a:prstGeom>
              <a:noFill/>
              <a:ln cap="flat" cmpd="sng" w="28575">
                <a:solidFill>
                  <a:schemeClr val="dk1"/>
                </a:solidFill>
                <a:prstDash val="solid"/>
                <a:round/>
                <a:headEnd len="sm" w="sm" type="none"/>
                <a:tailEnd len="med" w="med" type="triangle"/>
              </a:ln>
            </p:spPr>
          </p:cxnSp>
          <p:sp>
            <p:nvSpPr>
              <p:cNvPr id="270" name="Google Shape;270;p7"/>
              <p:cNvSpPr txBox="1"/>
              <p:nvPr/>
            </p:nvSpPr>
            <p:spPr>
              <a:xfrm>
                <a:off x="5610413" y="3137446"/>
                <a:ext cx="720288"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Acción 1</a:t>
                </a:r>
                <a:endParaRPr b="0" i="0" sz="900" u="none" cap="none" strike="noStrike">
                  <a:solidFill>
                    <a:schemeClr val="dk1"/>
                  </a:solidFill>
                  <a:latin typeface="Calibri"/>
                  <a:ea typeface="Calibri"/>
                  <a:cs typeface="Calibri"/>
                  <a:sym typeface="Calibri"/>
                </a:endParaRPr>
              </a:p>
            </p:txBody>
          </p:sp>
          <p:sp>
            <p:nvSpPr>
              <p:cNvPr id="271" name="Google Shape;271;p7"/>
              <p:cNvSpPr txBox="1"/>
              <p:nvPr/>
            </p:nvSpPr>
            <p:spPr>
              <a:xfrm>
                <a:off x="5509339" y="4246585"/>
                <a:ext cx="720288"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Acción 2</a:t>
                </a:r>
                <a:endParaRPr b="0" i="0" sz="900" u="none" cap="none" strike="noStrike">
                  <a:solidFill>
                    <a:schemeClr val="dk1"/>
                  </a:solidFill>
                  <a:latin typeface="Calibri"/>
                  <a:ea typeface="Calibri"/>
                  <a:cs typeface="Calibri"/>
                  <a:sym typeface="Calibri"/>
                </a:endParaRPr>
              </a:p>
            </p:txBody>
          </p:sp>
          <p:sp>
            <p:nvSpPr>
              <p:cNvPr id="272" name="Google Shape;272;p7"/>
              <p:cNvSpPr txBox="1"/>
              <p:nvPr/>
            </p:nvSpPr>
            <p:spPr>
              <a:xfrm>
                <a:off x="7065687" y="3403533"/>
                <a:ext cx="365806" cy="235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baseline="30000" i="0" lang="es-PE" sz="1400" u="none" cap="none" strike="noStrike">
                    <a:solidFill>
                      <a:schemeClr val="dk1"/>
                    </a:solidFill>
                    <a:latin typeface="Calibri"/>
                    <a:ea typeface="Calibri"/>
                    <a:cs typeface="Calibri"/>
                    <a:sym typeface="Calibri"/>
                  </a:rPr>
                  <a:t>1..*</a:t>
                </a:r>
                <a:endParaRPr b="0" baseline="30000" i="0" sz="1400" u="none" cap="none" strike="noStrike">
                  <a:solidFill>
                    <a:schemeClr val="dk1"/>
                  </a:solidFill>
                  <a:latin typeface="Calibri"/>
                  <a:ea typeface="Calibri"/>
                  <a:cs typeface="Calibri"/>
                  <a:sym typeface="Calibri"/>
                </a:endParaRPr>
              </a:p>
            </p:txBody>
          </p:sp>
          <p:sp>
            <p:nvSpPr>
              <p:cNvPr id="273" name="Google Shape;273;p7"/>
              <p:cNvSpPr txBox="1"/>
              <p:nvPr/>
            </p:nvSpPr>
            <p:spPr>
              <a:xfrm>
                <a:off x="5117817" y="3530842"/>
                <a:ext cx="365806" cy="235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baseline="30000" i="0" lang="es-PE" sz="1400" u="none" cap="none" strike="noStrike">
                    <a:solidFill>
                      <a:schemeClr val="dk1"/>
                    </a:solidFill>
                    <a:latin typeface="Calibri"/>
                    <a:ea typeface="Calibri"/>
                    <a:cs typeface="Calibri"/>
                    <a:sym typeface="Calibri"/>
                  </a:rPr>
                  <a:t>1..*</a:t>
                </a:r>
                <a:endParaRPr b="0" baseline="30000" i="0" sz="1400" u="none" cap="none" strike="noStrike">
                  <a:solidFill>
                    <a:schemeClr val="dk1"/>
                  </a:solidFill>
                  <a:latin typeface="Calibri"/>
                  <a:ea typeface="Calibri"/>
                  <a:cs typeface="Calibri"/>
                  <a:sym typeface="Calibri"/>
                </a:endParaRPr>
              </a:p>
            </p:txBody>
          </p:sp>
          <p:sp>
            <p:nvSpPr>
              <p:cNvPr id="274" name="Google Shape;274;p7"/>
              <p:cNvSpPr txBox="1"/>
              <p:nvPr/>
            </p:nvSpPr>
            <p:spPr>
              <a:xfrm>
                <a:off x="5388808" y="4553543"/>
                <a:ext cx="365806" cy="235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baseline="30000" i="0" lang="es-PE" sz="1400" u="none" cap="none" strike="noStrike">
                    <a:solidFill>
                      <a:schemeClr val="dk1"/>
                    </a:solidFill>
                    <a:latin typeface="Calibri"/>
                    <a:ea typeface="Calibri"/>
                    <a:cs typeface="Calibri"/>
                    <a:sym typeface="Calibri"/>
                  </a:rPr>
                  <a:t>1..*</a:t>
                </a:r>
                <a:endParaRPr b="0" baseline="30000" i="0" sz="1400" u="none" cap="none" strike="noStrike">
                  <a:solidFill>
                    <a:schemeClr val="dk1"/>
                  </a:solidFill>
                  <a:latin typeface="Calibri"/>
                  <a:ea typeface="Calibri"/>
                  <a:cs typeface="Calibri"/>
                  <a:sym typeface="Calibri"/>
                </a:endParaRPr>
              </a:p>
            </p:txBody>
          </p:sp>
          <p:sp>
            <p:nvSpPr>
              <p:cNvPr id="275" name="Google Shape;275;p7"/>
              <p:cNvSpPr txBox="1"/>
              <p:nvPr/>
            </p:nvSpPr>
            <p:spPr>
              <a:xfrm>
                <a:off x="6013966" y="4640400"/>
                <a:ext cx="245580" cy="235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baseline="30000" i="0" lang="es-PE" sz="1400" u="none" cap="none" strike="noStrike">
                    <a:solidFill>
                      <a:schemeClr val="dk1"/>
                    </a:solidFill>
                    <a:latin typeface="Calibri"/>
                    <a:ea typeface="Calibri"/>
                    <a:cs typeface="Calibri"/>
                    <a:sym typeface="Calibri"/>
                  </a:rPr>
                  <a:t>1</a:t>
                </a:r>
                <a:endParaRPr b="0" baseline="30000" i="0" sz="1400" u="none" cap="none" strike="noStrike">
                  <a:solidFill>
                    <a:schemeClr val="dk1"/>
                  </a:solidFill>
                  <a:latin typeface="Calibri"/>
                  <a:ea typeface="Calibri"/>
                  <a:cs typeface="Calibri"/>
                  <a:sym typeface="Calibri"/>
                </a:endParaRPr>
              </a:p>
            </p:txBody>
          </p:sp>
          <p:sp>
            <p:nvSpPr>
              <p:cNvPr id="276" name="Google Shape;276;p7"/>
              <p:cNvSpPr txBox="1"/>
              <p:nvPr/>
            </p:nvSpPr>
            <p:spPr>
              <a:xfrm>
                <a:off x="7989011" y="3940217"/>
                <a:ext cx="245580" cy="235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baseline="30000" i="0" lang="es-PE" sz="1400" u="none" cap="none" strike="noStrike">
                    <a:solidFill>
                      <a:schemeClr val="dk1"/>
                    </a:solidFill>
                    <a:latin typeface="Calibri"/>
                    <a:ea typeface="Calibri"/>
                    <a:cs typeface="Calibri"/>
                    <a:sym typeface="Calibri"/>
                  </a:rPr>
                  <a:t>1</a:t>
                </a:r>
                <a:endParaRPr b="0" baseline="30000" i="0" sz="1400" u="none" cap="none" strike="noStrike">
                  <a:solidFill>
                    <a:schemeClr val="dk1"/>
                  </a:solidFill>
                  <a:latin typeface="Calibri"/>
                  <a:ea typeface="Calibri"/>
                  <a:cs typeface="Calibri"/>
                  <a:sym typeface="Calibri"/>
                </a:endParaRPr>
              </a:p>
            </p:txBody>
          </p:sp>
        </p:grpSp>
        <p:pic>
          <p:nvPicPr>
            <p:cNvPr id="277" name="Google Shape;277;p7"/>
            <p:cNvPicPr preferRelativeResize="0"/>
            <p:nvPr/>
          </p:nvPicPr>
          <p:blipFill rotWithShape="1">
            <a:blip r:embed="rId3">
              <a:alphaModFix/>
            </a:blip>
            <a:srcRect b="40204" l="8629" r="80063" t="49555"/>
            <a:stretch/>
          </p:blipFill>
          <p:spPr>
            <a:xfrm>
              <a:off x="4046119" y="3695508"/>
              <a:ext cx="132571" cy="114557"/>
            </a:xfrm>
            <a:prstGeom prst="rect">
              <a:avLst/>
            </a:prstGeom>
            <a:noFill/>
            <a:ln>
              <a:noFill/>
            </a:ln>
          </p:spPr>
        </p:pic>
        <p:pic>
          <p:nvPicPr>
            <p:cNvPr id="278" name="Google Shape;278;p7"/>
            <p:cNvPicPr preferRelativeResize="0"/>
            <p:nvPr/>
          </p:nvPicPr>
          <p:blipFill rotWithShape="1">
            <a:blip r:embed="rId3">
              <a:alphaModFix/>
            </a:blip>
            <a:srcRect b="40204" l="8629" r="80063" t="49555"/>
            <a:stretch/>
          </p:blipFill>
          <p:spPr>
            <a:xfrm>
              <a:off x="4046119" y="3833176"/>
              <a:ext cx="132571" cy="114557"/>
            </a:xfrm>
            <a:prstGeom prst="rect">
              <a:avLst/>
            </a:prstGeom>
            <a:noFill/>
            <a:ln>
              <a:noFill/>
            </a:ln>
          </p:spPr>
        </p:pic>
        <p:pic>
          <p:nvPicPr>
            <p:cNvPr id="279" name="Google Shape;279;p7"/>
            <p:cNvPicPr preferRelativeResize="0"/>
            <p:nvPr/>
          </p:nvPicPr>
          <p:blipFill rotWithShape="1">
            <a:blip r:embed="rId3">
              <a:alphaModFix/>
            </a:blip>
            <a:srcRect b="40204" l="8629" r="80063" t="49555"/>
            <a:stretch/>
          </p:blipFill>
          <p:spPr>
            <a:xfrm>
              <a:off x="4046119" y="3970844"/>
              <a:ext cx="132571" cy="114557"/>
            </a:xfrm>
            <a:prstGeom prst="rect">
              <a:avLst/>
            </a:prstGeom>
            <a:noFill/>
            <a:ln>
              <a:noFill/>
            </a:ln>
          </p:spPr>
        </p:pic>
        <p:pic>
          <p:nvPicPr>
            <p:cNvPr id="280" name="Google Shape;280;p7"/>
            <p:cNvPicPr preferRelativeResize="0"/>
            <p:nvPr/>
          </p:nvPicPr>
          <p:blipFill rotWithShape="1">
            <a:blip r:embed="rId3">
              <a:alphaModFix/>
            </a:blip>
            <a:srcRect b="40204" l="8629" r="80063" t="49555"/>
            <a:stretch/>
          </p:blipFill>
          <p:spPr>
            <a:xfrm>
              <a:off x="4046119" y="4108512"/>
              <a:ext cx="132571" cy="114557"/>
            </a:xfrm>
            <a:prstGeom prst="rect">
              <a:avLst/>
            </a:prstGeom>
            <a:noFill/>
            <a:ln>
              <a:noFill/>
            </a:ln>
          </p:spPr>
        </p:pic>
        <p:pic>
          <p:nvPicPr>
            <p:cNvPr id="281" name="Google Shape;281;p7"/>
            <p:cNvPicPr preferRelativeResize="0"/>
            <p:nvPr/>
          </p:nvPicPr>
          <p:blipFill rotWithShape="1">
            <a:blip r:embed="rId3">
              <a:alphaModFix/>
            </a:blip>
            <a:srcRect b="40204" l="8629" r="80063" t="49555"/>
            <a:stretch/>
          </p:blipFill>
          <p:spPr>
            <a:xfrm>
              <a:off x="4738059" y="4659548"/>
              <a:ext cx="132571" cy="114557"/>
            </a:xfrm>
            <a:prstGeom prst="rect">
              <a:avLst/>
            </a:prstGeom>
            <a:noFill/>
            <a:ln>
              <a:noFill/>
            </a:ln>
          </p:spPr>
        </p:pic>
        <p:pic>
          <p:nvPicPr>
            <p:cNvPr id="282" name="Google Shape;282;p7"/>
            <p:cNvPicPr preferRelativeResize="0"/>
            <p:nvPr/>
          </p:nvPicPr>
          <p:blipFill rotWithShape="1">
            <a:blip r:embed="rId3">
              <a:alphaModFix/>
            </a:blip>
            <a:srcRect b="40204" l="8629" r="80063" t="49555"/>
            <a:stretch/>
          </p:blipFill>
          <p:spPr>
            <a:xfrm>
              <a:off x="4738059" y="4789981"/>
              <a:ext cx="132571" cy="114557"/>
            </a:xfrm>
            <a:prstGeom prst="rect">
              <a:avLst/>
            </a:prstGeom>
            <a:noFill/>
            <a:ln>
              <a:noFill/>
            </a:ln>
          </p:spPr>
        </p:pic>
        <p:pic>
          <p:nvPicPr>
            <p:cNvPr id="283" name="Google Shape;283;p7"/>
            <p:cNvPicPr preferRelativeResize="0"/>
            <p:nvPr/>
          </p:nvPicPr>
          <p:blipFill rotWithShape="1">
            <a:blip r:embed="rId3">
              <a:alphaModFix/>
            </a:blip>
            <a:srcRect b="40204" l="8629" r="80063" t="49555"/>
            <a:stretch/>
          </p:blipFill>
          <p:spPr>
            <a:xfrm>
              <a:off x="4738059" y="4935708"/>
              <a:ext cx="132571" cy="114557"/>
            </a:xfrm>
            <a:prstGeom prst="rect">
              <a:avLst/>
            </a:prstGeom>
            <a:noFill/>
            <a:ln>
              <a:noFill/>
            </a:ln>
          </p:spPr>
        </p:pic>
        <p:pic>
          <p:nvPicPr>
            <p:cNvPr id="284" name="Google Shape;284;p7"/>
            <p:cNvPicPr preferRelativeResize="0"/>
            <p:nvPr/>
          </p:nvPicPr>
          <p:blipFill rotWithShape="1">
            <a:blip r:embed="rId3">
              <a:alphaModFix/>
            </a:blip>
            <a:srcRect b="40204" l="8629" r="80063" t="49555"/>
            <a:stretch/>
          </p:blipFill>
          <p:spPr>
            <a:xfrm>
              <a:off x="6220069" y="4015455"/>
              <a:ext cx="132571" cy="114557"/>
            </a:xfrm>
            <a:prstGeom prst="rect">
              <a:avLst/>
            </a:prstGeom>
            <a:noFill/>
            <a:ln>
              <a:noFill/>
            </a:ln>
          </p:spPr>
        </p:pic>
        <p:pic>
          <p:nvPicPr>
            <p:cNvPr id="285" name="Google Shape;285;p7"/>
            <p:cNvPicPr preferRelativeResize="0"/>
            <p:nvPr/>
          </p:nvPicPr>
          <p:blipFill rotWithShape="1">
            <a:blip r:embed="rId3">
              <a:alphaModFix/>
            </a:blip>
            <a:srcRect b="40204" l="8629" r="80063" t="49555"/>
            <a:stretch/>
          </p:blipFill>
          <p:spPr>
            <a:xfrm>
              <a:off x="6210918" y="4815811"/>
              <a:ext cx="132571" cy="114557"/>
            </a:xfrm>
            <a:prstGeom prst="rect">
              <a:avLst/>
            </a:prstGeom>
            <a:noFill/>
            <a:ln>
              <a:noFill/>
            </a:ln>
          </p:spPr>
        </p:pic>
        <p:pic>
          <p:nvPicPr>
            <p:cNvPr id="286" name="Google Shape;286;p7"/>
            <p:cNvPicPr preferRelativeResize="0"/>
            <p:nvPr/>
          </p:nvPicPr>
          <p:blipFill rotWithShape="1">
            <a:blip r:embed="rId3">
              <a:alphaModFix/>
            </a:blip>
            <a:srcRect b="40204" l="8629" r="80063" t="49555"/>
            <a:stretch/>
          </p:blipFill>
          <p:spPr>
            <a:xfrm>
              <a:off x="6210918" y="4949106"/>
              <a:ext cx="132571" cy="114557"/>
            </a:xfrm>
            <a:prstGeom prst="rect">
              <a:avLst/>
            </a:prstGeom>
            <a:noFill/>
            <a:ln>
              <a:noFill/>
            </a:ln>
          </p:spPr>
        </p:pic>
        <p:pic>
          <p:nvPicPr>
            <p:cNvPr id="287" name="Google Shape;287;p7"/>
            <p:cNvPicPr preferRelativeResize="0"/>
            <p:nvPr/>
          </p:nvPicPr>
          <p:blipFill rotWithShape="1">
            <a:blip r:embed="rId3">
              <a:alphaModFix/>
            </a:blip>
            <a:srcRect b="40204" l="8629" r="80063" t="49555"/>
            <a:stretch/>
          </p:blipFill>
          <p:spPr>
            <a:xfrm>
              <a:off x="7808895" y="3470668"/>
              <a:ext cx="132571" cy="114557"/>
            </a:xfrm>
            <a:prstGeom prst="rect">
              <a:avLst/>
            </a:prstGeom>
            <a:noFill/>
            <a:ln>
              <a:noFill/>
            </a:ln>
          </p:spPr>
        </p:pic>
        <p:pic>
          <p:nvPicPr>
            <p:cNvPr id="288" name="Google Shape;288;p7"/>
            <p:cNvPicPr preferRelativeResize="0"/>
            <p:nvPr/>
          </p:nvPicPr>
          <p:blipFill rotWithShape="1">
            <a:blip r:embed="rId3">
              <a:alphaModFix/>
            </a:blip>
            <a:srcRect b="40204" l="8629" r="80063" t="49555"/>
            <a:stretch/>
          </p:blipFill>
          <p:spPr>
            <a:xfrm>
              <a:off x="7808895" y="3619595"/>
              <a:ext cx="132571" cy="114557"/>
            </a:xfrm>
            <a:prstGeom prst="rect">
              <a:avLst/>
            </a:prstGeom>
            <a:noFill/>
            <a:ln>
              <a:noFill/>
            </a:ln>
          </p:spPr>
        </p:pic>
        <p:pic>
          <p:nvPicPr>
            <p:cNvPr id="289" name="Google Shape;289;p7"/>
            <p:cNvPicPr preferRelativeResize="0"/>
            <p:nvPr/>
          </p:nvPicPr>
          <p:blipFill rotWithShape="1">
            <a:blip r:embed="rId3">
              <a:alphaModFix/>
            </a:blip>
            <a:srcRect b="40204" l="8629" r="80063" t="49555"/>
            <a:stretch/>
          </p:blipFill>
          <p:spPr>
            <a:xfrm>
              <a:off x="7810903" y="4859158"/>
              <a:ext cx="132571" cy="114557"/>
            </a:xfrm>
            <a:prstGeom prst="rect">
              <a:avLst/>
            </a:prstGeom>
            <a:noFill/>
            <a:ln>
              <a:noFill/>
            </a:ln>
          </p:spPr>
        </p:pic>
      </p:grpSp>
      <p:sp>
        <p:nvSpPr>
          <p:cNvPr id="290" name="Google Shape;290;p7"/>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8"/>
          <p:cNvSpPr/>
          <p:nvPr/>
        </p:nvSpPr>
        <p:spPr>
          <a:xfrm>
            <a:off x="482985" y="923964"/>
            <a:ext cx="2790525" cy="246221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CLASES Y ATRIBUTOS</a:t>
            </a:r>
            <a:endParaRPr b="0" i="0" sz="1600" u="none" cap="none" strike="noStrike">
              <a:solidFill>
                <a:schemeClr val="dk1"/>
              </a:solidFill>
              <a:latin typeface="Calibri"/>
              <a:ea typeface="Calibri"/>
              <a:cs typeface="Calibri"/>
              <a:sym typeface="Calibri"/>
            </a:endParaRPr>
          </a:p>
          <a:p>
            <a:pPr indent="-184150" lvl="0" marL="18415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Las clases poseen </a:t>
            </a:r>
            <a:r>
              <a:rPr b="1" i="0" lang="es-PE" sz="1600" u="none" cap="none" strike="noStrike">
                <a:solidFill>
                  <a:schemeClr val="dk1"/>
                </a:solidFill>
                <a:latin typeface="Calibri"/>
                <a:ea typeface="Calibri"/>
                <a:cs typeface="Calibri"/>
                <a:sym typeface="Calibri"/>
              </a:rPr>
              <a:t>información descriptivas</a:t>
            </a:r>
            <a:r>
              <a:rPr b="0" i="0" lang="es-PE" sz="1600" u="none" cap="none" strike="noStrike">
                <a:solidFill>
                  <a:schemeClr val="dk1"/>
                </a:solidFill>
                <a:latin typeface="Calibri"/>
                <a:ea typeface="Calibri"/>
                <a:cs typeface="Calibri"/>
                <a:sym typeface="Calibri"/>
              </a:rPr>
              <a:t>; los atributos no.</a:t>
            </a:r>
            <a:endParaRPr b="0" i="0" sz="1400" u="none" cap="none" strike="noStrike">
              <a:solidFill>
                <a:srgbClr val="000000"/>
              </a:solidFill>
              <a:latin typeface="Arial"/>
              <a:ea typeface="Arial"/>
              <a:cs typeface="Arial"/>
              <a:sym typeface="Arial"/>
            </a:endParaRPr>
          </a:p>
          <a:p>
            <a:pPr indent="-82550" lvl="0" marL="1841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84150" lvl="0" marL="18415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Los </a:t>
            </a:r>
            <a:r>
              <a:rPr b="1" i="0" lang="es-PE" sz="1600" u="none" cap="none" strike="noStrike">
                <a:solidFill>
                  <a:schemeClr val="dk1"/>
                </a:solidFill>
                <a:latin typeface="Calibri"/>
                <a:ea typeface="Calibri"/>
                <a:cs typeface="Calibri"/>
                <a:sym typeface="Calibri"/>
              </a:rPr>
              <a:t>atributos multivaluados</a:t>
            </a:r>
            <a:r>
              <a:rPr b="0" i="0" lang="es-PE" sz="1600" u="none" cap="none" strike="noStrike">
                <a:solidFill>
                  <a:schemeClr val="dk1"/>
                </a:solidFill>
                <a:latin typeface="Calibri"/>
                <a:ea typeface="Calibri"/>
                <a:cs typeface="Calibri"/>
                <a:sym typeface="Calibri"/>
              </a:rPr>
              <a:t> deben ser clasificados </a:t>
            </a:r>
            <a:br>
              <a:rPr b="0"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como clases.</a:t>
            </a:r>
            <a:endParaRPr b="0" i="0" sz="1400" u="none" cap="none" strike="noStrike">
              <a:solidFill>
                <a:srgbClr val="000000"/>
              </a:solidFill>
              <a:latin typeface="Arial"/>
              <a:ea typeface="Arial"/>
              <a:cs typeface="Arial"/>
              <a:sym typeface="Arial"/>
            </a:endParaRPr>
          </a:p>
          <a:p>
            <a:pPr indent="-82550" lvl="0" marL="1841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84150" lvl="0" marL="18415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Los </a:t>
            </a:r>
            <a:r>
              <a:rPr b="1" i="0" lang="es-PE" sz="1600" u="none" cap="none" strike="noStrike">
                <a:solidFill>
                  <a:schemeClr val="dk1"/>
                </a:solidFill>
                <a:latin typeface="Calibri"/>
                <a:ea typeface="Calibri"/>
                <a:cs typeface="Calibri"/>
                <a:sym typeface="Calibri"/>
              </a:rPr>
              <a:t>atributos deben ser inherentes a la clase.</a:t>
            </a:r>
            <a:endParaRPr b="0" i="0" sz="1400" u="none" cap="none" strike="noStrike">
              <a:solidFill>
                <a:srgbClr val="000000"/>
              </a:solidFill>
              <a:latin typeface="Arial"/>
              <a:ea typeface="Arial"/>
              <a:cs typeface="Arial"/>
              <a:sym typeface="Arial"/>
            </a:endParaRPr>
          </a:p>
        </p:txBody>
      </p:sp>
      <p:grpSp>
        <p:nvGrpSpPr>
          <p:cNvPr id="296" name="Google Shape;296;p8"/>
          <p:cNvGrpSpPr/>
          <p:nvPr/>
        </p:nvGrpSpPr>
        <p:grpSpPr>
          <a:xfrm>
            <a:off x="3596385" y="1757802"/>
            <a:ext cx="5079303" cy="2275212"/>
            <a:chOff x="3440743" y="1909412"/>
            <a:chExt cx="5079303" cy="2275212"/>
          </a:xfrm>
        </p:grpSpPr>
        <p:sp>
          <p:nvSpPr>
            <p:cNvPr id="297" name="Google Shape;297;p8"/>
            <p:cNvSpPr/>
            <p:nvPr/>
          </p:nvSpPr>
          <p:spPr>
            <a:xfrm>
              <a:off x="3440743" y="2078232"/>
              <a:ext cx="1984442" cy="630595"/>
            </a:xfrm>
            <a:prstGeom prst="homePlate">
              <a:avLst>
                <a:gd fmla="val 71102" name="adj"/>
              </a:avLst>
            </a:prstGeom>
            <a:solidFill>
              <a:srgbClr val="E5594B"/>
            </a:solidFill>
            <a:ln>
              <a:noFill/>
            </a:ln>
          </p:spPr>
          <p:txBody>
            <a:bodyPr anchorCtr="0" anchor="ctr" bIns="52125" lIns="104275" spcFirstLastPara="1" rIns="104275" wrap="square" tIns="52125">
              <a:noAutofit/>
            </a:bodyPr>
            <a:lstStyle/>
            <a:p>
              <a:pPr indent="0" lvl="0" marL="0" marR="0" rtl="0" algn="l">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NOMBRE DE LA CLASE</a:t>
              </a:r>
              <a:endParaRPr b="1" i="0" sz="1200" u="none" cap="none" strike="noStrike">
                <a:solidFill>
                  <a:schemeClr val="lt1"/>
                </a:solidFill>
                <a:latin typeface="Calibri"/>
                <a:ea typeface="Calibri"/>
                <a:cs typeface="Calibri"/>
                <a:sym typeface="Calibri"/>
              </a:endParaRPr>
            </a:p>
          </p:txBody>
        </p:sp>
        <p:sp>
          <p:nvSpPr>
            <p:cNvPr id="298" name="Google Shape;298;p8"/>
            <p:cNvSpPr/>
            <p:nvPr/>
          </p:nvSpPr>
          <p:spPr>
            <a:xfrm flipH="1">
              <a:off x="7329509" y="3302714"/>
              <a:ext cx="1190537" cy="720350"/>
            </a:xfrm>
            <a:prstGeom prst="homePlate">
              <a:avLst>
                <a:gd fmla="val 36525" name="adj"/>
              </a:avLst>
            </a:prstGeom>
            <a:solidFill>
              <a:srgbClr val="00B14F"/>
            </a:solidFill>
            <a:ln>
              <a:noFill/>
            </a:ln>
          </p:spPr>
          <p:txBody>
            <a:bodyPr anchorCtr="0" anchor="ctr" bIns="52125" lIns="104275" spcFirstLastPara="1" rIns="104275" wrap="square" tIns="52125">
              <a:noAutofit/>
            </a:bodyPr>
            <a:lstStyle/>
            <a:p>
              <a:pPr indent="0" lvl="0" marL="0" marR="0" rtl="0" algn="l">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ATRIBUTOS</a:t>
              </a:r>
              <a:endParaRPr b="1" i="0" sz="1200" u="none" cap="none" strike="noStrike">
                <a:solidFill>
                  <a:schemeClr val="lt1"/>
                </a:solidFill>
                <a:latin typeface="Calibri"/>
                <a:ea typeface="Calibri"/>
                <a:cs typeface="Calibri"/>
                <a:sym typeface="Calibri"/>
              </a:endParaRPr>
            </a:p>
          </p:txBody>
        </p:sp>
        <p:grpSp>
          <p:nvGrpSpPr>
            <p:cNvPr id="299" name="Google Shape;299;p8"/>
            <p:cNvGrpSpPr/>
            <p:nvPr/>
          </p:nvGrpSpPr>
          <p:grpSpPr>
            <a:xfrm>
              <a:off x="5029690" y="1909412"/>
              <a:ext cx="2061522" cy="2275212"/>
              <a:chOff x="6503972" y="1719535"/>
              <a:chExt cx="2061522" cy="2275212"/>
            </a:xfrm>
          </p:grpSpPr>
          <p:grpSp>
            <p:nvGrpSpPr>
              <p:cNvPr id="300" name="Google Shape;300;p8"/>
              <p:cNvGrpSpPr/>
              <p:nvPr/>
            </p:nvGrpSpPr>
            <p:grpSpPr>
              <a:xfrm>
                <a:off x="7108273" y="1719535"/>
                <a:ext cx="930602" cy="943944"/>
                <a:chOff x="6223284" y="-360580"/>
                <a:chExt cx="594967" cy="603500"/>
              </a:xfrm>
            </p:grpSpPr>
            <p:sp>
              <p:nvSpPr>
                <p:cNvPr id="301" name="Google Shape;301;p8"/>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02" name="Google Shape;302;p8"/>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303" name="Google Shape;303;p8"/>
              <p:cNvSpPr txBox="1"/>
              <p:nvPr/>
            </p:nvSpPr>
            <p:spPr>
              <a:xfrm>
                <a:off x="6677383" y="2671308"/>
                <a:ext cx="1792382"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Producto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codProduc: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descripcion: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precio: Double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stock: Integer</a:t>
                </a:r>
                <a:endParaRPr b="0" i="0" sz="1600" u="none" cap="none" strike="noStrike">
                  <a:solidFill>
                    <a:schemeClr val="dk1"/>
                  </a:solidFill>
                  <a:latin typeface="Calibri"/>
                  <a:ea typeface="Calibri"/>
                  <a:cs typeface="Calibri"/>
                  <a:sym typeface="Calibri"/>
                </a:endParaRPr>
              </a:p>
            </p:txBody>
          </p:sp>
          <p:cxnSp>
            <p:nvCxnSpPr>
              <p:cNvPr id="304" name="Google Shape;304;p8"/>
              <p:cNvCxnSpPr/>
              <p:nvPr/>
            </p:nvCxnSpPr>
            <p:spPr>
              <a:xfrm>
                <a:off x="6581654" y="2973357"/>
                <a:ext cx="1983840" cy="0"/>
              </a:xfrm>
              <a:prstGeom prst="straightConnector1">
                <a:avLst/>
              </a:prstGeom>
              <a:noFill/>
              <a:ln cap="flat" cmpd="sng" w="38100">
                <a:solidFill>
                  <a:schemeClr val="dk1"/>
                </a:solidFill>
                <a:prstDash val="solid"/>
                <a:round/>
                <a:headEnd len="sm" w="sm" type="none"/>
                <a:tailEnd len="sm" w="sm" type="none"/>
              </a:ln>
            </p:spPr>
          </p:cxnSp>
          <p:pic>
            <p:nvPicPr>
              <p:cNvPr id="305" name="Google Shape;305;p8"/>
              <p:cNvPicPr preferRelativeResize="0"/>
              <p:nvPr/>
            </p:nvPicPr>
            <p:blipFill rotWithShape="1">
              <a:blip r:embed="rId3">
                <a:alphaModFix/>
              </a:blip>
              <a:srcRect b="40204" l="8629" r="80063" t="49555"/>
              <a:stretch/>
            </p:blipFill>
            <p:spPr>
              <a:xfrm>
                <a:off x="6503972" y="3018764"/>
                <a:ext cx="209550" cy="181076"/>
              </a:xfrm>
              <a:prstGeom prst="rect">
                <a:avLst/>
              </a:prstGeom>
              <a:noFill/>
              <a:ln>
                <a:noFill/>
              </a:ln>
            </p:spPr>
          </p:pic>
          <p:pic>
            <p:nvPicPr>
              <p:cNvPr id="306" name="Google Shape;306;p8"/>
              <p:cNvPicPr preferRelativeResize="0"/>
              <p:nvPr/>
            </p:nvPicPr>
            <p:blipFill rotWithShape="1">
              <a:blip r:embed="rId3">
                <a:alphaModFix/>
              </a:blip>
              <a:srcRect b="40204" l="8629" r="80063" t="49555"/>
              <a:stretch/>
            </p:blipFill>
            <p:spPr>
              <a:xfrm>
                <a:off x="6503972" y="3264122"/>
                <a:ext cx="209550" cy="181076"/>
              </a:xfrm>
              <a:prstGeom prst="rect">
                <a:avLst/>
              </a:prstGeom>
              <a:noFill/>
              <a:ln>
                <a:noFill/>
              </a:ln>
            </p:spPr>
          </p:pic>
          <p:pic>
            <p:nvPicPr>
              <p:cNvPr id="307" name="Google Shape;307;p8"/>
              <p:cNvPicPr preferRelativeResize="0"/>
              <p:nvPr/>
            </p:nvPicPr>
            <p:blipFill rotWithShape="1">
              <a:blip r:embed="rId3">
                <a:alphaModFix/>
              </a:blip>
              <a:srcRect b="40204" l="8629" r="80063" t="49555"/>
              <a:stretch/>
            </p:blipFill>
            <p:spPr>
              <a:xfrm>
                <a:off x="6503972" y="3513636"/>
                <a:ext cx="209550" cy="181076"/>
              </a:xfrm>
              <a:prstGeom prst="rect">
                <a:avLst/>
              </a:prstGeom>
              <a:noFill/>
              <a:ln>
                <a:noFill/>
              </a:ln>
            </p:spPr>
          </p:pic>
          <p:pic>
            <p:nvPicPr>
              <p:cNvPr id="308" name="Google Shape;308;p8"/>
              <p:cNvPicPr preferRelativeResize="0"/>
              <p:nvPr/>
            </p:nvPicPr>
            <p:blipFill rotWithShape="1">
              <a:blip r:embed="rId3">
                <a:alphaModFix/>
              </a:blip>
              <a:srcRect b="40204" l="8629" r="80063" t="49555"/>
              <a:stretch/>
            </p:blipFill>
            <p:spPr>
              <a:xfrm>
                <a:off x="6503972" y="3746525"/>
                <a:ext cx="209550" cy="181076"/>
              </a:xfrm>
              <a:prstGeom prst="rect">
                <a:avLst/>
              </a:prstGeom>
              <a:noFill/>
              <a:ln>
                <a:noFill/>
              </a:ln>
            </p:spPr>
          </p:pic>
          <p:cxnSp>
            <p:nvCxnSpPr>
              <p:cNvPr id="309" name="Google Shape;309;p8"/>
              <p:cNvCxnSpPr/>
              <p:nvPr/>
            </p:nvCxnSpPr>
            <p:spPr>
              <a:xfrm>
                <a:off x="6581654" y="3972932"/>
                <a:ext cx="1983840" cy="0"/>
              </a:xfrm>
              <a:prstGeom prst="straightConnector1">
                <a:avLst/>
              </a:prstGeom>
              <a:noFill/>
              <a:ln cap="flat" cmpd="sng" w="38100">
                <a:solidFill>
                  <a:schemeClr val="dk1"/>
                </a:solidFill>
                <a:prstDash val="solid"/>
                <a:round/>
                <a:headEnd len="sm" w="sm" type="none"/>
                <a:tailEnd len="sm" w="sm" type="none"/>
              </a:ln>
            </p:spPr>
          </p:cxnSp>
        </p:grpSp>
      </p:grpSp>
      <p:sp>
        <p:nvSpPr>
          <p:cNvPr id="310" name="Google Shape;310;p8"/>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9"/>
          <p:cNvSpPr/>
          <p:nvPr/>
        </p:nvSpPr>
        <p:spPr>
          <a:xfrm>
            <a:off x="507281" y="923964"/>
            <a:ext cx="8160993" cy="24622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CATEGORÍA DE CLASES</a:t>
            </a:r>
            <a:endParaRPr b="1" i="0" sz="1600" u="none" cap="none" strike="noStrike">
              <a:solidFill>
                <a:schemeClr val="dk1"/>
              </a:solidFill>
              <a:latin typeface="Calibri"/>
              <a:ea typeface="Calibri"/>
              <a:cs typeface="Calibri"/>
              <a:sym typeface="Calibri"/>
            </a:endParaRPr>
          </a:p>
        </p:txBody>
      </p:sp>
      <p:graphicFrame>
        <p:nvGraphicFramePr>
          <p:cNvPr id="316" name="Google Shape;316;p9"/>
          <p:cNvGraphicFramePr/>
          <p:nvPr/>
        </p:nvGraphicFramePr>
        <p:xfrm>
          <a:off x="478638" y="1663617"/>
          <a:ext cx="3000000" cy="3000000"/>
        </p:xfrm>
        <a:graphic>
          <a:graphicData uri="http://schemas.openxmlformats.org/drawingml/2006/table">
            <a:tbl>
              <a:tblPr>
                <a:noFill/>
                <a:tableStyleId>{111FAAAF-390B-45C5-8ABE-32D9CDC8B455}</a:tableStyleId>
              </a:tblPr>
              <a:tblGrid>
                <a:gridCol w="2067925"/>
                <a:gridCol w="1773025"/>
              </a:tblGrid>
              <a:tr h="280475">
                <a:tc>
                  <a:txBody>
                    <a:bodyPr/>
                    <a:lstStyle/>
                    <a:p>
                      <a:pPr indent="0" lvl="0" marL="0" marR="0" rtl="0" algn="ctr">
                        <a:lnSpc>
                          <a:spcPct val="100000"/>
                        </a:lnSpc>
                        <a:spcBef>
                          <a:spcPts val="0"/>
                        </a:spcBef>
                        <a:spcAft>
                          <a:spcPts val="0"/>
                        </a:spcAft>
                        <a:buClr>
                          <a:schemeClr val="accent2"/>
                        </a:buClr>
                        <a:buSzPts val="1200"/>
                        <a:buFont typeface="Noto Sans Symbols"/>
                        <a:buNone/>
                      </a:pPr>
                      <a:r>
                        <a:rPr b="1" lang="es-PE" sz="1200" u="none" cap="none" strike="noStrike">
                          <a:solidFill>
                            <a:schemeClr val="lt1"/>
                          </a:solidFill>
                        </a:rPr>
                        <a:t>CATEGORÍA</a:t>
                      </a:r>
                      <a:endParaRPr b="1" i="0" sz="1200" u="none" cap="none" strike="noStrike">
                        <a:solidFill>
                          <a:schemeClr val="lt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67529F"/>
                    </a:solidFill>
                  </a:tcPr>
                </a:tc>
                <a:tc>
                  <a:txBody>
                    <a:bodyPr/>
                    <a:lstStyle/>
                    <a:p>
                      <a:pPr indent="0" lvl="0" marL="0" marR="0" rtl="0" algn="ctr">
                        <a:lnSpc>
                          <a:spcPct val="100000"/>
                        </a:lnSpc>
                        <a:spcBef>
                          <a:spcPts val="0"/>
                        </a:spcBef>
                        <a:spcAft>
                          <a:spcPts val="0"/>
                        </a:spcAft>
                        <a:buClr>
                          <a:schemeClr val="accent2"/>
                        </a:buClr>
                        <a:buSzPts val="1200"/>
                        <a:buFont typeface="Noto Sans Symbols"/>
                        <a:buNone/>
                      </a:pPr>
                      <a:r>
                        <a:rPr b="1" lang="es-PE" sz="1200" u="none" cap="none" strike="noStrike">
                          <a:solidFill>
                            <a:schemeClr val="lt1"/>
                          </a:solidFill>
                        </a:rPr>
                        <a:t>EJEMPLO</a:t>
                      </a:r>
                      <a:endParaRPr b="1" i="0" sz="1200" u="none" cap="none" strike="noStrike">
                        <a:solidFill>
                          <a:schemeClr val="lt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67529F"/>
                    </a:solidFill>
                  </a:tcPr>
                </a:tc>
              </a:tr>
              <a:tr h="28047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Tangibles o físicos</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Edificio, Producto</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7247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Especificaciones o descripciones</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EspecificacionProducto, DescripcionVuelo</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7247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Lugares</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Tienda, Aula, Laboratorio</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8047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Transacciones</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Venta, Pago, Reserva</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7247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Líneas o detalle de transacción</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LineaVenta, DetalleReserva</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7247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Registros de finanzas, expedientes</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CDP, Factura, Ticket, HistoriaClinica</a:t>
                      </a:r>
                      <a:endParaRPr b="0" i="0" sz="1200" u="none" cap="none" strike="noStrike">
                        <a:solidFill>
                          <a:schemeClr val="dk1"/>
                        </a:solidFill>
                        <a:latin typeface="Calibri"/>
                        <a:ea typeface="Calibri"/>
                        <a:cs typeface="Calibri"/>
                        <a:sym typeface="Calibri"/>
                      </a:endParaRPr>
                    </a:p>
                  </a:txBody>
                  <a:tcPr marT="51325" marB="51325"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graphicFrame>
        <p:nvGraphicFramePr>
          <p:cNvPr id="317" name="Google Shape;317;p9"/>
          <p:cNvGraphicFramePr/>
          <p:nvPr/>
        </p:nvGraphicFramePr>
        <p:xfrm>
          <a:off x="4571999" y="1663613"/>
          <a:ext cx="3000000" cy="3000000"/>
        </p:xfrm>
        <a:graphic>
          <a:graphicData uri="http://schemas.openxmlformats.org/drawingml/2006/table">
            <a:tbl>
              <a:tblPr>
                <a:noFill/>
                <a:tableStyleId>{63A7DF9A-704E-4A4E-BD0A-183781F1E98E}</a:tableStyleId>
              </a:tblPr>
              <a:tblGrid>
                <a:gridCol w="1896050"/>
                <a:gridCol w="2211400"/>
              </a:tblGrid>
              <a:tr h="326625">
                <a:tc>
                  <a:txBody>
                    <a:bodyPr/>
                    <a:lstStyle/>
                    <a:p>
                      <a:pPr indent="0" lvl="0" marL="0" marR="0" rtl="0" algn="ctr">
                        <a:lnSpc>
                          <a:spcPct val="100000"/>
                        </a:lnSpc>
                        <a:spcBef>
                          <a:spcPts val="0"/>
                        </a:spcBef>
                        <a:spcAft>
                          <a:spcPts val="0"/>
                        </a:spcAft>
                        <a:buClr>
                          <a:schemeClr val="accent2"/>
                        </a:buClr>
                        <a:buSzPts val="1200"/>
                        <a:buFont typeface="Noto Sans Symbols"/>
                        <a:buNone/>
                      </a:pPr>
                      <a:r>
                        <a:rPr b="1" lang="es-PE" sz="1200" u="none" cap="none" strike="noStrike">
                          <a:solidFill>
                            <a:schemeClr val="lt1"/>
                          </a:solidFill>
                        </a:rPr>
                        <a:t>CATEGORÍA</a:t>
                      </a:r>
                      <a:endParaRPr b="1" i="0" sz="1200" u="none" cap="none" strike="noStrike">
                        <a:solidFill>
                          <a:schemeClr val="lt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5594B"/>
                    </a:solidFill>
                  </a:tcPr>
                </a:tc>
                <a:tc>
                  <a:txBody>
                    <a:bodyPr/>
                    <a:lstStyle/>
                    <a:p>
                      <a:pPr indent="0" lvl="0" marL="0" marR="0" rtl="0" algn="ctr">
                        <a:lnSpc>
                          <a:spcPct val="100000"/>
                        </a:lnSpc>
                        <a:spcBef>
                          <a:spcPts val="0"/>
                        </a:spcBef>
                        <a:spcAft>
                          <a:spcPts val="0"/>
                        </a:spcAft>
                        <a:buClr>
                          <a:schemeClr val="accent2"/>
                        </a:buClr>
                        <a:buSzPts val="1200"/>
                        <a:buFont typeface="Noto Sans Symbols"/>
                        <a:buNone/>
                      </a:pPr>
                      <a:r>
                        <a:rPr b="1" lang="es-PE" sz="1200" u="none" cap="none" strike="noStrike">
                          <a:solidFill>
                            <a:schemeClr val="lt1"/>
                          </a:solidFill>
                        </a:rPr>
                        <a:t>EJEMPLO</a:t>
                      </a:r>
                      <a:endParaRPr b="1" i="0" sz="1200" u="none" cap="none" strike="noStrike">
                        <a:solidFill>
                          <a:schemeClr val="lt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5594B"/>
                    </a:solidFill>
                  </a:tcPr>
                </a:tc>
              </a:tr>
              <a:tr h="32662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Roles de personas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Cajero, Piloto</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662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Organizaciones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Departamento, Sucursal</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35800">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Historiales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PrecioProducto, PrecioDolar, AtencionCitas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7762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Registros de cambios de estados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DisponibilidadHabitacion,</a:t>
                      </a:r>
                      <a:endParaRPr sz="1400" u="none" cap="none" strike="noStrike"/>
                    </a:p>
                    <a:p>
                      <a:pPr indent="0" lvl="0" marL="0" marR="0" rtl="0" algn="l">
                        <a:lnSpc>
                          <a:spcPct val="100000"/>
                        </a:lnSpc>
                        <a:spcBef>
                          <a:spcPts val="240"/>
                        </a:spcBef>
                        <a:spcAft>
                          <a:spcPts val="0"/>
                        </a:spcAft>
                        <a:buClr>
                          <a:schemeClr val="accent2"/>
                        </a:buClr>
                        <a:buSzPts val="1200"/>
                        <a:buFont typeface="Noto Sans Symbols"/>
                        <a:buNone/>
                      </a:pPr>
                      <a:r>
                        <a:rPr lang="es-PE" sz="1200" u="none" cap="none" strike="noStrike"/>
                        <a:t>DisponibilidadButaca</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662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Conceptos abstractos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RangoHora, UnidadAprendizaje</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6625">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Relaciones</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Noto Sans Symbols"/>
                        <a:buNone/>
                      </a:pPr>
                      <a:r>
                        <a:rPr lang="es-PE" sz="1200" u="none" cap="none" strike="noStrike"/>
                        <a:t>Amistad, Parentesco</a:t>
                      </a:r>
                      <a:endParaRPr b="0" i="0" sz="1200" u="none" cap="none" strike="noStrike">
                        <a:solidFill>
                          <a:schemeClr val="dk1"/>
                        </a:solidFill>
                        <a:latin typeface="Arial Narrow"/>
                        <a:ea typeface="Arial Narrow"/>
                        <a:cs typeface="Arial Narrow"/>
                        <a:sym typeface="Arial Narrow"/>
                      </a:endParaRPr>
                    </a:p>
                  </a:txBody>
                  <a:tcPr marT="51350" marB="51350" marR="108950" marL="1089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318" name="Google Shape;318;p9"/>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0"/>
          <p:cNvSpPr/>
          <p:nvPr/>
        </p:nvSpPr>
        <p:spPr>
          <a:xfrm>
            <a:off x="4824413" y="912813"/>
            <a:ext cx="3887787" cy="4284662"/>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p10"/>
          <p:cNvSpPr txBox="1"/>
          <p:nvPr/>
        </p:nvSpPr>
        <p:spPr>
          <a:xfrm>
            <a:off x="4901689" y="2247257"/>
            <a:ext cx="882027"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Class4</a:t>
            </a:r>
            <a:r>
              <a:rPr b="0" baseline="30000" i="0" lang="es-PE" sz="1800" u="none" cap="none" strike="noStrike">
                <a:solidFill>
                  <a:schemeClr val="dk1"/>
                </a:solidFill>
                <a:latin typeface="Calibri"/>
                <a:ea typeface="Calibri"/>
                <a:cs typeface="Calibri"/>
                <a:sym typeface="Calibri"/>
              </a:rPr>
              <a:t>1..*</a:t>
            </a:r>
            <a:endParaRPr b="0" baseline="30000" i="0" sz="1800" u="none" cap="none" strike="noStrike">
              <a:solidFill>
                <a:schemeClr val="dk1"/>
              </a:solidFill>
              <a:latin typeface="Calibri"/>
              <a:ea typeface="Calibri"/>
              <a:cs typeface="Calibri"/>
              <a:sym typeface="Calibri"/>
            </a:endParaRPr>
          </a:p>
        </p:txBody>
      </p:sp>
      <p:cxnSp>
        <p:nvCxnSpPr>
          <p:cNvPr id="325" name="Google Shape;325;p10"/>
          <p:cNvCxnSpPr/>
          <p:nvPr/>
        </p:nvCxnSpPr>
        <p:spPr>
          <a:xfrm>
            <a:off x="5005253" y="2529685"/>
            <a:ext cx="674898" cy="0"/>
          </a:xfrm>
          <a:prstGeom prst="straightConnector1">
            <a:avLst/>
          </a:prstGeom>
          <a:noFill/>
          <a:ln cap="flat" cmpd="sng" w="28575">
            <a:solidFill>
              <a:schemeClr val="dk1"/>
            </a:solidFill>
            <a:prstDash val="solid"/>
            <a:round/>
            <a:headEnd len="sm" w="sm" type="none"/>
            <a:tailEnd len="sm" w="sm" type="none"/>
          </a:ln>
        </p:spPr>
      </p:cxnSp>
      <p:grpSp>
        <p:nvGrpSpPr>
          <p:cNvPr id="326" name="Google Shape;326;p10"/>
          <p:cNvGrpSpPr/>
          <p:nvPr/>
        </p:nvGrpSpPr>
        <p:grpSpPr>
          <a:xfrm>
            <a:off x="5106005" y="1750626"/>
            <a:ext cx="473394" cy="480181"/>
            <a:chOff x="6223284" y="-360580"/>
            <a:chExt cx="594967" cy="603500"/>
          </a:xfrm>
        </p:grpSpPr>
        <p:sp>
          <p:nvSpPr>
            <p:cNvPr id="327" name="Google Shape;327;p10"/>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28" name="Google Shape;328;p10"/>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329" name="Google Shape;329;p10"/>
          <p:cNvSpPr txBox="1"/>
          <p:nvPr/>
        </p:nvSpPr>
        <p:spPr>
          <a:xfrm>
            <a:off x="5004135" y="2607365"/>
            <a:ext cx="265938"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1</a:t>
            </a:r>
            <a:endParaRPr b="0" baseline="30000" i="0" sz="1800" u="none" cap="none" strike="noStrike">
              <a:solidFill>
                <a:schemeClr val="dk1"/>
              </a:solidFill>
              <a:latin typeface="Calibri"/>
              <a:ea typeface="Calibri"/>
              <a:cs typeface="Calibri"/>
              <a:sym typeface="Calibri"/>
            </a:endParaRPr>
          </a:p>
        </p:txBody>
      </p:sp>
      <p:sp>
        <p:nvSpPr>
          <p:cNvPr id="330" name="Google Shape;330;p10"/>
          <p:cNvSpPr txBox="1"/>
          <p:nvPr/>
        </p:nvSpPr>
        <p:spPr>
          <a:xfrm>
            <a:off x="5004135" y="3073810"/>
            <a:ext cx="264523"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a:t>
            </a:r>
            <a:endParaRPr b="0" baseline="30000" i="0" sz="1800" u="none" cap="none" strike="noStrike">
              <a:solidFill>
                <a:schemeClr val="dk1"/>
              </a:solidFill>
              <a:latin typeface="Calibri"/>
              <a:ea typeface="Calibri"/>
              <a:cs typeface="Calibri"/>
              <a:sym typeface="Calibri"/>
            </a:endParaRPr>
          </a:p>
        </p:txBody>
      </p:sp>
      <p:sp>
        <p:nvSpPr>
          <p:cNvPr id="331" name="Google Shape;331;p10"/>
          <p:cNvSpPr txBox="1"/>
          <p:nvPr/>
        </p:nvSpPr>
        <p:spPr>
          <a:xfrm>
            <a:off x="5004134" y="4121212"/>
            <a:ext cx="805651"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Class5</a:t>
            </a:r>
            <a:endParaRPr b="0" baseline="30000" i="0" sz="1800" u="none" cap="none" strike="noStrike">
              <a:solidFill>
                <a:schemeClr val="dk1"/>
              </a:solidFill>
              <a:latin typeface="Calibri"/>
              <a:ea typeface="Calibri"/>
              <a:cs typeface="Calibri"/>
              <a:sym typeface="Calibri"/>
            </a:endParaRPr>
          </a:p>
        </p:txBody>
      </p:sp>
      <p:grpSp>
        <p:nvGrpSpPr>
          <p:cNvPr id="332" name="Google Shape;332;p10"/>
          <p:cNvGrpSpPr/>
          <p:nvPr/>
        </p:nvGrpSpPr>
        <p:grpSpPr>
          <a:xfrm>
            <a:off x="5106005" y="3613909"/>
            <a:ext cx="473394" cy="480181"/>
            <a:chOff x="6223284" y="-360580"/>
            <a:chExt cx="594967" cy="603500"/>
          </a:xfrm>
        </p:grpSpPr>
        <p:sp>
          <p:nvSpPr>
            <p:cNvPr id="333" name="Google Shape;333;p10"/>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34" name="Google Shape;334;p10"/>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grpSp>
        <p:nvGrpSpPr>
          <p:cNvPr id="335" name="Google Shape;335;p10"/>
          <p:cNvGrpSpPr/>
          <p:nvPr/>
        </p:nvGrpSpPr>
        <p:grpSpPr>
          <a:xfrm>
            <a:off x="5239890" y="2452133"/>
            <a:ext cx="205625" cy="1083000"/>
            <a:chOff x="5076258" y="2981132"/>
            <a:chExt cx="233266" cy="1228584"/>
          </a:xfrm>
        </p:grpSpPr>
        <p:cxnSp>
          <p:nvCxnSpPr>
            <p:cNvPr id="336" name="Google Shape;336;p10"/>
            <p:cNvCxnSpPr/>
            <p:nvPr/>
          </p:nvCxnSpPr>
          <p:spPr>
            <a:xfrm flipH="1" rot="-5400000">
              <a:off x="4670823" y="3680874"/>
              <a:ext cx="1047157" cy="10527"/>
            </a:xfrm>
            <a:prstGeom prst="straightConnector1">
              <a:avLst/>
            </a:prstGeom>
            <a:noFill/>
            <a:ln cap="flat" cmpd="sng" w="38100">
              <a:solidFill>
                <a:srgbClr val="E5594B"/>
              </a:solidFill>
              <a:prstDash val="solid"/>
              <a:round/>
              <a:headEnd len="sm" w="sm" type="none"/>
              <a:tailEnd len="med" w="med" type="triangle"/>
            </a:ln>
          </p:spPr>
        </p:cxnSp>
        <p:sp>
          <p:nvSpPr>
            <p:cNvPr id="337" name="Google Shape;337;p10"/>
            <p:cNvSpPr/>
            <p:nvPr/>
          </p:nvSpPr>
          <p:spPr>
            <a:xfrm>
              <a:off x="5076258" y="2981132"/>
              <a:ext cx="233266" cy="327310"/>
            </a:xfrm>
            <a:prstGeom prst="diamond">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38" name="Google Shape;338;p10"/>
          <p:cNvCxnSpPr/>
          <p:nvPr/>
        </p:nvCxnSpPr>
        <p:spPr>
          <a:xfrm>
            <a:off x="5646962" y="2045184"/>
            <a:ext cx="2202107" cy="825251"/>
          </a:xfrm>
          <a:prstGeom prst="straightConnector1">
            <a:avLst/>
          </a:prstGeom>
          <a:noFill/>
          <a:ln cap="flat" cmpd="sng" w="28575">
            <a:solidFill>
              <a:srgbClr val="595959"/>
            </a:solidFill>
            <a:prstDash val="solid"/>
            <a:round/>
            <a:headEnd len="sm" w="sm" type="none"/>
            <a:tailEnd len="sm" w="sm" type="none"/>
          </a:ln>
        </p:spPr>
      </p:cxnSp>
      <p:sp>
        <p:nvSpPr>
          <p:cNvPr id="339" name="Google Shape;339;p10"/>
          <p:cNvSpPr txBox="1"/>
          <p:nvPr/>
        </p:nvSpPr>
        <p:spPr>
          <a:xfrm>
            <a:off x="7825798" y="3218116"/>
            <a:ext cx="838699"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Class8</a:t>
            </a:r>
            <a:endParaRPr b="0" baseline="30000" i="0" sz="1800" u="none" cap="none" strike="noStrike">
              <a:solidFill>
                <a:schemeClr val="dk1"/>
              </a:solidFill>
              <a:latin typeface="Calibri"/>
              <a:ea typeface="Calibri"/>
              <a:cs typeface="Calibri"/>
              <a:sym typeface="Calibri"/>
            </a:endParaRPr>
          </a:p>
        </p:txBody>
      </p:sp>
      <p:cxnSp>
        <p:nvCxnSpPr>
          <p:cNvPr id="340" name="Google Shape;340;p10"/>
          <p:cNvCxnSpPr/>
          <p:nvPr/>
        </p:nvCxnSpPr>
        <p:spPr>
          <a:xfrm>
            <a:off x="7826917" y="3500543"/>
            <a:ext cx="674898" cy="0"/>
          </a:xfrm>
          <a:prstGeom prst="straightConnector1">
            <a:avLst/>
          </a:prstGeom>
          <a:noFill/>
          <a:ln cap="flat" cmpd="sng" w="28575">
            <a:solidFill>
              <a:schemeClr val="dk1"/>
            </a:solidFill>
            <a:prstDash val="solid"/>
            <a:round/>
            <a:headEnd len="sm" w="sm" type="none"/>
            <a:tailEnd len="sm" w="sm" type="none"/>
          </a:ln>
        </p:spPr>
      </p:cxnSp>
      <p:grpSp>
        <p:nvGrpSpPr>
          <p:cNvPr id="341" name="Google Shape;341;p10"/>
          <p:cNvGrpSpPr/>
          <p:nvPr/>
        </p:nvGrpSpPr>
        <p:grpSpPr>
          <a:xfrm>
            <a:off x="7927669" y="2721485"/>
            <a:ext cx="473394" cy="480181"/>
            <a:chOff x="6223284" y="-360580"/>
            <a:chExt cx="594967" cy="603500"/>
          </a:xfrm>
        </p:grpSpPr>
        <p:sp>
          <p:nvSpPr>
            <p:cNvPr id="342" name="Google Shape;342;p10"/>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43" name="Google Shape;343;p10"/>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344" name="Google Shape;344;p10"/>
          <p:cNvSpPr txBox="1"/>
          <p:nvPr/>
        </p:nvSpPr>
        <p:spPr>
          <a:xfrm>
            <a:off x="7181212" y="2743193"/>
            <a:ext cx="265938" cy="3255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dk1"/>
                </a:solidFill>
                <a:latin typeface="Calibri"/>
                <a:ea typeface="Calibri"/>
                <a:cs typeface="Calibri"/>
                <a:sym typeface="Calibri"/>
              </a:rPr>
              <a:t>1</a:t>
            </a:r>
            <a:endParaRPr b="0" baseline="30000" i="0" sz="1800" u="none" cap="none" strike="noStrike">
              <a:solidFill>
                <a:schemeClr val="dk1"/>
              </a:solidFill>
              <a:latin typeface="Calibri"/>
              <a:ea typeface="Calibri"/>
              <a:cs typeface="Calibri"/>
              <a:sym typeface="Calibri"/>
            </a:endParaRPr>
          </a:p>
        </p:txBody>
      </p:sp>
      <p:sp>
        <p:nvSpPr>
          <p:cNvPr id="345" name="Google Shape;345;p10"/>
          <p:cNvSpPr/>
          <p:nvPr/>
        </p:nvSpPr>
        <p:spPr>
          <a:xfrm>
            <a:off x="479464" y="923964"/>
            <a:ext cx="4108034" cy="4185761"/>
          </a:xfrm>
          <a:prstGeom prst="rect">
            <a:avLst/>
          </a:prstGeom>
          <a:noFill/>
          <a:ln>
            <a:noFill/>
          </a:ln>
        </p:spPr>
        <p:txBody>
          <a:bodyPr anchorCtr="0" anchor="t" bIns="0" lIns="0" spcFirstLastPara="1" rIns="0" wrap="square" tIns="0">
            <a:spAutoFit/>
          </a:bodyPr>
          <a:lstStyle/>
          <a:p>
            <a:pPr indent="-177800" lvl="0" marL="17780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600" u="none" cap="none" strike="noStrike">
              <a:solidFill>
                <a:schemeClr val="dk1"/>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 </a:t>
            </a:r>
            <a:r>
              <a:rPr b="1" i="0" lang="es-PE" sz="1600" u="none" cap="none" strike="noStrike">
                <a:solidFill>
                  <a:schemeClr val="dk1"/>
                </a:solidFill>
                <a:latin typeface="Calibri"/>
                <a:ea typeface="Calibri"/>
                <a:cs typeface="Calibri"/>
                <a:sym typeface="Calibri"/>
              </a:rPr>
              <a:t>asociación es una relación entre clases</a:t>
            </a:r>
            <a:r>
              <a:rPr b="0" i="0" lang="es-PE" sz="1600" u="none" cap="none" strike="noStrike">
                <a:solidFill>
                  <a:schemeClr val="dk1"/>
                </a:solidFill>
                <a:latin typeface="Calibri"/>
                <a:ea typeface="Calibri"/>
                <a:cs typeface="Calibri"/>
                <a:sym typeface="Calibri"/>
              </a:rPr>
              <a:t> que indica una conexión significativa.</a:t>
            </a:r>
            <a:endParaRPr/>
          </a:p>
          <a:p>
            <a:pPr indent="-76200" lvl="0" marL="1778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Está </a:t>
            </a:r>
            <a:r>
              <a:rPr b="1" i="0" lang="es-PE" sz="1600" u="none" cap="none" strike="noStrike">
                <a:solidFill>
                  <a:schemeClr val="dk1"/>
                </a:solidFill>
                <a:latin typeface="Calibri"/>
                <a:ea typeface="Calibri"/>
                <a:cs typeface="Calibri"/>
                <a:sym typeface="Calibri"/>
              </a:rPr>
              <a:t>representada como una línea entre clases </a:t>
            </a:r>
            <a:r>
              <a:rPr b="0" i="0" lang="es-PE" sz="1600" u="none" cap="none" strike="noStrike">
                <a:solidFill>
                  <a:schemeClr val="dk1"/>
                </a:solidFill>
                <a:latin typeface="Calibri"/>
                <a:ea typeface="Calibri"/>
                <a:cs typeface="Calibri"/>
                <a:sym typeface="Calibri"/>
              </a:rPr>
              <a:t>con nombre. La asociación es inherentemente bidireccional.</a:t>
            </a:r>
            <a:endParaRPr/>
          </a:p>
          <a:p>
            <a:pPr indent="-76200" lvl="0" marL="1778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Es convencional </a:t>
            </a:r>
            <a:r>
              <a:rPr b="1" i="0" lang="es-PE" sz="1600" u="none" cap="none" strike="noStrike">
                <a:solidFill>
                  <a:schemeClr val="dk1"/>
                </a:solidFill>
                <a:latin typeface="Calibri"/>
                <a:ea typeface="Calibri"/>
                <a:cs typeface="Calibri"/>
                <a:sym typeface="Calibri"/>
              </a:rPr>
              <a:t>leer la asociación</a:t>
            </a:r>
            <a:r>
              <a:rPr b="0" i="0" lang="es-PE" sz="1600" u="none" cap="none" strike="noStrike">
                <a:solidFill>
                  <a:schemeClr val="dk1"/>
                </a:solidFill>
                <a:latin typeface="Calibri"/>
                <a:ea typeface="Calibri"/>
                <a:cs typeface="Calibri"/>
                <a:sym typeface="Calibri"/>
              </a:rPr>
              <a:t> de izquierda a derecha o de arriba</a:t>
            </a:r>
            <a:r>
              <a:rPr lang="es-PE" sz="1600">
                <a:solidFill>
                  <a:schemeClr val="dk1"/>
                </a:solidFill>
                <a:latin typeface="Calibri"/>
                <a:ea typeface="Calibri"/>
                <a:cs typeface="Calibri"/>
                <a:sym typeface="Calibri"/>
              </a:rPr>
              <a:t> </a:t>
            </a:r>
            <a:r>
              <a:rPr b="0" i="0" lang="es-PE" sz="1600" u="none" cap="none" strike="noStrike">
                <a:solidFill>
                  <a:schemeClr val="dk1"/>
                </a:solidFill>
                <a:latin typeface="Calibri"/>
                <a:ea typeface="Calibri"/>
                <a:cs typeface="Calibri"/>
                <a:sym typeface="Calibri"/>
              </a:rPr>
              <a:t>hacia abajo.</a:t>
            </a:r>
            <a:endParaRPr/>
          </a:p>
          <a:p>
            <a:pPr indent="-76200" lvl="0" marL="1778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Pueden existir </a:t>
            </a:r>
            <a:r>
              <a:rPr b="1" i="0" lang="es-PE" sz="1600" u="none" cap="none" strike="noStrike">
                <a:solidFill>
                  <a:schemeClr val="dk1"/>
                </a:solidFill>
                <a:latin typeface="Calibri"/>
                <a:ea typeface="Calibri"/>
                <a:cs typeface="Calibri"/>
                <a:sym typeface="Calibri"/>
              </a:rPr>
              <a:t>múltiples asociaciones</a:t>
            </a:r>
            <a:r>
              <a:rPr b="0" i="0" lang="es-PE" sz="1600" u="none" cap="none" strike="noStrike">
                <a:solidFill>
                  <a:schemeClr val="dk1"/>
                </a:solidFill>
                <a:latin typeface="Calibri"/>
                <a:ea typeface="Calibri"/>
                <a:cs typeface="Calibri"/>
                <a:sym typeface="Calibri"/>
              </a:rPr>
              <a:t> entre dos clases.</a:t>
            </a:r>
            <a:endParaRPr/>
          </a:p>
          <a:p>
            <a:pPr indent="-76200" lvl="0" marL="1778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Las asociaciones pueden ser binarias, ternarias, o de mayor grado.</a:t>
            </a:r>
            <a:endParaRPr b="0" i="0" sz="1600" u="none" cap="none" strike="noStrike">
              <a:solidFill>
                <a:srgbClr val="000000"/>
              </a:solidFill>
              <a:latin typeface="Calibri"/>
              <a:ea typeface="Calibri"/>
              <a:cs typeface="Calibri"/>
              <a:sym typeface="Calibri"/>
            </a:endParaRPr>
          </a:p>
        </p:txBody>
      </p:sp>
      <p:sp>
        <p:nvSpPr>
          <p:cNvPr id="346" name="Google Shape;346;p10"/>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1"/>
          <p:cNvSpPr/>
          <p:nvPr/>
        </p:nvSpPr>
        <p:spPr>
          <a:xfrm>
            <a:off x="485510" y="2107580"/>
            <a:ext cx="8226690" cy="30898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2" name="Google Shape;352;p11"/>
          <p:cNvSpPr/>
          <p:nvPr/>
        </p:nvSpPr>
        <p:spPr>
          <a:xfrm>
            <a:off x="479464" y="923964"/>
            <a:ext cx="8207375"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0"/>
              </a:spcBef>
              <a:spcAft>
                <a:spcPts val="0"/>
              </a:spcAft>
              <a:buClr>
                <a:schemeClr val="dk1"/>
              </a:buClr>
              <a:buSzPts val="1600"/>
              <a:buFont typeface="Arial"/>
              <a:buChar char="•"/>
            </a:pPr>
            <a:r>
              <a:rPr b="1" i="0" lang="es-PE" sz="1600" u="none" cap="none" strike="noStrike">
                <a:solidFill>
                  <a:schemeClr val="dk1"/>
                </a:solidFill>
                <a:latin typeface="Calibri"/>
                <a:ea typeface="Calibri"/>
                <a:cs typeface="Calibri"/>
                <a:sym typeface="Calibri"/>
              </a:rPr>
              <a:t>Clases Asociativas</a:t>
            </a:r>
            <a:br>
              <a:rPr b="0"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En una asociación de muchos a muchos entre dos clases y existe información asociada con la propia asociación.</a:t>
            </a:r>
            <a:endParaRPr b="0" i="0" sz="1600" u="none" cap="none" strike="noStrike">
              <a:solidFill>
                <a:schemeClr val="dk1"/>
              </a:solidFill>
              <a:latin typeface="Calibri"/>
              <a:ea typeface="Calibri"/>
              <a:cs typeface="Calibri"/>
              <a:sym typeface="Calibri"/>
            </a:endParaRPr>
          </a:p>
        </p:txBody>
      </p:sp>
      <p:sp>
        <p:nvSpPr>
          <p:cNvPr id="353" name="Google Shape;353;p11"/>
          <p:cNvSpPr txBox="1"/>
          <p:nvPr/>
        </p:nvSpPr>
        <p:spPr>
          <a:xfrm>
            <a:off x="7162745" y="3160616"/>
            <a:ext cx="1258167"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s-PE" sz="900" u="none" cap="none" strike="noStrike">
                <a:solidFill>
                  <a:schemeClr val="dk1"/>
                </a:solidFill>
                <a:latin typeface="Calibri"/>
                <a:ea typeface="Calibri"/>
                <a:cs typeface="Calibri"/>
                <a:sym typeface="Calibri"/>
              </a:rPr>
              <a:t>Class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codEquipo: Interger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Nombre: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numJugadores: Integer</a:t>
            </a:r>
            <a:endParaRPr b="0" i="0" sz="900" u="none" cap="none" strike="noStrike">
              <a:solidFill>
                <a:schemeClr val="dk1"/>
              </a:solidFill>
              <a:latin typeface="Calibri"/>
              <a:ea typeface="Calibri"/>
              <a:cs typeface="Calibri"/>
              <a:sym typeface="Calibri"/>
            </a:endParaRPr>
          </a:p>
        </p:txBody>
      </p:sp>
      <p:grpSp>
        <p:nvGrpSpPr>
          <p:cNvPr id="354" name="Google Shape;354;p11"/>
          <p:cNvGrpSpPr/>
          <p:nvPr/>
        </p:nvGrpSpPr>
        <p:grpSpPr>
          <a:xfrm>
            <a:off x="7497395" y="2590645"/>
            <a:ext cx="557420" cy="565411"/>
            <a:chOff x="6223284" y="-360580"/>
            <a:chExt cx="594967" cy="603500"/>
          </a:xfrm>
        </p:grpSpPr>
        <p:sp>
          <p:nvSpPr>
            <p:cNvPr id="355" name="Google Shape;355;p11"/>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6" name="Google Shape;356;p11"/>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357" name="Google Shape;357;p11"/>
          <p:cNvSpPr txBox="1"/>
          <p:nvPr/>
        </p:nvSpPr>
        <p:spPr>
          <a:xfrm>
            <a:off x="4218322" y="4061893"/>
            <a:ext cx="1689513"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s-PE" sz="900" u="none" cap="none" strike="noStrike">
                <a:solidFill>
                  <a:schemeClr val="dk1"/>
                </a:solidFill>
                <a:latin typeface="Calibri"/>
                <a:ea typeface="Calibri"/>
                <a:cs typeface="Calibri"/>
                <a:sym typeface="Calibri"/>
              </a:rPr>
              <a:t>JugadorEquipo</a:t>
            </a:r>
            <a:endParaRPr b="1" i="0" sz="900" u="none" cap="none" strike="noStrike">
              <a:solidFill>
                <a:schemeClr val="dk1"/>
              </a:solidFill>
              <a:latin typeface="Calibri"/>
              <a:ea typeface="Calibri"/>
              <a:cs typeface="Calibri"/>
              <a:sym typeface="Calibri"/>
            </a:endParaRPr>
          </a:p>
        </p:txBody>
      </p:sp>
      <p:cxnSp>
        <p:nvCxnSpPr>
          <p:cNvPr id="358" name="Google Shape;358;p11"/>
          <p:cNvCxnSpPr/>
          <p:nvPr/>
        </p:nvCxnSpPr>
        <p:spPr>
          <a:xfrm>
            <a:off x="4619938" y="4305691"/>
            <a:ext cx="900036" cy="0"/>
          </a:xfrm>
          <a:prstGeom prst="straightConnector1">
            <a:avLst/>
          </a:prstGeom>
          <a:noFill/>
          <a:ln cap="flat" cmpd="sng" w="28575">
            <a:solidFill>
              <a:schemeClr val="dk1"/>
            </a:solidFill>
            <a:prstDash val="solid"/>
            <a:round/>
            <a:headEnd len="sm" w="sm" type="none"/>
            <a:tailEnd len="sm" w="sm" type="none"/>
          </a:ln>
        </p:spPr>
      </p:cxnSp>
      <p:grpSp>
        <p:nvGrpSpPr>
          <p:cNvPr id="359" name="Google Shape;359;p11"/>
          <p:cNvGrpSpPr/>
          <p:nvPr/>
        </p:nvGrpSpPr>
        <p:grpSpPr>
          <a:xfrm>
            <a:off x="4784369" y="3491921"/>
            <a:ext cx="557420" cy="565411"/>
            <a:chOff x="6223284" y="-360580"/>
            <a:chExt cx="594967" cy="603500"/>
          </a:xfrm>
        </p:grpSpPr>
        <p:sp>
          <p:nvSpPr>
            <p:cNvPr id="360" name="Google Shape;360;p11"/>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1" name="Google Shape;361;p11"/>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sp>
        <p:nvSpPr>
          <p:cNvPr id="362" name="Google Shape;362;p11"/>
          <p:cNvSpPr txBox="1"/>
          <p:nvPr/>
        </p:nvSpPr>
        <p:spPr>
          <a:xfrm>
            <a:off x="822054" y="3530227"/>
            <a:ext cx="110915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s-PE" sz="900" u="none" cap="none" strike="noStrike">
                <a:solidFill>
                  <a:schemeClr val="dk1"/>
                </a:solidFill>
                <a:latin typeface="Calibri"/>
                <a:ea typeface="Calibri"/>
                <a:cs typeface="Calibri"/>
                <a:sym typeface="Calibri"/>
              </a:rPr>
              <a:t>Modelo de análisis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codJugador: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nombre: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apellidos: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estatura: Double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s-PE" sz="900" u="none" cap="none" strike="noStrike">
                <a:solidFill>
                  <a:schemeClr val="dk1"/>
                </a:solidFill>
                <a:latin typeface="Calibri"/>
                <a:ea typeface="Calibri"/>
                <a:cs typeface="Calibri"/>
                <a:sym typeface="Calibri"/>
              </a:rPr>
              <a:t>fechaRegistro: Date</a:t>
            </a:r>
            <a:endParaRPr b="0" i="0" sz="900" u="none" cap="none" strike="noStrike">
              <a:solidFill>
                <a:schemeClr val="dk1"/>
              </a:solidFill>
              <a:latin typeface="Calibri"/>
              <a:ea typeface="Calibri"/>
              <a:cs typeface="Calibri"/>
              <a:sym typeface="Calibri"/>
            </a:endParaRPr>
          </a:p>
        </p:txBody>
      </p:sp>
      <p:sp>
        <p:nvSpPr>
          <p:cNvPr id="363" name="Google Shape;363;p11"/>
          <p:cNvSpPr/>
          <p:nvPr/>
        </p:nvSpPr>
        <p:spPr>
          <a:xfrm>
            <a:off x="1087890" y="2960255"/>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4" name="Google Shape;364;p11"/>
          <p:cNvCxnSpPr/>
          <p:nvPr/>
        </p:nvCxnSpPr>
        <p:spPr>
          <a:xfrm>
            <a:off x="1101917" y="3525666"/>
            <a:ext cx="527295" cy="0"/>
          </a:xfrm>
          <a:prstGeom prst="straightConnector1">
            <a:avLst/>
          </a:prstGeom>
          <a:noFill/>
          <a:ln cap="flat" cmpd="sng" w="38100">
            <a:solidFill>
              <a:schemeClr val="dk1"/>
            </a:solidFill>
            <a:prstDash val="solid"/>
            <a:round/>
            <a:headEnd len="sm" w="sm" type="none"/>
            <a:tailEnd len="sm" w="sm" type="none"/>
          </a:ln>
        </p:spPr>
      </p:cxnSp>
      <p:cxnSp>
        <p:nvCxnSpPr>
          <p:cNvPr id="365" name="Google Shape;365;p11"/>
          <p:cNvCxnSpPr/>
          <p:nvPr/>
        </p:nvCxnSpPr>
        <p:spPr>
          <a:xfrm flipH="1">
            <a:off x="1819430" y="2804741"/>
            <a:ext cx="5520962" cy="328150"/>
          </a:xfrm>
          <a:prstGeom prst="straightConnector1">
            <a:avLst/>
          </a:prstGeom>
          <a:noFill/>
          <a:ln cap="flat" cmpd="sng" w="28575">
            <a:solidFill>
              <a:srgbClr val="595959"/>
            </a:solidFill>
            <a:prstDash val="solid"/>
            <a:round/>
            <a:headEnd len="sm" w="sm" type="none"/>
            <a:tailEnd len="sm" w="sm" type="none"/>
          </a:ln>
        </p:spPr>
      </p:cxnSp>
      <p:cxnSp>
        <p:nvCxnSpPr>
          <p:cNvPr id="366" name="Google Shape;366;p11"/>
          <p:cNvCxnSpPr/>
          <p:nvPr/>
        </p:nvCxnSpPr>
        <p:spPr>
          <a:xfrm rot="10800000">
            <a:off x="4762477" y="2964895"/>
            <a:ext cx="480792" cy="432087"/>
          </a:xfrm>
          <a:prstGeom prst="straightConnector1">
            <a:avLst/>
          </a:prstGeom>
          <a:noFill/>
          <a:ln cap="flat" cmpd="sng" w="28575">
            <a:solidFill>
              <a:srgbClr val="595959"/>
            </a:solidFill>
            <a:prstDash val="dash"/>
            <a:round/>
            <a:headEnd len="sm" w="sm" type="none"/>
            <a:tailEnd len="sm" w="sm" type="none"/>
          </a:ln>
        </p:spPr>
      </p:cxnSp>
      <p:sp>
        <p:nvSpPr>
          <p:cNvPr id="367" name="Google Shape;367;p11"/>
          <p:cNvSpPr txBox="1"/>
          <p:nvPr/>
        </p:nvSpPr>
        <p:spPr>
          <a:xfrm>
            <a:off x="2178155" y="2714034"/>
            <a:ext cx="1580803"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+está </a:t>
            </a:r>
            <a:r>
              <a:rPr lang="es-PE" sz="1000">
                <a:solidFill>
                  <a:schemeClr val="dk1"/>
                </a:solidFill>
                <a:latin typeface="Calibri"/>
                <a:ea typeface="Calibri"/>
                <a:cs typeface="Calibri"/>
                <a:sym typeface="Calibri"/>
              </a:rPr>
              <a:t>conformado</a:t>
            </a:r>
            <a:r>
              <a:rPr b="0" i="0" lang="es-PE" sz="1000" u="none" cap="none" strike="noStrike">
                <a:solidFill>
                  <a:schemeClr val="dk1"/>
                </a:solidFill>
                <a:latin typeface="Calibri"/>
                <a:ea typeface="Calibri"/>
                <a:cs typeface="Calibri"/>
                <a:sym typeface="Calibri"/>
              </a:rPr>
              <a:t> por</a:t>
            </a:r>
            <a:endParaRPr b="0" i="0" sz="1000" u="none" cap="none" strike="noStrike">
              <a:solidFill>
                <a:schemeClr val="dk1"/>
              </a:solidFill>
              <a:latin typeface="Calibri"/>
              <a:ea typeface="Calibri"/>
              <a:cs typeface="Calibri"/>
              <a:sym typeface="Calibri"/>
            </a:endParaRPr>
          </a:p>
        </p:txBody>
      </p:sp>
      <p:sp>
        <p:nvSpPr>
          <p:cNvPr id="368" name="Google Shape;368;p11"/>
          <p:cNvSpPr txBox="1"/>
          <p:nvPr/>
        </p:nvSpPr>
        <p:spPr>
          <a:xfrm>
            <a:off x="5873076" y="3033284"/>
            <a:ext cx="619996" cy="3999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baseline="30000" i="0" lang="es-PE" sz="1400" u="none" cap="none" strike="noStrike">
                <a:solidFill>
                  <a:schemeClr val="dk1"/>
                </a:solidFill>
                <a:latin typeface="Calibri"/>
                <a:ea typeface="Calibri"/>
                <a:cs typeface="Calibri"/>
                <a:sym typeface="Calibri"/>
              </a:rPr>
              <a:t>1..*</a:t>
            </a:r>
            <a:endParaRPr b="1" baseline="30000" i="0" sz="1400" u="none" cap="none" strike="noStrike">
              <a:solidFill>
                <a:schemeClr val="dk1"/>
              </a:solidFill>
              <a:latin typeface="Calibri"/>
              <a:ea typeface="Calibri"/>
              <a:cs typeface="Calibri"/>
              <a:sym typeface="Calibri"/>
            </a:endParaRPr>
          </a:p>
        </p:txBody>
      </p:sp>
      <p:sp>
        <p:nvSpPr>
          <p:cNvPr id="369" name="Google Shape;369;p11"/>
          <p:cNvSpPr txBox="1"/>
          <p:nvPr/>
        </p:nvSpPr>
        <p:spPr>
          <a:xfrm>
            <a:off x="2571676" y="3249057"/>
            <a:ext cx="619996" cy="3999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baseline="30000" i="0" lang="es-PE" sz="1400" u="none" cap="none" strike="noStrike">
                <a:solidFill>
                  <a:schemeClr val="dk1"/>
                </a:solidFill>
                <a:latin typeface="Calibri"/>
                <a:ea typeface="Calibri"/>
                <a:cs typeface="Calibri"/>
                <a:sym typeface="Calibri"/>
              </a:rPr>
              <a:t>1..*</a:t>
            </a:r>
            <a:endParaRPr b="1" baseline="30000" i="0" sz="1400" u="none" cap="none" strike="noStrike">
              <a:solidFill>
                <a:schemeClr val="dk1"/>
              </a:solidFill>
              <a:latin typeface="Calibri"/>
              <a:ea typeface="Calibri"/>
              <a:cs typeface="Calibri"/>
              <a:sym typeface="Calibri"/>
            </a:endParaRPr>
          </a:p>
        </p:txBody>
      </p:sp>
      <p:cxnSp>
        <p:nvCxnSpPr>
          <p:cNvPr id="370" name="Google Shape;370;p11"/>
          <p:cNvCxnSpPr/>
          <p:nvPr/>
        </p:nvCxnSpPr>
        <p:spPr>
          <a:xfrm>
            <a:off x="879748" y="3717292"/>
            <a:ext cx="971632" cy="0"/>
          </a:xfrm>
          <a:prstGeom prst="straightConnector1">
            <a:avLst/>
          </a:prstGeom>
          <a:noFill/>
          <a:ln cap="flat" cmpd="sng" w="28575">
            <a:solidFill>
              <a:schemeClr val="dk1"/>
            </a:solidFill>
            <a:prstDash val="solid"/>
            <a:round/>
            <a:headEnd len="sm" w="sm" type="none"/>
            <a:tailEnd len="sm" w="sm" type="none"/>
          </a:ln>
        </p:spPr>
      </p:cxnSp>
      <p:sp>
        <p:nvSpPr>
          <p:cNvPr id="371" name="Google Shape;371;p11"/>
          <p:cNvSpPr txBox="1"/>
          <p:nvPr/>
        </p:nvSpPr>
        <p:spPr>
          <a:xfrm>
            <a:off x="6482978" y="2547625"/>
            <a:ext cx="935916"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 juega en</a:t>
            </a:r>
            <a:endParaRPr b="0" i="0" sz="1000" u="none" cap="none" strike="noStrike">
              <a:solidFill>
                <a:schemeClr val="dk1"/>
              </a:solidFill>
              <a:latin typeface="Calibri"/>
              <a:ea typeface="Calibri"/>
              <a:cs typeface="Calibri"/>
              <a:sym typeface="Calibri"/>
            </a:endParaRPr>
          </a:p>
        </p:txBody>
      </p:sp>
      <p:cxnSp>
        <p:nvCxnSpPr>
          <p:cNvPr id="372" name="Google Shape;372;p11"/>
          <p:cNvCxnSpPr/>
          <p:nvPr/>
        </p:nvCxnSpPr>
        <p:spPr>
          <a:xfrm>
            <a:off x="7201099" y="3340802"/>
            <a:ext cx="1150012" cy="0"/>
          </a:xfrm>
          <a:prstGeom prst="straightConnector1">
            <a:avLst/>
          </a:prstGeom>
          <a:noFill/>
          <a:ln cap="flat" cmpd="sng" w="28575">
            <a:solidFill>
              <a:schemeClr val="dk1"/>
            </a:solidFill>
            <a:prstDash val="solid"/>
            <a:round/>
            <a:headEnd len="sm" w="sm" type="none"/>
            <a:tailEnd len="sm" w="sm" type="none"/>
          </a:ln>
        </p:spPr>
      </p:cxnSp>
      <p:cxnSp>
        <p:nvCxnSpPr>
          <p:cNvPr id="373" name="Google Shape;373;p11"/>
          <p:cNvCxnSpPr/>
          <p:nvPr/>
        </p:nvCxnSpPr>
        <p:spPr>
          <a:xfrm>
            <a:off x="879748" y="4435786"/>
            <a:ext cx="971632" cy="0"/>
          </a:xfrm>
          <a:prstGeom prst="straightConnector1">
            <a:avLst/>
          </a:prstGeom>
          <a:noFill/>
          <a:ln cap="flat" cmpd="sng" w="28575">
            <a:solidFill>
              <a:schemeClr val="dk1"/>
            </a:solidFill>
            <a:prstDash val="solid"/>
            <a:round/>
            <a:headEnd len="sm" w="sm" type="none"/>
            <a:tailEnd len="sm" w="sm" type="none"/>
          </a:ln>
        </p:spPr>
      </p:cxnSp>
      <p:cxnSp>
        <p:nvCxnSpPr>
          <p:cNvPr id="374" name="Google Shape;374;p11"/>
          <p:cNvCxnSpPr/>
          <p:nvPr/>
        </p:nvCxnSpPr>
        <p:spPr>
          <a:xfrm>
            <a:off x="7201099" y="3794154"/>
            <a:ext cx="1150012" cy="0"/>
          </a:xfrm>
          <a:prstGeom prst="straightConnector1">
            <a:avLst/>
          </a:prstGeom>
          <a:noFill/>
          <a:ln cap="flat" cmpd="sng" w="28575">
            <a:solidFill>
              <a:schemeClr val="dk1"/>
            </a:solidFill>
            <a:prstDash val="solid"/>
            <a:round/>
            <a:headEnd len="sm" w="sm" type="none"/>
            <a:tailEnd len="sm" w="sm" type="none"/>
          </a:ln>
        </p:spPr>
      </p:cxnSp>
      <p:pic>
        <p:nvPicPr>
          <p:cNvPr id="375" name="Google Shape;375;p11"/>
          <p:cNvPicPr preferRelativeResize="0"/>
          <p:nvPr/>
        </p:nvPicPr>
        <p:blipFill rotWithShape="1">
          <a:blip r:embed="rId3">
            <a:alphaModFix/>
          </a:blip>
          <a:srcRect b="40204" l="8629" r="80063" t="49555"/>
          <a:stretch/>
        </p:blipFill>
        <p:spPr>
          <a:xfrm>
            <a:off x="7100134" y="3377364"/>
            <a:ext cx="132571" cy="114557"/>
          </a:xfrm>
          <a:prstGeom prst="rect">
            <a:avLst/>
          </a:prstGeom>
          <a:noFill/>
          <a:ln>
            <a:noFill/>
          </a:ln>
        </p:spPr>
      </p:pic>
      <p:pic>
        <p:nvPicPr>
          <p:cNvPr id="376" name="Google Shape;376;p11"/>
          <p:cNvPicPr preferRelativeResize="0"/>
          <p:nvPr/>
        </p:nvPicPr>
        <p:blipFill rotWithShape="1">
          <a:blip r:embed="rId3">
            <a:alphaModFix/>
          </a:blip>
          <a:srcRect b="40204" l="8629" r="80063" t="49555"/>
          <a:stretch/>
        </p:blipFill>
        <p:spPr>
          <a:xfrm>
            <a:off x="7100134" y="3502071"/>
            <a:ext cx="132571" cy="114557"/>
          </a:xfrm>
          <a:prstGeom prst="rect">
            <a:avLst/>
          </a:prstGeom>
          <a:noFill/>
          <a:ln>
            <a:noFill/>
          </a:ln>
        </p:spPr>
      </p:pic>
      <p:pic>
        <p:nvPicPr>
          <p:cNvPr id="377" name="Google Shape;377;p11"/>
          <p:cNvPicPr preferRelativeResize="0"/>
          <p:nvPr/>
        </p:nvPicPr>
        <p:blipFill rotWithShape="1">
          <a:blip r:embed="rId3">
            <a:alphaModFix/>
          </a:blip>
          <a:srcRect b="40204" l="8629" r="80063" t="49555"/>
          <a:stretch/>
        </p:blipFill>
        <p:spPr>
          <a:xfrm>
            <a:off x="7100134" y="3629382"/>
            <a:ext cx="132571" cy="114557"/>
          </a:xfrm>
          <a:prstGeom prst="rect">
            <a:avLst/>
          </a:prstGeom>
          <a:noFill/>
          <a:ln>
            <a:noFill/>
          </a:ln>
        </p:spPr>
      </p:pic>
      <p:pic>
        <p:nvPicPr>
          <p:cNvPr id="378" name="Google Shape;378;p11"/>
          <p:cNvPicPr preferRelativeResize="0"/>
          <p:nvPr/>
        </p:nvPicPr>
        <p:blipFill rotWithShape="1">
          <a:blip r:embed="rId3">
            <a:alphaModFix/>
          </a:blip>
          <a:srcRect b="40204" l="8629" r="80063" t="49555"/>
          <a:stretch/>
        </p:blipFill>
        <p:spPr>
          <a:xfrm>
            <a:off x="753452" y="3762010"/>
            <a:ext cx="132571" cy="114557"/>
          </a:xfrm>
          <a:prstGeom prst="rect">
            <a:avLst/>
          </a:prstGeom>
          <a:noFill/>
          <a:ln>
            <a:noFill/>
          </a:ln>
        </p:spPr>
      </p:pic>
      <p:pic>
        <p:nvPicPr>
          <p:cNvPr id="379" name="Google Shape;379;p11"/>
          <p:cNvPicPr preferRelativeResize="0"/>
          <p:nvPr/>
        </p:nvPicPr>
        <p:blipFill rotWithShape="1">
          <a:blip r:embed="rId3">
            <a:alphaModFix/>
          </a:blip>
          <a:srcRect b="40204" l="8629" r="80063" t="49555"/>
          <a:stretch/>
        </p:blipFill>
        <p:spPr>
          <a:xfrm>
            <a:off x="753452" y="3880632"/>
            <a:ext cx="132571" cy="114557"/>
          </a:xfrm>
          <a:prstGeom prst="rect">
            <a:avLst/>
          </a:prstGeom>
          <a:noFill/>
          <a:ln>
            <a:noFill/>
          </a:ln>
        </p:spPr>
      </p:pic>
      <p:pic>
        <p:nvPicPr>
          <p:cNvPr id="380" name="Google Shape;380;p11"/>
          <p:cNvPicPr preferRelativeResize="0"/>
          <p:nvPr/>
        </p:nvPicPr>
        <p:blipFill rotWithShape="1">
          <a:blip r:embed="rId3">
            <a:alphaModFix/>
          </a:blip>
          <a:srcRect b="40204" l="8629" r="80063" t="49555"/>
          <a:stretch/>
        </p:blipFill>
        <p:spPr>
          <a:xfrm>
            <a:off x="753452" y="4019122"/>
            <a:ext cx="132571" cy="114557"/>
          </a:xfrm>
          <a:prstGeom prst="rect">
            <a:avLst/>
          </a:prstGeom>
          <a:noFill/>
          <a:ln>
            <a:noFill/>
          </a:ln>
        </p:spPr>
      </p:pic>
      <p:pic>
        <p:nvPicPr>
          <p:cNvPr id="381" name="Google Shape;381;p11"/>
          <p:cNvPicPr preferRelativeResize="0"/>
          <p:nvPr/>
        </p:nvPicPr>
        <p:blipFill rotWithShape="1">
          <a:blip r:embed="rId3">
            <a:alphaModFix/>
          </a:blip>
          <a:srcRect b="40204" l="8629" r="80063" t="49555"/>
          <a:stretch/>
        </p:blipFill>
        <p:spPr>
          <a:xfrm>
            <a:off x="753452" y="4156171"/>
            <a:ext cx="132571" cy="114557"/>
          </a:xfrm>
          <a:prstGeom prst="rect">
            <a:avLst/>
          </a:prstGeom>
          <a:noFill/>
          <a:ln>
            <a:noFill/>
          </a:ln>
        </p:spPr>
      </p:pic>
      <p:pic>
        <p:nvPicPr>
          <p:cNvPr id="382" name="Google Shape;382;p11"/>
          <p:cNvPicPr preferRelativeResize="0"/>
          <p:nvPr/>
        </p:nvPicPr>
        <p:blipFill rotWithShape="1">
          <a:blip r:embed="rId3">
            <a:alphaModFix/>
          </a:blip>
          <a:srcRect b="40204" l="8629" r="80063" t="49555"/>
          <a:stretch/>
        </p:blipFill>
        <p:spPr>
          <a:xfrm>
            <a:off x="753452" y="4301279"/>
            <a:ext cx="132571" cy="114557"/>
          </a:xfrm>
          <a:prstGeom prst="rect">
            <a:avLst/>
          </a:prstGeom>
          <a:noFill/>
          <a:ln>
            <a:noFill/>
          </a:ln>
        </p:spPr>
      </p:pic>
      <p:sp>
        <p:nvSpPr>
          <p:cNvPr id="383" name="Google Shape;383;p11"/>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2"/>
          <p:cNvSpPr/>
          <p:nvPr/>
        </p:nvSpPr>
        <p:spPr>
          <a:xfrm>
            <a:off x="486119" y="912813"/>
            <a:ext cx="3833469" cy="36933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Roles</a:t>
            </a:r>
            <a:endParaRPr b="0" i="0" sz="1600" u="none" cap="none" strike="noStrike">
              <a:solidFill>
                <a:srgbClr val="000000"/>
              </a:solidFill>
              <a:latin typeface="Calibri"/>
              <a:ea typeface="Calibri"/>
              <a:cs typeface="Calibri"/>
              <a:sym typeface="Calibri"/>
            </a:endParaRPr>
          </a:p>
          <a:p>
            <a:pPr indent="-169863" lvl="0" marL="182563"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Dada una asociación entre dos entidades, decimos que cada entidad representa un rol en dicha asociación.</a:t>
            </a:r>
            <a:endParaRPr b="0" i="0" sz="1600" u="none" cap="none" strike="noStrike">
              <a:solidFill>
                <a:srgbClr val="000000"/>
              </a:solidFill>
              <a:latin typeface="Calibri"/>
              <a:ea typeface="Calibri"/>
              <a:cs typeface="Calibri"/>
              <a:sym typeface="Calibri"/>
            </a:endParaRPr>
          </a:p>
          <a:p>
            <a:pPr indent="-68263" lvl="0" marL="182563"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69863" lvl="0" marL="182563"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Muchas veces, según el punto de vista de cada entidad, es posible nombrar a la asociación de manera diferente.</a:t>
            </a:r>
            <a:endParaRPr b="0" i="0" sz="1600" u="none" cap="none" strike="noStrike">
              <a:solidFill>
                <a:srgbClr val="000000"/>
              </a:solidFill>
              <a:latin typeface="Calibri"/>
              <a:ea typeface="Calibri"/>
              <a:cs typeface="Calibri"/>
              <a:sym typeface="Calibri"/>
            </a:endParaRPr>
          </a:p>
          <a:p>
            <a:pPr indent="-68263" lvl="0" marL="182563"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69863" lvl="0" marL="182563"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Por ejemplo, así como un jugador “juega en” un equipo, también podríamos decir que un equipo “está conformado” por varios jugadores. En estos casos resulta útil darle un nombre a cada rol.</a:t>
            </a:r>
            <a:endParaRPr b="0" i="0" sz="1600" u="none" cap="none" strike="noStrike">
              <a:solidFill>
                <a:srgbClr val="000000"/>
              </a:solidFill>
              <a:latin typeface="Calibri"/>
              <a:ea typeface="Calibri"/>
              <a:cs typeface="Calibri"/>
              <a:sym typeface="Calibri"/>
            </a:endParaRPr>
          </a:p>
        </p:txBody>
      </p:sp>
      <p:pic>
        <p:nvPicPr>
          <p:cNvPr id="389" name="Google Shape;389;p12"/>
          <p:cNvPicPr preferRelativeResize="0"/>
          <p:nvPr/>
        </p:nvPicPr>
        <p:blipFill rotWithShape="1">
          <a:blip r:embed="rId3">
            <a:alphaModFix/>
          </a:blip>
          <a:srcRect b="0" l="19578" r="20222" t="0"/>
          <a:stretch/>
        </p:blipFill>
        <p:spPr>
          <a:xfrm>
            <a:off x="4824413" y="912813"/>
            <a:ext cx="3887788" cy="4284662"/>
          </a:xfrm>
          <a:prstGeom prst="rect">
            <a:avLst/>
          </a:prstGeom>
          <a:noFill/>
          <a:ln>
            <a:noFill/>
          </a:ln>
        </p:spPr>
      </p:pic>
      <p:sp>
        <p:nvSpPr>
          <p:cNvPr id="390" name="Google Shape;390;p12"/>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3"/>
          <p:cNvSpPr/>
          <p:nvPr/>
        </p:nvSpPr>
        <p:spPr>
          <a:xfrm>
            <a:off x="484038" y="2101850"/>
            <a:ext cx="8228161" cy="310735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6" name="Google Shape;396;p13"/>
          <p:cNvCxnSpPr/>
          <p:nvPr/>
        </p:nvCxnSpPr>
        <p:spPr>
          <a:xfrm>
            <a:off x="914886" y="2558731"/>
            <a:ext cx="900036" cy="0"/>
          </a:xfrm>
          <a:prstGeom prst="straightConnector1">
            <a:avLst/>
          </a:prstGeom>
          <a:noFill/>
          <a:ln cap="flat" cmpd="sng" w="38100">
            <a:solidFill>
              <a:srgbClr val="E5594B"/>
            </a:solidFill>
            <a:prstDash val="solid"/>
            <a:round/>
            <a:headEnd len="sm" w="sm" type="none"/>
            <a:tailEnd len="sm" w="sm" type="none"/>
          </a:ln>
        </p:spPr>
      </p:cxnSp>
      <p:cxnSp>
        <p:nvCxnSpPr>
          <p:cNvPr id="397" name="Google Shape;397;p13"/>
          <p:cNvCxnSpPr/>
          <p:nvPr/>
        </p:nvCxnSpPr>
        <p:spPr>
          <a:xfrm>
            <a:off x="914886" y="3330549"/>
            <a:ext cx="900036" cy="0"/>
          </a:xfrm>
          <a:prstGeom prst="straightConnector1">
            <a:avLst/>
          </a:prstGeom>
          <a:noFill/>
          <a:ln cap="flat" cmpd="sng" w="38100">
            <a:solidFill>
              <a:srgbClr val="E5594B"/>
            </a:solidFill>
            <a:prstDash val="solid"/>
            <a:round/>
            <a:headEnd len="sm" w="sm" type="none"/>
            <a:tailEnd len="sm" w="sm" type="none"/>
          </a:ln>
        </p:spPr>
      </p:cxnSp>
      <p:cxnSp>
        <p:nvCxnSpPr>
          <p:cNvPr id="398" name="Google Shape;398;p13"/>
          <p:cNvCxnSpPr/>
          <p:nvPr/>
        </p:nvCxnSpPr>
        <p:spPr>
          <a:xfrm>
            <a:off x="914886" y="3941484"/>
            <a:ext cx="900036" cy="0"/>
          </a:xfrm>
          <a:prstGeom prst="straightConnector1">
            <a:avLst/>
          </a:prstGeom>
          <a:noFill/>
          <a:ln cap="flat" cmpd="sng" w="38100">
            <a:solidFill>
              <a:srgbClr val="E5594B"/>
            </a:solidFill>
            <a:prstDash val="solid"/>
            <a:round/>
            <a:headEnd len="sm" w="sm" type="none"/>
            <a:tailEnd len="sm" w="sm" type="none"/>
          </a:ln>
        </p:spPr>
      </p:cxnSp>
      <p:cxnSp>
        <p:nvCxnSpPr>
          <p:cNvPr id="399" name="Google Shape;399;p13"/>
          <p:cNvCxnSpPr/>
          <p:nvPr/>
        </p:nvCxnSpPr>
        <p:spPr>
          <a:xfrm>
            <a:off x="914886" y="4662325"/>
            <a:ext cx="900036" cy="0"/>
          </a:xfrm>
          <a:prstGeom prst="straightConnector1">
            <a:avLst/>
          </a:prstGeom>
          <a:noFill/>
          <a:ln cap="flat" cmpd="sng" w="38100">
            <a:solidFill>
              <a:srgbClr val="E5594B"/>
            </a:solidFill>
            <a:prstDash val="solid"/>
            <a:round/>
            <a:headEnd len="sm" w="sm" type="none"/>
            <a:tailEnd len="sm" w="sm" type="none"/>
          </a:ln>
        </p:spPr>
      </p:cxnSp>
      <p:sp>
        <p:nvSpPr>
          <p:cNvPr id="400" name="Google Shape;400;p13"/>
          <p:cNvSpPr/>
          <p:nvPr/>
        </p:nvSpPr>
        <p:spPr>
          <a:xfrm>
            <a:off x="478104" y="923964"/>
            <a:ext cx="8234096"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Multiplicidades</a:t>
            </a:r>
            <a:endParaRPr b="0" i="0" sz="1600" u="none" cap="none" strike="noStrike">
              <a:solidFill>
                <a:srgbClr val="000000"/>
              </a:solidFill>
              <a:latin typeface="Arial"/>
              <a:ea typeface="Arial"/>
              <a:cs typeface="Arial"/>
              <a:sym typeface="Arial"/>
            </a:endParaRPr>
          </a:p>
          <a:p>
            <a:pPr indent="-169863" lvl="0" marL="182563"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 multiplicidad define cuántas instancias de la clase A pueden estar asociadas con una instancia de la clase B.</a:t>
            </a:r>
            <a:endParaRPr b="0" i="0" sz="1600" u="none" cap="none" strike="noStrike">
              <a:solidFill>
                <a:srgbClr val="000000"/>
              </a:solidFill>
              <a:latin typeface="Arial"/>
              <a:ea typeface="Arial"/>
              <a:cs typeface="Arial"/>
              <a:sym typeface="Arial"/>
            </a:endParaRPr>
          </a:p>
        </p:txBody>
      </p:sp>
      <p:graphicFrame>
        <p:nvGraphicFramePr>
          <p:cNvPr id="401" name="Google Shape;401;p13"/>
          <p:cNvGraphicFramePr/>
          <p:nvPr/>
        </p:nvGraphicFramePr>
        <p:xfrm>
          <a:off x="1774878" y="2297429"/>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graphicFrame>
        <p:nvGraphicFramePr>
          <p:cNvPr id="402" name="Google Shape;402;p13"/>
          <p:cNvGraphicFramePr/>
          <p:nvPr/>
        </p:nvGraphicFramePr>
        <p:xfrm>
          <a:off x="1774878" y="3038878"/>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graphicFrame>
        <p:nvGraphicFramePr>
          <p:cNvPr id="403" name="Google Shape;403;p13"/>
          <p:cNvGraphicFramePr/>
          <p:nvPr/>
        </p:nvGraphicFramePr>
        <p:xfrm>
          <a:off x="1774878" y="3780327"/>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graphicFrame>
        <p:nvGraphicFramePr>
          <p:cNvPr id="404" name="Google Shape;404;p13"/>
          <p:cNvGraphicFramePr/>
          <p:nvPr/>
        </p:nvGraphicFramePr>
        <p:xfrm>
          <a:off x="1774878" y="4521777"/>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sp>
        <p:nvSpPr>
          <p:cNvPr id="405" name="Google Shape;405;p13"/>
          <p:cNvSpPr txBox="1"/>
          <p:nvPr/>
        </p:nvSpPr>
        <p:spPr>
          <a:xfrm>
            <a:off x="3028925" y="2397214"/>
            <a:ext cx="75693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muchos</a:t>
            </a:r>
            <a:endParaRPr b="0" i="0" sz="1400" u="none" cap="none" strike="noStrike">
              <a:solidFill>
                <a:schemeClr val="dk1"/>
              </a:solidFill>
              <a:latin typeface="Calibri"/>
              <a:ea typeface="Calibri"/>
              <a:cs typeface="Calibri"/>
              <a:sym typeface="Calibri"/>
            </a:endParaRPr>
          </a:p>
        </p:txBody>
      </p:sp>
      <p:sp>
        <p:nvSpPr>
          <p:cNvPr id="406" name="Google Shape;406;p13"/>
          <p:cNvSpPr txBox="1"/>
          <p:nvPr/>
        </p:nvSpPr>
        <p:spPr>
          <a:xfrm>
            <a:off x="3028925" y="3139728"/>
            <a:ext cx="121539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uno o muchos</a:t>
            </a:r>
            <a:endParaRPr b="0" i="0" sz="1400" u="none" cap="none" strike="noStrike">
              <a:solidFill>
                <a:schemeClr val="dk1"/>
              </a:solidFill>
              <a:latin typeface="Calibri"/>
              <a:ea typeface="Calibri"/>
              <a:cs typeface="Calibri"/>
              <a:sym typeface="Calibri"/>
            </a:endParaRPr>
          </a:p>
        </p:txBody>
      </p:sp>
      <p:sp>
        <p:nvSpPr>
          <p:cNvPr id="407" name="Google Shape;407;p13"/>
          <p:cNvSpPr txBox="1"/>
          <p:nvPr/>
        </p:nvSpPr>
        <p:spPr>
          <a:xfrm>
            <a:off x="3028925" y="3875343"/>
            <a:ext cx="125098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cero o muchos</a:t>
            </a:r>
            <a:endParaRPr b="0" i="0" sz="1400" u="none" cap="none" strike="noStrike">
              <a:solidFill>
                <a:schemeClr val="dk1"/>
              </a:solidFill>
              <a:latin typeface="Calibri"/>
              <a:ea typeface="Calibri"/>
              <a:cs typeface="Calibri"/>
              <a:sym typeface="Calibri"/>
            </a:endParaRPr>
          </a:p>
        </p:txBody>
      </p:sp>
      <p:sp>
        <p:nvSpPr>
          <p:cNvPr id="408" name="Google Shape;408;p13"/>
          <p:cNvSpPr txBox="1"/>
          <p:nvPr/>
        </p:nvSpPr>
        <p:spPr>
          <a:xfrm>
            <a:off x="3028925" y="4632516"/>
            <a:ext cx="96244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cero o uno</a:t>
            </a:r>
            <a:endParaRPr b="0" i="0" sz="1400" u="none" cap="none" strike="noStrike">
              <a:solidFill>
                <a:schemeClr val="dk1"/>
              </a:solidFill>
              <a:latin typeface="Calibri"/>
              <a:ea typeface="Calibri"/>
              <a:cs typeface="Calibri"/>
              <a:sym typeface="Calibri"/>
            </a:endParaRPr>
          </a:p>
        </p:txBody>
      </p:sp>
      <p:sp>
        <p:nvSpPr>
          <p:cNvPr id="409" name="Google Shape;409;p13"/>
          <p:cNvSpPr/>
          <p:nvPr/>
        </p:nvSpPr>
        <p:spPr>
          <a:xfrm>
            <a:off x="1401103" y="2652272"/>
            <a:ext cx="320922"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a:t>
            </a:r>
            <a:endParaRPr b="0" baseline="30000" i="0" sz="3200" u="none" cap="none" strike="noStrike">
              <a:solidFill>
                <a:schemeClr val="dk1"/>
              </a:solidFill>
              <a:latin typeface="Calibri"/>
              <a:ea typeface="Calibri"/>
              <a:cs typeface="Calibri"/>
              <a:sym typeface="Calibri"/>
            </a:endParaRPr>
          </a:p>
        </p:txBody>
      </p:sp>
      <p:sp>
        <p:nvSpPr>
          <p:cNvPr id="410" name="Google Shape;410;p13"/>
          <p:cNvSpPr/>
          <p:nvPr/>
        </p:nvSpPr>
        <p:spPr>
          <a:xfrm>
            <a:off x="1123784" y="3442003"/>
            <a:ext cx="598241"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411" name="Google Shape;411;p13"/>
          <p:cNvSpPr/>
          <p:nvPr/>
        </p:nvSpPr>
        <p:spPr>
          <a:xfrm>
            <a:off x="1123784" y="4027449"/>
            <a:ext cx="598241"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0..*</a:t>
            </a:r>
            <a:endParaRPr b="0" baseline="30000" i="0" sz="3200" u="none" cap="none" strike="noStrike">
              <a:solidFill>
                <a:schemeClr val="dk1"/>
              </a:solidFill>
              <a:latin typeface="Calibri"/>
              <a:ea typeface="Calibri"/>
              <a:cs typeface="Calibri"/>
              <a:sym typeface="Calibri"/>
            </a:endParaRPr>
          </a:p>
        </p:txBody>
      </p:sp>
      <p:sp>
        <p:nvSpPr>
          <p:cNvPr id="412" name="Google Shape;412;p13"/>
          <p:cNvSpPr/>
          <p:nvPr/>
        </p:nvSpPr>
        <p:spPr>
          <a:xfrm>
            <a:off x="1120578" y="4787998"/>
            <a:ext cx="601447"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0..1</a:t>
            </a:r>
            <a:endParaRPr b="0" baseline="30000" i="0" sz="3200" u="none" cap="none" strike="noStrike">
              <a:solidFill>
                <a:schemeClr val="dk1"/>
              </a:solidFill>
              <a:latin typeface="Calibri"/>
              <a:ea typeface="Calibri"/>
              <a:cs typeface="Calibri"/>
              <a:sym typeface="Calibri"/>
            </a:endParaRPr>
          </a:p>
        </p:txBody>
      </p:sp>
      <p:cxnSp>
        <p:nvCxnSpPr>
          <p:cNvPr id="413" name="Google Shape;413;p13"/>
          <p:cNvCxnSpPr/>
          <p:nvPr/>
        </p:nvCxnSpPr>
        <p:spPr>
          <a:xfrm>
            <a:off x="4708669" y="2558731"/>
            <a:ext cx="900036" cy="0"/>
          </a:xfrm>
          <a:prstGeom prst="straightConnector1">
            <a:avLst/>
          </a:prstGeom>
          <a:noFill/>
          <a:ln cap="flat" cmpd="sng" w="38100">
            <a:solidFill>
              <a:srgbClr val="E5594B"/>
            </a:solidFill>
            <a:prstDash val="solid"/>
            <a:round/>
            <a:headEnd len="sm" w="sm" type="none"/>
            <a:tailEnd len="sm" w="sm" type="none"/>
          </a:ln>
        </p:spPr>
      </p:cxnSp>
      <p:cxnSp>
        <p:nvCxnSpPr>
          <p:cNvPr id="414" name="Google Shape;414;p13"/>
          <p:cNvCxnSpPr/>
          <p:nvPr/>
        </p:nvCxnSpPr>
        <p:spPr>
          <a:xfrm>
            <a:off x="4708669" y="3330549"/>
            <a:ext cx="900036" cy="0"/>
          </a:xfrm>
          <a:prstGeom prst="straightConnector1">
            <a:avLst/>
          </a:prstGeom>
          <a:noFill/>
          <a:ln cap="flat" cmpd="sng" w="38100">
            <a:solidFill>
              <a:srgbClr val="E5594B"/>
            </a:solidFill>
            <a:prstDash val="solid"/>
            <a:round/>
            <a:headEnd len="sm" w="sm" type="none"/>
            <a:tailEnd len="sm" w="sm" type="none"/>
          </a:ln>
        </p:spPr>
      </p:cxnSp>
      <p:cxnSp>
        <p:nvCxnSpPr>
          <p:cNvPr id="415" name="Google Shape;415;p13"/>
          <p:cNvCxnSpPr/>
          <p:nvPr/>
        </p:nvCxnSpPr>
        <p:spPr>
          <a:xfrm>
            <a:off x="4708669" y="3941484"/>
            <a:ext cx="900036" cy="0"/>
          </a:xfrm>
          <a:prstGeom prst="straightConnector1">
            <a:avLst/>
          </a:prstGeom>
          <a:noFill/>
          <a:ln cap="flat" cmpd="sng" w="38100">
            <a:solidFill>
              <a:srgbClr val="E5594B"/>
            </a:solidFill>
            <a:prstDash val="solid"/>
            <a:round/>
            <a:headEnd len="sm" w="sm" type="none"/>
            <a:tailEnd len="sm" w="sm" type="none"/>
          </a:ln>
        </p:spPr>
      </p:cxnSp>
      <p:graphicFrame>
        <p:nvGraphicFramePr>
          <p:cNvPr id="416" name="Google Shape;416;p13"/>
          <p:cNvGraphicFramePr/>
          <p:nvPr/>
        </p:nvGraphicFramePr>
        <p:xfrm>
          <a:off x="5568661" y="2297429"/>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graphicFrame>
        <p:nvGraphicFramePr>
          <p:cNvPr id="417" name="Google Shape;417;p13"/>
          <p:cNvGraphicFramePr/>
          <p:nvPr/>
        </p:nvGraphicFramePr>
        <p:xfrm>
          <a:off x="5568661" y="3038878"/>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graphicFrame>
        <p:nvGraphicFramePr>
          <p:cNvPr id="418" name="Google Shape;418;p13"/>
          <p:cNvGraphicFramePr/>
          <p:nvPr/>
        </p:nvGraphicFramePr>
        <p:xfrm>
          <a:off x="5568661" y="3780327"/>
          <a:ext cx="3000000" cy="3000000"/>
        </p:xfrm>
        <a:graphic>
          <a:graphicData uri="http://schemas.openxmlformats.org/drawingml/2006/table">
            <a:tbl>
              <a:tblPr bandRow="1">
                <a:noFill/>
                <a:tableStyleId>{63A7DF9A-704E-4A4E-BD0A-183781F1E98E}</a:tableStyleId>
              </a:tblPr>
              <a:tblGrid>
                <a:gridCol w="1198000"/>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Item </a:t>
                      </a:r>
                      <a:endParaRPr sz="13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FFF4F9"/>
                    </a:solidFill>
                  </a:tcPr>
                </a:tc>
              </a:tr>
            </a:tbl>
          </a:graphicData>
        </a:graphic>
      </p:graphicFrame>
      <p:sp>
        <p:nvSpPr>
          <p:cNvPr id="419" name="Google Shape;419;p13"/>
          <p:cNvSpPr txBox="1"/>
          <p:nvPr/>
        </p:nvSpPr>
        <p:spPr>
          <a:xfrm>
            <a:off x="6822708" y="2397214"/>
            <a:ext cx="6254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1 a 40</a:t>
            </a:r>
            <a:endParaRPr b="0" i="0" sz="1400" u="none" cap="none" strike="noStrike">
              <a:solidFill>
                <a:schemeClr val="dk1"/>
              </a:solidFill>
              <a:latin typeface="Calibri"/>
              <a:ea typeface="Calibri"/>
              <a:cs typeface="Calibri"/>
              <a:sym typeface="Calibri"/>
            </a:endParaRPr>
          </a:p>
        </p:txBody>
      </p:sp>
      <p:sp>
        <p:nvSpPr>
          <p:cNvPr id="420" name="Google Shape;420;p13"/>
          <p:cNvSpPr txBox="1"/>
          <p:nvPr/>
        </p:nvSpPr>
        <p:spPr>
          <a:xfrm>
            <a:off x="6822708" y="3139728"/>
            <a:ext cx="12600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exactamente 5</a:t>
            </a:r>
            <a:endParaRPr b="0" i="0" sz="1400" u="none" cap="none" strike="noStrike">
              <a:solidFill>
                <a:schemeClr val="dk1"/>
              </a:solidFill>
              <a:latin typeface="Calibri"/>
              <a:ea typeface="Calibri"/>
              <a:cs typeface="Calibri"/>
              <a:sym typeface="Calibri"/>
            </a:endParaRPr>
          </a:p>
        </p:txBody>
      </p:sp>
      <p:sp>
        <p:nvSpPr>
          <p:cNvPr id="421" name="Google Shape;421;p13"/>
          <p:cNvSpPr txBox="1"/>
          <p:nvPr/>
        </p:nvSpPr>
        <p:spPr>
          <a:xfrm>
            <a:off x="6822699" y="3875350"/>
            <a:ext cx="1767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exactamente 3, 5 u 8</a:t>
            </a:r>
            <a:endParaRPr b="0" i="0" sz="1400" u="none" cap="none" strike="noStrike">
              <a:solidFill>
                <a:schemeClr val="dk1"/>
              </a:solidFill>
              <a:latin typeface="Calibri"/>
              <a:ea typeface="Calibri"/>
              <a:cs typeface="Calibri"/>
              <a:sym typeface="Calibri"/>
            </a:endParaRPr>
          </a:p>
        </p:txBody>
      </p:sp>
      <p:sp>
        <p:nvSpPr>
          <p:cNvPr id="422" name="Google Shape;422;p13"/>
          <p:cNvSpPr/>
          <p:nvPr/>
        </p:nvSpPr>
        <p:spPr>
          <a:xfrm>
            <a:off x="4796051" y="2652272"/>
            <a:ext cx="740908"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1..40</a:t>
            </a:r>
            <a:endParaRPr b="0" baseline="30000" i="0" sz="3200" u="none" cap="none" strike="noStrike">
              <a:solidFill>
                <a:schemeClr val="dk1"/>
              </a:solidFill>
              <a:latin typeface="Calibri"/>
              <a:ea typeface="Calibri"/>
              <a:cs typeface="Calibri"/>
              <a:sym typeface="Calibri"/>
            </a:endParaRPr>
          </a:p>
        </p:txBody>
      </p:sp>
      <p:sp>
        <p:nvSpPr>
          <p:cNvPr id="423" name="Google Shape;423;p13"/>
          <p:cNvSpPr/>
          <p:nvPr/>
        </p:nvSpPr>
        <p:spPr>
          <a:xfrm>
            <a:off x="5212831" y="3442003"/>
            <a:ext cx="324128"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5</a:t>
            </a:r>
            <a:endParaRPr b="0" baseline="30000" i="0" sz="3200" u="none" cap="none" strike="noStrike">
              <a:solidFill>
                <a:schemeClr val="dk1"/>
              </a:solidFill>
              <a:latin typeface="Calibri"/>
              <a:ea typeface="Calibri"/>
              <a:cs typeface="Calibri"/>
              <a:sym typeface="Calibri"/>
            </a:endParaRPr>
          </a:p>
        </p:txBody>
      </p:sp>
      <p:sp>
        <p:nvSpPr>
          <p:cNvPr id="424" name="Google Shape;424;p13"/>
          <p:cNvSpPr/>
          <p:nvPr/>
        </p:nvSpPr>
        <p:spPr>
          <a:xfrm>
            <a:off x="4796051" y="4027449"/>
            <a:ext cx="740908" cy="42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baseline="30000" i="0" lang="es-PE" sz="3200" u="none" cap="none" strike="noStrike">
                <a:solidFill>
                  <a:schemeClr val="dk1"/>
                </a:solidFill>
                <a:latin typeface="Calibri"/>
                <a:ea typeface="Calibri"/>
                <a:cs typeface="Calibri"/>
                <a:sym typeface="Calibri"/>
              </a:rPr>
              <a:t>3,5,8</a:t>
            </a:r>
            <a:endParaRPr b="0" baseline="30000" i="0" sz="3200" u="none" cap="none" strike="noStrike">
              <a:solidFill>
                <a:schemeClr val="dk1"/>
              </a:solidFill>
              <a:latin typeface="Calibri"/>
              <a:ea typeface="Calibri"/>
              <a:cs typeface="Calibri"/>
              <a:sym typeface="Calibri"/>
            </a:endParaRPr>
          </a:p>
        </p:txBody>
      </p:sp>
      <p:sp>
        <p:nvSpPr>
          <p:cNvPr id="425" name="Google Shape;425;p13"/>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4"/>
          <p:cNvSpPr/>
          <p:nvPr/>
        </p:nvSpPr>
        <p:spPr>
          <a:xfrm>
            <a:off x="484038" y="1494263"/>
            <a:ext cx="8228161" cy="37149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14"/>
          <p:cNvSpPr/>
          <p:nvPr/>
        </p:nvSpPr>
        <p:spPr>
          <a:xfrm>
            <a:off x="484040" y="923964"/>
            <a:ext cx="8191648"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Elementos</a:t>
            </a:r>
            <a:endParaRPr b="0" i="0" sz="1400" u="none" cap="none" strike="noStrike">
              <a:solidFill>
                <a:srgbClr val="000000"/>
              </a:solidFill>
              <a:latin typeface="Arial"/>
              <a:ea typeface="Arial"/>
              <a:cs typeface="Arial"/>
              <a:sym typeface="Arial"/>
            </a:endParaRPr>
          </a:p>
        </p:txBody>
      </p:sp>
      <p:grpSp>
        <p:nvGrpSpPr>
          <p:cNvPr id="432" name="Google Shape;432;p14"/>
          <p:cNvGrpSpPr/>
          <p:nvPr/>
        </p:nvGrpSpPr>
        <p:grpSpPr>
          <a:xfrm>
            <a:off x="684016" y="1653086"/>
            <a:ext cx="7775968" cy="3457449"/>
            <a:chOff x="664133" y="1586179"/>
            <a:chExt cx="7775968" cy="3457449"/>
          </a:xfrm>
        </p:grpSpPr>
        <p:sp>
          <p:nvSpPr>
            <p:cNvPr id="433" name="Google Shape;433;p14"/>
            <p:cNvSpPr txBox="1"/>
            <p:nvPr/>
          </p:nvSpPr>
          <p:spPr>
            <a:xfrm>
              <a:off x="4242949" y="3288345"/>
              <a:ext cx="1689513"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JugadorEquipo</a:t>
              </a:r>
              <a:endParaRPr b="1" i="0" sz="1200" u="none" cap="none" strike="noStrike">
                <a:solidFill>
                  <a:schemeClr val="dk1"/>
                </a:solidFill>
                <a:latin typeface="Calibri"/>
                <a:ea typeface="Calibri"/>
                <a:cs typeface="Calibri"/>
                <a:sym typeface="Calibri"/>
              </a:endParaRPr>
            </a:p>
          </p:txBody>
        </p:sp>
        <p:cxnSp>
          <p:nvCxnSpPr>
            <p:cNvPr id="434" name="Google Shape;434;p14"/>
            <p:cNvCxnSpPr/>
            <p:nvPr/>
          </p:nvCxnSpPr>
          <p:spPr>
            <a:xfrm>
              <a:off x="4637687" y="3551421"/>
              <a:ext cx="900036" cy="0"/>
            </a:xfrm>
            <a:prstGeom prst="straightConnector1">
              <a:avLst/>
            </a:prstGeom>
            <a:noFill/>
            <a:ln cap="flat" cmpd="sng" w="28575">
              <a:solidFill>
                <a:schemeClr val="dk1"/>
              </a:solidFill>
              <a:prstDash val="solid"/>
              <a:round/>
              <a:headEnd len="sm" w="sm" type="none"/>
              <a:tailEnd len="sm" w="sm" type="none"/>
            </a:ln>
          </p:spPr>
        </p:cxnSp>
        <p:grpSp>
          <p:nvGrpSpPr>
            <p:cNvPr id="435" name="Google Shape;435;p14"/>
            <p:cNvGrpSpPr/>
            <p:nvPr/>
          </p:nvGrpSpPr>
          <p:grpSpPr>
            <a:xfrm>
              <a:off x="4808995" y="2737651"/>
              <a:ext cx="557420" cy="565411"/>
              <a:chOff x="6223284" y="-360580"/>
              <a:chExt cx="594967" cy="603500"/>
            </a:xfrm>
          </p:grpSpPr>
          <p:sp>
            <p:nvSpPr>
              <p:cNvPr id="436" name="Google Shape;436;p14"/>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437" name="Google Shape;437;p14"/>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cxnSp>
          <p:nvCxnSpPr>
            <p:cNvPr id="438" name="Google Shape;438;p14"/>
            <p:cNvCxnSpPr/>
            <p:nvPr/>
          </p:nvCxnSpPr>
          <p:spPr>
            <a:xfrm rot="10800000">
              <a:off x="4578590" y="2196069"/>
              <a:ext cx="480792" cy="432087"/>
            </a:xfrm>
            <a:prstGeom prst="straightConnector1">
              <a:avLst/>
            </a:prstGeom>
            <a:noFill/>
            <a:ln cap="flat" cmpd="sng" w="28575">
              <a:solidFill>
                <a:schemeClr val="dk1"/>
              </a:solidFill>
              <a:prstDash val="dash"/>
              <a:round/>
              <a:headEnd len="sm" w="sm" type="none"/>
              <a:tailEnd len="sm" w="sm" type="none"/>
            </a:ln>
          </p:spPr>
        </p:cxnSp>
        <p:sp>
          <p:nvSpPr>
            <p:cNvPr id="439" name="Google Shape;439;p14"/>
            <p:cNvSpPr txBox="1"/>
            <p:nvPr/>
          </p:nvSpPr>
          <p:spPr>
            <a:xfrm>
              <a:off x="2324074" y="1869039"/>
              <a:ext cx="204016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+está conformado por</a:t>
              </a:r>
              <a:endParaRPr b="0" i="0" sz="1200" u="none" cap="none" strike="noStrike">
                <a:solidFill>
                  <a:schemeClr val="dk1"/>
                </a:solidFill>
                <a:latin typeface="Calibri"/>
                <a:ea typeface="Calibri"/>
                <a:cs typeface="Calibri"/>
                <a:sym typeface="Calibri"/>
              </a:endParaRPr>
            </a:p>
          </p:txBody>
        </p:sp>
        <p:sp>
          <p:nvSpPr>
            <p:cNvPr id="440" name="Google Shape;440;p14"/>
            <p:cNvSpPr txBox="1"/>
            <p:nvPr/>
          </p:nvSpPr>
          <p:spPr>
            <a:xfrm>
              <a:off x="5784375" y="2257419"/>
              <a:ext cx="445956"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sp>
          <p:nvSpPr>
            <p:cNvPr id="441" name="Google Shape;441;p14"/>
            <p:cNvSpPr txBox="1"/>
            <p:nvPr/>
          </p:nvSpPr>
          <p:spPr>
            <a:xfrm>
              <a:off x="2813676" y="2257419"/>
              <a:ext cx="445956"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sp>
          <p:nvSpPr>
            <p:cNvPr id="442" name="Google Shape;442;p14"/>
            <p:cNvSpPr txBox="1"/>
            <p:nvPr/>
          </p:nvSpPr>
          <p:spPr>
            <a:xfrm>
              <a:off x="5617215" y="1869039"/>
              <a:ext cx="1207883"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 juega en</a:t>
              </a:r>
              <a:endParaRPr b="0" i="0" sz="1200" u="none" cap="none" strike="noStrike">
                <a:solidFill>
                  <a:schemeClr val="dk1"/>
                </a:solidFill>
                <a:latin typeface="Calibri"/>
                <a:ea typeface="Calibri"/>
                <a:cs typeface="Calibri"/>
                <a:sym typeface="Calibri"/>
              </a:endParaRPr>
            </a:p>
          </p:txBody>
        </p:sp>
        <p:sp>
          <p:nvSpPr>
            <p:cNvPr id="443" name="Google Shape;443;p14"/>
            <p:cNvSpPr txBox="1"/>
            <p:nvPr/>
          </p:nvSpPr>
          <p:spPr>
            <a:xfrm>
              <a:off x="6829881" y="2268022"/>
              <a:ext cx="1610220"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Class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codEquipo: Interger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Nombre: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numJugadores: Integer</a:t>
              </a:r>
              <a:endParaRPr b="0" i="0" sz="1200" u="none" cap="none" strike="noStrike">
                <a:solidFill>
                  <a:schemeClr val="dk1"/>
                </a:solidFill>
                <a:latin typeface="Calibri"/>
                <a:ea typeface="Calibri"/>
                <a:cs typeface="Calibri"/>
                <a:sym typeface="Calibri"/>
              </a:endParaRPr>
            </a:p>
          </p:txBody>
        </p:sp>
        <p:grpSp>
          <p:nvGrpSpPr>
            <p:cNvPr id="444" name="Google Shape;444;p14"/>
            <p:cNvGrpSpPr/>
            <p:nvPr/>
          </p:nvGrpSpPr>
          <p:grpSpPr>
            <a:xfrm>
              <a:off x="7356281" y="1698051"/>
              <a:ext cx="557420" cy="565411"/>
              <a:chOff x="6223284" y="-360580"/>
              <a:chExt cx="594967" cy="603500"/>
            </a:xfrm>
          </p:grpSpPr>
          <p:sp>
            <p:nvSpPr>
              <p:cNvPr id="445" name="Google Shape;445;p14"/>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446" name="Google Shape;446;p14"/>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cxnSp>
          <p:nvCxnSpPr>
            <p:cNvPr id="447" name="Google Shape;447;p14"/>
            <p:cNvCxnSpPr/>
            <p:nvPr/>
          </p:nvCxnSpPr>
          <p:spPr>
            <a:xfrm>
              <a:off x="6849059" y="2487120"/>
              <a:ext cx="1571865" cy="0"/>
            </a:xfrm>
            <a:prstGeom prst="straightConnector1">
              <a:avLst/>
            </a:prstGeom>
            <a:noFill/>
            <a:ln cap="flat" cmpd="sng" w="28575">
              <a:solidFill>
                <a:schemeClr val="dk1"/>
              </a:solidFill>
              <a:prstDash val="solid"/>
              <a:round/>
              <a:headEnd len="sm" w="sm" type="none"/>
              <a:tailEnd len="sm" w="sm" type="none"/>
            </a:ln>
          </p:spPr>
        </p:cxnSp>
        <p:pic>
          <p:nvPicPr>
            <p:cNvPr id="448" name="Google Shape;448;p14"/>
            <p:cNvPicPr preferRelativeResize="0"/>
            <p:nvPr/>
          </p:nvPicPr>
          <p:blipFill rotWithShape="1">
            <a:blip r:embed="rId3">
              <a:alphaModFix/>
            </a:blip>
            <a:srcRect b="40204" l="8629" r="80063" t="49555"/>
            <a:stretch/>
          </p:blipFill>
          <p:spPr>
            <a:xfrm>
              <a:off x="6741426" y="2545095"/>
              <a:ext cx="132571" cy="114557"/>
            </a:xfrm>
            <a:prstGeom prst="rect">
              <a:avLst/>
            </a:prstGeom>
            <a:noFill/>
            <a:ln>
              <a:noFill/>
            </a:ln>
          </p:spPr>
        </p:pic>
        <p:pic>
          <p:nvPicPr>
            <p:cNvPr id="449" name="Google Shape;449;p14"/>
            <p:cNvPicPr preferRelativeResize="0"/>
            <p:nvPr/>
          </p:nvPicPr>
          <p:blipFill rotWithShape="1">
            <a:blip r:embed="rId3">
              <a:alphaModFix/>
            </a:blip>
            <a:srcRect b="40204" l="8629" r="80063" t="49555"/>
            <a:stretch/>
          </p:blipFill>
          <p:spPr>
            <a:xfrm>
              <a:off x="6741426" y="2726739"/>
              <a:ext cx="132571" cy="114557"/>
            </a:xfrm>
            <a:prstGeom prst="rect">
              <a:avLst/>
            </a:prstGeom>
            <a:noFill/>
            <a:ln>
              <a:noFill/>
            </a:ln>
          </p:spPr>
        </p:pic>
        <p:pic>
          <p:nvPicPr>
            <p:cNvPr id="450" name="Google Shape;450;p14"/>
            <p:cNvPicPr preferRelativeResize="0"/>
            <p:nvPr/>
          </p:nvPicPr>
          <p:blipFill rotWithShape="1">
            <a:blip r:embed="rId3">
              <a:alphaModFix/>
            </a:blip>
            <a:srcRect b="40204" l="8629" r="80063" t="49555"/>
            <a:stretch/>
          </p:blipFill>
          <p:spPr>
            <a:xfrm>
              <a:off x="6741426" y="2910993"/>
              <a:ext cx="132571" cy="114557"/>
            </a:xfrm>
            <a:prstGeom prst="rect">
              <a:avLst/>
            </a:prstGeom>
            <a:noFill/>
            <a:ln>
              <a:noFill/>
            </a:ln>
          </p:spPr>
        </p:pic>
        <p:sp>
          <p:nvSpPr>
            <p:cNvPr id="451" name="Google Shape;451;p14"/>
            <p:cNvSpPr txBox="1"/>
            <p:nvPr/>
          </p:nvSpPr>
          <p:spPr>
            <a:xfrm>
              <a:off x="807211" y="2287959"/>
              <a:ext cx="1419516"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Modelo de análisis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codJugador: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nombre: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apellidos: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estatura: Double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fechaRegistro: Date</a:t>
              </a:r>
              <a:endParaRPr b="0" i="0" sz="1200" u="none" cap="none" strike="noStrike">
                <a:solidFill>
                  <a:schemeClr val="dk1"/>
                </a:solidFill>
                <a:latin typeface="Calibri"/>
                <a:ea typeface="Calibri"/>
                <a:cs typeface="Calibri"/>
                <a:sym typeface="Calibri"/>
              </a:endParaRPr>
            </a:p>
          </p:txBody>
        </p:sp>
        <p:sp>
          <p:nvSpPr>
            <p:cNvPr id="452" name="Google Shape;452;p14"/>
            <p:cNvSpPr/>
            <p:nvPr/>
          </p:nvSpPr>
          <p:spPr>
            <a:xfrm>
              <a:off x="1190063" y="1698051"/>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453" name="Google Shape;453;p14"/>
            <p:cNvCxnSpPr/>
            <p:nvPr/>
          </p:nvCxnSpPr>
          <p:spPr>
            <a:xfrm>
              <a:off x="1204090" y="2263462"/>
              <a:ext cx="527295" cy="0"/>
            </a:xfrm>
            <a:prstGeom prst="straightConnector1">
              <a:avLst/>
            </a:prstGeom>
            <a:noFill/>
            <a:ln cap="flat" cmpd="sng" w="38100">
              <a:solidFill>
                <a:schemeClr val="dk1"/>
              </a:solidFill>
              <a:prstDash val="solid"/>
              <a:round/>
              <a:headEnd len="sm" w="sm" type="none"/>
              <a:tailEnd len="sm" w="sm" type="none"/>
            </a:ln>
          </p:spPr>
        </p:cxnSp>
        <p:cxnSp>
          <p:nvCxnSpPr>
            <p:cNvPr id="454" name="Google Shape;454;p14"/>
            <p:cNvCxnSpPr/>
            <p:nvPr/>
          </p:nvCxnSpPr>
          <p:spPr>
            <a:xfrm>
              <a:off x="787418" y="2513936"/>
              <a:ext cx="1459102" cy="0"/>
            </a:xfrm>
            <a:prstGeom prst="straightConnector1">
              <a:avLst/>
            </a:prstGeom>
            <a:noFill/>
            <a:ln cap="flat" cmpd="sng" w="28575">
              <a:solidFill>
                <a:schemeClr val="dk1"/>
              </a:solidFill>
              <a:prstDash val="solid"/>
              <a:round/>
              <a:headEnd len="sm" w="sm" type="none"/>
              <a:tailEnd len="sm" w="sm" type="none"/>
            </a:ln>
          </p:spPr>
        </p:cxnSp>
        <p:pic>
          <p:nvPicPr>
            <p:cNvPr id="455" name="Google Shape;455;p14"/>
            <p:cNvPicPr preferRelativeResize="0"/>
            <p:nvPr/>
          </p:nvPicPr>
          <p:blipFill rotWithShape="1">
            <a:blip r:embed="rId3">
              <a:alphaModFix/>
            </a:blip>
            <a:srcRect b="40204" l="8629" r="80063" t="49555"/>
            <a:stretch/>
          </p:blipFill>
          <p:spPr>
            <a:xfrm>
              <a:off x="722110" y="2572831"/>
              <a:ext cx="132571" cy="114557"/>
            </a:xfrm>
            <a:prstGeom prst="rect">
              <a:avLst/>
            </a:prstGeom>
            <a:noFill/>
            <a:ln>
              <a:noFill/>
            </a:ln>
          </p:spPr>
        </p:pic>
        <p:pic>
          <p:nvPicPr>
            <p:cNvPr id="456" name="Google Shape;456;p14"/>
            <p:cNvPicPr preferRelativeResize="0"/>
            <p:nvPr/>
          </p:nvPicPr>
          <p:blipFill rotWithShape="1">
            <a:blip r:embed="rId3">
              <a:alphaModFix/>
            </a:blip>
            <a:srcRect b="40204" l="8629" r="80063" t="49555"/>
            <a:stretch/>
          </p:blipFill>
          <p:spPr>
            <a:xfrm>
              <a:off x="722110" y="2751778"/>
              <a:ext cx="132571" cy="114557"/>
            </a:xfrm>
            <a:prstGeom prst="rect">
              <a:avLst/>
            </a:prstGeom>
            <a:noFill/>
            <a:ln>
              <a:noFill/>
            </a:ln>
          </p:spPr>
        </p:pic>
        <p:pic>
          <p:nvPicPr>
            <p:cNvPr id="457" name="Google Shape;457;p14"/>
            <p:cNvPicPr preferRelativeResize="0"/>
            <p:nvPr/>
          </p:nvPicPr>
          <p:blipFill rotWithShape="1">
            <a:blip r:embed="rId3">
              <a:alphaModFix/>
            </a:blip>
            <a:srcRect b="40204" l="8629" r="80063" t="49555"/>
            <a:stretch/>
          </p:blipFill>
          <p:spPr>
            <a:xfrm>
              <a:off x="722110" y="2934718"/>
              <a:ext cx="132571" cy="114557"/>
            </a:xfrm>
            <a:prstGeom prst="rect">
              <a:avLst/>
            </a:prstGeom>
            <a:noFill/>
            <a:ln>
              <a:noFill/>
            </a:ln>
          </p:spPr>
        </p:pic>
        <p:pic>
          <p:nvPicPr>
            <p:cNvPr id="458" name="Google Shape;458;p14"/>
            <p:cNvPicPr preferRelativeResize="0"/>
            <p:nvPr/>
          </p:nvPicPr>
          <p:blipFill rotWithShape="1">
            <a:blip r:embed="rId3">
              <a:alphaModFix/>
            </a:blip>
            <a:srcRect b="40204" l="8629" r="80063" t="49555"/>
            <a:stretch/>
          </p:blipFill>
          <p:spPr>
            <a:xfrm>
              <a:off x="722110" y="3119392"/>
              <a:ext cx="132571" cy="114557"/>
            </a:xfrm>
            <a:prstGeom prst="rect">
              <a:avLst/>
            </a:prstGeom>
            <a:noFill/>
            <a:ln>
              <a:noFill/>
            </a:ln>
          </p:spPr>
        </p:pic>
        <p:pic>
          <p:nvPicPr>
            <p:cNvPr id="459" name="Google Shape;459;p14"/>
            <p:cNvPicPr preferRelativeResize="0"/>
            <p:nvPr/>
          </p:nvPicPr>
          <p:blipFill rotWithShape="1">
            <a:blip r:embed="rId3">
              <a:alphaModFix/>
            </a:blip>
            <a:srcRect b="40204" l="8629" r="80063" t="49555"/>
            <a:stretch/>
          </p:blipFill>
          <p:spPr>
            <a:xfrm>
              <a:off x="722110" y="3296250"/>
              <a:ext cx="132571" cy="114557"/>
            </a:xfrm>
            <a:prstGeom prst="rect">
              <a:avLst/>
            </a:prstGeom>
            <a:noFill/>
            <a:ln>
              <a:noFill/>
            </a:ln>
          </p:spPr>
        </p:pic>
        <p:cxnSp>
          <p:nvCxnSpPr>
            <p:cNvPr id="460" name="Google Shape;460;p14"/>
            <p:cNvCxnSpPr/>
            <p:nvPr/>
          </p:nvCxnSpPr>
          <p:spPr>
            <a:xfrm>
              <a:off x="2153936" y="2181605"/>
              <a:ext cx="4875044" cy="0"/>
            </a:xfrm>
            <a:prstGeom prst="straightConnector1">
              <a:avLst/>
            </a:prstGeom>
            <a:noFill/>
            <a:ln cap="flat" cmpd="sng" w="28575">
              <a:solidFill>
                <a:srgbClr val="595959"/>
              </a:solidFill>
              <a:prstDash val="solid"/>
              <a:round/>
              <a:headEnd len="sm" w="sm" type="none"/>
              <a:tailEnd len="sm" w="sm" type="none"/>
            </a:ln>
          </p:spPr>
        </p:cxnSp>
        <p:cxnSp>
          <p:nvCxnSpPr>
            <p:cNvPr id="461" name="Google Shape;461;p14"/>
            <p:cNvCxnSpPr/>
            <p:nvPr/>
          </p:nvCxnSpPr>
          <p:spPr>
            <a:xfrm>
              <a:off x="787418" y="3488288"/>
              <a:ext cx="1459102" cy="0"/>
            </a:xfrm>
            <a:prstGeom prst="straightConnector1">
              <a:avLst/>
            </a:prstGeom>
            <a:noFill/>
            <a:ln cap="flat" cmpd="sng" w="28575">
              <a:solidFill>
                <a:schemeClr val="dk1"/>
              </a:solidFill>
              <a:prstDash val="solid"/>
              <a:round/>
              <a:headEnd len="sm" w="sm" type="none"/>
              <a:tailEnd len="sm" w="sm" type="none"/>
            </a:ln>
          </p:spPr>
        </p:cxnSp>
        <p:cxnSp>
          <p:nvCxnSpPr>
            <p:cNvPr id="462" name="Google Shape;462;p14"/>
            <p:cNvCxnSpPr/>
            <p:nvPr/>
          </p:nvCxnSpPr>
          <p:spPr>
            <a:xfrm>
              <a:off x="6849059" y="3096353"/>
              <a:ext cx="1571865" cy="0"/>
            </a:xfrm>
            <a:prstGeom prst="straightConnector1">
              <a:avLst/>
            </a:prstGeom>
            <a:noFill/>
            <a:ln cap="flat" cmpd="sng" w="28575">
              <a:solidFill>
                <a:schemeClr val="dk1"/>
              </a:solidFill>
              <a:prstDash val="solid"/>
              <a:round/>
              <a:headEnd len="sm" w="sm" type="none"/>
              <a:tailEnd len="sm" w="sm" type="none"/>
            </a:ln>
          </p:spPr>
        </p:cxnSp>
        <p:cxnSp>
          <p:nvCxnSpPr>
            <p:cNvPr id="463" name="Google Shape;463;p14"/>
            <p:cNvCxnSpPr/>
            <p:nvPr/>
          </p:nvCxnSpPr>
          <p:spPr>
            <a:xfrm>
              <a:off x="1756791" y="2261287"/>
              <a:ext cx="2250572" cy="1581291"/>
            </a:xfrm>
            <a:prstGeom prst="straightConnector1">
              <a:avLst/>
            </a:prstGeom>
            <a:noFill/>
            <a:ln cap="flat" cmpd="sng" w="28575">
              <a:solidFill>
                <a:srgbClr val="595959"/>
              </a:solidFill>
              <a:prstDash val="solid"/>
              <a:round/>
              <a:headEnd len="sm" w="sm" type="none"/>
              <a:tailEnd len="med" w="med" type="triangle"/>
            </a:ln>
          </p:spPr>
        </p:cxnSp>
        <p:sp>
          <p:nvSpPr>
            <p:cNvPr id="464" name="Google Shape;464;p14"/>
            <p:cNvSpPr txBox="1"/>
            <p:nvPr/>
          </p:nvSpPr>
          <p:spPr>
            <a:xfrm>
              <a:off x="2879526" y="3005655"/>
              <a:ext cx="1207883"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reside</a:t>
              </a:r>
              <a:endParaRPr b="1" i="0" sz="1200" u="none" cap="none" strike="noStrike">
                <a:solidFill>
                  <a:schemeClr val="dk1"/>
                </a:solidFill>
                <a:latin typeface="Calibri"/>
                <a:ea typeface="Calibri"/>
                <a:cs typeface="Calibri"/>
                <a:sym typeface="Calibri"/>
              </a:endParaRPr>
            </a:p>
          </p:txBody>
        </p:sp>
        <p:sp>
          <p:nvSpPr>
            <p:cNvPr id="465" name="Google Shape;465;p14"/>
            <p:cNvSpPr txBox="1"/>
            <p:nvPr/>
          </p:nvSpPr>
          <p:spPr>
            <a:xfrm>
              <a:off x="3519484" y="4397297"/>
              <a:ext cx="1689513"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Ciudad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codCiudad: S…</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Nombre: String</a:t>
              </a:r>
              <a:endParaRPr b="0" i="0" sz="1200" u="none" cap="none" strike="noStrike">
                <a:solidFill>
                  <a:schemeClr val="dk1"/>
                </a:solidFill>
                <a:latin typeface="Calibri"/>
                <a:ea typeface="Calibri"/>
                <a:cs typeface="Calibri"/>
                <a:sym typeface="Calibri"/>
              </a:endParaRPr>
            </a:p>
          </p:txBody>
        </p:sp>
        <p:cxnSp>
          <p:nvCxnSpPr>
            <p:cNvPr id="466" name="Google Shape;466;p14"/>
            <p:cNvCxnSpPr/>
            <p:nvPr/>
          </p:nvCxnSpPr>
          <p:spPr>
            <a:xfrm>
              <a:off x="3914222" y="4621461"/>
              <a:ext cx="900036" cy="0"/>
            </a:xfrm>
            <a:prstGeom prst="straightConnector1">
              <a:avLst/>
            </a:prstGeom>
            <a:noFill/>
            <a:ln cap="flat" cmpd="sng" w="28575">
              <a:solidFill>
                <a:schemeClr val="dk1"/>
              </a:solidFill>
              <a:prstDash val="solid"/>
              <a:round/>
              <a:headEnd len="sm" w="sm" type="none"/>
              <a:tailEnd len="sm" w="sm" type="none"/>
            </a:ln>
          </p:spPr>
        </p:cxnSp>
        <p:grpSp>
          <p:nvGrpSpPr>
            <p:cNvPr id="467" name="Google Shape;467;p14"/>
            <p:cNvGrpSpPr/>
            <p:nvPr/>
          </p:nvGrpSpPr>
          <p:grpSpPr>
            <a:xfrm>
              <a:off x="4085530" y="3807691"/>
              <a:ext cx="557420" cy="565411"/>
              <a:chOff x="6223284" y="-360580"/>
              <a:chExt cx="594967" cy="603500"/>
            </a:xfrm>
          </p:grpSpPr>
          <p:sp>
            <p:nvSpPr>
              <p:cNvPr id="468" name="Google Shape;468;p14"/>
              <p:cNvSpPr/>
              <p:nvPr/>
            </p:nvSpPr>
            <p:spPr>
              <a:xfrm>
                <a:off x="6223284" y="-360580"/>
                <a:ext cx="592757" cy="592754"/>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469" name="Google Shape;469;p14"/>
              <p:cNvCxnSpPr/>
              <p:nvPr/>
            </p:nvCxnSpPr>
            <p:spPr>
              <a:xfrm>
                <a:off x="6255438" y="242920"/>
                <a:ext cx="562813" cy="0"/>
              </a:xfrm>
              <a:prstGeom prst="straightConnector1">
                <a:avLst/>
              </a:prstGeom>
              <a:noFill/>
              <a:ln cap="flat" cmpd="sng" w="38100">
                <a:solidFill>
                  <a:schemeClr val="dk1"/>
                </a:solidFill>
                <a:prstDash val="solid"/>
                <a:round/>
                <a:headEnd len="sm" w="sm" type="none"/>
                <a:tailEnd len="sm" w="sm" type="none"/>
              </a:ln>
            </p:spPr>
          </p:cxnSp>
        </p:grpSp>
        <p:pic>
          <p:nvPicPr>
            <p:cNvPr id="470" name="Google Shape;470;p14"/>
            <p:cNvPicPr preferRelativeResize="0"/>
            <p:nvPr/>
          </p:nvPicPr>
          <p:blipFill rotWithShape="1">
            <a:blip r:embed="rId3">
              <a:alphaModFix/>
            </a:blip>
            <a:srcRect b="40204" l="8629" r="80063" t="49555"/>
            <a:stretch/>
          </p:blipFill>
          <p:spPr>
            <a:xfrm>
              <a:off x="3713655" y="4682756"/>
              <a:ext cx="132571" cy="114557"/>
            </a:xfrm>
            <a:prstGeom prst="rect">
              <a:avLst/>
            </a:prstGeom>
            <a:noFill/>
            <a:ln>
              <a:noFill/>
            </a:ln>
          </p:spPr>
        </p:pic>
        <p:pic>
          <p:nvPicPr>
            <p:cNvPr id="471" name="Google Shape;471;p14"/>
            <p:cNvPicPr preferRelativeResize="0"/>
            <p:nvPr/>
          </p:nvPicPr>
          <p:blipFill rotWithShape="1">
            <a:blip r:embed="rId3">
              <a:alphaModFix/>
            </a:blip>
            <a:srcRect b="40204" l="8629" r="80063" t="49555"/>
            <a:stretch/>
          </p:blipFill>
          <p:spPr>
            <a:xfrm>
              <a:off x="3713655" y="4852461"/>
              <a:ext cx="132571" cy="114557"/>
            </a:xfrm>
            <a:prstGeom prst="rect">
              <a:avLst/>
            </a:prstGeom>
            <a:noFill/>
            <a:ln>
              <a:noFill/>
            </a:ln>
          </p:spPr>
        </p:pic>
        <p:cxnSp>
          <p:nvCxnSpPr>
            <p:cNvPr id="472" name="Google Shape;472;p14"/>
            <p:cNvCxnSpPr/>
            <p:nvPr/>
          </p:nvCxnSpPr>
          <p:spPr>
            <a:xfrm flipH="1" rot="10800000">
              <a:off x="1793850" y="3393630"/>
              <a:ext cx="1210556" cy="667954"/>
            </a:xfrm>
            <a:prstGeom prst="straightConnector1">
              <a:avLst/>
            </a:prstGeom>
            <a:noFill/>
            <a:ln cap="flat" cmpd="sng" w="38100">
              <a:solidFill>
                <a:srgbClr val="E5594B"/>
              </a:solidFill>
              <a:prstDash val="solid"/>
              <a:round/>
              <a:headEnd len="sm" w="sm" type="none"/>
              <a:tailEnd len="lg" w="lg" type="oval"/>
            </a:ln>
          </p:spPr>
        </p:cxnSp>
        <p:sp>
          <p:nvSpPr>
            <p:cNvPr id="473" name="Google Shape;473;p14"/>
            <p:cNvSpPr/>
            <p:nvPr/>
          </p:nvSpPr>
          <p:spPr>
            <a:xfrm>
              <a:off x="6230331" y="4594240"/>
              <a:ext cx="1244283" cy="237990"/>
            </a:xfrm>
            <a:prstGeom prst="foldedCorner">
              <a:avLst>
                <a:gd fmla="val 12500" name="adj"/>
              </a:avLst>
            </a:prstGeom>
            <a:solidFill>
              <a:srgbClr val="E5594B"/>
            </a:solidFill>
            <a:ln>
              <a:noFill/>
            </a:ln>
          </p:spPr>
          <p:txBody>
            <a:bodyPr anchorCtr="0" anchor="ctr" bIns="52125" lIns="104275" spcFirstLastPara="1" rIns="104275" wrap="square" tIns="52125">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Asociación</a:t>
              </a:r>
              <a:endParaRPr b="0" i="0" sz="1400" u="none" cap="none" strike="noStrike">
                <a:solidFill>
                  <a:srgbClr val="000000"/>
                </a:solidFill>
                <a:latin typeface="Arial"/>
                <a:ea typeface="Arial"/>
                <a:cs typeface="Arial"/>
                <a:sym typeface="Arial"/>
              </a:endParaRPr>
            </a:p>
          </p:txBody>
        </p:sp>
        <p:sp>
          <p:nvSpPr>
            <p:cNvPr id="474" name="Google Shape;474;p14"/>
            <p:cNvSpPr/>
            <p:nvPr/>
          </p:nvSpPr>
          <p:spPr>
            <a:xfrm>
              <a:off x="664133" y="3764754"/>
              <a:ext cx="1271672" cy="446610"/>
            </a:xfrm>
            <a:prstGeom prst="foldedCorner">
              <a:avLst>
                <a:gd fmla="val 12500" name="adj"/>
              </a:avLst>
            </a:prstGeom>
            <a:solidFill>
              <a:srgbClr val="E5594B"/>
            </a:solidFill>
            <a:ln>
              <a:noFill/>
            </a:ln>
          </p:spPr>
          <p:txBody>
            <a:bodyPr anchorCtr="0" anchor="ctr" bIns="52125" lIns="104275" spcFirstLastPara="1" rIns="104275" wrap="square" tIns="52125">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Nombre 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asociación</a:t>
              </a:r>
              <a:endParaRPr b="0" i="0" sz="1400" u="none" cap="none" strike="noStrike">
                <a:solidFill>
                  <a:srgbClr val="000000"/>
                </a:solidFill>
                <a:latin typeface="Arial"/>
                <a:ea typeface="Arial"/>
                <a:cs typeface="Arial"/>
                <a:sym typeface="Arial"/>
              </a:endParaRPr>
            </a:p>
          </p:txBody>
        </p:sp>
        <p:sp>
          <p:nvSpPr>
            <p:cNvPr id="475" name="Google Shape;475;p14"/>
            <p:cNvSpPr/>
            <p:nvPr/>
          </p:nvSpPr>
          <p:spPr>
            <a:xfrm>
              <a:off x="1174252" y="4768647"/>
              <a:ext cx="1338330" cy="254536"/>
            </a:xfrm>
            <a:prstGeom prst="foldedCorner">
              <a:avLst>
                <a:gd fmla="val 12500" name="adj"/>
              </a:avLst>
            </a:prstGeom>
            <a:solidFill>
              <a:srgbClr val="E5594B"/>
            </a:solidFill>
            <a:ln>
              <a:noFill/>
            </a:ln>
          </p:spPr>
          <p:txBody>
            <a:bodyPr anchorCtr="0" anchor="ctr" bIns="52125" lIns="104275" spcFirstLastPara="1" rIns="104275" wrap="square" tIns="52125">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Multiplicidad</a:t>
              </a:r>
              <a:endParaRPr b="0" i="0" sz="1400" u="none" cap="none" strike="noStrike">
                <a:solidFill>
                  <a:srgbClr val="000000"/>
                </a:solidFill>
                <a:latin typeface="Arial"/>
                <a:ea typeface="Arial"/>
                <a:cs typeface="Arial"/>
                <a:sym typeface="Arial"/>
              </a:endParaRPr>
            </a:p>
          </p:txBody>
        </p:sp>
        <p:sp>
          <p:nvSpPr>
            <p:cNvPr id="476" name="Google Shape;476;p14"/>
            <p:cNvSpPr/>
            <p:nvPr/>
          </p:nvSpPr>
          <p:spPr>
            <a:xfrm>
              <a:off x="4174655" y="1586179"/>
              <a:ext cx="1189690" cy="278238"/>
            </a:xfrm>
            <a:prstGeom prst="foldedCorner">
              <a:avLst>
                <a:gd fmla="val 12500" name="adj"/>
              </a:avLst>
            </a:prstGeom>
            <a:solidFill>
              <a:srgbClr val="E5594B"/>
            </a:solidFill>
            <a:ln>
              <a:noFill/>
            </a:ln>
          </p:spPr>
          <p:txBody>
            <a:bodyPr anchorCtr="0" anchor="ctr" bIns="52125" lIns="104275" spcFirstLastPara="1" rIns="104275" wrap="square" tIns="52125">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Nombre de rol</a:t>
              </a:r>
              <a:endParaRPr b="0" i="0" sz="1400" u="none" cap="none" strike="noStrike">
                <a:solidFill>
                  <a:srgbClr val="000000"/>
                </a:solidFill>
                <a:latin typeface="Arial"/>
                <a:ea typeface="Arial"/>
                <a:cs typeface="Arial"/>
                <a:sym typeface="Arial"/>
              </a:endParaRPr>
            </a:p>
          </p:txBody>
        </p:sp>
        <p:cxnSp>
          <p:nvCxnSpPr>
            <p:cNvPr id="477" name="Google Shape;477;p14"/>
            <p:cNvCxnSpPr/>
            <p:nvPr/>
          </p:nvCxnSpPr>
          <p:spPr>
            <a:xfrm flipH="1" rot="10800000">
              <a:off x="2418863" y="3989717"/>
              <a:ext cx="1294792" cy="961618"/>
            </a:xfrm>
            <a:prstGeom prst="straightConnector1">
              <a:avLst/>
            </a:prstGeom>
            <a:noFill/>
            <a:ln cap="flat" cmpd="sng" w="38100">
              <a:solidFill>
                <a:srgbClr val="E5594B"/>
              </a:solidFill>
              <a:prstDash val="solid"/>
              <a:round/>
              <a:headEnd len="sm" w="sm" type="none"/>
              <a:tailEnd len="lg" w="lg" type="oval"/>
            </a:ln>
          </p:spPr>
        </p:cxnSp>
        <p:cxnSp>
          <p:nvCxnSpPr>
            <p:cNvPr id="478" name="Google Shape;478;p14"/>
            <p:cNvCxnSpPr/>
            <p:nvPr/>
          </p:nvCxnSpPr>
          <p:spPr>
            <a:xfrm rot="10800000">
              <a:off x="4025740" y="3527226"/>
              <a:ext cx="2283878" cy="1094233"/>
            </a:xfrm>
            <a:prstGeom prst="straightConnector1">
              <a:avLst/>
            </a:prstGeom>
            <a:noFill/>
            <a:ln cap="flat" cmpd="sng" w="38100">
              <a:solidFill>
                <a:srgbClr val="E5594B"/>
              </a:solidFill>
              <a:prstDash val="solid"/>
              <a:round/>
              <a:headEnd len="sm" w="sm" type="none"/>
              <a:tailEnd len="lg" w="lg" type="oval"/>
            </a:ln>
          </p:spPr>
        </p:cxnSp>
        <p:sp>
          <p:nvSpPr>
            <p:cNvPr id="479" name="Google Shape;479;p14"/>
            <p:cNvSpPr txBox="1"/>
            <p:nvPr/>
          </p:nvSpPr>
          <p:spPr>
            <a:xfrm>
              <a:off x="3492750" y="3701661"/>
              <a:ext cx="271228"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cxnSp>
          <p:nvCxnSpPr>
            <p:cNvPr id="480" name="Google Shape;480;p14"/>
            <p:cNvCxnSpPr/>
            <p:nvPr/>
          </p:nvCxnSpPr>
          <p:spPr>
            <a:xfrm rot="10800000">
              <a:off x="5059382" y="2380268"/>
              <a:ext cx="1644974" cy="2302487"/>
            </a:xfrm>
            <a:prstGeom prst="straightConnector1">
              <a:avLst/>
            </a:prstGeom>
            <a:noFill/>
            <a:ln cap="flat" cmpd="sng" w="38100">
              <a:solidFill>
                <a:srgbClr val="E5594B"/>
              </a:solidFill>
              <a:prstDash val="solid"/>
              <a:round/>
              <a:headEnd len="sm" w="sm" type="none"/>
              <a:tailEnd len="lg" w="lg" type="oval"/>
            </a:ln>
          </p:spPr>
        </p:cxnSp>
        <p:cxnSp>
          <p:nvCxnSpPr>
            <p:cNvPr id="481" name="Google Shape;481;p14"/>
            <p:cNvCxnSpPr/>
            <p:nvPr/>
          </p:nvCxnSpPr>
          <p:spPr>
            <a:xfrm>
              <a:off x="5294503" y="1725062"/>
              <a:ext cx="1046354" cy="3547"/>
            </a:xfrm>
            <a:prstGeom prst="straightConnector1">
              <a:avLst/>
            </a:prstGeom>
            <a:noFill/>
            <a:ln cap="flat" cmpd="sng" w="38100">
              <a:solidFill>
                <a:srgbClr val="E5594B"/>
              </a:solidFill>
              <a:prstDash val="solid"/>
              <a:round/>
              <a:headEnd len="sm" w="sm" type="none"/>
              <a:tailEnd len="lg" w="lg" type="oval"/>
            </a:ln>
          </p:spPr>
        </p:cxnSp>
      </p:grpSp>
      <p:sp>
        <p:nvSpPr>
          <p:cNvPr id="482" name="Google Shape;482;p14"/>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5"/>
          <p:cNvSpPr/>
          <p:nvPr/>
        </p:nvSpPr>
        <p:spPr>
          <a:xfrm>
            <a:off x="667225" y="3026059"/>
            <a:ext cx="1933776" cy="1823841"/>
          </a:xfrm>
          <a:prstGeom prst="rect">
            <a:avLst/>
          </a:prstGeom>
          <a:solidFill>
            <a:schemeClr val="lt1"/>
          </a:solidFill>
          <a:ln cap="flat" cmpd="sng" w="25400">
            <a:solidFill>
              <a:srgbClr val="2EB1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8" name="Google Shape;488;p15"/>
          <p:cNvSpPr/>
          <p:nvPr/>
        </p:nvSpPr>
        <p:spPr>
          <a:xfrm>
            <a:off x="479465" y="923964"/>
            <a:ext cx="8207374"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Agregación</a:t>
            </a:r>
            <a:endParaRPr b="0" i="0" sz="14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 Agregación indica una relación de “un todo conformado por partes”.</a:t>
            </a:r>
            <a:endParaRPr b="0" i="0" sz="14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Existen 2 tipos de agregaciones: débil o compartida y fuerte o compuesta.</a:t>
            </a:r>
            <a:endParaRPr b="0" i="0" sz="1600" u="none" cap="none" strike="noStrike">
              <a:solidFill>
                <a:schemeClr val="dk1"/>
              </a:solidFill>
              <a:latin typeface="Calibri"/>
              <a:ea typeface="Calibri"/>
              <a:cs typeface="Calibri"/>
              <a:sym typeface="Calibri"/>
            </a:endParaRPr>
          </a:p>
        </p:txBody>
      </p:sp>
      <p:sp>
        <p:nvSpPr>
          <p:cNvPr id="489" name="Google Shape;489;p15"/>
          <p:cNvSpPr/>
          <p:nvPr/>
        </p:nvSpPr>
        <p:spPr>
          <a:xfrm>
            <a:off x="653139" y="2555395"/>
            <a:ext cx="2237465" cy="471765"/>
          </a:xfrm>
          <a:prstGeom prst="homePlate">
            <a:avLst>
              <a:gd fmla="val 57669" name="adj"/>
            </a:avLst>
          </a:prstGeom>
          <a:solidFill>
            <a:srgbClr val="2EB1B5"/>
          </a:solidFill>
          <a:ln>
            <a:noFill/>
          </a:ln>
        </p:spPr>
        <p:txBody>
          <a:bodyPr anchorCtr="0" anchor="ctr" bIns="52125" lIns="104275" spcFirstLastPara="1" rIns="104275" wrap="square" tIns="52125">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DÉBIL 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COMPARTIDA</a:t>
            </a:r>
            <a:endParaRPr b="1" i="0" sz="1400" u="none" cap="none" strike="noStrike">
              <a:solidFill>
                <a:schemeClr val="lt1"/>
              </a:solidFill>
              <a:latin typeface="Calibri"/>
              <a:ea typeface="Calibri"/>
              <a:cs typeface="Calibri"/>
              <a:sym typeface="Calibri"/>
            </a:endParaRPr>
          </a:p>
        </p:txBody>
      </p:sp>
      <p:sp>
        <p:nvSpPr>
          <p:cNvPr id="490" name="Google Shape;490;p15"/>
          <p:cNvSpPr/>
          <p:nvPr/>
        </p:nvSpPr>
        <p:spPr>
          <a:xfrm flipH="1">
            <a:off x="6252251" y="2565123"/>
            <a:ext cx="2222743" cy="471765"/>
          </a:xfrm>
          <a:prstGeom prst="homePlate">
            <a:avLst>
              <a:gd fmla="val 57670" name="adj"/>
            </a:avLst>
          </a:prstGeom>
          <a:solidFill>
            <a:srgbClr val="00B14F"/>
          </a:solidFill>
          <a:ln>
            <a:noFill/>
          </a:ln>
        </p:spPr>
        <p:txBody>
          <a:bodyPr anchorCtr="0" anchor="ctr" bIns="52125" lIns="104275" spcFirstLastPara="1" rIns="104275" wrap="square" tIns="52125">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FUERTE 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COMPUESTA</a:t>
            </a:r>
            <a:endParaRPr b="1" i="0" sz="1400" u="none" cap="none" strike="noStrike">
              <a:solidFill>
                <a:schemeClr val="lt1"/>
              </a:solidFill>
              <a:latin typeface="Calibri"/>
              <a:ea typeface="Calibri"/>
              <a:cs typeface="Calibri"/>
              <a:sym typeface="Calibri"/>
            </a:endParaRPr>
          </a:p>
        </p:txBody>
      </p:sp>
      <p:sp>
        <p:nvSpPr>
          <p:cNvPr id="491" name="Google Shape;491;p15"/>
          <p:cNvSpPr/>
          <p:nvPr/>
        </p:nvSpPr>
        <p:spPr>
          <a:xfrm>
            <a:off x="839197" y="3184719"/>
            <a:ext cx="1595893"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Es un tipo de relación que comprende a las clases y sus diferentes componentes, constituyendo un todo.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Si eliminas un Paquete UML, los elementos UML pueden seguir existiendo</a:t>
            </a:r>
            <a:endParaRPr b="0" i="0" sz="1400" u="none" cap="none" strike="noStrike">
              <a:solidFill>
                <a:srgbClr val="000000"/>
              </a:solidFill>
              <a:latin typeface="Arial"/>
              <a:ea typeface="Arial"/>
              <a:cs typeface="Arial"/>
              <a:sym typeface="Arial"/>
            </a:endParaRPr>
          </a:p>
        </p:txBody>
      </p:sp>
      <p:sp>
        <p:nvSpPr>
          <p:cNvPr id="492" name="Google Shape;492;p15"/>
          <p:cNvSpPr/>
          <p:nvPr/>
        </p:nvSpPr>
        <p:spPr>
          <a:xfrm>
            <a:off x="6529456" y="3036888"/>
            <a:ext cx="1933776" cy="1823841"/>
          </a:xfrm>
          <a:prstGeom prst="rect">
            <a:avLst/>
          </a:prstGeom>
          <a:solidFill>
            <a:schemeClr val="lt1"/>
          </a:solidFill>
          <a:ln cap="flat" cmpd="sng" w="25400">
            <a:solidFill>
              <a:srgbClr val="00B1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15"/>
          <p:cNvSpPr/>
          <p:nvPr/>
        </p:nvSpPr>
        <p:spPr>
          <a:xfrm>
            <a:off x="6701428" y="3195548"/>
            <a:ext cx="1595893"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La </a:t>
            </a:r>
            <a:r>
              <a:rPr b="1" i="0" lang="es-PE" sz="1200" u="none" cap="none" strike="noStrike">
                <a:solidFill>
                  <a:schemeClr val="dk1"/>
                </a:solidFill>
                <a:latin typeface="Calibri"/>
                <a:ea typeface="Calibri"/>
                <a:cs typeface="Calibri"/>
                <a:sym typeface="Calibri"/>
              </a:rPr>
              <a:t>composición</a:t>
            </a:r>
            <a:r>
              <a:rPr b="0" i="0" lang="es-PE" sz="1200" u="none" cap="none" strike="noStrike">
                <a:solidFill>
                  <a:schemeClr val="dk1"/>
                </a:solidFill>
                <a:latin typeface="Calibri"/>
                <a:ea typeface="Calibri"/>
                <a:cs typeface="Calibri"/>
                <a:sym typeface="Calibri"/>
              </a:rPr>
              <a:t> en cambio es un tipo de agregación, donde cada componente </a:t>
            </a:r>
            <a:r>
              <a:rPr lang="es-PE" sz="1200">
                <a:solidFill>
                  <a:schemeClr val="dk1"/>
                </a:solidFill>
                <a:latin typeface="Calibri"/>
                <a:ea typeface="Calibri"/>
                <a:cs typeface="Calibri"/>
                <a:sym typeface="Calibri"/>
              </a:rPr>
              <a:t>sólo</a:t>
            </a:r>
            <a:r>
              <a:rPr b="0" i="0" lang="es-PE" sz="1200" u="none" cap="none" strike="noStrike">
                <a:solidFill>
                  <a:schemeClr val="dk1"/>
                </a:solidFill>
                <a:latin typeface="Calibri"/>
                <a:ea typeface="Calibri"/>
                <a:cs typeface="Calibri"/>
                <a:sym typeface="Calibri"/>
              </a:rPr>
              <a:t> puede pertenecer a un todo.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Si eliminas el Departamento, no existiría una provincia.</a:t>
            </a:r>
            <a:endParaRPr b="0" i="0" sz="1400" u="none" cap="none" strike="noStrike">
              <a:solidFill>
                <a:srgbClr val="000000"/>
              </a:solidFill>
              <a:latin typeface="Arial"/>
              <a:ea typeface="Arial"/>
              <a:cs typeface="Arial"/>
              <a:sym typeface="Arial"/>
            </a:endParaRPr>
          </a:p>
        </p:txBody>
      </p:sp>
      <p:graphicFrame>
        <p:nvGraphicFramePr>
          <p:cNvPr id="494" name="Google Shape;494;p15"/>
          <p:cNvGraphicFramePr/>
          <p:nvPr/>
        </p:nvGraphicFramePr>
        <p:xfrm>
          <a:off x="3215665" y="2564737"/>
          <a:ext cx="3000000" cy="3000000"/>
        </p:xfrm>
        <a:graphic>
          <a:graphicData uri="http://schemas.openxmlformats.org/drawingml/2006/table">
            <a:tbl>
              <a:tblPr bandRow="1">
                <a:noFill/>
                <a:tableStyleId>{3E0D9EF6-88FE-49E6-BAF1-B571CBEF09A6}</a:tableStyleId>
              </a:tblPr>
              <a:tblGrid>
                <a:gridCol w="1320375"/>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“Entity”</a:t>
                      </a:r>
                      <a:endParaRPr sz="1400" u="none" cap="none" strike="noStrike"/>
                    </a:p>
                    <a:p>
                      <a:pPr indent="0" lvl="0" marL="0" marR="0" rtl="0" algn="ctr">
                        <a:lnSpc>
                          <a:spcPct val="100000"/>
                        </a:lnSpc>
                        <a:spcBef>
                          <a:spcPts val="0"/>
                        </a:spcBef>
                        <a:spcAft>
                          <a:spcPts val="0"/>
                        </a:spcAft>
                        <a:buClr>
                          <a:srgbClr val="000000"/>
                        </a:buClr>
                        <a:buSzPts val="1300"/>
                        <a:buFont typeface="Arial"/>
                        <a:buNone/>
                      </a:pPr>
                      <a:r>
                        <a:rPr b="1" lang="es-PE" sz="1300" u="none" cap="none" strike="noStrike"/>
                        <a:t>    PaqueteUML</a:t>
                      </a:r>
                      <a:endParaRPr b="1" sz="13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bl>
          </a:graphicData>
        </a:graphic>
      </p:graphicFrame>
      <p:grpSp>
        <p:nvGrpSpPr>
          <p:cNvPr id="495" name="Google Shape;495;p15"/>
          <p:cNvGrpSpPr/>
          <p:nvPr/>
        </p:nvGrpSpPr>
        <p:grpSpPr>
          <a:xfrm>
            <a:off x="3349099" y="2832605"/>
            <a:ext cx="101548" cy="103003"/>
            <a:chOff x="6223284" y="-360580"/>
            <a:chExt cx="594967" cy="603500"/>
          </a:xfrm>
        </p:grpSpPr>
        <p:sp>
          <p:nvSpPr>
            <p:cNvPr id="496" name="Google Shape;496;p15"/>
            <p:cNvSpPr/>
            <p:nvPr/>
          </p:nvSpPr>
          <p:spPr>
            <a:xfrm>
              <a:off x="6223284" y="-360580"/>
              <a:ext cx="592757" cy="592754"/>
            </a:xfrm>
            <a:prstGeom prst="ellipse">
              <a:avLst/>
            </a:prstGeom>
            <a:solidFill>
              <a:srgbClr val="2EB1B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97" name="Google Shape;497;p15"/>
            <p:cNvCxnSpPr/>
            <p:nvPr/>
          </p:nvCxnSpPr>
          <p:spPr>
            <a:xfrm>
              <a:off x="6255438" y="242920"/>
              <a:ext cx="562813" cy="0"/>
            </a:xfrm>
            <a:prstGeom prst="straightConnector1">
              <a:avLst/>
            </a:prstGeom>
            <a:noFill/>
            <a:ln cap="flat" cmpd="sng" w="9525">
              <a:solidFill>
                <a:schemeClr val="dk1"/>
              </a:solidFill>
              <a:prstDash val="solid"/>
              <a:round/>
              <a:headEnd len="sm" w="sm" type="none"/>
              <a:tailEnd len="sm" w="sm" type="none"/>
            </a:ln>
          </p:spPr>
        </p:cxnSp>
      </p:grpSp>
      <p:graphicFrame>
        <p:nvGraphicFramePr>
          <p:cNvPr id="498" name="Google Shape;498;p15"/>
          <p:cNvGraphicFramePr/>
          <p:nvPr/>
        </p:nvGraphicFramePr>
        <p:xfrm>
          <a:off x="4622631" y="2559524"/>
          <a:ext cx="3000000" cy="3000000"/>
        </p:xfrm>
        <a:graphic>
          <a:graphicData uri="http://schemas.openxmlformats.org/drawingml/2006/table">
            <a:tbl>
              <a:tblPr bandRow="1">
                <a:noFill/>
                <a:tableStyleId>{3E0D9EF6-88FE-49E6-BAF1-B571CBEF09A6}</a:tableStyleId>
              </a:tblPr>
              <a:tblGrid>
                <a:gridCol w="1320375"/>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“Entity”</a:t>
                      </a:r>
                      <a:endParaRPr sz="1400" u="none" cap="none" strike="noStrike"/>
                    </a:p>
                    <a:p>
                      <a:pPr indent="0" lvl="0" marL="0" marR="0" rtl="0" algn="ctr">
                        <a:lnSpc>
                          <a:spcPct val="100000"/>
                        </a:lnSpc>
                        <a:spcBef>
                          <a:spcPts val="0"/>
                        </a:spcBef>
                        <a:spcAft>
                          <a:spcPts val="0"/>
                        </a:spcAft>
                        <a:buClr>
                          <a:srgbClr val="000000"/>
                        </a:buClr>
                        <a:buSzPts val="1300"/>
                        <a:buFont typeface="Arial"/>
                        <a:buNone/>
                      </a:pPr>
                      <a:r>
                        <a:rPr b="1" lang="es-PE" sz="1300" u="none" cap="none" strike="noStrike"/>
                        <a:t>    Departamento</a:t>
                      </a:r>
                      <a:endParaRPr b="1" sz="13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bl>
          </a:graphicData>
        </a:graphic>
      </p:graphicFrame>
      <p:grpSp>
        <p:nvGrpSpPr>
          <p:cNvPr id="499" name="Google Shape;499;p15"/>
          <p:cNvGrpSpPr/>
          <p:nvPr/>
        </p:nvGrpSpPr>
        <p:grpSpPr>
          <a:xfrm>
            <a:off x="4717965" y="2827392"/>
            <a:ext cx="101548" cy="103003"/>
            <a:chOff x="6223284" y="-360580"/>
            <a:chExt cx="594967" cy="603500"/>
          </a:xfrm>
        </p:grpSpPr>
        <p:sp>
          <p:nvSpPr>
            <p:cNvPr id="500" name="Google Shape;500;p15"/>
            <p:cNvSpPr/>
            <p:nvPr/>
          </p:nvSpPr>
          <p:spPr>
            <a:xfrm>
              <a:off x="6223284" y="-360580"/>
              <a:ext cx="592757" cy="592754"/>
            </a:xfrm>
            <a:prstGeom prst="ellipse">
              <a:avLst/>
            </a:prstGeom>
            <a:solidFill>
              <a:srgbClr val="2EB1B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01" name="Google Shape;501;p15"/>
            <p:cNvCxnSpPr/>
            <p:nvPr/>
          </p:nvCxnSpPr>
          <p:spPr>
            <a:xfrm>
              <a:off x="6255438" y="242920"/>
              <a:ext cx="562813" cy="0"/>
            </a:xfrm>
            <a:prstGeom prst="straightConnector1">
              <a:avLst/>
            </a:prstGeom>
            <a:noFill/>
            <a:ln cap="flat" cmpd="sng" w="9525">
              <a:solidFill>
                <a:schemeClr val="dk1"/>
              </a:solidFill>
              <a:prstDash val="solid"/>
              <a:round/>
              <a:headEnd len="sm" w="sm" type="none"/>
              <a:tailEnd len="sm" w="sm" type="none"/>
            </a:ln>
          </p:spPr>
        </p:cxnSp>
      </p:grpSp>
      <p:grpSp>
        <p:nvGrpSpPr>
          <p:cNvPr id="502" name="Google Shape;502;p15"/>
          <p:cNvGrpSpPr/>
          <p:nvPr/>
        </p:nvGrpSpPr>
        <p:grpSpPr>
          <a:xfrm>
            <a:off x="5207445" y="3342659"/>
            <a:ext cx="150750" cy="669023"/>
            <a:chOff x="5076258" y="2981132"/>
            <a:chExt cx="233266" cy="1228584"/>
          </a:xfrm>
        </p:grpSpPr>
        <p:cxnSp>
          <p:nvCxnSpPr>
            <p:cNvPr id="503" name="Google Shape;503;p15"/>
            <p:cNvCxnSpPr/>
            <p:nvPr/>
          </p:nvCxnSpPr>
          <p:spPr>
            <a:xfrm flipH="1" rot="-5400000">
              <a:off x="4670823" y="3680874"/>
              <a:ext cx="1047157" cy="10527"/>
            </a:xfrm>
            <a:prstGeom prst="straightConnector1">
              <a:avLst/>
            </a:prstGeom>
            <a:noFill/>
            <a:ln cap="flat" cmpd="sng" w="38100">
              <a:solidFill>
                <a:srgbClr val="E5594B"/>
              </a:solidFill>
              <a:prstDash val="solid"/>
              <a:round/>
              <a:headEnd len="sm" w="sm" type="none"/>
              <a:tailEnd len="med" w="med" type="triangle"/>
            </a:ln>
          </p:spPr>
        </p:cxnSp>
        <p:sp>
          <p:nvSpPr>
            <p:cNvPr id="504" name="Google Shape;504;p15"/>
            <p:cNvSpPr/>
            <p:nvPr/>
          </p:nvSpPr>
          <p:spPr>
            <a:xfrm>
              <a:off x="5076258" y="2981132"/>
              <a:ext cx="233266" cy="327310"/>
            </a:xfrm>
            <a:prstGeom prst="diamond">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5" name="Google Shape;505;p15"/>
          <p:cNvGrpSpPr/>
          <p:nvPr/>
        </p:nvGrpSpPr>
        <p:grpSpPr>
          <a:xfrm>
            <a:off x="3800479" y="3342659"/>
            <a:ext cx="150750" cy="669023"/>
            <a:chOff x="5076258" y="2981132"/>
            <a:chExt cx="233266" cy="1228584"/>
          </a:xfrm>
        </p:grpSpPr>
        <p:cxnSp>
          <p:nvCxnSpPr>
            <p:cNvPr id="506" name="Google Shape;506;p15"/>
            <p:cNvCxnSpPr/>
            <p:nvPr/>
          </p:nvCxnSpPr>
          <p:spPr>
            <a:xfrm flipH="1" rot="-5400000">
              <a:off x="4670823" y="3680874"/>
              <a:ext cx="1047157" cy="10527"/>
            </a:xfrm>
            <a:prstGeom prst="straightConnector1">
              <a:avLst/>
            </a:prstGeom>
            <a:noFill/>
            <a:ln cap="flat" cmpd="sng" w="38100">
              <a:solidFill>
                <a:srgbClr val="E5594B"/>
              </a:solidFill>
              <a:prstDash val="solid"/>
              <a:round/>
              <a:headEnd len="sm" w="sm" type="none"/>
              <a:tailEnd len="med" w="med" type="triangle"/>
            </a:ln>
          </p:spPr>
        </p:cxnSp>
        <p:sp>
          <p:nvSpPr>
            <p:cNvPr id="507" name="Google Shape;507;p15"/>
            <p:cNvSpPr/>
            <p:nvPr/>
          </p:nvSpPr>
          <p:spPr>
            <a:xfrm>
              <a:off x="5076258" y="2981132"/>
              <a:ext cx="233266" cy="327310"/>
            </a:xfrm>
            <a:prstGeom prst="diamond">
              <a:avLst/>
            </a:prstGeom>
            <a:solidFill>
              <a:srgbClr val="E559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508" name="Google Shape;508;p15"/>
          <p:cNvGraphicFramePr/>
          <p:nvPr/>
        </p:nvGraphicFramePr>
        <p:xfrm>
          <a:off x="4627008" y="4127056"/>
          <a:ext cx="3000000" cy="3000000"/>
        </p:xfrm>
        <a:graphic>
          <a:graphicData uri="http://schemas.openxmlformats.org/drawingml/2006/table">
            <a:tbl>
              <a:tblPr bandRow="1">
                <a:noFill/>
                <a:tableStyleId>{3E0D9EF6-88FE-49E6-BAF1-B571CBEF09A6}</a:tableStyleId>
              </a:tblPr>
              <a:tblGrid>
                <a:gridCol w="1320375"/>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“Entity”</a:t>
                      </a:r>
                      <a:endParaRPr sz="1400" u="none" cap="none" strike="noStrike"/>
                    </a:p>
                    <a:p>
                      <a:pPr indent="0" lvl="0" marL="0" marR="0" rtl="0" algn="ctr">
                        <a:lnSpc>
                          <a:spcPct val="100000"/>
                        </a:lnSpc>
                        <a:spcBef>
                          <a:spcPts val="0"/>
                        </a:spcBef>
                        <a:spcAft>
                          <a:spcPts val="0"/>
                        </a:spcAft>
                        <a:buClr>
                          <a:srgbClr val="000000"/>
                        </a:buClr>
                        <a:buSzPts val="1300"/>
                        <a:buFont typeface="Arial"/>
                        <a:buNone/>
                      </a:pPr>
                      <a:r>
                        <a:rPr b="1" lang="es-PE" sz="1300" u="none" cap="none" strike="noStrike"/>
                        <a:t>   Provincia</a:t>
                      </a:r>
                      <a:endParaRPr b="1" sz="13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bl>
          </a:graphicData>
        </a:graphic>
      </p:graphicFrame>
      <p:grpSp>
        <p:nvGrpSpPr>
          <p:cNvPr id="509" name="Google Shape;509;p15"/>
          <p:cNvGrpSpPr/>
          <p:nvPr/>
        </p:nvGrpSpPr>
        <p:grpSpPr>
          <a:xfrm>
            <a:off x="4866521" y="4394924"/>
            <a:ext cx="101548" cy="103003"/>
            <a:chOff x="6223284" y="-360580"/>
            <a:chExt cx="594967" cy="603500"/>
          </a:xfrm>
        </p:grpSpPr>
        <p:sp>
          <p:nvSpPr>
            <p:cNvPr id="510" name="Google Shape;510;p15"/>
            <p:cNvSpPr/>
            <p:nvPr/>
          </p:nvSpPr>
          <p:spPr>
            <a:xfrm>
              <a:off x="6223284" y="-360580"/>
              <a:ext cx="592757" cy="592754"/>
            </a:xfrm>
            <a:prstGeom prst="ellipse">
              <a:avLst/>
            </a:prstGeom>
            <a:solidFill>
              <a:srgbClr val="2EB1B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11" name="Google Shape;511;p15"/>
            <p:cNvCxnSpPr/>
            <p:nvPr/>
          </p:nvCxnSpPr>
          <p:spPr>
            <a:xfrm>
              <a:off x="6255438" y="242920"/>
              <a:ext cx="562813" cy="0"/>
            </a:xfrm>
            <a:prstGeom prst="straightConnector1">
              <a:avLst/>
            </a:prstGeom>
            <a:noFill/>
            <a:ln cap="flat" cmpd="sng" w="9525">
              <a:solidFill>
                <a:schemeClr val="dk1"/>
              </a:solidFill>
              <a:prstDash val="solid"/>
              <a:round/>
              <a:headEnd len="sm" w="sm" type="none"/>
              <a:tailEnd len="sm" w="sm" type="none"/>
            </a:ln>
          </p:spPr>
        </p:cxnSp>
      </p:grpSp>
      <p:graphicFrame>
        <p:nvGraphicFramePr>
          <p:cNvPr id="512" name="Google Shape;512;p15"/>
          <p:cNvGraphicFramePr/>
          <p:nvPr/>
        </p:nvGraphicFramePr>
        <p:xfrm>
          <a:off x="3215076" y="4127056"/>
          <a:ext cx="3000000" cy="3000000"/>
        </p:xfrm>
        <a:graphic>
          <a:graphicData uri="http://schemas.openxmlformats.org/drawingml/2006/table">
            <a:tbl>
              <a:tblPr bandRow="1">
                <a:noFill/>
                <a:tableStyleId>{3E0D9EF6-88FE-49E6-BAF1-B571CBEF09A6}</a:tableStyleId>
              </a:tblPr>
              <a:tblGrid>
                <a:gridCol w="1320375"/>
              </a:tblGrid>
              <a:tr h="236625">
                <a:tc>
                  <a:txBody>
                    <a:bodyPr/>
                    <a:lstStyle/>
                    <a:p>
                      <a:pPr indent="0" lvl="0" marL="0" marR="0" rtl="0" algn="ctr">
                        <a:lnSpc>
                          <a:spcPct val="100000"/>
                        </a:lnSpc>
                        <a:spcBef>
                          <a:spcPts val="0"/>
                        </a:spcBef>
                        <a:spcAft>
                          <a:spcPts val="0"/>
                        </a:spcAft>
                        <a:buClr>
                          <a:srgbClr val="000000"/>
                        </a:buClr>
                        <a:buSzPts val="1300"/>
                        <a:buFont typeface="Arial"/>
                        <a:buNone/>
                      </a:pPr>
                      <a:r>
                        <a:rPr lang="es-PE" sz="1300" u="none" cap="none" strike="noStrike"/>
                        <a:t>“Entity”</a:t>
                      </a:r>
                      <a:endParaRPr sz="1400" u="none" cap="none" strike="noStrike"/>
                    </a:p>
                    <a:p>
                      <a:pPr indent="0" lvl="0" marL="0" marR="0" rtl="0" algn="ctr">
                        <a:lnSpc>
                          <a:spcPct val="100000"/>
                        </a:lnSpc>
                        <a:spcBef>
                          <a:spcPts val="0"/>
                        </a:spcBef>
                        <a:spcAft>
                          <a:spcPts val="0"/>
                        </a:spcAft>
                        <a:buClr>
                          <a:srgbClr val="000000"/>
                        </a:buClr>
                        <a:buSzPts val="1300"/>
                        <a:buFont typeface="Arial"/>
                        <a:buNone/>
                      </a:pPr>
                      <a:r>
                        <a:rPr b="1" lang="es-PE" sz="1300" u="none" cap="none" strike="noStrike"/>
                        <a:t>   ElemntoUML</a:t>
                      </a:r>
                      <a:endParaRPr b="1" sz="13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r h="147900">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18500" marB="18500" marR="37000" marL="37000">
                    <a:solidFill>
                      <a:srgbClr val="E9F1F6"/>
                    </a:solidFill>
                  </a:tcPr>
                </a:tc>
              </a:tr>
            </a:tbl>
          </a:graphicData>
        </a:graphic>
      </p:graphicFrame>
      <p:grpSp>
        <p:nvGrpSpPr>
          <p:cNvPr id="513" name="Google Shape;513;p15"/>
          <p:cNvGrpSpPr/>
          <p:nvPr/>
        </p:nvGrpSpPr>
        <p:grpSpPr>
          <a:xfrm>
            <a:off x="3352986" y="4394924"/>
            <a:ext cx="101548" cy="103003"/>
            <a:chOff x="6223284" y="-360580"/>
            <a:chExt cx="594967" cy="603500"/>
          </a:xfrm>
        </p:grpSpPr>
        <p:sp>
          <p:nvSpPr>
            <p:cNvPr id="514" name="Google Shape;514;p15"/>
            <p:cNvSpPr/>
            <p:nvPr/>
          </p:nvSpPr>
          <p:spPr>
            <a:xfrm>
              <a:off x="6223284" y="-360580"/>
              <a:ext cx="592757" cy="592754"/>
            </a:xfrm>
            <a:prstGeom prst="ellipse">
              <a:avLst/>
            </a:prstGeom>
            <a:solidFill>
              <a:srgbClr val="2EB1B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15" name="Google Shape;515;p15"/>
            <p:cNvCxnSpPr/>
            <p:nvPr/>
          </p:nvCxnSpPr>
          <p:spPr>
            <a:xfrm>
              <a:off x="6255438" y="242920"/>
              <a:ext cx="562813" cy="0"/>
            </a:xfrm>
            <a:prstGeom prst="straightConnector1">
              <a:avLst/>
            </a:prstGeom>
            <a:noFill/>
            <a:ln cap="flat" cmpd="sng" w="9525">
              <a:solidFill>
                <a:schemeClr val="dk1"/>
              </a:solidFill>
              <a:prstDash val="solid"/>
              <a:round/>
              <a:headEnd len="sm" w="sm" type="none"/>
              <a:tailEnd len="sm" w="sm" type="none"/>
            </a:ln>
          </p:spPr>
        </p:cxnSp>
      </p:grpSp>
      <p:sp>
        <p:nvSpPr>
          <p:cNvPr id="516" name="Google Shape;516;p15"/>
          <p:cNvSpPr txBox="1"/>
          <p:nvPr/>
        </p:nvSpPr>
        <p:spPr>
          <a:xfrm>
            <a:off x="3387036" y="3842238"/>
            <a:ext cx="445956"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sp>
        <p:nvSpPr>
          <p:cNvPr id="517" name="Google Shape;517;p15"/>
          <p:cNvSpPr txBox="1"/>
          <p:nvPr/>
        </p:nvSpPr>
        <p:spPr>
          <a:xfrm>
            <a:off x="3474400" y="3373054"/>
            <a:ext cx="271228"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sp>
        <p:nvSpPr>
          <p:cNvPr id="518" name="Google Shape;518;p15"/>
          <p:cNvSpPr txBox="1"/>
          <p:nvPr/>
        </p:nvSpPr>
        <p:spPr>
          <a:xfrm>
            <a:off x="4785735" y="3842881"/>
            <a:ext cx="445956"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sp>
        <p:nvSpPr>
          <p:cNvPr id="519" name="Google Shape;519;p15"/>
          <p:cNvSpPr txBox="1"/>
          <p:nvPr/>
        </p:nvSpPr>
        <p:spPr>
          <a:xfrm>
            <a:off x="4873099" y="3373697"/>
            <a:ext cx="271228" cy="2975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baseline="30000" i="0" lang="es-PE" sz="2000" u="none" cap="none" strike="noStrike">
                <a:solidFill>
                  <a:schemeClr val="dk1"/>
                </a:solidFill>
                <a:latin typeface="Calibri"/>
                <a:ea typeface="Calibri"/>
                <a:cs typeface="Calibri"/>
                <a:sym typeface="Calibri"/>
              </a:rPr>
              <a:t>1</a:t>
            </a:r>
            <a:endParaRPr b="0" baseline="30000" i="0" sz="2000" u="none" cap="none" strike="noStrike">
              <a:solidFill>
                <a:schemeClr val="dk1"/>
              </a:solidFill>
              <a:latin typeface="Calibri"/>
              <a:ea typeface="Calibri"/>
              <a:cs typeface="Calibri"/>
              <a:sym typeface="Calibri"/>
            </a:endParaRPr>
          </a:p>
        </p:txBody>
      </p:sp>
      <p:sp>
        <p:nvSpPr>
          <p:cNvPr id="520" name="Google Shape;520;p15"/>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16"/>
          <p:cNvSpPr/>
          <p:nvPr/>
        </p:nvSpPr>
        <p:spPr>
          <a:xfrm>
            <a:off x="468313" y="2101850"/>
            <a:ext cx="8243887" cy="309562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16"/>
          <p:cNvSpPr/>
          <p:nvPr/>
        </p:nvSpPr>
        <p:spPr>
          <a:xfrm>
            <a:off x="479465" y="768981"/>
            <a:ext cx="8207374" cy="116955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400"/>
              <a:buFont typeface="Arial"/>
              <a:buNone/>
            </a:pPr>
            <a:r>
              <a:rPr b="1" i="0" lang="es-PE" sz="1400" u="none" cap="none" strike="noStrike">
                <a:solidFill>
                  <a:schemeClr val="dk1"/>
                </a:solidFill>
                <a:latin typeface="Calibri"/>
                <a:ea typeface="Calibri"/>
                <a:cs typeface="Calibri"/>
                <a:sym typeface="Calibri"/>
              </a:rPr>
              <a:t>ASOCIACIONES</a:t>
            </a:r>
            <a:endParaRPr b="0" i="0" sz="14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400"/>
              <a:buFont typeface="Arial"/>
              <a:buNone/>
            </a:pPr>
            <a:r>
              <a:rPr b="1" i="0" lang="es-PE" sz="1400" u="none" cap="none" strike="noStrike">
                <a:solidFill>
                  <a:schemeClr val="dk1"/>
                </a:solidFill>
                <a:latin typeface="Calibri"/>
                <a:ea typeface="Calibri"/>
                <a:cs typeface="Calibri"/>
                <a:sym typeface="Calibri"/>
              </a:rPr>
              <a:t>Generalización</a:t>
            </a:r>
            <a:endParaRPr b="0" i="0" sz="1400" u="none" cap="none" strike="noStrike">
              <a:solidFill>
                <a:srgbClr val="000000"/>
              </a:solidFill>
              <a:latin typeface="Calibri"/>
              <a:ea typeface="Calibri"/>
              <a:cs typeface="Calibri"/>
              <a:sym typeface="Calibri"/>
            </a:endParaRPr>
          </a:p>
          <a:p>
            <a:pPr indent="-215900" lvl="0" marL="21590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 </a:t>
            </a:r>
            <a:r>
              <a:rPr b="1" i="0" lang="es-PE" sz="1600" u="none" cap="none" strike="noStrike">
                <a:solidFill>
                  <a:schemeClr val="dk1"/>
                </a:solidFill>
                <a:latin typeface="Calibri"/>
                <a:ea typeface="Calibri"/>
                <a:cs typeface="Calibri"/>
                <a:sym typeface="Calibri"/>
              </a:rPr>
              <a:t>generalización</a:t>
            </a:r>
            <a:r>
              <a:rPr b="0" i="0" lang="es-PE" sz="1600" u="none" cap="none" strike="noStrike">
                <a:solidFill>
                  <a:schemeClr val="dk1"/>
                </a:solidFill>
                <a:latin typeface="Calibri"/>
                <a:ea typeface="Calibri"/>
                <a:cs typeface="Calibri"/>
                <a:sym typeface="Calibri"/>
              </a:rPr>
              <a:t> consiste en identificar todos aquellos atributos iguales de un conjunto de entidades para formar una entidad global con dichos atributos semejantes, dicha entidad global quedará a un nivel más alto al de las entidades origen.</a:t>
            </a:r>
            <a:endParaRPr b="0" i="0" sz="1600" u="none" cap="none" strike="noStrike">
              <a:solidFill>
                <a:srgbClr val="000000"/>
              </a:solidFill>
              <a:latin typeface="Calibri"/>
              <a:ea typeface="Calibri"/>
              <a:cs typeface="Calibri"/>
              <a:sym typeface="Calibri"/>
            </a:endParaRPr>
          </a:p>
        </p:txBody>
      </p:sp>
      <p:grpSp>
        <p:nvGrpSpPr>
          <p:cNvPr id="527" name="Google Shape;527;p16"/>
          <p:cNvGrpSpPr/>
          <p:nvPr/>
        </p:nvGrpSpPr>
        <p:grpSpPr>
          <a:xfrm>
            <a:off x="921417" y="2675110"/>
            <a:ext cx="1524410" cy="1790237"/>
            <a:chOff x="1256191" y="2308541"/>
            <a:chExt cx="1524410" cy="1790237"/>
          </a:xfrm>
        </p:grpSpPr>
        <p:sp>
          <p:nvSpPr>
            <p:cNvPr id="528" name="Google Shape;528;p16"/>
            <p:cNvSpPr txBox="1"/>
            <p:nvPr/>
          </p:nvSpPr>
          <p:spPr>
            <a:xfrm>
              <a:off x="1341292" y="2898449"/>
              <a:ext cx="1439309"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Cliente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codCli: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nombres: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apePaterno: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apeMaterno: </a:t>
              </a:r>
              <a:r>
                <a:rPr b="0" i="0" lang="es-PE" sz="1200" u="none" cap="none" strike="noStrike">
                  <a:solidFill>
                    <a:schemeClr val="dk1"/>
                  </a:solidFill>
                  <a:latin typeface="Arial"/>
                  <a:ea typeface="Arial"/>
                  <a:cs typeface="Arial"/>
                  <a:sym typeface="Arial"/>
                </a:rPr>
                <a:t>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categoria: String</a:t>
              </a:r>
              <a:endParaRPr b="0" i="0" sz="1400" u="none" cap="none" strike="noStrike">
                <a:solidFill>
                  <a:srgbClr val="000000"/>
                </a:solidFill>
                <a:latin typeface="Arial"/>
                <a:ea typeface="Arial"/>
                <a:cs typeface="Arial"/>
                <a:sym typeface="Arial"/>
              </a:endParaRPr>
            </a:p>
          </p:txBody>
        </p:sp>
        <p:sp>
          <p:nvSpPr>
            <p:cNvPr id="529" name="Google Shape;529;p16"/>
            <p:cNvSpPr/>
            <p:nvPr/>
          </p:nvSpPr>
          <p:spPr>
            <a:xfrm>
              <a:off x="1724144" y="2308541"/>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30" name="Google Shape;530;p16"/>
            <p:cNvCxnSpPr/>
            <p:nvPr/>
          </p:nvCxnSpPr>
          <p:spPr>
            <a:xfrm>
              <a:off x="1738171" y="2873952"/>
              <a:ext cx="527295" cy="0"/>
            </a:xfrm>
            <a:prstGeom prst="straightConnector1">
              <a:avLst/>
            </a:prstGeom>
            <a:noFill/>
            <a:ln cap="flat" cmpd="sng" w="38100">
              <a:solidFill>
                <a:schemeClr val="dk1"/>
              </a:solidFill>
              <a:prstDash val="solid"/>
              <a:round/>
              <a:headEnd len="sm" w="sm" type="none"/>
              <a:tailEnd len="sm" w="sm" type="none"/>
            </a:ln>
          </p:spPr>
        </p:cxnSp>
        <p:cxnSp>
          <p:nvCxnSpPr>
            <p:cNvPr id="531" name="Google Shape;531;p16"/>
            <p:cNvCxnSpPr/>
            <p:nvPr/>
          </p:nvCxnSpPr>
          <p:spPr>
            <a:xfrm>
              <a:off x="1321499" y="3124426"/>
              <a:ext cx="1459102" cy="0"/>
            </a:xfrm>
            <a:prstGeom prst="straightConnector1">
              <a:avLst/>
            </a:prstGeom>
            <a:noFill/>
            <a:ln cap="flat" cmpd="sng" w="28575">
              <a:solidFill>
                <a:schemeClr val="dk1"/>
              </a:solidFill>
              <a:prstDash val="solid"/>
              <a:round/>
              <a:headEnd len="sm" w="sm" type="none"/>
              <a:tailEnd len="sm" w="sm" type="none"/>
            </a:ln>
          </p:spPr>
        </p:cxnSp>
        <p:pic>
          <p:nvPicPr>
            <p:cNvPr id="532" name="Google Shape;532;p16"/>
            <p:cNvPicPr preferRelativeResize="0"/>
            <p:nvPr/>
          </p:nvPicPr>
          <p:blipFill rotWithShape="1">
            <a:blip r:embed="rId3">
              <a:alphaModFix/>
            </a:blip>
            <a:srcRect b="40204" l="8629" r="80063" t="49555"/>
            <a:stretch/>
          </p:blipFill>
          <p:spPr>
            <a:xfrm>
              <a:off x="1256191" y="3183321"/>
              <a:ext cx="132571" cy="114557"/>
            </a:xfrm>
            <a:prstGeom prst="rect">
              <a:avLst/>
            </a:prstGeom>
            <a:noFill/>
            <a:ln>
              <a:noFill/>
            </a:ln>
          </p:spPr>
        </p:pic>
        <p:pic>
          <p:nvPicPr>
            <p:cNvPr id="533" name="Google Shape;533;p16"/>
            <p:cNvPicPr preferRelativeResize="0"/>
            <p:nvPr/>
          </p:nvPicPr>
          <p:blipFill rotWithShape="1">
            <a:blip r:embed="rId3">
              <a:alphaModFix/>
            </a:blip>
            <a:srcRect b="40204" l="8629" r="80063" t="49555"/>
            <a:stretch/>
          </p:blipFill>
          <p:spPr>
            <a:xfrm>
              <a:off x="1256191" y="3362268"/>
              <a:ext cx="132571" cy="114557"/>
            </a:xfrm>
            <a:prstGeom prst="rect">
              <a:avLst/>
            </a:prstGeom>
            <a:noFill/>
            <a:ln>
              <a:noFill/>
            </a:ln>
          </p:spPr>
        </p:pic>
        <p:pic>
          <p:nvPicPr>
            <p:cNvPr id="534" name="Google Shape;534;p16"/>
            <p:cNvPicPr preferRelativeResize="0"/>
            <p:nvPr/>
          </p:nvPicPr>
          <p:blipFill rotWithShape="1">
            <a:blip r:embed="rId3">
              <a:alphaModFix/>
            </a:blip>
            <a:srcRect b="40204" l="8629" r="80063" t="49555"/>
            <a:stretch/>
          </p:blipFill>
          <p:spPr>
            <a:xfrm>
              <a:off x="1256191" y="3545208"/>
              <a:ext cx="132571" cy="114557"/>
            </a:xfrm>
            <a:prstGeom prst="rect">
              <a:avLst/>
            </a:prstGeom>
            <a:noFill/>
            <a:ln>
              <a:noFill/>
            </a:ln>
          </p:spPr>
        </p:pic>
        <p:pic>
          <p:nvPicPr>
            <p:cNvPr id="535" name="Google Shape;535;p16"/>
            <p:cNvPicPr preferRelativeResize="0"/>
            <p:nvPr/>
          </p:nvPicPr>
          <p:blipFill rotWithShape="1">
            <a:blip r:embed="rId3">
              <a:alphaModFix/>
            </a:blip>
            <a:srcRect b="40204" l="8629" r="80063" t="49555"/>
            <a:stretch/>
          </p:blipFill>
          <p:spPr>
            <a:xfrm>
              <a:off x="1256191" y="3729882"/>
              <a:ext cx="132571" cy="114557"/>
            </a:xfrm>
            <a:prstGeom prst="rect">
              <a:avLst/>
            </a:prstGeom>
            <a:noFill/>
            <a:ln>
              <a:noFill/>
            </a:ln>
          </p:spPr>
        </p:pic>
        <p:pic>
          <p:nvPicPr>
            <p:cNvPr id="536" name="Google Shape;536;p16"/>
            <p:cNvPicPr preferRelativeResize="0"/>
            <p:nvPr/>
          </p:nvPicPr>
          <p:blipFill rotWithShape="1">
            <a:blip r:embed="rId3">
              <a:alphaModFix/>
            </a:blip>
            <a:srcRect b="40204" l="8629" r="80063" t="49555"/>
            <a:stretch/>
          </p:blipFill>
          <p:spPr>
            <a:xfrm>
              <a:off x="1256191" y="3906740"/>
              <a:ext cx="132571" cy="114557"/>
            </a:xfrm>
            <a:prstGeom prst="rect">
              <a:avLst/>
            </a:prstGeom>
            <a:noFill/>
            <a:ln>
              <a:noFill/>
            </a:ln>
          </p:spPr>
        </p:pic>
        <p:cxnSp>
          <p:nvCxnSpPr>
            <p:cNvPr id="537" name="Google Shape;537;p16"/>
            <p:cNvCxnSpPr/>
            <p:nvPr/>
          </p:nvCxnSpPr>
          <p:spPr>
            <a:xfrm>
              <a:off x="1321499" y="4098778"/>
              <a:ext cx="1459102" cy="0"/>
            </a:xfrm>
            <a:prstGeom prst="straightConnector1">
              <a:avLst/>
            </a:prstGeom>
            <a:noFill/>
            <a:ln cap="flat" cmpd="sng" w="28575">
              <a:solidFill>
                <a:schemeClr val="dk1"/>
              </a:solidFill>
              <a:prstDash val="solid"/>
              <a:round/>
              <a:headEnd len="sm" w="sm" type="none"/>
              <a:tailEnd len="sm" w="sm" type="none"/>
            </a:ln>
          </p:spPr>
        </p:cxnSp>
      </p:grpSp>
      <p:grpSp>
        <p:nvGrpSpPr>
          <p:cNvPr id="538" name="Google Shape;538;p16"/>
          <p:cNvGrpSpPr/>
          <p:nvPr/>
        </p:nvGrpSpPr>
        <p:grpSpPr>
          <a:xfrm>
            <a:off x="2625907" y="2675110"/>
            <a:ext cx="1524410" cy="1790237"/>
            <a:chOff x="3213598" y="2308543"/>
            <a:chExt cx="1524410" cy="1790237"/>
          </a:xfrm>
        </p:grpSpPr>
        <p:sp>
          <p:nvSpPr>
            <p:cNvPr id="539" name="Google Shape;539;p16"/>
            <p:cNvSpPr txBox="1"/>
            <p:nvPr/>
          </p:nvSpPr>
          <p:spPr>
            <a:xfrm>
              <a:off x="3298699" y="2898451"/>
              <a:ext cx="1439309"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Vendedor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codVend: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nombres: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apePaterno: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apeMaterno: </a:t>
              </a:r>
              <a:r>
                <a:rPr b="0" i="0" lang="es-PE" sz="1200" u="none" cap="none" strike="noStrike">
                  <a:solidFill>
                    <a:schemeClr val="dk1"/>
                  </a:solidFill>
                  <a:latin typeface="Arial"/>
                  <a:ea typeface="Arial"/>
                  <a:cs typeface="Arial"/>
                  <a:sym typeface="Arial"/>
                </a:rPr>
                <a:t>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fechaIngreso: Date</a:t>
              </a:r>
              <a:endParaRPr b="0" i="0" sz="1200" u="none" cap="none" strike="noStrike">
                <a:solidFill>
                  <a:schemeClr val="dk1"/>
                </a:solidFill>
                <a:latin typeface="Calibri"/>
                <a:ea typeface="Calibri"/>
                <a:cs typeface="Calibri"/>
                <a:sym typeface="Calibri"/>
              </a:endParaRPr>
            </a:p>
          </p:txBody>
        </p:sp>
        <p:sp>
          <p:nvSpPr>
            <p:cNvPr id="540" name="Google Shape;540;p16"/>
            <p:cNvSpPr/>
            <p:nvPr/>
          </p:nvSpPr>
          <p:spPr>
            <a:xfrm>
              <a:off x="3681551" y="2308543"/>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41" name="Google Shape;541;p16"/>
            <p:cNvCxnSpPr/>
            <p:nvPr/>
          </p:nvCxnSpPr>
          <p:spPr>
            <a:xfrm>
              <a:off x="3695578" y="2873954"/>
              <a:ext cx="527295" cy="0"/>
            </a:xfrm>
            <a:prstGeom prst="straightConnector1">
              <a:avLst/>
            </a:prstGeom>
            <a:noFill/>
            <a:ln cap="flat" cmpd="sng" w="38100">
              <a:solidFill>
                <a:schemeClr val="dk1"/>
              </a:solidFill>
              <a:prstDash val="solid"/>
              <a:round/>
              <a:headEnd len="sm" w="sm" type="none"/>
              <a:tailEnd len="sm" w="sm" type="none"/>
            </a:ln>
          </p:spPr>
        </p:cxnSp>
        <p:cxnSp>
          <p:nvCxnSpPr>
            <p:cNvPr id="542" name="Google Shape;542;p16"/>
            <p:cNvCxnSpPr/>
            <p:nvPr/>
          </p:nvCxnSpPr>
          <p:spPr>
            <a:xfrm>
              <a:off x="3278906" y="3124428"/>
              <a:ext cx="1459102" cy="0"/>
            </a:xfrm>
            <a:prstGeom prst="straightConnector1">
              <a:avLst/>
            </a:prstGeom>
            <a:noFill/>
            <a:ln cap="flat" cmpd="sng" w="28575">
              <a:solidFill>
                <a:schemeClr val="dk1"/>
              </a:solidFill>
              <a:prstDash val="solid"/>
              <a:round/>
              <a:headEnd len="sm" w="sm" type="none"/>
              <a:tailEnd len="sm" w="sm" type="none"/>
            </a:ln>
          </p:spPr>
        </p:cxnSp>
        <p:pic>
          <p:nvPicPr>
            <p:cNvPr id="543" name="Google Shape;543;p16"/>
            <p:cNvPicPr preferRelativeResize="0"/>
            <p:nvPr/>
          </p:nvPicPr>
          <p:blipFill rotWithShape="1">
            <a:blip r:embed="rId3">
              <a:alphaModFix/>
            </a:blip>
            <a:srcRect b="40204" l="8629" r="80063" t="49555"/>
            <a:stretch/>
          </p:blipFill>
          <p:spPr>
            <a:xfrm>
              <a:off x="3213598" y="3183323"/>
              <a:ext cx="132571" cy="114557"/>
            </a:xfrm>
            <a:prstGeom prst="rect">
              <a:avLst/>
            </a:prstGeom>
            <a:noFill/>
            <a:ln>
              <a:noFill/>
            </a:ln>
          </p:spPr>
        </p:pic>
        <p:pic>
          <p:nvPicPr>
            <p:cNvPr id="544" name="Google Shape;544;p16"/>
            <p:cNvPicPr preferRelativeResize="0"/>
            <p:nvPr/>
          </p:nvPicPr>
          <p:blipFill rotWithShape="1">
            <a:blip r:embed="rId3">
              <a:alphaModFix/>
            </a:blip>
            <a:srcRect b="40204" l="8629" r="80063" t="49555"/>
            <a:stretch/>
          </p:blipFill>
          <p:spPr>
            <a:xfrm>
              <a:off x="3213598" y="3362270"/>
              <a:ext cx="132571" cy="114557"/>
            </a:xfrm>
            <a:prstGeom prst="rect">
              <a:avLst/>
            </a:prstGeom>
            <a:noFill/>
            <a:ln>
              <a:noFill/>
            </a:ln>
          </p:spPr>
        </p:pic>
        <p:pic>
          <p:nvPicPr>
            <p:cNvPr id="545" name="Google Shape;545;p16"/>
            <p:cNvPicPr preferRelativeResize="0"/>
            <p:nvPr/>
          </p:nvPicPr>
          <p:blipFill rotWithShape="1">
            <a:blip r:embed="rId3">
              <a:alphaModFix/>
            </a:blip>
            <a:srcRect b="40204" l="8629" r="80063" t="49555"/>
            <a:stretch/>
          </p:blipFill>
          <p:spPr>
            <a:xfrm>
              <a:off x="3213598" y="3545210"/>
              <a:ext cx="132571" cy="114557"/>
            </a:xfrm>
            <a:prstGeom prst="rect">
              <a:avLst/>
            </a:prstGeom>
            <a:noFill/>
            <a:ln>
              <a:noFill/>
            </a:ln>
          </p:spPr>
        </p:pic>
        <p:pic>
          <p:nvPicPr>
            <p:cNvPr id="546" name="Google Shape;546;p16"/>
            <p:cNvPicPr preferRelativeResize="0"/>
            <p:nvPr/>
          </p:nvPicPr>
          <p:blipFill rotWithShape="1">
            <a:blip r:embed="rId3">
              <a:alphaModFix/>
            </a:blip>
            <a:srcRect b="40204" l="8629" r="80063" t="49555"/>
            <a:stretch/>
          </p:blipFill>
          <p:spPr>
            <a:xfrm>
              <a:off x="3213598" y="3729884"/>
              <a:ext cx="132571" cy="114557"/>
            </a:xfrm>
            <a:prstGeom prst="rect">
              <a:avLst/>
            </a:prstGeom>
            <a:noFill/>
            <a:ln>
              <a:noFill/>
            </a:ln>
          </p:spPr>
        </p:pic>
        <p:pic>
          <p:nvPicPr>
            <p:cNvPr id="547" name="Google Shape;547;p16"/>
            <p:cNvPicPr preferRelativeResize="0"/>
            <p:nvPr/>
          </p:nvPicPr>
          <p:blipFill rotWithShape="1">
            <a:blip r:embed="rId3">
              <a:alphaModFix/>
            </a:blip>
            <a:srcRect b="40204" l="8629" r="80063" t="49555"/>
            <a:stretch/>
          </p:blipFill>
          <p:spPr>
            <a:xfrm>
              <a:off x="3213598" y="3906742"/>
              <a:ext cx="132571" cy="114557"/>
            </a:xfrm>
            <a:prstGeom prst="rect">
              <a:avLst/>
            </a:prstGeom>
            <a:noFill/>
            <a:ln>
              <a:noFill/>
            </a:ln>
          </p:spPr>
        </p:pic>
        <p:cxnSp>
          <p:nvCxnSpPr>
            <p:cNvPr id="548" name="Google Shape;548;p16"/>
            <p:cNvCxnSpPr/>
            <p:nvPr/>
          </p:nvCxnSpPr>
          <p:spPr>
            <a:xfrm>
              <a:off x="3278906" y="4098780"/>
              <a:ext cx="1459102" cy="0"/>
            </a:xfrm>
            <a:prstGeom prst="straightConnector1">
              <a:avLst/>
            </a:prstGeom>
            <a:noFill/>
            <a:ln cap="flat" cmpd="sng" w="28575">
              <a:solidFill>
                <a:schemeClr val="dk1"/>
              </a:solidFill>
              <a:prstDash val="solid"/>
              <a:round/>
              <a:headEnd len="sm" w="sm" type="none"/>
              <a:tailEnd len="sm" w="sm" type="none"/>
            </a:ln>
          </p:spPr>
        </p:cxnSp>
      </p:grpSp>
      <p:sp>
        <p:nvSpPr>
          <p:cNvPr id="549" name="Google Shape;549;p16"/>
          <p:cNvSpPr/>
          <p:nvPr/>
        </p:nvSpPr>
        <p:spPr>
          <a:xfrm>
            <a:off x="4389199" y="3229325"/>
            <a:ext cx="1415860" cy="466361"/>
          </a:xfrm>
          <a:prstGeom prst="homePlate">
            <a:avLst>
              <a:gd fmla="val 58257" name="adj"/>
            </a:avLst>
          </a:prstGeom>
          <a:solidFill>
            <a:srgbClr val="00B14F"/>
          </a:solidFill>
          <a:ln>
            <a:noFill/>
          </a:ln>
        </p:spPr>
        <p:txBody>
          <a:bodyPr anchorCtr="0" anchor="ctr" bIns="52125" lIns="104275" spcFirstLastPara="1" rIns="104275" wrap="square" tIns="52125">
            <a:noAutofit/>
          </a:bodyPr>
          <a:lstStyle/>
          <a:p>
            <a:pPr indent="0" lvl="0" marL="0" marR="0" rtl="0" algn="l">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GENERALIZACIÓN</a:t>
            </a:r>
            <a:endParaRPr b="1" i="0" sz="1100" u="none" cap="none" strike="noStrike">
              <a:solidFill>
                <a:schemeClr val="lt1"/>
              </a:solidFill>
              <a:latin typeface="Calibri"/>
              <a:ea typeface="Calibri"/>
              <a:cs typeface="Calibri"/>
              <a:sym typeface="Calibri"/>
            </a:endParaRPr>
          </a:p>
        </p:txBody>
      </p:sp>
      <p:cxnSp>
        <p:nvCxnSpPr>
          <p:cNvPr id="550" name="Google Shape;550;p16"/>
          <p:cNvCxnSpPr/>
          <p:nvPr/>
        </p:nvCxnSpPr>
        <p:spPr>
          <a:xfrm>
            <a:off x="6145788" y="3902442"/>
            <a:ext cx="1540936" cy="0"/>
          </a:xfrm>
          <a:prstGeom prst="straightConnector1">
            <a:avLst/>
          </a:prstGeom>
          <a:noFill/>
          <a:ln cap="flat" cmpd="sng" w="28575">
            <a:solidFill>
              <a:srgbClr val="2EB1B5"/>
            </a:solidFill>
            <a:prstDash val="solid"/>
            <a:round/>
            <a:headEnd len="sm" w="sm" type="none"/>
            <a:tailEnd len="sm" w="sm" type="none"/>
          </a:ln>
        </p:spPr>
      </p:cxnSp>
      <p:cxnSp>
        <p:nvCxnSpPr>
          <p:cNvPr id="551" name="Google Shape;551;p16"/>
          <p:cNvCxnSpPr/>
          <p:nvPr/>
        </p:nvCxnSpPr>
        <p:spPr>
          <a:xfrm rot="10800000">
            <a:off x="6155365" y="3889306"/>
            <a:ext cx="0" cy="316246"/>
          </a:xfrm>
          <a:prstGeom prst="straightConnector1">
            <a:avLst/>
          </a:prstGeom>
          <a:noFill/>
          <a:ln cap="flat" cmpd="sng" w="28575">
            <a:solidFill>
              <a:srgbClr val="2EB1B5"/>
            </a:solidFill>
            <a:prstDash val="solid"/>
            <a:round/>
            <a:headEnd len="sm" w="sm" type="none"/>
            <a:tailEnd len="sm" w="sm" type="none"/>
          </a:ln>
        </p:spPr>
      </p:cxnSp>
      <p:cxnSp>
        <p:nvCxnSpPr>
          <p:cNvPr id="552" name="Google Shape;552;p16"/>
          <p:cNvCxnSpPr/>
          <p:nvPr/>
        </p:nvCxnSpPr>
        <p:spPr>
          <a:xfrm rot="10800000">
            <a:off x="7683166" y="3891768"/>
            <a:ext cx="0" cy="316246"/>
          </a:xfrm>
          <a:prstGeom prst="straightConnector1">
            <a:avLst/>
          </a:prstGeom>
          <a:noFill/>
          <a:ln cap="flat" cmpd="sng" w="28575">
            <a:solidFill>
              <a:srgbClr val="2EB1B5"/>
            </a:solidFill>
            <a:prstDash val="solid"/>
            <a:round/>
            <a:headEnd len="sm" w="sm" type="none"/>
            <a:tailEnd len="sm" w="sm" type="none"/>
          </a:ln>
        </p:spPr>
      </p:cxnSp>
      <p:sp>
        <p:nvSpPr>
          <p:cNvPr id="553" name="Google Shape;553;p16"/>
          <p:cNvSpPr txBox="1"/>
          <p:nvPr/>
        </p:nvSpPr>
        <p:spPr>
          <a:xfrm>
            <a:off x="6196602" y="2761574"/>
            <a:ext cx="1439309"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Persona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codPerso: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nombres: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apePaterno: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apeMaterno: </a:t>
            </a:r>
            <a:r>
              <a:rPr b="0" i="0" lang="es-PE" sz="1200" u="none" cap="none" strike="noStrike">
                <a:solidFill>
                  <a:schemeClr val="dk1"/>
                </a:solidFill>
                <a:latin typeface="Arial"/>
                <a:ea typeface="Arial"/>
                <a:cs typeface="Arial"/>
                <a:sym typeface="Arial"/>
              </a:rPr>
              <a:t>String</a:t>
            </a:r>
            <a:endParaRPr b="0" i="0" sz="1200" u="none" cap="none" strike="noStrike">
              <a:solidFill>
                <a:schemeClr val="dk1"/>
              </a:solidFill>
              <a:latin typeface="Arial"/>
              <a:ea typeface="Arial"/>
              <a:cs typeface="Arial"/>
              <a:sym typeface="Arial"/>
            </a:endParaRPr>
          </a:p>
        </p:txBody>
      </p:sp>
      <p:sp>
        <p:nvSpPr>
          <p:cNvPr id="554" name="Google Shape;554;p16"/>
          <p:cNvSpPr/>
          <p:nvPr/>
        </p:nvSpPr>
        <p:spPr>
          <a:xfrm>
            <a:off x="6721302" y="2337104"/>
            <a:ext cx="389909" cy="38990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55" name="Google Shape;555;p16"/>
          <p:cNvCxnSpPr/>
          <p:nvPr/>
        </p:nvCxnSpPr>
        <p:spPr>
          <a:xfrm>
            <a:off x="6178442" y="2987551"/>
            <a:ext cx="1459102" cy="0"/>
          </a:xfrm>
          <a:prstGeom prst="straightConnector1">
            <a:avLst/>
          </a:prstGeom>
          <a:noFill/>
          <a:ln cap="flat" cmpd="sng" w="28575">
            <a:solidFill>
              <a:schemeClr val="dk1"/>
            </a:solidFill>
            <a:prstDash val="solid"/>
            <a:round/>
            <a:headEnd len="sm" w="sm" type="none"/>
            <a:tailEnd len="sm" w="sm" type="none"/>
          </a:ln>
        </p:spPr>
      </p:cxnSp>
      <p:pic>
        <p:nvPicPr>
          <p:cNvPr id="556" name="Google Shape;556;p16"/>
          <p:cNvPicPr preferRelativeResize="0"/>
          <p:nvPr/>
        </p:nvPicPr>
        <p:blipFill rotWithShape="1">
          <a:blip r:embed="rId3">
            <a:alphaModFix/>
          </a:blip>
          <a:srcRect b="40204" l="8629" r="80063" t="49555"/>
          <a:stretch/>
        </p:blipFill>
        <p:spPr>
          <a:xfrm>
            <a:off x="6113134" y="3046446"/>
            <a:ext cx="132571" cy="114557"/>
          </a:xfrm>
          <a:prstGeom prst="rect">
            <a:avLst/>
          </a:prstGeom>
          <a:noFill/>
          <a:ln>
            <a:noFill/>
          </a:ln>
        </p:spPr>
      </p:pic>
      <p:pic>
        <p:nvPicPr>
          <p:cNvPr id="557" name="Google Shape;557;p16"/>
          <p:cNvPicPr preferRelativeResize="0"/>
          <p:nvPr/>
        </p:nvPicPr>
        <p:blipFill rotWithShape="1">
          <a:blip r:embed="rId3">
            <a:alphaModFix/>
          </a:blip>
          <a:srcRect b="40204" l="8629" r="80063" t="49555"/>
          <a:stretch/>
        </p:blipFill>
        <p:spPr>
          <a:xfrm>
            <a:off x="6113134" y="3225393"/>
            <a:ext cx="132571" cy="114557"/>
          </a:xfrm>
          <a:prstGeom prst="rect">
            <a:avLst/>
          </a:prstGeom>
          <a:noFill/>
          <a:ln>
            <a:noFill/>
          </a:ln>
        </p:spPr>
      </p:pic>
      <p:pic>
        <p:nvPicPr>
          <p:cNvPr id="558" name="Google Shape;558;p16"/>
          <p:cNvPicPr preferRelativeResize="0"/>
          <p:nvPr/>
        </p:nvPicPr>
        <p:blipFill rotWithShape="1">
          <a:blip r:embed="rId3">
            <a:alphaModFix/>
          </a:blip>
          <a:srcRect b="40204" l="8629" r="80063" t="49555"/>
          <a:stretch/>
        </p:blipFill>
        <p:spPr>
          <a:xfrm>
            <a:off x="6113134" y="3408333"/>
            <a:ext cx="132571" cy="114557"/>
          </a:xfrm>
          <a:prstGeom prst="rect">
            <a:avLst/>
          </a:prstGeom>
          <a:noFill/>
          <a:ln>
            <a:noFill/>
          </a:ln>
        </p:spPr>
      </p:pic>
      <p:pic>
        <p:nvPicPr>
          <p:cNvPr id="559" name="Google Shape;559;p16"/>
          <p:cNvPicPr preferRelativeResize="0"/>
          <p:nvPr/>
        </p:nvPicPr>
        <p:blipFill rotWithShape="1">
          <a:blip r:embed="rId3">
            <a:alphaModFix/>
          </a:blip>
          <a:srcRect b="40204" l="8629" r="80063" t="49555"/>
          <a:stretch/>
        </p:blipFill>
        <p:spPr>
          <a:xfrm>
            <a:off x="6113134" y="3593007"/>
            <a:ext cx="132571" cy="114557"/>
          </a:xfrm>
          <a:prstGeom prst="rect">
            <a:avLst/>
          </a:prstGeom>
          <a:noFill/>
          <a:ln>
            <a:noFill/>
          </a:ln>
        </p:spPr>
      </p:pic>
      <p:cxnSp>
        <p:nvCxnSpPr>
          <p:cNvPr id="560" name="Google Shape;560;p16"/>
          <p:cNvCxnSpPr/>
          <p:nvPr/>
        </p:nvCxnSpPr>
        <p:spPr>
          <a:xfrm>
            <a:off x="6178442" y="3767349"/>
            <a:ext cx="1459102" cy="0"/>
          </a:xfrm>
          <a:prstGeom prst="straightConnector1">
            <a:avLst/>
          </a:prstGeom>
          <a:noFill/>
          <a:ln cap="flat" cmpd="sng" w="28575">
            <a:solidFill>
              <a:schemeClr val="dk1"/>
            </a:solidFill>
            <a:prstDash val="solid"/>
            <a:round/>
            <a:headEnd len="sm" w="sm" type="none"/>
            <a:tailEnd len="sm" w="sm" type="none"/>
          </a:ln>
        </p:spPr>
      </p:cxnSp>
      <p:sp>
        <p:nvSpPr>
          <p:cNvPr id="561" name="Google Shape;561;p16"/>
          <p:cNvSpPr txBox="1"/>
          <p:nvPr/>
        </p:nvSpPr>
        <p:spPr>
          <a:xfrm>
            <a:off x="5532649" y="4437233"/>
            <a:ext cx="120858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Cliente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Categoria: String</a:t>
            </a:r>
            <a:endParaRPr b="0" i="0" sz="1200" u="none" cap="none" strike="noStrike">
              <a:solidFill>
                <a:schemeClr val="dk1"/>
              </a:solidFill>
              <a:latin typeface="Arial"/>
              <a:ea typeface="Arial"/>
              <a:cs typeface="Arial"/>
              <a:sym typeface="Arial"/>
            </a:endParaRPr>
          </a:p>
        </p:txBody>
      </p:sp>
      <p:sp>
        <p:nvSpPr>
          <p:cNvPr id="562" name="Google Shape;562;p16"/>
          <p:cNvSpPr/>
          <p:nvPr/>
        </p:nvSpPr>
        <p:spPr>
          <a:xfrm>
            <a:off x="5960795" y="4012763"/>
            <a:ext cx="389909" cy="38990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63" name="Google Shape;563;p16"/>
          <p:cNvCxnSpPr/>
          <p:nvPr/>
        </p:nvCxnSpPr>
        <p:spPr>
          <a:xfrm>
            <a:off x="5966239" y="4412736"/>
            <a:ext cx="384914" cy="0"/>
          </a:xfrm>
          <a:prstGeom prst="straightConnector1">
            <a:avLst/>
          </a:prstGeom>
          <a:noFill/>
          <a:ln cap="flat" cmpd="sng" w="38100">
            <a:solidFill>
              <a:schemeClr val="dk1"/>
            </a:solidFill>
            <a:prstDash val="solid"/>
            <a:round/>
            <a:headEnd len="sm" w="sm" type="none"/>
            <a:tailEnd len="sm" w="sm" type="none"/>
          </a:ln>
        </p:spPr>
      </p:cxnSp>
      <p:cxnSp>
        <p:nvCxnSpPr>
          <p:cNvPr id="564" name="Google Shape;564;p16"/>
          <p:cNvCxnSpPr/>
          <p:nvPr/>
        </p:nvCxnSpPr>
        <p:spPr>
          <a:xfrm>
            <a:off x="5587365" y="4663210"/>
            <a:ext cx="1173991" cy="0"/>
          </a:xfrm>
          <a:prstGeom prst="straightConnector1">
            <a:avLst/>
          </a:prstGeom>
          <a:noFill/>
          <a:ln cap="flat" cmpd="sng" w="28575">
            <a:solidFill>
              <a:schemeClr val="dk1"/>
            </a:solidFill>
            <a:prstDash val="solid"/>
            <a:round/>
            <a:headEnd len="sm" w="sm" type="none"/>
            <a:tailEnd len="sm" w="sm" type="none"/>
          </a:ln>
        </p:spPr>
      </p:cxnSp>
      <p:pic>
        <p:nvPicPr>
          <p:cNvPr id="565" name="Google Shape;565;p16"/>
          <p:cNvPicPr preferRelativeResize="0"/>
          <p:nvPr/>
        </p:nvPicPr>
        <p:blipFill rotWithShape="1">
          <a:blip r:embed="rId3">
            <a:alphaModFix/>
          </a:blip>
          <a:srcRect b="40204" l="8629" r="80063" t="49555"/>
          <a:stretch/>
        </p:blipFill>
        <p:spPr>
          <a:xfrm>
            <a:off x="5436254" y="4722105"/>
            <a:ext cx="132571" cy="114557"/>
          </a:xfrm>
          <a:prstGeom prst="rect">
            <a:avLst/>
          </a:prstGeom>
          <a:noFill/>
          <a:ln>
            <a:noFill/>
          </a:ln>
        </p:spPr>
      </p:pic>
      <p:cxnSp>
        <p:nvCxnSpPr>
          <p:cNvPr id="566" name="Google Shape;566;p16"/>
          <p:cNvCxnSpPr/>
          <p:nvPr/>
        </p:nvCxnSpPr>
        <p:spPr>
          <a:xfrm>
            <a:off x="5587365" y="4863430"/>
            <a:ext cx="1181425" cy="0"/>
          </a:xfrm>
          <a:prstGeom prst="straightConnector1">
            <a:avLst/>
          </a:prstGeom>
          <a:noFill/>
          <a:ln cap="flat" cmpd="sng" w="28575">
            <a:solidFill>
              <a:schemeClr val="dk1"/>
            </a:solidFill>
            <a:prstDash val="solid"/>
            <a:round/>
            <a:headEnd len="sm" w="sm" type="none"/>
            <a:tailEnd len="sm" w="sm" type="none"/>
          </a:ln>
        </p:spPr>
      </p:cxnSp>
      <p:sp>
        <p:nvSpPr>
          <p:cNvPr id="567" name="Google Shape;567;p16"/>
          <p:cNvSpPr txBox="1"/>
          <p:nvPr/>
        </p:nvSpPr>
        <p:spPr>
          <a:xfrm>
            <a:off x="7001275" y="4437233"/>
            <a:ext cx="134578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Vendedor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fechaIngreso: Date</a:t>
            </a:r>
            <a:endParaRPr b="0" i="0" sz="1200" u="none" cap="none" strike="noStrike">
              <a:solidFill>
                <a:schemeClr val="dk1"/>
              </a:solidFill>
              <a:latin typeface="Arial"/>
              <a:ea typeface="Arial"/>
              <a:cs typeface="Arial"/>
              <a:sym typeface="Arial"/>
            </a:endParaRPr>
          </a:p>
        </p:txBody>
      </p:sp>
      <p:sp>
        <p:nvSpPr>
          <p:cNvPr id="568" name="Google Shape;568;p16"/>
          <p:cNvSpPr/>
          <p:nvPr/>
        </p:nvSpPr>
        <p:spPr>
          <a:xfrm>
            <a:off x="7498022" y="4012763"/>
            <a:ext cx="389909" cy="38990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69" name="Google Shape;569;p16"/>
          <p:cNvCxnSpPr/>
          <p:nvPr/>
        </p:nvCxnSpPr>
        <p:spPr>
          <a:xfrm>
            <a:off x="7050251" y="4663210"/>
            <a:ext cx="1247830" cy="4856"/>
          </a:xfrm>
          <a:prstGeom prst="straightConnector1">
            <a:avLst/>
          </a:prstGeom>
          <a:noFill/>
          <a:ln cap="flat" cmpd="sng" w="28575">
            <a:solidFill>
              <a:schemeClr val="dk1"/>
            </a:solidFill>
            <a:prstDash val="solid"/>
            <a:round/>
            <a:headEnd len="sm" w="sm" type="none"/>
            <a:tailEnd len="sm" w="sm" type="none"/>
          </a:ln>
        </p:spPr>
      </p:cxnSp>
      <p:pic>
        <p:nvPicPr>
          <p:cNvPr id="570" name="Google Shape;570;p16"/>
          <p:cNvPicPr preferRelativeResize="0"/>
          <p:nvPr/>
        </p:nvPicPr>
        <p:blipFill rotWithShape="1">
          <a:blip r:embed="rId3">
            <a:alphaModFix/>
          </a:blip>
          <a:srcRect b="40204" l="8629" r="80063" t="49555"/>
          <a:stretch/>
        </p:blipFill>
        <p:spPr>
          <a:xfrm>
            <a:off x="6914693" y="4722105"/>
            <a:ext cx="132571" cy="114557"/>
          </a:xfrm>
          <a:prstGeom prst="rect">
            <a:avLst/>
          </a:prstGeom>
          <a:noFill/>
          <a:ln>
            <a:noFill/>
          </a:ln>
        </p:spPr>
      </p:pic>
      <p:cxnSp>
        <p:nvCxnSpPr>
          <p:cNvPr id="571" name="Google Shape;571;p16"/>
          <p:cNvCxnSpPr/>
          <p:nvPr/>
        </p:nvCxnSpPr>
        <p:spPr>
          <a:xfrm>
            <a:off x="7050251" y="4863430"/>
            <a:ext cx="1247830" cy="4856"/>
          </a:xfrm>
          <a:prstGeom prst="straightConnector1">
            <a:avLst/>
          </a:prstGeom>
          <a:noFill/>
          <a:ln cap="flat" cmpd="sng" w="28575">
            <a:solidFill>
              <a:schemeClr val="dk1"/>
            </a:solidFill>
            <a:prstDash val="solid"/>
            <a:round/>
            <a:headEnd len="sm" w="sm" type="none"/>
            <a:tailEnd len="sm" w="sm" type="none"/>
          </a:ln>
        </p:spPr>
      </p:cxnSp>
      <p:cxnSp>
        <p:nvCxnSpPr>
          <p:cNvPr id="572" name="Google Shape;572;p16"/>
          <p:cNvCxnSpPr/>
          <p:nvPr/>
        </p:nvCxnSpPr>
        <p:spPr>
          <a:xfrm rot="10800000">
            <a:off x="6916256" y="2774361"/>
            <a:ext cx="0" cy="1124364"/>
          </a:xfrm>
          <a:prstGeom prst="straightConnector1">
            <a:avLst/>
          </a:prstGeom>
          <a:noFill/>
          <a:ln cap="flat" cmpd="sng" w="38100">
            <a:solidFill>
              <a:srgbClr val="2EB1B5"/>
            </a:solidFill>
            <a:prstDash val="solid"/>
            <a:round/>
            <a:headEnd len="sm" w="sm" type="none"/>
            <a:tailEnd len="med" w="med" type="triangle"/>
          </a:ln>
        </p:spPr>
      </p:cxnSp>
      <p:cxnSp>
        <p:nvCxnSpPr>
          <p:cNvPr id="573" name="Google Shape;573;p16"/>
          <p:cNvCxnSpPr/>
          <p:nvPr/>
        </p:nvCxnSpPr>
        <p:spPr>
          <a:xfrm>
            <a:off x="7498101" y="4412736"/>
            <a:ext cx="384914" cy="0"/>
          </a:xfrm>
          <a:prstGeom prst="straightConnector1">
            <a:avLst/>
          </a:prstGeom>
          <a:noFill/>
          <a:ln cap="flat" cmpd="sng" w="38100">
            <a:solidFill>
              <a:schemeClr val="dk1"/>
            </a:solidFill>
            <a:prstDash val="solid"/>
            <a:round/>
            <a:headEnd len="sm" w="sm" type="none"/>
            <a:tailEnd len="sm" w="sm" type="none"/>
          </a:ln>
        </p:spPr>
      </p:cxnSp>
      <p:cxnSp>
        <p:nvCxnSpPr>
          <p:cNvPr id="574" name="Google Shape;574;p16"/>
          <p:cNvCxnSpPr/>
          <p:nvPr/>
        </p:nvCxnSpPr>
        <p:spPr>
          <a:xfrm>
            <a:off x="6723799" y="2741757"/>
            <a:ext cx="384914" cy="0"/>
          </a:xfrm>
          <a:prstGeom prst="straightConnector1">
            <a:avLst/>
          </a:prstGeom>
          <a:noFill/>
          <a:ln cap="flat" cmpd="sng" w="38100">
            <a:solidFill>
              <a:schemeClr val="dk1"/>
            </a:solidFill>
            <a:prstDash val="solid"/>
            <a:round/>
            <a:headEnd len="sm" w="sm" type="none"/>
            <a:tailEnd len="sm" w="sm" type="none"/>
          </a:ln>
        </p:spPr>
      </p:cxnSp>
      <p:sp>
        <p:nvSpPr>
          <p:cNvPr id="575" name="Google Shape;575;p16"/>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7"/>
          <p:cNvSpPr/>
          <p:nvPr/>
        </p:nvSpPr>
        <p:spPr>
          <a:xfrm>
            <a:off x="468313" y="2101850"/>
            <a:ext cx="8243887" cy="309562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p17"/>
          <p:cNvSpPr/>
          <p:nvPr/>
        </p:nvSpPr>
        <p:spPr>
          <a:xfrm>
            <a:off x="478947" y="923446"/>
            <a:ext cx="8207374"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ASOCIACIONES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Especialización</a:t>
            </a:r>
            <a:endParaRPr b="0" i="0" sz="1400" u="none" cap="none" strike="noStrike">
              <a:solidFill>
                <a:srgbClr val="000000"/>
              </a:solidFill>
              <a:latin typeface="Arial"/>
              <a:ea typeface="Arial"/>
              <a:cs typeface="Arial"/>
              <a:sym typeface="Arial"/>
            </a:endParaRPr>
          </a:p>
          <a:p>
            <a:pPr indent="-215900" lvl="0" marL="21590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 </a:t>
            </a:r>
            <a:r>
              <a:rPr b="1" i="0" lang="es-PE" sz="1600" u="none" cap="none" strike="noStrike">
                <a:solidFill>
                  <a:schemeClr val="dk1"/>
                </a:solidFill>
                <a:latin typeface="Calibri"/>
                <a:ea typeface="Calibri"/>
                <a:cs typeface="Calibri"/>
                <a:sym typeface="Calibri"/>
              </a:rPr>
              <a:t>especialización</a:t>
            </a:r>
            <a:r>
              <a:rPr b="0" i="0" lang="es-PE" sz="1600" u="none" cap="none" strike="noStrike">
                <a:solidFill>
                  <a:schemeClr val="dk1"/>
                </a:solidFill>
                <a:latin typeface="Calibri"/>
                <a:ea typeface="Calibri"/>
                <a:cs typeface="Calibri"/>
                <a:sym typeface="Calibri"/>
              </a:rPr>
              <a:t> es el resultado de tomar un subconjunto de entidades de alto nivel para formar un conjunto de entidades de más bajo nivel.</a:t>
            </a:r>
            <a:endParaRPr b="0" i="0" sz="1400" u="none" cap="none" strike="noStrike">
              <a:solidFill>
                <a:srgbClr val="000000"/>
              </a:solidFill>
              <a:latin typeface="Arial"/>
              <a:ea typeface="Arial"/>
              <a:cs typeface="Arial"/>
              <a:sym typeface="Arial"/>
            </a:endParaRPr>
          </a:p>
        </p:txBody>
      </p:sp>
      <p:grpSp>
        <p:nvGrpSpPr>
          <p:cNvPr id="582" name="Google Shape;582;p17"/>
          <p:cNvGrpSpPr/>
          <p:nvPr/>
        </p:nvGrpSpPr>
        <p:grpSpPr>
          <a:xfrm>
            <a:off x="1221225" y="2988820"/>
            <a:ext cx="1679447" cy="1565415"/>
            <a:chOff x="1256191" y="2308541"/>
            <a:chExt cx="1524410" cy="1420905"/>
          </a:xfrm>
        </p:grpSpPr>
        <p:sp>
          <p:nvSpPr>
            <p:cNvPr id="583" name="Google Shape;583;p17"/>
            <p:cNvSpPr txBox="1"/>
            <p:nvPr/>
          </p:nvSpPr>
          <p:spPr>
            <a:xfrm>
              <a:off x="1341292" y="2898449"/>
              <a:ext cx="1439309"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Habitación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nroHab: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description: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tipo: String</a:t>
              </a:r>
              <a:endParaRPr b="0" i="0" sz="1400" u="none" cap="none" strike="noStrike">
                <a:solidFill>
                  <a:srgbClr val="000000"/>
                </a:solidFill>
                <a:latin typeface="Arial"/>
                <a:ea typeface="Arial"/>
                <a:cs typeface="Arial"/>
                <a:sym typeface="Arial"/>
              </a:endParaRPr>
            </a:p>
          </p:txBody>
        </p:sp>
        <p:sp>
          <p:nvSpPr>
            <p:cNvPr id="584" name="Google Shape;584;p17"/>
            <p:cNvSpPr/>
            <p:nvPr/>
          </p:nvSpPr>
          <p:spPr>
            <a:xfrm>
              <a:off x="1724144" y="2308541"/>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85" name="Google Shape;585;p17"/>
            <p:cNvCxnSpPr/>
            <p:nvPr/>
          </p:nvCxnSpPr>
          <p:spPr>
            <a:xfrm>
              <a:off x="1738171" y="2873952"/>
              <a:ext cx="527295" cy="0"/>
            </a:xfrm>
            <a:prstGeom prst="straightConnector1">
              <a:avLst/>
            </a:prstGeom>
            <a:noFill/>
            <a:ln cap="flat" cmpd="sng" w="38100">
              <a:solidFill>
                <a:schemeClr val="dk1"/>
              </a:solidFill>
              <a:prstDash val="solid"/>
              <a:round/>
              <a:headEnd len="sm" w="sm" type="none"/>
              <a:tailEnd len="sm" w="sm" type="none"/>
            </a:ln>
          </p:spPr>
        </p:cxnSp>
        <p:cxnSp>
          <p:nvCxnSpPr>
            <p:cNvPr id="586" name="Google Shape;586;p17"/>
            <p:cNvCxnSpPr/>
            <p:nvPr/>
          </p:nvCxnSpPr>
          <p:spPr>
            <a:xfrm>
              <a:off x="1321499" y="3105046"/>
              <a:ext cx="1459102" cy="0"/>
            </a:xfrm>
            <a:prstGeom prst="straightConnector1">
              <a:avLst/>
            </a:prstGeom>
            <a:noFill/>
            <a:ln cap="flat" cmpd="sng" w="28575">
              <a:solidFill>
                <a:schemeClr val="dk1"/>
              </a:solidFill>
              <a:prstDash val="solid"/>
              <a:round/>
              <a:headEnd len="sm" w="sm" type="none"/>
              <a:tailEnd len="sm" w="sm" type="none"/>
            </a:ln>
          </p:spPr>
        </p:cxnSp>
        <p:pic>
          <p:nvPicPr>
            <p:cNvPr id="587" name="Google Shape;587;p17"/>
            <p:cNvPicPr preferRelativeResize="0"/>
            <p:nvPr/>
          </p:nvPicPr>
          <p:blipFill rotWithShape="1">
            <a:blip r:embed="rId3">
              <a:alphaModFix/>
            </a:blip>
            <a:srcRect b="40204" l="8629" r="80063" t="49555"/>
            <a:stretch/>
          </p:blipFill>
          <p:spPr>
            <a:xfrm>
              <a:off x="1256191" y="3164019"/>
              <a:ext cx="132571" cy="114557"/>
            </a:xfrm>
            <a:prstGeom prst="rect">
              <a:avLst/>
            </a:prstGeom>
            <a:noFill/>
            <a:ln>
              <a:noFill/>
            </a:ln>
          </p:spPr>
        </p:pic>
        <p:pic>
          <p:nvPicPr>
            <p:cNvPr id="588" name="Google Shape;588;p17"/>
            <p:cNvPicPr preferRelativeResize="0"/>
            <p:nvPr/>
          </p:nvPicPr>
          <p:blipFill rotWithShape="1">
            <a:blip r:embed="rId3">
              <a:alphaModFix/>
            </a:blip>
            <a:srcRect b="40204" l="8629" r="80063" t="49555"/>
            <a:stretch/>
          </p:blipFill>
          <p:spPr>
            <a:xfrm>
              <a:off x="1256191" y="3319804"/>
              <a:ext cx="132571" cy="114557"/>
            </a:xfrm>
            <a:prstGeom prst="rect">
              <a:avLst/>
            </a:prstGeom>
            <a:noFill/>
            <a:ln>
              <a:noFill/>
            </a:ln>
          </p:spPr>
        </p:pic>
        <p:pic>
          <p:nvPicPr>
            <p:cNvPr id="589" name="Google Shape;589;p17"/>
            <p:cNvPicPr preferRelativeResize="0"/>
            <p:nvPr/>
          </p:nvPicPr>
          <p:blipFill rotWithShape="1">
            <a:blip r:embed="rId3">
              <a:alphaModFix/>
            </a:blip>
            <a:srcRect b="40204" l="8629" r="80063" t="49555"/>
            <a:stretch/>
          </p:blipFill>
          <p:spPr>
            <a:xfrm>
              <a:off x="1256191" y="3483441"/>
              <a:ext cx="132571" cy="114557"/>
            </a:xfrm>
            <a:prstGeom prst="rect">
              <a:avLst/>
            </a:prstGeom>
            <a:noFill/>
            <a:ln>
              <a:noFill/>
            </a:ln>
          </p:spPr>
        </p:pic>
        <p:cxnSp>
          <p:nvCxnSpPr>
            <p:cNvPr id="590" name="Google Shape;590;p17"/>
            <p:cNvCxnSpPr/>
            <p:nvPr/>
          </p:nvCxnSpPr>
          <p:spPr>
            <a:xfrm>
              <a:off x="1321499" y="3651840"/>
              <a:ext cx="1459102" cy="0"/>
            </a:xfrm>
            <a:prstGeom prst="straightConnector1">
              <a:avLst/>
            </a:prstGeom>
            <a:noFill/>
            <a:ln cap="flat" cmpd="sng" w="28575">
              <a:solidFill>
                <a:schemeClr val="dk1"/>
              </a:solidFill>
              <a:prstDash val="solid"/>
              <a:round/>
              <a:headEnd len="sm" w="sm" type="none"/>
              <a:tailEnd len="sm" w="sm" type="none"/>
            </a:ln>
          </p:spPr>
        </p:cxnSp>
      </p:grpSp>
      <p:sp>
        <p:nvSpPr>
          <p:cNvPr id="591" name="Google Shape;591;p17"/>
          <p:cNvSpPr/>
          <p:nvPr/>
        </p:nvSpPr>
        <p:spPr>
          <a:xfrm>
            <a:off x="3137707" y="3446440"/>
            <a:ext cx="1559856" cy="513791"/>
          </a:xfrm>
          <a:prstGeom prst="homePlate">
            <a:avLst>
              <a:gd fmla="val 58257" name="adj"/>
            </a:avLst>
          </a:prstGeom>
          <a:solidFill>
            <a:srgbClr val="00B14F"/>
          </a:solidFill>
          <a:ln>
            <a:noFill/>
          </a:ln>
        </p:spPr>
        <p:txBody>
          <a:bodyPr anchorCtr="0" anchor="ctr" bIns="52125" lIns="104275" spcFirstLastPara="1" rIns="104275" wrap="square" tIns="52125">
            <a:noAutofit/>
          </a:bodyPr>
          <a:lstStyle/>
          <a:p>
            <a:pPr indent="0" lvl="0" marL="0" marR="0" rtl="0" algn="l">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ESPECIALIZACIÓN</a:t>
            </a:r>
            <a:endParaRPr b="0" i="0" sz="1400" u="none" cap="none" strike="noStrike">
              <a:solidFill>
                <a:srgbClr val="000000"/>
              </a:solidFill>
              <a:latin typeface="Arial"/>
              <a:ea typeface="Arial"/>
              <a:cs typeface="Arial"/>
              <a:sym typeface="Arial"/>
            </a:endParaRPr>
          </a:p>
        </p:txBody>
      </p:sp>
      <p:grpSp>
        <p:nvGrpSpPr>
          <p:cNvPr id="592" name="Google Shape;592;p17"/>
          <p:cNvGrpSpPr/>
          <p:nvPr/>
        </p:nvGrpSpPr>
        <p:grpSpPr>
          <a:xfrm>
            <a:off x="4673964" y="2401951"/>
            <a:ext cx="3257876" cy="2795524"/>
            <a:chOff x="5468420" y="2437465"/>
            <a:chExt cx="2957126" cy="2537457"/>
          </a:xfrm>
        </p:grpSpPr>
        <p:cxnSp>
          <p:nvCxnSpPr>
            <p:cNvPr id="593" name="Google Shape;593;p17"/>
            <p:cNvCxnSpPr/>
            <p:nvPr/>
          </p:nvCxnSpPr>
          <p:spPr>
            <a:xfrm>
              <a:off x="6101184" y="3793800"/>
              <a:ext cx="1540936" cy="0"/>
            </a:xfrm>
            <a:prstGeom prst="straightConnector1">
              <a:avLst/>
            </a:prstGeom>
            <a:noFill/>
            <a:ln cap="flat" cmpd="sng" w="28575">
              <a:solidFill>
                <a:srgbClr val="2EB1B5"/>
              </a:solidFill>
              <a:prstDash val="solid"/>
              <a:round/>
              <a:headEnd len="sm" w="sm" type="none"/>
              <a:tailEnd len="sm" w="sm" type="none"/>
            </a:ln>
          </p:spPr>
        </p:cxnSp>
        <p:cxnSp>
          <p:nvCxnSpPr>
            <p:cNvPr id="594" name="Google Shape;594;p17"/>
            <p:cNvCxnSpPr/>
            <p:nvPr/>
          </p:nvCxnSpPr>
          <p:spPr>
            <a:xfrm rot="10800000">
              <a:off x="6110761" y="3780664"/>
              <a:ext cx="0" cy="316246"/>
            </a:xfrm>
            <a:prstGeom prst="straightConnector1">
              <a:avLst/>
            </a:prstGeom>
            <a:noFill/>
            <a:ln cap="flat" cmpd="sng" w="28575">
              <a:solidFill>
                <a:srgbClr val="2EB1B5"/>
              </a:solidFill>
              <a:prstDash val="solid"/>
              <a:round/>
              <a:headEnd len="sm" w="sm" type="none"/>
              <a:tailEnd len="sm" w="sm" type="none"/>
            </a:ln>
          </p:spPr>
        </p:cxnSp>
        <p:cxnSp>
          <p:nvCxnSpPr>
            <p:cNvPr id="595" name="Google Shape;595;p17"/>
            <p:cNvCxnSpPr/>
            <p:nvPr/>
          </p:nvCxnSpPr>
          <p:spPr>
            <a:xfrm rot="10800000">
              <a:off x="7638562" y="3783126"/>
              <a:ext cx="0" cy="316246"/>
            </a:xfrm>
            <a:prstGeom prst="straightConnector1">
              <a:avLst/>
            </a:prstGeom>
            <a:noFill/>
            <a:ln cap="flat" cmpd="sng" w="28575">
              <a:solidFill>
                <a:srgbClr val="2EB1B5"/>
              </a:solidFill>
              <a:prstDash val="solid"/>
              <a:round/>
              <a:headEnd len="sm" w="sm" type="none"/>
              <a:tailEnd len="sm" w="sm" type="none"/>
            </a:ln>
          </p:spPr>
        </p:cxnSp>
        <p:sp>
          <p:nvSpPr>
            <p:cNvPr id="596" name="Google Shape;596;p17"/>
            <p:cNvSpPr txBox="1"/>
            <p:nvPr/>
          </p:nvSpPr>
          <p:spPr>
            <a:xfrm>
              <a:off x="6151998" y="2861935"/>
              <a:ext cx="143930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Habitación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nroHab: Integer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description: String</a:t>
              </a:r>
              <a:endParaRPr b="0" i="0" sz="1400" u="none" cap="none" strike="noStrike">
                <a:solidFill>
                  <a:srgbClr val="000000"/>
                </a:solidFill>
                <a:latin typeface="Arial"/>
                <a:ea typeface="Arial"/>
                <a:cs typeface="Arial"/>
                <a:sym typeface="Arial"/>
              </a:endParaRPr>
            </a:p>
          </p:txBody>
        </p:sp>
        <p:sp>
          <p:nvSpPr>
            <p:cNvPr id="597" name="Google Shape;597;p17"/>
            <p:cNvSpPr/>
            <p:nvPr/>
          </p:nvSpPr>
          <p:spPr>
            <a:xfrm>
              <a:off x="6676698" y="2437465"/>
              <a:ext cx="389909" cy="38990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598" name="Google Shape;598;p17"/>
            <p:cNvCxnSpPr/>
            <p:nvPr/>
          </p:nvCxnSpPr>
          <p:spPr>
            <a:xfrm>
              <a:off x="6133838" y="3087912"/>
              <a:ext cx="1459102" cy="0"/>
            </a:xfrm>
            <a:prstGeom prst="straightConnector1">
              <a:avLst/>
            </a:prstGeom>
            <a:noFill/>
            <a:ln cap="flat" cmpd="sng" w="28575">
              <a:solidFill>
                <a:schemeClr val="dk1"/>
              </a:solidFill>
              <a:prstDash val="solid"/>
              <a:round/>
              <a:headEnd len="sm" w="sm" type="none"/>
              <a:tailEnd len="sm" w="sm" type="none"/>
            </a:ln>
          </p:spPr>
        </p:cxnSp>
        <p:pic>
          <p:nvPicPr>
            <p:cNvPr id="599" name="Google Shape;599;p17"/>
            <p:cNvPicPr preferRelativeResize="0"/>
            <p:nvPr/>
          </p:nvPicPr>
          <p:blipFill rotWithShape="1">
            <a:blip r:embed="rId3">
              <a:alphaModFix/>
            </a:blip>
            <a:srcRect b="40204" l="8629" r="80063" t="49555"/>
            <a:stretch/>
          </p:blipFill>
          <p:spPr>
            <a:xfrm>
              <a:off x="6058140" y="3146807"/>
              <a:ext cx="132571" cy="114557"/>
            </a:xfrm>
            <a:prstGeom prst="rect">
              <a:avLst/>
            </a:prstGeom>
            <a:noFill/>
            <a:ln>
              <a:noFill/>
            </a:ln>
          </p:spPr>
        </p:pic>
        <p:pic>
          <p:nvPicPr>
            <p:cNvPr id="600" name="Google Shape;600;p17"/>
            <p:cNvPicPr preferRelativeResize="0"/>
            <p:nvPr/>
          </p:nvPicPr>
          <p:blipFill rotWithShape="1">
            <a:blip r:embed="rId3">
              <a:alphaModFix/>
            </a:blip>
            <a:srcRect b="40204" l="8629" r="80063" t="49555"/>
            <a:stretch/>
          </p:blipFill>
          <p:spPr>
            <a:xfrm>
              <a:off x="6058140" y="3325754"/>
              <a:ext cx="132571" cy="114557"/>
            </a:xfrm>
            <a:prstGeom prst="rect">
              <a:avLst/>
            </a:prstGeom>
            <a:noFill/>
            <a:ln>
              <a:noFill/>
            </a:ln>
          </p:spPr>
        </p:pic>
        <p:sp>
          <p:nvSpPr>
            <p:cNvPr id="601" name="Google Shape;601;p17"/>
            <p:cNvSpPr txBox="1"/>
            <p:nvPr/>
          </p:nvSpPr>
          <p:spPr>
            <a:xfrm>
              <a:off x="5614505" y="4328591"/>
              <a:ext cx="10088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Simple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Piso: Integer</a:t>
              </a:r>
              <a:endParaRPr b="0" i="0" sz="1200" u="none" cap="none" strike="noStrike">
                <a:solidFill>
                  <a:schemeClr val="dk1"/>
                </a:solidFill>
                <a:latin typeface="Arial"/>
                <a:ea typeface="Arial"/>
                <a:cs typeface="Arial"/>
                <a:sym typeface="Arial"/>
              </a:endParaRPr>
            </a:p>
          </p:txBody>
        </p:sp>
        <p:sp>
          <p:nvSpPr>
            <p:cNvPr id="602" name="Google Shape;602;p17"/>
            <p:cNvSpPr/>
            <p:nvPr/>
          </p:nvSpPr>
          <p:spPr>
            <a:xfrm>
              <a:off x="5916191" y="3904121"/>
              <a:ext cx="389909" cy="38990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603" name="Google Shape;603;p17"/>
            <p:cNvCxnSpPr/>
            <p:nvPr/>
          </p:nvCxnSpPr>
          <p:spPr>
            <a:xfrm>
              <a:off x="5921635" y="4304094"/>
              <a:ext cx="384914" cy="0"/>
            </a:xfrm>
            <a:prstGeom prst="straightConnector1">
              <a:avLst/>
            </a:prstGeom>
            <a:noFill/>
            <a:ln cap="flat" cmpd="sng" w="38100">
              <a:solidFill>
                <a:schemeClr val="dk1"/>
              </a:solidFill>
              <a:prstDash val="solid"/>
              <a:round/>
              <a:headEnd len="sm" w="sm" type="none"/>
              <a:tailEnd len="sm" w="sm" type="none"/>
            </a:ln>
          </p:spPr>
        </p:cxnSp>
        <p:cxnSp>
          <p:nvCxnSpPr>
            <p:cNvPr id="604" name="Google Shape;604;p17"/>
            <p:cNvCxnSpPr/>
            <p:nvPr/>
          </p:nvCxnSpPr>
          <p:spPr>
            <a:xfrm>
              <a:off x="5468420" y="4535265"/>
              <a:ext cx="1247830" cy="4856"/>
            </a:xfrm>
            <a:prstGeom prst="straightConnector1">
              <a:avLst/>
            </a:prstGeom>
            <a:noFill/>
            <a:ln cap="flat" cmpd="sng" w="28575">
              <a:solidFill>
                <a:schemeClr val="dk1"/>
              </a:solidFill>
              <a:prstDash val="solid"/>
              <a:round/>
              <a:headEnd len="sm" w="sm" type="none"/>
              <a:tailEnd len="sm" w="sm" type="none"/>
            </a:ln>
          </p:spPr>
        </p:cxnSp>
        <p:pic>
          <p:nvPicPr>
            <p:cNvPr id="605" name="Google Shape;605;p17"/>
            <p:cNvPicPr preferRelativeResize="0"/>
            <p:nvPr/>
          </p:nvPicPr>
          <p:blipFill rotWithShape="1">
            <a:blip r:embed="rId3">
              <a:alphaModFix/>
            </a:blip>
            <a:srcRect b="40204" l="8629" r="80063" t="49555"/>
            <a:stretch/>
          </p:blipFill>
          <p:spPr>
            <a:xfrm>
              <a:off x="5498655" y="4590590"/>
              <a:ext cx="132571" cy="114557"/>
            </a:xfrm>
            <a:prstGeom prst="rect">
              <a:avLst/>
            </a:prstGeom>
            <a:noFill/>
            <a:ln>
              <a:noFill/>
            </a:ln>
          </p:spPr>
        </p:pic>
        <p:sp>
          <p:nvSpPr>
            <p:cNvPr id="606" name="Google Shape;606;p17"/>
            <p:cNvSpPr txBox="1"/>
            <p:nvPr/>
          </p:nvSpPr>
          <p:spPr>
            <a:xfrm>
              <a:off x="6869588" y="4328591"/>
              <a:ext cx="1555958"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Suite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Categoria: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PE" sz="1200" u="none" cap="none" strike="noStrike">
                  <a:solidFill>
                    <a:schemeClr val="dk1"/>
                  </a:solidFill>
                  <a:latin typeface="Calibri"/>
                  <a:ea typeface="Calibri"/>
                  <a:cs typeface="Calibri"/>
                  <a:sym typeface="Calibri"/>
                </a:rPr>
                <a:t>numPersonas: Integer</a:t>
              </a:r>
              <a:endParaRPr b="0" i="0" sz="1200" u="none" cap="none" strike="noStrike">
                <a:solidFill>
                  <a:schemeClr val="dk1"/>
                </a:solidFill>
                <a:latin typeface="Arial"/>
                <a:ea typeface="Arial"/>
                <a:cs typeface="Arial"/>
                <a:sym typeface="Arial"/>
              </a:endParaRPr>
            </a:p>
          </p:txBody>
        </p:sp>
        <p:sp>
          <p:nvSpPr>
            <p:cNvPr id="607" name="Google Shape;607;p17"/>
            <p:cNvSpPr/>
            <p:nvPr/>
          </p:nvSpPr>
          <p:spPr>
            <a:xfrm>
              <a:off x="7453418" y="3904121"/>
              <a:ext cx="389909" cy="389905"/>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cxnSp>
          <p:nvCxnSpPr>
            <p:cNvPr id="608" name="Google Shape;608;p17"/>
            <p:cNvCxnSpPr/>
            <p:nvPr/>
          </p:nvCxnSpPr>
          <p:spPr>
            <a:xfrm>
              <a:off x="6918564" y="4535265"/>
              <a:ext cx="1247830" cy="4856"/>
            </a:xfrm>
            <a:prstGeom prst="straightConnector1">
              <a:avLst/>
            </a:prstGeom>
            <a:noFill/>
            <a:ln cap="flat" cmpd="sng" w="28575">
              <a:solidFill>
                <a:schemeClr val="dk1"/>
              </a:solidFill>
              <a:prstDash val="solid"/>
              <a:round/>
              <a:headEnd len="sm" w="sm" type="none"/>
              <a:tailEnd len="sm" w="sm" type="none"/>
            </a:ln>
          </p:spPr>
        </p:cxnSp>
        <p:pic>
          <p:nvPicPr>
            <p:cNvPr id="609" name="Google Shape;609;p17"/>
            <p:cNvPicPr preferRelativeResize="0"/>
            <p:nvPr/>
          </p:nvPicPr>
          <p:blipFill rotWithShape="1">
            <a:blip r:embed="rId3">
              <a:alphaModFix/>
            </a:blip>
            <a:srcRect b="40204" l="8629" r="80063" t="49555"/>
            <a:stretch/>
          </p:blipFill>
          <p:spPr>
            <a:xfrm>
              <a:off x="6785100" y="4590590"/>
              <a:ext cx="132571" cy="114557"/>
            </a:xfrm>
            <a:prstGeom prst="rect">
              <a:avLst/>
            </a:prstGeom>
            <a:noFill/>
            <a:ln>
              <a:noFill/>
            </a:ln>
          </p:spPr>
        </p:pic>
        <p:cxnSp>
          <p:nvCxnSpPr>
            <p:cNvPr id="610" name="Google Shape;610;p17"/>
            <p:cNvCxnSpPr/>
            <p:nvPr/>
          </p:nvCxnSpPr>
          <p:spPr>
            <a:xfrm rot="10800000">
              <a:off x="6871652" y="2874722"/>
              <a:ext cx="0" cy="919078"/>
            </a:xfrm>
            <a:prstGeom prst="straightConnector1">
              <a:avLst/>
            </a:prstGeom>
            <a:noFill/>
            <a:ln cap="flat" cmpd="sng" w="38100">
              <a:solidFill>
                <a:srgbClr val="2EB1B5"/>
              </a:solidFill>
              <a:prstDash val="solid"/>
              <a:round/>
              <a:headEnd len="sm" w="sm" type="none"/>
              <a:tailEnd len="med" w="med" type="triangle"/>
            </a:ln>
          </p:spPr>
        </p:cxnSp>
        <p:cxnSp>
          <p:nvCxnSpPr>
            <p:cNvPr id="611" name="Google Shape;611;p17"/>
            <p:cNvCxnSpPr/>
            <p:nvPr/>
          </p:nvCxnSpPr>
          <p:spPr>
            <a:xfrm>
              <a:off x="7453497" y="4304094"/>
              <a:ext cx="384914" cy="0"/>
            </a:xfrm>
            <a:prstGeom prst="straightConnector1">
              <a:avLst/>
            </a:prstGeom>
            <a:noFill/>
            <a:ln cap="flat" cmpd="sng" w="38100">
              <a:solidFill>
                <a:schemeClr val="dk1"/>
              </a:solidFill>
              <a:prstDash val="solid"/>
              <a:round/>
              <a:headEnd len="sm" w="sm" type="none"/>
              <a:tailEnd len="sm" w="sm" type="none"/>
            </a:ln>
          </p:spPr>
        </p:cxnSp>
        <p:cxnSp>
          <p:nvCxnSpPr>
            <p:cNvPr id="612" name="Google Shape;612;p17"/>
            <p:cNvCxnSpPr/>
            <p:nvPr/>
          </p:nvCxnSpPr>
          <p:spPr>
            <a:xfrm>
              <a:off x="6679195" y="2842118"/>
              <a:ext cx="384914" cy="0"/>
            </a:xfrm>
            <a:prstGeom prst="straightConnector1">
              <a:avLst/>
            </a:prstGeom>
            <a:noFill/>
            <a:ln cap="flat" cmpd="sng" w="38100">
              <a:solidFill>
                <a:schemeClr val="dk1"/>
              </a:solidFill>
              <a:prstDash val="solid"/>
              <a:round/>
              <a:headEnd len="sm" w="sm" type="none"/>
              <a:tailEnd len="sm" w="sm" type="none"/>
            </a:ln>
          </p:spPr>
        </p:cxnSp>
        <p:pic>
          <p:nvPicPr>
            <p:cNvPr id="613" name="Google Shape;613;p17"/>
            <p:cNvPicPr preferRelativeResize="0"/>
            <p:nvPr/>
          </p:nvPicPr>
          <p:blipFill rotWithShape="1">
            <a:blip r:embed="rId3">
              <a:alphaModFix/>
            </a:blip>
            <a:srcRect b="40204" l="8629" r="80063" t="49555"/>
            <a:stretch/>
          </p:blipFill>
          <p:spPr>
            <a:xfrm>
              <a:off x="6786663" y="4776091"/>
              <a:ext cx="132571" cy="114557"/>
            </a:xfrm>
            <a:prstGeom prst="rect">
              <a:avLst/>
            </a:prstGeom>
            <a:noFill/>
            <a:ln>
              <a:noFill/>
            </a:ln>
          </p:spPr>
        </p:pic>
      </p:grpSp>
      <p:sp>
        <p:nvSpPr>
          <p:cNvPr id="614" name="Google Shape;614;p17"/>
          <p:cNvSpPr/>
          <p:nvPr/>
        </p:nvSpPr>
        <p:spPr>
          <a:xfrm>
            <a:off x="468313" y="302712"/>
            <a:ext cx="7204493"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438AD7"/>
                </a:solidFill>
                <a:latin typeface="Calibri"/>
                <a:ea typeface="Calibri"/>
                <a:cs typeface="Calibri"/>
                <a:sym typeface="Calibri"/>
              </a:rPr>
              <a:t>/ EL MODELO CONCEPTUAL DE DATOS</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8"/>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18"/>
          <p:cNvSpPr/>
          <p:nvPr/>
        </p:nvSpPr>
        <p:spPr>
          <a:xfrm>
            <a:off x="424252" y="3703125"/>
            <a:ext cx="7966170"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Arial"/>
              <a:buNone/>
            </a:pPr>
            <a:r>
              <a:rPr b="1" i="0" lang="es-PE" sz="2800" u="none" cap="none" strike="noStrike">
                <a:solidFill>
                  <a:schemeClr val="lt1"/>
                </a:solidFill>
                <a:latin typeface="Calibri"/>
                <a:ea typeface="Calibri"/>
                <a:cs typeface="Calibri"/>
                <a:sym typeface="Calibri"/>
              </a:rPr>
              <a:t>/ EL MODELO LÓGICO DE DATOS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9"/>
          <p:cNvSpPr/>
          <p:nvPr/>
        </p:nvSpPr>
        <p:spPr>
          <a:xfrm>
            <a:off x="468313" y="323075"/>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s-PE" sz="1700" u="none" cap="none" strike="noStrike">
                <a:solidFill>
                  <a:srgbClr val="438AD7"/>
                </a:solidFill>
                <a:latin typeface="Calibri"/>
                <a:ea typeface="Calibri"/>
                <a:cs typeface="Calibri"/>
                <a:sym typeface="Calibri"/>
              </a:rPr>
              <a:t>/ EL MODELO LÓGICO DE DATOS</a:t>
            </a:r>
            <a:endParaRPr b="0" i="0" sz="1700" u="none" cap="none" strike="noStrike">
              <a:solidFill>
                <a:srgbClr val="000000"/>
              </a:solidFill>
              <a:latin typeface="Arial"/>
              <a:ea typeface="Arial"/>
              <a:cs typeface="Arial"/>
              <a:sym typeface="Arial"/>
            </a:endParaRPr>
          </a:p>
        </p:txBody>
      </p:sp>
      <p:sp>
        <p:nvSpPr>
          <p:cNvPr id="627" name="Google Shape;627;p19"/>
          <p:cNvSpPr/>
          <p:nvPr/>
        </p:nvSpPr>
        <p:spPr>
          <a:xfrm>
            <a:off x="4824413" y="912813"/>
            <a:ext cx="3887787" cy="3693319"/>
          </a:xfrm>
          <a:prstGeom prst="rect">
            <a:avLst/>
          </a:prstGeom>
          <a:noFill/>
          <a:ln>
            <a:noFill/>
          </a:ln>
        </p:spPr>
        <p:txBody>
          <a:bodyPr anchorCtr="0" anchor="t" bIns="0" lIns="0" spcFirstLastPara="1" rIns="0" wrap="square" tIns="0">
            <a:spAutoFit/>
          </a:bodyPr>
          <a:lstStyle/>
          <a:p>
            <a:pPr indent="-177800" lvl="0" marL="17780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Ofrece </a:t>
            </a:r>
            <a:r>
              <a:rPr b="1" i="0" lang="es-PE" sz="1600" u="none" cap="none" strike="noStrike">
                <a:solidFill>
                  <a:schemeClr val="dk1"/>
                </a:solidFill>
                <a:latin typeface="Calibri"/>
                <a:ea typeface="Calibri"/>
                <a:cs typeface="Calibri"/>
                <a:sym typeface="Calibri"/>
              </a:rPr>
              <a:t>la visualización de las entidades de datos de un negocio o una empresa sin exponer detalles de implementación; separa la semántica de datos de la implementación </a:t>
            </a:r>
            <a:r>
              <a:rPr b="0" i="0" lang="es-PE" sz="1600" u="none" cap="none" strike="noStrike">
                <a:solidFill>
                  <a:schemeClr val="dk1"/>
                </a:solidFill>
                <a:latin typeface="Calibri"/>
                <a:ea typeface="Calibri"/>
                <a:cs typeface="Calibri"/>
                <a:sym typeface="Calibri"/>
              </a:rPr>
              <a:t>y es especialmente útil para manejar los entornos de TI.</a:t>
            </a:r>
            <a:endParaRPr b="0" i="0" sz="1600" u="none" cap="none" strike="noStrike">
              <a:solidFill>
                <a:srgbClr val="000000"/>
              </a:solidFill>
              <a:latin typeface="Calibri"/>
              <a:ea typeface="Calibri"/>
              <a:cs typeface="Calibri"/>
              <a:sym typeface="Calibri"/>
            </a:endParaRPr>
          </a:p>
          <a:p>
            <a:pPr indent="-76200" lvl="0" marL="17780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77800" lvl="0" marL="177800" marR="0" rtl="0" algn="just">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El esquema lógico </a:t>
            </a:r>
            <a:r>
              <a:rPr b="1" i="0" lang="es-PE" sz="1600" u="none" cap="none" strike="noStrike">
                <a:solidFill>
                  <a:schemeClr val="dk1"/>
                </a:solidFill>
                <a:latin typeface="Calibri"/>
                <a:ea typeface="Calibri"/>
                <a:cs typeface="Calibri"/>
                <a:sym typeface="Calibri"/>
              </a:rPr>
              <a:t>es una fuente de información para el diseño físico. </a:t>
            </a:r>
            <a:r>
              <a:rPr b="0" i="0" lang="es-PE" sz="1600" u="none" cap="none" strike="noStrike">
                <a:solidFill>
                  <a:schemeClr val="dk1"/>
                </a:solidFill>
                <a:latin typeface="Calibri"/>
                <a:ea typeface="Calibri"/>
                <a:cs typeface="Calibri"/>
                <a:sym typeface="Calibri"/>
              </a:rPr>
              <a:t>Además, juega un papel importante durante la etapa de mantenimiento del sistema, ya que permite que los futuros cambios que se realicen sobre los programas de aplicación o sobre los datos, se representen correctamente en la base de datos. </a:t>
            </a:r>
            <a:endParaRPr b="0" i="0" sz="1600" u="none" cap="none" strike="noStrike">
              <a:solidFill>
                <a:srgbClr val="000000"/>
              </a:solidFill>
              <a:latin typeface="Calibri"/>
              <a:ea typeface="Calibri"/>
              <a:cs typeface="Calibri"/>
              <a:sym typeface="Calibri"/>
            </a:endParaRPr>
          </a:p>
        </p:txBody>
      </p:sp>
      <p:pic>
        <p:nvPicPr>
          <p:cNvPr id="628" name="Google Shape;628;p19"/>
          <p:cNvPicPr preferRelativeResize="0"/>
          <p:nvPr/>
        </p:nvPicPr>
        <p:blipFill rotWithShape="1">
          <a:blip r:embed="rId3">
            <a:alphaModFix/>
          </a:blip>
          <a:srcRect b="0" l="0" r="0" t="0"/>
          <a:stretch/>
        </p:blipFill>
        <p:spPr>
          <a:xfrm>
            <a:off x="468313" y="1247867"/>
            <a:ext cx="4103687" cy="35843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0"/>
          <p:cNvSpPr/>
          <p:nvPr/>
        </p:nvSpPr>
        <p:spPr>
          <a:xfrm>
            <a:off x="514694" y="934079"/>
            <a:ext cx="8160993" cy="24622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TIPOS DE DATOS</a:t>
            </a:r>
            <a:endParaRPr b="1" i="0" sz="1600" u="none" cap="none" strike="noStrike">
              <a:solidFill>
                <a:schemeClr val="dk1"/>
              </a:solidFill>
              <a:latin typeface="Calibri"/>
              <a:ea typeface="Calibri"/>
              <a:cs typeface="Calibri"/>
              <a:sym typeface="Calibri"/>
            </a:endParaRPr>
          </a:p>
        </p:txBody>
      </p:sp>
      <p:graphicFrame>
        <p:nvGraphicFramePr>
          <p:cNvPr id="634" name="Google Shape;634;p20"/>
          <p:cNvGraphicFramePr/>
          <p:nvPr/>
        </p:nvGraphicFramePr>
        <p:xfrm>
          <a:off x="468313" y="1529538"/>
          <a:ext cx="3000000" cy="3000000"/>
        </p:xfrm>
        <a:graphic>
          <a:graphicData uri="http://schemas.openxmlformats.org/drawingml/2006/table">
            <a:tbl>
              <a:tblPr>
                <a:noFill/>
                <a:tableStyleId>{3E0D9EF6-88FE-49E6-BAF1-B571CBEF09A6}</a:tableStyleId>
              </a:tblPr>
              <a:tblGrid>
                <a:gridCol w="3511125"/>
                <a:gridCol w="4696250"/>
              </a:tblGrid>
              <a:tr h="775650">
                <a:tc>
                  <a:txBody>
                    <a:bodyPr/>
                    <a:lstStyle/>
                    <a:p>
                      <a:pPr indent="0" lvl="0" marL="0" marR="0" rtl="0" algn="ctr">
                        <a:lnSpc>
                          <a:spcPct val="100000"/>
                        </a:lnSpc>
                        <a:spcBef>
                          <a:spcPts val="0"/>
                        </a:spcBef>
                        <a:spcAft>
                          <a:spcPts val="0"/>
                        </a:spcAft>
                        <a:buClr>
                          <a:srgbClr val="000000"/>
                        </a:buClr>
                        <a:buSzPts val="1400"/>
                        <a:buFont typeface="Arial"/>
                        <a:buNone/>
                      </a:pPr>
                      <a:r>
                        <a:rPr b="1" lang="es-PE" sz="1400" u="none" cap="none" strike="noStrike">
                          <a:solidFill>
                            <a:schemeClr val="lt1"/>
                          </a:solidFill>
                        </a:rPr>
                        <a:t>TIPOS PRIMITIVOS DE UML</a:t>
                      </a:r>
                      <a:endParaRPr b="1" sz="1400" u="none" cap="none" strike="noStrike">
                        <a:solidFill>
                          <a:schemeClr val="lt1"/>
                        </a:solidFill>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s-PE" sz="1400" u="none" cap="none" strike="noStrike">
                          <a:solidFill>
                            <a:schemeClr val="lt1"/>
                          </a:solidFill>
                        </a:rPr>
                        <a:t>TIPOS DE DATOS DE MODELO LÓGICO DE DATOS</a:t>
                      </a:r>
                      <a:br>
                        <a:rPr b="1" lang="es-PE" sz="1400" u="none" cap="none" strike="noStrike">
                          <a:solidFill>
                            <a:schemeClr val="lt1"/>
                          </a:solidFill>
                        </a:rPr>
                      </a:br>
                      <a:r>
                        <a:rPr b="1" lang="es-PE" sz="1400" u="none" cap="none" strike="noStrike">
                          <a:solidFill>
                            <a:schemeClr val="lt1"/>
                          </a:solidFill>
                        </a:rPr>
                        <a:t>QUE LA TRANSFORMACIÓN GENERA</a:t>
                      </a:r>
                      <a:endParaRPr b="1" sz="1400" u="none" cap="none" strike="noStrike">
                        <a:solidFill>
                          <a:schemeClr val="lt1"/>
                        </a:solidFill>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Boolean, boolean</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BOOLEAN</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Byte, byte o char</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CHAR</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Date</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DATE</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Double, double</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DOUBLE</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float</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FLOAT</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Integer, int</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INTEGER</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Long, long</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LONG</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22452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short</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SHORT</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r h="300975">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Cadena de caracteres</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PE" sz="1400" u="none" cap="none" strike="noStrike"/>
                        <a:t>VARCHAR(32672)</a:t>
                      </a:r>
                      <a:endParaRPr sz="1400" u="none" cap="none" strike="noStrike">
                        <a:latin typeface="Arial"/>
                        <a:ea typeface="Arial"/>
                        <a:cs typeface="Arial"/>
                        <a:sym typeface="Arial"/>
                      </a:endParaRPr>
                    </a:p>
                  </a:txBody>
                  <a:tcPr marT="15225" marB="45700" marR="152400" marL="15240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bl>
          </a:graphicData>
        </a:graphic>
      </p:graphicFrame>
      <p:sp>
        <p:nvSpPr>
          <p:cNvPr id="635" name="Google Shape;635;p20"/>
          <p:cNvSpPr/>
          <p:nvPr/>
        </p:nvSpPr>
        <p:spPr>
          <a:xfrm>
            <a:off x="468313" y="323075"/>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s-PE" sz="1700" u="none" cap="none" strike="noStrike">
                <a:solidFill>
                  <a:srgbClr val="438AD7"/>
                </a:solidFill>
                <a:latin typeface="Calibri"/>
                <a:ea typeface="Calibri"/>
                <a:cs typeface="Calibri"/>
                <a:sym typeface="Calibri"/>
              </a:rPr>
              <a:t>/ EL MODELO LÓGICO DE DATOS</a:t>
            </a:r>
            <a:endParaRPr b="0" i="0" sz="17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21"/>
          <p:cNvSpPr/>
          <p:nvPr/>
        </p:nvSpPr>
        <p:spPr>
          <a:xfrm>
            <a:off x="468313" y="2101850"/>
            <a:ext cx="8243887" cy="3098394"/>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41" name="Google Shape;641;p21"/>
          <p:cNvCxnSpPr/>
          <p:nvPr/>
        </p:nvCxnSpPr>
        <p:spPr>
          <a:xfrm rot="10800000">
            <a:off x="6074463" y="3207608"/>
            <a:ext cx="205464" cy="114728"/>
          </a:xfrm>
          <a:prstGeom prst="straightConnector1">
            <a:avLst/>
          </a:prstGeom>
          <a:noFill/>
          <a:ln cap="flat" cmpd="sng" w="38100">
            <a:solidFill>
              <a:srgbClr val="4BACC6"/>
            </a:solidFill>
            <a:prstDash val="solid"/>
            <a:round/>
            <a:headEnd len="sm" w="sm" type="none"/>
            <a:tailEnd len="sm" w="sm" type="none"/>
          </a:ln>
        </p:spPr>
      </p:cxnSp>
      <p:cxnSp>
        <p:nvCxnSpPr>
          <p:cNvPr id="642" name="Google Shape;642;p21"/>
          <p:cNvCxnSpPr/>
          <p:nvPr/>
        </p:nvCxnSpPr>
        <p:spPr>
          <a:xfrm flipH="1">
            <a:off x="6074463" y="3080289"/>
            <a:ext cx="205464" cy="125225"/>
          </a:xfrm>
          <a:prstGeom prst="straightConnector1">
            <a:avLst/>
          </a:prstGeom>
          <a:noFill/>
          <a:ln cap="flat" cmpd="sng" w="38100">
            <a:solidFill>
              <a:srgbClr val="4BACC6"/>
            </a:solidFill>
            <a:prstDash val="solid"/>
            <a:round/>
            <a:headEnd len="sm" w="sm" type="none"/>
            <a:tailEnd len="sm" w="sm" type="none"/>
          </a:ln>
        </p:spPr>
      </p:cxnSp>
      <p:cxnSp>
        <p:nvCxnSpPr>
          <p:cNvPr id="643" name="Google Shape;643;p21"/>
          <p:cNvCxnSpPr/>
          <p:nvPr/>
        </p:nvCxnSpPr>
        <p:spPr>
          <a:xfrm>
            <a:off x="2520768" y="3205515"/>
            <a:ext cx="3796735" cy="0"/>
          </a:xfrm>
          <a:prstGeom prst="straightConnector1">
            <a:avLst/>
          </a:prstGeom>
          <a:noFill/>
          <a:ln cap="flat" cmpd="sng" w="38100">
            <a:solidFill>
              <a:srgbClr val="4BACC6"/>
            </a:solidFill>
            <a:prstDash val="solid"/>
            <a:round/>
            <a:headEnd len="sm" w="sm" type="none"/>
            <a:tailEnd len="sm" w="sm" type="none"/>
          </a:ln>
        </p:spPr>
      </p:cxnSp>
      <p:sp>
        <p:nvSpPr>
          <p:cNvPr id="644" name="Google Shape;644;p21"/>
          <p:cNvSpPr/>
          <p:nvPr/>
        </p:nvSpPr>
        <p:spPr>
          <a:xfrm>
            <a:off x="480870" y="923446"/>
            <a:ext cx="8160993"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TIPOS DE RELACIONES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Relación Identificada</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Las relaciones identificadas </a:t>
            </a:r>
            <a:r>
              <a:rPr b="1" i="0" lang="es-PE" sz="1600" u="none" cap="none" strike="noStrike">
                <a:solidFill>
                  <a:schemeClr val="dk1"/>
                </a:solidFill>
                <a:latin typeface="Calibri"/>
                <a:ea typeface="Calibri"/>
                <a:cs typeface="Calibri"/>
                <a:sym typeface="Calibri"/>
              </a:rPr>
              <a:t>migran la llave primaria de la entidad padre a la llave primaria de la entidad hija</a:t>
            </a:r>
            <a:r>
              <a:rPr b="0" i="0" lang="es-PE" sz="1600" u="none" cap="none" strike="noStrike">
                <a:solidFill>
                  <a:schemeClr val="dk1"/>
                </a:solidFill>
                <a:latin typeface="Calibri"/>
                <a:ea typeface="Calibri"/>
                <a:cs typeface="Calibri"/>
                <a:sym typeface="Calibri"/>
              </a:rPr>
              <a:t>. Su representación es una línea nítida, tal como se ilustra en la siguiente figura.</a:t>
            </a:r>
            <a:endParaRPr b="0" i="0" sz="1400" u="none" cap="none" strike="noStrike">
              <a:solidFill>
                <a:srgbClr val="000000"/>
              </a:solidFill>
              <a:latin typeface="Arial"/>
              <a:ea typeface="Arial"/>
              <a:cs typeface="Arial"/>
              <a:sym typeface="Arial"/>
            </a:endParaRPr>
          </a:p>
        </p:txBody>
      </p:sp>
      <p:graphicFrame>
        <p:nvGraphicFramePr>
          <p:cNvPr id="645" name="Google Shape;645;p21"/>
          <p:cNvGraphicFramePr/>
          <p:nvPr/>
        </p:nvGraphicFramePr>
        <p:xfrm>
          <a:off x="965604" y="2590570"/>
          <a:ext cx="3000000" cy="3000000"/>
        </p:xfrm>
        <a:graphic>
          <a:graphicData uri="http://schemas.openxmlformats.org/drawingml/2006/table">
            <a:tbl>
              <a:tblPr bandRow="1" firstRow="1">
                <a:noFill/>
                <a:tableStyleId>{A57087F9-4250-4EDC-A8BF-423FF0896F0B}</a:tableStyleId>
              </a:tblPr>
              <a:tblGrid>
                <a:gridCol w="159407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EntidadA </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AttributeA1</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AttributeA2</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bl>
          </a:graphicData>
        </a:graphic>
      </p:graphicFrame>
      <p:pic>
        <p:nvPicPr>
          <p:cNvPr id="646" name="Google Shape;646;p21"/>
          <p:cNvPicPr preferRelativeResize="0"/>
          <p:nvPr/>
        </p:nvPicPr>
        <p:blipFill rotWithShape="1">
          <a:blip r:embed="rId3">
            <a:alphaModFix/>
          </a:blip>
          <a:srcRect b="40243" l="2930" r="92969" t="45618"/>
          <a:stretch/>
        </p:blipFill>
        <p:spPr>
          <a:xfrm>
            <a:off x="995165" y="2962761"/>
            <a:ext cx="269733" cy="186814"/>
          </a:xfrm>
          <a:prstGeom prst="rect">
            <a:avLst/>
          </a:prstGeom>
          <a:noFill/>
          <a:ln>
            <a:noFill/>
          </a:ln>
        </p:spPr>
      </p:pic>
      <p:pic>
        <p:nvPicPr>
          <p:cNvPr id="647" name="Google Shape;647;p21"/>
          <p:cNvPicPr preferRelativeResize="0"/>
          <p:nvPr/>
        </p:nvPicPr>
        <p:blipFill rotWithShape="1">
          <a:blip r:embed="rId4">
            <a:alphaModFix/>
          </a:blip>
          <a:srcRect b="21833" l="2917" r="92969" t="61737"/>
          <a:stretch/>
        </p:blipFill>
        <p:spPr>
          <a:xfrm>
            <a:off x="994303" y="3212482"/>
            <a:ext cx="270595" cy="217108"/>
          </a:xfrm>
          <a:prstGeom prst="rect">
            <a:avLst/>
          </a:prstGeom>
          <a:noFill/>
          <a:ln>
            <a:noFill/>
          </a:ln>
        </p:spPr>
      </p:pic>
      <p:sp>
        <p:nvSpPr>
          <p:cNvPr id="648" name="Google Shape;648;p21"/>
          <p:cNvSpPr/>
          <p:nvPr/>
        </p:nvSpPr>
        <p:spPr>
          <a:xfrm>
            <a:off x="1230782" y="2682166"/>
            <a:ext cx="176002" cy="13138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649" name="Google Shape;649;p21"/>
          <p:cNvGraphicFramePr/>
          <p:nvPr/>
        </p:nvGraphicFramePr>
        <p:xfrm>
          <a:off x="6279927" y="2585914"/>
          <a:ext cx="3000000" cy="3000000"/>
        </p:xfrm>
        <a:graphic>
          <a:graphicData uri="http://schemas.openxmlformats.org/drawingml/2006/table">
            <a:tbl>
              <a:tblPr bandRow="1" firstRow="1">
                <a:noFill/>
                <a:tableStyleId>{A57087F9-4250-4EDC-A8BF-423FF0896F0B}</a:tableStyleId>
              </a:tblPr>
              <a:tblGrid>
                <a:gridCol w="1904800"/>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EntityB </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61532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AttributeA1[FK]</a:t>
                      </a:r>
                      <a:endParaRPr sz="1500" u="none" cap="none" strike="noStrike"/>
                    </a:p>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AttributeB1</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AttributeB2</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bl>
          </a:graphicData>
        </a:graphic>
      </p:graphicFrame>
      <p:pic>
        <p:nvPicPr>
          <p:cNvPr id="650" name="Google Shape;650;p21"/>
          <p:cNvPicPr preferRelativeResize="0"/>
          <p:nvPr/>
        </p:nvPicPr>
        <p:blipFill rotWithShape="1">
          <a:blip r:embed="rId3">
            <a:alphaModFix/>
          </a:blip>
          <a:srcRect b="40243" l="2930" r="92969" t="45618"/>
          <a:stretch/>
        </p:blipFill>
        <p:spPr>
          <a:xfrm>
            <a:off x="6440519" y="3211848"/>
            <a:ext cx="269733" cy="186814"/>
          </a:xfrm>
          <a:prstGeom prst="rect">
            <a:avLst/>
          </a:prstGeom>
          <a:noFill/>
          <a:ln>
            <a:noFill/>
          </a:ln>
        </p:spPr>
      </p:pic>
      <p:pic>
        <p:nvPicPr>
          <p:cNvPr id="651" name="Google Shape;651;p21"/>
          <p:cNvPicPr preferRelativeResize="0"/>
          <p:nvPr/>
        </p:nvPicPr>
        <p:blipFill rotWithShape="1">
          <a:blip r:embed="rId4">
            <a:alphaModFix/>
          </a:blip>
          <a:srcRect b="21833" l="2917" r="92969" t="61737"/>
          <a:stretch/>
        </p:blipFill>
        <p:spPr>
          <a:xfrm>
            <a:off x="6367766" y="3517110"/>
            <a:ext cx="270595" cy="217108"/>
          </a:xfrm>
          <a:prstGeom prst="rect">
            <a:avLst/>
          </a:prstGeom>
          <a:noFill/>
          <a:ln>
            <a:noFill/>
          </a:ln>
        </p:spPr>
      </p:pic>
      <p:sp>
        <p:nvSpPr>
          <p:cNvPr id="652" name="Google Shape;652;p21"/>
          <p:cNvSpPr/>
          <p:nvPr/>
        </p:nvSpPr>
        <p:spPr>
          <a:xfrm>
            <a:off x="6760563" y="2677510"/>
            <a:ext cx="176002" cy="13138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3" name="Google Shape;653;p21"/>
          <p:cNvSpPr txBox="1"/>
          <p:nvPr/>
        </p:nvSpPr>
        <p:spPr>
          <a:xfrm>
            <a:off x="1084538" y="2211015"/>
            <a:ext cx="13724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Entidad Padre</a:t>
            </a:r>
            <a:endParaRPr b="1" i="0" sz="1600" u="none" cap="none" strike="noStrike">
              <a:solidFill>
                <a:schemeClr val="dk1"/>
              </a:solidFill>
              <a:latin typeface="Calibri"/>
              <a:ea typeface="Calibri"/>
              <a:cs typeface="Calibri"/>
              <a:sym typeface="Calibri"/>
            </a:endParaRPr>
          </a:p>
        </p:txBody>
      </p:sp>
      <p:sp>
        <p:nvSpPr>
          <p:cNvPr id="654" name="Google Shape;654;p21"/>
          <p:cNvSpPr txBox="1"/>
          <p:nvPr/>
        </p:nvSpPr>
        <p:spPr>
          <a:xfrm>
            <a:off x="6658823" y="2220743"/>
            <a:ext cx="12151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Entidad Hija</a:t>
            </a:r>
            <a:endParaRPr b="1" i="0" sz="1600" u="none" cap="none" strike="noStrike">
              <a:solidFill>
                <a:schemeClr val="dk1"/>
              </a:solidFill>
              <a:latin typeface="Calibri"/>
              <a:ea typeface="Calibri"/>
              <a:cs typeface="Calibri"/>
              <a:sym typeface="Calibri"/>
            </a:endParaRPr>
          </a:p>
        </p:txBody>
      </p:sp>
      <p:pic>
        <p:nvPicPr>
          <p:cNvPr id="655" name="Google Shape;655;p21"/>
          <p:cNvPicPr preferRelativeResize="0"/>
          <p:nvPr/>
        </p:nvPicPr>
        <p:blipFill rotWithShape="1">
          <a:blip r:embed="rId5">
            <a:alphaModFix/>
          </a:blip>
          <a:srcRect b="49649" l="68011" r="27833" t="34046"/>
          <a:stretch/>
        </p:blipFill>
        <p:spPr>
          <a:xfrm>
            <a:off x="6327231" y="2948813"/>
            <a:ext cx="273269" cy="215463"/>
          </a:xfrm>
          <a:prstGeom prst="rect">
            <a:avLst/>
          </a:prstGeom>
          <a:noFill/>
          <a:ln>
            <a:noFill/>
          </a:ln>
        </p:spPr>
      </p:pic>
      <p:cxnSp>
        <p:nvCxnSpPr>
          <p:cNvPr id="656" name="Google Shape;656;p21"/>
          <p:cNvCxnSpPr/>
          <p:nvPr/>
        </p:nvCxnSpPr>
        <p:spPr>
          <a:xfrm rot="10800000">
            <a:off x="5792362" y="3045444"/>
            <a:ext cx="0" cy="320142"/>
          </a:xfrm>
          <a:prstGeom prst="straightConnector1">
            <a:avLst/>
          </a:prstGeom>
          <a:noFill/>
          <a:ln cap="flat" cmpd="sng" w="38100">
            <a:solidFill>
              <a:srgbClr val="4BACC6"/>
            </a:solidFill>
            <a:prstDash val="solid"/>
            <a:round/>
            <a:headEnd len="sm" w="sm" type="none"/>
            <a:tailEnd len="sm" w="sm" type="none"/>
          </a:ln>
        </p:spPr>
      </p:cxnSp>
      <p:cxnSp>
        <p:nvCxnSpPr>
          <p:cNvPr id="657" name="Google Shape;657;p21"/>
          <p:cNvCxnSpPr/>
          <p:nvPr/>
        </p:nvCxnSpPr>
        <p:spPr>
          <a:xfrm rot="10800000">
            <a:off x="2767851" y="3035593"/>
            <a:ext cx="0" cy="320142"/>
          </a:xfrm>
          <a:prstGeom prst="straightConnector1">
            <a:avLst/>
          </a:prstGeom>
          <a:noFill/>
          <a:ln cap="flat" cmpd="sng" w="38100">
            <a:solidFill>
              <a:srgbClr val="4BACC6"/>
            </a:solidFill>
            <a:prstDash val="solid"/>
            <a:round/>
            <a:headEnd len="sm" w="sm" type="none"/>
            <a:tailEnd len="sm" w="sm" type="none"/>
          </a:ln>
        </p:spPr>
      </p:cxnSp>
      <p:cxnSp>
        <p:nvCxnSpPr>
          <p:cNvPr id="658" name="Google Shape;658;p21"/>
          <p:cNvCxnSpPr/>
          <p:nvPr/>
        </p:nvCxnSpPr>
        <p:spPr>
          <a:xfrm rot="10800000">
            <a:off x="5033604" y="4579210"/>
            <a:ext cx="205464" cy="114728"/>
          </a:xfrm>
          <a:prstGeom prst="straightConnector1">
            <a:avLst/>
          </a:prstGeom>
          <a:noFill/>
          <a:ln cap="flat" cmpd="sng" w="38100">
            <a:solidFill>
              <a:srgbClr val="4BACC6"/>
            </a:solidFill>
            <a:prstDash val="solid"/>
            <a:round/>
            <a:headEnd len="sm" w="sm" type="none"/>
            <a:tailEnd len="sm" w="sm" type="none"/>
          </a:ln>
        </p:spPr>
      </p:cxnSp>
      <p:cxnSp>
        <p:nvCxnSpPr>
          <p:cNvPr id="659" name="Google Shape;659;p21"/>
          <p:cNvCxnSpPr/>
          <p:nvPr/>
        </p:nvCxnSpPr>
        <p:spPr>
          <a:xfrm flipH="1">
            <a:off x="5033604" y="4451891"/>
            <a:ext cx="205464" cy="125225"/>
          </a:xfrm>
          <a:prstGeom prst="straightConnector1">
            <a:avLst/>
          </a:prstGeom>
          <a:noFill/>
          <a:ln cap="flat" cmpd="sng" w="38100">
            <a:solidFill>
              <a:srgbClr val="4BACC6"/>
            </a:solidFill>
            <a:prstDash val="solid"/>
            <a:round/>
            <a:headEnd len="sm" w="sm" type="none"/>
            <a:tailEnd len="sm" w="sm" type="none"/>
          </a:ln>
        </p:spPr>
      </p:cxnSp>
      <p:cxnSp>
        <p:nvCxnSpPr>
          <p:cNvPr id="660" name="Google Shape;660;p21"/>
          <p:cNvCxnSpPr/>
          <p:nvPr/>
        </p:nvCxnSpPr>
        <p:spPr>
          <a:xfrm>
            <a:off x="2520769" y="4577117"/>
            <a:ext cx="3796735" cy="0"/>
          </a:xfrm>
          <a:prstGeom prst="straightConnector1">
            <a:avLst/>
          </a:prstGeom>
          <a:noFill/>
          <a:ln cap="flat" cmpd="sng" w="38100">
            <a:solidFill>
              <a:srgbClr val="4BACC6"/>
            </a:solidFill>
            <a:prstDash val="solid"/>
            <a:round/>
            <a:headEnd len="sm" w="sm" type="none"/>
            <a:tailEnd len="sm" w="sm" type="none"/>
          </a:ln>
        </p:spPr>
      </p:cxnSp>
      <p:graphicFrame>
        <p:nvGraphicFramePr>
          <p:cNvPr id="661" name="Google Shape;661;p21"/>
          <p:cNvGraphicFramePr/>
          <p:nvPr/>
        </p:nvGraphicFramePr>
        <p:xfrm>
          <a:off x="965605" y="3962172"/>
          <a:ext cx="3000000" cy="3000000"/>
        </p:xfrm>
        <a:graphic>
          <a:graphicData uri="http://schemas.openxmlformats.org/drawingml/2006/table">
            <a:tbl>
              <a:tblPr bandRow="1" firstRow="1">
                <a:noFill/>
                <a:tableStyleId>{A57087F9-4250-4EDC-A8BF-423FF0896F0B}</a:tableStyleId>
              </a:tblPr>
              <a:tblGrid>
                <a:gridCol w="235317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Persona</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Codigo: CHAR(9)</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Nombre: Vachar(50)</a:t>
                      </a:r>
                      <a:endParaRPr sz="1400" u="none" cap="none" strike="noStrike"/>
                    </a:p>
                    <a:p>
                      <a:pPr indent="0" lvl="0" marL="0" marR="0" rtl="0" algn="ctr">
                        <a:lnSpc>
                          <a:spcPct val="100000"/>
                        </a:lnSpc>
                        <a:spcBef>
                          <a:spcPts val="0"/>
                        </a:spcBef>
                        <a:spcAft>
                          <a:spcPts val="0"/>
                        </a:spcAft>
                        <a:buClr>
                          <a:schemeClr val="dk1"/>
                        </a:buClr>
                        <a:buSzPts val="1500"/>
                        <a:buFont typeface="Calibri"/>
                        <a:buNone/>
                      </a:pPr>
                      <a:r>
                        <a:rPr lang="es-PE" sz="1500" u="none" cap="none" strike="noStrike"/>
                        <a:t>Apellidos: VACHAR(50)</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bl>
          </a:graphicData>
        </a:graphic>
      </p:graphicFrame>
      <p:cxnSp>
        <p:nvCxnSpPr>
          <p:cNvPr id="662" name="Google Shape;662;p21"/>
          <p:cNvCxnSpPr/>
          <p:nvPr/>
        </p:nvCxnSpPr>
        <p:spPr>
          <a:xfrm rot="10800000">
            <a:off x="3516089" y="4417046"/>
            <a:ext cx="0" cy="320142"/>
          </a:xfrm>
          <a:prstGeom prst="straightConnector1">
            <a:avLst/>
          </a:prstGeom>
          <a:noFill/>
          <a:ln cap="flat" cmpd="sng" w="38100">
            <a:solidFill>
              <a:srgbClr val="4BACC6"/>
            </a:solidFill>
            <a:prstDash val="solid"/>
            <a:round/>
            <a:headEnd len="sm" w="sm" type="none"/>
            <a:tailEnd len="sm" w="sm" type="none"/>
          </a:ln>
        </p:spPr>
      </p:cxnSp>
      <p:graphicFrame>
        <p:nvGraphicFramePr>
          <p:cNvPr id="663" name="Google Shape;663;p21"/>
          <p:cNvGraphicFramePr/>
          <p:nvPr/>
        </p:nvGraphicFramePr>
        <p:xfrm>
          <a:off x="5209954" y="3962172"/>
          <a:ext cx="3000000" cy="3000000"/>
        </p:xfrm>
        <a:graphic>
          <a:graphicData uri="http://schemas.openxmlformats.org/drawingml/2006/table">
            <a:tbl>
              <a:tblPr bandRow="1" firstRow="1">
                <a:noFill/>
                <a:tableStyleId>{A57087F9-4250-4EDC-A8BF-423FF0896F0B}</a:tableStyleId>
              </a:tblPr>
              <a:tblGrid>
                <a:gridCol w="297667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Cliente</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52800">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Codigo: CHAR(9) [FK]</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Tarjeta_credito: CHAR (16)</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bl>
          </a:graphicData>
        </a:graphic>
      </p:graphicFrame>
      <p:sp>
        <p:nvSpPr>
          <p:cNvPr id="664" name="Google Shape;664;p21"/>
          <p:cNvSpPr/>
          <p:nvPr/>
        </p:nvSpPr>
        <p:spPr>
          <a:xfrm>
            <a:off x="4845096" y="4485319"/>
            <a:ext cx="179435" cy="179435"/>
          </a:xfrm>
          <a:prstGeom prst="ellipse">
            <a:avLst/>
          </a:prstGeom>
          <a:solidFill>
            <a:schemeClr val="lt1"/>
          </a:solidFill>
          <a:ln cap="flat" cmpd="sng" w="25400">
            <a:solidFill>
              <a:srgbClr val="4BAC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65" name="Google Shape;665;p21"/>
          <p:cNvPicPr preferRelativeResize="0"/>
          <p:nvPr/>
        </p:nvPicPr>
        <p:blipFill rotWithShape="1">
          <a:blip r:embed="rId6">
            <a:alphaModFix/>
          </a:blip>
          <a:srcRect b="71754" l="13618" r="83916" t="18670"/>
          <a:stretch/>
        </p:blipFill>
        <p:spPr>
          <a:xfrm>
            <a:off x="6196019" y="4050177"/>
            <a:ext cx="223918" cy="144944"/>
          </a:xfrm>
          <a:prstGeom prst="rect">
            <a:avLst/>
          </a:prstGeom>
          <a:noFill/>
          <a:ln>
            <a:noFill/>
          </a:ln>
        </p:spPr>
      </p:pic>
      <p:pic>
        <p:nvPicPr>
          <p:cNvPr id="666" name="Google Shape;666;p21"/>
          <p:cNvPicPr preferRelativeResize="0"/>
          <p:nvPr/>
        </p:nvPicPr>
        <p:blipFill rotWithShape="1">
          <a:blip r:embed="rId6">
            <a:alphaModFix/>
          </a:blip>
          <a:srcRect b="71754" l="13618" r="83916" t="18670"/>
          <a:stretch/>
        </p:blipFill>
        <p:spPr>
          <a:xfrm>
            <a:off x="1597425" y="4045538"/>
            <a:ext cx="223918" cy="144944"/>
          </a:xfrm>
          <a:prstGeom prst="rect">
            <a:avLst/>
          </a:prstGeom>
          <a:noFill/>
          <a:ln>
            <a:noFill/>
          </a:ln>
        </p:spPr>
      </p:pic>
      <p:pic>
        <p:nvPicPr>
          <p:cNvPr id="667" name="Google Shape;667;p21"/>
          <p:cNvPicPr preferRelativeResize="0"/>
          <p:nvPr/>
        </p:nvPicPr>
        <p:blipFill rotWithShape="1">
          <a:blip r:embed="rId6">
            <a:alphaModFix/>
          </a:blip>
          <a:srcRect b="47519" l="2956" r="93825" t="36957"/>
          <a:stretch/>
        </p:blipFill>
        <p:spPr>
          <a:xfrm>
            <a:off x="1078188" y="4309096"/>
            <a:ext cx="292443" cy="234950"/>
          </a:xfrm>
          <a:prstGeom prst="rect">
            <a:avLst/>
          </a:prstGeom>
          <a:noFill/>
          <a:ln>
            <a:noFill/>
          </a:ln>
        </p:spPr>
      </p:pic>
      <p:pic>
        <p:nvPicPr>
          <p:cNvPr id="668" name="Google Shape;668;p21"/>
          <p:cNvPicPr preferRelativeResize="0"/>
          <p:nvPr/>
        </p:nvPicPr>
        <p:blipFill rotWithShape="1">
          <a:blip r:embed="rId6">
            <a:alphaModFix/>
          </a:blip>
          <a:srcRect b="30542" l="4342" r="94366" t="54879"/>
          <a:stretch/>
        </p:blipFill>
        <p:spPr>
          <a:xfrm>
            <a:off x="1084538" y="4866442"/>
            <a:ext cx="117290" cy="220653"/>
          </a:xfrm>
          <a:prstGeom prst="rect">
            <a:avLst/>
          </a:prstGeom>
          <a:noFill/>
          <a:ln>
            <a:noFill/>
          </a:ln>
        </p:spPr>
      </p:pic>
      <p:pic>
        <p:nvPicPr>
          <p:cNvPr id="669" name="Google Shape;669;p21"/>
          <p:cNvPicPr preferRelativeResize="0"/>
          <p:nvPr/>
        </p:nvPicPr>
        <p:blipFill rotWithShape="1">
          <a:blip r:embed="rId6">
            <a:alphaModFix/>
          </a:blip>
          <a:srcRect b="30542" l="4342" r="94366" t="54879"/>
          <a:stretch/>
        </p:blipFill>
        <p:spPr>
          <a:xfrm>
            <a:off x="1088069" y="4630036"/>
            <a:ext cx="117290" cy="220653"/>
          </a:xfrm>
          <a:prstGeom prst="rect">
            <a:avLst/>
          </a:prstGeom>
          <a:noFill/>
          <a:ln>
            <a:noFill/>
          </a:ln>
        </p:spPr>
      </p:pic>
      <p:pic>
        <p:nvPicPr>
          <p:cNvPr id="670" name="Google Shape;670;p21"/>
          <p:cNvPicPr preferRelativeResize="0"/>
          <p:nvPr/>
        </p:nvPicPr>
        <p:blipFill rotWithShape="1">
          <a:blip r:embed="rId6">
            <a:alphaModFix/>
          </a:blip>
          <a:srcRect b="48390" l="61701" r="35691" t="37017"/>
          <a:stretch/>
        </p:blipFill>
        <p:spPr>
          <a:xfrm>
            <a:off x="5506055" y="4342156"/>
            <a:ext cx="236817" cy="220860"/>
          </a:xfrm>
          <a:prstGeom prst="rect">
            <a:avLst/>
          </a:prstGeom>
          <a:noFill/>
          <a:ln>
            <a:noFill/>
          </a:ln>
        </p:spPr>
      </p:pic>
      <p:pic>
        <p:nvPicPr>
          <p:cNvPr id="671" name="Google Shape;671;p21"/>
          <p:cNvPicPr preferRelativeResize="0"/>
          <p:nvPr/>
        </p:nvPicPr>
        <p:blipFill rotWithShape="1">
          <a:blip r:embed="rId6">
            <a:alphaModFix/>
          </a:blip>
          <a:srcRect b="30542" l="4342" r="94366" t="54879"/>
          <a:stretch/>
        </p:blipFill>
        <p:spPr>
          <a:xfrm>
            <a:off x="5452979" y="4664961"/>
            <a:ext cx="117290" cy="220653"/>
          </a:xfrm>
          <a:prstGeom prst="rect">
            <a:avLst/>
          </a:prstGeom>
          <a:noFill/>
          <a:ln>
            <a:noFill/>
          </a:ln>
        </p:spPr>
      </p:pic>
      <p:sp>
        <p:nvSpPr>
          <p:cNvPr id="672" name="Google Shape;672;p21"/>
          <p:cNvSpPr/>
          <p:nvPr/>
        </p:nvSpPr>
        <p:spPr>
          <a:xfrm>
            <a:off x="468313" y="323075"/>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s-PE" sz="1700" u="none" cap="none" strike="noStrike">
                <a:solidFill>
                  <a:srgbClr val="438AD7"/>
                </a:solidFill>
                <a:latin typeface="Calibri"/>
                <a:ea typeface="Calibri"/>
                <a:cs typeface="Calibri"/>
                <a:sym typeface="Calibri"/>
              </a:rPr>
              <a:t>/ EL MODELO LÓGICO DE DATOS</a:t>
            </a:r>
            <a:endParaRPr b="0" i="0" sz="17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22"/>
          <p:cNvSpPr/>
          <p:nvPr/>
        </p:nvSpPr>
        <p:spPr>
          <a:xfrm>
            <a:off x="484038" y="3036888"/>
            <a:ext cx="8228161" cy="216058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78" name="Google Shape;678;p22"/>
          <p:cNvCxnSpPr/>
          <p:nvPr/>
        </p:nvCxnSpPr>
        <p:spPr>
          <a:xfrm rot="10800000">
            <a:off x="6074463" y="4147220"/>
            <a:ext cx="205464" cy="114728"/>
          </a:xfrm>
          <a:prstGeom prst="straightConnector1">
            <a:avLst/>
          </a:prstGeom>
          <a:noFill/>
          <a:ln cap="flat" cmpd="sng" w="38100">
            <a:solidFill>
              <a:srgbClr val="4BACC6"/>
            </a:solidFill>
            <a:prstDash val="solid"/>
            <a:round/>
            <a:headEnd len="sm" w="sm" type="none"/>
            <a:tailEnd len="sm" w="sm" type="none"/>
          </a:ln>
        </p:spPr>
      </p:cxnSp>
      <p:cxnSp>
        <p:nvCxnSpPr>
          <p:cNvPr id="679" name="Google Shape;679;p22"/>
          <p:cNvCxnSpPr/>
          <p:nvPr/>
        </p:nvCxnSpPr>
        <p:spPr>
          <a:xfrm flipH="1">
            <a:off x="6074463" y="4019901"/>
            <a:ext cx="205464" cy="125225"/>
          </a:xfrm>
          <a:prstGeom prst="straightConnector1">
            <a:avLst/>
          </a:prstGeom>
          <a:noFill/>
          <a:ln cap="flat" cmpd="sng" w="38100">
            <a:solidFill>
              <a:srgbClr val="4BACC6"/>
            </a:solidFill>
            <a:prstDash val="solid"/>
            <a:round/>
            <a:headEnd len="sm" w="sm" type="none"/>
            <a:tailEnd len="sm" w="sm" type="none"/>
          </a:ln>
        </p:spPr>
      </p:cxnSp>
      <p:cxnSp>
        <p:nvCxnSpPr>
          <p:cNvPr id="680" name="Google Shape;680;p22"/>
          <p:cNvCxnSpPr/>
          <p:nvPr/>
        </p:nvCxnSpPr>
        <p:spPr>
          <a:xfrm>
            <a:off x="2520768" y="4145127"/>
            <a:ext cx="3796735" cy="0"/>
          </a:xfrm>
          <a:prstGeom prst="straightConnector1">
            <a:avLst/>
          </a:prstGeom>
          <a:noFill/>
          <a:ln cap="flat" cmpd="sng" w="38100">
            <a:solidFill>
              <a:srgbClr val="4BACC6"/>
            </a:solidFill>
            <a:prstDash val="dash"/>
            <a:round/>
            <a:headEnd len="sm" w="sm" type="none"/>
            <a:tailEnd len="sm" w="sm" type="none"/>
          </a:ln>
        </p:spPr>
      </p:cxnSp>
      <p:sp>
        <p:nvSpPr>
          <p:cNvPr id="681" name="Google Shape;681;p22"/>
          <p:cNvSpPr/>
          <p:nvPr/>
        </p:nvSpPr>
        <p:spPr>
          <a:xfrm>
            <a:off x="473407" y="923446"/>
            <a:ext cx="8191648" cy="19697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TIPOS DE RELACIONES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Relación No identificada</a:t>
            </a:r>
            <a:endParaRPr b="0" i="0" sz="14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En una relación no identificada la llave primaria de la entidad padre es migrada como un </a:t>
            </a:r>
            <a:br>
              <a:rPr b="0"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atributo más de la entidad hija, es decir, no formará parte de su llave primaria. </a:t>
            </a:r>
            <a:endParaRPr b="0" i="0" sz="14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600"/>
              <a:buFont typeface="Arial"/>
              <a:buChar char="•"/>
            </a:pPr>
            <a:r>
              <a:rPr b="1" i="0" lang="es-PE" sz="1600" u="none" cap="none" strike="noStrike">
                <a:solidFill>
                  <a:schemeClr val="dk1"/>
                </a:solidFill>
                <a:latin typeface="Calibri"/>
                <a:ea typeface="Calibri"/>
                <a:cs typeface="Calibri"/>
                <a:sym typeface="Calibri"/>
              </a:rPr>
              <a:t>Opcional. </a:t>
            </a:r>
            <a:br>
              <a:rPr b="1"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Cuando el valor de una llave foránea no es siempre requerido en la entidad hija. Sin embargo, si un valor existe, el valor de la llave foránea debe encontrarse en la llave primaria de la </a:t>
            </a:r>
            <a:br>
              <a:rPr b="0"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entidad padre.  </a:t>
            </a:r>
            <a:endParaRPr b="0" i="0" sz="1600" u="none" cap="none" strike="noStrike">
              <a:solidFill>
                <a:schemeClr val="dk1"/>
              </a:solidFill>
              <a:latin typeface="Calibri"/>
              <a:ea typeface="Calibri"/>
              <a:cs typeface="Calibri"/>
              <a:sym typeface="Calibri"/>
            </a:endParaRPr>
          </a:p>
        </p:txBody>
      </p:sp>
      <p:graphicFrame>
        <p:nvGraphicFramePr>
          <p:cNvPr id="682" name="Google Shape;682;p22"/>
          <p:cNvGraphicFramePr/>
          <p:nvPr/>
        </p:nvGraphicFramePr>
        <p:xfrm>
          <a:off x="965604" y="3530182"/>
          <a:ext cx="3000000" cy="3000000"/>
        </p:xfrm>
        <a:graphic>
          <a:graphicData uri="http://schemas.openxmlformats.org/drawingml/2006/table">
            <a:tbl>
              <a:tblPr bandRow="1" firstRow="1">
                <a:noFill/>
                <a:tableStyleId>{A57087F9-4250-4EDC-A8BF-423FF0896F0B}</a:tableStyleId>
              </a:tblPr>
              <a:tblGrid>
                <a:gridCol w="159407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Entidad1 </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Attribute11</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Attribute12</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bl>
          </a:graphicData>
        </a:graphic>
      </p:graphicFrame>
      <p:pic>
        <p:nvPicPr>
          <p:cNvPr id="683" name="Google Shape;683;p22"/>
          <p:cNvPicPr preferRelativeResize="0"/>
          <p:nvPr/>
        </p:nvPicPr>
        <p:blipFill rotWithShape="1">
          <a:blip r:embed="rId3">
            <a:alphaModFix/>
          </a:blip>
          <a:srcRect b="40243" l="2930" r="92969" t="45618"/>
          <a:stretch/>
        </p:blipFill>
        <p:spPr>
          <a:xfrm>
            <a:off x="995165" y="3902373"/>
            <a:ext cx="269733" cy="186814"/>
          </a:xfrm>
          <a:prstGeom prst="rect">
            <a:avLst/>
          </a:prstGeom>
          <a:noFill/>
          <a:ln>
            <a:noFill/>
          </a:ln>
        </p:spPr>
      </p:pic>
      <p:pic>
        <p:nvPicPr>
          <p:cNvPr id="684" name="Google Shape;684;p22"/>
          <p:cNvPicPr preferRelativeResize="0"/>
          <p:nvPr/>
        </p:nvPicPr>
        <p:blipFill rotWithShape="1">
          <a:blip r:embed="rId4">
            <a:alphaModFix/>
          </a:blip>
          <a:srcRect b="21833" l="2917" r="92969" t="61737"/>
          <a:stretch/>
        </p:blipFill>
        <p:spPr>
          <a:xfrm>
            <a:off x="994303" y="4152094"/>
            <a:ext cx="270595" cy="217108"/>
          </a:xfrm>
          <a:prstGeom prst="rect">
            <a:avLst/>
          </a:prstGeom>
          <a:noFill/>
          <a:ln>
            <a:noFill/>
          </a:ln>
        </p:spPr>
      </p:pic>
      <p:sp>
        <p:nvSpPr>
          <p:cNvPr id="685" name="Google Shape;685;p22"/>
          <p:cNvSpPr/>
          <p:nvPr/>
        </p:nvSpPr>
        <p:spPr>
          <a:xfrm>
            <a:off x="1230782" y="3621778"/>
            <a:ext cx="176002" cy="13138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686" name="Google Shape;686;p22"/>
          <p:cNvGraphicFramePr/>
          <p:nvPr/>
        </p:nvGraphicFramePr>
        <p:xfrm>
          <a:off x="6279927" y="3525526"/>
          <a:ext cx="3000000" cy="3000000"/>
        </p:xfrm>
        <a:graphic>
          <a:graphicData uri="http://schemas.openxmlformats.org/drawingml/2006/table">
            <a:tbl>
              <a:tblPr bandRow="1" firstRow="1">
                <a:noFill/>
                <a:tableStyleId>{A57087F9-4250-4EDC-A8BF-423FF0896F0B}</a:tableStyleId>
              </a:tblPr>
              <a:tblGrid>
                <a:gridCol w="1904800"/>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Entidad2 </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42300">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Attribute21</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Attribute22</a:t>
                      </a:r>
                      <a:endParaRPr sz="1400" u="none" cap="none" strike="noStrike"/>
                    </a:p>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Attribute11 [FK]</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bl>
          </a:graphicData>
        </a:graphic>
      </p:graphicFrame>
      <p:pic>
        <p:nvPicPr>
          <p:cNvPr id="687" name="Google Shape;687;p22"/>
          <p:cNvPicPr preferRelativeResize="0"/>
          <p:nvPr/>
        </p:nvPicPr>
        <p:blipFill rotWithShape="1">
          <a:blip r:embed="rId3">
            <a:alphaModFix/>
          </a:blip>
          <a:srcRect b="40243" l="2930" r="92969" t="45618"/>
          <a:stretch/>
        </p:blipFill>
        <p:spPr>
          <a:xfrm>
            <a:off x="6440519" y="3884424"/>
            <a:ext cx="269733" cy="186814"/>
          </a:xfrm>
          <a:prstGeom prst="rect">
            <a:avLst/>
          </a:prstGeom>
          <a:noFill/>
          <a:ln>
            <a:noFill/>
          </a:ln>
        </p:spPr>
      </p:pic>
      <p:pic>
        <p:nvPicPr>
          <p:cNvPr id="688" name="Google Shape;688;p22"/>
          <p:cNvPicPr preferRelativeResize="0"/>
          <p:nvPr/>
        </p:nvPicPr>
        <p:blipFill rotWithShape="1">
          <a:blip r:embed="rId4">
            <a:alphaModFix/>
          </a:blip>
          <a:srcRect b="21833" l="2917" r="92969" t="61737"/>
          <a:stretch/>
        </p:blipFill>
        <p:spPr>
          <a:xfrm>
            <a:off x="6367766" y="4181594"/>
            <a:ext cx="270595" cy="217108"/>
          </a:xfrm>
          <a:prstGeom prst="rect">
            <a:avLst/>
          </a:prstGeom>
          <a:noFill/>
          <a:ln>
            <a:noFill/>
          </a:ln>
        </p:spPr>
      </p:pic>
      <p:sp>
        <p:nvSpPr>
          <p:cNvPr id="689" name="Google Shape;689;p22"/>
          <p:cNvSpPr/>
          <p:nvPr/>
        </p:nvSpPr>
        <p:spPr>
          <a:xfrm>
            <a:off x="6695827" y="3617122"/>
            <a:ext cx="176002" cy="13138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90" name="Google Shape;690;p22"/>
          <p:cNvCxnSpPr/>
          <p:nvPr/>
        </p:nvCxnSpPr>
        <p:spPr>
          <a:xfrm rot="10800000">
            <a:off x="5792362" y="3985056"/>
            <a:ext cx="0" cy="320142"/>
          </a:xfrm>
          <a:prstGeom prst="straightConnector1">
            <a:avLst/>
          </a:prstGeom>
          <a:noFill/>
          <a:ln cap="flat" cmpd="sng" w="38100">
            <a:solidFill>
              <a:srgbClr val="4BACC6"/>
            </a:solidFill>
            <a:prstDash val="solid"/>
            <a:round/>
            <a:headEnd len="sm" w="sm" type="none"/>
            <a:tailEnd len="sm" w="sm" type="none"/>
          </a:ln>
        </p:spPr>
      </p:cxnSp>
      <p:cxnSp>
        <p:nvCxnSpPr>
          <p:cNvPr id="691" name="Google Shape;691;p22"/>
          <p:cNvCxnSpPr/>
          <p:nvPr/>
        </p:nvCxnSpPr>
        <p:spPr>
          <a:xfrm rot="10800000">
            <a:off x="2767851" y="3975205"/>
            <a:ext cx="0" cy="320142"/>
          </a:xfrm>
          <a:prstGeom prst="straightConnector1">
            <a:avLst/>
          </a:prstGeom>
          <a:noFill/>
          <a:ln cap="flat" cmpd="sng" w="38100">
            <a:solidFill>
              <a:srgbClr val="4BACC6"/>
            </a:solidFill>
            <a:prstDash val="solid"/>
            <a:round/>
            <a:headEnd len="sm" w="sm" type="none"/>
            <a:tailEnd len="sm" w="sm" type="none"/>
          </a:ln>
        </p:spPr>
      </p:cxnSp>
      <p:sp>
        <p:nvSpPr>
          <p:cNvPr id="692" name="Google Shape;692;p22"/>
          <p:cNvSpPr/>
          <p:nvPr/>
        </p:nvSpPr>
        <p:spPr>
          <a:xfrm>
            <a:off x="2789420" y="4047316"/>
            <a:ext cx="179435" cy="179435"/>
          </a:xfrm>
          <a:prstGeom prst="ellipse">
            <a:avLst/>
          </a:prstGeom>
          <a:solidFill>
            <a:srgbClr val="DEE4EE"/>
          </a:solidFill>
          <a:ln cap="flat" cmpd="sng" w="25400">
            <a:solidFill>
              <a:srgbClr val="4BAC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93" name="Google Shape;693;p22"/>
          <p:cNvPicPr preferRelativeResize="0"/>
          <p:nvPr/>
        </p:nvPicPr>
        <p:blipFill rotWithShape="1">
          <a:blip r:embed="rId5">
            <a:alphaModFix/>
          </a:blip>
          <a:srcRect b="17894" l="69891" r="25374" t="71969"/>
          <a:stretch/>
        </p:blipFill>
        <p:spPr>
          <a:xfrm>
            <a:off x="6348809" y="4484782"/>
            <a:ext cx="204392" cy="132595"/>
          </a:xfrm>
          <a:prstGeom prst="rect">
            <a:avLst/>
          </a:prstGeom>
          <a:noFill/>
          <a:ln>
            <a:noFill/>
          </a:ln>
        </p:spPr>
      </p:pic>
      <p:sp>
        <p:nvSpPr>
          <p:cNvPr id="694" name="Google Shape;694;p22"/>
          <p:cNvSpPr/>
          <p:nvPr/>
        </p:nvSpPr>
        <p:spPr>
          <a:xfrm>
            <a:off x="468313" y="323075"/>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s-PE" sz="1700" u="none" cap="none" strike="noStrike">
                <a:solidFill>
                  <a:srgbClr val="438AD7"/>
                </a:solidFill>
                <a:latin typeface="Calibri"/>
                <a:ea typeface="Calibri"/>
                <a:cs typeface="Calibri"/>
                <a:sym typeface="Calibri"/>
              </a:rPr>
              <a:t>/ EL MODELO LÓGICO DE DATOS</a:t>
            </a:r>
            <a:endParaRPr b="0" i="0" sz="17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23"/>
          <p:cNvSpPr/>
          <p:nvPr/>
        </p:nvSpPr>
        <p:spPr>
          <a:xfrm>
            <a:off x="484038" y="2222378"/>
            <a:ext cx="8228161" cy="2975098"/>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00" name="Google Shape;700;p23"/>
          <p:cNvCxnSpPr/>
          <p:nvPr/>
        </p:nvCxnSpPr>
        <p:spPr>
          <a:xfrm flipH="1" rot="10800000">
            <a:off x="3137961" y="4086069"/>
            <a:ext cx="205464" cy="114728"/>
          </a:xfrm>
          <a:prstGeom prst="straightConnector1">
            <a:avLst/>
          </a:prstGeom>
          <a:noFill/>
          <a:ln cap="flat" cmpd="sng" w="38100">
            <a:solidFill>
              <a:srgbClr val="4BACC6"/>
            </a:solidFill>
            <a:prstDash val="solid"/>
            <a:round/>
            <a:headEnd len="sm" w="sm" type="none"/>
            <a:tailEnd len="sm" w="sm" type="none"/>
          </a:ln>
        </p:spPr>
      </p:cxnSp>
      <p:cxnSp>
        <p:nvCxnSpPr>
          <p:cNvPr id="701" name="Google Shape;701;p23"/>
          <p:cNvCxnSpPr/>
          <p:nvPr/>
        </p:nvCxnSpPr>
        <p:spPr>
          <a:xfrm>
            <a:off x="3137961" y="3958750"/>
            <a:ext cx="205464" cy="125225"/>
          </a:xfrm>
          <a:prstGeom prst="straightConnector1">
            <a:avLst/>
          </a:prstGeom>
          <a:noFill/>
          <a:ln cap="flat" cmpd="sng" w="38100">
            <a:solidFill>
              <a:srgbClr val="4BACC6"/>
            </a:solidFill>
            <a:prstDash val="solid"/>
            <a:round/>
            <a:headEnd len="sm" w="sm" type="none"/>
            <a:tailEnd len="sm" w="sm" type="none"/>
          </a:ln>
        </p:spPr>
      </p:cxnSp>
      <p:cxnSp>
        <p:nvCxnSpPr>
          <p:cNvPr id="702" name="Google Shape;702;p23"/>
          <p:cNvCxnSpPr/>
          <p:nvPr/>
        </p:nvCxnSpPr>
        <p:spPr>
          <a:xfrm rot="10800000">
            <a:off x="2156807" y="4083976"/>
            <a:ext cx="3796735" cy="0"/>
          </a:xfrm>
          <a:prstGeom prst="straightConnector1">
            <a:avLst/>
          </a:prstGeom>
          <a:noFill/>
          <a:ln cap="flat" cmpd="sng" w="38100">
            <a:solidFill>
              <a:srgbClr val="4BACC6"/>
            </a:solidFill>
            <a:prstDash val="dash"/>
            <a:round/>
            <a:headEnd len="sm" w="sm" type="none"/>
            <a:tailEnd len="sm" w="sm" type="none"/>
          </a:ln>
        </p:spPr>
      </p:cxnSp>
      <p:cxnSp>
        <p:nvCxnSpPr>
          <p:cNvPr id="703" name="Google Shape;703;p23"/>
          <p:cNvCxnSpPr/>
          <p:nvPr/>
        </p:nvCxnSpPr>
        <p:spPr>
          <a:xfrm rot="10800000">
            <a:off x="4610088" y="3923905"/>
            <a:ext cx="0" cy="320142"/>
          </a:xfrm>
          <a:prstGeom prst="straightConnector1">
            <a:avLst/>
          </a:prstGeom>
          <a:noFill/>
          <a:ln cap="flat" cmpd="sng" w="38100">
            <a:solidFill>
              <a:srgbClr val="4BACC6"/>
            </a:solidFill>
            <a:prstDash val="solid"/>
            <a:round/>
            <a:headEnd len="sm" w="sm" type="none"/>
            <a:tailEnd len="sm" w="sm" type="none"/>
          </a:ln>
        </p:spPr>
      </p:cxnSp>
      <p:sp>
        <p:nvSpPr>
          <p:cNvPr id="704" name="Google Shape;704;p23"/>
          <p:cNvSpPr/>
          <p:nvPr/>
        </p:nvSpPr>
        <p:spPr>
          <a:xfrm flipH="1">
            <a:off x="3352498" y="3992178"/>
            <a:ext cx="179435" cy="179435"/>
          </a:xfrm>
          <a:prstGeom prst="ellipse">
            <a:avLst/>
          </a:prstGeom>
          <a:solidFill>
            <a:srgbClr val="DEE4EE"/>
          </a:solidFill>
          <a:ln cap="flat" cmpd="sng" w="25400">
            <a:solidFill>
              <a:srgbClr val="4BAC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05" name="Google Shape;705;p23"/>
          <p:cNvCxnSpPr/>
          <p:nvPr/>
        </p:nvCxnSpPr>
        <p:spPr>
          <a:xfrm rot="10800000">
            <a:off x="6074463" y="3078607"/>
            <a:ext cx="205464" cy="114728"/>
          </a:xfrm>
          <a:prstGeom prst="straightConnector1">
            <a:avLst/>
          </a:prstGeom>
          <a:noFill/>
          <a:ln cap="flat" cmpd="sng" w="38100">
            <a:solidFill>
              <a:srgbClr val="4BACC6"/>
            </a:solidFill>
            <a:prstDash val="solid"/>
            <a:round/>
            <a:headEnd len="sm" w="sm" type="none"/>
            <a:tailEnd len="sm" w="sm" type="none"/>
          </a:ln>
        </p:spPr>
      </p:cxnSp>
      <p:cxnSp>
        <p:nvCxnSpPr>
          <p:cNvPr id="706" name="Google Shape;706;p23"/>
          <p:cNvCxnSpPr/>
          <p:nvPr/>
        </p:nvCxnSpPr>
        <p:spPr>
          <a:xfrm flipH="1">
            <a:off x="6074463" y="2951288"/>
            <a:ext cx="205464" cy="125225"/>
          </a:xfrm>
          <a:prstGeom prst="straightConnector1">
            <a:avLst/>
          </a:prstGeom>
          <a:noFill/>
          <a:ln cap="flat" cmpd="sng" w="38100">
            <a:solidFill>
              <a:srgbClr val="4BACC6"/>
            </a:solidFill>
            <a:prstDash val="solid"/>
            <a:round/>
            <a:headEnd len="sm" w="sm" type="none"/>
            <a:tailEnd len="sm" w="sm" type="none"/>
          </a:ln>
        </p:spPr>
      </p:cxnSp>
      <p:cxnSp>
        <p:nvCxnSpPr>
          <p:cNvPr id="707" name="Google Shape;707;p23"/>
          <p:cNvCxnSpPr/>
          <p:nvPr/>
        </p:nvCxnSpPr>
        <p:spPr>
          <a:xfrm>
            <a:off x="2520768" y="3076514"/>
            <a:ext cx="3796735" cy="0"/>
          </a:xfrm>
          <a:prstGeom prst="straightConnector1">
            <a:avLst/>
          </a:prstGeom>
          <a:noFill/>
          <a:ln cap="flat" cmpd="sng" w="38100">
            <a:solidFill>
              <a:srgbClr val="4BACC6"/>
            </a:solidFill>
            <a:prstDash val="dash"/>
            <a:round/>
            <a:headEnd len="sm" w="sm" type="none"/>
            <a:tailEnd len="sm" w="sm" type="none"/>
          </a:ln>
        </p:spPr>
      </p:cxnSp>
      <p:sp>
        <p:nvSpPr>
          <p:cNvPr id="708" name="Google Shape;708;p23"/>
          <p:cNvSpPr/>
          <p:nvPr/>
        </p:nvSpPr>
        <p:spPr>
          <a:xfrm>
            <a:off x="478947" y="923446"/>
            <a:ext cx="8207374" cy="123110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TIPOS DE RELACIONES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Relación No identificada</a:t>
            </a:r>
            <a:endParaRPr b="0" i="0" sz="1400" u="none" cap="none" strike="noStrike">
              <a:solidFill>
                <a:srgbClr val="000000"/>
              </a:solidFill>
              <a:latin typeface="Arial"/>
              <a:ea typeface="Arial"/>
              <a:cs typeface="Arial"/>
              <a:sym typeface="Arial"/>
            </a:endParaRPr>
          </a:p>
          <a:p>
            <a:pPr indent="-215900" lvl="0" marL="215900" marR="0" rtl="0" algn="l">
              <a:lnSpc>
                <a:spcPct val="100000"/>
              </a:lnSpc>
              <a:spcBef>
                <a:spcPts val="0"/>
              </a:spcBef>
              <a:spcAft>
                <a:spcPts val="0"/>
              </a:spcAft>
              <a:buClr>
                <a:schemeClr val="dk1"/>
              </a:buClr>
              <a:buSzPts val="1600"/>
              <a:buFont typeface="Arial"/>
              <a:buChar char="•"/>
            </a:pPr>
            <a:r>
              <a:rPr b="1" i="0" lang="es-PE" sz="1600" u="none" cap="none" strike="noStrike">
                <a:solidFill>
                  <a:schemeClr val="dk1"/>
                </a:solidFill>
                <a:latin typeface="Calibri"/>
                <a:ea typeface="Calibri"/>
                <a:cs typeface="Calibri"/>
                <a:sym typeface="Calibri"/>
              </a:rPr>
              <a:t>Obligatoria</a:t>
            </a:r>
            <a:br>
              <a:rPr b="1"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Cuando el valor de una llave foránea debe existir en la entidad hija y el valor de la llave foránea debe encontrarse en la llave primaria de la entidad padre</a:t>
            </a:r>
            <a:endParaRPr b="0" i="0" sz="1400" u="none" cap="none" strike="noStrike">
              <a:solidFill>
                <a:srgbClr val="000000"/>
              </a:solidFill>
              <a:latin typeface="Arial"/>
              <a:ea typeface="Arial"/>
              <a:cs typeface="Arial"/>
              <a:sym typeface="Arial"/>
            </a:endParaRPr>
          </a:p>
        </p:txBody>
      </p:sp>
      <p:graphicFrame>
        <p:nvGraphicFramePr>
          <p:cNvPr id="709" name="Google Shape;709;p23"/>
          <p:cNvGraphicFramePr/>
          <p:nvPr/>
        </p:nvGraphicFramePr>
        <p:xfrm>
          <a:off x="965604" y="2461569"/>
          <a:ext cx="3000000" cy="3000000"/>
        </p:xfrm>
        <a:graphic>
          <a:graphicData uri="http://schemas.openxmlformats.org/drawingml/2006/table">
            <a:tbl>
              <a:tblPr bandRow="1" firstRow="1">
                <a:noFill/>
                <a:tableStyleId>{A57087F9-4250-4EDC-A8BF-423FF0896F0B}</a:tableStyleId>
              </a:tblPr>
              <a:tblGrid>
                <a:gridCol w="159407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Entity1 </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Attribute11</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Attribute12</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bl>
          </a:graphicData>
        </a:graphic>
      </p:graphicFrame>
      <p:pic>
        <p:nvPicPr>
          <p:cNvPr id="710" name="Google Shape;710;p23"/>
          <p:cNvPicPr preferRelativeResize="0"/>
          <p:nvPr/>
        </p:nvPicPr>
        <p:blipFill rotWithShape="1">
          <a:blip r:embed="rId3">
            <a:alphaModFix/>
          </a:blip>
          <a:srcRect b="40243" l="2930" r="92969" t="45618"/>
          <a:stretch/>
        </p:blipFill>
        <p:spPr>
          <a:xfrm>
            <a:off x="995165" y="2833760"/>
            <a:ext cx="269733" cy="186814"/>
          </a:xfrm>
          <a:prstGeom prst="rect">
            <a:avLst/>
          </a:prstGeom>
          <a:noFill/>
          <a:ln>
            <a:noFill/>
          </a:ln>
        </p:spPr>
      </p:pic>
      <p:pic>
        <p:nvPicPr>
          <p:cNvPr id="711" name="Google Shape;711;p23"/>
          <p:cNvPicPr preferRelativeResize="0"/>
          <p:nvPr/>
        </p:nvPicPr>
        <p:blipFill rotWithShape="1">
          <a:blip r:embed="rId4">
            <a:alphaModFix/>
          </a:blip>
          <a:srcRect b="21833" l="2917" r="92969" t="61737"/>
          <a:stretch/>
        </p:blipFill>
        <p:spPr>
          <a:xfrm>
            <a:off x="994303" y="3083481"/>
            <a:ext cx="270595" cy="217108"/>
          </a:xfrm>
          <a:prstGeom prst="rect">
            <a:avLst/>
          </a:prstGeom>
          <a:noFill/>
          <a:ln>
            <a:noFill/>
          </a:ln>
        </p:spPr>
      </p:pic>
      <p:sp>
        <p:nvSpPr>
          <p:cNvPr id="712" name="Google Shape;712;p23"/>
          <p:cNvSpPr/>
          <p:nvPr/>
        </p:nvSpPr>
        <p:spPr>
          <a:xfrm>
            <a:off x="1230782" y="2553165"/>
            <a:ext cx="176002" cy="13138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713" name="Google Shape;713;p23"/>
          <p:cNvGraphicFramePr/>
          <p:nvPr/>
        </p:nvGraphicFramePr>
        <p:xfrm>
          <a:off x="6279927" y="2456913"/>
          <a:ext cx="3000000" cy="3000000"/>
        </p:xfrm>
        <a:graphic>
          <a:graphicData uri="http://schemas.openxmlformats.org/drawingml/2006/table">
            <a:tbl>
              <a:tblPr bandRow="1" firstRow="1">
                <a:noFill/>
                <a:tableStyleId>{A57087F9-4250-4EDC-A8BF-423FF0896F0B}</a:tableStyleId>
              </a:tblPr>
              <a:tblGrid>
                <a:gridCol w="1904800"/>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Entity2 </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42300">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Attribute21</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Attribute22</a:t>
                      </a:r>
                      <a:endParaRPr sz="1400" u="none" cap="none" strike="noStrike"/>
                    </a:p>
                    <a:p>
                      <a:pPr indent="0" lvl="0" marL="0" marR="0" rtl="0" algn="ctr">
                        <a:lnSpc>
                          <a:spcPct val="100000"/>
                        </a:lnSpc>
                        <a:spcBef>
                          <a:spcPts val="0"/>
                        </a:spcBef>
                        <a:spcAft>
                          <a:spcPts val="0"/>
                        </a:spcAft>
                        <a:buClr>
                          <a:schemeClr val="dk1"/>
                        </a:buClr>
                        <a:buSzPts val="1500"/>
                        <a:buFont typeface="Calibri"/>
                        <a:buNone/>
                      </a:pPr>
                      <a:r>
                        <a:rPr lang="es-PE" sz="1500" u="none" cap="none" strike="noStrike"/>
                        <a:t>Attribute11 [FK]</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bl>
          </a:graphicData>
        </a:graphic>
      </p:graphicFrame>
      <p:pic>
        <p:nvPicPr>
          <p:cNvPr id="714" name="Google Shape;714;p23"/>
          <p:cNvPicPr preferRelativeResize="0"/>
          <p:nvPr/>
        </p:nvPicPr>
        <p:blipFill rotWithShape="1">
          <a:blip r:embed="rId3">
            <a:alphaModFix/>
          </a:blip>
          <a:srcRect b="40243" l="2930" r="92969" t="45618"/>
          <a:stretch/>
        </p:blipFill>
        <p:spPr>
          <a:xfrm>
            <a:off x="6440519" y="2815811"/>
            <a:ext cx="269733" cy="186814"/>
          </a:xfrm>
          <a:prstGeom prst="rect">
            <a:avLst/>
          </a:prstGeom>
          <a:noFill/>
          <a:ln>
            <a:noFill/>
          </a:ln>
        </p:spPr>
      </p:pic>
      <p:pic>
        <p:nvPicPr>
          <p:cNvPr id="715" name="Google Shape;715;p23"/>
          <p:cNvPicPr preferRelativeResize="0"/>
          <p:nvPr/>
        </p:nvPicPr>
        <p:blipFill rotWithShape="1">
          <a:blip r:embed="rId4">
            <a:alphaModFix/>
          </a:blip>
          <a:srcRect b="21833" l="2917" r="92969" t="61737"/>
          <a:stretch/>
        </p:blipFill>
        <p:spPr>
          <a:xfrm>
            <a:off x="6367766" y="3112981"/>
            <a:ext cx="270595" cy="217108"/>
          </a:xfrm>
          <a:prstGeom prst="rect">
            <a:avLst/>
          </a:prstGeom>
          <a:noFill/>
          <a:ln>
            <a:noFill/>
          </a:ln>
        </p:spPr>
      </p:pic>
      <p:sp>
        <p:nvSpPr>
          <p:cNvPr id="716" name="Google Shape;716;p23"/>
          <p:cNvSpPr/>
          <p:nvPr/>
        </p:nvSpPr>
        <p:spPr>
          <a:xfrm>
            <a:off x="6695827" y="2548509"/>
            <a:ext cx="176002" cy="13138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17" name="Google Shape;717;p23"/>
          <p:cNvCxnSpPr/>
          <p:nvPr/>
        </p:nvCxnSpPr>
        <p:spPr>
          <a:xfrm rot="10800000">
            <a:off x="5792362" y="2916443"/>
            <a:ext cx="0" cy="320142"/>
          </a:xfrm>
          <a:prstGeom prst="straightConnector1">
            <a:avLst/>
          </a:prstGeom>
          <a:noFill/>
          <a:ln cap="flat" cmpd="sng" w="38100">
            <a:solidFill>
              <a:srgbClr val="4BACC6"/>
            </a:solidFill>
            <a:prstDash val="solid"/>
            <a:round/>
            <a:headEnd len="sm" w="sm" type="none"/>
            <a:tailEnd len="sm" w="sm" type="none"/>
          </a:ln>
        </p:spPr>
      </p:cxnSp>
      <p:cxnSp>
        <p:nvCxnSpPr>
          <p:cNvPr id="718" name="Google Shape;718;p23"/>
          <p:cNvCxnSpPr/>
          <p:nvPr/>
        </p:nvCxnSpPr>
        <p:spPr>
          <a:xfrm rot="10800000">
            <a:off x="2767851" y="2906592"/>
            <a:ext cx="0" cy="320142"/>
          </a:xfrm>
          <a:prstGeom prst="straightConnector1">
            <a:avLst/>
          </a:prstGeom>
          <a:noFill/>
          <a:ln cap="flat" cmpd="sng" w="38100">
            <a:solidFill>
              <a:srgbClr val="4BACC6"/>
            </a:solidFill>
            <a:prstDash val="solid"/>
            <a:round/>
            <a:headEnd len="sm" w="sm" type="none"/>
            <a:tailEnd len="sm" w="sm" type="none"/>
          </a:ln>
        </p:spPr>
      </p:cxnSp>
      <p:pic>
        <p:nvPicPr>
          <p:cNvPr id="719" name="Google Shape;719;p23"/>
          <p:cNvPicPr preferRelativeResize="0"/>
          <p:nvPr/>
        </p:nvPicPr>
        <p:blipFill rotWithShape="1">
          <a:blip r:embed="rId5">
            <a:alphaModFix/>
          </a:blip>
          <a:srcRect b="17894" l="69891" r="25374" t="71969"/>
          <a:stretch/>
        </p:blipFill>
        <p:spPr>
          <a:xfrm>
            <a:off x="6348809" y="3416169"/>
            <a:ext cx="204392" cy="132595"/>
          </a:xfrm>
          <a:prstGeom prst="rect">
            <a:avLst/>
          </a:prstGeom>
          <a:noFill/>
          <a:ln>
            <a:noFill/>
          </a:ln>
        </p:spPr>
      </p:pic>
      <p:graphicFrame>
        <p:nvGraphicFramePr>
          <p:cNvPr id="720" name="Google Shape;720;p23"/>
          <p:cNvGraphicFramePr/>
          <p:nvPr/>
        </p:nvGraphicFramePr>
        <p:xfrm>
          <a:off x="811857" y="3930275"/>
          <a:ext cx="3000000" cy="3000000"/>
        </p:xfrm>
        <a:graphic>
          <a:graphicData uri="http://schemas.openxmlformats.org/drawingml/2006/table">
            <a:tbl>
              <a:tblPr bandRow="1" firstRow="1">
                <a:noFill/>
                <a:tableStyleId>{A57087F9-4250-4EDC-A8BF-423FF0896F0B}</a:tableStyleId>
              </a:tblPr>
              <a:tblGrid>
                <a:gridCol w="235317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Habitacion</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Codigo: CHAR(5)</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descripcion: CHAR(50)</a:t>
                      </a:r>
                      <a:endParaRPr sz="1400" u="none" cap="none" strike="noStrike"/>
                    </a:p>
                    <a:p>
                      <a:pPr indent="0" lvl="0" marL="0" marR="0" rtl="0" algn="ctr">
                        <a:lnSpc>
                          <a:spcPct val="100000"/>
                        </a:lnSpc>
                        <a:spcBef>
                          <a:spcPts val="0"/>
                        </a:spcBef>
                        <a:spcAft>
                          <a:spcPts val="0"/>
                        </a:spcAft>
                        <a:buClr>
                          <a:schemeClr val="dk1"/>
                        </a:buClr>
                        <a:buSzPts val="1500"/>
                        <a:buFont typeface="Calibri"/>
                        <a:buNone/>
                      </a:pPr>
                      <a:r>
                        <a:rPr lang="es-PE" sz="1500" u="none" cap="none" strike="noStrike"/>
                        <a:t>tipo: CHAR(3) [FK]</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tcPr>
                </a:tc>
              </a:tr>
            </a:tbl>
          </a:graphicData>
        </a:graphic>
      </p:graphicFrame>
      <p:graphicFrame>
        <p:nvGraphicFramePr>
          <p:cNvPr id="721" name="Google Shape;721;p23"/>
          <p:cNvGraphicFramePr/>
          <p:nvPr/>
        </p:nvGraphicFramePr>
        <p:xfrm>
          <a:off x="4829629" y="3930275"/>
          <a:ext cx="3000000" cy="3000000"/>
        </p:xfrm>
        <a:graphic>
          <a:graphicData uri="http://schemas.openxmlformats.org/drawingml/2006/table">
            <a:tbl>
              <a:tblPr bandRow="1" firstRow="1">
                <a:noFill/>
                <a:tableStyleId>{A57087F9-4250-4EDC-A8BF-423FF0896F0B}</a:tableStyleId>
              </a:tblPr>
              <a:tblGrid>
                <a:gridCol w="3553725"/>
              </a:tblGrid>
              <a:tr h="307675">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   Tipo habitacion</a:t>
                      </a:r>
                      <a:endParaRPr sz="15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2EB1B5"/>
                    </a:solidFill>
                  </a:tcPr>
                </a:tc>
              </a:tr>
              <a:tr h="352800">
                <a:tc>
                  <a:txBody>
                    <a:bodyPr/>
                    <a:lstStyle/>
                    <a:p>
                      <a:pPr indent="0" lvl="0" marL="0" marR="0" rtl="0" algn="ctr">
                        <a:lnSpc>
                          <a:spcPct val="100000"/>
                        </a:lnSpc>
                        <a:spcBef>
                          <a:spcPts val="0"/>
                        </a:spcBef>
                        <a:spcAft>
                          <a:spcPts val="0"/>
                        </a:spcAft>
                        <a:buClr>
                          <a:srgbClr val="000000"/>
                        </a:buClr>
                        <a:buSzPts val="1500"/>
                        <a:buFont typeface="Arial"/>
                        <a:buNone/>
                      </a:pPr>
                      <a:r>
                        <a:rPr lang="es-PE" sz="1500" u="none" cap="none" strike="noStrike"/>
                        <a:t>Tipo: CHAR(3)</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r h="307675">
                <a:tc>
                  <a:txBody>
                    <a:bodyPr/>
                    <a:lstStyle/>
                    <a:p>
                      <a:pPr indent="0" lvl="0" marL="0" marR="0" rtl="0" algn="ctr">
                        <a:lnSpc>
                          <a:spcPct val="100000"/>
                        </a:lnSpc>
                        <a:spcBef>
                          <a:spcPts val="0"/>
                        </a:spcBef>
                        <a:spcAft>
                          <a:spcPts val="0"/>
                        </a:spcAft>
                        <a:buClr>
                          <a:schemeClr val="dk1"/>
                        </a:buClr>
                        <a:buSzPts val="1500"/>
                        <a:buFont typeface="Calibri"/>
                        <a:buNone/>
                      </a:pPr>
                      <a:r>
                        <a:rPr lang="es-PE" sz="1500" u="none" cap="none" strike="noStrike"/>
                        <a:t>Descripcion: VACHAR (50) [Nullable]</a:t>
                      </a:r>
                      <a:endParaRPr sz="1400" u="none" cap="none" strike="noStrike"/>
                    </a:p>
                  </a:txBody>
                  <a:tcPr marT="38450" marB="38450" marR="76925" marL="76925">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chemeClr val="lt1"/>
                    </a:solidFill>
                  </a:tcPr>
                </a:tc>
              </a:tr>
            </a:tbl>
          </a:graphicData>
        </a:graphic>
      </p:graphicFrame>
      <p:pic>
        <p:nvPicPr>
          <p:cNvPr id="722" name="Google Shape;722;p23"/>
          <p:cNvPicPr preferRelativeResize="0"/>
          <p:nvPr/>
        </p:nvPicPr>
        <p:blipFill rotWithShape="1">
          <a:blip r:embed="rId6">
            <a:alphaModFix/>
          </a:blip>
          <a:srcRect b="71754" l="13618" r="83916" t="18670"/>
          <a:stretch/>
        </p:blipFill>
        <p:spPr>
          <a:xfrm>
            <a:off x="5734775" y="4018280"/>
            <a:ext cx="223918" cy="144944"/>
          </a:xfrm>
          <a:prstGeom prst="rect">
            <a:avLst/>
          </a:prstGeom>
          <a:noFill/>
          <a:ln>
            <a:noFill/>
          </a:ln>
        </p:spPr>
      </p:pic>
      <p:pic>
        <p:nvPicPr>
          <p:cNvPr id="723" name="Google Shape;723;p23"/>
          <p:cNvPicPr preferRelativeResize="0"/>
          <p:nvPr/>
        </p:nvPicPr>
        <p:blipFill rotWithShape="1">
          <a:blip r:embed="rId6">
            <a:alphaModFix/>
          </a:blip>
          <a:srcRect b="71754" l="13618" r="83916" t="18670"/>
          <a:stretch/>
        </p:blipFill>
        <p:spPr>
          <a:xfrm>
            <a:off x="1362757" y="4013641"/>
            <a:ext cx="223918" cy="144944"/>
          </a:xfrm>
          <a:prstGeom prst="rect">
            <a:avLst/>
          </a:prstGeom>
          <a:noFill/>
          <a:ln>
            <a:noFill/>
          </a:ln>
        </p:spPr>
      </p:pic>
      <p:pic>
        <p:nvPicPr>
          <p:cNvPr id="724" name="Google Shape;724;p23"/>
          <p:cNvPicPr preferRelativeResize="0"/>
          <p:nvPr/>
        </p:nvPicPr>
        <p:blipFill rotWithShape="1">
          <a:blip r:embed="rId6">
            <a:alphaModFix/>
          </a:blip>
          <a:srcRect b="47519" l="2956" r="93825" t="36957"/>
          <a:stretch/>
        </p:blipFill>
        <p:spPr>
          <a:xfrm>
            <a:off x="924440" y="4277199"/>
            <a:ext cx="292443" cy="234950"/>
          </a:xfrm>
          <a:prstGeom prst="rect">
            <a:avLst/>
          </a:prstGeom>
          <a:noFill/>
          <a:ln>
            <a:noFill/>
          </a:ln>
        </p:spPr>
      </p:pic>
      <p:pic>
        <p:nvPicPr>
          <p:cNvPr id="725" name="Google Shape;725;p23"/>
          <p:cNvPicPr preferRelativeResize="0"/>
          <p:nvPr/>
        </p:nvPicPr>
        <p:blipFill rotWithShape="1">
          <a:blip r:embed="rId6">
            <a:alphaModFix/>
          </a:blip>
          <a:srcRect b="30542" l="4342" r="94366" t="54879"/>
          <a:stretch/>
        </p:blipFill>
        <p:spPr>
          <a:xfrm>
            <a:off x="915271" y="4598139"/>
            <a:ext cx="117290" cy="220653"/>
          </a:xfrm>
          <a:prstGeom prst="rect">
            <a:avLst/>
          </a:prstGeom>
          <a:noFill/>
          <a:ln>
            <a:noFill/>
          </a:ln>
        </p:spPr>
      </p:pic>
      <p:pic>
        <p:nvPicPr>
          <p:cNvPr id="726" name="Google Shape;726;p23"/>
          <p:cNvPicPr preferRelativeResize="0"/>
          <p:nvPr/>
        </p:nvPicPr>
        <p:blipFill rotWithShape="1">
          <a:blip r:embed="rId6">
            <a:alphaModFix/>
          </a:blip>
          <a:srcRect b="30542" l="4342" r="94366" t="54879"/>
          <a:stretch/>
        </p:blipFill>
        <p:spPr>
          <a:xfrm>
            <a:off x="4999827" y="4633064"/>
            <a:ext cx="117290" cy="220653"/>
          </a:xfrm>
          <a:prstGeom prst="rect">
            <a:avLst/>
          </a:prstGeom>
          <a:noFill/>
          <a:ln>
            <a:noFill/>
          </a:ln>
        </p:spPr>
      </p:pic>
      <p:pic>
        <p:nvPicPr>
          <p:cNvPr id="727" name="Google Shape;727;p23"/>
          <p:cNvPicPr preferRelativeResize="0"/>
          <p:nvPr/>
        </p:nvPicPr>
        <p:blipFill rotWithShape="1">
          <a:blip r:embed="rId7">
            <a:alphaModFix/>
          </a:blip>
          <a:srcRect b="11005" l="2410" r="94631" t="76111"/>
          <a:stretch/>
        </p:blipFill>
        <p:spPr>
          <a:xfrm>
            <a:off x="1059429" y="4805554"/>
            <a:ext cx="179969" cy="239597"/>
          </a:xfrm>
          <a:prstGeom prst="rect">
            <a:avLst/>
          </a:prstGeom>
          <a:noFill/>
          <a:ln>
            <a:noFill/>
          </a:ln>
        </p:spPr>
      </p:pic>
      <p:pic>
        <p:nvPicPr>
          <p:cNvPr id="728" name="Google Shape;728;p23"/>
          <p:cNvPicPr preferRelativeResize="0"/>
          <p:nvPr/>
        </p:nvPicPr>
        <p:blipFill rotWithShape="1">
          <a:blip r:embed="rId6">
            <a:alphaModFix/>
          </a:blip>
          <a:srcRect b="47519" l="2956" r="93825" t="36957"/>
          <a:stretch/>
        </p:blipFill>
        <p:spPr>
          <a:xfrm>
            <a:off x="5699088" y="4285056"/>
            <a:ext cx="292443" cy="234950"/>
          </a:xfrm>
          <a:prstGeom prst="rect">
            <a:avLst/>
          </a:prstGeom>
          <a:noFill/>
          <a:ln>
            <a:noFill/>
          </a:ln>
        </p:spPr>
      </p:pic>
      <p:sp>
        <p:nvSpPr>
          <p:cNvPr id="729" name="Google Shape;729;p23"/>
          <p:cNvSpPr/>
          <p:nvPr/>
        </p:nvSpPr>
        <p:spPr>
          <a:xfrm>
            <a:off x="468313" y="323075"/>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s-PE" sz="1700" u="none" cap="none" strike="noStrike">
                <a:solidFill>
                  <a:srgbClr val="438AD7"/>
                </a:solidFill>
                <a:latin typeface="Calibri"/>
                <a:ea typeface="Calibri"/>
                <a:cs typeface="Calibri"/>
                <a:sym typeface="Calibri"/>
              </a:rPr>
              <a:t>/ EL MODELO LÓGICO DE DATOS</a:t>
            </a:r>
            <a:endParaRPr b="0" i="0" sz="17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30"/>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6" name="Google Shape;736;p30"/>
          <p:cNvSpPr/>
          <p:nvPr/>
        </p:nvSpPr>
        <p:spPr>
          <a:xfrm>
            <a:off x="424252" y="3703125"/>
            <a:ext cx="7966170"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i="0" lang="es-PE" sz="2800" u="none" cap="none" strike="noStrike">
                <a:solidFill>
                  <a:schemeClr val="lt1"/>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1"/>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pic>
        <p:nvPicPr>
          <p:cNvPr id="742" name="Google Shape;742;p31"/>
          <p:cNvPicPr preferRelativeResize="0"/>
          <p:nvPr/>
        </p:nvPicPr>
        <p:blipFill rotWithShape="1">
          <a:blip r:embed="rId3">
            <a:alphaModFix/>
          </a:blip>
          <a:srcRect b="0" l="17488" r="17718" t="0"/>
          <a:stretch/>
        </p:blipFill>
        <p:spPr>
          <a:xfrm>
            <a:off x="468314" y="912813"/>
            <a:ext cx="3851274" cy="4284662"/>
          </a:xfrm>
          <a:prstGeom prst="rect">
            <a:avLst/>
          </a:prstGeom>
          <a:noFill/>
          <a:ln>
            <a:noFill/>
          </a:ln>
        </p:spPr>
      </p:pic>
      <p:sp>
        <p:nvSpPr>
          <p:cNvPr id="743" name="Google Shape;743;p31"/>
          <p:cNvSpPr/>
          <p:nvPr/>
        </p:nvSpPr>
        <p:spPr>
          <a:xfrm>
            <a:off x="4833378" y="920192"/>
            <a:ext cx="3842310" cy="320087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Contiene </a:t>
            </a:r>
            <a:r>
              <a:rPr b="1" i="0" lang="es-PE" sz="1600" u="none" cap="none" strike="noStrike">
                <a:solidFill>
                  <a:srgbClr val="000000"/>
                </a:solidFill>
                <a:latin typeface="Calibri"/>
                <a:ea typeface="Calibri"/>
                <a:cs typeface="Calibri"/>
                <a:sym typeface="Calibri"/>
              </a:rPr>
              <a:t>las tablas de la BD del sistema </a:t>
            </a:r>
            <a:r>
              <a:rPr b="0" i="0" lang="es-PE" sz="1600" u="none" cap="none" strike="noStrike">
                <a:solidFill>
                  <a:srgbClr val="000000"/>
                </a:solidFill>
                <a:latin typeface="Calibri"/>
                <a:ea typeface="Calibri"/>
                <a:cs typeface="Calibri"/>
                <a:sym typeface="Calibri"/>
              </a:rPr>
              <a:t>y es </a:t>
            </a:r>
            <a:r>
              <a:rPr b="1" i="0" lang="es-PE" sz="1600" u="none" cap="none" strike="noStrike">
                <a:solidFill>
                  <a:srgbClr val="000000"/>
                </a:solidFill>
                <a:latin typeface="Calibri"/>
                <a:ea typeface="Calibri"/>
                <a:cs typeface="Calibri"/>
                <a:sym typeface="Calibri"/>
              </a:rPr>
              <a:t>específico a un SGBD</a:t>
            </a:r>
            <a:r>
              <a:rPr b="0" i="0" lang="es-PE" sz="1600" u="none" cap="none" strike="noStrike">
                <a:solidFill>
                  <a:srgbClr val="000000"/>
                </a:solidFill>
                <a:latin typeface="Calibri"/>
                <a:ea typeface="Calibri"/>
                <a:cs typeface="Calibri"/>
                <a:sym typeface="Calibri"/>
              </a:rPr>
              <a:t>. El paso de un modelo lógico a uno físico requiere un profundo entendimiento del manejador de bases de datos que se desea emplear, incluyendo características como:</a:t>
            </a:r>
            <a:endParaRPr/>
          </a:p>
          <a:p>
            <a:pPr indent="-82550" lvl="0" marL="1841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173038" lvl="0" marL="182563"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Detalles acerca del indexamiento, integridad referencial, restricciones, tipos de datos, etc.</a:t>
            </a:r>
            <a:endParaRPr/>
          </a:p>
          <a:p>
            <a:pPr indent="-173038" lvl="0" marL="182563"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Detalles y variaciones de las versiones. </a:t>
            </a:r>
            <a:endParaRPr/>
          </a:p>
          <a:p>
            <a:pPr indent="-173038" lvl="0" marL="182563"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Parámetros de configuración. </a:t>
            </a:r>
            <a:endParaRPr/>
          </a:p>
          <a:p>
            <a:pPr indent="-173038" lvl="0" marL="182563"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Data Definition Language (DDL).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graphicFrame>
        <p:nvGraphicFramePr>
          <p:cNvPr id="748" name="Google Shape;748;p32"/>
          <p:cNvGraphicFramePr/>
          <p:nvPr/>
        </p:nvGraphicFramePr>
        <p:xfrm>
          <a:off x="503237" y="1237129"/>
          <a:ext cx="3000000" cy="3000000"/>
        </p:xfrm>
        <a:graphic>
          <a:graphicData uri="http://schemas.openxmlformats.org/drawingml/2006/table">
            <a:tbl>
              <a:tblPr bandRow="1" firstRow="1">
                <a:noFill/>
                <a:tableStyleId>{111FAAAF-390B-45C5-8ABE-32D9CDC8B455}</a:tableStyleId>
              </a:tblPr>
              <a:tblGrid>
                <a:gridCol w="2281525"/>
                <a:gridCol w="1517075"/>
                <a:gridCol w="2015825"/>
                <a:gridCol w="2323100"/>
              </a:tblGrid>
              <a:tr h="251950">
                <a:tc>
                  <a:txBody>
                    <a:bodyPr/>
                    <a:lstStyle/>
                    <a:p>
                      <a:pPr indent="0" lvl="0" marL="0" marR="0" rtl="0" algn="ctr">
                        <a:lnSpc>
                          <a:spcPct val="100000"/>
                        </a:lnSpc>
                        <a:spcBef>
                          <a:spcPts val="0"/>
                        </a:spcBef>
                        <a:spcAft>
                          <a:spcPts val="0"/>
                        </a:spcAft>
                        <a:buNone/>
                      </a:pPr>
                      <a:r>
                        <a:rPr lang="es-PE" sz="1050" u="none" cap="none" strike="noStrike">
                          <a:solidFill>
                            <a:schemeClr val="lt1"/>
                          </a:solidFill>
                        </a:rPr>
                        <a:t>LOGO </a:t>
                      </a:r>
                      <a:endParaRPr b="1" sz="1050" u="none" cap="none" strike="noStrike">
                        <a:solidFill>
                          <a:schemeClr val="lt1"/>
                        </a:solidFill>
                      </a:endParaRPr>
                    </a:p>
                  </a:txBody>
                  <a:tcPr marT="45725" marB="45725" marR="91450" marL="91450">
                    <a:solidFill>
                      <a:srgbClr val="634E97"/>
                    </a:solidFill>
                  </a:tcPr>
                </a:tc>
                <a:tc>
                  <a:txBody>
                    <a:bodyPr/>
                    <a:lstStyle/>
                    <a:p>
                      <a:pPr indent="0" lvl="0" marL="0" marR="0" rtl="0" algn="ctr">
                        <a:lnSpc>
                          <a:spcPct val="100000"/>
                        </a:lnSpc>
                        <a:spcBef>
                          <a:spcPts val="0"/>
                        </a:spcBef>
                        <a:spcAft>
                          <a:spcPts val="0"/>
                        </a:spcAft>
                        <a:buNone/>
                      </a:pPr>
                      <a:r>
                        <a:rPr lang="es-PE" sz="1050" u="none" cap="none" strike="noStrike">
                          <a:solidFill>
                            <a:schemeClr val="lt1"/>
                          </a:solidFill>
                        </a:rPr>
                        <a:t>NOMBRE </a:t>
                      </a:r>
                      <a:endParaRPr b="1" sz="1050" u="none" cap="none" strike="noStrike">
                        <a:solidFill>
                          <a:schemeClr val="lt1"/>
                        </a:solidFill>
                      </a:endParaRPr>
                    </a:p>
                  </a:txBody>
                  <a:tcPr marT="45725" marB="45725" marR="91450" marL="91450">
                    <a:solidFill>
                      <a:srgbClr val="634E97"/>
                    </a:solidFill>
                  </a:tcPr>
                </a:tc>
                <a:tc>
                  <a:txBody>
                    <a:bodyPr/>
                    <a:lstStyle/>
                    <a:p>
                      <a:pPr indent="0" lvl="0" marL="0" marR="0" rtl="0" algn="ctr">
                        <a:lnSpc>
                          <a:spcPct val="100000"/>
                        </a:lnSpc>
                        <a:spcBef>
                          <a:spcPts val="0"/>
                        </a:spcBef>
                        <a:spcAft>
                          <a:spcPts val="0"/>
                        </a:spcAft>
                        <a:buNone/>
                      </a:pPr>
                      <a:r>
                        <a:rPr lang="es-PE" sz="1050" u="none" cap="none" strike="noStrike">
                          <a:solidFill>
                            <a:schemeClr val="lt1"/>
                          </a:solidFill>
                        </a:rPr>
                        <a:t>URL</a:t>
                      </a:r>
                      <a:endParaRPr b="1" sz="1050" u="none" cap="none" strike="noStrike">
                        <a:solidFill>
                          <a:schemeClr val="lt1"/>
                        </a:solidFill>
                      </a:endParaRPr>
                    </a:p>
                  </a:txBody>
                  <a:tcPr marT="45725" marB="45725" marR="91450" marL="91450">
                    <a:solidFill>
                      <a:srgbClr val="634E97"/>
                    </a:solidFill>
                  </a:tcPr>
                </a:tc>
                <a:tc>
                  <a:txBody>
                    <a:bodyPr/>
                    <a:lstStyle/>
                    <a:p>
                      <a:pPr indent="0" lvl="0" marL="0" marR="0" rtl="0" algn="ctr">
                        <a:lnSpc>
                          <a:spcPct val="100000"/>
                        </a:lnSpc>
                        <a:spcBef>
                          <a:spcPts val="0"/>
                        </a:spcBef>
                        <a:spcAft>
                          <a:spcPts val="0"/>
                        </a:spcAft>
                        <a:buNone/>
                      </a:pPr>
                      <a:r>
                        <a:rPr lang="es-PE" sz="1050" u="none" cap="none" strike="noStrike">
                          <a:solidFill>
                            <a:schemeClr val="lt1"/>
                          </a:solidFill>
                        </a:rPr>
                        <a:t>PRODUCTOS</a:t>
                      </a:r>
                      <a:endParaRPr b="1" sz="1050" u="none" cap="none" strike="noStrike">
                        <a:solidFill>
                          <a:schemeClr val="lt1"/>
                        </a:solidFill>
                      </a:endParaRPr>
                    </a:p>
                  </a:txBody>
                  <a:tcPr marT="45725" marB="45725" marR="91450" marL="91450">
                    <a:solidFill>
                      <a:srgbClr val="634E97"/>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Sybase</a:t>
                      </a:r>
                      <a:endParaRPr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www.sybase.com</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Adaptive server</a:t>
                      </a:r>
                      <a:endParaRPr/>
                    </a:p>
                  </a:txBody>
                  <a:tcPr marT="45725" marB="45725" marR="91450" marL="91450">
                    <a:solidFill>
                      <a:schemeClr val="lt1"/>
                    </a:solidFill>
                  </a:tcPr>
                </a:tc>
              </a:tr>
              <a:tr h="418375">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Oracle </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www.oracle.com</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s-PE" sz="1100" u="none" cap="none" strike="noStrike"/>
                        <a:t>Oracle8, Oracle8i, Oracle8EE, Oracle9i, Oracle10g,</a:t>
                      </a:r>
                      <a:endParaRPr/>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PostgreSQL</a:t>
                      </a:r>
                      <a:endParaRPr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www.postgresql.org</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PostgreSQL</a:t>
                      </a:r>
                      <a:endParaRPr sz="1100" u="none" cap="none" strike="noStrike"/>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Microsoft </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www.microsofot.com</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Access, MS-SQL Server</a:t>
                      </a:r>
                      <a:endParaRPr/>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MySQL</a:t>
                      </a:r>
                      <a:endParaRPr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www.mysql.com</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MySQL</a:t>
                      </a:r>
                      <a:endParaRPr sz="1100" u="none" cap="none" strike="noStrike"/>
                    </a:p>
                  </a:txBody>
                  <a:tcPr marT="45725" marB="45725" marR="91450" marL="91450">
                    <a:solidFill>
                      <a:schemeClr val="lt1"/>
                    </a:solidFill>
                  </a:tcPr>
                </a:tc>
              </a:tr>
              <a:tr h="418375">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Informix</a:t>
                      </a:r>
                      <a:endParaRPr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www.informix.com</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Illustra,</a:t>
                      </a:r>
                      <a:r>
                        <a:rPr lang="es-PE" sz="1100" u="none" cap="none" strike="noStrike"/>
                        <a:t> Universal Server, Dynamic Server </a:t>
                      </a:r>
                      <a:endParaRPr sz="1100" u="none" cap="none" strike="noStrike"/>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IBM</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www.ibm.com</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DB2</a:t>
                      </a:r>
                      <a:endParaRPr/>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Apache</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http://db.apache.org/derby</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Derby</a:t>
                      </a:r>
                      <a:endParaRPr/>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SQLite</a:t>
                      </a:r>
                      <a:endParaRPr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http://www.sqlite.org</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SQLite</a:t>
                      </a:r>
                      <a:endParaRPr sz="1100" u="none" cap="none" strike="noStrike"/>
                    </a:p>
                  </a:txBody>
                  <a:tcPr marT="45725" marB="45725" marR="91450" marL="91450">
                    <a:solidFill>
                      <a:schemeClr val="lt1"/>
                    </a:solidFill>
                  </a:tcPr>
                </a:tc>
              </a:tr>
              <a:tr h="358950">
                <a:tc>
                  <a:txBody>
                    <a:bodyPr/>
                    <a:lstStyle/>
                    <a:p>
                      <a:pPr indent="0" lvl="0" marL="0" marR="0" rtl="0" algn="l">
                        <a:lnSpc>
                          <a:spcPct val="100000"/>
                        </a:lnSpc>
                        <a:spcBef>
                          <a:spcPts val="0"/>
                        </a:spcBef>
                        <a:spcAft>
                          <a:spcPts val="0"/>
                        </a:spcAft>
                        <a:buNone/>
                      </a:pPr>
                      <a:r>
                        <a:t/>
                      </a:r>
                      <a:endParaRPr sz="105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Firebird </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http://firebird.sourceforge.net</a:t>
                      </a:r>
                      <a:endParaRPr b="1" sz="1100" u="none" cap="none" strike="noStrike"/>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s-PE" sz="1100" u="none" cap="none" strike="noStrike"/>
                        <a:t>Firebird</a:t>
                      </a:r>
                      <a:r>
                        <a:rPr lang="es-PE" sz="1100" u="none" cap="none" strike="noStrike"/>
                        <a:t> </a:t>
                      </a:r>
                      <a:endParaRPr sz="1100" u="none" cap="none" strike="noStrike"/>
                    </a:p>
                  </a:txBody>
                  <a:tcPr marT="45725" marB="45725" marR="91450" marL="91450">
                    <a:solidFill>
                      <a:schemeClr val="lt1"/>
                    </a:solidFill>
                  </a:tcPr>
                </a:tc>
              </a:tr>
            </a:tbl>
          </a:graphicData>
        </a:graphic>
      </p:graphicFrame>
      <p:sp>
        <p:nvSpPr>
          <p:cNvPr id="749" name="Google Shape;749;p32"/>
          <p:cNvSpPr/>
          <p:nvPr/>
        </p:nvSpPr>
        <p:spPr>
          <a:xfrm>
            <a:off x="479500" y="921778"/>
            <a:ext cx="8124750" cy="246221"/>
          </a:xfrm>
          <a:prstGeom prst="rect">
            <a:avLst/>
          </a:prstGeom>
          <a:noFill/>
          <a:ln>
            <a:noFill/>
          </a:ln>
        </p:spPr>
        <p:txBody>
          <a:bodyPr anchorCtr="0" anchor="t" bIns="0" lIns="0" spcFirstLastPara="1" rIns="0" wrap="square" tIns="0">
            <a:spAutoFit/>
          </a:bodyPr>
          <a:lstStyle/>
          <a:p>
            <a:pPr indent="0" lvl="0" marL="9525" marR="0" rtl="0" algn="ctr">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Arial"/>
                <a:ea typeface="Arial"/>
                <a:cs typeface="Arial"/>
                <a:sym typeface="Arial"/>
              </a:rPr>
              <a:t>SISTEMAS GESTORES DE BASE DE DATOS</a:t>
            </a:r>
            <a:endParaRPr/>
          </a:p>
        </p:txBody>
      </p:sp>
      <p:pic>
        <p:nvPicPr>
          <p:cNvPr id="750" name="Google Shape;750;p32"/>
          <p:cNvPicPr preferRelativeResize="0"/>
          <p:nvPr/>
        </p:nvPicPr>
        <p:blipFill rotWithShape="1">
          <a:blip r:embed="rId3">
            <a:alphaModFix/>
          </a:blip>
          <a:srcRect b="52445" l="36476" r="54350" t="42783"/>
          <a:stretch/>
        </p:blipFill>
        <p:spPr>
          <a:xfrm>
            <a:off x="1133293" y="1492882"/>
            <a:ext cx="1077720" cy="315325"/>
          </a:xfrm>
          <a:prstGeom prst="rect">
            <a:avLst/>
          </a:prstGeom>
          <a:noFill/>
          <a:ln>
            <a:noFill/>
          </a:ln>
        </p:spPr>
      </p:pic>
      <p:pic>
        <p:nvPicPr>
          <p:cNvPr id="751" name="Google Shape;751;p32"/>
          <p:cNvPicPr preferRelativeResize="0"/>
          <p:nvPr/>
        </p:nvPicPr>
        <p:blipFill rotWithShape="1">
          <a:blip r:embed="rId3">
            <a:alphaModFix/>
          </a:blip>
          <a:srcRect b="46206" l="37397" r="52147" t="50414"/>
          <a:stretch/>
        </p:blipFill>
        <p:spPr>
          <a:xfrm>
            <a:off x="834308" y="1887564"/>
            <a:ext cx="1675690" cy="304620"/>
          </a:xfrm>
          <a:prstGeom prst="rect">
            <a:avLst/>
          </a:prstGeom>
          <a:noFill/>
          <a:ln>
            <a:noFill/>
          </a:ln>
        </p:spPr>
      </p:pic>
      <p:pic>
        <p:nvPicPr>
          <p:cNvPr id="752" name="Google Shape;752;p32"/>
          <p:cNvPicPr preferRelativeResize="0"/>
          <p:nvPr/>
        </p:nvPicPr>
        <p:blipFill rotWithShape="1">
          <a:blip r:embed="rId3">
            <a:alphaModFix/>
          </a:blip>
          <a:srcRect b="38474" l="39044" r="56259" t="54847"/>
          <a:stretch/>
        </p:blipFill>
        <p:spPr>
          <a:xfrm>
            <a:off x="1474976" y="2276475"/>
            <a:ext cx="394354" cy="315317"/>
          </a:xfrm>
          <a:prstGeom prst="rect">
            <a:avLst/>
          </a:prstGeom>
          <a:noFill/>
          <a:ln>
            <a:noFill/>
          </a:ln>
        </p:spPr>
      </p:pic>
      <p:pic>
        <p:nvPicPr>
          <p:cNvPr id="753" name="Google Shape;753;p32"/>
          <p:cNvPicPr preferRelativeResize="0"/>
          <p:nvPr/>
        </p:nvPicPr>
        <p:blipFill rotWithShape="1">
          <a:blip r:embed="rId4">
            <a:alphaModFix/>
          </a:blip>
          <a:srcRect b="63778" l="36585" r="58067" t="34286"/>
          <a:stretch/>
        </p:blipFill>
        <p:spPr>
          <a:xfrm>
            <a:off x="924950" y="2655107"/>
            <a:ext cx="1494407" cy="303994"/>
          </a:xfrm>
          <a:prstGeom prst="rect">
            <a:avLst/>
          </a:prstGeom>
          <a:noFill/>
          <a:ln>
            <a:noFill/>
          </a:ln>
        </p:spPr>
      </p:pic>
      <p:pic>
        <p:nvPicPr>
          <p:cNvPr id="754" name="Google Shape;754;p32"/>
          <p:cNvPicPr preferRelativeResize="0"/>
          <p:nvPr/>
        </p:nvPicPr>
        <p:blipFill rotWithShape="1">
          <a:blip r:embed="rId4">
            <a:alphaModFix/>
          </a:blip>
          <a:srcRect b="54047" l="35753" r="53779" t="36443"/>
          <a:stretch/>
        </p:blipFill>
        <p:spPr>
          <a:xfrm>
            <a:off x="1362915" y="3004808"/>
            <a:ext cx="618476" cy="316004"/>
          </a:xfrm>
          <a:prstGeom prst="rect">
            <a:avLst/>
          </a:prstGeom>
          <a:noFill/>
          <a:ln>
            <a:noFill/>
          </a:ln>
        </p:spPr>
      </p:pic>
      <p:pic>
        <p:nvPicPr>
          <p:cNvPr id="755" name="Google Shape;755;p32"/>
          <p:cNvPicPr preferRelativeResize="0"/>
          <p:nvPr/>
        </p:nvPicPr>
        <p:blipFill rotWithShape="1">
          <a:blip r:embed="rId4">
            <a:alphaModFix/>
          </a:blip>
          <a:srcRect b="44753" l="35753" r="56095" t="50476"/>
          <a:stretch/>
        </p:blipFill>
        <p:spPr>
          <a:xfrm>
            <a:off x="1118849" y="3398222"/>
            <a:ext cx="1106609" cy="364312"/>
          </a:xfrm>
          <a:prstGeom prst="rect">
            <a:avLst/>
          </a:prstGeom>
          <a:noFill/>
          <a:ln>
            <a:noFill/>
          </a:ln>
        </p:spPr>
      </p:pic>
      <p:pic>
        <p:nvPicPr>
          <p:cNvPr id="756" name="Google Shape;756;p32"/>
          <p:cNvPicPr preferRelativeResize="0"/>
          <p:nvPr/>
        </p:nvPicPr>
        <p:blipFill rotWithShape="1">
          <a:blip r:embed="rId4">
            <a:alphaModFix/>
          </a:blip>
          <a:srcRect b="36315" l="34830" r="56034" t="57789"/>
          <a:stretch/>
        </p:blipFill>
        <p:spPr>
          <a:xfrm>
            <a:off x="1196484" y="3784330"/>
            <a:ext cx="951338" cy="345348"/>
          </a:xfrm>
          <a:prstGeom prst="rect">
            <a:avLst/>
          </a:prstGeom>
          <a:noFill/>
          <a:ln>
            <a:noFill/>
          </a:ln>
        </p:spPr>
      </p:pic>
      <p:pic>
        <p:nvPicPr>
          <p:cNvPr id="757" name="Google Shape;757;p32"/>
          <p:cNvPicPr preferRelativeResize="0"/>
          <p:nvPr/>
        </p:nvPicPr>
        <p:blipFill rotWithShape="1">
          <a:blip r:embed="rId4">
            <a:alphaModFix/>
          </a:blip>
          <a:srcRect b="30083" l="34264" r="53455" t="64295"/>
          <a:stretch/>
        </p:blipFill>
        <p:spPr>
          <a:xfrm>
            <a:off x="1046873" y="4166273"/>
            <a:ext cx="1250561" cy="321915"/>
          </a:xfrm>
          <a:prstGeom prst="rect">
            <a:avLst/>
          </a:prstGeom>
          <a:noFill/>
          <a:ln>
            <a:noFill/>
          </a:ln>
        </p:spPr>
      </p:pic>
      <p:pic>
        <p:nvPicPr>
          <p:cNvPr id="758" name="Google Shape;758;p32"/>
          <p:cNvPicPr preferRelativeResize="0"/>
          <p:nvPr/>
        </p:nvPicPr>
        <p:blipFill rotWithShape="1">
          <a:blip r:embed="rId4">
            <a:alphaModFix/>
          </a:blip>
          <a:srcRect b="23768" l="34043" r="51556" t="69636"/>
          <a:stretch/>
        </p:blipFill>
        <p:spPr>
          <a:xfrm>
            <a:off x="1079397" y="4533418"/>
            <a:ext cx="1185513" cy="305482"/>
          </a:xfrm>
          <a:prstGeom prst="rect">
            <a:avLst/>
          </a:prstGeom>
          <a:noFill/>
          <a:ln>
            <a:noFill/>
          </a:ln>
        </p:spPr>
      </p:pic>
      <p:pic>
        <p:nvPicPr>
          <p:cNvPr id="759" name="Google Shape;759;p32"/>
          <p:cNvPicPr preferRelativeResize="0"/>
          <p:nvPr/>
        </p:nvPicPr>
        <p:blipFill rotWithShape="1">
          <a:blip r:embed="rId4">
            <a:alphaModFix/>
          </a:blip>
          <a:srcRect b="17015" l="37275" r="58345" t="75160"/>
          <a:stretch/>
        </p:blipFill>
        <p:spPr>
          <a:xfrm>
            <a:off x="1523918" y="4906207"/>
            <a:ext cx="296470" cy="297922"/>
          </a:xfrm>
          <a:prstGeom prst="rect">
            <a:avLst/>
          </a:prstGeom>
          <a:noFill/>
          <a:ln>
            <a:noFill/>
          </a:ln>
        </p:spPr>
      </p:pic>
      <p:sp>
        <p:nvSpPr>
          <p:cNvPr id="760" name="Google Shape;760;p32"/>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33"/>
          <p:cNvSpPr/>
          <p:nvPr/>
        </p:nvSpPr>
        <p:spPr>
          <a:xfrm>
            <a:off x="468313" y="1317812"/>
            <a:ext cx="8207375" cy="3879664"/>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cxnSp>
        <p:nvCxnSpPr>
          <p:cNvPr id="766" name="Google Shape;766;p33"/>
          <p:cNvCxnSpPr/>
          <p:nvPr/>
        </p:nvCxnSpPr>
        <p:spPr>
          <a:xfrm>
            <a:off x="7531769" y="4374307"/>
            <a:ext cx="486634" cy="0"/>
          </a:xfrm>
          <a:prstGeom prst="straightConnector1">
            <a:avLst/>
          </a:prstGeom>
          <a:noFill/>
          <a:ln cap="flat" cmpd="sng" w="28575">
            <a:solidFill>
              <a:srgbClr val="E6594B"/>
            </a:solidFill>
            <a:prstDash val="solid"/>
            <a:round/>
            <a:headEnd len="sm" w="sm" type="none"/>
            <a:tailEnd len="med" w="med" type="stealth"/>
          </a:ln>
        </p:spPr>
      </p:cxnSp>
      <p:cxnSp>
        <p:nvCxnSpPr>
          <p:cNvPr id="767" name="Google Shape;767;p33"/>
          <p:cNvCxnSpPr/>
          <p:nvPr/>
        </p:nvCxnSpPr>
        <p:spPr>
          <a:xfrm>
            <a:off x="5208316" y="4374307"/>
            <a:ext cx="486634" cy="0"/>
          </a:xfrm>
          <a:prstGeom prst="straightConnector1">
            <a:avLst/>
          </a:prstGeom>
          <a:noFill/>
          <a:ln cap="flat" cmpd="sng" w="28575">
            <a:solidFill>
              <a:srgbClr val="E6594B"/>
            </a:solidFill>
            <a:prstDash val="solid"/>
            <a:round/>
            <a:headEnd len="sm" w="sm" type="none"/>
            <a:tailEnd len="med" w="med" type="stealth"/>
          </a:ln>
        </p:spPr>
      </p:cxnSp>
      <p:cxnSp>
        <p:nvCxnSpPr>
          <p:cNvPr id="768" name="Google Shape;768;p33"/>
          <p:cNvCxnSpPr/>
          <p:nvPr/>
        </p:nvCxnSpPr>
        <p:spPr>
          <a:xfrm>
            <a:off x="2802000" y="4374307"/>
            <a:ext cx="486634" cy="0"/>
          </a:xfrm>
          <a:prstGeom prst="straightConnector1">
            <a:avLst/>
          </a:prstGeom>
          <a:noFill/>
          <a:ln cap="flat" cmpd="sng" w="28575">
            <a:solidFill>
              <a:srgbClr val="E6594B"/>
            </a:solidFill>
            <a:prstDash val="solid"/>
            <a:round/>
            <a:headEnd len="sm" w="sm" type="none"/>
            <a:tailEnd len="med" w="med" type="stealth"/>
          </a:ln>
        </p:spPr>
      </p:cxnSp>
      <p:sp>
        <p:nvSpPr>
          <p:cNvPr id="769" name="Google Shape;769;p33"/>
          <p:cNvSpPr/>
          <p:nvPr/>
        </p:nvSpPr>
        <p:spPr>
          <a:xfrm>
            <a:off x="479500" y="921778"/>
            <a:ext cx="8124750" cy="246221"/>
          </a:xfrm>
          <a:prstGeom prst="rect">
            <a:avLst/>
          </a:prstGeom>
          <a:noFill/>
          <a:ln>
            <a:noFill/>
          </a:ln>
        </p:spPr>
        <p:txBody>
          <a:bodyPr anchorCtr="0" anchor="t" bIns="0" lIns="0" spcFirstLastPara="1" rIns="0" wrap="square" tIns="0">
            <a:spAutoFit/>
          </a:bodyPr>
          <a:lstStyle/>
          <a:p>
            <a:pPr indent="0" lvl="0" marL="9525" marR="0" rtl="0" algn="ctr">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Arial"/>
                <a:ea typeface="Arial"/>
                <a:cs typeface="Arial"/>
                <a:sym typeface="Arial"/>
              </a:rPr>
              <a:t>TRANSFORMACIÓN AL MODELO FÍSICO</a:t>
            </a:r>
            <a:endParaRPr/>
          </a:p>
        </p:txBody>
      </p:sp>
      <p:sp>
        <p:nvSpPr>
          <p:cNvPr id="770" name="Google Shape;770;p33"/>
          <p:cNvSpPr txBox="1"/>
          <p:nvPr/>
        </p:nvSpPr>
        <p:spPr>
          <a:xfrm>
            <a:off x="2239922" y="4189414"/>
            <a:ext cx="769308" cy="3697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p:txBody>
      </p:sp>
      <p:sp>
        <p:nvSpPr>
          <p:cNvPr id="771" name="Google Shape;771;p33"/>
          <p:cNvSpPr txBox="1"/>
          <p:nvPr/>
        </p:nvSpPr>
        <p:spPr>
          <a:xfrm>
            <a:off x="666812" y="4198315"/>
            <a:ext cx="773023"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600"/>
              <a:buFont typeface="Noto Sans Symbols"/>
              <a:buNone/>
            </a:pPr>
            <a:r>
              <a:rPr b="0" i="0" lang="es-PE" sz="1600" u="none" cap="none" strike="noStrike">
                <a:solidFill>
                  <a:schemeClr val="dk1"/>
                </a:solidFill>
                <a:latin typeface="Arial"/>
                <a:ea typeface="Arial"/>
                <a:cs typeface="Arial"/>
                <a:sym typeface="Arial"/>
              </a:rPr>
              <a:t>En IDA</a:t>
            </a:r>
            <a:endParaRPr b="0" i="0" sz="1600" u="none" cap="none" strike="noStrike">
              <a:solidFill>
                <a:schemeClr val="dk1"/>
              </a:solidFill>
              <a:latin typeface="Arial"/>
              <a:ea typeface="Arial"/>
              <a:cs typeface="Arial"/>
              <a:sym typeface="Arial"/>
            </a:endParaRPr>
          </a:p>
        </p:txBody>
      </p:sp>
      <p:sp>
        <p:nvSpPr>
          <p:cNvPr id="772" name="Google Shape;772;p33"/>
          <p:cNvSpPr/>
          <p:nvPr/>
        </p:nvSpPr>
        <p:spPr>
          <a:xfrm>
            <a:off x="1847729" y="3906071"/>
            <a:ext cx="1161501" cy="936473"/>
          </a:xfrm>
          <a:prstGeom prst="roundRect">
            <a:avLst>
              <a:gd fmla="val 16667" name="adj"/>
            </a:avLst>
          </a:prstGeom>
          <a:solidFill>
            <a:srgbClr val="0197A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Arial"/>
                <a:ea typeface="Arial"/>
                <a:cs typeface="Arial"/>
                <a:sym typeface="Arial"/>
              </a:rPr>
              <a:t>Importar el LDM</a:t>
            </a:r>
            <a:endParaRPr/>
          </a:p>
        </p:txBody>
      </p:sp>
      <p:sp>
        <p:nvSpPr>
          <p:cNvPr id="773" name="Google Shape;773;p33"/>
          <p:cNvSpPr/>
          <p:nvPr/>
        </p:nvSpPr>
        <p:spPr>
          <a:xfrm>
            <a:off x="3357135" y="3906071"/>
            <a:ext cx="2057080" cy="936473"/>
          </a:xfrm>
          <a:prstGeom prst="roundRect">
            <a:avLst>
              <a:gd fmla="val 16667" name="adj"/>
            </a:avLst>
          </a:prstGeom>
          <a:solidFill>
            <a:srgbClr val="0197A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Arial"/>
                <a:ea typeface="Arial"/>
                <a:cs typeface="Arial"/>
                <a:sym typeface="Arial"/>
              </a:rPr>
              <a:t>Transformar el LDM</a:t>
            </a:r>
            <a:br>
              <a:rPr b="0" i="0" lang="es-PE" sz="1600" u="none" cap="none" strike="noStrike">
                <a:solidFill>
                  <a:schemeClr val="lt1"/>
                </a:solidFill>
                <a:latin typeface="Arial"/>
                <a:ea typeface="Arial"/>
                <a:cs typeface="Arial"/>
                <a:sym typeface="Arial"/>
              </a:rPr>
            </a:br>
            <a:r>
              <a:rPr b="0" i="0" lang="es-PE" sz="1600" u="none" cap="none" strike="noStrike">
                <a:solidFill>
                  <a:schemeClr val="lt1"/>
                </a:solidFill>
                <a:latin typeface="Arial"/>
                <a:ea typeface="Arial"/>
                <a:cs typeface="Arial"/>
                <a:sym typeface="Arial"/>
              </a:rPr>
              <a:t>a Modelo Físico de datos (PDM)</a:t>
            </a:r>
            <a:endParaRPr/>
          </a:p>
        </p:txBody>
      </p:sp>
      <p:sp>
        <p:nvSpPr>
          <p:cNvPr id="774" name="Google Shape;774;p33"/>
          <p:cNvSpPr/>
          <p:nvPr/>
        </p:nvSpPr>
        <p:spPr>
          <a:xfrm>
            <a:off x="5745323" y="3906071"/>
            <a:ext cx="2011038" cy="936473"/>
          </a:xfrm>
          <a:prstGeom prst="roundRect">
            <a:avLst>
              <a:gd fmla="val 16667" name="adj"/>
            </a:avLst>
          </a:prstGeom>
          <a:solidFill>
            <a:srgbClr val="0197A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Arial"/>
                <a:ea typeface="Arial"/>
                <a:cs typeface="Arial"/>
                <a:sym typeface="Arial"/>
              </a:rPr>
              <a:t>Generar script de BD</a:t>
            </a:r>
            <a:br>
              <a:rPr b="0" i="0" lang="es-PE" sz="1600" u="none" cap="none" strike="noStrike">
                <a:solidFill>
                  <a:schemeClr val="lt1"/>
                </a:solidFill>
                <a:latin typeface="Arial"/>
                <a:ea typeface="Arial"/>
                <a:cs typeface="Arial"/>
                <a:sym typeface="Arial"/>
              </a:rPr>
            </a:br>
            <a:r>
              <a:rPr b="0" i="0" lang="es-PE" sz="1600" u="none" cap="none" strike="noStrike">
                <a:solidFill>
                  <a:schemeClr val="lt1"/>
                </a:solidFill>
                <a:latin typeface="Arial"/>
                <a:ea typeface="Arial"/>
                <a:cs typeface="Arial"/>
                <a:sym typeface="Arial"/>
              </a:rPr>
              <a:t>a partir del PDM</a:t>
            </a:r>
            <a:endParaRPr/>
          </a:p>
        </p:txBody>
      </p:sp>
      <p:cxnSp>
        <p:nvCxnSpPr>
          <p:cNvPr id="775" name="Google Shape;775;p33"/>
          <p:cNvCxnSpPr/>
          <p:nvPr/>
        </p:nvCxnSpPr>
        <p:spPr>
          <a:xfrm flipH="1">
            <a:off x="1771599" y="2308979"/>
            <a:ext cx="3035400" cy="2071800"/>
          </a:xfrm>
          <a:prstGeom prst="bentConnector4">
            <a:avLst>
              <a:gd fmla="val 0" name="adj1"/>
              <a:gd fmla="val 0" name="adj2"/>
            </a:avLst>
          </a:prstGeom>
          <a:noFill/>
          <a:ln cap="flat" cmpd="sng" w="28575">
            <a:solidFill>
              <a:srgbClr val="595959"/>
            </a:solidFill>
            <a:prstDash val="solid"/>
            <a:round/>
            <a:headEnd len="sm" w="sm" type="none"/>
            <a:tailEnd len="med" w="med" type="stealth"/>
          </a:ln>
        </p:spPr>
      </p:cxnSp>
      <p:grpSp>
        <p:nvGrpSpPr>
          <p:cNvPr id="776" name="Google Shape;776;p33"/>
          <p:cNvGrpSpPr/>
          <p:nvPr/>
        </p:nvGrpSpPr>
        <p:grpSpPr>
          <a:xfrm>
            <a:off x="8082006" y="4229845"/>
            <a:ext cx="290513" cy="288925"/>
            <a:chOff x="5180" y="3283"/>
            <a:chExt cx="183" cy="182"/>
          </a:xfrm>
        </p:grpSpPr>
        <p:sp>
          <p:nvSpPr>
            <p:cNvPr id="777" name="Google Shape;777;p33"/>
            <p:cNvSpPr/>
            <p:nvPr/>
          </p:nvSpPr>
          <p:spPr>
            <a:xfrm>
              <a:off x="5180" y="3283"/>
              <a:ext cx="183" cy="18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8" name="Google Shape;778;p33"/>
            <p:cNvSpPr/>
            <p:nvPr/>
          </p:nvSpPr>
          <p:spPr>
            <a:xfrm>
              <a:off x="5230" y="3328"/>
              <a:ext cx="90" cy="93"/>
            </a:xfrm>
            <a:prstGeom prst="ellipse">
              <a:avLst/>
            </a:prstGeom>
            <a:solidFill>
              <a:srgbClr val="003300"/>
            </a:solidFill>
            <a:ln cap="flat" cmpd="sng" w="25400">
              <a:solidFill>
                <a:srgbClr val="89A4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cxnSp>
        <p:nvCxnSpPr>
          <p:cNvPr id="779" name="Google Shape;779;p33"/>
          <p:cNvCxnSpPr/>
          <p:nvPr/>
        </p:nvCxnSpPr>
        <p:spPr>
          <a:xfrm>
            <a:off x="1358746" y="2057071"/>
            <a:ext cx="776903" cy="0"/>
          </a:xfrm>
          <a:prstGeom prst="straightConnector1">
            <a:avLst/>
          </a:prstGeom>
          <a:noFill/>
          <a:ln cap="flat" cmpd="sng" w="28575">
            <a:solidFill>
              <a:srgbClr val="E6594B"/>
            </a:solidFill>
            <a:prstDash val="solid"/>
            <a:round/>
            <a:headEnd len="sm" w="sm" type="none"/>
            <a:tailEnd len="med" w="med" type="stealth"/>
          </a:ln>
        </p:spPr>
      </p:cxnSp>
      <p:sp>
        <p:nvSpPr>
          <p:cNvPr id="780" name="Google Shape;780;p33"/>
          <p:cNvSpPr txBox="1"/>
          <p:nvPr/>
        </p:nvSpPr>
        <p:spPr>
          <a:xfrm>
            <a:off x="6952683" y="1889100"/>
            <a:ext cx="97211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s-PE" sz="1600" u="none" cap="none" strike="noStrike">
                <a:solidFill>
                  <a:schemeClr val="dk1"/>
                </a:solidFill>
                <a:latin typeface="Arial"/>
                <a:ea typeface="Arial"/>
                <a:cs typeface="Arial"/>
                <a:sym typeface="Arial"/>
              </a:rPr>
              <a:t>En RSA</a:t>
            </a:r>
            <a:endParaRPr b="0" i="0" sz="1600" u="none" cap="none" strike="noStrike">
              <a:solidFill>
                <a:schemeClr val="dk1"/>
              </a:solidFill>
              <a:latin typeface="Arial"/>
              <a:ea typeface="Arial"/>
              <a:cs typeface="Arial"/>
              <a:sym typeface="Arial"/>
            </a:endParaRPr>
          </a:p>
        </p:txBody>
      </p:sp>
      <p:sp>
        <p:nvSpPr>
          <p:cNvPr id="781" name="Google Shape;781;p33"/>
          <p:cNvSpPr/>
          <p:nvPr/>
        </p:nvSpPr>
        <p:spPr>
          <a:xfrm>
            <a:off x="1118996" y="1912999"/>
            <a:ext cx="277507" cy="288145"/>
          </a:xfrm>
          <a:prstGeom prst="ellipse">
            <a:avLst/>
          </a:prstGeom>
          <a:solidFill>
            <a:srgbClr val="E6594B"/>
          </a:solidFill>
          <a:ln cap="flat" cmpd="sng" w="38100">
            <a:solidFill>
              <a:srgbClr val="0197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782" name="Google Shape;782;p33"/>
          <p:cNvCxnSpPr/>
          <p:nvPr/>
        </p:nvCxnSpPr>
        <p:spPr>
          <a:xfrm>
            <a:off x="3481470" y="2057071"/>
            <a:ext cx="776903" cy="0"/>
          </a:xfrm>
          <a:prstGeom prst="straightConnector1">
            <a:avLst/>
          </a:prstGeom>
          <a:noFill/>
          <a:ln cap="flat" cmpd="sng" w="28575">
            <a:solidFill>
              <a:srgbClr val="595959"/>
            </a:solidFill>
            <a:prstDash val="solid"/>
            <a:round/>
            <a:headEnd len="sm" w="sm" type="none"/>
            <a:tailEnd len="med" w="med" type="stealth"/>
          </a:ln>
        </p:spPr>
      </p:cxnSp>
      <p:sp>
        <p:nvSpPr>
          <p:cNvPr id="783" name="Google Shape;783;p33"/>
          <p:cNvSpPr/>
          <p:nvPr/>
        </p:nvSpPr>
        <p:spPr>
          <a:xfrm>
            <a:off x="2159712" y="1588835"/>
            <a:ext cx="1456907" cy="936473"/>
          </a:xfrm>
          <a:prstGeom prst="roundRect">
            <a:avLst>
              <a:gd fmla="val 16667" name="adj"/>
            </a:avLst>
          </a:prstGeom>
          <a:solidFill>
            <a:srgbClr val="0197A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Arial"/>
                <a:ea typeface="Arial"/>
                <a:cs typeface="Arial"/>
                <a:sym typeface="Arial"/>
              </a:rPr>
              <a:t>Modelo Conceptual</a:t>
            </a:r>
            <a:endParaRPr/>
          </a:p>
        </p:txBody>
      </p:sp>
      <p:sp>
        <p:nvSpPr>
          <p:cNvPr id="784" name="Google Shape;784;p33"/>
          <p:cNvSpPr/>
          <p:nvPr/>
        </p:nvSpPr>
        <p:spPr>
          <a:xfrm>
            <a:off x="4440085" y="1588835"/>
            <a:ext cx="2428178" cy="936473"/>
          </a:xfrm>
          <a:prstGeom prst="roundRect">
            <a:avLst>
              <a:gd fmla="val 16667" name="adj"/>
            </a:avLst>
          </a:prstGeom>
          <a:solidFill>
            <a:srgbClr val="0197A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Arial"/>
                <a:ea typeface="Arial"/>
                <a:cs typeface="Arial"/>
                <a:sym typeface="Arial"/>
              </a:rPr>
              <a:t>Transformar Modelo Conceptual a Modelo Lógico de Datos (LDM)</a:t>
            </a:r>
            <a:endParaRPr/>
          </a:p>
        </p:txBody>
      </p:sp>
      <p:cxnSp>
        <p:nvCxnSpPr>
          <p:cNvPr id="785" name="Google Shape;785;p33"/>
          <p:cNvCxnSpPr/>
          <p:nvPr/>
        </p:nvCxnSpPr>
        <p:spPr>
          <a:xfrm flipH="1" rot="10800000">
            <a:off x="495287" y="2929562"/>
            <a:ext cx="8153427" cy="14638"/>
          </a:xfrm>
          <a:prstGeom prst="straightConnector1">
            <a:avLst/>
          </a:prstGeom>
          <a:noFill/>
          <a:ln cap="flat" cmpd="sng" w="19050">
            <a:solidFill>
              <a:srgbClr val="595959"/>
            </a:solidFill>
            <a:prstDash val="solid"/>
            <a:round/>
            <a:headEnd len="sm" w="sm" type="none"/>
            <a:tailEnd len="sm" w="sm" type="none"/>
          </a:ln>
        </p:spPr>
      </p:cxnSp>
      <p:sp>
        <p:nvSpPr>
          <p:cNvPr id="786" name="Google Shape;786;p33"/>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graphicFrame>
        <p:nvGraphicFramePr>
          <p:cNvPr id="791" name="Google Shape;791;p34"/>
          <p:cNvGraphicFramePr/>
          <p:nvPr/>
        </p:nvGraphicFramePr>
        <p:xfrm>
          <a:off x="4795814" y="3720368"/>
          <a:ext cx="3000000" cy="3000000"/>
        </p:xfrm>
        <a:graphic>
          <a:graphicData uri="http://schemas.openxmlformats.org/drawingml/2006/table">
            <a:tbl>
              <a:tblPr bandRow="1" firstRow="1">
                <a:noFill/>
                <a:tableStyleId>{111FAAAF-390B-45C5-8ABE-32D9CDC8B455}</a:tableStyleId>
              </a:tblPr>
              <a:tblGrid>
                <a:gridCol w="582600"/>
                <a:gridCol w="582600"/>
                <a:gridCol w="582600"/>
                <a:gridCol w="582600"/>
              </a:tblGrid>
              <a:tr h="146200">
                <a:tc>
                  <a:txBody>
                    <a:bodyPr/>
                    <a:lstStyle/>
                    <a:p>
                      <a:pPr indent="0" lvl="0" marL="0" marR="0" rtl="0" algn="ctr">
                        <a:lnSpc>
                          <a:spcPct val="100000"/>
                        </a:lnSpc>
                        <a:spcBef>
                          <a:spcPts val="0"/>
                        </a:spcBef>
                        <a:spcAft>
                          <a:spcPts val="0"/>
                        </a:spcAft>
                        <a:buNone/>
                      </a:pPr>
                      <a:r>
                        <a:rPr lang="es-PE" sz="300" u="none" cap="none" strike="noStrike">
                          <a:solidFill>
                            <a:schemeClr val="lt1"/>
                          </a:solidFill>
                        </a:rPr>
                        <a:t>Tabla </a:t>
                      </a:r>
                      <a:endParaRPr b="1" sz="300" u="none" cap="none" strike="noStrike">
                        <a:solidFill>
                          <a:schemeClr val="lt1"/>
                        </a:solidFill>
                      </a:endParaRPr>
                    </a:p>
                  </a:txBody>
                  <a:tcPr marT="43800" marB="43800" marR="87625" marL="87625">
                    <a:solidFill>
                      <a:srgbClr val="E6594B"/>
                    </a:solidFill>
                  </a:tcPr>
                </a:tc>
                <a:tc gridSpan="3">
                  <a:txBody>
                    <a:bodyPr/>
                    <a:lstStyle/>
                    <a:p>
                      <a:pPr indent="0" lvl="0" marL="0" marR="0" rtl="0" algn="ctr">
                        <a:lnSpc>
                          <a:spcPct val="100000"/>
                        </a:lnSpc>
                        <a:spcBef>
                          <a:spcPts val="0"/>
                        </a:spcBef>
                        <a:spcAft>
                          <a:spcPts val="0"/>
                        </a:spcAft>
                        <a:buNone/>
                      </a:pPr>
                      <a:r>
                        <a:t/>
                      </a:r>
                      <a:endParaRPr b="1" sz="300" u="none" cap="none" strike="noStrike">
                        <a:solidFill>
                          <a:schemeClr val="lt1"/>
                        </a:solidFill>
                      </a:endParaRPr>
                    </a:p>
                  </a:txBody>
                  <a:tcPr marT="52700" marB="52700" marR="105425" marL="105425">
                    <a:solidFill>
                      <a:srgbClr val="E6594B"/>
                    </a:solidFill>
                  </a:tcPr>
                </a:tc>
                <a:tc hMerge="1"/>
                <a:tc hMerge="1"/>
              </a:tr>
              <a:tr h="146200">
                <a:tc>
                  <a:txBody>
                    <a:bodyPr/>
                    <a:lstStyle/>
                    <a:p>
                      <a:pPr indent="0" lvl="0" marL="0" marR="0" rtl="0" algn="ctr">
                        <a:lnSpc>
                          <a:spcPct val="100000"/>
                        </a:lnSpc>
                        <a:spcBef>
                          <a:spcPts val="0"/>
                        </a:spcBef>
                        <a:spcAft>
                          <a:spcPts val="0"/>
                        </a:spcAft>
                        <a:buNone/>
                      </a:pPr>
                      <a:r>
                        <a:rPr lang="es-PE" sz="300" u="none" cap="none" strike="noStrike"/>
                        <a:t>Descripción </a:t>
                      </a:r>
                      <a:endParaRPr b="1" sz="300" u="none" cap="none" strike="noStrike"/>
                    </a:p>
                  </a:txBody>
                  <a:tcPr marT="43800" marB="43800" marR="87625" marL="87625">
                    <a:solidFill>
                      <a:srgbClr val="F5E9E9"/>
                    </a:solidFill>
                  </a:tcPr>
                </a:tc>
                <a:tc gridSpan="3">
                  <a:txBody>
                    <a:bodyPr/>
                    <a:lstStyle/>
                    <a:p>
                      <a:pPr indent="0" lvl="0" marL="0" marR="0" rtl="0" algn="ctr">
                        <a:lnSpc>
                          <a:spcPct val="100000"/>
                        </a:lnSpc>
                        <a:spcBef>
                          <a:spcPts val="0"/>
                        </a:spcBef>
                        <a:spcAft>
                          <a:spcPts val="0"/>
                        </a:spcAft>
                        <a:buNone/>
                      </a:pPr>
                      <a:r>
                        <a:t/>
                      </a:r>
                      <a:endParaRPr b="1" sz="300" u="none" cap="none" strike="noStrike"/>
                    </a:p>
                  </a:txBody>
                  <a:tcPr marT="52700" marB="52700" marR="105425" marL="105425">
                    <a:solidFill>
                      <a:srgbClr val="F5E9E9"/>
                    </a:solidFill>
                  </a:tcPr>
                </a:tc>
                <a:tc hMerge="1"/>
                <a:tc hMerge="1"/>
              </a:tr>
              <a:tr h="146200">
                <a:tc>
                  <a:txBody>
                    <a:bodyPr/>
                    <a:lstStyle/>
                    <a:p>
                      <a:pPr indent="0" lvl="0" marL="0" marR="0" rtl="0" algn="ctr">
                        <a:lnSpc>
                          <a:spcPct val="100000"/>
                        </a:lnSpc>
                        <a:spcBef>
                          <a:spcPts val="0"/>
                        </a:spcBef>
                        <a:spcAft>
                          <a:spcPts val="0"/>
                        </a:spcAft>
                        <a:buNone/>
                      </a:pPr>
                      <a:r>
                        <a:rPr lang="es-PE" sz="300" u="none" cap="none" strike="noStrike"/>
                        <a:t>Campo </a:t>
                      </a:r>
                      <a:endParaRPr b="1" sz="300" u="none" cap="none" strike="noStrike"/>
                    </a:p>
                  </a:txBody>
                  <a:tcPr marT="43800" marB="43800" marR="87625" marL="87625">
                    <a:solidFill>
                      <a:srgbClr val="F5E9E9"/>
                    </a:solidFill>
                  </a:tcPr>
                </a:tc>
                <a:tc>
                  <a:txBody>
                    <a:bodyPr/>
                    <a:lstStyle/>
                    <a:p>
                      <a:pPr indent="0" lvl="0" marL="0" marR="0" rtl="0" algn="ctr">
                        <a:lnSpc>
                          <a:spcPct val="100000"/>
                        </a:lnSpc>
                        <a:spcBef>
                          <a:spcPts val="0"/>
                        </a:spcBef>
                        <a:spcAft>
                          <a:spcPts val="0"/>
                        </a:spcAft>
                        <a:buNone/>
                      </a:pPr>
                      <a:r>
                        <a:rPr lang="es-PE" sz="300" u="none" cap="none" strike="noStrike"/>
                        <a:t>Tipo </a:t>
                      </a:r>
                      <a:endParaRPr b="1" sz="300" u="none" cap="none" strike="noStrike"/>
                    </a:p>
                  </a:txBody>
                  <a:tcPr marT="43800" marB="43800" marR="87625" marL="87625">
                    <a:solidFill>
                      <a:srgbClr val="F5E9E9"/>
                    </a:solidFill>
                  </a:tcPr>
                </a:tc>
                <a:tc>
                  <a:txBody>
                    <a:bodyPr/>
                    <a:lstStyle/>
                    <a:p>
                      <a:pPr indent="0" lvl="0" marL="0" marR="0" rtl="0" algn="ctr">
                        <a:lnSpc>
                          <a:spcPct val="100000"/>
                        </a:lnSpc>
                        <a:spcBef>
                          <a:spcPts val="0"/>
                        </a:spcBef>
                        <a:spcAft>
                          <a:spcPts val="0"/>
                        </a:spcAft>
                        <a:buNone/>
                      </a:pPr>
                      <a:r>
                        <a:rPr lang="es-PE" sz="300" u="none" cap="none" strike="noStrike"/>
                        <a:t>Longitud</a:t>
                      </a:r>
                      <a:r>
                        <a:rPr lang="es-PE" sz="300" u="none" cap="none" strike="noStrike"/>
                        <a:t> </a:t>
                      </a:r>
                      <a:endParaRPr b="1" sz="300" u="none" cap="none" strike="noStrike"/>
                    </a:p>
                  </a:txBody>
                  <a:tcPr marT="43800" marB="43800" marR="87625" marL="87625">
                    <a:solidFill>
                      <a:srgbClr val="F5E9E9"/>
                    </a:solidFill>
                  </a:tcPr>
                </a:tc>
                <a:tc>
                  <a:txBody>
                    <a:bodyPr/>
                    <a:lstStyle/>
                    <a:p>
                      <a:pPr indent="0" lvl="0" marL="0" marR="0" rtl="0" algn="ctr">
                        <a:lnSpc>
                          <a:spcPct val="100000"/>
                        </a:lnSpc>
                        <a:spcBef>
                          <a:spcPts val="0"/>
                        </a:spcBef>
                        <a:spcAft>
                          <a:spcPts val="0"/>
                        </a:spcAft>
                        <a:buNone/>
                      </a:pPr>
                      <a:r>
                        <a:rPr lang="es-PE" sz="300" u="none" cap="none" strike="noStrike"/>
                        <a:t>Descripción </a:t>
                      </a:r>
                      <a:endParaRPr b="1" sz="300" u="none" cap="none" strike="noStrike"/>
                    </a:p>
                  </a:txBody>
                  <a:tcPr marT="43800" marB="43800" marR="87625" marL="87625">
                    <a:solidFill>
                      <a:srgbClr val="F5E9E9"/>
                    </a:solidFill>
                  </a:tcPr>
                </a:tc>
              </a:tr>
              <a:tr h="146200">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r>
              <a:tr h="146200">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r>
              <a:tr h="146200">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r>
              <a:tr h="146200">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r>
              <a:tr h="146200">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c>
                  <a:txBody>
                    <a:bodyPr/>
                    <a:lstStyle/>
                    <a:p>
                      <a:pPr indent="0" lvl="0" marL="0" marR="0" rtl="0" algn="l">
                        <a:lnSpc>
                          <a:spcPct val="100000"/>
                        </a:lnSpc>
                        <a:spcBef>
                          <a:spcPts val="0"/>
                        </a:spcBef>
                        <a:spcAft>
                          <a:spcPts val="0"/>
                        </a:spcAft>
                        <a:buNone/>
                      </a:pPr>
                      <a:r>
                        <a:t/>
                      </a:r>
                      <a:endParaRPr b="1" sz="300" u="none" cap="none" strike="noStrike"/>
                    </a:p>
                  </a:txBody>
                  <a:tcPr marT="43800" marB="43800" marR="87625" marL="87625">
                    <a:solidFill>
                      <a:srgbClr val="F5E9E9"/>
                    </a:solidFill>
                  </a:tcPr>
                </a:tc>
              </a:tr>
              <a:tr h="146200">
                <a:tc>
                  <a:txBody>
                    <a:bodyPr/>
                    <a:lstStyle/>
                    <a:p>
                      <a:pPr indent="0" lvl="0" marL="0" marR="0" rtl="0" algn="l">
                        <a:lnSpc>
                          <a:spcPct val="100000"/>
                        </a:lnSpc>
                        <a:spcBef>
                          <a:spcPts val="0"/>
                        </a:spcBef>
                        <a:spcAft>
                          <a:spcPts val="0"/>
                        </a:spcAft>
                        <a:buNone/>
                      </a:pPr>
                      <a:r>
                        <a:rPr lang="es-PE" sz="300" u="none" cap="none" strike="noStrike"/>
                        <a:t>Restricciones:</a:t>
                      </a:r>
                      <a:endParaRPr b="1" sz="300" u="none" cap="none" strike="noStrike"/>
                    </a:p>
                  </a:txBody>
                  <a:tcPr marT="43800" marB="43800" marR="87625" marL="87625">
                    <a:solidFill>
                      <a:srgbClr val="F5E9E9"/>
                    </a:solidFill>
                  </a:tcPr>
                </a:tc>
                <a:tc gridSpan="3">
                  <a:txBody>
                    <a:bodyPr/>
                    <a:lstStyle/>
                    <a:p>
                      <a:pPr indent="0" lvl="0" marL="0" marR="0" rtl="0" algn="l">
                        <a:lnSpc>
                          <a:spcPct val="100000"/>
                        </a:lnSpc>
                        <a:spcBef>
                          <a:spcPts val="0"/>
                        </a:spcBef>
                        <a:spcAft>
                          <a:spcPts val="0"/>
                        </a:spcAft>
                        <a:buNone/>
                      </a:pPr>
                      <a:r>
                        <a:t/>
                      </a:r>
                      <a:endParaRPr b="1" sz="300" u="none" cap="none" strike="noStrike"/>
                    </a:p>
                  </a:txBody>
                  <a:tcPr marT="52700" marB="52700" marR="105425" marL="105425">
                    <a:solidFill>
                      <a:srgbClr val="F5E9E9"/>
                    </a:solidFill>
                  </a:tcPr>
                </a:tc>
                <a:tc hMerge="1"/>
                <a:tc hMerge="1"/>
              </a:tr>
              <a:tr h="162725">
                <a:tc>
                  <a:txBody>
                    <a:bodyPr/>
                    <a:lstStyle/>
                    <a:p>
                      <a:pPr indent="0" lvl="0" marL="0" marR="0" rtl="0" algn="l">
                        <a:lnSpc>
                          <a:spcPct val="100000"/>
                        </a:lnSpc>
                        <a:spcBef>
                          <a:spcPts val="0"/>
                        </a:spcBef>
                        <a:spcAft>
                          <a:spcPts val="0"/>
                        </a:spcAft>
                        <a:buNone/>
                      </a:pPr>
                      <a:r>
                        <a:rPr lang="es-PE" sz="300" u="none" cap="none" strike="noStrike"/>
                        <a:t>Llaves primarias:</a:t>
                      </a:r>
                      <a:endParaRPr b="1" sz="300" u="none" cap="none" strike="noStrike"/>
                    </a:p>
                  </a:txBody>
                  <a:tcPr marT="43800" marB="43800" marR="87625" marL="87625">
                    <a:solidFill>
                      <a:srgbClr val="F5E9E9"/>
                    </a:solidFill>
                  </a:tcPr>
                </a:tc>
                <a:tc gridSpan="3">
                  <a:txBody>
                    <a:bodyPr/>
                    <a:lstStyle/>
                    <a:p>
                      <a:pPr indent="0" lvl="0" marL="0" marR="0" rtl="0" algn="l">
                        <a:lnSpc>
                          <a:spcPct val="100000"/>
                        </a:lnSpc>
                        <a:spcBef>
                          <a:spcPts val="0"/>
                        </a:spcBef>
                        <a:spcAft>
                          <a:spcPts val="0"/>
                        </a:spcAft>
                        <a:buNone/>
                      </a:pPr>
                      <a:r>
                        <a:t/>
                      </a:r>
                      <a:endParaRPr b="1" sz="300" u="none" cap="none" strike="noStrike"/>
                    </a:p>
                  </a:txBody>
                  <a:tcPr marT="52700" marB="52700" marR="105425" marL="105425">
                    <a:solidFill>
                      <a:srgbClr val="F5E9E9"/>
                    </a:solidFill>
                  </a:tcPr>
                </a:tc>
                <a:tc hMerge="1"/>
                <a:tc hMerge="1"/>
              </a:tr>
              <a:tr h="162725">
                <a:tc>
                  <a:txBody>
                    <a:bodyPr/>
                    <a:lstStyle/>
                    <a:p>
                      <a:pPr indent="0" lvl="0" marL="0" marR="0" rtl="0" algn="l">
                        <a:lnSpc>
                          <a:spcPct val="100000"/>
                        </a:lnSpc>
                        <a:spcBef>
                          <a:spcPts val="0"/>
                        </a:spcBef>
                        <a:spcAft>
                          <a:spcPts val="0"/>
                        </a:spcAft>
                        <a:buNone/>
                      </a:pPr>
                      <a:r>
                        <a:rPr lang="es-PE" sz="300" u="none" cap="none" strike="noStrike"/>
                        <a:t>Llaves foráneas:</a:t>
                      </a:r>
                      <a:endParaRPr b="1" sz="300" u="none" cap="none" strike="noStrike"/>
                    </a:p>
                  </a:txBody>
                  <a:tcPr marT="43800" marB="43800" marR="87625" marL="87625">
                    <a:solidFill>
                      <a:srgbClr val="F5E9E9"/>
                    </a:solidFill>
                  </a:tcPr>
                </a:tc>
                <a:tc gridSpan="3">
                  <a:txBody>
                    <a:bodyPr/>
                    <a:lstStyle/>
                    <a:p>
                      <a:pPr indent="0" lvl="0" marL="0" marR="0" rtl="0" algn="l">
                        <a:lnSpc>
                          <a:spcPct val="100000"/>
                        </a:lnSpc>
                        <a:spcBef>
                          <a:spcPts val="0"/>
                        </a:spcBef>
                        <a:spcAft>
                          <a:spcPts val="0"/>
                        </a:spcAft>
                        <a:buNone/>
                      </a:pPr>
                      <a:r>
                        <a:t/>
                      </a:r>
                      <a:endParaRPr b="1" sz="300" u="none" cap="none" strike="noStrike"/>
                    </a:p>
                  </a:txBody>
                  <a:tcPr marT="52700" marB="52700" marR="105425" marL="105425">
                    <a:solidFill>
                      <a:srgbClr val="F5E9E9"/>
                    </a:solidFill>
                  </a:tcPr>
                </a:tc>
                <a:tc hMerge="1"/>
                <a:tc hMerge="1"/>
              </a:tr>
            </a:tbl>
          </a:graphicData>
        </a:graphic>
      </p:graphicFrame>
      <p:graphicFrame>
        <p:nvGraphicFramePr>
          <p:cNvPr id="792" name="Google Shape;792;p34"/>
          <p:cNvGraphicFramePr/>
          <p:nvPr/>
        </p:nvGraphicFramePr>
        <p:xfrm>
          <a:off x="4792286" y="762796"/>
          <a:ext cx="3000000" cy="3000000"/>
        </p:xfrm>
        <a:graphic>
          <a:graphicData uri="http://schemas.openxmlformats.org/drawingml/2006/table">
            <a:tbl>
              <a:tblPr bandRow="1" firstRow="1">
                <a:noFill/>
                <a:tableStyleId>{111FAAAF-390B-45C5-8ABE-32D9CDC8B455}</a:tableStyleId>
              </a:tblPr>
              <a:tblGrid>
                <a:gridCol w="795375"/>
                <a:gridCol w="637325"/>
                <a:gridCol w="511150"/>
                <a:gridCol w="2027550"/>
              </a:tblGrid>
              <a:tr h="132425">
                <a:tc>
                  <a:txBody>
                    <a:bodyPr/>
                    <a:lstStyle/>
                    <a:p>
                      <a:pPr indent="0" lvl="0" marL="0" marR="0" rtl="0" algn="ctr">
                        <a:lnSpc>
                          <a:spcPct val="100000"/>
                        </a:lnSpc>
                        <a:spcBef>
                          <a:spcPts val="0"/>
                        </a:spcBef>
                        <a:spcAft>
                          <a:spcPts val="0"/>
                        </a:spcAft>
                        <a:buNone/>
                      </a:pPr>
                      <a:r>
                        <a:rPr lang="es-PE" sz="500" u="none" cap="none" strike="noStrike">
                          <a:solidFill>
                            <a:schemeClr val="lt1"/>
                          </a:solidFill>
                        </a:rPr>
                        <a:t>Tabla </a:t>
                      </a:r>
                      <a:endParaRPr b="1" sz="500" u="none" cap="none" strike="noStrike">
                        <a:solidFill>
                          <a:schemeClr val="lt1"/>
                        </a:solidFill>
                      </a:endParaRPr>
                    </a:p>
                  </a:txBody>
                  <a:tcPr marT="27900" marB="27900" marR="55825" marL="55825">
                    <a:solidFill>
                      <a:srgbClr val="E6594B"/>
                    </a:solidFill>
                  </a:tcPr>
                </a:tc>
                <a:tc gridSpan="3">
                  <a:txBody>
                    <a:bodyPr/>
                    <a:lstStyle/>
                    <a:p>
                      <a:pPr indent="0" lvl="0" marL="0" marR="0" rtl="0" algn="ctr">
                        <a:lnSpc>
                          <a:spcPct val="100000"/>
                        </a:lnSpc>
                        <a:spcBef>
                          <a:spcPts val="0"/>
                        </a:spcBef>
                        <a:spcAft>
                          <a:spcPts val="0"/>
                        </a:spcAft>
                        <a:buNone/>
                      </a:pPr>
                      <a:r>
                        <a:rPr lang="es-PE" sz="500" u="none" cap="none" strike="noStrike">
                          <a:solidFill>
                            <a:schemeClr val="lt1"/>
                          </a:solidFill>
                        </a:rPr>
                        <a:t>TB_Producto</a:t>
                      </a:r>
                      <a:endParaRPr b="1" sz="500" u="none" cap="none" strike="noStrike">
                        <a:solidFill>
                          <a:schemeClr val="lt1"/>
                        </a:solidFill>
                      </a:endParaRPr>
                    </a:p>
                  </a:txBody>
                  <a:tcPr marT="29950" marB="29950" marR="59875" marL="59875">
                    <a:solidFill>
                      <a:srgbClr val="E6594B"/>
                    </a:solidFill>
                  </a:tcPr>
                </a:tc>
                <a:tc hMerge="1"/>
                <a:tc hMerge="1"/>
              </a:tr>
              <a:tr h="160675">
                <a:tc>
                  <a:txBody>
                    <a:bodyPr/>
                    <a:lstStyle/>
                    <a:p>
                      <a:pPr indent="0" lvl="0" marL="0" marR="0" rtl="0" algn="ctr">
                        <a:lnSpc>
                          <a:spcPct val="100000"/>
                        </a:lnSpc>
                        <a:spcBef>
                          <a:spcPts val="0"/>
                        </a:spcBef>
                        <a:spcAft>
                          <a:spcPts val="0"/>
                        </a:spcAft>
                        <a:buNone/>
                      </a:pPr>
                      <a:r>
                        <a:rPr lang="es-PE" sz="500" u="none" cap="none" strike="noStrike"/>
                        <a:t>Descripción </a:t>
                      </a:r>
                      <a:endParaRPr b="1" sz="500" u="none" cap="none" strike="noStrike"/>
                    </a:p>
                  </a:txBody>
                  <a:tcPr marT="27900" marB="27900" marR="55825" marL="55825">
                    <a:solidFill>
                      <a:srgbClr val="F5E9E9"/>
                    </a:solidFill>
                  </a:tcPr>
                </a:tc>
                <a:tc gridSpan="3">
                  <a:txBody>
                    <a:bodyPr/>
                    <a:lstStyle/>
                    <a:p>
                      <a:pPr indent="0" lvl="0" marL="0" marR="0" rtl="0" algn="l">
                        <a:lnSpc>
                          <a:spcPct val="100000"/>
                        </a:lnSpc>
                        <a:spcBef>
                          <a:spcPts val="0"/>
                        </a:spcBef>
                        <a:spcAft>
                          <a:spcPts val="0"/>
                        </a:spcAft>
                        <a:buNone/>
                      </a:pPr>
                      <a:r>
                        <a:rPr lang="es-PE" sz="500" u="none" cap="none" strike="noStrike"/>
                        <a:t>Contiene los datos de los productos que comercializa el negocio.</a:t>
                      </a:r>
                      <a:endParaRPr b="1" sz="500" u="none" cap="none" strike="noStrike"/>
                    </a:p>
                  </a:txBody>
                  <a:tcPr marT="44400" marB="44400" marR="88800" marL="88800">
                    <a:solidFill>
                      <a:srgbClr val="F5E9E9"/>
                    </a:solidFill>
                  </a:tcPr>
                </a:tc>
                <a:tc hMerge="1"/>
                <a:tc hMerge="1"/>
              </a:tr>
              <a:tr h="129825">
                <a:tc>
                  <a:txBody>
                    <a:bodyPr/>
                    <a:lstStyle/>
                    <a:p>
                      <a:pPr indent="0" lvl="0" marL="0" marR="0" rtl="0" algn="ctr">
                        <a:lnSpc>
                          <a:spcPct val="100000"/>
                        </a:lnSpc>
                        <a:spcBef>
                          <a:spcPts val="0"/>
                        </a:spcBef>
                        <a:spcAft>
                          <a:spcPts val="0"/>
                        </a:spcAft>
                        <a:buNone/>
                      </a:pPr>
                      <a:r>
                        <a:rPr lang="es-PE" sz="500" u="none" cap="none" strike="noStrike"/>
                        <a:t>Campo </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Tipo </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Longitud</a:t>
                      </a:r>
                      <a:r>
                        <a:rPr lang="es-PE" sz="500" u="none" cap="none" strike="noStrike"/>
                        <a:t> </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Descripción </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Pro_Codigo</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Carácter </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6</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Identificar único del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Pro_Nombre</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Carácter </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60</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Descripción del</a:t>
                      </a:r>
                      <a:r>
                        <a:rPr lang="es-PE" sz="500" u="none" cap="none" strike="noStrike"/>
                        <a:t> nombre del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a:t>
                      </a:r>
                      <a:r>
                        <a:rPr lang="es-PE" sz="500" u="none" cap="none" strike="noStrike"/>
                        <a:t>_Stock</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Numérico</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8</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Cantidad</a:t>
                      </a:r>
                      <a:r>
                        <a:rPr lang="es-PE" sz="500" u="none" cap="none" strike="noStrike"/>
                        <a:t> actual del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Pro_Precio_costo</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Numérico</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8</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Precio costo del</a:t>
                      </a:r>
                      <a:r>
                        <a:rPr lang="es-PE" sz="500" u="none" cap="none" strike="noStrike"/>
                        <a:t>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Pro_Precio_venta</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Numérico</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8</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Precio venta del</a:t>
                      </a:r>
                      <a:r>
                        <a:rPr lang="es-PE" sz="500" u="none" cap="none" strike="noStrike"/>
                        <a:t>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Pro_comision</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Numérico</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8</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Comisión por item</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Pro_Estado</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Carácter</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1</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Estado del producto 1= Activo</a:t>
                      </a:r>
                      <a:r>
                        <a:rPr lang="es-PE" sz="500" u="none" cap="none" strike="noStrike"/>
                        <a:t> 2= Inactivo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Pro_Evase</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Carácter</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1</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Estado del producto 1= Lata, 2= Caja, 3= Bolsa, 4= paquete</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Pro_tipo</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Carácter</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1</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Tipo de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Pro_fecha_act</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Date</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8</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Fecha de la última actualización</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Pro_usuario_reg</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Carácter</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25</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Usuario de la última actualización</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Pro_fecha_reg</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Date </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8</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None/>
                      </a:pPr>
                      <a:r>
                        <a:rPr lang="es-PE" sz="500" u="none" cap="none" strike="noStrike"/>
                        <a:t>Fecha de registro del producto</a:t>
                      </a:r>
                      <a:endParaRPr b="1" sz="500" u="none" cap="none" strike="noStrike"/>
                    </a:p>
                  </a:txBody>
                  <a:tcPr marT="27900" marB="27900" marR="55825" marL="55825">
                    <a:solidFill>
                      <a:srgbClr val="F5E9E9"/>
                    </a:solidFill>
                  </a:tcPr>
                </a:tc>
              </a:tr>
              <a:tr h="129825">
                <a:tc>
                  <a:txBody>
                    <a:bodyPr/>
                    <a:lstStyle/>
                    <a:p>
                      <a:pPr indent="0" lvl="0" marL="0" marR="0" rtl="0" algn="l">
                        <a:lnSpc>
                          <a:spcPct val="100000"/>
                        </a:lnSpc>
                        <a:spcBef>
                          <a:spcPts val="0"/>
                        </a:spcBef>
                        <a:spcAft>
                          <a:spcPts val="0"/>
                        </a:spcAft>
                        <a:buNone/>
                      </a:pPr>
                      <a:r>
                        <a:rPr lang="es-PE" sz="500" u="none" cap="none" strike="noStrike"/>
                        <a:t>Pro_usuario_reg</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Carácter</a:t>
                      </a:r>
                      <a:endParaRPr b="1" sz="500" u="none" cap="none" strike="noStrike"/>
                    </a:p>
                  </a:txBody>
                  <a:tcPr marT="27900" marB="27900" marR="55825" marL="55825">
                    <a:solidFill>
                      <a:srgbClr val="F5E9E9"/>
                    </a:solidFill>
                  </a:tcPr>
                </a:tc>
                <a:tc>
                  <a:txBody>
                    <a:bodyPr/>
                    <a:lstStyle/>
                    <a:p>
                      <a:pPr indent="0" lvl="0" marL="0" marR="0" rtl="0" algn="ctr">
                        <a:lnSpc>
                          <a:spcPct val="100000"/>
                        </a:lnSpc>
                        <a:spcBef>
                          <a:spcPts val="0"/>
                        </a:spcBef>
                        <a:spcAft>
                          <a:spcPts val="0"/>
                        </a:spcAft>
                        <a:buNone/>
                      </a:pPr>
                      <a:r>
                        <a:rPr lang="es-PE" sz="500" u="none" cap="none" strike="noStrike"/>
                        <a:t>25</a:t>
                      </a:r>
                      <a:endParaRPr b="1" sz="500" u="none" cap="none" strike="noStrike"/>
                    </a:p>
                  </a:txBody>
                  <a:tcPr marT="27900" marB="27900" marR="55825" marL="55825">
                    <a:solidFill>
                      <a:srgbClr val="F5E9E9"/>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Usuario de registro del producto</a:t>
                      </a:r>
                      <a:endParaRPr b="1" sz="500" u="none" cap="none" strike="noStrike"/>
                    </a:p>
                  </a:txBody>
                  <a:tcPr marT="27900" marB="27900" marR="55825" marL="55825">
                    <a:solidFill>
                      <a:srgbClr val="F5E9E9"/>
                    </a:solidFill>
                  </a:tcPr>
                </a:tc>
              </a:tr>
              <a:tr h="382700">
                <a:tc>
                  <a:txBody>
                    <a:bodyPr/>
                    <a:lstStyle/>
                    <a:p>
                      <a:pPr indent="0" lvl="0" marL="0" marR="0" rtl="0" algn="l">
                        <a:lnSpc>
                          <a:spcPct val="100000"/>
                        </a:lnSpc>
                        <a:spcBef>
                          <a:spcPts val="0"/>
                        </a:spcBef>
                        <a:spcAft>
                          <a:spcPts val="0"/>
                        </a:spcAft>
                        <a:buNone/>
                      </a:pPr>
                      <a:r>
                        <a:rPr lang="es-PE" sz="500" u="none" cap="none" strike="noStrike"/>
                        <a:t>Restricciones:</a:t>
                      </a:r>
                      <a:endParaRPr b="1" sz="500" u="none" cap="none" strike="noStrike"/>
                    </a:p>
                  </a:txBody>
                  <a:tcPr marT="27900" marB="27900" marR="55825" marL="55825">
                    <a:solidFill>
                      <a:srgbClr val="F5E9E9"/>
                    </a:solidFill>
                  </a:tcPr>
                </a:tc>
                <a:tc gridSpan="3">
                  <a:txBody>
                    <a:bodyPr/>
                    <a:lstStyle/>
                    <a:p>
                      <a:pPr indent="0" lvl="0" marL="0" marR="0" rtl="0" algn="l">
                        <a:lnSpc>
                          <a:spcPct val="100000"/>
                        </a:lnSpc>
                        <a:spcBef>
                          <a:spcPts val="0"/>
                        </a:spcBef>
                        <a:spcAft>
                          <a:spcPts val="0"/>
                        </a:spcAft>
                        <a:buClr>
                          <a:srgbClr val="000000"/>
                        </a:buClr>
                        <a:buSzPts val="500"/>
                        <a:buFont typeface="Arial"/>
                        <a:buNone/>
                      </a:pPr>
                      <a:r>
                        <a:rPr lang="es-PE" sz="500" u="none" cap="none" strike="noStrike"/>
                        <a:t>El</a:t>
                      </a:r>
                      <a:r>
                        <a:rPr lang="es-PE" sz="500" u="none" cap="none" strike="noStrike"/>
                        <a:t> campo Pro_codigo es único</a:t>
                      </a:r>
                      <a:endParaRPr/>
                    </a:p>
                    <a:p>
                      <a:pPr indent="0" lvl="0" marL="0" marR="0" rtl="0" algn="l">
                        <a:lnSpc>
                          <a:spcPct val="100000"/>
                        </a:lnSpc>
                        <a:spcBef>
                          <a:spcPts val="0"/>
                        </a:spcBef>
                        <a:spcAft>
                          <a:spcPts val="0"/>
                        </a:spcAft>
                        <a:buClr>
                          <a:srgbClr val="000000"/>
                        </a:buClr>
                        <a:buSzPts val="500"/>
                        <a:buFont typeface="Arial"/>
                        <a:buNone/>
                      </a:pPr>
                      <a:r>
                        <a:rPr lang="es-PE" sz="500" u="none" cap="none" strike="noStrike"/>
                        <a:t>El campo Pro_Nombre no puede ser nulo</a:t>
                      </a:r>
                      <a:endParaRPr/>
                    </a:p>
                    <a:p>
                      <a:pPr indent="0" lvl="0" marL="0" marR="0" rtl="0" algn="l">
                        <a:lnSpc>
                          <a:spcPct val="100000"/>
                        </a:lnSpc>
                        <a:spcBef>
                          <a:spcPts val="0"/>
                        </a:spcBef>
                        <a:spcAft>
                          <a:spcPts val="0"/>
                        </a:spcAft>
                        <a:buClr>
                          <a:srgbClr val="000000"/>
                        </a:buClr>
                        <a:buSzPts val="500"/>
                        <a:buFont typeface="Arial"/>
                        <a:buNone/>
                      </a:pPr>
                      <a:r>
                        <a:rPr lang="es-PE" sz="500" u="none" cap="none" strike="noStrike"/>
                        <a:t>El campo Pro_Envase se asigna por defecto el valor 4</a:t>
                      </a:r>
                      <a:endParaRPr/>
                    </a:p>
                    <a:p>
                      <a:pPr indent="0" lvl="0" marL="0" marR="0" rtl="0" algn="l">
                        <a:lnSpc>
                          <a:spcPct val="100000"/>
                        </a:lnSpc>
                        <a:spcBef>
                          <a:spcPts val="0"/>
                        </a:spcBef>
                        <a:spcAft>
                          <a:spcPts val="0"/>
                        </a:spcAft>
                        <a:buClr>
                          <a:srgbClr val="000000"/>
                        </a:buClr>
                        <a:buSzPts val="500"/>
                        <a:buFont typeface="Arial"/>
                        <a:buNone/>
                      </a:pPr>
                      <a:r>
                        <a:rPr lang="es-PE" sz="500" u="none" cap="none" strike="noStrike"/>
                        <a:t>El campo Pro_Estado se asigna por defecto el valor 1</a:t>
                      </a:r>
                      <a:endParaRPr b="1" sz="500" u="none" cap="none" strike="noStrike"/>
                    </a:p>
                  </a:txBody>
                  <a:tcPr marT="44400" marB="44400" marR="88800" marL="88800">
                    <a:solidFill>
                      <a:srgbClr val="F5E9E9"/>
                    </a:solidFill>
                  </a:tcPr>
                </a:tc>
                <a:tc hMerge="1"/>
                <a:tc hMerge="1"/>
              </a:tr>
              <a:tr h="132425">
                <a:tc>
                  <a:txBody>
                    <a:bodyPr/>
                    <a:lstStyle/>
                    <a:p>
                      <a:pPr indent="0" lvl="0" marL="0" marR="0" rtl="0" algn="l">
                        <a:lnSpc>
                          <a:spcPct val="100000"/>
                        </a:lnSpc>
                        <a:spcBef>
                          <a:spcPts val="0"/>
                        </a:spcBef>
                        <a:spcAft>
                          <a:spcPts val="0"/>
                        </a:spcAft>
                        <a:buNone/>
                      </a:pPr>
                      <a:r>
                        <a:rPr lang="es-PE" sz="500" u="none" cap="none" strike="noStrike"/>
                        <a:t>Llaves primarias:</a:t>
                      </a:r>
                      <a:endParaRPr b="1" sz="500" u="none" cap="none" strike="noStrike"/>
                    </a:p>
                  </a:txBody>
                  <a:tcPr marT="27900" marB="27900" marR="55825" marL="55825">
                    <a:solidFill>
                      <a:srgbClr val="F5E9E9"/>
                    </a:solidFill>
                  </a:tcPr>
                </a:tc>
                <a:tc gridSpan="3">
                  <a:txBody>
                    <a:bodyPr/>
                    <a:lstStyle/>
                    <a:p>
                      <a:pPr indent="0" lvl="0" marL="0" marR="0" rtl="0" algn="l">
                        <a:lnSpc>
                          <a:spcPct val="100000"/>
                        </a:lnSpc>
                        <a:spcBef>
                          <a:spcPts val="0"/>
                        </a:spcBef>
                        <a:spcAft>
                          <a:spcPts val="0"/>
                        </a:spcAft>
                        <a:buNone/>
                      </a:pPr>
                      <a:r>
                        <a:rPr lang="es-PE" sz="500" u="none" cap="none" strike="noStrike"/>
                        <a:t>Pro_codigo</a:t>
                      </a:r>
                      <a:endParaRPr b="1" sz="500" u="none" cap="none" strike="noStrike"/>
                    </a:p>
                  </a:txBody>
                  <a:tcPr marT="29950" marB="29950" marR="59875" marL="59875">
                    <a:solidFill>
                      <a:srgbClr val="F5E9E9"/>
                    </a:solidFill>
                  </a:tcPr>
                </a:tc>
                <a:tc hMerge="1"/>
                <a:tc hMerge="1"/>
              </a:tr>
              <a:tr h="132425">
                <a:tc>
                  <a:txBody>
                    <a:bodyPr/>
                    <a:lstStyle/>
                    <a:p>
                      <a:pPr indent="0" lvl="0" marL="0" marR="0" rtl="0" algn="l">
                        <a:lnSpc>
                          <a:spcPct val="100000"/>
                        </a:lnSpc>
                        <a:spcBef>
                          <a:spcPts val="0"/>
                        </a:spcBef>
                        <a:spcAft>
                          <a:spcPts val="0"/>
                        </a:spcAft>
                        <a:buNone/>
                      </a:pPr>
                      <a:r>
                        <a:rPr lang="es-PE" sz="500" u="none" cap="none" strike="noStrike"/>
                        <a:t>Llaves foráneas:</a:t>
                      </a:r>
                      <a:endParaRPr b="1" sz="500" u="none" cap="none" strike="noStrike"/>
                    </a:p>
                  </a:txBody>
                  <a:tcPr marT="27900" marB="27900" marR="55825" marL="55825">
                    <a:solidFill>
                      <a:srgbClr val="F5E9E9"/>
                    </a:solidFill>
                  </a:tcPr>
                </a:tc>
                <a:tc gridSpan="3">
                  <a:txBody>
                    <a:bodyPr/>
                    <a:lstStyle/>
                    <a:p>
                      <a:pPr indent="0" lvl="0" marL="0" marR="0" rtl="0" algn="l">
                        <a:lnSpc>
                          <a:spcPct val="100000"/>
                        </a:lnSpc>
                        <a:spcBef>
                          <a:spcPts val="0"/>
                        </a:spcBef>
                        <a:spcAft>
                          <a:spcPts val="0"/>
                        </a:spcAft>
                        <a:buNone/>
                      </a:pPr>
                      <a:r>
                        <a:rPr lang="es-PE" sz="500" u="none" cap="none" strike="noStrike"/>
                        <a:t>Pro_tipo</a:t>
                      </a:r>
                      <a:endParaRPr b="1" sz="500" u="none" cap="none" strike="noStrike"/>
                    </a:p>
                  </a:txBody>
                  <a:tcPr marT="29950" marB="29950" marR="59875" marL="59875">
                    <a:solidFill>
                      <a:srgbClr val="F5E9E9"/>
                    </a:solidFill>
                  </a:tcPr>
                </a:tc>
                <a:tc hMerge="1"/>
                <a:tc hMerge="1"/>
              </a:tr>
            </a:tbl>
          </a:graphicData>
        </a:graphic>
      </p:graphicFrame>
      <p:sp>
        <p:nvSpPr>
          <p:cNvPr id="793" name="Google Shape;793;p34"/>
          <p:cNvSpPr/>
          <p:nvPr/>
        </p:nvSpPr>
        <p:spPr>
          <a:xfrm>
            <a:off x="557000" y="959299"/>
            <a:ext cx="3852300" cy="4238100"/>
          </a:xfrm>
          <a:prstGeom prst="rect">
            <a:avLst/>
          </a:prstGeom>
          <a:noFill/>
          <a:ln>
            <a:noFill/>
          </a:ln>
        </p:spPr>
        <p:txBody>
          <a:bodyPr anchorCtr="0" anchor="t" bIns="0" lIns="0" spcFirstLastPara="1" rIns="0" wrap="square" tIns="0">
            <a:spAutoFit/>
          </a:bodyPr>
          <a:lstStyle/>
          <a:p>
            <a:pPr indent="0" lvl="0" marL="9525" marR="0" rtl="0" algn="just">
              <a:lnSpc>
                <a:spcPct val="100000"/>
              </a:lnSpc>
              <a:spcBef>
                <a:spcPts val="0"/>
              </a:spcBef>
              <a:spcAft>
                <a:spcPts val="0"/>
              </a:spcAft>
              <a:buNone/>
            </a:pPr>
            <a:r>
              <a:rPr b="1" i="0" lang="es-PE" sz="1600" u="none" cap="none" strike="noStrike">
                <a:solidFill>
                  <a:srgbClr val="000000"/>
                </a:solidFill>
                <a:latin typeface="Calibri"/>
                <a:ea typeface="Calibri"/>
                <a:cs typeface="Calibri"/>
                <a:sym typeface="Calibri"/>
              </a:rPr>
              <a:t>TRANSFORMACIÓN AL MODELO FÍSICO</a:t>
            </a:r>
            <a:endParaRPr/>
          </a:p>
          <a:p>
            <a:pPr indent="0" lvl="0" marL="9525" marR="0" rtl="0" algn="just">
              <a:lnSpc>
                <a:spcPct val="100000"/>
              </a:lnSpc>
              <a:spcBef>
                <a:spcPts val="0"/>
              </a:spcBef>
              <a:spcAft>
                <a:spcPts val="0"/>
              </a:spcAft>
              <a:buNone/>
            </a:pPr>
            <a:r>
              <a:t/>
            </a:r>
            <a:endParaRPr sz="1600">
              <a:latin typeface="Calibri"/>
              <a:ea typeface="Calibri"/>
              <a:cs typeface="Calibri"/>
              <a:sym typeface="Calibri"/>
            </a:endParaRPr>
          </a:p>
          <a:p>
            <a:pPr indent="0" lvl="0" marL="9525"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Es un catálogo, un depósito, de los elementos en un sistema. Como su nombre lo sugiere, estos elementos se centran alrededor de los datos y la forma en que están estructurados para satisfacer los requerimientos de los usuarios y las necesidades de la organización. </a:t>
            </a:r>
            <a:endParaRPr b="0" i="0" sz="1600" u="none" cap="none" strike="noStrike">
              <a:solidFill>
                <a:srgbClr val="000000"/>
              </a:solidFill>
              <a:latin typeface="Calibri"/>
              <a:ea typeface="Calibri"/>
              <a:cs typeface="Calibri"/>
              <a:sym typeface="Calibri"/>
            </a:endParaRPr>
          </a:p>
          <a:p>
            <a:pPr indent="0" lvl="0" marL="9525" marR="0" rtl="0" algn="just">
              <a:lnSpc>
                <a:spcPct val="100000"/>
              </a:lnSpc>
              <a:spcBef>
                <a:spcPts val="0"/>
              </a:spcBef>
              <a:spcAft>
                <a:spcPts val="0"/>
              </a:spcAft>
              <a:buNone/>
            </a:pPr>
            <a:r>
              <a:t/>
            </a:r>
            <a:endParaRPr sz="1600">
              <a:latin typeface="Calibri"/>
              <a:ea typeface="Calibri"/>
              <a:cs typeface="Calibri"/>
              <a:sym typeface="Calibri"/>
            </a:endParaRPr>
          </a:p>
          <a:p>
            <a:pPr indent="0" lvl="0" marL="9525"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En un diccionario de datos se encuentra la lista de todos los elementos que forman parte del flujo de datos en todo el sistema. </a:t>
            </a:r>
            <a:endParaRPr b="0" i="0" sz="1600" u="none" cap="none" strike="noStrike">
              <a:solidFill>
                <a:srgbClr val="000000"/>
              </a:solidFill>
              <a:latin typeface="Calibri"/>
              <a:ea typeface="Calibri"/>
              <a:cs typeface="Calibri"/>
              <a:sym typeface="Calibri"/>
            </a:endParaRPr>
          </a:p>
          <a:p>
            <a:pPr indent="0" lvl="0" marL="9525" marR="0" rtl="0" algn="just">
              <a:lnSpc>
                <a:spcPct val="100000"/>
              </a:lnSpc>
              <a:spcBef>
                <a:spcPts val="0"/>
              </a:spcBef>
              <a:spcAft>
                <a:spcPts val="0"/>
              </a:spcAft>
              <a:buNone/>
            </a:pPr>
            <a:r>
              <a:t/>
            </a:r>
            <a:endParaRPr sz="1600">
              <a:latin typeface="Calibri"/>
              <a:ea typeface="Calibri"/>
              <a:cs typeface="Calibri"/>
              <a:sym typeface="Calibri"/>
            </a:endParaRPr>
          </a:p>
          <a:p>
            <a:pPr indent="0" lvl="0" marL="9525"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Los elementos más importantes son flujos de datos, almacenes de datos y procesos. El diccionario guarda los detalles y descripciones de todos estos elementos.</a:t>
            </a:r>
            <a:endParaRPr/>
          </a:p>
        </p:txBody>
      </p:sp>
      <p:sp>
        <p:nvSpPr>
          <p:cNvPr id="794" name="Google Shape;794;p34"/>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35"/>
          <p:cNvSpPr/>
          <p:nvPr/>
        </p:nvSpPr>
        <p:spPr>
          <a:xfrm>
            <a:off x="479499" y="921778"/>
            <a:ext cx="8161264" cy="1231106"/>
          </a:xfrm>
          <a:prstGeom prst="rect">
            <a:avLst/>
          </a:prstGeom>
          <a:noFill/>
          <a:ln>
            <a:noFill/>
          </a:ln>
        </p:spPr>
        <p:txBody>
          <a:bodyPr anchorCtr="0" anchor="t" bIns="0" lIns="0" spcFirstLastPara="1" rIns="0" wrap="square" tIns="0">
            <a:spAutoFit/>
          </a:bodyPr>
          <a:lstStyle/>
          <a:p>
            <a:pPr indent="0" lvl="0" marL="9525" marR="0" rtl="0" algn="just">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Calibri"/>
                <a:ea typeface="Calibri"/>
                <a:cs typeface="Calibri"/>
                <a:sym typeface="Calibri"/>
              </a:rPr>
              <a:t>HERENCIA EN BASE DE DATOS RELACIONALES</a:t>
            </a:r>
            <a:endParaRPr/>
          </a:p>
          <a:p>
            <a:pPr indent="0" lvl="0" marL="9525"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Se trabaja con la siguiente jerarquía de herencia con tres clases: Persona, Cliente, Empleado. La clase Persona es abstracta y las otras son clases concretas que extienden de la primera. De un Cliente vamos a saber su número de tarjeta de crédito y de un empleado vamos a saber la cuenta bancaria donde se deposita su sueldo.</a:t>
            </a:r>
            <a:endParaRPr/>
          </a:p>
        </p:txBody>
      </p:sp>
      <p:graphicFrame>
        <p:nvGraphicFramePr>
          <p:cNvPr id="800" name="Google Shape;800;p35"/>
          <p:cNvGraphicFramePr/>
          <p:nvPr/>
        </p:nvGraphicFramePr>
        <p:xfrm>
          <a:off x="3789313" y="2205286"/>
          <a:ext cx="3000000" cy="3000000"/>
        </p:xfrm>
        <a:graphic>
          <a:graphicData uri="http://schemas.openxmlformats.org/drawingml/2006/table">
            <a:tbl>
              <a:tblPr bandRow="1">
                <a:noFill/>
                <a:tableStyleId>{111FAAAF-390B-45C5-8ABE-32D9CDC8B455}</a:tableStyleId>
              </a:tblPr>
              <a:tblGrid>
                <a:gridCol w="1565375"/>
              </a:tblGrid>
              <a:tr h="386325">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“Entidad”</a:t>
                      </a:r>
                      <a:endParaRPr/>
                    </a:p>
                    <a:p>
                      <a:pPr indent="0" lvl="0" marL="0" marR="0" rtl="0" algn="ctr">
                        <a:lnSpc>
                          <a:spcPct val="100000"/>
                        </a:lnSpc>
                        <a:spcBef>
                          <a:spcPts val="0"/>
                        </a:spcBef>
                        <a:spcAft>
                          <a:spcPts val="0"/>
                        </a:spcAft>
                        <a:buNone/>
                      </a:pPr>
                      <a:r>
                        <a:rPr b="1" lang="es-PE" sz="1400" u="none" cap="none" strike="noStrike">
                          <a:solidFill>
                            <a:schemeClr val="lt1"/>
                          </a:solidFill>
                        </a:rPr>
                        <a:t>       persona</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554475">
                <a:tc>
                  <a:txBody>
                    <a:bodyPr/>
                    <a:lstStyle/>
                    <a:p>
                      <a:pPr indent="0" lvl="0" marL="222250" marR="0" rtl="0" algn="l">
                        <a:lnSpc>
                          <a:spcPct val="100000"/>
                        </a:lnSpc>
                        <a:spcBef>
                          <a:spcPts val="0"/>
                        </a:spcBef>
                        <a:spcAft>
                          <a:spcPts val="0"/>
                        </a:spcAft>
                        <a:buNone/>
                      </a:pPr>
                      <a:r>
                        <a:rPr i="0" lang="es-PE" sz="1400" u="none" cap="none" strike="noStrike"/>
                        <a:t>Codigo: String</a:t>
                      </a:r>
                      <a:endParaRPr i="0" sz="1400" u="none" cap="none" strike="noStrike"/>
                    </a:p>
                    <a:p>
                      <a:pPr indent="0" lvl="0" marL="222250" marR="0" rtl="0" algn="l">
                        <a:lnSpc>
                          <a:spcPct val="100000"/>
                        </a:lnSpc>
                        <a:spcBef>
                          <a:spcPts val="0"/>
                        </a:spcBef>
                        <a:spcAft>
                          <a:spcPts val="0"/>
                        </a:spcAft>
                        <a:buNone/>
                      </a:pPr>
                      <a:r>
                        <a:rPr i="0" lang="es-PE" sz="1400" u="none" cap="none" strike="noStrike"/>
                        <a:t>Nombre: String</a:t>
                      </a:r>
                      <a:endParaRPr i="0" sz="1400" u="none" cap="none" strike="noStrike"/>
                    </a:p>
                    <a:p>
                      <a:pPr indent="0" lvl="0" marL="222250" marR="0" rtl="0" algn="l">
                        <a:lnSpc>
                          <a:spcPct val="100000"/>
                        </a:lnSpc>
                        <a:spcBef>
                          <a:spcPts val="0"/>
                        </a:spcBef>
                        <a:spcAft>
                          <a:spcPts val="0"/>
                        </a:spcAft>
                        <a:buNone/>
                      </a:pPr>
                      <a:r>
                        <a:rPr i="0" lang="es-PE" sz="1400" u="none" cap="none" strike="noStrike"/>
                        <a:t>Apellidos:</a:t>
                      </a:r>
                      <a:r>
                        <a:rPr i="0" lang="es-PE" sz="1400" u="none" cap="none" strike="noStrike"/>
                        <a:t> String</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218200">
                <a:tc>
                  <a:txBody>
                    <a:bodyPr/>
                    <a:lstStyle/>
                    <a:p>
                      <a:pPr indent="0" lvl="0" marL="0" marR="0" rtl="0" algn="l">
                        <a:lnSpc>
                          <a:spcPct val="100000"/>
                        </a:lnSpc>
                        <a:spcBef>
                          <a:spcPts val="0"/>
                        </a:spcBef>
                        <a:spcAft>
                          <a:spcPts val="0"/>
                        </a:spcAft>
                        <a:buNone/>
                      </a:pPr>
                      <a:r>
                        <a:t/>
                      </a:r>
                      <a:endParaRPr i="1"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grpSp>
        <p:nvGrpSpPr>
          <p:cNvPr id="801" name="Google Shape;801;p35"/>
          <p:cNvGrpSpPr/>
          <p:nvPr/>
        </p:nvGrpSpPr>
        <p:grpSpPr>
          <a:xfrm>
            <a:off x="4230289" y="2519203"/>
            <a:ext cx="140753" cy="119141"/>
            <a:chOff x="6105278" y="-360580"/>
            <a:chExt cx="712973" cy="603500"/>
          </a:xfrm>
        </p:grpSpPr>
        <p:sp>
          <p:nvSpPr>
            <p:cNvPr id="802" name="Google Shape;802;p35"/>
            <p:cNvSpPr/>
            <p:nvPr/>
          </p:nvSpPr>
          <p:spPr>
            <a:xfrm>
              <a:off x="6165388" y="-360580"/>
              <a:ext cx="592756" cy="592754"/>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p:txBody>
        </p:sp>
        <p:cxnSp>
          <p:nvCxnSpPr>
            <p:cNvPr id="803" name="Google Shape;803;p35"/>
            <p:cNvCxnSpPr/>
            <p:nvPr/>
          </p:nvCxnSpPr>
          <p:spPr>
            <a:xfrm>
              <a:off x="6105278" y="242920"/>
              <a:ext cx="712973" cy="0"/>
            </a:xfrm>
            <a:prstGeom prst="straightConnector1">
              <a:avLst/>
            </a:prstGeom>
            <a:noFill/>
            <a:ln cap="flat" cmpd="sng" w="12700">
              <a:solidFill>
                <a:schemeClr val="dk1"/>
              </a:solidFill>
              <a:prstDash val="solid"/>
              <a:round/>
              <a:headEnd len="sm" w="sm" type="none"/>
              <a:tailEnd len="sm" w="sm" type="none"/>
            </a:ln>
          </p:spPr>
        </p:cxnSp>
      </p:grpSp>
      <p:pic>
        <p:nvPicPr>
          <p:cNvPr id="804" name="Google Shape;804;p35"/>
          <p:cNvPicPr preferRelativeResize="0"/>
          <p:nvPr/>
        </p:nvPicPr>
        <p:blipFill rotWithShape="1">
          <a:blip r:embed="rId3">
            <a:alphaModFix/>
          </a:blip>
          <a:srcRect b="60777" l="71201" r="26555" t="34908"/>
          <a:stretch/>
        </p:blipFill>
        <p:spPr>
          <a:xfrm>
            <a:off x="3863290" y="2758293"/>
            <a:ext cx="165783" cy="147200"/>
          </a:xfrm>
          <a:prstGeom prst="rect">
            <a:avLst/>
          </a:prstGeom>
          <a:noFill/>
          <a:ln>
            <a:noFill/>
          </a:ln>
        </p:spPr>
      </p:pic>
      <p:pic>
        <p:nvPicPr>
          <p:cNvPr id="805" name="Google Shape;805;p35"/>
          <p:cNvPicPr preferRelativeResize="0"/>
          <p:nvPr/>
        </p:nvPicPr>
        <p:blipFill rotWithShape="1">
          <a:blip r:embed="rId3">
            <a:alphaModFix/>
          </a:blip>
          <a:srcRect b="60777" l="71201" r="26555" t="34908"/>
          <a:stretch/>
        </p:blipFill>
        <p:spPr>
          <a:xfrm>
            <a:off x="3863290" y="2969723"/>
            <a:ext cx="165783" cy="147200"/>
          </a:xfrm>
          <a:prstGeom prst="rect">
            <a:avLst/>
          </a:prstGeom>
          <a:noFill/>
          <a:ln>
            <a:noFill/>
          </a:ln>
        </p:spPr>
      </p:pic>
      <p:pic>
        <p:nvPicPr>
          <p:cNvPr id="806" name="Google Shape;806;p35"/>
          <p:cNvPicPr preferRelativeResize="0"/>
          <p:nvPr/>
        </p:nvPicPr>
        <p:blipFill rotWithShape="1">
          <a:blip r:embed="rId3">
            <a:alphaModFix/>
          </a:blip>
          <a:srcRect b="60777" l="71201" r="26555" t="34908"/>
          <a:stretch/>
        </p:blipFill>
        <p:spPr>
          <a:xfrm>
            <a:off x="3863290" y="3181153"/>
            <a:ext cx="165783" cy="147200"/>
          </a:xfrm>
          <a:prstGeom prst="rect">
            <a:avLst/>
          </a:prstGeom>
          <a:noFill/>
          <a:ln>
            <a:noFill/>
          </a:ln>
        </p:spPr>
      </p:pic>
      <p:sp>
        <p:nvSpPr>
          <p:cNvPr id="807" name="Google Shape;807;p35"/>
          <p:cNvSpPr/>
          <p:nvPr/>
        </p:nvSpPr>
        <p:spPr>
          <a:xfrm rot="-5400000">
            <a:off x="4393096" y="2222899"/>
            <a:ext cx="357809" cy="3913243"/>
          </a:xfrm>
          <a:prstGeom prst="rightBracket">
            <a:avLst>
              <a:gd fmla="val 8333" name="adj"/>
            </a:avLst>
          </a:prstGeom>
          <a:noFill/>
          <a:ln cap="flat" cmpd="sng" w="28575">
            <a:solidFill>
              <a:srgbClr val="0197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aphicFrame>
        <p:nvGraphicFramePr>
          <p:cNvPr id="808" name="Google Shape;808;p35"/>
          <p:cNvGraphicFramePr/>
          <p:nvPr/>
        </p:nvGraphicFramePr>
        <p:xfrm>
          <a:off x="1723081" y="4131703"/>
          <a:ext cx="3000000" cy="3000000"/>
        </p:xfrm>
        <a:graphic>
          <a:graphicData uri="http://schemas.openxmlformats.org/drawingml/2006/table">
            <a:tbl>
              <a:tblPr bandRow="1">
                <a:noFill/>
                <a:tableStyleId>{111FAAAF-390B-45C5-8ABE-32D9CDC8B455}</a:tableStyleId>
              </a:tblPr>
              <a:tblGrid>
                <a:gridCol w="2006075"/>
              </a:tblGrid>
              <a:tr h="417625">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“Entidad”</a:t>
                      </a:r>
                      <a:endParaRPr/>
                    </a:p>
                    <a:p>
                      <a:pPr indent="0" lvl="0" marL="0" marR="0" rtl="0" algn="ctr">
                        <a:lnSpc>
                          <a:spcPct val="100000"/>
                        </a:lnSpc>
                        <a:spcBef>
                          <a:spcPts val="0"/>
                        </a:spcBef>
                        <a:spcAft>
                          <a:spcPts val="0"/>
                        </a:spcAft>
                        <a:buNone/>
                      </a:pPr>
                      <a:r>
                        <a:rPr b="1" lang="es-PE" sz="1400" u="none" cap="none" strike="noStrike">
                          <a:solidFill>
                            <a:schemeClr val="lt1"/>
                          </a:solidFill>
                        </a:rPr>
                        <a:t>       empleados</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298425">
                <a:tc>
                  <a:txBody>
                    <a:bodyPr/>
                    <a:lstStyle/>
                    <a:p>
                      <a:pPr indent="0" lvl="0" marL="222250" marR="0" rtl="0" algn="l">
                        <a:lnSpc>
                          <a:spcPct val="100000"/>
                        </a:lnSpc>
                        <a:spcBef>
                          <a:spcPts val="0"/>
                        </a:spcBef>
                        <a:spcAft>
                          <a:spcPts val="0"/>
                        </a:spcAft>
                        <a:buNone/>
                      </a:pPr>
                      <a:r>
                        <a:rPr i="0" lang="es-PE" sz="1400" u="none" cap="none" strike="noStrike"/>
                        <a:t>Cta_bancaria: String</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235875">
                <a:tc>
                  <a:txBody>
                    <a:bodyPr/>
                    <a:lstStyle/>
                    <a:p>
                      <a:pPr indent="0" lvl="0" marL="0" marR="0" rtl="0" algn="l">
                        <a:lnSpc>
                          <a:spcPct val="100000"/>
                        </a:lnSpc>
                        <a:spcBef>
                          <a:spcPts val="0"/>
                        </a:spcBef>
                        <a:spcAft>
                          <a:spcPts val="0"/>
                        </a:spcAft>
                        <a:buNone/>
                      </a:pPr>
                      <a:r>
                        <a:t/>
                      </a:r>
                      <a:endParaRPr i="1"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grpSp>
        <p:nvGrpSpPr>
          <p:cNvPr id="809" name="Google Shape;809;p35"/>
          <p:cNvGrpSpPr/>
          <p:nvPr/>
        </p:nvGrpSpPr>
        <p:grpSpPr>
          <a:xfrm>
            <a:off x="2274269" y="4432084"/>
            <a:ext cx="140753" cy="119141"/>
            <a:chOff x="6105278" y="-360580"/>
            <a:chExt cx="712973" cy="603500"/>
          </a:xfrm>
        </p:grpSpPr>
        <p:sp>
          <p:nvSpPr>
            <p:cNvPr id="810" name="Google Shape;810;p35"/>
            <p:cNvSpPr/>
            <p:nvPr/>
          </p:nvSpPr>
          <p:spPr>
            <a:xfrm>
              <a:off x="6165388" y="-360580"/>
              <a:ext cx="592756" cy="592754"/>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p:txBody>
        </p:sp>
        <p:cxnSp>
          <p:nvCxnSpPr>
            <p:cNvPr id="811" name="Google Shape;811;p35"/>
            <p:cNvCxnSpPr/>
            <p:nvPr/>
          </p:nvCxnSpPr>
          <p:spPr>
            <a:xfrm>
              <a:off x="6105278" y="242920"/>
              <a:ext cx="712973" cy="0"/>
            </a:xfrm>
            <a:prstGeom prst="straightConnector1">
              <a:avLst/>
            </a:prstGeom>
            <a:noFill/>
            <a:ln cap="flat" cmpd="sng" w="12700">
              <a:solidFill>
                <a:schemeClr val="dk1"/>
              </a:solidFill>
              <a:prstDash val="solid"/>
              <a:round/>
              <a:headEnd len="sm" w="sm" type="none"/>
              <a:tailEnd len="sm" w="sm" type="none"/>
            </a:ln>
          </p:spPr>
        </p:cxnSp>
      </p:grpSp>
      <p:pic>
        <p:nvPicPr>
          <p:cNvPr id="812" name="Google Shape;812;p35"/>
          <p:cNvPicPr preferRelativeResize="0"/>
          <p:nvPr/>
        </p:nvPicPr>
        <p:blipFill rotWithShape="1">
          <a:blip r:embed="rId3">
            <a:alphaModFix/>
          </a:blip>
          <a:srcRect b="60777" l="71201" r="26555" t="34908"/>
          <a:stretch/>
        </p:blipFill>
        <p:spPr>
          <a:xfrm>
            <a:off x="1800963" y="4684710"/>
            <a:ext cx="165783" cy="147200"/>
          </a:xfrm>
          <a:prstGeom prst="rect">
            <a:avLst/>
          </a:prstGeom>
          <a:noFill/>
          <a:ln>
            <a:noFill/>
          </a:ln>
        </p:spPr>
      </p:pic>
      <p:graphicFrame>
        <p:nvGraphicFramePr>
          <p:cNvPr id="813" name="Google Shape;813;p35"/>
          <p:cNvGraphicFramePr/>
          <p:nvPr/>
        </p:nvGraphicFramePr>
        <p:xfrm>
          <a:off x="5603317" y="4131867"/>
          <a:ext cx="3000000" cy="3000000"/>
        </p:xfrm>
        <a:graphic>
          <a:graphicData uri="http://schemas.openxmlformats.org/drawingml/2006/table">
            <a:tbl>
              <a:tblPr bandRow="1">
                <a:noFill/>
                <a:tableStyleId>{111FAAAF-390B-45C5-8ABE-32D9CDC8B455}</a:tableStyleId>
              </a:tblPr>
              <a:tblGrid>
                <a:gridCol w="2006075"/>
              </a:tblGrid>
              <a:tr h="417625">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“Entidad”</a:t>
                      </a:r>
                      <a:endParaRPr/>
                    </a:p>
                    <a:p>
                      <a:pPr indent="0" lvl="0" marL="0" marR="0" rtl="0" algn="ctr">
                        <a:lnSpc>
                          <a:spcPct val="100000"/>
                        </a:lnSpc>
                        <a:spcBef>
                          <a:spcPts val="0"/>
                        </a:spcBef>
                        <a:spcAft>
                          <a:spcPts val="0"/>
                        </a:spcAft>
                        <a:buNone/>
                      </a:pPr>
                      <a:r>
                        <a:rPr b="1" lang="es-PE" sz="1400" u="none" cap="none" strike="noStrike">
                          <a:solidFill>
                            <a:schemeClr val="lt1"/>
                          </a:solidFill>
                        </a:rPr>
                        <a:t>       cliente</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298425">
                <a:tc>
                  <a:txBody>
                    <a:bodyPr/>
                    <a:lstStyle/>
                    <a:p>
                      <a:pPr indent="0" lvl="0" marL="222250" marR="0" rtl="0" algn="l">
                        <a:lnSpc>
                          <a:spcPct val="100000"/>
                        </a:lnSpc>
                        <a:spcBef>
                          <a:spcPts val="0"/>
                        </a:spcBef>
                        <a:spcAft>
                          <a:spcPts val="0"/>
                        </a:spcAft>
                        <a:buNone/>
                      </a:pPr>
                      <a:r>
                        <a:rPr i="0" lang="es-PE" sz="1400" u="none" cap="none" strike="noStrike"/>
                        <a:t>Tarjeta_credito:</a:t>
                      </a:r>
                      <a:r>
                        <a:rPr i="0" lang="es-PE" sz="1400" u="none" cap="none" strike="noStrike"/>
                        <a:t> String</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235875">
                <a:tc>
                  <a:txBody>
                    <a:bodyPr/>
                    <a:lstStyle/>
                    <a:p>
                      <a:pPr indent="0" lvl="0" marL="0" marR="0" rtl="0" algn="l">
                        <a:lnSpc>
                          <a:spcPct val="100000"/>
                        </a:lnSpc>
                        <a:spcBef>
                          <a:spcPts val="0"/>
                        </a:spcBef>
                        <a:spcAft>
                          <a:spcPts val="0"/>
                        </a:spcAft>
                        <a:buNone/>
                      </a:pPr>
                      <a:r>
                        <a:t/>
                      </a:r>
                      <a:endParaRPr i="1"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grpSp>
        <p:nvGrpSpPr>
          <p:cNvPr id="814" name="Google Shape;814;p35"/>
          <p:cNvGrpSpPr/>
          <p:nvPr/>
        </p:nvGrpSpPr>
        <p:grpSpPr>
          <a:xfrm>
            <a:off x="6292001" y="4432084"/>
            <a:ext cx="140753" cy="119141"/>
            <a:chOff x="6105278" y="-360580"/>
            <a:chExt cx="712973" cy="603500"/>
          </a:xfrm>
        </p:grpSpPr>
        <p:sp>
          <p:nvSpPr>
            <p:cNvPr id="815" name="Google Shape;815;p35"/>
            <p:cNvSpPr/>
            <p:nvPr/>
          </p:nvSpPr>
          <p:spPr>
            <a:xfrm>
              <a:off x="6165388" y="-360580"/>
              <a:ext cx="592756" cy="592754"/>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p:txBody>
        </p:sp>
        <p:cxnSp>
          <p:nvCxnSpPr>
            <p:cNvPr id="816" name="Google Shape;816;p35"/>
            <p:cNvCxnSpPr/>
            <p:nvPr/>
          </p:nvCxnSpPr>
          <p:spPr>
            <a:xfrm>
              <a:off x="6105278" y="242920"/>
              <a:ext cx="712973" cy="0"/>
            </a:xfrm>
            <a:prstGeom prst="straightConnector1">
              <a:avLst/>
            </a:prstGeom>
            <a:noFill/>
            <a:ln cap="flat" cmpd="sng" w="12700">
              <a:solidFill>
                <a:schemeClr val="dk1"/>
              </a:solidFill>
              <a:prstDash val="solid"/>
              <a:round/>
              <a:headEnd len="sm" w="sm" type="none"/>
              <a:tailEnd len="sm" w="sm" type="none"/>
            </a:ln>
          </p:spPr>
        </p:cxnSp>
      </p:grpSp>
      <p:pic>
        <p:nvPicPr>
          <p:cNvPr id="817" name="Google Shape;817;p35"/>
          <p:cNvPicPr preferRelativeResize="0"/>
          <p:nvPr/>
        </p:nvPicPr>
        <p:blipFill rotWithShape="1">
          <a:blip r:embed="rId3">
            <a:alphaModFix/>
          </a:blip>
          <a:srcRect b="60777" l="71201" r="26555" t="34908"/>
          <a:stretch/>
        </p:blipFill>
        <p:spPr>
          <a:xfrm>
            <a:off x="5681199" y="4684874"/>
            <a:ext cx="165783" cy="147200"/>
          </a:xfrm>
          <a:prstGeom prst="rect">
            <a:avLst/>
          </a:prstGeom>
          <a:noFill/>
          <a:ln>
            <a:noFill/>
          </a:ln>
        </p:spPr>
      </p:pic>
      <p:cxnSp>
        <p:nvCxnSpPr>
          <p:cNvPr id="818" name="Google Shape;818;p35"/>
          <p:cNvCxnSpPr/>
          <p:nvPr/>
        </p:nvCxnSpPr>
        <p:spPr>
          <a:xfrm flipH="1" rot="10800000">
            <a:off x="4572000" y="3747646"/>
            <a:ext cx="1" cy="250870"/>
          </a:xfrm>
          <a:prstGeom prst="straightConnector1">
            <a:avLst/>
          </a:prstGeom>
          <a:noFill/>
          <a:ln cap="flat" cmpd="sng" w="38100">
            <a:solidFill>
              <a:srgbClr val="0197A7"/>
            </a:solidFill>
            <a:prstDash val="solid"/>
            <a:round/>
            <a:headEnd len="sm" w="sm" type="none"/>
            <a:tailEnd len="med" w="med" type="triangle"/>
          </a:ln>
        </p:spPr>
      </p:cxnSp>
      <p:sp>
        <p:nvSpPr>
          <p:cNvPr id="819" name="Google Shape;819;p35"/>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36"/>
          <p:cNvSpPr/>
          <p:nvPr/>
        </p:nvSpPr>
        <p:spPr>
          <a:xfrm>
            <a:off x="479499" y="912813"/>
            <a:ext cx="8161264" cy="738664"/>
          </a:xfrm>
          <a:prstGeom prst="rect">
            <a:avLst/>
          </a:prstGeom>
          <a:noFill/>
          <a:ln>
            <a:noFill/>
          </a:ln>
        </p:spPr>
        <p:txBody>
          <a:bodyPr anchorCtr="0" anchor="t" bIns="0" lIns="0" spcFirstLastPara="1" rIns="0" wrap="square" tIns="0">
            <a:spAutoFit/>
          </a:bodyPr>
          <a:lstStyle/>
          <a:p>
            <a:pPr indent="0" lvl="0" marL="9525" marR="0" rtl="0" algn="just">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Calibri"/>
                <a:ea typeface="Calibri"/>
                <a:cs typeface="Calibri"/>
                <a:sym typeface="Calibri"/>
              </a:rPr>
              <a:t>UNA TABLA POR CADA CLASE</a:t>
            </a:r>
            <a:endParaRPr/>
          </a:p>
          <a:p>
            <a:pPr indent="0" lvl="0" marL="9525"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Se crean tres tablas: personas, clientes y empleados. Cada tabla contendrá los campos de cada clase. Los únicos campos que se repetirán serán los relativos a las claves primarias.</a:t>
            </a:r>
            <a:endParaRPr/>
          </a:p>
        </p:txBody>
      </p:sp>
      <p:cxnSp>
        <p:nvCxnSpPr>
          <p:cNvPr id="825" name="Google Shape;825;p36"/>
          <p:cNvCxnSpPr/>
          <p:nvPr/>
        </p:nvCxnSpPr>
        <p:spPr>
          <a:xfrm>
            <a:off x="3959750" y="3095297"/>
            <a:ext cx="363414" cy="0"/>
          </a:xfrm>
          <a:prstGeom prst="straightConnector1">
            <a:avLst/>
          </a:prstGeom>
          <a:noFill/>
          <a:ln cap="flat" cmpd="sng" w="38100">
            <a:solidFill>
              <a:srgbClr val="634E97"/>
            </a:solidFill>
            <a:prstDash val="solid"/>
            <a:round/>
            <a:headEnd len="sm" w="sm" type="none"/>
            <a:tailEnd len="sm" w="sm" type="none"/>
          </a:ln>
        </p:spPr>
      </p:cxnSp>
      <p:cxnSp>
        <p:nvCxnSpPr>
          <p:cNvPr id="826" name="Google Shape;826;p36"/>
          <p:cNvCxnSpPr/>
          <p:nvPr/>
        </p:nvCxnSpPr>
        <p:spPr>
          <a:xfrm>
            <a:off x="3419060" y="3804998"/>
            <a:ext cx="206735" cy="308134"/>
          </a:xfrm>
          <a:prstGeom prst="straightConnector1">
            <a:avLst/>
          </a:prstGeom>
          <a:noFill/>
          <a:ln cap="flat" cmpd="sng" w="38100">
            <a:solidFill>
              <a:srgbClr val="634E97"/>
            </a:solidFill>
            <a:prstDash val="solid"/>
            <a:round/>
            <a:headEnd len="sm" w="sm" type="none"/>
            <a:tailEnd len="sm" w="sm" type="none"/>
          </a:ln>
        </p:spPr>
      </p:cxnSp>
      <p:cxnSp>
        <p:nvCxnSpPr>
          <p:cNvPr id="827" name="Google Shape;827;p36"/>
          <p:cNvCxnSpPr/>
          <p:nvPr/>
        </p:nvCxnSpPr>
        <p:spPr>
          <a:xfrm flipH="1">
            <a:off x="3213488" y="3804998"/>
            <a:ext cx="206735" cy="308134"/>
          </a:xfrm>
          <a:prstGeom prst="straightConnector1">
            <a:avLst/>
          </a:prstGeom>
          <a:noFill/>
          <a:ln cap="flat" cmpd="sng" w="38100">
            <a:solidFill>
              <a:srgbClr val="634E97"/>
            </a:solidFill>
            <a:prstDash val="solid"/>
            <a:round/>
            <a:headEnd len="sm" w="sm" type="none"/>
            <a:tailEnd len="sm" w="sm" type="none"/>
          </a:ln>
        </p:spPr>
      </p:cxnSp>
      <p:cxnSp>
        <p:nvCxnSpPr>
          <p:cNvPr id="828" name="Google Shape;828;p36"/>
          <p:cNvCxnSpPr/>
          <p:nvPr/>
        </p:nvCxnSpPr>
        <p:spPr>
          <a:xfrm rot="5400000">
            <a:off x="2846480" y="3347641"/>
            <a:ext cx="1868700" cy="723600"/>
          </a:xfrm>
          <a:prstGeom prst="bentConnector3">
            <a:avLst>
              <a:gd fmla="val 50000" name="adj1"/>
            </a:avLst>
          </a:prstGeom>
          <a:noFill/>
          <a:ln cap="flat" cmpd="sng" w="38100">
            <a:solidFill>
              <a:srgbClr val="634E97"/>
            </a:solidFill>
            <a:prstDash val="solid"/>
            <a:round/>
            <a:headEnd len="sm" w="sm" type="none"/>
            <a:tailEnd len="sm" w="sm" type="none"/>
          </a:ln>
        </p:spPr>
      </p:cxnSp>
      <p:graphicFrame>
        <p:nvGraphicFramePr>
          <p:cNvPr id="829" name="Google Shape;829;p36"/>
          <p:cNvGraphicFramePr/>
          <p:nvPr/>
        </p:nvGraphicFramePr>
        <p:xfrm>
          <a:off x="1444790" y="4113132"/>
          <a:ext cx="3000000" cy="3000000"/>
        </p:xfrm>
        <a:graphic>
          <a:graphicData uri="http://schemas.openxmlformats.org/drawingml/2006/table">
            <a:tbl>
              <a:tblPr bandRow="1">
                <a:noFill/>
                <a:tableStyleId>{111FAAAF-390B-45C5-8ABE-32D9CDC8B455}</a:tableStyleId>
              </a:tblPr>
              <a:tblGrid>
                <a:gridCol w="2451350"/>
              </a:tblGrid>
              <a:tr h="245950">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empleados</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245950">
                <a:tc>
                  <a:txBody>
                    <a:bodyPr/>
                    <a:lstStyle/>
                    <a:p>
                      <a:pPr indent="134938" lvl="0" marL="222250" marR="0" rtl="0" algn="l">
                        <a:lnSpc>
                          <a:spcPct val="100000"/>
                        </a:lnSpc>
                        <a:spcBef>
                          <a:spcPts val="0"/>
                        </a:spcBef>
                        <a:spcAft>
                          <a:spcPts val="0"/>
                        </a:spcAft>
                        <a:buNone/>
                      </a:pPr>
                      <a:r>
                        <a:rPr lang="es-PE" sz="1400" u="none" cap="none" strike="noStrike"/>
                        <a:t>Codigo: CHAR (9)[FK]</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245950">
                <a:tc>
                  <a:txBody>
                    <a:bodyPr/>
                    <a:lstStyle/>
                    <a:p>
                      <a:pPr indent="174625" lvl="0" marL="182563" marR="0" rtl="0" algn="l">
                        <a:lnSpc>
                          <a:spcPct val="100000"/>
                        </a:lnSpc>
                        <a:spcBef>
                          <a:spcPts val="0"/>
                        </a:spcBef>
                        <a:spcAft>
                          <a:spcPts val="0"/>
                        </a:spcAft>
                        <a:buNone/>
                      </a:pPr>
                      <a:r>
                        <a:rPr lang="es-PE" sz="1400" u="none" cap="none" strike="noStrike"/>
                        <a:t>Cta_bancaria: CHAR(20)</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sp>
        <p:nvSpPr>
          <p:cNvPr id="830" name="Google Shape;830;p36"/>
          <p:cNvSpPr/>
          <p:nvPr/>
        </p:nvSpPr>
        <p:spPr>
          <a:xfrm>
            <a:off x="3308789" y="3621982"/>
            <a:ext cx="198782" cy="198782"/>
          </a:xfrm>
          <a:prstGeom prst="ellipse">
            <a:avLst/>
          </a:prstGeom>
          <a:solidFill>
            <a:schemeClr val="lt1"/>
          </a:solidFill>
          <a:ln cap="flat" cmpd="sng" w="38100">
            <a:solidFill>
              <a:srgbClr val="634E9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cxnSp>
        <p:nvCxnSpPr>
          <p:cNvPr id="831" name="Google Shape;831;p36"/>
          <p:cNvCxnSpPr/>
          <p:nvPr/>
        </p:nvCxnSpPr>
        <p:spPr>
          <a:xfrm flipH="1" rot="-5400000">
            <a:off x="4798187" y="3374830"/>
            <a:ext cx="1399800" cy="358500"/>
          </a:xfrm>
          <a:prstGeom prst="bentConnector3">
            <a:avLst>
              <a:gd fmla="val 43186" name="adj1"/>
            </a:avLst>
          </a:prstGeom>
          <a:noFill/>
          <a:ln cap="flat" cmpd="sng" w="38100">
            <a:solidFill>
              <a:srgbClr val="634E97"/>
            </a:solidFill>
            <a:prstDash val="solid"/>
            <a:round/>
            <a:headEnd len="sm" w="sm" type="none"/>
            <a:tailEnd len="sm" w="sm" type="none"/>
          </a:ln>
        </p:spPr>
      </p:cxnSp>
      <p:cxnSp>
        <p:nvCxnSpPr>
          <p:cNvPr id="832" name="Google Shape;832;p36"/>
          <p:cNvCxnSpPr/>
          <p:nvPr/>
        </p:nvCxnSpPr>
        <p:spPr>
          <a:xfrm>
            <a:off x="5134621" y="3095297"/>
            <a:ext cx="363414" cy="0"/>
          </a:xfrm>
          <a:prstGeom prst="straightConnector1">
            <a:avLst/>
          </a:prstGeom>
          <a:noFill/>
          <a:ln cap="flat" cmpd="sng" w="38100">
            <a:solidFill>
              <a:srgbClr val="634E97"/>
            </a:solidFill>
            <a:prstDash val="solid"/>
            <a:round/>
            <a:headEnd len="sm" w="sm" type="none"/>
            <a:tailEnd len="sm" w="sm" type="none"/>
          </a:ln>
        </p:spPr>
      </p:cxnSp>
      <p:sp>
        <p:nvSpPr>
          <p:cNvPr id="833" name="Google Shape;833;p36"/>
          <p:cNvSpPr/>
          <p:nvPr/>
        </p:nvSpPr>
        <p:spPr>
          <a:xfrm>
            <a:off x="5573005" y="3625752"/>
            <a:ext cx="198782" cy="198782"/>
          </a:xfrm>
          <a:prstGeom prst="ellipse">
            <a:avLst/>
          </a:prstGeom>
          <a:solidFill>
            <a:schemeClr val="lt1"/>
          </a:solidFill>
          <a:ln cap="flat" cmpd="sng" w="38100">
            <a:solidFill>
              <a:srgbClr val="634E9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cxnSp>
        <p:nvCxnSpPr>
          <p:cNvPr id="834" name="Google Shape;834;p36"/>
          <p:cNvCxnSpPr/>
          <p:nvPr/>
        </p:nvCxnSpPr>
        <p:spPr>
          <a:xfrm>
            <a:off x="5673719" y="3819168"/>
            <a:ext cx="206735" cy="308134"/>
          </a:xfrm>
          <a:prstGeom prst="straightConnector1">
            <a:avLst/>
          </a:prstGeom>
          <a:noFill/>
          <a:ln cap="flat" cmpd="sng" w="38100">
            <a:solidFill>
              <a:srgbClr val="634E97"/>
            </a:solidFill>
            <a:prstDash val="solid"/>
            <a:round/>
            <a:headEnd len="sm" w="sm" type="none"/>
            <a:tailEnd len="sm" w="sm" type="none"/>
          </a:ln>
        </p:spPr>
      </p:cxnSp>
      <p:cxnSp>
        <p:nvCxnSpPr>
          <p:cNvPr id="835" name="Google Shape;835;p36"/>
          <p:cNvCxnSpPr/>
          <p:nvPr/>
        </p:nvCxnSpPr>
        <p:spPr>
          <a:xfrm flipH="1">
            <a:off x="5468147" y="3819168"/>
            <a:ext cx="206735" cy="308134"/>
          </a:xfrm>
          <a:prstGeom prst="straightConnector1">
            <a:avLst/>
          </a:prstGeom>
          <a:noFill/>
          <a:ln cap="flat" cmpd="sng" w="38100">
            <a:solidFill>
              <a:srgbClr val="634E97"/>
            </a:solidFill>
            <a:prstDash val="solid"/>
            <a:round/>
            <a:headEnd len="sm" w="sm" type="none"/>
            <a:tailEnd len="sm" w="sm" type="none"/>
          </a:ln>
        </p:spPr>
      </p:cxnSp>
      <p:graphicFrame>
        <p:nvGraphicFramePr>
          <p:cNvPr id="836" name="Google Shape;836;p36"/>
          <p:cNvGraphicFramePr/>
          <p:nvPr/>
        </p:nvGraphicFramePr>
        <p:xfrm>
          <a:off x="3332372" y="1884568"/>
          <a:ext cx="3000000" cy="3000000"/>
        </p:xfrm>
        <a:graphic>
          <a:graphicData uri="http://schemas.openxmlformats.org/drawingml/2006/table">
            <a:tbl>
              <a:tblPr bandRow="1">
                <a:noFill/>
                <a:tableStyleId>{111FAAAF-390B-45C5-8ABE-32D9CDC8B455}</a:tableStyleId>
              </a:tblPr>
              <a:tblGrid>
                <a:gridCol w="2479250"/>
              </a:tblGrid>
              <a:tr h="199325">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personas</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266700">
                <a:tc>
                  <a:txBody>
                    <a:bodyPr/>
                    <a:lstStyle/>
                    <a:p>
                      <a:pPr indent="134938" lvl="0" marL="222250" marR="0" rtl="0" algn="l">
                        <a:lnSpc>
                          <a:spcPct val="100000"/>
                        </a:lnSpc>
                        <a:spcBef>
                          <a:spcPts val="0"/>
                        </a:spcBef>
                        <a:spcAft>
                          <a:spcPts val="0"/>
                        </a:spcAft>
                        <a:buNone/>
                      </a:pPr>
                      <a:r>
                        <a:rPr lang="es-PE" sz="1400" u="none" cap="none" strike="noStrike"/>
                        <a:t>Codigo: CHAR (9)</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352925">
                <a:tc>
                  <a:txBody>
                    <a:bodyPr/>
                    <a:lstStyle/>
                    <a:p>
                      <a:pPr indent="134938" lvl="0" marL="222250" marR="0" rtl="0" algn="l">
                        <a:lnSpc>
                          <a:spcPct val="100000"/>
                        </a:lnSpc>
                        <a:spcBef>
                          <a:spcPts val="0"/>
                        </a:spcBef>
                        <a:spcAft>
                          <a:spcPts val="0"/>
                        </a:spcAft>
                        <a:buNone/>
                      </a:pPr>
                      <a:r>
                        <a:rPr lang="es-PE" sz="1400" u="none" cap="none" strike="noStrike"/>
                        <a:t>Nombre: VACHAR (50)</a:t>
                      </a:r>
                      <a:endParaRPr/>
                    </a:p>
                    <a:p>
                      <a:pPr indent="134938" lvl="0" marL="222250" marR="0" rtl="0" algn="l">
                        <a:lnSpc>
                          <a:spcPct val="100000"/>
                        </a:lnSpc>
                        <a:spcBef>
                          <a:spcPts val="0"/>
                        </a:spcBef>
                        <a:spcAft>
                          <a:spcPts val="0"/>
                        </a:spcAft>
                        <a:buNone/>
                      </a:pPr>
                      <a:r>
                        <a:rPr lang="es-PE" sz="1400" u="none" cap="none" strike="noStrike"/>
                        <a:t>Apellidos:</a:t>
                      </a:r>
                      <a:r>
                        <a:rPr lang="es-PE" sz="1400" u="none" cap="none" strike="noStrike"/>
                        <a:t> VACHAR (50)</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837" name="Google Shape;837;p36"/>
          <p:cNvPicPr preferRelativeResize="0"/>
          <p:nvPr/>
        </p:nvPicPr>
        <p:blipFill rotWithShape="1">
          <a:blip r:embed="rId3">
            <a:alphaModFix/>
          </a:blip>
          <a:srcRect b="6581" l="56129" r="41415" t="86606"/>
          <a:stretch/>
        </p:blipFill>
        <p:spPr>
          <a:xfrm>
            <a:off x="3545571" y="2681629"/>
            <a:ext cx="135649" cy="210169"/>
          </a:xfrm>
          <a:prstGeom prst="rect">
            <a:avLst/>
          </a:prstGeom>
          <a:noFill/>
          <a:ln>
            <a:noFill/>
          </a:ln>
        </p:spPr>
      </p:pic>
      <p:pic>
        <p:nvPicPr>
          <p:cNvPr id="838" name="Google Shape;838;p36"/>
          <p:cNvPicPr preferRelativeResize="0"/>
          <p:nvPr/>
        </p:nvPicPr>
        <p:blipFill rotWithShape="1">
          <a:blip r:embed="rId3">
            <a:alphaModFix/>
          </a:blip>
          <a:srcRect b="14472" l="54917" r="41104" t="78860"/>
          <a:stretch/>
        </p:blipFill>
        <p:spPr>
          <a:xfrm>
            <a:off x="1609256" y="4456268"/>
            <a:ext cx="166231" cy="155575"/>
          </a:xfrm>
          <a:prstGeom prst="rect">
            <a:avLst/>
          </a:prstGeom>
          <a:noFill/>
          <a:ln>
            <a:noFill/>
          </a:ln>
        </p:spPr>
      </p:pic>
      <p:pic>
        <p:nvPicPr>
          <p:cNvPr id="839" name="Google Shape;839;p36"/>
          <p:cNvPicPr preferRelativeResize="0"/>
          <p:nvPr/>
        </p:nvPicPr>
        <p:blipFill rotWithShape="1">
          <a:blip r:embed="rId3">
            <a:alphaModFix/>
          </a:blip>
          <a:srcRect b="24611" l="68244" r="28566" t="70297"/>
          <a:stretch/>
        </p:blipFill>
        <p:spPr>
          <a:xfrm>
            <a:off x="3991557" y="1931153"/>
            <a:ext cx="184358" cy="164248"/>
          </a:xfrm>
          <a:prstGeom prst="rect">
            <a:avLst/>
          </a:prstGeom>
          <a:noFill/>
          <a:ln>
            <a:noFill/>
          </a:ln>
        </p:spPr>
      </p:pic>
      <p:pic>
        <p:nvPicPr>
          <p:cNvPr id="840" name="Google Shape;840;p36"/>
          <p:cNvPicPr preferRelativeResize="0"/>
          <p:nvPr/>
        </p:nvPicPr>
        <p:blipFill rotWithShape="1">
          <a:blip r:embed="rId3">
            <a:alphaModFix/>
          </a:blip>
          <a:srcRect b="77047" l="27242" r="68751" t="15938"/>
          <a:stretch/>
        </p:blipFill>
        <p:spPr>
          <a:xfrm>
            <a:off x="3529656" y="2214947"/>
            <a:ext cx="167478" cy="163668"/>
          </a:xfrm>
          <a:prstGeom prst="rect">
            <a:avLst/>
          </a:prstGeom>
          <a:noFill/>
          <a:ln>
            <a:noFill/>
          </a:ln>
        </p:spPr>
      </p:pic>
      <p:pic>
        <p:nvPicPr>
          <p:cNvPr id="841" name="Google Shape;841;p36"/>
          <p:cNvPicPr preferRelativeResize="0"/>
          <p:nvPr/>
        </p:nvPicPr>
        <p:blipFill rotWithShape="1">
          <a:blip r:embed="rId3">
            <a:alphaModFix/>
          </a:blip>
          <a:srcRect b="24611" l="68244" r="28566" t="70297"/>
          <a:stretch/>
        </p:blipFill>
        <p:spPr>
          <a:xfrm>
            <a:off x="2012138" y="4173041"/>
            <a:ext cx="184358" cy="164248"/>
          </a:xfrm>
          <a:prstGeom prst="rect">
            <a:avLst/>
          </a:prstGeom>
          <a:noFill/>
          <a:ln>
            <a:noFill/>
          </a:ln>
        </p:spPr>
      </p:pic>
      <p:pic>
        <p:nvPicPr>
          <p:cNvPr id="842" name="Google Shape;842;p36"/>
          <p:cNvPicPr preferRelativeResize="0"/>
          <p:nvPr/>
        </p:nvPicPr>
        <p:blipFill rotWithShape="1">
          <a:blip r:embed="rId3">
            <a:alphaModFix/>
          </a:blip>
          <a:srcRect b="6581" l="56129" r="41415" t="86606"/>
          <a:stretch/>
        </p:blipFill>
        <p:spPr>
          <a:xfrm>
            <a:off x="1624547" y="4703887"/>
            <a:ext cx="135649" cy="210169"/>
          </a:xfrm>
          <a:prstGeom prst="rect">
            <a:avLst/>
          </a:prstGeom>
          <a:noFill/>
          <a:ln>
            <a:noFill/>
          </a:ln>
        </p:spPr>
      </p:pic>
      <p:pic>
        <p:nvPicPr>
          <p:cNvPr id="843" name="Google Shape;843;p36"/>
          <p:cNvPicPr preferRelativeResize="0"/>
          <p:nvPr/>
        </p:nvPicPr>
        <p:blipFill rotWithShape="1">
          <a:blip r:embed="rId3">
            <a:alphaModFix/>
          </a:blip>
          <a:srcRect b="6581" l="56129" r="41415" t="86606"/>
          <a:stretch/>
        </p:blipFill>
        <p:spPr>
          <a:xfrm>
            <a:off x="3545571" y="2459357"/>
            <a:ext cx="135649" cy="210169"/>
          </a:xfrm>
          <a:prstGeom prst="rect">
            <a:avLst/>
          </a:prstGeom>
          <a:noFill/>
          <a:ln>
            <a:noFill/>
          </a:ln>
        </p:spPr>
      </p:pic>
      <p:graphicFrame>
        <p:nvGraphicFramePr>
          <p:cNvPr id="844" name="Google Shape;844;p36"/>
          <p:cNvGraphicFramePr/>
          <p:nvPr/>
        </p:nvGraphicFramePr>
        <p:xfrm>
          <a:off x="5325026" y="4113296"/>
          <a:ext cx="3000000" cy="3000000"/>
        </p:xfrm>
        <a:graphic>
          <a:graphicData uri="http://schemas.openxmlformats.org/drawingml/2006/table">
            <a:tbl>
              <a:tblPr bandRow="1">
                <a:noFill/>
                <a:tableStyleId>{111FAAAF-390B-45C5-8ABE-32D9CDC8B455}</a:tableStyleId>
              </a:tblPr>
              <a:tblGrid>
                <a:gridCol w="2451350"/>
              </a:tblGrid>
              <a:tr h="245950">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cliente</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245950">
                <a:tc>
                  <a:txBody>
                    <a:bodyPr/>
                    <a:lstStyle/>
                    <a:p>
                      <a:pPr indent="134938" lvl="0" marL="222250" marR="0" rtl="0" algn="l">
                        <a:lnSpc>
                          <a:spcPct val="100000"/>
                        </a:lnSpc>
                        <a:spcBef>
                          <a:spcPts val="0"/>
                        </a:spcBef>
                        <a:spcAft>
                          <a:spcPts val="0"/>
                        </a:spcAft>
                        <a:buNone/>
                      </a:pPr>
                      <a:r>
                        <a:rPr lang="es-PE" sz="1400" u="none" cap="none" strike="noStrike"/>
                        <a:t>Codigo: CHAR (9)[FK]</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245950">
                <a:tc>
                  <a:txBody>
                    <a:bodyPr/>
                    <a:lstStyle/>
                    <a:p>
                      <a:pPr indent="357188" lvl="0" marL="0" marR="0" rtl="0" algn="l">
                        <a:lnSpc>
                          <a:spcPct val="100000"/>
                        </a:lnSpc>
                        <a:spcBef>
                          <a:spcPts val="0"/>
                        </a:spcBef>
                        <a:spcAft>
                          <a:spcPts val="0"/>
                        </a:spcAft>
                        <a:buNone/>
                      </a:pPr>
                      <a:r>
                        <a:rPr lang="es-PE" sz="1400" u="none" cap="none" strike="noStrike"/>
                        <a:t>Tarjeta_credito: CHAR(16)</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845" name="Google Shape;845;p36"/>
          <p:cNvPicPr preferRelativeResize="0"/>
          <p:nvPr/>
        </p:nvPicPr>
        <p:blipFill rotWithShape="1">
          <a:blip r:embed="rId3">
            <a:alphaModFix/>
          </a:blip>
          <a:srcRect b="24611" l="68244" r="28566" t="70297"/>
          <a:stretch/>
        </p:blipFill>
        <p:spPr>
          <a:xfrm>
            <a:off x="6041515" y="4173041"/>
            <a:ext cx="184358" cy="164248"/>
          </a:xfrm>
          <a:prstGeom prst="rect">
            <a:avLst/>
          </a:prstGeom>
          <a:noFill/>
          <a:ln>
            <a:noFill/>
          </a:ln>
        </p:spPr>
      </p:pic>
      <p:pic>
        <p:nvPicPr>
          <p:cNvPr id="846" name="Google Shape;846;p36"/>
          <p:cNvPicPr preferRelativeResize="0"/>
          <p:nvPr/>
        </p:nvPicPr>
        <p:blipFill rotWithShape="1">
          <a:blip r:embed="rId3">
            <a:alphaModFix/>
          </a:blip>
          <a:srcRect b="14472" l="54917" r="41104" t="78860"/>
          <a:stretch/>
        </p:blipFill>
        <p:spPr>
          <a:xfrm>
            <a:off x="5492001" y="4456268"/>
            <a:ext cx="166231" cy="155575"/>
          </a:xfrm>
          <a:prstGeom prst="rect">
            <a:avLst/>
          </a:prstGeom>
          <a:noFill/>
          <a:ln>
            <a:noFill/>
          </a:ln>
        </p:spPr>
      </p:pic>
      <p:pic>
        <p:nvPicPr>
          <p:cNvPr id="847" name="Google Shape;847;p36"/>
          <p:cNvPicPr preferRelativeResize="0"/>
          <p:nvPr/>
        </p:nvPicPr>
        <p:blipFill rotWithShape="1">
          <a:blip r:embed="rId3">
            <a:alphaModFix/>
          </a:blip>
          <a:srcRect b="6581" l="56129" r="41415" t="86606"/>
          <a:stretch/>
        </p:blipFill>
        <p:spPr>
          <a:xfrm>
            <a:off x="5507292" y="4703887"/>
            <a:ext cx="135649" cy="210169"/>
          </a:xfrm>
          <a:prstGeom prst="rect">
            <a:avLst/>
          </a:prstGeom>
          <a:noFill/>
          <a:ln>
            <a:noFill/>
          </a:ln>
        </p:spPr>
      </p:pic>
      <p:sp>
        <p:nvSpPr>
          <p:cNvPr id="848" name="Google Shape;848;p36"/>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37"/>
          <p:cNvSpPr/>
          <p:nvPr/>
        </p:nvSpPr>
        <p:spPr>
          <a:xfrm>
            <a:off x="632215" y="1024956"/>
            <a:ext cx="4914570" cy="3693319"/>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1" i="0" lang="es-PE" sz="1600" u="none" cap="none" strike="noStrike">
                <a:solidFill>
                  <a:srgbClr val="000000"/>
                </a:solidFill>
                <a:latin typeface="Calibri"/>
                <a:ea typeface="Calibri"/>
                <a:cs typeface="Calibri"/>
                <a:sym typeface="Calibri"/>
              </a:rPr>
              <a:t>UNA TABLA POR CADA CLASE</a:t>
            </a:r>
            <a:endParaRPr b="1" i="0" sz="1600" u="none" cap="none" strike="noStrike">
              <a:solidFill>
                <a:srgbClr val="000000"/>
              </a:solidFill>
              <a:latin typeface="Calibri"/>
              <a:ea typeface="Calibri"/>
              <a:cs typeface="Calibri"/>
              <a:sym typeface="Calibri"/>
            </a:endParaRPr>
          </a:p>
          <a:p>
            <a:pPr indent="-184150" lvl="0" marL="184150" marR="0" rtl="0" algn="just">
              <a:lnSpc>
                <a:spcPct val="100000"/>
              </a:lnSpc>
              <a:spcBef>
                <a:spcPts val="0"/>
              </a:spcBef>
              <a:spcAft>
                <a:spcPts val="0"/>
              </a:spcAft>
              <a:buClr>
                <a:srgbClr val="000000"/>
              </a:buClr>
              <a:buSzPts val="1600"/>
              <a:buFont typeface="Arial"/>
              <a:buChar char="•"/>
            </a:pPr>
            <a:r>
              <a:rPr b="1" i="0" lang="es-PE" sz="1600" u="none" cap="none" strike="noStrike">
                <a:solidFill>
                  <a:srgbClr val="000000"/>
                </a:solidFill>
                <a:latin typeface="Calibri"/>
                <a:ea typeface="Calibri"/>
                <a:cs typeface="Calibri"/>
                <a:sym typeface="Calibri"/>
              </a:rPr>
              <a:t>Beneficios</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En caso de que se añadan campos a la tabla personas, sólo hay que añadir columnas a la tabla </a:t>
            </a:r>
            <a:r>
              <a:rPr b="0" i="1" lang="es-PE" sz="1600" u="none" cap="none" strike="noStrike">
                <a:solidFill>
                  <a:srgbClr val="000000"/>
                </a:solidFill>
                <a:latin typeface="Calibri"/>
                <a:ea typeface="Calibri"/>
                <a:cs typeface="Calibri"/>
                <a:sym typeface="Calibri"/>
              </a:rPr>
              <a:t>personas.</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Si en ciertas consultas sólo necesitamos los datos comunes de </a:t>
            </a:r>
            <a:r>
              <a:rPr b="0" i="1" lang="es-PE" sz="1600" u="none" cap="none" strike="noStrike">
                <a:solidFill>
                  <a:srgbClr val="000000"/>
                </a:solidFill>
                <a:latin typeface="Calibri"/>
                <a:ea typeface="Calibri"/>
                <a:cs typeface="Calibri"/>
                <a:sym typeface="Calibri"/>
              </a:rPr>
              <a:t>clientes </a:t>
            </a:r>
            <a:r>
              <a:rPr b="0" i="0" lang="es-PE" sz="1600" u="none" cap="none" strike="noStrike">
                <a:solidFill>
                  <a:srgbClr val="000000"/>
                </a:solidFill>
                <a:latin typeface="Calibri"/>
                <a:ea typeface="Calibri"/>
                <a:cs typeface="Calibri"/>
                <a:sym typeface="Calibri"/>
              </a:rPr>
              <a:t>y </a:t>
            </a:r>
            <a:r>
              <a:rPr b="0" i="1" lang="es-PE" sz="1600" u="none" cap="none" strike="noStrike">
                <a:solidFill>
                  <a:srgbClr val="000000"/>
                </a:solidFill>
                <a:latin typeface="Calibri"/>
                <a:ea typeface="Calibri"/>
                <a:cs typeface="Calibri"/>
                <a:sym typeface="Calibri"/>
              </a:rPr>
              <a:t>empleados</a:t>
            </a:r>
            <a:r>
              <a:rPr b="0" i="0" lang="es-PE" sz="1600" u="none" cap="none" strike="noStrike">
                <a:solidFill>
                  <a:srgbClr val="000000"/>
                </a:solidFill>
                <a:latin typeface="Calibri"/>
                <a:ea typeface="Calibri"/>
                <a:cs typeface="Calibri"/>
                <a:sym typeface="Calibri"/>
              </a:rPr>
              <a:t>, sólo necesitamos un SELECT.</a:t>
            </a:r>
            <a:endParaRPr/>
          </a:p>
          <a:p>
            <a:pPr indent="-73025" lvl="0" marL="357188"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184150" lvl="0" marL="184150" marR="0" rtl="0" algn="just">
              <a:lnSpc>
                <a:spcPct val="100000"/>
              </a:lnSpc>
              <a:spcBef>
                <a:spcPts val="0"/>
              </a:spcBef>
              <a:spcAft>
                <a:spcPts val="0"/>
              </a:spcAft>
              <a:buClr>
                <a:srgbClr val="000000"/>
              </a:buClr>
              <a:buSzPts val="1600"/>
              <a:buFont typeface="Arial"/>
              <a:buChar char="•"/>
            </a:pPr>
            <a:r>
              <a:rPr b="1" i="0" lang="es-PE" sz="1600" u="none" cap="none" strike="noStrike">
                <a:solidFill>
                  <a:srgbClr val="000000"/>
                </a:solidFill>
                <a:latin typeface="Calibri"/>
                <a:ea typeface="Calibri"/>
                <a:cs typeface="Calibri"/>
                <a:sym typeface="Calibri"/>
              </a:rPr>
              <a:t>Inconvenientes</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Cuando se inserta un cliente o un empleado, hay que insertar en dos tablas.</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Cuando se consultan datos de un cliente o un empleado, hay que hacer un JOIN.</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La integridad referencial (claves foráneas/ajenas)  influyen en el rendimiento de la base de datos.</a:t>
            </a:r>
            <a:endParaRPr/>
          </a:p>
        </p:txBody>
      </p:sp>
      <p:pic>
        <p:nvPicPr>
          <p:cNvPr id="854" name="Google Shape;854;p37"/>
          <p:cNvPicPr preferRelativeResize="0"/>
          <p:nvPr/>
        </p:nvPicPr>
        <p:blipFill rotWithShape="1">
          <a:blip r:embed="rId3">
            <a:alphaModFix/>
          </a:blip>
          <a:srcRect b="0" l="0" r="0" t="0"/>
          <a:stretch/>
        </p:blipFill>
        <p:spPr>
          <a:xfrm>
            <a:off x="5956344" y="1696549"/>
            <a:ext cx="2281991" cy="2138978"/>
          </a:xfrm>
          <a:prstGeom prst="rect">
            <a:avLst/>
          </a:prstGeom>
          <a:noFill/>
          <a:ln>
            <a:noFill/>
          </a:ln>
        </p:spPr>
      </p:pic>
      <p:sp>
        <p:nvSpPr>
          <p:cNvPr id="855" name="Google Shape;855;p37"/>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38"/>
          <p:cNvSpPr/>
          <p:nvPr/>
        </p:nvSpPr>
        <p:spPr>
          <a:xfrm>
            <a:off x="478704" y="923204"/>
            <a:ext cx="8160993" cy="492443"/>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Calibri"/>
                <a:ea typeface="Calibri"/>
                <a:cs typeface="Calibri"/>
                <a:sym typeface="Calibri"/>
              </a:rPr>
              <a:t>UNA TABLA POR CADA CLASE CONCRETA</a:t>
            </a:r>
            <a:endParaRPr/>
          </a:p>
          <a:p>
            <a:pPr indent="0" lvl="0" marL="9525" marR="0" rtl="0" algn="l">
              <a:lnSpc>
                <a:spcPct val="100000"/>
              </a:lnSpc>
              <a:spcBef>
                <a:spcPts val="0"/>
              </a:spcBef>
              <a:spcAft>
                <a:spcPts val="0"/>
              </a:spcAft>
              <a:buClr>
                <a:srgbClr val="000000"/>
              </a:buClr>
              <a:buSzPts val="1600"/>
              <a:buFont typeface="Arial"/>
              <a:buNone/>
            </a:pPr>
            <a:r>
              <a:rPr b="0" i="0" lang="es-PE" sz="1600" u="none" cap="none" strike="noStrike">
                <a:solidFill>
                  <a:srgbClr val="000000"/>
                </a:solidFill>
                <a:latin typeface="Calibri"/>
                <a:ea typeface="Calibri"/>
                <a:cs typeface="Calibri"/>
                <a:sym typeface="Calibri"/>
              </a:rPr>
              <a:t>Se crean dos tablas: personas y clientes. Cada tabla contendrá los campos respectivos. </a:t>
            </a:r>
            <a:endParaRPr/>
          </a:p>
        </p:txBody>
      </p:sp>
      <p:sp>
        <p:nvSpPr>
          <p:cNvPr id="861" name="Google Shape;861;p38"/>
          <p:cNvSpPr/>
          <p:nvPr/>
        </p:nvSpPr>
        <p:spPr>
          <a:xfrm>
            <a:off x="468313" y="3261126"/>
            <a:ext cx="8207375" cy="1969770"/>
          </a:xfrm>
          <a:prstGeom prst="rect">
            <a:avLst/>
          </a:prstGeom>
          <a:noFill/>
          <a:ln>
            <a:noFill/>
          </a:ln>
        </p:spPr>
        <p:txBody>
          <a:bodyPr anchorCtr="0" anchor="t" bIns="0" lIns="0" spcFirstLastPara="1" rIns="0" wrap="square" tIns="0">
            <a:spAutoFit/>
          </a:bodyPr>
          <a:lstStyle/>
          <a:p>
            <a:pPr indent="-184150" lvl="0" marL="184150" marR="0" rtl="0" algn="just">
              <a:lnSpc>
                <a:spcPct val="100000"/>
              </a:lnSpc>
              <a:spcBef>
                <a:spcPts val="0"/>
              </a:spcBef>
              <a:spcAft>
                <a:spcPts val="0"/>
              </a:spcAft>
              <a:buClr>
                <a:srgbClr val="000000"/>
              </a:buClr>
              <a:buSzPts val="1600"/>
              <a:buFont typeface="Arial"/>
              <a:buChar char="•"/>
            </a:pPr>
            <a:r>
              <a:rPr b="1" i="0" lang="es-PE" sz="1600" u="none" cap="none" strike="noStrike">
                <a:solidFill>
                  <a:srgbClr val="000000"/>
                </a:solidFill>
                <a:latin typeface="Calibri"/>
                <a:ea typeface="Calibri"/>
                <a:cs typeface="Calibri"/>
                <a:sym typeface="Calibri"/>
              </a:rPr>
              <a:t>Beneficios</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Cuando se inserta un cliente o un empleado sólo se actualiza una tabla.</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Cuando se consultan datos de un cliente o un empleado sólo se consulta una tabla.</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En caso de que se añadan campos a la tabla Persona sólo habría que cambiar una tabla.</a:t>
            </a:r>
            <a:endParaRPr/>
          </a:p>
          <a:p>
            <a:pPr indent="-73025" lvl="0" marL="357188"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184150" lvl="0" marL="184150" marR="0" rtl="0" algn="just">
              <a:lnSpc>
                <a:spcPct val="100000"/>
              </a:lnSpc>
              <a:spcBef>
                <a:spcPts val="0"/>
              </a:spcBef>
              <a:spcAft>
                <a:spcPts val="0"/>
              </a:spcAft>
              <a:buClr>
                <a:srgbClr val="000000"/>
              </a:buClr>
              <a:buSzPts val="1600"/>
              <a:buFont typeface="Arial"/>
              <a:buChar char="•"/>
            </a:pPr>
            <a:r>
              <a:rPr b="1" i="0" lang="es-PE" sz="1600" u="none" cap="none" strike="noStrike">
                <a:solidFill>
                  <a:srgbClr val="000000"/>
                </a:solidFill>
                <a:latin typeface="Calibri"/>
                <a:ea typeface="Calibri"/>
                <a:cs typeface="Calibri"/>
                <a:sym typeface="Calibri"/>
              </a:rPr>
              <a:t>Inconvenientes</a:t>
            </a:r>
            <a:endParaRPr/>
          </a:p>
          <a:p>
            <a:pPr indent="-174625" lvl="0" marL="357188" marR="0" rtl="0" algn="just">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Debemos utilizar características avanzadas de la base de datos si queremos mantener las restricciones NOT NULL de ciertas columnas.</a:t>
            </a:r>
            <a:endParaRPr/>
          </a:p>
        </p:txBody>
      </p:sp>
      <p:graphicFrame>
        <p:nvGraphicFramePr>
          <p:cNvPr id="862" name="Google Shape;862;p38"/>
          <p:cNvGraphicFramePr/>
          <p:nvPr/>
        </p:nvGraphicFramePr>
        <p:xfrm>
          <a:off x="4821022" y="1711626"/>
          <a:ext cx="3000000" cy="3000000"/>
        </p:xfrm>
        <a:graphic>
          <a:graphicData uri="http://schemas.openxmlformats.org/drawingml/2006/table">
            <a:tbl>
              <a:tblPr bandRow="1">
                <a:noFill/>
                <a:tableStyleId>{111FAAAF-390B-45C5-8ABE-32D9CDC8B455}</a:tableStyleId>
              </a:tblPr>
              <a:tblGrid>
                <a:gridCol w="2451350"/>
              </a:tblGrid>
              <a:tr h="245950">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empleados</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245950">
                <a:tc>
                  <a:txBody>
                    <a:bodyPr/>
                    <a:lstStyle/>
                    <a:p>
                      <a:pPr indent="134938" lvl="0" marL="222250" marR="0" rtl="0" algn="l">
                        <a:lnSpc>
                          <a:spcPct val="100000"/>
                        </a:lnSpc>
                        <a:spcBef>
                          <a:spcPts val="0"/>
                        </a:spcBef>
                        <a:spcAft>
                          <a:spcPts val="0"/>
                        </a:spcAft>
                        <a:buNone/>
                      </a:pPr>
                      <a:r>
                        <a:rPr i="0" lang="es-PE" sz="1400" u="none" cap="none" strike="noStrike"/>
                        <a:t>Codigo: CHAR (9)</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269475">
                <a:tc>
                  <a:txBody>
                    <a:bodyPr/>
                    <a:lstStyle/>
                    <a:p>
                      <a:pPr indent="134938" lvl="0" marL="222250" marR="0" rtl="0" algn="l">
                        <a:lnSpc>
                          <a:spcPct val="100000"/>
                        </a:lnSpc>
                        <a:spcBef>
                          <a:spcPts val="0"/>
                        </a:spcBef>
                        <a:spcAft>
                          <a:spcPts val="0"/>
                        </a:spcAft>
                        <a:buNone/>
                      </a:pPr>
                      <a:r>
                        <a:rPr i="0" lang="es-PE" sz="1400" u="none" cap="none" strike="noStrike"/>
                        <a:t>Nombre: VACHAR (50)</a:t>
                      </a:r>
                      <a:endParaRPr/>
                    </a:p>
                    <a:p>
                      <a:pPr indent="134938" lvl="0" marL="222250" marR="0" rtl="0" algn="l">
                        <a:lnSpc>
                          <a:spcPct val="100000"/>
                        </a:lnSpc>
                        <a:spcBef>
                          <a:spcPts val="0"/>
                        </a:spcBef>
                        <a:spcAft>
                          <a:spcPts val="0"/>
                        </a:spcAft>
                        <a:buNone/>
                      </a:pPr>
                      <a:r>
                        <a:rPr i="0" lang="es-PE" sz="1400" u="none" cap="none" strike="noStrike"/>
                        <a:t>Apellidos:</a:t>
                      </a:r>
                      <a:r>
                        <a:rPr i="0" lang="es-PE" sz="1400" u="none" cap="none" strike="noStrike"/>
                        <a:t> VACHAR (50)</a:t>
                      </a:r>
                      <a:endParaRPr/>
                    </a:p>
                    <a:p>
                      <a:pPr indent="174625" lvl="0" marL="182563" marR="0" rtl="0" algn="l">
                        <a:lnSpc>
                          <a:spcPct val="100000"/>
                        </a:lnSpc>
                        <a:spcBef>
                          <a:spcPts val="0"/>
                        </a:spcBef>
                        <a:spcAft>
                          <a:spcPts val="0"/>
                        </a:spcAft>
                        <a:buNone/>
                      </a:pPr>
                      <a:r>
                        <a:rPr i="0" lang="es-PE" sz="1400" u="none" cap="none" strike="noStrike"/>
                        <a:t>Cta_bancaria: CHAR(20)</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pic>
        <p:nvPicPr>
          <p:cNvPr id="863" name="Google Shape;863;p38"/>
          <p:cNvPicPr preferRelativeResize="0"/>
          <p:nvPr/>
        </p:nvPicPr>
        <p:blipFill rotWithShape="1">
          <a:blip r:embed="rId3">
            <a:alphaModFix/>
          </a:blip>
          <a:srcRect b="24611" l="68244" r="28566" t="70297"/>
          <a:stretch/>
        </p:blipFill>
        <p:spPr>
          <a:xfrm>
            <a:off x="5367588" y="1771535"/>
            <a:ext cx="184358" cy="164248"/>
          </a:xfrm>
          <a:prstGeom prst="rect">
            <a:avLst/>
          </a:prstGeom>
          <a:noFill/>
          <a:ln>
            <a:noFill/>
          </a:ln>
        </p:spPr>
      </p:pic>
      <p:pic>
        <p:nvPicPr>
          <p:cNvPr id="864" name="Google Shape;864;p38"/>
          <p:cNvPicPr preferRelativeResize="0"/>
          <p:nvPr/>
        </p:nvPicPr>
        <p:blipFill rotWithShape="1">
          <a:blip r:embed="rId3">
            <a:alphaModFix/>
          </a:blip>
          <a:srcRect b="6581" l="56129" r="41415" t="86606"/>
          <a:stretch/>
        </p:blipFill>
        <p:spPr>
          <a:xfrm>
            <a:off x="4979997" y="2289681"/>
            <a:ext cx="135649" cy="210169"/>
          </a:xfrm>
          <a:prstGeom prst="rect">
            <a:avLst/>
          </a:prstGeom>
          <a:noFill/>
          <a:ln>
            <a:noFill/>
          </a:ln>
        </p:spPr>
      </p:pic>
      <p:graphicFrame>
        <p:nvGraphicFramePr>
          <p:cNvPr id="865" name="Google Shape;865;p38"/>
          <p:cNvGraphicFramePr/>
          <p:nvPr/>
        </p:nvGraphicFramePr>
        <p:xfrm>
          <a:off x="1860967" y="1711626"/>
          <a:ext cx="3000000" cy="3000000"/>
        </p:xfrm>
        <a:graphic>
          <a:graphicData uri="http://schemas.openxmlformats.org/drawingml/2006/table">
            <a:tbl>
              <a:tblPr bandRow="1">
                <a:noFill/>
                <a:tableStyleId>{111FAAAF-390B-45C5-8ABE-32D9CDC8B455}</a:tableStyleId>
              </a:tblPr>
              <a:tblGrid>
                <a:gridCol w="2479250"/>
              </a:tblGrid>
              <a:tr h="199325">
                <a:tc>
                  <a:txBody>
                    <a:bodyPr/>
                    <a:lstStyle/>
                    <a:p>
                      <a:pPr indent="0" lvl="0" marL="0" marR="0" rtl="0" algn="ctr">
                        <a:lnSpc>
                          <a:spcPct val="100000"/>
                        </a:lnSpc>
                        <a:spcBef>
                          <a:spcPts val="0"/>
                        </a:spcBef>
                        <a:spcAft>
                          <a:spcPts val="0"/>
                        </a:spcAft>
                        <a:buNone/>
                      </a:pPr>
                      <a:r>
                        <a:rPr b="1" lang="es-PE" sz="1400" u="none" cap="none" strike="noStrike">
                          <a:solidFill>
                            <a:schemeClr val="lt1"/>
                          </a:solidFill>
                        </a:rPr>
                        <a:t>clientes</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266700">
                <a:tc>
                  <a:txBody>
                    <a:bodyPr/>
                    <a:lstStyle/>
                    <a:p>
                      <a:pPr indent="134938" lvl="0" marL="222250" marR="0" rtl="0" algn="l">
                        <a:lnSpc>
                          <a:spcPct val="100000"/>
                        </a:lnSpc>
                        <a:spcBef>
                          <a:spcPts val="0"/>
                        </a:spcBef>
                        <a:spcAft>
                          <a:spcPts val="0"/>
                        </a:spcAft>
                        <a:buNone/>
                      </a:pPr>
                      <a:r>
                        <a:rPr i="0" lang="es-PE" sz="1400" u="none" cap="none" strike="noStrike"/>
                        <a:t>Codigo: CHAR (9)</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352925">
                <a:tc>
                  <a:txBody>
                    <a:bodyPr/>
                    <a:lstStyle/>
                    <a:p>
                      <a:pPr indent="134938" lvl="0" marL="222250" marR="0" rtl="0" algn="l">
                        <a:lnSpc>
                          <a:spcPct val="100000"/>
                        </a:lnSpc>
                        <a:spcBef>
                          <a:spcPts val="0"/>
                        </a:spcBef>
                        <a:spcAft>
                          <a:spcPts val="0"/>
                        </a:spcAft>
                        <a:buNone/>
                      </a:pPr>
                      <a:r>
                        <a:rPr i="0" lang="es-PE" sz="1400" u="none" cap="none" strike="noStrike"/>
                        <a:t>Nombre: VACHAR (50)</a:t>
                      </a:r>
                      <a:endParaRPr/>
                    </a:p>
                    <a:p>
                      <a:pPr indent="134938" lvl="0" marL="222250" marR="0" rtl="0" algn="l">
                        <a:lnSpc>
                          <a:spcPct val="100000"/>
                        </a:lnSpc>
                        <a:spcBef>
                          <a:spcPts val="0"/>
                        </a:spcBef>
                        <a:spcAft>
                          <a:spcPts val="0"/>
                        </a:spcAft>
                        <a:buNone/>
                      </a:pPr>
                      <a:r>
                        <a:rPr i="0" lang="es-PE" sz="1400" u="none" cap="none" strike="noStrike"/>
                        <a:t>Apellidos:</a:t>
                      </a:r>
                      <a:r>
                        <a:rPr i="0" lang="es-PE" sz="1400" u="none" cap="none" strike="noStrike"/>
                        <a:t> VACHAR (50)</a:t>
                      </a:r>
                      <a:endParaRPr/>
                    </a:p>
                    <a:p>
                      <a:pPr indent="134938" lvl="0" marL="222250" marR="0" rtl="0" algn="l">
                        <a:lnSpc>
                          <a:spcPct val="100000"/>
                        </a:lnSpc>
                        <a:spcBef>
                          <a:spcPts val="0"/>
                        </a:spcBef>
                        <a:spcAft>
                          <a:spcPts val="0"/>
                        </a:spcAft>
                        <a:buNone/>
                      </a:pPr>
                      <a:r>
                        <a:rPr i="0" lang="es-PE" sz="1400" u="none" cap="none" strike="noStrike"/>
                        <a:t>Tarjeta_credito: CHAR(16)</a:t>
                      </a:r>
                      <a:endParaRPr i="0" sz="14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pic>
        <p:nvPicPr>
          <p:cNvPr id="866" name="Google Shape;866;p38"/>
          <p:cNvPicPr preferRelativeResize="0"/>
          <p:nvPr/>
        </p:nvPicPr>
        <p:blipFill rotWithShape="1">
          <a:blip r:embed="rId3">
            <a:alphaModFix/>
          </a:blip>
          <a:srcRect b="24611" l="68244" r="28566" t="70297"/>
          <a:stretch/>
        </p:blipFill>
        <p:spPr>
          <a:xfrm>
            <a:off x="2520152" y="1758211"/>
            <a:ext cx="184358" cy="164248"/>
          </a:xfrm>
          <a:prstGeom prst="rect">
            <a:avLst/>
          </a:prstGeom>
          <a:noFill/>
          <a:ln>
            <a:noFill/>
          </a:ln>
        </p:spPr>
      </p:pic>
      <p:pic>
        <p:nvPicPr>
          <p:cNvPr id="867" name="Google Shape;867;p38"/>
          <p:cNvPicPr preferRelativeResize="0"/>
          <p:nvPr/>
        </p:nvPicPr>
        <p:blipFill rotWithShape="1">
          <a:blip r:embed="rId3">
            <a:alphaModFix/>
          </a:blip>
          <a:srcRect b="77047" l="27242" r="68751" t="15938"/>
          <a:stretch/>
        </p:blipFill>
        <p:spPr>
          <a:xfrm>
            <a:off x="2051901" y="2042005"/>
            <a:ext cx="167478" cy="163668"/>
          </a:xfrm>
          <a:prstGeom prst="rect">
            <a:avLst/>
          </a:prstGeom>
          <a:noFill/>
          <a:ln>
            <a:noFill/>
          </a:ln>
        </p:spPr>
      </p:pic>
      <p:pic>
        <p:nvPicPr>
          <p:cNvPr id="868" name="Google Shape;868;p38"/>
          <p:cNvPicPr preferRelativeResize="0"/>
          <p:nvPr/>
        </p:nvPicPr>
        <p:blipFill rotWithShape="1">
          <a:blip r:embed="rId3">
            <a:alphaModFix/>
          </a:blip>
          <a:srcRect b="6581" l="56129" r="41415" t="86606"/>
          <a:stretch/>
        </p:blipFill>
        <p:spPr>
          <a:xfrm>
            <a:off x="4979997" y="2511981"/>
            <a:ext cx="135649" cy="210169"/>
          </a:xfrm>
          <a:prstGeom prst="rect">
            <a:avLst/>
          </a:prstGeom>
          <a:noFill/>
          <a:ln>
            <a:noFill/>
          </a:ln>
        </p:spPr>
      </p:pic>
      <p:pic>
        <p:nvPicPr>
          <p:cNvPr id="869" name="Google Shape;869;p38"/>
          <p:cNvPicPr preferRelativeResize="0"/>
          <p:nvPr/>
        </p:nvPicPr>
        <p:blipFill rotWithShape="1">
          <a:blip r:embed="rId3">
            <a:alphaModFix/>
          </a:blip>
          <a:srcRect b="6581" l="56129" r="41415" t="86606"/>
          <a:stretch/>
        </p:blipFill>
        <p:spPr>
          <a:xfrm>
            <a:off x="4979997" y="2734280"/>
            <a:ext cx="135649" cy="210169"/>
          </a:xfrm>
          <a:prstGeom prst="rect">
            <a:avLst/>
          </a:prstGeom>
          <a:noFill/>
          <a:ln>
            <a:noFill/>
          </a:ln>
        </p:spPr>
      </p:pic>
      <p:pic>
        <p:nvPicPr>
          <p:cNvPr id="870" name="Google Shape;870;p38"/>
          <p:cNvPicPr preferRelativeResize="0"/>
          <p:nvPr/>
        </p:nvPicPr>
        <p:blipFill rotWithShape="1">
          <a:blip r:embed="rId3">
            <a:alphaModFix/>
          </a:blip>
          <a:srcRect b="6581" l="56129" r="41415" t="86606"/>
          <a:stretch/>
        </p:blipFill>
        <p:spPr>
          <a:xfrm>
            <a:off x="2067816" y="2290251"/>
            <a:ext cx="135649" cy="210169"/>
          </a:xfrm>
          <a:prstGeom prst="rect">
            <a:avLst/>
          </a:prstGeom>
          <a:noFill/>
          <a:ln>
            <a:noFill/>
          </a:ln>
        </p:spPr>
      </p:pic>
      <p:pic>
        <p:nvPicPr>
          <p:cNvPr id="871" name="Google Shape;871;p38"/>
          <p:cNvPicPr preferRelativeResize="0"/>
          <p:nvPr/>
        </p:nvPicPr>
        <p:blipFill rotWithShape="1">
          <a:blip r:embed="rId3">
            <a:alphaModFix/>
          </a:blip>
          <a:srcRect b="6581" l="56129" r="41415" t="86606"/>
          <a:stretch/>
        </p:blipFill>
        <p:spPr>
          <a:xfrm>
            <a:off x="2067816" y="2512551"/>
            <a:ext cx="135649" cy="210169"/>
          </a:xfrm>
          <a:prstGeom prst="rect">
            <a:avLst/>
          </a:prstGeom>
          <a:noFill/>
          <a:ln>
            <a:noFill/>
          </a:ln>
        </p:spPr>
      </p:pic>
      <p:pic>
        <p:nvPicPr>
          <p:cNvPr id="872" name="Google Shape;872;p38"/>
          <p:cNvPicPr preferRelativeResize="0"/>
          <p:nvPr/>
        </p:nvPicPr>
        <p:blipFill rotWithShape="1">
          <a:blip r:embed="rId3">
            <a:alphaModFix/>
          </a:blip>
          <a:srcRect b="6581" l="56129" r="41415" t="86606"/>
          <a:stretch/>
        </p:blipFill>
        <p:spPr>
          <a:xfrm>
            <a:off x="2067816" y="2734850"/>
            <a:ext cx="135649" cy="210169"/>
          </a:xfrm>
          <a:prstGeom prst="rect">
            <a:avLst/>
          </a:prstGeom>
          <a:noFill/>
          <a:ln>
            <a:noFill/>
          </a:ln>
        </p:spPr>
      </p:pic>
      <p:pic>
        <p:nvPicPr>
          <p:cNvPr id="873" name="Google Shape;873;p38"/>
          <p:cNvPicPr preferRelativeResize="0"/>
          <p:nvPr/>
        </p:nvPicPr>
        <p:blipFill rotWithShape="1">
          <a:blip r:embed="rId3">
            <a:alphaModFix/>
          </a:blip>
          <a:srcRect b="77047" l="27242" r="68751" t="15938"/>
          <a:stretch/>
        </p:blipFill>
        <p:spPr>
          <a:xfrm>
            <a:off x="4958569" y="2054768"/>
            <a:ext cx="167478" cy="163668"/>
          </a:xfrm>
          <a:prstGeom prst="rect">
            <a:avLst/>
          </a:prstGeom>
          <a:noFill/>
          <a:ln>
            <a:noFill/>
          </a:ln>
        </p:spPr>
      </p:pic>
      <p:sp>
        <p:nvSpPr>
          <p:cNvPr id="874" name="Google Shape;874;p38"/>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cxnSp>
        <p:nvCxnSpPr>
          <p:cNvPr id="879" name="Google Shape;879;p39"/>
          <p:cNvCxnSpPr/>
          <p:nvPr/>
        </p:nvCxnSpPr>
        <p:spPr>
          <a:xfrm rot="10800000">
            <a:off x="4231519" y="2206201"/>
            <a:ext cx="81153" cy="90252"/>
          </a:xfrm>
          <a:prstGeom prst="straightConnector1">
            <a:avLst/>
          </a:prstGeom>
          <a:noFill/>
          <a:ln cap="flat" cmpd="sng" w="28575">
            <a:solidFill>
              <a:srgbClr val="0197A7"/>
            </a:solidFill>
            <a:prstDash val="solid"/>
            <a:round/>
            <a:headEnd len="sm" w="sm" type="none"/>
            <a:tailEnd len="sm" w="sm" type="none"/>
          </a:ln>
        </p:spPr>
      </p:cxnSp>
      <p:cxnSp>
        <p:nvCxnSpPr>
          <p:cNvPr id="880" name="Google Shape;880;p39"/>
          <p:cNvCxnSpPr/>
          <p:nvPr/>
        </p:nvCxnSpPr>
        <p:spPr>
          <a:xfrm flipH="1" rot="10800000">
            <a:off x="4231518" y="2280686"/>
            <a:ext cx="81153" cy="90252"/>
          </a:xfrm>
          <a:prstGeom prst="straightConnector1">
            <a:avLst/>
          </a:prstGeom>
          <a:noFill/>
          <a:ln cap="flat" cmpd="sng" w="28575">
            <a:solidFill>
              <a:srgbClr val="0197A7"/>
            </a:solidFill>
            <a:prstDash val="solid"/>
            <a:round/>
            <a:headEnd len="sm" w="sm" type="none"/>
            <a:tailEnd len="sm" w="sm" type="none"/>
          </a:ln>
        </p:spPr>
      </p:cxnSp>
      <p:cxnSp>
        <p:nvCxnSpPr>
          <p:cNvPr id="881" name="Google Shape;881;p39"/>
          <p:cNvCxnSpPr/>
          <p:nvPr/>
        </p:nvCxnSpPr>
        <p:spPr>
          <a:xfrm flipH="1" rot="10800000">
            <a:off x="4235657" y="2027303"/>
            <a:ext cx="1509900" cy="262800"/>
          </a:xfrm>
          <a:prstGeom prst="bentConnector3">
            <a:avLst>
              <a:gd fmla="val 52002" name="adj1"/>
            </a:avLst>
          </a:prstGeom>
          <a:noFill/>
          <a:ln cap="flat" cmpd="sng" w="28575">
            <a:solidFill>
              <a:srgbClr val="0197A7"/>
            </a:solidFill>
            <a:prstDash val="dash"/>
            <a:round/>
            <a:headEnd len="sm" w="sm" type="none"/>
            <a:tailEnd len="sm" w="sm" type="none"/>
          </a:ln>
        </p:spPr>
      </p:cxnSp>
      <p:sp>
        <p:nvSpPr>
          <p:cNvPr id="882" name="Google Shape;882;p39"/>
          <p:cNvSpPr/>
          <p:nvPr/>
        </p:nvSpPr>
        <p:spPr>
          <a:xfrm>
            <a:off x="478704" y="923204"/>
            <a:ext cx="8160993" cy="492443"/>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Calibri"/>
                <a:ea typeface="Calibri"/>
                <a:cs typeface="Calibri"/>
                <a:sym typeface="Calibri"/>
              </a:rPr>
              <a:t>UNA TABLA POR CADA CLASE CONCRETA</a:t>
            </a:r>
            <a:endParaRPr/>
          </a:p>
          <a:p>
            <a:pPr indent="0" lvl="0" marL="9525" marR="0" rtl="0" algn="l">
              <a:lnSpc>
                <a:spcPct val="100000"/>
              </a:lnSpc>
              <a:spcBef>
                <a:spcPts val="0"/>
              </a:spcBef>
              <a:spcAft>
                <a:spcPts val="0"/>
              </a:spcAft>
              <a:buClr>
                <a:srgbClr val="000000"/>
              </a:buClr>
              <a:buSzPts val="1600"/>
              <a:buFont typeface="Arial"/>
              <a:buNone/>
            </a:pPr>
            <a:r>
              <a:rPr b="0" i="0" lang="es-PE" sz="1600" u="none" cap="none" strike="noStrike">
                <a:solidFill>
                  <a:srgbClr val="000000"/>
                </a:solidFill>
                <a:latin typeface="Calibri"/>
                <a:ea typeface="Calibri"/>
                <a:cs typeface="Calibri"/>
                <a:sym typeface="Calibri"/>
              </a:rPr>
              <a:t>Se crean dos tablas: personas y clientes. Cada tabla contendrá los campos respectivos. </a:t>
            </a:r>
            <a:endParaRPr/>
          </a:p>
        </p:txBody>
      </p:sp>
      <p:sp>
        <p:nvSpPr>
          <p:cNvPr id="883" name="Google Shape;883;p39"/>
          <p:cNvSpPr/>
          <p:nvPr/>
        </p:nvSpPr>
        <p:spPr>
          <a:xfrm>
            <a:off x="468313" y="3350816"/>
            <a:ext cx="8207375" cy="1969770"/>
          </a:xfrm>
          <a:prstGeom prst="rect">
            <a:avLst/>
          </a:prstGeom>
          <a:noFill/>
          <a:ln>
            <a:noFill/>
          </a:ln>
        </p:spPr>
        <p:txBody>
          <a:bodyPr anchorCtr="0" anchor="t" bIns="0" lIns="0" spcFirstLastPara="1" rIns="0" wrap="square" tIns="0">
            <a:spAutoFit/>
          </a:bodyPr>
          <a:lstStyle/>
          <a:p>
            <a:pPr indent="-184150" lvl="0" marL="184150" marR="0" rtl="0" algn="l">
              <a:lnSpc>
                <a:spcPct val="100000"/>
              </a:lnSpc>
              <a:spcBef>
                <a:spcPts val="0"/>
              </a:spcBef>
              <a:spcAft>
                <a:spcPts val="0"/>
              </a:spcAft>
              <a:buClr>
                <a:srgbClr val="000000"/>
              </a:buClr>
              <a:buSzPts val="1600"/>
              <a:buFont typeface="Arial"/>
              <a:buChar char="•"/>
            </a:pPr>
            <a:r>
              <a:rPr b="1" i="0" lang="es-PE" sz="1600" u="none" cap="none" strike="noStrike">
                <a:solidFill>
                  <a:srgbClr val="000000"/>
                </a:solidFill>
                <a:latin typeface="Calibri"/>
                <a:ea typeface="Calibri"/>
                <a:cs typeface="Calibri"/>
                <a:sym typeface="Calibri"/>
              </a:rPr>
              <a:t>Beneficios</a:t>
            </a:r>
            <a:endParaRPr/>
          </a:p>
          <a:p>
            <a:pPr indent="-174625" lvl="0" marL="357188"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La restricción referencial es controlado por la tabla tipo_persona.</a:t>
            </a:r>
            <a:endParaRPr/>
          </a:p>
          <a:p>
            <a:pPr indent="-174625" lvl="0" marL="357188"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La relación entre las tablas personas y tipo_persona, así como habitación y tipo_habitacion es a través de su llave foránea.</a:t>
            </a:r>
            <a:endParaRPr/>
          </a:p>
          <a:p>
            <a:pPr indent="-174625" lvl="0" marL="357188"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Las consultas entre las tablas se pueden realizar con el SELECT.</a:t>
            </a:r>
            <a:endParaRPr/>
          </a:p>
          <a:p>
            <a:pPr indent="-73025" lvl="0" marL="357188"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184150" lvl="0" marL="184150" marR="0" rtl="0" algn="l">
              <a:lnSpc>
                <a:spcPct val="100000"/>
              </a:lnSpc>
              <a:spcBef>
                <a:spcPts val="0"/>
              </a:spcBef>
              <a:spcAft>
                <a:spcPts val="0"/>
              </a:spcAft>
              <a:buClr>
                <a:srgbClr val="000000"/>
              </a:buClr>
              <a:buSzPts val="1600"/>
              <a:buFont typeface="Arial"/>
              <a:buChar char="•"/>
            </a:pPr>
            <a:r>
              <a:rPr b="1" i="0" lang="es-PE" sz="1600" u="none" cap="none" strike="noStrike">
                <a:solidFill>
                  <a:srgbClr val="000000"/>
                </a:solidFill>
                <a:latin typeface="Calibri"/>
                <a:ea typeface="Calibri"/>
                <a:cs typeface="Calibri"/>
                <a:sym typeface="Calibri"/>
              </a:rPr>
              <a:t>Inconvenientes</a:t>
            </a:r>
            <a:endParaRPr/>
          </a:p>
          <a:p>
            <a:pPr indent="-174625" lvl="0" marL="357188"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000000"/>
                </a:solidFill>
                <a:latin typeface="Calibri"/>
                <a:ea typeface="Calibri"/>
                <a:cs typeface="Calibri"/>
                <a:sym typeface="Calibri"/>
              </a:rPr>
              <a:t>Tener cuidado al utilizar las restricciones NOT NULL.</a:t>
            </a:r>
            <a:endParaRPr/>
          </a:p>
        </p:txBody>
      </p:sp>
      <p:graphicFrame>
        <p:nvGraphicFramePr>
          <p:cNvPr id="884" name="Google Shape;884;p39"/>
          <p:cNvGraphicFramePr/>
          <p:nvPr/>
        </p:nvGraphicFramePr>
        <p:xfrm>
          <a:off x="2367921" y="1585590"/>
          <a:ext cx="3000000" cy="3000000"/>
        </p:xfrm>
        <a:graphic>
          <a:graphicData uri="http://schemas.openxmlformats.org/drawingml/2006/table">
            <a:tbl>
              <a:tblPr bandRow="1">
                <a:noFill/>
                <a:tableStyleId>{111FAAAF-390B-45C5-8ABE-32D9CDC8B455}</a:tableStyleId>
              </a:tblPr>
              <a:tblGrid>
                <a:gridCol w="1867725"/>
              </a:tblGrid>
              <a:tr h="160775">
                <a:tc>
                  <a:txBody>
                    <a:bodyPr/>
                    <a:lstStyle/>
                    <a:p>
                      <a:pPr indent="0" lvl="0" marL="0" marR="0" rtl="0" algn="ctr">
                        <a:lnSpc>
                          <a:spcPct val="100000"/>
                        </a:lnSpc>
                        <a:spcBef>
                          <a:spcPts val="0"/>
                        </a:spcBef>
                        <a:spcAft>
                          <a:spcPts val="0"/>
                        </a:spcAft>
                        <a:buNone/>
                      </a:pPr>
                      <a:r>
                        <a:rPr b="1" lang="es-PE" sz="700" u="none" cap="none" strike="noStrike">
                          <a:solidFill>
                            <a:schemeClr val="lt1"/>
                          </a:solidFill>
                        </a:rPr>
                        <a:t>personas</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167150">
                <a:tc>
                  <a:txBody>
                    <a:bodyPr/>
                    <a:lstStyle/>
                    <a:p>
                      <a:pPr indent="134938" lvl="0" marL="222250" marR="0" rtl="0" algn="l">
                        <a:lnSpc>
                          <a:spcPct val="100000"/>
                        </a:lnSpc>
                        <a:spcBef>
                          <a:spcPts val="0"/>
                        </a:spcBef>
                        <a:spcAft>
                          <a:spcPts val="0"/>
                        </a:spcAft>
                        <a:buNone/>
                      </a:pPr>
                      <a:r>
                        <a:rPr i="0" lang="es-PE" sz="700" u="none" cap="none" strike="noStrike"/>
                        <a:t>Codigo: CHAR (9)</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600225">
                <a:tc>
                  <a:txBody>
                    <a:bodyPr/>
                    <a:lstStyle/>
                    <a:p>
                      <a:pPr indent="134938" lvl="0" marL="222250" marR="0" rtl="0" algn="l">
                        <a:lnSpc>
                          <a:spcPct val="100000"/>
                        </a:lnSpc>
                        <a:spcBef>
                          <a:spcPts val="0"/>
                        </a:spcBef>
                        <a:spcAft>
                          <a:spcPts val="0"/>
                        </a:spcAft>
                        <a:buNone/>
                      </a:pPr>
                      <a:r>
                        <a:rPr i="0" lang="es-PE" sz="700" u="none" cap="none" strike="noStrike"/>
                        <a:t>Nombre: VARBINARY (50) [Nullable]</a:t>
                      </a:r>
                      <a:endParaRPr/>
                    </a:p>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Apellidos:</a:t>
                      </a:r>
                      <a:r>
                        <a:rPr i="0" lang="es-PE" sz="700" u="none" cap="none" strike="noStrike"/>
                        <a:t> VACHAR (50) </a:t>
                      </a:r>
                      <a:r>
                        <a:rPr i="0" lang="es-PE" sz="700" u="none" cap="none" strike="noStrike"/>
                        <a:t>[Nullable]</a:t>
                      </a:r>
                      <a:endParaRPr/>
                    </a:p>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Tipo: INT[FK]</a:t>
                      </a:r>
                      <a:endParaRPr/>
                    </a:p>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Tarjeta_credito: CHAR(16) </a:t>
                      </a:r>
                      <a:r>
                        <a:rPr i="0" lang="es-PE" sz="700" u="none" cap="none" strike="noStrike"/>
                        <a:t>[Nullable]</a:t>
                      </a:r>
                      <a:endParaRPr/>
                    </a:p>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Cta_bancaria: CHAR(20) [Nullable]</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graphicFrame>
        <p:nvGraphicFramePr>
          <p:cNvPr id="885" name="Google Shape;885;p39"/>
          <p:cNvGraphicFramePr/>
          <p:nvPr/>
        </p:nvGraphicFramePr>
        <p:xfrm>
          <a:off x="5186206" y="2626328"/>
          <a:ext cx="3000000" cy="3000000"/>
        </p:xfrm>
        <a:graphic>
          <a:graphicData uri="http://schemas.openxmlformats.org/drawingml/2006/table">
            <a:tbl>
              <a:tblPr bandRow="1">
                <a:noFill/>
                <a:tableStyleId>{111FAAAF-390B-45C5-8ABE-32D9CDC8B455}</a:tableStyleId>
              </a:tblPr>
              <a:tblGrid>
                <a:gridCol w="1797375"/>
              </a:tblGrid>
              <a:tr h="177600">
                <a:tc>
                  <a:txBody>
                    <a:bodyPr/>
                    <a:lstStyle/>
                    <a:p>
                      <a:pPr indent="0" lvl="0" marL="0" marR="0" rtl="0" algn="ctr">
                        <a:lnSpc>
                          <a:spcPct val="100000"/>
                        </a:lnSpc>
                        <a:spcBef>
                          <a:spcPts val="0"/>
                        </a:spcBef>
                        <a:spcAft>
                          <a:spcPts val="0"/>
                        </a:spcAft>
                        <a:buNone/>
                      </a:pPr>
                      <a:r>
                        <a:rPr b="1" lang="es-PE" sz="700" u="none" cap="none" strike="noStrike">
                          <a:solidFill>
                            <a:schemeClr val="lt1"/>
                          </a:solidFill>
                        </a:rPr>
                        <a:t>Tipo_persona</a:t>
                      </a:r>
                      <a:endParaRPr b="1" sz="700" u="none" cap="none" strike="noStrike">
                        <a:solidFill>
                          <a:schemeClr val="lt1"/>
                        </a:solidFill>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177600">
                <a:tc>
                  <a:txBody>
                    <a:bodyPr/>
                    <a:lstStyle/>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Tipo: INT[FK]</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180950">
                <a:tc>
                  <a:txBody>
                    <a:bodyPr/>
                    <a:lstStyle/>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Descripcion: </a:t>
                      </a:r>
                      <a:r>
                        <a:rPr i="0" lang="es-PE" sz="700" u="none" cap="none" strike="noStrike"/>
                        <a:t>VACHAR (50) </a:t>
                      </a:r>
                      <a:r>
                        <a:rPr i="0" lang="es-PE" sz="700" u="none" cap="none" strike="noStrike"/>
                        <a:t>[Nullable]</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graphicFrame>
        <p:nvGraphicFramePr>
          <p:cNvPr id="886" name="Google Shape;886;p39"/>
          <p:cNvGraphicFramePr/>
          <p:nvPr/>
        </p:nvGraphicFramePr>
        <p:xfrm>
          <a:off x="5186206" y="1793176"/>
          <a:ext cx="3000000" cy="3000000"/>
        </p:xfrm>
        <a:graphic>
          <a:graphicData uri="http://schemas.openxmlformats.org/drawingml/2006/table">
            <a:tbl>
              <a:tblPr bandRow="1">
                <a:noFill/>
                <a:tableStyleId>{111FAAAF-390B-45C5-8ABE-32D9CDC8B455}</a:tableStyleId>
              </a:tblPr>
              <a:tblGrid>
                <a:gridCol w="1853950"/>
              </a:tblGrid>
              <a:tr h="143825">
                <a:tc>
                  <a:txBody>
                    <a:bodyPr/>
                    <a:lstStyle/>
                    <a:p>
                      <a:pPr indent="0" lvl="0" marL="0" marR="0" rtl="0" algn="ctr">
                        <a:lnSpc>
                          <a:spcPct val="100000"/>
                        </a:lnSpc>
                        <a:spcBef>
                          <a:spcPts val="0"/>
                        </a:spcBef>
                        <a:spcAft>
                          <a:spcPts val="0"/>
                        </a:spcAft>
                        <a:buNone/>
                      </a:pPr>
                      <a:r>
                        <a:rPr b="1" lang="es-PE" sz="700" u="none" cap="none" strike="noStrike">
                          <a:solidFill>
                            <a:schemeClr val="lt1"/>
                          </a:solidFill>
                        </a:rPr>
                        <a:t>tipo_habitacion</a:t>
                      </a:r>
                      <a:endParaRPr b="1" sz="700" u="none" cap="none" strike="noStrike">
                        <a:solidFill>
                          <a:schemeClr val="lt1"/>
                        </a:solidFill>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143825">
                <a:tc>
                  <a:txBody>
                    <a:bodyPr/>
                    <a:lstStyle/>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Tipo: CHAR(3)</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170850">
                <a:tc>
                  <a:txBody>
                    <a:bodyPr/>
                    <a:lstStyle/>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Descripcion: </a:t>
                      </a:r>
                      <a:r>
                        <a:rPr i="0" lang="es-PE" sz="700" u="none" cap="none" strike="noStrike"/>
                        <a:t>VACHAR (50) </a:t>
                      </a:r>
                      <a:r>
                        <a:rPr i="0" lang="es-PE" sz="700" u="none" cap="none" strike="noStrike"/>
                        <a:t>[Nullable]</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cxnSp>
        <p:nvCxnSpPr>
          <p:cNvPr id="887" name="Google Shape;887;p39"/>
          <p:cNvCxnSpPr/>
          <p:nvPr/>
        </p:nvCxnSpPr>
        <p:spPr>
          <a:xfrm>
            <a:off x="4908396" y="2027930"/>
            <a:ext cx="280026" cy="0"/>
          </a:xfrm>
          <a:prstGeom prst="straightConnector1">
            <a:avLst/>
          </a:prstGeom>
          <a:noFill/>
          <a:ln cap="flat" cmpd="sng" w="28575">
            <a:solidFill>
              <a:srgbClr val="0197A7"/>
            </a:solidFill>
            <a:prstDash val="solid"/>
            <a:round/>
            <a:headEnd len="sm" w="sm" type="none"/>
            <a:tailEnd len="sm" w="sm" type="none"/>
          </a:ln>
        </p:spPr>
      </p:cxnSp>
      <p:cxnSp>
        <p:nvCxnSpPr>
          <p:cNvPr id="888" name="Google Shape;888;p39"/>
          <p:cNvCxnSpPr/>
          <p:nvPr/>
        </p:nvCxnSpPr>
        <p:spPr>
          <a:xfrm rot="10800000">
            <a:off x="4896067" y="1945846"/>
            <a:ext cx="0" cy="161752"/>
          </a:xfrm>
          <a:prstGeom prst="straightConnector1">
            <a:avLst/>
          </a:prstGeom>
          <a:noFill/>
          <a:ln cap="flat" cmpd="sng" w="28575">
            <a:solidFill>
              <a:srgbClr val="0197A7"/>
            </a:solidFill>
            <a:prstDash val="solid"/>
            <a:round/>
            <a:headEnd len="sm" w="sm" type="none"/>
            <a:tailEnd len="sm" w="sm" type="none"/>
          </a:ln>
        </p:spPr>
      </p:cxnSp>
      <p:sp>
        <p:nvSpPr>
          <p:cNvPr id="889" name="Google Shape;889;p39"/>
          <p:cNvSpPr/>
          <p:nvPr/>
        </p:nvSpPr>
        <p:spPr>
          <a:xfrm>
            <a:off x="4304395" y="2244977"/>
            <a:ext cx="93535" cy="93535"/>
          </a:xfrm>
          <a:prstGeom prst="ellipse">
            <a:avLst/>
          </a:prstGeom>
          <a:solidFill>
            <a:schemeClr val="lt1"/>
          </a:solidFill>
          <a:ln cap="flat" cmpd="sng" w="25400">
            <a:solidFill>
              <a:srgbClr val="0197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cxnSp>
        <p:nvCxnSpPr>
          <p:cNvPr id="890" name="Google Shape;890;p39"/>
          <p:cNvCxnSpPr/>
          <p:nvPr/>
        </p:nvCxnSpPr>
        <p:spPr>
          <a:xfrm>
            <a:off x="4231518" y="2749269"/>
            <a:ext cx="954688" cy="0"/>
          </a:xfrm>
          <a:prstGeom prst="straightConnector1">
            <a:avLst/>
          </a:prstGeom>
          <a:noFill/>
          <a:ln cap="flat" cmpd="sng" w="28575">
            <a:solidFill>
              <a:srgbClr val="0197A7"/>
            </a:solidFill>
            <a:prstDash val="solid"/>
            <a:round/>
            <a:headEnd len="sm" w="sm" type="none"/>
            <a:tailEnd len="sm" w="sm" type="none"/>
          </a:ln>
        </p:spPr>
      </p:cxnSp>
      <p:cxnSp>
        <p:nvCxnSpPr>
          <p:cNvPr id="891" name="Google Shape;891;p39"/>
          <p:cNvCxnSpPr/>
          <p:nvPr/>
        </p:nvCxnSpPr>
        <p:spPr>
          <a:xfrm rot="10800000">
            <a:off x="4229451" y="2669375"/>
            <a:ext cx="81153" cy="90252"/>
          </a:xfrm>
          <a:prstGeom prst="straightConnector1">
            <a:avLst/>
          </a:prstGeom>
          <a:noFill/>
          <a:ln cap="flat" cmpd="sng" w="28575">
            <a:solidFill>
              <a:srgbClr val="0197A7"/>
            </a:solidFill>
            <a:prstDash val="solid"/>
            <a:round/>
            <a:headEnd len="sm" w="sm" type="none"/>
            <a:tailEnd len="sm" w="sm" type="none"/>
          </a:ln>
        </p:spPr>
      </p:cxnSp>
      <p:cxnSp>
        <p:nvCxnSpPr>
          <p:cNvPr id="892" name="Google Shape;892;p39"/>
          <p:cNvCxnSpPr/>
          <p:nvPr/>
        </p:nvCxnSpPr>
        <p:spPr>
          <a:xfrm flipH="1" rot="10800000">
            <a:off x="4229450" y="2743860"/>
            <a:ext cx="81153" cy="90252"/>
          </a:xfrm>
          <a:prstGeom prst="straightConnector1">
            <a:avLst/>
          </a:prstGeom>
          <a:noFill/>
          <a:ln cap="flat" cmpd="sng" w="28575">
            <a:solidFill>
              <a:srgbClr val="0197A7"/>
            </a:solidFill>
            <a:prstDash val="solid"/>
            <a:round/>
            <a:headEnd len="sm" w="sm" type="none"/>
            <a:tailEnd len="sm" w="sm" type="none"/>
          </a:ln>
        </p:spPr>
      </p:cxnSp>
      <p:graphicFrame>
        <p:nvGraphicFramePr>
          <p:cNvPr id="893" name="Google Shape;893;p39"/>
          <p:cNvGraphicFramePr/>
          <p:nvPr/>
        </p:nvGraphicFramePr>
        <p:xfrm>
          <a:off x="2367920" y="2626328"/>
          <a:ext cx="3000000" cy="3000000"/>
        </p:xfrm>
        <a:graphic>
          <a:graphicData uri="http://schemas.openxmlformats.org/drawingml/2006/table">
            <a:tbl>
              <a:tblPr bandRow="1">
                <a:noFill/>
                <a:tableStyleId>{111FAAAF-390B-45C5-8ABE-32D9CDC8B455}</a:tableStyleId>
              </a:tblPr>
              <a:tblGrid>
                <a:gridCol w="1867725"/>
              </a:tblGrid>
              <a:tr h="116075">
                <a:tc>
                  <a:txBody>
                    <a:bodyPr/>
                    <a:lstStyle/>
                    <a:p>
                      <a:pPr indent="0" lvl="0" marL="0" marR="0" rtl="0" algn="ctr">
                        <a:lnSpc>
                          <a:spcPct val="100000"/>
                        </a:lnSpc>
                        <a:spcBef>
                          <a:spcPts val="0"/>
                        </a:spcBef>
                        <a:spcAft>
                          <a:spcPts val="0"/>
                        </a:spcAft>
                        <a:buNone/>
                      </a:pPr>
                      <a:r>
                        <a:rPr b="1" lang="es-PE" sz="700" u="none" cap="none" strike="noStrike">
                          <a:solidFill>
                            <a:schemeClr val="lt1"/>
                          </a:solidFill>
                        </a:rPr>
                        <a:t>habitacion</a:t>
                      </a:r>
                      <a:endParaRPr b="1" sz="700" u="none" cap="none" strike="noStrike">
                        <a:solidFill>
                          <a:schemeClr val="lt1"/>
                        </a:solidFill>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0197A7"/>
                    </a:solidFill>
                  </a:tcPr>
                </a:tc>
              </a:tr>
              <a:tr h="116075">
                <a:tc>
                  <a:txBody>
                    <a:bodyPr/>
                    <a:lstStyle/>
                    <a:p>
                      <a:pPr indent="134938" lvl="0" marL="222250" marR="0" rtl="0" algn="l">
                        <a:lnSpc>
                          <a:spcPct val="100000"/>
                        </a:lnSpc>
                        <a:spcBef>
                          <a:spcPts val="0"/>
                        </a:spcBef>
                        <a:spcAft>
                          <a:spcPts val="0"/>
                        </a:spcAft>
                        <a:buNone/>
                      </a:pPr>
                      <a:r>
                        <a:rPr i="0" lang="es-PE" sz="700" u="none" cap="none" strike="noStrike"/>
                        <a:t>Codigo: CHAR (5)</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r h="273025">
                <a:tc>
                  <a:txBody>
                    <a:bodyPr/>
                    <a:lstStyle/>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Descripcion: </a:t>
                      </a:r>
                      <a:r>
                        <a:rPr i="0" lang="es-PE" sz="700" u="none" cap="none" strike="noStrike"/>
                        <a:t>CHAR (50) </a:t>
                      </a:r>
                      <a:endParaRPr/>
                    </a:p>
                    <a:p>
                      <a:pPr indent="134938" lvl="0" marL="222250" marR="0" rtl="0" algn="l">
                        <a:lnSpc>
                          <a:spcPct val="100000"/>
                        </a:lnSpc>
                        <a:spcBef>
                          <a:spcPts val="0"/>
                        </a:spcBef>
                        <a:spcAft>
                          <a:spcPts val="0"/>
                        </a:spcAft>
                        <a:buClr>
                          <a:srgbClr val="000000"/>
                        </a:buClr>
                        <a:buSzPts val="700"/>
                        <a:buFont typeface="Arial"/>
                        <a:buNone/>
                      </a:pPr>
                      <a:r>
                        <a:rPr i="0" lang="es-PE" sz="700" u="none" cap="none" strike="noStrike"/>
                        <a:t>Tipo: CHAR(3)[FK]</a:t>
                      </a:r>
                      <a:endParaRPr/>
                    </a:p>
                  </a:txBody>
                  <a:tcPr marT="25450" marB="25450" marR="50900" marL="5090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EDF7FF"/>
                    </a:solidFill>
                  </a:tcPr>
                </a:tc>
              </a:tr>
            </a:tbl>
          </a:graphicData>
        </a:graphic>
      </p:graphicFrame>
      <p:cxnSp>
        <p:nvCxnSpPr>
          <p:cNvPr id="894" name="Google Shape;894;p39"/>
          <p:cNvCxnSpPr/>
          <p:nvPr/>
        </p:nvCxnSpPr>
        <p:spPr>
          <a:xfrm rot="10800000">
            <a:off x="4990564" y="2663811"/>
            <a:ext cx="0" cy="161752"/>
          </a:xfrm>
          <a:prstGeom prst="straightConnector1">
            <a:avLst/>
          </a:prstGeom>
          <a:noFill/>
          <a:ln cap="flat" cmpd="sng" w="28575">
            <a:solidFill>
              <a:srgbClr val="0197A7"/>
            </a:solidFill>
            <a:prstDash val="solid"/>
            <a:round/>
            <a:headEnd len="sm" w="sm" type="none"/>
            <a:tailEnd len="sm" w="sm" type="none"/>
          </a:ln>
        </p:spPr>
      </p:cxnSp>
      <p:sp>
        <p:nvSpPr>
          <p:cNvPr id="895" name="Google Shape;895;p39"/>
          <p:cNvSpPr/>
          <p:nvPr/>
        </p:nvSpPr>
        <p:spPr>
          <a:xfrm>
            <a:off x="4310603" y="2702500"/>
            <a:ext cx="93535" cy="93535"/>
          </a:xfrm>
          <a:prstGeom prst="ellipse">
            <a:avLst/>
          </a:prstGeom>
          <a:solidFill>
            <a:schemeClr val="lt1"/>
          </a:solidFill>
          <a:ln cap="flat" cmpd="sng" w="25400">
            <a:solidFill>
              <a:srgbClr val="0197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id="896" name="Google Shape;896;p39"/>
          <p:cNvPicPr preferRelativeResize="0"/>
          <p:nvPr/>
        </p:nvPicPr>
        <p:blipFill rotWithShape="1">
          <a:blip r:embed="rId3">
            <a:alphaModFix/>
          </a:blip>
          <a:srcRect b="24611" l="68244" r="28566" t="70297"/>
          <a:stretch/>
        </p:blipFill>
        <p:spPr>
          <a:xfrm>
            <a:off x="2942660" y="1611717"/>
            <a:ext cx="119362" cy="106342"/>
          </a:xfrm>
          <a:prstGeom prst="rect">
            <a:avLst/>
          </a:prstGeom>
          <a:noFill/>
          <a:ln>
            <a:noFill/>
          </a:ln>
        </p:spPr>
      </p:pic>
      <p:pic>
        <p:nvPicPr>
          <p:cNvPr id="897" name="Google Shape;897;p39"/>
          <p:cNvPicPr preferRelativeResize="0"/>
          <p:nvPr/>
        </p:nvPicPr>
        <p:blipFill rotWithShape="1">
          <a:blip r:embed="rId3">
            <a:alphaModFix/>
          </a:blip>
          <a:srcRect b="77047" l="27242" r="68751" t="15938"/>
          <a:stretch/>
        </p:blipFill>
        <p:spPr>
          <a:xfrm>
            <a:off x="2579707" y="1773251"/>
            <a:ext cx="123042" cy="120242"/>
          </a:xfrm>
          <a:prstGeom prst="rect">
            <a:avLst/>
          </a:prstGeom>
          <a:noFill/>
          <a:ln>
            <a:noFill/>
          </a:ln>
        </p:spPr>
      </p:pic>
      <p:pic>
        <p:nvPicPr>
          <p:cNvPr id="898" name="Google Shape;898;p39"/>
          <p:cNvPicPr preferRelativeResize="0"/>
          <p:nvPr/>
        </p:nvPicPr>
        <p:blipFill rotWithShape="1">
          <a:blip r:embed="rId3">
            <a:alphaModFix/>
          </a:blip>
          <a:srcRect b="6581" l="56129" r="41415" t="86606"/>
          <a:stretch/>
        </p:blipFill>
        <p:spPr>
          <a:xfrm>
            <a:off x="2633683" y="1929854"/>
            <a:ext cx="69066" cy="107008"/>
          </a:xfrm>
          <a:prstGeom prst="rect">
            <a:avLst/>
          </a:prstGeom>
          <a:noFill/>
          <a:ln>
            <a:noFill/>
          </a:ln>
        </p:spPr>
      </p:pic>
      <p:pic>
        <p:nvPicPr>
          <p:cNvPr id="899" name="Google Shape;899;p39"/>
          <p:cNvPicPr preferRelativeResize="0"/>
          <p:nvPr/>
        </p:nvPicPr>
        <p:blipFill rotWithShape="1">
          <a:blip r:embed="rId3">
            <a:alphaModFix/>
          </a:blip>
          <a:srcRect b="6581" l="56129" r="41415" t="86606"/>
          <a:stretch/>
        </p:blipFill>
        <p:spPr>
          <a:xfrm>
            <a:off x="2633683" y="2374453"/>
            <a:ext cx="69066" cy="107008"/>
          </a:xfrm>
          <a:prstGeom prst="rect">
            <a:avLst/>
          </a:prstGeom>
          <a:noFill/>
          <a:ln>
            <a:noFill/>
          </a:ln>
        </p:spPr>
      </p:pic>
      <p:pic>
        <p:nvPicPr>
          <p:cNvPr id="900" name="Google Shape;900;p39"/>
          <p:cNvPicPr preferRelativeResize="0"/>
          <p:nvPr/>
        </p:nvPicPr>
        <p:blipFill rotWithShape="1">
          <a:blip r:embed="rId3">
            <a:alphaModFix/>
          </a:blip>
          <a:srcRect b="24611" l="68244" r="28566" t="70297"/>
          <a:stretch/>
        </p:blipFill>
        <p:spPr>
          <a:xfrm>
            <a:off x="5626109" y="1817507"/>
            <a:ext cx="119362" cy="106342"/>
          </a:xfrm>
          <a:prstGeom prst="rect">
            <a:avLst/>
          </a:prstGeom>
          <a:noFill/>
          <a:ln>
            <a:noFill/>
          </a:ln>
        </p:spPr>
      </p:pic>
      <p:pic>
        <p:nvPicPr>
          <p:cNvPr id="901" name="Google Shape;901;p39"/>
          <p:cNvPicPr preferRelativeResize="0"/>
          <p:nvPr/>
        </p:nvPicPr>
        <p:blipFill rotWithShape="1">
          <a:blip r:embed="rId3">
            <a:alphaModFix/>
          </a:blip>
          <a:srcRect b="24611" l="68244" r="28566" t="70297"/>
          <a:stretch/>
        </p:blipFill>
        <p:spPr>
          <a:xfrm>
            <a:off x="5647129" y="2658556"/>
            <a:ext cx="119362" cy="106342"/>
          </a:xfrm>
          <a:prstGeom prst="rect">
            <a:avLst/>
          </a:prstGeom>
          <a:noFill/>
          <a:ln>
            <a:noFill/>
          </a:ln>
        </p:spPr>
      </p:pic>
      <p:pic>
        <p:nvPicPr>
          <p:cNvPr id="902" name="Google Shape;902;p39"/>
          <p:cNvPicPr preferRelativeResize="0"/>
          <p:nvPr/>
        </p:nvPicPr>
        <p:blipFill rotWithShape="1">
          <a:blip r:embed="rId3">
            <a:alphaModFix/>
          </a:blip>
          <a:srcRect b="24611" l="68244" r="28566" t="70297"/>
          <a:stretch/>
        </p:blipFill>
        <p:spPr>
          <a:xfrm>
            <a:off x="2911130" y="2649329"/>
            <a:ext cx="119362" cy="106342"/>
          </a:xfrm>
          <a:prstGeom prst="rect">
            <a:avLst/>
          </a:prstGeom>
          <a:noFill/>
          <a:ln>
            <a:noFill/>
          </a:ln>
        </p:spPr>
      </p:pic>
      <p:pic>
        <p:nvPicPr>
          <p:cNvPr id="903" name="Google Shape;903;p39"/>
          <p:cNvPicPr preferRelativeResize="0"/>
          <p:nvPr/>
        </p:nvPicPr>
        <p:blipFill rotWithShape="1">
          <a:blip r:embed="rId3">
            <a:alphaModFix/>
          </a:blip>
          <a:srcRect b="6581" l="56129" r="41415" t="86606"/>
          <a:stretch/>
        </p:blipFill>
        <p:spPr>
          <a:xfrm>
            <a:off x="2633683" y="2041004"/>
            <a:ext cx="69066" cy="107008"/>
          </a:xfrm>
          <a:prstGeom prst="rect">
            <a:avLst/>
          </a:prstGeom>
          <a:noFill/>
          <a:ln>
            <a:noFill/>
          </a:ln>
        </p:spPr>
      </p:pic>
      <p:pic>
        <p:nvPicPr>
          <p:cNvPr id="904" name="Google Shape;904;p39"/>
          <p:cNvPicPr preferRelativeResize="0"/>
          <p:nvPr/>
        </p:nvPicPr>
        <p:blipFill rotWithShape="1">
          <a:blip r:embed="rId3">
            <a:alphaModFix/>
          </a:blip>
          <a:srcRect b="6581" l="56129" r="41415" t="86606"/>
          <a:stretch/>
        </p:blipFill>
        <p:spPr>
          <a:xfrm>
            <a:off x="2633683" y="2263304"/>
            <a:ext cx="69066" cy="107008"/>
          </a:xfrm>
          <a:prstGeom prst="rect">
            <a:avLst/>
          </a:prstGeom>
          <a:noFill/>
          <a:ln>
            <a:noFill/>
          </a:ln>
        </p:spPr>
      </p:pic>
      <p:pic>
        <p:nvPicPr>
          <p:cNvPr id="905" name="Google Shape;905;p39"/>
          <p:cNvPicPr preferRelativeResize="0"/>
          <p:nvPr/>
        </p:nvPicPr>
        <p:blipFill rotWithShape="1">
          <a:blip r:embed="rId3">
            <a:alphaModFix/>
          </a:blip>
          <a:srcRect b="77047" l="27242" r="68751" t="15938"/>
          <a:stretch/>
        </p:blipFill>
        <p:spPr>
          <a:xfrm>
            <a:off x="2582882" y="2806157"/>
            <a:ext cx="123042" cy="120242"/>
          </a:xfrm>
          <a:prstGeom prst="rect">
            <a:avLst/>
          </a:prstGeom>
          <a:noFill/>
          <a:ln>
            <a:noFill/>
          </a:ln>
        </p:spPr>
      </p:pic>
      <p:pic>
        <p:nvPicPr>
          <p:cNvPr id="906" name="Google Shape;906;p39"/>
          <p:cNvPicPr preferRelativeResize="0"/>
          <p:nvPr/>
        </p:nvPicPr>
        <p:blipFill rotWithShape="1">
          <a:blip r:embed="rId3">
            <a:alphaModFix/>
          </a:blip>
          <a:srcRect b="6581" l="56129" r="41415" t="86606"/>
          <a:stretch/>
        </p:blipFill>
        <p:spPr>
          <a:xfrm>
            <a:off x="2634467" y="2968976"/>
            <a:ext cx="69066" cy="107008"/>
          </a:xfrm>
          <a:prstGeom prst="rect">
            <a:avLst/>
          </a:prstGeom>
          <a:noFill/>
          <a:ln>
            <a:noFill/>
          </a:ln>
        </p:spPr>
      </p:pic>
      <p:pic>
        <p:nvPicPr>
          <p:cNvPr id="907" name="Google Shape;907;p39"/>
          <p:cNvPicPr preferRelativeResize="0"/>
          <p:nvPr/>
        </p:nvPicPr>
        <p:blipFill rotWithShape="1">
          <a:blip r:embed="rId3">
            <a:alphaModFix/>
          </a:blip>
          <a:srcRect b="77047" l="27242" r="68751" t="15938"/>
          <a:stretch/>
        </p:blipFill>
        <p:spPr>
          <a:xfrm>
            <a:off x="5410743" y="2834775"/>
            <a:ext cx="123042" cy="120242"/>
          </a:xfrm>
          <a:prstGeom prst="rect">
            <a:avLst/>
          </a:prstGeom>
          <a:noFill/>
          <a:ln>
            <a:noFill/>
          </a:ln>
        </p:spPr>
      </p:pic>
      <p:pic>
        <p:nvPicPr>
          <p:cNvPr id="908" name="Google Shape;908;p39"/>
          <p:cNvPicPr preferRelativeResize="0"/>
          <p:nvPr/>
        </p:nvPicPr>
        <p:blipFill rotWithShape="1">
          <a:blip r:embed="rId3">
            <a:alphaModFix/>
          </a:blip>
          <a:srcRect b="6581" l="56129" r="41415" t="86606"/>
          <a:stretch/>
        </p:blipFill>
        <p:spPr>
          <a:xfrm>
            <a:off x="5464719" y="3013469"/>
            <a:ext cx="69066" cy="107008"/>
          </a:xfrm>
          <a:prstGeom prst="rect">
            <a:avLst/>
          </a:prstGeom>
          <a:noFill/>
          <a:ln>
            <a:noFill/>
          </a:ln>
        </p:spPr>
      </p:pic>
      <p:pic>
        <p:nvPicPr>
          <p:cNvPr id="909" name="Google Shape;909;p39"/>
          <p:cNvPicPr preferRelativeResize="0"/>
          <p:nvPr/>
        </p:nvPicPr>
        <p:blipFill rotWithShape="1">
          <a:blip r:embed="rId3">
            <a:alphaModFix/>
          </a:blip>
          <a:srcRect b="77047" l="27242" r="68751" t="15938"/>
          <a:stretch/>
        </p:blipFill>
        <p:spPr>
          <a:xfrm>
            <a:off x="5410743" y="1970018"/>
            <a:ext cx="123042" cy="120242"/>
          </a:xfrm>
          <a:prstGeom prst="rect">
            <a:avLst/>
          </a:prstGeom>
          <a:noFill/>
          <a:ln>
            <a:noFill/>
          </a:ln>
        </p:spPr>
      </p:pic>
      <p:pic>
        <p:nvPicPr>
          <p:cNvPr id="910" name="Google Shape;910;p39"/>
          <p:cNvPicPr preferRelativeResize="0"/>
          <p:nvPr/>
        </p:nvPicPr>
        <p:blipFill rotWithShape="1">
          <a:blip r:embed="rId3">
            <a:alphaModFix/>
          </a:blip>
          <a:srcRect b="6581" l="56129" r="41415" t="86606"/>
          <a:stretch/>
        </p:blipFill>
        <p:spPr>
          <a:xfrm>
            <a:off x="5464719" y="2148712"/>
            <a:ext cx="69066" cy="107008"/>
          </a:xfrm>
          <a:prstGeom prst="rect">
            <a:avLst/>
          </a:prstGeom>
          <a:noFill/>
          <a:ln>
            <a:noFill/>
          </a:ln>
        </p:spPr>
      </p:pic>
      <p:pic>
        <p:nvPicPr>
          <p:cNvPr id="911" name="Google Shape;911;p39"/>
          <p:cNvPicPr preferRelativeResize="0"/>
          <p:nvPr/>
        </p:nvPicPr>
        <p:blipFill rotWithShape="1">
          <a:blip r:embed="rId4">
            <a:alphaModFix/>
          </a:blip>
          <a:srcRect b="59060" l="2343" r="95097" t="34616"/>
          <a:stretch/>
        </p:blipFill>
        <p:spPr>
          <a:xfrm>
            <a:off x="2609549" y="3074588"/>
            <a:ext cx="103509" cy="117468"/>
          </a:xfrm>
          <a:prstGeom prst="rect">
            <a:avLst/>
          </a:prstGeom>
          <a:noFill/>
          <a:ln>
            <a:noFill/>
          </a:ln>
        </p:spPr>
      </p:pic>
      <p:pic>
        <p:nvPicPr>
          <p:cNvPr id="912" name="Google Shape;912;p39"/>
          <p:cNvPicPr preferRelativeResize="0"/>
          <p:nvPr/>
        </p:nvPicPr>
        <p:blipFill rotWithShape="1">
          <a:blip r:embed="rId4">
            <a:alphaModFix/>
          </a:blip>
          <a:srcRect b="59060" l="2343" r="95097" t="34616"/>
          <a:stretch/>
        </p:blipFill>
        <p:spPr>
          <a:xfrm>
            <a:off x="2609549" y="2145257"/>
            <a:ext cx="103509" cy="117468"/>
          </a:xfrm>
          <a:prstGeom prst="rect">
            <a:avLst/>
          </a:prstGeom>
          <a:noFill/>
          <a:ln>
            <a:noFill/>
          </a:ln>
        </p:spPr>
      </p:pic>
      <p:sp>
        <p:nvSpPr>
          <p:cNvPr id="913" name="Google Shape;913;p39"/>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pic>
        <p:nvPicPr>
          <p:cNvPr id="918" name="Google Shape;918;p40"/>
          <p:cNvPicPr preferRelativeResize="0"/>
          <p:nvPr/>
        </p:nvPicPr>
        <p:blipFill rotWithShape="1">
          <a:blip r:embed="rId3">
            <a:alphaModFix/>
          </a:blip>
          <a:srcRect b="0" l="33815" r="-30" t="0"/>
          <a:stretch/>
        </p:blipFill>
        <p:spPr>
          <a:xfrm>
            <a:off x="468314" y="912813"/>
            <a:ext cx="8211226" cy="4284662"/>
          </a:xfrm>
          <a:prstGeom prst="rect">
            <a:avLst/>
          </a:prstGeom>
          <a:noFill/>
          <a:ln>
            <a:noFill/>
          </a:ln>
        </p:spPr>
      </p:pic>
      <p:sp>
        <p:nvSpPr>
          <p:cNvPr id="919" name="Google Shape;919;p40"/>
          <p:cNvSpPr/>
          <p:nvPr/>
        </p:nvSpPr>
        <p:spPr>
          <a:xfrm>
            <a:off x="732069" y="1394735"/>
            <a:ext cx="3716915" cy="3200876"/>
          </a:xfrm>
          <a:prstGeom prst="rect">
            <a:avLst/>
          </a:prstGeom>
          <a:noFill/>
          <a:ln>
            <a:noFill/>
          </a:ln>
        </p:spPr>
        <p:txBody>
          <a:bodyPr anchorCtr="0" anchor="t" bIns="0" lIns="0" spcFirstLastPara="1" rIns="0" wrap="square" tIns="0">
            <a:spAutoFit/>
          </a:bodyPr>
          <a:lstStyle/>
          <a:p>
            <a:pPr indent="0" lvl="0" marL="9525" marR="0" rtl="0" algn="just">
              <a:lnSpc>
                <a:spcPct val="100000"/>
              </a:lnSpc>
              <a:spcBef>
                <a:spcPts val="0"/>
              </a:spcBef>
              <a:spcAft>
                <a:spcPts val="0"/>
              </a:spcAft>
              <a:buNone/>
            </a:pPr>
            <a:r>
              <a:rPr b="1" i="0" lang="es-PE" sz="1600" u="none" cap="none" strike="noStrike">
                <a:solidFill>
                  <a:srgbClr val="000000"/>
                </a:solidFill>
                <a:latin typeface="Calibri"/>
                <a:ea typeface="Calibri"/>
                <a:cs typeface="Calibri"/>
                <a:sym typeface="Calibri"/>
              </a:rPr>
              <a:t>CONCLUSIONES DE MANEJO DE HERENCIA</a:t>
            </a:r>
            <a:endParaRPr/>
          </a:p>
          <a:p>
            <a:pPr indent="0" lvl="0" marL="9525" marR="0" rtl="0" algn="just">
              <a:lnSpc>
                <a:spcPct val="100000"/>
              </a:lnSpc>
              <a:spcBef>
                <a:spcPts val="0"/>
              </a:spcBef>
              <a:spcAft>
                <a:spcPts val="0"/>
              </a:spcAft>
              <a:buNone/>
            </a:pPr>
            <a:r>
              <a:t/>
            </a:r>
            <a:endParaRPr b="0" i="0" sz="1600" u="none" cap="none" strike="noStrike">
              <a:solidFill>
                <a:srgbClr val="000000"/>
              </a:solidFill>
              <a:latin typeface="Calibri"/>
              <a:ea typeface="Calibri"/>
              <a:cs typeface="Calibri"/>
              <a:sym typeface="Calibri"/>
            </a:endParaRPr>
          </a:p>
          <a:p>
            <a:pPr indent="0" lvl="0" marL="9525" marR="0" rtl="0" algn="just">
              <a:lnSpc>
                <a:spcPct val="100000"/>
              </a:lnSpc>
              <a:spcBef>
                <a:spcPts val="0"/>
              </a:spcBef>
              <a:spcAft>
                <a:spcPts val="0"/>
              </a:spcAft>
              <a:buNone/>
            </a:pPr>
            <a:r>
              <a:rPr b="0" i="0" lang="es-PE" sz="1600" u="none" cap="none" strike="noStrike">
                <a:solidFill>
                  <a:srgbClr val="000000"/>
                </a:solidFill>
                <a:latin typeface="Calibri"/>
                <a:ea typeface="Calibri"/>
                <a:cs typeface="Calibri"/>
                <a:sym typeface="Calibri"/>
              </a:rPr>
              <a:t>Lo más recomendable es utilizar la segunda o la tercera estrategia. Elegir entre ellas dependerá de las consultas que se han de hacer a la base de datos. Si por ejemplo en ningún momento hacemos una consulta que involucre tanto a clientes y empleados, quizá lo mejor será tener una tabla por cada clase concreta. Si por el contrario es común hacer listados que involucren a ambas clases, entonces lo mejor será utilizar una sola tabla y la tabla tipo.</a:t>
            </a:r>
            <a:endParaRPr/>
          </a:p>
        </p:txBody>
      </p:sp>
      <p:sp>
        <p:nvSpPr>
          <p:cNvPr id="920" name="Google Shape;920;p40"/>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41"/>
          <p:cNvSpPr/>
          <p:nvPr/>
        </p:nvSpPr>
        <p:spPr>
          <a:xfrm>
            <a:off x="5517573" y="2477609"/>
            <a:ext cx="2955985" cy="738664"/>
          </a:xfrm>
          <a:prstGeom prst="rect">
            <a:avLst/>
          </a:prstGeom>
          <a:noFill/>
          <a:ln>
            <a:noFill/>
          </a:ln>
        </p:spPr>
        <p:txBody>
          <a:bodyPr anchorCtr="0" anchor="t" bIns="0" lIns="0" spcFirstLastPara="1" rIns="0" wrap="square" tIns="0">
            <a:spAutoFit/>
          </a:bodyPr>
          <a:lstStyle/>
          <a:p>
            <a:pPr indent="0" lvl="0" marL="9525" marR="0" rtl="0" algn="ctr">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Calibri"/>
                <a:ea typeface="Calibri"/>
                <a:cs typeface="Calibri"/>
                <a:sym typeface="Calibri"/>
              </a:rPr>
              <a:t>Construyamos el Modelo Lógico y el Modelo Físico a partir del siguiente formulario</a:t>
            </a:r>
            <a:endParaRPr/>
          </a:p>
        </p:txBody>
      </p:sp>
      <p:pic>
        <p:nvPicPr>
          <p:cNvPr id="926" name="Google Shape;926;p41"/>
          <p:cNvPicPr preferRelativeResize="0"/>
          <p:nvPr/>
        </p:nvPicPr>
        <p:blipFill rotWithShape="1">
          <a:blip r:embed="rId3">
            <a:alphaModFix/>
          </a:blip>
          <a:srcRect b="14346" l="35873" r="23175" t="24920"/>
          <a:stretch/>
        </p:blipFill>
        <p:spPr>
          <a:xfrm>
            <a:off x="494192" y="1018309"/>
            <a:ext cx="4860476" cy="4054475"/>
          </a:xfrm>
          <a:prstGeom prst="rect">
            <a:avLst/>
          </a:prstGeom>
          <a:noFill/>
          <a:ln>
            <a:noFill/>
          </a:ln>
        </p:spPr>
      </p:pic>
      <p:sp>
        <p:nvSpPr>
          <p:cNvPr id="927" name="Google Shape;927;p41"/>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42"/>
          <p:cNvSpPr/>
          <p:nvPr/>
        </p:nvSpPr>
        <p:spPr>
          <a:xfrm>
            <a:off x="3497504" y="923204"/>
            <a:ext cx="2148992" cy="246221"/>
          </a:xfrm>
          <a:prstGeom prst="rect">
            <a:avLst/>
          </a:prstGeom>
          <a:noFill/>
          <a:ln>
            <a:noFill/>
          </a:ln>
        </p:spPr>
        <p:txBody>
          <a:bodyPr anchorCtr="0" anchor="t" bIns="0" lIns="0" spcFirstLastPara="1" rIns="0" wrap="square" tIns="0">
            <a:spAutoFit/>
          </a:bodyPr>
          <a:lstStyle/>
          <a:p>
            <a:pPr indent="0" lvl="0" marL="9525" marR="0" rtl="0" algn="ctr">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Arial"/>
                <a:ea typeface="Arial"/>
                <a:cs typeface="Arial"/>
                <a:sym typeface="Arial"/>
              </a:rPr>
              <a:t>MODELO LÓGICO</a:t>
            </a:r>
            <a:endParaRPr/>
          </a:p>
        </p:txBody>
      </p:sp>
      <p:grpSp>
        <p:nvGrpSpPr>
          <p:cNvPr id="933" name="Google Shape;933;p42"/>
          <p:cNvGrpSpPr/>
          <p:nvPr/>
        </p:nvGrpSpPr>
        <p:grpSpPr>
          <a:xfrm>
            <a:off x="893849" y="1322989"/>
            <a:ext cx="1378734" cy="2453464"/>
            <a:chOff x="1255702" y="2308541"/>
            <a:chExt cx="1524899" cy="2713566"/>
          </a:xfrm>
        </p:grpSpPr>
        <p:sp>
          <p:nvSpPr>
            <p:cNvPr id="934" name="Google Shape;934;p42"/>
            <p:cNvSpPr txBox="1"/>
            <p:nvPr/>
          </p:nvSpPr>
          <p:spPr>
            <a:xfrm>
              <a:off x="1341292" y="2898449"/>
              <a:ext cx="1439309" cy="21236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Arial"/>
                  <a:ea typeface="Arial"/>
                  <a:cs typeface="Arial"/>
                  <a:sym typeface="Arial"/>
                </a:rPr>
                <a:t>Cliente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codCli: Integer</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nombres: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apePaterno: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apeMaterno: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Direccion: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Sexo: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Telefono: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Email: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fechaReg: date </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fechaAct: date</a:t>
              </a:r>
              <a:endParaRPr/>
            </a:p>
          </p:txBody>
        </p:sp>
        <p:sp>
          <p:nvSpPr>
            <p:cNvPr id="935" name="Google Shape;935;p42"/>
            <p:cNvSpPr/>
            <p:nvPr/>
          </p:nvSpPr>
          <p:spPr>
            <a:xfrm>
              <a:off x="1724144" y="2308541"/>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936" name="Google Shape;936;p42"/>
            <p:cNvCxnSpPr/>
            <p:nvPr/>
          </p:nvCxnSpPr>
          <p:spPr>
            <a:xfrm>
              <a:off x="1738171" y="2873952"/>
              <a:ext cx="527295" cy="0"/>
            </a:xfrm>
            <a:prstGeom prst="straightConnector1">
              <a:avLst/>
            </a:prstGeom>
            <a:noFill/>
            <a:ln cap="flat" cmpd="sng" w="38100">
              <a:solidFill>
                <a:schemeClr val="dk1"/>
              </a:solidFill>
              <a:prstDash val="solid"/>
              <a:round/>
              <a:headEnd len="sm" w="sm" type="none"/>
              <a:tailEnd len="sm" w="sm" type="none"/>
            </a:ln>
          </p:spPr>
        </p:cxnSp>
        <p:cxnSp>
          <p:nvCxnSpPr>
            <p:cNvPr id="937" name="Google Shape;937;p42"/>
            <p:cNvCxnSpPr/>
            <p:nvPr/>
          </p:nvCxnSpPr>
          <p:spPr>
            <a:xfrm>
              <a:off x="1321499" y="3150866"/>
              <a:ext cx="1459102" cy="0"/>
            </a:xfrm>
            <a:prstGeom prst="straightConnector1">
              <a:avLst/>
            </a:prstGeom>
            <a:noFill/>
            <a:ln cap="flat" cmpd="sng" w="19050">
              <a:solidFill>
                <a:schemeClr val="dk1"/>
              </a:solidFill>
              <a:prstDash val="solid"/>
              <a:round/>
              <a:headEnd len="sm" w="sm" type="none"/>
              <a:tailEnd len="sm" w="sm" type="none"/>
            </a:ln>
          </p:spPr>
        </p:cxnSp>
        <p:pic>
          <p:nvPicPr>
            <p:cNvPr id="938" name="Google Shape;938;p42"/>
            <p:cNvPicPr preferRelativeResize="0"/>
            <p:nvPr/>
          </p:nvPicPr>
          <p:blipFill rotWithShape="1">
            <a:blip r:embed="rId3">
              <a:alphaModFix/>
            </a:blip>
            <a:srcRect b="40204" l="8629" r="80063" t="49555"/>
            <a:stretch/>
          </p:blipFill>
          <p:spPr>
            <a:xfrm>
              <a:off x="1255702" y="3199223"/>
              <a:ext cx="132571" cy="114557"/>
            </a:xfrm>
            <a:prstGeom prst="rect">
              <a:avLst/>
            </a:prstGeom>
            <a:noFill/>
            <a:ln>
              <a:noFill/>
            </a:ln>
          </p:spPr>
        </p:pic>
        <p:pic>
          <p:nvPicPr>
            <p:cNvPr id="939" name="Google Shape;939;p42"/>
            <p:cNvPicPr preferRelativeResize="0"/>
            <p:nvPr/>
          </p:nvPicPr>
          <p:blipFill rotWithShape="1">
            <a:blip r:embed="rId3">
              <a:alphaModFix/>
            </a:blip>
            <a:srcRect b="40204" l="8629" r="80063" t="49555"/>
            <a:stretch/>
          </p:blipFill>
          <p:spPr>
            <a:xfrm>
              <a:off x="1255702" y="3379368"/>
              <a:ext cx="132571" cy="114557"/>
            </a:xfrm>
            <a:prstGeom prst="rect">
              <a:avLst/>
            </a:prstGeom>
            <a:noFill/>
            <a:ln>
              <a:noFill/>
            </a:ln>
          </p:spPr>
        </p:pic>
        <p:pic>
          <p:nvPicPr>
            <p:cNvPr id="940" name="Google Shape;940;p42"/>
            <p:cNvPicPr preferRelativeResize="0"/>
            <p:nvPr/>
          </p:nvPicPr>
          <p:blipFill rotWithShape="1">
            <a:blip r:embed="rId3">
              <a:alphaModFix/>
            </a:blip>
            <a:srcRect b="40204" l="8629" r="80063" t="49555"/>
            <a:stretch/>
          </p:blipFill>
          <p:spPr>
            <a:xfrm>
              <a:off x="1255702" y="3559513"/>
              <a:ext cx="132571" cy="114557"/>
            </a:xfrm>
            <a:prstGeom prst="rect">
              <a:avLst/>
            </a:prstGeom>
            <a:noFill/>
            <a:ln>
              <a:noFill/>
            </a:ln>
          </p:spPr>
        </p:pic>
        <p:pic>
          <p:nvPicPr>
            <p:cNvPr id="941" name="Google Shape;941;p42"/>
            <p:cNvPicPr preferRelativeResize="0"/>
            <p:nvPr/>
          </p:nvPicPr>
          <p:blipFill rotWithShape="1">
            <a:blip r:embed="rId3">
              <a:alphaModFix/>
            </a:blip>
            <a:srcRect b="40204" l="8629" r="80063" t="49555"/>
            <a:stretch/>
          </p:blipFill>
          <p:spPr>
            <a:xfrm>
              <a:off x="1255702" y="3739658"/>
              <a:ext cx="132571" cy="114557"/>
            </a:xfrm>
            <a:prstGeom prst="rect">
              <a:avLst/>
            </a:prstGeom>
            <a:noFill/>
            <a:ln>
              <a:noFill/>
            </a:ln>
          </p:spPr>
        </p:pic>
        <p:pic>
          <p:nvPicPr>
            <p:cNvPr id="942" name="Google Shape;942;p42"/>
            <p:cNvPicPr preferRelativeResize="0"/>
            <p:nvPr/>
          </p:nvPicPr>
          <p:blipFill rotWithShape="1">
            <a:blip r:embed="rId3">
              <a:alphaModFix/>
            </a:blip>
            <a:srcRect b="40204" l="8629" r="80063" t="49555"/>
            <a:stretch/>
          </p:blipFill>
          <p:spPr>
            <a:xfrm>
              <a:off x="1255702" y="3919803"/>
              <a:ext cx="132571" cy="114557"/>
            </a:xfrm>
            <a:prstGeom prst="rect">
              <a:avLst/>
            </a:prstGeom>
            <a:noFill/>
            <a:ln>
              <a:noFill/>
            </a:ln>
          </p:spPr>
        </p:pic>
        <p:pic>
          <p:nvPicPr>
            <p:cNvPr id="943" name="Google Shape;943;p42"/>
            <p:cNvPicPr preferRelativeResize="0"/>
            <p:nvPr/>
          </p:nvPicPr>
          <p:blipFill rotWithShape="1">
            <a:blip r:embed="rId3">
              <a:alphaModFix/>
            </a:blip>
            <a:srcRect b="40204" l="8629" r="80063" t="49555"/>
            <a:stretch/>
          </p:blipFill>
          <p:spPr>
            <a:xfrm>
              <a:off x="1255702" y="4099948"/>
              <a:ext cx="132571" cy="114557"/>
            </a:xfrm>
            <a:prstGeom prst="rect">
              <a:avLst/>
            </a:prstGeom>
            <a:noFill/>
            <a:ln>
              <a:noFill/>
            </a:ln>
          </p:spPr>
        </p:pic>
        <p:pic>
          <p:nvPicPr>
            <p:cNvPr id="944" name="Google Shape;944;p42"/>
            <p:cNvPicPr preferRelativeResize="0"/>
            <p:nvPr/>
          </p:nvPicPr>
          <p:blipFill rotWithShape="1">
            <a:blip r:embed="rId3">
              <a:alphaModFix/>
            </a:blip>
            <a:srcRect b="40204" l="8629" r="80063" t="49555"/>
            <a:stretch/>
          </p:blipFill>
          <p:spPr>
            <a:xfrm>
              <a:off x="1255702" y="4280093"/>
              <a:ext cx="132571" cy="114557"/>
            </a:xfrm>
            <a:prstGeom prst="rect">
              <a:avLst/>
            </a:prstGeom>
            <a:noFill/>
            <a:ln>
              <a:noFill/>
            </a:ln>
          </p:spPr>
        </p:pic>
        <p:pic>
          <p:nvPicPr>
            <p:cNvPr id="945" name="Google Shape;945;p42"/>
            <p:cNvPicPr preferRelativeResize="0"/>
            <p:nvPr/>
          </p:nvPicPr>
          <p:blipFill rotWithShape="1">
            <a:blip r:embed="rId3">
              <a:alphaModFix/>
            </a:blip>
            <a:srcRect b="40204" l="8629" r="80063" t="49555"/>
            <a:stretch/>
          </p:blipFill>
          <p:spPr>
            <a:xfrm>
              <a:off x="1255702" y="4460238"/>
              <a:ext cx="132571" cy="114557"/>
            </a:xfrm>
            <a:prstGeom prst="rect">
              <a:avLst/>
            </a:prstGeom>
            <a:noFill/>
            <a:ln>
              <a:noFill/>
            </a:ln>
          </p:spPr>
        </p:pic>
        <p:pic>
          <p:nvPicPr>
            <p:cNvPr id="946" name="Google Shape;946;p42"/>
            <p:cNvPicPr preferRelativeResize="0"/>
            <p:nvPr/>
          </p:nvPicPr>
          <p:blipFill rotWithShape="1">
            <a:blip r:embed="rId3">
              <a:alphaModFix/>
            </a:blip>
            <a:srcRect b="40204" l="8629" r="80063" t="49555"/>
            <a:stretch/>
          </p:blipFill>
          <p:spPr>
            <a:xfrm>
              <a:off x="1255702" y="4640383"/>
              <a:ext cx="132571" cy="114557"/>
            </a:xfrm>
            <a:prstGeom prst="rect">
              <a:avLst/>
            </a:prstGeom>
            <a:noFill/>
            <a:ln>
              <a:noFill/>
            </a:ln>
          </p:spPr>
        </p:pic>
        <p:pic>
          <p:nvPicPr>
            <p:cNvPr id="947" name="Google Shape;947;p42"/>
            <p:cNvPicPr preferRelativeResize="0"/>
            <p:nvPr/>
          </p:nvPicPr>
          <p:blipFill rotWithShape="1">
            <a:blip r:embed="rId3">
              <a:alphaModFix/>
            </a:blip>
            <a:srcRect b="40204" l="8629" r="80063" t="49555"/>
            <a:stretch/>
          </p:blipFill>
          <p:spPr>
            <a:xfrm>
              <a:off x="1255702" y="4820528"/>
              <a:ext cx="132571" cy="114557"/>
            </a:xfrm>
            <a:prstGeom prst="rect">
              <a:avLst/>
            </a:prstGeom>
            <a:noFill/>
            <a:ln>
              <a:noFill/>
            </a:ln>
          </p:spPr>
        </p:pic>
      </p:grpSp>
      <p:grpSp>
        <p:nvGrpSpPr>
          <p:cNvPr id="948" name="Google Shape;948;p42"/>
          <p:cNvGrpSpPr/>
          <p:nvPr/>
        </p:nvGrpSpPr>
        <p:grpSpPr>
          <a:xfrm>
            <a:off x="2577496" y="2693083"/>
            <a:ext cx="1378292" cy="1451673"/>
            <a:chOff x="3213598" y="2308543"/>
            <a:chExt cx="1524410" cy="1605571"/>
          </a:xfrm>
        </p:grpSpPr>
        <p:sp>
          <p:nvSpPr>
            <p:cNvPr id="949" name="Google Shape;949;p42"/>
            <p:cNvSpPr txBox="1"/>
            <p:nvPr/>
          </p:nvSpPr>
          <p:spPr>
            <a:xfrm>
              <a:off x="3298699" y="2898451"/>
              <a:ext cx="1439309"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Arial"/>
                  <a:ea typeface="Arial"/>
                  <a:cs typeface="Arial"/>
                  <a:sym typeface="Arial"/>
                </a:rPr>
                <a:t>Reserva</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nroReserva: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fechaLlegada: Date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fechaSalida: Date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dias: Integer</a:t>
              </a:r>
              <a:endParaRPr/>
            </a:p>
          </p:txBody>
        </p:sp>
        <p:sp>
          <p:nvSpPr>
            <p:cNvPr id="950" name="Google Shape;950;p42"/>
            <p:cNvSpPr/>
            <p:nvPr/>
          </p:nvSpPr>
          <p:spPr>
            <a:xfrm>
              <a:off x="3681551" y="2308543"/>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951" name="Google Shape;951;p42"/>
            <p:cNvCxnSpPr/>
            <p:nvPr/>
          </p:nvCxnSpPr>
          <p:spPr>
            <a:xfrm>
              <a:off x="3695578" y="2873954"/>
              <a:ext cx="527295" cy="0"/>
            </a:xfrm>
            <a:prstGeom prst="straightConnector1">
              <a:avLst/>
            </a:prstGeom>
            <a:noFill/>
            <a:ln cap="flat" cmpd="sng" w="38100">
              <a:solidFill>
                <a:schemeClr val="dk1"/>
              </a:solidFill>
              <a:prstDash val="solid"/>
              <a:round/>
              <a:headEnd len="sm" w="sm" type="none"/>
              <a:tailEnd len="sm" w="sm" type="none"/>
            </a:ln>
          </p:spPr>
        </p:cxnSp>
        <p:cxnSp>
          <p:nvCxnSpPr>
            <p:cNvPr id="952" name="Google Shape;952;p42"/>
            <p:cNvCxnSpPr/>
            <p:nvPr/>
          </p:nvCxnSpPr>
          <p:spPr>
            <a:xfrm>
              <a:off x="3278906" y="3150868"/>
              <a:ext cx="1459102" cy="0"/>
            </a:xfrm>
            <a:prstGeom prst="straightConnector1">
              <a:avLst/>
            </a:prstGeom>
            <a:noFill/>
            <a:ln cap="flat" cmpd="sng" w="19050">
              <a:solidFill>
                <a:schemeClr val="dk1"/>
              </a:solidFill>
              <a:prstDash val="solid"/>
              <a:round/>
              <a:headEnd len="sm" w="sm" type="none"/>
              <a:tailEnd len="sm" w="sm" type="none"/>
            </a:ln>
          </p:spPr>
        </p:cxnSp>
        <p:pic>
          <p:nvPicPr>
            <p:cNvPr id="953" name="Google Shape;953;p42"/>
            <p:cNvPicPr preferRelativeResize="0"/>
            <p:nvPr/>
          </p:nvPicPr>
          <p:blipFill rotWithShape="1">
            <a:blip r:embed="rId3">
              <a:alphaModFix/>
            </a:blip>
            <a:srcRect b="40204" l="8629" r="80063" t="49555"/>
            <a:stretch/>
          </p:blipFill>
          <p:spPr>
            <a:xfrm>
              <a:off x="3213598" y="3183323"/>
              <a:ext cx="132571" cy="114557"/>
            </a:xfrm>
            <a:prstGeom prst="rect">
              <a:avLst/>
            </a:prstGeom>
            <a:noFill/>
            <a:ln>
              <a:noFill/>
            </a:ln>
          </p:spPr>
        </p:pic>
        <p:pic>
          <p:nvPicPr>
            <p:cNvPr id="954" name="Google Shape;954;p42"/>
            <p:cNvPicPr preferRelativeResize="0"/>
            <p:nvPr/>
          </p:nvPicPr>
          <p:blipFill rotWithShape="1">
            <a:blip r:embed="rId3">
              <a:alphaModFix/>
            </a:blip>
            <a:srcRect b="40204" l="8629" r="80063" t="49555"/>
            <a:stretch/>
          </p:blipFill>
          <p:spPr>
            <a:xfrm>
              <a:off x="3213598" y="3362270"/>
              <a:ext cx="132571" cy="114557"/>
            </a:xfrm>
            <a:prstGeom prst="rect">
              <a:avLst/>
            </a:prstGeom>
            <a:noFill/>
            <a:ln>
              <a:noFill/>
            </a:ln>
          </p:spPr>
        </p:pic>
        <p:pic>
          <p:nvPicPr>
            <p:cNvPr id="955" name="Google Shape;955;p42"/>
            <p:cNvPicPr preferRelativeResize="0"/>
            <p:nvPr/>
          </p:nvPicPr>
          <p:blipFill rotWithShape="1">
            <a:blip r:embed="rId3">
              <a:alphaModFix/>
            </a:blip>
            <a:srcRect b="40204" l="8629" r="80063" t="49555"/>
            <a:stretch/>
          </p:blipFill>
          <p:spPr>
            <a:xfrm>
              <a:off x="3213598" y="3545210"/>
              <a:ext cx="132571" cy="114557"/>
            </a:xfrm>
            <a:prstGeom prst="rect">
              <a:avLst/>
            </a:prstGeom>
            <a:noFill/>
            <a:ln>
              <a:noFill/>
            </a:ln>
          </p:spPr>
        </p:pic>
        <p:pic>
          <p:nvPicPr>
            <p:cNvPr id="956" name="Google Shape;956;p42"/>
            <p:cNvPicPr preferRelativeResize="0"/>
            <p:nvPr/>
          </p:nvPicPr>
          <p:blipFill rotWithShape="1">
            <a:blip r:embed="rId3">
              <a:alphaModFix/>
            </a:blip>
            <a:srcRect b="40204" l="8629" r="80063" t="49555"/>
            <a:stretch/>
          </p:blipFill>
          <p:spPr>
            <a:xfrm>
              <a:off x="3213598" y="3729884"/>
              <a:ext cx="132571" cy="114557"/>
            </a:xfrm>
            <a:prstGeom prst="rect">
              <a:avLst/>
            </a:prstGeom>
            <a:noFill/>
            <a:ln>
              <a:noFill/>
            </a:ln>
          </p:spPr>
        </p:pic>
      </p:grpSp>
      <p:grpSp>
        <p:nvGrpSpPr>
          <p:cNvPr id="957" name="Google Shape;957;p42"/>
          <p:cNvGrpSpPr/>
          <p:nvPr/>
        </p:nvGrpSpPr>
        <p:grpSpPr>
          <a:xfrm>
            <a:off x="3408122" y="4133362"/>
            <a:ext cx="1378292" cy="950777"/>
            <a:chOff x="3213598" y="2308543"/>
            <a:chExt cx="1524410" cy="1051573"/>
          </a:xfrm>
        </p:grpSpPr>
        <p:sp>
          <p:nvSpPr>
            <p:cNvPr id="958" name="Google Shape;958;p42"/>
            <p:cNvSpPr txBox="1"/>
            <p:nvPr/>
          </p:nvSpPr>
          <p:spPr>
            <a:xfrm>
              <a:off x="3298699" y="2898451"/>
              <a:ext cx="143930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Arial"/>
                  <a:ea typeface="Arial"/>
                  <a:cs typeface="Arial"/>
                  <a:sym typeface="Arial"/>
                </a:rPr>
                <a:t>DetalleReserva</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huesped: String</a:t>
              </a:r>
              <a:endParaRPr/>
            </a:p>
          </p:txBody>
        </p:sp>
        <p:sp>
          <p:nvSpPr>
            <p:cNvPr id="959" name="Google Shape;959;p42"/>
            <p:cNvSpPr/>
            <p:nvPr/>
          </p:nvSpPr>
          <p:spPr>
            <a:xfrm>
              <a:off x="3681551" y="2308543"/>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960" name="Google Shape;960;p42"/>
            <p:cNvCxnSpPr/>
            <p:nvPr/>
          </p:nvCxnSpPr>
          <p:spPr>
            <a:xfrm>
              <a:off x="3695578" y="2873954"/>
              <a:ext cx="527295" cy="0"/>
            </a:xfrm>
            <a:prstGeom prst="straightConnector1">
              <a:avLst/>
            </a:prstGeom>
            <a:noFill/>
            <a:ln cap="flat" cmpd="sng" w="38100">
              <a:solidFill>
                <a:schemeClr val="dk1"/>
              </a:solidFill>
              <a:prstDash val="solid"/>
              <a:round/>
              <a:headEnd len="sm" w="sm" type="none"/>
              <a:tailEnd len="sm" w="sm" type="none"/>
            </a:ln>
          </p:spPr>
        </p:cxnSp>
        <p:cxnSp>
          <p:nvCxnSpPr>
            <p:cNvPr id="961" name="Google Shape;961;p42"/>
            <p:cNvCxnSpPr/>
            <p:nvPr/>
          </p:nvCxnSpPr>
          <p:spPr>
            <a:xfrm>
              <a:off x="3278906" y="3157478"/>
              <a:ext cx="1459102" cy="0"/>
            </a:xfrm>
            <a:prstGeom prst="straightConnector1">
              <a:avLst/>
            </a:prstGeom>
            <a:noFill/>
            <a:ln cap="flat" cmpd="sng" w="19050">
              <a:solidFill>
                <a:schemeClr val="dk1"/>
              </a:solidFill>
              <a:prstDash val="solid"/>
              <a:round/>
              <a:headEnd len="sm" w="sm" type="none"/>
              <a:tailEnd len="sm" w="sm" type="none"/>
            </a:ln>
          </p:spPr>
        </p:cxnSp>
        <p:pic>
          <p:nvPicPr>
            <p:cNvPr id="962" name="Google Shape;962;p42"/>
            <p:cNvPicPr preferRelativeResize="0"/>
            <p:nvPr/>
          </p:nvPicPr>
          <p:blipFill rotWithShape="1">
            <a:blip r:embed="rId3">
              <a:alphaModFix/>
            </a:blip>
            <a:srcRect b="40204" l="8629" r="80063" t="49555"/>
            <a:stretch/>
          </p:blipFill>
          <p:spPr>
            <a:xfrm>
              <a:off x="3213598" y="3183323"/>
              <a:ext cx="132571" cy="114557"/>
            </a:xfrm>
            <a:prstGeom prst="rect">
              <a:avLst/>
            </a:prstGeom>
            <a:noFill/>
            <a:ln>
              <a:noFill/>
            </a:ln>
          </p:spPr>
        </p:pic>
      </p:grpSp>
      <p:grpSp>
        <p:nvGrpSpPr>
          <p:cNvPr id="963" name="Google Shape;963;p42"/>
          <p:cNvGrpSpPr/>
          <p:nvPr/>
        </p:nvGrpSpPr>
        <p:grpSpPr>
          <a:xfrm>
            <a:off x="5194839" y="2693083"/>
            <a:ext cx="1378734" cy="1618639"/>
            <a:chOff x="1255702" y="2308541"/>
            <a:chExt cx="1524899" cy="1790237"/>
          </a:xfrm>
        </p:grpSpPr>
        <p:sp>
          <p:nvSpPr>
            <p:cNvPr id="964" name="Google Shape;964;p42"/>
            <p:cNvSpPr txBox="1"/>
            <p:nvPr/>
          </p:nvSpPr>
          <p:spPr>
            <a:xfrm>
              <a:off x="1341292" y="2898449"/>
              <a:ext cx="1439309"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Arial"/>
                  <a:ea typeface="Arial"/>
                  <a:cs typeface="Arial"/>
                  <a:sym typeface="Arial"/>
                </a:rPr>
                <a:t>Habitacion</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nroHab: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Tipo: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Precio: Double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fechaReg: Date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fechaAct: Date</a:t>
              </a:r>
              <a:endParaRPr/>
            </a:p>
          </p:txBody>
        </p:sp>
        <p:sp>
          <p:nvSpPr>
            <p:cNvPr id="965" name="Google Shape;965;p42"/>
            <p:cNvSpPr/>
            <p:nvPr/>
          </p:nvSpPr>
          <p:spPr>
            <a:xfrm>
              <a:off x="1724144" y="2308541"/>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966" name="Google Shape;966;p42"/>
            <p:cNvCxnSpPr/>
            <p:nvPr/>
          </p:nvCxnSpPr>
          <p:spPr>
            <a:xfrm>
              <a:off x="1738171" y="2873952"/>
              <a:ext cx="527295" cy="0"/>
            </a:xfrm>
            <a:prstGeom prst="straightConnector1">
              <a:avLst/>
            </a:prstGeom>
            <a:noFill/>
            <a:ln cap="flat" cmpd="sng" w="38100">
              <a:solidFill>
                <a:schemeClr val="dk1"/>
              </a:solidFill>
              <a:prstDash val="solid"/>
              <a:round/>
              <a:headEnd len="sm" w="sm" type="none"/>
              <a:tailEnd len="sm" w="sm" type="none"/>
            </a:ln>
          </p:spPr>
        </p:cxnSp>
        <p:cxnSp>
          <p:nvCxnSpPr>
            <p:cNvPr id="967" name="Google Shape;967;p42"/>
            <p:cNvCxnSpPr/>
            <p:nvPr/>
          </p:nvCxnSpPr>
          <p:spPr>
            <a:xfrm>
              <a:off x="1321499" y="3157476"/>
              <a:ext cx="1459102" cy="0"/>
            </a:xfrm>
            <a:prstGeom prst="straightConnector1">
              <a:avLst/>
            </a:prstGeom>
            <a:noFill/>
            <a:ln cap="flat" cmpd="sng" w="19050">
              <a:solidFill>
                <a:schemeClr val="dk1"/>
              </a:solidFill>
              <a:prstDash val="solid"/>
              <a:round/>
              <a:headEnd len="sm" w="sm" type="none"/>
              <a:tailEnd len="sm" w="sm" type="none"/>
            </a:ln>
          </p:spPr>
        </p:cxnSp>
        <p:pic>
          <p:nvPicPr>
            <p:cNvPr id="968" name="Google Shape;968;p42"/>
            <p:cNvPicPr preferRelativeResize="0"/>
            <p:nvPr/>
          </p:nvPicPr>
          <p:blipFill rotWithShape="1">
            <a:blip r:embed="rId3">
              <a:alphaModFix/>
            </a:blip>
            <a:srcRect b="40204" l="8629" r="80063" t="49555"/>
            <a:stretch/>
          </p:blipFill>
          <p:spPr>
            <a:xfrm>
              <a:off x="1255702" y="3199223"/>
              <a:ext cx="132571" cy="114557"/>
            </a:xfrm>
            <a:prstGeom prst="rect">
              <a:avLst/>
            </a:prstGeom>
            <a:noFill/>
            <a:ln>
              <a:noFill/>
            </a:ln>
          </p:spPr>
        </p:pic>
        <p:pic>
          <p:nvPicPr>
            <p:cNvPr id="969" name="Google Shape;969;p42"/>
            <p:cNvPicPr preferRelativeResize="0"/>
            <p:nvPr/>
          </p:nvPicPr>
          <p:blipFill rotWithShape="1">
            <a:blip r:embed="rId3">
              <a:alphaModFix/>
            </a:blip>
            <a:srcRect b="40204" l="8629" r="80063" t="49555"/>
            <a:stretch/>
          </p:blipFill>
          <p:spPr>
            <a:xfrm>
              <a:off x="1255702" y="3379368"/>
              <a:ext cx="132571" cy="114557"/>
            </a:xfrm>
            <a:prstGeom prst="rect">
              <a:avLst/>
            </a:prstGeom>
            <a:noFill/>
            <a:ln>
              <a:noFill/>
            </a:ln>
          </p:spPr>
        </p:pic>
        <p:pic>
          <p:nvPicPr>
            <p:cNvPr id="970" name="Google Shape;970;p42"/>
            <p:cNvPicPr preferRelativeResize="0"/>
            <p:nvPr/>
          </p:nvPicPr>
          <p:blipFill rotWithShape="1">
            <a:blip r:embed="rId3">
              <a:alphaModFix/>
            </a:blip>
            <a:srcRect b="40204" l="8629" r="80063" t="49555"/>
            <a:stretch/>
          </p:blipFill>
          <p:spPr>
            <a:xfrm>
              <a:off x="1255702" y="3559513"/>
              <a:ext cx="132571" cy="114557"/>
            </a:xfrm>
            <a:prstGeom prst="rect">
              <a:avLst/>
            </a:prstGeom>
            <a:noFill/>
            <a:ln>
              <a:noFill/>
            </a:ln>
          </p:spPr>
        </p:pic>
        <p:pic>
          <p:nvPicPr>
            <p:cNvPr id="971" name="Google Shape;971;p42"/>
            <p:cNvPicPr preferRelativeResize="0"/>
            <p:nvPr/>
          </p:nvPicPr>
          <p:blipFill rotWithShape="1">
            <a:blip r:embed="rId3">
              <a:alphaModFix/>
            </a:blip>
            <a:srcRect b="40204" l="8629" r="80063" t="49555"/>
            <a:stretch/>
          </p:blipFill>
          <p:spPr>
            <a:xfrm>
              <a:off x="1255702" y="3739658"/>
              <a:ext cx="132571" cy="114557"/>
            </a:xfrm>
            <a:prstGeom prst="rect">
              <a:avLst/>
            </a:prstGeom>
            <a:noFill/>
            <a:ln>
              <a:noFill/>
            </a:ln>
          </p:spPr>
        </p:pic>
        <p:pic>
          <p:nvPicPr>
            <p:cNvPr id="972" name="Google Shape;972;p42"/>
            <p:cNvPicPr preferRelativeResize="0"/>
            <p:nvPr/>
          </p:nvPicPr>
          <p:blipFill rotWithShape="1">
            <a:blip r:embed="rId3">
              <a:alphaModFix/>
            </a:blip>
            <a:srcRect b="40204" l="8629" r="80063" t="49555"/>
            <a:stretch/>
          </p:blipFill>
          <p:spPr>
            <a:xfrm>
              <a:off x="1255702" y="3919803"/>
              <a:ext cx="132571" cy="114557"/>
            </a:xfrm>
            <a:prstGeom prst="rect">
              <a:avLst/>
            </a:prstGeom>
            <a:noFill/>
            <a:ln>
              <a:noFill/>
            </a:ln>
          </p:spPr>
        </p:pic>
      </p:grpSp>
      <p:grpSp>
        <p:nvGrpSpPr>
          <p:cNvPr id="973" name="Google Shape;973;p42"/>
          <p:cNvGrpSpPr/>
          <p:nvPr/>
        </p:nvGrpSpPr>
        <p:grpSpPr>
          <a:xfrm>
            <a:off x="6870800" y="1208958"/>
            <a:ext cx="1378292" cy="1284708"/>
            <a:chOff x="3213598" y="2308543"/>
            <a:chExt cx="1524410" cy="1420905"/>
          </a:xfrm>
        </p:grpSpPr>
        <p:sp>
          <p:nvSpPr>
            <p:cNvPr id="974" name="Google Shape;974;p42"/>
            <p:cNvSpPr txBox="1"/>
            <p:nvPr/>
          </p:nvSpPr>
          <p:spPr>
            <a:xfrm>
              <a:off x="3298699" y="2898451"/>
              <a:ext cx="1439309"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Arial"/>
                  <a:ea typeface="Arial"/>
                  <a:cs typeface="Arial"/>
                  <a:sym typeface="Arial"/>
                </a:rPr>
                <a:t>Categoria </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codCate: Integer</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nomCate: String</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descCate: String</a:t>
              </a:r>
              <a:endParaRPr/>
            </a:p>
          </p:txBody>
        </p:sp>
        <p:sp>
          <p:nvSpPr>
            <p:cNvPr id="975" name="Google Shape;975;p42"/>
            <p:cNvSpPr/>
            <p:nvPr/>
          </p:nvSpPr>
          <p:spPr>
            <a:xfrm>
              <a:off x="3681551" y="2308543"/>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976" name="Google Shape;976;p42"/>
            <p:cNvCxnSpPr/>
            <p:nvPr/>
          </p:nvCxnSpPr>
          <p:spPr>
            <a:xfrm>
              <a:off x="3695578" y="2873954"/>
              <a:ext cx="527295" cy="0"/>
            </a:xfrm>
            <a:prstGeom prst="straightConnector1">
              <a:avLst/>
            </a:prstGeom>
            <a:noFill/>
            <a:ln cap="flat" cmpd="sng" w="38100">
              <a:solidFill>
                <a:schemeClr val="dk1"/>
              </a:solidFill>
              <a:prstDash val="solid"/>
              <a:round/>
              <a:headEnd len="sm" w="sm" type="none"/>
              <a:tailEnd len="sm" w="sm" type="none"/>
            </a:ln>
          </p:spPr>
        </p:cxnSp>
        <p:cxnSp>
          <p:nvCxnSpPr>
            <p:cNvPr id="977" name="Google Shape;977;p42"/>
            <p:cNvCxnSpPr/>
            <p:nvPr/>
          </p:nvCxnSpPr>
          <p:spPr>
            <a:xfrm>
              <a:off x="3278906" y="3137649"/>
              <a:ext cx="1459102" cy="0"/>
            </a:xfrm>
            <a:prstGeom prst="straightConnector1">
              <a:avLst/>
            </a:prstGeom>
            <a:noFill/>
            <a:ln cap="flat" cmpd="sng" w="19050">
              <a:solidFill>
                <a:schemeClr val="dk1"/>
              </a:solidFill>
              <a:prstDash val="solid"/>
              <a:round/>
              <a:headEnd len="sm" w="sm" type="none"/>
              <a:tailEnd len="sm" w="sm" type="none"/>
            </a:ln>
          </p:spPr>
        </p:cxnSp>
        <p:pic>
          <p:nvPicPr>
            <p:cNvPr id="978" name="Google Shape;978;p42"/>
            <p:cNvPicPr preferRelativeResize="0"/>
            <p:nvPr/>
          </p:nvPicPr>
          <p:blipFill rotWithShape="1">
            <a:blip r:embed="rId3">
              <a:alphaModFix/>
            </a:blip>
            <a:srcRect b="40204" l="8629" r="80063" t="49555"/>
            <a:stretch/>
          </p:blipFill>
          <p:spPr>
            <a:xfrm>
              <a:off x="3213598" y="3183323"/>
              <a:ext cx="132571" cy="114557"/>
            </a:xfrm>
            <a:prstGeom prst="rect">
              <a:avLst/>
            </a:prstGeom>
            <a:noFill/>
            <a:ln>
              <a:noFill/>
            </a:ln>
          </p:spPr>
        </p:pic>
        <p:pic>
          <p:nvPicPr>
            <p:cNvPr id="979" name="Google Shape;979;p42"/>
            <p:cNvPicPr preferRelativeResize="0"/>
            <p:nvPr/>
          </p:nvPicPr>
          <p:blipFill rotWithShape="1">
            <a:blip r:embed="rId3">
              <a:alphaModFix/>
            </a:blip>
            <a:srcRect b="40204" l="8629" r="80063" t="49555"/>
            <a:stretch/>
          </p:blipFill>
          <p:spPr>
            <a:xfrm>
              <a:off x="3213598" y="3362270"/>
              <a:ext cx="132571" cy="114557"/>
            </a:xfrm>
            <a:prstGeom prst="rect">
              <a:avLst/>
            </a:prstGeom>
            <a:noFill/>
            <a:ln>
              <a:noFill/>
            </a:ln>
          </p:spPr>
        </p:pic>
        <p:pic>
          <p:nvPicPr>
            <p:cNvPr id="980" name="Google Shape;980;p42"/>
            <p:cNvPicPr preferRelativeResize="0"/>
            <p:nvPr/>
          </p:nvPicPr>
          <p:blipFill rotWithShape="1">
            <a:blip r:embed="rId3">
              <a:alphaModFix/>
            </a:blip>
            <a:srcRect b="40204" l="8629" r="80063" t="49555"/>
            <a:stretch/>
          </p:blipFill>
          <p:spPr>
            <a:xfrm>
              <a:off x="3213598" y="3545210"/>
              <a:ext cx="132571" cy="114557"/>
            </a:xfrm>
            <a:prstGeom prst="rect">
              <a:avLst/>
            </a:prstGeom>
            <a:noFill/>
            <a:ln>
              <a:noFill/>
            </a:ln>
          </p:spPr>
        </p:pic>
      </p:grpSp>
      <p:grpSp>
        <p:nvGrpSpPr>
          <p:cNvPr id="981" name="Google Shape;981;p42"/>
          <p:cNvGrpSpPr/>
          <p:nvPr/>
        </p:nvGrpSpPr>
        <p:grpSpPr>
          <a:xfrm>
            <a:off x="6870424" y="3631004"/>
            <a:ext cx="1675929" cy="1451673"/>
            <a:chOff x="3212011" y="2308543"/>
            <a:chExt cx="1525997" cy="1605571"/>
          </a:xfrm>
        </p:grpSpPr>
        <p:sp>
          <p:nvSpPr>
            <p:cNvPr id="982" name="Google Shape;982;p42"/>
            <p:cNvSpPr txBox="1"/>
            <p:nvPr/>
          </p:nvSpPr>
          <p:spPr>
            <a:xfrm>
              <a:off x="3298699" y="2898451"/>
              <a:ext cx="1439309"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Arial"/>
                  <a:ea typeface="Arial"/>
                  <a:cs typeface="Arial"/>
                  <a:sym typeface="Arial"/>
                </a:rPr>
                <a:t>disponibilidadXHab</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ntoReg: Integer</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fechaIni: Date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fechaFin: Date</a:t>
              </a:r>
              <a:endParaRPr/>
            </a:p>
            <a:p>
              <a:pPr indent="0" lvl="0" marL="0" marR="0" rtl="0" algn="l">
                <a:lnSpc>
                  <a:spcPct val="100000"/>
                </a:lnSpc>
                <a:spcBef>
                  <a:spcPts val="0"/>
                </a:spcBef>
                <a:spcAft>
                  <a:spcPts val="0"/>
                </a:spcAft>
                <a:buNone/>
              </a:pPr>
              <a:r>
                <a:rPr b="0" i="0" lang="es-PE" sz="1200" u="none" cap="none" strike="noStrike">
                  <a:solidFill>
                    <a:schemeClr val="dk1"/>
                  </a:solidFill>
                  <a:latin typeface="Arial"/>
                  <a:ea typeface="Arial"/>
                  <a:cs typeface="Arial"/>
                  <a:sym typeface="Arial"/>
                </a:rPr>
                <a:t>Estado: String</a:t>
              </a:r>
              <a:endParaRPr/>
            </a:p>
          </p:txBody>
        </p:sp>
        <p:sp>
          <p:nvSpPr>
            <p:cNvPr id="983" name="Google Shape;983;p42"/>
            <p:cNvSpPr/>
            <p:nvPr/>
          </p:nvSpPr>
          <p:spPr>
            <a:xfrm>
              <a:off x="3681551" y="2308543"/>
              <a:ext cx="555348" cy="555343"/>
            </a:xfrm>
            <a:prstGeom prst="ellipse">
              <a:avLst/>
            </a:prstGeom>
            <a:solidFill>
              <a:srgbClr val="2EB1B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cxnSp>
          <p:nvCxnSpPr>
            <p:cNvPr id="984" name="Google Shape;984;p42"/>
            <p:cNvCxnSpPr/>
            <p:nvPr/>
          </p:nvCxnSpPr>
          <p:spPr>
            <a:xfrm>
              <a:off x="3695578" y="2873954"/>
              <a:ext cx="527295" cy="0"/>
            </a:xfrm>
            <a:prstGeom prst="straightConnector1">
              <a:avLst/>
            </a:prstGeom>
            <a:noFill/>
            <a:ln cap="flat" cmpd="sng" w="38100">
              <a:solidFill>
                <a:schemeClr val="dk1"/>
              </a:solidFill>
              <a:prstDash val="solid"/>
              <a:round/>
              <a:headEnd len="sm" w="sm" type="none"/>
              <a:tailEnd len="sm" w="sm" type="none"/>
            </a:ln>
          </p:spPr>
        </p:cxnSp>
        <p:cxnSp>
          <p:nvCxnSpPr>
            <p:cNvPr id="985" name="Google Shape;985;p42"/>
            <p:cNvCxnSpPr/>
            <p:nvPr/>
          </p:nvCxnSpPr>
          <p:spPr>
            <a:xfrm>
              <a:off x="3278906" y="3150867"/>
              <a:ext cx="1459102" cy="0"/>
            </a:xfrm>
            <a:prstGeom prst="straightConnector1">
              <a:avLst/>
            </a:prstGeom>
            <a:noFill/>
            <a:ln cap="flat" cmpd="sng" w="19050">
              <a:solidFill>
                <a:schemeClr val="dk1"/>
              </a:solidFill>
              <a:prstDash val="solid"/>
              <a:round/>
              <a:headEnd len="sm" w="sm" type="none"/>
              <a:tailEnd len="sm" w="sm" type="none"/>
            </a:ln>
          </p:spPr>
        </p:cxnSp>
        <p:pic>
          <p:nvPicPr>
            <p:cNvPr id="986" name="Google Shape;986;p42"/>
            <p:cNvPicPr preferRelativeResize="0"/>
            <p:nvPr/>
          </p:nvPicPr>
          <p:blipFill rotWithShape="1">
            <a:blip r:embed="rId3">
              <a:alphaModFix/>
            </a:blip>
            <a:srcRect b="40204" l="8629" r="80063" t="49555"/>
            <a:stretch/>
          </p:blipFill>
          <p:spPr>
            <a:xfrm>
              <a:off x="3212011" y="3183323"/>
              <a:ext cx="132571" cy="114557"/>
            </a:xfrm>
            <a:prstGeom prst="rect">
              <a:avLst/>
            </a:prstGeom>
            <a:noFill/>
            <a:ln>
              <a:noFill/>
            </a:ln>
          </p:spPr>
        </p:pic>
        <p:pic>
          <p:nvPicPr>
            <p:cNvPr id="987" name="Google Shape;987;p42"/>
            <p:cNvPicPr preferRelativeResize="0"/>
            <p:nvPr/>
          </p:nvPicPr>
          <p:blipFill rotWithShape="1">
            <a:blip r:embed="rId3">
              <a:alphaModFix/>
            </a:blip>
            <a:srcRect b="40204" l="8629" r="80063" t="49555"/>
            <a:stretch/>
          </p:blipFill>
          <p:spPr>
            <a:xfrm>
              <a:off x="3212011" y="3362270"/>
              <a:ext cx="132571" cy="114557"/>
            </a:xfrm>
            <a:prstGeom prst="rect">
              <a:avLst/>
            </a:prstGeom>
            <a:noFill/>
            <a:ln>
              <a:noFill/>
            </a:ln>
          </p:spPr>
        </p:pic>
        <p:pic>
          <p:nvPicPr>
            <p:cNvPr id="988" name="Google Shape;988;p42"/>
            <p:cNvPicPr preferRelativeResize="0"/>
            <p:nvPr/>
          </p:nvPicPr>
          <p:blipFill rotWithShape="1">
            <a:blip r:embed="rId3">
              <a:alphaModFix/>
            </a:blip>
            <a:srcRect b="40204" l="8629" r="80063" t="49555"/>
            <a:stretch/>
          </p:blipFill>
          <p:spPr>
            <a:xfrm>
              <a:off x="3212011" y="3545210"/>
              <a:ext cx="132571" cy="114557"/>
            </a:xfrm>
            <a:prstGeom prst="rect">
              <a:avLst/>
            </a:prstGeom>
            <a:noFill/>
            <a:ln>
              <a:noFill/>
            </a:ln>
          </p:spPr>
        </p:pic>
        <p:pic>
          <p:nvPicPr>
            <p:cNvPr id="989" name="Google Shape;989;p42"/>
            <p:cNvPicPr preferRelativeResize="0"/>
            <p:nvPr/>
          </p:nvPicPr>
          <p:blipFill rotWithShape="1">
            <a:blip r:embed="rId3">
              <a:alphaModFix/>
            </a:blip>
            <a:srcRect b="40204" l="8629" r="80063" t="49555"/>
            <a:stretch/>
          </p:blipFill>
          <p:spPr>
            <a:xfrm>
              <a:off x="3212011" y="3727465"/>
              <a:ext cx="132571" cy="114557"/>
            </a:xfrm>
            <a:prstGeom prst="rect">
              <a:avLst/>
            </a:prstGeom>
            <a:noFill/>
            <a:ln>
              <a:noFill/>
            </a:ln>
          </p:spPr>
        </p:pic>
      </p:grpSp>
      <p:sp>
        <p:nvSpPr>
          <p:cNvPr id="990" name="Google Shape;990;p42"/>
          <p:cNvSpPr/>
          <p:nvPr/>
        </p:nvSpPr>
        <p:spPr>
          <a:xfrm flipH="1" rot="5400000">
            <a:off x="5771105" y="1397405"/>
            <a:ext cx="1347284" cy="1181567"/>
          </a:xfrm>
          <a:prstGeom prst="bentUpArrow">
            <a:avLst>
              <a:gd fmla="val 3187" name="adj1"/>
              <a:gd fmla="val 5699" name="adj2"/>
              <a:gd fmla="val 9133" name="adj3"/>
            </a:avLst>
          </a:prstGeom>
          <a:solidFill>
            <a:srgbClr val="63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91" name="Google Shape;991;p42"/>
          <p:cNvSpPr/>
          <p:nvPr/>
        </p:nvSpPr>
        <p:spPr>
          <a:xfrm rot="-5400000">
            <a:off x="2317473" y="1671179"/>
            <a:ext cx="981090" cy="924955"/>
          </a:xfrm>
          <a:prstGeom prst="bentUpArrow">
            <a:avLst>
              <a:gd fmla="val 3351" name="adj1"/>
              <a:gd fmla="val 6368" name="adj2"/>
              <a:gd fmla="val 9245" name="adj3"/>
            </a:avLst>
          </a:prstGeom>
          <a:solidFill>
            <a:srgbClr val="63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992" name="Google Shape;992;p42"/>
          <p:cNvCxnSpPr/>
          <p:nvPr/>
        </p:nvCxnSpPr>
        <p:spPr>
          <a:xfrm rot="10800000">
            <a:off x="6323693" y="3079607"/>
            <a:ext cx="904262" cy="511234"/>
          </a:xfrm>
          <a:prstGeom prst="straightConnector1">
            <a:avLst/>
          </a:prstGeom>
          <a:noFill/>
          <a:ln cap="flat" cmpd="sng" w="38100">
            <a:solidFill>
              <a:srgbClr val="634E97"/>
            </a:solidFill>
            <a:prstDash val="solid"/>
            <a:round/>
            <a:headEnd len="sm" w="sm" type="none"/>
            <a:tailEnd len="med" w="med" type="triangle"/>
          </a:ln>
        </p:spPr>
      </p:cxnSp>
      <p:cxnSp>
        <p:nvCxnSpPr>
          <p:cNvPr id="993" name="Google Shape;993;p42"/>
          <p:cNvCxnSpPr/>
          <p:nvPr/>
        </p:nvCxnSpPr>
        <p:spPr>
          <a:xfrm>
            <a:off x="3670827" y="2964351"/>
            <a:ext cx="1774812" cy="0"/>
          </a:xfrm>
          <a:prstGeom prst="straightConnector1">
            <a:avLst/>
          </a:prstGeom>
          <a:noFill/>
          <a:ln cap="flat" cmpd="sng" w="38100">
            <a:solidFill>
              <a:srgbClr val="634E97"/>
            </a:solidFill>
            <a:prstDash val="solid"/>
            <a:round/>
            <a:headEnd len="sm" w="sm" type="none"/>
            <a:tailEnd len="sm" w="sm" type="none"/>
          </a:ln>
        </p:spPr>
      </p:cxnSp>
      <p:cxnSp>
        <p:nvCxnSpPr>
          <p:cNvPr id="994" name="Google Shape;994;p42"/>
          <p:cNvCxnSpPr/>
          <p:nvPr/>
        </p:nvCxnSpPr>
        <p:spPr>
          <a:xfrm flipH="1" rot="10800000">
            <a:off x="4135739" y="2964352"/>
            <a:ext cx="568191" cy="1074459"/>
          </a:xfrm>
          <a:prstGeom prst="straightConnector1">
            <a:avLst/>
          </a:prstGeom>
          <a:noFill/>
          <a:ln cap="flat" cmpd="sng" w="38100">
            <a:solidFill>
              <a:srgbClr val="634E97"/>
            </a:solidFill>
            <a:prstDash val="dash"/>
            <a:round/>
            <a:headEnd len="sm" w="sm" type="none"/>
            <a:tailEnd len="sm" w="sm" type="none"/>
          </a:ln>
        </p:spPr>
      </p:cxnSp>
      <p:sp>
        <p:nvSpPr>
          <p:cNvPr id="995" name="Google Shape;995;p42"/>
          <p:cNvSpPr/>
          <p:nvPr/>
        </p:nvSpPr>
        <p:spPr>
          <a:xfrm>
            <a:off x="3381427" y="1862466"/>
            <a:ext cx="727975"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solicita</a:t>
            </a:r>
            <a:endParaRPr/>
          </a:p>
        </p:txBody>
      </p:sp>
      <p:sp>
        <p:nvSpPr>
          <p:cNvPr id="996" name="Google Shape;996;p42"/>
          <p:cNvSpPr/>
          <p:nvPr/>
        </p:nvSpPr>
        <p:spPr>
          <a:xfrm>
            <a:off x="4455185" y="1707223"/>
            <a:ext cx="727975"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especifica</a:t>
            </a:r>
            <a:endParaRPr/>
          </a:p>
        </p:txBody>
      </p:sp>
      <p:sp>
        <p:nvSpPr>
          <p:cNvPr id="997" name="Google Shape;997;p42"/>
          <p:cNvSpPr/>
          <p:nvPr/>
        </p:nvSpPr>
        <p:spPr>
          <a:xfrm>
            <a:off x="6506802" y="2851751"/>
            <a:ext cx="1286515" cy="184666"/>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-corresponde a</a:t>
            </a:r>
            <a:endParaRPr/>
          </a:p>
        </p:txBody>
      </p:sp>
      <p:sp>
        <p:nvSpPr>
          <p:cNvPr id="998" name="Google Shape;998;p42"/>
          <p:cNvSpPr/>
          <p:nvPr/>
        </p:nvSpPr>
        <p:spPr>
          <a:xfrm>
            <a:off x="7203006" y="3371497"/>
            <a:ext cx="903374"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-tiene a</a:t>
            </a:r>
            <a:endParaRPr/>
          </a:p>
        </p:txBody>
      </p:sp>
      <p:sp>
        <p:nvSpPr>
          <p:cNvPr id="999" name="Google Shape;999;p42"/>
          <p:cNvSpPr/>
          <p:nvPr/>
        </p:nvSpPr>
        <p:spPr>
          <a:xfrm>
            <a:off x="6347636" y="2837589"/>
            <a:ext cx="163318"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b="0" i="0" sz="1200" u="none" cap="none" strike="noStrike">
              <a:solidFill>
                <a:srgbClr val="000000"/>
              </a:solidFill>
              <a:latin typeface="Arial"/>
              <a:ea typeface="Arial"/>
              <a:cs typeface="Arial"/>
              <a:sym typeface="Arial"/>
            </a:endParaRPr>
          </a:p>
        </p:txBody>
      </p:sp>
      <p:sp>
        <p:nvSpPr>
          <p:cNvPr id="1000" name="Google Shape;1000;p42"/>
          <p:cNvSpPr/>
          <p:nvPr/>
        </p:nvSpPr>
        <p:spPr>
          <a:xfrm>
            <a:off x="7070054" y="3611823"/>
            <a:ext cx="235409"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a:p>
        </p:txBody>
      </p:sp>
      <p:sp>
        <p:nvSpPr>
          <p:cNvPr id="1001" name="Google Shape;1001;p42"/>
          <p:cNvSpPr/>
          <p:nvPr/>
        </p:nvSpPr>
        <p:spPr>
          <a:xfrm>
            <a:off x="5932600" y="2348561"/>
            <a:ext cx="235409"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a:p>
        </p:txBody>
      </p:sp>
      <p:sp>
        <p:nvSpPr>
          <p:cNvPr id="1002" name="Google Shape;1002;p42"/>
          <p:cNvSpPr/>
          <p:nvPr/>
        </p:nvSpPr>
        <p:spPr>
          <a:xfrm>
            <a:off x="5213395" y="2772988"/>
            <a:ext cx="235409"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a:p>
        </p:txBody>
      </p:sp>
      <p:sp>
        <p:nvSpPr>
          <p:cNvPr id="1003" name="Google Shape;1003;p42"/>
          <p:cNvSpPr/>
          <p:nvPr/>
        </p:nvSpPr>
        <p:spPr>
          <a:xfrm>
            <a:off x="3670827" y="2770623"/>
            <a:ext cx="235409"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a:p>
        </p:txBody>
      </p:sp>
      <p:sp>
        <p:nvSpPr>
          <p:cNvPr id="1004" name="Google Shape;1004;p42"/>
          <p:cNvSpPr/>
          <p:nvPr/>
        </p:nvSpPr>
        <p:spPr>
          <a:xfrm>
            <a:off x="3311503" y="2482682"/>
            <a:ext cx="235409"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a:p>
        </p:txBody>
      </p:sp>
      <p:sp>
        <p:nvSpPr>
          <p:cNvPr id="1005" name="Google Shape;1005;p42"/>
          <p:cNvSpPr/>
          <p:nvPr/>
        </p:nvSpPr>
        <p:spPr>
          <a:xfrm>
            <a:off x="2505339" y="1519865"/>
            <a:ext cx="163318" cy="166965"/>
          </a:xfrm>
          <a:prstGeom prst="rect">
            <a:avLst/>
          </a:prstGeom>
          <a:noFill/>
          <a:ln>
            <a:noFill/>
          </a:ln>
        </p:spPr>
        <p:txBody>
          <a:bodyPr anchorCtr="0" anchor="t" bIns="0" lIns="0" spcFirstLastPara="1" rIns="0" wrap="square" tIns="0">
            <a:spAutoFit/>
          </a:bodyPr>
          <a:lstStyle/>
          <a:p>
            <a:pPr indent="0" lvl="0" marL="9525" marR="0" rtl="0" algn="l">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a:p>
        </p:txBody>
      </p:sp>
      <p:sp>
        <p:nvSpPr>
          <p:cNvPr id="1006" name="Google Shape;1006;p42"/>
          <p:cNvSpPr/>
          <p:nvPr/>
        </p:nvSpPr>
        <p:spPr>
          <a:xfrm>
            <a:off x="6660082" y="1189042"/>
            <a:ext cx="163318" cy="166965"/>
          </a:xfrm>
          <a:prstGeom prst="rect">
            <a:avLst/>
          </a:prstGeom>
          <a:noFill/>
          <a:ln>
            <a:noFill/>
          </a:ln>
        </p:spPr>
        <p:txBody>
          <a:bodyPr anchorCtr="0" anchor="t" bIns="0" lIns="0" spcFirstLastPara="1" rIns="0" wrap="square" tIns="0">
            <a:spAutoFit/>
          </a:bodyPr>
          <a:lstStyle/>
          <a:p>
            <a:pPr indent="0" lvl="0" marL="9525" marR="0" rtl="0" algn="r">
              <a:lnSpc>
                <a:spcPct val="100000"/>
              </a:lnSpc>
              <a:spcBef>
                <a:spcPts val="0"/>
              </a:spcBef>
              <a:spcAft>
                <a:spcPts val="0"/>
              </a:spcAft>
              <a:buClr>
                <a:srgbClr val="000000"/>
              </a:buClr>
              <a:buSzPts val="1200"/>
              <a:buFont typeface="Arial"/>
              <a:buNone/>
            </a:pPr>
            <a:r>
              <a:rPr b="0" i="0" lang="es-PE" sz="1200" u="none" cap="none" strike="noStrike">
                <a:solidFill>
                  <a:srgbClr val="000000"/>
                </a:solidFill>
                <a:latin typeface="Arial"/>
                <a:ea typeface="Arial"/>
                <a:cs typeface="Arial"/>
                <a:sym typeface="Arial"/>
              </a:rPr>
              <a:t>1</a:t>
            </a:r>
            <a:endParaRPr b="0" i="0" sz="1200" u="none" cap="none" strike="noStrike">
              <a:solidFill>
                <a:srgbClr val="000000"/>
              </a:solidFill>
              <a:latin typeface="Arial"/>
              <a:ea typeface="Arial"/>
              <a:cs typeface="Arial"/>
              <a:sym typeface="Arial"/>
            </a:endParaRPr>
          </a:p>
        </p:txBody>
      </p:sp>
      <p:sp>
        <p:nvSpPr>
          <p:cNvPr id="1007" name="Google Shape;1007;p42"/>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grpSp>
        <p:nvGrpSpPr>
          <p:cNvPr id="1012" name="Google Shape;1012;p43"/>
          <p:cNvGrpSpPr/>
          <p:nvPr/>
        </p:nvGrpSpPr>
        <p:grpSpPr>
          <a:xfrm rot="-5400000">
            <a:off x="5937842" y="3043170"/>
            <a:ext cx="196677" cy="1314312"/>
            <a:chOff x="4504115" y="3254459"/>
            <a:chExt cx="196677" cy="1314312"/>
          </a:xfrm>
        </p:grpSpPr>
        <p:cxnSp>
          <p:nvCxnSpPr>
            <p:cNvPr id="1013" name="Google Shape;1013;p43"/>
            <p:cNvCxnSpPr/>
            <p:nvPr/>
          </p:nvCxnSpPr>
          <p:spPr>
            <a:xfrm>
              <a:off x="4523590" y="4359358"/>
              <a:ext cx="144179" cy="0"/>
            </a:xfrm>
            <a:prstGeom prst="straightConnector1">
              <a:avLst/>
            </a:prstGeom>
            <a:noFill/>
            <a:ln cap="flat" cmpd="sng" w="38100">
              <a:solidFill>
                <a:srgbClr val="634E97"/>
              </a:solidFill>
              <a:prstDash val="solid"/>
              <a:round/>
              <a:headEnd len="sm" w="sm" type="none"/>
              <a:tailEnd len="sm" w="sm" type="none"/>
            </a:ln>
          </p:spPr>
        </p:cxnSp>
        <p:cxnSp>
          <p:nvCxnSpPr>
            <p:cNvPr id="1014" name="Google Shape;1014;p43"/>
            <p:cNvCxnSpPr/>
            <p:nvPr/>
          </p:nvCxnSpPr>
          <p:spPr>
            <a:xfrm>
              <a:off x="4595009" y="4359358"/>
              <a:ext cx="0" cy="182936"/>
            </a:xfrm>
            <a:prstGeom prst="straightConnector1">
              <a:avLst/>
            </a:prstGeom>
            <a:noFill/>
            <a:ln cap="flat" cmpd="sng" w="38100">
              <a:solidFill>
                <a:srgbClr val="634E97"/>
              </a:solidFill>
              <a:prstDash val="solid"/>
              <a:round/>
              <a:headEnd len="sm" w="sm" type="none"/>
              <a:tailEnd len="sm" w="sm" type="none"/>
            </a:ln>
          </p:spPr>
        </p:cxnSp>
        <p:cxnSp>
          <p:nvCxnSpPr>
            <p:cNvPr id="1015" name="Google Shape;1015;p43"/>
            <p:cNvCxnSpPr/>
            <p:nvPr/>
          </p:nvCxnSpPr>
          <p:spPr>
            <a:xfrm>
              <a:off x="4591622" y="4359358"/>
              <a:ext cx="109170" cy="209413"/>
            </a:xfrm>
            <a:prstGeom prst="straightConnector1">
              <a:avLst/>
            </a:prstGeom>
            <a:noFill/>
            <a:ln cap="flat" cmpd="sng" w="38100">
              <a:solidFill>
                <a:srgbClr val="634E97"/>
              </a:solidFill>
              <a:prstDash val="solid"/>
              <a:round/>
              <a:headEnd len="sm" w="sm" type="none"/>
              <a:tailEnd len="sm" w="sm" type="none"/>
            </a:ln>
          </p:spPr>
        </p:cxnSp>
        <p:cxnSp>
          <p:nvCxnSpPr>
            <p:cNvPr id="1016" name="Google Shape;1016;p43"/>
            <p:cNvCxnSpPr/>
            <p:nvPr/>
          </p:nvCxnSpPr>
          <p:spPr>
            <a:xfrm flipH="1">
              <a:off x="4504115" y="4364723"/>
              <a:ext cx="93916" cy="180958"/>
            </a:xfrm>
            <a:prstGeom prst="straightConnector1">
              <a:avLst/>
            </a:prstGeom>
            <a:noFill/>
            <a:ln cap="flat" cmpd="sng" w="38100">
              <a:solidFill>
                <a:srgbClr val="634E97"/>
              </a:solidFill>
              <a:prstDash val="solid"/>
              <a:round/>
              <a:headEnd len="sm" w="sm" type="none"/>
              <a:tailEnd len="sm" w="sm" type="none"/>
            </a:ln>
          </p:spPr>
        </p:cxnSp>
        <p:cxnSp>
          <p:nvCxnSpPr>
            <p:cNvPr id="1017" name="Google Shape;1017;p43"/>
            <p:cNvCxnSpPr/>
            <p:nvPr/>
          </p:nvCxnSpPr>
          <p:spPr>
            <a:xfrm>
              <a:off x="4524735" y="3254459"/>
              <a:ext cx="144179" cy="0"/>
            </a:xfrm>
            <a:prstGeom prst="straightConnector1">
              <a:avLst/>
            </a:prstGeom>
            <a:noFill/>
            <a:ln cap="flat" cmpd="sng" w="38100">
              <a:solidFill>
                <a:srgbClr val="634E97"/>
              </a:solidFill>
              <a:prstDash val="solid"/>
              <a:round/>
              <a:headEnd len="sm" w="sm" type="none"/>
              <a:tailEnd len="sm" w="sm" type="none"/>
            </a:ln>
          </p:spPr>
        </p:cxnSp>
      </p:grpSp>
      <p:cxnSp>
        <p:nvCxnSpPr>
          <p:cNvPr id="1018" name="Google Shape;1018;p43"/>
          <p:cNvCxnSpPr/>
          <p:nvPr/>
        </p:nvCxnSpPr>
        <p:spPr>
          <a:xfrm>
            <a:off x="2685033" y="4298824"/>
            <a:ext cx="109170" cy="209413"/>
          </a:xfrm>
          <a:prstGeom prst="straightConnector1">
            <a:avLst/>
          </a:prstGeom>
          <a:noFill/>
          <a:ln cap="flat" cmpd="sng" w="38100">
            <a:solidFill>
              <a:srgbClr val="634E97"/>
            </a:solidFill>
            <a:prstDash val="solid"/>
            <a:round/>
            <a:headEnd len="sm" w="sm" type="none"/>
            <a:tailEnd len="sm" w="sm" type="none"/>
          </a:ln>
        </p:spPr>
      </p:cxnSp>
      <p:cxnSp>
        <p:nvCxnSpPr>
          <p:cNvPr id="1019" name="Google Shape;1019;p43"/>
          <p:cNvCxnSpPr/>
          <p:nvPr/>
        </p:nvCxnSpPr>
        <p:spPr>
          <a:xfrm flipH="1" rot="10800000">
            <a:off x="2525975" y="3707537"/>
            <a:ext cx="1134300" cy="1099200"/>
          </a:xfrm>
          <a:prstGeom prst="bentConnector3">
            <a:avLst>
              <a:gd fmla="val 49996" name="adj1"/>
            </a:avLst>
          </a:prstGeom>
          <a:noFill/>
          <a:ln cap="flat" cmpd="sng" w="38100">
            <a:solidFill>
              <a:srgbClr val="634E97"/>
            </a:solidFill>
            <a:prstDash val="solid"/>
            <a:round/>
            <a:headEnd len="sm" w="sm" type="none"/>
            <a:tailEnd len="sm" w="sm" type="none"/>
          </a:ln>
        </p:spPr>
      </p:cxnSp>
      <p:cxnSp>
        <p:nvCxnSpPr>
          <p:cNvPr id="1020" name="Google Shape;1020;p43"/>
          <p:cNvCxnSpPr/>
          <p:nvPr/>
        </p:nvCxnSpPr>
        <p:spPr>
          <a:xfrm rot="10800000">
            <a:off x="2122079" y="3707537"/>
            <a:ext cx="1134300" cy="1099200"/>
          </a:xfrm>
          <a:prstGeom prst="bentConnector3">
            <a:avLst>
              <a:gd fmla="val 49996" name="adj1"/>
            </a:avLst>
          </a:prstGeom>
          <a:noFill/>
          <a:ln cap="flat" cmpd="sng" w="38100">
            <a:solidFill>
              <a:srgbClr val="634E97"/>
            </a:solidFill>
            <a:prstDash val="solid"/>
            <a:round/>
            <a:headEnd len="sm" w="sm" type="none"/>
            <a:tailEnd len="sm" w="sm" type="none"/>
          </a:ln>
        </p:spPr>
      </p:cxnSp>
      <p:cxnSp>
        <p:nvCxnSpPr>
          <p:cNvPr id="1021" name="Google Shape;1021;p43"/>
          <p:cNvCxnSpPr/>
          <p:nvPr/>
        </p:nvCxnSpPr>
        <p:spPr>
          <a:xfrm flipH="1" rot="10800000">
            <a:off x="3644303" y="1491581"/>
            <a:ext cx="2554800" cy="1604100"/>
          </a:xfrm>
          <a:prstGeom prst="bentConnector3">
            <a:avLst>
              <a:gd fmla="val 25353" name="adj1"/>
            </a:avLst>
          </a:prstGeom>
          <a:noFill/>
          <a:ln cap="flat" cmpd="sng" w="28575">
            <a:solidFill>
              <a:srgbClr val="634E97"/>
            </a:solidFill>
            <a:prstDash val="dash"/>
            <a:round/>
            <a:headEnd len="sm" w="sm" type="none"/>
            <a:tailEnd len="sm" w="sm" type="none"/>
          </a:ln>
        </p:spPr>
      </p:cxnSp>
      <p:cxnSp>
        <p:nvCxnSpPr>
          <p:cNvPr id="1022" name="Google Shape;1022;p43"/>
          <p:cNvCxnSpPr/>
          <p:nvPr/>
        </p:nvCxnSpPr>
        <p:spPr>
          <a:xfrm>
            <a:off x="4219659" y="2819253"/>
            <a:ext cx="144179" cy="0"/>
          </a:xfrm>
          <a:prstGeom prst="straightConnector1">
            <a:avLst/>
          </a:prstGeom>
          <a:noFill/>
          <a:ln cap="flat" cmpd="sng" w="38100">
            <a:solidFill>
              <a:srgbClr val="634E97"/>
            </a:solidFill>
            <a:prstDash val="solid"/>
            <a:round/>
            <a:headEnd len="sm" w="sm" type="none"/>
            <a:tailEnd len="sm" w="sm" type="none"/>
          </a:ln>
        </p:spPr>
      </p:cxnSp>
      <p:cxnSp>
        <p:nvCxnSpPr>
          <p:cNvPr id="1023" name="Google Shape;1023;p43"/>
          <p:cNvCxnSpPr/>
          <p:nvPr/>
        </p:nvCxnSpPr>
        <p:spPr>
          <a:xfrm>
            <a:off x="4291078" y="2819253"/>
            <a:ext cx="0" cy="182936"/>
          </a:xfrm>
          <a:prstGeom prst="straightConnector1">
            <a:avLst/>
          </a:prstGeom>
          <a:noFill/>
          <a:ln cap="flat" cmpd="sng" w="38100">
            <a:solidFill>
              <a:srgbClr val="634E97"/>
            </a:solidFill>
            <a:prstDash val="solid"/>
            <a:round/>
            <a:headEnd len="sm" w="sm" type="none"/>
            <a:tailEnd len="sm" w="sm" type="none"/>
          </a:ln>
        </p:spPr>
      </p:cxnSp>
      <p:cxnSp>
        <p:nvCxnSpPr>
          <p:cNvPr id="1024" name="Google Shape;1024;p43"/>
          <p:cNvCxnSpPr/>
          <p:nvPr/>
        </p:nvCxnSpPr>
        <p:spPr>
          <a:xfrm>
            <a:off x="4287691" y="2819253"/>
            <a:ext cx="109170" cy="209413"/>
          </a:xfrm>
          <a:prstGeom prst="straightConnector1">
            <a:avLst/>
          </a:prstGeom>
          <a:noFill/>
          <a:ln cap="flat" cmpd="sng" w="38100">
            <a:solidFill>
              <a:srgbClr val="634E97"/>
            </a:solidFill>
            <a:prstDash val="solid"/>
            <a:round/>
            <a:headEnd len="sm" w="sm" type="none"/>
            <a:tailEnd len="sm" w="sm" type="none"/>
          </a:ln>
        </p:spPr>
      </p:cxnSp>
      <p:cxnSp>
        <p:nvCxnSpPr>
          <p:cNvPr id="1025" name="Google Shape;1025;p43"/>
          <p:cNvCxnSpPr/>
          <p:nvPr/>
        </p:nvCxnSpPr>
        <p:spPr>
          <a:xfrm flipH="1">
            <a:off x="4200184" y="2824618"/>
            <a:ext cx="93916" cy="180958"/>
          </a:xfrm>
          <a:prstGeom prst="straightConnector1">
            <a:avLst/>
          </a:prstGeom>
          <a:noFill/>
          <a:ln cap="flat" cmpd="sng" w="38100">
            <a:solidFill>
              <a:srgbClr val="634E97"/>
            </a:solidFill>
            <a:prstDash val="solid"/>
            <a:round/>
            <a:headEnd len="sm" w="sm" type="none"/>
            <a:tailEnd len="sm" w="sm" type="none"/>
          </a:ln>
        </p:spPr>
      </p:cxnSp>
      <p:cxnSp>
        <p:nvCxnSpPr>
          <p:cNvPr id="1026" name="Google Shape;1026;p43"/>
          <p:cNvCxnSpPr/>
          <p:nvPr/>
        </p:nvCxnSpPr>
        <p:spPr>
          <a:xfrm>
            <a:off x="2617001" y="4298824"/>
            <a:ext cx="144179" cy="0"/>
          </a:xfrm>
          <a:prstGeom prst="straightConnector1">
            <a:avLst/>
          </a:prstGeom>
          <a:noFill/>
          <a:ln cap="flat" cmpd="sng" w="38100">
            <a:solidFill>
              <a:srgbClr val="634E97"/>
            </a:solidFill>
            <a:prstDash val="solid"/>
            <a:round/>
            <a:headEnd len="sm" w="sm" type="none"/>
            <a:tailEnd len="sm" w="sm" type="none"/>
          </a:ln>
        </p:spPr>
      </p:cxnSp>
      <p:cxnSp>
        <p:nvCxnSpPr>
          <p:cNvPr id="1027" name="Google Shape;1027;p43"/>
          <p:cNvCxnSpPr/>
          <p:nvPr/>
        </p:nvCxnSpPr>
        <p:spPr>
          <a:xfrm>
            <a:off x="2688420" y="4298824"/>
            <a:ext cx="0" cy="182936"/>
          </a:xfrm>
          <a:prstGeom prst="straightConnector1">
            <a:avLst/>
          </a:prstGeom>
          <a:noFill/>
          <a:ln cap="flat" cmpd="sng" w="38100">
            <a:solidFill>
              <a:srgbClr val="634E97"/>
            </a:solidFill>
            <a:prstDash val="solid"/>
            <a:round/>
            <a:headEnd len="sm" w="sm" type="none"/>
            <a:tailEnd len="sm" w="sm" type="none"/>
          </a:ln>
        </p:spPr>
      </p:cxnSp>
      <p:cxnSp>
        <p:nvCxnSpPr>
          <p:cNvPr id="1028" name="Google Shape;1028;p43"/>
          <p:cNvCxnSpPr/>
          <p:nvPr/>
        </p:nvCxnSpPr>
        <p:spPr>
          <a:xfrm flipH="1">
            <a:off x="2597526" y="4304189"/>
            <a:ext cx="93916" cy="180958"/>
          </a:xfrm>
          <a:prstGeom prst="straightConnector1">
            <a:avLst/>
          </a:prstGeom>
          <a:noFill/>
          <a:ln cap="flat" cmpd="sng" w="38100">
            <a:solidFill>
              <a:srgbClr val="634E97"/>
            </a:solidFill>
            <a:prstDash val="solid"/>
            <a:round/>
            <a:headEnd len="sm" w="sm" type="none"/>
            <a:tailEnd len="sm" w="sm" type="none"/>
          </a:ln>
        </p:spPr>
      </p:cxnSp>
      <p:cxnSp>
        <p:nvCxnSpPr>
          <p:cNvPr id="1029" name="Google Shape;1029;p43"/>
          <p:cNvCxnSpPr/>
          <p:nvPr/>
        </p:nvCxnSpPr>
        <p:spPr>
          <a:xfrm>
            <a:off x="3020954" y="4291321"/>
            <a:ext cx="144179" cy="0"/>
          </a:xfrm>
          <a:prstGeom prst="straightConnector1">
            <a:avLst/>
          </a:prstGeom>
          <a:noFill/>
          <a:ln cap="flat" cmpd="sng" w="38100">
            <a:solidFill>
              <a:srgbClr val="634E97"/>
            </a:solidFill>
            <a:prstDash val="solid"/>
            <a:round/>
            <a:headEnd len="sm" w="sm" type="none"/>
            <a:tailEnd len="sm" w="sm" type="none"/>
          </a:ln>
        </p:spPr>
      </p:cxnSp>
      <p:cxnSp>
        <p:nvCxnSpPr>
          <p:cNvPr id="1030" name="Google Shape;1030;p43"/>
          <p:cNvCxnSpPr/>
          <p:nvPr/>
        </p:nvCxnSpPr>
        <p:spPr>
          <a:xfrm>
            <a:off x="3092373" y="4291321"/>
            <a:ext cx="0" cy="182936"/>
          </a:xfrm>
          <a:prstGeom prst="straightConnector1">
            <a:avLst/>
          </a:prstGeom>
          <a:noFill/>
          <a:ln cap="flat" cmpd="sng" w="38100">
            <a:solidFill>
              <a:srgbClr val="634E97"/>
            </a:solidFill>
            <a:prstDash val="solid"/>
            <a:round/>
            <a:headEnd len="sm" w="sm" type="none"/>
            <a:tailEnd len="sm" w="sm" type="none"/>
          </a:ln>
        </p:spPr>
      </p:cxnSp>
      <p:cxnSp>
        <p:nvCxnSpPr>
          <p:cNvPr id="1031" name="Google Shape;1031;p43"/>
          <p:cNvCxnSpPr/>
          <p:nvPr/>
        </p:nvCxnSpPr>
        <p:spPr>
          <a:xfrm>
            <a:off x="3088986" y="4291321"/>
            <a:ext cx="109170" cy="209413"/>
          </a:xfrm>
          <a:prstGeom prst="straightConnector1">
            <a:avLst/>
          </a:prstGeom>
          <a:noFill/>
          <a:ln cap="flat" cmpd="sng" w="38100">
            <a:solidFill>
              <a:srgbClr val="634E97"/>
            </a:solidFill>
            <a:prstDash val="solid"/>
            <a:round/>
            <a:headEnd len="sm" w="sm" type="none"/>
            <a:tailEnd len="sm" w="sm" type="none"/>
          </a:ln>
        </p:spPr>
      </p:cxnSp>
      <p:cxnSp>
        <p:nvCxnSpPr>
          <p:cNvPr id="1032" name="Google Shape;1032;p43"/>
          <p:cNvCxnSpPr/>
          <p:nvPr/>
        </p:nvCxnSpPr>
        <p:spPr>
          <a:xfrm flipH="1">
            <a:off x="3001479" y="4296686"/>
            <a:ext cx="93916" cy="180958"/>
          </a:xfrm>
          <a:prstGeom prst="straightConnector1">
            <a:avLst/>
          </a:prstGeom>
          <a:noFill/>
          <a:ln cap="flat" cmpd="sng" w="38100">
            <a:solidFill>
              <a:srgbClr val="634E97"/>
            </a:solidFill>
            <a:prstDash val="solid"/>
            <a:round/>
            <a:headEnd len="sm" w="sm" type="none"/>
            <a:tailEnd len="sm" w="sm" type="none"/>
          </a:ln>
        </p:spPr>
      </p:cxnSp>
      <p:cxnSp>
        <p:nvCxnSpPr>
          <p:cNvPr id="1033" name="Google Shape;1033;p43"/>
          <p:cNvCxnSpPr/>
          <p:nvPr/>
        </p:nvCxnSpPr>
        <p:spPr>
          <a:xfrm rot="-5400000">
            <a:off x="1237384" y="2670319"/>
            <a:ext cx="523800" cy="497400"/>
          </a:xfrm>
          <a:prstGeom prst="bentConnector3">
            <a:avLst>
              <a:gd fmla="val 50000" name="adj1"/>
            </a:avLst>
          </a:prstGeom>
          <a:noFill/>
          <a:ln cap="flat" cmpd="sng" w="28575">
            <a:solidFill>
              <a:srgbClr val="634E97"/>
            </a:solidFill>
            <a:prstDash val="dash"/>
            <a:round/>
            <a:headEnd len="sm" w="sm" type="none"/>
            <a:tailEnd len="sm" w="sm" type="none"/>
          </a:ln>
        </p:spPr>
      </p:cxnSp>
      <p:cxnSp>
        <p:nvCxnSpPr>
          <p:cNvPr id="1034" name="Google Shape;1034;p43"/>
          <p:cNvCxnSpPr/>
          <p:nvPr/>
        </p:nvCxnSpPr>
        <p:spPr>
          <a:xfrm>
            <a:off x="1178743" y="2971504"/>
            <a:ext cx="144179" cy="0"/>
          </a:xfrm>
          <a:prstGeom prst="straightConnector1">
            <a:avLst/>
          </a:prstGeom>
          <a:noFill/>
          <a:ln cap="flat" cmpd="sng" w="38100">
            <a:solidFill>
              <a:srgbClr val="634E97"/>
            </a:solidFill>
            <a:prstDash val="solid"/>
            <a:round/>
            <a:headEnd len="sm" w="sm" type="none"/>
            <a:tailEnd len="sm" w="sm" type="none"/>
          </a:ln>
        </p:spPr>
      </p:cxnSp>
      <p:cxnSp>
        <p:nvCxnSpPr>
          <p:cNvPr id="1035" name="Google Shape;1035;p43"/>
          <p:cNvCxnSpPr/>
          <p:nvPr/>
        </p:nvCxnSpPr>
        <p:spPr>
          <a:xfrm>
            <a:off x="1250162" y="2971504"/>
            <a:ext cx="0" cy="182936"/>
          </a:xfrm>
          <a:prstGeom prst="straightConnector1">
            <a:avLst/>
          </a:prstGeom>
          <a:noFill/>
          <a:ln cap="flat" cmpd="sng" w="38100">
            <a:solidFill>
              <a:srgbClr val="634E97"/>
            </a:solidFill>
            <a:prstDash val="solid"/>
            <a:round/>
            <a:headEnd len="sm" w="sm" type="none"/>
            <a:tailEnd len="sm" w="sm" type="none"/>
          </a:ln>
        </p:spPr>
      </p:cxnSp>
      <p:cxnSp>
        <p:nvCxnSpPr>
          <p:cNvPr id="1036" name="Google Shape;1036;p43"/>
          <p:cNvCxnSpPr/>
          <p:nvPr/>
        </p:nvCxnSpPr>
        <p:spPr>
          <a:xfrm>
            <a:off x="1246775" y="2971504"/>
            <a:ext cx="109170" cy="209413"/>
          </a:xfrm>
          <a:prstGeom prst="straightConnector1">
            <a:avLst/>
          </a:prstGeom>
          <a:noFill/>
          <a:ln cap="flat" cmpd="sng" w="38100">
            <a:solidFill>
              <a:srgbClr val="634E97"/>
            </a:solidFill>
            <a:prstDash val="solid"/>
            <a:round/>
            <a:headEnd len="sm" w="sm" type="none"/>
            <a:tailEnd len="sm" w="sm" type="none"/>
          </a:ln>
        </p:spPr>
      </p:cxnSp>
      <p:cxnSp>
        <p:nvCxnSpPr>
          <p:cNvPr id="1037" name="Google Shape;1037;p43"/>
          <p:cNvCxnSpPr/>
          <p:nvPr/>
        </p:nvCxnSpPr>
        <p:spPr>
          <a:xfrm flipH="1">
            <a:off x="1159268" y="2976869"/>
            <a:ext cx="93916" cy="180958"/>
          </a:xfrm>
          <a:prstGeom prst="straightConnector1">
            <a:avLst/>
          </a:prstGeom>
          <a:noFill/>
          <a:ln cap="flat" cmpd="sng" w="38100">
            <a:solidFill>
              <a:srgbClr val="634E97"/>
            </a:solidFill>
            <a:prstDash val="solid"/>
            <a:round/>
            <a:headEnd len="sm" w="sm" type="none"/>
            <a:tailEnd len="sm" w="sm" type="none"/>
          </a:ln>
        </p:spPr>
      </p:cxnSp>
      <p:sp>
        <p:nvSpPr>
          <p:cNvPr id="1038" name="Google Shape;1038;p43"/>
          <p:cNvSpPr/>
          <p:nvPr/>
        </p:nvSpPr>
        <p:spPr>
          <a:xfrm>
            <a:off x="3497504" y="923204"/>
            <a:ext cx="2148992" cy="246221"/>
          </a:xfrm>
          <a:prstGeom prst="rect">
            <a:avLst/>
          </a:prstGeom>
          <a:noFill/>
          <a:ln>
            <a:noFill/>
          </a:ln>
        </p:spPr>
        <p:txBody>
          <a:bodyPr anchorCtr="0" anchor="t" bIns="0" lIns="0" spcFirstLastPara="1" rIns="0" wrap="square" tIns="0">
            <a:spAutoFit/>
          </a:bodyPr>
          <a:lstStyle/>
          <a:p>
            <a:pPr indent="0" lvl="0" marL="9525" marR="0" rtl="0" algn="ctr">
              <a:lnSpc>
                <a:spcPct val="100000"/>
              </a:lnSpc>
              <a:spcBef>
                <a:spcPts val="0"/>
              </a:spcBef>
              <a:spcAft>
                <a:spcPts val="0"/>
              </a:spcAft>
              <a:buClr>
                <a:srgbClr val="000000"/>
              </a:buClr>
              <a:buSzPts val="1600"/>
              <a:buFont typeface="Arial"/>
              <a:buNone/>
            </a:pPr>
            <a:r>
              <a:rPr b="1" i="0" lang="es-PE" sz="1600" u="none" cap="none" strike="noStrike">
                <a:solidFill>
                  <a:srgbClr val="000000"/>
                </a:solidFill>
                <a:latin typeface="Arial"/>
                <a:ea typeface="Arial"/>
                <a:cs typeface="Arial"/>
                <a:sym typeface="Arial"/>
              </a:rPr>
              <a:t>MODELO FÍSICO</a:t>
            </a:r>
            <a:endParaRPr/>
          </a:p>
        </p:txBody>
      </p:sp>
      <p:graphicFrame>
        <p:nvGraphicFramePr>
          <p:cNvPr id="1039" name="Google Shape;1039;p43"/>
          <p:cNvGraphicFramePr/>
          <p:nvPr/>
        </p:nvGraphicFramePr>
        <p:xfrm>
          <a:off x="468313" y="912813"/>
          <a:ext cx="3000000" cy="3000000"/>
        </p:xfrm>
        <a:graphic>
          <a:graphicData uri="http://schemas.openxmlformats.org/drawingml/2006/table">
            <a:tbl>
              <a:tblPr bandRow="1">
                <a:noFill/>
                <a:tableStyleId>{111FAAAF-390B-45C5-8ABE-32D9CDC8B455}</a:tableStyleId>
              </a:tblPr>
              <a:tblGrid>
                <a:gridCol w="1969200"/>
              </a:tblGrid>
              <a:tr h="181575">
                <a:tc>
                  <a:txBody>
                    <a:bodyPr/>
                    <a:lstStyle/>
                    <a:p>
                      <a:pPr indent="0" lvl="0" marL="0" marR="0" rtl="0" algn="ctr">
                        <a:lnSpc>
                          <a:spcPct val="100000"/>
                        </a:lnSpc>
                        <a:spcBef>
                          <a:spcPts val="0"/>
                        </a:spcBef>
                        <a:spcAft>
                          <a:spcPts val="0"/>
                        </a:spcAft>
                        <a:buNone/>
                      </a:pPr>
                      <a:r>
                        <a:rPr b="1" lang="es-PE" sz="900" u="none" cap="none" strike="noStrike">
                          <a:solidFill>
                            <a:schemeClr val="lt1"/>
                          </a:solidFill>
                        </a:rPr>
                        <a:t>CLIENTE</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181575">
                <a:tc>
                  <a:txBody>
                    <a:bodyPr/>
                    <a:lstStyle/>
                    <a:p>
                      <a:pPr indent="134938" lvl="0" marL="222250" marR="0" rtl="0" algn="l">
                        <a:lnSpc>
                          <a:spcPct val="100000"/>
                        </a:lnSpc>
                        <a:spcBef>
                          <a:spcPts val="0"/>
                        </a:spcBef>
                        <a:spcAft>
                          <a:spcPts val="0"/>
                        </a:spcAft>
                        <a:buNone/>
                      </a:pPr>
                      <a:r>
                        <a:rPr lang="es-PE" sz="900" u="none" cap="none" strike="noStrike"/>
                        <a:t>CODCLIENTE: INT</a:t>
                      </a:r>
                      <a:endParaRPr i="0" sz="9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1182850">
                <a:tc>
                  <a:txBody>
                    <a:bodyPr/>
                    <a:lstStyle/>
                    <a:p>
                      <a:pPr indent="134938" lvl="0" marL="222250" marR="0" rtl="0" algn="l">
                        <a:lnSpc>
                          <a:spcPct val="100000"/>
                        </a:lnSpc>
                        <a:spcBef>
                          <a:spcPts val="0"/>
                        </a:spcBef>
                        <a:spcAft>
                          <a:spcPts val="0"/>
                        </a:spcAft>
                        <a:buNone/>
                      </a:pPr>
                      <a:r>
                        <a:rPr lang="es-PE" sz="900" u="none" cap="none" strike="noStrike"/>
                        <a:t>NOMBRE: VACHAR (50)</a:t>
                      </a:r>
                      <a:endParaRPr/>
                    </a:p>
                    <a:p>
                      <a:pPr indent="134938" lvl="0" marL="222250" marR="0" rtl="0" algn="l">
                        <a:lnSpc>
                          <a:spcPct val="100000"/>
                        </a:lnSpc>
                        <a:spcBef>
                          <a:spcPts val="0"/>
                        </a:spcBef>
                        <a:spcAft>
                          <a:spcPts val="0"/>
                        </a:spcAft>
                        <a:buNone/>
                      </a:pPr>
                      <a:r>
                        <a:rPr lang="es-PE" sz="900" u="none" cap="none" strike="noStrike"/>
                        <a:t>APEPATERNO:</a:t>
                      </a:r>
                      <a:r>
                        <a:rPr lang="es-PE" sz="900" u="none" cap="none" strike="noStrike"/>
                        <a:t> VACHAR (50)</a:t>
                      </a:r>
                      <a:endParaRPr/>
                    </a:p>
                    <a:p>
                      <a:pPr indent="134938" lvl="0" marL="222250" marR="0" rtl="0" algn="l">
                        <a:lnSpc>
                          <a:spcPct val="100000"/>
                        </a:lnSpc>
                        <a:spcBef>
                          <a:spcPts val="0"/>
                        </a:spcBef>
                        <a:spcAft>
                          <a:spcPts val="0"/>
                        </a:spcAft>
                        <a:buClr>
                          <a:srgbClr val="000000"/>
                        </a:buClr>
                        <a:buSzPts val="900"/>
                        <a:buFont typeface="Arial"/>
                        <a:buNone/>
                      </a:pPr>
                      <a:r>
                        <a:rPr lang="es-PE" sz="900" u="none" cap="none" strike="noStrike"/>
                        <a:t>APEMATERNO:</a:t>
                      </a:r>
                      <a:r>
                        <a:rPr lang="es-PE" sz="900" u="none" cap="none" strike="noStrike"/>
                        <a:t> VACHAR (50)</a:t>
                      </a:r>
                      <a:endParaRPr/>
                    </a:p>
                    <a:p>
                      <a:pPr indent="134938" lvl="0" marL="222250" marR="0" rtl="0" algn="l">
                        <a:lnSpc>
                          <a:spcPct val="100000"/>
                        </a:lnSpc>
                        <a:spcBef>
                          <a:spcPts val="0"/>
                        </a:spcBef>
                        <a:spcAft>
                          <a:spcPts val="0"/>
                        </a:spcAft>
                        <a:buClr>
                          <a:srgbClr val="000000"/>
                        </a:buClr>
                        <a:buSzPts val="900"/>
                        <a:buFont typeface="Arial"/>
                        <a:buNone/>
                      </a:pPr>
                      <a:r>
                        <a:rPr i="0" lang="es-PE" sz="900" u="none" cap="none" strike="noStrike"/>
                        <a:t>DIRECCION: </a:t>
                      </a:r>
                      <a:r>
                        <a:rPr lang="es-PE" sz="900" u="none" cap="none" strike="noStrike"/>
                        <a:t>VACHAR (50)</a:t>
                      </a:r>
                      <a:endParaRPr/>
                    </a:p>
                    <a:p>
                      <a:pPr indent="134938" lvl="0" marL="222250" marR="0" rtl="0" algn="l">
                        <a:lnSpc>
                          <a:spcPct val="100000"/>
                        </a:lnSpc>
                        <a:spcBef>
                          <a:spcPts val="0"/>
                        </a:spcBef>
                        <a:spcAft>
                          <a:spcPts val="0"/>
                        </a:spcAft>
                        <a:buNone/>
                      </a:pPr>
                      <a:r>
                        <a:rPr i="0" lang="es-PE" sz="900" u="none" cap="none" strike="noStrike"/>
                        <a:t>SEXO: CHAR(1)</a:t>
                      </a:r>
                      <a:endParaRPr/>
                    </a:p>
                    <a:p>
                      <a:pPr indent="134938" lvl="0" marL="222250" marR="0" rtl="0" algn="l">
                        <a:lnSpc>
                          <a:spcPct val="100000"/>
                        </a:lnSpc>
                        <a:spcBef>
                          <a:spcPts val="0"/>
                        </a:spcBef>
                        <a:spcAft>
                          <a:spcPts val="0"/>
                        </a:spcAft>
                        <a:buClr>
                          <a:srgbClr val="000000"/>
                        </a:buClr>
                        <a:buSzPts val="900"/>
                        <a:buFont typeface="Arial"/>
                        <a:buNone/>
                      </a:pPr>
                      <a:r>
                        <a:rPr i="0" lang="es-PE" sz="900" u="none" cap="none" strike="noStrike"/>
                        <a:t>TELEFONO: </a:t>
                      </a:r>
                      <a:r>
                        <a:rPr lang="es-PE" sz="900" u="none" cap="none" strike="noStrike"/>
                        <a:t>VACHAR (10)</a:t>
                      </a:r>
                      <a:endParaRPr i="0" sz="900" u="none" cap="none" strike="noStrike"/>
                    </a:p>
                    <a:p>
                      <a:pPr indent="134938" lvl="0" marL="222250" marR="0" rtl="0" algn="l">
                        <a:lnSpc>
                          <a:spcPct val="100000"/>
                        </a:lnSpc>
                        <a:spcBef>
                          <a:spcPts val="0"/>
                        </a:spcBef>
                        <a:spcAft>
                          <a:spcPts val="0"/>
                        </a:spcAft>
                        <a:buNone/>
                      </a:pPr>
                      <a:r>
                        <a:rPr i="0" lang="es-PE" sz="900" u="none" cap="none" strike="noStrike"/>
                        <a:t>EMAIL: </a:t>
                      </a:r>
                      <a:r>
                        <a:rPr lang="es-PE" sz="900" u="none" cap="none" strike="noStrike"/>
                        <a:t>VACHAR (50)</a:t>
                      </a:r>
                      <a:endParaRPr/>
                    </a:p>
                    <a:p>
                      <a:pPr indent="134938" lvl="0" marL="222250" marR="0" rtl="0" algn="l">
                        <a:lnSpc>
                          <a:spcPct val="100000"/>
                        </a:lnSpc>
                        <a:spcBef>
                          <a:spcPts val="0"/>
                        </a:spcBef>
                        <a:spcAft>
                          <a:spcPts val="0"/>
                        </a:spcAft>
                        <a:buNone/>
                      </a:pPr>
                      <a:r>
                        <a:rPr i="0" lang="es-PE" sz="900" u="none" cap="none" strike="noStrike"/>
                        <a:t>FECHAREG: DATE </a:t>
                      </a:r>
                      <a:endParaRPr/>
                    </a:p>
                    <a:p>
                      <a:pPr indent="134938" lvl="0" marL="222250" marR="0" rtl="0" algn="l">
                        <a:lnSpc>
                          <a:spcPct val="100000"/>
                        </a:lnSpc>
                        <a:spcBef>
                          <a:spcPts val="0"/>
                        </a:spcBef>
                        <a:spcAft>
                          <a:spcPts val="0"/>
                        </a:spcAft>
                        <a:buNone/>
                      </a:pPr>
                      <a:r>
                        <a:rPr i="0" lang="es-PE" sz="900" u="none" cap="none" strike="noStrike"/>
                        <a:t>FECHAACT: DATE</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1040" name="Google Shape;1040;p43"/>
          <p:cNvPicPr preferRelativeResize="0"/>
          <p:nvPr/>
        </p:nvPicPr>
        <p:blipFill rotWithShape="1">
          <a:blip r:embed="rId3">
            <a:alphaModFix/>
          </a:blip>
          <a:srcRect b="24611" l="68244" r="28566" t="70297"/>
          <a:stretch/>
        </p:blipFill>
        <p:spPr>
          <a:xfrm>
            <a:off x="1057050" y="941269"/>
            <a:ext cx="142837" cy="127256"/>
          </a:xfrm>
          <a:prstGeom prst="rect">
            <a:avLst/>
          </a:prstGeom>
          <a:noFill/>
          <a:ln>
            <a:noFill/>
          </a:ln>
        </p:spPr>
      </p:pic>
      <p:pic>
        <p:nvPicPr>
          <p:cNvPr id="1041" name="Google Shape;1041;p43"/>
          <p:cNvPicPr preferRelativeResize="0"/>
          <p:nvPr/>
        </p:nvPicPr>
        <p:blipFill rotWithShape="1">
          <a:blip r:embed="rId3">
            <a:alphaModFix/>
          </a:blip>
          <a:srcRect b="77047" l="27242" r="68751" t="15938"/>
          <a:stretch/>
        </p:blipFill>
        <p:spPr>
          <a:xfrm>
            <a:off x="688168" y="1147919"/>
            <a:ext cx="129759" cy="126807"/>
          </a:xfrm>
          <a:prstGeom prst="rect">
            <a:avLst/>
          </a:prstGeom>
          <a:noFill/>
          <a:ln>
            <a:noFill/>
          </a:ln>
        </p:spPr>
      </p:pic>
      <p:pic>
        <p:nvPicPr>
          <p:cNvPr id="1042" name="Google Shape;1042;p43"/>
          <p:cNvPicPr preferRelativeResize="0"/>
          <p:nvPr/>
        </p:nvPicPr>
        <p:blipFill rotWithShape="1">
          <a:blip r:embed="rId3">
            <a:alphaModFix/>
          </a:blip>
          <a:srcRect b="6581" l="56129" r="41415" t="86606"/>
          <a:stretch/>
        </p:blipFill>
        <p:spPr>
          <a:xfrm>
            <a:off x="733148" y="1358535"/>
            <a:ext cx="71067" cy="110108"/>
          </a:xfrm>
          <a:prstGeom prst="rect">
            <a:avLst/>
          </a:prstGeom>
          <a:noFill/>
          <a:ln>
            <a:noFill/>
          </a:ln>
        </p:spPr>
      </p:pic>
      <p:pic>
        <p:nvPicPr>
          <p:cNvPr id="1043" name="Google Shape;1043;p43"/>
          <p:cNvPicPr preferRelativeResize="0"/>
          <p:nvPr/>
        </p:nvPicPr>
        <p:blipFill rotWithShape="1">
          <a:blip r:embed="rId3">
            <a:alphaModFix/>
          </a:blip>
          <a:srcRect b="6581" l="56129" r="41415" t="86606"/>
          <a:stretch/>
        </p:blipFill>
        <p:spPr>
          <a:xfrm>
            <a:off x="733148" y="1494911"/>
            <a:ext cx="71067" cy="110108"/>
          </a:xfrm>
          <a:prstGeom prst="rect">
            <a:avLst/>
          </a:prstGeom>
          <a:noFill/>
          <a:ln>
            <a:noFill/>
          </a:ln>
        </p:spPr>
      </p:pic>
      <p:pic>
        <p:nvPicPr>
          <p:cNvPr id="1044" name="Google Shape;1044;p43"/>
          <p:cNvPicPr preferRelativeResize="0"/>
          <p:nvPr/>
        </p:nvPicPr>
        <p:blipFill rotWithShape="1">
          <a:blip r:embed="rId3">
            <a:alphaModFix/>
          </a:blip>
          <a:srcRect b="6581" l="56129" r="41415" t="86606"/>
          <a:stretch/>
        </p:blipFill>
        <p:spPr>
          <a:xfrm>
            <a:off x="733148" y="1631287"/>
            <a:ext cx="71067" cy="110108"/>
          </a:xfrm>
          <a:prstGeom prst="rect">
            <a:avLst/>
          </a:prstGeom>
          <a:noFill/>
          <a:ln>
            <a:noFill/>
          </a:ln>
        </p:spPr>
      </p:pic>
      <p:pic>
        <p:nvPicPr>
          <p:cNvPr id="1045" name="Google Shape;1045;p43"/>
          <p:cNvPicPr preferRelativeResize="0"/>
          <p:nvPr/>
        </p:nvPicPr>
        <p:blipFill rotWithShape="1">
          <a:blip r:embed="rId3">
            <a:alphaModFix/>
          </a:blip>
          <a:srcRect b="6581" l="56129" r="41415" t="86606"/>
          <a:stretch/>
        </p:blipFill>
        <p:spPr>
          <a:xfrm>
            <a:off x="733148" y="1767663"/>
            <a:ext cx="71067" cy="110108"/>
          </a:xfrm>
          <a:prstGeom prst="rect">
            <a:avLst/>
          </a:prstGeom>
          <a:noFill/>
          <a:ln>
            <a:noFill/>
          </a:ln>
        </p:spPr>
      </p:pic>
      <p:pic>
        <p:nvPicPr>
          <p:cNvPr id="1046" name="Google Shape;1046;p43"/>
          <p:cNvPicPr preferRelativeResize="0"/>
          <p:nvPr/>
        </p:nvPicPr>
        <p:blipFill rotWithShape="1">
          <a:blip r:embed="rId3">
            <a:alphaModFix/>
          </a:blip>
          <a:srcRect b="6581" l="56129" r="41415" t="86606"/>
          <a:stretch/>
        </p:blipFill>
        <p:spPr>
          <a:xfrm>
            <a:off x="733148" y="1904039"/>
            <a:ext cx="71067" cy="110108"/>
          </a:xfrm>
          <a:prstGeom prst="rect">
            <a:avLst/>
          </a:prstGeom>
          <a:noFill/>
          <a:ln>
            <a:noFill/>
          </a:ln>
        </p:spPr>
      </p:pic>
      <p:pic>
        <p:nvPicPr>
          <p:cNvPr id="1047" name="Google Shape;1047;p43"/>
          <p:cNvPicPr preferRelativeResize="0"/>
          <p:nvPr/>
        </p:nvPicPr>
        <p:blipFill rotWithShape="1">
          <a:blip r:embed="rId3">
            <a:alphaModFix/>
          </a:blip>
          <a:srcRect b="6581" l="56129" r="41415" t="86606"/>
          <a:stretch/>
        </p:blipFill>
        <p:spPr>
          <a:xfrm>
            <a:off x="733148" y="2040415"/>
            <a:ext cx="71067" cy="110108"/>
          </a:xfrm>
          <a:prstGeom prst="rect">
            <a:avLst/>
          </a:prstGeom>
          <a:noFill/>
          <a:ln>
            <a:noFill/>
          </a:ln>
        </p:spPr>
      </p:pic>
      <p:pic>
        <p:nvPicPr>
          <p:cNvPr id="1048" name="Google Shape;1048;p43"/>
          <p:cNvPicPr preferRelativeResize="0"/>
          <p:nvPr/>
        </p:nvPicPr>
        <p:blipFill rotWithShape="1">
          <a:blip r:embed="rId3">
            <a:alphaModFix/>
          </a:blip>
          <a:srcRect b="6581" l="56129" r="41415" t="86606"/>
          <a:stretch/>
        </p:blipFill>
        <p:spPr>
          <a:xfrm>
            <a:off x="733148" y="2176791"/>
            <a:ext cx="71067" cy="110108"/>
          </a:xfrm>
          <a:prstGeom prst="rect">
            <a:avLst/>
          </a:prstGeom>
          <a:noFill/>
          <a:ln>
            <a:noFill/>
          </a:ln>
        </p:spPr>
      </p:pic>
      <p:pic>
        <p:nvPicPr>
          <p:cNvPr id="1049" name="Google Shape;1049;p43"/>
          <p:cNvPicPr preferRelativeResize="0"/>
          <p:nvPr/>
        </p:nvPicPr>
        <p:blipFill rotWithShape="1">
          <a:blip r:embed="rId3">
            <a:alphaModFix/>
          </a:blip>
          <a:srcRect b="6581" l="56129" r="41415" t="86606"/>
          <a:stretch/>
        </p:blipFill>
        <p:spPr>
          <a:xfrm>
            <a:off x="733148" y="2313167"/>
            <a:ext cx="71067" cy="110108"/>
          </a:xfrm>
          <a:prstGeom prst="rect">
            <a:avLst/>
          </a:prstGeom>
          <a:noFill/>
          <a:ln>
            <a:noFill/>
          </a:ln>
        </p:spPr>
      </p:pic>
      <p:pic>
        <p:nvPicPr>
          <p:cNvPr id="1050" name="Google Shape;1050;p43"/>
          <p:cNvPicPr preferRelativeResize="0"/>
          <p:nvPr/>
        </p:nvPicPr>
        <p:blipFill rotWithShape="1">
          <a:blip r:embed="rId3">
            <a:alphaModFix/>
          </a:blip>
          <a:srcRect b="6581" l="56129" r="41415" t="86606"/>
          <a:stretch/>
        </p:blipFill>
        <p:spPr>
          <a:xfrm>
            <a:off x="733148" y="2449540"/>
            <a:ext cx="71067" cy="110108"/>
          </a:xfrm>
          <a:prstGeom prst="rect">
            <a:avLst/>
          </a:prstGeom>
          <a:noFill/>
          <a:ln>
            <a:noFill/>
          </a:ln>
        </p:spPr>
      </p:pic>
      <p:graphicFrame>
        <p:nvGraphicFramePr>
          <p:cNvPr id="1051" name="Google Shape;1051;p43"/>
          <p:cNvGraphicFramePr/>
          <p:nvPr/>
        </p:nvGraphicFramePr>
        <p:xfrm>
          <a:off x="503238" y="3154440"/>
          <a:ext cx="3000000" cy="3000000"/>
        </p:xfrm>
        <a:graphic>
          <a:graphicData uri="http://schemas.openxmlformats.org/drawingml/2006/table">
            <a:tbl>
              <a:tblPr bandRow="1">
                <a:noFill/>
                <a:tableStyleId>{111FAAAF-390B-45C5-8ABE-32D9CDC8B455}</a:tableStyleId>
              </a:tblPr>
              <a:tblGrid>
                <a:gridCol w="1969200"/>
              </a:tblGrid>
              <a:tr h="178475">
                <a:tc>
                  <a:txBody>
                    <a:bodyPr/>
                    <a:lstStyle/>
                    <a:p>
                      <a:pPr indent="0" lvl="0" marL="0" marR="0" rtl="0" algn="ctr">
                        <a:lnSpc>
                          <a:spcPct val="100000"/>
                        </a:lnSpc>
                        <a:spcBef>
                          <a:spcPts val="0"/>
                        </a:spcBef>
                        <a:spcAft>
                          <a:spcPts val="0"/>
                        </a:spcAft>
                        <a:buNone/>
                      </a:pPr>
                      <a:r>
                        <a:rPr b="1" lang="es-PE" sz="900" u="none" cap="none" strike="noStrike">
                          <a:solidFill>
                            <a:schemeClr val="lt1"/>
                          </a:solidFill>
                        </a:rPr>
                        <a:t>RESERVA</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178475">
                <a:tc>
                  <a:txBody>
                    <a:bodyPr/>
                    <a:lstStyle/>
                    <a:p>
                      <a:pPr indent="134938" lvl="0" marL="222250" marR="0" rtl="0" algn="l">
                        <a:lnSpc>
                          <a:spcPct val="100000"/>
                        </a:lnSpc>
                        <a:spcBef>
                          <a:spcPts val="0"/>
                        </a:spcBef>
                        <a:spcAft>
                          <a:spcPts val="0"/>
                        </a:spcAft>
                        <a:buNone/>
                      </a:pPr>
                      <a:r>
                        <a:rPr lang="es-PE" sz="900" u="none" cap="none" strike="noStrike"/>
                        <a:t>NRORESERVA: CHAR (10)</a:t>
                      </a:r>
                      <a:endParaRPr i="0" sz="9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608025">
                <a:tc>
                  <a:txBody>
                    <a:bodyPr/>
                    <a:lstStyle/>
                    <a:p>
                      <a:pPr indent="134938" lvl="0" marL="222250" marR="0" rtl="0" algn="l">
                        <a:lnSpc>
                          <a:spcPct val="100000"/>
                        </a:lnSpc>
                        <a:spcBef>
                          <a:spcPts val="0"/>
                        </a:spcBef>
                        <a:spcAft>
                          <a:spcPts val="0"/>
                        </a:spcAft>
                        <a:buNone/>
                      </a:pPr>
                      <a:r>
                        <a:rPr lang="es-PE" sz="900" u="none" cap="none" strike="noStrike"/>
                        <a:t>FECHALLEGADA: DATE</a:t>
                      </a:r>
                      <a:endParaRPr/>
                    </a:p>
                    <a:p>
                      <a:pPr indent="134938" lvl="0" marL="222250" marR="0" rtl="0" algn="l">
                        <a:lnSpc>
                          <a:spcPct val="100000"/>
                        </a:lnSpc>
                        <a:spcBef>
                          <a:spcPts val="0"/>
                        </a:spcBef>
                        <a:spcAft>
                          <a:spcPts val="0"/>
                        </a:spcAft>
                        <a:buNone/>
                      </a:pPr>
                      <a:r>
                        <a:rPr i="0" lang="es-PE" sz="900" u="none" cap="none" strike="noStrike"/>
                        <a:t>FECHASALIDA: DATE</a:t>
                      </a:r>
                      <a:endParaRPr/>
                    </a:p>
                    <a:p>
                      <a:pPr indent="134938" lvl="0" marL="222250" marR="0" rtl="0" algn="l">
                        <a:lnSpc>
                          <a:spcPct val="100000"/>
                        </a:lnSpc>
                        <a:spcBef>
                          <a:spcPts val="0"/>
                        </a:spcBef>
                        <a:spcAft>
                          <a:spcPts val="0"/>
                        </a:spcAft>
                        <a:buNone/>
                      </a:pPr>
                      <a:r>
                        <a:rPr i="0" lang="es-PE" sz="900" u="none" cap="none" strike="noStrike"/>
                        <a:t>DIAS: INT</a:t>
                      </a:r>
                      <a:endParaRPr/>
                    </a:p>
                    <a:p>
                      <a:pPr indent="134938" lvl="0" marL="222250" marR="0" rtl="0" algn="l">
                        <a:lnSpc>
                          <a:spcPct val="100000"/>
                        </a:lnSpc>
                        <a:spcBef>
                          <a:spcPts val="0"/>
                        </a:spcBef>
                        <a:spcAft>
                          <a:spcPts val="0"/>
                        </a:spcAft>
                        <a:buNone/>
                      </a:pPr>
                      <a:r>
                        <a:rPr i="0" lang="es-PE" sz="900" u="none" cap="none" strike="noStrike"/>
                        <a:t>CODICLIENTE: INT [FK]</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1052" name="Google Shape;1052;p43"/>
          <p:cNvPicPr preferRelativeResize="0"/>
          <p:nvPr/>
        </p:nvPicPr>
        <p:blipFill rotWithShape="1">
          <a:blip r:embed="rId3">
            <a:alphaModFix/>
          </a:blip>
          <a:srcRect b="24611" l="68244" r="28566" t="70297"/>
          <a:stretch/>
        </p:blipFill>
        <p:spPr>
          <a:xfrm>
            <a:off x="1074723" y="3182895"/>
            <a:ext cx="142837" cy="127256"/>
          </a:xfrm>
          <a:prstGeom prst="rect">
            <a:avLst/>
          </a:prstGeom>
          <a:noFill/>
          <a:ln>
            <a:noFill/>
          </a:ln>
        </p:spPr>
      </p:pic>
      <p:pic>
        <p:nvPicPr>
          <p:cNvPr id="1053" name="Google Shape;1053;p43"/>
          <p:cNvPicPr preferRelativeResize="0"/>
          <p:nvPr/>
        </p:nvPicPr>
        <p:blipFill rotWithShape="1">
          <a:blip r:embed="rId3">
            <a:alphaModFix/>
          </a:blip>
          <a:srcRect b="77047" l="27242" r="68751" t="15938"/>
          <a:stretch/>
        </p:blipFill>
        <p:spPr>
          <a:xfrm>
            <a:off x="723093" y="3389545"/>
            <a:ext cx="129759" cy="126807"/>
          </a:xfrm>
          <a:prstGeom prst="rect">
            <a:avLst/>
          </a:prstGeom>
          <a:noFill/>
          <a:ln>
            <a:noFill/>
          </a:ln>
        </p:spPr>
      </p:pic>
      <p:pic>
        <p:nvPicPr>
          <p:cNvPr id="1054" name="Google Shape;1054;p43"/>
          <p:cNvPicPr preferRelativeResize="0"/>
          <p:nvPr/>
        </p:nvPicPr>
        <p:blipFill rotWithShape="1">
          <a:blip r:embed="rId3">
            <a:alphaModFix/>
          </a:blip>
          <a:srcRect b="6581" l="56129" r="41415" t="86606"/>
          <a:stretch/>
        </p:blipFill>
        <p:spPr>
          <a:xfrm>
            <a:off x="768073" y="3600161"/>
            <a:ext cx="71067" cy="110108"/>
          </a:xfrm>
          <a:prstGeom prst="rect">
            <a:avLst/>
          </a:prstGeom>
          <a:noFill/>
          <a:ln>
            <a:noFill/>
          </a:ln>
        </p:spPr>
      </p:pic>
      <p:pic>
        <p:nvPicPr>
          <p:cNvPr id="1055" name="Google Shape;1055;p43"/>
          <p:cNvPicPr preferRelativeResize="0"/>
          <p:nvPr/>
        </p:nvPicPr>
        <p:blipFill rotWithShape="1">
          <a:blip r:embed="rId3">
            <a:alphaModFix/>
          </a:blip>
          <a:srcRect b="6581" l="56129" r="41415" t="86606"/>
          <a:stretch/>
        </p:blipFill>
        <p:spPr>
          <a:xfrm>
            <a:off x="768073" y="3736537"/>
            <a:ext cx="71067" cy="110108"/>
          </a:xfrm>
          <a:prstGeom prst="rect">
            <a:avLst/>
          </a:prstGeom>
          <a:noFill/>
          <a:ln>
            <a:noFill/>
          </a:ln>
        </p:spPr>
      </p:pic>
      <p:pic>
        <p:nvPicPr>
          <p:cNvPr id="1056" name="Google Shape;1056;p43"/>
          <p:cNvPicPr preferRelativeResize="0"/>
          <p:nvPr/>
        </p:nvPicPr>
        <p:blipFill rotWithShape="1">
          <a:blip r:embed="rId3">
            <a:alphaModFix/>
          </a:blip>
          <a:srcRect b="6581" l="56129" r="41415" t="86606"/>
          <a:stretch/>
        </p:blipFill>
        <p:spPr>
          <a:xfrm>
            <a:off x="768073" y="3872913"/>
            <a:ext cx="71067" cy="110108"/>
          </a:xfrm>
          <a:prstGeom prst="rect">
            <a:avLst/>
          </a:prstGeom>
          <a:noFill/>
          <a:ln>
            <a:noFill/>
          </a:ln>
        </p:spPr>
      </p:pic>
      <p:graphicFrame>
        <p:nvGraphicFramePr>
          <p:cNvPr id="1057" name="Google Shape;1057;p43"/>
          <p:cNvGraphicFramePr/>
          <p:nvPr/>
        </p:nvGraphicFramePr>
        <p:xfrm>
          <a:off x="3294689" y="3003597"/>
          <a:ext cx="3000000" cy="3000000"/>
        </p:xfrm>
        <a:graphic>
          <a:graphicData uri="http://schemas.openxmlformats.org/drawingml/2006/table">
            <a:tbl>
              <a:tblPr bandRow="1">
                <a:noFill/>
                <a:tableStyleId>{111FAAAF-390B-45C5-8ABE-32D9CDC8B455}</a:tableStyleId>
              </a:tblPr>
              <a:tblGrid>
                <a:gridCol w="1969200"/>
              </a:tblGrid>
              <a:tr h="174250">
                <a:tc>
                  <a:txBody>
                    <a:bodyPr/>
                    <a:lstStyle/>
                    <a:p>
                      <a:pPr indent="0" lvl="0" marL="0" marR="0" rtl="0" algn="ctr">
                        <a:lnSpc>
                          <a:spcPct val="100000"/>
                        </a:lnSpc>
                        <a:spcBef>
                          <a:spcPts val="0"/>
                        </a:spcBef>
                        <a:spcAft>
                          <a:spcPts val="0"/>
                        </a:spcAft>
                        <a:buNone/>
                      </a:pPr>
                      <a:r>
                        <a:rPr b="1" lang="es-PE" sz="900" u="none" cap="none" strike="noStrike">
                          <a:solidFill>
                            <a:schemeClr val="lt1"/>
                          </a:solidFill>
                        </a:rPr>
                        <a:t>      HABITACION</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174250">
                <a:tc>
                  <a:txBody>
                    <a:bodyPr/>
                    <a:lstStyle/>
                    <a:p>
                      <a:pPr indent="134938" lvl="0" marL="222250" marR="0" rtl="0" algn="l">
                        <a:lnSpc>
                          <a:spcPct val="100000"/>
                        </a:lnSpc>
                        <a:spcBef>
                          <a:spcPts val="0"/>
                        </a:spcBef>
                        <a:spcAft>
                          <a:spcPts val="0"/>
                        </a:spcAft>
                        <a:buNone/>
                      </a:pPr>
                      <a:r>
                        <a:rPr lang="es-PE" sz="900" u="none" cap="none" strike="noStrike"/>
                        <a:t>NROHAB:</a:t>
                      </a:r>
                      <a:r>
                        <a:rPr lang="es-PE" sz="900" u="none" cap="none" strike="noStrike"/>
                        <a:t> CHAR (4)</a:t>
                      </a:r>
                      <a:endParaRPr i="0" sz="9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752850">
                <a:tc>
                  <a:txBody>
                    <a:bodyPr/>
                    <a:lstStyle/>
                    <a:p>
                      <a:pPr indent="134938" lvl="0" marL="222250" marR="0" rtl="0" algn="l">
                        <a:lnSpc>
                          <a:spcPct val="100000"/>
                        </a:lnSpc>
                        <a:spcBef>
                          <a:spcPts val="0"/>
                        </a:spcBef>
                        <a:spcAft>
                          <a:spcPts val="0"/>
                        </a:spcAft>
                        <a:buNone/>
                      </a:pPr>
                      <a:r>
                        <a:rPr lang="es-PE" sz="900" u="none" cap="none" strike="noStrike"/>
                        <a:t>TIPO: CHAR (1)</a:t>
                      </a:r>
                      <a:endParaRPr/>
                    </a:p>
                    <a:p>
                      <a:pPr indent="134938" lvl="0" marL="222250" marR="0" rtl="0" algn="l">
                        <a:lnSpc>
                          <a:spcPct val="100000"/>
                        </a:lnSpc>
                        <a:spcBef>
                          <a:spcPts val="0"/>
                        </a:spcBef>
                        <a:spcAft>
                          <a:spcPts val="0"/>
                        </a:spcAft>
                        <a:buNone/>
                      </a:pPr>
                      <a:r>
                        <a:rPr i="0" lang="es-PE" sz="900" u="none" cap="none" strike="noStrike"/>
                        <a:t>PRECIO: DOUBLE</a:t>
                      </a:r>
                      <a:endParaRPr/>
                    </a:p>
                    <a:p>
                      <a:pPr indent="134938" lvl="0" marL="222250" marR="0" rtl="0" algn="l">
                        <a:lnSpc>
                          <a:spcPct val="100000"/>
                        </a:lnSpc>
                        <a:spcBef>
                          <a:spcPts val="0"/>
                        </a:spcBef>
                        <a:spcAft>
                          <a:spcPts val="0"/>
                        </a:spcAft>
                        <a:buNone/>
                      </a:pPr>
                      <a:r>
                        <a:rPr i="0" lang="es-PE" sz="900" u="none" cap="none" strike="noStrike"/>
                        <a:t>FECHAREG: DATE</a:t>
                      </a:r>
                      <a:endParaRPr/>
                    </a:p>
                    <a:p>
                      <a:pPr indent="134938" lvl="0" marL="222250" marR="0" rtl="0" algn="l">
                        <a:lnSpc>
                          <a:spcPct val="100000"/>
                        </a:lnSpc>
                        <a:spcBef>
                          <a:spcPts val="0"/>
                        </a:spcBef>
                        <a:spcAft>
                          <a:spcPts val="0"/>
                        </a:spcAft>
                        <a:buNone/>
                      </a:pPr>
                      <a:r>
                        <a:rPr i="0" lang="es-PE" sz="900" u="none" cap="none" strike="noStrike"/>
                        <a:t>FECHAACT: DATE</a:t>
                      </a:r>
                      <a:endParaRPr/>
                    </a:p>
                    <a:p>
                      <a:pPr indent="134938" lvl="0" marL="222250" marR="0" rtl="0" algn="l">
                        <a:lnSpc>
                          <a:spcPct val="100000"/>
                        </a:lnSpc>
                        <a:spcBef>
                          <a:spcPts val="0"/>
                        </a:spcBef>
                        <a:spcAft>
                          <a:spcPts val="0"/>
                        </a:spcAft>
                        <a:buNone/>
                      </a:pPr>
                      <a:r>
                        <a:rPr i="0" lang="es-PE" sz="900" u="none" cap="none" strike="noStrike"/>
                        <a:t>CODICATE: INT [FK]</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1058" name="Google Shape;1058;p43"/>
          <p:cNvPicPr preferRelativeResize="0"/>
          <p:nvPr/>
        </p:nvPicPr>
        <p:blipFill rotWithShape="1">
          <a:blip r:embed="rId3">
            <a:alphaModFix/>
          </a:blip>
          <a:srcRect b="24611" l="68244" r="28566" t="70297"/>
          <a:stretch/>
        </p:blipFill>
        <p:spPr>
          <a:xfrm>
            <a:off x="3840292" y="3032053"/>
            <a:ext cx="142837" cy="127256"/>
          </a:xfrm>
          <a:prstGeom prst="rect">
            <a:avLst/>
          </a:prstGeom>
          <a:noFill/>
          <a:ln>
            <a:noFill/>
          </a:ln>
        </p:spPr>
      </p:pic>
      <p:pic>
        <p:nvPicPr>
          <p:cNvPr id="1059" name="Google Shape;1059;p43"/>
          <p:cNvPicPr preferRelativeResize="0"/>
          <p:nvPr/>
        </p:nvPicPr>
        <p:blipFill rotWithShape="1">
          <a:blip r:embed="rId3">
            <a:alphaModFix/>
          </a:blip>
          <a:srcRect b="77047" l="27242" r="68751" t="15938"/>
          <a:stretch/>
        </p:blipFill>
        <p:spPr>
          <a:xfrm>
            <a:off x="3514544" y="3238703"/>
            <a:ext cx="129759" cy="126807"/>
          </a:xfrm>
          <a:prstGeom prst="rect">
            <a:avLst/>
          </a:prstGeom>
          <a:noFill/>
          <a:ln>
            <a:noFill/>
          </a:ln>
        </p:spPr>
      </p:pic>
      <p:pic>
        <p:nvPicPr>
          <p:cNvPr id="1060" name="Google Shape;1060;p43"/>
          <p:cNvPicPr preferRelativeResize="0"/>
          <p:nvPr/>
        </p:nvPicPr>
        <p:blipFill rotWithShape="1">
          <a:blip r:embed="rId3">
            <a:alphaModFix/>
          </a:blip>
          <a:srcRect b="6581" l="56129" r="41415" t="86606"/>
          <a:stretch/>
        </p:blipFill>
        <p:spPr>
          <a:xfrm>
            <a:off x="3559524" y="3449319"/>
            <a:ext cx="71067" cy="110108"/>
          </a:xfrm>
          <a:prstGeom prst="rect">
            <a:avLst/>
          </a:prstGeom>
          <a:noFill/>
          <a:ln>
            <a:noFill/>
          </a:ln>
        </p:spPr>
      </p:pic>
      <p:pic>
        <p:nvPicPr>
          <p:cNvPr id="1061" name="Google Shape;1061;p43"/>
          <p:cNvPicPr preferRelativeResize="0"/>
          <p:nvPr/>
        </p:nvPicPr>
        <p:blipFill rotWithShape="1">
          <a:blip r:embed="rId3">
            <a:alphaModFix/>
          </a:blip>
          <a:srcRect b="6581" l="56129" r="41415" t="86606"/>
          <a:stretch/>
        </p:blipFill>
        <p:spPr>
          <a:xfrm>
            <a:off x="3559524" y="3585695"/>
            <a:ext cx="71067" cy="110108"/>
          </a:xfrm>
          <a:prstGeom prst="rect">
            <a:avLst/>
          </a:prstGeom>
          <a:noFill/>
          <a:ln>
            <a:noFill/>
          </a:ln>
        </p:spPr>
      </p:pic>
      <p:pic>
        <p:nvPicPr>
          <p:cNvPr id="1062" name="Google Shape;1062;p43"/>
          <p:cNvPicPr preferRelativeResize="0"/>
          <p:nvPr/>
        </p:nvPicPr>
        <p:blipFill rotWithShape="1">
          <a:blip r:embed="rId3">
            <a:alphaModFix/>
          </a:blip>
          <a:srcRect b="6581" l="56129" r="41415" t="86606"/>
          <a:stretch/>
        </p:blipFill>
        <p:spPr>
          <a:xfrm>
            <a:off x="3559524" y="3722071"/>
            <a:ext cx="71067" cy="110108"/>
          </a:xfrm>
          <a:prstGeom prst="rect">
            <a:avLst/>
          </a:prstGeom>
          <a:noFill/>
          <a:ln>
            <a:noFill/>
          </a:ln>
        </p:spPr>
      </p:pic>
      <p:pic>
        <p:nvPicPr>
          <p:cNvPr id="1063" name="Google Shape;1063;p43"/>
          <p:cNvPicPr preferRelativeResize="0"/>
          <p:nvPr/>
        </p:nvPicPr>
        <p:blipFill rotWithShape="1">
          <a:blip r:embed="rId3">
            <a:alphaModFix/>
          </a:blip>
          <a:srcRect b="6581" l="56129" r="41415" t="86606"/>
          <a:stretch/>
        </p:blipFill>
        <p:spPr>
          <a:xfrm>
            <a:off x="3559524" y="3858447"/>
            <a:ext cx="71067" cy="110108"/>
          </a:xfrm>
          <a:prstGeom prst="rect">
            <a:avLst/>
          </a:prstGeom>
          <a:noFill/>
          <a:ln>
            <a:noFill/>
          </a:ln>
        </p:spPr>
      </p:pic>
      <p:graphicFrame>
        <p:nvGraphicFramePr>
          <p:cNvPr id="1064" name="Google Shape;1064;p43"/>
          <p:cNvGraphicFramePr/>
          <p:nvPr/>
        </p:nvGraphicFramePr>
        <p:xfrm>
          <a:off x="1833839" y="4431060"/>
          <a:ext cx="3000000" cy="3000000"/>
        </p:xfrm>
        <a:graphic>
          <a:graphicData uri="http://schemas.openxmlformats.org/drawingml/2006/table">
            <a:tbl>
              <a:tblPr bandRow="1">
                <a:noFill/>
                <a:tableStyleId>{111FAAAF-390B-45C5-8ABE-32D9CDC8B455}</a:tableStyleId>
              </a:tblPr>
              <a:tblGrid>
                <a:gridCol w="1969200"/>
              </a:tblGrid>
              <a:tr h="173050">
                <a:tc>
                  <a:txBody>
                    <a:bodyPr/>
                    <a:lstStyle/>
                    <a:p>
                      <a:pPr indent="0" lvl="0" marL="0" marR="0" rtl="0" algn="ctr">
                        <a:lnSpc>
                          <a:spcPct val="100000"/>
                        </a:lnSpc>
                        <a:spcBef>
                          <a:spcPts val="0"/>
                        </a:spcBef>
                        <a:spcAft>
                          <a:spcPts val="0"/>
                        </a:spcAft>
                        <a:buNone/>
                      </a:pPr>
                      <a:r>
                        <a:rPr b="1" lang="es-PE" sz="900" u="none" cap="none" strike="noStrike">
                          <a:solidFill>
                            <a:schemeClr val="lt1"/>
                          </a:solidFill>
                        </a:rPr>
                        <a:t>       DETALLERESERVA</a:t>
                      </a:r>
                      <a:endParaRPr/>
                    </a:p>
                  </a:txBody>
                  <a:tcPr marT="31775" marB="31775" marR="63550" marL="63550">
                    <a:solidFill>
                      <a:srgbClr val="634E97"/>
                    </a:solidFill>
                  </a:tcPr>
                </a:tc>
              </a:tr>
              <a:tr h="291300">
                <a:tc>
                  <a:txBody>
                    <a:bodyPr/>
                    <a:lstStyle/>
                    <a:p>
                      <a:pPr indent="134938" lvl="0" marL="222250" marR="0" rtl="0" algn="l">
                        <a:lnSpc>
                          <a:spcPct val="100000"/>
                        </a:lnSpc>
                        <a:spcBef>
                          <a:spcPts val="0"/>
                        </a:spcBef>
                        <a:spcAft>
                          <a:spcPts val="0"/>
                        </a:spcAft>
                        <a:buNone/>
                      </a:pPr>
                      <a:r>
                        <a:rPr lang="es-PE" sz="900" u="none" cap="none" strike="noStrike"/>
                        <a:t>NROHAB:</a:t>
                      </a:r>
                      <a:r>
                        <a:rPr lang="es-PE" sz="900" u="none" cap="none" strike="noStrike"/>
                        <a:t> CHAR (4) [FK]</a:t>
                      </a:r>
                      <a:endParaRPr/>
                    </a:p>
                    <a:p>
                      <a:pPr indent="134938" lvl="0" marL="222250" marR="0" rtl="0" algn="l">
                        <a:lnSpc>
                          <a:spcPct val="100000"/>
                        </a:lnSpc>
                        <a:spcBef>
                          <a:spcPts val="0"/>
                        </a:spcBef>
                        <a:spcAft>
                          <a:spcPts val="0"/>
                        </a:spcAft>
                        <a:buNone/>
                      </a:pPr>
                      <a:r>
                        <a:rPr i="0" lang="es-PE" sz="900" u="none" cap="none" strike="noStrike"/>
                        <a:t>NRORESERVA: CHAR (10) [100]</a:t>
                      </a:r>
                      <a:endParaRPr i="0" sz="900" u="none" cap="none" strike="noStrike"/>
                    </a:p>
                  </a:txBody>
                  <a:tcPr marT="31775" marB="31775" marR="63550" marL="63550">
                    <a:solidFill>
                      <a:srgbClr val="F4F4FF"/>
                    </a:solidFill>
                  </a:tcPr>
                </a:tc>
              </a:tr>
              <a:tr h="227850">
                <a:tc>
                  <a:txBody>
                    <a:bodyPr/>
                    <a:lstStyle/>
                    <a:p>
                      <a:pPr indent="134938" lvl="0" marL="222250" marR="0" rtl="0" algn="l">
                        <a:lnSpc>
                          <a:spcPct val="100000"/>
                        </a:lnSpc>
                        <a:spcBef>
                          <a:spcPts val="0"/>
                        </a:spcBef>
                        <a:spcAft>
                          <a:spcPts val="0"/>
                        </a:spcAft>
                        <a:buNone/>
                      </a:pPr>
                      <a:r>
                        <a:rPr lang="es-PE" sz="900" u="none" cap="none" strike="noStrike"/>
                        <a:t>HUESPEDHAB: VACHAR (100)</a:t>
                      </a:r>
                      <a:endParaRPr i="0" sz="900" u="none" cap="none" strike="noStrike"/>
                    </a:p>
                  </a:txBody>
                  <a:tcPr marT="31775" marB="31775" marR="63550" marL="63550">
                    <a:solidFill>
                      <a:srgbClr val="F4F4FF"/>
                    </a:solidFill>
                  </a:tcPr>
                </a:tc>
              </a:tr>
            </a:tbl>
          </a:graphicData>
        </a:graphic>
      </p:graphicFrame>
      <p:pic>
        <p:nvPicPr>
          <p:cNvPr id="1065" name="Google Shape;1065;p43"/>
          <p:cNvPicPr preferRelativeResize="0"/>
          <p:nvPr/>
        </p:nvPicPr>
        <p:blipFill rotWithShape="1">
          <a:blip r:embed="rId3">
            <a:alphaModFix/>
          </a:blip>
          <a:srcRect b="24611" l="68244" r="28566" t="70297"/>
          <a:stretch/>
        </p:blipFill>
        <p:spPr>
          <a:xfrm>
            <a:off x="2267300" y="4459515"/>
            <a:ext cx="142837" cy="127256"/>
          </a:xfrm>
          <a:prstGeom prst="rect">
            <a:avLst/>
          </a:prstGeom>
          <a:noFill/>
          <a:ln>
            <a:noFill/>
          </a:ln>
        </p:spPr>
      </p:pic>
      <p:pic>
        <p:nvPicPr>
          <p:cNvPr id="1066" name="Google Shape;1066;p43"/>
          <p:cNvPicPr preferRelativeResize="0"/>
          <p:nvPr/>
        </p:nvPicPr>
        <p:blipFill rotWithShape="1">
          <a:blip r:embed="rId3">
            <a:alphaModFix/>
          </a:blip>
          <a:srcRect b="6581" l="56129" r="41415" t="86606"/>
          <a:stretch/>
        </p:blipFill>
        <p:spPr>
          <a:xfrm>
            <a:off x="2091156" y="5013157"/>
            <a:ext cx="71067" cy="110108"/>
          </a:xfrm>
          <a:prstGeom prst="rect">
            <a:avLst/>
          </a:prstGeom>
          <a:noFill/>
          <a:ln>
            <a:noFill/>
          </a:ln>
        </p:spPr>
      </p:pic>
      <p:graphicFrame>
        <p:nvGraphicFramePr>
          <p:cNvPr id="1067" name="Google Shape;1067;p43"/>
          <p:cNvGraphicFramePr/>
          <p:nvPr/>
        </p:nvGraphicFramePr>
        <p:xfrm>
          <a:off x="6199189" y="1100960"/>
          <a:ext cx="3000000" cy="3000000"/>
        </p:xfrm>
        <a:graphic>
          <a:graphicData uri="http://schemas.openxmlformats.org/drawingml/2006/table">
            <a:tbl>
              <a:tblPr bandRow="1">
                <a:noFill/>
                <a:tableStyleId>{111FAAAF-390B-45C5-8ABE-32D9CDC8B455}</a:tableStyleId>
              </a:tblPr>
              <a:tblGrid>
                <a:gridCol w="1969200"/>
              </a:tblGrid>
              <a:tr h="179700">
                <a:tc>
                  <a:txBody>
                    <a:bodyPr/>
                    <a:lstStyle/>
                    <a:p>
                      <a:pPr indent="0" lvl="0" marL="0" marR="0" rtl="0" algn="ctr">
                        <a:lnSpc>
                          <a:spcPct val="100000"/>
                        </a:lnSpc>
                        <a:spcBef>
                          <a:spcPts val="0"/>
                        </a:spcBef>
                        <a:spcAft>
                          <a:spcPts val="0"/>
                        </a:spcAft>
                        <a:buNone/>
                      </a:pPr>
                      <a:r>
                        <a:rPr b="1" lang="es-PE" sz="900" u="none" cap="none" strike="noStrike">
                          <a:solidFill>
                            <a:schemeClr val="lt1"/>
                          </a:solidFill>
                        </a:rPr>
                        <a:t>      CATEGORIA</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179700">
                <a:tc>
                  <a:txBody>
                    <a:bodyPr/>
                    <a:lstStyle/>
                    <a:p>
                      <a:pPr indent="134938" lvl="0" marL="222250" marR="0" rtl="0" algn="l">
                        <a:lnSpc>
                          <a:spcPct val="100000"/>
                        </a:lnSpc>
                        <a:spcBef>
                          <a:spcPts val="0"/>
                        </a:spcBef>
                        <a:spcAft>
                          <a:spcPts val="0"/>
                        </a:spcAft>
                        <a:buNone/>
                      </a:pPr>
                      <a:r>
                        <a:rPr lang="es-PE" sz="900" u="none" cap="none" strike="noStrike"/>
                        <a:t>CODICATE: INT</a:t>
                      </a:r>
                      <a:endParaRPr i="0" sz="9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380050">
                <a:tc>
                  <a:txBody>
                    <a:bodyPr/>
                    <a:lstStyle/>
                    <a:p>
                      <a:pPr indent="134938" lvl="0" marL="222250" marR="0" rtl="0" algn="l">
                        <a:lnSpc>
                          <a:spcPct val="100000"/>
                        </a:lnSpc>
                        <a:spcBef>
                          <a:spcPts val="0"/>
                        </a:spcBef>
                        <a:spcAft>
                          <a:spcPts val="0"/>
                        </a:spcAft>
                        <a:buNone/>
                      </a:pPr>
                      <a:r>
                        <a:rPr lang="es-PE" sz="900" u="none" cap="none" strike="noStrike"/>
                        <a:t>NOMCATE: VACHAR(50)</a:t>
                      </a:r>
                      <a:endParaRPr/>
                    </a:p>
                    <a:p>
                      <a:pPr indent="134938" lvl="0" marL="222250" marR="0" rtl="0" algn="l">
                        <a:lnSpc>
                          <a:spcPct val="100000"/>
                        </a:lnSpc>
                        <a:spcBef>
                          <a:spcPts val="0"/>
                        </a:spcBef>
                        <a:spcAft>
                          <a:spcPts val="0"/>
                        </a:spcAft>
                        <a:buNone/>
                      </a:pPr>
                      <a:r>
                        <a:rPr i="0" lang="es-PE" sz="900" u="none" cap="none" strike="noStrike"/>
                        <a:t>DESCATE: VACHAR (100)</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1068" name="Google Shape;1068;p43"/>
          <p:cNvPicPr preferRelativeResize="0"/>
          <p:nvPr/>
        </p:nvPicPr>
        <p:blipFill rotWithShape="1">
          <a:blip r:embed="rId3">
            <a:alphaModFix/>
          </a:blip>
          <a:srcRect b="24611" l="68244" r="28566" t="70297"/>
          <a:stretch/>
        </p:blipFill>
        <p:spPr>
          <a:xfrm>
            <a:off x="6770670" y="1129416"/>
            <a:ext cx="142837" cy="127256"/>
          </a:xfrm>
          <a:prstGeom prst="rect">
            <a:avLst/>
          </a:prstGeom>
          <a:noFill/>
          <a:ln>
            <a:noFill/>
          </a:ln>
        </p:spPr>
      </p:pic>
      <p:pic>
        <p:nvPicPr>
          <p:cNvPr id="1069" name="Google Shape;1069;p43"/>
          <p:cNvPicPr preferRelativeResize="0"/>
          <p:nvPr/>
        </p:nvPicPr>
        <p:blipFill rotWithShape="1">
          <a:blip r:embed="rId3">
            <a:alphaModFix/>
          </a:blip>
          <a:srcRect b="77047" l="27242" r="68751" t="15938"/>
          <a:stretch/>
        </p:blipFill>
        <p:spPr>
          <a:xfrm>
            <a:off x="6419044" y="1336066"/>
            <a:ext cx="129759" cy="126807"/>
          </a:xfrm>
          <a:prstGeom prst="rect">
            <a:avLst/>
          </a:prstGeom>
          <a:noFill/>
          <a:ln>
            <a:noFill/>
          </a:ln>
        </p:spPr>
      </p:pic>
      <p:pic>
        <p:nvPicPr>
          <p:cNvPr id="1070" name="Google Shape;1070;p43"/>
          <p:cNvPicPr preferRelativeResize="0"/>
          <p:nvPr/>
        </p:nvPicPr>
        <p:blipFill rotWithShape="1">
          <a:blip r:embed="rId3">
            <a:alphaModFix/>
          </a:blip>
          <a:srcRect b="6581" l="56129" r="41415" t="86606"/>
          <a:stretch/>
        </p:blipFill>
        <p:spPr>
          <a:xfrm>
            <a:off x="6464024" y="1546682"/>
            <a:ext cx="71067" cy="110108"/>
          </a:xfrm>
          <a:prstGeom prst="rect">
            <a:avLst/>
          </a:prstGeom>
          <a:noFill/>
          <a:ln>
            <a:noFill/>
          </a:ln>
        </p:spPr>
      </p:pic>
      <p:pic>
        <p:nvPicPr>
          <p:cNvPr id="1071" name="Google Shape;1071;p43"/>
          <p:cNvPicPr preferRelativeResize="0"/>
          <p:nvPr/>
        </p:nvPicPr>
        <p:blipFill rotWithShape="1">
          <a:blip r:embed="rId3">
            <a:alphaModFix/>
          </a:blip>
          <a:srcRect b="6581" l="56129" r="41415" t="86606"/>
          <a:stretch/>
        </p:blipFill>
        <p:spPr>
          <a:xfrm>
            <a:off x="6464024" y="1683058"/>
            <a:ext cx="71067" cy="110108"/>
          </a:xfrm>
          <a:prstGeom prst="rect">
            <a:avLst/>
          </a:prstGeom>
          <a:noFill/>
          <a:ln>
            <a:noFill/>
          </a:ln>
        </p:spPr>
      </p:pic>
      <p:graphicFrame>
        <p:nvGraphicFramePr>
          <p:cNvPr id="1072" name="Google Shape;1072;p43"/>
          <p:cNvGraphicFramePr/>
          <p:nvPr/>
        </p:nvGraphicFramePr>
        <p:xfrm>
          <a:off x="6673114" y="3198854"/>
          <a:ext cx="3000000" cy="3000000"/>
        </p:xfrm>
        <a:graphic>
          <a:graphicData uri="http://schemas.openxmlformats.org/drawingml/2006/table">
            <a:tbl>
              <a:tblPr bandRow="1">
                <a:noFill/>
                <a:tableStyleId>{111FAAAF-390B-45C5-8ABE-32D9CDC8B455}</a:tableStyleId>
              </a:tblPr>
              <a:tblGrid>
                <a:gridCol w="1969200"/>
              </a:tblGrid>
              <a:tr h="176875">
                <a:tc>
                  <a:txBody>
                    <a:bodyPr/>
                    <a:lstStyle/>
                    <a:p>
                      <a:pPr indent="0" lvl="0" marL="0" marR="0" rtl="0" algn="ctr">
                        <a:lnSpc>
                          <a:spcPct val="100000"/>
                        </a:lnSpc>
                        <a:spcBef>
                          <a:spcPts val="0"/>
                        </a:spcBef>
                        <a:spcAft>
                          <a:spcPts val="0"/>
                        </a:spcAft>
                        <a:buNone/>
                      </a:pPr>
                      <a:r>
                        <a:rPr b="1" lang="es-PE" sz="900" u="none" cap="none" strike="noStrike">
                          <a:solidFill>
                            <a:schemeClr val="lt1"/>
                          </a:solidFill>
                        </a:rPr>
                        <a:t>          DISPNIBILIDADXHAB</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634E97"/>
                    </a:solidFill>
                  </a:tcPr>
                </a:tc>
              </a:tr>
              <a:tr h="297725">
                <a:tc>
                  <a:txBody>
                    <a:bodyPr/>
                    <a:lstStyle/>
                    <a:p>
                      <a:pPr indent="134938" lvl="0" marL="222250" marR="0" rtl="0" algn="l">
                        <a:lnSpc>
                          <a:spcPct val="100000"/>
                        </a:lnSpc>
                        <a:spcBef>
                          <a:spcPts val="0"/>
                        </a:spcBef>
                        <a:spcAft>
                          <a:spcPts val="0"/>
                        </a:spcAft>
                        <a:buNone/>
                      </a:pPr>
                      <a:r>
                        <a:rPr lang="es-PE" sz="900" u="none" cap="none" strike="noStrike"/>
                        <a:t>NROHAB:</a:t>
                      </a:r>
                      <a:r>
                        <a:rPr lang="es-PE" sz="900" u="none" cap="none" strike="noStrike"/>
                        <a:t> CHAR (4) [FK]</a:t>
                      </a:r>
                      <a:endParaRPr/>
                    </a:p>
                    <a:p>
                      <a:pPr indent="134938" lvl="0" marL="222250" marR="0" rtl="0" algn="l">
                        <a:lnSpc>
                          <a:spcPct val="100000"/>
                        </a:lnSpc>
                        <a:spcBef>
                          <a:spcPts val="0"/>
                        </a:spcBef>
                        <a:spcAft>
                          <a:spcPts val="0"/>
                        </a:spcAft>
                        <a:buNone/>
                      </a:pPr>
                      <a:r>
                        <a:rPr i="0" lang="es-PE" sz="900" u="none" cap="none" strike="noStrike"/>
                        <a:t>NROREG: INT</a:t>
                      </a:r>
                      <a:endParaRPr i="0" sz="900" u="none" cap="none" strike="noStrike"/>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r h="490350">
                <a:tc>
                  <a:txBody>
                    <a:bodyPr/>
                    <a:lstStyle/>
                    <a:p>
                      <a:pPr indent="134938" lvl="0" marL="222250" marR="0" rtl="0" algn="l">
                        <a:lnSpc>
                          <a:spcPct val="100000"/>
                        </a:lnSpc>
                        <a:spcBef>
                          <a:spcPts val="0"/>
                        </a:spcBef>
                        <a:spcAft>
                          <a:spcPts val="0"/>
                        </a:spcAft>
                        <a:buNone/>
                      </a:pPr>
                      <a:r>
                        <a:rPr lang="es-PE" sz="900" u="none" cap="none" strike="noStrike"/>
                        <a:t>FECHAINI: DATE</a:t>
                      </a:r>
                      <a:endParaRPr/>
                    </a:p>
                    <a:p>
                      <a:pPr indent="134938" lvl="0" marL="222250" marR="0" rtl="0" algn="l">
                        <a:lnSpc>
                          <a:spcPct val="100000"/>
                        </a:lnSpc>
                        <a:spcBef>
                          <a:spcPts val="0"/>
                        </a:spcBef>
                        <a:spcAft>
                          <a:spcPts val="0"/>
                        </a:spcAft>
                        <a:buNone/>
                      </a:pPr>
                      <a:r>
                        <a:rPr i="0" lang="es-PE" sz="900" u="none" cap="none" strike="noStrike"/>
                        <a:t>FECHAFIN: DATE</a:t>
                      </a:r>
                      <a:endParaRPr/>
                    </a:p>
                    <a:p>
                      <a:pPr indent="134938" lvl="0" marL="222250" marR="0" rtl="0" algn="l">
                        <a:lnSpc>
                          <a:spcPct val="100000"/>
                        </a:lnSpc>
                        <a:spcBef>
                          <a:spcPts val="0"/>
                        </a:spcBef>
                        <a:spcAft>
                          <a:spcPts val="0"/>
                        </a:spcAft>
                        <a:buNone/>
                      </a:pPr>
                      <a:r>
                        <a:rPr i="0" lang="es-PE" sz="900" u="none" cap="none" strike="noStrike"/>
                        <a:t>ESTADO: VARCHAR (20)</a:t>
                      </a:r>
                      <a:endParaRPr/>
                    </a:p>
                  </a:txBody>
                  <a:tcPr marT="31775" marB="31775" marR="63550" marL="63550">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lnT cap="flat" cmpd="sng" w="12700">
                      <a:solidFill>
                        <a:srgbClr val="7F7F7F"/>
                      </a:solidFill>
                      <a:prstDash val="solid"/>
                      <a:round/>
                      <a:headEnd len="sm" w="sm" type="none"/>
                      <a:tailEnd len="sm" w="sm" type="none"/>
                    </a:lnT>
                    <a:lnB cap="flat" cmpd="sng" w="12700">
                      <a:solidFill>
                        <a:srgbClr val="7F7F7F"/>
                      </a:solidFill>
                      <a:prstDash val="solid"/>
                      <a:round/>
                      <a:headEnd len="sm" w="sm" type="none"/>
                      <a:tailEnd len="sm" w="sm" type="none"/>
                    </a:lnB>
                    <a:solidFill>
                      <a:srgbClr val="F4F4FF"/>
                    </a:solidFill>
                  </a:tcPr>
                </a:tc>
              </a:tr>
            </a:tbl>
          </a:graphicData>
        </a:graphic>
      </p:graphicFrame>
      <p:pic>
        <p:nvPicPr>
          <p:cNvPr id="1073" name="Google Shape;1073;p43"/>
          <p:cNvPicPr preferRelativeResize="0"/>
          <p:nvPr/>
        </p:nvPicPr>
        <p:blipFill rotWithShape="1">
          <a:blip r:embed="rId3">
            <a:alphaModFix/>
          </a:blip>
          <a:srcRect b="24611" l="68244" r="28566" t="70297"/>
          <a:stretch/>
        </p:blipFill>
        <p:spPr>
          <a:xfrm>
            <a:off x="7097947" y="3235936"/>
            <a:ext cx="142837" cy="127256"/>
          </a:xfrm>
          <a:prstGeom prst="rect">
            <a:avLst/>
          </a:prstGeom>
          <a:noFill/>
          <a:ln>
            <a:noFill/>
          </a:ln>
        </p:spPr>
      </p:pic>
      <p:pic>
        <p:nvPicPr>
          <p:cNvPr id="1074" name="Google Shape;1074;p43"/>
          <p:cNvPicPr preferRelativeResize="0"/>
          <p:nvPr/>
        </p:nvPicPr>
        <p:blipFill rotWithShape="1">
          <a:blip r:embed="rId3">
            <a:alphaModFix/>
          </a:blip>
          <a:srcRect b="77047" l="27242" r="68751" t="15938"/>
          <a:stretch/>
        </p:blipFill>
        <p:spPr>
          <a:xfrm>
            <a:off x="6906733" y="3583188"/>
            <a:ext cx="129759" cy="126807"/>
          </a:xfrm>
          <a:prstGeom prst="rect">
            <a:avLst/>
          </a:prstGeom>
          <a:noFill/>
          <a:ln>
            <a:noFill/>
          </a:ln>
        </p:spPr>
      </p:pic>
      <p:pic>
        <p:nvPicPr>
          <p:cNvPr id="1075" name="Google Shape;1075;p43"/>
          <p:cNvPicPr preferRelativeResize="0"/>
          <p:nvPr/>
        </p:nvPicPr>
        <p:blipFill rotWithShape="1">
          <a:blip r:embed="rId3">
            <a:alphaModFix/>
          </a:blip>
          <a:srcRect b="6581" l="56129" r="41415" t="86606"/>
          <a:stretch/>
        </p:blipFill>
        <p:spPr>
          <a:xfrm>
            <a:off x="6937949" y="3780952"/>
            <a:ext cx="71067" cy="110108"/>
          </a:xfrm>
          <a:prstGeom prst="rect">
            <a:avLst/>
          </a:prstGeom>
          <a:noFill/>
          <a:ln>
            <a:noFill/>
          </a:ln>
        </p:spPr>
      </p:pic>
      <p:pic>
        <p:nvPicPr>
          <p:cNvPr id="1076" name="Google Shape;1076;p43"/>
          <p:cNvPicPr preferRelativeResize="0"/>
          <p:nvPr/>
        </p:nvPicPr>
        <p:blipFill rotWithShape="1">
          <a:blip r:embed="rId3">
            <a:alphaModFix/>
          </a:blip>
          <a:srcRect b="6581" l="56129" r="41415" t="86606"/>
          <a:stretch/>
        </p:blipFill>
        <p:spPr>
          <a:xfrm>
            <a:off x="6937949" y="3917328"/>
            <a:ext cx="71067" cy="110108"/>
          </a:xfrm>
          <a:prstGeom prst="rect">
            <a:avLst/>
          </a:prstGeom>
          <a:noFill/>
          <a:ln>
            <a:noFill/>
          </a:ln>
        </p:spPr>
      </p:pic>
      <p:pic>
        <p:nvPicPr>
          <p:cNvPr id="1077" name="Google Shape;1077;p43"/>
          <p:cNvPicPr preferRelativeResize="0"/>
          <p:nvPr/>
        </p:nvPicPr>
        <p:blipFill rotWithShape="1">
          <a:blip r:embed="rId3">
            <a:alphaModFix/>
          </a:blip>
          <a:srcRect b="6581" l="56129" r="41415" t="86606"/>
          <a:stretch/>
        </p:blipFill>
        <p:spPr>
          <a:xfrm>
            <a:off x="6937949" y="4053704"/>
            <a:ext cx="71067" cy="110108"/>
          </a:xfrm>
          <a:prstGeom prst="rect">
            <a:avLst/>
          </a:prstGeom>
          <a:noFill/>
          <a:ln>
            <a:noFill/>
          </a:ln>
        </p:spPr>
      </p:pic>
      <p:cxnSp>
        <p:nvCxnSpPr>
          <p:cNvPr id="1078" name="Google Shape;1078;p43"/>
          <p:cNvCxnSpPr/>
          <p:nvPr/>
        </p:nvCxnSpPr>
        <p:spPr>
          <a:xfrm>
            <a:off x="1680500" y="2652759"/>
            <a:ext cx="144179" cy="0"/>
          </a:xfrm>
          <a:prstGeom prst="straightConnector1">
            <a:avLst/>
          </a:prstGeom>
          <a:noFill/>
          <a:ln cap="flat" cmpd="sng" w="38100">
            <a:solidFill>
              <a:srgbClr val="634E97"/>
            </a:solidFill>
            <a:prstDash val="solid"/>
            <a:round/>
            <a:headEnd len="sm" w="sm" type="none"/>
            <a:tailEnd len="sm" w="sm" type="none"/>
          </a:ln>
        </p:spPr>
      </p:cxnSp>
      <p:cxnSp>
        <p:nvCxnSpPr>
          <p:cNvPr id="1079" name="Google Shape;1079;p43"/>
          <p:cNvCxnSpPr/>
          <p:nvPr/>
        </p:nvCxnSpPr>
        <p:spPr>
          <a:xfrm>
            <a:off x="5253792" y="3707513"/>
            <a:ext cx="1235661" cy="0"/>
          </a:xfrm>
          <a:prstGeom prst="straightConnector1">
            <a:avLst/>
          </a:prstGeom>
          <a:noFill/>
          <a:ln cap="flat" cmpd="sng" w="38100">
            <a:solidFill>
              <a:srgbClr val="634E97"/>
            </a:solidFill>
            <a:prstDash val="solid"/>
            <a:round/>
            <a:headEnd len="sm" w="sm" type="none"/>
            <a:tailEnd len="sm" w="sm" type="none"/>
          </a:ln>
        </p:spPr>
      </p:cxnSp>
      <p:cxnSp>
        <p:nvCxnSpPr>
          <p:cNvPr id="1080" name="Google Shape;1080;p43"/>
          <p:cNvCxnSpPr/>
          <p:nvPr/>
        </p:nvCxnSpPr>
        <p:spPr>
          <a:xfrm rot="-5400000">
            <a:off x="3094317" y="3703868"/>
            <a:ext cx="144179" cy="0"/>
          </a:xfrm>
          <a:prstGeom prst="straightConnector1">
            <a:avLst/>
          </a:prstGeom>
          <a:noFill/>
          <a:ln cap="flat" cmpd="sng" w="38100">
            <a:solidFill>
              <a:srgbClr val="634E97"/>
            </a:solidFill>
            <a:prstDash val="solid"/>
            <a:round/>
            <a:headEnd len="sm" w="sm" type="none"/>
            <a:tailEnd len="sm" w="sm" type="none"/>
          </a:ln>
        </p:spPr>
      </p:cxnSp>
      <p:cxnSp>
        <p:nvCxnSpPr>
          <p:cNvPr id="1081" name="Google Shape;1081;p43"/>
          <p:cNvCxnSpPr/>
          <p:nvPr/>
        </p:nvCxnSpPr>
        <p:spPr>
          <a:xfrm rot="-5400000">
            <a:off x="2459187" y="3701657"/>
            <a:ext cx="144179" cy="0"/>
          </a:xfrm>
          <a:prstGeom prst="straightConnector1">
            <a:avLst/>
          </a:prstGeom>
          <a:noFill/>
          <a:ln cap="flat" cmpd="sng" w="38100">
            <a:solidFill>
              <a:srgbClr val="634E97"/>
            </a:solidFill>
            <a:prstDash val="solid"/>
            <a:round/>
            <a:headEnd len="sm" w="sm" type="none"/>
            <a:tailEnd len="sm" w="sm" type="none"/>
          </a:ln>
        </p:spPr>
      </p:cxnSp>
      <p:pic>
        <p:nvPicPr>
          <p:cNvPr id="1082" name="Google Shape;1082;p43"/>
          <p:cNvPicPr preferRelativeResize="0"/>
          <p:nvPr/>
        </p:nvPicPr>
        <p:blipFill rotWithShape="1">
          <a:blip r:embed="rId4">
            <a:alphaModFix/>
          </a:blip>
          <a:srcRect b="59060" l="2343" r="95097" t="34616"/>
          <a:stretch/>
        </p:blipFill>
        <p:spPr>
          <a:xfrm>
            <a:off x="749120" y="4009289"/>
            <a:ext cx="103509" cy="117468"/>
          </a:xfrm>
          <a:prstGeom prst="rect">
            <a:avLst/>
          </a:prstGeom>
          <a:noFill/>
          <a:ln>
            <a:noFill/>
          </a:ln>
        </p:spPr>
      </p:pic>
      <p:pic>
        <p:nvPicPr>
          <p:cNvPr id="1083" name="Google Shape;1083;p43"/>
          <p:cNvPicPr preferRelativeResize="0"/>
          <p:nvPr/>
        </p:nvPicPr>
        <p:blipFill rotWithShape="1">
          <a:blip r:embed="rId4">
            <a:alphaModFix/>
          </a:blip>
          <a:srcRect b="59060" l="2343" r="95097" t="34616"/>
          <a:stretch/>
        </p:blipFill>
        <p:spPr>
          <a:xfrm>
            <a:off x="2074935" y="4671579"/>
            <a:ext cx="103509" cy="117468"/>
          </a:xfrm>
          <a:prstGeom prst="rect">
            <a:avLst/>
          </a:prstGeom>
          <a:noFill/>
          <a:ln>
            <a:noFill/>
          </a:ln>
        </p:spPr>
      </p:pic>
      <p:pic>
        <p:nvPicPr>
          <p:cNvPr id="1084" name="Google Shape;1084;p43"/>
          <p:cNvPicPr preferRelativeResize="0"/>
          <p:nvPr/>
        </p:nvPicPr>
        <p:blipFill rotWithShape="1">
          <a:blip r:embed="rId4">
            <a:alphaModFix/>
          </a:blip>
          <a:srcRect b="59060" l="2343" r="95097" t="34616"/>
          <a:stretch/>
        </p:blipFill>
        <p:spPr>
          <a:xfrm>
            <a:off x="2074935" y="4823643"/>
            <a:ext cx="103509" cy="117468"/>
          </a:xfrm>
          <a:prstGeom prst="rect">
            <a:avLst/>
          </a:prstGeom>
          <a:noFill/>
          <a:ln>
            <a:noFill/>
          </a:ln>
        </p:spPr>
      </p:pic>
      <p:pic>
        <p:nvPicPr>
          <p:cNvPr id="1085" name="Google Shape;1085;p43"/>
          <p:cNvPicPr preferRelativeResize="0"/>
          <p:nvPr/>
        </p:nvPicPr>
        <p:blipFill rotWithShape="1">
          <a:blip r:embed="rId4">
            <a:alphaModFix/>
          </a:blip>
          <a:srcRect b="59060" l="2343" r="95097" t="34616"/>
          <a:stretch/>
        </p:blipFill>
        <p:spPr>
          <a:xfrm>
            <a:off x="3545070" y="3991143"/>
            <a:ext cx="103509" cy="117468"/>
          </a:xfrm>
          <a:prstGeom prst="rect">
            <a:avLst/>
          </a:prstGeom>
          <a:noFill/>
          <a:ln>
            <a:noFill/>
          </a:ln>
        </p:spPr>
      </p:pic>
      <p:pic>
        <p:nvPicPr>
          <p:cNvPr id="1086" name="Google Shape;1086;p43"/>
          <p:cNvPicPr preferRelativeResize="0"/>
          <p:nvPr/>
        </p:nvPicPr>
        <p:blipFill rotWithShape="1">
          <a:blip r:embed="rId4">
            <a:alphaModFix/>
          </a:blip>
          <a:srcRect b="59060" l="2343" r="95097" t="34616"/>
          <a:stretch/>
        </p:blipFill>
        <p:spPr>
          <a:xfrm>
            <a:off x="6916018" y="3442801"/>
            <a:ext cx="103509" cy="117468"/>
          </a:xfrm>
          <a:prstGeom prst="rect">
            <a:avLst/>
          </a:prstGeom>
          <a:noFill/>
          <a:ln>
            <a:noFill/>
          </a:ln>
        </p:spPr>
      </p:pic>
      <p:sp>
        <p:nvSpPr>
          <p:cNvPr id="1087" name="Google Shape;1087;p43"/>
          <p:cNvSpPr/>
          <p:nvPr/>
        </p:nvSpPr>
        <p:spPr>
          <a:xfrm>
            <a:off x="468313" y="333708"/>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700" u="none" cap="none" strike="noStrike">
                <a:solidFill>
                  <a:srgbClr val="438AD7"/>
                </a:solidFill>
                <a:latin typeface="Calibri"/>
                <a:ea typeface="Calibri"/>
                <a:cs typeface="Calibri"/>
                <a:sym typeface="Calibri"/>
              </a:rPr>
              <a:t>/ EL MODELO FÍSICO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4"/>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3" name="Google Shape;1093;p24"/>
          <p:cNvSpPr/>
          <p:nvPr/>
        </p:nvSpPr>
        <p:spPr>
          <a:xfrm>
            <a:off x="472599" y="321226"/>
            <a:ext cx="7132485" cy="20005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s-PE" sz="1300" u="none" cap="none" strike="noStrike">
                <a:solidFill>
                  <a:srgbClr val="FFFFFF"/>
                </a:solidFill>
                <a:latin typeface="Calibri"/>
                <a:ea typeface="Calibri"/>
                <a:cs typeface="Calibri"/>
                <a:sym typeface="Calibri"/>
              </a:rPr>
              <a:t>/ CONCLUSIONES</a:t>
            </a:r>
            <a:endParaRPr b="0" i="0" sz="1300" u="none" cap="none" strike="noStrike">
              <a:solidFill>
                <a:srgbClr val="FFFFFF"/>
              </a:solidFill>
              <a:latin typeface="Calibri"/>
              <a:ea typeface="Calibri"/>
              <a:cs typeface="Calibri"/>
              <a:sym typeface="Calibri"/>
            </a:endParaRPr>
          </a:p>
        </p:txBody>
      </p:sp>
      <p:sp>
        <p:nvSpPr>
          <p:cNvPr id="1094" name="Google Shape;1094;p24"/>
          <p:cNvSpPr/>
          <p:nvPr/>
        </p:nvSpPr>
        <p:spPr>
          <a:xfrm>
            <a:off x="786319" y="707786"/>
            <a:ext cx="7572677" cy="4708981"/>
          </a:xfrm>
          <a:prstGeom prst="rect">
            <a:avLst/>
          </a:prstGeom>
          <a:noFill/>
          <a:ln>
            <a:noFill/>
          </a:ln>
        </p:spPr>
        <p:txBody>
          <a:bodyPr anchorCtr="0" anchor="t" bIns="0" lIns="0" spcFirstLastPara="1" rIns="0" wrap="square" tIns="0">
            <a:spAutoFit/>
          </a:bodyPr>
          <a:lstStyle/>
          <a:p>
            <a:pPr indent="-179388" lvl="0" marL="179388" marR="0" rtl="0" algn="l">
              <a:lnSpc>
                <a:spcPct val="100000"/>
              </a:lnSpc>
              <a:spcBef>
                <a:spcPts val="0"/>
              </a:spcBef>
              <a:spcAft>
                <a:spcPts val="0"/>
              </a:spcAft>
              <a:buClr>
                <a:schemeClr val="lt1"/>
              </a:buClr>
              <a:buSzPts val="1700"/>
              <a:buFont typeface="Arial"/>
              <a:buChar char="•"/>
            </a:pPr>
            <a:r>
              <a:rPr b="0" i="0" lang="es-PE" sz="1700" u="none" cap="none" strike="noStrike">
                <a:solidFill>
                  <a:schemeClr val="lt1"/>
                </a:solidFill>
                <a:latin typeface="Calibri"/>
                <a:ea typeface="Calibri"/>
                <a:cs typeface="Calibri"/>
                <a:sym typeface="Calibri"/>
              </a:rPr>
              <a:t>El Modelo Conceptual es la estructura de los datos de un sistema, independientemente de la implementación posterior de la base de datos y que representa conceptos significativos de un dominio de problema.</a:t>
            </a:r>
            <a:endParaRPr b="0" i="0" sz="1700" u="none" cap="none" strike="noStrike">
              <a:solidFill>
                <a:schemeClr val="lt1"/>
              </a:solidFill>
              <a:latin typeface="Calibri"/>
              <a:ea typeface="Calibri"/>
              <a:cs typeface="Calibri"/>
              <a:sym typeface="Calibri"/>
            </a:endParaRPr>
          </a:p>
          <a:p>
            <a:pPr indent="-179388" lvl="0" marL="179388"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179388" lvl="0" marL="179388" marR="0" rtl="0" algn="l">
              <a:lnSpc>
                <a:spcPct val="100000"/>
              </a:lnSpc>
              <a:spcBef>
                <a:spcPts val="0"/>
              </a:spcBef>
              <a:spcAft>
                <a:spcPts val="0"/>
              </a:spcAft>
              <a:buClr>
                <a:schemeClr val="lt1"/>
              </a:buClr>
              <a:buSzPts val="1700"/>
              <a:buFont typeface="Arial"/>
              <a:buChar char="•"/>
            </a:pPr>
            <a:r>
              <a:rPr b="0" i="0" lang="es-PE" sz="1700" u="none" cap="none" strike="noStrike">
                <a:solidFill>
                  <a:schemeClr val="lt1"/>
                </a:solidFill>
                <a:latin typeface="Calibri"/>
                <a:ea typeface="Calibri"/>
                <a:cs typeface="Calibri"/>
                <a:sym typeface="Calibri"/>
              </a:rPr>
              <a:t>El modelo lógico es una fuente de información para el diseño físico que se desprende del modelo conceptual a través de reglas semánticas.</a:t>
            </a:r>
            <a:endParaRPr/>
          </a:p>
          <a:p>
            <a:pPr indent="-71438" lvl="0" marL="179388" marR="0" rtl="0" algn="l">
              <a:lnSpc>
                <a:spcPct val="100000"/>
              </a:lnSpc>
              <a:spcBef>
                <a:spcPts val="0"/>
              </a:spcBef>
              <a:spcAft>
                <a:spcPts val="0"/>
              </a:spcAft>
              <a:buClr>
                <a:schemeClr val="lt1"/>
              </a:buClr>
              <a:buSzPts val="1700"/>
              <a:buFont typeface="Arial"/>
              <a:buNone/>
            </a:pPr>
            <a:r>
              <a:t/>
            </a:r>
            <a:endParaRPr b="0" i="0" sz="1700" u="none" cap="none" strike="noStrike">
              <a:solidFill>
                <a:schemeClr val="lt1"/>
              </a:solidFill>
              <a:latin typeface="Calibri"/>
              <a:ea typeface="Calibri"/>
              <a:cs typeface="Calibri"/>
              <a:sym typeface="Calibri"/>
            </a:endParaRPr>
          </a:p>
          <a:p>
            <a:pPr indent="-179388" lvl="0" marL="179388" marR="0" rtl="0" algn="l">
              <a:lnSpc>
                <a:spcPct val="100000"/>
              </a:lnSpc>
              <a:spcBef>
                <a:spcPts val="0"/>
              </a:spcBef>
              <a:spcAft>
                <a:spcPts val="0"/>
              </a:spcAft>
              <a:buClr>
                <a:schemeClr val="lt1"/>
              </a:buClr>
              <a:buSzPts val="1700"/>
              <a:buFont typeface="Arial"/>
              <a:buChar char="•"/>
            </a:pPr>
            <a:r>
              <a:rPr b="0" i="0" lang="es-PE" sz="1700" u="none" cap="none" strike="noStrike">
                <a:solidFill>
                  <a:schemeClr val="lt1"/>
                </a:solidFill>
                <a:latin typeface="Calibri"/>
                <a:ea typeface="Calibri"/>
                <a:cs typeface="Calibri"/>
                <a:sym typeface="Calibri"/>
              </a:rPr>
              <a:t>Los modelos de datos definen cómo se modela la estructura lógica de una base de datos. Los modelos de datos son entidades fundamentales para introducir la abstracción en una base de datos, definiendo cómo los datos se conectan entre sí y cómo se procesan y almacenan dentro del sistema.</a:t>
            </a:r>
            <a:endParaRPr/>
          </a:p>
          <a:p>
            <a:pPr indent="-71438" lvl="0" marL="179388" marR="0" rtl="0" algn="l">
              <a:lnSpc>
                <a:spcPct val="100000"/>
              </a:lnSpc>
              <a:spcBef>
                <a:spcPts val="0"/>
              </a:spcBef>
              <a:spcAft>
                <a:spcPts val="0"/>
              </a:spcAft>
              <a:buClr>
                <a:schemeClr val="lt1"/>
              </a:buClr>
              <a:buSzPts val="1700"/>
              <a:buFont typeface="Arial"/>
              <a:buNone/>
            </a:pPr>
            <a:r>
              <a:t/>
            </a:r>
            <a:endParaRPr b="0" i="0" sz="1700" u="none" cap="none" strike="noStrike">
              <a:solidFill>
                <a:schemeClr val="lt1"/>
              </a:solidFill>
              <a:latin typeface="Calibri"/>
              <a:ea typeface="Calibri"/>
              <a:cs typeface="Calibri"/>
              <a:sym typeface="Calibri"/>
            </a:endParaRPr>
          </a:p>
          <a:p>
            <a:pPr indent="-179388" lvl="0" marL="179388" marR="0" rtl="0" algn="l">
              <a:lnSpc>
                <a:spcPct val="100000"/>
              </a:lnSpc>
              <a:spcBef>
                <a:spcPts val="0"/>
              </a:spcBef>
              <a:spcAft>
                <a:spcPts val="0"/>
              </a:spcAft>
              <a:buClr>
                <a:schemeClr val="lt1"/>
              </a:buClr>
              <a:buSzPts val="1700"/>
              <a:buFont typeface="Arial"/>
              <a:buChar char="•"/>
            </a:pPr>
            <a:r>
              <a:rPr b="0" i="0" lang="es-PE" sz="1700" u="none" cap="none" strike="noStrike">
                <a:solidFill>
                  <a:schemeClr val="lt1"/>
                </a:solidFill>
                <a:latin typeface="Calibri"/>
                <a:ea typeface="Calibri"/>
                <a:cs typeface="Calibri"/>
                <a:sym typeface="Calibri"/>
              </a:rPr>
              <a:t>El modelo de datos físicos representa cómo se construirá el modelo en la base de datos, mostrando todas las estructuras de tabla, incluidos </a:t>
            </a:r>
            <a:br>
              <a:rPr b="0" i="0" lang="es-PE" sz="1700" u="none" cap="none" strike="noStrike">
                <a:solidFill>
                  <a:schemeClr val="lt1"/>
                </a:solidFill>
                <a:latin typeface="Calibri"/>
                <a:ea typeface="Calibri"/>
                <a:cs typeface="Calibri"/>
                <a:sym typeface="Calibri"/>
              </a:rPr>
            </a:br>
            <a:r>
              <a:rPr b="0" i="0" lang="es-PE" sz="1700" u="none" cap="none" strike="noStrike">
                <a:solidFill>
                  <a:schemeClr val="lt1"/>
                </a:solidFill>
                <a:latin typeface="Calibri"/>
                <a:ea typeface="Calibri"/>
                <a:cs typeface="Calibri"/>
                <a:sym typeface="Calibri"/>
              </a:rPr>
              <a:t>el nombre de columna, el tipo de datos de columna, las restricciones </a:t>
            </a:r>
            <a:br>
              <a:rPr b="0" i="0" lang="es-PE" sz="1700" u="none" cap="none" strike="noStrike">
                <a:solidFill>
                  <a:schemeClr val="lt1"/>
                </a:solidFill>
                <a:latin typeface="Calibri"/>
                <a:ea typeface="Calibri"/>
                <a:cs typeface="Calibri"/>
                <a:sym typeface="Calibri"/>
              </a:rPr>
            </a:br>
            <a:r>
              <a:rPr b="0" i="0" lang="es-PE" sz="1700" u="none" cap="none" strike="noStrike">
                <a:solidFill>
                  <a:schemeClr val="lt1"/>
                </a:solidFill>
                <a:latin typeface="Calibri"/>
                <a:ea typeface="Calibri"/>
                <a:cs typeface="Calibri"/>
                <a:sym typeface="Calibri"/>
              </a:rPr>
              <a:t>de columna, la clave principal, la clave externa y las relaciones entre las tablas. Las consideraciones físicas pueden hacer que el modelo de datos físicos sea bastante diferente del modelo de datos lógicos.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25"/>
          <p:cNvSpPr txBox="1"/>
          <p:nvPr/>
        </p:nvSpPr>
        <p:spPr>
          <a:xfrm>
            <a:off x="478950" y="927447"/>
            <a:ext cx="8207400" cy="3561600"/>
          </a:xfrm>
          <a:prstGeom prst="rect">
            <a:avLst/>
          </a:prstGeom>
          <a:noFill/>
          <a:ln>
            <a:noFill/>
          </a:ln>
        </p:spPr>
        <p:txBody>
          <a:bodyPr anchorCtr="0" anchor="t" bIns="0" lIns="0" spcFirstLastPara="1" rIns="0" wrap="square" tIns="0">
            <a:noAutofit/>
          </a:bodyPr>
          <a:lstStyle/>
          <a:p>
            <a:pPr indent="-179387" lvl="0" marL="179387" marR="0" rtl="0" algn="l">
              <a:lnSpc>
                <a:spcPct val="100000"/>
              </a:lnSpc>
              <a:spcBef>
                <a:spcPts val="0"/>
              </a:spcBef>
              <a:spcAft>
                <a:spcPts val="0"/>
              </a:spcAft>
              <a:buClr>
                <a:schemeClr val="dk1"/>
              </a:buClr>
              <a:buSzPts val="1500"/>
              <a:buFont typeface="Arial"/>
              <a:buChar char="•"/>
            </a:pPr>
            <a:r>
              <a:rPr b="0" i="0" lang="es-PE" sz="1600" u="none" cap="none" strike="noStrike">
                <a:solidFill>
                  <a:schemeClr val="dk1"/>
                </a:solidFill>
                <a:latin typeface="Calibri"/>
                <a:ea typeface="Calibri"/>
                <a:cs typeface="Calibri"/>
                <a:sym typeface="Calibri"/>
              </a:rPr>
              <a:t>Benett, McRobb y Farmer (2007). Análisis y Diseño de Sistemas orientado a objetos con UML. (3ra Edición). México D.F. McGraw-Hill.</a:t>
            </a:r>
            <a:endParaRPr b="0" i="0" sz="16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600">
              <a:solidFill>
                <a:schemeClr val="dk1"/>
              </a:solidFill>
              <a:latin typeface="Calibri"/>
              <a:ea typeface="Calibri"/>
              <a:cs typeface="Calibri"/>
              <a:sym typeface="Calibri"/>
            </a:endParaRPr>
          </a:p>
          <a:p>
            <a:pPr indent="-179387" lvl="0" marL="179387" marR="0" rtl="0" algn="l">
              <a:lnSpc>
                <a:spcPct val="100000"/>
              </a:lnSpc>
              <a:spcBef>
                <a:spcPts val="0"/>
              </a:spcBef>
              <a:spcAft>
                <a:spcPts val="0"/>
              </a:spcAft>
              <a:buClr>
                <a:schemeClr val="dk1"/>
              </a:buClr>
              <a:buSzPts val="1500"/>
              <a:buFont typeface="Arial"/>
              <a:buChar char="•"/>
            </a:pPr>
            <a:r>
              <a:rPr b="0" i="0" lang="es-PE" sz="1600" u="none" cap="none" strike="noStrike">
                <a:solidFill>
                  <a:schemeClr val="dk1"/>
                </a:solidFill>
                <a:latin typeface="Calibri"/>
                <a:ea typeface="Calibri"/>
                <a:cs typeface="Calibri"/>
                <a:sym typeface="Calibri"/>
              </a:rPr>
              <a:t>Kendall, Kenneth y Kendall, Julie (2011). Análisis y Diseño de Sistemas de Información (8va. Edición). México. Pearson Educación.</a:t>
            </a:r>
            <a:endParaRPr b="0" i="0" sz="16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600">
              <a:solidFill>
                <a:schemeClr val="dk1"/>
              </a:solidFill>
              <a:latin typeface="Calibri"/>
              <a:ea typeface="Calibri"/>
              <a:cs typeface="Calibri"/>
              <a:sym typeface="Calibri"/>
            </a:endParaRPr>
          </a:p>
          <a:p>
            <a:pPr indent="-179387" lvl="0" marL="179387" marR="0" rtl="0" algn="l">
              <a:lnSpc>
                <a:spcPct val="100000"/>
              </a:lnSpc>
              <a:spcBef>
                <a:spcPts val="0"/>
              </a:spcBef>
              <a:spcAft>
                <a:spcPts val="0"/>
              </a:spcAft>
              <a:buClr>
                <a:schemeClr val="dk1"/>
              </a:buClr>
              <a:buSzPts val="1500"/>
              <a:buFont typeface="Arial"/>
              <a:buChar char="•"/>
            </a:pPr>
            <a:r>
              <a:rPr b="0" i="0" lang="es-PE" sz="1600" u="none" cap="none" strike="noStrike">
                <a:solidFill>
                  <a:schemeClr val="dk1"/>
                </a:solidFill>
                <a:latin typeface="Calibri"/>
                <a:ea typeface="Calibri"/>
                <a:cs typeface="Calibri"/>
                <a:sym typeface="Calibri"/>
              </a:rPr>
              <a:t>Sommerville, Ian (2011). Ingeniería de Software (9na. Edición). México. Prentice Hall.</a:t>
            </a:r>
            <a:endParaRPr b="0" i="0" sz="16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600">
              <a:solidFill>
                <a:schemeClr val="dk1"/>
              </a:solidFill>
              <a:latin typeface="Calibri"/>
              <a:ea typeface="Calibri"/>
              <a:cs typeface="Calibri"/>
              <a:sym typeface="Calibri"/>
            </a:endParaRPr>
          </a:p>
          <a:p>
            <a:pPr indent="-179387" lvl="0" marL="179387" marR="0" rtl="0" algn="l">
              <a:lnSpc>
                <a:spcPct val="100000"/>
              </a:lnSpc>
              <a:spcBef>
                <a:spcPts val="0"/>
              </a:spcBef>
              <a:spcAft>
                <a:spcPts val="0"/>
              </a:spcAft>
              <a:buClr>
                <a:schemeClr val="dk1"/>
              </a:buClr>
              <a:buSzPts val="1500"/>
              <a:buFont typeface="Arial"/>
              <a:buChar char="•"/>
            </a:pPr>
            <a:r>
              <a:rPr b="0" i="0" lang="es-PE" sz="1600" u="none" cap="none" strike="noStrike">
                <a:solidFill>
                  <a:schemeClr val="dk1"/>
                </a:solidFill>
                <a:latin typeface="Calibri"/>
                <a:ea typeface="Calibri"/>
                <a:cs typeface="Calibri"/>
                <a:sym typeface="Calibri"/>
              </a:rPr>
              <a:t>Checkland, P. (1993). El pensamiento de sistemas. Limusa.</a:t>
            </a:r>
            <a:endParaRPr b="0" i="0" sz="16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600">
              <a:solidFill>
                <a:schemeClr val="dk1"/>
              </a:solidFill>
              <a:latin typeface="Calibri"/>
              <a:ea typeface="Calibri"/>
              <a:cs typeface="Calibri"/>
              <a:sym typeface="Calibri"/>
            </a:endParaRPr>
          </a:p>
          <a:p>
            <a:pPr indent="-179387" lvl="0" marL="179387" marR="0" rtl="0" algn="l">
              <a:lnSpc>
                <a:spcPct val="100000"/>
              </a:lnSpc>
              <a:spcBef>
                <a:spcPts val="0"/>
              </a:spcBef>
              <a:spcAft>
                <a:spcPts val="0"/>
              </a:spcAft>
              <a:buClr>
                <a:schemeClr val="dk1"/>
              </a:buClr>
              <a:buSzPts val="1500"/>
              <a:buFont typeface="Arial"/>
              <a:buChar char="•"/>
            </a:pPr>
            <a:r>
              <a:rPr b="0" i="0" lang="es-PE" sz="1600" u="none" cap="none" strike="noStrike">
                <a:solidFill>
                  <a:schemeClr val="dk1"/>
                </a:solidFill>
                <a:latin typeface="Calibri"/>
                <a:ea typeface="Calibri"/>
                <a:cs typeface="Calibri"/>
                <a:sym typeface="Calibri"/>
              </a:rPr>
              <a:t>IEEE. Guía del cuerpo de conocimiento de la Ingeniería de Software.</a:t>
            </a:r>
            <a:endParaRPr b="0" i="0" sz="16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600">
              <a:solidFill>
                <a:schemeClr val="dk1"/>
              </a:solidFill>
              <a:latin typeface="Calibri"/>
              <a:ea typeface="Calibri"/>
              <a:cs typeface="Calibri"/>
              <a:sym typeface="Calibri"/>
            </a:endParaRPr>
          </a:p>
          <a:p>
            <a:pPr indent="-179388" lvl="0" marL="179388" marR="0" rtl="0" algn="l">
              <a:lnSpc>
                <a:spcPct val="100000"/>
              </a:lnSpc>
              <a:spcBef>
                <a:spcPts val="0"/>
              </a:spcBef>
              <a:spcAft>
                <a:spcPts val="0"/>
              </a:spcAft>
              <a:buClr>
                <a:schemeClr val="dk1"/>
              </a:buClr>
              <a:buSzPts val="1500"/>
              <a:buFont typeface="Arial"/>
              <a:buChar char="•"/>
            </a:pPr>
            <a:r>
              <a:rPr b="0" i="0" lang="es-PE"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www.omg.org</a:t>
            </a:r>
            <a:endParaRPr b="0" i="0" sz="1600" u="none" cap="none" strike="noStrike">
              <a:solidFill>
                <a:schemeClr val="dk1"/>
              </a:solidFill>
              <a:latin typeface="Calibri"/>
              <a:ea typeface="Calibri"/>
              <a:cs typeface="Calibri"/>
              <a:sym typeface="Calibri"/>
            </a:endParaRPr>
          </a:p>
        </p:txBody>
      </p:sp>
      <p:sp>
        <p:nvSpPr>
          <p:cNvPr id="1100" name="Google Shape;1100;p25"/>
          <p:cNvSpPr/>
          <p:nvPr/>
        </p:nvSpPr>
        <p:spPr>
          <a:xfrm>
            <a:off x="468313" y="320830"/>
            <a:ext cx="7204493" cy="261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s-PE" sz="1700" u="none" cap="none" strike="noStrike">
                <a:solidFill>
                  <a:srgbClr val="438AD7"/>
                </a:solidFill>
                <a:latin typeface="Calibri"/>
                <a:ea typeface="Calibri"/>
                <a:cs typeface="Calibri"/>
                <a:sym typeface="Calibri"/>
              </a:rPr>
              <a:t>/ BIBLIOGRAFÍA</a:t>
            </a:r>
            <a:endParaRPr b="0" i="0" sz="17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FFC3108C-36C0-416D-AF52-12C34C697CD2</vt:lpwstr>
  </property>
  <property fmtid="{D5CDD505-2E9C-101B-9397-08002B2CF9AE}" pid="3" name="ArticulatePath">
    <vt:lpwstr>plantilla_cursos_presenciales-v3.1.3</vt:lpwstr>
  </property>
</Properties>
</file>