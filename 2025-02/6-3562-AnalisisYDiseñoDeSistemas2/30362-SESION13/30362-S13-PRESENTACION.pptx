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3126">
          <p15:clr>
            <a:srgbClr val="A4A3A4"/>
          </p15:clr>
        </p15:guide>
        <p15:guide id="2" pos="2141">
          <p15:clr>
            <a:srgbClr val="A4A3A4"/>
          </p15:clr>
        </p15:guide>
      </p15:notesGuideLst>
    </p:ext>
    <p:ext uri="GoogleSlidesCustomDataVersion2">
      <go:slidesCustomData xmlns:go="http://customooxmlschemas.google.com/" r:id="rId41" roundtripDataSignature="AMtx7mgH8uqJsM6dwvD/2h//UO+C0glK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3126"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57" name="Google Shape;57;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69" name="Google Shape;69;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6" name="Google Shape;76;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83" name="Google Shape;83;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a:t>En una aplicación de procesamiento de imágenes:</a:t>
            </a:r>
            <a:endParaRPr/>
          </a:p>
          <a:p>
            <a:pPr indent="0" lvl="0" marL="0" rtl="0" algn="l">
              <a:lnSpc>
                <a:spcPct val="100000"/>
              </a:lnSpc>
              <a:spcBef>
                <a:spcPts val="600"/>
              </a:spcBef>
              <a:spcAft>
                <a:spcPts val="0"/>
              </a:spcAft>
              <a:buSzPts val="1400"/>
              <a:buNone/>
            </a:pPr>
            <a:r>
              <a:rPr lang="es-ES"/>
              <a:t>El proceso P1 representa la ejecución de la aplicación de procesamiento de imágenes. Cuenta con recursos dedicados de CPU, memoria, E/S de archivos, etc.</a:t>
            </a:r>
            <a:endParaRPr/>
          </a:p>
          <a:p>
            <a:pPr indent="0" lvl="0" marL="0" rtl="0" algn="l">
              <a:lnSpc>
                <a:spcPct val="100000"/>
              </a:lnSpc>
              <a:spcBef>
                <a:spcPts val="600"/>
              </a:spcBef>
              <a:spcAft>
                <a:spcPts val="0"/>
              </a:spcAft>
              <a:buSzPts val="1400"/>
              <a:buNone/>
            </a:pPr>
            <a:r>
              <a:rPr lang="es-ES"/>
              <a:t>Dentro de P1, se definen dos hilos concurrentes:</a:t>
            </a:r>
            <a:endParaRPr/>
          </a:p>
          <a:p>
            <a:pPr indent="0" lvl="0" marL="0" rtl="0" algn="l">
              <a:lnSpc>
                <a:spcPct val="100000"/>
              </a:lnSpc>
              <a:spcBef>
                <a:spcPts val="600"/>
              </a:spcBef>
              <a:spcAft>
                <a:spcPts val="0"/>
              </a:spcAft>
              <a:buSzPts val="1400"/>
              <a:buNone/>
            </a:pPr>
            <a:r>
              <a:rPr lang="es-ES"/>
              <a:t>H1 - Un hilo que lee las imágenes desde el disco y las coloca en un buffer en memoria.</a:t>
            </a:r>
            <a:endParaRPr/>
          </a:p>
          <a:p>
            <a:pPr indent="0" lvl="0" marL="0" rtl="0" algn="l">
              <a:lnSpc>
                <a:spcPct val="100000"/>
              </a:lnSpc>
              <a:spcBef>
                <a:spcPts val="600"/>
              </a:spcBef>
              <a:spcAft>
                <a:spcPts val="0"/>
              </a:spcAft>
              <a:buSzPts val="1400"/>
              <a:buNone/>
            </a:pPr>
            <a:r>
              <a:rPr lang="es-ES"/>
              <a:t>H2 - Un hilo que toma las imágenes del buffer, las procesa y guarda el resultado en disco.</a:t>
            </a:r>
            <a:endParaRPr/>
          </a:p>
          <a:p>
            <a:pPr indent="0" lvl="0" marL="0" rtl="0" algn="l">
              <a:lnSpc>
                <a:spcPct val="100000"/>
              </a:lnSpc>
              <a:spcBef>
                <a:spcPts val="600"/>
              </a:spcBef>
              <a:spcAft>
                <a:spcPts val="0"/>
              </a:spcAft>
              <a:buSzPts val="1400"/>
              <a:buNone/>
            </a:pPr>
            <a:r>
              <a:rPr lang="es-ES"/>
              <a:t>Aquí P1 define el contexto general y los recursos, mientras que H1 y H2 representan flujos de ejecución simultáneos que cooperan para lograr el objetivo del proceso completo.</a:t>
            </a:r>
            <a:endParaRPr>
              <a:latin typeface="Calibri"/>
              <a:ea typeface="Calibri"/>
              <a:cs typeface="Calibri"/>
              <a:sym typeface="Calibri"/>
            </a:endParaRPr>
          </a:p>
        </p:txBody>
      </p:sp>
      <p:sp>
        <p:nvSpPr>
          <p:cNvPr id="92" name="Google Shape;92;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01" name="Google Shape;101;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0" name="Google Shape;110;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9" name="Google Shape;119;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128" name="Google Shape;128;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35" name="Google Shape;135;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44" name="Google Shape;144;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53" name="Google Shape;153;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62" name="Google Shape;162;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71" name="Google Shape;171;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0" name="Google Shape;180;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9" name="Google Shape;189;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98" name="Google Shape;198;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07" name="Google Shape;207;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16" name="Google Shape;216;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25" name="Google Shape;225;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34" name="Google Shape;234;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43" name="Google Shape;243;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51" name="Google Shape;251;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CC"/>
              </a:buClr>
              <a:buSzPts val="1200"/>
              <a:buFont typeface="Calibri"/>
              <a:buNone/>
            </a:pPr>
            <a:r>
              <a:rPr lang="es-ES" sz="1200">
                <a:solidFill>
                  <a:srgbClr val="FFFFCC"/>
                </a:solidFill>
              </a:rPr>
              <a:t>Las barras de activación indican cuándo cada componente está activo o en proceso. Por ejemplo, el Backend se activa cuando recibe el mensaje para validar las credenciales y se desactiva después de enviar el resultado al Frontend.</a:t>
            </a:r>
            <a:endParaRPr>
              <a:latin typeface="Calibri"/>
              <a:ea typeface="Calibri"/>
              <a:cs typeface="Calibri"/>
              <a:sym typeface="Calibri"/>
            </a:endParaRPr>
          </a:p>
        </p:txBody>
      </p:sp>
      <p:sp>
        <p:nvSpPr>
          <p:cNvPr id="259" name="Google Shape;259;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70" name="Google Shape;270;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77" name="Google Shape;277;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86" name="Google Shape;286;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95" name="Google Shape;295;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04" name="Google Shape;304;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13" name="Google Shape;313;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3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22" name="Google Shape;322;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31" name="Google Shape;331;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3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40" name="Google Shape;340;p3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3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349" name="Google Shape;349;p3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3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E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Clr>
                <a:schemeClr val="dk1"/>
              </a:buClr>
              <a:buSzPts val="1200"/>
              <a:buFont typeface="Calibri"/>
              <a:buNone/>
            </a:pPr>
            <a:r>
              <a:t/>
            </a:r>
            <a:endParaRPr sz="1200">
              <a:latin typeface="Arial"/>
              <a:ea typeface="Arial"/>
              <a:cs typeface="Arial"/>
              <a:sym typeface="Arial"/>
            </a:endParaRPr>
          </a:p>
        </p:txBody>
      </p:sp>
      <p:sp>
        <p:nvSpPr>
          <p:cNvPr id="357" name="Google Shape;357;p3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1_Diapo_Subtema con Imagen Horizontal">
    <p:spTree>
      <p:nvGrpSpPr>
        <p:cNvPr id="15" name="Shape 15"/>
        <p:cNvGrpSpPr/>
        <p:nvPr/>
      </p:nvGrpSpPr>
      <p:grpSpPr>
        <a:xfrm>
          <a:off x="0" y="0"/>
          <a:ext cx="0" cy="0"/>
          <a:chOff x="0" y="0"/>
          <a:chExt cx="0" cy="0"/>
        </a:xfrm>
      </p:grpSpPr>
      <p:sp>
        <p:nvSpPr>
          <p:cNvPr id="16" name="Google Shape;16;p38"/>
          <p:cNvSpPr/>
          <p:nvPr>
            <p:ph idx="2" type="pic"/>
          </p:nvPr>
        </p:nvSpPr>
        <p:spPr>
          <a:xfrm>
            <a:off x="475687" y="2877477"/>
            <a:ext cx="8207375" cy="2394000"/>
          </a:xfrm>
          <a:prstGeom prst="rect">
            <a:avLst/>
          </a:prstGeom>
          <a:noFill/>
          <a:ln>
            <a:noFill/>
          </a:ln>
        </p:spPr>
      </p:sp>
      <p:sp>
        <p:nvSpPr>
          <p:cNvPr id="17" name="Google Shape;17;p38"/>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38"/>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38"/>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Vertical">
  <p:cSld name="Diapo_Subtema con Imagen Vertical">
    <p:spTree>
      <p:nvGrpSpPr>
        <p:cNvPr id="21" name="Shape 21"/>
        <p:cNvGrpSpPr/>
        <p:nvPr/>
      </p:nvGrpSpPr>
      <p:grpSpPr>
        <a:xfrm>
          <a:off x="0" y="0"/>
          <a:ext cx="0" cy="0"/>
          <a:chOff x="0" y="0"/>
          <a:chExt cx="0" cy="0"/>
        </a:xfrm>
      </p:grpSpPr>
      <p:sp>
        <p:nvSpPr>
          <p:cNvPr id="22" name="Google Shape;22;p40"/>
          <p:cNvSpPr/>
          <p:nvPr>
            <p:ph idx="2" type="pic"/>
          </p:nvPr>
        </p:nvSpPr>
        <p:spPr>
          <a:xfrm>
            <a:off x="4572000" y="804863"/>
            <a:ext cx="4103688" cy="4463362"/>
          </a:xfrm>
          <a:prstGeom prst="rect">
            <a:avLst/>
          </a:prstGeom>
          <a:noFill/>
          <a:ln>
            <a:noFill/>
          </a:ln>
        </p:spPr>
      </p:sp>
      <p:sp>
        <p:nvSpPr>
          <p:cNvPr id="23" name="Google Shape;23;p4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4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40"/>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Full texto">
  <p:cSld name="Diapo_Full texto">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41"/>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rgbClr val="3F3F3F"/>
              </a:buClr>
              <a:buSzPts val="1600"/>
              <a:buFont typeface="Arial"/>
              <a:buNone/>
              <a:defRPr b="1" i="0" sz="1600" u="none" cap="none" strike="noStrike">
                <a:solidFill>
                  <a:srgbClr val="3F3F3F"/>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8" name="Google Shape;28;p41"/>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41"/>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lvl1pPr indent="-304800" lvl="0" marL="457200" marR="0" rtl="0" algn="just">
              <a:lnSpc>
                <a:spcPct val="90000"/>
              </a:lnSpc>
              <a:spcBef>
                <a:spcPts val="0"/>
              </a:spcBef>
              <a:spcAft>
                <a:spcPts val="0"/>
              </a:spcAft>
              <a:buClr>
                <a:srgbClr val="3F3F3F"/>
              </a:buClr>
              <a:buSzPts val="1200"/>
              <a:buFont typeface="Noto Sans Symbols"/>
              <a:buChar char="❑"/>
              <a:defRPr b="0" i="1" sz="1600" u="none" cap="none" strike="noStrike">
                <a:solidFill>
                  <a:srgbClr val="7F7F7F"/>
                </a:solidFill>
                <a:latin typeface="Calibri"/>
                <a:ea typeface="Calibri"/>
                <a:cs typeface="Calibri"/>
                <a:sym typeface="Calibri"/>
              </a:defRPr>
            </a:lvl1pPr>
            <a:lvl2pPr indent="-317500" lvl="1" marL="914400" marR="0" rtl="0" algn="just">
              <a:lnSpc>
                <a:spcPct val="90000"/>
              </a:lnSpc>
              <a:spcBef>
                <a:spcPts val="600"/>
              </a:spcBef>
              <a:spcAft>
                <a:spcPts val="0"/>
              </a:spcAft>
              <a:buClr>
                <a:srgbClr val="3F3F3F"/>
              </a:buClr>
              <a:buSzPts val="1400"/>
              <a:buFont typeface="Noto Sans Symbols"/>
              <a:buChar char="▪"/>
              <a:defRPr b="0" i="1" sz="1400" u="none" cap="none" strike="noStrike">
                <a:solidFill>
                  <a:srgbClr val="7F7F7F"/>
                </a:solidFill>
                <a:latin typeface="Calibri"/>
                <a:ea typeface="Calibri"/>
                <a:cs typeface="Calibri"/>
                <a:sym typeface="Calibri"/>
              </a:defRPr>
            </a:lvl2pPr>
            <a:lvl3pPr indent="-317500" lvl="2" marL="13716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17500" lvl="3" marL="18288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0" name="Shape 3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Introduccion">
  <p:cSld name="Diapo_Introduccion">
    <p:bg>
      <p:bgPr>
        <a:solidFill>
          <a:srgbClr val="F2F2F2"/>
        </a:solidFill>
      </p:bgPr>
    </p:bg>
    <p:spTree>
      <p:nvGrpSpPr>
        <p:cNvPr id="31" name="Shape 31"/>
        <p:cNvGrpSpPr/>
        <p:nvPr/>
      </p:nvGrpSpPr>
      <p:grpSpPr>
        <a:xfrm>
          <a:off x="0" y="0"/>
          <a:ext cx="0" cy="0"/>
          <a:chOff x="0" y="0"/>
          <a:chExt cx="0" cy="0"/>
        </a:xfrm>
      </p:grpSpPr>
      <p:sp>
        <p:nvSpPr>
          <p:cNvPr id="32" name="Google Shape;32;p43"/>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20"/>
              <a:buFont typeface="Calibri"/>
              <a:buNone/>
            </a:pPr>
            <a:r>
              <a:rPr b="1" i="0" lang="es-ES" sz="1620" u="none" cap="none" strike="noStrike">
                <a:solidFill>
                  <a:schemeClr val="dk1"/>
                </a:solidFill>
                <a:latin typeface="Calibri"/>
                <a:ea typeface="Calibri"/>
                <a:cs typeface="Calibri"/>
                <a:sym typeface="Calibri"/>
              </a:rPr>
              <a:t>INTRODUCCIÓN</a:t>
            </a:r>
            <a:endParaRPr b="0" i="0" sz="1400" u="none" cap="none" strike="noStrike">
              <a:solidFill>
                <a:srgbClr val="000000"/>
              </a:solidFill>
              <a:latin typeface="Arial"/>
              <a:ea typeface="Arial"/>
              <a:cs typeface="Arial"/>
              <a:sym typeface="Arial"/>
            </a:endParaRPr>
          </a:p>
        </p:txBody>
      </p:sp>
      <p:pic>
        <p:nvPicPr>
          <p:cNvPr id="33" name="Google Shape;33;p43"/>
          <p:cNvPicPr preferRelativeResize="0"/>
          <p:nvPr/>
        </p:nvPicPr>
        <p:blipFill rotWithShape="1">
          <a:blip r:embed="rId2">
            <a:alphaModFix/>
          </a:blip>
          <a:srcRect b="0" l="0" r="0" t="0"/>
          <a:stretch/>
        </p:blipFill>
        <p:spPr>
          <a:xfrm>
            <a:off x="503239" y="573356"/>
            <a:ext cx="424127" cy="424127"/>
          </a:xfrm>
          <a:prstGeom prst="rect">
            <a:avLst/>
          </a:prstGeom>
          <a:solidFill>
            <a:srgbClr val="F2F2F2"/>
          </a:solidFill>
          <a:ln>
            <a:noFill/>
          </a:ln>
        </p:spPr>
      </p:pic>
      <p:sp>
        <p:nvSpPr>
          <p:cNvPr id="34" name="Google Shape;34;p43"/>
          <p:cNvSpPr txBox="1"/>
          <p:nvPr>
            <p:ph idx="1" type="body"/>
          </p:nvPr>
        </p:nvSpPr>
        <p:spPr>
          <a:xfrm>
            <a:off x="503238" y="1670050"/>
            <a:ext cx="8137525" cy="3563938"/>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Diapo_Subtema con Imagen Horizontal">
    <p:spTree>
      <p:nvGrpSpPr>
        <p:cNvPr id="35" name="Shape 35"/>
        <p:cNvGrpSpPr/>
        <p:nvPr/>
      </p:nvGrpSpPr>
      <p:grpSpPr>
        <a:xfrm>
          <a:off x="0" y="0"/>
          <a:ext cx="0" cy="0"/>
          <a:chOff x="0" y="0"/>
          <a:chExt cx="0" cy="0"/>
        </a:xfrm>
      </p:grpSpPr>
      <p:sp>
        <p:nvSpPr>
          <p:cNvPr id="36" name="Google Shape;36;p44"/>
          <p:cNvSpPr/>
          <p:nvPr>
            <p:ph idx="2" type="pic"/>
          </p:nvPr>
        </p:nvSpPr>
        <p:spPr>
          <a:xfrm>
            <a:off x="475687" y="2877477"/>
            <a:ext cx="8207375" cy="2394000"/>
          </a:xfrm>
          <a:prstGeom prst="rect">
            <a:avLst/>
          </a:prstGeom>
          <a:noFill/>
          <a:ln>
            <a:noFill/>
          </a:ln>
        </p:spPr>
      </p:sp>
      <p:sp>
        <p:nvSpPr>
          <p:cNvPr id="37" name="Google Shape;37;p4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8" name="Google Shape;38;p4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9" name="Google Shape;39;p44"/>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Cuadro">
  <p:cSld name="Diapo_Subtema con Cuadro">
    <p:spTree>
      <p:nvGrpSpPr>
        <p:cNvPr id="40" name="Shape 40"/>
        <p:cNvGrpSpPr/>
        <p:nvPr/>
      </p:nvGrpSpPr>
      <p:grpSpPr>
        <a:xfrm>
          <a:off x="0" y="0"/>
          <a:ext cx="0" cy="0"/>
          <a:chOff x="0" y="0"/>
          <a:chExt cx="0" cy="0"/>
        </a:xfrm>
      </p:grpSpPr>
      <p:sp>
        <p:nvSpPr>
          <p:cNvPr id="41" name="Google Shape;41;p45"/>
          <p:cNvSpPr/>
          <p:nvPr>
            <p:ph idx="2" type="pic"/>
          </p:nvPr>
        </p:nvSpPr>
        <p:spPr>
          <a:xfrm>
            <a:off x="468313" y="1175705"/>
            <a:ext cx="8207375" cy="4096800"/>
          </a:xfrm>
          <a:prstGeom prst="rect">
            <a:avLst/>
          </a:prstGeom>
          <a:noFill/>
          <a:ln>
            <a:noFill/>
          </a:ln>
        </p:spPr>
      </p:sp>
      <p:sp>
        <p:nvSpPr>
          <p:cNvPr id="42" name="Google Shape;42;p45"/>
          <p:cNvSpPr txBox="1"/>
          <p:nvPr>
            <p:ph idx="1" type="body"/>
          </p:nvPr>
        </p:nvSpPr>
        <p:spPr>
          <a:xfrm>
            <a:off x="468313" y="81047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3" name="Google Shape;43;p4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p:cSld name="Diapo_Subtema">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46"/>
          <p:cNvSpPr txBox="1"/>
          <p:nvPr>
            <p:ph idx="1" type="body"/>
          </p:nvPr>
        </p:nvSpPr>
        <p:spPr>
          <a:xfrm>
            <a:off x="468314" y="3714841"/>
            <a:ext cx="5543549" cy="810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5000"/>
              </a:lnSpc>
              <a:spcBef>
                <a:spcPts val="0"/>
              </a:spcBef>
              <a:spcAft>
                <a:spcPts val="0"/>
              </a:spcAft>
              <a:buClr>
                <a:schemeClr val="lt1"/>
              </a:buClr>
              <a:buSzPts val="2800"/>
              <a:buFont typeface="Arial"/>
              <a:buNone/>
              <a:defRPr b="1" i="0" sz="2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Conclusiones">
  <p:cSld name="Diapo_Conclusiones">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47"/>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CONCLUSIONES</a:t>
            </a:r>
            <a:endParaRPr b="0" i="0" sz="1400" u="none" cap="none" strike="noStrike">
              <a:solidFill>
                <a:srgbClr val="000000"/>
              </a:solidFill>
              <a:latin typeface="Arial"/>
              <a:ea typeface="Arial"/>
              <a:cs typeface="Arial"/>
              <a:sym typeface="Arial"/>
            </a:endParaRPr>
          </a:p>
        </p:txBody>
      </p:sp>
      <p:pic>
        <p:nvPicPr>
          <p:cNvPr id="48" name="Google Shape;48;p47"/>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49" name="Google Shape;49;p47"/>
          <p:cNvSpPr txBox="1"/>
          <p:nvPr>
            <p:ph idx="1" type="body"/>
          </p:nvPr>
        </p:nvSpPr>
        <p:spPr>
          <a:xfrm>
            <a:off x="927366" y="1670909"/>
            <a:ext cx="7713398" cy="3526566"/>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Calibri"/>
              <a:buAutoNum type="arabicPeriod"/>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Bibliografía">
  <p:cSld name="Diapo_Bibliografía">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48"/>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BIBLIOGRAFÍA</a:t>
            </a:r>
            <a:endParaRPr b="0" i="0" sz="1400" u="none" cap="none" strike="noStrike">
              <a:solidFill>
                <a:srgbClr val="000000"/>
              </a:solidFill>
              <a:latin typeface="Arial"/>
              <a:ea typeface="Arial"/>
              <a:cs typeface="Arial"/>
              <a:sym typeface="Arial"/>
            </a:endParaRPr>
          </a:p>
        </p:txBody>
      </p:sp>
      <p:pic>
        <p:nvPicPr>
          <p:cNvPr id="52" name="Google Shape;52;p48"/>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53" name="Google Shape;53;p48"/>
          <p:cNvSpPr txBox="1"/>
          <p:nvPr>
            <p:ph idx="1" type="body"/>
          </p:nvPr>
        </p:nvSpPr>
        <p:spPr>
          <a:xfrm>
            <a:off x="927366" y="1670049"/>
            <a:ext cx="7713398" cy="3527425"/>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Noto Sans Symbols"/>
              <a:buChar char="▪"/>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36"/>
          <p:cNvGrpSpPr/>
          <p:nvPr/>
        </p:nvGrpSpPr>
        <p:grpSpPr>
          <a:xfrm>
            <a:off x="793745" y="5369051"/>
            <a:ext cx="8104595" cy="215444"/>
            <a:chOff x="793745" y="5369051"/>
            <a:chExt cx="7954689" cy="215444"/>
          </a:xfrm>
        </p:grpSpPr>
        <p:sp>
          <p:nvSpPr>
            <p:cNvPr id="11" name="Google Shape;11;p36"/>
            <p:cNvSpPr txBox="1"/>
            <p:nvPr/>
          </p:nvSpPr>
          <p:spPr>
            <a:xfrm>
              <a:off x="793745" y="5369051"/>
              <a:ext cx="2133782"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ES" sz="800" u="none" cap="none" strike="noStrike">
                  <a:solidFill>
                    <a:srgbClr val="7F7F7F"/>
                  </a:solidFill>
                  <a:latin typeface="Calibri"/>
                  <a:ea typeface="Calibri"/>
                  <a:cs typeface="Calibri"/>
                  <a:sym typeface="Calibri"/>
                </a:rPr>
                <a:t>ANÁLISIS Y DISEÑO DE SISTEMAS II  •  SESIÓN 13</a:t>
              </a:r>
              <a:endParaRPr b="0" i="0" sz="800" u="none" cap="none" strike="noStrike">
                <a:solidFill>
                  <a:srgbClr val="7F7F7F"/>
                </a:solidFill>
                <a:latin typeface="Calibri"/>
                <a:ea typeface="Calibri"/>
                <a:cs typeface="Calibri"/>
                <a:sym typeface="Calibri"/>
              </a:endParaRPr>
            </a:p>
          </p:txBody>
        </p:sp>
        <p:sp>
          <p:nvSpPr>
            <p:cNvPr id="12" name="Google Shape;12;p36"/>
            <p:cNvSpPr/>
            <p:nvPr/>
          </p:nvSpPr>
          <p:spPr>
            <a:xfrm>
              <a:off x="7207627" y="5384440"/>
              <a:ext cx="154080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s-ES" sz="600" u="none" cap="none" strike="noStrike">
                  <a:solidFill>
                    <a:srgbClr val="7F7F7F"/>
                  </a:solidFill>
                  <a:latin typeface="Calibri"/>
                  <a:ea typeface="Calibri"/>
                  <a:cs typeface="Calibri"/>
                  <a:sym typeface="Calibri"/>
                </a:rPr>
                <a:t>© 2023 ISIL. Todos los derechos reservados</a:t>
              </a:r>
              <a:endParaRPr b="0" i="0" sz="1400" u="none" cap="none" strike="noStrike">
                <a:solidFill>
                  <a:srgbClr val="000000"/>
                </a:solidFill>
                <a:latin typeface="Arial"/>
                <a:ea typeface="Arial"/>
                <a:cs typeface="Arial"/>
                <a:sym typeface="Arial"/>
              </a:endParaRPr>
            </a:p>
          </p:txBody>
        </p:sp>
      </p:grpSp>
      <p:pic>
        <p:nvPicPr>
          <p:cNvPr id="13" name="Google Shape;13;p36"/>
          <p:cNvPicPr preferRelativeResize="0"/>
          <p:nvPr/>
        </p:nvPicPr>
        <p:blipFill rotWithShape="1">
          <a:blip r:embed="rId1">
            <a:alphaModFix amt="20000"/>
          </a:blip>
          <a:srcRect b="0" l="0" r="0" t="0"/>
          <a:stretch/>
        </p:blipFill>
        <p:spPr>
          <a:xfrm>
            <a:off x="345172"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hyperlink" Target="http://www.uml.org/what-is-uml.htm" TargetMode="External"/><Relationship Id="rId4" Type="http://schemas.openxmlformats.org/officeDocument/2006/relationships/hyperlink" Target="https://developer.ibm.com/articles/an-introduction-to-uml/" TargetMode="External"/><Relationship Id="rId5" Type="http://schemas.openxmlformats.org/officeDocument/2006/relationships/hyperlink" Target="https://www.tutorialspoint.com/uml/uml_sequence_diagram.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p:nvPr/>
        </p:nvSpPr>
        <p:spPr>
          <a:xfrm>
            <a:off x="0" y="14248"/>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libri"/>
              <a:buNone/>
            </a:pPr>
            <a:r>
              <a:rPr b="0" i="0" lang="es-ES" sz="1800" u="none" cap="none" strike="noStrike">
                <a:solidFill>
                  <a:schemeClr val="lt1"/>
                </a:solidFill>
                <a:latin typeface="Calibri"/>
                <a:ea typeface="Calibri"/>
                <a:cs typeface="Calibri"/>
                <a:sym typeface="Calibri"/>
              </a:rPr>
              <a:t>SESIÓN</a:t>
            </a:r>
            <a:endParaRPr b="0" i="0" sz="1800" u="none" cap="none" strike="noStrike">
              <a:solidFill>
                <a:schemeClr val="dk1"/>
              </a:solidFill>
              <a:latin typeface="Calibri"/>
              <a:ea typeface="Calibri"/>
              <a:cs typeface="Calibri"/>
              <a:sym typeface="Calibri"/>
            </a:endParaRPr>
          </a:p>
        </p:txBody>
      </p:sp>
      <p:sp>
        <p:nvSpPr>
          <p:cNvPr id="61" name="Google Shape;61;p1"/>
          <p:cNvSpPr txBox="1"/>
          <p:nvPr/>
        </p:nvSpPr>
        <p:spPr>
          <a:xfrm>
            <a:off x="2051281" y="1730819"/>
            <a:ext cx="964250" cy="9848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5800"/>
              <a:buFont typeface="Calibri"/>
              <a:buNone/>
            </a:pPr>
            <a:r>
              <a:rPr b="0" i="0" lang="es-ES" sz="5800" u="none" cap="none" strike="noStrike">
                <a:solidFill>
                  <a:srgbClr val="FFFFFF"/>
                </a:solidFill>
                <a:latin typeface="Calibri"/>
                <a:ea typeface="Calibri"/>
                <a:cs typeface="Calibri"/>
                <a:sym typeface="Calibri"/>
              </a:rPr>
              <a:t>13</a:t>
            </a:r>
            <a:endParaRPr b="0" i="0" sz="1800" u="none" cap="none" strike="noStrike">
              <a:solidFill>
                <a:schemeClr val="dk1"/>
              </a:solidFill>
              <a:latin typeface="Calibri"/>
              <a:ea typeface="Calibri"/>
              <a:cs typeface="Calibri"/>
              <a:sym typeface="Calibri"/>
            </a:endParaRPr>
          </a:p>
        </p:txBody>
      </p:sp>
      <p:sp>
        <p:nvSpPr>
          <p:cNvPr id="62" name="Google Shape;62;p1"/>
          <p:cNvSpPr txBox="1"/>
          <p:nvPr/>
        </p:nvSpPr>
        <p:spPr>
          <a:xfrm>
            <a:off x="3175138" y="1296850"/>
            <a:ext cx="5422704"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DIAGRAMAS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DE SECUENCIA</a:t>
            </a:r>
            <a:endParaRPr b="1" i="0" sz="3600" u="none" cap="none" strike="noStrike">
              <a:solidFill>
                <a:schemeClr val="lt1"/>
              </a:solidFill>
              <a:latin typeface="Calibri"/>
              <a:ea typeface="Calibri"/>
              <a:cs typeface="Calibri"/>
              <a:sym typeface="Calibri"/>
            </a:endParaRPr>
          </a:p>
        </p:txBody>
      </p:sp>
      <p:sp>
        <p:nvSpPr>
          <p:cNvPr id="63" name="Google Shape;63;p1"/>
          <p:cNvSpPr txBox="1"/>
          <p:nvPr/>
        </p:nvSpPr>
        <p:spPr>
          <a:xfrm>
            <a:off x="3175138" y="2996279"/>
            <a:ext cx="5026425" cy="110795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Definiciones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Elementos del diagrama de secuencia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Uso del diagrama de secuencia</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lt1"/>
              </a:solidFill>
              <a:latin typeface="Calibri"/>
              <a:ea typeface="Calibri"/>
              <a:cs typeface="Calibri"/>
              <a:sym typeface="Calibri"/>
            </a:endParaRPr>
          </a:p>
        </p:txBody>
      </p:sp>
      <p:cxnSp>
        <p:nvCxnSpPr>
          <p:cNvPr id="64" name="Google Shape;64;p1"/>
          <p:cNvCxnSpPr/>
          <p:nvPr/>
        </p:nvCxnSpPr>
        <p:spPr>
          <a:xfrm>
            <a:off x="3056456" y="1777107"/>
            <a:ext cx="0" cy="720031"/>
          </a:xfrm>
          <a:prstGeom prst="straightConnector1">
            <a:avLst/>
          </a:prstGeom>
          <a:noFill/>
          <a:ln cap="flat" cmpd="sng" w="25400">
            <a:solidFill>
              <a:srgbClr val="FFFFFF"/>
            </a:solidFill>
            <a:prstDash val="solid"/>
            <a:round/>
            <a:headEnd len="sm" w="sm" type="none"/>
            <a:tailEnd len="sm" w="sm" type="none"/>
          </a:ln>
        </p:spPr>
      </p:cxnSp>
      <p:sp>
        <p:nvSpPr>
          <p:cNvPr id="65" name="Google Shape;65;p1"/>
          <p:cNvSpPr/>
          <p:nvPr/>
        </p:nvSpPr>
        <p:spPr>
          <a:xfrm>
            <a:off x="3289191" y="2568993"/>
            <a:ext cx="3672000" cy="193899"/>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F85A6"/>
              </a:buClr>
              <a:buSzPts val="1400"/>
              <a:buFont typeface="Calibri"/>
              <a:buNone/>
            </a:pPr>
            <a:r>
              <a:rPr b="1" i="0" lang="es-ES" sz="1400" u="none" cap="none" strike="noStrike">
                <a:solidFill>
                  <a:srgbClr val="1F85A6"/>
                </a:solidFill>
                <a:latin typeface="Calibri"/>
                <a:ea typeface="Calibri"/>
                <a:cs typeface="Calibri"/>
                <a:sym typeface="Calibri"/>
              </a:rPr>
              <a:t>UNIDAD DE APRENDIZAJE 4 – UA4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INTRODUCCIÓN</a:t>
            </a:r>
            <a:endParaRPr b="0" i="0" sz="1800" u="none" cap="none" strike="noStrike">
              <a:solidFill>
                <a:schemeClr val="dk1"/>
              </a:solidFill>
              <a:latin typeface="Calibri"/>
              <a:ea typeface="Calibri"/>
              <a:cs typeface="Calibri"/>
              <a:sym typeface="Calibri"/>
            </a:endParaRPr>
          </a:p>
        </p:txBody>
      </p:sp>
      <p:sp>
        <p:nvSpPr>
          <p:cNvPr id="72" name="Google Shape;72;p2"/>
          <p:cNvSpPr txBox="1"/>
          <p:nvPr/>
        </p:nvSpPr>
        <p:spPr>
          <a:xfrm>
            <a:off x="573212" y="761206"/>
            <a:ext cx="7784512" cy="356393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En el contexto del análisis y diseño de sistemas de información, un diagrama de clases UML es un tipo de diagrama estático que se utiliza en ingeniería de software para mostrar la estructura de un sistema modelando sus clases, atributos, operaciones y las relaciones entre los objetos.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Entonces, durante esta sesión: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Conocerás</a:t>
            </a:r>
            <a:r>
              <a:rPr b="0" i="0" lang="es-ES" sz="1600" u="none" cap="none" strike="noStrike">
                <a:solidFill>
                  <a:schemeClr val="dk1"/>
                </a:solidFill>
                <a:latin typeface="Calibri"/>
                <a:ea typeface="Calibri"/>
                <a:cs typeface="Calibri"/>
                <a:sym typeface="Calibri"/>
              </a:rPr>
              <a:t> los conceptos y definiciones clave relacionados a los diagramas de secuencia.</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Aprenderás</a:t>
            </a:r>
            <a:r>
              <a:rPr b="0" i="0" lang="es-ES" sz="1600" u="none" cap="none" strike="noStrike">
                <a:solidFill>
                  <a:schemeClr val="dk1"/>
                </a:solidFill>
                <a:latin typeface="Calibri"/>
                <a:ea typeface="Calibri"/>
                <a:cs typeface="Calibri"/>
                <a:sym typeface="Calibri"/>
              </a:rPr>
              <a:t> a identificar los elementos del diagrama de secuencia.</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60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Comprenderás </a:t>
            </a:r>
            <a:r>
              <a:rPr b="0" i="0" lang="es-ES" sz="1600" u="none" cap="none" strike="noStrike">
                <a:solidFill>
                  <a:schemeClr val="dk1"/>
                </a:solidFill>
                <a:latin typeface="Calibri"/>
                <a:ea typeface="Calibri"/>
                <a:cs typeface="Calibri"/>
                <a:sym typeface="Calibri"/>
              </a:rPr>
              <a:t>cuándo es pertinente el apropiado uso del diagrama de secuencia.</a:t>
            </a:r>
            <a:endParaRPr b="0" i="0" sz="105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DEFINICIONES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SISTEMA Y SUBSISTEMA</a:t>
            </a:r>
            <a:endParaRPr/>
          </a:p>
        </p:txBody>
      </p:sp>
      <p:sp>
        <p:nvSpPr>
          <p:cNvPr id="86" name="Google Shape;86;p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87" name="Google Shape;87;p4"/>
          <p:cNvSpPr txBox="1"/>
          <p:nvPr>
            <p:ph idx="4" type="body"/>
          </p:nvPr>
        </p:nvSpPr>
        <p:spPr>
          <a:xfrm>
            <a:off x="468313" y="1177927"/>
            <a:ext cx="4648632"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Un sistema S puede definirse como un conjunto de componentes {C1, C2, ..., Cn} que interactúan entre sí para lograr un objetivo común. Cada componente Ci realiza una función específica dentro del sistema.</a:t>
            </a:r>
            <a:endParaRPr/>
          </a:p>
          <a:p>
            <a:pPr indent="-266700" lvl="0" marL="266700" rtl="0" algn="l">
              <a:lnSpc>
                <a:spcPct val="100000"/>
              </a:lnSpc>
              <a:spcBef>
                <a:spcPts val="600"/>
              </a:spcBef>
              <a:spcAft>
                <a:spcPts val="0"/>
              </a:spcAft>
              <a:buClr>
                <a:schemeClr val="dk1"/>
              </a:buClr>
              <a:buSzPts val="1200"/>
              <a:buChar char="❑"/>
            </a:pPr>
            <a:r>
              <a:rPr lang="es-ES"/>
              <a:t>Un subsistema ss es un subconjunto de componentes {Cj, Ck, ..., Cl} de S que juntos realizan una función específica que contribuye al objetivo general de S.</a:t>
            </a:r>
            <a:endParaRPr/>
          </a:p>
          <a:p>
            <a:pPr indent="-266700" lvl="0" marL="266700" rtl="0" algn="l">
              <a:lnSpc>
                <a:spcPct val="100000"/>
              </a:lnSpc>
              <a:spcBef>
                <a:spcPts val="600"/>
              </a:spcBef>
              <a:spcAft>
                <a:spcPts val="0"/>
              </a:spcAft>
              <a:buClr>
                <a:srgbClr val="1F85A6"/>
              </a:buClr>
              <a:buSzPts val="1200"/>
              <a:buChar char="❑"/>
            </a:pPr>
            <a:r>
              <a:rPr i="1" lang="es-ES">
                <a:solidFill>
                  <a:srgbClr val="1F85A6"/>
                </a:solidFill>
              </a:rPr>
              <a:t>Por ejemplo, un sistema de comercio electrónico que permite a los usuarios comprar productos en línea, consta de los siguientes subsistemas: Interfaz de usuario, Carrito de compras, Catálogo de productos, Procesamiento de pagos, Gestión de inventario.</a:t>
            </a:r>
            <a:endParaRPr/>
          </a:p>
        </p:txBody>
      </p:sp>
      <p:pic>
        <p:nvPicPr>
          <p:cNvPr id="88" name="Google Shape;88;p4"/>
          <p:cNvPicPr preferRelativeResize="0"/>
          <p:nvPr>
            <p:ph idx="2" type="pic"/>
          </p:nvPr>
        </p:nvPicPr>
        <p:blipFill rotWithShape="1">
          <a:blip r:embed="rId3">
            <a:alphaModFix/>
          </a:blip>
          <a:srcRect b="160" l="0" r="0" t="161"/>
          <a:stretch/>
        </p:blipFill>
        <p:spPr>
          <a:xfrm>
            <a:off x="5116945" y="1163638"/>
            <a:ext cx="3332105" cy="362415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ph idx="1" type="body"/>
          </p:nvPr>
        </p:nvSpPr>
        <p:spPr>
          <a:xfrm>
            <a:off x="468312" y="809626"/>
            <a:ext cx="4104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PROCESO E HILO</a:t>
            </a:r>
            <a:endParaRPr/>
          </a:p>
        </p:txBody>
      </p:sp>
      <p:sp>
        <p:nvSpPr>
          <p:cNvPr id="95" name="Google Shape;95;p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96" name="Google Shape;96;p5"/>
          <p:cNvSpPr txBox="1"/>
          <p:nvPr>
            <p:ph idx="4" type="body"/>
          </p:nvPr>
        </p:nvSpPr>
        <p:spPr>
          <a:xfrm>
            <a:off x="754797" y="1163638"/>
            <a:ext cx="398361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Un proceso es una instancia de ejecución de un programa que cuenta con su propio espacio de memoria y recursos. Un proceso define un flujo de instrucciones secuencial.</a:t>
            </a:r>
            <a:endParaRPr/>
          </a:p>
          <a:p>
            <a:pPr indent="-266700" lvl="0" marL="266700" rtl="0" algn="l">
              <a:lnSpc>
                <a:spcPct val="100000"/>
              </a:lnSpc>
              <a:spcBef>
                <a:spcPts val="600"/>
              </a:spcBef>
              <a:spcAft>
                <a:spcPts val="0"/>
              </a:spcAft>
              <a:buClr>
                <a:schemeClr val="dk1"/>
              </a:buClr>
              <a:buSzPts val="1200"/>
              <a:buChar char="❑"/>
            </a:pPr>
            <a:r>
              <a:rPr lang="es-ES"/>
              <a:t>Un hilo es una unidad de ejecución más liviana que un proceso. Un hilo se ejecuta dentro del contexto de un proceso y comparte sus recursos, pero define su propio flujo de ejecución.</a:t>
            </a:r>
            <a:endParaRPr/>
          </a:p>
          <a:p>
            <a:pPr indent="-266700" lvl="0" marL="266700" rtl="0" algn="l">
              <a:lnSpc>
                <a:spcPct val="100000"/>
              </a:lnSpc>
              <a:spcBef>
                <a:spcPts val="600"/>
              </a:spcBef>
              <a:spcAft>
                <a:spcPts val="0"/>
              </a:spcAft>
              <a:buClr>
                <a:schemeClr val="dk1"/>
              </a:buClr>
              <a:buSzPts val="1200"/>
              <a:buChar char="❑"/>
            </a:pPr>
            <a:r>
              <a:rPr lang="es-ES"/>
              <a:t>Un proceso puede contener múltiples hilos que se ejecutan concurrentemente.</a:t>
            </a:r>
            <a:endParaRPr/>
          </a:p>
        </p:txBody>
      </p:sp>
      <p:pic>
        <p:nvPicPr>
          <p:cNvPr id="97" name="Google Shape;97;p5"/>
          <p:cNvPicPr preferRelativeResize="0"/>
          <p:nvPr>
            <p:ph idx="2" type="pic"/>
          </p:nvPr>
        </p:nvPicPr>
        <p:blipFill rotWithShape="1">
          <a:blip r:embed="rId3">
            <a:alphaModFix/>
          </a:blip>
          <a:srcRect b="374" l="0" r="0" t="372"/>
          <a:stretch/>
        </p:blipFill>
        <p:spPr>
          <a:xfrm>
            <a:off x="4904510" y="625819"/>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idx="1" type="body"/>
          </p:nvPr>
        </p:nvSpPr>
        <p:spPr>
          <a:xfrm>
            <a:off x="468312" y="809626"/>
            <a:ext cx="4104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INTERFAZ Y API</a:t>
            </a:r>
            <a:endParaRPr/>
          </a:p>
        </p:txBody>
      </p:sp>
      <p:sp>
        <p:nvSpPr>
          <p:cNvPr id="104" name="Google Shape;104;p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05" name="Google Shape;105;p6"/>
          <p:cNvSpPr txBox="1"/>
          <p:nvPr>
            <p:ph idx="4" type="body"/>
          </p:nvPr>
        </p:nvSpPr>
        <p:spPr>
          <a:xfrm>
            <a:off x="794816" y="134038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Una interfaz es un componente que define un conjunto de operaciones que especifican un protocolo de interacción con el sistema. Abstrae los detalles de implementación del Sistema y solo expone la funcionalidad necesaria a otros componentes.</a:t>
            </a:r>
            <a:endParaRPr/>
          </a:p>
          <a:p>
            <a:pPr indent="-266700" lvl="0" marL="266700" rtl="0" algn="l">
              <a:lnSpc>
                <a:spcPct val="100000"/>
              </a:lnSpc>
              <a:spcBef>
                <a:spcPts val="600"/>
              </a:spcBef>
              <a:spcAft>
                <a:spcPts val="0"/>
              </a:spcAft>
              <a:buClr>
                <a:schemeClr val="dk1"/>
              </a:buClr>
              <a:buSzPts val="1200"/>
              <a:buChar char="❑"/>
            </a:pPr>
            <a:r>
              <a:rPr lang="es-ES"/>
              <a:t>Una API (Interfaz de Programación de Aplicaciones) es un tipo concreto de interfaz que expone operaciones que pueden ser invocadas programáticamente por otras aplicaciones. Define un contrato formal que permite a la Aplicación interactuar con las funciones del Sistema de una manera bien definida.</a:t>
            </a:r>
            <a:endParaRPr/>
          </a:p>
        </p:txBody>
      </p:sp>
      <p:pic>
        <p:nvPicPr>
          <p:cNvPr id="106" name="Google Shape;106;p6"/>
          <p:cNvPicPr preferRelativeResize="0"/>
          <p:nvPr>
            <p:ph idx="2" type="pic"/>
          </p:nvPr>
        </p:nvPicPr>
        <p:blipFill rotWithShape="1">
          <a:blip r:embed="rId3">
            <a:alphaModFix/>
          </a:blip>
          <a:srcRect b="160" l="0" r="0" t="161"/>
          <a:stretch/>
        </p:blipFill>
        <p:spPr>
          <a:xfrm>
            <a:off x="5095386" y="1340387"/>
            <a:ext cx="3450993" cy="375346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1" type="body"/>
          </p:nvPr>
        </p:nvSpPr>
        <p:spPr>
          <a:xfrm>
            <a:off x="468000" y="706223"/>
            <a:ext cx="4104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COHESIÓN Y ACOPLAMIENTO</a:t>
            </a:r>
            <a:endParaRPr/>
          </a:p>
        </p:txBody>
      </p:sp>
      <p:sp>
        <p:nvSpPr>
          <p:cNvPr id="113" name="Google Shape;113;p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14" name="Google Shape;114;p7"/>
          <p:cNvSpPr txBox="1"/>
          <p:nvPr>
            <p:ph idx="4" type="body"/>
          </p:nvPr>
        </p:nvSpPr>
        <p:spPr>
          <a:xfrm>
            <a:off x="468000" y="1072512"/>
            <a:ext cx="428841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Cohesión es el grado en el cual los elementos y funcionalidades de un módulo están relacionados entre sí y enfocados en una única tarea bien definida.</a:t>
            </a:r>
            <a:endParaRPr/>
          </a:p>
          <a:p>
            <a:pPr indent="-266700" lvl="0" marL="266700" rtl="0" algn="l">
              <a:lnSpc>
                <a:spcPct val="100000"/>
              </a:lnSpc>
              <a:spcBef>
                <a:spcPts val="600"/>
              </a:spcBef>
              <a:spcAft>
                <a:spcPts val="0"/>
              </a:spcAft>
              <a:buClr>
                <a:schemeClr val="dk1"/>
              </a:buClr>
              <a:buSzPts val="1200"/>
              <a:buChar char="❑"/>
            </a:pPr>
            <a:r>
              <a:rPr lang="es-ES"/>
              <a:t>Acoplamiento es el grado de interdependencia entre módulos o componentes. </a:t>
            </a:r>
            <a:endParaRPr/>
          </a:p>
          <a:p>
            <a:pPr indent="-266700" lvl="0" marL="266700" rtl="0" algn="l">
              <a:lnSpc>
                <a:spcPct val="90000"/>
              </a:lnSpc>
              <a:spcBef>
                <a:spcPts val="600"/>
              </a:spcBef>
              <a:spcAft>
                <a:spcPts val="0"/>
              </a:spcAft>
              <a:buClr>
                <a:srgbClr val="1F85A6"/>
              </a:buClr>
              <a:buSzPts val="1050"/>
              <a:buChar char="❑"/>
            </a:pPr>
            <a:r>
              <a:rPr i="1" lang="es-ES" sz="1400">
                <a:solidFill>
                  <a:srgbClr val="1F85A6"/>
                </a:solidFill>
              </a:rPr>
              <a:t>Por ejemplo, en un sistema de punto de venta con los siguientes módulos: M1-Gestión de productos, M2-Carrito de compras, M3-Procesamiento de pagos, y M4-Impresión de recibos.</a:t>
            </a:r>
            <a:endParaRPr/>
          </a:p>
          <a:p>
            <a:pPr indent="0" lvl="1" marL="265113" rtl="0" algn="l">
              <a:lnSpc>
                <a:spcPct val="90000"/>
              </a:lnSpc>
              <a:spcBef>
                <a:spcPts val="0"/>
              </a:spcBef>
              <a:spcAft>
                <a:spcPts val="0"/>
              </a:spcAft>
              <a:buClr>
                <a:srgbClr val="1F85A6"/>
              </a:buClr>
              <a:buSzPts val="1400"/>
              <a:buNone/>
            </a:pPr>
            <a:r>
              <a:rPr i="1" lang="es-ES" sz="1400">
                <a:solidFill>
                  <a:srgbClr val="1F85A6"/>
                </a:solidFill>
              </a:rPr>
              <a:t>M1, M2 y M3 tienen alta cohesión, ya que cada uno se enfoca en una única tarea específica.</a:t>
            </a:r>
            <a:endParaRPr/>
          </a:p>
          <a:p>
            <a:pPr indent="0" lvl="1" marL="265113" rtl="0" algn="l">
              <a:lnSpc>
                <a:spcPct val="90000"/>
              </a:lnSpc>
              <a:spcBef>
                <a:spcPts val="0"/>
              </a:spcBef>
              <a:spcAft>
                <a:spcPts val="0"/>
              </a:spcAft>
              <a:buClr>
                <a:srgbClr val="1F85A6"/>
              </a:buClr>
              <a:buSzPts val="1400"/>
              <a:buNone/>
            </a:pPr>
            <a:r>
              <a:rPr i="1" lang="es-ES" sz="1400">
                <a:solidFill>
                  <a:srgbClr val="1F85A6"/>
                </a:solidFill>
              </a:rPr>
              <a:t>M1, M2 y M3 tienen bajo acoplamiento, ya que pueden funcionar de forma independiente entre sí.</a:t>
            </a:r>
            <a:endParaRPr/>
          </a:p>
          <a:p>
            <a:pPr indent="0" lvl="1" marL="265113" rtl="0" algn="l">
              <a:lnSpc>
                <a:spcPct val="90000"/>
              </a:lnSpc>
              <a:spcBef>
                <a:spcPts val="0"/>
              </a:spcBef>
              <a:spcAft>
                <a:spcPts val="0"/>
              </a:spcAft>
              <a:buClr>
                <a:srgbClr val="1F85A6"/>
              </a:buClr>
              <a:buSzPts val="1400"/>
              <a:buNone/>
            </a:pPr>
            <a:r>
              <a:rPr i="1" lang="es-ES" sz="1400">
                <a:solidFill>
                  <a:srgbClr val="1F85A6"/>
                </a:solidFill>
              </a:rPr>
              <a:t>M4 tiene alto acoplamiento a M2 y M3, ya que depende de su funcionamiento para poder imprimir los recibos.</a:t>
            </a:r>
            <a:endParaRPr/>
          </a:p>
        </p:txBody>
      </p:sp>
      <p:pic>
        <p:nvPicPr>
          <p:cNvPr id="115" name="Google Shape;115;p7"/>
          <p:cNvPicPr preferRelativeResize="0"/>
          <p:nvPr>
            <p:ph idx="2" type="pic"/>
          </p:nvPr>
        </p:nvPicPr>
        <p:blipFill rotWithShape="1">
          <a:blip r:embed="rId3">
            <a:alphaModFix/>
          </a:blip>
          <a:srcRect b="160" l="0" r="0" t="161"/>
          <a:stretch/>
        </p:blipFill>
        <p:spPr>
          <a:xfrm>
            <a:off x="5246255" y="1177927"/>
            <a:ext cx="3688052" cy="401129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ph idx="1" type="body"/>
          </p:nvPr>
        </p:nvSpPr>
        <p:spPr>
          <a:xfrm>
            <a:off x="468312" y="809626"/>
            <a:ext cx="4104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PATRONES DE DISEÑO</a:t>
            </a:r>
            <a:endParaRPr/>
          </a:p>
        </p:txBody>
      </p:sp>
      <p:sp>
        <p:nvSpPr>
          <p:cNvPr id="122" name="Google Shape;122;p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23" name="Google Shape;123;p8"/>
          <p:cNvSpPr txBox="1"/>
          <p:nvPr>
            <p:ph idx="4" type="body"/>
          </p:nvPr>
        </p:nvSpPr>
        <p:spPr>
          <a:xfrm>
            <a:off x="717695" y="1177927"/>
            <a:ext cx="3854305"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soluciones reutilizables para problemas comunes en el desarrollo de software.</a:t>
            </a:r>
            <a:endParaRPr/>
          </a:p>
          <a:p>
            <a:pPr indent="-266700" lvl="0" marL="266700" rtl="0" algn="l">
              <a:lnSpc>
                <a:spcPct val="100000"/>
              </a:lnSpc>
              <a:spcBef>
                <a:spcPts val="600"/>
              </a:spcBef>
              <a:spcAft>
                <a:spcPts val="0"/>
              </a:spcAft>
              <a:buClr>
                <a:schemeClr val="dk1"/>
              </a:buClr>
              <a:buSzPts val="1200"/>
              <a:buChar char="❑"/>
            </a:pPr>
            <a:r>
              <a:rPr lang="es-ES"/>
              <a:t>Un patrón de diseño describe un problema recurrente en el diseño de sistemas, junto con una solución comprobada para resolver el problema.</a:t>
            </a:r>
            <a:endParaRPr/>
          </a:p>
          <a:p>
            <a:pPr indent="-266700" lvl="0" marL="266700" rtl="0" algn="l">
              <a:lnSpc>
                <a:spcPct val="100000"/>
              </a:lnSpc>
              <a:spcBef>
                <a:spcPts val="600"/>
              </a:spcBef>
              <a:spcAft>
                <a:spcPts val="0"/>
              </a:spcAft>
              <a:buClr>
                <a:schemeClr val="dk1"/>
              </a:buClr>
              <a:buSzPts val="1200"/>
              <a:buChar char="❑"/>
            </a:pPr>
            <a:r>
              <a:rPr lang="es-ES"/>
              <a:t>El problema recurrente también define las consecuencias positivas y negativas de aplicar la solución en diferentes contextos.</a:t>
            </a:r>
            <a:endParaRPr/>
          </a:p>
          <a:p>
            <a:pPr indent="-266700" lvl="0" marL="266700" rtl="0" algn="l">
              <a:lnSpc>
                <a:spcPct val="100000"/>
              </a:lnSpc>
              <a:spcBef>
                <a:spcPts val="600"/>
              </a:spcBef>
              <a:spcAft>
                <a:spcPts val="0"/>
              </a:spcAft>
              <a:buClr>
                <a:schemeClr val="dk1"/>
              </a:buClr>
              <a:buSzPts val="1200"/>
              <a:buChar char="❑"/>
            </a:pPr>
            <a:r>
              <a:rPr lang="es-ES"/>
              <a:t>Un patrón de diseño busca capturar soluciones de forma abstracta para hacerlas reutilizables en diferentes situaciones.</a:t>
            </a:r>
            <a:endParaRPr/>
          </a:p>
        </p:txBody>
      </p:sp>
      <p:pic>
        <p:nvPicPr>
          <p:cNvPr id="124" name="Google Shape;124;p8"/>
          <p:cNvPicPr preferRelativeResize="0"/>
          <p:nvPr>
            <p:ph idx="2" type="pic"/>
          </p:nvPr>
        </p:nvPicPr>
        <p:blipFill rotWithShape="1">
          <a:blip r:embed="rId3">
            <a:alphaModFix/>
          </a:blip>
          <a:srcRect b="160" l="0" r="0" t="161"/>
          <a:stretch/>
        </p:blipFill>
        <p:spPr>
          <a:xfrm>
            <a:off x="4572000" y="804863"/>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131" name="Google Shape;131;p9"/>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ELEMENTOS DEL DIAGRAMA DE SECUENCIA</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138" name="Google Shape;138;p10"/>
          <p:cNvSpPr txBox="1"/>
          <p:nvPr>
            <p:ph idx="4" type="body"/>
          </p:nvPr>
        </p:nvSpPr>
        <p:spPr>
          <a:xfrm>
            <a:off x="763876" y="1163638"/>
            <a:ext cx="3512560"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None/>
            </a:pPr>
            <a:r>
              <a:rPr lang="es-ES"/>
              <a:t>Representa la interacción entre objetos en un sistema a lo largo del tiempo. Se utilizan para:</a:t>
            </a:r>
            <a:endParaRPr/>
          </a:p>
          <a:p>
            <a:pPr indent="-266700" lvl="0" marL="266700" rtl="0" algn="l">
              <a:lnSpc>
                <a:spcPct val="100000"/>
              </a:lnSpc>
              <a:spcBef>
                <a:spcPts val="600"/>
              </a:spcBef>
              <a:spcAft>
                <a:spcPts val="0"/>
              </a:spcAft>
              <a:buClr>
                <a:schemeClr val="dk1"/>
              </a:buClr>
              <a:buSzPts val="1200"/>
              <a:buChar char="❑"/>
            </a:pPr>
            <a:r>
              <a:rPr lang="es-ES"/>
              <a:t>Modelar el flujo de un escenario, caso de uso o proceso.</a:t>
            </a:r>
            <a:endParaRPr/>
          </a:p>
          <a:p>
            <a:pPr indent="-266700" lvl="0" marL="266700" rtl="0" algn="l">
              <a:lnSpc>
                <a:spcPct val="100000"/>
              </a:lnSpc>
              <a:spcBef>
                <a:spcPts val="600"/>
              </a:spcBef>
              <a:spcAft>
                <a:spcPts val="0"/>
              </a:spcAft>
              <a:buClr>
                <a:schemeClr val="dk1"/>
              </a:buClr>
              <a:buSzPts val="1200"/>
              <a:buChar char="❑"/>
            </a:pPr>
            <a:r>
              <a:rPr lang="es-ES"/>
              <a:t>Documentar y validar los requisitos de un sistema.</a:t>
            </a:r>
            <a:endParaRPr/>
          </a:p>
          <a:p>
            <a:pPr indent="-266700" lvl="0" marL="266700" rtl="0" algn="l">
              <a:lnSpc>
                <a:spcPct val="100000"/>
              </a:lnSpc>
              <a:spcBef>
                <a:spcPts val="600"/>
              </a:spcBef>
              <a:spcAft>
                <a:spcPts val="0"/>
              </a:spcAft>
              <a:buClr>
                <a:schemeClr val="dk1"/>
              </a:buClr>
              <a:buSzPts val="1200"/>
              <a:buChar char="❑"/>
            </a:pPr>
            <a:r>
              <a:rPr lang="es-ES"/>
              <a:t>Entender la lógica de un proceso complejo.</a:t>
            </a:r>
            <a:endParaRPr/>
          </a:p>
          <a:p>
            <a:pPr indent="-266700" lvl="0" marL="266700" rtl="0" algn="l">
              <a:lnSpc>
                <a:spcPct val="100000"/>
              </a:lnSpc>
              <a:spcBef>
                <a:spcPts val="600"/>
              </a:spcBef>
              <a:spcAft>
                <a:spcPts val="0"/>
              </a:spcAft>
              <a:buClr>
                <a:schemeClr val="dk1"/>
              </a:buClr>
              <a:buSzPts val="1200"/>
              <a:buChar char="❑"/>
            </a:pPr>
            <a:r>
              <a:rPr lang="es-ES"/>
              <a:t>Analizar el rendimiento y carga de un sistema.</a:t>
            </a:r>
            <a:endParaRPr/>
          </a:p>
          <a:p>
            <a:pPr indent="-266700" lvl="0" marL="266700" rtl="0" algn="l">
              <a:lnSpc>
                <a:spcPct val="100000"/>
              </a:lnSpc>
              <a:spcBef>
                <a:spcPts val="600"/>
              </a:spcBef>
              <a:spcAft>
                <a:spcPts val="0"/>
              </a:spcAft>
              <a:buClr>
                <a:schemeClr val="dk1"/>
              </a:buClr>
              <a:buSzPts val="1200"/>
              <a:buChar char="❑"/>
            </a:pPr>
            <a:r>
              <a:rPr lang="es-ES"/>
              <a:t>Depurar interacciones en un sistema existente.</a:t>
            </a:r>
            <a:endParaRPr/>
          </a:p>
        </p:txBody>
      </p:sp>
      <p:sp>
        <p:nvSpPr>
          <p:cNvPr id="139" name="Google Shape;139;p1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SECUENCIA</a:t>
            </a:r>
            <a:endParaRPr/>
          </a:p>
        </p:txBody>
      </p:sp>
      <p:pic>
        <p:nvPicPr>
          <p:cNvPr id="140" name="Google Shape;140;p10"/>
          <p:cNvPicPr preferRelativeResize="0"/>
          <p:nvPr>
            <p:ph idx="2" type="pic"/>
          </p:nvPr>
        </p:nvPicPr>
        <p:blipFill rotWithShape="1">
          <a:blip r:embed="rId3">
            <a:alphaModFix/>
          </a:blip>
          <a:srcRect b="374" l="0" r="0" t="372"/>
          <a:stretch/>
        </p:blipFill>
        <p:spPr>
          <a:xfrm>
            <a:off x="4719782" y="973825"/>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147" name="Google Shape;147;p1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LÍNEA DE VIDA</a:t>
            </a:r>
            <a:endParaRPr/>
          </a:p>
        </p:txBody>
      </p:sp>
      <p:sp>
        <p:nvSpPr>
          <p:cNvPr id="148" name="Google Shape;148;p11"/>
          <p:cNvSpPr txBox="1"/>
          <p:nvPr>
            <p:ph idx="4" type="body"/>
          </p:nvPr>
        </p:nvSpPr>
        <p:spPr>
          <a:xfrm>
            <a:off x="468313" y="1177927"/>
            <a:ext cx="4334596"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Representa la existencia de un objeto o actor en el tiempo durante la secuencia de interacciones que está siendo modelada.</a:t>
            </a:r>
            <a:endParaRPr/>
          </a:p>
          <a:p>
            <a:pPr indent="-266700" lvl="0" marL="266700" rtl="0" algn="l">
              <a:lnSpc>
                <a:spcPct val="100000"/>
              </a:lnSpc>
              <a:spcBef>
                <a:spcPts val="1200"/>
              </a:spcBef>
              <a:spcAft>
                <a:spcPts val="0"/>
              </a:spcAft>
              <a:buClr>
                <a:schemeClr val="dk1"/>
              </a:buClr>
              <a:buSzPts val="1200"/>
              <a:buChar char="❑"/>
            </a:pPr>
            <a:r>
              <a:rPr lang="es-ES"/>
              <a:t>Normalmente, se representa como una línea vertical descendente que sale de un objeto o de un actor. La línea vertical suele ser punteada y se extiende hacia abajo. La longitud de la línea se alinea con el tiempo total que el objeto está en existencia o en operación durante el escenario que se está modelando.</a:t>
            </a:r>
            <a:endParaRPr/>
          </a:p>
          <a:p>
            <a:pPr indent="-266700" lvl="0" marL="266700" rtl="0" algn="l">
              <a:lnSpc>
                <a:spcPct val="100000"/>
              </a:lnSpc>
              <a:spcBef>
                <a:spcPts val="1200"/>
              </a:spcBef>
              <a:spcAft>
                <a:spcPts val="0"/>
              </a:spcAft>
              <a:buClr>
                <a:srgbClr val="1F85A6"/>
              </a:buClr>
              <a:buSzPts val="1050"/>
              <a:buChar char="❑"/>
            </a:pPr>
            <a:r>
              <a:rPr lang="es-ES" sz="1400">
                <a:solidFill>
                  <a:srgbClr val="1F85A6"/>
                </a:solidFill>
              </a:rPr>
              <a:t>El diagrama ilustra cómo el usuario interactúa con el CajeroAutomático, y cómo este último interactúa con el Banco para llevar a cabo la transacción.</a:t>
            </a:r>
            <a:endParaRPr/>
          </a:p>
        </p:txBody>
      </p:sp>
      <p:pic>
        <p:nvPicPr>
          <p:cNvPr id="149" name="Google Shape;149;p11"/>
          <p:cNvPicPr preferRelativeResize="0"/>
          <p:nvPr>
            <p:ph idx="2" type="pic"/>
          </p:nvPr>
        </p:nvPicPr>
        <p:blipFill rotWithShape="1">
          <a:blip r:embed="rId3">
            <a:alphaModFix/>
          </a:blip>
          <a:srcRect b="374" l="0" r="0" t="372"/>
          <a:stretch/>
        </p:blipFill>
        <p:spPr>
          <a:xfrm>
            <a:off x="4802909" y="811365"/>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156" name="Google Shape;156;p1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MENSAJE</a:t>
            </a:r>
            <a:endParaRPr/>
          </a:p>
        </p:txBody>
      </p:sp>
      <p:sp>
        <p:nvSpPr>
          <p:cNvPr id="157" name="Google Shape;157;p12"/>
          <p:cNvSpPr txBox="1"/>
          <p:nvPr>
            <p:ph idx="4" type="body"/>
          </p:nvPr>
        </p:nvSpPr>
        <p:spPr>
          <a:xfrm>
            <a:off x="468313" y="1177927"/>
            <a:ext cx="4445432"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una forma de comunicación entre los objetos y/o actores del sistema. Representa una solicitud de operación, la invocación de un método o el envío de información de un objeto a otro.</a:t>
            </a:r>
            <a:endParaRPr/>
          </a:p>
          <a:p>
            <a:pPr indent="-266700" lvl="0" marL="266700" rtl="0" algn="l">
              <a:lnSpc>
                <a:spcPct val="100000"/>
              </a:lnSpc>
              <a:spcBef>
                <a:spcPts val="1200"/>
              </a:spcBef>
              <a:spcAft>
                <a:spcPts val="0"/>
              </a:spcAft>
              <a:buClr>
                <a:schemeClr val="dk1"/>
              </a:buClr>
              <a:buSzPts val="1200"/>
              <a:buChar char="❑"/>
            </a:pPr>
            <a:r>
              <a:rPr lang="es-ES"/>
              <a:t>Se representa como una flecha, que va del emisor al receptor. El nombre del mensaje o la operación se coloca sobre la flecha.</a:t>
            </a:r>
            <a:endParaRPr/>
          </a:p>
          <a:p>
            <a:pPr indent="-266700" lvl="0" marL="266700" rtl="0" algn="l">
              <a:lnSpc>
                <a:spcPct val="100000"/>
              </a:lnSpc>
              <a:spcBef>
                <a:spcPts val="1200"/>
              </a:spcBef>
              <a:spcAft>
                <a:spcPts val="0"/>
              </a:spcAft>
              <a:buClr>
                <a:srgbClr val="1F85A6"/>
              </a:buClr>
              <a:buSzPts val="1050"/>
              <a:buChar char="❑"/>
            </a:pPr>
            <a:r>
              <a:rPr lang="es-ES" sz="1400">
                <a:solidFill>
                  <a:srgbClr val="1F85A6"/>
                </a:solidFill>
              </a:rPr>
              <a:t>En el diagrama, cuando el Usuario presiona “ON” en el ControlRemoto, eso es un mensaje.</a:t>
            </a:r>
            <a:endParaRPr/>
          </a:p>
          <a:p>
            <a:pPr indent="0" lvl="1" marL="265113" rtl="0" algn="l">
              <a:lnSpc>
                <a:spcPct val="100000"/>
              </a:lnSpc>
              <a:spcBef>
                <a:spcPts val="300"/>
              </a:spcBef>
              <a:spcAft>
                <a:spcPts val="0"/>
              </a:spcAft>
              <a:buClr>
                <a:srgbClr val="1F85A6"/>
              </a:buClr>
              <a:buSzPts val="1400"/>
              <a:buNone/>
            </a:pPr>
            <a:r>
              <a:rPr lang="es-ES" sz="1400">
                <a:solidFill>
                  <a:srgbClr val="1F85A6"/>
                </a:solidFill>
              </a:rPr>
              <a:t>El ControlRemoto luego envía otro mensaje “Encender()” a la Lámpara.</a:t>
            </a:r>
            <a:endParaRPr/>
          </a:p>
          <a:p>
            <a:pPr indent="0" lvl="1" marL="265113" rtl="0" algn="l">
              <a:lnSpc>
                <a:spcPct val="100000"/>
              </a:lnSpc>
              <a:spcBef>
                <a:spcPts val="300"/>
              </a:spcBef>
              <a:spcAft>
                <a:spcPts val="0"/>
              </a:spcAft>
              <a:buClr>
                <a:srgbClr val="1F85A6"/>
              </a:buClr>
              <a:buSzPts val="1400"/>
              <a:buNone/>
            </a:pPr>
            <a:r>
              <a:rPr lang="es-ES" sz="1400">
                <a:solidFill>
                  <a:srgbClr val="1F85A6"/>
                </a:solidFill>
              </a:rPr>
              <a:t>Finalmente, la Lámpara envía un mensaje de “Confirmación” de vuelta al ControlRemoto, que luego informa al Usuario.</a:t>
            </a:r>
            <a:endParaRPr sz="1400">
              <a:solidFill>
                <a:srgbClr val="1F85A6"/>
              </a:solidFill>
            </a:endParaRPr>
          </a:p>
        </p:txBody>
      </p:sp>
      <p:pic>
        <p:nvPicPr>
          <p:cNvPr id="158" name="Google Shape;158;p12"/>
          <p:cNvPicPr preferRelativeResize="0"/>
          <p:nvPr>
            <p:ph idx="2" type="pic"/>
          </p:nvPr>
        </p:nvPicPr>
        <p:blipFill rotWithShape="1">
          <a:blip r:embed="rId3">
            <a:alphaModFix/>
          </a:blip>
          <a:srcRect b="374" l="0" r="0" t="372"/>
          <a:stretch/>
        </p:blipFill>
        <p:spPr>
          <a:xfrm>
            <a:off x="5357090" y="1304751"/>
            <a:ext cx="3318597" cy="360946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165" name="Google Shape;165;p1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ACTIVACIÓN (ACTIVATION BAR)</a:t>
            </a:r>
            <a:endParaRPr/>
          </a:p>
        </p:txBody>
      </p:sp>
      <p:sp>
        <p:nvSpPr>
          <p:cNvPr id="166" name="Google Shape;166;p13"/>
          <p:cNvSpPr txBox="1"/>
          <p:nvPr>
            <p:ph idx="4" type="body"/>
          </p:nvPr>
        </p:nvSpPr>
        <p:spPr>
          <a:xfrm>
            <a:off x="468313" y="1177927"/>
            <a:ext cx="4602450"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Muestra cuándo un objeto está realizando una actividad en respuesta a un mensaje recibido o en el proceso de enviar uno.</a:t>
            </a:r>
            <a:endParaRPr/>
          </a:p>
          <a:p>
            <a:pPr indent="-266700" lvl="0" marL="266700" rtl="0" algn="l">
              <a:lnSpc>
                <a:spcPct val="100000"/>
              </a:lnSpc>
              <a:spcBef>
                <a:spcPts val="1200"/>
              </a:spcBef>
              <a:spcAft>
                <a:spcPts val="0"/>
              </a:spcAft>
              <a:buClr>
                <a:schemeClr val="dk1"/>
              </a:buClr>
              <a:buSzPts val="1200"/>
              <a:buChar char="❑"/>
            </a:pPr>
            <a:r>
              <a:rPr lang="es-ES"/>
              <a:t>Es una barra rectangular vertical que se coloca sobre la línea de vida del objeto o actor correspondiente. Comienza en el punto donde el objeto recibe un mensaje y termina cuando la actividad relacionada con ese mensaje se ha completado.</a:t>
            </a:r>
            <a:endParaRPr/>
          </a:p>
          <a:p>
            <a:pPr indent="-266700" lvl="0" marL="266700" rtl="0" algn="l">
              <a:lnSpc>
                <a:spcPct val="100000"/>
              </a:lnSpc>
              <a:spcBef>
                <a:spcPts val="1200"/>
              </a:spcBef>
              <a:spcAft>
                <a:spcPts val="0"/>
              </a:spcAft>
              <a:buClr>
                <a:srgbClr val="1F85A6"/>
              </a:buClr>
              <a:buSzPts val="1050"/>
              <a:buChar char="❑"/>
            </a:pPr>
            <a:r>
              <a:rPr lang="es-ES" sz="1400">
                <a:solidFill>
                  <a:srgbClr val="1F85A6"/>
                </a:solidFill>
              </a:rPr>
              <a:t>En el diagrama, las barras de activación muestran cuando la “TiendaEnLinea” y la “BaseDeDatos” están activas. </a:t>
            </a:r>
            <a:endParaRPr/>
          </a:p>
          <a:p>
            <a:pPr indent="0" lvl="1" marL="265113" rtl="0" algn="l">
              <a:lnSpc>
                <a:spcPct val="100000"/>
              </a:lnSpc>
              <a:spcBef>
                <a:spcPts val="300"/>
              </a:spcBef>
              <a:spcAft>
                <a:spcPts val="0"/>
              </a:spcAft>
              <a:buClr>
                <a:srgbClr val="1F85A6"/>
              </a:buClr>
              <a:buSzPts val="1400"/>
              <a:buNone/>
            </a:pPr>
            <a:r>
              <a:rPr lang="es-ES" sz="1400">
                <a:solidFill>
                  <a:srgbClr val="1F85A6"/>
                </a:solidFill>
              </a:rPr>
              <a:t>La “TiendaEnLinea” se activa cuando recibe el mensaje “Selecciona producto” del “Cliente” y se desactiva después de enviar la confirmación de vuelta al “Cliente”.</a:t>
            </a:r>
            <a:endParaRPr sz="1400">
              <a:solidFill>
                <a:srgbClr val="1F85A6"/>
              </a:solidFill>
            </a:endParaRPr>
          </a:p>
        </p:txBody>
      </p:sp>
      <p:pic>
        <p:nvPicPr>
          <p:cNvPr id="167" name="Google Shape;167;p13"/>
          <p:cNvPicPr preferRelativeResize="0"/>
          <p:nvPr>
            <p:ph idx="2" type="pic"/>
          </p:nvPr>
        </p:nvPicPr>
        <p:blipFill rotWithShape="1">
          <a:blip r:embed="rId3">
            <a:alphaModFix/>
          </a:blip>
          <a:srcRect b="374" l="0" r="0" t="372"/>
          <a:stretch/>
        </p:blipFill>
        <p:spPr>
          <a:xfrm>
            <a:off x="5264726" y="1163638"/>
            <a:ext cx="3688052" cy="401129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174" name="Google Shape;174;p1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ACTOR</a:t>
            </a:r>
            <a:endParaRPr/>
          </a:p>
        </p:txBody>
      </p:sp>
      <p:sp>
        <p:nvSpPr>
          <p:cNvPr id="175" name="Google Shape;175;p14"/>
          <p:cNvSpPr txBox="1"/>
          <p:nvPr>
            <p:ph idx="4" type="body"/>
          </p:nvPr>
        </p:nvSpPr>
        <p:spPr>
          <a:xfrm>
            <a:off x="847005" y="1163638"/>
            <a:ext cx="388201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los iniciadores de los mensajes y las acciones en el diagrama y sirven como una forma de identificar las entidades externas que interactúan con tu sistema.</a:t>
            </a:r>
            <a:endParaRPr/>
          </a:p>
          <a:p>
            <a:pPr indent="-266700" lvl="0" marL="266700" rtl="0" algn="l">
              <a:lnSpc>
                <a:spcPct val="100000"/>
              </a:lnSpc>
              <a:spcBef>
                <a:spcPts val="1200"/>
              </a:spcBef>
              <a:spcAft>
                <a:spcPts val="0"/>
              </a:spcAft>
              <a:buClr>
                <a:schemeClr val="dk1"/>
              </a:buClr>
              <a:buSzPts val="1200"/>
              <a:buChar char="❑"/>
            </a:pPr>
            <a:r>
              <a:rPr lang="es-ES"/>
              <a:t>Se representa comúnmente como un “monigote” o como un rectángulo con el nombre del actor. Se coloca generalmente en los extremos izquierdo o derecho del diagrama para indicar que es una entidad externa al sistema que estás modelando.</a:t>
            </a:r>
            <a:endParaRPr/>
          </a:p>
          <a:p>
            <a:pPr indent="-266700" lvl="0" marL="266700" rtl="0" algn="l">
              <a:lnSpc>
                <a:spcPct val="100000"/>
              </a:lnSpc>
              <a:spcBef>
                <a:spcPts val="1200"/>
              </a:spcBef>
              <a:spcAft>
                <a:spcPts val="0"/>
              </a:spcAft>
              <a:buClr>
                <a:srgbClr val="1F85A6"/>
              </a:buClr>
              <a:buSzPts val="1050"/>
              <a:buChar char="❑"/>
            </a:pPr>
            <a:r>
              <a:rPr lang="es-ES" sz="1400">
                <a:solidFill>
                  <a:srgbClr val="1F85A6"/>
                </a:solidFill>
              </a:rPr>
              <a:t>En este ejemplo, el “Estudiante” inicia la secuencia al ingresar al “PortalUniversidad”, que a su vez interactúa con el “SistemaCalificaciones” para obtener las calificaciones del estudiante.</a:t>
            </a:r>
            <a:endParaRPr sz="1400">
              <a:solidFill>
                <a:srgbClr val="1F85A6"/>
              </a:solidFill>
            </a:endParaRPr>
          </a:p>
        </p:txBody>
      </p:sp>
      <p:pic>
        <p:nvPicPr>
          <p:cNvPr id="176" name="Google Shape;176;p14"/>
          <p:cNvPicPr preferRelativeResize="0"/>
          <p:nvPr>
            <p:ph idx="2" type="pic"/>
          </p:nvPr>
        </p:nvPicPr>
        <p:blipFill rotWithShape="1">
          <a:blip r:embed="rId3">
            <a:alphaModFix/>
          </a:blip>
          <a:srcRect b="374" l="0" r="0" t="372"/>
          <a:stretch/>
        </p:blipFill>
        <p:spPr>
          <a:xfrm>
            <a:off x="4969164" y="1229050"/>
            <a:ext cx="3706524" cy="403138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183" name="Google Shape;183;p1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OBJETO</a:t>
            </a:r>
            <a:endParaRPr/>
          </a:p>
        </p:txBody>
      </p:sp>
      <p:sp>
        <p:nvSpPr>
          <p:cNvPr id="184" name="Google Shape;184;p15"/>
          <p:cNvSpPr txBox="1"/>
          <p:nvPr>
            <p:ph idx="4" type="body"/>
          </p:nvPr>
        </p:nvSpPr>
        <p:spPr>
          <a:xfrm>
            <a:off x="468313" y="1177927"/>
            <a:ext cx="4269942"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una instancia de una clase que participa en el escenario que estás modelando. Los objetos son las entidades que reciben y envían mensajes entre sí y realizan acciones en respuesta a esos mensajes. </a:t>
            </a:r>
            <a:endParaRPr/>
          </a:p>
          <a:p>
            <a:pPr indent="-266700" lvl="0" marL="266700" rtl="0" algn="l">
              <a:lnSpc>
                <a:spcPct val="100000"/>
              </a:lnSpc>
              <a:spcBef>
                <a:spcPts val="1200"/>
              </a:spcBef>
              <a:spcAft>
                <a:spcPts val="0"/>
              </a:spcAft>
              <a:buClr>
                <a:schemeClr val="dk1"/>
              </a:buClr>
              <a:buSzPts val="1200"/>
              <a:buChar char="❑"/>
            </a:pPr>
            <a:r>
              <a:rPr lang="es-ES"/>
              <a:t>Se representa como un rectángulo ubicado en la parte superior de la línea de vida. El nombre del objeto se coloca dentro del rectángulo. Opcionalmente, puedes incluir el nombre de la clase del objeto en la notación “objeto:Clase”.</a:t>
            </a:r>
            <a:endParaRPr/>
          </a:p>
          <a:p>
            <a:pPr indent="-266700" lvl="0" marL="266700" rtl="0" algn="l">
              <a:lnSpc>
                <a:spcPct val="100000"/>
              </a:lnSpc>
              <a:spcBef>
                <a:spcPts val="1200"/>
              </a:spcBef>
              <a:spcAft>
                <a:spcPts val="0"/>
              </a:spcAft>
              <a:buClr>
                <a:srgbClr val="1F85A6"/>
              </a:buClr>
              <a:buSzPts val="1050"/>
              <a:buChar char="❑"/>
            </a:pPr>
            <a:r>
              <a:rPr lang="es-ES" sz="1400">
                <a:solidFill>
                  <a:srgbClr val="1F85A6"/>
                </a:solidFill>
              </a:rPr>
              <a:t>En este ejemplo, “AppMovil” y “SistemaReservas” son objetos. El objeto “AppMovil” recibe mensajes del actor “Cliente” y interactúa con otro objeto “SistemaReservas” para completar la reserva.</a:t>
            </a:r>
            <a:endParaRPr sz="1400">
              <a:solidFill>
                <a:srgbClr val="1F85A6"/>
              </a:solidFill>
            </a:endParaRPr>
          </a:p>
        </p:txBody>
      </p:sp>
      <p:pic>
        <p:nvPicPr>
          <p:cNvPr id="185" name="Google Shape;185;p15"/>
          <p:cNvPicPr preferRelativeResize="0"/>
          <p:nvPr>
            <p:ph idx="2" type="pic"/>
          </p:nvPr>
        </p:nvPicPr>
        <p:blipFill rotWithShape="1">
          <a:blip r:embed="rId3">
            <a:alphaModFix/>
          </a:blip>
          <a:srcRect b="374" l="0" r="0" t="372"/>
          <a:stretch/>
        </p:blipFill>
        <p:spPr>
          <a:xfrm>
            <a:off x="5107708" y="1387525"/>
            <a:ext cx="3567979" cy="38807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192" name="Google Shape;192;p1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DESTRUCCIÓN (DESTRUCTION EVENT)</a:t>
            </a:r>
            <a:endParaRPr/>
          </a:p>
        </p:txBody>
      </p:sp>
      <p:sp>
        <p:nvSpPr>
          <p:cNvPr id="193" name="Google Shape;193;p16"/>
          <p:cNvSpPr txBox="1"/>
          <p:nvPr>
            <p:ph idx="4" type="body"/>
          </p:nvPr>
        </p:nvSpPr>
        <p:spPr>
          <a:xfrm>
            <a:off x="791586" y="1190627"/>
            <a:ext cx="378041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Señala el momento en el cual un objeto es eliminado o destruido durante el curso del escenario que estás modelando. </a:t>
            </a:r>
            <a:endParaRPr/>
          </a:p>
          <a:p>
            <a:pPr indent="-266700" lvl="0" marL="266700" rtl="0" algn="l">
              <a:lnSpc>
                <a:spcPct val="100000"/>
              </a:lnSpc>
              <a:spcBef>
                <a:spcPts val="1200"/>
              </a:spcBef>
              <a:spcAft>
                <a:spcPts val="0"/>
              </a:spcAft>
              <a:buClr>
                <a:schemeClr val="dk1"/>
              </a:buClr>
              <a:buSzPts val="1200"/>
              <a:buChar char="❑"/>
            </a:pPr>
            <a:r>
              <a:rPr lang="es-ES"/>
              <a:t>La destrucción de un objeto en un Diagrama de Secuencia se representa mediante una “X” colocada al final de la línea de vida del objeto.</a:t>
            </a:r>
            <a:endParaRPr/>
          </a:p>
          <a:p>
            <a:pPr indent="-266700" lvl="0" marL="266700" rtl="0" algn="l">
              <a:lnSpc>
                <a:spcPct val="100000"/>
              </a:lnSpc>
              <a:spcBef>
                <a:spcPts val="1200"/>
              </a:spcBef>
              <a:spcAft>
                <a:spcPts val="0"/>
              </a:spcAft>
              <a:buClr>
                <a:srgbClr val="1F85A6"/>
              </a:buClr>
              <a:buSzPts val="1050"/>
              <a:buChar char="❑"/>
            </a:pPr>
            <a:r>
              <a:rPr lang="es-ES" sz="1400">
                <a:solidFill>
                  <a:srgbClr val="1F85A6"/>
                </a:solidFill>
              </a:rPr>
              <a:t>En este ejemplo, el objeto “Reproductor” es creado por “AppMusica” para manejar la reproducción de la canción. Una vez que el usuario detiene la canción, el objeto “Reproductor” es destruido, como se indica con la “X” al final de su línea de vida.</a:t>
            </a:r>
            <a:endParaRPr/>
          </a:p>
        </p:txBody>
      </p:sp>
      <p:pic>
        <p:nvPicPr>
          <p:cNvPr id="194" name="Google Shape;194;p16"/>
          <p:cNvPicPr preferRelativeResize="0"/>
          <p:nvPr>
            <p:ph idx="2" type="pic"/>
          </p:nvPr>
        </p:nvPicPr>
        <p:blipFill rotWithShape="1">
          <a:blip r:embed="rId3">
            <a:alphaModFix/>
          </a:blip>
          <a:srcRect b="374" l="0" r="0" t="372"/>
          <a:stretch/>
        </p:blipFill>
        <p:spPr>
          <a:xfrm>
            <a:off x="4830618" y="1194091"/>
            <a:ext cx="3651106" cy="397111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201" name="Google Shape;201;p1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LLAMADA A SÍ MISMO (SELF-MESSAGE)</a:t>
            </a:r>
            <a:endParaRPr/>
          </a:p>
        </p:txBody>
      </p:sp>
      <p:sp>
        <p:nvSpPr>
          <p:cNvPr id="202" name="Google Shape;202;p17"/>
          <p:cNvSpPr txBox="1"/>
          <p:nvPr>
            <p:ph idx="4" type="body"/>
          </p:nvPr>
        </p:nvSpPr>
        <p:spPr>
          <a:xfrm>
            <a:off x="893186" y="1163638"/>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Se refiere a una situación donde un objeto se envía un mensaje a sí mismo; suelen representar métodos o acciones que un objeto realiza internamente sin necesidad de la intervención de otros objetos.</a:t>
            </a:r>
            <a:endParaRPr/>
          </a:p>
          <a:p>
            <a:pPr indent="-266700" lvl="0" marL="266700" rtl="0" algn="l">
              <a:lnSpc>
                <a:spcPct val="100000"/>
              </a:lnSpc>
              <a:spcBef>
                <a:spcPts val="1200"/>
              </a:spcBef>
              <a:spcAft>
                <a:spcPts val="0"/>
              </a:spcAft>
              <a:buClr>
                <a:schemeClr val="dk1"/>
              </a:buClr>
              <a:buSzPts val="1200"/>
              <a:buChar char="❑"/>
            </a:pPr>
            <a:r>
              <a:rPr lang="es-ES"/>
              <a:t>Se representa como una flecha que parte de la línea de vida del objeto, forma un bucle y luego apunta hacia su propia línea de vida; tiene una etiqueta que describe el mensaje o acción que se está llevando a cabo.</a:t>
            </a:r>
            <a:endParaRPr/>
          </a:p>
          <a:p>
            <a:pPr indent="-266700" lvl="0" marL="266700" rtl="0" algn="l">
              <a:lnSpc>
                <a:spcPct val="100000"/>
              </a:lnSpc>
              <a:spcBef>
                <a:spcPts val="1200"/>
              </a:spcBef>
              <a:spcAft>
                <a:spcPts val="0"/>
              </a:spcAft>
              <a:buClr>
                <a:srgbClr val="1F85A6"/>
              </a:buClr>
              <a:buSzPts val="1050"/>
              <a:buChar char="❑"/>
            </a:pPr>
            <a:r>
              <a:rPr lang="es-ES" sz="1400">
                <a:solidFill>
                  <a:srgbClr val="1F85A6"/>
                </a:solidFill>
              </a:rPr>
              <a:t>En este ejemplo, el objeto Contador se envía mensajes a sí mismo para realizar una cuenta regresiva desde 3 hasta 1.</a:t>
            </a:r>
            <a:endParaRPr/>
          </a:p>
          <a:p>
            <a:pPr indent="0" lvl="1" marL="265113" rtl="0" algn="l">
              <a:lnSpc>
                <a:spcPct val="100000"/>
              </a:lnSpc>
              <a:spcBef>
                <a:spcPts val="300"/>
              </a:spcBef>
              <a:spcAft>
                <a:spcPts val="0"/>
              </a:spcAft>
              <a:buClr>
                <a:srgbClr val="1F85A6"/>
              </a:buClr>
              <a:buSzPts val="1400"/>
              <a:buNone/>
            </a:pPr>
            <a:r>
              <a:rPr lang="es-ES" sz="1400">
                <a:solidFill>
                  <a:srgbClr val="1F85A6"/>
                </a:solidFill>
              </a:rPr>
              <a:t>Después de llegar a 1, se envía un mensaje a sí mismo para terminar el proceso.</a:t>
            </a:r>
            <a:endParaRPr sz="1400">
              <a:solidFill>
                <a:srgbClr val="1F85A6"/>
              </a:solidFill>
            </a:endParaRPr>
          </a:p>
        </p:txBody>
      </p:sp>
      <p:pic>
        <p:nvPicPr>
          <p:cNvPr id="203" name="Google Shape;203;p17"/>
          <p:cNvPicPr preferRelativeResize="0"/>
          <p:nvPr>
            <p:ph idx="2" type="pic"/>
          </p:nvPr>
        </p:nvPicPr>
        <p:blipFill rotWithShape="1">
          <a:blip r:embed="rId3">
            <a:alphaModFix/>
          </a:blip>
          <a:srcRect b="374" l="0" r="0" t="372"/>
          <a:stretch/>
        </p:blipFill>
        <p:spPr>
          <a:xfrm>
            <a:off x="4867564" y="811365"/>
            <a:ext cx="4103688" cy="4463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210" name="Google Shape;210;p1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MENSAJE SÍNCRONO Y ASÍNCRONO</a:t>
            </a:r>
            <a:endParaRPr/>
          </a:p>
        </p:txBody>
      </p:sp>
      <p:sp>
        <p:nvSpPr>
          <p:cNvPr id="211" name="Google Shape;211;p18"/>
          <p:cNvSpPr txBox="1"/>
          <p:nvPr>
            <p:ph idx="4" type="body"/>
          </p:nvPr>
        </p:nvSpPr>
        <p:spPr>
          <a:xfrm>
            <a:off x="569913" y="1177927"/>
            <a:ext cx="4325360"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un mensaje síncrono el emisor espera una respuesta del receptor antes de continuar </a:t>
            </a:r>
            <a:r>
              <a:rPr i="1" lang="es-ES" sz="1400"/>
              <a:t>(el objeto que envía el mensaje se “bloquea” hasta que recibe una respuesta)</a:t>
            </a:r>
            <a:r>
              <a:rPr lang="es-ES"/>
              <a:t>.</a:t>
            </a:r>
            <a:endParaRPr/>
          </a:p>
          <a:p>
            <a:pPr indent="-266700" lvl="0" marL="266700" rtl="0" algn="l">
              <a:lnSpc>
                <a:spcPct val="100000"/>
              </a:lnSpc>
              <a:spcBef>
                <a:spcPts val="1200"/>
              </a:spcBef>
              <a:spcAft>
                <a:spcPts val="0"/>
              </a:spcAft>
              <a:buClr>
                <a:schemeClr val="dk1"/>
              </a:buClr>
              <a:buSzPts val="1200"/>
              <a:buChar char="❑"/>
            </a:pPr>
            <a:r>
              <a:rPr lang="es-ES"/>
              <a:t>En un mensaje asíncrono el emisor no espera una respuesta inmediata </a:t>
            </a:r>
            <a:r>
              <a:rPr i="1" lang="es-ES" sz="1400"/>
              <a:t>(el objeto que envía el mensaje puede continuar con otras actividades sin tener que esperar)</a:t>
            </a:r>
            <a:r>
              <a:rPr lang="es-ES"/>
              <a:t>.</a:t>
            </a:r>
            <a:endParaRPr/>
          </a:p>
          <a:p>
            <a:pPr indent="-266700" lvl="0" marL="266700" rtl="0" algn="l">
              <a:lnSpc>
                <a:spcPct val="100000"/>
              </a:lnSpc>
              <a:spcBef>
                <a:spcPts val="1200"/>
              </a:spcBef>
              <a:spcAft>
                <a:spcPts val="0"/>
              </a:spcAft>
              <a:buClr>
                <a:srgbClr val="1F85A6"/>
              </a:buClr>
              <a:buSzPts val="1050"/>
              <a:buChar char="❑"/>
            </a:pPr>
            <a:r>
              <a:rPr lang="es-ES" sz="1400">
                <a:solidFill>
                  <a:srgbClr val="1F85A6"/>
                </a:solidFill>
              </a:rPr>
              <a:t>En este ejemplo, cuando el usuario busca “Python”, la “AppBiblioteca” realiza una consulta síncrona a “BaseDatos” y espera los resultados antes de continuar. </a:t>
            </a:r>
            <a:endParaRPr/>
          </a:p>
          <a:p>
            <a:pPr indent="0" lvl="1" marL="265113" rtl="0" algn="l">
              <a:lnSpc>
                <a:spcPct val="100000"/>
              </a:lnSpc>
              <a:spcBef>
                <a:spcPts val="300"/>
              </a:spcBef>
              <a:spcAft>
                <a:spcPts val="0"/>
              </a:spcAft>
              <a:buClr>
                <a:srgbClr val="1F85A6"/>
              </a:buClr>
              <a:buSzPts val="1400"/>
              <a:buNone/>
            </a:pPr>
            <a:r>
              <a:rPr lang="es-ES" sz="1400">
                <a:solidFill>
                  <a:srgbClr val="1F85A6"/>
                </a:solidFill>
              </a:rPr>
              <a:t>Luego, la “AppBiblioteca” realiza una consulta asíncrona para obtener más información mientras el usuario continúa navegando</a:t>
            </a:r>
            <a:r>
              <a:rPr lang="es-ES"/>
              <a:t>.</a:t>
            </a:r>
            <a:endParaRPr/>
          </a:p>
        </p:txBody>
      </p:sp>
      <p:pic>
        <p:nvPicPr>
          <p:cNvPr id="212" name="Google Shape;212;p18"/>
          <p:cNvPicPr preferRelativeResize="0"/>
          <p:nvPr>
            <p:ph idx="2" type="pic"/>
          </p:nvPr>
        </p:nvPicPr>
        <p:blipFill rotWithShape="1">
          <a:blip r:embed="rId3">
            <a:alphaModFix/>
          </a:blip>
          <a:srcRect b="374" l="0" r="0" t="372"/>
          <a:stretch/>
        </p:blipFill>
        <p:spPr>
          <a:xfrm>
            <a:off x="5258966" y="1308533"/>
            <a:ext cx="3315121" cy="360568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219" name="Google Shape;219;p1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MENSAJE DE RETORNO</a:t>
            </a:r>
            <a:endParaRPr/>
          </a:p>
        </p:txBody>
      </p:sp>
      <p:sp>
        <p:nvSpPr>
          <p:cNvPr id="220" name="Google Shape;220;p19"/>
          <p:cNvSpPr txBox="1"/>
          <p:nvPr>
            <p:ph idx="4" type="body"/>
          </p:nvPr>
        </p:nvSpPr>
        <p:spPr>
          <a:xfrm>
            <a:off x="468313" y="1177927"/>
            <a:ext cx="4353069"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una respuesta que un objeto receptor envía de vuelta al objeto emisor después de haber completado la acción o método que el mensaje inicial pidió.</a:t>
            </a:r>
            <a:endParaRPr/>
          </a:p>
          <a:p>
            <a:pPr indent="-266700" lvl="0" marL="266700" rtl="0" algn="l">
              <a:lnSpc>
                <a:spcPct val="100000"/>
              </a:lnSpc>
              <a:spcBef>
                <a:spcPts val="1200"/>
              </a:spcBef>
              <a:spcAft>
                <a:spcPts val="0"/>
              </a:spcAft>
              <a:buClr>
                <a:schemeClr val="dk1"/>
              </a:buClr>
              <a:buSzPts val="1200"/>
              <a:buChar char="❑"/>
            </a:pPr>
            <a:r>
              <a:rPr lang="es-ES"/>
              <a:t>Se representa con una línea de guiones que va del objeto receptor al objeto emisor, etiquetada para describir el tipo de datos o el valor que se devuelve.</a:t>
            </a:r>
            <a:endParaRPr/>
          </a:p>
          <a:p>
            <a:pPr indent="-266700" lvl="0" marL="266700" rtl="0" algn="l">
              <a:lnSpc>
                <a:spcPct val="100000"/>
              </a:lnSpc>
              <a:spcBef>
                <a:spcPts val="1200"/>
              </a:spcBef>
              <a:spcAft>
                <a:spcPts val="0"/>
              </a:spcAft>
              <a:buClr>
                <a:srgbClr val="1F85A6"/>
              </a:buClr>
              <a:buSzPts val="1050"/>
              <a:buChar char="❑"/>
            </a:pPr>
            <a:r>
              <a:rPr lang="es-ES" sz="1400">
                <a:solidFill>
                  <a:srgbClr val="1F85A6"/>
                </a:solidFill>
              </a:rPr>
              <a:t>En este ejemplo, el usuario pide el saldo a AppBanco, que a su vez consulta el saldo en ServidorBanco.</a:t>
            </a:r>
            <a:endParaRPr/>
          </a:p>
          <a:p>
            <a:pPr indent="0" lvl="1" marL="265113" rtl="0" algn="l">
              <a:lnSpc>
                <a:spcPct val="100000"/>
              </a:lnSpc>
              <a:spcBef>
                <a:spcPts val="300"/>
              </a:spcBef>
              <a:spcAft>
                <a:spcPts val="0"/>
              </a:spcAft>
              <a:buClr>
                <a:srgbClr val="1F85A6"/>
              </a:buClr>
              <a:buSzPts val="1400"/>
              <a:buNone/>
            </a:pPr>
            <a:r>
              <a:rPr lang="es-ES" sz="1400">
                <a:solidFill>
                  <a:srgbClr val="1F85A6"/>
                </a:solidFill>
              </a:rPr>
              <a:t>Una vez que ServidorBanco ha procesado la solicitud, devuelve el saldo como un “Mensaje de Retorno” etiquetado como “Saldo: $1000” hacia AppBanco, que posteriormente lo muestra al usuario</a:t>
            </a:r>
            <a:r>
              <a:rPr lang="es-ES"/>
              <a:t>.</a:t>
            </a:r>
            <a:endParaRPr/>
          </a:p>
        </p:txBody>
      </p:sp>
      <p:pic>
        <p:nvPicPr>
          <p:cNvPr id="221" name="Google Shape;221;p19"/>
          <p:cNvPicPr preferRelativeResize="0"/>
          <p:nvPr>
            <p:ph idx="2" type="pic"/>
          </p:nvPr>
        </p:nvPicPr>
        <p:blipFill rotWithShape="1">
          <a:blip r:embed="rId3">
            <a:alphaModFix/>
          </a:blip>
          <a:srcRect b="374" l="0" r="0" t="372"/>
          <a:stretch/>
        </p:blipFill>
        <p:spPr>
          <a:xfrm>
            <a:off x="5458690" y="1415257"/>
            <a:ext cx="3216997" cy="34989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228" name="Google Shape;228;p2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CONDICIONAL (GUARD)</a:t>
            </a:r>
            <a:endParaRPr/>
          </a:p>
        </p:txBody>
      </p:sp>
      <p:sp>
        <p:nvSpPr>
          <p:cNvPr id="229" name="Google Shape;229;p20"/>
          <p:cNvSpPr txBox="1"/>
          <p:nvPr>
            <p:ph idx="4" type="body"/>
          </p:nvPr>
        </p:nvSpPr>
        <p:spPr>
          <a:xfrm>
            <a:off x="588386" y="1182836"/>
            <a:ext cx="4334596"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Se utiliza para representar una condición que debe cumplirse para que una determinada interacción tenga lugar; pueden ser cualquier expresión booleana.</a:t>
            </a:r>
            <a:endParaRPr/>
          </a:p>
          <a:p>
            <a:pPr indent="-266700" lvl="0" marL="266700" rtl="0" algn="l">
              <a:lnSpc>
                <a:spcPct val="100000"/>
              </a:lnSpc>
              <a:spcBef>
                <a:spcPts val="1200"/>
              </a:spcBef>
              <a:spcAft>
                <a:spcPts val="0"/>
              </a:spcAft>
              <a:buClr>
                <a:schemeClr val="dk1"/>
              </a:buClr>
              <a:buSzPts val="1200"/>
              <a:buChar char="❑"/>
            </a:pPr>
            <a:r>
              <a:rPr lang="es-ES"/>
              <a:t>Se representan colocando la condición booleana entre corchetes [ ] antes o sobre la flecha del mensaje.</a:t>
            </a:r>
            <a:endParaRPr/>
          </a:p>
          <a:p>
            <a:pPr indent="-266700" lvl="0" marL="266700" rtl="0" algn="l">
              <a:lnSpc>
                <a:spcPct val="100000"/>
              </a:lnSpc>
              <a:spcBef>
                <a:spcPts val="1200"/>
              </a:spcBef>
              <a:spcAft>
                <a:spcPts val="0"/>
              </a:spcAft>
              <a:buClr>
                <a:srgbClr val="1F85A6"/>
              </a:buClr>
              <a:buSzPts val="1050"/>
              <a:buChar char="❑"/>
            </a:pPr>
            <a:r>
              <a:rPr lang="es-ES" sz="1400">
                <a:solidFill>
                  <a:srgbClr val="1F85A6"/>
                </a:solidFill>
              </a:rPr>
              <a:t>En este ejemplo, el objeto Termostato consulta la temperatura al objeto SensorTemperatura.</a:t>
            </a:r>
            <a:endParaRPr/>
          </a:p>
          <a:p>
            <a:pPr indent="0" lvl="1" marL="265113" rtl="0" algn="l">
              <a:lnSpc>
                <a:spcPct val="100000"/>
              </a:lnSpc>
              <a:spcBef>
                <a:spcPts val="0"/>
              </a:spcBef>
              <a:spcAft>
                <a:spcPts val="0"/>
              </a:spcAft>
              <a:buClr>
                <a:srgbClr val="1F85A6"/>
              </a:buClr>
              <a:buSzPts val="1400"/>
              <a:buNone/>
            </a:pPr>
            <a:r>
              <a:rPr lang="es-ES" sz="1400">
                <a:solidFill>
                  <a:srgbClr val="1F85A6"/>
                </a:solidFill>
              </a:rPr>
              <a:t>Una vez que recibe la temperatura como un mensaje de retorno, verifica la condición “Guard” [Temp &gt; 25°C].</a:t>
            </a:r>
            <a:endParaRPr/>
          </a:p>
          <a:p>
            <a:pPr indent="0" lvl="1" marL="265113" rtl="0" algn="l">
              <a:lnSpc>
                <a:spcPct val="100000"/>
              </a:lnSpc>
              <a:spcBef>
                <a:spcPts val="0"/>
              </a:spcBef>
              <a:spcAft>
                <a:spcPts val="0"/>
              </a:spcAft>
              <a:buClr>
                <a:srgbClr val="1F85A6"/>
              </a:buClr>
              <a:buSzPts val="1400"/>
              <a:buNone/>
            </a:pPr>
            <a:r>
              <a:rPr lang="es-ES" sz="1400">
                <a:solidFill>
                  <a:srgbClr val="1F85A6"/>
                </a:solidFill>
              </a:rPr>
              <a:t>Si la condición se cumple, el Termostato envía un mensaje al AireAcondicionado para que se encienda.</a:t>
            </a:r>
            <a:endParaRPr sz="1400">
              <a:solidFill>
                <a:srgbClr val="1F85A6"/>
              </a:solidFill>
            </a:endParaRPr>
          </a:p>
        </p:txBody>
      </p:sp>
      <p:pic>
        <p:nvPicPr>
          <p:cNvPr id="230" name="Google Shape;230;p20"/>
          <p:cNvPicPr preferRelativeResize="0"/>
          <p:nvPr>
            <p:ph idx="2" type="pic"/>
          </p:nvPr>
        </p:nvPicPr>
        <p:blipFill rotWithShape="1">
          <a:blip r:embed="rId3">
            <a:alphaModFix/>
          </a:blip>
          <a:srcRect b="374" l="0" r="0" t="372"/>
          <a:stretch/>
        </p:blipFill>
        <p:spPr>
          <a:xfrm>
            <a:off x="5070762" y="1182836"/>
            <a:ext cx="3484852" cy="379028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SECUENCIA</a:t>
            </a:r>
            <a:endParaRPr b="0">
              <a:solidFill>
                <a:srgbClr val="0070C0"/>
              </a:solidFill>
            </a:endParaRPr>
          </a:p>
        </p:txBody>
      </p:sp>
      <p:sp>
        <p:nvSpPr>
          <p:cNvPr id="237" name="Google Shape;237;p21"/>
          <p:cNvSpPr txBox="1"/>
          <p:nvPr>
            <p:ph idx="4" type="body"/>
          </p:nvPr>
        </p:nvSpPr>
        <p:spPr>
          <a:xfrm>
            <a:off x="468313" y="1177927"/>
            <a:ext cx="4519323"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Encapsula secuencias que pueden involucrar múltiples mensajes, condiciones, loops y otros elementos estructurales. </a:t>
            </a:r>
            <a:endParaRPr/>
          </a:p>
          <a:p>
            <a:pPr indent="-266700" lvl="0" marL="266700" rtl="0" algn="l">
              <a:lnSpc>
                <a:spcPct val="100000"/>
              </a:lnSpc>
              <a:spcBef>
                <a:spcPts val="1200"/>
              </a:spcBef>
              <a:spcAft>
                <a:spcPts val="0"/>
              </a:spcAft>
              <a:buClr>
                <a:schemeClr val="dk1"/>
              </a:buClr>
              <a:buSzPts val="1200"/>
              <a:buChar char="❑"/>
            </a:pPr>
            <a:r>
              <a:rPr lang="es-ES"/>
              <a:t>Se representan como un rectángulo grande que encierra la parte del diagrama que se quiere modularizar y lleva una etiqueta en su esquina superior izquierda para indicar el tipo de fragmento que se está usando: alt (alternativas), opt (opciones opcionales), loop (bucles) y par (paralelismo).</a:t>
            </a:r>
            <a:endParaRPr/>
          </a:p>
          <a:p>
            <a:pPr indent="-266700" lvl="0" marL="266700" rtl="0" algn="l">
              <a:lnSpc>
                <a:spcPct val="100000"/>
              </a:lnSpc>
              <a:spcBef>
                <a:spcPts val="1200"/>
              </a:spcBef>
              <a:spcAft>
                <a:spcPts val="0"/>
              </a:spcAft>
              <a:buClr>
                <a:srgbClr val="1F85A6"/>
              </a:buClr>
              <a:buSzPts val="1050"/>
              <a:buChar char="❑"/>
            </a:pPr>
            <a:r>
              <a:rPr lang="es-ES" sz="1400">
                <a:solidFill>
                  <a:srgbClr val="1F85A6"/>
                </a:solidFill>
              </a:rPr>
              <a:t>En este ejemplo, el fragmento combinado alt representa una elección entre dos flujos posibles. Si el usuario elige “Retirar”, el ATM interactúa con el Banco para realizar una solicitud de efectivo. Si el usuario elige “Consultar”, el ATM pide al Banco el saldo actual de la cuenta.</a:t>
            </a:r>
            <a:endParaRPr sz="1400">
              <a:solidFill>
                <a:srgbClr val="1F85A6"/>
              </a:solidFill>
            </a:endParaRPr>
          </a:p>
        </p:txBody>
      </p:sp>
      <p:pic>
        <p:nvPicPr>
          <p:cNvPr id="238" name="Google Shape;238;p21"/>
          <p:cNvPicPr preferRelativeResize="0"/>
          <p:nvPr>
            <p:ph idx="2" type="pic"/>
          </p:nvPr>
        </p:nvPicPr>
        <p:blipFill rotWithShape="1">
          <a:blip r:embed="rId3">
            <a:alphaModFix/>
          </a:blip>
          <a:srcRect b="374" l="0" r="0" t="372"/>
          <a:stretch/>
        </p:blipFill>
        <p:spPr>
          <a:xfrm>
            <a:off x="5377550" y="1327005"/>
            <a:ext cx="3298137" cy="3587207"/>
          </a:xfrm>
          <a:prstGeom prst="rect">
            <a:avLst/>
          </a:prstGeom>
          <a:noFill/>
          <a:ln>
            <a:noFill/>
          </a:ln>
        </p:spPr>
      </p:pic>
      <p:sp>
        <p:nvSpPr>
          <p:cNvPr id="239" name="Google Shape;239;p21"/>
          <p:cNvSpPr txBox="1"/>
          <p:nvPr>
            <p:ph idx="1" type="body"/>
          </p:nvPr>
        </p:nvSpPr>
        <p:spPr>
          <a:xfrm>
            <a:off x="468312" y="727870"/>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FRAGMENTOS COMBINADOS (COMBINED FRAGMENTS)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2"/>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ELABORAR UN DIAGRAMA DE SECUENCIA, PASO A PASO</a:t>
            </a:r>
            <a:endParaRPr>
              <a:solidFill>
                <a:srgbClr val="A5A5A5"/>
              </a:solidFill>
            </a:endParaRPr>
          </a:p>
        </p:txBody>
      </p:sp>
      <p:sp>
        <p:nvSpPr>
          <p:cNvPr id="246" name="Google Shape;246;p22"/>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SECUENCIA</a:t>
            </a:r>
            <a:endParaRPr/>
          </a:p>
        </p:txBody>
      </p:sp>
      <p:sp>
        <p:nvSpPr>
          <p:cNvPr id="247" name="Google Shape;247;p22"/>
          <p:cNvSpPr txBox="1"/>
          <p:nvPr>
            <p:ph idx="3" type="body"/>
          </p:nvPr>
        </p:nvSpPr>
        <p:spPr>
          <a:xfrm>
            <a:off x="468313" y="1174363"/>
            <a:ext cx="8207375" cy="4007237"/>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83000"/>
              </a:lnSpc>
              <a:spcBef>
                <a:spcPts val="0"/>
              </a:spcBef>
              <a:spcAft>
                <a:spcPts val="0"/>
              </a:spcAft>
              <a:buSzPts val="1050"/>
              <a:buNone/>
            </a:pPr>
            <a:r>
              <a:rPr b="1" lang="es-ES" sz="1500">
                <a:solidFill>
                  <a:srgbClr val="1F85A6"/>
                </a:solidFill>
              </a:rPr>
              <a:t>  Paso 1: Identificar el Escenario</a:t>
            </a:r>
            <a:endParaRPr sz="1500"/>
          </a:p>
          <a:p>
            <a:pPr indent="0" lvl="1" marL="92075" rtl="0" algn="just">
              <a:lnSpc>
                <a:spcPct val="83000"/>
              </a:lnSpc>
              <a:spcBef>
                <a:spcPts val="0"/>
              </a:spcBef>
              <a:spcAft>
                <a:spcPts val="0"/>
              </a:spcAft>
              <a:buSzPts val="1600"/>
              <a:buNone/>
            </a:pPr>
            <a:r>
              <a:rPr lang="es-ES" sz="1500">
                <a:solidFill>
                  <a:srgbClr val="1F85A6"/>
                </a:solidFill>
              </a:rPr>
              <a:t>Define el escenario o caso de uso que quieres modelar.</a:t>
            </a:r>
            <a:endParaRPr sz="1500"/>
          </a:p>
          <a:p>
            <a:pPr indent="0" lvl="1" marL="92075" rtl="0" algn="just">
              <a:lnSpc>
                <a:spcPct val="83000"/>
              </a:lnSpc>
              <a:spcBef>
                <a:spcPts val="0"/>
              </a:spcBef>
              <a:spcAft>
                <a:spcPts val="0"/>
              </a:spcAft>
              <a:buSzPts val="1600"/>
              <a:buNone/>
            </a:pPr>
            <a:r>
              <a:rPr lang="es-ES" sz="1500">
                <a:solidFill>
                  <a:srgbClr val="1F85A6"/>
                </a:solidFill>
              </a:rPr>
              <a:t>Mantén el enfoque en una funcionalidad o interacción específica del sistema.</a:t>
            </a:r>
            <a:endParaRPr sz="1500"/>
          </a:p>
          <a:p>
            <a:pPr indent="0" lvl="0" marL="0" rtl="0" algn="just">
              <a:lnSpc>
                <a:spcPct val="83000"/>
              </a:lnSpc>
              <a:spcBef>
                <a:spcPts val="600"/>
              </a:spcBef>
              <a:spcAft>
                <a:spcPts val="0"/>
              </a:spcAft>
              <a:buSzPts val="1200"/>
              <a:buNone/>
            </a:pPr>
            <a:r>
              <a:rPr b="1" lang="es-ES" sz="1500">
                <a:solidFill>
                  <a:srgbClr val="1F85A6"/>
                </a:solidFill>
              </a:rPr>
              <a:t>  Paso 2: Identificar Actores y Objetos</a:t>
            </a:r>
            <a:endParaRPr sz="1500"/>
          </a:p>
          <a:p>
            <a:pPr indent="0" lvl="1" marL="92075" rtl="0" algn="just">
              <a:lnSpc>
                <a:spcPct val="83000"/>
              </a:lnSpc>
              <a:spcBef>
                <a:spcPts val="0"/>
              </a:spcBef>
              <a:spcAft>
                <a:spcPts val="0"/>
              </a:spcAft>
              <a:buSzPts val="1600"/>
              <a:buNone/>
            </a:pPr>
            <a:r>
              <a:rPr lang="es-ES" sz="1500">
                <a:solidFill>
                  <a:srgbClr val="1F85A6"/>
                </a:solidFill>
              </a:rPr>
              <a:t>Enumera todos los actores (externos) y objetos (internos) que estarán involucrados.</a:t>
            </a:r>
            <a:endParaRPr sz="1500"/>
          </a:p>
          <a:p>
            <a:pPr indent="0" lvl="1" marL="92075" rtl="0" algn="just">
              <a:lnSpc>
                <a:spcPct val="83000"/>
              </a:lnSpc>
              <a:spcBef>
                <a:spcPts val="0"/>
              </a:spcBef>
              <a:spcAft>
                <a:spcPts val="0"/>
              </a:spcAft>
              <a:buSzPts val="1600"/>
              <a:buNone/>
            </a:pPr>
            <a:r>
              <a:rPr lang="es-ES" sz="1500">
                <a:solidFill>
                  <a:srgbClr val="1F85A6"/>
                </a:solidFill>
              </a:rPr>
              <a:t>No incluyas detalles; solo necesitas nombres y roles.</a:t>
            </a:r>
            <a:endParaRPr sz="1500"/>
          </a:p>
          <a:p>
            <a:pPr indent="0" lvl="0" marL="0" rtl="0" algn="just">
              <a:lnSpc>
                <a:spcPct val="83000"/>
              </a:lnSpc>
              <a:spcBef>
                <a:spcPts val="600"/>
              </a:spcBef>
              <a:spcAft>
                <a:spcPts val="0"/>
              </a:spcAft>
              <a:buSzPts val="1200"/>
              <a:buNone/>
            </a:pPr>
            <a:r>
              <a:rPr b="1" lang="es-ES" sz="1500">
                <a:solidFill>
                  <a:srgbClr val="1F85A6"/>
                </a:solidFill>
              </a:rPr>
              <a:t>  Paso 3: Preparar el Lienzo</a:t>
            </a:r>
            <a:endParaRPr sz="1500"/>
          </a:p>
          <a:p>
            <a:pPr indent="0" lvl="1" marL="92075" rtl="0" algn="just">
              <a:lnSpc>
                <a:spcPct val="83000"/>
              </a:lnSpc>
              <a:spcBef>
                <a:spcPts val="0"/>
              </a:spcBef>
              <a:spcAft>
                <a:spcPts val="0"/>
              </a:spcAft>
              <a:buSzPts val="1600"/>
              <a:buNone/>
            </a:pPr>
            <a:r>
              <a:rPr lang="es-ES" sz="1500">
                <a:solidFill>
                  <a:srgbClr val="1F85A6"/>
                </a:solidFill>
              </a:rPr>
              <a:t>Abre tu herramienta de modelado UML favorita y crea un nuevo diagrama de secuencia.</a:t>
            </a:r>
            <a:endParaRPr sz="1500"/>
          </a:p>
          <a:p>
            <a:pPr indent="0" lvl="1" marL="92075" rtl="0" algn="just">
              <a:lnSpc>
                <a:spcPct val="83000"/>
              </a:lnSpc>
              <a:spcBef>
                <a:spcPts val="0"/>
              </a:spcBef>
              <a:spcAft>
                <a:spcPts val="0"/>
              </a:spcAft>
              <a:buSzPts val="1600"/>
              <a:buNone/>
            </a:pPr>
            <a:r>
              <a:rPr lang="es-ES" sz="1500">
                <a:solidFill>
                  <a:srgbClr val="1F85A6"/>
                </a:solidFill>
              </a:rPr>
              <a:t>Si no tienes una herramienta, papel y lápiz también funcionan.</a:t>
            </a:r>
            <a:endParaRPr sz="1500"/>
          </a:p>
          <a:p>
            <a:pPr indent="0" lvl="0" marL="0" rtl="0" algn="just">
              <a:lnSpc>
                <a:spcPct val="83000"/>
              </a:lnSpc>
              <a:spcBef>
                <a:spcPts val="600"/>
              </a:spcBef>
              <a:spcAft>
                <a:spcPts val="0"/>
              </a:spcAft>
              <a:buSzPts val="1200"/>
              <a:buNone/>
            </a:pPr>
            <a:r>
              <a:rPr b="1" lang="es-ES" sz="1500">
                <a:solidFill>
                  <a:srgbClr val="1F85A6"/>
                </a:solidFill>
              </a:rPr>
              <a:t>   Paso 4: Dibujar Líneas de Vida</a:t>
            </a:r>
            <a:endParaRPr sz="1500"/>
          </a:p>
          <a:p>
            <a:pPr indent="0" lvl="1" marL="92075" rtl="0" algn="just">
              <a:lnSpc>
                <a:spcPct val="83000"/>
              </a:lnSpc>
              <a:spcBef>
                <a:spcPts val="0"/>
              </a:spcBef>
              <a:spcAft>
                <a:spcPts val="0"/>
              </a:spcAft>
              <a:buSzPts val="1600"/>
              <a:buNone/>
            </a:pPr>
            <a:r>
              <a:rPr lang="es-ES" sz="1500">
                <a:solidFill>
                  <a:srgbClr val="1F85A6"/>
                </a:solidFill>
              </a:rPr>
              <a:t>Dibuja líneas verticales para cada actor y objeto identificado.</a:t>
            </a:r>
            <a:endParaRPr sz="1500"/>
          </a:p>
          <a:p>
            <a:pPr indent="0" lvl="1" marL="92075" rtl="0" algn="just">
              <a:lnSpc>
                <a:spcPct val="83000"/>
              </a:lnSpc>
              <a:spcBef>
                <a:spcPts val="0"/>
              </a:spcBef>
              <a:spcAft>
                <a:spcPts val="0"/>
              </a:spcAft>
              <a:buSzPts val="1600"/>
              <a:buNone/>
            </a:pPr>
            <a:r>
              <a:rPr lang="es-ES" sz="1500">
                <a:solidFill>
                  <a:srgbClr val="1F85A6"/>
                </a:solidFill>
              </a:rPr>
              <a:t>Coloca los actores a la izquierda y los objetos a la derecha.</a:t>
            </a:r>
            <a:endParaRPr sz="1500"/>
          </a:p>
          <a:p>
            <a:pPr indent="0" lvl="0" marL="0" rtl="0" algn="just">
              <a:lnSpc>
                <a:spcPct val="83000"/>
              </a:lnSpc>
              <a:spcBef>
                <a:spcPts val="600"/>
              </a:spcBef>
              <a:spcAft>
                <a:spcPts val="0"/>
              </a:spcAft>
              <a:buSzPts val="1200"/>
              <a:buNone/>
            </a:pPr>
            <a:r>
              <a:rPr b="1" lang="es-ES" sz="1500">
                <a:solidFill>
                  <a:srgbClr val="1F85A6"/>
                </a:solidFill>
              </a:rPr>
              <a:t>  Paso 5: Establecer el Flujo de Mensajes</a:t>
            </a:r>
            <a:endParaRPr sz="1500"/>
          </a:p>
          <a:p>
            <a:pPr indent="0" lvl="1" marL="92075" rtl="0" algn="just">
              <a:lnSpc>
                <a:spcPct val="83000"/>
              </a:lnSpc>
              <a:spcBef>
                <a:spcPts val="0"/>
              </a:spcBef>
              <a:spcAft>
                <a:spcPts val="0"/>
              </a:spcAft>
              <a:buSzPts val="1600"/>
              <a:buNone/>
            </a:pPr>
            <a:r>
              <a:rPr lang="es-ES" sz="1500">
                <a:solidFill>
                  <a:srgbClr val="1F85A6"/>
                </a:solidFill>
              </a:rPr>
              <a:t>Piensa en cómo los actores y objetos interactuarán para lograr el objetivo del escenario.</a:t>
            </a:r>
            <a:endParaRPr sz="1500"/>
          </a:p>
          <a:p>
            <a:pPr indent="0" lvl="1" marL="92075" rtl="0" algn="just">
              <a:lnSpc>
                <a:spcPct val="83000"/>
              </a:lnSpc>
              <a:spcBef>
                <a:spcPts val="0"/>
              </a:spcBef>
              <a:spcAft>
                <a:spcPts val="0"/>
              </a:spcAft>
              <a:buSzPts val="1600"/>
              <a:buNone/>
            </a:pPr>
            <a:r>
              <a:rPr lang="es-ES" sz="1500">
                <a:solidFill>
                  <a:srgbClr val="1F85A6"/>
                </a:solidFill>
              </a:rPr>
              <a:t>Mantén un orden cronológico de las interacciones.</a:t>
            </a:r>
            <a:endParaRPr sz="1500"/>
          </a:p>
          <a:p>
            <a:pPr indent="0" lvl="1" marL="82550" rtl="0" algn="just">
              <a:lnSpc>
                <a:spcPct val="83000"/>
              </a:lnSpc>
              <a:spcBef>
                <a:spcPts val="600"/>
              </a:spcBef>
              <a:spcAft>
                <a:spcPts val="0"/>
              </a:spcAft>
              <a:buSzPts val="1600"/>
              <a:buNone/>
            </a:pPr>
            <a:r>
              <a:rPr b="1" lang="es-ES" sz="1500">
                <a:solidFill>
                  <a:srgbClr val="1F85A6"/>
                </a:solidFill>
              </a:rPr>
              <a:t>Paso 6: Añadir Mensajes</a:t>
            </a:r>
            <a:endParaRPr sz="1500"/>
          </a:p>
          <a:p>
            <a:pPr indent="0" lvl="1" marL="92075" rtl="0" algn="just">
              <a:lnSpc>
                <a:spcPct val="83000"/>
              </a:lnSpc>
              <a:spcBef>
                <a:spcPts val="0"/>
              </a:spcBef>
              <a:spcAft>
                <a:spcPts val="0"/>
              </a:spcAft>
              <a:buSzPts val="1600"/>
              <a:buNone/>
            </a:pPr>
            <a:r>
              <a:rPr lang="es-ES" sz="1500">
                <a:solidFill>
                  <a:srgbClr val="1F85A6"/>
                </a:solidFill>
              </a:rPr>
              <a:t>Dibuja flechas entre las líneas de vida para representar los mensajes.</a:t>
            </a:r>
            <a:endParaRPr sz="1500"/>
          </a:p>
          <a:p>
            <a:pPr indent="0" lvl="1" marL="92075" rtl="0" algn="just">
              <a:lnSpc>
                <a:spcPct val="83000"/>
              </a:lnSpc>
              <a:spcBef>
                <a:spcPts val="0"/>
              </a:spcBef>
              <a:spcAft>
                <a:spcPts val="0"/>
              </a:spcAft>
              <a:buSzPts val="1600"/>
              <a:buNone/>
            </a:pPr>
            <a:r>
              <a:rPr lang="es-ES" sz="1500">
                <a:solidFill>
                  <a:srgbClr val="1F85A6"/>
                </a:solidFill>
              </a:rPr>
              <a:t>Usa etiquetas para describir la acción de cada mensaje</a:t>
            </a:r>
            <a:r>
              <a:rPr lang="es-ES" sz="1500">
                <a:solidFill>
                  <a:schemeClr val="dk1"/>
                </a:solidFill>
              </a:rPr>
              <a:t>.</a:t>
            </a:r>
            <a:endParaRPr sz="1500"/>
          </a:p>
          <a:p>
            <a:pPr indent="0" lvl="1" marL="92075" rtl="0" algn="just">
              <a:lnSpc>
                <a:spcPct val="83000"/>
              </a:lnSpc>
              <a:spcBef>
                <a:spcPts val="0"/>
              </a:spcBef>
              <a:spcAft>
                <a:spcPts val="0"/>
              </a:spcAft>
              <a:buSzPts val="1600"/>
              <a:buNone/>
            </a:pPr>
            <a:r>
              <a:t/>
            </a:r>
            <a:endParaRPr>
              <a:solidFill>
                <a:schemeClr val="dk1"/>
              </a:solidFill>
            </a:endParaRPr>
          </a:p>
          <a:p>
            <a:pPr indent="0" lvl="1" marL="92075" rtl="0" algn="just">
              <a:lnSpc>
                <a:spcPct val="83000"/>
              </a:lnSpc>
              <a:spcBef>
                <a:spcPts val="0"/>
              </a:spcBef>
              <a:spcAft>
                <a:spcPts val="0"/>
              </a:spcAft>
              <a:buSzPts val="1600"/>
              <a:buNone/>
            </a:pPr>
            <a:r>
              <a:t/>
            </a:r>
            <a:endParaRPr>
              <a:solidFill>
                <a:schemeClr val="dk1"/>
              </a:solidFill>
            </a:endParaRPr>
          </a:p>
          <a:p>
            <a:pPr indent="0" lvl="0" marL="0" rtl="0" algn="just">
              <a:lnSpc>
                <a:spcPct val="83000"/>
              </a:lnSpc>
              <a:spcBef>
                <a:spcPts val="600"/>
              </a:spcBef>
              <a:spcAft>
                <a:spcPts val="0"/>
              </a:spcAft>
              <a:buSzPts val="1200"/>
              <a:buNone/>
            </a:pPr>
            <a:r>
              <a:rPr b="1" lang="es-ES" sz="1400">
                <a:solidFill>
                  <a:schemeClr val="dk1"/>
                </a:solidFill>
              </a:rPr>
              <a:t>  </a:t>
            </a:r>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3"/>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ELABORAR UN DIAGRAMA DE SECUENCIA, PASO A PASO</a:t>
            </a:r>
            <a:endParaRPr>
              <a:solidFill>
                <a:srgbClr val="A5A5A5"/>
              </a:solidFill>
            </a:endParaRPr>
          </a:p>
        </p:txBody>
      </p:sp>
      <p:sp>
        <p:nvSpPr>
          <p:cNvPr id="254" name="Google Shape;254;p23"/>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SECUENCIA</a:t>
            </a:r>
            <a:endParaRPr/>
          </a:p>
        </p:txBody>
      </p:sp>
      <p:sp>
        <p:nvSpPr>
          <p:cNvPr id="255" name="Google Shape;255;p23"/>
          <p:cNvSpPr txBox="1"/>
          <p:nvPr>
            <p:ph idx="3" type="body"/>
          </p:nvPr>
        </p:nvSpPr>
        <p:spPr>
          <a:xfrm>
            <a:off x="468313" y="1174363"/>
            <a:ext cx="8207375" cy="3998001"/>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83000"/>
              </a:lnSpc>
              <a:spcBef>
                <a:spcPts val="0"/>
              </a:spcBef>
              <a:spcAft>
                <a:spcPts val="0"/>
              </a:spcAft>
              <a:buSzPts val="900"/>
              <a:buNone/>
            </a:pPr>
            <a:r>
              <a:rPr lang="es-ES">
                <a:solidFill>
                  <a:schemeClr val="dk1"/>
                </a:solidFill>
              </a:rPr>
              <a:t>  </a:t>
            </a:r>
            <a:r>
              <a:rPr b="1" lang="es-ES">
                <a:solidFill>
                  <a:schemeClr val="dk1"/>
                </a:solidFill>
              </a:rPr>
              <a:t>Paso 7: Incorporar Barras de Activación</a:t>
            </a:r>
            <a:endParaRPr/>
          </a:p>
          <a:p>
            <a:pPr indent="0" lvl="1" marL="92075" rtl="0" algn="just">
              <a:lnSpc>
                <a:spcPct val="83000"/>
              </a:lnSpc>
              <a:spcBef>
                <a:spcPts val="0"/>
              </a:spcBef>
              <a:spcAft>
                <a:spcPts val="0"/>
              </a:spcAft>
              <a:buSzPts val="1600"/>
              <a:buNone/>
            </a:pPr>
            <a:r>
              <a:rPr lang="es-ES" sz="1600">
                <a:solidFill>
                  <a:schemeClr val="dk1"/>
                </a:solidFill>
              </a:rPr>
              <a:t>Añade barras de activación en las líneas de vida donde un objeto está activo o en proceso.</a:t>
            </a:r>
            <a:endParaRPr sz="1600"/>
          </a:p>
          <a:p>
            <a:pPr indent="0" lvl="1" marL="92075" rtl="0" algn="just">
              <a:lnSpc>
                <a:spcPct val="83000"/>
              </a:lnSpc>
              <a:spcBef>
                <a:spcPts val="0"/>
              </a:spcBef>
              <a:spcAft>
                <a:spcPts val="0"/>
              </a:spcAft>
              <a:buSzPts val="1600"/>
              <a:buNone/>
            </a:pPr>
            <a:r>
              <a:rPr lang="es-ES" sz="1600">
                <a:solidFill>
                  <a:schemeClr val="dk1"/>
                </a:solidFill>
              </a:rPr>
              <a:t>Asegúrate de que la longitud de la </a:t>
            </a:r>
            <a:r>
              <a:rPr lang="es-ES" sz="1600"/>
              <a:t> </a:t>
            </a:r>
            <a:r>
              <a:rPr lang="es-ES" sz="1600">
                <a:solidFill>
                  <a:schemeClr val="dk1"/>
                </a:solidFill>
              </a:rPr>
              <a:t>barra de activación coincida con la duración de la actividad.</a:t>
            </a:r>
            <a:r>
              <a:rPr b="1" lang="es-ES" sz="1600">
                <a:solidFill>
                  <a:schemeClr val="dk1"/>
                </a:solidFill>
              </a:rPr>
              <a:t>  </a:t>
            </a:r>
            <a:endParaRPr sz="1600"/>
          </a:p>
          <a:p>
            <a:pPr indent="0" lvl="0" marL="0" rtl="0" algn="just">
              <a:lnSpc>
                <a:spcPct val="83000"/>
              </a:lnSpc>
              <a:spcBef>
                <a:spcPts val="600"/>
              </a:spcBef>
              <a:spcAft>
                <a:spcPts val="0"/>
              </a:spcAft>
              <a:buSzPts val="1200"/>
              <a:buNone/>
            </a:pPr>
            <a:r>
              <a:rPr b="1" lang="es-ES">
                <a:solidFill>
                  <a:schemeClr val="dk1"/>
                </a:solidFill>
              </a:rPr>
              <a:t>  Paso 8: Añadir Elementos Condicionales</a:t>
            </a:r>
            <a:endParaRPr/>
          </a:p>
          <a:p>
            <a:pPr indent="0" lvl="1" marL="92075" rtl="0" algn="just">
              <a:lnSpc>
                <a:spcPct val="83000"/>
              </a:lnSpc>
              <a:spcBef>
                <a:spcPts val="0"/>
              </a:spcBef>
              <a:spcAft>
                <a:spcPts val="0"/>
              </a:spcAft>
              <a:buSzPts val="1600"/>
              <a:buNone/>
            </a:pPr>
            <a:r>
              <a:rPr lang="es-ES" sz="1600">
                <a:solidFill>
                  <a:schemeClr val="dk1"/>
                </a:solidFill>
              </a:rPr>
              <a:t>Si hay condiciones (como if, else), utiliza fragmentos combinados para representarlas.</a:t>
            </a:r>
            <a:r>
              <a:rPr lang="es-ES" sz="1600"/>
              <a:t> </a:t>
            </a:r>
            <a:r>
              <a:rPr lang="es-ES" sz="1600">
                <a:solidFill>
                  <a:schemeClr val="dk1"/>
                </a:solidFill>
              </a:rPr>
              <a:t>Usa etiquetas para aclarar las condiciones.</a:t>
            </a:r>
            <a:endParaRPr sz="1600"/>
          </a:p>
          <a:p>
            <a:pPr indent="0" lvl="0" marL="0" rtl="0" algn="just">
              <a:lnSpc>
                <a:spcPct val="83000"/>
              </a:lnSpc>
              <a:spcBef>
                <a:spcPts val="600"/>
              </a:spcBef>
              <a:spcAft>
                <a:spcPts val="0"/>
              </a:spcAft>
              <a:buSzPts val="1200"/>
              <a:buNone/>
            </a:pPr>
            <a:r>
              <a:rPr b="1" lang="es-ES">
                <a:solidFill>
                  <a:schemeClr val="dk1"/>
                </a:solidFill>
              </a:rPr>
              <a:t>  Paso 9: Verificar y Ajustar</a:t>
            </a:r>
            <a:endParaRPr/>
          </a:p>
          <a:p>
            <a:pPr indent="0" lvl="1" marL="92075" rtl="0" algn="just">
              <a:lnSpc>
                <a:spcPct val="83000"/>
              </a:lnSpc>
              <a:spcBef>
                <a:spcPts val="0"/>
              </a:spcBef>
              <a:spcAft>
                <a:spcPts val="0"/>
              </a:spcAft>
              <a:buSzPts val="1600"/>
              <a:buNone/>
            </a:pPr>
            <a:r>
              <a:rPr lang="es-ES" sz="1600">
                <a:solidFill>
                  <a:schemeClr val="dk1"/>
                </a:solidFill>
              </a:rPr>
              <a:t>Revisa el diagrama para asegurarte de que todos los flujos y condiciones están correctamente representados.</a:t>
            </a:r>
            <a:endParaRPr sz="1600"/>
          </a:p>
          <a:p>
            <a:pPr indent="0" lvl="1" marL="92075" rtl="0" algn="just">
              <a:lnSpc>
                <a:spcPct val="83000"/>
              </a:lnSpc>
              <a:spcBef>
                <a:spcPts val="0"/>
              </a:spcBef>
              <a:spcAft>
                <a:spcPts val="0"/>
              </a:spcAft>
              <a:buSzPts val="1600"/>
              <a:buNone/>
            </a:pPr>
            <a:r>
              <a:rPr lang="es-ES" sz="1600">
                <a:solidFill>
                  <a:schemeClr val="dk1"/>
                </a:solidFill>
              </a:rPr>
              <a:t>Si es posible, pide a alguien más que lo revise para obtener una perspectiva fresca.</a:t>
            </a:r>
            <a:endParaRPr sz="1600"/>
          </a:p>
          <a:p>
            <a:pPr indent="0" lvl="0" marL="0" rtl="0" algn="just">
              <a:lnSpc>
                <a:spcPct val="83000"/>
              </a:lnSpc>
              <a:spcBef>
                <a:spcPts val="600"/>
              </a:spcBef>
              <a:spcAft>
                <a:spcPts val="0"/>
              </a:spcAft>
              <a:buSzPts val="1200"/>
              <a:buNone/>
            </a:pPr>
            <a:r>
              <a:rPr b="1" lang="es-ES">
                <a:solidFill>
                  <a:schemeClr val="dk1"/>
                </a:solidFill>
              </a:rPr>
              <a:t>  Paso 10: Documentar y Guardar</a:t>
            </a:r>
            <a:endParaRPr/>
          </a:p>
          <a:p>
            <a:pPr indent="0" lvl="1" marL="92075" rtl="0" algn="just">
              <a:lnSpc>
                <a:spcPct val="83000"/>
              </a:lnSpc>
              <a:spcBef>
                <a:spcPts val="0"/>
              </a:spcBef>
              <a:spcAft>
                <a:spcPts val="0"/>
              </a:spcAft>
              <a:buSzPts val="1600"/>
              <a:buNone/>
            </a:pPr>
            <a:r>
              <a:rPr lang="es-ES" sz="1600">
                <a:solidFill>
                  <a:schemeClr val="dk1"/>
                </a:solidFill>
              </a:rPr>
              <a:t>Añade cualquier nota o documentación adicional que pueda ser útil para entender el diagrama.</a:t>
            </a:r>
            <a:endParaRPr sz="1600"/>
          </a:p>
          <a:p>
            <a:pPr indent="0" lvl="1" marL="92075" rtl="0" algn="just">
              <a:lnSpc>
                <a:spcPct val="83000"/>
              </a:lnSpc>
              <a:spcBef>
                <a:spcPts val="0"/>
              </a:spcBef>
              <a:spcAft>
                <a:spcPts val="0"/>
              </a:spcAft>
              <a:buSzPts val="1600"/>
              <a:buNone/>
            </a:pPr>
            <a:r>
              <a:rPr lang="es-ES" sz="1600">
                <a:solidFill>
                  <a:schemeClr val="dk1"/>
                </a:solidFill>
              </a:rPr>
              <a:t>Guarda el diagrama en varios formatos (como .jpg, .uml, etc.) para diferentes usos.</a:t>
            </a:r>
            <a:endParaRPr sz="1600"/>
          </a:p>
          <a:p>
            <a:pPr indent="0" lvl="0" marL="0" rtl="0" algn="just">
              <a:lnSpc>
                <a:spcPct val="83000"/>
              </a:lnSpc>
              <a:spcBef>
                <a:spcPts val="600"/>
              </a:spcBef>
              <a:spcAft>
                <a:spcPts val="0"/>
              </a:spcAft>
              <a:buSzPts val="1200"/>
              <a:buNone/>
            </a:pPr>
            <a:r>
              <a:rPr b="1" lang="es-ES">
                <a:solidFill>
                  <a:schemeClr val="dk1"/>
                </a:solidFill>
              </a:rPr>
              <a:t>  Paso 11: Compartir y Obtener Retroalimentación</a:t>
            </a:r>
            <a:endParaRPr/>
          </a:p>
          <a:p>
            <a:pPr indent="0" lvl="1" marL="92075" rtl="0" algn="just">
              <a:lnSpc>
                <a:spcPct val="83000"/>
              </a:lnSpc>
              <a:spcBef>
                <a:spcPts val="0"/>
              </a:spcBef>
              <a:spcAft>
                <a:spcPts val="0"/>
              </a:spcAft>
              <a:buSzPts val="1600"/>
              <a:buNone/>
            </a:pPr>
            <a:r>
              <a:rPr lang="es-ES" sz="1600">
                <a:solidFill>
                  <a:schemeClr val="dk1"/>
                </a:solidFill>
              </a:rPr>
              <a:t>Comparte el diagrama con los miembros del equipo o stakeholders para obtener retroalimentación.</a:t>
            </a:r>
            <a:endParaRPr sz="1600"/>
          </a:p>
          <a:p>
            <a:pPr indent="0" lvl="1" marL="92075" rtl="0" algn="just">
              <a:lnSpc>
                <a:spcPct val="83000"/>
              </a:lnSpc>
              <a:spcBef>
                <a:spcPts val="0"/>
              </a:spcBef>
              <a:spcAft>
                <a:spcPts val="0"/>
              </a:spcAft>
              <a:buSzPts val="1600"/>
              <a:buNone/>
            </a:pPr>
            <a:r>
              <a:rPr lang="es-ES" sz="1600">
                <a:solidFill>
                  <a:schemeClr val="dk1"/>
                </a:solidFill>
              </a:rPr>
              <a:t>Debes estar </a:t>
            </a:r>
            <a:r>
              <a:rPr lang="es-ES" sz="1600">
                <a:solidFill>
                  <a:schemeClr val="dk1"/>
                </a:solidFill>
              </a:rPr>
              <a:t>abierto a hacer ajustes según los comentarios recibidos.</a:t>
            </a:r>
            <a:endParaRPr sz="1600"/>
          </a:p>
          <a:p>
            <a:pPr indent="0" lvl="1" marL="92075" rtl="0" algn="just">
              <a:lnSpc>
                <a:spcPct val="83000"/>
              </a:lnSpc>
              <a:spcBef>
                <a:spcPts val="0"/>
              </a:spcBef>
              <a:spcAft>
                <a:spcPts val="0"/>
              </a:spcAft>
              <a:buSzPts val="1200"/>
              <a:buNone/>
            </a:pPr>
            <a:r>
              <a:t/>
            </a:r>
            <a:endParaRPr sz="135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4"/>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marR="0" rtl="0" algn="l">
              <a:lnSpc>
                <a:spcPct val="85000"/>
              </a:lnSpc>
              <a:spcBef>
                <a:spcPts val="0"/>
              </a:spcBef>
              <a:spcAft>
                <a:spcPts val="0"/>
              </a:spcAft>
              <a:buClr>
                <a:srgbClr val="3F3F3F"/>
              </a:buClr>
              <a:buSzPts val="1600"/>
              <a:buFont typeface="Arial"/>
              <a:buNone/>
            </a:pPr>
            <a:r>
              <a:rPr lang="es-ES"/>
              <a:t>ELABORAR UN DIAGRAMA DE SECUENCIA, PASO A PASO </a:t>
            </a:r>
            <a:endParaRPr/>
          </a:p>
        </p:txBody>
      </p:sp>
      <p:sp>
        <p:nvSpPr>
          <p:cNvPr id="262" name="Google Shape;262;p24"/>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SECUENCIA</a:t>
            </a:r>
            <a:endParaRPr/>
          </a:p>
        </p:txBody>
      </p:sp>
      <p:sp>
        <p:nvSpPr>
          <p:cNvPr id="263" name="Google Shape;263;p24"/>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1200"/>
              <a:buNone/>
            </a:pPr>
            <a:r>
              <a:rPr lang="es-ES">
                <a:solidFill>
                  <a:srgbClr val="FFFFCC"/>
                </a:solidFill>
              </a:rPr>
              <a:t>.</a:t>
            </a:r>
            <a:endParaRPr>
              <a:solidFill>
                <a:srgbClr val="FFFFCC"/>
              </a:solidFill>
            </a:endParaRPr>
          </a:p>
        </p:txBody>
      </p:sp>
      <p:sp>
        <p:nvSpPr>
          <p:cNvPr id="264" name="Google Shape;264;p24"/>
          <p:cNvSpPr txBox="1"/>
          <p:nvPr/>
        </p:nvSpPr>
        <p:spPr>
          <a:xfrm>
            <a:off x="78050" y="1786700"/>
            <a:ext cx="1683000" cy="2758800"/>
          </a:xfrm>
          <a:prstGeom prst="rect">
            <a:avLst/>
          </a:prstGeom>
          <a:solidFill>
            <a:srgbClr val="97AD01"/>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Arial"/>
              <a:buNone/>
            </a:pPr>
            <a:r>
              <a:rPr b="1" i="0" lang="es-ES" sz="1400" u="none" cap="none" strike="noStrike">
                <a:solidFill>
                  <a:srgbClr val="FFFFCC"/>
                </a:solidFill>
                <a:latin typeface="Calibri"/>
                <a:ea typeface="Calibri"/>
                <a:cs typeface="Calibri"/>
                <a:sym typeface="Calibri"/>
              </a:rPr>
              <a:t>Actores y Objetos:</a:t>
            </a:r>
            <a:endParaRPr b="0" i="0" sz="1400" u="none" cap="none" strike="noStrike">
              <a:solidFill>
                <a:srgbClr val="000000"/>
              </a:solidFill>
              <a:latin typeface="Arial"/>
              <a:ea typeface="Arial"/>
              <a:cs typeface="Arial"/>
              <a:sym typeface="Arial"/>
            </a:endParaRPr>
          </a:p>
          <a:p>
            <a:pPr indent="-163513" lvl="0" marL="176213" marR="0" rtl="0" algn="l">
              <a:lnSpc>
                <a:spcPct val="85000"/>
              </a:lnSpc>
              <a:spcBef>
                <a:spcPts val="200"/>
              </a:spcBef>
              <a:spcAft>
                <a:spcPts val="0"/>
              </a:spcAft>
              <a:buClr>
                <a:srgbClr val="FFFFCC"/>
              </a:buClr>
              <a:buSzPts val="1200"/>
              <a:buFont typeface="Noto Sans Symbols"/>
              <a:buChar char="▪"/>
            </a:pPr>
            <a:r>
              <a:rPr b="1" i="0" lang="es-ES" sz="1200" u="none" cap="none" strike="noStrike">
                <a:solidFill>
                  <a:srgbClr val="FFFFCC"/>
                </a:solidFill>
                <a:latin typeface="Calibri"/>
                <a:ea typeface="Calibri"/>
                <a:cs typeface="Calibri"/>
                <a:sym typeface="Calibri"/>
              </a:rPr>
              <a:t>User</a:t>
            </a:r>
            <a:r>
              <a:rPr b="0" i="0" lang="es-ES" sz="1200" u="none" cap="none" strike="noStrike">
                <a:solidFill>
                  <a:srgbClr val="FFFFCC"/>
                </a:solidFill>
                <a:latin typeface="Calibri"/>
                <a:ea typeface="Calibri"/>
                <a:cs typeface="Calibri"/>
                <a:sym typeface="Calibri"/>
              </a:rPr>
              <a:t>: Este es el actor que inicia el proceso de inicio de sesión.</a:t>
            </a:r>
            <a:endParaRPr b="0" i="0" sz="1200" u="none" cap="none" strike="noStrike">
              <a:solidFill>
                <a:srgbClr val="000000"/>
              </a:solidFill>
              <a:latin typeface="Arial"/>
              <a:ea typeface="Arial"/>
              <a:cs typeface="Arial"/>
              <a:sym typeface="Arial"/>
            </a:endParaRPr>
          </a:p>
          <a:p>
            <a:pPr indent="-163513" lvl="0" marL="176213" marR="0" rtl="0" algn="l">
              <a:lnSpc>
                <a:spcPct val="85000"/>
              </a:lnSpc>
              <a:spcBef>
                <a:spcPts val="200"/>
              </a:spcBef>
              <a:spcAft>
                <a:spcPts val="0"/>
              </a:spcAft>
              <a:buClr>
                <a:srgbClr val="FFFFCC"/>
              </a:buClr>
              <a:buSzPts val="1200"/>
              <a:buFont typeface="Noto Sans Symbols"/>
              <a:buChar char="▪"/>
            </a:pPr>
            <a:r>
              <a:rPr b="1" i="0" lang="es-ES" sz="1200" u="none" cap="none" strike="noStrike">
                <a:solidFill>
                  <a:srgbClr val="FFFFCC"/>
                </a:solidFill>
                <a:latin typeface="Calibri"/>
                <a:ea typeface="Calibri"/>
                <a:cs typeface="Calibri"/>
                <a:sym typeface="Calibri"/>
              </a:rPr>
              <a:t>Frontend</a:t>
            </a:r>
            <a:r>
              <a:rPr b="0" i="0" lang="es-ES" sz="1200" u="none" cap="none" strike="noStrike">
                <a:solidFill>
                  <a:srgbClr val="FFFFCC"/>
                </a:solidFill>
                <a:latin typeface="Calibri"/>
                <a:ea typeface="Calibri"/>
                <a:cs typeface="Calibri"/>
                <a:sym typeface="Calibri"/>
              </a:rPr>
              <a:t>: Representa la interfaz de usuario de la aplicación.</a:t>
            </a:r>
            <a:endParaRPr b="0" i="0" sz="1200" u="none" cap="none" strike="noStrike">
              <a:solidFill>
                <a:srgbClr val="000000"/>
              </a:solidFill>
              <a:latin typeface="Arial"/>
              <a:ea typeface="Arial"/>
              <a:cs typeface="Arial"/>
              <a:sym typeface="Arial"/>
            </a:endParaRPr>
          </a:p>
          <a:p>
            <a:pPr indent="-163513" lvl="0" marL="176213" marR="0" rtl="0" algn="l">
              <a:lnSpc>
                <a:spcPct val="85000"/>
              </a:lnSpc>
              <a:spcBef>
                <a:spcPts val="200"/>
              </a:spcBef>
              <a:spcAft>
                <a:spcPts val="0"/>
              </a:spcAft>
              <a:buClr>
                <a:srgbClr val="FFFFCC"/>
              </a:buClr>
              <a:buSzPts val="1200"/>
              <a:buFont typeface="Noto Sans Symbols"/>
              <a:buChar char="▪"/>
            </a:pPr>
            <a:r>
              <a:rPr b="1" i="0" lang="es-ES" sz="1200" u="none" cap="none" strike="noStrike">
                <a:solidFill>
                  <a:srgbClr val="FFFFCC"/>
                </a:solidFill>
                <a:latin typeface="Calibri"/>
                <a:ea typeface="Calibri"/>
                <a:cs typeface="Calibri"/>
                <a:sym typeface="Calibri"/>
              </a:rPr>
              <a:t>Backend</a:t>
            </a:r>
            <a:r>
              <a:rPr b="0" i="0" lang="es-ES" sz="1200" u="none" cap="none" strike="noStrike">
                <a:solidFill>
                  <a:srgbClr val="FFFFCC"/>
                </a:solidFill>
                <a:latin typeface="Calibri"/>
                <a:ea typeface="Calibri"/>
                <a:cs typeface="Calibri"/>
                <a:sym typeface="Calibri"/>
              </a:rPr>
              <a:t>: Es el servidor que maneja la lógica de negocio.</a:t>
            </a:r>
            <a:endParaRPr b="0" i="0" sz="1200" u="none" cap="none" strike="noStrike">
              <a:solidFill>
                <a:srgbClr val="000000"/>
              </a:solidFill>
              <a:latin typeface="Arial"/>
              <a:ea typeface="Arial"/>
              <a:cs typeface="Arial"/>
              <a:sym typeface="Arial"/>
            </a:endParaRPr>
          </a:p>
          <a:p>
            <a:pPr indent="-163512" lvl="0" marL="176212" marR="0" rtl="0" algn="l">
              <a:lnSpc>
                <a:spcPct val="85000"/>
              </a:lnSpc>
              <a:spcBef>
                <a:spcPts val="200"/>
              </a:spcBef>
              <a:spcAft>
                <a:spcPts val="0"/>
              </a:spcAft>
              <a:buClr>
                <a:srgbClr val="FFFFCC"/>
              </a:buClr>
              <a:buSzPts val="1200"/>
              <a:buFont typeface="Noto Sans Symbols"/>
              <a:buChar char="▪"/>
            </a:pPr>
            <a:r>
              <a:rPr b="1" i="0" lang="es-ES" sz="1200" u="none" cap="none" strike="noStrike">
                <a:solidFill>
                  <a:srgbClr val="FFFFCC"/>
                </a:solidFill>
                <a:latin typeface="Calibri"/>
                <a:ea typeface="Calibri"/>
                <a:cs typeface="Calibri"/>
                <a:sym typeface="Calibri"/>
              </a:rPr>
              <a:t>Database</a:t>
            </a:r>
            <a:r>
              <a:rPr b="0" i="0" lang="es-ES" sz="1200" u="none" cap="none" strike="noStrike">
                <a:solidFill>
                  <a:srgbClr val="FFFFCC"/>
                </a:solidFill>
                <a:latin typeface="Calibri"/>
                <a:ea typeface="Calibri"/>
                <a:cs typeface="Calibri"/>
                <a:sym typeface="Calibri"/>
              </a:rPr>
              <a:t>: Es la base de datos donde se almacenan los datos del usuario.</a:t>
            </a:r>
            <a:endParaRPr b="0" i="0" sz="1200" u="none" cap="none" strike="noStrike">
              <a:solidFill>
                <a:srgbClr val="FFFFCC"/>
              </a:solidFill>
              <a:latin typeface="Calibri"/>
              <a:ea typeface="Calibri"/>
              <a:cs typeface="Calibri"/>
              <a:sym typeface="Calibri"/>
            </a:endParaRPr>
          </a:p>
          <a:p>
            <a:pPr indent="0" lvl="0" marL="457200" marR="0" rtl="0" algn="l">
              <a:lnSpc>
                <a:spcPct val="85000"/>
              </a:lnSpc>
              <a:spcBef>
                <a:spcPts val="200"/>
              </a:spcBef>
              <a:spcAft>
                <a:spcPts val="0"/>
              </a:spcAft>
              <a:buNone/>
            </a:pPr>
            <a:r>
              <a:t/>
            </a:r>
            <a:endParaRPr sz="1200">
              <a:solidFill>
                <a:srgbClr val="FFFFCC"/>
              </a:solidFill>
              <a:latin typeface="Calibri"/>
              <a:ea typeface="Calibri"/>
              <a:cs typeface="Calibri"/>
              <a:sym typeface="Calibri"/>
            </a:endParaRPr>
          </a:p>
        </p:txBody>
      </p:sp>
      <p:pic>
        <p:nvPicPr>
          <p:cNvPr id="265" name="Google Shape;265;p24"/>
          <p:cNvPicPr preferRelativeResize="0"/>
          <p:nvPr/>
        </p:nvPicPr>
        <p:blipFill rotWithShape="1">
          <a:blip r:embed="rId3">
            <a:alphaModFix/>
          </a:blip>
          <a:srcRect b="0" l="0" r="0" t="0"/>
          <a:stretch/>
        </p:blipFill>
        <p:spPr>
          <a:xfrm>
            <a:off x="1714865" y="1167988"/>
            <a:ext cx="7001852" cy="3905795"/>
          </a:xfrm>
          <a:prstGeom prst="rect">
            <a:avLst/>
          </a:prstGeom>
          <a:noFill/>
          <a:ln>
            <a:noFill/>
          </a:ln>
        </p:spPr>
      </p:pic>
      <p:sp>
        <p:nvSpPr>
          <p:cNvPr id="266" name="Google Shape;266;p24"/>
          <p:cNvSpPr txBox="1"/>
          <p:nvPr/>
        </p:nvSpPr>
        <p:spPr>
          <a:xfrm>
            <a:off x="341225" y="4518875"/>
            <a:ext cx="8585100" cy="1207800"/>
          </a:xfrm>
          <a:prstGeom prst="rect">
            <a:avLst/>
          </a:prstGeom>
          <a:solidFill>
            <a:srgbClr val="97AD01"/>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050"/>
              <a:buFont typeface="Arial"/>
              <a:buNone/>
            </a:pPr>
            <a:r>
              <a:rPr b="1" i="0" lang="es-ES" sz="1050" u="none" cap="none" strike="noStrike">
                <a:solidFill>
                  <a:srgbClr val="FFFFCC"/>
                </a:solidFill>
                <a:latin typeface="Calibri"/>
                <a:ea typeface="Calibri"/>
                <a:cs typeface="Calibri"/>
                <a:sym typeface="Calibri"/>
              </a:rPr>
              <a:t>Flujo del Diagrama</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User-&gt;&gt;Frontend: Login: El usuario inicia el proceso de inicio de sesión a través de la interfaz de usuario (Frontend).</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Frontend-&gt;&gt;Backend: Validate credentials: El Frontend envía las credenciales del usuario al Backend para su validación.</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Backend-&gt;&gt;Database: Check user: El Backend consulta la base de datos para verificar si las credenciales del usuario son correctas.</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Database--&gt;&gt;Backend: User data: La base de datos devuelve los datos del usuario al Backend.</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Backend--&gt;&gt;Frontend: Authentication result: El Backend envía el resultado de la autenticación al Frontend.</a:t>
            </a:r>
            <a:endParaRPr b="0" i="0" sz="1400" u="none" cap="none" strike="noStrike">
              <a:solidFill>
                <a:srgbClr val="000000"/>
              </a:solidFill>
              <a:latin typeface="Arial"/>
              <a:ea typeface="Arial"/>
              <a:cs typeface="Arial"/>
              <a:sym typeface="Arial"/>
            </a:endParaRPr>
          </a:p>
          <a:p>
            <a:pPr indent="-176213" lvl="0" marL="176213" marR="0" rtl="0" algn="l">
              <a:lnSpc>
                <a:spcPct val="85000"/>
              </a:lnSpc>
              <a:spcBef>
                <a:spcPts val="200"/>
              </a:spcBef>
              <a:spcAft>
                <a:spcPts val="0"/>
              </a:spcAft>
              <a:buClr>
                <a:srgbClr val="FFFFCC"/>
              </a:buClr>
              <a:buSzPts val="1050"/>
              <a:buFont typeface="Calibri"/>
              <a:buAutoNum type="arabicPeriod"/>
            </a:pPr>
            <a:r>
              <a:rPr b="0" i="0" lang="es-ES" sz="1050" u="none" cap="none" strike="noStrike">
                <a:solidFill>
                  <a:srgbClr val="FFFFCC"/>
                </a:solidFill>
                <a:latin typeface="Calibri"/>
                <a:ea typeface="Calibri"/>
                <a:cs typeface="Calibri"/>
                <a:sym typeface="Calibri"/>
              </a:rPr>
              <a:t>Frontend--&gt;&gt;User: Display result: Finalmente, el Frontend muestra el resultado al usuario, que podría ser un mensaje de éxito o un error.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5"/>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273" name="Google Shape;273;p25"/>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USO DEL DIAGRAMA DE SECUENCIA</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SECUENCIA</a:t>
            </a:r>
            <a:endParaRPr b="0">
              <a:solidFill>
                <a:srgbClr val="0070C0"/>
              </a:solidFill>
            </a:endParaRPr>
          </a:p>
        </p:txBody>
      </p:sp>
      <p:sp>
        <p:nvSpPr>
          <p:cNvPr id="280" name="Google Shape;280;p26"/>
          <p:cNvSpPr txBox="1"/>
          <p:nvPr>
            <p:ph idx="4" type="body"/>
          </p:nvPr>
        </p:nvSpPr>
        <p:spPr>
          <a:xfrm>
            <a:off x="828531" y="1340387"/>
            <a:ext cx="3438669"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diagramas de secuencia UML son muy útiles durante el análisis y diseño de sistemas para:</a:t>
            </a:r>
            <a:endParaRPr/>
          </a:p>
          <a:p>
            <a:pPr indent="-265113" lvl="1" marL="531813" rtl="0" algn="l">
              <a:lnSpc>
                <a:spcPct val="100000"/>
              </a:lnSpc>
              <a:spcBef>
                <a:spcPts val="600"/>
              </a:spcBef>
              <a:spcAft>
                <a:spcPts val="0"/>
              </a:spcAft>
              <a:buClr>
                <a:schemeClr val="dk1"/>
              </a:buClr>
              <a:buSzPts val="1600"/>
              <a:buChar char="→"/>
            </a:pPr>
            <a:r>
              <a:rPr lang="es-ES"/>
              <a:t>Modelar flujos de eventos </a:t>
            </a:r>
            <a:endParaRPr/>
          </a:p>
          <a:p>
            <a:pPr indent="-265113" lvl="1" marL="531813" rtl="0" algn="l">
              <a:lnSpc>
                <a:spcPct val="100000"/>
              </a:lnSpc>
              <a:spcBef>
                <a:spcPts val="600"/>
              </a:spcBef>
              <a:spcAft>
                <a:spcPts val="0"/>
              </a:spcAft>
              <a:buClr>
                <a:schemeClr val="dk1"/>
              </a:buClr>
              <a:buSzPts val="1600"/>
              <a:buChar char="→"/>
            </a:pPr>
            <a:r>
              <a:rPr lang="es-ES"/>
              <a:t>Interacciones</a:t>
            </a:r>
            <a:endParaRPr/>
          </a:p>
          <a:p>
            <a:pPr indent="-265113" lvl="1" marL="531813" rtl="0" algn="l">
              <a:lnSpc>
                <a:spcPct val="100000"/>
              </a:lnSpc>
              <a:spcBef>
                <a:spcPts val="600"/>
              </a:spcBef>
              <a:spcAft>
                <a:spcPts val="0"/>
              </a:spcAft>
              <a:buClr>
                <a:schemeClr val="dk1"/>
              </a:buClr>
              <a:buSzPts val="1600"/>
              <a:buChar char="→"/>
            </a:pPr>
            <a:r>
              <a:rPr lang="es-ES"/>
              <a:t>Procesos y lógica procedural</a:t>
            </a:r>
            <a:endParaRPr/>
          </a:p>
          <a:p>
            <a:pPr indent="-266700" lvl="0" marL="266700" rtl="0" algn="l">
              <a:lnSpc>
                <a:spcPct val="100000"/>
              </a:lnSpc>
              <a:spcBef>
                <a:spcPts val="1200"/>
              </a:spcBef>
              <a:spcAft>
                <a:spcPts val="0"/>
              </a:spcAft>
              <a:buClr>
                <a:schemeClr val="dk1"/>
              </a:buClr>
              <a:buSzPts val="1200"/>
              <a:buChar char="❑"/>
            </a:pPr>
            <a:r>
              <a:rPr lang="es-ES"/>
              <a:t>Complementan otros diagramas UML para proveer múltiples vistas de un sistema.</a:t>
            </a:r>
            <a:endParaRPr/>
          </a:p>
        </p:txBody>
      </p:sp>
      <p:sp>
        <p:nvSpPr>
          <p:cNvPr id="281" name="Google Shape;281;p2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¿CUÁNDO SON ÚTILES?</a:t>
            </a:r>
            <a:endParaRPr/>
          </a:p>
        </p:txBody>
      </p:sp>
      <p:pic>
        <p:nvPicPr>
          <p:cNvPr id="282" name="Google Shape;282;p26"/>
          <p:cNvPicPr preferRelativeResize="0"/>
          <p:nvPr>
            <p:ph idx="2" type="pic"/>
          </p:nvPr>
        </p:nvPicPr>
        <p:blipFill rotWithShape="1">
          <a:blip r:embed="rId3">
            <a:alphaModFix/>
          </a:blip>
          <a:srcRect b="0" l="19338" r="19339" t="0"/>
          <a:stretch/>
        </p:blipFill>
        <p:spPr>
          <a:xfrm>
            <a:off x="4876801" y="1248023"/>
            <a:ext cx="3438668" cy="37400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SECUENCIA</a:t>
            </a:r>
            <a:endParaRPr b="0">
              <a:solidFill>
                <a:srgbClr val="0070C0"/>
              </a:solidFill>
            </a:endParaRPr>
          </a:p>
        </p:txBody>
      </p:sp>
      <p:sp>
        <p:nvSpPr>
          <p:cNvPr id="289" name="Google Shape;289;p27"/>
          <p:cNvSpPr txBox="1"/>
          <p:nvPr>
            <p:ph idx="4" type="body"/>
          </p:nvPr>
        </p:nvSpPr>
        <p:spPr>
          <a:xfrm>
            <a:off x="782351" y="1341439"/>
            <a:ext cx="3632632"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diagramas de secuencia son útiles cuando se está en la fase de diseño de una nueva funcionalidad en una aplicación o sistema.</a:t>
            </a:r>
            <a:endParaRPr/>
          </a:p>
          <a:p>
            <a:pPr indent="-266700" lvl="0" marL="266700" rtl="0" algn="l">
              <a:lnSpc>
                <a:spcPct val="100000"/>
              </a:lnSpc>
              <a:spcBef>
                <a:spcPts val="1200"/>
              </a:spcBef>
              <a:spcAft>
                <a:spcPts val="0"/>
              </a:spcAft>
              <a:buClr>
                <a:schemeClr val="dk1"/>
              </a:buClr>
              <a:buSzPts val="1200"/>
              <a:buChar char="❑"/>
            </a:pPr>
            <a:r>
              <a:rPr lang="es-ES"/>
              <a:t>Ayuda a los desarrolladores y diseñadores a entender cómo diferentes componentes interactúan para implementar la nueva funcionalidad.</a:t>
            </a:r>
            <a:endParaRPr/>
          </a:p>
        </p:txBody>
      </p:sp>
      <p:sp>
        <p:nvSpPr>
          <p:cNvPr id="290" name="Google Shape;290;p2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DISEÑO DE NUEVAS FUNCIONALIDADES</a:t>
            </a:r>
            <a:endParaRPr/>
          </a:p>
        </p:txBody>
      </p:sp>
      <p:pic>
        <p:nvPicPr>
          <p:cNvPr id="291" name="Google Shape;291;p27"/>
          <p:cNvPicPr preferRelativeResize="0"/>
          <p:nvPr>
            <p:ph idx="2" type="pic"/>
          </p:nvPr>
        </p:nvPicPr>
        <p:blipFill rotWithShape="1">
          <a:blip r:embed="rId3">
            <a:alphaModFix/>
          </a:blip>
          <a:srcRect b="0" l="19338" r="19339" t="0"/>
          <a:stretch/>
        </p:blipFill>
        <p:spPr>
          <a:xfrm>
            <a:off x="4867563" y="1163638"/>
            <a:ext cx="3364779" cy="365969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SECUENCIA</a:t>
            </a:r>
            <a:endParaRPr b="0">
              <a:solidFill>
                <a:srgbClr val="0070C0"/>
              </a:solidFill>
            </a:endParaRPr>
          </a:p>
        </p:txBody>
      </p:sp>
      <p:sp>
        <p:nvSpPr>
          <p:cNvPr id="298" name="Google Shape;298;p28"/>
          <p:cNvSpPr txBox="1"/>
          <p:nvPr>
            <p:ph idx="4" type="body"/>
          </p:nvPr>
        </p:nvSpPr>
        <p:spPr>
          <a:xfrm>
            <a:off x="791586" y="1334937"/>
            <a:ext cx="3466378"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diagramas de secuencia son útiles cuando se está tratando de entender un error o problema en un sistema existente.</a:t>
            </a:r>
            <a:endParaRPr/>
          </a:p>
          <a:p>
            <a:pPr indent="-266700" lvl="0" marL="266700" rtl="0" algn="l">
              <a:lnSpc>
                <a:spcPct val="100000"/>
              </a:lnSpc>
              <a:spcBef>
                <a:spcPts val="1200"/>
              </a:spcBef>
              <a:spcAft>
                <a:spcPts val="0"/>
              </a:spcAft>
              <a:buClr>
                <a:schemeClr val="dk1"/>
              </a:buClr>
              <a:buSzPts val="1200"/>
              <a:buChar char="❑"/>
            </a:pPr>
            <a:r>
              <a:rPr lang="es-ES"/>
              <a:t>Facilita a los desarrolladores e ingenieros de soporte la identificación de dónde podría estar el problema al seguir el flujo de mensajes y actividades.</a:t>
            </a:r>
            <a:endParaRPr/>
          </a:p>
        </p:txBody>
      </p:sp>
      <p:sp>
        <p:nvSpPr>
          <p:cNvPr id="299" name="Google Shape;299;p2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DEPURACIÓN Y RESOLUCIÓN DE PROBLEMAS</a:t>
            </a:r>
            <a:endParaRPr/>
          </a:p>
        </p:txBody>
      </p:sp>
      <p:pic>
        <p:nvPicPr>
          <p:cNvPr id="300" name="Google Shape;300;p28"/>
          <p:cNvPicPr preferRelativeResize="0"/>
          <p:nvPr>
            <p:ph idx="2" type="pic"/>
          </p:nvPr>
        </p:nvPicPr>
        <p:blipFill rotWithShape="1">
          <a:blip r:embed="rId3">
            <a:alphaModFix/>
          </a:blip>
          <a:srcRect b="0" l="19316" r="19316" t="0"/>
          <a:stretch/>
        </p:blipFill>
        <p:spPr>
          <a:xfrm>
            <a:off x="4793672" y="1230174"/>
            <a:ext cx="3466379" cy="377019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SECUENCIA</a:t>
            </a:r>
            <a:endParaRPr b="0">
              <a:solidFill>
                <a:srgbClr val="0070C0"/>
              </a:solidFill>
            </a:endParaRPr>
          </a:p>
        </p:txBody>
      </p:sp>
      <p:sp>
        <p:nvSpPr>
          <p:cNvPr id="307" name="Google Shape;307;p29"/>
          <p:cNvSpPr txBox="1"/>
          <p:nvPr>
            <p:ph idx="4" type="body"/>
          </p:nvPr>
        </p:nvSpPr>
        <p:spPr>
          <a:xfrm>
            <a:off x="740786" y="1326823"/>
            <a:ext cx="3558742"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diagramas de secuencia son útiles como parte de la documentación técnica de un sistema o aplicación.</a:t>
            </a:r>
            <a:endParaRPr/>
          </a:p>
          <a:p>
            <a:pPr indent="-266700" lvl="0" marL="266700" rtl="0" algn="l">
              <a:lnSpc>
                <a:spcPct val="100000"/>
              </a:lnSpc>
              <a:spcBef>
                <a:spcPts val="1200"/>
              </a:spcBef>
              <a:spcAft>
                <a:spcPts val="0"/>
              </a:spcAft>
              <a:buClr>
                <a:schemeClr val="dk1"/>
              </a:buClr>
              <a:buSzPts val="1200"/>
              <a:buChar char="❑"/>
            </a:pPr>
            <a:r>
              <a:rPr lang="es-ES"/>
              <a:t>Sirve a los nuevos miembros del equipo, a los desarrolladores, y a los analistas de sistemas como una referencia visual para entender cómo funciona el sistema.</a:t>
            </a:r>
            <a:endParaRPr/>
          </a:p>
        </p:txBody>
      </p:sp>
      <p:sp>
        <p:nvSpPr>
          <p:cNvPr id="308" name="Google Shape;308;p2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DOCUMENTACIÓN DEL SISTEMA</a:t>
            </a:r>
            <a:endParaRPr/>
          </a:p>
        </p:txBody>
      </p:sp>
      <p:pic>
        <p:nvPicPr>
          <p:cNvPr id="309" name="Google Shape;309;p29"/>
          <p:cNvPicPr preferRelativeResize="0"/>
          <p:nvPr>
            <p:ph idx="2" type="pic"/>
          </p:nvPr>
        </p:nvPicPr>
        <p:blipFill rotWithShape="1">
          <a:blip r:embed="rId3">
            <a:alphaModFix/>
          </a:blip>
          <a:srcRect b="0" l="19338" r="19339" t="0"/>
          <a:stretch/>
        </p:blipFill>
        <p:spPr>
          <a:xfrm>
            <a:off x="4966379" y="1163638"/>
            <a:ext cx="3349089" cy="36426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SECUENCIA</a:t>
            </a:r>
            <a:endParaRPr b="0">
              <a:solidFill>
                <a:srgbClr val="0070C0"/>
              </a:solidFill>
            </a:endParaRPr>
          </a:p>
        </p:txBody>
      </p:sp>
      <p:sp>
        <p:nvSpPr>
          <p:cNvPr id="316" name="Google Shape;316;p30"/>
          <p:cNvSpPr txBox="1"/>
          <p:nvPr>
            <p:ph idx="4" type="body"/>
          </p:nvPr>
        </p:nvSpPr>
        <p:spPr>
          <a:xfrm>
            <a:off x="833149" y="1177927"/>
            <a:ext cx="337401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diagramas de secuencia son útiles durante la fase de recolección y análisis de requisitos en el desarrollo de software.</a:t>
            </a:r>
            <a:endParaRPr/>
          </a:p>
          <a:p>
            <a:pPr indent="-266700" lvl="0" marL="266700" rtl="0" algn="l">
              <a:lnSpc>
                <a:spcPct val="100000"/>
              </a:lnSpc>
              <a:spcBef>
                <a:spcPts val="1200"/>
              </a:spcBef>
              <a:spcAft>
                <a:spcPts val="0"/>
              </a:spcAft>
              <a:buClr>
                <a:schemeClr val="dk1"/>
              </a:buClr>
              <a:buSzPts val="1200"/>
              <a:buChar char="❑"/>
            </a:pPr>
            <a:r>
              <a:rPr lang="es-ES"/>
              <a:t>Ayuda a los analistas de negocio, a los stakeholders y a los desarrolladores a validar que los requisitos se entienden y se implementarán correctamente.</a:t>
            </a:r>
            <a:endParaRPr/>
          </a:p>
        </p:txBody>
      </p:sp>
      <p:sp>
        <p:nvSpPr>
          <p:cNvPr id="317" name="Google Shape;317;p3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ANÁLISIS DE REQUISITOS</a:t>
            </a:r>
            <a:endParaRPr/>
          </a:p>
        </p:txBody>
      </p:sp>
      <p:pic>
        <p:nvPicPr>
          <p:cNvPr id="318" name="Google Shape;318;p30"/>
          <p:cNvPicPr preferRelativeResize="0"/>
          <p:nvPr>
            <p:ph idx="2" type="pic"/>
          </p:nvPr>
        </p:nvPicPr>
        <p:blipFill rotWithShape="1">
          <a:blip r:embed="rId3">
            <a:alphaModFix/>
          </a:blip>
          <a:srcRect b="0" l="19338" r="19339" t="0"/>
          <a:stretch/>
        </p:blipFill>
        <p:spPr>
          <a:xfrm>
            <a:off x="4936839" y="1133169"/>
            <a:ext cx="3170755" cy="344866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SECUENCIA</a:t>
            </a:r>
            <a:endParaRPr b="0">
              <a:solidFill>
                <a:srgbClr val="0070C0"/>
              </a:solidFill>
            </a:endParaRPr>
          </a:p>
        </p:txBody>
      </p:sp>
      <p:sp>
        <p:nvSpPr>
          <p:cNvPr id="325" name="Google Shape;325;p31"/>
          <p:cNvSpPr txBox="1"/>
          <p:nvPr>
            <p:ph idx="4" type="body"/>
          </p:nvPr>
        </p:nvSpPr>
        <p:spPr>
          <a:xfrm>
            <a:off x="773113" y="1341439"/>
            <a:ext cx="3383251"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diagramas de secuencia son útiles en procesos de revisión de código o pruebas de calidad. </a:t>
            </a:r>
            <a:endParaRPr/>
          </a:p>
          <a:p>
            <a:pPr indent="-266700" lvl="0" marL="266700" rtl="0" algn="l">
              <a:lnSpc>
                <a:spcPct val="100000"/>
              </a:lnSpc>
              <a:spcBef>
                <a:spcPts val="1200"/>
              </a:spcBef>
              <a:spcAft>
                <a:spcPts val="0"/>
              </a:spcAft>
              <a:buClr>
                <a:schemeClr val="dk1"/>
              </a:buClr>
              <a:buSzPts val="1200"/>
              <a:buChar char="❑"/>
            </a:pPr>
            <a:r>
              <a:rPr lang="es-ES"/>
              <a:t>Facilita a los revisores de código y a los ingenieros de control de calidad, la comprensión del flujo de la lógica del código, lo que es útil para detectar errores o mejoras.</a:t>
            </a:r>
            <a:endParaRPr/>
          </a:p>
        </p:txBody>
      </p:sp>
      <p:sp>
        <p:nvSpPr>
          <p:cNvPr id="326" name="Google Shape;326;p3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REVISIÓN DE CÓDIGO Y CONTROL DE CALIDAD</a:t>
            </a:r>
            <a:endParaRPr/>
          </a:p>
        </p:txBody>
      </p:sp>
      <p:pic>
        <p:nvPicPr>
          <p:cNvPr id="327" name="Google Shape;327;p31"/>
          <p:cNvPicPr preferRelativeResize="0"/>
          <p:nvPr>
            <p:ph idx="2" type="pic"/>
          </p:nvPr>
        </p:nvPicPr>
        <p:blipFill rotWithShape="1">
          <a:blip r:embed="rId3">
            <a:alphaModFix/>
          </a:blip>
          <a:srcRect b="0" l="19338" r="19339" t="0"/>
          <a:stretch/>
        </p:blipFill>
        <p:spPr>
          <a:xfrm>
            <a:off x="4936877" y="1171424"/>
            <a:ext cx="3434010" cy="373498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SECUENCIA</a:t>
            </a:r>
            <a:endParaRPr b="0">
              <a:solidFill>
                <a:srgbClr val="0070C0"/>
              </a:solidFill>
            </a:endParaRPr>
          </a:p>
        </p:txBody>
      </p:sp>
      <p:sp>
        <p:nvSpPr>
          <p:cNvPr id="334" name="Google Shape;334;p32"/>
          <p:cNvSpPr txBox="1"/>
          <p:nvPr>
            <p:ph idx="4" type="body"/>
          </p:nvPr>
        </p:nvSpPr>
        <p:spPr>
          <a:xfrm>
            <a:off x="957842" y="1230603"/>
            <a:ext cx="3152342"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diagramas de secuencia son útiles en reuniones con clientes o stakeholders que no son técnicos.</a:t>
            </a:r>
            <a:endParaRPr/>
          </a:p>
          <a:p>
            <a:pPr indent="-266700" lvl="0" marL="266700" rtl="0" algn="l">
              <a:lnSpc>
                <a:spcPct val="100000"/>
              </a:lnSpc>
              <a:spcBef>
                <a:spcPts val="1200"/>
              </a:spcBef>
              <a:spcAft>
                <a:spcPts val="0"/>
              </a:spcAft>
              <a:buClr>
                <a:schemeClr val="dk1"/>
              </a:buClr>
              <a:buSzPts val="1200"/>
              <a:buChar char="❑"/>
            </a:pPr>
            <a:r>
              <a:rPr lang="es-ES"/>
              <a:t>Ayuda los clientes, a los stakeholders, y a los gerentes de proyecto, a explicar de manera más accesible cómo se planea implementar una solución o cómo funciona una ya existente. </a:t>
            </a:r>
            <a:endParaRPr/>
          </a:p>
        </p:txBody>
      </p:sp>
      <p:pic>
        <p:nvPicPr>
          <p:cNvPr id="335" name="Google Shape;335;p32"/>
          <p:cNvPicPr preferRelativeResize="0"/>
          <p:nvPr>
            <p:ph idx="2" type="pic"/>
          </p:nvPr>
        </p:nvPicPr>
        <p:blipFill rotWithShape="1">
          <a:blip r:embed="rId3">
            <a:alphaModFix/>
          </a:blip>
          <a:srcRect b="0" l="19338" r="19339" t="0"/>
          <a:stretch/>
        </p:blipFill>
        <p:spPr>
          <a:xfrm>
            <a:off x="4879530" y="1308931"/>
            <a:ext cx="3306628" cy="3596443"/>
          </a:xfrm>
          <a:prstGeom prst="rect">
            <a:avLst/>
          </a:prstGeom>
          <a:noFill/>
          <a:ln>
            <a:noFill/>
          </a:ln>
        </p:spPr>
      </p:pic>
      <p:sp>
        <p:nvSpPr>
          <p:cNvPr id="336" name="Google Shape;336;p32"/>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COMUNICACIÓN CON EL CLIENTE O STAKEHOLDERS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USO DEL DIAGRAMA DE SECUENCIA</a:t>
            </a:r>
            <a:endParaRPr b="0">
              <a:solidFill>
                <a:srgbClr val="0070C0"/>
              </a:solidFill>
            </a:endParaRPr>
          </a:p>
        </p:txBody>
      </p:sp>
      <p:sp>
        <p:nvSpPr>
          <p:cNvPr id="343" name="Google Shape;343;p33"/>
          <p:cNvSpPr txBox="1"/>
          <p:nvPr>
            <p:ph idx="4" type="body"/>
          </p:nvPr>
        </p:nvSpPr>
        <p:spPr>
          <a:xfrm>
            <a:off x="883949" y="1230602"/>
            <a:ext cx="3300123"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diagramas de secuencia son útiles en un entorno académico o de formación.</a:t>
            </a:r>
            <a:endParaRPr/>
          </a:p>
          <a:p>
            <a:pPr indent="-266700" lvl="0" marL="266700" rtl="0" algn="l">
              <a:lnSpc>
                <a:spcPct val="100000"/>
              </a:lnSpc>
              <a:spcBef>
                <a:spcPts val="1200"/>
              </a:spcBef>
              <a:spcAft>
                <a:spcPts val="0"/>
              </a:spcAft>
              <a:buClr>
                <a:schemeClr val="dk1"/>
              </a:buClr>
              <a:buSzPts val="1200"/>
              <a:buChar char="❑"/>
            </a:pPr>
            <a:r>
              <a:rPr lang="es-ES"/>
              <a:t>Le sirve a los estudiantes y formadores como una herramienta pedagógica para enseñar los conceptos de interacción y comportamiento en sistemas. </a:t>
            </a:r>
            <a:endParaRPr/>
          </a:p>
        </p:txBody>
      </p:sp>
      <p:sp>
        <p:nvSpPr>
          <p:cNvPr id="344" name="Google Shape;344;p33"/>
          <p:cNvSpPr txBox="1"/>
          <p:nvPr>
            <p:ph idx="1" type="body"/>
          </p:nvPr>
        </p:nvSpPr>
        <p:spPr>
          <a:xfrm>
            <a:off x="468312" y="809626"/>
            <a:ext cx="4104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FORMACIÓN Y EDUCACIÓN</a:t>
            </a:r>
            <a:endParaRPr/>
          </a:p>
        </p:txBody>
      </p:sp>
      <p:pic>
        <p:nvPicPr>
          <p:cNvPr id="345" name="Google Shape;345;p33"/>
          <p:cNvPicPr preferRelativeResize="0"/>
          <p:nvPr>
            <p:ph idx="2" type="pic"/>
          </p:nvPr>
        </p:nvPicPr>
        <p:blipFill rotWithShape="1">
          <a:blip r:embed="rId3">
            <a:alphaModFix/>
          </a:blip>
          <a:srcRect b="0" l="19338" r="19339" t="0"/>
          <a:stretch/>
        </p:blipFill>
        <p:spPr>
          <a:xfrm>
            <a:off x="4987390" y="1120920"/>
            <a:ext cx="3272661" cy="355949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4"/>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352" name="Google Shape;352;p34"/>
          <p:cNvSpPr/>
          <p:nvPr/>
        </p:nvSpPr>
        <p:spPr>
          <a:xfrm>
            <a:off x="1276149" y="788890"/>
            <a:ext cx="7204492" cy="375483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Los diagramas de secuencia UML se componen de elementos específicos como líneas de vida, mensajes y barras de activación. Cada uno de estos elementos tiene un rol específico en la representación de las interacciones entre objetos y actores.</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Los diagramas de secuencia son útiles en múltiples contextos, desde el diseño de nuevas funcionalidades y la depuración de errores, hasta la documentación y la comunicación con stakeholders. Su versatilidad los convierte en una herramienta indispensable en el desarrollo de software.</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Más allá de su utilidad técnica, los diagramas de secuencia sirven como un lenguaje común que facilita la comunicación entre equipos multidisciplinarios y stakeholders, mejorando la comprensión global del sistema.</a:t>
            </a:r>
            <a:endParaRPr b="0" i="0" sz="1400" u="none" cap="none" strike="noStrike">
              <a:solidFill>
                <a:srgbClr val="000000"/>
              </a:solidFill>
              <a:latin typeface="Arial"/>
              <a:ea typeface="Arial"/>
              <a:cs typeface="Arial"/>
              <a:sym typeface="Arial"/>
            </a:endParaRPr>
          </a:p>
        </p:txBody>
      </p:sp>
      <p:sp>
        <p:nvSpPr>
          <p:cNvPr id="353" name="Google Shape;353;p34"/>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Calibri"/>
              <a:buNone/>
            </a:pPr>
            <a:r>
              <a:rPr b="0" i="0" lang="es-ES" sz="1700" u="none" cap="none" strike="noStrike">
                <a:solidFill>
                  <a:schemeClr val="lt1"/>
                </a:solidFill>
                <a:latin typeface="Calibri"/>
                <a:ea typeface="Calibri"/>
                <a:cs typeface="Calibri"/>
                <a:sym typeface="Calibri"/>
              </a:rPr>
              <a:t>/ CONCLUSIONES</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5"/>
          <p:cNvSpPr txBox="1"/>
          <p:nvPr/>
        </p:nvSpPr>
        <p:spPr>
          <a:xfrm>
            <a:off x="665324" y="857848"/>
            <a:ext cx="7892750" cy="4276127"/>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Dennis, A., Wixom, B. H., &amp; Tegarden, D. (2015). "Systems Analysis and Design: An Object-Oriented Approach with UML". Wiley.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Jacobson, I., Christerson, M., Jonsson, P., &amp; Övergaard, G. (1992). "Object-Oriented Software Engineering: A Use Case Driven Approach". Addison-Wesley.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What is UML?. </a:t>
            </a:r>
            <a:r>
              <a:rPr b="0" i="0" lang="es-ES" sz="1600" u="sng" cap="none" strike="noStrike">
                <a:solidFill>
                  <a:schemeClr val="dk1"/>
                </a:solidFill>
                <a:latin typeface="Calibri"/>
                <a:ea typeface="Calibri"/>
                <a:cs typeface="Calibri"/>
                <a:sym typeface="Calibri"/>
                <a:hlinkClick r:id="rId3">
                  <a:extLst>
                    <a:ext uri="{A12FA001-AC4F-418D-AE19-62706E023703}">
                      <ahyp:hlinkClr val="tx"/>
                    </a:ext>
                  </a:extLst>
                </a:hlinkClick>
              </a:rPr>
              <a:t>http://www.uml.org/what-is-uml.htm</a:t>
            </a:r>
            <a:r>
              <a:rPr b="0" i="0" lang="es-ES" sz="16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Introduction to the Unified Modeling Language </a:t>
            </a:r>
            <a:endParaRPr b="0" i="0" sz="1400" u="none" cap="none" strike="noStrike">
              <a:solidFill>
                <a:srgbClr val="000000"/>
              </a:solidFill>
              <a:latin typeface="Arial"/>
              <a:ea typeface="Arial"/>
              <a:cs typeface="Arial"/>
              <a:sym typeface="Arial"/>
            </a:endParaRPr>
          </a:p>
          <a:p>
            <a:pPr indent="0" lvl="0" marL="269875" marR="0" rtl="0" algn="l">
              <a:lnSpc>
                <a:spcPct val="100000"/>
              </a:lnSpc>
              <a:spcBef>
                <a:spcPts val="0"/>
              </a:spcBef>
              <a:spcAft>
                <a:spcPts val="0"/>
              </a:spcAft>
              <a:buClr>
                <a:schemeClr val="dk1"/>
              </a:buClr>
              <a:buSzPts val="1600"/>
              <a:buFont typeface="Calibri"/>
              <a:buNone/>
            </a:pPr>
            <a:r>
              <a:rPr b="0" i="0" lang="es-ES" sz="16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https://developer.ibm.com/articles/an-introduction-to-uml/</a:t>
            </a:r>
            <a:endParaRPr b="0" i="0" sz="1600" u="none" cap="none" strike="noStrike">
              <a:solidFill>
                <a:schemeClr val="dk1"/>
              </a:solidFill>
              <a:latin typeface="Calibri"/>
              <a:ea typeface="Calibri"/>
              <a:cs typeface="Calibri"/>
              <a:sym typeface="Calibri"/>
            </a:endParaRPr>
          </a:p>
          <a:p>
            <a:pPr indent="0" lvl="0" marL="269875"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UML - Sequence Diagrams</a:t>
            </a:r>
            <a:endParaRPr b="0" i="0" sz="1600" u="none" cap="none" strike="noStrike">
              <a:solidFill>
                <a:schemeClr val="dk1"/>
              </a:solidFill>
              <a:latin typeface="Calibri"/>
              <a:ea typeface="Calibri"/>
              <a:cs typeface="Calibri"/>
              <a:sym typeface="Calibri"/>
            </a:endParaRPr>
          </a:p>
          <a:p>
            <a:pPr indent="0" lvl="0" marL="269875" marR="0" rtl="0" algn="l">
              <a:lnSpc>
                <a:spcPct val="100000"/>
              </a:lnSpc>
              <a:spcBef>
                <a:spcPts val="0"/>
              </a:spcBef>
              <a:spcAft>
                <a:spcPts val="0"/>
              </a:spcAft>
              <a:buClr>
                <a:schemeClr val="dk1"/>
              </a:buClr>
              <a:buSzPts val="1600"/>
              <a:buFont typeface="Calibri"/>
              <a:buNone/>
            </a:pPr>
            <a:r>
              <a:rPr b="0" i="0" lang="es-ES" sz="1600" u="sng" cap="none" strike="noStrike">
                <a:solidFill>
                  <a:schemeClr val="dk1"/>
                </a:solidFill>
                <a:latin typeface="Calibri"/>
                <a:ea typeface="Calibri"/>
                <a:cs typeface="Calibri"/>
                <a:sym typeface="Calibri"/>
                <a:hlinkClick r:id="rId5">
                  <a:extLst>
                    <a:ext uri="{A12FA001-AC4F-418D-AE19-62706E023703}">
                      <ahyp:hlinkClr val="tx"/>
                    </a:ext>
                  </a:extLst>
                </a:hlinkClick>
              </a:rPr>
              <a:t>https://www.tutorialspoint.com/uml/uml_sequence_diagram.htm</a:t>
            </a:r>
            <a:endParaRPr b="0" i="0" sz="1600" u="none" cap="none" strike="noStrike">
              <a:solidFill>
                <a:schemeClr val="dk1"/>
              </a:solidFill>
              <a:latin typeface="Calibri"/>
              <a:ea typeface="Calibri"/>
              <a:cs typeface="Calibri"/>
              <a:sym typeface="Calibri"/>
            </a:endParaRPr>
          </a:p>
          <a:p>
            <a:pPr indent="0" lvl="0" marL="269875"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261938"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
        <p:nvSpPr>
          <p:cNvPr id="360" name="Google Shape;360;p35"/>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BIBLIOGRAFÍA</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