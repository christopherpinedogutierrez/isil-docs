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6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70" r:id="rId15"/>
    <p:sldId id="268" r:id="rId16"/>
    <p:sldId id="271" r:id="rId17"/>
  </p:sldIdLst>
  <p:sldSz cx="9144000" cy="5715000" type="screen16x1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6" pos="2880" userDrawn="1">
          <p15:clr>
            <a:srgbClr val="A4A3A4"/>
          </p15:clr>
        </p15:guide>
        <p15:guide id="7" orient="horz" pos="2979" userDrawn="1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g9lDEJ30D+/E28zOsse4Vjl2v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697E"/>
    <a:srgbClr val="D1EFF4"/>
    <a:srgbClr val="00B1C2"/>
    <a:srgbClr val="FFEDBF"/>
    <a:srgbClr val="FFD7C1"/>
    <a:srgbClr val="D9DBE1"/>
    <a:srgbClr val="7150A0"/>
    <a:srgbClr val="92C14E"/>
    <a:srgbClr val="EE4639"/>
    <a:srgbClr val="FDC2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49"/>
    <p:restoredTop sz="94674"/>
  </p:normalViewPr>
  <p:slideViewPr>
    <p:cSldViewPr snapToGrid="0">
      <p:cViewPr varScale="1">
        <p:scale>
          <a:sx n="143" d="100"/>
          <a:sy n="143" d="100"/>
        </p:scale>
        <p:origin x="1576" y="192"/>
      </p:cViewPr>
      <p:guideLst>
        <p:guide pos="2880"/>
        <p:guide orient="horz" pos="297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" name="Google Shape;2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" name="Google Shape;3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3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" name="Google Shape;4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4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s-PE" sz="1200"/>
              <a:t>Prueba exploratoria es un enfoque práctico en el que los probadores están involucrados en la planificación y ejecución mínimo de prueba máxima.</a:t>
            </a:r>
            <a:endParaRPr/>
          </a:p>
          <a:p>
            <a:pPr marL="17145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s-PE" sz="1200"/>
              <a:t>Las actividades de diseño de pruebas y ejecución de pruebas se realizan en paralelo normalmente sin documentar formalmente las condiciones de prueba, casos de prueba o scripts de prueba. </a:t>
            </a:r>
            <a:endParaRPr/>
          </a:p>
          <a:p>
            <a:pPr marL="17145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s-PE" sz="1200"/>
              <a:t>Sirve para complementar otras pruebas, ayudando a establecer una mayor confianza en el software.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s-PE" sz="1200"/>
              <a:t>Prueba exploratoria es un enfoque práctico en el que los probadores están involucrados en la planificación y ejecución mínimo de prueba máxima.</a:t>
            </a:r>
            <a:endParaRPr/>
          </a:p>
          <a:p>
            <a:pPr marL="17145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s-PE" sz="1200"/>
              <a:t>Las actividades de diseño de pruebas y ejecución de pruebas se realizan en paralelo normalmente sin documentar formalmente las condiciones de prueba, casos de prueba o scripts de prueba. </a:t>
            </a:r>
            <a:endParaRPr/>
          </a:p>
          <a:p>
            <a:pPr marL="17145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s-PE" sz="1200"/>
              <a:t>Sirve para complementar otras pruebas, ayudando a establecer una mayor confianza en el software.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12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13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" name="Google Shape;163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15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>
  <p:cSld name="Diapositiva de título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ema - 1 Imagen A">
  <p:cSld name="Subtema - 1 Imagen A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3C5279A7-1CDE-844F-9480-B978C6517AEF}"/>
              </a:ext>
            </a:extLst>
          </p:cNvPr>
          <p:cNvSpPr/>
          <p:nvPr userDrawn="1"/>
        </p:nvSpPr>
        <p:spPr>
          <a:xfrm>
            <a:off x="7204422" y="5371562"/>
            <a:ext cx="1544012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ES_tradnl" sz="600" dirty="0">
                <a:solidFill>
                  <a:schemeClr val="bg1">
                    <a:lumMod val="50000"/>
                  </a:schemeClr>
                </a:solidFill>
              </a:rPr>
              <a:t>© ISIL. Todos los derechos reservados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E96AEBB1-A984-DF48-9187-6ACBAA37D86C}"/>
              </a:ext>
            </a:extLst>
          </p:cNvPr>
          <p:cNvSpPr txBox="1"/>
          <p:nvPr userDrawn="1"/>
        </p:nvSpPr>
        <p:spPr>
          <a:xfrm>
            <a:off x="876300" y="5343295"/>
            <a:ext cx="216437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kern="1200" baseline="0" dirty="0">
                <a:solidFill>
                  <a:schemeClr val="bg1">
                    <a:lumMod val="50000"/>
                  </a:schemeClr>
                </a:solidFill>
                <a:latin typeface="Calibri"/>
                <a:ea typeface="+mn-ea"/>
                <a:cs typeface="Calibri"/>
                <a:sym typeface="Wingdings"/>
              </a:rPr>
              <a:t>CALIDAD Y PRUEBAS DE SOFTWARE 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Calibri"/>
                <a:ea typeface="Wingdings"/>
                <a:cs typeface="Calibri"/>
                <a:sym typeface="Wingdings"/>
              </a:rPr>
              <a:t></a:t>
            </a:r>
            <a:r>
              <a:rPr lang="en-US" sz="800" kern="1200" dirty="0">
                <a:solidFill>
                  <a:schemeClr val="bg1">
                    <a:lumMod val="50000"/>
                  </a:schemeClr>
                </a:solidFill>
                <a:latin typeface="Calibri"/>
                <a:ea typeface="+mn-ea"/>
                <a:cs typeface="Calibri"/>
                <a:sym typeface="Wingdings"/>
              </a:rPr>
              <a:t>  TEMA 11</a:t>
            </a:r>
            <a:endParaRPr lang="en-US" sz="800" dirty="0">
              <a:solidFill>
                <a:schemeClr val="bg1">
                  <a:lumMod val="50000"/>
                </a:schemeClr>
              </a:solidFill>
              <a:latin typeface="Calibri"/>
              <a:cs typeface="Calibri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97BDC9B-BB40-FC4F-955A-89C31A41371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6316" y="5349405"/>
            <a:ext cx="369984" cy="206823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880" userDrawn="1">
          <p15:clr>
            <a:srgbClr val="F26B43"/>
          </p15:clr>
        </p15:guide>
        <p15:guide id="2" orient="horz" pos="1800" userDrawn="1">
          <p15:clr>
            <a:srgbClr val="F26B43"/>
          </p15:clr>
        </p15:guide>
        <p15:guide id="3" pos="2767" userDrawn="1">
          <p15:clr>
            <a:srgbClr val="F26B43"/>
          </p15:clr>
        </p15:guide>
        <p15:guide id="4" pos="2993" userDrawn="1">
          <p15:clr>
            <a:srgbClr val="F26B43"/>
          </p15:clr>
        </p15:guide>
        <p15:guide id="5" pos="295" userDrawn="1">
          <p15:clr>
            <a:srgbClr val="F26B43"/>
          </p15:clr>
        </p15:guide>
        <p15:guide id="6" pos="431" userDrawn="1">
          <p15:clr>
            <a:srgbClr val="F26B43"/>
          </p15:clr>
        </p15:guide>
        <p15:guide id="7" pos="5465" userDrawn="1">
          <p15:clr>
            <a:srgbClr val="F26B43"/>
          </p15:clr>
        </p15:guide>
        <p15:guide id="8" orient="horz" pos="303" userDrawn="1">
          <p15:clr>
            <a:srgbClr val="F26B43"/>
          </p15:clr>
        </p15:guide>
        <p15:guide id="9" orient="horz" pos="575" userDrawn="1">
          <p15:clr>
            <a:srgbClr val="F26B43"/>
          </p15:clr>
        </p15:guide>
        <p15:guide id="10" orient="horz" pos="329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5DF45AEA-8AAE-0F44-86B2-C2662843C4FD}"/>
              </a:ext>
            </a:extLst>
          </p:cNvPr>
          <p:cNvSpPr/>
          <p:nvPr/>
        </p:nvSpPr>
        <p:spPr>
          <a:xfrm>
            <a:off x="182879" y="5120640"/>
            <a:ext cx="4304965" cy="4620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1AAC759-E5CB-AB41-99BD-06018B4857EA}"/>
              </a:ext>
            </a:extLst>
          </p:cNvPr>
          <p:cNvSpPr txBox="1"/>
          <p:nvPr/>
        </p:nvSpPr>
        <p:spPr>
          <a:xfrm>
            <a:off x="503238" y="808689"/>
            <a:ext cx="3104743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_tradnl" sz="900" b="1" dirty="0">
                <a:solidFill>
                  <a:srgbClr val="6C6D6C"/>
                </a:solidFill>
                <a:latin typeface="Calibri" charset="0"/>
                <a:cs typeface="Calibri" charset="0"/>
              </a:rPr>
              <a:t>CALIDAD Y PRUEBAS DE SOFTWARE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8076E1BD-A246-C14C-A2E1-CA0EF72CBFF1}"/>
              </a:ext>
            </a:extLst>
          </p:cNvPr>
          <p:cNvSpPr/>
          <p:nvPr/>
        </p:nvSpPr>
        <p:spPr>
          <a:xfrm>
            <a:off x="503238" y="3219842"/>
            <a:ext cx="2845526" cy="642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77800" indent="-177800">
              <a:lnSpc>
                <a:spcPct val="120000"/>
              </a:lnSpc>
              <a:buClr>
                <a:srgbClr val="4E697E"/>
              </a:buClr>
              <a:buSzPct val="100000"/>
              <a:buFont typeface="Arial"/>
              <a:buChar char="•"/>
            </a:pPr>
            <a:r>
              <a:rPr lang="es-PE" sz="1200" dirty="0">
                <a:latin typeface="Graphik-Medium" charset="0"/>
                <a:sym typeface="Calibri"/>
              </a:rPr>
              <a:t>Predicción de errores</a:t>
            </a:r>
            <a:endParaRPr lang="es-PE" sz="1200" dirty="0">
              <a:latin typeface="Graphik-Medium" charset="0"/>
            </a:endParaRPr>
          </a:p>
          <a:p>
            <a:pPr marL="177800" indent="-177800">
              <a:lnSpc>
                <a:spcPct val="120000"/>
              </a:lnSpc>
              <a:buClr>
                <a:srgbClr val="4E697E"/>
              </a:buClr>
              <a:buSzPct val="100000"/>
              <a:buFont typeface="Arial"/>
              <a:buChar char="•"/>
            </a:pPr>
            <a:r>
              <a:rPr lang="es-PE" sz="1200" dirty="0">
                <a:latin typeface="Graphik-Medium" charset="0"/>
                <a:sym typeface="Calibri"/>
              </a:rPr>
              <a:t>Aplicación de una encuesta </a:t>
            </a:r>
            <a:br>
              <a:rPr lang="es-PE" sz="1200" dirty="0">
                <a:latin typeface="Graphik-Medium" charset="0"/>
                <a:sym typeface="Calibri"/>
              </a:rPr>
            </a:br>
            <a:r>
              <a:rPr lang="es-PE" sz="1200" dirty="0">
                <a:latin typeface="Graphik-Medium" charset="0"/>
                <a:sym typeface="Calibri"/>
              </a:rPr>
              <a:t>de calidad</a:t>
            </a:r>
            <a:endParaRPr lang="es-PE" sz="1200" dirty="0">
              <a:latin typeface="Graphik-Medium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A7AF17A1-4B50-7342-974D-10013CF4AA07}"/>
              </a:ext>
            </a:extLst>
          </p:cNvPr>
          <p:cNvSpPr txBox="1"/>
          <p:nvPr/>
        </p:nvSpPr>
        <p:spPr>
          <a:xfrm>
            <a:off x="743902" y="1819386"/>
            <a:ext cx="145764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_tradnl" sz="2000" b="1" dirty="0">
                <a:solidFill>
                  <a:srgbClr val="4E697E"/>
                </a:solidFill>
                <a:latin typeface="Calibri" charset="0"/>
                <a:ea typeface="Calibri" charset="0"/>
                <a:cs typeface="Calibri" charset="0"/>
              </a:rPr>
              <a:t>TEMA 11</a:t>
            </a: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70D1E107-3C08-1049-A154-9874D92387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64" y="1883411"/>
            <a:ext cx="166865" cy="170453"/>
          </a:xfrm>
          <a:prstGeom prst="rect">
            <a:avLst/>
          </a:prstGeom>
        </p:spPr>
      </p:pic>
      <p:sp>
        <p:nvSpPr>
          <p:cNvPr id="28" name="Rectángulo 27">
            <a:extLst>
              <a:ext uri="{FF2B5EF4-FFF2-40B4-BE49-F238E27FC236}">
                <a16:creationId xmlns:a16="http://schemas.microsoft.com/office/drawing/2014/main" id="{9A5B5BFA-B780-6849-B43E-0AF3DC59AC50}"/>
              </a:ext>
            </a:extLst>
          </p:cNvPr>
          <p:cNvSpPr/>
          <p:nvPr/>
        </p:nvSpPr>
        <p:spPr>
          <a:xfrm>
            <a:off x="503239" y="2177570"/>
            <a:ext cx="3213718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es-PE" sz="2000" dirty="0">
                <a:latin typeface="Graphik-Medium" charset="0"/>
                <a:ea typeface="Graphik-Medium" charset="0"/>
                <a:cs typeface="Graphik-Medium" charset="0"/>
              </a:rPr>
              <a:t>TÉCNICAS</a:t>
            </a:r>
            <a:br>
              <a:rPr lang="es-PE" sz="2000" dirty="0">
                <a:latin typeface="Graphik-Medium" charset="0"/>
                <a:ea typeface="Graphik-Medium" charset="0"/>
                <a:cs typeface="Graphik-Medium" charset="0"/>
              </a:rPr>
            </a:br>
            <a:r>
              <a:rPr lang="es-PE" sz="2000" b="1" dirty="0">
                <a:latin typeface="Graphik Bold" charset="0"/>
                <a:ea typeface="Graphik Bold" charset="0"/>
                <a:cs typeface="Graphik Bold" charset="0"/>
              </a:rPr>
              <a:t>BASADAS EN</a:t>
            </a:r>
            <a:br>
              <a:rPr lang="es-PE" sz="2000" b="1" dirty="0">
                <a:latin typeface="Graphik Bold" charset="0"/>
                <a:ea typeface="Graphik Bold" charset="0"/>
                <a:cs typeface="Graphik Bold" charset="0"/>
              </a:rPr>
            </a:br>
            <a:r>
              <a:rPr lang="es-PE" sz="2000" b="1" dirty="0">
                <a:latin typeface="Graphik Bold" charset="0"/>
                <a:ea typeface="Graphik Bold" charset="0"/>
                <a:cs typeface="Graphik Bold" charset="0"/>
              </a:rPr>
              <a:t>LA EXPERIENCIA</a:t>
            </a: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A8BEF1D1-4D09-8342-B172-3532FF63EE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2850" y="0"/>
            <a:ext cx="539115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0C0B96CF-CA0B-ED41-96F3-450732094E96}"/>
              </a:ext>
            </a:extLst>
          </p:cNvPr>
          <p:cNvSpPr/>
          <p:nvPr/>
        </p:nvSpPr>
        <p:spPr>
          <a:xfrm>
            <a:off x="0" y="1"/>
            <a:ext cx="9144000" cy="5715000"/>
          </a:xfrm>
          <a:prstGeom prst="rect">
            <a:avLst/>
          </a:prstGeom>
          <a:solidFill>
            <a:srgbClr val="ED43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2804089-3F12-6449-9D27-679B956AE5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946969"/>
            <a:ext cx="2072213" cy="3898064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01491CC8-938D-664E-AE11-AF9FC580FCB6}"/>
              </a:ext>
            </a:extLst>
          </p:cNvPr>
          <p:cNvSpPr/>
          <p:nvPr/>
        </p:nvSpPr>
        <p:spPr>
          <a:xfrm>
            <a:off x="149817" y="3724759"/>
            <a:ext cx="1037633" cy="1069383"/>
          </a:xfrm>
          <a:prstGeom prst="rect">
            <a:avLst/>
          </a:prstGeom>
          <a:solidFill>
            <a:srgbClr val="ED43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56A9314-8498-F046-8C80-DA18349AFAD3}"/>
              </a:ext>
            </a:extLst>
          </p:cNvPr>
          <p:cNvSpPr txBox="1"/>
          <p:nvPr/>
        </p:nvSpPr>
        <p:spPr>
          <a:xfrm>
            <a:off x="2519363" y="2540738"/>
            <a:ext cx="4581728" cy="8125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80000"/>
              </a:lnSpc>
            </a:pPr>
            <a:r>
              <a:rPr lang="es-ES_tradnl" sz="3300" dirty="0">
                <a:solidFill>
                  <a:schemeClr val="bg1"/>
                </a:solidFill>
                <a:latin typeface="Graphik Regular" charset="0"/>
                <a:ea typeface="Graphik Regular" charset="0"/>
                <a:cs typeface="Graphik Regular" charset="0"/>
              </a:rPr>
              <a:t>INTRODUCCIÓN</a:t>
            </a:r>
          </a:p>
          <a:p>
            <a:pPr>
              <a:lnSpc>
                <a:spcPct val="80000"/>
              </a:lnSpc>
            </a:pPr>
            <a:r>
              <a:rPr lang="es-ES_tradnl" sz="3300" b="1" dirty="0">
                <a:solidFill>
                  <a:schemeClr val="bg1"/>
                </a:solidFill>
                <a:latin typeface="Graphik Bold" charset="0"/>
                <a:ea typeface="Graphik Bold" charset="0"/>
                <a:cs typeface="Graphik Bold" charset="0"/>
              </a:rPr>
              <a:t>DE LA SESIÓN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2AB3B8A-74E9-3D49-A825-FF4C4993C09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6000"/>
          </a:blip>
          <a:stretch>
            <a:fillRect/>
          </a:stretch>
        </p:blipFill>
        <p:spPr>
          <a:xfrm>
            <a:off x="334433" y="3817749"/>
            <a:ext cx="809264" cy="80926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39CEF6A-6F3D-1646-A7A7-35B9B5B80D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8619" y="2194222"/>
            <a:ext cx="202176" cy="20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429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5A2DE2C9-A72F-5547-A696-3EDBEC9A4446}"/>
              </a:ext>
            </a:extLst>
          </p:cNvPr>
          <p:cNvSpPr/>
          <p:nvPr/>
        </p:nvSpPr>
        <p:spPr>
          <a:xfrm>
            <a:off x="6918960" y="5364480"/>
            <a:ext cx="2133600" cy="2244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9EFFD2FB-410A-EA4C-8760-8F1565A97FB9}"/>
              </a:ext>
            </a:extLst>
          </p:cNvPr>
          <p:cNvSpPr txBox="1"/>
          <p:nvPr/>
        </p:nvSpPr>
        <p:spPr>
          <a:xfrm>
            <a:off x="1282299" y="918372"/>
            <a:ext cx="5200798" cy="6463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Durante esta sesión:</a:t>
            </a:r>
            <a:endParaRPr lang="es-PE" dirty="0">
              <a:solidFill>
                <a:schemeClr val="tx1"/>
              </a:solidFill>
            </a:endParaRPr>
          </a:p>
          <a:p>
            <a:pPr marL="177800" lvl="1" indent="-165100">
              <a:buClr>
                <a:srgbClr val="EE4639"/>
              </a:buClr>
              <a:buSzPct val="100000"/>
              <a:buFont typeface="Arial" charset="0"/>
              <a:buChar char="•"/>
              <a:tabLst>
                <a:tab pos="120650" algn="l"/>
              </a:tabLst>
            </a:pPr>
            <a:r>
              <a:rPr lang="es-PE" b="1" spc="-10" dirty="0">
                <a:solidFill>
                  <a:schemeClr val="tx1"/>
                </a:solidFill>
                <a:latin typeface="Calibri" charset="0"/>
                <a:cs typeface="Calibri" charset="0"/>
                <a:sym typeface="Calibri"/>
              </a:rPr>
              <a:t>Aplicarás</a:t>
            </a:r>
            <a:r>
              <a:rPr lang="es-PE" spc="-10" dirty="0">
                <a:solidFill>
                  <a:schemeClr val="tx1"/>
                </a:solidFill>
                <a:latin typeface="Calibri" charset="0"/>
                <a:cs typeface="Calibri" charset="0"/>
                <a:sym typeface="Calibri"/>
              </a:rPr>
              <a:t> la técnica de predicción de errores como complemento de las técnicas sistemáticas de pruebas.</a:t>
            </a:r>
            <a:endParaRPr lang="es-PE" spc="-10" dirty="0">
              <a:solidFill>
                <a:schemeClr val="tx1"/>
              </a:solidFill>
              <a:latin typeface="Calibri" charset="0"/>
              <a:cs typeface="Calibri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70095E9-07DB-684A-8A78-DB9230657B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839" y="954885"/>
            <a:ext cx="117851" cy="12136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A201C68-2FA3-BD4F-81F2-E1A8FA4024E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6661" y="3052731"/>
            <a:ext cx="1689027" cy="2181257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3FFFA4D2-44BC-0A48-A75C-7F28B7108810}"/>
              </a:ext>
            </a:extLst>
          </p:cNvPr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7912AF15-461F-CD4A-8CA7-2219B5FA8824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INTRODUCCIÓN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69F6D490-2B7E-2A4F-95A3-BB4BF6D07AAD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4F43EAF-BBA1-F149-97AE-314C0DACEAA2}"/>
              </a:ext>
            </a:extLst>
          </p:cNvPr>
          <p:cNvSpPr txBox="1"/>
          <p:nvPr/>
        </p:nvSpPr>
        <p:spPr>
          <a:xfrm>
            <a:off x="1008063" y="3169972"/>
            <a:ext cx="5993558" cy="7755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dirty="0">
                <a:solidFill>
                  <a:schemeClr val="bg1"/>
                </a:solidFill>
                <a:latin typeface="Graphik Regular" charset="0"/>
                <a:ea typeface="Graphik Regular" charset="0"/>
                <a:cs typeface="Graphik Regular" charset="0"/>
              </a:rPr>
              <a:t>PREDICCIÓN</a:t>
            </a:r>
            <a:br>
              <a:rPr lang="es-PE" sz="2800" b="1" dirty="0">
                <a:solidFill>
                  <a:schemeClr val="bg1"/>
                </a:solidFill>
                <a:latin typeface="Calibri"/>
                <a:cs typeface="Calibri"/>
              </a:rPr>
            </a:br>
            <a:r>
              <a:rPr lang="es-PE" sz="2800" b="1" dirty="0">
                <a:solidFill>
                  <a:schemeClr val="bg1"/>
                </a:solidFill>
                <a:latin typeface="Graphik Bold" charset="0"/>
                <a:ea typeface="Graphik Bold" charset="0"/>
                <a:cs typeface="Graphik Bold" charset="0"/>
              </a:rPr>
              <a:t>DE ERRORES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50CADBF-BFF5-034F-A4CA-725E73CBDD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063" y="2869612"/>
            <a:ext cx="195423" cy="2012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5">
            <a:extLst>
              <a:ext uri="{FF2B5EF4-FFF2-40B4-BE49-F238E27FC236}">
                <a16:creationId xmlns:a16="http://schemas.microsoft.com/office/drawing/2014/main" id="{63B5B9CC-D1F6-8247-883B-27438D75F522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PREDICCIÓN DE ERRORES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50" name="Grupo 49">
            <a:extLst>
              <a:ext uri="{FF2B5EF4-FFF2-40B4-BE49-F238E27FC236}">
                <a16:creationId xmlns:a16="http://schemas.microsoft.com/office/drawing/2014/main" id="{E4F7ED03-6571-6C49-906E-00D38FE74E87}"/>
              </a:ext>
            </a:extLst>
          </p:cNvPr>
          <p:cNvGrpSpPr/>
          <p:nvPr/>
        </p:nvGrpSpPr>
        <p:grpSpPr>
          <a:xfrm>
            <a:off x="825305" y="1010991"/>
            <a:ext cx="7493390" cy="4088087"/>
            <a:chOff x="757268" y="1145901"/>
            <a:chExt cx="7493390" cy="4088087"/>
          </a:xfrm>
        </p:grpSpPr>
        <p:cxnSp>
          <p:nvCxnSpPr>
            <p:cNvPr id="51" name="Google Shape;92;p4">
              <a:extLst>
                <a:ext uri="{FF2B5EF4-FFF2-40B4-BE49-F238E27FC236}">
                  <a16:creationId xmlns:a16="http://schemas.microsoft.com/office/drawing/2014/main" id="{13A76577-C594-424D-9E07-F3A9856BF6B8}"/>
                </a:ext>
              </a:extLst>
            </p:cNvPr>
            <p:cNvCxnSpPr/>
            <p:nvPr/>
          </p:nvCxnSpPr>
          <p:spPr>
            <a:xfrm>
              <a:off x="6602251" y="2680113"/>
              <a:ext cx="0" cy="2359698"/>
            </a:xfrm>
            <a:prstGeom prst="straightConnector1">
              <a:avLst/>
            </a:prstGeom>
            <a:noFill/>
            <a:ln w="25400" cap="flat" cmpd="sng">
              <a:solidFill>
                <a:srgbClr val="EE463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2" name="Google Shape;93;p4">
              <a:extLst>
                <a:ext uri="{FF2B5EF4-FFF2-40B4-BE49-F238E27FC236}">
                  <a16:creationId xmlns:a16="http://schemas.microsoft.com/office/drawing/2014/main" id="{0EC9A1A2-7C9E-2D41-B3B3-C25B1F2C5779}"/>
                </a:ext>
              </a:extLst>
            </p:cNvPr>
            <p:cNvCxnSpPr/>
            <p:nvPr/>
          </p:nvCxnSpPr>
          <p:spPr>
            <a:xfrm>
              <a:off x="6602251" y="3001561"/>
              <a:ext cx="227451" cy="0"/>
            </a:xfrm>
            <a:prstGeom prst="straightConnector1">
              <a:avLst/>
            </a:prstGeom>
            <a:noFill/>
            <a:ln w="25400" cap="flat" cmpd="sng">
              <a:solidFill>
                <a:srgbClr val="EE463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3" name="Google Shape;94;p4">
              <a:extLst>
                <a:ext uri="{FF2B5EF4-FFF2-40B4-BE49-F238E27FC236}">
                  <a16:creationId xmlns:a16="http://schemas.microsoft.com/office/drawing/2014/main" id="{C9EEBF54-3270-4944-8F3B-C9BC6A3B1508}"/>
                </a:ext>
              </a:extLst>
            </p:cNvPr>
            <p:cNvCxnSpPr/>
            <p:nvPr/>
          </p:nvCxnSpPr>
          <p:spPr>
            <a:xfrm>
              <a:off x="6602251" y="3511332"/>
              <a:ext cx="227451" cy="0"/>
            </a:xfrm>
            <a:prstGeom prst="straightConnector1">
              <a:avLst/>
            </a:prstGeom>
            <a:noFill/>
            <a:ln w="25400" cap="flat" cmpd="sng">
              <a:solidFill>
                <a:srgbClr val="EE463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4" name="Google Shape;95;p4">
              <a:extLst>
                <a:ext uri="{FF2B5EF4-FFF2-40B4-BE49-F238E27FC236}">
                  <a16:creationId xmlns:a16="http://schemas.microsoft.com/office/drawing/2014/main" id="{FFBDB586-3064-1F4A-8FBB-FC294F1DE528}"/>
                </a:ext>
              </a:extLst>
            </p:cNvPr>
            <p:cNvCxnSpPr/>
            <p:nvPr/>
          </p:nvCxnSpPr>
          <p:spPr>
            <a:xfrm>
              <a:off x="6602251" y="4024391"/>
              <a:ext cx="227451" cy="0"/>
            </a:xfrm>
            <a:prstGeom prst="straightConnector1">
              <a:avLst/>
            </a:prstGeom>
            <a:noFill/>
            <a:ln w="25400" cap="flat" cmpd="sng">
              <a:solidFill>
                <a:srgbClr val="EE463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2" name="Google Shape;96;p4">
              <a:extLst>
                <a:ext uri="{FF2B5EF4-FFF2-40B4-BE49-F238E27FC236}">
                  <a16:creationId xmlns:a16="http://schemas.microsoft.com/office/drawing/2014/main" id="{DBAE91CF-4DDB-C842-8AC0-FE395BC8320D}"/>
                </a:ext>
              </a:extLst>
            </p:cNvPr>
            <p:cNvCxnSpPr/>
            <p:nvPr/>
          </p:nvCxnSpPr>
          <p:spPr>
            <a:xfrm>
              <a:off x="6602251" y="4538155"/>
              <a:ext cx="227451" cy="0"/>
            </a:xfrm>
            <a:prstGeom prst="straightConnector1">
              <a:avLst/>
            </a:prstGeom>
            <a:noFill/>
            <a:ln w="25400" cap="flat" cmpd="sng">
              <a:solidFill>
                <a:srgbClr val="EE463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3" name="Google Shape;97;p4">
              <a:extLst>
                <a:ext uri="{FF2B5EF4-FFF2-40B4-BE49-F238E27FC236}">
                  <a16:creationId xmlns:a16="http://schemas.microsoft.com/office/drawing/2014/main" id="{6D856B7C-C282-BE46-8541-ABBB9D4969F3}"/>
                </a:ext>
              </a:extLst>
            </p:cNvPr>
            <p:cNvCxnSpPr/>
            <p:nvPr/>
          </p:nvCxnSpPr>
          <p:spPr>
            <a:xfrm>
              <a:off x="6602251" y="5028983"/>
              <a:ext cx="227451" cy="0"/>
            </a:xfrm>
            <a:prstGeom prst="straightConnector1">
              <a:avLst/>
            </a:prstGeom>
            <a:noFill/>
            <a:ln w="25400" cap="flat" cmpd="sng">
              <a:solidFill>
                <a:srgbClr val="EE463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4" name="Google Shape;84;p4">
              <a:extLst>
                <a:ext uri="{FF2B5EF4-FFF2-40B4-BE49-F238E27FC236}">
                  <a16:creationId xmlns:a16="http://schemas.microsoft.com/office/drawing/2014/main" id="{4701F5D5-DBEE-0448-A27E-8C2CB14BD1BA}"/>
                </a:ext>
              </a:extLst>
            </p:cNvPr>
            <p:cNvCxnSpPr/>
            <p:nvPr/>
          </p:nvCxnSpPr>
          <p:spPr>
            <a:xfrm>
              <a:off x="3055198" y="2668404"/>
              <a:ext cx="0" cy="1881775"/>
            </a:xfrm>
            <a:prstGeom prst="straightConnector1">
              <a:avLst/>
            </a:prstGeom>
            <a:noFill/>
            <a:ln w="25400" cap="flat" cmpd="sng">
              <a:solidFill>
                <a:srgbClr val="EE463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5" name="Google Shape;85;p4">
              <a:extLst>
                <a:ext uri="{FF2B5EF4-FFF2-40B4-BE49-F238E27FC236}">
                  <a16:creationId xmlns:a16="http://schemas.microsoft.com/office/drawing/2014/main" id="{1C19C91B-9483-2846-903B-225A82A71D87}"/>
                </a:ext>
              </a:extLst>
            </p:cNvPr>
            <p:cNvCxnSpPr/>
            <p:nvPr/>
          </p:nvCxnSpPr>
          <p:spPr>
            <a:xfrm>
              <a:off x="3055198" y="3514047"/>
              <a:ext cx="227451" cy="0"/>
            </a:xfrm>
            <a:prstGeom prst="straightConnector1">
              <a:avLst/>
            </a:prstGeom>
            <a:noFill/>
            <a:ln w="25400" cap="flat" cmpd="sng">
              <a:solidFill>
                <a:srgbClr val="EE463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6" name="Google Shape;86;p4">
              <a:extLst>
                <a:ext uri="{FF2B5EF4-FFF2-40B4-BE49-F238E27FC236}">
                  <a16:creationId xmlns:a16="http://schemas.microsoft.com/office/drawing/2014/main" id="{A8F1B871-46A6-9146-8F6E-D60FADB65FFE}"/>
                </a:ext>
              </a:extLst>
            </p:cNvPr>
            <p:cNvCxnSpPr/>
            <p:nvPr/>
          </p:nvCxnSpPr>
          <p:spPr>
            <a:xfrm>
              <a:off x="3055198" y="3001561"/>
              <a:ext cx="227451" cy="0"/>
            </a:xfrm>
            <a:prstGeom prst="straightConnector1">
              <a:avLst/>
            </a:prstGeom>
            <a:noFill/>
            <a:ln w="25400" cap="flat" cmpd="sng">
              <a:solidFill>
                <a:srgbClr val="EE463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7" name="Google Shape;87;p4">
              <a:extLst>
                <a:ext uri="{FF2B5EF4-FFF2-40B4-BE49-F238E27FC236}">
                  <a16:creationId xmlns:a16="http://schemas.microsoft.com/office/drawing/2014/main" id="{13E27C27-A2EB-5A4B-95D4-B379DB688B40}"/>
                </a:ext>
              </a:extLst>
            </p:cNvPr>
            <p:cNvCxnSpPr/>
            <p:nvPr/>
          </p:nvCxnSpPr>
          <p:spPr>
            <a:xfrm>
              <a:off x="3055198" y="4021103"/>
              <a:ext cx="227451" cy="0"/>
            </a:xfrm>
            <a:prstGeom prst="straightConnector1">
              <a:avLst/>
            </a:prstGeom>
            <a:noFill/>
            <a:ln w="25400" cap="flat" cmpd="sng">
              <a:solidFill>
                <a:srgbClr val="EE463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8" name="Google Shape;88;p4">
              <a:extLst>
                <a:ext uri="{FF2B5EF4-FFF2-40B4-BE49-F238E27FC236}">
                  <a16:creationId xmlns:a16="http://schemas.microsoft.com/office/drawing/2014/main" id="{7BD96A6F-5670-DF45-89E6-FCBE9E6A5492}"/>
                </a:ext>
              </a:extLst>
            </p:cNvPr>
            <p:cNvCxnSpPr/>
            <p:nvPr/>
          </p:nvCxnSpPr>
          <p:spPr>
            <a:xfrm>
              <a:off x="3055198" y="4540300"/>
              <a:ext cx="227451" cy="0"/>
            </a:xfrm>
            <a:prstGeom prst="straightConnector1">
              <a:avLst/>
            </a:prstGeom>
            <a:noFill/>
            <a:ln w="25400" cap="flat" cmpd="sng">
              <a:solidFill>
                <a:srgbClr val="EE463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9" name="Google Shape;55;p4">
              <a:extLst>
                <a:ext uri="{FF2B5EF4-FFF2-40B4-BE49-F238E27FC236}">
                  <a16:creationId xmlns:a16="http://schemas.microsoft.com/office/drawing/2014/main" id="{363399F1-61EA-204F-B006-60FDE49599FF}"/>
                </a:ext>
              </a:extLst>
            </p:cNvPr>
            <p:cNvCxnSpPr/>
            <p:nvPr/>
          </p:nvCxnSpPr>
          <p:spPr>
            <a:xfrm>
              <a:off x="4812071" y="2680113"/>
              <a:ext cx="0" cy="842928"/>
            </a:xfrm>
            <a:prstGeom prst="straightConnector1">
              <a:avLst/>
            </a:prstGeom>
            <a:noFill/>
            <a:ln w="25400" cap="flat" cmpd="sng">
              <a:solidFill>
                <a:srgbClr val="EE463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0" name="Google Shape;90;p4">
              <a:extLst>
                <a:ext uri="{FF2B5EF4-FFF2-40B4-BE49-F238E27FC236}">
                  <a16:creationId xmlns:a16="http://schemas.microsoft.com/office/drawing/2014/main" id="{7FC1BA08-1FC8-E044-B1A1-F80065B9A06A}"/>
                </a:ext>
              </a:extLst>
            </p:cNvPr>
            <p:cNvCxnSpPr/>
            <p:nvPr/>
          </p:nvCxnSpPr>
          <p:spPr>
            <a:xfrm>
              <a:off x="4812071" y="3001561"/>
              <a:ext cx="227451" cy="0"/>
            </a:xfrm>
            <a:prstGeom prst="straightConnector1">
              <a:avLst/>
            </a:prstGeom>
            <a:noFill/>
            <a:ln w="25400" cap="flat" cmpd="sng">
              <a:solidFill>
                <a:srgbClr val="EE463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1" name="Google Shape;91;p4">
              <a:extLst>
                <a:ext uri="{FF2B5EF4-FFF2-40B4-BE49-F238E27FC236}">
                  <a16:creationId xmlns:a16="http://schemas.microsoft.com/office/drawing/2014/main" id="{F8FA9BC4-127F-264D-A86A-E5DB25A027CD}"/>
                </a:ext>
              </a:extLst>
            </p:cNvPr>
            <p:cNvCxnSpPr/>
            <p:nvPr/>
          </p:nvCxnSpPr>
          <p:spPr>
            <a:xfrm>
              <a:off x="4812071" y="3511332"/>
              <a:ext cx="227451" cy="0"/>
            </a:xfrm>
            <a:prstGeom prst="straightConnector1">
              <a:avLst/>
            </a:prstGeom>
            <a:noFill/>
            <a:ln w="25400" cap="flat" cmpd="sng">
              <a:solidFill>
                <a:srgbClr val="EE4639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12" name="Forma libre 111">
              <a:extLst>
                <a:ext uri="{FF2B5EF4-FFF2-40B4-BE49-F238E27FC236}">
                  <a16:creationId xmlns:a16="http://schemas.microsoft.com/office/drawing/2014/main" id="{19677914-291A-BF4B-B00F-CD72FA25FA54}"/>
                </a:ext>
              </a:extLst>
            </p:cNvPr>
            <p:cNvSpPr/>
            <p:nvPr/>
          </p:nvSpPr>
          <p:spPr>
            <a:xfrm>
              <a:off x="796798" y="1976717"/>
              <a:ext cx="218455" cy="2573461"/>
            </a:xfrm>
            <a:custGeom>
              <a:avLst/>
              <a:gdLst>
                <a:gd name="connsiteX0" fmla="*/ 0 w 141194"/>
                <a:gd name="connsiteY0" fmla="*/ 0 h 2447364"/>
                <a:gd name="connsiteX1" fmla="*/ 0 w 141194"/>
                <a:gd name="connsiteY1" fmla="*/ 2447364 h 2447364"/>
                <a:gd name="connsiteX2" fmla="*/ 141194 w 141194"/>
                <a:gd name="connsiteY2" fmla="*/ 2447364 h 2447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1194" h="2447364">
                  <a:moveTo>
                    <a:pt x="0" y="0"/>
                  </a:moveTo>
                  <a:lnTo>
                    <a:pt x="0" y="2447364"/>
                  </a:lnTo>
                  <a:lnTo>
                    <a:pt x="141194" y="2447364"/>
                  </a:lnTo>
                </a:path>
              </a:pathLst>
            </a:custGeom>
            <a:noFill/>
            <a:ln>
              <a:solidFill>
                <a:srgbClr val="92C1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cxnSp>
          <p:nvCxnSpPr>
            <p:cNvPr id="113" name="Google Shape;77;p4">
              <a:extLst>
                <a:ext uri="{FF2B5EF4-FFF2-40B4-BE49-F238E27FC236}">
                  <a16:creationId xmlns:a16="http://schemas.microsoft.com/office/drawing/2014/main" id="{C5F6865D-F698-334A-B13C-3CC028480712}"/>
                </a:ext>
              </a:extLst>
            </p:cNvPr>
            <p:cNvCxnSpPr/>
            <p:nvPr/>
          </p:nvCxnSpPr>
          <p:spPr>
            <a:xfrm rot="10800000">
              <a:off x="3643823" y="1458924"/>
              <a:ext cx="0" cy="165383"/>
            </a:xfrm>
            <a:prstGeom prst="straightConnector1">
              <a:avLst/>
            </a:prstGeom>
            <a:noFill/>
            <a:ln w="25400" cap="flat" cmpd="sng">
              <a:solidFill>
                <a:srgbClr val="EE4639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14" name="Google Shape;57;p4">
              <a:extLst>
                <a:ext uri="{FF2B5EF4-FFF2-40B4-BE49-F238E27FC236}">
                  <a16:creationId xmlns:a16="http://schemas.microsoft.com/office/drawing/2014/main" id="{7E5A4350-BD71-6242-864C-92769827E44D}"/>
                </a:ext>
              </a:extLst>
            </p:cNvPr>
            <p:cNvSpPr/>
            <p:nvPr/>
          </p:nvSpPr>
          <p:spPr>
            <a:xfrm>
              <a:off x="757268" y="1720700"/>
              <a:ext cx="1398713" cy="388353"/>
            </a:xfrm>
            <a:prstGeom prst="roundRect">
              <a:avLst>
                <a:gd name="adj" fmla="val 16667"/>
              </a:avLst>
            </a:prstGeom>
            <a:solidFill>
              <a:srgbClr val="EE463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Estáticas</a:t>
              </a:r>
              <a:endParaRPr sz="1500"/>
            </a:p>
          </p:txBody>
        </p:sp>
        <p:sp>
          <p:nvSpPr>
            <p:cNvPr id="115" name="Google Shape;58;p4">
              <a:extLst>
                <a:ext uri="{FF2B5EF4-FFF2-40B4-BE49-F238E27FC236}">
                  <a16:creationId xmlns:a16="http://schemas.microsoft.com/office/drawing/2014/main" id="{D3AC72FB-7EEE-EE4B-8719-87F48973CAA2}"/>
                </a:ext>
              </a:extLst>
            </p:cNvPr>
            <p:cNvSpPr/>
            <p:nvPr/>
          </p:nvSpPr>
          <p:spPr>
            <a:xfrm>
              <a:off x="1017054" y="2297615"/>
              <a:ext cx="1398713" cy="388353"/>
            </a:xfrm>
            <a:prstGeom prst="roundRect">
              <a:avLst>
                <a:gd name="adj" fmla="val 16667"/>
              </a:avLst>
            </a:prstGeom>
            <a:solidFill>
              <a:srgbClr val="92C14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Revisiones</a:t>
              </a:r>
              <a:endParaRPr sz="1200"/>
            </a:p>
          </p:txBody>
        </p:sp>
        <p:sp>
          <p:nvSpPr>
            <p:cNvPr id="116" name="Google Shape;59;p4">
              <a:extLst>
                <a:ext uri="{FF2B5EF4-FFF2-40B4-BE49-F238E27FC236}">
                  <a16:creationId xmlns:a16="http://schemas.microsoft.com/office/drawing/2014/main" id="{BC543F7A-56C1-1944-A0C8-1880B80DCAC1}"/>
                </a:ext>
              </a:extLst>
            </p:cNvPr>
            <p:cNvSpPr/>
            <p:nvPr/>
          </p:nvSpPr>
          <p:spPr>
            <a:xfrm>
              <a:off x="1017054" y="2807386"/>
              <a:ext cx="1398713" cy="388353"/>
            </a:xfrm>
            <a:prstGeom prst="roundRect">
              <a:avLst>
                <a:gd name="adj" fmla="val 16667"/>
              </a:avLst>
            </a:prstGeom>
            <a:solidFill>
              <a:srgbClr val="92C14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Walkthoughs</a:t>
              </a:r>
              <a:endParaRPr sz="1200"/>
            </a:p>
          </p:txBody>
        </p:sp>
        <p:sp>
          <p:nvSpPr>
            <p:cNvPr id="117" name="Google Shape;60;p4">
              <a:extLst>
                <a:ext uri="{FF2B5EF4-FFF2-40B4-BE49-F238E27FC236}">
                  <a16:creationId xmlns:a16="http://schemas.microsoft.com/office/drawing/2014/main" id="{39F2496A-607C-6543-9D56-A240AB494431}"/>
                </a:ext>
              </a:extLst>
            </p:cNvPr>
            <p:cNvSpPr/>
            <p:nvPr/>
          </p:nvSpPr>
          <p:spPr>
            <a:xfrm>
              <a:off x="1017054" y="3317157"/>
              <a:ext cx="1398713" cy="388353"/>
            </a:xfrm>
            <a:prstGeom prst="roundRect">
              <a:avLst>
                <a:gd name="adj" fmla="val 16667"/>
              </a:avLst>
            </a:prstGeom>
            <a:solidFill>
              <a:srgbClr val="92C14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Revisión Técnica</a:t>
              </a:r>
              <a:endParaRPr sz="1200"/>
            </a:p>
          </p:txBody>
        </p:sp>
        <p:sp>
          <p:nvSpPr>
            <p:cNvPr id="118" name="Google Shape;61;p4">
              <a:extLst>
                <a:ext uri="{FF2B5EF4-FFF2-40B4-BE49-F238E27FC236}">
                  <a16:creationId xmlns:a16="http://schemas.microsoft.com/office/drawing/2014/main" id="{00CF7473-6FFA-BC40-9D8B-2EAC4A33A6F8}"/>
                </a:ext>
              </a:extLst>
            </p:cNvPr>
            <p:cNvSpPr/>
            <p:nvPr/>
          </p:nvSpPr>
          <p:spPr>
            <a:xfrm>
              <a:off x="1017054" y="3826928"/>
              <a:ext cx="1398713" cy="388353"/>
            </a:xfrm>
            <a:prstGeom prst="roundRect">
              <a:avLst>
                <a:gd name="adj" fmla="val 16667"/>
              </a:avLst>
            </a:prstGeom>
            <a:solidFill>
              <a:srgbClr val="92C14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Inspección</a:t>
              </a:r>
              <a:endParaRPr sz="1200"/>
            </a:p>
          </p:txBody>
        </p:sp>
        <p:sp>
          <p:nvSpPr>
            <p:cNvPr id="119" name="Google Shape;62;p4">
              <a:extLst>
                <a:ext uri="{FF2B5EF4-FFF2-40B4-BE49-F238E27FC236}">
                  <a16:creationId xmlns:a16="http://schemas.microsoft.com/office/drawing/2014/main" id="{EF798CD4-7FEE-394E-AF81-F3192FF6C271}"/>
                </a:ext>
              </a:extLst>
            </p:cNvPr>
            <p:cNvSpPr/>
            <p:nvPr/>
          </p:nvSpPr>
          <p:spPr>
            <a:xfrm>
              <a:off x="1017054" y="4336698"/>
              <a:ext cx="1398713" cy="388353"/>
            </a:xfrm>
            <a:prstGeom prst="roundRect">
              <a:avLst>
                <a:gd name="adj" fmla="val 16667"/>
              </a:avLst>
            </a:prstGeom>
            <a:solidFill>
              <a:srgbClr val="92C14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Análisis Estático</a:t>
              </a:r>
              <a:endParaRPr sz="1200"/>
            </a:p>
          </p:txBody>
        </p:sp>
        <p:sp>
          <p:nvSpPr>
            <p:cNvPr id="120" name="Google Shape;63;p4">
              <a:extLst>
                <a:ext uri="{FF2B5EF4-FFF2-40B4-BE49-F238E27FC236}">
                  <a16:creationId xmlns:a16="http://schemas.microsoft.com/office/drawing/2014/main" id="{E78BE4C9-30FD-7F44-A08C-C315172B3A4C}"/>
                </a:ext>
              </a:extLst>
            </p:cNvPr>
            <p:cNvSpPr/>
            <p:nvPr/>
          </p:nvSpPr>
          <p:spPr>
            <a:xfrm>
              <a:off x="4768014" y="2297614"/>
              <a:ext cx="1398713" cy="388353"/>
            </a:xfrm>
            <a:prstGeom prst="roundRect">
              <a:avLst>
                <a:gd name="adj" fmla="val 16667"/>
              </a:avLst>
            </a:prstGeom>
            <a:solidFill>
              <a:srgbClr val="7150A0"/>
            </a:solidFill>
            <a:ln w="28575" cap="flat" cmpd="sng">
              <a:solidFill>
                <a:srgbClr val="67529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Experiencia</a:t>
              </a:r>
              <a:endParaRPr sz="1500"/>
            </a:p>
          </p:txBody>
        </p:sp>
        <p:sp>
          <p:nvSpPr>
            <p:cNvPr id="121" name="Google Shape;65;p4">
              <a:extLst>
                <a:ext uri="{FF2B5EF4-FFF2-40B4-BE49-F238E27FC236}">
                  <a16:creationId xmlns:a16="http://schemas.microsoft.com/office/drawing/2014/main" id="{2E3EB355-FF7B-8F40-98B8-77460DD58B61}"/>
                </a:ext>
              </a:extLst>
            </p:cNvPr>
            <p:cNvSpPr/>
            <p:nvPr/>
          </p:nvSpPr>
          <p:spPr>
            <a:xfrm>
              <a:off x="3174844" y="2807386"/>
              <a:ext cx="1476377" cy="388353"/>
            </a:xfrm>
            <a:prstGeom prst="roundRect">
              <a:avLst>
                <a:gd name="adj" fmla="val 16667"/>
              </a:avLst>
            </a:prstGeom>
            <a:solidFill>
              <a:srgbClr val="FFD8D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20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Sentencias</a:t>
              </a:r>
              <a:endParaRPr sz="1200">
                <a:solidFill>
                  <a:schemeClr val="tx1"/>
                </a:solidFill>
              </a:endParaRPr>
            </a:p>
          </p:txBody>
        </p:sp>
        <p:sp>
          <p:nvSpPr>
            <p:cNvPr id="122" name="Google Shape;66;p4">
              <a:extLst>
                <a:ext uri="{FF2B5EF4-FFF2-40B4-BE49-F238E27FC236}">
                  <a16:creationId xmlns:a16="http://schemas.microsoft.com/office/drawing/2014/main" id="{1189A945-CBCC-D74A-834F-E9E3E8A7ECA7}"/>
                </a:ext>
              </a:extLst>
            </p:cNvPr>
            <p:cNvSpPr/>
            <p:nvPr/>
          </p:nvSpPr>
          <p:spPr>
            <a:xfrm>
              <a:off x="3174844" y="3317156"/>
              <a:ext cx="1476377" cy="388353"/>
            </a:xfrm>
            <a:prstGeom prst="roundRect">
              <a:avLst>
                <a:gd name="adj" fmla="val 16667"/>
              </a:avLst>
            </a:prstGeom>
            <a:solidFill>
              <a:srgbClr val="FFD8D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20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Decisión</a:t>
              </a:r>
              <a:endParaRPr sz="1200">
                <a:solidFill>
                  <a:schemeClr val="tx1"/>
                </a:solidFill>
              </a:endParaRPr>
            </a:p>
          </p:txBody>
        </p:sp>
        <p:sp>
          <p:nvSpPr>
            <p:cNvPr id="123" name="Google Shape;67;p4">
              <a:extLst>
                <a:ext uri="{FF2B5EF4-FFF2-40B4-BE49-F238E27FC236}">
                  <a16:creationId xmlns:a16="http://schemas.microsoft.com/office/drawing/2014/main" id="{5B93C043-D1EC-904B-BCC8-BFEA6D99D856}"/>
                </a:ext>
              </a:extLst>
            </p:cNvPr>
            <p:cNvSpPr/>
            <p:nvPr/>
          </p:nvSpPr>
          <p:spPr>
            <a:xfrm>
              <a:off x="3174844" y="3826927"/>
              <a:ext cx="1476377" cy="388353"/>
            </a:xfrm>
            <a:prstGeom prst="roundRect">
              <a:avLst>
                <a:gd name="adj" fmla="val 16667"/>
              </a:avLst>
            </a:prstGeom>
            <a:solidFill>
              <a:srgbClr val="FFD8D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20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Condición</a:t>
              </a:r>
              <a:endParaRPr sz="1200">
                <a:solidFill>
                  <a:schemeClr val="tx1"/>
                </a:solidFill>
              </a:endParaRPr>
            </a:p>
          </p:txBody>
        </p:sp>
        <p:sp>
          <p:nvSpPr>
            <p:cNvPr id="124" name="Google Shape;68;p4">
              <a:extLst>
                <a:ext uri="{FF2B5EF4-FFF2-40B4-BE49-F238E27FC236}">
                  <a16:creationId xmlns:a16="http://schemas.microsoft.com/office/drawing/2014/main" id="{E2C42154-B77E-0F41-A6E9-E5006E1C947C}"/>
                </a:ext>
              </a:extLst>
            </p:cNvPr>
            <p:cNvSpPr/>
            <p:nvPr/>
          </p:nvSpPr>
          <p:spPr>
            <a:xfrm>
              <a:off x="3174843" y="4336281"/>
              <a:ext cx="1476378" cy="388353"/>
            </a:xfrm>
            <a:prstGeom prst="roundRect">
              <a:avLst>
                <a:gd name="adj" fmla="val 16667"/>
              </a:avLst>
            </a:prstGeom>
            <a:solidFill>
              <a:srgbClr val="FFD8D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20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Múltiple Condición</a:t>
              </a:r>
              <a:endParaRPr sz="1200">
                <a:solidFill>
                  <a:schemeClr val="tx1"/>
                </a:solidFill>
              </a:endParaRPr>
            </a:p>
          </p:txBody>
        </p:sp>
        <p:sp>
          <p:nvSpPr>
            <p:cNvPr id="125" name="Google Shape;69;p4">
              <a:extLst>
                <a:ext uri="{FF2B5EF4-FFF2-40B4-BE49-F238E27FC236}">
                  <a16:creationId xmlns:a16="http://schemas.microsoft.com/office/drawing/2014/main" id="{6D34FB08-C79E-6844-8145-F76D5E2DA1AD}"/>
                </a:ext>
              </a:extLst>
            </p:cNvPr>
            <p:cNvSpPr/>
            <p:nvPr/>
          </p:nvSpPr>
          <p:spPr>
            <a:xfrm>
              <a:off x="4953846" y="2807386"/>
              <a:ext cx="1476377" cy="388353"/>
            </a:xfrm>
            <a:prstGeom prst="roundRect">
              <a:avLst>
                <a:gd name="adj" fmla="val 16667"/>
              </a:avLst>
            </a:prstGeom>
            <a:solidFill>
              <a:srgbClr val="FFD8D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20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Adivinar Errores</a:t>
              </a:r>
              <a:endParaRPr sz="1200">
                <a:solidFill>
                  <a:schemeClr val="tx1"/>
                </a:solidFill>
              </a:endParaRPr>
            </a:p>
          </p:txBody>
        </p:sp>
        <p:sp>
          <p:nvSpPr>
            <p:cNvPr id="126" name="Google Shape;70;p4">
              <a:extLst>
                <a:ext uri="{FF2B5EF4-FFF2-40B4-BE49-F238E27FC236}">
                  <a16:creationId xmlns:a16="http://schemas.microsoft.com/office/drawing/2014/main" id="{092E317F-A39E-7D49-8780-581ECCC06F65}"/>
                </a:ext>
              </a:extLst>
            </p:cNvPr>
            <p:cNvSpPr/>
            <p:nvPr/>
          </p:nvSpPr>
          <p:spPr>
            <a:xfrm>
              <a:off x="4953846" y="3317156"/>
              <a:ext cx="1476377" cy="388353"/>
            </a:xfrm>
            <a:prstGeom prst="roundRect">
              <a:avLst>
                <a:gd name="adj" fmla="val 16667"/>
              </a:avLst>
            </a:prstGeom>
            <a:solidFill>
              <a:srgbClr val="FFD8D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20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Prueba Exploratoria</a:t>
              </a:r>
              <a:endParaRPr sz="1200">
                <a:solidFill>
                  <a:schemeClr val="tx1"/>
                </a:solidFill>
              </a:endParaRPr>
            </a:p>
          </p:txBody>
        </p:sp>
        <p:sp>
          <p:nvSpPr>
            <p:cNvPr id="127" name="Google Shape;71;p4">
              <a:extLst>
                <a:ext uri="{FF2B5EF4-FFF2-40B4-BE49-F238E27FC236}">
                  <a16:creationId xmlns:a16="http://schemas.microsoft.com/office/drawing/2014/main" id="{39DF56EE-C81F-974C-8BE9-5487D4462C31}"/>
                </a:ext>
              </a:extLst>
            </p:cNvPr>
            <p:cNvSpPr/>
            <p:nvPr/>
          </p:nvSpPr>
          <p:spPr>
            <a:xfrm>
              <a:off x="6774281" y="2806969"/>
              <a:ext cx="1476377" cy="388770"/>
            </a:xfrm>
            <a:prstGeom prst="roundRect">
              <a:avLst>
                <a:gd name="adj" fmla="val 16667"/>
              </a:avLst>
            </a:prstGeom>
            <a:solidFill>
              <a:srgbClr val="FFD8D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200" dirty="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Participación de Equivalencia</a:t>
              </a:r>
              <a:endParaRPr sz="1200" dirty="0">
                <a:solidFill>
                  <a:schemeClr val="tx1"/>
                </a:solidFill>
              </a:endParaRPr>
            </a:p>
          </p:txBody>
        </p:sp>
        <p:sp>
          <p:nvSpPr>
            <p:cNvPr id="128" name="Google Shape;72;p4">
              <a:extLst>
                <a:ext uri="{FF2B5EF4-FFF2-40B4-BE49-F238E27FC236}">
                  <a16:creationId xmlns:a16="http://schemas.microsoft.com/office/drawing/2014/main" id="{55573224-72CF-194D-8C47-206BBFF82176}"/>
                </a:ext>
              </a:extLst>
            </p:cNvPr>
            <p:cNvSpPr/>
            <p:nvPr/>
          </p:nvSpPr>
          <p:spPr>
            <a:xfrm>
              <a:off x="6774281" y="3305912"/>
              <a:ext cx="1476377" cy="399597"/>
            </a:xfrm>
            <a:prstGeom prst="roundRect">
              <a:avLst>
                <a:gd name="adj" fmla="val 16667"/>
              </a:avLst>
            </a:prstGeom>
            <a:solidFill>
              <a:srgbClr val="FFD8D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20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Análisis de Valores de Frontera</a:t>
              </a:r>
              <a:endParaRPr sz="1200">
                <a:solidFill>
                  <a:schemeClr val="tx1"/>
                </a:solidFill>
              </a:endParaRPr>
            </a:p>
          </p:txBody>
        </p:sp>
        <p:sp>
          <p:nvSpPr>
            <p:cNvPr id="129" name="Google Shape;73;p4">
              <a:extLst>
                <a:ext uri="{FF2B5EF4-FFF2-40B4-BE49-F238E27FC236}">
                  <a16:creationId xmlns:a16="http://schemas.microsoft.com/office/drawing/2014/main" id="{8DB047B8-E05A-E24C-A7CA-ECA1AFEC2D8F}"/>
                </a:ext>
              </a:extLst>
            </p:cNvPr>
            <p:cNvSpPr/>
            <p:nvPr/>
          </p:nvSpPr>
          <p:spPr>
            <a:xfrm>
              <a:off x="6774281" y="3826927"/>
              <a:ext cx="1476377" cy="388353"/>
            </a:xfrm>
            <a:prstGeom prst="roundRect">
              <a:avLst>
                <a:gd name="adj" fmla="val 16667"/>
              </a:avLst>
            </a:prstGeom>
            <a:solidFill>
              <a:srgbClr val="FFD8D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20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Tablas de Decisión</a:t>
              </a:r>
              <a:endParaRPr sz="1200">
                <a:solidFill>
                  <a:schemeClr val="tx1"/>
                </a:solidFill>
              </a:endParaRPr>
            </a:p>
          </p:txBody>
        </p:sp>
        <p:sp>
          <p:nvSpPr>
            <p:cNvPr id="130" name="Google Shape;74;p4">
              <a:extLst>
                <a:ext uri="{FF2B5EF4-FFF2-40B4-BE49-F238E27FC236}">
                  <a16:creationId xmlns:a16="http://schemas.microsoft.com/office/drawing/2014/main" id="{934242C5-6298-A645-894D-26BCC8598AE0}"/>
                </a:ext>
              </a:extLst>
            </p:cNvPr>
            <p:cNvSpPr/>
            <p:nvPr/>
          </p:nvSpPr>
          <p:spPr>
            <a:xfrm>
              <a:off x="6774280" y="4336281"/>
              <a:ext cx="1476378" cy="388353"/>
            </a:xfrm>
            <a:prstGeom prst="roundRect">
              <a:avLst>
                <a:gd name="adj" fmla="val 16667"/>
              </a:avLst>
            </a:prstGeom>
            <a:solidFill>
              <a:srgbClr val="FFD8D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20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Estados de Transición</a:t>
              </a:r>
              <a:endParaRPr sz="1200">
                <a:solidFill>
                  <a:schemeClr val="tx1"/>
                </a:solidFill>
              </a:endParaRPr>
            </a:p>
          </p:txBody>
        </p:sp>
        <p:sp>
          <p:nvSpPr>
            <p:cNvPr id="131" name="Google Shape;75;p4">
              <a:extLst>
                <a:ext uri="{FF2B5EF4-FFF2-40B4-BE49-F238E27FC236}">
                  <a16:creationId xmlns:a16="http://schemas.microsoft.com/office/drawing/2014/main" id="{B34E8B73-DD13-9147-8C53-3FD6ED1095C0}"/>
                </a:ext>
              </a:extLst>
            </p:cNvPr>
            <p:cNvSpPr/>
            <p:nvPr/>
          </p:nvSpPr>
          <p:spPr>
            <a:xfrm>
              <a:off x="6774280" y="4845635"/>
              <a:ext cx="1476378" cy="388353"/>
            </a:xfrm>
            <a:prstGeom prst="roundRect">
              <a:avLst>
                <a:gd name="adj" fmla="val 16667"/>
              </a:avLst>
            </a:prstGeom>
            <a:solidFill>
              <a:srgbClr val="FFD8D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20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Casos de Usos</a:t>
              </a:r>
              <a:endParaRPr sz="1200">
                <a:solidFill>
                  <a:schemeClr val="tx1"/>
                </a:solidFill>
              </a:endParaRPr>
            </a:p>
          </p:txBody>
        </p:sp>
        <p:cxnSp>
          <p:nvCxnSpPr>
            <p:cNvPr id="132" name="Google Shape;80;p4">
              <a:extLst>
                <a:ext uri="{FF2B5EF4-FFF2-40B4-BE49-F238E27FC236}">
                  <a16:creationId xmlns:a16="http://schemas.microsoft.com/office/drawing/2014/main" id="{F968E7FC-30B5-5742-AB5D-CCCEF4E1CA9C}"/>
                </a:ext>
              </a:extLst>
            </p:cNvPr>
            <p:cNvCxnSpPr/>
            <p:nvPr/>
          </p:nvCxnSpPr>
          <p:spPr>
            <a:xfrm>
              <a:off x="796798" y="4021103"/>
              <a:ext cx="227451" cy="0"/>
            </a:xfrm>
            <a:prstGeom prst="straightConnector1">
              <a:avLst/>
            </a:prstGeom>
            <a:noFill/>
            <a:ln w="25400" cap="flat" cmpd="sng">
              <a:solidFill>
                <a:srgbClr val="92C14E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3" name="Google Shape;81;p4">
              <a:extLst>
                <a:ext uri="{FF2B5EF4-FFF2-40B4-BE49-F238E27FC236}">
                  <a16:creationId xmlns:a16="http://schemas.microsoft.com/office/drawing/2014/main" id="{DCCE80E9-EF44-6E49-B931-32F9DC350D9D}"/>
                </a:ext>
              </a:extLst>
            </p:cNvPr>
            <p:cNvCxnSpPr/>
            <p:nvPr/>
          </p:nvCxnSpPr>
          <p:spPr>
            <a:xfrm>
              <a:off x="796798" y="3511332"/>
              <a:ext cx="227451" cy="0"/>
            </a:xfrm>
            <a:prstGeom prst="straightConnector1">
              <a:avLst/>
            </a:prstGeom>
            <a:noFill/>
            <a:ln w="25400" cap="flat" cmpd="sng">
              <a:solidFill>
                <a:srgbClr val="92C14E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4" name="Google Shape;82;p4">
              <a:extLst>
                <a:ext uri="{FF2B5EF4-FFF2-40B4-BE49-F238E27FC236}">
                  <a16:creationId xmlns:a16="http://schemas.microsoft.com/office/drawing/2014/main" id="{EA05D0FF-259E-4D44-922B-0C74DA4291DB}"/>
                </a:ext>
              </a:extLst>
            </p:cNvPr>
            <p:cNvCxnSpPr/>
            <p:nvPr/>
          </p:nvCxnSpPr>
          <p:spPr>
            <a:xfrm>
              <a:off x="796798" y="3004276"/>
              <a:ext cx="227451" cy="0"/>
            </a:xfrm>
            <a:prstGeom prst="straightConnector1">
              <a:avLst/>
            </a:prstGeom>
            <a:noFill/>
            <a:ln w="25400" cap="flat" cmpd="sng">
              <a:solidFill>
                <a:srgbClr val="92C14E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5" name="Google Shape;83;p4">
              <a:extLst>
                <a:ext uri="{FF2B5EF4-FFF2-40B4-BE49-F238E27FC236}">
                  <a16:creationId xmlns:a16="http://schemas.microsoft.com/office/drawing/2014/main" id="{A00F69F5-6810-C14A-A03F-A4E419C75E73}"/>
                </a:ext>
              </a:extLst>
            </p:cNvPr>
            <p:cNvCxnSpPr/>
            <p:nvPr/>
          </p:nvCxnSpPr>
          <p:spPr>
            <a:xfrm>
              <a:off x="796798" y="2491790"/>
              <a:ext cx="227451" cy="0"/>
            </a:xfrm>
            <a:prstGeom prst="straightConnector1">
              <a:avLst/>
            </a:prstGeom>
            <a:noFill/>
            <a:ln w="25400" cap="flat" cmpd="sng">
              <a:solidFill>
                <a:srgbClr val="92C14E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6" name="Google Shape;99;p4">
              <a:extLst>
                <a:ext uri="{FF2B5EF4-FFF2-40B4-BE49-F238E27FC236}">
                  <a16:creationId xmlns:a16="http://schemas.microsoft.com/office/drawing/2014/main" id="{5E3BA252-E3B8-BD4F-A9EC-60A3200A5D61}"/>
                </a:ext>
              </a:extLst>
            </p:cNvPr>
            <p:cNvCxnSpPr/>
            <p:nvPr/>
          </p:nvCxnSpPr>
          <p:spPr>
            <a:xfrm rot="10800000">
              <a:off x="5519112" y="2048081"/>
              <a:ext cx="0" cy="152477"/>
            </a:xfrm>
            <a:prstGeom prst="straightConnector1">
              <a:avLst/>
            </a:prstGeom>
            <a:noFill/>
            <a:ln w="25400" cap="flat" cmpd="sng">
              <a:solidFill>
                <a:srgbClr val="92C14E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37" name="Google Shape;100;p4">
              <a:extLst>
                <a:ext uri="{FF2B5EF4-FFF2-40B4-BE49-F238E27FC236}">
                  <a16:creationId xmlns:a16="http://schemas.microsoft.com/office/drawing/2014/main" id="{80CB63D5-A817-4449-BB65-AACA6866F3B9}"/>
                </a:ext>
              </a:extLst>
            </p:cNvPr>
            <p:cNvSpPr/>
            <p:nvPr/>
          </p:nvSpPr>
          <p:spPr>
            <a:xfrm>
              <a:off x="4839520" y="1726176"/>
              <a:ext cx="1359182" cy="388353"/>
            </a:xfrm>
            <a:prstGeom prst="roundRect">
              <a:avLst>
                <a:gd name="adj" fmla="val 16667"/>
              </a:avLst>
            </a:prstGeom>
            <a:solidFill>
              <a:srgbClr val="EE463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Dinámicas</a:t>
              </a:r>
              <a:endParaRPr sz="1500"/>
            </a:p>
          </p:txBody>
        </p:sp>
        <p:grpSp>
          <p:nvGrpSpPr>
            <p:cNvPr id="138" name="Grupo 137">
              <a:extLst>
                <a:ext uri="{FF2B5EF4-FFF2-40B4-BE49-F238E27FC236}">
                  <a16:creationId xmlns:a16="http://schemas.microsoft.com/office/drawing/2014/main" id="{F37222C9-066D-AC4F-B1B6-034BF4E634B8}"/>
                </a:ext>
              </a:extLst>
            </p:cNvPr>
            <p:cNvGrpSpPr/>
            <p:nvPr/>
          </p:nvGrpSpPr>
          <p:grpSpPr>
            <a:xfrm>
              <a:off x="2415767" y="1145901"/>
              <a:ext cx="2438589" cy="379672"/>
              <a:chOff x="287221" y="917244"/>
              <a:chExt cx="2980979" cy="500394"/>
            </a:xfrm>
          </p:grpSpPr>
          <p:sp>
            <p:nvSpPr>
              <p:cNvPr id="143" name="Rectángulo redondeado 142">
                <a:extLst>
                  <a:ext uri="{FF2B5EF4-FFF2-40B4-BE49-F238E27FC236}">
                    <a16:creationId xmlns:a16="http://schemas.microsoft.com/office/drawing/2014/main" id="{EF51705E-D1DF-6B43-8D5F-D1E97F7C4A54}"/>
                  </a:ext>
                </a:extLst>
              </p:cNvPr>
              <p:cNvSpPr/>
              <p:nvPr/>
            </p:nvSpPr>
            <p:spPr>
              <a:xfrm>
                <a:off x="503237" y="917244"/>
                <a:ext cx="2764963" cy="500394"/>
              </a:xfrm>
              <a:prstGeom prst="roundRect">
                <a:avLst>
                  <a:gd name="adj" fmla="val 24841"/>
                </a:avLst>
              </a:prstGeom>
              <a:solidFill>
                <a:srgbClr val="00B1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PE" sz="1300" b="1" dirty="0">
                    <a:solidFill>
                      <a:schemeClr val="lt1"/>
                    </a:solidFill>
                    <a:latin typeface="Calibri" charset="0"/>
                    <a:ea typeface="+mn-ea"/>
                    <a:cs typeface="Calibri" charset="0"/>
                    <a:sym typeface="Calibri"/>
                  </a:rPr>
                  <a:t>Técnicas de Pruebas</a:t>
                </a:r>
                <a:endParaRPr lang="es-PE" sz="1300" b="1" dirty="0">
                  <a:solidFill>
                    <a:schemeClr val="lt1"/>
                  </a:solidFill>
                  <a:latin typeface="Calibri" charset="0"/>
                  <a:ea typeface="+mn-ea"/>
                  <a:cs typeface="Calibri" charset="0"/>
                </a:endParaRPr>
              </a:p>
            </p:txBody>
          </p:sp>
          <p:grpSp>
            <p:nvGrpSpPr>
              <p:cNvPr id="144" name="Agrupar 14">
                <a:extLst>
                  <a:ext uri="{FF2B5EF4-FFF2-40B4-BE49-F238E27FC236}">
                    <a16:creationId xmlns:a16="http://schemas.microsoft.com/office/drawing/2014/main" id="{A1B13E52-D2F0-AB4A-845E-C96E0DE98745}"/>
                  </a:ext>
                </a:extLst>
              </p:cNvPr>
              <p:cNvGrpSpPr/>
              <p:nvPr/>
            </p:nvGrpSpPr>
            <p:grpSpPr>
              <a:xfrm>
                <a:off x="287221" y="965530"/>
                <a:ext cx="459474" cy="403823"/>
                <a:chOff x="5892512" y="2805541"/>
                <a:chExt cx="459474" cy="403823"/>
              </a:xfrm>
            </p:grpSpPr>
            <p:sp>
              <p:nvSpPr>
                <p:cNvPr id="145" name="Elipse 144">
                  <a:extLst>
                    <a:ext uri="{FF2B5EF4-FFF2-40B4-BE49-F238E27FC236}">
                      <a16:creationId xmlns:a16="http://schemas.microsoft.com/office/drawing/2014/main" id="{B8B97C22-C63E-D045-BB13-7DBD0CA4032D}"/>
                    </a:ext>
                  </a:extLst>
                </p:cNvPr>
                <p:cNvSpPr/>
                <p:nvPr/>
              </p:nvSpPr>
              <p:spPr>
                <a:xfrm>
                  <a:off x="5956277" y="2824919"/>
                  <a:ext cx="395709" cy="376075"/>
                </a:xfrm>
                <a:prstGeom prst="ellipse">
                  <a:avLst/>
                </a:prstGeom>
                <a:solidFill>
                  <a:srgbClr val="0792A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 sz="1300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146" name="Elipse 145">
                  <a:extLst>
                    <a:ext uri="{FF2B5EF4-FFF2-40B4-BE49-F238E27FC236}">
                      <a16:creationId xmlns:a16="http://schemas.microsoft.com/office/drawing/2014/main" id="{E4EED17A-8D1E-D84D-B3BB-5A59940EB3F5}"/>
                    </a:ext>
                  </a:extLst>
                </p:cNvPr>
                <p:cNvSpPr/>
                <p:nvPr/>
              </p:nvSpPr>
              <p:spPr>
                <a:xfrm>
                  <a:off x="5892512" y="2805541"/>
                  <a:ext cx="424906" cy="40382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 sz="1300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147" name="Triángulo 146">
                  <a:extLst>
                    <a:ext uri="{FF2B5EF4-FFF2-40B4-BE49-F238E27FC236}">
                      <a16:creationId xmlns:a16="http://schemas.microsoft.com/office/drawing/2014/main" id="{3BAFA022-D81E-0640-B3F9-9571BC550E87}"/>
                    </a:ext>
                  </a:extLst>
                </p:cNvPr>
                <p:cNvSpPr/>
                <p:nvPr/>
              </p:nvSpPr>
              <p:spPr>
                <a:xfrm rot="5400000">
                  <a:off x="6076285" y="2946262"/>
                  <a:ext cx="186870" cy="122381"/>
                </a:xfrm>
                <a:prstGeom prst="triangle">
                  <a:avLst/>
                </a:prstGeom>
                <a:solidFill>
                  <a:srgbClr val="00B1C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 sz="1300" dirty="0">
                    <a:latin typeface="Calibri" panose="020F0502020204030204" pitchFamily="34" charset="0"/>
                  </a:endParaRPr>
                </a:p>
              </p:txBody>
            </p:sp>
          </p:grpSp>
        </p:grpSp>
        <p:sp>
          <p:nvSpPr>
            <p:cNvPr id="139" name="Forma libre 138">
              <a:extLst>
                <a:ext uri="{FF2B5EF4-FFF2-40B4-BE49-F238E27FC236}">
                  <a16:creationId xmlns:a16="http://schemas.microsoft.com/office/drawing/2014/main" id="{A7800492-33D3-D64C-95C9-09C0C5475FBC}"/>
                </a:ext>
              </a:extLst>
            </p:cNvPr>
            <p:cNvSpPr/>
            <p:nvPr/>
          </p:nvSpPr>
          <p:spPr>
            <a:xfrm>
              <a:off x="1387744" y="1624480"/>
              <a:ext cx="4191165" cy="110258"/>
            </a:xfrm>
            <a:custGeom>
              <a:avLst/>
              <a:gdLst>
                <a:gd name="connsiteX0" fmla="*/ 0 w 4229100"/>
                <a:gd name="connsiteY0" fmla="*/ 121023 h 134470"/>
                <a:gd name="connsiteX1" fmla="*/ 0 w 4229100"/>
                <a:gd name="connsiteY1" fmla="*/ 0 h 134470"/>
                <a:gd name="connsiteX2" fmla="*/ 4229100 w 4229100"/>
                <a:gd name="connsiteY2" fmla="*/ 0 h 134470"/>
                <a:gd name="connsiteX3" fmla="*/ 4229100 w 4229100"/>
                <a:gd name="connsiteY3" fmla="*/ 134470 h 13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29100" h="134470">
                  <a:moveTo>
                    <a:pt x="0" y="121023"/>
                  </a:moveTo>
                  <a:lnTo>
                    <a:pt x="0" y="0"/>
                  </a:lnTo>
                  <a:lnTo>
                    <a:pt x="4229100" y="0"/>
                  </a:lnTo>
                  <a:lnTo>
                    <a:pt x="4229100" y="134470"/>
                  </a:lnTo>
                </a:path>
              </a:pathLst>
            </a:custGeom>
            <a:noFill/>
            <a:ln>
              <a:solidFill>
                <a:srgbClr val="EE463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40" name="Forma libre 139">
              <a:extLst>
                <a:ext uri="{FF2B5EF4-FFF2-40B4-BE49-F238E27FC236}">
                  <a16:creationId xmlns:a16="http://schemas.microsoft.com/office/drawing/2014/main" id="{83DC7202-B365-3A49-82CD-7D4D52A19EAF}"/>
                </a:ext>
              </a:extLst>
            </p:cNvPr>
            <p:cNvSpPr/>
            <p:nvPr/>
          </p:nvSpPr>
          <p:spPr>
            <a:xfrm>
              <a:off x="3622945" y="2200212"/>
              <a:ext cx="3641456" cy="115929"/>
            </a:xfrm>
            <a:custGeom>
              <a:avLst/>
              <a:gdLst>
                <a:gd name="connsiteX0" fmla="*/ 0 w 4229100"/>
                <a:gd name="connsiteY0" fmla="*/ 121023 h 134470"/>
                <a:gd name="connsiteX1" fmla="*/ 0 w 4229100"/>
                <a:gd name="connsiteY1" fmla="*/ 0 h 134470"/>
                <a:gd name="connsiteX2" fmla="*/ 4229100 w 4229100"/>
                <a:gd name="connsiteY2" fmla="*/ 0 h 134470"/>
                <a:gd name="connsiteX3" fmla="*/ 4229100 w 4229100"/>
                <a:gd name="connsiteY3" fmla="*/ 134470 h 13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29100" h="134470">
                  <a:moveTo>
                    <a:pt x="0" y="121023"/>
                  </a:moveTo>
                  <a:lnTo>
                    <a:pt x="0" y="0"/>
                  </a:lnTo>
                  <a:lnTo>
                    <a:pt x="4229100" y="0"/>
                  </a:lnTo>
                  <a:lnTo>
                    <a:pt x="4229100" y="134470"/>
                  </a:lnTo>
                </a:path>
              </a:pathLst>
            </a:custGeom>
            <a:noFill/>
            <a:ln>
              <a:solidFill>
                <a:srgbClr val="92C1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41" name="Google Shape;64;p4">
              <a:extLst>
                <a:ext uri="{FF2B5EF4-FFF2-40B4-BE49-F238E27FC236}">
                  <a16:creationId xmlns:a16="http://schemas.microsoft.com/office/drawing/2014/main" id="{E53933ED-6E0C-554C-AE15-3470FCD1F9ED}"/>
                </a:ext>
              </a:extLst>
            </p:cNvPr>
            <p:cNvSpPr/>
            <p:nvPr/>
          </p:nvSpPr>
          <p:spPr>
            <a:xfrm>
              <a:off x="6561162" y="2297615"/>
              <a:ext cx="1565765" cy="388353"/>
            </a:xfrm>
            <a:prstGeom prst="roundRect">
              <a:avLst>
                <a:gd name="adj" fmla="val 16667"/>
              </a:avLst>
            </a:prstGeom>
            <a:solidFill>
              <a:srgbClr val="808799"/>
            </a:solidFill>
            <a:ln w="28575" cap="flat" cmpd="sng">
              <a:solidFill>
                <a:srgbClr val="8087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5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Especificaciones</a:t>
              </a:r>
              <a:endParaRPr sz="1500" dirty="0"/>
            </a:p>
          </p:txBody>
        </p:sp>
        <p:sp>
          <p:nvSpPr>
            <p:cNvPr id="142" name="Google Shape;89;p4">
              <a:extLst>
                <a:ext uri="{FF2B5EF4-FFF2-40B4-BE49-F238E27FC236}">
                  <a16:creationId xmlns:a16="http://schemas.microsoft.com/office/drawing/2014/main" id="{E4877165-7CFD-8F41-8A6C-309549989A08}"/>
                </a:ext>
              </a:extLst>
            </p:cNvPr>
            <p:cNvSpPr/>
            <p:nvPr/>
          </p:nvSpPr>
          <p:spPr>
            <a:xfrm>
              <a:off x="3018921" y="2297614"/>
              <a:ext cx="1398713" cy="388353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rgbClr val="00B1C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Estructura</a:t>
              </a:r>
              <a:endParaRPr sz="150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"/>
          <p:cNvSpPr/>
          <p:nvPr/>
        </p:nvSpPr>
        <p:spPr>
          <a:xfrm>
            <a:off x="496202" y="919825"/>
            <a:ext cx="3491182" cy="303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s-PE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TÉCNICAS BASADAS EN LA EXPERIENCIA</a:t>
            </a:r>
            <a:endParaRPr dirty="0"/>
          </a:p>
          <a:p>
            <a:pPr marL="177800" marR="0" lvl="0" indent="-165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Práctica para la creación de casos de prueba sin un claro enfoque metodológico, basada en la intuición y experiencia del probador.</a:t>
            </a:r>
            <a:endParaRPr dirty="0"/>
          </a:p>
          <a:p>
            <a:pPr marL="177800" marR="0" lvl="0" indent="-165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65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casos de prueba se basan en la Intuición y experiencia.</a:t>
            </a:r>
            <a:endParaRPr dirty="0"/>
          </a:p>
          <a:p>
            <a:pPr marL="357188" marR="0" lvl="1" indent="-17938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¿Dónde se han acumulado defectos en el pasado?</a:t>
            </a:r>
            <a:endParaRPr dirty="0"/>
          </a:p>
          <a:p>
            <a:pPr marL="357188" marR="0" lvl="1" indent="-17938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¿Dónde falla el software con frecuencia?</a:t>
            </a:r>
            <a:endParaRPr dirty="0"/>
          </a:p>
        </p:txBody>
      </p:sp>
      <p:sp>
        <p:nvSpPr>
          <p:cNvPr id="109" name="Google Shape;109;p5"/>
          <p:cNvSpPr txBox="1"/>
          <p:nvPr/>
        </p:nvSpPr>
        <p:spPr>
          <a:xfrm>
            <a:off x="684213" y="4125712"/>
            <a:ext cx="1617133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qdoc.tips</a:t>
            </a:r>
            <a:endParaRPr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F748F7-8684-3040-94C3-59D297CF19C5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PREDICCIÓN DE ERRORES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681D60B0-3A26-7E41-B538-E8F09F118D6B}"/>
              </a:ext>
            </a:extLst>
          </p:cNvPr>
          <p:cNvGrpSpPr/>
          <p:nvPr/>
        </p:nvGrpSpPr>
        <p:grpSpPr>
          <a:xfrm>
            <a:off x="4506666" y="912811"/>
            <a:ext cx="4387873" cy="3826072"/>
            <a:chOff x="4495342" y="1196642"/>
            <a:chExt cx="4387873" cy="3826072"/>
          </a:xfrm>
        </p:grpSpPr>
        <p:sp>
          <p:nvSpPr>
            <p:cNvPr id="8" name="Rectángulo redondeado 7">
              <a:extLst>
                <a:ext uri="{FF2B5EF4-FFF2-40B4-BE49-F238E27FC236}">
                  <a16:creationId xmlns:a16="http://schemas.microsoft.com/office/drawing/2014/main" id="{CAACF4D1-72B2-2A41-8F86-C83E3F71F36D}"/>
                </a:ext>
              </a:extLst>
            </p:cNvPr>
            <p:cNvSpPr/>
            <p:nvPr/>
          </p:nvSpPr>
          <p:spPr>
            <a:xfrm>
              <a:off x="6058568" y="2928157"/>
              <a:ext cx="2617034" cy="944388"/>
            </a:xfrm>
            <a:prstGeom prst="roundRect">
              <a:avLst>
                <a:gd name="adj" fmla="val 9953"/>
              </a:avLst>
            </a:prstGeom>
            <a:solidFill>
              <a:schemeClr val="bg1"/>
            </a:solidFill>
            <a:ln>
              <a:solidFill>
                <a:srgbClr val="8087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2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Cobertura de sentencia</a:t>
              </a:r>
              <a:endParaRPr lang="es-PE" sz="1200" dirty="0"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2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Cobertura de rama </a:t>
              </a:r>
              <a:endParaRPr lang="es-PE" sz="1200" dirty="0"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2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Cobertura de condición </a:t>
              </a:r>
              <a:endParaRPr lang="es-PE" sz="1200" dirty="0"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2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Cobertura de camino</a:t>
              </a:r>
              <a:endParaRPr lang="es-PE" sz="1200" b="1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9" name="Rectángulo redondeado 8">
              <a:extLst>
                <a:ext uri="{FF2B5EF4-FFF2-40B4-BE49-F238E27FC236}">
                  <a16:creationId xmlns:a16="http://schemas.microsoft.com/office/drawing/2014/main" id="{A525D431-4A0A-6647-AA6E-568979F1ADEF}"/>
                </a:ext>
              </a:extLst>
            </p:cNvPr>
            <p:cNvSpPr/>
            <p:nvPr/>
          </p:nvSpPr>
          <p:spPr>
            <a:xfrm rot="16200000">
              <a:off x="5142329" y="1648855"/>
              <a:ext cx="1239543" cy="335122"/>
            </a:xfrm>
            <a:prstGeom prst="roundRect">
              <a:avLst>
                <a:gd name="adj" fmla="val 18663"/>
              </a:avLst>
            </a:prstGeom>
            <a:solidFill>
              <a:schemeClr val="bg1"/>
            </a:solidFill>
            <a:ln>
              <a:solidFill>
                <a:srgbClr val="8087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2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Caja negra</a:t>
              </a:r>
              <a:endParaRPr lang="es-PE" sz="1200" dirty="0"/>
            </a:p>
          </p:txBody>
        </p:sp>
        <p:sp>
          <p:nvSpPr>
            <p:cNvPr id="10" name="Google Shape;148;p6">
              <a:extLst>
                <a:ext uri="{FF2B5EF4-FFF2-40B4-BE49-F238E27FC236}">
                  <a16:creationId xmlns:a16="http://schemas.microsoft.com/office/drawing/2014/main" id="{44848B4C-4649-BC42-AF41-1D2D9A2F1E21}"/>
                </a:ext>
              </a:extLst>
            </p:cNvPr>
            <p:cNvSpPr/>
            <p:nvPr/>
          </p:nvSpPr>
          <p:spPr>
            <a:xfrm>
              <a:off x="6058881" y="1243662"/>
              <a:ext cx="2824334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" name="Rectángulo redondeado 10">
              <a:extLst>
                <a:ext uri="{FF2B5EF4-FFF2-40B4-BE49-F238E27FC236}">
                  <a16:creationId xmlns:a16="http://schemas.microsoft.com/office/drawing/2014/main" id="{A8E408A8-04DC-F740-BF3B-48130C79DF37}"/>
                </a:ext>
              </a:extLst>
            </p:cNvPr>
            <p:cNvSpPr/>
            <p:nvPr/>
          </p:nvSpPr>
          <p:spPr>
            <a:xfrm>
              <a:off x="6058568" y="1203656"/>
              <a:ext cx="2617034" cy="1232708"/>
            </a:xfrm>
            <a:prstGeom prst="roundRect">
              <a:avLst>
                <a:gd name="adj" fmla="val 9953"/>
              </a:avLst>
            </a:prstGeom>
            <a:solidFill>
              <a:schemeClr val="bg1"/>
            </a:solidFill>
            <a:ln>
              <a:solidFill>
                <a:srgbClr val="8087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2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Clases de equivalencia</a:t>
              </a:r>
              <a:endParaRPr lang="es-PE" sz="1200" dirty="0"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2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Análisis de valores límite</a:t>
              </a:r>
              <a:endParaRPr lang="es-PE" sz="1200" dirty="0"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2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Pruebas de transición de estado</a:t>
              </a:r>
              <a:endParaRPr lang="es-PE" sz="1200" dirty="0"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2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Tablas de decisión </a:t>
              </a:r>
              <a:endParaRPr lang="es-PE" sz="1200" dirty="0"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2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Pruebas basadas en el caso de uso</a:t>
              </a:r>
              <a:endParaRPr lang="es-PE" sz="1200" b="1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12" name="Rectángulo redondeado 11">
              <a:extLst>
                <a:ext uri="{FF2B5EF4-FFF2-40B4-BE49-F238E27FC236}">
                  <a16:creationId xmlns:a16="http://schemas.microsoft.com/office/drawing/2014/main" id="{9495E76C-7369-B948-AD92-32EBFF0AA60B}"/>
                </a:ext>
              </a:extLst>
            </p:cNvPr>
            <p:cNvSpPr/>
            <p:nvPr/>
          </p:nvSpPr>
          <p:spPr>
            <a:xfrm rot="16200000">
              <a:off x="5279168" y="3223724"/>
              <a:ext cx="965868" cy="335122"/>
            </a:xfrm>
            <a:prstGeom prst="roundRect">
              <a:avLst>
                <a:gd name="adj" fmla="val 18663"/>
              </a:avLst>
            </a:prstGeom>
            <a:solidFill>
              <a:schemeClr val="bg1"/>
            </a:solidFill>
            <a:ln>
              <a:solidFill>
                <a:srgbClr val="8087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2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Caja blanca</a:t>
              </a:r>
              <a:endParaRPr lang="es-PE" sz="1200" dirty="0"/>
            </a:p>
          </p:txBody>
        </p:sp>
        <p:sp>
          <p:nvSpPr>
            <p:cNvPr id="13" name="Rectángulo redondeado 12">
              <a:extLst>
                <a:ext uri="{FF2B5EF4-FFF2-40B4-BE49-F238E27FC236}">
                  <a16:creationId xmlns:a16="http://schemas.microsoft.com/office/drawing/2014/main" id="{EC5343FD-07DA-4D4B-91A2-333CFD161013}"/>
                </a:ext>
              </a:extLst>
            </p:cNvPr>
            <p:cNvSpPr/>
            <p:nvPr/>
          </p:nvSpPr>
          <p:spPr>
            <a:xfrm>
              <a:off x="5602758" y="2512075"/>
              <a:ext cx="3072843" cy="335122"/>
            </a:xfrm>
            <a:prstGeom prst="roundRect">
              <a:avLst>
                <a:gd name="adj" fmla="val 18663"/>
              </a:avLst>
            </a:prstGeom>
            <a:solidFill>
              <a:srgbClr val="FDC212"/>
            </a:solidFill>
            <a:ln>
              <a:solidFill>
                <a:srgbClr val="8087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2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Técnicas basadas en la experiencia</a:t>
              </a:r>
              <a:endParaRPr lang="es-PE" sz="1200" dirty="0"/>
            </a:p>
          </p:txBody>
        </p:sp>
        <p:sp>
          <p:nvSpPr>
            <p:cNvPr id="14" name="Rectángulo redondeado 13">
              <a:extLst>
                <a:ext uri="{FF2B5EF4-FFF2-40B4-BE49-F238E27FC236}">
                  <a16:creationId xmlns:a16="http://schemas.microsoft.com/office/drawing/2014/main" id="{EEFCE775-ACF5-BD4E-8A04-8277E86BC5C6}"/>
                </a:ext>
              </a:extLst>
            </p:cNvPr>
            <p:cNvSpPr/>
            <p:nvPr/>
          </p:nvSpPr>
          <p:spPr>
            <a:xfrm>
              <a:off x="6058568" y="3956322"/>
              <a:ext cx="2617120" cy="1060333"/>
            </a:xfrm>
            <a:prstGeom prst="roundRect">
              <a:avLst>
                <a:gd name="adj" fmla="val 10888"/>
              </a:avLst>
            </a:prstGeom>
            <a:solidFill>
              <a:schemeClr val="bg1"/>
            </a:solidFill>
            <a:ln>
              <a:solidFill>
                <a:srgbClr val="8087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2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Revisiones / ensayo</a:t>
              </a:r>
              <a:endParaRPr lang="es-PE" sz="1200" dirty="0"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2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Análisis de flujo de control</a:t>
              </a:r>
              <a:endParaRPr lang="es-PE" sz="1200" dirty="0"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2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Análisis de flujo de datos</a:t>
              </a:r>
              <a:endParaRPr lang="es-PE" sz="1200" dirty="0"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2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Métricas de compilador / analizador</a:t>
              </a:r>
            </a:p>
          </p:txBody>
        </p:sp>
        <p:sp>
          <p:nvSpPr>
            <p:cNvPr id="15" name="Rectángulo redondeado 14">
              <a:extLst>
                <a:ext uri="{FF2B5EF4-FFF2-40B4-BE49-F238E27FC236}">
                  <a16:creationId xmlns:a16="http://schemas.microsoft.com/office/drawing/2014/main" id="{1A72BC92-C07E-AA48-8B6D-5D194D5A00D2}"/>
                </a:ext>
              </a:extLst>
            </p:cNvPr>
            <p:cNvSpPr/>
            <p:nvPr/>
          </p:nvSpPr>
          <p:spPr>
            <a:xfrm rot="16200000">
              <a:off x="3914584" y="2323871"/>
              <a:ext cx="2675901" cy="421446"/>
            </a:xfrm>
            <a:prstGeom prst="roundRect">
              <a:avLst>
                <a:gd name="adj" fmla="val 18663"/>
              </a:avLst>
            </a:prstGeom>
            <a:solidFill>
              <a:schemeClr val="bg1"/>
            </a:solidFill>
            <a:ln>
              <a:solidFill>
                <a:srgbClr val="8087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2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Dinámico</a:t>
              </a:r>
              <a:endParaRPr lang="es-PE" sz="1200" dirty="0"/>
            </a:p>
          </p:txBody>
        </p:sp>
        <p:sp>
          <p:nvSpPr>
            <p:cNvPr id="16" name="Rectángulo redondeado 15">
              <a:extLst>
                <a:ext uri="{FF2B5EF4-FFF2-40B4-BE49-F238E27FC236}">
                  <a16:creationId xmlns:a16="http://schemas.microsoft.com/office/drawing/2014/main" id="{45CF9BBF-E6F7-4645-9CBE-F4B843465B5E}"/>
                </a:ext>
              </a:extLst>
            </p:cNvPr>
            <p:cNvSpPr/>
            <p:nvPr/>
          </p:nvSpPr>
          <p:spPr>
            <a:xfrm rot="16200000">
              <a:off x="4949511" y="4042563"/>
              <a:ext cx="1072452" cy="887850"/>
            </a:xfrm>
            <a:prstGeom prst="roundRect">
              <a:avLst>
                <a:gd name="adj" fmla="val 10221"/>
              </a:avLst>
            </a:prstGeom>
            <a:solidFill>
              <a:schemeClr val="bg1"/>
            </a:solidFill>
            <a:ln>
              <a:solidFill>
                <a:srgbClr val="8087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2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Estático</a:t>
              </a:r>
              <a:endParaRPr lang="es-PE" sz="1200" dirty="0"/>
            </a:p>
          </p:txBody>
        </p:sp>
        <p:sp>
          <p:nvSpPr>
            <p:cNvPr id="17" name="Rectángulo redondeado 16">
              <a:extLst>
                <a:ext uri="{FF2B5EF4-FFF2-40B4-BE49-F238E27FC236}">
                  <a16:creationId xmlns:a16="http://schemas.microsoft.com/office/drawing/2014/main" id="{4951543C-9555-2C43-89F7-41DEB3B1AAAC}"/>
                </a:ext>
              </a:extLst>
            </p:cNvPr>
            <p:cNvSpPr/>
            <p:nvPr/>
          </p:nvSpPr>
          <p:spPr>
            <a:xfrm rot="16200000">
              <a:off x="2796059" y="2895925"/>
              <a:ext cx="3820011" cy="421446"/>
            </a:xfrm>
            <a:prstGeom prst="roundRect">
              <a:avLst>
                <a:gd name="adj" fmla="val 18663"/>
              </a:avLst>
            </a:prstGeom>
            <a:solidFill>
              <a:schemeClr val="bg1"/>
            </a:solidFill>
            <a:ln>
              <a:solidFill>
                <a:srgbClr val="8087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2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QA Analítico</a:t>
              </a:r>
              <a:endParaRPr lang="es-PE" sz="1200" dirty="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/>
          <p:nvPr/>
        </p:nvSpPr>
        <p:spPr>
          <a:xfrm>
            <a:off x="503238" y="912813"/>
            <a:ext cx="8201868" cy="3539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s-PE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TÉCNICAS BASADAS EN LA EXPERIENCIA</a:t>
            </a:r>
            <a:endParaRPr dirty="0"/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pruebas basadas en la experiencia también se denominan pruebas intuitivas e incluyen: </a:t>
            </a:r>
            <a:endParaRPr dirty="0"/>
          </a:p>
          <a:p>
            <a:pPr marL="357188" marR="0" lvl="1" indent="-17938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Predicción de errores </a:t>
            </a:r>
            <a:endParaRPr dirty="0"/>
          </a:p>
          <a:p>
            <a:pPr marL="357188" marR="0" lvl="1" indent="-17938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Pruebas exploratorias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Principalmente, se aplica con el objeto de complementar otros casos de prueba generados con mayor formalismo.</a:t>
            </a:r>
            <a:endParaRPr dirty="0"/>
          </a:p>
          <a:p>
            <a:pPr marL="357188" marR="0" lvl="1" indent="-17938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cumple los criterios de un proceso de pruebas sistemático.</a:t>
            </a:r>
            <a:endParaRPr dirty="0"/>
          </a:p>
          <a:p>
            <a:pPr marL="357188" marR="0" lvl="1" indent="-17938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Frecuentemente, produce casos de prueba adicionales que no podrían ser creados con otras prácticas, por ejemplo:</a:t>
            </a:r>
            <a:endParaRPr dirty="0"/>
          </a:p>
          <a:p>
            <a:pPr marL="536575" marR="0" lvl="2" indent="-17938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Problemas conocidos del pasado.</a:t>
            </a:r>
            <a:endParaRPr dirty="0"/>
          </a:p>
          <a:p>
            <a:pPr marL="536575" marR="0" lvl="2" indent="-17938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Conjuntos vacíos en valores de entrada.</a:t>
            </a:r>
            <a:endParaRPr dirty="0"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tester debe tener experiencia y conocimientos aplicables.</a:t>
            </a:r>
            <a:endParaRPr dirty="0"/>
          </a:p>
        </p:txBody>
      </p:sp>
      <p:sp>
        <p:nvSpPr>
          <p:cNvPr id="116" name="Google Shape;116;p6"/>
          <p:cNvSpPr txBox="1"/>
          <p:nvPr/>
        </p:nvSpPr>
        <p:spPr>
          <a:xfrm>
            <a:off x="684213" y="4580610"/>
            <a:ext cx="1008921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qdoc.tips</a:t>
            </a:r>
            <a:endParaRPr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30A0F09-1B46-B143-B00A-0A30F091A67C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PREDICCIÓN DE ERRORES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"/>
          <p:cNvSpPr/>
          <p:nvPr/>
        </p:nvSpPr>
        <p:spPr>
          <a:xfrm>
            <a:off x="503238" y="912813"/>
            <a:ext cx="3889375" cy="2800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s-PE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PRUEBAS EXPLORATORIAS</a:t>
            </a:r>
            <a:endParaRPr dirty="0"/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 un procedimiento de diseño de casos de prueba especialmente apropiado cuando la información base se encuentra poco estructurada.</a:t>
            </a:r>
            <a:endParaRPr dirty="0"/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Pruebas iterativas basadas en el conocimiento adquirido sobre el sistema.</a:t>
            </a:r>
            <a:endParaRPr dirty="0"/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También es útil cuando el tiempo disponible para pruebas es escaso.</a:t>
            </a:r>
            <a:endParaRPr dirty="0"/>
          </a:p>
        </p:txBody>
      </p:sp>
      <p:sp>
        <p:nvSpPr>
          <p:cNvPr id="124" name="Google Shape;124;p7"/>
          <p:cNvSpPr txBox="1"/>
          <p:nvPr/>
        </p:nvSpPr>
        <p:spPr>
          <a:xfrm>
            <a:off x="684213" y="3884342"/>
            <a:ext cx="911485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qdoc.tips</a:t>
            </a:r>
            <a:endParaRPr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9EF004D-69BB-924A-A196-2F29D3CA5924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PREDICCIÓN DE ERRORES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D7F8E04-4CDD-6A4F-8E85-FAC5B606C7C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51388" y="912812"/>
            <a:ext cx="4392612" cy="43211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"/>
          <p:cNvSpPr/>
          <p:nvPr/>
        </p:nvSpPr>
        <p:spPr>
          <a:xfrm>
            <a:off x="503238" y="912813"/>
            <a:ext cx="7410758" cy="569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s-PE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PRUEBAS EXPLORATORIAS</a:t>
            </a:r>
            <a:endParaRPr dirty="0"/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Procedimiento:</a:t>
            </a:r>
            <a:endParaRPr dirty="0"/>
          </a:p>
        </p:txBody>
      </p:sp>
      <p:sp>
        <p:nvSpPr>
          <p:cNvPr id="132" name="Google Shape;132;p8"/>
          <p:cNvSpPr txBox="1"/>
          <p:nvPr/>
        </p:nvSpPr>
        <p:spPr>
          <a:xfrm>
            <a:off x="684213" y="4958620"/>
            <a:ext cx="3708400" cy="152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qdoc.tips</a:t>
            </a:r>
            <a:endParaRPr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17E232F-637D-744B-9058-FD3053FF0E57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PREDICCIÓN DE ERRORES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5EA2B19-7A11-D149-817D-B3B9F1340E9E}"/>
              </a:ext>
            </a:extLst>
          </p:cNvPr>
          <p:cNvSpPr/>
          <p:nvPr/>
        </p:nvSpPr>
        <p:spPr>
          <a:xfrm>
            <a:off x="950427" y="1629277"/>
            <a:ext cx="6469701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r>
              <a:rPr lang="es-PE"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Revisar las partes constituyentes (individuales / identificables) del objeto de prueba.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FC9CA490-8223-B24A-9584-00E8519BA464}"/>
              </a:ext>
            </a:extLst>
          </p:cNvPr>
          <p:cNvCxnSpPr>
            <a:cxnSpLocks/>
          </p:cNvCxnSpPr>
          <p:nvPr/>
        </p:nvCxnSpPr>
        <p:spPr>
          <a:xfrm>
            <a:off x="736026" y="1832147"/>
            <a:ext cx="0" cy="243991"/>
          </a:xfrm>
          <a:prstGeom prst="line">
            <a:avLst/>
          </a:prstGeom>
          <a:ln w="12700">
            <a:solidFill>
              <a:srgbClr val="EE46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ángulo 9">
            <a:extLst>
              <a:ext uri="{FF2B5EF4-FFF2-40B4-BE49-F238E27FC236}">
                <a16:creationId xmlns:a16="http://schemas.microsoft.com/office/drawing/2014/main" id="{8B62DE60-EAAB-E643-90A7-790760E7D4F8}"/>
              </a:ext>
            </a:extLst>
          </p:cNvPr>
          <p:cNvSpPr/>
          <p:nvPr/>
        </p:nvSpPr>
        <p:spPr>
          <a:xfrm>
            <a:off x="950427" y="2076138"/>
            <a:ext cx="6851953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r>
              <a:rPr lang="es-PE"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Ejecutar un número reducido de casos de prueba, exclusivamente sobre aquellas partes que deben ser probadas, aplicando predicción de errores (error guessing).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74444E3-A293-0C42-89BA-CEA9F890C12B}"/>
              </a:ext>
            </a:extLst>
          </p:cNvPr>
          <p:cNvSpPr/>
          <p:nvPr/>
        </p:nvSpPr>
        <p:spPr>
          <a:xfrm>
            <a:off x="950427" y="2669819"/>
            <a:ext cx="7279173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r>
              <a:rPr lang="es-PE"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Analizar los resultados, desarrollar un modelo preliminar (rough model) de cómo funciona el objeto de prueba.</a:t>
            </a:r>
          </a:p>
        </p:txBody>
      </p:sp>
      <p:sp>
        <p:nvSpPr>
          <p:cNvPr id="12" name="Más 11">
            <a:extLst>
              <a:ext uri="{FF2B5EF4-FFF2-40B4-BE49-F238E27FC236}">
                <a16:creationId xmlns:a16="http://schemas.microsoft.com/office/drawing/2014/main" id="{B0404512-21EA-8B40-99FF-1BAE8E088303}"/>
              </a:ext>
            </a:extLst>
          </p:cNvPr>
          <p:cNvSpPr/>
          <p:nvPr/>
        </p:nvSpPr>
        <p:spPr>
          <a:xfrm>
            <a:off x="659684" y="1639049"/>
            <a:ext cx="152683" cy="152683"/>
          </a:xfrm>
          <a:prstGeom prst="mathPlus">
            <a:avLst>
              <a:gd name="adj1" fmla="val 15202"/>
            </a:avLst>
          </a:prstGeom>
          <a:solidFill>
            <a:srgbClr val="EE46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D158E9BF-1CA1-2D44-8BCD-F7B1CFC877EA}"/>
              </a:ext>
            </a:extLst>
          </p:cNvPr>
          <p:cNvCxnSpPr>
            <a:cxnSpLocks/>
          </p:cNvCxnSpPr>
          <p:nvPr/>
        </p:nvCxnSpPr>
        <p:spPr>
          <a:xfrm>
            <a:off x="736026" y="2269775"/>
            <a:ext cx="0" cy="375989"/>
          </a:xfrm>
          <a:prstGeom prst="line">
            <a:avLst/>
          </a:prstGeom>
          <a:ln w="12700">
            <a:solidFill>
              <a:srgbClr val="EE46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Más 13">
            <a:extLst>
              <a:ext uri="{FF2B5EF4-FFF2-40B4-BE49-F238E27FC236}">
                <a16:creationId xmlns:a16="http://schemas.microsoft.com/office/drawing/2014/main" id="{50D61057-CC80-9344-88FB-43BB849E7A75}"/>
              </a:ext>
            </a:extLst>
          </p:cNvPr>
          <p:cNvSpPr/>
          <p:nvPr/>
        </p:nvSpPr>
        <p:spPr>
          <a:xfrm>
            <a:off x="659684" y="2087026"/>
            <a:ext cx="152683" cy="152683"/>
          </a:xfrm>
          <a:prstGeom prst="mathPlus">
            <a:avLst>
              <a:gd name="adj1" fmla="val 15202"/>
            </a:avLst>
          </a:prstGeom>
          <a:solidFill>
            <a:srgbClr val="EE46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15" name="Más 14">
            <a:extLst>
              <a:ext uri="{FF2B5EF4-FFF2-40B4-BE49-F238E27FC236}">
                <a16:creationId xmlns:a16="http://schemas.microsoft.com/office/drawing/2014/main" id="{25AD8DAC-6EB3-B64D-B7A0-B64CA211854A}"/>
              </a:ext>
            </a:extLst>
          </p:cNvPr>
          <p:cNvSpPr/>
          <p:nvPr/>
        </p:nvSpPr>
        <p:spPr>
          <a:xfrm>
            <a:off x="659684" y="2669819"/>
            <a:ext cx="152683" cy="152683"/>
          </a:xfrm>
          <a:prstGeom prst="mathPlus">
            <a:avLst>
              <a:gd name="adj1" fmla="val 15202"/>
            </a:avLst>
          </a:prstGeom>
          <a:solidFill>
            <a:srgbClr val="EE46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3DE7ED47-54F5-444E-B8C3-7C2771293BAB}"/>
              </a:ext>
            </a:extLst>
          </p:cNvPr>
          <p:cNvSpPr/>
          <p:nvPr/>
        </p:nvSpPr>
        <p:spPr>
          <a:xfrm>
            <a:off x="950427" y="3224455"/>
            <a:ext cx="7279173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r>
              <a:rPr lang="es-PE"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Iteración: Diseñar nuevos objetos de prueba aplicando el conocimiento adquirido recientemente.</a:t>
            </a:r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218DAEBA-27AF-B941-8645-0CB3BA1F5D4E}"/>
              </a:ext>
            </a:extLst>
          </p:cNvPr>
          <p:cNvCxnSpPr>
            <a:cxnSpLocks/>
          </p:cNvCxnSpPr>
          <p:nvPr/>
        </p:nvCxnSpPr>
        <p:spPr>
          <a:xfrm>
            <a:off x="736026" y="2824411"/>
            <a:ext cx="0" cy="375989"/>
          </a:xfrm>
          <a:prstGeom prst="line">
            <a:avLst/>
          </a:prstGeom>
          <a:ln w="12700">
            <a:solidFill>
              <a:srgbClr val="EE46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Más 19">
            <a:extLst>
              <a:ext uri="{FF2B5EF4-FFF2-40B4-BE49-F238E27FC236}">
                <a16:creationId xmlns:a16="http://schemas.microsoft.com/office/drawing/2014/main" id="{57A169FE-B3D5-2040-9EDA-5CDA099EA142}"/>
              </a:ext>
            </a:extLst>
          </p:cNvPr>
          <p:cNvSpPr/>
          <p:nvPr/>
        </p:nvSpPr>
        <p:spPr>
          <a:xfrm>
            <a:off x="659684" y="3224455"/>
            <a:ext cx="152683" cy="152683"/>
          </a:xfrm>
          <a:prstGeom prst="mathPlus">
            <a:avLst>
              <a:gd name="adj1" fmla="val 15202"/>
            </a:avLst>
          </a:prstGeom>
          <a:solidFill>
            <a:srgbClr val="EE46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0BEB224A-657C-0E43-A002-7E887E939937}"/>
              </a:ext>
            </a:extLst>
          </p:cNvPr>
          <p:cNvSpPr/>
          <p:nvPr/>
        </p:nvSpPr>
        <p:spPr>
          <a:xfrm>
            <a:off x="950427" y="3786587"/>
            <a:ext cx="7279173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r>
              <a:rPr lang="es-PE"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Concentrarse en las áreas relevantes y explorar características adicionales del objeto de prueba.</a:t>
            </a:r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5185B4A0-F64E-B844-9C44-C5712D9A2ED3}"/>
              </a:ext>
            </a:extLst>
          </p:cNvPr>
          <p:cNvCxnSpPr>
            <a:cxnSpLocks/>
          </p:cNvCxnSpPr>
          <p:nvPr/>
        </p:nvCxnSpPr>
        <p:spPr>
          <a:xfrm>
            <a:off x="736026" y="3386543"/>
            <a:ext cx="0" cy="375989"/>
          </a:xfrm>
          <a:prstGeom prst="line">
            <a:avLst/>
          </a:prstGeom>
          <a:ln w="12700">
            <a:solidFill>
              <a:srgbClr val="EE46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ás 22">
            <a:extLst>
              <a:ext uri="{FF2B5EF4-FFF2-40B4-BE49-F238E27FC236}">
                <a16:creationId xmlns:a16="http://schemas.microsoft.com/office/drawing/2014/main" id="{DC949F66-FA9A-D143-9E8B-FBF143B6FE85}"/>
              </a:ext>
            </a:extLst>
          </p:cNvPr>
          <p:cNvSpPr/>
          <p:nvPr/>
        </p:nvSpPr>
        <p:spPr>
          <a:xfrm>
            <a:off x="659684" y="3786587"/>
            <a:ext cx="152683" cy="152683"/>
          </a:xfrm>
          <a:prstGeom prst="mathPlus">
            <a:avLst>
              <a:gd name="adj1" fmla="val 15202"/>
            </a:avLst>
          </a:prstGeom>
          <a:solidFill>
            <a:srgbClr val="EE46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4B692519-A2CB-1C49-88B2-BEB3BDB48C34}"/>
              </a:ext>
            </a:extLst>
          </p:cNvPr>
          <p:cNvSpPr/>
          <p:nvPr/>
        </p:nvSpPr>
        <p:spPr>
          <a:xfrm>
            <a:off x="950427" y="4341223"/>
            <a:ext cx="7279173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r>
              <a:rPr lang="es-PE"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herramientas de captura pueden ser útiles para registrar las actividades de pruebas.</a:t>
            </a:r>
            <a:endParaRPr lang="es-PE" dirty="0"/>
          </a:p>
        </p:txBody>
      </p: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4CCD75E8-2212-1F41-AEAB-C4A8E2F8EA1F}"/>
              </a:ext>
            </a:extLst>
          </p:cNvPr>
          <p:cNvCxnSpPr>
            <a:cxnSpLocks/>
          </p:cNvCxnSpPr>
          <p:nvPr/>
        </p:nvCxnSpPr>
        <p:spPr>
          <a:xfrm>
            <a:off x="736026" y="3941179"/>
            <a:ext cx="0" cy="375989"/>
          </a:xfrm>
          <a:prstGeom prst="line">
            <a:avLst/>
          </a:prstGeom>
          <a:ln w="12700">
            <a:solidFill>
              <a:srgbClr val="EE46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Más 25">
            <a:extLst>
              <a:ext uri="{FF2B5EF4-FFF2-40B4-BE49-F238E27FC236}">
                <a16:creationId xmlns:a16="http://schemas.microsoft.com/office/drawing/2014/main" id="{3133A4F9-7CB8-0945-AD2B-5C169AA58F89}"/>
              </a:ext>
            </a:extLst>
          </p:cNvPr>
          <p:cNvSpPr/>
          <p:nvPr/>
        </p:nvSpPr>
        <p:spPr>
          <a:xfrm>
            <a:off x="659684" y="4341223"/>
            <a:ext cx="152683" cy="152683"/>
          </a:xfrm>
          <a:prstGeom prst="mathPlus">
            <a:avLst>
              <a:gd name="adj1" fmla="val 15202"/>
            </a:avLst>
          </a:prstGeom>
          <a:solidFill>
            <a:srgbClr val="EE46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"/>
          <p:cNvSpPr/>
          <p:nvPr/>
        </p:nvSpPr>
        <p:spPr>
          <a:xfrm>
            <a:off x="503238" y="912813"/>
            <a:ext cx="74106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PREDICCIÓN DE ERRORES: DEFINICIÓN</a:t>
            </a:r>
            <a:endParaRPr sz="1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47BA2FC-3A7B-704A-8DA1-D989A3FD0A13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PREDICCIÓN DE ERRORES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F55245E8-BC23-5A4F-8771-E2E81E2216F4}"/>
              </a:ext>
            </a:extLst>
          </p:cNvPr>
          <p:cNvSpPr/>
          <p:nvPr/>
        </p:nvSpPr>
        <p:spPr>
          <a:xfrm>
            <a:off x="576262" y="1410920"/>
            <a:ext cx="7991475" cy="729320"/>
          </a:xfrm>
          <a:prstGeom prst="roundRect">
            <a:avLst>
              <a:gd name="adj" fmla="val 12445"/>
            </a:avLst>
          </a:prstGeom>
          <a:solidFill>
            <a:srgbClr val="D1EFF4"/>
          </a:solidFill>
          <a:ln w="38100">
            <a:solidFill>
              <a:srgbClr val="00B1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08000" rIns="36000" rtlCol="0" anchor="t"/>
          <a:lstStyle/>
          <a:p>
            <a:pPr marL="177800" indent="-177800">
              <a:buClr>
                <a:srgbClr val="00B1C2"/>
              </a:buClr>
              <a:buSzPct val="100000"/>
              <a:buFont typeface="Arial"/>
              <a:buChar char="•"/>
            </a:pPr>
            <a:r>
              <a:rPr lang="es-PE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Es una técnica en la que se anima a los probadores experimentados y buenos para pensar en situaciones en las que el software puede no ser capaz de hacer frente.</a:t>
            </a:r>
            <a:endParaRPr lang="es-PE" dirty="0">
              <a:solidFill>
                <a:schemeClr val="dk1"/>
              </a:solidFill>
              <a:latin typeface="Calibri"/>
              <a:cs typeface="Calibri"/>
            </a:endParaRPr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542C4BDB-C509-A445-A7C3-38E95003DD32}"/>
              </a:ext>
            </a:extLst>
          </p:cNvPr>
          <p:cNvSpPr/>
          <p:nvPr/>
        </p:nvSpPr>
        <p:spPr>
          <a:xfrm>
            <a:off x="576262" y="2317825"/>
            <a:ext cx="7991475" cy="729320"/>
          </a:xfrm>
          <a:prstGeom prst="roundRect">
            <a:avLst>
              <a:gd name="adj" fmla="val 12445"/>
            </a:avLst>
          </a:prstGeom>
          <a:solidFill>
            <a:srgbClr val="D1EFF4"/>
          </a:solidFill>
          <a:ln w="38100">
            <a:solidFill>
              <a:srgbClr val="00B1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08000" rIns="36000" rtlCol="0" anchor="t"/>
          <a:lstStyle/>
          <a:p>
            <a:pPr marL="177800" indent="-177800">
              <a:buClr>
                <a:srgbClr val="00B1C2"/>
              </a:buClr>
              <a:buSzPct val="100000"/>
              <a:buFont typeface="Arial"/>
              <a:buChar char="•"/>
            </a:pPr>
            <a:r>
              <a:rPr lang="es-PE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Algunas personas parecen ser naturalmente buenas en las pruebas y otras son buenas como probadores porque tienen mucha experiencia.</a:t>
            </a:r>
            <a:endParaRPr lang="es-PE" dirty="0">
              <a:solidFill>
                <a:schemeClr val="dk1"/>
              </a:solidFill>
              <a:latin typeface="Calibri"/>
              <a:cs typeface="Calibri"/>
            </a:endParaRPr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C43D5CAE-AC27-E14A-B19A-636E9B5DA1AE}"/>
              </a:ext>
            </a:extLst>
          </p:cNvPr>
          <p:cNvSpPr/>
          <p:nvPr/>
        </p:nvSpPr>
        <p:spPr>
          <a:xfrm>
            <a:off x="576262" y="3224730"/>
            <a:ext cx="7991475" cy="552791"/>
          </a:xfrm>
          <a:prstGeom prst="roundRect">
            <a:avLst>
              <a:gd name="adj" fmla="val 19224"/>
            </a:avLst>
          </a:prstGeom>
          <a:solidFill>
            <a:srgbClr val="D1EFF4"/>
          </a:solidFill>
          <a:ln w="38100">
            <a:solidFill>
              <a:srgbClr val="00B1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08000" rIns="36000" rtlCol="0" anchor="t"/>
          <a:lstStyle/>
          <a:p>
            <a:pPr marL="177800" indent="-177800">
              <a:buClr>
                <a:srgbClr val="00B1C2"/>
              </a:buClr>
              <a:buSzPct val="100000"/>
              <a:buFont typeface="Arial"/>
              <a:buChar char="•"/>
            </a:pPr>
            <a:r>
              <a:rPr lang="es-PE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Es un enfoque utilizado después de las técnicas más formales.</a:t>
            </a:r>
            <a:endParaRPr lang="es-PE" dirty="0">
              <a:solidFill>
                <a:schemeClr val="dk1"/>
              </a:solidFill>
              <a:latin typeface="Calibri"/>
              <a:cs typeface="Calibri"/>
            </a:endParaRPr>
          </a:p>
        </p:txBody>
      </p:sp>
      <p:sp>
        <p:nvSpPr>
          <p:cNvPr id="8" name="Rectángulo redondeado 7">
            <a:extLst>
              <a:ext uri="{FF2B5EF4-FFF2-40B4-BE49-F238E27FC236}">
                <a16:creationId xmlns:a16="http://schemas.microsoft.com/office/drawing/2014/main" id="{0BBE507E-0740-C44A-B4F6-4C4111D06AF6}"/>
              </a:ext>
            </a:extLst>
          </p:cNvPr>
          <p:cNvSpPr/>
          <p:nvPr/>
        </p:nvSpPr>
        <p:spPr>
          <a:xfrm>
            <a:off x="576262" y="4004219"/>
            <a:ext cx="7991475" cy="729320"/>
          </a:xfrm>
          <a:prstGeom prst="roundRect">
            <a:avLst>
              <a:gd name="adj" fmla="val 12445"/>
            </a:avLst>
          </a:prstGeom>
          <a:solidFill>
            <a:srgbClr val="D1EFF4"/>
          </a:solidFill>
          <a:ln w="38100">
            <a:solidFill>
              <a:srgbClr val="00B1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08000" rIns="36000" rtlCol="0" anchor="t"/>
          <a:lstStyle/>
          <a:p>
            <a:pPr marL="177800" indent="-177800">
              <a:buClr>
                <a:srgbClr val="00B1C2"/>
              </a:buClr>
              <a:buSzPct val="100000"/>
              <a:buFont typeface="Arial"/>
              <a:buChar char="•"/>
            </a:pPr>
            <a:r>
              <a:rPr lang="es-PE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Es muy dependiente tanto de la habilidad del probador, como de buenos probadores para saber dónde es más probable que sean los defectos.</a:t>
            </a:r>
            <a:endParaRPr lang="es-PE" dirty="0">
              <a:solidFill>
                <a:schemeClr val="dk1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02776CBD-82CF-DA4F-9E3A-6E083566B9B9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8F129ED-4B52-EE41-9734-CB2852A37260}"/>
              </a:ext>
            </a:extLst>
          </p:cNvPr>
          <p:cNvSpPr txBox="1"/>
          <p:nvPr/>
        </p:nvSpPr>
        <p:spPr>
          <a:xfrm>
            <a:off x="1008063" y="3169972"/>
            <a:ext cx="5993558" cy="7755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dirty="0">
                <a:solidFill>
                  <a:schemeClr val="bg1"/>
                </a:solidFill>
                <a:latin typeface="Graphik Regular" charset="0"/>
                <a:ea typeface="Graphik Regular" charset="0"/>
                <a:cs typeface="Graphik Regular" charset="0"/>
              </a:rPr>
              <a:t>APLICACIÓN DE UNA</a:t>
            </a:r>
            <a:br>
              <a:rPr lang="es-PE" sz="2800" b="1" dirty="0">
                <a:solidFill>
                  <a:schemeClr val="bg1"/>
                </a:solidFill>
                <a:latin typeface="Calibri"/>
                <a:cs typeface="Calibri"/>
              </a:rPr>
            </a:br>
            <a:r>
              <a:rPr lang="es-PE" sz="2800" b="1" dirty="0">
                <a:solidFill>
                  <a:schemeClr val="bg1"/>
                </a:solidFill>
                <a:latin typeface="Graphik Bold" charset="0"/>
                <a:ea typeface="Graphik Bold" charset="0"/>
                <a:cs typeface="Graphik Bold" charset="0"/>
              </a:rPr>
              <a:t>ENCUESTA DE CALIDAD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B5D3AAC-CD3E-FA40-A37A-D5DAA4BCC2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063" y="2869612"/>
            <a:ext cx="195423" cy="2012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"/>
          <p:cNvSpPr/>
          <p:nvPr/>
        </p:nvSpPr>
        <p:spPr>
          <a:xfrm>
            <a:off x="503238" y="912813"/>
            <a:ext cx="3889375" cy="3785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s-PE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CONOCER LA EXPERIENCIA DEL USUARIO</a:t>
            </a:r>
            <a:endParaRPr dirty="0"/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Muchas veces entramos a un sitio web y percibimos si nos gusta o disgusta, sin saber a ciencia cierta en qué se basa nuestra valoración. </a:t>
            </a:r>
            <a:endParaRPr sz="1500" dirty="0"/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Esto ocurre con frecuencia con los usuarios digitales, que navegan, prueban las funciones y dejan acciones a medias, sin conocer bien la razón de estos comportamientos. </a:t>
            </a:r>
            <a:endParaRPr sz="1500" dirty="0"/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Afortunadamente, podemos basarnos en el usuario. </a:t>
            </a:r>
            <a:r>
              <a:rPr lang="es-PE" sz="1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1500" dirty="0"/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15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experiencia de usuario es el principio y fin de todos los proyectos que desarrollamos.</a:t>
            </a:r>
            <a:endParaRPr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EC181EA-463A-0145-A257-9F0D4A90176F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APLICACIÓN DE UNA ENCUESTA DE CALIDAD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8B67B47-B993-0141-AE9D-024B62AAF3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4544" y="894335"/>
            <a:ext cx="4339653" cy="433965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2"/>
          <p:cNvSpPr/>
          <p:nvPr/>
        </p:nvSpPr>
        <p:spPr>
          <a:xfrm>
            <a:off x="503237" y="912813"/>
            <a:ext cx="7928729" cy="815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s-PE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APLICACIÓN PRÁCTICA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Podemos desarrollar una encuesta de calidad para nuestro proyecto final que responda las siguientes interrogantes:</a:t>
            </a:r>
            <a:endParaRPr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F4375F5-1BDE-344B-A1A2-5B2036FED192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APLICACIÓN DE UNA ENCUESTA DE CALIDAD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AA5E2818-EF1C-8946-B329-B2B1C116D001}"/>
              </a:ext>
            </a:extLst>
          </p:cNvPr>
          <p:cNvSpPr/>
          <p:nvPr/>
        </p:nvSpPr>
        <p:spPr>
          <a:xfrm>
            <a:off x="684213" y="2060091"/>
            <a:ext cx="3208017" cy="500394"/>
          </a:xfrm>
          <a:prstGeom prst="roundRect">
            <a:avLst>
              <a:gd name="adj" fmla="val 24841"/>
            </a:avLst>
          </a:prstGeom>
          <a:solidFill>
            <a:srgbClr val="EE46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762" lvl="1" algn="ctr">
              <a:buSzPts val="1600"/>
              <a:tabLst>
                <a:tab pos="569913" algn="l"/>
              </a:tabLst>
            </a:pPr>
            <a:r>
              <a:rPr lang="es-PE" b="1" dirty="0">
                <a:solidFill>
                  <a:schemeClr val="lt1"/>
                </a:solidFill>
                <a:latin typeface="Calibri" charset="0"/>
                <a:cs typeface="Calibri" charset="0"/>
                <a:sym typeface="Calibri"/>
              </a:rPr>
              <a:t>¿Cuál es su objetivo principal?</a:t>
            </a:r>
            <a:endParaRPr lang="es-PE" b="1" dirty="0">
              <a:solidFill>
                <a:schemeClr val="lt1"/>
              </a:solidFill>
              <a:latin typeface="Calibri" charset="0"/>
              <a:cs typeface="Calibri" charset="0"/>
            </a:endParaRPr>
          </a:p>
        </p:txBody>
      </p:sp>
      <p:grpSp>
        <p:nvGrpSpPr>
          <p:cNvPr id="8" name="Agrupar 14">
            <a:extLst>
              <a:ext uri="{FF2B5EF4-FFF2-40B4-BE49-F238E27FC236}">
                <a16:creationId xmlns:a16="http://schemas.microsoft.com/office/drawing/2014/main" id="{48BD9AEB-EEDF-2B4F-BEC3-8880F4F151FD}"/>
              </a:ext>
            </a:extLst>
          </p:cNvPr>
          <p:cNvGrpSpPr/>
          <p:nvPr/>
        </p:nvGrpSpPr>
        <p:grpSpPr>
          <a:xfrm>
            <a:off x="468196" y="2108377"/>
            <a:ext cx="459474" cy="403823"/>
            <a:chOff x="5892512" y="2805541"/>
            <a:chExt cx="459474" cy="403823"/>
          </a:xfrm>
        </p:grpSpPr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4C788BD3-B478-7848-B08B-C0329E39C174}"/>
                </a:ext>
              </a:extLst>
            </p:cNvPr>
            <p:cNvSpPr/>
            <p:nvPr/>
          </p:nvSpPr>
          <p:spPr>
            <a:xfrm>
              <a:off x="5956277" y="2824919"/>
              <a:ext cx="395709" cy="376075"/>
            </a:xfrm>
            <a:prstGeom prst="ellipse">
              <a:avLst/>
            </a:prstGeom>
            <a:solidFill>
              <a:srgbClr val="C73A3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300" dirty="0">
                <a:latin typeface="Calibri" panose="020F0502020204030204" pitchFamily="34" charset="0"/>
              </a:endParaRPr>
            </a:p>
          </p:txBody>
        </p:sp>
        <p:sp>
          <p:nvSpPr>
            <p:cNvPr id="10" name="Elipse 9">
              <a:extLst>
                <a:ext uri="{FF2B5EF4-FFF2-40B4-BE49-F238E27FC236}">
                  <a16:creationId xmlns:a16="http://schemas.microsoft.com/office/drawing/2014/main" id="{3493507D-2483-4D41-A5AB-C67568A70426}"/>
                </a:ext>
              </a:extLst>
            </p:cNvPr>
            <p:cNvSpPr/>
            <p:nvPr/>
          </p:nvSpPr>
          <p:spPr>
            <a:xfrm>
              <a:off x="5892512" y="2805541"/>
              <a:ext cx="424906" cy="40382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300" dirty="0">
                <a:latin typeface="Calibri" panose="020F0502020204030204" pitchFamily="34" charset="0"/>
              </a:endParaRPr>
            </a:p>
          </p:txBody>
        </p:sp>
        <p:sp>
          <p:nvSpPr>
            <p:cNvPr id="11" name="Triángulo 10">
              <a:extLst>
                <a:ext uri="{FF2B5EF4-FFF2-40B4-BE49-F238E27FC236}">
                  <a16:creationId xmlns:a16="http://schemas.microsoft.com/office/drawing/2014/main" id="{2011F729-2BDC-AA40-9964-965BC55F935C}"/>
                </a:ext>
              </a:extLst>
            </p:cNvPr>
            <p:cNvSpPr/>
            <p:nvPr/>
          </p:nvSpPr>
          <p:spPr>
            <a:xfrm rot="5400000">
              <a:off x="6076285" y="2946262"/>
              <a:ext cx="186870" cy="122381"/>
            </a:xfrm>
            <a:prstGeom prst="triangle">
              <a:avLst/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300" dirty="0">
                <a:latin typeface="Calibri" panose="020F0502020204030204" pitchFamily="34" charset="0"/>
              </a:endParaRPr>
            </a:p>
          </p:txBody>
        </p:sp>
      </p:grpSp>
      <p:sp>
        <p:nvSpPr>
          <p:cNvPr id="12" name="Rectángulo redondeado 11">
            <a:extLst>
              <a:ext uri="{FF2B5EF4-FFF2-40B4-BE49-F238E27FC236}">
                <a16:creationId xmlns:a16="http://schemas.microsoft.com/office/drawing/2014/main" id="{3B79D729-8447-8242-B762-A142AFBA8C02}"/>
              </a:ext>
            </a:extLst>
          </p:cNvPr>
          <p:cNvSpPr/>
          <p:nvPr/>
        </p:nvSpPr>
        <p:spPr>
          <a:xfrm>
            <a:off x="684213" y="2749639"/>
            <a:ext cx="3208017" cy="500394"/>
          </a:xfrm>
          <a:prstGeom prst="roundRect">
            <a:avLst>
              <a:gd name="adj" fmla="val 24841"/>
            </a:avLst>
          </a:prstGeom>
          <a:solidFill>
            <a:srgbClr val="EE46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762" lvl="1" algn="ctr">
              <a:buSzPts val="1600"/>
              <a:tabLst>
                <a:tab pos="569913" algn="l"/>
              </a:tabLst>
            </a:pPr>
            <a:r>
              <a:rPr lang="es-PE" b="1" dirty="0">
                <a:solidFill>
                  <a:schemeClr val="lt1"/>
                </a:solidFill>
                <a:latin typeface="Calibri" charset="0"/>
                <a:cs typeface="Calibri" charset="0"/>
                <a:sym typeface="Calibri"/>
              </a:rPr>
              <a:t>¿Cómo lo aplicamos?</a:t>
            </a:r>
            <a:endParaRPr lang="es-PE" b="1" dirty="0">
              <a:solidFill>
                <a:schemeClr val="lt1"/>
              </a:solidFill>
              <a:latin typeface="Calibri" charset="0"/>
              <a:cs typeface="Calibri" charset="0"/>
            </a:endParaRPr>
          </a:p>
        </p:txBody>
      </p:sp>
      <p:grpSp>
        <p:nvGrpSpPr>
          <p:cNvPr id="13" name="Agrupar 14">
            <a:extLst>
              <a:ext uri="{FF2B5EF4-FFF2-40B4-BE49-F238E27FC236}">
                <a16:creationId xmlns:a16="http://schemas.microsoft.com/office/drawing/2014/main" id="{343B9845-A66F-A748-9106-9B988CB37843}"/>
              </a:ext>
            </a:extLst>
          </p:cNvPr>
          <p:cNvGrpSpPr/>
          <p:nvPr/>
        </p:nvGrpSpPr>
        <p:grpSpPr>
          <a:xfrm>
            <a:off x="468196" y="2797925"/>
            <a:ext cx="459474" cy="403823"/>
            <a:chOff x="5892512" y="2805541"/>
            <a:chExt cx="459474" cy="403823"/>
          </a:xfrm>
        </p:grpSpPr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B77EE805-4E63-2B44-93AF-FC4033D10CB1}"/>
                </a:ext>
              </a:extLst>
            </p:cNvPr>
            <p:cNvSpPr/>
            <p:nvPr/>
          </p:nvSpPr>
          <p:spPr>
            <a:xfrm>
              <a:off x="5956277" y="2824919"/>
              <a:ext cx="395709" cy="376075"/>
            </a:xfrm>
            <a:prstGeom prst="ellipse">
              <a:avLst/>
            </a:prstGeom>
            <a:solidFill>
              <a:srgbClr val="C73A3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300" dirty="0">
                <a:latin typeface="Calibri" panose="020F0502020204030204" pitchFamily="34" charset="0"/>
              </a:endParaRPr>
            </a:p>
          </p:txBody>
        </p:sp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7A0900DD-4603-B44E-BB97-F0D2B4677BAF}"/>
                </a:ext>
              </a:extLst>
            </p:cNvPr>
            <p:cNvSpPr/>
            <p:nvPr/>
          </p:nvSpPr>
          <p:spPr>
            <a:xfrm>
              <a:off x="5892512" y="2805541"/>
              <a:ext cx="424906" cy="40382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300" dirty="0">
                <a:latin typeface="Calibri" panose="020F0502020204030204" pitchFamily="34" charset="0"/>
              </a:endParaRPr>
            </a:p>
          </p:txBody>
        </p:sp>
        <p:sp>
          <p:nvSpPr>
            <p:cNvPr id="16" name="Triángulo 15">
              <a:extLst>
                <a:ext uri="{FF2B5EF4-FFF2-40B4-BE49-F238E27FC236}">
                  <a16:creationId xmlns:a16="http://schemas.microsoft.com/office/drawing/2014/main" id="{E74B8C11-2866-1041-B262-342415ECC823}"/>
                </a:ext>
              </a:extLst>
            </p:cNvPr>
            <p:cNvSpPr/>
            <p:nvPr/>
          </p:nvSpPr>
          <p:spPr>
            <a:xfrm rot="5400000">
              <a:off x="6076285" y="2946262"/>
              <a:ext cx="186870" cy="122381"/>
            </a:xfrm>
            <a:prstGeom prst="triangle">
              <a:avLst/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300" dirty="0">
                <a:latin typeface="Calibri" panose="020F0502020204030204" pitchFamily="34" charset="0"/>
              </a:endParaRPr>
            </a:p>
          </p:txBody>
        </p:sp>
      </p:grpSp>
      <p:sp>
        <p:nvSpPr>
          <p:cNvPr id="17" name="Rectángulo redondeado 16">
            <a:extLst>
              <a:ext uri="{FF2B5EF4-FFF2-40B4-BE49-F238E27FC236}">
                <a16:creationId xmlns:a16="http://schemas.microsoft.com/office/drawing/2014/main" id="{06BF9217-6557-3048-9AF5-1DA7BE319A5E}"/>
              </a:ext>
            </a:extLst>
          </p:cNvPr>
          <p:cNvSpPr/>
          <p:nvPr/>
        </p:nvSpPr>
        <p:spPr>
          <a:xfrm>
            <a:off x="684213" y="3424196"/>
            <a:ext cx="3208017" cy="500394"/>
          </a:xfrm>
          <a:prstGeom prst="roundRect">
            <a:avLst>
              <a:gd name="adj" fmla="val 24841"/>
            </a:avLst>
          </a:prstGeom>
          <a:solidFill>
            <a:srgbClr val="EE46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762" lvl="1" algn="ctr">
              <a:buSzPts val="1600"/>
              <a:tabLst>
                <a:tab pos="569913" algn="l"/>
              </a:tabLst>
            </a:pPr>
            <a:r>
              <a:rPr lang="es-PE" b="1" dirty="0">
                <a:solidFill>
                  <a:schemeClr val="lt1"/>
                </a:solidFill>
                <a:latin typeface="Calibri" charset="0"/>
                <a:cs typeface="Calibri" charset="0"/>
                <a:sym typeface="Calibri"/>
              </a:rPr>
              <a:t>¿Qué debemos prevenir?</a:t>
            </a:r>
            <a:endParaRPr lang="es-ES_tradnl" b="1" dirty="0">
              <a:solidFill>
                <a:schemeClr val="lt1"/>
              </a:solidFill>
              <a:latin typeface="Calibri" charset="0"/>
              <a:cs typeface="Calibri" charset="0"/>
            </a:endParaRPr>
          </a:p>
        </p:txBody>
      </p:sp>
      <p:grpSp>
        <p:nvGrpSpPr>
          <p:cNvPr id="18" name="Agrupar 14">
            <a:extLst>
              <a:ext uri="{FF2B5EF4-FFF2-40B4-BE49-F238E27FC236}">
                <a16:creationId xmlns:a16="http://schemas.microsoft.com/office/drawing/2014/main" id="{D524159E-A027-A94E-800D-9E5817458773}"/>
              </a:ext>
            </a:extLst>
          </p:cNvPr>
          <p:cNvGrpSpPr/>
          <p:nvPr/>
        </p:nvGrpSpPr>
        <p:grpSpPr>
          <a:xfrm>
            <a:off x="468196" y="3472482"/>
            <a:ext cx="459474" cy="403823"/>
            <a:chOff x="5892512" y="2805541"/>
            <a:chExt cx="459474" cy="403823"/>
          </a:xfrm>
        </p:grpSpPr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93761809-77CA-C44C-B6AC-D65FBE3B59B5}"/>
                </a:ext>
              </a:extLst>
            </p:cNvPr>
            <p:cNvSpPr/>
            <p:nvPr/>
          </p:nvSpPr>
          <p:spPr>
            <a:xfrm>
              <a:off x="5956277" y="2824919"/>
              <a:ext cx="395709" cy="376075"/>
            </a:xfrm>
            <a:prstGeom prst="ellipse">
              <a:avLst/>
            </a:prstGeom>
            <a:solidFill>
              <a:srgbClr val="C73A3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300" dirty="0">
                <a:latin typeface="Calibri" panose="020F0502020204030204" pitchFamily="34" charset="0"/>
              </a:endParaRPr>
            </a:p>
          </p:txBody>
        </p:sp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527D32D9-1F8C-A543-923A-5F5C8C255999}"/>
                </a:ext>
              </a:extLst>
            </p:cNvPr>
            <p:cNvSpPr/>
            <p:nvPr/>
          </p:nvSpPr>
          <p:spPr>
            <a:xfrm>
              <a:off x="5892512" y="2805541"/>
              <a:ext cx="424906" cy="40382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300" dirty="0">
                <a:latin typeface="Calibri" panose="020F0502020204030204" pitchFamily="34" charset="0"/>
              </a:endParaRPr>
            </a:p>
          </p:txBody>
        </p:sp>
        <p:sp>
          <p:nvSpPr>
            <p:cNvPr id="21" name="Triángulo 20">
              <a:extLst>
                <a:ext uri="{FF2B5EF4-FFF2-40B4-BE49-F238E27FC236}">
                  <a16:creationId xmlns:a16="http://schemas.microsoft.com/office/drawing/2014/main" id="{F6CA4C92-0623-1D45-A053-E5F7C89C1641}"/>
                </a:ext>
              </a:extLst>
            </p:cNvPr>
            <p:cNvSpPr/>
            <p:nvPr/>
          </p:nvSpPr>
          <p:spPr>
            <a:xfrm rot="5400000">
              <a:off x="6076285" y="2946262"/>
              <a:ext cx="186870" cy="122381"/>
            </a:xfrm>
            <a:prstGeom prst="triangle">
              <a:avLst/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300" dirty="0">
                <a:latin typeface="Calibri" panose="020F0502020204030204" pitchFamily="34" charset="0"/>
              </a:endParaRPr>
            </a:p>
          </p:txBody>
        </p:sp>
      </p:grpSp>
      <p:pic>
        <p:nvPicPr>
          <p:cNvPr id="5" name="Imagen 4">
            <a:extLst>
              <a:ext uri="{FF2B5EF4-FFF2-40B4-BE49-F238E27FC236}">
                <a16:creationId xmlns:a16="http://schemas.microsoft.com/office/drawing/2014/main" id="{02CFA1D6-1059-444F-812A-87004131FB4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024" r="32729"/>
          <a:stretch/>
        </p:blipFill>
        <p:spPr>
          <a:xfrm>
            <a:off x="4370989" y="1602396"/>
            <a:ext cx="4213229" cy="363159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FC734B37-DEC1-374C-8307-49346EA3B684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654E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35FEECC5-0429-5C4B-A61C-10E7B9D37D26}"/>
              </a:ext>
            </a:extLst>
          </p:cNvPr>
          <p:cNvGrpSpPr/>
          <p:nvPr/>
        </p:nvGrpSpPr>
        <p:grpSpPr>
          <a:xfrm>
            <a:off x="2506315" y="2194222"/>
            <a:ext cx="4581728" cy="1326557"/>
            <a:chOff x="2403187" y="2211377"/>
            <a:chExt cx="4581728" cy="1326557"/>
          </a:xfrm>
        </p:grpSpPr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5504E024-F50C-7842-A357-00BC8B197F15}"/>
                </a:ext>
              </a:extLst>
            </p:cNvPr>
            <p:cNvSpPr txBox="1"/>
            <p:nvPr/>
          </p:nvSpPr>
          <p:spPr>
            <a:xfrm>
              <a:off x="2403187" y="2540738"/>
              <a:ext cx="4581728" cy="9971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s-ES_tradnl" sz="3600" dirty="0">
                  <a:solidFill>
                    <a:schemeClr val="bg1"/>
                  </a:solidFill>
                  <a:latin typeface="Graphik Regular" charset="0"/>
                  <a:ea typeface="Graphik Regular" charset="0"/>
                  <a:cs typeface="Graphik Regular" charset="0"/>
                </a:rPr>
                <a:t>CONCLUSIONES</a:t>
              </a:r>
              <a:br>
                <a:rPr lang="es-ES_tradnl" sz="3600" dirty="0">
                  <a:solidFill>
                    <a:schemeClr val="bg1"/>
                  </a:solidFill>
                  <a:latin typeface="Graphik Regular" charset="0"/>
                  <a:ea typeface="Graphik Regular" charset="0"/>
                  <a:cs typeface="Graphik Regular" charset="0"/>
                </a:rPr>
              </a:br>
              <a:r>
                <a:rPr lang="es-ES_tradnl" sz="3600" b="1" dirty="0">
                  <a:solidFill>
                    <a:schemeClr val="bg1"/>
                  </a:solidFill>
                  <a:latin typeface="Graphik Bold" charset="0"/>
                  <a:ea typeface="Graphik Bold" charset="0"/>
                  <a:cs typeface="Graphik Bold" charset="0"/>
                </a:rPr>
                <a:t>MÁS REFERENCIAS</a:t>
              </a:r>
            </a:p>
          </p:txBody>
        </p:sp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2BB6407A-342C-AB43-A453-F38934D137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25491" y="2211377"/>
              <a:ext cx="202176" cy="208211"/>
            </a:xfrm>
            <a:prstGeom prst="rect">
              <a:avLst/>
            </a:prstGeom>
          </p:spPr>
        </p:pic>
      </p:grpSp>
      <p:pic>
        <p:nvPicPr>
          <p:cNvPr id="6" name="Imagen 5">
            <a:extLst>
              <a:ext uri="{FF2B5EF4-FFF2-40B4-BE49-F238E27FC236}">
                <a16:creationId xmlns:a16="http://schemas.microsoft.com/office/drawing/2014/main" id="{5B9B3452-BA8E-B845-84A6-B6440BFFE8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53" y="946969"/>
            <a:ext cx="2072214" cy="3898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1773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ángulo 21">
            <a:extLst>
              <a:ext uri="{FF2B5EF4-FFF2-40B4-BE49-F238E27FC236}">
                <a16:creationId xmlns:a16="http://schemas.microsoft.com/office/drawing/2014/main" id="{354C4B8A-2660-1144-B247-862A44E2BC72}"/>
              </a:ext>
            </a:extLst>
          </p:cNvPr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23" name="object 7">
            <a:extLst>
              <a:ext uri="{FF2B5EF4-FFF2-40B4-BE49-F238E27FC236}">
                <a16:creationId xmlns:a16="http://schemas.microsoft.com/office/drawing/2014/main" id="{CCC4751D-B161-C34C-BD5C-F3D8032AEF01}"/>
              </a:ext>
            </a:extLst>
          </p:cNvPr>
          <p:cNvSpPr txBox="1"/>
          <p:nvPr/>
        </p:nvSpPr>
        <p:spPr>
          <a:xfrm>
            <a:off x="1279545" y="912813"/>
            <a:ext cx="5705454" cy="17235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</a:pPr>
            <a:r>
              <a:rPr lang="es-P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Las técnicas basadas en la experiencia complementan las técnicas sistemáticas para determinar casos de prueba. </a:t>
            </a:r>
            <a:endParaRPr lang="es-PE" dirty="0">
              <a:solidFill>
                <a:schemeClr val="tx1"/>
              </a:solidFill>
            </a:endParaRPr>
          </a:p>
          <a:p>
            <a:pPr marL="107950"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</a:pPr>
            <a:endParaRPr lang="es-P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</a:pPr>
            <a:r>
              <a:rPr lang="es-P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Las técnicas basadas en la experiencia dependen en gran medida de la habilidad individual del probador. </a:t>
            </a:r>
            <a:endParaRPr lang="es-PE" dirty="0">
              <a:solidFill>
                <a:schemeClr val="tx1"/>
              </a:solidFill>
            </a:endParaRPr>
          </a:p>
          <a:p>
            <a:pPr marL="107950"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</a:pPr>
            <a:endParaRPr lang="es-P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</a:pPr>
            <a:r>
              <a:rPr lang="es-P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La predicción de errores y las pruebas exploratorias son dos de las técnicas más utilizadas de las pruebas basadas en la experiencia. </a:t>
            </a:r>
            <a:endParaRPr lang="es-PE" dirty="0">
              <a:solidFill>
                <a:schemeClr val="tx1"/>
              </a:solidFill>
            </a:endParaRP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63BFC767-2368-6B46-A7A9-67A9D8C5A3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260" y="954885"/>
            <a:ext cx="114138" cy="117546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1840F5F5-75B5-174E-A09D-12660A75F7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260" y="2239910"/>
            <a:ext cx="114138" cy="117546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E19A2D49-74B8-C847-9155-A817BCA970D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4999" y="3048772"/>
            <a:ext cx="1690689" cy="2185216"/>
          </a:xfrm>
          <a:prstGeom prst="rect">
            <a:avLst/>
          </a:prstGeom>
        </p:spPr>
      </p:pic>
      <p:sp>
        <p:nvSpPr>
          <p:cNvPr id="28" name="Rectangle 5">
            <a:extLst>
              <a:ext uri="{FF2B5EF4-FFF2-40B4-BE49-F238E27FC236}">
                <a16:creationId xmlns:a16="http://schemas.microsoft.com/office/drawing/2014/main" id="{40228855-E24A-DA4C-BEDC-26413C5D9129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CONCLUSIONES </a:t>
            </a:r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1BDB4B81-8A31-1F4C-9811-19568528C7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260" y="1595333"/>
            <a:ext cx="114138" cy="1175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43A4767B-89E9-2A4A-9AD3-000FD0C4527C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871756D-109E-6746-A1B5-C3053F34A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199" y="2666298"/>
            <a:ext cx="1295601" cy="386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094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</TotalTime>
  <Words>943</Words>
  <Application>Microsoft Macintosh PowerPoint</Application>
  <PresentationFormat>Presentación en pantalla (16:10)</PresentationFormat>
  <Paragraphs>138</Paragraphs>
  <Slides>16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2" baseType="lpstr">
      <vt:lpstr>Arial</vt:lpstr>
      <vt:lpstr>Calibri</vt:lpstr>
      <vt:lpstr>Graphik Bold</vt:lpstr>
      <vt:lpstr>Graphik Regular</vt:lpstr>
      <vt:lpstr>Graphik-Medium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ISIL</dc:creator>
  <cp:lastModifiedBy>Microsoft Office User</cp:lastModifiedBy>
  <cp:revision>37</cp:revision>
  <dcterms:created xsi:type="dcterms:W3CDTF">2016-10-06T14:52:02Z</dcterms:created>
  <dcterms:modified xsi:type="dcterms:W3CDTF">2024-10-28T16:31:21Z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5400A83D-B4FE-497C-9E2F-ACF3BA8DEF15</vt:lpwstr>
  </property>
  <property fmtid="{D5CDD505-2E9C-101B-9397-08002B2CF9AE}" pid="3" name="ArticulatePath">
    <vt:lpwstr>plantilla_cursos_presenciales-v3.1.6</vt:lpwstr>
  </property>
</Properties>
</file>