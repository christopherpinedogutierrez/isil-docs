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9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3" r:id="rId37"/>
    <p:sldId id="290" r:id="rId38"/>
    <p:sldId id="291" r:id="rId39"/>
    <p:sldId id="294" r:id="rId40"/>
  </p:sldIdLst>
  <p:sldSz cx="9144000" cy="5715000" type="screen16x1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6" pos="2880" userDrawn="1">
          <p15:clr>
            <a:srgbClr val="A4A3A4"/>
          </p15:clr>
        </p15:guide>
        <p15:guide id="7" pos="612" userDrawn="1">
          <p15:clr>
            <a:srgbClr val="A4A3A4"/>
          </p15:clr>
        </p15:guide>
        <p15:guide id="8" pos="2562" userDrawn="1">
          <p15:clr>
            <a:srgbClr val="A4A3A4"/>
          </p15:clr>
        </p15:guide>
        <p15:guide id="9" orient="horz" pos="1800">
          <p15:clr>
            <a:srgbClr val="A4A3A4"/>
          </p15:clr>
        </p15:guide>
        <p15:guide id="10" orient="horz" pos="1709" userDrawn="1">
          <p15:clr>
            <a:srgbClr val="A4A3A4"/>
          </p15:clr>
        </p15:guide>
        <p15:guide id="11" pos="2336"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hfq+ve84mBGV6He6rHBEEU5j4rR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DCED"/>
    <a:srgbClr val="4E697E"/>
    <a:srgbClr val="00B1C2"/>
    <a:srgbClr val="D9DBE1"/>
    <a:srgbClr val="EE4639"/>
    <a:srgbClr val="808799"/>
    <a:srgbClr val="7150A0"/>
    <a:srgbClr val="D1EFF4"/>
    <a:srgbClr val="92C14E"/>
    <a:srgbClr val="FDC2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D208B2-9A7D-4824-80A0-41A408BD95EF}">
  <a:tblStyle styleId="{4DD208B2-9A7D-4824-80A0-41A408BD95EF}"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674"/>
  </p:normalViewPr>
  <p:slideViewPr>
    <p:cSldViewPr snapToGrid="0">
      <p:cViewPr varScale="1">
        <p:scale>
          <a:sx n="98" d="100"/>
          <a:sy n="98" d="100"/>
        </p:scale>
        <p:origin x="1500" y="72"/>
      </p:cViewPr>
      <p:guideLst>
        <p:guide pos="2880"/>
        <p:guide pos="612"/>
        <p:guide pos="2562"/>
        <p:guide orient="horz" pos="1800"/>
        <p:guide orient="horz" pos="1709"/>
        <p:guide pos="2336"/>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PE"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latin typeface="Arial"/>
              <a:ea typeface="Arial"/>
              <a:cs typeface="Arial"/>
              <a:sym typeface="Arial"/>
            </a:endParaRPr>
          </a:p>
        </p:txBody>
      </p:sp>
      <p:sp>
        <p:nvSpPr>
          <p:cNvPr id="28" name="Google Shape;2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
        <p:cNvGrpSpPr/>
        <p:nvPr/>
      </p:nvGrpSpPr>
      <p:grpSpPr>
        <a:xfrm>
          <a:off x="0" y="0"/>
          <a:ext cx="0" cy="0"/>
          <a:chOff x="0" y="0"/>
          <a:chExt cx="0" cy="0"/>
        </a:xfrm>
      </p:grpSpPr>
      <p:sp>
        <p:nvSpPr>
          <p:cNvPr id="38" name="Google Shape;38;p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 name="Google Shape;3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Hay una gran variedad de frameworks de procesos de pruebas de dónde elegir. Se incluyen entre ellos el framework de los Procesos de Pruebas Críticos de RBCS, junto con las Pruebas de Software y el Proceso de Evaluación de SQE, T-MAP de Sogeti, el Mejoramiento de Procesos de Pruebas de Polteq y el Modelo de Madurez de Pruebas de Burnstein. Los Procesos de Pruebas Críticos, las Pruebas de Software y el Proceso de Evaluación v T-MAP son no prescriptivos, porque proporcionan para el uso del valor del negocio la selección de qué proceso debe ser implementado u omitido, y cuáles procesos tienen que ser mejorados y en qué orden. El Mejoramiento de Procesos de Pruebas y el Modelo de Madurez de Pruebas son prescriptivos, porque proyectan puntajes de madurez acerca de los frameworks y requieren que las mejoras sean implementadas en un orden particular a pesar de esos niveles de madurez. El mundo real expone aún más variación, mientras las personas se enfocan en las pruebas con mayor o menor grado de formalidad y rigor.</a:t>
            </a:r>
            <a:endParaRPr/>
          </a:p>
          <a:p>
            <a:pPr marL="0" lvl="0" indent="0" algn="l" rtl="0">
              <a:spcBef>
                <a:spcPts val="0"/>
              </a:spcBef>
              <a:spcAft>
                <a:spcPts val="0"/>
              </a:spcAft>
              <a:buNone/>
            </a:pPr>
            <a:endParaRPr/>
          </a:p>
          <a:p>
            <a:pPr marL="0" lvl="0" indent="0" algn="just" rtl="0">
              <a:spcBef>
                <a:spcPts val="0"/>
              </a:spcBef>
              <a:spcAft>
                <a:spcPts val="0"/>
              </a:spcAft>
              <a:buNone/>
            </a:pPr>
            <a:r>
              <a:rPr lang="es-PE"/>
              <a:t>El programa de estudio del ISTQB nivel básico propone un framework genérico del proceso de pruebas.</a:t>
            </a:r>
            <a:endParaRPr/>
          </a:p>
          <a:p>
            <a:pPr marL="0" lvl="0" indent="0" algn="just" rtl="0">
              <a:spcBef>
                <a:spcPts val="0"/>
              </a:spcBef>
              <a:spcAft>
                <a:spcPts val="0"/>
              </a:spcAft>
              <a:buNone/>
            </a:pPr>
            <a:r>
              <a:rPr lang="es-PE"/>
              <a:t>No es prescriptivo, no impone un esquema de madurez.</a:t>
            </a:r>
            <a:endParaRPr/>
          </a:p>
          <a:p>
            <a:pPr marL="0" lvl="0" indent="0" algn="just" rtl="0">
              <a:spcBef>
                <a:spcPts val="0"/>
              </a:spcBef>
              <a:spcAft>
                <a:spcPts val="0"/>
              </a:spcAft>
              <a:buNone/>
            </a:pPr>
            <a:r>
              <a:rPr lang="es-PE"/>
              <a:t>Reconoce el potencial de omisión de algunos elementos del framework en algunas circunstancias.</a:t>
            </a:r>
            <a:endParaRPr/>
          </a:p>
          <a:p>
            <a:pPr marL="0" lvl="0" indent="0" algn="l" rtl="0">
              <a:spcBef>
                <a:spcPts val="0"/>
              </a:spcBef>
              <a:spcAft>
                <a:spcPts val="0"/>
              </a:spcAft>
              <a:buNone/>
            </a:pPr>
            <a:endParaRPr/>
          </a:p>
        </p:txBody>
      </p:sp>
      <p:sp>
        <p:nvSpPr>
          <p:cNvPr id="40" name="Google Shape;4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just" rtl="0">
              <a:spcBef>
                <a:spcPts val="0"/>
              </a:spcBef>
              <a:spcAft>
                <a:spcPts val="0"/>
              </a:spcAft>
              <a:buClr>
                <a:schemeClr val="dk1"/>
              </a:buClr>
              <a:buSzPts val="1200"/>
              <a:buFont typeface="Arial"/>
              <a:buChar char="•"/>
            </a:pPr>
            <a:r>
              <a:rPr lang="es-PE"/>
              <a:t>El programa de estudio del ISTQB nivel básico propone un framework genérico del proceso de pruebas.</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No es prescriptivo, no impone un esquema de madurez.</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Reconoce el potencial de omisión de algunos elementos del framework en algunas circunstancias.</a:t>
            </a:r>
            <a:endParaRPr/>
          </a:p>
          <a:p>
            <a:pPr marL="0" lvl="0" indent="0" algn="l" rtl="0">
              <a:spcBef>
                <a:spcPts val="0"/>
              </a:spcBef>
              <a:spcAft>
                <a:spcPts val="0"/>
              </a:spcAft>
              <a:buNone/>
            </a:pPr>
            <a:endParaRPr/>
          </a:p>
        </p:txBody>
      </p:sp>
      <p:sp>
        <p:nvSpPr>
          <p:cNvPr id="55" name="Google Shape;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 name="Google Shape;7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 name="Google Shape;7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 name="Google Shape;9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Un conjunto de pruebas es una colección lógica de casos de prueba que, naturalmente, trabajan juntos. Los conjuntos de pruebas a menudo comparten datos y un alto nivel común de un conjunto de objetivos. </a:t>
            </a:r>
            <a:endParaRPr/>
          </a:p>
          <a:p>
            <a:pPr marL="0" lvl="0" indent="0" algn="l" rtl="0">
              <a:spcBef>
                <a:spcPts val="0"/>
              </a:spcBef>
              <a:spcAft>
                <a:spcPts val="0"/>
              </a:spcAft>
              <a:buNone/>
            </a:pPr>
            <a:r>
              <a:rPr lang="es-PE"/>
              <a:t>Nos aseguramos de que el entorno de pruebas se ha configurado correctamente, posiblemente, incluso la realización de pruebas específicas sobre el mismo.</a:t>
            </a:r>
            <a:endParaRPr/>
          </a:p>
          <a:p>
            <a:pPr marL="0" lvl="0" indent="0" algn="l" rtl="0">
              <a:spcBef>
                <a:spcPts val="0"/>
              </a:spcBef>
              <a:spcAft>
                <a:spcPts val="0"/>
              </a:spcAft>
              <a:buNone/>
            </a:pPr>
            <a:endParaRPr/>
          </a:p>
        </p:txBody>
      </p:sp>
      <p:sp>
        <p:nvSpPr>
          <p:cNvPr id="92" name="Google Shape;92;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just" rtl="0">
              <a:spcBef>
                <a:spcPts val="0"/>
              </a:spcBef>
              <a:spcAft>
                <a:spcPts val="0"/>
              </a:spcAft>
              <a:buClr>
                <a:schemeClr val="dk1"/>
              </a:buClr>
              <a:buSzPts val="1200"/>
              <a:buFont typeface="Arial"/>
              <a:buChar char="•"/>
            </a:pPr>
            <a:r>
              <a:rPr lang="es-PE"/>
              <a:t>Ejecutar los bancos de pruebas y casos de prueba individuales, siguiendo nuestros procedimientos de pruebas. Podemos hacerlo manualmente o mediante el uso de herramientas de prueba de ejecución, de acuerdo con la secuencia prevista, la ejecución de la mayoría más importantes en primer lugar.</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Registrar el resultado de la ejecución de pruebas y registrar la identidad y las versiones del software en las herramientas de pruebas. Debemos saber exactamente lo que en las pruebas se utilizó contra la versión del software, tenemos que informar defectos con versiones específicas, y el registro de las pruebas para un registro de auditoría.</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Comparar los resultados reales (lo que pasó cuando nos encontramos con las pruebas) con los resultados esperados (lo que habíamos anticipado que ocurriría).</a:t>
            </a:r>
            <a:endParaRPr/>
          </a:p>
          <a:p>
            <a:pPr marL="0" lvl="0" indent="0" algn="l" rtl="0">
              <a:spcBef>
                <a:spcPts val="0"/>
              </a:spcBef>
              <a:spcAft>
                <a:spcPts val="0"/>
              </a:spcAft>
              <a:buNone/>
            </a:pPr>
            <a:endParaRPr/>
          </a:p>
        </p:txBody>
      </p:sp>
      <p:sp>
        <p:nvSpPr>
          <p:cNvPr id="99" name="Google Shape;99;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 name="Google Shape;11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1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La prueba de unidad es la primera fase de las pruebas dinámicas y se realizan sobre cada módulo del software de manera independiente. El objetivo es comprobar que el módulo, entendido como una unidad funcional de un programa independiente, está correctamente codificado. En estas pruebas cada módulo será probado por separado y lo hará, generalmente, la persona que lo creó. En general, un módulo se entiende como un componente software que cumple las siguientes características: −Debe ser un bloque básico de construcción de programas. −Debe implementar una función independiente simple. −Podrá ser probado al cien por cien por separado. −No deberá tener más de 500 líneas de código. Tanto las pruebas de caja blanca como las de caja negra han de aplicar para probar de la manera más completa posible un módulo. Nótese que las pruebas de caja negra (los casos de prueba) se pueden especificar antes de que módulo sea programado, no así las pruebas de caja blanca. </a:t>
            </a:r>
            <a:endParaRPr/>
          </a:p>
          <a:p>
            <a:pPr marL="0" lvl="0" indent="0" algn="l" rtl="0">
              <a:spcBef>
                <a:spcPts val="0"/>
              </a:spcBef>
              <a:spcAft>
                <a:spcPts val="0"/>
              </a:spcAft>
              <a:buNone/>
            </a:pPr>
            <a:endParaRPr/>
          </a:p>
          <a:p>
            <a:pPr marL="171450" lvl="0" indent="-171450" algn="just" rtl="0">
              <a:spcBef>
                <a:spcPts val="0"/>
              </a:spcBef>
              <a:spcAft>
                <a:spcPts val="0"/>
              </a:spcAft>
              <a:buClr>
                <a:schemeClr val="dk1"/>
              </a:buClr>
              <a:buSzPts val="1200"/>
              <a:buFont typeface="Arial"/>
              <a:buChar char="•"/>
            </a:pPr>
            <a:r>
              <a:rPr lang="es-PE"/>
              <a:t>Las pruebas unitarias intentan asegurar que el código escrito para una unidad o componente concuerde con su especificación, previamente a su integración con otras unidades.</a:t>
            </a:r>
            <a:endParaRPr/>
          </a:p>
          <a:p>
            <a:pPr marL="171450" lvl="0" indent="-171450" algn="just" rtl="0">
              <a:spcBef>
                <a:spcPts val="0"/>
              </a:spcBef>
              <a:spcAft>
                <a:spcPts val="0"/>
              </a:spcAft>
              <a:buClr>
                <a:schemeClr val="dk1"/>
              </a:buClr>
              <a:buSzPts val="1200"/>
              <a:buFont typeface="Arial"/>
              <a:buChar char="•"/>
            </a:pPr>
            <a:r>
              <a:rPr lang="es-PE"/>
              <a:t>Se suele usar un “Unit Test Framework”.</a:t>
            </a:r>
            <a:endParaRPr/>
          </a:p>
          <a:p>
            <a:pPr marL="171450" lvl="0" indent="-171450" algn="just" rtl="0">
              <a:spcBef>
                <a:spcPts val="0"/>
              </a:spcBef>
              <a:spcAft>
                <a:spcPts val="0"/>
              </a:spcAft>
              <a:buClr>
                <a:schemeClr val="dk1"/>
              </a:buClr>
              <a:buSzPts val="1200"/>
              <a:buFont typeface="Arial"/>
              <a:buChar char="•"/>
            </a:pPr>
            <a:r>
              <a:rPr lang="es-PE"/>
              <a:t>Una metodología es TDD (Test-Driven Development).</a:t>
            </a:r>
            <a:endParaRPr/>
          </a:p>
          <a:p>
            <a:pPr marL="171450" lvl="0" indent="-171450" algn="just" rtl="0">
              <a:spcBef>
                <a:spcPts val="0"/>
              </a:spcBef>
              <a:spcAft>
                <a:spcPts val="0"/>
              </a:spcAft>
              <a:buClr>
                <a:schemeClr val="dk1"/>
              </a:buClr>
              <a:buSzPts val="1200"/>
              <a:buFont typeface="Arial"/>
              <a:buChar char="•"/>
            </a:pPr>
            <a:r>
              <a:rPr lang="es-PE"/>
              <a:t>Las pruebas unitarias son usualmente realizadas por el desarrollador que escribió el código.</a:t>
            </a:r>
            <a:endParaRPr/>
          </a:p>
          <a:p>
            <a:pPr marL="0" lvl="0" indent="0" algn="l" rtl="0">
              <a:spcBef>
                <a:spcPts val="0"/>
              </a:spcBef>
              <a:spcAft>
                <a:spcPts val="0"/>
              </a:spcAft>
              <a:buNone/>
            </a:pPr>
            <a:endParaRPr/>
          </a:p>
        </p:txBody>
      </p:sp>
      <p:sp>
        <p:nvSpPr>
          <p:cNvPr id="138" name="Google Shape;13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14</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Aun cuando los módulos de un programa funcionen bien por separado es necesario probarlos conjuntamente: un módulo puede tener un efecto adverso o inadvertido sobre otro módulo; las subfunciones, cuando se combinan, pueden no producir la función principal deseada; la imprecisión aceptada individualmente puede crecer hasta niveles inaceptables al combinar los módulos; los datos pueden perderse o malinterpretarse entre interfaces, etc. Por lo tanto, es necesario probar el software ensamblando todos los módulos probados previamente. Ésta es el objetivo de las pruebas de integración. A menudo hay una tendencia a intentar una integración no incremental; es decir, a combinar todos los módulos y probar todo el programa en su conjunto. El resultado puede ser un poco caótico con un gran conjunto de fallos y la consiguiente dificultad para identificar el módulo (o módulos) que los provocó. En contra, se puede aplicar la integración incremental en la que el programa se prueba en pequeñas porciones en las que los fallos son más fáciles de detectar. Existen dos tipos de integración incremental, la denominada ascendente y descendente. </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s-PE"/>
              <a:t>Para la generación de casos de prueba de integración, ya sea descendente o ascendente se utilizan técnicas de caja negra. </a:t>
            </a:r>
            <a:endParaRPr/>
          </a:p>
          <a:p>
            <a:pPr marL="171450" lvl="0" indent="-95250" algn="l"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El propósito de una prueba de integración es exponer defectos en las interfaces y en las interacciones entre componentes integrados o sistemas.</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Los objetos de prueba serían esencialmente el código de la interfase</a:t>
            </a:r>
            <a:endParaRPr/>
          </a:p>
          <a:p>
            <a:pPr marL="171450" lvl="0" indent="-95250" algn="just" rtl="0">
              <a:spcBef>
                <a:spcPts val="0"/>
              </a:spcBef>
              <a:spcAft>
                <a:spcPts val="0"/>
              </a:spcAft>
              <a:buClr>
                <a:schemeClr val="dk1"/>
              </a:buClr>
              <a:buSzPts val="1200"/>
              <a:buFont typeface="Arial"/>
              <a:buNone/>
            </a:pPr>
            <a:endParaRPr/>
          </a:p>
          <a:p>
            <a:pPr marL="171450" lvl="0" indent="-171450" algn="just" rtl="0">
              <a:spcBef>
                <a:spcPts val="0"/>
              </a:spcBef>
              <a:spcAft>
                <a:spcPts val="0"/>
              </a:spcAft>
              <a:buClr>
                <a:schemeClr val="dk1"/>
              </a:buClr>
              <a:buSzPts val="1200"/>
              <a:buFont typeface="Arial"/>
              <a:buChar char="•"/>
            </a:pPr>
            <a:r>
              <a:rPr lang="es-PE"/>
              <a:t>Estrategia de integración Big Bang</a:t>
            </a:r>
            <a:endParaRPr/>
          </a:p>
          <a:p>
            <a:pPr marL="628650" lvl="1" indent="-171450" algn="just" rtl="0">
              <a:spcBef>
                <a:spcPts val="0"/>
              </a:spcBef>
              <a:spcAft>
                <a:spcPts val="0"/>
              </a:spcAft>
              <a:buClr>
                <a:schemeClr val="dk1"/>
              </a:buClr>
              <a:buSzPts val="1200"/>
              <a:buFont typeface="Arial"/>
              <a:buChar char="•"/>
            </a:pPr>
            <a:r>
              <a:rPr lang="es-PE"/>
              <a:t>Todas las unidades son unidas a la vez resultando en un sistema completo</a:t>
            </a:r>
            <a:endParaRPr/>
          </a:p>
          <a:p>
            <a:pPr marL="628650" lvl="1" indent="-171450" algn="just" rtl="0">
              <a:spcBef>
                <a:spcPts val="0"/>
              </a:spcBef>
              <a:spcAft>
                <a:spcPts val="0"/>
              </a:spcAft>
              <a:buClr>
                <a:schemeClr val="dk1"/>
              </a:buClr>
              <a:buSzPts val="1200"/>
              <a:buFont typeface="Arial"/>
              <a:buChar char="•"/>
            </a:pPr>
            <a:r>
              <a:rPr lang="es-PE"/>
              <a:t>Es difícil aislar cualquier error encontrado</a:t>
            </a:r>
            <a:endParaRPr/>
          </a:p>
          <a:p>
            <a:pPr marL="0" lvl="0" indent="0" algn="l" rtl="0">
              <a:spcBef>
                <a:spcPts val="0"/>
              </a:spcBef>
              <a:spcAft>
                <a:spcPts val="0"/>
              </a:spcAft>
              <a:buNone/>
            </a:pPr>
            <a:endParaRPr/>
          </a:p>
        </p:txBody>
      </p:sp>
      <p:sp>
        <p:nvSpPr>
          <p:cNvPr id="192" name="Google Shape;19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a:t>Integración incremental descendente: 1. Se usa el módulo de control principal como controlador de la prueba, creando resguardos (módulos que simulan el funcionamiento de los módulos que utiliza el que está probando) para todos los módulos directamente subordinados al módulo de control principal. 2. Dependiendo del enfoque e integración elegido (es decir, primero-en-profundidad, o primero-en-anchura) se van sustituyendo uno a uno los resguardos subordinados por los módulos reales. 3. Se llevan a cabo pruebas cada vez que se integra un nuevo módulo. 4. Tras terminar cada conjunto de pruebas, se reemplaza otro resguardo con el módulo real. </a:t>
            </a:r>
            <a:endParaRPr/>
          </a:p>
          <a:p>
            <a:pPr marL="0" lvl="0" indent="0" algn="l" rtl="0">
              <a:spcBef>
                <a:spcPts val="0"/>
              </a:spcBef>
              <a:spcAft>
                <a:spcPts val="0"/>
              </a:spcAft>
              <a:buNone/>
            </a:pPr>
            <a:endParaRPr/>
          </a:p>
        </p:txBody>
      </p:sp>
      <p:sp>
        <p:nvSpPr>
          <p:cNvPr id="199" name="Google Shape;199;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Integración incremental ascendente: 1. Se combinan los módulos de bajo nivel en grupos que realicen una subfunción específica 2. Se escribe un controlador (un programa de control de la prueba) para coordinar la entrada y salida de los casos de prueba. 3. Se prueba el grupo 4. Se eliminan los controladores y se combinan los grupos moviéndose hacia arriba por la estructura del programa. </a:t>
            </a:r>
            <a:endParaRPr/>
          </a:p>
          <a:p>
            <a:pPr marL="0" lvl="0" indent="0" algn="l" rtl="0">
              <a:spcBef>
                <a:spcPts val="0"/>
              </a:spcBef>
              <a:spcAft>
                <a:spcPts val="0"/>
              </a:spcAft>
              <a:buNone/>
            </a:pPr>
            <a:endParaRPr/>
          </a:p>
        </p:txBody>
      </p:sp>
      <p:sp>
        <p:nvSpPr>
          <p:cNvPr id="208" name="Google Shape;208;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19</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s-PE"/>
              <a:t>Este tipo de pruebas tiene como propósito ejercitar profundamente el sistema para verificar que se han integrado adecuadamente todos los elementos del sistema (hardware, otro software, etc.) y que realizan las funciones adecuadas. Concretamente se debe comprobar que: - Se cumplen los requisitos funcionales establecidos. - El funcionamiento y rendimiento de las interfaces hardware, software y de usuario. - La adecuación de la documentación de usuario. - Rendimiento y respuesta en condiciones límite y de sobrecarga. Para la generación de casos de prueba de sistema se utilizan técnicas de caja negra. Este tipo de pruebas se suelen hacer inicialmente en el entorno del desarrollador, denominadas Pruebas Alfa, y seguidamente en el entorno del cliente denominadas Pruebas Beta. </a:t>
            </a:r>
            <a:endParaRPr/>
          </a:p>
          <a:p>
            <a:pPr marL="0" lvl="0" indent="0" algn="l" rtl="0">
              <a:spcBef>
                <a:spcPts val="0"/>
              </a:spcBef>
              <a:spcAft>
                <a:spcPts val="0"/>
              </a:spcAft>
              <a:buNone/>
            </a:pPr>
            <a:endParaRPr/>
          </a:p>
        </p:txBody>
      </p:sp>
      <p:sp>
        <p:nvSpPr>
          <p:cNvPr id="217" name="Google Shape;217;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1045"/>
              <a:buFont typeface="Arial"/>
              <a:buNone/>
            </a:pPr>
            <a:r>
              <a:rPr lang="es-PE" sz="1100">
                <a:solidFill>
                  <a:srgbClr val="7F7F7F"/>
                </a:solidFill>
                <a:latin typeface="Arial"/>
                <a:ea typeface="Arial"/>
                <a:cs typeface="Arial"/>
                <a:sym typeface="Arial"/>
              </a:rPr>
              <a:t>Pruebas Funcionales </a:t>
            </a:r>
            <a:endParaRPr/>
          </a:p>
          <a:p>
            <a:pPr marL="0" lvl="0" indent="0" algn="l" rtl="0">
              <a:spcBef>
                <a:spcPts val="700"/>
              </a:spcBef>
              <a:spcAft>
                <a:spcPts val="0"/>
              </a:spcAft>
              <a:buClr>
                <a:schemeClr val="dk2"/>
              </a:buClr>
              <a:buSzPts val="1045"/>
              <a:buFont typeface="Arial"/>
              <a:buNone/>
            </a:pPr>
            <a:r>
              <a:rPr lang="es-PE" sz="1100">
                <a:solidFill>
                  <a:srgbClr val="7F7F7F"/>
                </a:solidFill>
                <a:latin typeface="Arial"/>
                <a:ea typeface="Arial"/>
                <a:cs typeface="Arial"/>
                <a:sym typeface="Arial"/>
              </a:rPr>
              <a:t>http://vyvquality.com/pruebas-funcionales/</a:t>
            </a:r>
            <a:endParaRPr/>
          </a:p>
          <a:p>
            <a:pPr marL="0" lvl="0" indent="0" algn="l" rtl="0">
              <a:spcBef>
                <a:spcPts val="700"/>
              </a:spcBef>
              <a:spcAft>
                <a:spcPts val="0"/>
              </a:spcAft>
              <a:buClr>
                <a:schemeClr val="dk2"/>
              </a:buClr>
              <a:buSzPts val="1045"/>
              <a:buFont typeface="Arial"/>
              <a:buNone/>
            </a:pPr>
            <a:endParaRPr sz="1100">
              <a:solidFill>
                <a:srgbClr val="7F7F7F"/>
              </a:solidFill>
              <a:latin typeface="Arial"/>
              <a:ea typeface="Arial"/>
              <a:cs typeface="Arial"/>
              <a:sym typeface="Arial"/>
            </a:endParaRPr>
          </a:p>
          <a:p>
            <a:pPr marL="171450" lvl="0" indent="-171450" algn="l" rtl="0">
              <a:spcBef>
                <a:spcPts val="700"/>
              </a:spcBef>
              <a:spcAft>
                <a:spcPts val="0"/>
              </a:spcAft>
              <a:buClr>
                <a:schemeClr val="dk2"/>
              </a:buClr>
              <a:buSzPts val="1045"/>
              <a:buFont typeface="Arial"/>
              <a:buChar char="•"/>
            </a:pPr>
            <a:r>
              <a:rPr lang="es-PE" sz="1100">
                <a:solidFill>
                  <a:srgbClr val="7F7F7F"/>
                </a:solidFill>
                <a:latin typeface="Arial"/>
                <a:ea typeface="Arial"/>
                <a:cs typeface="Arial"/>
                <a:sym typeface="Arial"/>
              </a:rPr>
              <a:t>Especifica una función que un sistema o componente de sistema debe realizar</a:t>
            </a:r>
            <a:endParaRPr/>
          </a:p>
          <a:p>
            <a:pPr marL="171450" lvl="0" indent="-171450" algn="l" rtl="0">
              <a:spcBef>
                <a:spcPts val="700"/>
              </a:spcBef>
              <a:spcAft>
                <a:spcPts val="0"/>
              </a:spcAft>
              <a:buClr>
                <a:schemeClr val="dk2"/>
              </a:buClr>
              <a:buSzPts val="1045"/>
              <a:buFont typeface="Arial"/>
              <a:buChar char="•"/>
            </a:pPr>
            <a:r>
              <a:rPr lang="es-PE" sz="1100">
                <a:solidFill>
                  <a:srgbClr val="7F7F7F"/>
                </a:solidFill>
                <a:latin typeface="Arial"/>
                <a:ea typeface="Arial"/>
                <a:cs typeface="Arial"/>
                <a:sym typeface="Arial"/>
              </a:rPr>
              <a:t>Puede ser específico a un sistema.</a:t>
            </a:r>
            <a:endParaRPr/>
          </a:p>
          <a:p>
            <a:pPr marL="571500" lvl="1" indent="-171450" algn="l" rtl="0">
              <a:spcBef>
                <a:spcPts val="700"/>
              </a:spcBef>
              <a:spcAft>
                <a:spcPts val="0"/>
              </a:spcAft>
              <a:buClr>
                <a:schemeClr val="dk2"/>
              </a:buClr>
              <a:buSzPts val="1045"/>
              <a:buFont typeface="Arial"/>
              <a:buChar char="•"/>
            </a:pPr>
            <a:r>
              <a:rPr lang="es-PE" sz="1100" b="1">
                <a:solidFill>
                  <a:srgbClr val="2777C8"/>
                </a:solidFill>
                <a:latin typeface="Arial"/>
                <a:ea typeface="Arial"/>
                <a:cs typeface="Arial"/>
                <a:sym typeface="Arial"/>
              </a:rPr>
              <a:t>Ejemplo</a:t>
            </a:r>
            <a:r>
              <a:rPr lang="es-PE" sz="1100">
                <a:solidFill>
                  <a:srgbClr val="7F7F7F"/>
                </a:solidFill>
                <a:latin typeface="Arial"/>
                <a:ea typeface="Arial"/>
                <a:cs typeface="Arial"/>
                <a:sym typeface="Arial"/>
              </a:rPr>
              <a:t>: Poder buscar vuelos en un sitio web y a la vez verificar en un banco en línea por saldos para el pago del boleto aéreo.</a:t>
            </a:r>
            <a:endParaRPr/>
          </a:p>
          <a:p>
            <a:pPr marL="0" lvl="0" indent="0" algn="l" rtl="0">
              <a:spcBef>
                <a:spcPts val="0"/>
              </a:spcBef>
              <a:spcAft>
                <a:spcPts val="0"/>
              </a:spcAft>
              <a:buNone/>
            </a:pPr>
            <a:endParaRPr/>
          </a:p>
          <a:p>
            <a:pPr marL="0" lvl="0" indent="0" algn="l" rtl="0">
              <a:spcBef>
                <a:spcPts val="0"/>
              </a:spcBef>
              <a:spcAft>
                <a:spcPts val="0"/>
              </a:spcAft>
              <a:buNone/>
            </a:pPr>
            <a:r>
              <a:rPr lang="es-PE"/>
              <a:t>Pruebas No Funcionales</a:t>
            </a:r>
            <a:endParaRPr/>
          </a:p>
          <a:p>
            <a:pPr marL="0" lvl="0" indent="0" algn="l" rtl="0">
              <a:spcBef>
                <a:spcPts val="0"/>
              </a:spcBef>
              <a:spcAft>
                <a:spcPts val="0"/>
              </a:spcAft>
              <a:buNone/>
            </a:pPr>
            <a:r>
              <a:rPr lang="es-PE"/>
              <a:t>http://vyvquality.com/pruebas-rendimiento/</a:t>
            </a:r>
            <a:endParaRPr/>
          </a:p>
          <a:p>
            <a:pPr marL="0" lvl="0" indent="0" algn="l" rtl="0">
              <a:spcBef>
                <a:spcPts val="0"/>
              </a:spcBef>
              <a:spcAft>
                <a:spcPts val="0"/>
              </a:spcAft>
              <a:buNone/>
            </a:pPr>
            <a:endParaRPr/>
          </a:p>
          <a:p>
            <a:pPr marL="171450" lvl="0" indent="-171450" algn="l" rtl="0">
              <a:spcBef>
                <a:spcPts val="700"/>
              </a:spcBef>
              <a:spcAft>
                <a:spcPts val="0"/>
              </a:spcAft>
              <a:buClr>
                <a:schemeClr val="dk2"/>
              </a:buClr>
              <a:buSzPts val="1140"/>
              <a:buFont typeface="Arial"/>
              <a:buChar char="•"/>
            </a:pPr>
            <a:r>
              <a:rPr lang="es-PE" sz="1200">
                <a:solidFill>
                  <a:srgbClr val="7F7F7F"/>
                </a:solidFill>
                <a:latin typeface="Arial"/>
                <a:ea typeface="Arial"/>
                <a:cs typeface="Arial"/>
                <a:sym typeface="Arial"/>
              </a:rPr>
              <a:t>Las pruebas de sistema no-funcionales se enfoca en aquellos aspectos que son importantes, pero no directamente relacionados con el comportamiento del sistema.</a:t>
            </a:r>
            <a:endParaRPr/>
          </a:p>
          <a:p>
            <a:pPr marL="171450" lvl="0" indent="-171450" algn="l" rtl="0">
              <a:spcBef>
                <a:spcPts val="700"/>
              </a:spcBef>
              <a:spcAft>
                <a:spcPts val="0"/>
              </a:spcAft>
              <a:buClr>
                <a:schemeClr val="dk2"/>
              </a:buClr>
              <a:buSzPts val="1140"/>
              <a:buFont typeface="Arial"/>
              <a:buChar char="•"/>
            </a:pPr>
            <a:r>
              <a:rPr lang="es-PE" sz="1200">
                <a:solidFill>
                  <a:srgbClr val="7F7F7F"/>
                </a:solidFill>
                <a:latin typeface="Arial"/>
                <a:ea typeface="Arial"/>
                <a:cs typeface="Arial"/>
                <a:sym typeface="Arial"/>
              </a:rPr>
              <a:t>Son requerimientos genéricos que pueden ser aplicados a otros tipos de sistemas.</a:t>
            </a:r>
            <a:endParaRPr/>
          </a:p>
          <a:p>
            <a:pPr marL="0" marR="0" lvl="0" indent="0" algn="l" rtl="0">
              <a:lnSpc>
                <a:spcPct val="100000"/>
              </a:lnSpc>
              <a:spcBef>
                <a:spcPts val="0"/>
              </a:spcBef>
              <a:spcAft>
                <a:spcPts val="0"/>
              </a:spcAft>
              <a:buClr>
                <a:schemeClr val="dk1"/>
              </a:buClr>
              <a:buSzPts val="1200"/>
              <a:buFont typeface="Calibri"/>
              <a:buNone/>
            </a:pPr>
            <a:endParaRPr sz="1200"/>
          </a:p>
          <a:p>
            <a:pPr marL="0" marR="0" lvl="0" indent="0" algn="l" rtl="0">
              <a:lnSpc>
                <a:spcPct val="100000"/>
              </a:lnSpc>
              <a:spcBef>
                <a:spcPts val="0"/>
              </a:spcBef>
              <a:spcAft>
                <a:spcPts val="0"/>
              </a:spcAft>
              <a:buClr>
                <a:schemeClr val="dk1"/>
              </a:buClr>
              <a:buSzPts val="1200"/>
              <a:buFont typeface="Calibri"/>
              <a:buNone/>
            </a:pPr>
            <a:r>
              <a:rPr lang="es-PE" sz="1200"/>
              <a:t>¿Qué requerimientos no-funcionales prueba habitualmente?</a:t>
            </a:r>
            <a:endParaRPr/>
          </a:p>
          <a:p>
            <a:pPr marL="171450" lvl="0" indent="-171450" algn="l" rtl="0">
              <a:spcBef>
                <a:spcPts val="0"/>
              </a:spcBef>
              <a:spcAft>
                <a:spcPts val="0"/>
              </a:spcAft>
              <a:buClr>
                <a:schemeClr val="dk1"/>
              </a:buClr>
              <a:buSzPts val="1200"/>
              <a:buFont typeface="Arial"/>
              <a:buChar char="•"/>
            </a:pPr>
            <a:r>
              <a:rPr lang="es-PE"/>
              <a:t>Installability—installation procedures. </a:t>
            </a:r>
            <a:endParaRPr/>
          </a:p>
          <a:p>
            <a:pPr marL="171450" lvl="0" indent="-171450" algn="l" rtl="0">
              <a:spcBef>
                <a:spcPts val="0"/>
              </a:spcBef>
              <a:spcAft>
                <a:spcPts val="0"/>
              </a:spcAft>
              <a:buClr>
                <a:schemeClr val="dk1"/>
              </a:buClr>
              <a:buSzPts val="1200"/>
              <a:buFont typeface="Arial"/>
              <a:buChar char="•"/>
            </a:pPr>
            <a:r>
              <a:rPr lang="es-PE"/>
              <a:t>Maintainability—ability to introduce changes to the system.</a:t>
            </a:r>
            <a:endParaRPr/>
          </a:p>
          <a:p>
            <a:pPr marL="171450" lvl="0" indent="-171450" algn="l" rtl="0">
              <a:spcBef>
                <a:spcPts val="0"/>
              </a:spcBef>
              <a:spcAft>
                <a:spcPts val="0"/>
              </a:spcAft>
              <a:buClr>
                <a:schemeClr val="dk1"/>
              </a:buClr>
              <a:buSzPts val="1200"/>
              <a:buFont typeface="Arial"/>
              <a:buChar char="•"/>
            </a:pPr>
            <a:r>
              <a:rPr lang="es-PE"/>
              <a:t>Performance—expected normal behaviour. </a:t>
            </a:r>
            <a:endParaRPr/>
          </a:p>
          <a:p>
            <a:pPr marL="171450" lvl="0" indent="-171450" algn="l" rtl="0">
              <a:spcBef>
                <a:spcPts val="0"/>
              </a:spcBef>
              <a:spcAft>
                <a:spcPts val="0"/>
              </a:spcAft>
              <a:buClr>
                <a:schemeClr val="dk1"/>
              </a:buClr>
              <a:buSzPts val="1200"/>
              <a:buFont typeface="Arial"/>
              <a:buChar char="•"/>
            </a:pPr>
            <a:r>
              <a:rPr lang="es-PE"/>
              <a:t>Load handling—behaviour of the system under increasing load. </a:t>
            </a:r>
            <a:endParaRPr/>
          </a:p>
          <a:p>
            <a:pPr marL="171450" lvl="0" indent="-171450" algn="l" rtl="0">
              <a:spcBef>
                <a:spcPts val="0"/>
              </a:spcBef>
              <a:spcAft>
                <a:spcPts val="0"/>
              </a:spcAft>
              <a:buClr>
                <a:schemeClr val="dk1"/>
              </a:buClr>
              <a:buSzPts val="1200"/>
              <a:buFont typeface="Arial"/>
              <a:buChar char="•"/>
            </a:pPr>
            <a:r>
              <a:rPr lang="es-PE"/>
              <a:t>Stress handling—behaviour at the upper limits of system capability. </a:t>
            </a:r>
            <a:endParaRPr/>
          </a:p>
          <a:p>
            <a:pPr marL="171450" lvl="0" indent="-171450" algn="l" rtl="0">
              <a:spcBef>
                <a:spcPts val="0"/>
              </a:spcBef>
              <a:spcAft>
                <a:spcPts val="0"/>
              </a:spcAft>
              <a:buClr>
                <a:schemeClr val="dk1"/>
              </a:buClr>
              <a:buSzPts val="1200"/>
              <a:buFont typeface="Arial"/>
              <a:buChar char="•"/>
            </a:pPr>
            <a:r>
              <a:rPr lang="es-PE"/>
              <a:t>Portability—use on different operating platforms. </a:t>
            </a:r>
            <a:endParaRPr/>
          </a:p>
          <a:p>
            <a:pPr marL="171450" lvl="0" indent="-171450" algn="l" rtl="0">
              <a:spcBef>
                <a:spcPts val="0"/>
              </a:spcBef>
              <a:spcAft>
                <a:spcPts val="0"/>
              </a:spcAft>
              <a:buClr>
                <a:schemeClr val="dk1"/>
              </a:buClr>
              <a:buSzPts val="1200"/>
              <a:buFont typeface="Arial"/>
              <a:buChar char="•"/>
            </a:pPr>
            <a:r>
              <a:rPr lang="es-PE"/>
              <a:t>Recovery—recovery procedures on failure.</a:t>
            </a:r>
            <a:endParaRPr/>
          </a:p>
          <a:p>
            <a:pPr marL="171450" lvl="0" indent="-171450" algn="l" rtl="0">
              <a:spcBef>
                <a:spcPts val="0"/>
              </a:spcBef>
              <a:spcAft>
                <a:spcPts val="0"/>
              </a:spcAft>
              <a:buClr>
                <a:schemeClr val="dk1"/>
              </a:buClr>
              <a:buSzPts val="1200"/>
              <a:buFont typeface="Arial"/>
              <a:buChar char="•"/>
            </a:pPr>
            <a:r>
              <a:rPr lang="es-PE"/>
              <a:t>Reliability—ability of the software to perform its required functions over time. </a:t>
            </a:r>
            <a:endParaRPr/>
          </a:p>
          <a:p>
            <a:pPr marL="171450" lvl="0" indent="-171450" algn="l" rtl="0">
              <a:spcBef>
                <a:spcPts val="0"/>
              </a:spcBef>
              <a:spcAft>
                <a:spcPts val="0"/>
              </a:spcAft>
              <a:buClr>
                <a:schemeClr val="dk1"/>
              </a:buClr>
              <a:buSzPts val="1200"/>
              <a:buFont typeface="Arial"/>
              <a:buChar char="•"/>
            </a:pPr>
            <a:r>
              <a:rPr lang="es-PE"/>
              <a:t>Usability—ease with which users can engage with the system. </a:t>
            </a:r>
            <a:endParaRPr/>
          </a:p>
          <a:p>
            <a:pPr marL="0" lvl="0" indent="0" algn="l" rtl="0">
              <a:spcBef>
                <a:spcPts val="0"/>
              </a:spcBef>
              <a:spcAft>
                <a:spcPts val="0"/>
              </a:spcAft>
              <a:buNone/>
            </a:pPr>
            <a:endParaRPr/>
          </a:p>
          <a:p>
            <a:pPr marL="171450" lvl="0" indent="-171450" algn="l" rtl="0">
              <a:spcBef>
                <a:spcPts val="0"/>
              </a:spcBef>
              <a:spcAft>
                <a:spcPts val="0"/>
              </a:spcAft>
              <a:buClr>
                <a:schemeClr val="dk1"/>
              </a:buClr>
              <a:buSzPts val="1200"/>
              <a:buFont typeface="Arial"/>
              <a:buChar char="•"/>
            </a:pPr>
            <a:r>
              <a:rPr lang="es-PE"/>
              <a:t>Instalabilidad: procedimientos de instalación. </a:t>
            </a:r>
            <a:endParaRPr/>
          </a:p>
          <a:p>
            <a:pPr marL="171450" lvl="0" indent="-171450" algn="l" rtl="0">
              <a:spcBef>
                <a:spcPts val="0"/>
              </a:spcBef>
              <a:spcAft>
                <a:spcPts val="0"/>
              </a:spcAft>
              <a:buClr>
                <a:schemeClr val="dk1"/>
              </a:buClr>
              <a:buSzPts val="1200"/>
              <a:buFont typeface="Arial"/>
              <a:buChar char="•"/>
            </a:pPr>
            <a:r>
              <a:rPr lang="es-PE"/>
              <a:t>Mantenibilidad: capacidad de introducir cambios en el sistema.</a:t>
            </a:r>
            <a:endParaRPr/>
          </a:p>
          <a:p>
            <a:pPr marL="171450" lvl="0" indent="-171450" algn="l" rtl="0">
              <a:spcBef>
                <a:spcPts val="0"/>
              </a:spcBef>
              <a:spcAft>
                <a:spcPts val="0"/>
              </a:spcAft>
              <a:buClr>
                <a:schemeClr val="dk1"/>
              </a:buClr>
              <a:buSzPts val="1200"/>
              <a:buFont typeface="Arial"/>
              <a:buChar char="•"/>
            </a:pPr>
            <a:r>
              <a:rPr lang="es-PE"/>
              <a:t>Rendimiento: comportamiento normal esperado. </a:t>
            </a:r>
            <a:endParaRPr/>
          </a:p>
          <a:p>
            <a:pPr marL="171450" lvl="0" indent="-171450" algn="l" rtl="0">
              <a:spcBef>
                <a:spcPts val="0"/>
              </a:spcBef>
              <a:spcAft>
                <a:spcPts val="0"/>
              </a:spcAft>
              <a:buClr>
                <a:schemeClr val="dk1"/>
              </a:buClr>
              <a:buSzPts val="1200"/>
              <a:buFont typeface="Arial"/>
              <a:buChar char="•"/>
            </a:pPr>
            <a:r>
              <a:rPr lang="es-PE"/>
              <a:t>Manejo de carga: comportamiento del sistema bajo carga creciente. </a:t>
            </a:r>
            <a:endParaRPr/>
          </a:p>
          <a:p>
            <a:pPr marL="171450" lvl="0" indent="-171450" algn="l" rtl="0">
              <a:spcBef>
                <a:spcPts val="0"/>
              </a:spcBef>
              <a:spcAft>
                <a:spcPts val="0"/>
              </a:spcAft>
              <a:buClr>
                <a:schemeClr val="dk1"/>
              </a:buClr>
              <a:buSzPts val="1200"/>
              <a:buFont typeface="Arial"/>
              <a:buChar char="•"/>
            </a:pPr>
            <a:r>
              <a:rPr lang="es-PE"/>
              <a:t>Manejo del estrés: comportamiento en los límites superiores de la capacidad del sistema. </a:t>
            </a:r>
            <a:endParaRPr/>
          </a:p>
          <a:p>
            <a:pPr marL="171450" lvl="0" indent="-171450" algn="l" rtl="0">
              <a:spcBef>
                <a:spcPts val="0"/>
              </a:spcBef>
              <a:spcAft>
                <a:spcPts val="0"/>
              </a:spcAft>
              <a:buClr>
                <a:schemeClr val="dk1"/>
              </a:buClr>
              <a:buSzPts val="1200"/>
              <a:buFont typeface="Arial"/>
              <a:buChar char="•"/>
            </a:pPr>
            <a:r>
              <a:rPr lang="es-PE"/>
              <a:t>Portabilidad: uso en diferentes plataformas operativas. </a:t>
            </a:r>
            <a:endParaRPr/>
          </a:p>
          <a:p>
            <a:pPr marL="171450" lvl="0" indent="-171450" algn="l" rtl="0">
              <a:spcBef>
                <a:spcPts val="0"/>
              </a:spcBef>
              <a:spcAft>
                <a:spcPts val="0"/>
              </a:spcAft>
              <a:buClr>
                <a:schemeClr val="dk1"/>
              </a:buClr>
              <a:buSzPts val="1200"/>
              <a:buFont typeface="Arial"/>
              <a:buChar char="•"/>
            </a:pPr>
            <a:r>
              <a:rPr lang="es-PE"/>
              <a:t>Recuperación: procedimientos de recuperación en caso de falla.</a:t>
            </a:r>
            <a:endParaRPr/>
          </a:p>
          <a:p>
            <a:pPr marL="171450" lvl="0" indent="-171450" algn="l" rtl="0">
              <a:spcBef>
                <a:spcPts val="0"/>
              </a:spcBef>
              <a:spcAft>
                <a:spcPts val="0"/>
              </a:spcAft>
              <a:buClr>
                <a:schemeClr val="dk1"/>
              </a:buClr>
              <a:buSzPts val="1200"/>
              <a:buFont typeface="Arial"/>
              <a:buChar char="•"/>
            </a:pPr>
            <a:r>
              <a:rPr lang="es-PE"/>
              <a:t>Fiabilidad: capacidad del software para realizar las funciones requeridas a lo largo del tiempo. </a:t>
            </a:r>
            <a:endParaRPr/>
          </a:p>
          <a:p>
            <a:pPr marL="171450" lvl="0" indent="-171450" algn="l" rtl="0">
              <a:spcBef>
                <a:spcPts val="0"/>
              </a:spcBef>
              <a:spcAft>
                <a:spcPts val="0"/>
              </a:spcAft>
              <a:buClr>
                <a:schemeClr val="dk1"/>
              </a:buClr>
              <a:buSzPts val="1200"/>
              <a:buFont typeface="Arial"/>
              <a:buChar char="•"/>
            </a:pPr>
            <a:r>
              <a:rPr lang="es-PE"/>
              <a:t>Usabilidad: facilidad con la que los usuarios pueden interactuar con el sistema.</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25" name="Google Shape;225;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2"/>
              </a:buClr>
              <a:buSzPts val="1140"/>
              <a:buFont typeface="Arial"/>
              <a:buNone/>
            </a:pPr>
            <a:r>
              <a:rPr lang="es-PE" sz="1200">
                <a:solidFill>
                  <a:srgbClr val="7F7F7F"/>
                </a:solidFill>
                <a:latin typeface="Arial"/>
                <a:ea typeface="Arial"/>
                <a:cs typeface="Arial"/>
                <a:sym typeface="Arial"/>
              </a:rPr>
              <a:t>Pruebas de Seguridad</a:t>
            </a:r>
            <a:endParaRPr/>
          </a:p>
          <a:p>
            <a:pPr marL="0" lvl="0" indent="0" algn="l" rtl="0">
              <a:spcBef>
                <a:spcPts val="700"/>
              </a:spcBef>
              <a:spcAft>
                <a:spcPts val="0"/>
              </a:spcAft>
              <a:buClr>
                <a:schemeClr val="dk2"/>
              </a:buClr>
              <a:buSzPts val="1140"/>
              <a:buFont typeface="Arial"/>
              <a:buNone/>
            </a:pPr>
            <a:r>
              <a:rPr lang="es-PE" sz="1200">
                <a:solidFill>
                  <a:srgbClr val="7F7F7F"/>
                </a:solidFill>
                <a:latin typeface="Arial"/>
                <a:ea typeface="Arial"/>
                <a:cs typeface="Arial"/>
                <a:sym typeface="Arial"/>
              </a:rPr>
              <a:t>http://vyvquality.com/pruebas-seguridad/</a:t>
            </a:r>
            <a:endParaRPr/>
          </a:p>
          <a:p>
            <a:pPr marL="0" lvl="0" indent="0" algn="l" rtl="0">
              <a:spcBef>
                <a:spcPts val="700"/>
              </a:spcBef>
              <a:spcAft>
                <a:spcPts val="0"/>
              </a:spcAft>
              <a:buClr>
                <a:schemeClr val="dk2"/>
              </a:buClr>
              <a:buSzPts val="1140"/>
              <a:buFont typeface="Arial"/>
              <a:buNone/>
            </a:pPr>
            <a:endParaRPr sz="1200">
              <a:solidFill>
                <a:srgbClr val="7F7F7F"/>
              </a:solidFill>
              <a:latin typeface="Arial"/>
              <a:ea typeface="Arial"/>
              <a:cs typeface="Arial"/>
              <a:sym typeface="Arial"/>
            </a:endParaRPr>
          </a:p>
          <a:p>
            <a:pPr marL="0" lvl="0" indent="0" algn="l" rtl="0">
              <a:spcBef>
                <a:spcPts val="700"/>
              </a:spcBef>
              <a:spcAft>
                <a:spcPts val="0"/>
              </a:spcAft>
              <a:buClr>
                <a:schemeClr val="dk2"/>
              </a:buClr>
              <a:buSzPts val="1140"/>
              <a:buFont typeface="Arial"/>
              <a:buNone/>
            </a:pPr>
            <a:r>
              <a:rPr lang="es-PE" sz="1200">
                <a:solidFill>
                  <a:srgbClr val="7F7F7F"/>
                </a:solidFill>
                <a:latin typeface="Arial"/>
                <a:ea typeface="Arial"/>
                <a:cs typeface="Arial"/>
                <a:sym typeface="Arial"/>
              </a:rPr>
              <a:t>Análisis de Procesos</a:t>
            </a:r>
            <a:endParaRPr/>
          </a:p>
          <a:p>
            <a:pPr marL="0" lvl="0" indent="0" algn="l" rtl="0">
              <a:spcBef>
                <a:spcPts val="700"/>
              </a:spcBef>
              <a:spcAft>
                <a:spcPts val="0"/>
              </a:spcAft>
              <a:buClr>
                <a:schemeClr val="dk2"/>
              </a:buClr>
              <a:buSzPts val="1140"/>
              <a:buFont typeface="Arial"/>
              <a:buNone/>
            </a:pPr>
            <a:r>
              <a:rPr lang="es-PE" sz="1200">
                <a:solidFill>
                  <a:srgbClr val="7F7F7F"/>
                </a:solidFill>
                <a:latin typeface="Arial"/>
                <a:ea typeface="Arial"/>
                <a:cs typeface="Arial"/>
                <a:sym typeface="Arial"/>
              </a:rPr>
              <a:t>http://vyvquality.com/analisis-procesos/</a:t>
            </a:r>
            <a:endParaRPr/>
          </a:p>
          <a:p>
            <a:pPr marL="0" lvl="0" indent="0" algn="l" rtl="0">
              <a:spcBef>
                <a:spcPts val="0"/>
              </a:spcBef>
              <a:spcAft>
                <a:spcPts val="0"/>
              </a:spcAft>
              <a:buNone/>
            </a:pPr>
            <a:endParaRPr/>
          </a:p>
        </p:txBody>
      </p:sp>
      <p:sp>
        <p:nvSpPr>
          <p:cNvPr id="234" name="Google Shape;234;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p2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s-PE"/>
              <a:t>A la hora de realizar estas pruebas, el producto está listo para implantarse en el entorno del cliente. El usuario debe ser el que realice las pruebas, ayudado por personas del equipo de pruebas, siendo deseable, que sea el mismo usuario quien aporte los casos de prueba. Estas pruebas se caracterizan por: -Participación activa del usuario, que debe ejecutar los casos de prueba ayudado por miembros del equipo de pruebas. -Están enfocadas a probar los requisitos de usuario, o mejor dicho a demostrar que no se cumplen los requisitos, los criterios de aceptación o el contrato. Si no se consigue demostrar esto el cliente deberá aceptar el producto -Corresponden a la fase final del proceso de desarrollo de software. Es muy recomendable que las pruebas de aceptación se realicen en el entorno en que se va a explotar el sistema (incluido el personal que lo maneje). En caso de un producto de interés general, se realizan pruebas con varios usuarios que reportarán sus valoraciones sobre el producto. Para la generación de casos de prueba de aceptación se utilizan técnicas de caja negra. </a:t>
            </a:r>
            <a:endParaRPr/>
          </a:p>
          <a:p>
            <a:pPr marL="0" lvl="0" indent="0" algn="l" rtl="0">
              <a:spcBef>
                <a:spcPts val="0"/>
              </a:spcBef>
              <a:spcAft>
                <a:spcPts val="0"/>
              </a:spcAft>
              <a:buNone/>
            </a:pPr>
            <a:endParaRPr/>
          </a:p>
          <a:p>
            <a:pPr marL="171450" lvl="0" indent="-171450" algn="just" rtl="0">
              <a:spcBef>
                <a:spcPts val="0"/>
              </a:spcBef>
              <a:spcAft>
                <a:spcPts val="0"/>
              </a:spcAft>
              <a:buClr>
                <a:schemeClr val="dk1"/>
              </a:buClr>
              <a:buSzPts val="1200"/>
              <a:buFont typeface="Noto Sans Symbols"/>
              <a:buChar char="▪"/>
            </a:pPr>
            <a:r>
              <a:rPr lang="es-PE"/>
              <a:t>Proporciona a los usuarios finales la conformidad de que el sistema funcionara de acuerdo con sus expectativas.</a:t>
            </a:r>
            <a:endParaRPr/>
          </a:p>
          <a:p>
            <a:pPr marL="171450" lvl="0" indent="-95250" algn="just" rtl="0">
              <a:spcBef>
                <a:spcPts val="0"/>
              </a:spcBef>
              <a:spcAft>
                <a:spcPts val="0"/>
              </a:spcAft>
              <a:buClr>
                <a:schemeClr val="dk1"/>
              </a:buClr>
              <a:buSzPts val="1200"/>
              <a:buFont typeface="Noto Sans Symbols"/>
              <a:buNone/>
            </a:pPr>
            <a:endParaRPr/>
          </a:p>
          <a:p>
            <a:pPr marL="171450" lvl="0" indent="-171450" algn="just" rtl="0">
              <a:spcBef>
                <a:spcPts val="0"/>
              </a:spcBef>
              <a:spcAft>
                <a:spcPts val="0"/>
              </a:spcAft>
              <a:buClr>
                <a:schemeClr val="dk1"/>
              </a:buClr>
              <a:buSzPts val="1200"/>
              <a:buFont typeface="Noto Sans Symbols"/>
              <a:buChar char="▪"/>
            </a:pPr>
            <a:r>
              <a:rPr lang="es-PE"/>
              <a:t>Los objetos de pruebas pueden incluir: el sistema totalmente integrado; formularios y reportes producidos por el sistema.</a:t>
            </a:r>
            <a:endParaRPr/>
          </a:p>
          <a:p>
            <a:pPr marL="171450" lvl="0" indent="-95250" algn="just" rtl="0">
              <a:spcBef>
                <a:spcPts val="0"/>
              </a:spcBef>
              <a:spcAft>
                <a:spcPts val="0"/>
              </a:spcAft>
              <a:buClr>
                <a:schemeClr val="dk1"/>
              </a:buClr>
              <a:buSzPts val="1200"/>
              <a:buFont typeface="Noto Sans Symbols"/>
              <a:buNone/>
            </a:pPr>
            <a:endParaRPr/>
          </a:p>
          <a:p>
            <a:pPr marL="171450" lvl="0" indent="-171450" algn="just" rtl="0">
              <a:spcBef>
                <a:spcPts val="0"/>
              </a:spcBef>
              <a:spcAft>
                <a:spcPts val="0"/>
              </a:spcAft>
              <a:buClr>
                <a:schemeClr val="dk1"/>
              </a:buClr>
              <a:buSzPts val="1200"/>
              <a:buFont typeface="Noto Sans Symbols"/>
              <a:buChar char="▪"/>
            </a:pPr>
            <a:r>
              <a:rPr lang="es-PE"/>
              <a:t>A diferencia de las pruebas de sistema, las pruebas llevadas aquí deben ser independientes de otras pruebas llevadas a cabo.</a:t>
            </a:r>
            <a:endParaRPr/>
          </a:p>
          <a:p>
            <a:pPr marL="171450" lvl="0" indent="-95250" algn="just" rtl="0">
              <a:spcBef>
                <a:spcPts val="0"/>
              </a:spcBef>
              <a:spcAft>
                <a:spcPts val="0"/>
              </a:spcAft>
              <a:buClr>
                <a:schemeClr val="dk1"/>
              </a:buClr>
              <a:buSzPts val="1200"/>
              <a:buFont typeface="Noto Sans Symbols"/>
              <a:buNone/>
            </a:pPr>
            <a:endParaRPr/>
          </a:p>
          <a:p>
            <a:pPr marL="171450" lvl="0" indent="-171450" algn="just" rtl="0">
              <a:spcBef>
                <a:spcPts val="0"/>
              </a:spcBef>
              <a:spcAft>
                <a:spcPts val="0"/>
              </a:spcAft>
              <a:buClr>
                <a:schemeClr val="dk1"/>
              </a:buClr>
              <a:buSzPts val="1200"/>
              <a:buFont typeface="Noto Sans Symbols"/>
              <a:buChar char="▪"/>
            </a:pPr>
            <a:r>
              <a:rPr lang="es-PE"/>
              <a:t>Su propósito es demostrar la conformidad del sistema con los requerimientos del cliente.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50" name="Google Shape;250;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24</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6" name="Google Shape;256;p2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2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7: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carga (Load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Sistema bajo carga (carga mínima, más usuarios/transacciones).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rendimiento (Performance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Rapidez con la cual un sistema ejecuta una determinada función.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volumen (Volume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Procesamiento de grandes cantidades de datos / Archivos.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estrés (Stress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Reacción a la sobrecarga / recuperación tras el retorno a una carga normal.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estabilidad (Stability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Rendimiento en "modo de operación continua".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robustez (Test for robustness).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Reacción a entradas erróneas o datos no especificados. Reacción a fallos hardware / recuperación ante situaciones de desastre.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1" i="0" u="none" strike="noStrike">
                <a:solidFill>
                  <a:schemeClr val="dk1"/>
                </a:solidFill>
                <a:latin typeface="Calibri"/>
                <a:ea typeface="Calibri"/>
                <a:cs typeface="Calibri"/>
                <a:sym typeface="Calibri"/>
              </a:rPr>
              <a:t>Pruebas de seguridad para el software (de datos) (Test for data) security).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Protección contra accesos no autorizados.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Protección contra el robo y daño de dalos.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Pruebas de cumplimiento (Compliance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Cumplimiento de normas y regulaciones (Internos / externos).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Pruebas de usabilidad (Test for usability).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Estructurado, comprensible, fácil de aprender para el usuario.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Otros aspectos no funcionales de la calidad: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Portabilidad: Capacidad de ser remplazado, de ser Instalado, adaptabilidad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Mantenible: Verificable, estable, analizable, modificable.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Fiabilidad: Madurez, robustez, capacidad de recuperación. </a:t>
            </a:r>
            <a:endParaRPr/>
          </a:p>
          <a:p>
            <a:pPr marL="0" lvl="0" indent="0" algn="l" rtl="0">
              <a:spcBef>
                <a:spcPts val="0"/>
              </a:spcBef>
              <a:spcAft>
                <a:spcPts val="0"/>
              </a:spcAft>
              <a:buNone/>
            </a:pPr>
            <a:endParaRPr/>
          </a:p>
        </p:txBody>
      </p:sp>
      <p:sp>
        <p:nvSpPr>
          <p:cNvPr id="305" name="Google Shape;305;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29</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9: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carga (Load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Sistema bajo carga (carga mínima, más usuarios/transacciones).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rendimiento (Performance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Rapidez con la cual un sistema ejecuta una determinada función.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volumen (Volume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Procesamiento de grandes cantidades de datos / Archivos.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estrés (Stress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Reacción a la sobrecarga / recuperación tras el retorno a una carga normal.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estabilidad (Stability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Rendimiento en "modo de operación continua".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 de robustez (Test for robustness).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Reacción a entradas erróneas o datos no especificados. Reacción a fallos hardware / recuperación ante situaciones de desastre. </a:t>
            </a:r>
            <a:endParaRPr/>
          </a:p>
          <a:p>
            <a:pPr marL="0" lvl="0" indent="0" algn="l" rtl="0">
              <a:spcBef>
                <a:spcPts val="0"/>
              </a:spcBef>
              <a:spcAft>
                <a:spcPts val="0"/>
              </a:spcAft>
              <a:buNone/>
            </a:pP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1" i="0" u="none" strike="noStrike">
                <a:solidFill>
                  <a:schemeClr val="dk1"/>
                </a:solidFill>
                <a:latin typeface="Calibri"/>
                <a:ea typeface="Calibri"/>
                <a:cs typeface="Calibri"/>
                <a:sym typeface="Calibri"/>
              </a:rPr>
              <a:t>Pruebas de seguridad para el software (de datos) (Test for data) security).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Protección contra accesos no autorizados.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Protección contra el robo y daño de dalos.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Pruebas de cumplimiento (Compliance test).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Cumplimiento de normas y regulaciones (Internos / externos).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Pruebas de usabilidad (Test for usability).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Estructurado, comprensible, fácil de aprender para el usuario.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 </a:t>
            </a:r>
            <a:r>
              <a:rPr lang="es-PE" sz="1200" b="1" i="0" u="none" strike="noStrike">
                <a:solidFill>
                  <a:schemeClr val="dk1"/>
                </a:solidFill>
                <a:latin typeface="Calibri"/>
                <a:ea typeface="Calibri"/>
                <a:cs typeface="Calibri"/>
                <a:sym typeface="Calibri"/>
              </a:rPr>
              <a:t>Otros aspectos no funcionales de la calidad: </a:t>
            </a:r>
            <a:endParaRPr sz="1200" b="0" i="0" u="none" strike="noStrike">
              <a:solidFill>
                <a:schemeClr val="dk1"/>
              </a:solidFill>
              <a:latin typeface="Calibri"/>
              <a:ea typeface="Calibri"/>
              <a:cs typeface="Calibri"/>
              <a:sym typeface="Calibri"/>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Portabilidad: Capacidad de ser remplazado, de ser Instalado, adaptabilidad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Mantenible: Verificable, estable, analizable, modificable. </a:t>
            </a:r>
            <a:endParaRPr/>
          </a:p>
          <a:p>
            <a:pPr marL="0" lvl="0" indent="0" algn="l" rtl="0">
              <a:spcBef>
                <a:spcPts val="0"/>
              </a:spcBef>
              <a:spcAft>
                <a:spcPts val="0"/>
              </a:spcAft>
              <a:buNone/>
            </a:pPr>
            <a:r>
              <a:rPr lang="es-PE" sz="1200" b="0" i="0" u="none" strike="noStrike">
                <a:solidFill>
                  <a:schemeClr val="dk1"/>
                </a:solidFill>
                <a:latin typeface="Calibri"/>
                <a:ea typeface="Calibri"/>
                <a:cs typeface="Calibri"/>
                <a:sym typeface="Calibri"/>
              </a:rPr>
              <a:t>o Fiabilidad: Madurez, robustez, capacidad de recuperación.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13" name="Google Shape;31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30</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30: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71450" lvl="0" indent="-171450" algn="l" rtl="0">
              <a:spcBef>
                <a:spcPts val="0"/>
              </a:spcBef>
              <a:spcAft>
                <a:spcPts val="0"/>
              </a:spcAft>
              <a:buClr>
                <a:schemeClr val="dk1"/>
              </a:buClr>
              <a:buSzPts val="1200"/>
              <a:buFont typeface="Arial"/>
              <a:buChar char="•"/>
            </a:pPr>
            <a:r>
              <a:rPr lang="es-PE"/>
              <a:t>Objetivo: </a:t>
            </a:r>
            <a:r>
              <a:rPr lang="es-PE" b="1"/>
              <a:t>Validar objeto de pruebas después de cambios</a:t>
            </a:r>
            <a:r>
              <a:rPr lang="es-PE"/>
              <a:t>.</a:t>
            </a:r>
            <a:endParaRPr/>
          </a:p>
          <a:p>
            <a:pPr marL="628650" lvl="1" indent="-171450" algn="l" rtl="0">
              <a:spcBef>
                <a:spcPts val="0"/>
              </a:spcBef>
              <a:spcAft>
                <a:spcPts val="0"/>
              </a:spcAft>
              <a:buClr>
                <a:schemeClr val="dk1"/>
              </a:buClr>
              <a:buSzPts val="1200"/>
              <a:buFont typeface="Arial"/>
              <a:buChar char="•"/>
            </a:pPr>
            <a:r>
              <a:rPr lang="es-PE"/>
              <a:t>Dos razones principales</a:t>
            </a:r>
            <a:endParaRPr/>
          </a:p>
          <a:p>
            <a:pPr marL="1085850" lvl="2" indent="-171450" algn="l" rtl="0">
              <a:spcBef>
                <a:spcPts val="0"/>
              </a:spcBef>
              <a:spcAft>
                <a:spcPts val="0"/>
              </a:spcAft>
              <a:buClr>
                <a:schemeClr val="dk1"/>
              </a:buClr>
              <a:buSzPts val="1200"/>
              <a:buFont typeface="Arial"/>
              <a:buChar char="•"/>
            </a:pPr>
            <a:r>
              <a:rPr lang="es-PE"/>
              <a:t>Corrección de defectos</a:t>
            </a:r>
            <a:endParaRPr/>
          </a:p>
          <a:p>
            <a:pPr marL="1085850" lvl="2" indent="-171450" algn="l" rtl="0">
              <a:spcBef>
                <a:spcPts val="0"/>
              </a:spcBef>
              <a:spcAft>
                <a:spcPts val="0"/>
              </a:spcAft>
              <a:buClr>
                <a:schemeClr val="dk1"/>
              </a:buClr>
              <a:buSzPts val="1200"/>
              <a:buFont typeface="Arial"/>
              <a:buChar char="•"/>
            </a:pPr>
            <a:r>
              <a:rPr lang="es-PE"/>
              <a:t>Extensión o cambio de la funcionalidad</a:t>
            </a:r>
            <a:endParaRPr/>
          </a:p>
          <a:p>
            <a:pPr marL="628650" lvl="1" indent="-171450" algn="l" rtl="0">
              <a:spcBef>
                <a:spcPts val="0"/>
              </a:spcBef>
              <a:spcAft>
                <a:spcPts val="0"/>
              </a:spcAft>
              <a:buClr>
                <a:schemeClr val="dk1"/>
              </a:buClr>
              <a:buSzPts val="1200"/>
              <a:buFont typeface="Arial"/>
              <a:buChar char="•"/>
            </a:pPr>
            <a:r>
              <a:rPr lang="es-PE"/>
              <a:t>Después de que un objeto de pruebas o el entorno de su sistema ha sido objeto de modificación todos los resultados de pruebas resultan inválidos, por lo que los pruebas deben ser repetidas.</a:t>
            </a:r>
            <a:endParaRPr/>
          </a:p>
          <a:p>
            <a:pPr marL="628650" lvl="1" indent="-171450" algn="l" rtl="0">
              <a:spcBef>
                <a:spcPts val="0"/>
              </a:spcBef>
              <a:spcAft>
                <a:spcPts val="0"/>
              </a:spcAft>
              <a:buClr>
                <a:schemeClr val="dk1"/>
              </a:buClr>
              <a:buSzPts val="1200"/>
              <a:buFont typeface="Arial"/>
              <a:buChar char="•"/>
            </a:pPr>
            <a:r>
              <a:rPr lang="es-PE"/>
              <a:t>Es necesario volver o probar zonas adyacentes debido a efectos colaterales no deseados de uno funcionalidad extendida o nueva.</a:t>
            </a:r>
            <a:endParaRPr/>
          </a:p>
        </p:txBody>
      </p:sp>
      <p:sp>
        <p:nvSpPr>
          <p:cNvPr id="320" name="Google Shape;320;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31</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31: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32: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33: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7" name="Google Shape;357;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just" rtl="0">
              <a:spcBef>
                <a:spcPts val="0"/>
              </a:spcBef>
              <a:spcAft>
                <a:spcPts val="0"/>
              </a:spcAft>
              <a:buNone/>
            </a:pPr>
            <a:r>
              <a:rPr lang="es-PE"/>
              <a:t>Básicamente lo ejecución tiene lugar de la misma forma en la cual se han ejecutado las pruebas en iteraciones previas.</a:t>
            </a:r>
            <a:endParaRPr/>
          </a:p>
          <a:p>
            <a:pPr marL="457200" lvl="1" indent="0" algn="just" rtl="0">
              <a:spcBef>
                <a:spcPts val="0"/>
              </a:spcBef>
              <a:spcAft>
                <a:spcPts val="0"/>
              </a:spcAft>
              <a:buNone/>
            </a:pPr>
            <a:r>
              <a:rPr lang="es-PE"/>
              <a:t>En la mayoría de los casos, una prueba de regresión completa no es viable dado sus altos costos y duración.</a:t>
            </a:r>
            <a:endParaRPr/>
          </a:p>
          <a:p>
            <a:pPr marL="457200" lvl="1" indent="0" algn="just" rtl="0">
              <a:spcBef>
                <a:spcPts val="0"/>
              </a:spcBef>
              <a:spcAft>
                <a:spcPts val="0"/>
              </a:spcAft>
              <a:buNone/>
            </a:pPr>
            <a:r>
              <a:rPr lang="es-PE"/>
              <a:t>Un alto grado de modularidad en el software permite reducir las pruebas de regresión.</a:t>
            </a:r>
            <a:endParaRPr/>
          </a:p>
          <a:p>
            <a:pPr marL="0" lvl="0" indent="0" algn="l" rtl="0">
              <a:spcBef>
                <a:spcPts val="0"/>
              </a:spcBef>
              <a:spcAft>
                <a:spcPts val="0"/>
              </a:spcAft>
              <a:buNone/>
            </a:pPr>
            <a:endParaRPr/>
          </a:p>
        </p:txBody>
      </p:sp>
      <p:sp>
        <p:nvSpPr>
          <p:cNvPr id="358" name="Google Shape;358;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34</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4: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5" name="Google Shape;365;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1" indent="0" algn="just" rtl="0">
              <a:spcBef>
                <a:spcPts val="0"/>
              </a:spcBef>
              <a:spcAft>
                <a:spcPts val="0"/>
              </a:spcAft>
              <a:buNone/>
            </a:pPr>
            <a:r>
              <a:rPr lang="es-PE"/>
              <a:t>Criterios para la selección de casos de prueba de regresión:</a:t>
            </a:r>
            <a:endParaRPr/>
          </a:p>
          <a:p>
            <a:pPr marL="914400" lvl="2" indent="0" algn="just" rtl="0">
              <a:spcBef>
                <a:spcPts val="0"/>
              </a:spcBef>
              <a:spcAft>
                <a:spcPts val="0"/>
              </a:spcAft>
              <a:buNone/>
            </a:pPr>
            <a:r>
              <a:rPr lang="es-PE"/>
              <a:t>Casos de prueba de alta prioridad.</a:t>
            </a:r>
            <a:endParaRPr/>
          </a:p>
          <a:p>
            <a:pPr marL="914400" lvl="2" indent="0" algn="just" rtl="0">
              <a:spcBef>
                <a:spcPts val="0"/>
              </a:spcBef>
              <a:spcAft>
                <a:spcPts val="0"/>
              </a:spcAft>
              <a:buNone/>
            </a:pPr>
            <a:r>
              <a:rPr lang="es-PE"/>
              <a:t>Probar solamente la funcionalidad estándar, saltarse casos y variaciones especiales.</a:t>
            </a:r>
            <a:endParaRPr/>
          </a:p>
          <a:p>
            <a:pPr marL="914400" lvl="2" indent="0" algn="just" rtl="0">
              <a:spcBef>
                <a:spcPts val="0"/>
              </a:spcBef>
              <a:spcAft>
                <a:spcPts val="0"/>
              </a:spcAft>
              <a:buNone/>
            </a:pPr>
            <a:r>
              <a:rPr lang="es-PE"/>
              <a:t>Probar solamente la configuración utilizada con mayor frecuencia.</a:t>
            </a:r>
            <a:endParaRPr/>
          </a:p>
          <a:p>
            <a:pPr marL="914400" lvl="2" indent="0" algn="just" rtl="0">
              <a:spcBef>
                <a:spcPts val="0"/>
              </a:spcBef>
              <a:spcAft>
                <a:spcPts val="0"/>
              </a:spcAft>
              <a:buNone/>
            </a:pPr>
            <a:r>
              <a:rPr lang="es-PE"/>
              <a:t>Probar solamente subsistemas / zonas seleccionadas del objeto de pruebas</a:t>
            </a:r>
            <a:endParaRPr/>
          </a:p>
          <a:p>
            <a:pPr marL="457200" lvl="1" indent="0" algn="just" rtl="0">
              <a:spcBef>
                <a:spcPts val="0"/>
              </a:spcBef>
              <a:spcAft>
                <a:spcPts val="0"/>
              </a:spcAft>
              <a:buNone/>
            </a:pPr>
            <a:r>
              <a:rPr lang="es-PE"/>
              <a:t>Si durante fases tempranas del proyecto resulta evidente que ciertas pruebas son adecuadas para las pruebas de regresión, se deberá considerar la automatización de estas pruebas</a:t>
            </a:r>
            <a:endParaRPr/>
          </a:p>
          <a:p>
            <a:pPr marL="0" lvl="0" indent="0" algn="l" rtl="0">
              <a:spcBef>
                <a:spcPts val="0"/>
              </a:spcBef>
              <a:spcAft>
                <a:spcPts val="0"/>
              </a:spcAft>
              <a:buNone/>
            </a:pPr>
            <a:endParaRPr/>
          </a:p>
        </p:txBody>
      </p:sp>
      <p:sp>
        <p:nvSpPr>
          <p:cNvPr id="366" name="Google Shape;366;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5: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3" name="Google Shape;373;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s-PE"/>
              <a:t>Pruebas Unitarias. Comienzan con la prueba de cada módulo.</a:t>
            </a:r>
            <a:endParaRPr/>
          </a:p>
          <a:p>
            <a:pPr marL="0" lvl="0" indent="0" algn="just" rtl="0">
              <a:spcBef>
                <a:spcPts val="0"/>
              </a:spcBef>
              <a:spcAft>
                <a:spcPts val="0"/>
              </a:spcAft>
              <a:buNone/>
            </a:pPr>
            <a:r>
              <a:rPr lang="es-PE"/>
              <a:t>Pruebas de Integración. A partir del esquema del diseño, los módulos probados se vuelven a probar combinados para probar sus interfaces.</a:t>
            </a:r>
            <a:endParaRPr/>
          </a:p>
          <a:p>
            <a:pPr marL="0" lvl="0" indent="0" algn="just" rtl="0">
              <a:spcBef>
                <a:spcPts val="0"/>
              </a:spcBef>
              <a:spcAft>
                <a:spcPts val="0"/>
              </a:spcAft>
              <a:buNone/>
            </a:pPr>
            <a:r>
              <a:rPr lang="es-PE"/>
              <a:t>Prueba del Sistema. El software ensamblado totalmente con cualquier componente hardware que requiere se prueba para comprobar que se cumplen los requisitos funcionales.</a:t>
            </a:r>
            <a:endParaRPr/>
          </a:p>
          <a:p>
            <a:pPr marL="0" lvl="0" indent="0" algn="just" rtl="0">
              <a:spcBef>
                <a:spcPts val="0"/>
              </a:spcBef>
              <a:spcAft>
                <a:spcPts val="0"/>
              </a:spcAft>
              <a:buNone/>
            </a:pPr>
            <a:r>
              <a:rPr lang="es-PE"/>
              <a:t>Pruebas de Aceptación. El cliente comprueba que el software funciona según sus expectativas. </a:t>
            </a:r>
            <a:endParaRPr/>
          </a:p>
          <a:p>
            <a:pPr marL="0" lvl="0" indent="0" algn="l" rtl="0">
              <a:spcBef>
                <a:spcPts val="0"/>
              </a:spcBef>
              <a:spcAft>
                <a:spcPts val="0"/>
              </a:spcAft>
              <a:buNone/>
            </a:pPr>
            <a:endParaRPr/>
          </a:p>
        </p:txBody>
      </p:sp>
      <p:sp>
        <p:nvSpPr>
          <p:cNvPr id="374" name="Google Shape;374;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37</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3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2" name="Google Shape;382;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PE"/>
              <a:t>38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ubtema - 1 Imagen A">
  <p:cSld name="Subtema - 1 Imagen A">
    <p:spTree>
      <p:nvGrpSpPr>
        <p:cNvPr id="1" name="Shape 1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6" name="Rectangle 3">
            <a:extLst>
              <a:ext uri="{FF2B5EF4-FFF2-40B4-BE49-F238E27FC236}">
                <a16:creationId xmlns:a16="http://schemas.microsoft.com/office/drawing/2014/main" id="{B7A1C050-AEE2-EA42-BD6D-667E5064325E}"/>
              </a:ext>
            </a:extLst>
          </p:cNvPr>
          <p:cNvSpPr/>
          <p:nvPr userDrawn="1"/>
        </p:nvSpPr>
        <p:spPr>
          <a:xfrm>
            <a:off x="7204422" y="5371562"/>
            <a:ext cx="1544012"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sp>
        <p:nvSpPr>
          <p:cNvPr id="7" name="TextBox 7">
            <a:extLst>
              <a:ext uri="{FF2B5EF4-FFF2-40B4-BE49-F238E27FC236}">
                <a16:creationId xmlns:a16="http://schemas.microsoft.com/office/drawing/2014/main" id="{384ADC50-08E7-9848-A424-02C099C1FADC}"/>
              </a:ext>
            </a:extLst>
          </p:cNvPr>
          <p:cNvSpPr txBox="1"/>
          <p:nvPr userDrawn="1"/>
        </p:nvSpPr>
        <p:spPr>
          <a:xfrm>
            <a:off x="876300" y="5343295"/>
            <a:ext cx="2164375" cy="215444"/>
          </a:xfrm>
          <a:prstGeom prst="rect">
            <a:avLst/>
          </a:prstGeom>
          <a:noFill/>
        </p:spPr>
        <p:txBody>
          <a:bodyPr wrap="none" rtlCol="0">
            <a:spAutoFit/>
          </a:bodyPr>
          <a:lstStyle/>
          <a:p>
            <a:r>
              <a:rPr lang="en-US" sz="800" kern="1200" baseline="0" dirty="0">
                <a:solidFill>
                  <a:schemeClr val="bg1">
                    <a:lumMod val="50000"/>
                  </a:schemeClr>
                </a:solidFill>
                <a:latin typeface="Calibri"/>
                <a:ea typeface="+mn-ea"/>
                <a:cs typeface="Calibri"/>
                <a:sym typeface="Wingdings"/>
              </a:rPr>
              <a:t>CALIDAD Y PRUEBAS DE SOFTWARE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TEMA 02</a:t>
            </a:r>
            <a:endParaRPr lang="en-US" sz="800" dirty="0">
              <a:solidFill>
                <a:schemeClr val="bg1">
                  <a:lumMod val="50000"/>
                </a:schemeClr>
              </a:solidFill>
              <a:latin typeface="Calibri"/>
              <a:cs typeface="Calibri"/>
            </a:endParaRPr>
          </a:p>
        </p:txBody>
      </p:sp>
      <p:pic>
        <p:nvPicPr>
          <p:cNvPr id="8" name="Imagen 7">
            <a:extLst>
              <a:ext uri="{FF2B5EF4-FFF2-40B4-BE49-F238E27FC236}">
                <a16:creationId xmlns:a16="http://schemas.microsoft.com/office/drawing/2014/main" id="{EAFC9C1A-75F9-A042-BB29-FDFF577AB91D}"/>
              </a:ext>
            </a:extLst>
          </p:cNvPr>
          <p:cNvPicPr>
            <a:picLocks noChangeAspect="1"/>
          </p:cNvPicPr>
          <p:nvPr userDrawn="1"/>
        </p:nvPicPr>
        <p:blipFill>
          <a:blip r:embed="rId6" cstate="screen">
            <a:alphaModFix amt="20000"/>
            <a:extLst>
              <a:ext uri="{28A0092B-C50C-407E-A947-70E740481C1C}">
                <a14:useLocalDpi xmlns:a14="http://schemas.microsoft.com/office/drawing/2010/main"/>
              </a:ext>
            </a:extLst>
          </a:blip>
          <a:stretch>
            <a:fillRect/>
          </a:stretch>
        </p:blipFill>
        <p:spPr>
          <a:xfrm>
            <a:off x="506316" y="5349405"/>
            <a:ext cx="369984" cy="206823"/>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295" userDrawn="1">
          <p15:clr>
            <a:srgbClr val="F26B43"/>
          </p15:clr>
        </p15:guide>
        <p15:guide id="6" pos="431" userDrawn="1">
          <p15:clr>
            <a:srgbClr val="F26B43"/>
          </p15:clr>
        </p15:guide>
        <p15:guide id="7" pos="5465" userDrawn="1">
          <p15:clr>
            <a:srgbClr val="F26B43"/>
          </p15:clr>
        </p15:guide>
        <p15:guide id="8" orient="horz" pos="303" userDrawn="1">
          <p15:clr>
            <a:srgbClr val="F26B43"/>
          </p15:clr>
        </p15:guide>
        <p15:guide id="9" orient="horz" pos="575" userDrawn="1">
          <p15:clr>
            <a:srgbClr val="F26B43"/>
          </p15:clr>
        </p15:guide>
        <p15:guide id="10"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image" Target="../media/image24.emf"/><Relationship Id="rId3" Type="http://schemas.openxmlformats.org/officeDocument/2006/relationships/image" Target="../media/image19.emf"/><Relationship Id="rId7" Type="http://schemas.openxmlformats.org/officeDocument/2006/relationships/image" Target="../media/image23.e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 Id="rId9" Type="http://schemas.openxmlformats.org/officeDocument/2006/relationships/image" Target="../media/image25.emf"/></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7" Type="http://schemas.openxmlformats.org/officeDocument/2006/relationships/image" Target="../media/image25.emf"/><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4.emf"/><Relationship Id="rId5" Type="http://schemas.openxmlformats.org/officeDocument/2006/relationships/image" Target="../media/image23.emf"/><Relationship Id="rId4" Type="http://schemas.openxmlformats.org/officeDocument/2006/relationships/image" Target="../media/image2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9" name="Rectángulo 8">
            <a:extLst>
              <a:ext uri="{FF2B5EF4-FFF2-40B4-BE49-F238E27FC236}">
                <a16:creationId xmlns:a16="http://schemas.microsoft.com/office/drawing/2014/main" id="{0220D72F-3E8C-2446-8D18-012AFD33F3C3}"/>
              </a:ext>
            </a:extLst>
          </p:cNvPr>
          <p:cNvSpPr/>
          <p:nvPr/>
        </p:nvSpPr>
        <p:spPr>
          <a:xfrm>
            <a:off x="182879" y="5120640"/>
            <a:ext cx="4304965" cy="46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1" name="CuadroTexto 10">
            <a:extLst>
              <a:ext uri="{FF2B5EF4-FFF2-40B4-BE49-F238E27FC236}">
                <a16:creationId xmlns:a16="http://schemas.microsoft.com/office/drawing/2014/main" id="{1546F8ED-AF94-D640-AFA1-94743B32BB11}"/>
              </a:ext>
            </a:extLst>
          </p:cNvPr>
          <p:cNvSpPr txBox="1"/>
          <p:nvPr/>
        </p:nvSpPr>
        <p:spPr>
          <a:xfrm>
            <a:off x="503238" y="808689"/>
            <a:ext cx="3104743" cy="138499"/>
          </a:xfrm>
          <a:prstGeom prst="rect">
            <a:avLst/>
          </a:prstGeom>
          <a:noFill/>
        </p:spPr>
        <p:txBody>
          <a:bodyPr wrap="square" lIns="0" tIns="0" rIns="0" bIns="0" rtlCol="0">
            <a:spAutoFit/>
          </a:bodyPr>
          <a:lstStyle/>
          <a:p>
            <a:r>
              <a:rPr lang="es-ES_tradnl" sz="900" b="1" dirty="0">
                <a:solidFill>
                  <a:srgbClr val="6C6D6C"/>
                </a:solidFill>
                <a:latin typeface="Calibri" charset="0"/>
                <a:cs typeface="Calibri" charset="0"/>
              </a:rPr>
              <a:t>CALIDAD Y PRUEBAS DE SOFTWARE</a:t>
            </a:r>
          </a:p>
        </p:txBody>
      </p:sp>
      <p:sp>
        <p:nvSpPr>
          <p:cNvPr id="23" name="Rectángulo 22">
            <a:extLst>
              <a:ext uri="{FF2B5EF4-FFF2-40B4-BE49-F238E27FC236}">
                <a16:creationId xmlns:a16="http://schemas.microsoft.com/office/drawing/2014/main" id="{99BECC9E-CCCF-2B41-813F-25C122E99518}"/>
              </a:ext>
            </a:extLst>
          </p:cNvPr>
          <p:cNvSpPr/>
          <p:nvPr/>
        </p:nvSpPr>
        <p:spPr>
          <a:xfrm>
            <a:off x="503239" y="2177570"/>
            <a:ext cx="3056852" cy="886397"/>
          </a:xfrm>
          <a:prstGeom prst="rect">
            <a:avLst/>
          </a:prstGeom>
        </p:spPr>
        <p:txBody>
          <a:bodyPr wrap="square" lIns="0" tIns="0" rIns="0" bIns="0">
            <a:spAutoFit/>
          </a:bodyPr>
          <a:lstStyle/>
          <a:p>
            <a:pPr>
              <a:lnSpc>
                <a:spcPct val="90000"/>
              </a:lnSpc>
            </a:pPr>
            <a:r>
              <a:rPr lang="es-PE" sz="3200" dirty="0">
                <a:latin typeface="Graphik-Medium" charset="0"/>
                <a:ea typeface="Graphik-Medium" charset="0"/>
                <a:cs typeface="Graphik-Medium" charset="0"/>
              </a:rPr>
              <a:t>PROCESO DE </a:t>
            </a:r>
            <a:r>
              <a:rPr lang="es-PE" sz="3200" b="1" dirty="0">
                <a:latin typeface="Graphik Bold" charset="0"/>
                <a:ea typeface="Graphik Bold" charset="0"/>
                <a:cs typeface="Graphik Bold" charset="0"/>
              </a:rPr>
              <a:t>LAS PRUEBAS</a:t>
            </a:r>
          </a:p>
        </p:txBody>
      </p:sp>
      <p:sp>
        <p:nvSpPr>
          <p:cNvPr id="24" name="Rectángulo 23">
            <a:extLst>
              <a:ext uri="{FF2B5EF4-FFF2-40B4-BE49-F238E27FC236}">
                <a16:creationId xmlns:a16="http://schemas.microsoft.com/office/drawing/2014/main" id="{E89AC8AB-0263-474E-86E3-850C1C07209A}"/>
              </a:ext>
            </a:extLst>
          </p:cNvPr>
          <p:cNvSpPr/>
          <p:nvPr/>
        </p:nvSpPr>
        <p:spPr>
          <a:xfrm>
            <a:off x="503238" y="3219842"/>
            <a:ext cx="2845526" cy="420884"/>
          </a:xfrm>
          <a:prstGeom prst="rect">
            <a:avLst/>
          </a:prstGeom>
        </p:spPr>
        <p:txBody>
          <a:bodyPr wrap="square" lIns="0" tIns="0" rIns="0" bIns="0">
            <a:spAutoFit/>
          </a:bodyPr>
          <a:lstStyle/>
          <a:p>
            <a:pPr marL="177800" indent="-177800">
              <a:lnSpc>
                <a:spcPct val="120000"/>
              </a:lnSpc>
              <a:buClr>
                <a:srgbClr val="4E697E"/>
              </a:buClr>
              <a:buSzPct val="100000"/>
              <a:buFont typeface="Arial"/>
              <a:buChar char="•"/>
            </a:pPr>
            <a:r>
              <a:rPr lang="es-PE" sz="1200" dirty="0">
                <a:latin typeface="Graphik-Medium" charset="0"/>
                <a:sym typeface="Calibri"/>
              </a:rPr>
              <a:t>Etapas del Proceso</a:t>
            </a:r>
            <a:endParaRPr lang="es-PE" sz="1200" dirty="0">
              <a:latin typeface="Graphik-Medium" charset="0"/>
            </a:endParaRPr>
          </a:p>
          <a:p>
            <a:pPr marL="177800" indent="-177800">
              <a:lnSpc>
                <a:spcPct val="120000"/>
              </a:lnSpc>
              <a:buClr>
                <a:srgbClr val="4E697E"/>
              </a:buClr>
              <a:buSzPct val="100000"/>
              <a:buFont typeface="Arial"/>
              <a:buChar char="•"/>
            </a:pPr>
            <a:r>
              <a:rPr lang="es-PE" sz="1200" dirty="0">
                <a:latin typeface="Graphik-Medium" charset="0"/>
                <a:sym typeface="Calibri"/>
              </a:rPr>
              <a:t>Niveles de pruebas</a:t>
            </a:r>
            <a:endParaRPr lang="es-PE" sz="1200" dirty="0">
              <a:latin typeface="Graphik-Medium" charset="0"/>
              <a:ea typeface="Graphik-Medium" charset="0"/>
              <a:cs typeface="Graphik-Medium" charset="0"/>
              <a:sym typeface="Calibri"/>
            </a:endParaRPr>
          </a:p>
        </p:txBody>
      </p:sp>
      <p:sp>
        <p:nvSpPr>
          <p:cNvPr id="25" name="CuadroTexto 24">
            <a:extLst>
              <a:ext uri="{FF2B5EF4-FFF2-40B4-BE49-F238E27FC236}">
                <a16:creationId xmlns:a16="http://schemas.microsoft.com/office/drawing/2014/main" id="{80B38F74-DF47-2444-BCFB-718CE6D81B2E}"/>
              </a:ext>
            </a:extLst>
          </p:cNvPr>
          <p:cNvSpPr txBox="1"/>
          <p:nvPr/>
        </p:nvSpPr>
        <p:spPr>
          <a:xfrm>
            <a:off x="743902" y="1819386"/>
            <a:ext cx="1457648" cy="307777"/>
          </a:xfrm>
          <a:prstGeom prst="rect">
            <a:avLst/>
          </a:prstGeom>
          <a:noFill/>
        </p:spPr>
        <p:txBody>
          <a:bodyPr wrap="square" lIns="0" tIns="0" rIns="0" bIns="0" rtlCol="0">
            <a:spAutoFit/>
          </a:bodyPr>
          <a:lstStyle/>
          <a:p>
            <a:r>
              <a:rPr lang="es-ES_tradnl" sz="2000" b="1" dirty="0">
                <a:solidFill>
                  <a:srgbClr val="4E697E"/>
                </a:solidFill>
                <a:latin typeface="Calibri" charset="0"/>
                <a:ea typeface="Calibri" charset="0"/>
                <a:cs typeface="Calibri" charset="0"/>
              </a:rPr>
              <a:t>TEMA 02</a:t>
            </a:r>
          </a:p>
        </p:txBody>
      </p:sp>
      <p:pic>
        <p:nvPicPr>
          <p:cNvPr id="27" name="Imagen 26">
            <a:extLst>
              <a:ext uri="{FF2B5EF4-FFF2-40B4-BE49-F238E27FC236}">
                <a16:creationId xmlns:a16="http://schemas.microsoft.com/office/drawing/2014/main" id="{A07448EA-252F-574B-8BE3-FB92EF765407}"/>
              </a:ext>
            </a:extLst>
          </p:cNvPr>
          <p:cNvPicPr>
            <a:picLocks noChangeAspect="1"/>
          </p:cNvPicPr>
          <p:nvPr/>
        </p:nvPicPr>
        <p:blipFill>
          <a:blip r:embed="rId3"/>
          <a:stretch>
            <a:fillRect/>
          </a:stretch>
        </p:blipFill>
        <p:spPr>
          <a:xfrm>
            <a:off x="507464" y="1883411"/>
            <a:ext cx="166865" cy="170453"/>
          </a:xfrm>
          <a:prstGeom prst="rect">
            <a:avLst/>
          </a:prstGeom>
        </p:spPr>
      </p:pic>
      <p:pic>
        <p:nvPicPr>
          <p:cNvPr id="28" name="Imagen 27">
            <a:extLst>
              <a:ext uri="{FF2B5EF4-FFF2-40B4-BE49-F238E27FC236}">
                <a16:creationId xmlns:a16="http://schemas.microsoft.com/office/drawing/2014/main" id="{EF15B0F0-4190-DB48-A85A-D9E034B965F2}"/>
              </a:ext>
            </a:extLst>
          </p:cNvPr>
          <p:cNvPicPr>
            <a:picLocks noChangeAspect="1"/>
          </p:cNvPicPr>
          <p:nvPr/>
        </p:nvPicPr>
        <p:blipFill>
          <a:blip r:embed="rId4"/>
          <a:stretch>
            <a:fillRect/>
          </a:stretch>
        </p:blipFill>
        <p:spPr>
          <a:xfrm>
            <a:off x="3752850" y="0"/>
            <a:ext cx="5391150" cy="571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7653565-42B8-AC4A-B217-90B924052635}"/>
              </a:ext>
            </a:extLst>
          </p:cNvPr>
          <p:cNvSpPr/>
          <p:nvPr/>
        </p:nvSpPr>
        <p:spPr>
          <a:xfrm>
            <a:off x="0" y="1"/>
            <a:ext cx="9144000" cy="5715000"/>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27582F2A-CF6E-1A41-ADAF-51789B60AC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946969"/>
            <a:ext cx="2072213" cy="3898064"/>
          </a:xfrm>
          <a:prstGeom prst="rect">
            <a:avLst/>
          </a:prstGeom>
        </p:spPr>
      </p:pic>
      <p:sp>
        <p:nvSpPr>
          <p:cNvPr id="4" name="Rectángulo 3">
            <a:extLst>
              <a:ext uri="{FF2B5EF4-FFF2-40B4-BE49-F238E27FC236}">
                <a16:creationId xmlns:a16="http://schemas.microsoft.com/office/drawing/2014/main" id="{4784175E-3C0C-BF40-9432-A53352E60BAC}"/>
              </a:ext>
            </a:extLst>
          </p:cNvPr>
          <p:cNvSpPr/>
          <p:nvPr/>
        </p:nvSpPr>
        <p:spPr>
          <a:xfrm>
            <a:off x="149817" y="3724759"/>
            <a:ext cx="1037633" cy="1069383"/>
          </a:xfrm>
          <a:prstGeom prst="rect">
            <a:avLst/>
          </a:prstGeom>
          <a:solidFill>
            <a:srgbClr val="ED43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95306710-1EB7-A945-BA82-1F845628F0DC}"/>
              </a:ext>
            </a:extLst>
          </p:cNvPr>
          <p:cNvSpPr txBox="1"/>
          <p:nvPr/>
        </p:nvSpPr>
        <p:spPr>
          <a:xfrm>
            <a:off x="2519363" y="2540738"/>
            <a:ext cx="4581728" cy="812530"/>
          </a:xfrm>
          <a:prstGeom prst="rect">
            <a:avLst/>
          </a:prstGeom>
          <a:noFill/>
        </p:spPr>
        <p:txBody>
          <a:bodyPr wrap="square" lIns="0" tIns="0" rIns="0" bIns="0" rtlCol="0">
            <a:spAutoFit/>
          </a:bodyPr>
          <a:lstStyle/>
          <a:p>
            <a:pPr>
              <a:lnSpc>
                <a:spcPct val="80000"/>
              </a:lnSpc>
            </a:pPr>
            <a:r>
              <a:rPr lang="es-ES_tradnl" sz="3300" dirty="0">
                <a:solidFill>
                  <a:schemeClr val="bg1"/>
                </a:solidFill>
                <a:latin typeface="Graphik Regular" charset="0"/>
                <a:ea typeface="Graphik Regular" charset="0"/>
                <a:cs typeface="Graphik Regular" charset="0"/>
              </a:rPr>
              <a:t>INTRODUCCIÓN</a:t>
            </a:r>
          </a:p>
          <a:p>
            <a:pPr>
              <a:lnSpc>
                <a:spcPct val="80000"/>
              </a:lnSpc>
            </a:pPr>
            <a:r>
              <a:rPr lang="es-ES_tradnl" sz="3300" b="1" dirty="0">
                <a:solidFill>
                  <a:schemeClr val="bg1"/>
                </a:solidFill>
                <a:latin typeface="Graphik Bold" charset="0"/>
                <a:ea typeface="Graphik Bold" charset="0"/>
                <a:cs typeface="Graphik Bold" charset="0"/>
              </a:rPr>
              <a:t>DE LA SESIÓN</a:t>
            </a:r>
          </a:p>
        </p:txBody>
      </p:sp>
      <p:pic>
        <p:nvPicPr>
          <p:cNvPr id="6" name="Imagen 5">
            <a:extLst>
              <a:ext uri="{FF2B5EF4-FFF2-40B4-BE49-F238E27FC236}">
                <a16:creationId xmlns:a16="http://schemas.microsoft.com/office/drawing/2014/main" id="{326D4724-6A0E-E043-BED3-4081F351612F}"/>
              </a:ext>
            </a:extLst>
          </p:cNvPr>
          <p:cNvPicPr>
            <a:picLocks noChangeAspect="1"/>
          </p:cNvPicPr>
          <p:nvPr/>
        </p:nvPicPr>
        <p:blipFill>
          <a:blip r:embed="rId3">
            <a:alphaModFix amt="16000"/>
          </a:blip>
          <a:stretch>
            <a:fillRect/>
          </a:stretch>
        </p:blipFill>
        <p:spPr>
          <a:xfrm>
            <a:off x="334433" y="3817749"/>
            <a:ext cx="809264" cy="809264"/>
          </a:xfrm>
          <a:prstGeom prst="rect">
            <a:avLst/>
          </a:prstGeom>
        </p:spPr>
      </p:pic>
      <p:pic>
        <p:nvPicPr>
          <p:cNvPr id="7" name="Imagen 6">
            <a:extLst>
              <a:ext uri="{FF2B5EF4-FFF2-40B4-BE49-F238E27FC236}">
                <a16:creationId xmlns:a16="http://schemas.microsoft.com/office/drawing/2014/main" id="{C457A8E0-9634-A647-98EB-BD343B821418}"/>
              </a:ext>
            </a:extLst>
          </p:cNvPr>
          <p:cNvPicPr>
            <a:picLocks noChangeAspect="1"/>
          </p:cNvPicPr>
          <p:nvPr/>
        </p:nvPicPr>
        <p:blipFill>
          <a:blip r:embed="rId4"/>
          <a:stretch>
            <a:fillRect/>
          </a:stretch>
        </p:blipFill>
        <p:spPr>
          <a:xfrm>
            <a:off x="2528619" y="2194222"/>
            <a:ext cx="202176" cy="208211"/>
          </a:xfrm>
          <a:prstGeom prst="rect">
            <a:avLst/>
          </a:prstGeom>
        </p:spPr>
      </p:pic>
    </p:spTree>
    <p:extLst>
      <p:ext uri="{BB962C8B-B14F-4D97-AF65-F5344CB8AC3E}">
        <p14:creationId xmlns:p14="http://schemas.microsoft.com/office/powerpoint/2010/main" val="274737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5" name="Rectángulo 4">
            <a:extLst>
              <a:ext uri="{FF2B5EF4-FFF2-40B4-BE49-F238E27FC236}">
                <a16:creationId xmlns:a16="http://schemas.microsoft.com/office/drawing/2014/main" id="{EC029C54-3DDA-1247-B6E3-4E77DF61D73B}"/>
              </a:ext>
            </a:extLst>
          </p:cNvPr>
          <p:cNvSpPr/>
          <p:nvPr/>
        </p:nvSpPr>
        <p:spPr>
          <a:xfrm>
            <a:off x="6918960" y="5364480"/>
            <a:ext cx="2133600" cy="2244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object 7">
            <a:extLst>
              <a:ext uri="{FF2B5EF4-FFF2-40B4-BE49-F238E27FC236}">
                <a16:creationId xmlns:a16="http://schemas.microsoft.com/office/drawing/2014/main" id="{4FA487EE-F773-EF45-B878-E1264FC04194}"/>
              </a:ext>
            </a:extLst>
          </p:cNvPr>
          <p:cNvSpPr txBox="1"/>
          <p:nvPr/>
        </p:nvSpPr>
        <p:spPr>
          <a:xfrm>
            <a:off x="1282299" y="918372"/>
            <a:ext cx="5200798" cy="1938992"/>
          </a:xfrm>
          <a:prstGeom prst="rect">
            <a:avLst/>
          </a:prstGeom>
        </p:spPr>
        <p:txBody>
          <a:bodyPr vert="horz" wrap="square" lIns="0" tIns="0" rIns="0" bIns="0" rtlCol="0">
            <a:spAutoFit/>
          </a:bodyPr>
          <a:lstStyle/>
          <a:p>
            <a:pPr marR="0" lvl="0" algn="l" rtl="0">
              <a:spcBef>
                <a:spcPts val="0"/>
              </a:spcBef>
              <a:spcAft>
                <a:spcPts val="0"/>
              </a:spcAft>
              <a:buClr>
                <a:schemeClr val="dk1"/>
              </a:buClr>
              <a:buSzPts val="1600"/>
            </a:pPr>
            <a:r>
              <a:rPr lang="es-PE" sz="1400" dirty="0">
                <a:solidFill>
                  <a:schemeClr val="dk1"/>
                </a:solidFill>
                <a:latin typeface="Calibri"/>
                <a:ea typeface="Calibri"/>
                <a:cs typeface="Calibri"/>
                <a:sym typeface="Calibri"/>
              </a:rPr>
              <a:t>“En las metodologías clásicas, la fase de pruebas siempre aparece después de la implementación. Existen otras metodologías en las que las pruebas tienen diferentes ciclos de vida. Aquí revisaremos las Fases de cualquier ciclo de vida del </a:t>
            </a:r>
            <a:r>
              <a:rPr lang="es-PE" sz="1400" b="1" dirty="0">
                <a:solidFill>
                  <a:schemeClr val="dk1"/>
                </a:solidFill>
                <a:latin typeface="Calibri"/>
                <a:ea typeface="Calibri"/>
                <a:cs typeface="Calibri"/>
                <a:sym typeface="Calibri"/>
              </a:rPr>
              <a:t>proceso de pruebas”.</a:t>
            </a:r>
            <a:endParaRPr lang="es-PE" dirty="0"/>
          </a:p>
          <a:p>
            <a:pPr marL="101600" marR="0" lvl="0" algn="l" rtl="0">
              <a:spcBef>
                <a:spcPts val="0"/>
              </a:spcBef>
              <a:spcAft>
                <a:spcPts val="0"/>
              </a:spcAft>
              <a:buClr>
                <a:schemeClr val="dk1"/>
              </a:buClr>
              <a:buSzPts val="1600"/>
            </a:pPr>
            <a:endParaRPr lang="es-PE" sz="1400" b="1"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600"/>
            </a:pPr>
            <a:endParaRPr lang="es-PE" sz="1400" dirty="0">
              <a:solidFill>
                <a:schemeClr val="dk1"/>
              </a:solidFill>
              <a:latin typeface="Calibri"/>
              <a:ea typeface="Calibri"/>
              <a:cs typeface="Calibri"/>
              <a:sym typeface="Calibri"/>
            </a:endParaRPr>
          </a:p>
          <a:p>
            <a:pPr marR="0" lvl="0" algn="l" rtl="0">
              <a:spcBef>
                <a:spcPts val="0"/>
              </a:spcBef>
              <a:spcAft>
                <a:spcPts val="0"/>
              </a:spcAft>
              <a:buClr>
                <a:schemeClr val="dk1"/>
              </a:buClr>
              <a:buSzPts val="1600"/>
            </a:pPr>
            <a:r>
              <a:rPr lang="es-PE" sz="1400" dirty="0">
                <a:solidFill>
                  <a:schemeClr val="dk1"/>
                </a:solidFill>
                <a:latin typeface="Calibri"/>
                <a:ea typeface="Calibri"/>
                <a:cs typeface="Calibri"/>
                <a:sym typeface="Calibri"/>
              </a:rPr>
              <a:t>Los requerimientos del usuario son usualmente medibles o cuantificables. Los requerimientos de calidad, no. Sin embargo, debemos buscar mecanismos para medir y verificar todos los </a:t>
            </a:r>
            <a:r>
              <a:rPr lang="es-PE" sz="1400" b="1" dirty="0">
                <a:solidFill>
                  <a:schemeClr val="dk1"/>
                </a:solidFill>
                <a:latin typeface="Calibri"/>
                <a:ea typeface="Calibri"/>
                <a:cs typeface="Calibri"/>
                <a:sym typeface="Calibri"/>
              </a:rPr>
              <a:t>atributos</a:t>
            </a:r>
            <a:r>
              <a:rPr lang="es-PE" sz="1400" dirty="0">
                <a:solidFill>
                  <a:schemeClr val="dk1"/>
                </a:solidFill>
                <a:latin typeface="Calibri"/>
                <a:ea typeface="Calibri"/>
                <a:cs typeface="Calibri"/>
                <a:sym typeface="Calibri"/>
              </a:rPr>
              <a:t>. </a:t>
            </a:r>
            <a:endParaRPr lang="es-PE" dirty="0"/>
          </a:p>
        </p:txBody>
      </p:sp>
      <p:pic>
        <p:nvPicPr>
          <p:cNvPr id="7" name="Imagen 6">
            <a:extLst>
              <a:ext uri="{FF2B5EF4-FFF2-40B4-BE49-F238E27FC236}">
                <a16:creationId xmlns:a16="http://schemas.microsoft.com/office/drawing/2014/main" id="{6C0D87FE-41AD-244E-8078-707E26B16EBB}"/>
              </a:ext>
            </a:extLst>
          </p:cNvPr>
          <p:cNvPicPr>
            <a:picLocks noChangeAspect="1"/>
          </p:cNvPicPr>
          <p:nvPr/>
        </p:nvPicPr>
        <p:blipFill>
          <a:blip r:embed="rId3"/>
          <a:stretch>
            <a:fillRect/>
          </a:stretch>
        </p:blipFill>
        <p:spPr>
          <a:xfrm>
            <a:off x="1010839" y="954885"/>
            <a:ext cx="117851" cy="121369"/>
          </a:xfrm>
          <a:prstGeom prst="rect">
            <a:avLst/>
          </a:prstGeom>
        </p:spPr>
      </p:pic>
      <p:pic>
        <p:nvPicPr>
          <p:cNvPr id="8" name="Imagen 7">
            <a:extLst>
              <a:ext uri="{FF2B5EF4-FFF2-40B4-BE49-F238E27FC236}">
                <a16:creationId xmlns:a16="http://schemas.microsoft.com/office/drawing/2014/main" id="{C3EA421C-A0CD-6E44-96B6-46E3264D8135}"/>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6661" y="3052731"/>
            <a:ext cx="1689027" cy="2181257"/>
          </a:xfrm>
          <a:prstGeom prst="rect">
            <a:avLst/>
          </a:prstGeom>
        </p:spPr>
      </p:pic>
      <p:sp>
        <p:nvSpPr>
          <p:cNvPr id="9" name="Rectángulo 8">
            <a:extLst>
              <a:ext uri="{FF2B5EF4-FFF2-40B4-BE49-F238E27FC236}">
                <a16:creationId xmlns:a16="http://schemas.microsoft.com/office/drawing/2014/main" id="{FB0232D7-8BCC-E646-B13A-44081A44A88F}"/>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0" name="Rectangle 5">
            <a:extLst>
              <a:ext uri="{FF2B5EF4-FFF2-40B4-BE49-F238E27FC236}">
                <a16:creationId xmlns:a16="http://schemas.microsoft.com/office/drawing/2014/main" id="{F02ACE99-454A-4740-961C-58F3A836309F}"/>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INTRODUCCIÓN </a:t>
            </a:r>
          </a:p>
        </p:txBody>
      </p:sp>
      <p:sp>
        <p:nvSpPr>
          <p:cNvPr id="44" name="Google Shape;44;p2"/>
          <p:cNvSpPr txBox="1"/>
          <p:nvPr/>
        </p:nvSpPr>
        <p:spPr>
          <a:xfrm>
            <a:off x="1911097" y="1883326"/>
            <a:ext cx="4572000" cy="153888"/>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PE" sz="1000" dirty="0">
                <a:solidFill>
                  <a:schemeClr val="bg1">
                    <a:lumMod val="50000"/>
                  </a:schemeClr>
                </a:solidFill>
                <a:latin typeface="Calibri"/>
                <a:ea typeface="Calibri"/>
                <a:cs typeface="Calibri"/>
                <a:sym typeface="Calibri"/>
              </a:rPr>
              <a:t>fr.slideshare.net</a:t>
            </a:r>
            <a:endParaRPr dirty="0">
              <a:solidFill>
                <a:schemeClr val="bg1">
                  <a:lumMod val="50000"/>
                </a:schemeClr>
              </a:solidFill>
            </a:endParaRPr>
          </a:p>
        </p:txBody>
      </p:sp>
      <p:pic>
        <p:nvPicPr>
          <p:cNvPr id="11" name="Imagen 10">
            <a:extLst>
              <a:ext uri="{FF2B5EF4-FFF2-40B4-BE49-F238E27FC236}">
                <a16:creationId xmlns:a16="http://schemas.microsoft.com/office/drawing/2014/main" id="{790E303D-ED2B-F84F-B114-AE7D57F6CD52}"/>
              </a:ext>
            </a:extLst>
          </p:cNvPr>
          <p:cNvPicPr>
            <a:picLocks noChangeAspect="1"/>
          </p:cNvPicPr>
          <p:nvPr/>
        </p:nvPicPr>
        <p:blipFill>
          <a:blip r:embed="rId3"/>
          <a:stretch>
            <a:fillRect/>
          </a:stretch>
        </p:blipFill>
        <p:spPr>
          <a:xfrm>
            <a:off x="1010839" y="2242996"/>
            <a:ext cx="117851" cy="12136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4" name="Rectángulo 3">
            <a:extLst>
              <a:ext uri="{FF2B5EF4-FFF2-40B4-BE49-F238E27FC236}">
                <a16:creationId xmlns:a16="http://schemas.microsoft.com/office/drawing/2014/main" id="{97380DB1-ABA6-6D45-9CD3-C7D8560AE6A4}"/>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9CAE733E-1506-B149-A509-98FB6702E546}"/>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ETAPAS</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DEL PROCESO</a:t>
            </a:r>
          </a:p>
        </p:txBody>
      </p:sp>
      <p:pic>
        <p:nvPicPr>
          <p:cNvPr id="6" name="Imagen 5">
            <a:extLst>
              <a:ext uri="{FF2B5EF4-FFF2-40B4-BE49-F238E27FC236}">
                <a16:creationId xmlns:a16="http://schemas.microsoft.com/office/drawing/2014/main" id="{A89E9AB5-66AD-E448-B614-1B35A980C9C5}"/>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18" name="Rectangle 5">
            <a:extLst>
              <a:ext uri="{FF2B5EF4-FFF2-40B4-BE49-F238E27FC236}">
                <a16:creationId xmlns:a16="http://schemas.microsoft.com/office/drawing/2014/main" id="{C63D11C8-B518-A441-BCAA-5BE615B8B8C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 name="Grupo 1">
            <a:extLst>
              <a:ext uri="{FF2B5EF4-FFF2-40B4-BE49-F238E27FC236}">
                <a16:creationId xmlns:a16="http://schemas.microsoft.com/office/drawing/2014/main" id="{F16394C2-9957-BB44-85F8-CC860C460CE7}"/>
              </a:ext>
            </a:extLst>
          </p:cNvPr>
          <p:cNvGrpSpPr/>
          <p:nvPr/>
        </p:nvGrpSpPr>
        <p:grpSpPr>
          <a:xfrm>
            <a:off x="1912479" y="1461853"/>
            <a:ext cx="5350844" cy="2974974"/>
            <a:chOff x="1912479" y="1461853"/>
            <a:chExt cx="5350844" cy="2974974"/>
          </a:xfrm>
        </p:grpSpPr>
        <p:sp>
          <p:nvSpPr>
            <p:cNvPr id="19" name="Rectángulo redondeado 18">
              <a:extLst>
                <a:ext uri="{FF2B5EF4-FFF2-40B4-BE49-F238E27FC236}">
                  <a16:creationId xmlns:a16="http://schemas.microsoft.com/office/drawing/2014/main" id="{532CED42-FB80-C546-934F-7EF00E09A88F}"/>
                </a:ext>
              </a:extLst>
            </p:cNvPr>
            <p:cNvSpPr/>
            <p:nvPr/>
          </p:nvSpPr>
          <p:spPr>
            <a:xfrm>
              <a:off x="1912479" y="1461853"/>
              <a:ext cx="1677341" cy="891733"/>
            </a:xfrm>
            <a:prstGeom prst="roundRect">
              <a:avLst>
                <a:gd name="adj" fmla="val 16033"/>
              </a:avLst>
            </a:prstGeom>
            <a:solidFill>
              <a:srgbClr val="FE7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Planificación</a:t>
              </a:r>
              <a:endParaRPr lang="es-PE" dirty="0"/>
            </a:p>
          </p:txBody>
        </p:sp>
        <p:sp>
          <p:nvSpPr>
            <p:cNvPr id="20" name="Rectángulo redondeado 19">
              <a:extLst>
                <a:ext uri="{FF2B5EF4-FFF2-40B4-BE49-F238E27FC236}">
                  <a16:creationId xmlns:a16="http://schemas.microsoft.com/office/drawing/2014/main" id="{70C79F7F-8C82-AB42-BAFD-45588EFEB2FD}"/>
                </a:ext>
              </a:extLst>
            </p:cNvPr>
            <p:cNvSpPr/>
            <p:nvPr/>
          </p:nvSpPr>
          <p:spPr>
            <a:xfrm>
              <a:off x="3733328" y="1461853"/>
              <a:ext cx="1677341" cy="891733"/>
            </a:xfrm>
            <a:prstGeom prst="roundRect">
              <a:avLst>
                <a:gd name="adj" fmla="val 16033"/>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Análisis</a:t>
              </a:r>
              <a:endParaRPr lang="es-PE" dirty="0"/>
            </a:p>
          </p:txBody>
        </p:sp>
        <p:sp>
          <p:nvSpPr>
            <p:cNvPr id="21" name="Rectángulo redondeado 20">
              <a:extLst>
                <a:ext uri="{FF2B5EF4-FFF2-40B4-BE49-F238E27FC236}">
                  <a16:creationId xmlns:a16="http://schemas.microsoft.com/office/drawing/2014/main" id="{08A628B9-3E3A-C14D-8B06-DD297138A90B}"/>
                </a:ext>
              </a:extLst>
            </p:cNvPr>
            <p:cNvSpPr/>
            <p:nvPr/>
          </p:nvSpPr>
          <p:spPr>
            <a:xfrm>
              <a:off x="5585982" y="1461853"/>
              <a:ext cx="1677341" cy="891733"/>
            </a:xfrm>
            <a:prstGeom prst="roundRect">
              <a:avLst>
                <a:gd name="adj" fmla="val 16033"/>
              </a:avLst>
            </a:prstGeom>
            <a:solidFill>
              <a:srgbClr val="FDC2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Diseño</a:t>
              </a:r>
              <a:endParaRPr lang="es-PE" dirty="0"/>
            </a:p>
          </p:txBody>
        </p:sp>
        <p:sp>
          <p:nvSpPr>
            <p:cNvPr id="22" name="Rectángulo redondeado 21">
              <a:extLst>
                <a:ext uri="{FF2B5EF4-FFF2-40B4-BE49-F238E27FC236}">
                  <a16:creationId xmlns:a16="http://schemas.microsoft.com/office/drawing/2014/main" id="{7B34DD7A-60C9-0646-86FC-5AEA795A766D}"/>
                </a:ext>
              </a:extLst>
            </p:cNvPr>
            <p:cNvSpPr/>
            <p:nvPr/>
          </p:nvSpPr>
          <p:spPr>
            <a:xfrm>
              <a:off x="1912479" y="2495522"/>
              <a:ext cx="1677341" cy="891733"/>
            </a:xfrm>
            <a:prstGeom prst="roundRect">
              <a:avLst>
                <a:gd name="adj" fmla="val 16033"/>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Implementación</a:t>
              </a:r>
              <a:endParaRPr lang="es-PE" dirty="0"/>
            </a:p>
          </p:txBody>
        </p:sp>
        <p:sp>
          <p:nvSpPr>
            <p:cNvPr id="23" name="Rectángulo redondeado 22">
              <a:extLst>
                <a:ext uri="{FF2B5EF4-FFF2-40B4-BE49-F238E27FC236}">
                  <a16:creationId xmlns:a16="http://schemas.microsoft.com/office/drawing/2014/main" id="{69A6ECD3-5BDD-4B4F-B00C-0E394066ECB6}"/>
                </a:ext>
              </a:extLst>
            </p:cNvPr>
            <p:cNvSpPr/>
            <p:nvPr/>
          </p:nvSpPr>
          <p:spPr>
            <a:xfrm>
              <a:off x="3733328" y="2495522"/>
              <a:ext cx="1677341" cy="891733"/>
            </a:xfrm>
            <a:prstGeom prst="roundRect">
              <a:avLst>
                <a:gd name="adj" fmla="val 16033"/>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Ejecución y Evaluación</a:t>
              </a:r>
              <a:endParaRPr lang="es-PE" dirty="0"/>
            </a:p>
          </p:txBody>
        </p:sp>
        <p:sp>
          <p:nvSpPr>
            <p:cNvPr id="24" name="Rectángulo redondeado 23">
              <a:extLst>
                <a:ext uri="{FF2B5EF4-FFF2-40B4-BE49-F238E27FC236}">
                  <a16:creationId xmlns:a16="http://schemas.microsoft.com/office/drawing/2014/main" id="{7DB49D4A-39E2-8446-8754-3B705A33D0CF}"/>
                </a:ext>
              </a:extLst>
            </p:cNvPr>
            <p:cNvSpPr/>
            <p:nvPr/>
          </p:nvSpPr>
          <p:spPr>
            <a:xfrm>
              <a:off x="5585982" y="2495522"/>
              <a:ext cx="1677341" cy="891733"/>
            </a:xfrm>
            <a:prstGeom prst="roundRect">
              <a:avLst>
                <a:gd name="adj" fmla="val 16033"/>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Cierre</a:t>
              </a:r>
              <a:endParaRPr lang="es-PE" dirty="0"/>
            </a:p>
          </p:txBody>
        </p:sp>
        <p:sp>
          <p:nvSpPr>
            <p:cNvPr id="25" name="Rectángulo redondeado 24">
              <a:extLst>
                <a:ext uri="{FF2B5EF4-FFF2-40B4-BE49-F238E27FC236}">
                  <a16:creationId xmlns:a16="http://schemas.microsoft.com/office/drawing/2014/main" id="{40C02FD9-DC9A-F848-B729-4386BCCDC282}"/>
                </a:ext>
              </a:extLst>
            </p:cNvPr>
            <p:cNvSpPr/>
            <p:nvPr/>
          </p:nvSpPr>
          <p:spPr>
            <a:xfrm>
              <a:off x="1912479" y="3545094"/>
              <a:ext cx="5350844" cy="891733"/>
            </a:xfrm>
            <a:prstGeom prst="roundRect">
              <a:avLst>
                <a:gd name="adj" fmla="val 16033"/>
              </a:avLst>
            </a:prstGeom>
            <a:solidFill>
              <a:srgbClr val="715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rtl="0">
                <a:lnSpc>
                  <a:spcPct val="90000"/>
                </a:lnSpc>
                <a:spcBef>
                  <a:spcPts val="0"/>
                </a:spcBef>
                <a:spcAft>
                  <a:spcPts val="0"/>
                </a:spcAft>
                <a:buClr>
                  <a:schemeClr val="lt1"/>
                </a:buClr>
                <a:buSzPts val="1800"/>
                <a:buFont typeface="Calibri"/>
                <a:buNone/>
              </a:pPr>
              <a:r>
                <a:rPr lang="es-PE" sz="1400" b="1" dirty="0">
                  <a:solidFill>
                    <a:schemeClr val="lt1"/>
                  </a:solidFill>
                  <a:latin typeface="Calibri"/>
                  <a:ea typeface="Calibri"/>
                  <a:cs typeface="Calibri"/>
                  <a:sym typeface="Calibri"/>
                </a:rPr>
                <a:t>Control</a:t>
              </a:r>
              <a:endParaRPr lang="es-PE"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5" name="Rectangle 5">
            <a:extLst>
              <a:ext uri="{FF2B5EF4-FFF2-40B4-BE49-F238E27FC236}">
                <a16:creationId xmlns:a16="http://schemas.microsoft.com/office/drawing/2014/main" id="{E91A2017-B9CE-104D-9BDC-98E98D95EEB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0DC266E4-EEA1-5541-963C-C448F6609CB1}"/>
              </a:ext>
            </a:extLst>
          </p:cNvPr>
          <p:cNvSpPr/>
          <p:nvPr/>
        </p:nvSpPr>
        <p:spPr>
          <a:xfrm>
            <a:off x="503238" y="916472"/>
            <a:ext cx="3168650" cy="2939266"/>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+ 01.</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PLANIFICACIÓN</a:t>
            </a:r>
            <a:endParaRPr lang="es-PE" sz="1600" b="1" dirty="0">
              <a:solidFill>
                <a:srgbClr val="EE4639"/>
              </a:solidFill>
              <a:latin typeface="Calibri" charset="0"/>
              <a:cs typeface="Calibri" charset="0"/>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Entender las metas y objetivos del cliente, las partes interesadas, el proyecto y los riesgos de las pruebas que se pretende abordar. </a:t>
            </a:r>
            <a:endParaRPr lang="es-PE" sz="1500" dirty="0"/>
          </a:p>
          <a:p>
            <a:pPr marL="182563" marR="0" lvl="0" indent="-1825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Establecer las metas y objetivos de </a:t>
            </a:r>
            <a:br>
              <a:rPr lang="es-PE" sz="1500" dirty="0">
                <a:solidFill>
                  <a:schemeClr val="dk1"/>
                </a:solidFill>
                <a:latin typeface="Calibri"/>
                <a:ea typeface="Calibri"/>
                <a:cs typeface="Calibri"/>
                <a:sym typeface="Calibri"/>
              </a:rPr>
            </a:br>
            <a:r>
              <a:rPr lang="es-PE" sz="1500" dirty="0">
                <a:solidFill>
                  <a:schemeClr val="dk1"/>
                </a:solidFill>
                <a:latin typeface="Calibri"/>
                <a:ea typeface="Calibri"/>
                <a:cs typeface="Calibri"/>
                <a:sym typeface="Calibri"/>
              </a:rPr>
              <a:t>la prueba.</a:t>
            </a:r>
            <a:endParaRPr lang="es-PE" sz="1500" dirty="0"/>
          </a:p>
          <a:p>
            <a:pPr marL="182563" marR="0" lvl="0" indent="-1825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Obtener una estrategia para las pruebas.</a:t>
            </a:r>
            <a:endParaRPr lang="es-PE" sz="1500" dirty="0"/>
          </a:p>
        </p:txBody>
      </p:sp>
      <p:pic>
        <p:nvPicPr>
          <p:cNvPr id="3" name="Imagen 2">
            <a:extLst>
              <a:ext uri="{FF2B5EF4-FFF2-40B4-BE49-F238E27FC236}">
                <a16:creationId xmlns:a16="http://schemas.microsoft.com/office/drawing/2014/main" id="{5B7FF605-90AC-6E47-839A-2BBFB09C100B}"/>
              </a:ext>
            </a:extLst>
          </p:cNvPr>
          <p:cNvPicPr>
            <a:picLocks noChangeAspect="1"/>
          </p:cNvPicPr>
          <p:nvPr/>
        </p:nvPicPr>
        <p:blipFill rotWithShape="1">
          <a:blip r:embed="rId3"/>
          <a:srcRect l="26935" t="8417" r="28246" b="16037"/>
          <a:stretch/>
        </p:blipFill>
        <p:spPr>
          <a:xfrm>
            <a:off x="4482059" y="916473"/>
            <a:ext cx="3844977" cy="43175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8" name="Google Shape;88;p6"/>
          <p:cNvSpPr txBox="1"/>
          <p:nvPr/>
        </p:nvSpPr>
        <p:spPr>
          <a:xfrm>
            <a:off x="684213" y="4025659"/>
            <a:ext cx="3889376"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josepablosarco.wordpress.com</a:t>
            </a:r>
            <a:endParaRPr dirty="0">
              <a:solidFill>
                <a:schemeClr val="bg1">
                  <a:lumMod val="50000"/>
                </a:schemeClr>
              </a:solidFill>
            </a:endParaRPr>
          </a:p>
        </p:txBody>
      </p:sp>
      <p:sp>
        <p:nvSpPr>
          <p:cNvPr id="5" name="Rectangle 5">
            <a:extLst>
              <a:ext uri="{FF2B5EF4-FFF2-40B4-BE49-F238E27FC236}">
                <a16:creationId xmlns:a16="http://schemas.microsoft.com/office/drawing/2014/main" id="{F391B2C8-CEEA-2E42-BCBB-F71685549E41}"/>
              </a:ext>
            </a:extLst>
          </p:cNvPr>
          <p:cNvSpPr/>
          <p:nvPr/>
        </p:nvSpPr>
        <p:spPr>
          <a:xfrm>
            <a:off x="503238" y="384183"/>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934BA42E-B3B6-7344-8D6E-98DB7ECED9FD}"/>
              </a:ext>
            </a:extLst>
          </p:cNvPr>
          <p:cNvSpPr/>
          <p:nvPr/>
        </p:nvSpPr>
        <p:spPr>
          <a:xfrm>
            <a:off x="503237" y="916472"/>
            <a:ext cx="8009253" cy="2939266"/>
          </a:xfrm>
          <a:prstGeom prst="rect">
            <a:avLst/>
          </a:prstGeom>
        </p:spPr>
        <p:txBody>
          <a:bodyPr wrap="square" lIns="0" tIns="0" rIns="0" bIns="0">
            <a:spAutoFit/>
          </a:bodyPr>
          <a:lstStyle/>
          <a:p>
            <a:pPr lvl="0">
              <a:spcAft>
                <a:spcPts val="600"/>
              </a:spcAft>
              <a:buSzPts val="1600"/>
            </a:pPr>
            <a:r>
              <a:rPr lang="es-ES" sz="2000" b="1" dirty="0">
                <a:solidFill>
                  <a:srgbClr val="EE4639"/>
                </a:solidFill>
                <a:latin typeface="Graphik Bold" panose="020B0503030202060203" pitchFamily="34" charset="77"/>
                <a:cs typeface="Calibri" charset="0"/>
              </a:rPr>
              <a:t>+ 02.</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ANÁLISIS Y DISEÑO</a:t>
            </a:r>
          </a:p>
          <a:p>
            <a:pPr marL="182563" marR="0" lvl="0" indent="-174625"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Revisión de la base de pruebas (requerimientos del producto, la arquitectura, las especificaciones de diseño e interfaces). </a:t>
            </a:r>
            <a:endParaRPr lang="es-PE" sz="1500" dirty="0"/>
          </a:p>
          <a:p>
            <a:pPr marL="182563" marR="0" lvl="0" indent="-174625"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74625"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Verificación de las especificaciones para el software bajo pruebas</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Evaluar la testeabilidad de los requisitos y el sistema.</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Identificar y priorizar las condiciones de prueba.</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Identificar los datos necesarios de prueba.</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Diseño y priorización de los casos de las pruebas.</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Diseño del entorno de prueba. </a:t>
            </a:r>
            <a:endParaRPr lang="es-PE" sz="1500" dirty="0"/>
          </a:p>
          <a:p>
            <a:pPr marL="357188" marR="0" lvl="1" indent="-174625"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Identificación de cualquier infraestructura necesaria y las herramientas.</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Rectangle 5">
            <a:extLst>
              <a:ext uri="{FF2B5EF4-FFF2-40B4-BE49-F238E27FC236}">
                <a16:creationId xmlns:a16="http://schemas.microsoft.com/office/drawing/2014/main" id="{61D125BF-AF32-AB46-B504-AE7D6B990852}"/>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5" name="Rectángulo 4">
            <a:extLst>
              <a:ext uri="{FF2B5EF4-FFF2-40B4-BE49-F238E27FC236}">
                <a16:creationId xmlns:a16="http://schemas.microsoft.com/office/drawing/2014/main" id="{889D992E-3113-144E-96B4-B7CC3B79459B}"/>
              </a:ext>
            </a:extLst>
          </p:cNvPr>
          <p:cNvSpPr/>
          <p:nvPr/>
        </p:nvSpPr>
        <p:spPr>
          <a:xfrm>
            <a:off x="503238" y="916472"/>
            <a:ext cx="3205162" cy="4078039"/>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+ 03.</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IMPLEMENTACIÓN</a:t>
            </a:r>
          </a:p>
          <a:p>
            <a:pPr marL="182563" marR="0" lvl="0" indent="-1825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Desarrollar y dar prioridad a nuestros casos de prueba utilizando las técnicas.</a:t>
            </a:r>
            <a:endParaRPr lang="es-PE" dirty="0"/>
          </a:p>
          <a:p>
            <a:pPr marL="182563" marR="0" lvl="0" indent="-182563" algn="l" rtl="0">
              <a:spcBef>
                <a:spcPts val="0"/>
              </a:spcBef>
              <a:spcAft>
                <a:spcPts val="0"/>
              </a:spcAft>
              <a:buClr>
                <a:schemeClr val="dk1"/>
              </a:buClr>
              <a:buSzPct val="100000"/>
              <a:buFont typeface="Arial"/>
              <a:buNone/>
            </a:pPr>
            <a:endParaRPr lang="es-PE"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Desarrollar las instrucciones para la realización de las pruebas, crear los datos de prueba y evaluar la automatización de algunas pruebas.</a:t>
            </a:r>
            <a:endParaRPr lang="es-PE" dirty="0"/>
          </a:p>
          <a:p>
            <a:pPr marL="182563" marR="0" lvl="0" indent="-182563" algn="l" rtl="0">
              <a:spcBef>
                <a:spcPts val="0"/>
              </a:spcBef>
              <a:spcAft>
                <a:spcPts val="0"/>
              </a:spcAft>
              <a:buClr>
                <a:schemeClr val="dk1"/>
              </a:buClr>
              <a:buSzPct val="100000"/>
              <a:buFont typeface="Arial"/>
              <a:buNone/>
            </a:pPr>
            <a:endParaRPr lang="es-PE"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Crear conjuntos de pruebas de los casos de prueba, para la ejecución de la prueba, eficientemente. </a:t>
            </a:r>
            <a:endParaRPr lang="es-PE" dirty="0"/>
          </a:p>
          <a:p>
            <a:pPr marL="182563" marR="0" lvl="0" indent="-182563" algn="l" rtl="0">
              <a:spcBef>
                <a:spcPts val="0"/>
              </a:spcBef>
              <a:spcAft>
                <a:spcPts val="0"/>
              </a:spcAft>
              <a:buClr>
                <a:schemeClr val="dk1"/>
              </a:buClr>
              <a:buSzPct val="100000"/>
              <a:buFont typeface="Arial"/>
              <a:buNone/>
            </a:pPr>
            <a:endParaRPr lang="es-PE"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Establecer un calendario de ejecución de las pruebas.</a:t>
            </a:r>
            <a:endParaRPr lang="es-PE" dirty="0"/>
          </a:p>
          <a:p>
            <a:pPr marL="182563" marR="0" lvl="0" indent="-182563" algn="l" rtl="0">
              <a:spcBef>
                <a:spcPts val="0"/>
              </a:spcBef>
              <a:spcAft>
                <a:spcPts val="0"/>
              </a:spcAft>
              <a:buClr>
                <a:schemeClr val="dk1"/>
              </a:buClr>
              <a:buSzPct val="100000"/>
              <a:buFont typeface="Arial"/>
              <a:buNone/>
            </a:pPr>
            <a:endParaRPr lang="es-PE"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dirty="0">
                <a:solidFill>
                  <a:schemeClr val="dk1"/>
                </a:solidFill>
                <a:latin typeface="Calibri"/>
                <a:ea typeface="Calibri"/>
                <a:cs typeface="Calibri"/>
                <a:sym typeface="Calibri"/>
              </a:rPr>
              <a:t>Implementar y verificar el ambiente. </a:t>
            </a:r>
            <a:endParaRPr lang="es-PE" dirty="0"/>
          </a:p>
        </p:txBody>
      </p:sp>
      <p:pic>
        <p:nvPicPr>
          <p:cNvPr id="7" name="Imagen 6">
            <a:extLst>
              <a:ext uri="{FF2B5EF4-FFF2-40B4-BE49-F238E27FC236}">
                <a16:creationId xmlns:a16="http://schemas.microsoft.com/office/drawing/2014/main" id="{92B574A5-1148-EF49-A9AF-7421C1475CD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067174" y="916472"/>
            <a:ext cx="5076825" cy="431751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3" name="Google Shape;103;p8"/>
          <p:cNvSpPr txBox="1"/>
          <p:nvPr/>
        </p:nvSpPr>
        <p:spPr>
          <a:xfrm>
            <a:off x="684213" y="3084842"/>
            <a:ext cx="3889376"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ria.utn.edu.ar</a:t>
            </a:r>
            <a:endParaRPr dirty="0">
              <a:solidFill>
                <a:schemeClr val="bg1">
                  <a:lumMod val="50000"/>
                </a:schemeClr>
              </a:solidFill>
            </a:endParaRPr>
          </a:p>
        </p:txBody>
      </p:sp>
      <p:sp>
        <p:nvSpPr>
          <p:cNvPr id="5" name="Rectangle 5">
            <a:extLst>
              <a:ext uri="{FF2B5EF4-FFF2-40B4-BE49-F238E27FC236}">
                <a16:creationId xmlns:a16="http://schemas.microsoft.com/office/drawing/2014/main" id="{9C0BFA7F-87F9-4B40-8CEC-9FB0451B948F}"/>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7BEA33AA-0B1A-FE4C-8646-DD0623F2996F}"/>
              </a:ext>
            </a:extLst>
          </p:cNvPr>
          <p:cNvSpPr/>
          <p:nvPr/>
        </p:nvSpPr>
        <p:spPr>
          <a:xfrm>
            <a:off x="503237" y="916472"/>
            <a:ext cx="8009253" cy="2015936"/>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+ 04.</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EJECUCIÓN Y EVALUACIÓN</a:t>
            </a: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“Ejecutar los bancos de pruebas y casos de prueba individuales, siguiendo nuestros procedimientos de pruebas”. </a:t>
            </a:r>
            <a:endParaRPr lang="es-PE" sz="1500" dirty="0"/>
          </a:p>
          <a:p>
            <a:pPr marL="182563" marR="0" lvl="0" indent="-1825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“Registrar el resultado de la ejecución de pruebas”.</a:t>
            </a:r>
            <a:endParaRPr lang="es-PE" sz="1500" dirty="0"/>
          </a:p>
          <a:p>
            <a:pPr marL="182563" marR="0" lvl="0" indent="-1825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Comparar los resultados reales con los resultados esperados.</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3" name="Imagen 2">
            <a:extLst>
              <a:ext uri="{FF2B5EF4-FFF2-40B4-BE49-F238E27FC236}">
                <a16:creationId xmlns:a16="http://schemas.microsoft.com/office/drawing/2014/main" id="{3EF13B2B-6A30-0E41-BA1D-1933FFAA51DC}"/>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067175" y="912812"/>
            <a:ext cx="5076825" cy="4321175"/>
          </a:xfrm>
          <a:prstGeom prst="rect">
            <a:avLst/>
          </a:prstGeom>
        </p:spPr>
      </p:pic>
      <p:sp>
        <p:nvSpPr>
          <p:cNvPr id="112" name="Google Shape;112;p9"/>
          <p:cNvSpPr txBox="1"/>
          <p:nvPr/>
        </p:nvSpPr>
        <p:spPr>
          <a:xfrm>
            <a:off x="684213" y="3782737"/>
            <a:ext cx="2182211"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josepablosarco.wordpress.com</a:t>
            </a:r>
            <a:endParaRPr dirty="0">
              <a:solidFill>
                <a:schemeClr val="bg1">
                  <a:lumMod val="50000"/>
                </a:schemeClr>
              </a:solidFill>
            </a:endParaRPr>
          </a:p>
        </p:txBody>
      </p:sp>
      <p:sp>
        <p:nvSpPr>
          <p:cNvPr id="6" name="Rectangle 5">
            <a:extLst>
              <a:ext uri="{FF2B5EF4-FFF2-40B4-BE49-F238E27FC236}">
                <a16:creationId xmlns:a16="http://schemas.microsoft.com/office/drawing/2014/main" id="{42E39EED-BC31-184D-9BB3-1688E7B683B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A03727F1-C0B5-3244-8265-35B323103DD2}"/>
              </a:ext>
            </a:extLst>
          </p:cNvPr>
          <p:cNvSpPr/>
          <p:nvPr/>
        </p:nvSpPr>
        <p:spPr>
          <a:xfrm>
            <a:off x="503237" y="916472"/>
            <a:ext cx="3202071" cy="2708434"/>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+ 05.</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CIERRE</a:t>
            </a:r>
          </a:p>
          <a:p>
            <a:pPr marL="182563" marR="0" lvl="0" indent="-182563" algn="l" rtl="0">
              <a:spcBef>
                <a:spcPts val="0"/>
              </a:spcBef>
              <a:spcAft>
                <a:spcPts val="0"/>
              </a:spcAft>
              <a:buClr>
                <a:schemeClr val="dk1"/>
              </a:buClr>
              <a:buSzPct val="100000"/>
              <a:buFont typeface="Arial"/>
              <a:buChar char="•"/>
            </a:pPr>
            <a:r>
              <a:rPr lang="es-PE" sz="1400" dirty="0">
                <a:solidFill>
                  <a:schemeClr val="dk1"/>
                </a:solidFill>
                <a:latin typeface="Calibri"/>
                <a:ea typeface="Calibri"/>
                <a:cs typeface="Calibri"/>
                <a:sym typeface="Calibri"/>
              </a:rPr>
              <a:t>“</a:t>
            </a:r>
            <a:r>
              <a:rPr lang="es-PE" sz="1500" dirty="0">
                <a:solidFill>
                  <a:schemeClr val="dk1"/>
                </a:solidFill>
                <a:latin typeface="Calibri"/>
                <a:ea typeface="Calibri"/>
                <a:cs typeface="Calibri"/>
                <a:sym typeface="Calibri"/>
              </a:rPr>
              <a:t>Se recolecta la información de las actividades de prueba completadas para consolidar. Se verifican los entregables y que los defectos hayan sido corregidos”. </a:t>
            </a:r>
            <a:endParaRPr lang="es-PE" sz="1500" dirty="0"/>
          </a:p>
          <a:p>
            <a:pPr marL="182563" marR="0" lvl="0" indent="-182563"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82563"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“Se evalúa cómo resultaron las actividades de testing y se analizan las lecciones aprendidas”.</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20" name="Google Shape;120;p10"/>
          <p:cNvPicPr preferRelativeResize="0"/>
          <p:nvPr/>
        </p:nvPicPr>
        <p:blipFill rotWithShape="1">
          <a:blip r:embed="rId3">
            <a:alphaModFix/>
          </a:blip>
          <a:srcRect r="28801"/>
          <a:stretch/>
        </p:blipFill>
        <p:spPr>
          <a:xfrm>
            <a:off x="4067175" y="912813"/>
            <a:ext cx="5076825" cy="4321175"/>
          </a:xfrm>
          <a:prstGeom prst="rect">
            <a:avLst/>
          </a:prstGeom>
          <a:noFill/>
          <a:ln>
            <a:noFill/>
          </a:ln>
        </p:spPr>
      </p:pic>
      <p:sp>
        <p:nvSpPr>
          <p:cNvPr id="121" name="Google Shape;121;p10"/>
          <p:cNvSpPr txBox="1"/>
          <p:nvPr/>
        </p:nvSpPr>
        <p:spPr>
          <a:xfrm>
            <a:off x="684213" y="3789061"/>
            <a:ext cx="1571625"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ria.utn.edu.ar</a:t>
            </a:r>
            <a:endParaRPr dirty="0">
              <a:solidFill>
                <a:schemeClr val="bg1">
                  <a:lumMod val="50000"/>
                </a:schemeClr>
              </a:solidFill>
            </a:endParaRPr>
          </a:p>
        </p:txBody>
      </p:sp>
      <p:sp>
        <p:nvSpPr>
          <p:cNvPr id="6" name="Rectangle 5">
            <a:extLst>
              <a:ext uri="{FF2B5EF4-FFF2-40B4-BE49-F238E27FC236}">
                <a16:creationId xmlns:a16="http://schemas.microsoft.com/office/drawing/2014/main" id="{607C71F6-1EBD-F74D-9427-30C272103FF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ETAPAS DEL PROCESO</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21C38EAC-AA14-8549-A94C-111759985EC3}"/>
              </a:ext>
            </a:extLst>
          </p:cNvPr>
          <p:cNvSpPr/>
          <p:nvPr/>
        </p:nvSpPr>
        <p:spPr>
          <a:xfrm>
            <a:off x="503237" y="916472"/>
            <a:ext cx="3205163" cy="2708434"/>
          </a:xfrm>
          <a:prstGeom prst="rect">
            <a:avLst/>
          </a:prstGeom>
        </p:spPr>
        <p:txBody>
          <a:bodyPr wrap="square" lIns="0" tIns="0" rIns="0" bIns="0">
            <a:spAutoFit/>
          </a:bodyPr>
          <a:lstStyle/>
          <a:p>
            <a:pPr>
              <a:spcAft>
                <a:spcPts val="600"/>
              </a:spcAft>
              <a:buSzPts val="1600"/>
            </a:pPr>
            <a:r>
              <a:rPr lang="es-ES" sz="2000" b="1" dirty="0">
                <a:solidFill>
                  <a:srgbClr val="EE4639"/>
                </a:solidFill>
                <a:latin typeface="Graphik Bold" panose="020B0503030202060203" pitchFamily="34" charset="77"/>
                <a:cs typeface="Calibri" charset="0"/>
              </a:rPr>
              <a:t>+ 06.</a:t>
            </a:r>
            <a:br>
              <a:rPr lang="es-ES" sz="1600" b="1" dirty="0">
                <a:solidFill>
                  <a:srgbClr val="EE4639"/>
                </a:solidFill>
                <a:latin typeface="Calibri" charset="0"/>
                <a:cs typeface="Calibri" charset="0"/>
              </a:rPr>
            </a:br>
            <a:r>
              <a:rPr lang="es-PE" sz="1600" b="1" dirty="0">
                <a:solidFill>
                  <a:srgbClr val="EE4639"/>
                </a:solidFill>
                <a:latin typeface="Calibri" charset="0"/>
                <a:cs typeface="Calibri" charset="0"/>
                <a:sym typeface="Calibri"/>
              </a:rPr>
              <a:t>CONTROL</a:t>
            </a:r>
          </a:p>
          <a:p>
            <a:pPr marL="182563" marR="0" lvl="0" indent="-174625"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“Actividad permanente de comparar </a:t>
            </a:r>
            <a:br>
              <a:rPr lang="es-PE" sz="1500" dirty="0">
                <a:solidFill>
                  <a:schemeClr val="dk1"/>
                </a:solidFill>
                <a:latin typeface="Calibri"/>
                <a:ea typeface="Calibri"/>
                <a:cs typeface="Calibri"/>
                <a:sym typeface="Calibri"/>
              </a:rPr>
            </a:br>
            <a:r>
              <a:rPr lang="es-PE" sz="1500" dirty="0">
                <a:solidFill>
                  <a:schemeClr val="dk1"/>
                </a:solidFill>
                <a:latin typeface="Calibri"/>
                <a:ea typeface="Calibri"/>
                <a:cs typeface="Calibri"/>
                <a:sym typeface="Calibri"/>
              </a:rPr>
              <a:t>el progreso real contra el plan, y comunicar el estado actual de las pruebas, incluyendo las desviaciones del plan”. </a:t>
            </a:r>
            <a:endParaRPr lang="es-PE" sz="1500" dirty="0"/>
          </a:p>
          <a:p>
            <a:pPr marL="182563" marR="0" lvl="0" indent="-174625" algn="l" rtl="0">
              <a:spcBef>
                <a:spcPts val="0"/>
              </a:spcBef>
              <a:spcAft>
                <a:spcPts val="0"/>
              </a:spcAft>
              <a:buClr>
                <a:schemeClr val="dk1"/>
              </a:buClr>
              <a:buSzPct val="100000"/>
              <a:buFont typeface="Arial"/>
              <a:buNone/>
            </a:pPr>
            <a:endParaRPr lang="es-PE" sz="1500" dirty="0">
              <a:solidFill>
                <a:schemeClr val="dk1"/>
              </a:solidFill>
              <a:latin typeface="Calibri"/>
              <a:ea typeface="Calibri"/>
              <a:cs typeface="Calibri"/>
              <a:sym typeface="Calibri"/>
            </a:endParaRPr>
          </a:p>
          <a:p>
            <a:pPr marL="182563" marR="0" lvl="0" indent="-174625"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“Tomar las medidas necesarias para cumplir la misión y los objetivos del proyecto”.</a:t>
            </a:r>
            <a:endParaRPr lang="es-PE" sz="15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4" name="Rectángulo 3">
            <a:extLst>
              <a:ext uri="{FF2B5EF4-FFF2-40B4-BE49-F238E27FC236}">
                <a16:creationId xmlns:a16="http://schemas.microsoft.com/office/drawing/2014/main" id="{34D68BA2-F805-8A48-B4FE-1553DB03A17C}"/>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5" name="CuadroTexto 4">
            <a:extLst>
              <a:ext uri="{FF2B5EF4-FFF2-40B4-BE49-F238E27FC236}">
                <a16:creationId xmlns:a16="http://schemas.microsoft.com/office/drawing/2014/main" id="{417FCAF9-BA9C-8440-B5A7-17DE6C92CA9C}"/>
              </a:ext>
            </a:extLst>
          </p:cNvPr>
          <p:cNvSpPr txBox="1"/>
          <p:nvPr/>
        </p:nvSpPr>
        <p:spPr>
          <a:xfrm>
            <a:off x="1008063" y="3169972"/>
            <a:ext cx="5993558" cy="775597"/>
          </a:xfrm>
          <a:prstGeom prst="rect">
            <a:avLst/>
          </a:prstGeom>
          <a:noFill/>
        </p:spPr>
        <p:txBody>
          <a:bodyPr wrap="square" lIns="0" tIns="0" rIns="0" bIns="0" rtlCol="0">
            <a:spAutoFit/>
          </a:bodyPr>
          <a:lstStyle/>
          <a:p>
            <a:pPr>
              <a:lnSpc>
                <a:spcPct val="90000"/>
              </a:lnSpc>
              <a:spcBef>
                <a:spcPts val="1000"/>
              </a:spcBef>
              <a:defRPr/>
            </a:pPr>
            <a:r>
              <a:rPr lang="es-PE" sz="2800" dirty="0">
                <a:solidFill>
                  <a:schemeClr val="bg1"/>
                </a:solidFill>
                <a:latin typeface="Graphik Regular" charset="0"/>
                <a:ea typeface="Graphik Regular" charset="0"/>
                <a:cs typeface="Graphik Regular" charset="0"/>
              </a:rPr>
              <a:t>NIVELES</a:t>
            </a:r>
            <a:br>
              <a:rPr lang="es-PE" sz="2800" b="1" dirty="0">
                <a:solidFill>
                  <a:schemeClr val="bg1"/>
                </a:solidFill>
                <a:latin typeface="Calibri"/>
                <a:cs typeface="Calibri"/>
              </a:rPr>
            </a:br>
            <a:r>
              <a:rPr lang="es-PE" sz="2800" b="1" dirty="0">
                <a:solidFill>
                  <a:schemeClr val="bg1"/>
                </a:solidFill>
                <a:latin typeface="Graphik Bold" charset="0"/>
                <a:ea typeface="Graphik Bold" charset="0"/>
                <a:cs typeface="Graphik Bold" charset="0"/>
              </a:rPr>
              <a:t>DE PRUEBAS</a:t>
            </a:r>
          </a:p>
        </p:txBody>
      </p:sp>
      <p:pic>
        <p:nvPicPr>
          <p:cNvPr id="6" name="Imagen 5">
            <a:extLst>
              <a:ext uri="{FF2B5EF4-FFF2-40B4-BE49-F238E27FC236}">
                <a16:creationId xmlns:a16="http://schemas.microsoft.com/office/drawing/2014/main" id="{8DFAA7F8-5FE9-134C-9876-2AB156794481}"/>
              </a:ext>
            </a:extLst>
          </p:cNvPr>
          <p:cNvPicPr>
            <a:picLocks noChangeAspect="1"/>
          </p:cNvPicPr>
          <p:nvPr/>
        </p:nvPicPr>
        <p:blipFill>
          <a:blip r:embed="rId3"/>
          <a:stretch>
            <a:fillRect/>
          </a:stretch>
        </p:blipFill>
        <p:spPr>
          <a:xfrm>
            <a:off x="1008063" y="2869612"/>
            <a:ext cx="195423" cy="2012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4" name="Rectangle 5">
            <a:extLst>
              <a:ext uri="{FF2B5EF4-FFF2-40B4-BE49-F238E27FC236}">
                <a16:creationId xmlns:a16="http://schemas.microsoft.com/office/drawing/2014/main" id="{2711EAED-2E49-B340-A840-92C2ACF1741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9" name="Google Shape;332;p23">
            <a:extLst>
              <a:ext uri="{FF2B5EF4-FFF2-40B4-BE49-F238E27FC236}">
                <a16:creationId xmlns:a16="http://schemas.microsoft.com/office/drawing/2014/main" id="{779935A3-297A-BB40-949E-E3A0B1A19ADA}"/>
              </a:ext>
            </a:extLst>
          </p:cNvPr>
          <p:cNvSpPr/>
          <p:nvPr/>
        </p:nvSpPr>
        <p:spPr>
          <a:xfrm>
            <a:off x="4636710" y="1585038"/>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11430" marR="0" lvl="0" indent="0" algn="ctr" rtl="0">
              <a:lnSpc>
                <a:spcPct val="100000"/>
              </a:lnSpc>
              <a:spcBef>
                <a:spcPts val="0"/>
              </a:spcBef>
              <a:spcAft>
                <a:spcPts val="0"/>
              </a:spcAft>
              <a:buClr>
                <a:srgbClr val="000000"/>
              </a:buClr>
              <a:buSzPts val="2000"/>
              <a:buFont typeface="Arial"/>
              <a:buNone/>
            </a:pPr>
            <a:r>
              <a:rPr lang="es-PE" sz="1500" b="1" i="0" u="none" strike="noStrike" cap="none" dirty="0">
                <a:solidFill>
                  <a:schemeClr val="bg1"/>
                </a:solidFill>
                <a:latin typeface="Calibri" panose="020F0502020204030204" pitchFamily="34" charset="0"/>
                <a:cs typeface="Calibri" panose="020F0502020204030204" pitchFamily="34" charset="0"/>
                <a:sym typeface="Arial"/>
              </a:rPr>
              <a:t>POR OBJETIVO:</a:t>
            </a:r>
          </a:p>
        </p:txBody>
      </p:sp>
      <p:sp>
        <p:nvSpPr>
          <p:cNvPr id="10" name="Google Shape;334;p23">
            <a:extLst>
              <a:ext uri="{FF2B5EF4-FFF2-40B4-BE49-F238E27FC236}">
                <a16:creationId xmlns:a16="http://schemas.microsoft.com/office/drawing/2014/main" id="{FACF7B9B-E1C8-1946-8A76-8DA2613991CC}"/>
              </a:ext>
            </a:extLst>
          </p:cNvPr>
          <p:cNvSpPr/>
          <p:nvPr/>
        </p:nvSpPr>
        <p:spPr>
          <a:xfrm>
            <a:off x="4636710" y="2159589"/>
            <a:ext cx="3175640" cy="2153672"/>
          </a:xfrm>
          <a:prstGeom prst="roundRect">
            <a:avLst>
              <a:gd name="adj" fmla="val 3579"/>
            </a:avLst>
          </a:prstGeom>
          <a:solidFill>
            <a:srgbClr val="FFD8D4"/>
          </a:solidFill>
          <a:ln>
            <a:noFill/>
          </a:ln>
        </p:spPr>
        <p:txBody>
          <a:bodyPr spcFirstLastPara="1" wrap="square" lIns="108000" tIns="108000" rIns="108000" bIns="45700" anchor="t" anchorCtr="0">
            <a:noAutofit/>
          </a:bodyPr>
          <a:lstStyle/>
          <a:p>
            <a:pPr marL="138113" marR="0" lvl="1" indent="-128588" algn="l" defTabSz="457200" rtl="0">
              <a:lnSpc>
                <a:spcPct val="100000"/>
              </a:lnSpc>
              <a:spcBef>
                <a:spcPts val="0"/>
              </a:spcBef>
              <a:spcAft>
                <a:spcPts val="600"/>
              </a:spcAft>
              <a:buClr>
                <a:srgbClr val="EE4639"/>
              </a:buClr>
              <a:buSzPct val="100000"/>
              <a:buFont typeface="Arial" panose="020B0604020202020204" pitchFamily="34" charset="0"/>
              <a:buChar char="•"/>
              <a:tabLst>
                <a:tab pos="3228975" algn="l"/>
              </a:tabLst>
            </a:pPr>
            <a:r>
              <a:rPr lang="es-PE" b="0" i="0" u="none" strike="noStrike" cap="none" dirty="0">
                <a:solidFill>
                  <a:srgbClr val="262626"/>
                </a:solidFill>
                <a:latin typeface="Calibri"/>
                <a:ea typeface="+mn-ea"/>
                <a:cs typeface="Calibri"/>
                <a:sym typeface="Arial"/>
              </a:rPr>
              <a:t>Pruebas Funcionales</a:t>
            </a:r>
          </a:p>
          <a:p>
            <a:pPr marL="138113" marR="0" lvl="1" indent="-128588" algn="l" defTabSz="457200" rtl="0">
              <a:lnSpc>
                <a:spcPct val="100000"/>
              </a:lnSpc>
              <a:spcBef>
                <a:spcPts val="0"/>
              </a:spcBef>
              <a:spcAft>
                <a:spcPts val="600"/>
              </a:spcAft>
              <a:buClr>
                <a:srgbClr val="EE4639"/>
              </a:buClr>
              <a:buSzPct val="100000"/>
              <a:buFont typeface="Arial" panose="020B0604020202020204" pitchFamily="34" charset="0"/>
              <a:buChar char="•"/>
              <a:tabLst>
                <a:tab pos="3228975" algn="l"/>
              </a:tabLst>
            </a:pPr>
            <a:r>
              <a:rPr lang="es-PE" b="0" i="0" u="none" strike="noStrike" cap="none" dirty="0">
                <a:solidFill>
                  <a:srgbClr val="262626"/>
                </a:solidFill>
                <a:latin typeface="Calibri"/>
                <a:ea typeface="+mn-ea"/>
                <a:cs typeface="Calibri"/>
                <a:sym typeface="Arial"/>
              </a:rPr>
              <a:t>Pruebas No Funcionales</a:t>
            </a:r>
          </a:p>
        </p:txBody>
      </p:sp>
      <p:grpSp>
        <p:nvGrpSpPr>
          <p:cNvPr id="11" name="Agrupar 4">
            <a:extLst>
              <a:ext uri="{FF2B5EF4-FFF2-40B4-BE49-F238E27FC236}">
                <a16:creationId xmlns:a16="http://schemas.microsoft.com/office/drawing/2014/main" id="{32729E53-ACF6-5042-BA39-BE30F89618EE}"/>
              </a:ext>
            </a:extLst>
          </p:cNvPr>
          <p:cNvGrpSpPr/>
          <p:nvPr/>
        </p:nvGrpSpPr>
        <p:grpSpPr>
          <a:xfrm>
            <a:off x="4421795" y="1633667"/>
            <a:ext cx="459474" cy="403823"/>
            <a:chOff x="5892512" y="2805541"/>
            <a:chExt cx="459474" cy="403823"/>
          </a:xfrm>
        </p:grpSpPr>
        <p:sp>
          <p:nvSpPr>
            <p:cNvPr id="12" name="Elipse 11">
              <a:extLst>
                <a:ext uri="{FF2B5EF4-FFF2-40B4-BE49-F238E27FC236}">
                  <a16:creationId xmlns:a16="http://schemas.microsoft.com/office/drawing/2014/main" id="{439DB00A-7B78-B247-9C34-602FD1B0FD66}"/>
                </a:ext>
              </a:extLst>
            </p:cNvPr>
            <p:cNvSpPr/>
            <p:nvPr/>
          </p:nvSpPr>
          <p:spPr>
            <a:xfrm>
              <a:off x="5956277" y="2824919"/>
              <a:ext cx="395709" cy="376075"/>
            </a:xfrm>
            <a:prstGeom prst="ellipse">
              <a:avLst/>
            </a:prstGeom>
            <a:solidFill>
              <a:srgbClr val="B73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BB1DFEB6-41CD-0348-B11D-A4F01AF483D3}"/>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2E166A47-F8D2-E546-AB6E-D4C39220B9E1}"/>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6" name="Google Shape;333;p23">
            <a:extLst>
              <a:ext uri="{FF2B5EF4-FFF2-40B4-BE49-F238E27FC236}">
                <a16:creationId xmlns:a16="http://schemas.microsoft.com/office/drawing/2014/main" id="{A66FBDEB-69AB-9A4E-9271-6B5832AA2F84}"/>
              </a:ext>
            </a:extLst>
          </p:cNvPr>
          <p:cNvSpPr/>
          <p:nvPr/>
        </p:nvSpPr>
        <p:spPr>
          <a:xfrm>
            <a:off x="1352636" y="1585038"/>
            <a:ext cx="3175640"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Calibri"/>
              <a:buNone/>
            </a:pPr>
            <a:r>
              <a:rPr lang="es-PE" sz="1400" b="1" u="none" strike="noStrike" cap="none" dirty="0">
                <a:solidFill>
                  <a:schemeClr val="bg1"/>
                </a:solidFill>
                <a:latin typeface="Calibri" panose="020F0502020204030204" pitchFamily="34" charset="0"/>
                <a:cs typeface="Calibri" panose="020F0502020204030204" pitchFamily="34" charset="0"/>
              </a:rPr>
              <a:t>POR ESTRATEGIA:</a:t>
            </a:r>
            <a:endParaRPr lang="es-PE" sz="1400" b="1" dirty="0">
              <a:solidFill>
                <a:schemeClr val="bg1"/>
              </a:solidFill>
              <a:latin typeface="Calibri" panose="020F0502020204030204" pitchFamily="34" charset="0"/>
              <a:cs typeface="Calibri" panose="020F0502020204030204" pitchFamily="34" charset="0"/>
            </a:endParaRPr>
          </a:p>
        </p:txBody>
      </p:sp>
      <p:sp>
        <p:nvSpPr>
          <p:cNvPr id="7" name="Google Shape;335;p23">
            <a:extLst>
              <a:ext uri="{FF2B5EF4-FFF2-40B4-BE49-F238E27FC236}">
                <a16:creationId xmlns:a16="http://schemas.microsoft.com/office/drawing/2014/main" id="{41A944BB-BFFA-3044-85B1-41E3262913E4}"/>
              </a:ext>
            </a:extLst>
          </p:cNvPr>
          <p:cNvSpPr/>
          <p:nvPr/>
        </p:nvSpPr>
        <p:spPr>
          <a:xfrm>
            <a:off x="1352636" y="2159589"/>
            <a:ext cx="3175640" cy="2153672"/>
          </a:xfrm>
          <a:prstGeom prst="roundRect">
            <a:avLst>
              <a:gd name="adj" fmla="val 4409"/>
            </a:avLst>
          </a:prstGeom>
          <a:solidFill>
            <a:srgbClr val="D1EFF4"/>
          </a:solidFill>
          <a:ln>
            <a:noFill/>
          </a:ln>
        </p:spPr>
        <p:txBody>
          <a:bodyPr spcFirstLastPara="1" wrap="square" lIns="108000" tIns="108000" rIns="108000" bIns="45700" anchor="t" anchorCtr="0">
            <a:noAutofit/>
          </a:bodyPr>
          <a:lstStyle/>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de Unidad</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de Integración</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de Sistemas</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Alfa &amp; Beta</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de Aceptación</a:t>
            </a:r>
          </a:p>
          <a:p>
            <a:pPr marL="222250" marR="0" lvl="1" indent="-134938" algn="l" rtl="0">
              <a:lnSpc>
                <a:spcPct val="100000"/>
              </a:lnSpc>
              <a:spcBef>
                <a:spcPts val="0"/>
              </a:spcBef>
              <a:spcAft>
                <a:spcPts val="600"/>
              </a:spcAft>
              <a:buClr>
                <a:srgbClr val="00B1C2"/>
              </a:buClr>
              <a:buSzPct val="100000"/>
              <a:buFont typeface="Arial" panose="020B0604020202020204" pitchFamily="34" charset="0"/>
              <a:buChar char="•"/>
            </a:pPr>
            <a:r>
              <a:rPr lang="es-PE" b="0" i="0" u="none" strike="noStrike" cap="none" dirty="0">
                <a:solidFill>
                  <a:srgbClr val="000000"/>
                </a:solidFill>
                <a:latin typeface="Calibri" panose="020F0502020204030204" pitchFamily="34" charset="0"/>
                <a:ea typeface="+mj-lt"/>
                <a:cs typeface="Calibri" panose="020F0502020204030204" pitchFamily="34" charset="0"/>
                <a:sym typeface="Arial"/>
              </a:rPr>
              <a:t>Pruebas de Regresión</a:t>
            </a:r>
            <a:endParaRPr lang="es-ES_tradnl" dirty="0">
              <a:latin typeface="Calibri" panose="020F0502020204030204" pitchFamily="34" charset="0"/>
              <a:ea typeface="+mj-lt"/>
              <a:cs typeface="Calibri" panose="020F0502020204030204" pitchFamily="34" charset="0"/>
              <a:sym typeface="Calibri"/>
            </a:endParaRPr>
          </a:p>
        </p:txBody>
      </p:sp>
      <p:grpSp>
        <p:nvGrpSpPr>
          <p:cNvPr id="8" name="Agrupar 9">
            <a:extLst>
              <a:ext uri="{FF2B5EF4-FFF2-40B4-BE49-F238E27FC236}">
                <a16:creationId xmlns:a16="http://schemas.microsoft.com/office/drawing/2014/main" id="{02556187-C437-B04B-8374-AA46E4D727BB}"/>
              </a:ext>
            </a:extLst>
          </p:cNvPr>
          <p:cNvGrpSpPr/>
          <p:nvPr/>
        </p:nvGrpSpPr>
        <p:grpSpPr>
          <a:xfrm>
            <a:off x="1136870" y="1633667"/>
            <a:ext cx="459474" cy="403823"/>
            <a:chOff x="5892512" y="2805541"/>
            <a:chExt cx="459474" cy="403823"/>
          </a:xfrm>
        </p:grpSpPr>
        <p:sp>
          <p:nvSpPr>
            <p:cNvPr id="15" name="Elipse 14">
              <a:extLst>
                <a:ext uri="{FF2B5EF4-FFF2-40B4-BE49-F238E27FC236}">
                  <a16:creationId xmlns:a16="http://schemas.microsoft.com/office/drawing/2014/main" id="{DC866523-3A4B-9E4E-BD39-559B8747BF70}"/>
                </a:ext>
              </a:extLst>
            </p:cNvPr>
            <p:cNvSpPr/>
            <p:nvPr/>
          </p:nvSpPr>
          <p:spPr>
            <a:xfrm>
              <a:off x="5956277" y="2824919"/>
              <a:ext cx="395709" cy="376075"/>
            </a:xfrm>
            <a:prstGeom prst="ellipse">
              <a:avLst/>
            </a:prstGeom>
            <a:solidFill>
              <a:srgbClr val="0B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Elipse 15">
              <a:extLst>
                <a:ext uri="{FF2B5EF4-FFF2-40B4-BE49-F238E27FC236}">
                  <a16:creationId xmlns:a16="http://schemas.microsoft.com/office/drawing/2014/main" id="{03C8F426-C8D5-A14F-A468-B2033BBF11DC}"/>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Triángulo 16">
              <a:extLst>
                <a:ext uri="{FF2B5EF4-FFF2-40B4-BE49-F238E27FC236}">
                  <a16:creationId xmlns:a16="http://schemas.microsoft.com/office/drawing/2014/main" id="{CCE78D4C-F726-2F46-AE92-741ECABF8BEC}"/>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1" name="Google Shape;141;p13"/>
          <p:cNvSpPr/>
          <p:nvPr/>
        </p:nvSpPr>
        <p:spPr>
          <a:xfrm>
            <a:off x="503238" y="912813"/>
            <a:ext cx="8139225" cy="2292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UNIDAD</a:t>
            </a:r>
            <a:endParaRPr dirty="0"/>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Asegurar que el código escrito para una unidad o componente concuerde con su especificación, previamente a su integración con otras unidades.</a:t>
            </a:r>
            <a:endParaRPr dirty="0"/>
          </a:p>
          <a:p>
            <a:pPr marL="177800" marR="0" lvl="0" indent="-762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suele usar un “Unit Test Framework”.</a:t>
            </a:r>
            <a:endParaRPr dirty="0"/>
          </a:p>
          <a:p>
            <a:pPr marL="177800" marR="0" lvl="0" indent="-762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Una metodología es TDD (Test-Driven Development).</a:t>
            </a:r>
            <a:endParaRPr dirty="0"/>
          </a:p>
          <a:p>
            <a:pPr marL="177800" marR="0" lvl="0" indent="-762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unitarias son usualmente realizadas por el desarrollador que escribió el código.</a:t>
            </a:r>
            <a:endParaRPr dirty="0"/>
          </a:p>
        </p:txBody>
      </p:sp>
      <p:sp>
        <p:nvSpPr>
          <p:cNvPr id="4" name="Rectangle 5">
            <a:extLst>
              <a:ext uri="{FF2B5EF4-FFF2-40B4-BE49-F238E27FC236}">
                <a16:creationId xmlns:a16="http://schemas.microsoft.com/office/drawing/2014/main" id="{26908187-8424-7B45-9593-76877794C4D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22" name="28 Flecha derecha">
            <a:extLst>
              <a:ext uri="{FF2B5EF4-FFF2-40B4-BE49-F238E27FC236}">
                <a16:creationId xmlns:a16="http://schemas.microsoft.com/office/drawing/2014/main" id="{CD489BB0-B428-DD46-B851-9D6C5D2292BA}"/>
              </a:ext>
            </a:extLst>
          </p:cNvPr>
          <p:cNvSpPr/>
          <p:nvPr/>
        </p:nvSpPr>
        <p:spPr>
          <a:xfrm rot="5400000">
            <a:off x="5365777" y="3234089"/>
            <a:ext cx="244817" cy="217134"/>
          </a:xfrm>
          <a:prstGeom prst="rightArrow">
            <a:avLst/>
          </a:prstGeom>
          <a:solidFill>
            <a:srgbClr val="FDC21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147" name="Google Shape;147;p14"/>
          <p:cNvSpPr/>
          <p:nvPr/>
        </p:nvSpPr>
        <p:spPr>
          <a:xfrm>
            <a:off x="503238" y="913259"/>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PRUEBAS DE UNIDAD (AUTOMATIZADAS)</a:t>
            </a:r>
            <a:endParaRPr sz="1600" b="1" dirty="0">
              <a:solidFill>
                <a:schemeClr val="dk1"/>
              </a:solidFill>
              <a:latin typeface="Calibri"/>
              <a:ea typeface="Calibri"/>
              <a:cs typeface="Calibri"/>
              <a:sym typeface="Calibri"/>
            </a:endParaRPr>
          </a:p>
        </p:txBody>
      </p:sp>
      <p:grpSp>
        <p:nvGrpSpPr>
          <p:cNvPr id="149" name="Google Shape;149;p14"/>
          <p:cNvGrpSpPr/>
          <p:nvPr/>
        </p:nvGrpSpPr>
        <p:grpSpPr>
          <a:xfrm>
            <a:off x="2409015" y="1472006"/>
            <a:ext cx="3674239" cy="2451601"/>
            <a:chOff x="3438021" y="2389171"/>
            <a:chExt cx="4334900" cy="2892420"/>
          </a:xfrm>
        </p:grpSpPr>
        <p:sp>
          <p:nvSpPr>
            <p:cNvPr id="150" name="Google Shape;150;p14"/>
            <p:cNvSpPr/>
            <p:nvPr/>
          </p:nvSpPr>
          <p:spPr>
            <a:xfrm>
              <a:off x="3438021" y="2389171"/>
              <a:ext cx="1389888" cy="2071094"/>
            </a:xfrm>
            <a:prstGeom prst="roundRect">
              <a:avLst>
                <a:gd name="adj" fmla="val 11942"/>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r>
                <a:rPr lang="es-PE" b="1">
                  <a:solidFill>
                    <a:schemeClr val="lt1"/>
                  </a:solidFill>
                  <a:latin typeface="Calibri"/>
                  <a:ea typeface="Calibri"/>
                  <a:cs typeface="Calibri"/>
                  <a:sym typeface="Calibri"/>
                </a:rPr>
                <a:t>Clase</a:t>
              </a:r>
              <a:endParaRPr/>
            </a:p>
            <a:p>
              <a:pPr marL="0" marR="0" lvl="0" indent="0" algn="ctr" rtl="0">
                <a:lnSpc>
                  <a:spcPct val="100000"/>
                </a:lnSpc>
                <a:spcBef>
                  <a:spcPts val="0"/>
                </a:spcBef>
                <a:spcAft>
                  <a:spcPts val="0"/>
                </a:spcAft>
                <a:buClr>
                  <a:schemeClr val="lt1"/>
                </a:buClr>
                <a:buSzPts val="1600"/>
                <a:buFont typeface="Calibri"/>
                <a:buNone/>
              </a:pPr>
              <a:r>
                <a:rPr lang="es-PE" b="1">
                  <a:solidFill>
                    <a:schemeClr val="lt1"/>
                  </a:solidFill>
                  <a:latin typeface="Calibri"/>
                  <a:ea typeface="Calibri"/>
                  <a:cs typeface="Calibri"/>
                  <a:sym typeface="Calibri"/>
                </a:rPr>
                <a:t>Bajo </a:t>
              </a:r>
              <a:endParaRPr/>
            </a:p>
            <a:p>
              <a:pPr marL="0" marR="0" lvl="0" indent="0" algn="ctr" rtl="0">
                <a:lnSpc>
                  <a:spcPct val="100000"/>
                </a:lnSpc>
                <a:spcBef>
                  <a:spcPts val="0"/>
                </a:spcBef>
                <a:spcAft>
                  <a:spcPts val="0"/>
                </a:spcAft>
                <a:buClr>
                  <a:schemeClr val="lt1"/>
                </a:buClr>
                <a:buSzPts val="1600"/>
                <a:buFont typeface="Calibri"/>
                <a:buNone/>
              </a:pPr>
              <a:r>
                <a:rPr lang="es-PE" b="1">
                  <a:solidFill>
                    <a:schemeClr val="lt1"/>
                  </a:solidFill>
                  <a:latin typeface="Calibri"/>
                  <a:ea typeface="Calibri"/>
                  <a:cs typeface="Calibri"/>
                  <a:sym typeface="Calibri"/>
                </a:rPr>
                <a:t>Prueba</a:t>
              </a:r>
              <a:endParaRPr/>
            </a:p>
          </p:txBody>
        </p:sp>
        <p:sp>
          <p:nvSpPr>
            <p:cNvPr id="152" name="Google Shape;152;p14"/>
            <p:cNvSpPr/>
            <p:nvPr/>
          </p:nvSpPr>
          <p:spPr>
            <a:xfrm>
              <a:off x="6377258" y="4769612"/>
              <a:ext cx="1395663" cy="511979"/>
            </a:xfrm>
            <a:prstGeom prst="roundRect">
              <a:avLst>
                <a:gd name="adj" fmla="val 16667"/>
              </a:avLst>
            </a:prstGeom>
            <a:solidFill>
              <a:srgbClr val="FDC21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r>
                <a:rPr lang="es-PE" sz="1600" b="1">
                  <a:solidFill>
                    <a:schemeClr val="lt1"/>
                  </a:solidFill>
                  <a:latin typeface="Calibri"/>
                  <a:ea typeface="Calibri"/>
                  <a:cs typeface="Calibri"/>
                  <a:sym typeface="Calibri"/>
                </a:rPr>
                <a:t>Reporte</a:t>
              </a:r>
              <a:endParaRPr/>
            </a:p>
          </p:txBody>
        </p:sp>
        <p:sp>
          <p:nvSpPr>
            <p:cNvPr id="154" name="Google Shape;154;p14"/>
            <p:cNvSpPr txBox="1"/>
            <p:nvPr/>
          </p:nvSpPr>
          <p:spPr>
            <a:xfrm>
              <a:off x="4810647" y="2475164"/>
              <a:ext cx="1531158" cy="21787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s-PE" sz="1200" dirty="0">
                  <a:solidFill>
                    <a:schemeClr val="dk1"/>
                  </a:solidFill>
                  <a:latin typeface="Calibri"/>
                  <a:ea typeface="Calibri"/>
                  <a:cs typeface="Calibri"/>
                  <a:sym typeface="Calibri"/>
                </a:rPr>
                <a:t>Llamar a método</a:t>
              </a:r>
              <a:endParaRPr dirty="0"/>
            </a:p>
          </p:txBody>
        </p:sp>
        <p:sp>
          <p:nvSpPr>
            <p:cNvPr id="155" name="Google Shape;155;p14"/>
            <p:cNvSpPr txBox="1"/>
            <p:nvPr/>
          </p:nvSpPr>
          <p:spPr>
            <a:xfrm>
              <a:off x="4810647" y="2900394"/>
              <a:ext cx="1564660" cy="21787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s-PE" sz="1200" dirty="0">
                  <a:solidFill>
                    <a:schemeClr val="dk1"/>
                  </a:solidFill>
                  <a:latin typeface="Calibri"/>
                  <a:ea typeface="Calibri"/>
                  <a:cs typeface="Calibri"/>
                  <a:sym typeface="Calibri"/>
                </a:rPr>
                <a:t>Verificar resultado</a:t>
              </a:r>
              <a:endParaRPr dirty="0"/>
            </a:p>
          </p:txBody>
        </p:sp>
        <p:sp>
          <p:nvSpPr>
            <p:cNvPr id="156" name="Google Shape;156;p14"/>
            <p:cNvSpPr txBox="1"/>
            <p:nvPr/>
          </p:nvSpPr>
          <p:spPr>
            <a:xfrm>
              <a:off x="4811158" y="3354390"/>
              <a:ext cx="1547398" cy="21787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s-PE" sz="1200">
                  <a:solidFill>
                    <a:schemeClr val="dk1"/>
                  </a:solidFill>
                  <a:latin typeface="Calibri"/>
                  <a:ea typeface="Calibri"/>
                  <a:cs typeface="Calibri"/>
                  <a:sym typeface="Calibri"/>
                </a:rPr>
                <a:t>Llamar a método</a:t>
              </a:r>
              <a:endParaRPr/>
            </a:p>
          </p:txBody>
        </p:sp>
        <p:sp>
          <p:nvSpPr>
            <p:cNvPr id="159" name="Google Shape;159;p14"/>
            <p:cNvSpPr txBox="1"/>
            <p:nvPr/>
          </p:nvSpPr>
          <p:spPr>
            <a:xfrm>
              <a:off x="4810648" y="3808746"/>
              <a:ext cx="1564659" cy="217871"/>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200"/>
                <a:buFont typeface="Calibri"/>
                <a:buNone/>
              </a:pPr>
              <a:r>
                <a:rPr lang="es-PE" sz="1200">
                  <a:solidFill>
                    <a:schemeClr val="dk1"/>
                  </a:solidFill>
                  <a:latin typeface="Calibri"/>
                  <a:ea typeface="Calibri"/>
                  <a:cs typeface="Calibri"/>
                  <a:sym typeface="Calibri"/>
                </a:rPr>
                <a:t>Verificar resultado</a:t>
              </a:r>
              <a:endParaRPr/>
            </a:p>
          </p:txBody>
        </p:sp>
        <p:sp>
          <p:nvSpPr>
            <p:cNvPr id="151" name="Google Shape;151;p14"/>
            <p:cNvSpPr/>
            <p:nvPr/>
          </p:nvSpPr>
          <p:spPr>
            <a:xfrm>
              <a:off x="6377258" y="2389171"/>
              <a:ext cx="1387194" cy="2071095"/>
            </a:xfrm>
            <a:prstGeom prst="roundRect">
              <a:avLst>
                <a:gd name="adj" fmla="val 11933"/>
              </a:avLst>
            </a:prstGeom>
            <a:solidFill>
              <a:srgbClr val="92C14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600"/>
                <a:buFont typeface="Calibri"/>
                <a:buNone/>
              </a:pPr>
              <a:r>
                <a:rPr lang="es-PE" b="1" dirty="0">
                  <a:solidFill>
                    <a:schemeClr val="lt1"/>
                  </a:solidFill>
                  <a:latin typeface="Calibri"/>
                  <a:ea typeface="Calibri"/>
                  <a:cs typeface="Calibri"/>
                  <a:sym typeface="Calibri"/>
                </a:rPr>
                <a:t>Clase</a:t>
              </a:r>
              <a:endParaRPr dirty="0"/>
            </a:p>
            <a:p>
              <a:pPr marL="0" marR="0" lvl="0" indent="0" algn="ctr" rtl="0">
                <a:lnSpc>
                  <a:spcPct val="100000"/>
                </a:lnSpc>
                <a:spcBef>
                  <a:spcPts val="0"/>
                </a:spcBef>
                <a:spcAft>
                  <a:spcPts val="0"/>
                </a:spcAft>
                <a:buClr>
                  <a:schemeClr val="lt1"/>
                </a:buClr>
                <a:buSzPts val="1600"/>
                <a:buFont typeface="Calibri"/>
                <a:buNone/>
              </a:pPr>
              <a:r>
                <a:rPr lang="es-PE" b="1" dirty="0">
                  <a:solidFill>
                    <a:schemeClr val="lt1"/>
                  </a:solidFill>
                  <a:latin typeface="Calibri"/>
                  <a:ea typeface="Calibri"/>
                  <a:cs typeface="Calibri"/>
                  <a:sym typeface="Calibri"/>
                </a:rPr>
                <a:t>Soporte de</a:t>
              </a:r>
              <a:endParaRPr dirty="0"/>
            </a:p>
            <a:p>
              <a:pPr marL="0" marR="0" lvl="0" indent="0" algn="ctr" rtl="0">
                <a:lnSpc>
                  <a:spcPct val="100000"/>
                </a:lnSpc>
                <a:spcBef>
                  <a:spcPts val="0"/>
                </a:spcBef>
                <a:spcAft>
                  <a:spcPts val="0"/>
                </a:spcAft>
                <a:buClr>
                  <a:schemeClr val="lt1"/>
                </a:buClr>
                <a:buSzPts val="1600"/>
                <a:buFont typeface="Calibri"/>
                <a:buNone/>
              </a:pPr>
              <a:r>
                <a:rPr lang="es-PE" b="1" dirty="0">
                  <a:solidFill>
                    <a:schemeClr val="lt1"/>
                  </a:solidFill>
                  <a:latin typeface="Calibri"/>
                  <a:ea typeface="Calibri"/>
                  <a:cs typeface="Calibri"/>
                  <a:sym typeface="Calibri"/>
                </a:rPr>
                <a:t>Prueba</a:t>
              </a:r>
              <a:endParaRPr dirty="0"/>
            </a:p>
          </p:txBody>
        </p:sp>
      </p:grpSp>
      <p:pic>
        <p:nvPicPr>
          <p:cNvPr id="162" name="Google Shape;162;p14"/>
          <p:cNvPicPr preferRelativeResize="0"/>
          <p:nvPr/>
        </p:nvPicPr>
        <p:blipFill rotWithShape="1">
          <a:blip r:embed="rId3">
            <a:alphaModFix/>
          </a:blip>
          <a:srcRect/>
          <a:stretch/>
        </p:blipFill>
        <p:spPr>
          <a:xfrm>
            <a:off x="595582" y="1856493"/>
            <a:ext cx="1702694" cy="969292"/>
          </a:xfrm>
          <a:prstGeom prst="rect">
            <a:avLst/>
          </a:prstGeom>
          <a:noFill/>
          <a:ln w="12700" cap="flat" cmpd="sng">
            <a:solidFill>
              <a:schemeClr val="bg1">
                <a:lumMod val="75000"/>
              </a:schemeClr>
            </a:solidFill>
            <a:prstDash val="solid"/>
            <a:round/>
            <a:headEnd type="none" w="sm" len="sm"/>
            <a:tailEnd type="none" w="sm" len="sm"/>
          </a:ln>
        </p:spPr>
      </p:pic>
      <p:pic>
        <p:nvPicPr>
          <p:cNvPr id="163" name="Google Shape;163;p14"/>
          <p:cNvPicPr preferRelativeResize="0"/>
          <p:nvPr/>
        </p:nvPicPr>
        <p:blipFill rotWithShape="1">
          <a:blip r:embed="rId4">
            <a:alphaModFix/>
          </a:blip>
          <a:srcRect/>
          <a:stretch/>
        </p:blipFill>
        <p:spPr>
          <a:xfrm>
            <a:off x="6262537" y="1616253"/>
            <a:ext cx="2239315" cy="1375417"/>
          </a:xfrm>
          <a:prstGeom prst="rect">
            <a:avLst/>
          </a:prstGeom>
          <a:noFill/>
          <a:ln w="12700" cap="flat" cmpd="sng">
            <a:solidFill>
              <a:schemeClr val="bg1">
                <a:lumMod val="75000"/>
              </a:schemeClr>
            </a:solidFill>
            <a:prstDash val="solid"/>
            <a:round/>
            <a:headEnd type="none" w="sm" len="sm"/>
            <a:tailEnd type="none" w="sm" len="sm"/>
          </a:ln>
        </p:spPr>
      </p:pic>
      <p:pic>
        <p:nvPicPr>
          <p:cNvPr id="164" name="Google Shape;164;p14"/>
          <p:cNvPicPr preferRelativeResize="0"/>
          <p:nvPr/>
        </p:nvPicPr>
        <p:blipFill rotWithShape="1">
          <a:blip r:embed="rId5">
            <a:alphaModFix/>
          </a:blip>
          <a:srcRect/>
          <a:stretch/>
        </p:blipFill>
        <p:spPr>
          <a:xfrm>
            <a:off x="4746693" y="4022332"/>
            <a:ext cx="3861019" cy="1135232"/>
          </a:xfrm>
          <a:prstGeom prst="rect">
            <a:avLst/>
          </a:prstGeom>
          <a:noFill/>
          <a:ln>
            <a:noFill/>
          </a:ln>
        </p:spPr>
      </p:pic>
      <p:sp>
        <p:nvSpPr>
          <p:cNvPr id="21" name="Rectangle 5">
            <a:extLst>
              <a:ext uri="{FF2B5EF4-FFF2-40B4-BE49-F238E27FC236}">
                <a16:creationId xmlns:a16="http://schemas.microsoft.com/office/drawing/2014/main" id="{5E545A06-EBAE-BB4A-AD2D-B30F9C95BF1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23" name="28 Flecha derecha">
            <a:extLst>
              <a:ext uri="{FF2B5EF4-FFF2-40B4-BE49-F238E27FC236}">
                <a16:creationId xmlns:a16="http://schemas.microsoft.com/office/drawing/2014/main" id="{A33AC6F5-EA6D-894F-B925-E33B33486F34}"/>
              </a:ext>
            </a:extLst>
          </p:cNvPr>
          <p:cNvSpPr/>
          <p:nvPr/>
        </p:nvSpPr>
        <p:spPr>
          <a:xfrm>
            <a:off x="3640096" y="2884858"/>
            <a:ext cx="1128460" cy="103676"/>
          </a:xfrm>
          <a:prstGeom prst="rightArrow">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24" name="28 Flecha derecha">
            <a:extLst>
              <a:ext uri="{FF2B5EF4-FFF2-40B4-BE49-F238E27FC236}">
                <a16:creationId xmlns:a16="http://schemas.microsoft.com/office/drawing/2014/main" id="{89C83A16-2127-E641-8D76-AC2A8B28F38B}"/>
              </a:ext>
            </a:extLst>
          </p:cNvPr>
          <p:cNvSpPr/>
          <p:nvPr/>
        </p:nvSpPr>
        <p:spPr>
          <a:xfrm rot="10800000">
            <a:off x="3640096" y="2535724"/>
            <a:ext cx="1128460" cy="103676"/>
          </a:xfrm>
          <a:prstGeom prst="rightArrow">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25" name="28 Flecha derecha">
            <a:extLst>
              <a:ext uri="{FF2B5EF4-FFF2-40B4-BE49-F238E27FC236}">
                <a16:creationId xmlns:a16="http://schemas.microsoft.com/office/drawing/2014/main" id="{7E7D5468-BDF9-1E44-AD11-E8180CC834D6}"/>
              </a:ext>
            </a:extLst>
          </p:cNvPr>
          <p:cNvSpPr/>
          <p:nvPr/>
        </p:nvSpPr>
        <p:spPr>
          <a:xfrm>
            <a:off x="3640096" y="2131171"/>
            <a:ext cx="1128460" cy="103676"/>
          </a:xfrm>
          <a:prstGeom prst="rightArrow">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
        <p:nvSpPr>
          <p:cNvPr id="26" name="28 Flecha derecha">
            <a:extLst>
              <a:ext uri="{FF2B5EF4-FFF2-40B4-BE49-F238E27FC236}">
                <a16:creationId xmlns:a16="http://schemas.microsoft.com/office/drawing/2014/main" id="{150F85A4-31DA-4C4D-BA3B-4F3691C92DB4}"/>
              </a:ext>
            </a:extLst>
          </p:cNvPr>
          <p:cNvSpPr/>
          <p:nvPr/>
        </p:nvSpPr>
        <p:spPr>
          <a:xfrm rot="10800000">
            <a:off x="3640096" y="1770953"/>
            <a:ext cx="1128460" cy="103676"/>
          </a:xfrm>
          <a:prstGeom prst="rightArrow">
            <a:avLst/>
          </a:prstGeom>
          <a:solidFill>
            <a:srgbClr val="92C14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71" name="Google Shape;171;p15"/>
          <p:cNvPicPr preferRelativeResize="0"/>
          <p:nvPr/>
        </p:nvPicPr>
        <p:blipFill rotWithShape="1">
          <a:blip r:embed="rId3">
            <a:alphaModFix/>
          </a:blip>
          <a:srcRect/>
          <a:stretch/>
        </p:blipFill>
        <p:spPr>
          <a:xfrm>
            <a:off x="808893" y="1875947"/>
            <a:ext cx="6826190" cy="2889620"/>
          </a:xfrm>
          <a:prstGeom prst="rect">
            <a:avLst/>
          </a:prstGeom>
          <a:noFill/>
          <a:ln>
            <a:noFill/>
          </a:ln>
        </p:spPr>
      </p:pic>
      <p:sp>
        <p:nvSpPr>
          <p:cNvPr id="172" name="Google Shape;172;p15"/>
          <p:cNvSpPr/>
          <p:nvPr/>
        </p:nvSpPr>
        <p:spPr>
          <a:xfrm>
            <a:off x="754912" y="2604220"/>
            <a:ext cx="7920776" cy="1872087"/>
          </a:xfrm>
          <a:prstGeom prst="roundRect">
            <a:avLst>
              <a:gd name="adj" fmla="val 6953"/>
            </a:avLst>
          </a:prstGeom>
          <a:noFill/>
          <a:ln w="19050" cap="flat" cmpd="sng">
            <a:solidFill>
              <a:srgbClr val="808799"/>
            </a:solidFill>
            <a:prstDash val="lg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15"/>
          <p:cNvSpPr/>
          <p:nvPr/>
        </p:nvSpPr>
        <p:spPr>
          <a:xfrm>
            <a:off x="2712196" y="925691"/>
            <a:ext cx="3719608"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ARNESES DE PRUEBAS (DRIVERS Y STUBS)</a:t>
            </a:r>
            <a:endParaRPr sz="1600" b="1" dirty="0">
              <a:solidFill>
                <a:schemeClr val="dk1"/>
              </a:solidFill>
              <a:latin typeface="Calibri"/>
              <a:ea typeface="Calibri"/>
              <a:cs typeface="Calibri"/>
              <a:sym typeface="Calibri"/>
            </a:endParaRPr>
          </a:p>
        </p:txBody>
      </p:sp>
      <p:sp>
        <p:nvSpPr>
          <p:cNvPr id="174" name="Google Shape;174;p15"/>
          <p:cNvSpPr txBox="1"/>
          <p:nvPr/>
        </p:nvSpPr>
        <p:spPr>
          <a:xfrm>
            <a:off x="681405" y="1617013"/>
            <a:ext cx="2224709" cy="775597"/>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400" dirty="0">
                <a:solidFill>
                  <a:schemeClr val="dk1"/>
                </a:solidFill>
                <a:latin typeface="Calibri"/>
                <a:ea typeface="Calibri"/>
                <a:cs typeface="Calibri"/>
                <a:sym typeface="Calibri"/>
              </a:rPr>
              <a:t>Módulo o API sometido a pruebas, con 3 funciones sometidas a pruebas y una base de datos compartida.</a:t>
            </a:r>
            <a:endParaRPr dirty="0"/>
          </a:p>
        </p:txBody>
      </p:sp>
      <p:sp>
        <p:nvSpPr>
          <p:cNvPr id="175" name="Google Shape;175;p15"/>
          <p:cNvSpPr/>
          <p:nvPr/>
        </p:nvSpPr>
        <p:spPr>
          <a:xfrm>
            <a:off x="3065840" y="1729409"/>
            <a:ext cx="1242391" cy="51683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Driver 1</a:t>
            </a:r>
            <a:endParaRPr sz="1500"/>
          </a:p>
        </p:txBody>
      </p:sp>
      <p:sp>
        <p:nvSpPr>
          <p:cNvPr id="176" name="Google Shape;176;p15"/>
          <p:cNvSpPr/>
          <p:nvPr/>
        </p:nvSpPr>
        <p:spPr>
          <a:xfrm>
            <a:off x="4892291" y="1729409"/>
            <a:ext cx="1242391" cy="51683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Driver 2</a:t>
            </a:r>
            <a:endParaRPr sz="1500"/>
          </a:p>
        </p:txBody>
      </p:sp>
      <p:sp>
        <p:nvSpPr>
          <p:cNvPr id="177" name="Google Shape;177;p15"/>
          <p:cNvSpPr/>
          <p:nvPr/>
        </p:nvSpPr>
        <p:spPr>
          <a:xfrm>
            <a:off x="1371600" y="2991679"/>
            <a:ext cx="1242391" cy="904460"/>
          </a:xfrm>
          <a:prstGeom prst="roundRect">
            <a:avLst>
              <a:gd name="adj" fmla="val 12523"/>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Función A</a:t>
            </a:r>
            <a:endParaRPr sz="1500"/>
          </a:p>
        </p:txBody>
      </p:sp>
      <p:sp>
        <p:nvSpPr>
          <p:cNvPr id="178" name="Google Shape;178;p15"/>
          <p:cNvSpPr/>
          <p:nvPr/>
        </p:nvSpPr>
        <p:spPr>
          <a:xfrm>
            <a:off x="3065841" y="2991679"/>
            <a:ext cx="1242391" cy="904460"/>
          </a:xfrm>
          <a:prstGeom prst="roundRect">
            <a:avLst>
              <a:gd name="adj" fmla="val 11695"/>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dirty="0">
                <a:solidFill>
                  <a:schemeClr val="lt1"/>
                </a:solidFill>
                <a:latin typeface="Calibri"/>
                <a:ea typeface="Calibri"/>
                <a:cs typeface="Calibri"/>
                <a:sym typeface="Calibri"/>
              </a:rPr>
              <a:t>Función B</a:t>
            </a:r>
            <a:endParaRPr sz="1500" dirty="0"/>
          </a:p>
        </p:txBody>
      </p:sp>
      <p:sp>
        <p:nvSpPr>
          <p:cNvPr id="179" name="Google Shape;179;p15"/>
          <p:cNvSpPr/>
          <p:nvPr/>
        </p:nvSpPr>
        <p:spPr>
          <a:xfrm>
            <a:off x="4892292" y="2991679"/>
            <a:ext cx="1242391" cy="904460"/>
          </a:xfrm>
          <a:prstGeom prst="roundRect">
            <a:avLst>
              <a:gd name="adj" fmla="val 9209"/>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Función C</a:t>
            </a:r>
            <a:endParaRPr sz="1500"/>
          </a:p>
        </p:txBody>
      </p:sp>
      <p:sp>
        <p:nvSpPr>
          <p:cNvPr id="180" name="Google Shape;180;p15"/>
          <p:cNvSpPr/>
          <p:nvPr/>
        </p:nvSpPr>
        <p:spPr>
          <a:xfrm>
            <a:off x="3065840" y="4697778"/>
            <a:ext cx="1242391" cy="51683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Stub 1</a:t>
            </a:r>
            <a:endParaRPr sz="1500"/>
          </a:p>
        </p:txBody>
      </p:sp>
      <p:sp>
        <p:nvSpPr>
          <p:cNvPr id="181" name="Google Shape;181;p15"/>
          <p:cNvSpPr/>
          <p:nvPr/>
        </p:nvSpPr>
        <p:spPr>
          <a:xfrm>
            <a:off x="4830418" y="4697778"/>
            <a:ext cx="1242391" cy="51683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Stub 2</a:t>
            </a:r>
            <a:endParaRPr sz="1500"/>
          </a:p>
        </p:txBody>
      </p:sp>
      <p:sp>
        <p:nvSpPr>
          <p:cNvPr id="182" name="Google Shape;182;p15"/>
          <p:cNvSpPr/>
          <p:nvPr/>
        </p:nvSpPr>
        <p:spPr>
          <a:xfrm>
            <a:off x="6458951" y="2951922"/>
            <a:ext cx="1685648" cy="983974"/>
          </a:xfrm>
          <a:prstGeom prst="can">
            <a:avLst>
              <a:gd name="adj" fmla="val 25000"/>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3" name="Google Shape;183;p15"/>
          <p:cNvSpPr txBox="1"/>
          <p:nvPr/>
        </p:nvSpPr>
        <p:spPr>
          <a:xfrm>
            <a:off x="6458951" y="3300879"/>
            <a:ext cx="1685648" cy="452391"/>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s-PE" sz="1300" dirty="0">
                <a:solidFill>
                  <a:schemeClr val="lt1"/>
                </a:solidFill>
                <a:latin typeface="Calibri"/>
                <a:ea typeface="Calibri"/>
                <a:cs typeface="Calibri"/>
                <a:sym typeface="Calibri"/>
              </a:rPr>
              <a:t>Módulo de Base de Datos Compartida</a:t>
            </a:r>
            <a:endParaRPr sz="1300" dirty="0"/>
          </a:p>
        </p:txBody>
      </p:sp>
      <p:sp>
        <p:nvSpPr>
          <p:cNvPr id="184" name="Google Shape;184;p15"/>
          <p:cNvSpPr/>
          <p:nvPr/>
        </p:nvSpPr>
        <p:spPr>
          <a:xfrm>
            <a:off x="6970034" y="2246244"/>
            <a:ext cx="685056" cy="899750"/>
          </a:xfrm>
          <a:prstGeom prst="downArrow">
            <a:avLst>
              <a:gd name="adj1" fmla="val 61765"/>
              <a:gd name="adj2" fmla="val 50000"/>
            </a:avLst>
          </a:prstGeom>
          <a:solidFill>
            <a:srgbClr val="00B1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5" name="Google Shape;185;p15"/>
          <p:cNvSpPr txBox="1"/>
          <p:nvPr/>
        </p:nvSpPr>
        <p:spPr>
          <a:xfrm rot="16200000">
            <a:off x="6952850" y="2408294"/>
            <a:ext cx="754095" cy="391517"/>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None/>
            </a:pPr>
            <a:r>
              <a:rPr lang="es-PE" sz="1200">
                <a:solidFill>
                  <a:schemeClr val="lt1"/>
                </a:solidFill>
                <a:latin typeface="Calibri"/>
                <a:ea typeface="Calibri"/>
                <a:cs typeface="Calibri"/>
                <a:sym typeface="Calibri"/>
              </a:rPr>
              <a:t>Datos de pruebas</a:t>
            </a:r>
            <a:endParaRPr/>
          </a:p>
        </p:txBody>
      </p:sp>
      <p:sp>
        <p:nvSpPr>
          <p:cNvPr id="186" name="Google Shape;186;p15"/>
          <p:cNvSpPr/>
          <p:nvPr/>
        </p:nvSpPr>
        <p:spPr>
          <a:xfrm>
            <a:off x="6680579" y="1739348"/>
            <a:ext cx="1242391" cy="516834"/>
          </a:xfrm>
          <a:prstGeom prst="roundRect">
            <a:avLst>
              <a:gd name="adj" fmla="val 16667"/>
            </a:avLst>
          </a:prstGeom>
          <a:solidFill>
            <a:srgbClr val="7150A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500">
                <a:solidFill>
                  <a:schemeClr val="lt1"/>
                </a:solidFill>
                <a:latin typeface="Calibri"/>
                <a:ea typeface="Calibri"/>
                <a:cs typeface="Calibri"/>
                <a:sym typeface="Calibri"/>
              </a:rPr>
              <a:t>Driver 3</a:t>
            </a:r>
            <a:endParaRPr sz="1500"/>
          </a:p>
        </p:txBody>
      </p:sp>
      <p:cxnSp>
        <p:nvCxnSpPr>
          <p:cNvPr id="187" name="Google Shape;187;p15"/>
          <p:cNvCxnSpPr>
            <a:stCxn id="188" idx="2"/>
          </p:cNvCxnSpPr>
          <p:nvPr/>
        </p:nvCxnSpPr>
        <p:spPr>
          <a:xfrm>
            <a:off x="2804073" y="2003286"/>
            <a:ext cx="261900" cy="552600"/>
          </a:xfrm>
          <a:prstGeom prst="straightConnector1">
            <a:avLst/>
          </a:prstGeom>
          <a:noFill/>
          <a:ln w="19050" cap="flat" cmpd="sng">
            <a:solidFill>
              <a:srgbClr val="00B1C2"/>
            </a:solidFill>
            <a:prstDash val="sysDash"/>
            <a:round/>
            <a:headEnd type="none" w="sm" len="sm"/>
            <a:tailEnd type="triangle" w="med" len="med"/>
          </a:ln>
        </p:spPr>
      </p:cxnSp>
      <p:sp>
        <p:nvSpPr>
          <p:cNvPr id="188" name="Google Shape;188;p15"/>
          <p:cNvSpPr/>
          <p:nvPr/>
        </p:nvSpPr>
        <p:spPr>
          <a:xfrm>
            <a:off x="2678427" y="1601134"/>
            <a:ext cx="125646" cy="804304"/>
          </a:xfrm>
          <a:prstGeom prst="rightBracket">
            <a:avLst>
              <a:gd name="adj" fmla="val 8333"/>
            </a:avLst>
          </a:prstGeom>
          <a:noFill/>
          <a:ln w="2540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2" name="Rectangle 5">
            <a:extLst>
              <a:ext uri="{FF2B5EF4-FFF2-40B4-BE49-F238E27FC236}">
                <a16:creationId xmlns:a16="http://schemas.microsoft.com/office/drawing/2014/main" id="{4F271887-995D-DA40-9D49-61A49C7F3F06}"/>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5" name="Google Shape;195;p16"/>
          <p:cNvSpPr/>
          <p:nvPr/>
        </p:nvSpPr>
        <p:spPr>
          <a:xfrm>
            <a:off x="503238" y="912813"/>
            <a:ext cx="3889375" cy="30315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INTEGRACIÓN</a:t>
            </a:r>
            <a:endParaRPr dirty="0"/>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Exponer defectos en las interfaces y en las interacciones entre componentes integrados o sistemas.</a:t>
            </a:r>
            <a:endParaRPr dirty="0"/>
          </a:p>
          <a:p>
            <a:pPr marL="180975" marR="0" lvl="0" indent="-1714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Los objetos de prueba serían esencialmente el código de la interface.</a:t>
            </a:r>
            <a:endParaRPr dirty="0"/>
          </a:p>
          <a:p>
            <a:pPr marL="142875" marR="0" lvl="0" indent="-317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Estrategia de integración Big Bang</a:t>
            </a:r>
            <a:endParaRPr dirty="0"/>
          </a:p>
          <a:p>
            <a:pPr marL="358775"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Todas las unidades son unidas a la vez resultando en un sistema completo.</a:t>
            </a:r>
            <a:endParaRPr dirty="0"/>
          </a:p>
          <a:p>
            <a:pPr marL="358775"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Es difícil aislar cualquier error encontrado.</a:t>
            </a:r>
            <a:endParaRPr dirty="0"/>
          </a:p>
        </p:txBody>
      </p:sp>
      <p:sp>
        <p:nvSpPr>
          <p:cNvPr id="4" name="Rectangle 5">
            <a:extLst>
              <a:ext uri="{FF2B5EF4-FFF2-40B4-BE49-F238E27FC236}">
                <a16:creationId xmlns:a16="http://schemas.microsoft.com/office/drawing/2014/main" id="{2685AA63-7FE8-974A-8EAD-C9828AFB0231}"/>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CBB664BD-FDED-DF4A-8336-AAF16FC406DB}"/>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7" y="0"/>
            <a:ext cx="4392613" cy="5715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2" name="Google Shape;202;p17"/>
          <p:cNvSpPr/>
          <p:nvPr/>
        </p:nvSpPr>
        <p:spPr>
          <a:xfrm>
            <a:off x="503238" y="912813"/>
            <a:ext cx="7204494" cy="10618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INTEGRACIÓN</a:t>
            </a:r>
            <a:endParaRPr sz="1600" dirty="0"/>
          </a:p>
          <a:p>
            <a:pPr marL="180975" marR="0" lvl="0" indent="-17145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Estrategia de integración Top-Down.</a:t>
            </a:r>
            <a:endParaRPr sz="1600" dirty="0"/>
          </a:p>
          <a:p>
            <a:pPr marL="314325" marR="0" lvl="1" indent="-13335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El sistema es construido en etapas comenzando con componentes que llaman a otros componentes.</a:t>
            </a:r>
            <a:endParaRPr sz="1600" dirty="0"/>
          </a:p>
        </p:txBody>
      </p:sp>
      <p:sp>
        <p:nvSpPr>
          <p:cNvPr id="6" name="Rectangle 5">
            <a:extLst>
              <a:ext uri="{FF2B5EF4-FFF2-40B4-BE49-F238E27FC236}">
                <a16:creationId xmlns:a16="http://schemas.microsoft.com/office/drawing/2014/main" id="{94CB2310-9ECA-374A-BF95-9E4E4F033FE8}"/>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6" name="Grupo 25">
            <a:extLst>
              <a:ext uri="{FF2B5EF4-FFF2-40B4-BE49-F238E27FC236}">
                <a16:creationId xmlns:a16="http://schemas.microsoft.com/office/drawing/2014/main" id="{008C76C2-7031-7440-965F-CD7FA3E24A51}"/>
              </a:ext>
            </a:extLst>
          </p:cNvPr>
          <p:cNvGrpSpPr/>
          <p:nvPr/>
        </p:nvGrpSpPr>
        <p:grpSpPr>
          <a:xfrm>
            <a:off x="1435367" y="2234777"/>
            <a:ext cx="6273266" cy="2170968"/>
            <a:chOff x="1449946" y="2412116"/>
            <a:chExt cx="6273266" cy="2170968"/>
          </a:xfrm>
        </p:grpSpPr>
        <p:sp>
          <p:nvSpPr>
            <p:cNvPr id="204" name="Google Shape;204;p17"/>
            <p:cNvSpPr txBox="1"/>
            <p:nvPr/>
          </p:nvSpPr>
          <p:spPr>
            <a:xfrm>
              <a:off x="6892339" y="2627560"/>
              <a:ext cx="830873"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dirty="0">
                  <a:solidFill>
                    <a:schemeClr val="dk1"/>
                  </a:solidFill>
                  <a:latin typeface="Calibri"/>
                  <a:ea typeface="Calibri"/>
                  <a:cs typeface="Calibri"/>
                  <a:sym typeface="Calibri"/>
                </a:rPr>
                <a:t>1,2</a:t>
              </a:r>
              <a:endParaRPr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1,3</a:t>
              </a:r>
              <a:endParaRPr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2,4</a:t>
              </a:r>
              <a:endParaRPr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2,5</a:t>
              </a:r>
              <a:endParaRPr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3,6</a:t>
              </a:r>
              <a:endParaRPr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3,7</a:t>
              </a:r>
              <a:endParaRPr dirty="0"/>
            </a:p>
          </p:txBody>
        </p:sp>
        <p:sp>
          <p:nvSpPr>
            <p:cNvPr id="14" name="Google Shape;204;p17">
              <a:extLst>
                <a:ext uri="{FF2B5EF4-FFF2-40B4-BE49-F238E27FC236}">
                  <a16:creationId xmlns:a16="http://schemas.microsoft.com/office/drawing/2014/main" id="{53D673A8-4B66-C84F-A69A-9B3F688AFD11}"/>
                </a:ext>
              </a:extLst>
            </p:cNvPr>
            <p:cNvSpPr txBox="1"/>
            <p:nvPr/>
          </p:nvSpPr>
          <p:spPr>
            <a:xfrm>
              <a:off x="3501211" y="2412116"/>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1</a:t>
              </a:r>
              <a:endParaRPr dirty="0"/>
            </a:p>
          </p:txBody>
        </p:sp>
        <p:sp>
          <p:nvSpPr>
            <p:cNvPr id="15" name="Google Shape;204;p17">
              <a:extLst>
                <a:ext uri="{FF2B5EF4-FFF2-40B4-BE49-F238E27FC236}">
                  <a16:creationId xmlns:a16="http://schemas.microsoft.com/office/drawing/2014/main" id="{3EDFC0E0-F7CA-6F48-9676-BE3D1D9C42BE}"/>
                </a:ext>
              </a:extLst>
            </p:cNvPr>
            <p:cNvSpPr txBox="1"/>
            <p:nvPr/>
          </p:nvSpPr>
          <p:spPr>
            <a:xfrm>
              <a:off x="2060431" y="3215680"/>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2</a:t>
              </a:r>
              <a:endParaRPr dirty="0"/>
            </a:p>
          </p:txBody>
        </p:sp>
        <p:sp>
          <p:nvSpPr>
            <p:cNvPr id="16" name="Google Shape;204;p17">
              <a:extLst>
                <a:ext uri="{FF2B5EF4-FFF2-40B4-BE49-F238E27FC236}">
                  <a16:creationId xmlns:a16="http://schemas.microsoft.com/office/drawing/2014/main" id="{6A1619CD-73E5-E24F-BB45-B9FA7E8F8BCD}"/>
                </a:ext>
              </a:extLst>
            </p:cNvPr>
            <p:cNvSpPr txBox="1"/>
            <p:nvPr/>
          </p:nvSpPr>
          <p:spPr>
            <a:xfrm>
              <a:off x="4945741" y="3215680"/>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3</a:t>
              </a:r>
              <a:endParaRPr dirty="0"/>
            </a:p>
          </p:txBody>
        </p:sp>
        <p:sp>
          <p:nvSpPr>
            <p:cNvPr id="17" name="Google Shape;204;p17">
              <a:extLst>
                <a:ext uri="{FF2B5EF4-FFF2-40B4-BE49-F238E27FC236}">
                  <a16:creationId xmlns:a16="http://schemas.microsoft.com/office/drawing/2014/main" id="{96EC9E73-C3AE-F44E-8DF5-8AE98CF46C31}"/>
                </a:ext>
              </a:extLst>
            </p:cNvPr>
            <p:cNvSpPr txBox="1"/>
            <p:nvPr/>
          </p:nvSpPr>
          <p:spPr>
            <a:xfrm>
              <a:off x="1449946"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4</a:t>
              </a:r>
              <a:endParaRPr dirty="0"/>
            </a:p>
          </p:txBody>
        </p:sp>
        <p:sp>
          <p:nvSpPr>
            <p:cNvPr id="18" name="Google Shape;204;p17">
              <a:extLst>
                <a:ext uri="{FF2B5EF4-FFF2-40B4-BE49-F238E27FC236}">
                  <a16:creationId xmlns:a16="http://schemas.microsoft.com/office/drawing/2014/main" id="{9AE50142-F3CD-C240-858C-DD0C875362ED}"/>
                </a:ext>
              </a:extLst>
            </p:cNvPr>
            <p:cNvSpPr txBox="1"/>
            <p:nvPr/>
          </p:nvSpPr>
          <p:spPr>
            <a:xfrm>
              <a:off x="310140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5</a:t>
              </a:r>
              <a:endParaRPr dirty="0"/>
            </a:p>
          </p:txBody>
        </p:sp>
        <p:sp>
          <p:nvSpPr>
            <p:cNvPr id="19" name="Google Shape;204;p17">
              <a:extLst>
                <a:ext uri="{FF2B5EF4-FFF2-40B4-BE49-F238E27FC236}">
                  <a16:creationId xmlns:a16="http://schemas.microsoft.com/office/drawing/2014/main" id="{22F0858F-8E61-2848-989F-EFADEF9679A9}"/>
                </a:ext>
              </a:extLst>
            </p:cNvPr>
            <p:cNvSpPr txBox="1"/>
            <p:nvPr/>
          </p:nvSpPr>
          <p:spPr>
            <a:xfrm>
              <a:off x="389388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6</a:t>
              </a:r>
              <a:endParaRPr dirty="0"/>
            </a:p>
          </p:txBody>
        </p:sp>
        <p:sp>
          <p:nvSpPr>
            <p:cNvPr id="20" name="Google Shape;204;p17">
              <a:extLst>
                <a:ext uri="{FF2B5EF4-FFF2-40B4-BE49-F238E27FC236}">
                  <a16:creationId xmlns:a16="http://schemas.microsoft.com/office/drawing/2014/main" id="{B86A1129-ACA6-5849-B46D-BB25889E4523}"/>
                </a:ext>
              </a:extLst>
            </p:cNvPr>
            <p:cNvSpPr txBox="1"/>
            <p:nvPr/>
          </p:nvSpPr>
          <p:spPr>
            <a:xfrm>
              <a:off x="553980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7</a:t>
              </a:r>
              <a:endParaRPr dirty="0"/>
            </a:p>
          </p:txBody>
        </p:sp>
        <p:sp>
          <p:nvSpPr>
            <p:cNvPr id="2" name="Forma libre 1">
              <a:extLst>
                <a:ext uri="{FF2B5EF4-FFF2-40B4-BE49-F238E27FC236}">
                  <a16:creationId xmlns:a16="http://schemas.microsoft.com/office/drawing/2014/main" id="{53222C13-B7BF-C640-BC68-EFFF079FDAA1}"/>
                </a:ext>
              </a:extLst>
            </p:cNvPr>
            <p:cNvSpPr/>
            <p:nvPr/>
          </p:nvSpPr>
          <p:spPr>
            <a:xfrm>
              <a:off x="2405149" y="3247505"/>
              <a:ext cx="2471651"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2" name="Forma libre 21">
              <a:extLst>
                <a:ext uri="{FF2B5EF4-FFF2-40B4-BE49-F238E27FC236}">
                  <a16:creationId xmlns:a16="http://schemas.microsoft.com/office/drawing/2014/main" id="{CF110461-B307-BD41-9961-E0992DB305DD}"/>
                </a:ext>
              </a:extLst>
            </p:cNvPr>
            <p:cNvSpPr/>
            <p:nvPr/>
          </p:nvSpPr>
          <p:spPr>
            <a:xfrm>
              <a:off x="1784466" y="4067695"/>
              <a:ext cx="1244876"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3" name="Forma libre 22">
              <a:extLst>
                <a:ext uri="{FF2B5EF4-FFF2-40B4-BE49-F238E27FC236}">
                  <a16:creationId xmlns:a16="http://schemas.microsoft.com/office/drawing/2014/main" id="{B7E8C3DB-8D47-3A45-919C-C82E8A1784D4}"/>
                </a:ext>
              </a:extLst>
            </p:cNvPr>
            <p:cNvSpPr/>
            <p:nvPr/>
          </p:nvSpPr>
          <p:spPr>
            <a:xfrm>
              <a:off x="4256116" y="4067695"/>
              <a:ext cx="1244876"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4" name="Conector recto 3">
              <a:extLst>
                <a:ext uri="{FF2B5EF4-FFF2-40B4-BE49-F238E27FC236}">
                  <a16:creationId xmlns:a16="http://schemas.microsoft.com/office/drawing/2014/main" id="{D1091CE8-E3B9-EF4E-83FB-6AAA32FC30AD}"/>
                </a:ext>
              </a:extLst>
            </p:cNvPr>
            <p:cNvCxnSpPr>
              <a:cxnSpLocks/>
              <a:endCxn id="7" idx="2"/>
            </p:cNvCxnSpPr>
            <p:nvPr/>
          </p:nvCxnSpPr>
          <p:spPr>
            <a:xfrm flipV="1">
              <a:off x="3639489" y="2975956"/>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27" name="Conector recto 26">
              <a:extLst>
                <a:ext uri="{FF2B5EF4-FFF2-40B4-BE49-F238E27FC236}">
                  <a16:creationId xmlns:a16="http://schemas.microsoft.com/office/drawing/2014/main" id="{F8C92E3B-4DFD-6840-9834-61EE292790AB}"/>
                </a:ext>
              </a:extLst>
            </p:cNvPr>
            <p:cNvCxnSpPr>
              <a:cxnSpLocks/>
            </p:cNvCxnSpPr>
            <p:nvPr/>
          </p:nvCxnSpPr>
          <p:spPr>
            <a:xfrm flipV="1">
              <a:off x="2403664" y="3790603"/>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3B97902-09AB-1F43-BF35-C62FF3979381}"/>
                </a:ext>
              </a:extLst>
            </p:cNvPr>
            <p:cNvCxnSpPr>
              <a:cxnSpLocks/>
            </p:cNvCxnSpPr>
            <p:nvPr/>
          </p:nvCxnSpPr>
          <p:spPr>
            <a:xfrm flipV="1">
              <a:off x="4864231" y="3790603"/>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grpSp>
          <p:nvGrpSpPr>
            <p:cNvPr id="21" name="Grupo 20">
              <a:extLst>
                <a:ext uri="{FF2B5EF4-FFF2-40B4-BE49-F238E27FC236}">
                  <a16:creationId xmlns:a16="http://schemas.microsoft.com/office/drawing/2014/main" id="{A6B59C5A-4D52-9E41-931A-BD68FB1F7F5A}"/>
                </a:ext>
              </a:extLst>
            </p:cNvPr>
            <p:cNvGrpSpPr/>
            <p:nvPr/>
          </p:nvGrpSpPr>
          <p:grpSpPr>
            <a:xfrm>
              <a:off x="1504404" y="2627560"/>
              <a:ext cx="4270948" cy="1955524"/>
              <a:chOff x="1504404" y="2627560"/>
              <a:chExt cx="4270948" cy="1955524"/>
            </a:xfrm>
          </p:grpSpPr>
          <p:sp>
            <p:nvSpPr>
              <p:cNvPr id="7" name="Rectángulo redondeado 6">
                <a:extLst>
                  <a:ext uri="{FF2B5EF4-FFF2-40B4-BE49-F238E27FC236}">
                    <a16:creationId xmlns:a16="http://schemas.microsoft.com/office/drawing/2014/main" id="{2E6CF89B-787D-CF47-A2DB-0BC8802EB638}"/>
                  </a:ext>
                </a:extLst>
              </p:cNvPr>
              <p:cNvSpPr/>
              <p:nvPr/>
            </p:nvSpPr>
            <p:spPr>
              <a:xfrm>
                <a:off x="3338745" y="2627560"/>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8" name="Rectángulo redondeado 7">
                <a:extLst>
                  <a:ext uri="{FF2B5EF4-FFF2-40B4-BE49-F238E27FC236}">
                    <a16:creationId xmlns:a16="http://schemas.microsoft.com/office/drawing/2014/main" id="{3CE634CE-F17C-794C-8769-C88AB9A77A57}"/>
                  </a:ext>
                </a:extLst>
              </p:cNvPr>
              <p:cNvSpPr/>
              <p:nvPr/>
            </p:nvSpPr>
            <p:spPr>
              <a:xfrm>
                <a:off x="2097378" y="3436666"/>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9" name="Rectángulo redondeado 8">
                <a:extLst>
                  <a:ext uri="{FF2B5EF4-FFF2-40B4-BE49-F238E27FC236}">
                    <a16:creationId xmlns:a16="http://schemas.microsoft.com/office/drawing/2014/main" id="{53349A70-1344-EB4A-94CA-86778A632EED}"/>
                  </a:ext>
                </a:extLst>
              </p:cNvPr>
              <p:cNvSpPr/>
              <p:nvPr/>
            </p:nvSpPr>
            <p:spPr>
              <a:xfrm>
                <a:off x="4572000" y="3431124"/>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10" name="Rectángulo redondeado 9">
                <a:extLst>
                  <a:ext uri="{FF2B5EF4-FFF2-40B4-BE49-F238E27FC236}">
                    <a16:creationId xmlns:a16="http://schemas.microsoft.com/office/drawing/2014/main" id="{471EC8CE-63FF-B54C-92DA-5A7284C1AA50}"/>
                  </a:ext>
                </a:extLst>
              </p:cNvPr>
              <p:cNvSpPr/>
              <p:nvPr/>
            </p:nvSpPr>
            <p:spPr>
              <a:xfrm>
                <a:off x="1504404"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11" name="Rectángulo redondeado 10">
                <a:extLst>
                  <a:ext uri="{FF2B5EF4-FFF2-40B4-BE49-F238E27FC236}">
                    <a16:creationId xmlns:a16="http://schemas.microsoft.com/office/drawing/2014/main" id="{82842524-64D9-7343-880F-9C319B278FBA}"/>
                  </a:ext>
                </a:extLst>
              </p:cNvPr>
              <p:cNvSpPr/>
              <p:nvPr/>
            </p:nvSpPr>
            <p:spPr>
              <a:xfrm>
                <a:off x="2704408"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12" name="Rectángulo redondeado 11">
                <a:extLst>
                  <a:ext uri="{FF2B5EF4-FFF2-40B4-BE49-F238E27FC236}">
                    <a16:creationId xmlns:a16="http://schemas.microsoft.com/office/drawing/2014/main" id="{9D93A76E-EF5B-A942-91EC-A1D87DB7D9A6}"/>
                  </a:ext>
                </a:extLst>
              </p:cNvPr>
              <p:cNvSpPr/>
              <p:nvPr/>
            </p:nvSpPr>
            <p:spPr>
              <a:xfrm>
                <a:off x="3961515"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13" name="Rectángulo redondeado 12">
                <a:extLst>
                  <a:ext uri="{FF2B5EF4-FFF2-40B4-BE49-F238E27FC236}">
                    <a16:creationId xmlns:a16="http://schemas.microsoft.com/office/drawing/2014/main" id="{F834649D-A710-A042-8BF1-3102DA886090}"/>
                  </a:ext>
                </a:extLst>
              </p:cNvPr>
              <p:cNvSpPr/>
              <p:nvPr/>
            </p:nvSpPr>
            <p:spPr>
              <a:xfrm>
                <a:off x="5173864"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grpSp>
        <p:cxnSp>
          <p:nvCxnSpPr>
            <p:cNvPr id="25" name="Conector recto de flecha 24">
              <a:extLst>
                <a:ext uri="{FF2B5EF4-FFF2-40B4-BE49-F238E27FC236}">
                  <a16:creationId xmlns:a16="http://schemas.microsoft.com/office/drawing/2014/main" id="{FF7F67B1-C6FD-8D4A-A299-EB2E1C61CF12}"/>
                </a:ext>
              </a:extLst>
            </p:cNvPr>
            <p:cNvCxnSpPr/>
            <p:nvPr/>
          </p:nvCxnSpPr>
          <p:spPr>
            <a:xfrm>
              <a:off x="6594764" y="2627560"/>
              <a:ext cx="0" cy="19555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18"/>
          <p:cNvSpPr/>
          <p:nvPr/>
        </p:nvSpPr>
        <p:spPr>
          <a:xfrm>
            <a:off x="503238" y="915990"/>
            <a:ext cx="8232888" cy="10618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INTEGRACIÓN</a:t>
            </a:r>
            <a:endParaRPr dirty="0"/>
          </a:p>
          <a:p>
            <a:pPr marL="185738" marR="0" lvl="0" indent="-1730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Estrategia de integración </a:t>
            </a:r>
            <a:r>
              <a:rPr lang="es-PE" sz="1600" dirty="0" err="1">
                <a:solidFill>
                  <a:schemeClr val="dk1"/>
                </a:solidFill>
                <a:latin typeface="Calibri"/>
                <a:ea typeface="Calibri"/>
                <a:cs typeface="Calibri"/>
                <a:sym typeface="Calibri"/>
              </a:rPr>
              <a:t>Bottom</a:t>
            </a:r>
            <a:r>
              <a:rPr lang="es-PE" sz="1600" dirty="0">
                <a:solidFill>
                  <a:schemeClr val="dk1"/>
                </a:solidFill>
                <a:latin typeface="Calibri"/>
                <a:ea typeface="Calibri"/>
                <a:cs typeface="Calibri"/>
                <a:sym typeface="Calibri"/>
              </a:rPr>
              <a:t>-Up.</a:t>
            </a:r>
            <a:endParaRPr dirty="0"/>
          </a:p>
          <a:p>
            <a:pPr marL="312738" marR="0" lvl="1" indent="-1270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Es lo opuesto de la integración top-down y los componentes son integrados en un orden </a:t>
            </a:r>
            <a:r>
              <a:rPr lang="es-PE" sz="1600" b="0" i="0" u="none" strike="noStrike" cap="none" dirty="0" err="1">
                <a:solidFill>
                  <a:schemeClr val="dk1"/>
                </a:solidFill>
                <a:latin typeface="Calibri"/>
                <a:ea typeface="Calibri"/>
                <a:cs typeface="Calibri"/>
                <a:sym typeface="Calibri"/>
              </a:rPr>
              <a:t>bottom</a:t>
            </a:r>
            <a:r>
              <a:rPr lang="es-PE" sz="1600" b="0" i="0" u="none" strike="noStrike" cap="none" dirty="0">
                <a:solidFill>
                  <a:schemeClr val="dk1"/>
                </a:solidFill>
                <a:latin typeface="Calibri"/>
                <a:ea typeface="Calibri"/>
                <a:cs typeface="Calibri"/>
                <a:sym typeface="Calibri"/>
              </a:rPr>
              <a:t>-up.</a:t>
            </a:r>
            <a:endParaRPr dirty="0"/>
          </a:p>
        </p:txBody>
      </p:sp>
      <p:sp>
        <p:nvSpPr>
          <p:cNvPr id="6" name="Rectangle 5">
            <a:extLst>
              <a:ext uri="{FF2B5EF4-FFF2-40B4-BE49-F238E27FC236}">
                <a16:creationId xmlns:a16="http://schemas.microsoft.com/office/drawing/2014/main" id="{A34063CA-BCF8-A34C-B231-31232E30D529}"/>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7" name="Grupo 6">
            <a:extLst>
              <a:ext uri="{FF2B5EF4-FFF2-40B4-BE49-F238E27FC236}">
                <a16:creationId xmlns:a16="http://schemas.microsoft.com/office/drawing/2014/main" id="{F670A256-A0A7-CA40-841E-5F5D0DB2BC67}"/>
              </a:ext>
            </a:extLst>
          </p:cNvPr>
          <p:cNvGrpSpPr/>
          <p:nvPr/>
        </p:nvGrpSpPr>
        <p:grpSpPr>
          <a:xfrm>
            <a:off x="1435367" y="2346798"/>
            <a:ext cx="6273266" cy="2170968"/>
            <a:chOff x="1449946" y="2412116"/>
            <a:chExt cx="6273266" cy="2170968"/>
          </a:xfrm>
        </p:grpSpPr>
        <p:sp>
          <p:nvSpPr>
            <p:cNvPr id="8" name="Google Shape;204;p17">
              <a:extLst>
                <a:ext uri="{FF2B5EF4-FFF2-40B4-BE49-F238E27FC236}">
                  <a16:creationId xmlns:a16="http://schemas.microsoft.com/office/drawing/2014/main" id="{A4C9740D-677B-B449-A200-DB0585F0884F}"/>
                </a:ext>
              </a:extLst>
            </p:cNvPr>
            <p:cNvSpPr txBox="1"/>
            <p:nvPr/>
          </p:nvSpPr>
          <p:spPr>
            <a:xfrm>
              <a:off x="6892339" y="2627560"/>
              <a:ext cx="830873"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800" dirty="0">
                  <a:solidFill>
                    <a:schemeClr val="dk1"/>
                  </a:solidFill>
                  <a:latin typeface="Calibri"/>
                  <a:ea typeface="Calibri"/>
                  <a:cs typeface="Calibri"/>
                  <a:sym typeface="Calibri"/>
                </a:rPr>
                <a:t>4,2</a:t>
              </a:r>
              <a:endParaRPr lang="es-PE" sz="1800"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5,3</a:t>
              </a:r>
              <a:endParaRPr lang="es-PE" sz="1800"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6,4</a:t>
              </a:r>
              <a:endParaRPr lang="es-PE" sz="1800"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7,5</a:t>
              </a:r>
              <a:endParaRPr lang="es-PE" sz="1800"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2,1</a:t>
              </a:r>
              <a:endParaRPr lang="es-PE" sz="1800" dirty="0"/>
            </a:p>
            <a:p>
              <a:pPr marL="0" marR="0" lvl="0" indent="0" algn="l" rtl="0">
                <a:spcBef>
                  <a:spcPts val="0"/>
                </a:spcBef>
                <a:spcAft>
                  <a:spcPts val="0"/>
                </a:spcAft>
                <a:buNone/>
              </a:pPr>
              <a:r>
                <a:rPr lang="es-PE" sz="1800" dirty="0">
                  <a:solidFill>
                    <a:schemeClr val="dk1"/>
                  </a:solidFill>
                  <a:latin typeface="Calibri"/>
                  <a:ea typeface="Calibri"/>
                  <a:cs typeface="Calibri"/>
                  <a:sym typeface="Calibri"/>
                </a:rPr>
                <a:t>3,1</a:t>
              </a:r>
              <a:endParaRPr lang="es-PE" sz="1800" dirty="0"/>
            </a:p>
          </p:txBody>
        </p:sp>
        <p:sp>
          <p:nvSpPr>
            <p:cNvPr id="9" name="Google Shape;204;p17">
              <a:extLst>
                <a:ext uri="{FF2B5EF4-FFF2-40B4-BE49-F238E27FC236}">
                  <a16:creationId xmlns:a16="http://schemas.microsoft.com/office/drawing/2014/main" id="{8BA1FB23-DD45-DA4C-B759-AF206EDDD437}"/>
                </a:ext>
              </a:extLst>
            </p:cNvPr>
            <p:cNvSpPr txBox="1"/>
            <p:nvPr/>
          </p:nvSpPr>
          <p:spPr>
            <a:xfrm>
              <a:off x="3501211" y="2412116"/>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1</a:t>
              </a:r>
              <a:endParaRPr dirty="0"/>
            </a:p>
          </p:txBody>
        </p:sp>
        <p:sp>
          <p:nvSpPr>
            <p:cNvPr id="10" name="Google Shape;204;p17">
              <a:extLst>
                <a:ext uri="{FF2B5EF4-FFF2-40B4-BE49-F238E27FC236}">
                  <a16:creationId xmlns:a16="http://schemas.microsoft.com/office/drawing/2014/main" id="{3A3252B1-638A-964C-B660-8C3AC34FF194}"/>
                </a:ext>
              </a:extLst>
            </p:cNvPr>
            <p:cNvSpPr txBox="1"/>
            <p:nvPr/>
          </p:nvSpPr>
          <p:spPr>
            <a:xfrm>
              <a:off x="2060431" y="3215680"/>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2</a:t>
              </a:r>
              <a:endParaRPr dirty="0"/>
            </a:p>
          </p:txBody>
        </p:sp>
        <p:sp>
          <p:nvSpPr>
            <p:cNvPr id="11" name="Google Shape;204;p17">
              <a:extLst>
                <a:ext uri="{FF2B5EF4-FFF2-40B4-BE49-F238E27FC236}">
                  <a16:creationId xmlns:a16="http://schemas.microsoft.com/office/drawing/2014/main" id="{E92B9F90-B830-A04C-B76D-7292879A5312}"/>
                </a:ext>
              </a:extLst>
            </p:cNvPr>
            <p:cNvSpPr txBox="1"/>
            <p:nvPr/>
          </p:nvSpPr>
          <p:spPr>
            <a:xfrm>
              <a:off x="4945741" y="3215680"/>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3</a:t>
              </a:r>
              <a:endParaRPr dirty="0"/>
            </a:p>
          </p:txBody>
        </p:sp>
        <p:sp>
          <p:nvSpPr>
            <p:cNvPr id="12" name="Google Shape;204;p17">
              <a:extLst>
                <a:ext uri="{FF2B5EF4-FFF2-40B4-BE49-F238E27FC236}">
                  <a16:creationId xmlns:a16="http://schemas.microsoft.com/office/drawing/2014/main" id="{7DC56C7A-67EB-EE46-8F67-C14EAAD3116B}"/>
                </a:ext>
              </a:extLst>
            </p:cNvPr>
            <p:cNvSpPr txBox="1"/>
            <p:nvPr/>
          </p:nvSpPr>
          <p:spPr>
            <a:xfrm>
              <a:off x="1449946"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4</a:t>
              </a:r>
              <a:endParaRPr dirty="0"/>
            </a:p>
          </p:txBody>
        </p:sp>
        <p:sp>
          <p:nvSpPr>
            <p:cNvPr id="13" name="Google Shape;204;p17">
              <a:extLst>
                <a:ext uri="{FF2B5EF4-FFF2-40B4-BE49-F238E27FC236}">
                  <a16:creationId xmlns:a16="http://schemas.microsoft.com/office/drawing/2014/main" id="{CF05BE41-D576-BD43-903D-5AD28D8B3636}"/>
                </a:ext>
              </a:extLst>
            </p:cNvPr>
            <p:cNvSpPr txBox="1"/>
            <p:nvPr/>
          </p:nvSpPr>
          <p:spPr>
            <a:xfrm>
              <a:off x="310140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5</a:t>
              </a:r>
              <a:endParaRPr dirty="0"/>
            </a:p>
          </p:txBody>
        </p:sp>
        <p:sp>
          <p:nvSpPr>
            <p:cNvPr id="14" name="Google Shape;204;p17">
              <a:extLst>
                <a:ext uri="{FF2B5EF4-FFF2-40B4-BE49-F238E27FC236}">
                  <a16:creationId xmlns:a16="http://schemas.microsoft.com/office/drawing/2014/main" id="{C1812097-5CB5-9542-A902-22E04C4FE76F}"/>
                </a:ext>
              </a:extLst>
            </p:cNvPr>
            <p:cNvSpPr txBox="1"/>
            <p:nvPr/>
          </p:nvSpPr>
          <p:spPr>
            <a:xfrm>
              <a:off x="389388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6</a:t>
              </a:r>
              <a:endParaRPr dirty="0"/>
            </a:p>
          </p:txBody>
        </p:sp>
        <p:sp>
          <p:nvSpPr>
            <p:cNvPr id="15" name="Google Shape;204;p17">
              <a:extLst>
                <a:ext uri="{FF2B5EF4-FFF2-40B4-BE49-F238E27FC236}">
                  <a16:creationId xmlns:a16="http://schemas.microsoft.com/office/drawing/2014/main" id="{7E3153B1-9A8F-AB46-9778-A36F01FBF55F}"/>
                </a:ext>
              </a:extLst>
            </p:cNvPr>
            <p:cNvSpPr txBox="1"/>
            <p:nvPr/>
          </p:nvSpPr>
          <p:spPr>
            <a:xfrm>
              <a:off x="5539808" y="4019244"/>
              <a:ext cx="276555" cy="21544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dirty="0">
                  <a:solidFill>
                    <a:schemeClr val="dk1"/>
                  </a:solidFill>
                  <a:latin typeface="Calibri"/>
                  <a:ea typeface="Calibri"/>
                  <a:cs typeface="Calibri"/>
                  <a:sym typeface="Calibri"/>
                </a:rPr>
                <a:t>7</a:t>
              </a:r>
              <a:endParaRPr dirty="0"/>
            </a:p>
          </p:txBody>
        </p:sp>
        <p:sp>
          <p:nvSpPr>
            <p:cNvPr id="16" name="Forma libre 15">
              <a:extLst>
                <a:ext uri="{FF2B5EF4-FFF2-40B4-BE49-F238E27FC236}">
                  <a16:creationId xmlns:a16="http://schemas.microsoft.com/office/drawing/2014/main" id="{3424A59A-A7E5-064D-9ED7-66CC72E60046}"/>
                </a:ext>
              </a:extLst>
            </p:cNvPr>
            <p:cNvSpPr/>
            <p:nvPr/>
          </p:nvSpPr>
          <p:spPr>
            <a:xfrm>
              <a:off x="2405149" y="3247505"/>
              <a:ext cx="2471651"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7" name="Forma libre 16">
              <a:extLst>
                <a:ext uri="{FF2B5EF4-FFF2-40B4-BE49-F238E27FC236}">
                  <a16:creationId xmlns:a16="http://schemas.microsoft.com/office/drawing/2014/main" id="{D4A8F773-3C62-2C4D-BC61-34DA51AA5650}"/>
                </a:ext>
              </a:extLst>
            </p:cNvPr>
            <p:cNvSpPr/>
            <p:nvPr/>
          </p:nvSpPr>
          <p:spPr>
            <a:xfrm>
              <a:off x="1784466" y="4067695"/>
              <a:ext cx="1244876"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8" name="Forma libre 17">
              <a:extLst>
                <a:ext uri="{FF2B5EF4-FFF2-40B4-BE49-F238E27FC236}">
                  <a16:creationId xmlns:a16="http://schemas.microsoft.com/office/drawing/2014/main" id="{7FD39AAF-BDF2-9447-934F-A2159E1A9666}"/>
                </a:ext>
              </a:extLst>
            </p:cNvPr>
            <p:cNvSpPr/>
            <p:nvPr/>
          </p:nvSpPr>
          <p:spPr>
            <a:xfrm>
              <a:off x="4256116" y="4067695"/>
              <a:ext cx="1244876" cy="188422"/>
            </a:xfrm>
            <a:custGeom>
              <a:avLst/>
              <a:gdLst>
                <a:gd name="connsiteX0" fmla="*/ 0 w 2471651"/>
                <a:gd name="connsiteY0" fmla="*/ 171797 h 188422"/>
                <a:gd name="connsiteX1" fmla="*/ 0 w 2471651"/>
                <a:gd name="connsiteY1" fmla="*/ 0 h 188422"/>
                <a:gd name="connsiteX2" fmla="*/ 2471651 w 2471651"/>
                <a:gd name="connsiteY2" fmla="*/ 0 h 188422"/>
                <a:gd name="connsiteX3" fmla="*/ 2471651 w 2471651"/>
                <a:gd name="connsiteY3" fmla="*/ 188422 h 188422"/>
              </a:gdLst>
              <a:ahLst/>
              <a:cxnLst>
                <a:cxn ang="0">
                  <a:pos x="connsiteX0" y="connsiteY0"/>
                </a:cxn>
                <a:cxn ang="0">
                  <a:pos x="connsiteX1" y="connsiteY1"/>
                </a:cxn>
                <a:cxn ang="0">
                  <a:pos x="connsiteX2" y="connsiteY2"/>
                </a:cxn>
                <a:cxn ang="0">
                  <a:pos x="connsiteX3" y="connsiteY3"/>
                </a:cxn>
              </a:cxnLst>
              <a:rect l="l" t="t" r="r" b="b"/>
              <a:pathLst>
                <a:path w="2471651" h="188422">
                  <a:moveTo>
                    <a:pt x="0" y="171797"/>
                  </a:moveTo>
                  <a:lnTo>
                    <a:pt x="0" y="0"/>
                  </a:lnTo>
                  <a:lnTo>
                    <a:pt x="2471651" y="0"/>
                  </a:lnTo>
                  <a:lnTo>
                    <a:pt x="2471651" y="188422"/>
                  </a:lnTo>
                </a:path>
              </a:pathLst>
            </a:custGeom>
            <a:noFill/>
            <a:ln w="19050">
              <a:solidFill>
                <a:srgbClr val="8087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19" name="Conector recto 18">
              <a:extLst>
                <a:ext uri="{FF2B5EF4-FFF2-40B4-BE49-F238E27FC236}">
                  <a16:creationId xmlns:a16="http://schemas.microsoft.com/office/drawing/2014/main" id="{5E7204EA-0C57-6B42-B410-4CD2FE838C48}"/>
                </a:ext>
              </a:extLst>
            </p:cNvPr>
            <p:cNvCxnSpPr>
              <a:cxnSpLocks/>
              <a:endCxn id="24" idx="2"/>
            </p:cNvCxnSpPr>
            <p:nvPr/>
          </p:nvCxnSpPr>
          <p:spPr>
            <a:xfrm flipV="1">
              <a:off x="3639489" y="2975956"/>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20" name="Conector recto 19">
              <a:extLst>
                <a:ext uri="{FF2B5EF4-FFF2-40B4-BE49-F238E27FC236}">
                  <a16:creationId xmlns:a16="http://schemas.microsoft.com/office/drawing/2014/main" id="{FF3FFB0B-93A8-934E-ABA6-E839BC733BDC}"/>
                </a:ext>
              </a:extLst>
            </p:cNvPr>
            <p:cNvCxnSpPr>
              <a:cxnSpLocks/>
            </p:cNvCxnSpPr>
            <p:nvPr/>
          </p:nvCxnSpPr>
          <p:spPr>
            <a:xfrm flipV="1">
              <a:off x="2403664" y="3790603"/>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cxnSp>
          <p:nvCxnSpPr>
            <p:cNvPr id="21" name="Conector recto 20">
              <a:extLst>
                <a:ext uri="{FF2B5EF4-FFF2-40B4-BE49-F238E27FC236}">
                  <a16:creationId xmlns:a16="http://schemas.microsoft.com/office/drawing/2014/main" id="{5A4DAC27-8E58-7041-A204-817F2C28D04B}"/>
                </a:ext>
              </a:extLst>
            </p:cNvPr>
            <p:cNvCxnSpPr>
              <a:cxnSpLocks/>
            </p:cNvCxnSpPr>
            <p:nvPr/>
          </p:nvCxnSpPr>
          <p:spPr>
            <a:xfrm flipV="1">
              <a:off x="4864231" y="3790603"/>
              <a:ext cx="0" cy="271549"/>
            </a:xfrm>
            <a:prstGeom prst="line">
              <a:avLst/>
            </a:prstGeom>
            <a:ln w="19050">
              <a:solidFill>
                <a:srgbClr val="808799"/>
              </a:solidFill>
            </a:ln>
          </p:spPr>
          <p:style>
            <a:lnRef idx="1">
              <a:schemeClr val="accent1"/>
            </a:lnRef>
            <a:fillRef idx="0">
              <a:schemeClr val="accent1"/>
            </a:fillRef>
            <a:effectRef idx="0">
              <a:schemeClr val="accent1"/>
            </a:effectRef>
            <a:fontRef idx="minor">
              <a:schemeClr val="tx1"/>
            </a:fontRef>
          </p:style>
        </p:cxnSp>
        <p:grpSp>
          <p:nvGrpSpPr>
            <p:cNvPr id="22" name="Grupo 21">
              <a:extLst>
                <a:ext uri="{FF2B5EF4-FFF2-40B4-BE49-F238E27FC236}">
                  <a16:creationId xmlns:a16="http://schemas.microsoft.com/office/drawing/2014/main" id="{F343B268-CF06-EA4E-99AA-104D050EAB65}"/>
                </a:ext>
              </a:extLst>
            </p:cNvPr>
            <p:cNvGrpSpPr/>
            <p:nvPr/>
          </p:nvGrpSpPr>
          <p:grpSpPr>
            <a:xfrm>
              <a:off x="1504404" y="2627560"/>
              <a:ext cx="4270948" cy="1955524"/>
              <a:chOff x="1504404" y="2627560"/>
              <a:chExt cx="4270948" cy="1955524"/>
            </a:xfrm>
          </p:grpSpPr>
          <p:sp>
            <p:nvSpPr>
              <p:cNvPr id="24" name="Rectángulo redondeado 23">
                <a:extLst>
                  <a:ext uri="{FF2B5EF4-FFF2-40B4-BE49-F238E27FC236}">
                    <a16:creationId xmlns:a16="http://schemas.microsoft.com/office/drawing/2014/main" id="{4C4F3692-919E-F542-A4A9-2F77D375A0E0}"/>
                  </a:ext>
                </a:extLst>
              </p:cNvPr>
              <p:cNvSpPr/>
              <p:nvPr/>
            </p:nvSpPr>
            <p:spPr>
              <a:xfrm>
                <a:off x="3338745" y="2627560"/>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25" name="Rectángulo redondeado 24">
                <a:extLst>
                  <a:ext uri="{FF2B5EF4-FFF2-40B4-BE49-F238E27FC236}">
                    <a16:creationId xmlns:a16="http://schemas.microsoft.com/office/drawing/2014/main" id="{540B60B3-9A47-694C-BB95-CFC7E875ACD9}"/>
                  </a:ext>
                </a:extLst>
              </p:cNvPr>
              <p:cNvSpPr/>
              <p:nvPr/>
            </p:nvSpPr>
            <p:spPr>
              <a:xfrm>
                <a:off x="2097378" y="3436666"/>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26" name="Rectángulo redondeado 25">
                <a:extLst>
                  <a:ext uri="{FF2B5EF4-FFF2-40B4-BE49-F238E27FC236}">
                    <a16:creationId xmlns:a16="http://schemas.microsoft.com/office/drawing/2014/main" id="{4F5E3BF9-9D9D-544C-8B25-6DF4628C356D}"/>
                  </a:ext>
                </a:extLst>
              </p:cNvPr>
              <p:cNvSpPr/>
              <p:nvPr/>
            </p:nvSpPr>
            <p:spPr>
              <a:xfrm>
                <a:off x="4572000" y="3431124"/>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27" name="Rectángulo redondeado 26">
                <a:extLst>
                  <a:ext uri="{FF2B5EF4-FFF2-40B4-BE49-F238E27FC236}">
                    <a16:creationId xmlns:a16="http://schemas.microsoft.com/office/drawing/2014/main" id="{6F542D9C-E9E5-5D4D-8084-0F5823AC931B}"/>
                  </a:ext>
                </a:extLst>
              </p:cNvPr>
              <p:cNvSpPr/>
              <p:nvPr/>
            </p:nvSpPr>
            <p:spPr>
              <a:xfrm>
                <a:off x="1504404"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28" name="Rectángulo redondeado 27">
                <a:extLst>
                  <a:ext uri="{FF2B5EF4-FFF2-40B4-BE49-F238E27FC236}">
                    <a16:creationId xmlns:a16="http://schemas.microsoft.com/office/drawing/2014/main" id="{9E91C831-2F5D-7F4F-82DD-DE53E6057CFE}"/>
                  </a:ext>
                </a:extLst>
              </p:cNvPr>
              <p:cNvSpPr/>
              <p:nvPr/>
            </p:nvSpPr>
            <p:spPr>
              <a:xfrm>
                <a:off x="2704408"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29" name="Rectángulo redondeado 28">
                <a:extLst>
                  <a:ext uri="{FF2B5EF4-FFF2-40B4-BE49-F238E27FC236}">
                    <a16:creationId xmlns:a16="http://schemas.microsoft.com/office/drawing/2014/main" id="{44D1E31A-317D-8047-B100-69C4FB4631EE}"/>
                  </a:ext>
                </a:extLst>
              </p:cNvPr>
              <p:cNvSpPr/>
              <p:nvPr/>
            </p:nvSpPr>
            <p:spPr>
              <a:xfrm>
                <a:off x="3961515"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sp>
            <p:nvSpPr>
              <p:cNvPr id="30" name="Rectángulo redondeado 29">
                <a:extLst>
                  <a:ext uri="{FF2B5EF4-FFF2-40B4-BE49-F238E27FC236}">
                    <a16:creationId xmlns:a16="http://schemas.microsoft.com/office/drawing/2014/main" id="{F0E62208-25D3-3B4F-B097-54794C60B9A3}"/>
                  </a:ext>
                </a:extLst>
              </p:cNvPr>
              <p:cNvSpPr/>
              <p:nvPr/>
            </p:nvSpPr>
            <p:spPr>
              <a:xfrm>
                <a:off x="5173864" y="4234688"/>
                <a:ext cx="601488" cy="348396"/>
              </a:xfrm>
              <a:prstGeom prst="roundRect">
                <a:avLst>
                  <a:gd name="adj" fmla="val 16033"/>
                </a:avLst>
              </a:prstGeom>
              <a:solidFill>
                <a:srgbClr val="D1EFF4"/>
              </a:solidFill>
              <a:ln>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defRPr/>
                </a:pPr>
                <a:endParaRPr lang="es-PE" sz="1400" b="1" dirty="0">
                  <a:solidFill>
                    <a:schemeClr val="bg1"/>
                  </a:solidFill>
                  <a:latin typeface="Calibri" charset="0"/>
                  <a:ea typeface="Calibri" charset="0"/>
                  <a:cs typeface="Calibri" charset="0"/>
                </a:endParaRPr>
              </a:p>
            </p:txBody>
          </p:sp>
        </p:grpSp>
        <p:cxnSp>
          <p:nvCxnSpPr>
            <p:cNvPr id="23" name="Conector recto de flecha 22">
              <a:extLst>
                <a:ext uri="{FF2B5EF4-FFF2-40B4-BE49-F238E27FC236}">
                  <a16:creationId xmlns:a16="http://schemas.microsoft.com/office/drawing/2014/main" id="{12875D75-1AF7-084B-93CE-6C161698604A}"/>
                </a:ext>
              </a:extLst>
            </p:cNvPr>
            <p:cNvCxnSpPr/>
            <p:nvPr/>
          </p:nvCxnSpPr>
          <p:spPr>
            <a:xfrm>
              <a:off x="6594764" y="2627560"/>
              <a:ext cx="0" cy="19555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20" name="Google Shape;220;p19"/>
          <p:cNvSpPr/>
          <p:nvPr/>
        </p:nvSpPr>
        <p:spPr>
          <a:xfrm>
            <a:off x="503238" y="912813"/>
            <a:ext cx="2680229" cy="278537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SISTEMAS</a:t>
            </a:r>
            <a:endParaRPr dirty="0"/>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Considera la funcionalidad desde una perspectiva completa.</a:t>
            </a:r>
            <a:endParaRPr dirty="0"/>
          </a:p>
          <a:p>
            <a:pPr marL="185738" marR="0" lvl="0" indent="-185738"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5738" marR="0" lvl="0" indent="-18573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enfocan en el comportamiento de todo el sistema/producto definido por el alcance del proyecto de desarrollo en un entorno en vivo representativo.</a:t>
            </a:r>
            <a:endParaRPr dirty="0"/>
          </a:p>
        </p:txBody>
      </p:sp>
      <p:pic>
        <p:nvPicPr>
          <p:cNvPr id="221" name="Google Shape;221;p19"/>
          <p:cNvPicPr preferRelativeResize="0"/>
          <p:nvPr/>
        </p:nvPicPr>
        <p:blipFill rotWithShape="1">
          <a:blip r:embed="rId3">
            <a:alphaModFix/>
          </a:blip>
          <a:srcRect l="12439"/>
          <a:stretch/>
        </p:blipFill>
        <p:spPr>
          <a:xfrm>
            <a:off x="3471332" y="912813"/>
            <a:ext cx="5672667" cy="4321175"/>
          </a:xfrm>
          <a:prstGeom prst="rect">
            <a:avLst/>
          </a:prstGeom>
          <a:noFill/>
          <a:ln>
            <a:noFill/>
          </a:ln>
        </p:spPr>
      </p:pic>
      <p:sp>
        <p:nvSpPr>
          <p:cNvPr id="5" name="Rectangle 5">
            <a:extLst>
              <a:ext uri="{FF2B5EF4-FFF2-40B4-BE49-F238E27FC236}">
                <a16:creationId xmlns:a16="http://schemas.microsoft.com/office/drawing/2014/main" id="{0513A42B-7F4F-0B4B-A3DF-582B43AE0C87}"/>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8" name="Google Shape;228;p20"/>
          <p:cNvSpPr/>
          <p:nvPr/>
        </p:nvSpPr>
        <p:spPr>
          <a:xfrm>
            <a:off x="503238" y="971134"/>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REQUERIMIENTOS DEL SISTEMA</a:t>
            </a:r>
            <a:endParaRPr sz="1600" b="1" dirty="0">
              <a:solidFill>
                <a:schemeClr val="dk1"/>
              </a:solidFill>
              <a:latin typeface="Calibri"/>
              <a:ea typeface="Calibri"/>
              <a:cs typeface="Calibri"/>
              <a:sym typeface="Calibri"/>
            </a:endParaRPr>
          </a:p>
        </p:txBody>
      </p:sp>
      <p:sp>
        <p:nvSpPr>
          <p:cNvPr id="6" name="Rectangle 5">
            <a:extLst>
              <a:ext uri="{FF2B5EF4-FFF2-40B4-BE49-F238E27FC236}">
                <a16:creationId xmlns:a16="http://schemas.microsoft.com/office/drawing/2014/main" id="{C30FEB2E-3AEB-ED4E-AB7B-91555C3C72C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75" name="Grupo 74">
            <a:extLst>
              <a:ext uri="{FF2B5EF4-FFF2-40B4-BE49-F238E27FC236}">
                <a16:creationId xmlns:a16="http://schemas.microsoft.com/office/drawing/2014/main" id="{32CAA986-7958-4C46-94A5-5C6B2ADA7974}"/>
              </a:ext>
            </a:extLst>
          </p:cNvPr>
          <p:cNvGrpSpPr/>
          <p:nvPr/>
        </p:nvGrpSpPr>
        <p:grpSpPr>
          <a:xfrm>
            <a:off x="714834" y="1464733"/>
            <a:ext cx="7714331" cy="3539596"/>
            <a:chOff x="778573" y="1464733"/>
            <a:chExt cx="7714331" cy="3539596"/>
          </a:xfrm>
        </p:grpSpPr>
        <p:grpSp>
          <p:nvGrpSpPr>
            <p:cNvPr id="35" name="Grupo 34">
              <a:extLst>
                <a:ext uri="{FF2B5EF4-FFF2-40B4-BE49-F238E27FC236}">
                  <a16:creationId xmlns:a16="http://schemas.microsoft.com/office/drawing/2014/main" id="{1B61B408-226A-D74E-BAB3-2E473CAD748C}"/>
                </a:ext>
              </a:extLst>
            </p:cNvPr>
            <p:cNvGrpSpPr/>
            <p:nvPr/>
          </p:nvGrpSpPr>
          <p:grpSpPr>
            <a:xfrm>
              <a:off x="778573" y="1464733"/>
              <a:ext cx="3442761" cy="3539596"/>
              <a:chOff x="949852" y="1464733"/>
              <a:chExt cx="3442761" cy="3539596"/>
            </a:xfrm>
          </p:grpSpPr>
          <p:grpSp>
            <p:nvGrpSpPr>
              <p:cNvPr id="5" name="Grupo 4">
                <a:extLst>
                  <a:ext uri="{FF2B5EF4-FFF2-40B4-BE49-F238E27FC236}">
                    <a16:creationId xmlns:a16="http://schemas.microsoft.com/office/drawing/2014/main" id="{BF71DA8C-EF09-A146-8C3D-A83601DA6E9B}"/>
                  </a:ext>
                </a:extLst>
              </p:cNvPr>
              <p:cNvGrpSpPr/>
              <p:nvPr/>
            </p:nvGrpSpPr>
            <p:grpSpPr>
              <a:xfrm>
                <a:off x="949852" y="1464733"/>
                <a:ext cx="3442761" cy="3539596"/>
                <a:chOff x="553509" y="1273708"/>
                <a:chExt cx="3743851" cy="3849155"/>
              </a:xfrm>
            </p:grpSpPr>
            <p:grpSp>
              <p:nvGrpSpPr>
                <p:cNvPr id="4" name="Grupo 3">
                  <a:extLst>
                    <a:ext uri="{FF2B5EF4-FFF2-40B4-BE49-F238E27FC236}">
                      <a16:creationId xmlns:a16="http://schemas.microsoft.com/office/drawing/2014/main" id="{28B893FC-B24D-8841-AC96-BE950D170D0E}"/>
                    </a:ext>
                  </a:extLst>
                </p:cNvPr>
                <p:cNvGrpSpPr/>
                <p:nvPr/>
              </p:nvGrpSpPr>
              <p:grpSpPr>
                <a:xfrm>
                  <a:off x="738859" y="1490096"/>
                  <a:ext cx="3393016" cy="3393016"/>
                  <a:chOff x="738859" y="1490096"/>
                  <a:chExt cx="3393016" cy="3393016"/>
                </a:xfrm>
              </p:grpSpPr>
              <p:pic>
                <p:nvPicPr>
                  <p:cNvPr id="2" name="Imagen 1">
                    <a:extLst>
                      <a:ext uri="{FF2B5EF4-FFF2-40B4-BE49-F238E27FC236}">
                        <a16:creationId xmlns:a16="http://schemas.microsoft.com/office/drawing/2014/main" id="{663E3265-014B-7E43-B86E-FCD46F76A998}"/>
                      </a:ext>
                    </a:extLst>
                  </p:cNvPr>
                  <p:cNvPicPr>
                    <a:picLocks noChangeAspect="1"/>
                  </p:cNvPicPr>
                  <p:nvPr/>
                </p:nvPicPr>
                <p:blipFill>
                  <a:blip r:embed="rId3"/>
                  <a:stretch>
                    <a:fillRect/>
                  </a:stretch>
                </p:blipFill>
                <p:spPr>
                  <a:xfrm>
                    <a:off x="738859" y="1490096"/>
                    <a:ext cx="3393016" cy="3393016"/>
                  </a:xfrm>
                  <a:prstGeom prst="rect">
                    <a:avLst/>
                  </a:prstGeom>
                </p:spPr>
              </p:pic>
              <p:sp>
                <p:nvSpPr>
                  <p:cNvPr id="3" name="Elipse 2">
                    <a:extLst>
                      <a:ext uri="{FF2B5EF4-FFF2-40B4-BE49-F238E27FC236}">
                        <a16:creationId xmlns:a16="http://schemas.microsoft.com/office/drawing/2014/main" id="{16D4F4AC-CF61-6846-B8FA-27BA45CE2713}"/>
                      </a:ext>
                    </a:extLst>
                  </p:cNvPr>
                  <p:cNvSpPr/>
                  <p:nvPr/>
                </p:nvSpPr>
                <p:spPr>
                  <a:xfrm>
                    <a:off x="1749568" y="2459063"/>
                    <a:ext cx="1505478" cy="1505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9" name="Elipse 8">
                  <a:extLst>
                    <a:ext uri="{FF2B5EF4-FFF2-40B4-BE49-F238E27FC236}">
                      <a16:creationId xmlns:a16="http://schemas.microsoft.com/office/drawing/2014/main" id="{7FB387A6-BDAD-274B-89CA-99EF44B1CD2A}"/>
                    </a:ext>
                  </a:extLst>
                </p:cNvPr>
                <p:cNvSpPr/>
                <p:nvPr/>
              </p:nvSpPr>
              <p:spPr>
                <a:xfrm>
                  <a:off x="553509" y="1327682"/>
                  <a:ext cx="3743851" cy="3743851"/>
                </a:xfrm>
                <a:prstGeom prst="ellipse">
                  <a:avLst/>
                </a:prstGeom>
                <a:noFill/>
                <a:ln w="15875">
                  <a:solidFill>
                    <a:srgbClr val="D9D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Elipse 9">
                  <a:extLst>
                    <a:ext uri="{FF2B5EF4-FFF2-40B4-BE49-F238E27FC236}">
                      <a16:creationId xmlns:a16="http://schemas.microsoft.com/office/drawing/2014/main" id="{949291A6-3C75-9D4B-B4B7-2867837A4EFD}"/>
                    </a:ext>
                  </a:extLst>
                </p:cNvPr>
                <p:cNvSpPr/>
                <p:nvPr/>
              </p:nvSpPr>
              <p:spPr>
                <a:xfrm>
                  <a:off x="2111377" y="1273708"/>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Elipse 10">
                  <a:extLst>
                    <a:ext uri="{FF2B5EF4-FFF2-40B4-BE49-F238E27FC236}">
                      <a16:creationId xmlns:a16="http://schemas.microsoft.com/office/drawing/2014/main" id="{7E5348C2-9541-1E4A-ADA9-887851EB4107}"/>
                    </a:ext>
                  </a:extLst>
                </p:cNvPr>
                <p:cNvSpPr/>
                <p:nvPr/>
              </p:nvSpPr>
              <p:spPr>
                <a:xfrm>
                  <a:off x="3830111" y="19764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2" name="Elipse 11">
                  <a:extLst>
                    <a:ext uri="{FF2B5EF4-FFF2-40B4-BE49-F238E27FC236}">
                      <a16:creationId xmlns:a16="http://schemas.microsoft.com/office/drawing/2014/main" id="{5B9BFFCA-8242-2342-850B-4909528F5907}"/>
                    </a:ext>
                  </a:extLst>
                </p:cNvPr>
                <p:cNvSpPr/>
                <p:nvPr/>
              </p:nvSpPr>
              <p:spPr>
                <a:xfrm>
                  <a:off x="4075645" y="38560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Elipse 12">
                  <a:extLst>
                    <a:ext uri="{FF2B5EF4-FFF2-40B4-BE49-F238E27FC236}">
                      <a16:creationId xmlns:a16="http://schemas.microsoft.com/office/drawing/2014/main" id="{51A414D2-8557-3240-8DE6-E900E3B392A9}"/>
                    </a:ext>
                  </a:extLst>
                </p:cNvPr>
                <p:cNvSpPr/>
                <p:nvPr/>
              </p:nvSpPr>
              <p:spPr>
                <a:xfrm>
                  <a:off x="2585512" y="4990574"/>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4" name="Elipse 13">
                  <a:extLst>
                    <a:ext uri="{FF2B5EF4-FFF2-40B4-BE49-F238E27FC236}">
                      <a16:creationId xmlns:a16="http://schemas.microsoft.com/office/drawing/2014/main" id="{98642951-B892-0244-990C-2725976A034C}"/>
                    </a:ext>
                  </a:extLst>
                </p:cNvPr>
                <p:cNvSpPr/>
                <p:nvPr/>
              </p:nvSpPr>
              <p:spPr>
                <a:xfrm>
                  <a:off x="849846" y="42878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5" name="Elipse 14">
                  <a:extLst>
                    <a:ext uri="{FF2B5EF4-FFF2-40B4-BE49-F238E27FC236}">
                      <a16:creationId xmlns:a16="http://schemas.microsoft.com/office/drawing/2014/main" id="{8C8FE8F7-39A5-FD4F-A66B-E8EFF09B8525}"/>
                    </a:ext>
                  </a:extLst>
                </p:cNvPr>
                <p:cNvSpPr/>
                <p:nvPr/>
              </p:nvSpPr>
              <p:spPr>
                <a:xfrm>
                  <a:off x="612779" y="24336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7" name="Google Shape;228;p20">
                <a:extLst>
                  <a:ext uri="{FF2B5EF4-FFF2-40B4-BE49-F238E27FC236}">
                    <a16:creationId xmlns:a16="http://schemas.microsoft.com/office/drawing/2014/main" id="{42506ED9-89FB-B844-A820-4F7159F0A823}"/>
                  </a:ext>
                </a:extLst>
              </p:cNvPr>
              <p:cNvSpPr/>
              <p:nvPr/>
            </p:nvSpPr>
            <p:spPr>
              <a:xfrm>
                <a:off x="2070477" y="1898422"/>
                <a:ext cx="654607"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ASEGURAR </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REQUISITOS</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FUNCIONALES</a:t>
                </a:r>
                <a:endParaRPr sz="800" b="1" dirty="0">
                  <a:solidFill>
                    <a:schemeClr val="bg1"/>
                  </a:solidFill>
                  <a:latin typeface="Calibri"/>
                  <a:ea typeface="Calibri"/>
                  <a:cs typeface="Calibri"/>
                  <a:sym typeface="Calibri"/>
                </a:endParaRPr>
              </a:p>
            </p:txBody>
          </p:sp>
          <p:sp>
            <p:nvSpPr>
              <p:cNvPr id="18" name="Google Shape;228;p20">
                <a:extLst>
                  <a:ext uri="{FF2B5EF4-FFF2-40B4-BE49-F238E27FC236}">
                    <a16:creationId xmlns:a16="http://schemas.microsoft.com/office/drawing/2014/main" id="{BDC6C4E8-B27D-8B4B-8316-3E28EEC2837A}"/>
                  </a:ext>
                </a:extLst>
              </p:cNvPr>
              <p:cNvSpPr/>
              <p:nvPr/>
            </p:nvSpPr>
            <p:spPr>
              <a:xfrm>
                <a:off x="3041149" y="2271274"/>
                <a:ext cx="700021"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REDUCIR </a:t>
                </a:r>
                <a:br>
                  <a:rPr lang="es-PE" sz="800" b="1" dirty="0">
                    <a:solidFill>
                      <a:schemeClr val="bg1"/>
                    </a:solidFill>
                    <a:latin typeface="Calibri"/>
                    <a:ea typeface="Calibri"/>
                    <a:cs typeface="Calibri"/>
                    <a:sym typeface="Calibri"/>
                  </a:rPr>
                </a:br>
                <a:r>
                  <a:rPr lang="es-PE" sz="800" b="1" dirty="0">
                    <a:solidFill>
                      <a:schemeClr val="bg1"/>
                    </a:solidFill>
                    <a:latin typeface="Calibri"/>
                    <a:ea typeface="Calibri"/>
                    <a:cs typeface="Calibri"/>
                    <a:sym typeface="Calibri"/>
                  </a:rPr>
                  <a:t>COSTO NO CONFORMIDAD</a:t>
                </a:r>
                <a:endParaRPr sz="800" b="1" dirty="0">
                  <a:solidFill>
                    <a:schemeClr val="bg1"/>
                  </a:solidFill>
                  <a:latin typeface="Calibri"/>
                  <a:ea typeface="Calibri"/>
                  <a:cs typeface="Calibri"/>
                  <a:sym typeface="Calibri"/>
                </a:endParaRPr>
              </a:p>
            </p:txBody>
          </p:sp>
          <p:sp>
            <p:nvSpPr>
              <p:cNvPr id="19" name="Google Shape;228;p20">
                <a:extLst>
                  <a:ext uri="{FF2B5EF4-FFF2-40B4-BE49-F238E27FC236}">
                    <a16:creationId xmlns:a16="http://schemas.microsoft.com/office/drawing/2014/main" id="{9A756CD5-2E2A-F84A-997F-5E5C45122F9B}"/>
                  </a:ext>
                </a:extLst>
              </p:cNvPr>
              <p:cNvSpPr/>
              <p:nvPr/>
            </p:nvSpPr>
            <p:spPr>
              <a:xfrm>
                <a:off x="3523608" y="3215654"/>
                <a:ext cx="665121"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EVITAR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REPROCESOS</a:t>
                </a:r>
                <a:endParaRPr sz="800" b="1" dirty="0">
                  <a:solidFill>
                    <a:schemeClr val="bg1"/>
                  </a:solidFill>
                  <a:latin typeface="Calibri"/>
                  <a:ea typeface="Calibri"/>
                  <a:cs typeface="Calibri"/>
                  <a:sym typeface="Calibri"/>
                </a:endParaRPr>
              </a:p>
            </p:txBody>
          </p:sp>
          <p:sp>
            <p:nvSpPr>
              <p:cNvPr id="20" name="Google Shape;228;p20">
                <a:extLst>
                  <a:ext uri="{FF2B5EF4-FFF2-40B4-BE49-F238E27FC236}">
                    <a16:creationId xmlns:a16="http://schemas.microsoft.com/office/drawing/2014/main" id="{37E27B9A-1A78-3748-9E7D-1CCAC897260E}"/>
                  </a:ext>
                </a:extLst>
              </p:cNvPr>
              <p:cNvSpPr/>
              <p:nvPr/>
            </p:nvSpPr>
            <p:spPr>
              <a:xfrm>
                <a:off x="2657881" y="4078926"/>
                <a:ext cx="733279"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MEJORAR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PRODUCTIVIDAD</a:t>
                </a:r>
                <a:endParaRPr sz="800" b="1" dirty="0">
                  <a:solidFill>
                    <a:schemeClr val="bg1"/>
                  </a:solidFill>
                  <a:latin typeface="Calibri"/>
                  <a:ea typeface="Calibri"/>
                  <a:cs typeface="Calibri"/>
                  <a:sym typeface="Calibri"/>
                </a:endParaRPr>
              </a:p>
            </p:txBody>
          </p:sp>
          <p:sp>
            <p:nvSpPr>
              <p:cNvPr id="21" name="Google Shape;228;p20">
                <a:extLst>
                  <a:ext uri="{FF2B5EF4-FFF2-40B4-BE49-F238E27FC236}">
                    <a16:creationId xmlns:a16="http://schemas.microsoft.com/office/drawing/2014/main" id="{323D3D81-B293-2B4B-850F-00F396F15EF6}"/>
                  </a:ext>
                </a:extLst>
              </p:cNvPr>
              <p:cNvSpPr/>
              <p:nvPr/>
            </p:nvSpPr>
            <p:spPr>
              <a:xfrm>
                <a:off x="1600847" y="3939648"/>
                <a:ext cx="733279"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AUMENTAR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SATISFACCIÓN </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DEL CLIENTE</a:t>
                </a:r>
                <a:endParaRPr sz="800" b="1" dirty="0">
                  <a:solidFill>
                    <a:schemeClr val="bg1"/>
                  </a:solidFill>
                  <a:latin typeface="Calibri"/>
                  <a:ea typeface="Calibri"/>
                  <a:cs typeface="Calibri"/>
                  <a:sym typeface="Calibri"/>
                </a:endParaRPr>
              </a:p>
            </p:txBody>
          </p:sp>
          <p:sp>
            <p:nvSpPr>
              <p:cNvPr id="22" name="Google Shape;228;p20">
                <a:extLst>
                  <a:ext uri="{FF2B5EF4-FFF2-40B4-BE49-F238E27FC236}">
                    <a16:creationId xmlns:a16="http://schemas.microsoft.com/office/drawing/2014/main" id="{B79C5546-4B8E-3341-9C97-50B11FFD6E08}"/>
                  </a:ext>
                </a:extLst>
              </p:cNvPr>
              <p:cNvSpPr/>
              <p:nvPr/>
            </p:nvSpPr>
            <p:spPr>
              <a:xfrm>
                <a:off x="1220327" y="2964362"/>
                <a:ext cx="829394"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IDENTIFICAR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INCONSISTENCIAS</a:t>
                </a:r>
              </a:p>
            </p:txBody>
          </p:sp>
          <p:pic>
            <p:nvPicPr>
              <p:cNvPr id="7" name="Imagen 6">
                <a:extLst>
                  <a:ext uri="{FF2B5EF4-FFF2-40B4-BE49-F238E27FC236}">
                    <a16:creationId xmlns:a16="http://schemas.microsoft.com/office/drawing/2014/main" id="{1D258C47-AB01-AF45-A815-375FFA9BFD1D}"/>
                  </a:ext>
                </a:extLst>
              </p:cNvPr>
              <p:cNvPicPr>
                <a:picLocks noChangeAspect="1"/>
              </p:cNvPicPr>
              <p:nvPr/>
            </p:nvPicPr>
            <p:blipFill>
              <a:blip r:embed="rId4"/>
              <a:stretch>
                <a:fillRect/>
              </a:stretch>
            </p:blipFill>
            <p:spPr>
              <a:xfrm>
                <a:off x="2671232" y="1766091"/>
                <a:ext cx="321133" cy="321133"/>
              </a:xfrm>
              <a:prstGeom prst="rect">
                <a:avLst/>
              </a:prstGeom>
            </p:spPr>
          </p:pic>
          <p:sp>
            <p:nvSpPr>
              <p:cNvPr id="16" name="Forma libre 15">
                <a:extLst>
                  <a:ext uri="{FF2B5EF4-FFF2-40B4-BE49-F238E27FC236}">
                    <a16:creationId xmlns:a16="http://schemas.microsoft.com/office/drawing/2014/main" id="{3779C9EA-4EDB-E240-9E8D-F6DFB5283805}"/>
                  </a:ext>
                </a:extLst>
              </p:cNvPr>
              <p:cNvSpPr/>
              <p:nvPr/>
            </p:nvSpPr>
            <p:spPr>
              <a:xfrm>
                <a:off x="3665095" y="2717942"/>
                <a:ext cx="277318" cy="145179"/>
              </a:xfrm>
              <a:custGeom>
                <a:avLst/>
                <a:gdLst>
                  <a:gd name="connsiteX0" fmla="*/ 0 w 277318"/>
                  <a:gd name="connsiteY0" fmla="*/ 0 h 149901"/>
                  <a:gd name="connsiteX1" fmla="*/ 0 w 277318"/>
                  <a:gd name="connsiteY1" fmla="*/ 149901 h 149901"/>
                  <a:gd name="connsiteX2" fmla="*/ 277318 w 277318"/>
                  <a:gd name="connsiteY2" fmla="*/ 149901 h 149901"/>
                  <a:gd name="connsiteX3" fmla="*/ 277318 w 277318"/>
                  <a:gd name="connsiteY3" fmla="*/ 7495 h 149901"/>
                </a:gdLst>
                <a:ahLst/>
                <a:cxnLst>
                  <a:cxn ang="0">
                    <a:pos x="connsiteX0" y="connsiteY0"/>
                  </a:cxn>
                  <a:cxn ang="0">
                    <a:pos x="connsiteX1" y="connsiteY1"/>
                  </a:cxn>
                  <a:cxn ang="0">
                    <a:pos x="connsiteX2" y="connsiteY2"/>
                  </a:cxn>
                  <a:cxn ang="0">
                    <a:pos x="connsiteX3" y="connsiteY3"/>
                  </a:cxn>
                </a:cxnLst>
                <a:rect l="l" t="t" r="r" b="b"/>
                <a:pathLst>
                  <a:path w="277318" h="149901">
                    <a:moveTo>
                      <a:pt x="0" y="0"/>
                    </a:moveTo>
                    <a:lnTo>
                      <a:pt x="0" y="149901"/>
                    </a:lnTo>
                    <a:lnTo>
                      <a:pt x="277318" y="149901"/>
                    </a:lnTo>
                    <a:lnTo>
                      <a:pt x="277318" y="7495"/>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 name="28 Flecha derecha">
                <a:extLst>
                  <a:ext uri="{FF2B5EF4-FFF2-40B4-BE49-F238E27FC236}">
                    <a16:creationId xmlns:a16="http://schemas.microsoft.com/office/drawing/2014/main" id="{52E9FDD2-B1FC-C941-B0D4-CBAF309DFC76}"/>
                  </a:ext>
                </a:extLst>
              </p:cNvPr>
              <p:cNvSpPr/>
              <p:nvPr/>
            </p:nvSpPr>
            <p:spPr>
              <a:xfrm rot="5400000">
                <a:off x="3684358" y="2575590"/>
                <a:ext cx="238792" cy="19662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grpSp>
            <p:nvGrpSpPr>
              <p:cNvPr id="27" name="Grupo 26">
                <a:extLst>
                  <a:ext uri="{FF2B5EF4-FFF2-40B4-BE49-F238E27FC236}">
                    <a16:creationId xmlns:a16="http://schemas.microsoft.com/office/drawing/2014/main" id="{B75D9D87-D408-3A48-99BB-872F9006C61C}"/>
                  </a:ext>
                </a:extLst>
              </p:cNvPr>
              <p:cNvGrpSpPr/>
              <p:nvPr/>
            </p:nvGrpSpPr>
            <p:grpSpPr>
              <a:xfrm>
                <a:off x="3514628" y="3539211"/>
                <a:ext cx="439207" cy="275197"/>
                <a:chOff x="3514628" y="3539211"/>
                <a:chExt cx="537557" cy="336821"/>
              </a:xfrm>
            </p:grpSpPr>
            <p:sp>
              <p:nvSpPr>
                <p:cNvPr id="23" name="Triángulo 22">
                  <a:extLst>
                    <a:ext uri="{FF2B5EF4-FFF2-40B4-BE49-F238E27FC236}">
                      <a16:creationId xmlns:a16="http://schemas.microsoft.com/office/drawing/2014/main" id="{10B65FC0-5E5E-994A-A85B-93018CB1AF1E}"/>
                    </a:ext>
                  </a:extLst>
                </p:cNvPr>
                <p:cNvSpPr/>
                <p:nvPr/>
              </p:nvSpPr>
              <p:spPr>
                <a:xfrm rot="5400000">
                  <a:off x="3514857" y="3538982"/>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5" name="Conector recto 24">
                  <a:extLst>
                    <a:ext uri="{FF2B5EF4-FFF2-40B4-BE49-F238E27FC236}">
                      <a16:creationId xmlns:a16="http://schemas.microsoft.com/office/drawing/2014/main" id="{76C9869E-9D36-164D-A491-7B2497EB5678}"/>
                    </a:ext>
                  </a:extLst>
                </p:cNvPr>
                <p:cNvCxnSpPr/>
                <p:nvPr/>
              </p:nvCxnSpPr>
              <p:spPr>
                <a:xfrm>
                  <a:off x="3656898" y="3583952"/>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riángulo 29">
                  <a:extLst>
                    <a:ext uri="{FF2B5EF4-FFF2-40B4-BE49-F238E27FC236}">
                      <a16:creationId xmlns:a16="http://schemas.microsoft.com/office/drawing/2014/main" id="{3BF414BD-CF51-CE49-AA29-F9C0C30EFBD2}"/>
                    </a:ext>
                  </a:extLst>
                </p:cNvPr>
                <p:cNvSpPr/>
                <p:nvPr/>
              </p:nvSpPr>
              <p:spPr>
                <a:xfrm rot="5400000">
                  <a:off x="3514857" y="3666399"/>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31" name="Conector recto 30">
                  <a:extLst>
                    <a:ext uri="{FF2B5EF4-FFF2-40B4-BE49-F238E27FC236}">
                      <a16:creationId xmlns:a16="http://schemas.microsoft.com/office/drawing/2014/main" id="{35004FBE-BF0F-4E44-A819-F986D450A277}"/>
                    </a:ext>
                  </a:extLst>
                </p:cNvPr>
                <p:cNvCxnSpPr/>
                <p:nvPr/>
              </p:nvCxnSpPr>
              <p:spPr>
                <a:xfrm>
                  <a:off x="3656898" y="3711369"/>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riángulo 31">
                  <a:extLst>
                    <a:ext uri="{FF2B5EF4-FFF2-40B4-BE49-F238E27FC236}">
                      <a16:creationId xmlns:a16="http://schemas.microsoft.com/office/drawing/2014/main" id="{175A11AA-1A35-FC4D-B795-661919579905}"/>
                    </a:ext>
                  </a:extLst>
                </p:cNvPr>
                <p:cNvSpPr/>
                <p:nvPr/>
              </p:nvSpPr>
              <p:spPr>
                <a:xfrm rot="5400000">
                  <a:off x="3514857" y="3786320"/>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33" name="Conector recto 32">
                  <a:extLst>
                    <a:ext uri="{FF2B5EF4-FFF2-40B4-BE49-F238E27FC236}">
                      <a16:creationId xmlns:a16="http://schemas.microsoft.com/office/drawing/2014/main" id="{02FAB4EF-3EB5-B449-9585-BBD699DDBAAF}"/>
                    </a:ext>
                  </a:extLst>
                </p:cNvPr>
                <p:cNvCxnSpPr/>
                <p:nvPr/>
              </p:nvCxnSpPr>
              <p:spPr>
                <a:xfrm>
                  <a:off x="3656898" y="3831290"/>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8" name="Imagen 27">
                <a:extLst>
                  <a:ext uri="{FF2B5EF4-FFF2-40B4-BE49-F238E27FC236}">
                    <a16:creationId xmlns:a16="http://schemas.microsoft.com/office/drawing/2014/main" id="{550560BB-02A5-8E4E-88FC-349BAFBEF7CC}"/>
                  </a:ext>
                </a:extLst>
              </p:cNvPr>
              <p:cNvPicPr>
                <a:picLocks noChangeAspect="1"/>
              </p:cNvPicPr>
              <p:nvPr/>
            </p:nvPicPr>
            <p:blipFill>
              <a:blip r:embed="rId5"/>
              <a:stretch>
                <a:fillRect/>
              </a:stretch>
            </p:blipFill>
            <p:spPr>
              <a:xfrm>
                <a:off x="2625676" y="4364289"/>
                <a:ext cx="427131" cy="312642"/>
              </a:xfrm>
              <a:prstGeom prst="rect">
                <a:avLst/>
              </a:prstGeom>
            </p:spPr>
          </p:pic>
          <p:pic>
            <p:nvPicPr>
              <p:cNvPr id="29" name="Imagen 28">
                <a:extLst>
                  <a:ext uri="{FF2B5EF4-FFF2-40B4-BE49-F238E27FC236}">
                    <a16:creationId xmlns:a16="http://schemas.microsoft.com/office/drawing/2014/main" id="{B817D8E0-8E0C-3140-8B89-C83E3008D5E4}"/>
                  </a:ext>
                </a:extLst>
              </p:cNvPr>
              <p:cNvPicPr>
                <a:picLocks noChangeAspect="1"/>
              </p:cNvPicPr>
              <p:nvPr/>
            </p:nvPicPr>
            <p:blipFill>
              <a:blip r:embed="rId6"/>
              <a:stretch>
                <a:fillRect/>
              </a:stretch>
            </p:blipFill>
            <p:spPr>
              <a:xfrm>
                <a:off x="1579457" y="3605159"/>
                <a:ext cx="353939" cy="307283"/>
              </a:xfrm>
              <a:prstGeom prst="rect">
                <a:avLst/>
              </a:prstGeom>
            </p:spPr>
          </p:pic>
          <p:pic>
            <p:nvPicPr>
              <p:cNvPr id="34" name="Imagen 33">
                <a:extLst>
                  <a:ext uri="{FF2B5EF4-FFF2-40B4-BE49-F238E27FC236}">
                    <a16:creationId xmlns:a16="http://schemas.microsoft.com/office/drawing/2014/main" id="{8B3AAC2D-6CE5-DE4F-B86D-EDF6DDA4CE2A}"/>
                  </a:ext>
                </a:extLst>
              </p:cNvPr>
              <p:cNvPicPr>
                <a:picLocks noChangeAspect="1"/>
              </p:cNvPicPr>
              <p:nvPr/>
            </p:nvPicPr>
            <p:blipFill>
              <a:blip r:embed="rId7"/>
              <a:stretch>
                <a:fillRect/>
              </a:stretch>
            </p:blipFill>
            <p:spPr>
              <a:xfrm>
                <a:off x="1331726" y="2580264"/>
                <a:ext cx="303298" cy="306953"/>
              </a:xfrm>
              <a:prstGeom prst="rect">
                <a:avLst/>
              </a:prstGeom>
            </p:spPr>
          </p:pic>
          <p:sp>
            <p:nvSpPr>
              <p:cNvPr id="38" name="Google Shape;228;p20">
                <a:extLst>
                  <a:ext uri="{FF2B5EF4-FFF2-40B4-BE49-F238E27FC236}">
                    <a16:creationId xmlns:a16="http://schemas.microsoft.com/office/drawing/2014/main" id="{68A0F61E-874D-4442-AC5A-2AC540ACD2CC}"/>
                  </a:ext>
                </a:extLst>
              </p:cNvPr>
              <p:cNvSpPr/>
              <p:nvPr/>
            </p:nvSpPr>
            <p:spPr>
              <a:xfrm>
                <a:off x="1892502" y="3037734"/>
                <a:ext cx="1717466" cy="4001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PRUEBAS </a:t>
                </a:r>
              </a:p>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FUNCIONALES</a:t>
                </a:r>
                <a:endParaRPr sz="1300" b="1" dirty="0">
                  <a:solidFill>
                    <a:schemeClr val="dk1"/>
                  </a:solidFill>
                  <a:latin typeface="Graphik Bold" panose="020B0503030202060203" pitchFamily="34" charset="77"/>
                  <a:ea typeface="Calibri"/>
                  <a:cs typeface="Calibri"/>
                  <a:sym typeface="Calibri"/>
                </a:endParaRPr>
              </a:p>
            </p:txBody>
          </p:sp>
        </p:grpSp>
        <p:grpSp>
          <p:nvGrpSpPr>
            <p:cNvPr id="74" name="Grupo 73">
              <a:extLst>
                <a:ext uri="{FF2B5EF4-FFF2-40B4-BE49-F238E27FC236}">
                  <a16:creationId xmlns:a16="http://schemas.microsoft.com/office/drawing/2014/main" id="{A079612C-A8DB-194C-AA9F-8B1E910A288B}"/>
                </a:ext>
              </a:extLst>
            </p:cNvPr>
            <p:cNvGrpSpPr/>
            <p:nvPr/>
          </p:nvGrpSpPr>
          <p:grpSpPr>
            <a:xfrm>
              <a:off x="5050143" y="1464733"/>
              <a:ext cx="3442761" cy="3539596"/>
              <a:chOff x="5124613" y="1464733"/>
              <a:chExt cx="3442761" cy="3539596"/>
            </a:xfrm>
          </p:grpSpPr>
          <p:grpSp>
            <p:nvGrpSpPr>
              <p:cNvPr id="41" name="Grupo 40">
                <a:extLst>
                  <a:ext uri="{FF2B5EF4-FFF2-40B4-BE49-F238E27FC236}">
                    <a16:creationId xmlns:a16="http://schemas.microsoft.com/office/drawing/2014/main" id="{D62626D6-136A-2740-BB42-2B666B452566}"/>
                  </a:ext>
                </a:extLst>
              </p:cNvPr>
              <p:cNvGrpSpPr/>
              <p:nvPr/>
            </p:nvGrpSpPr>
            <p:grpSpPr>
              <a:xfrm>
                <a:off x="5124613" y="1464733"/>
                <a:ext cx="3442761" cy="3539596"/>
                <a:chOff x="553509" y="1273708"/>
                <a:chExt cx="3743851" cy="3849155"/>
              </a:xfrm>
            </p:grpSpPr>
            <p:grpSp>
              <p:nvGrpSpPr>
                <p:cNvPr id="62" name="Grupo 61">
                  <a:extLst>
                    <a:ext uri="{FF2B5EF4-FFF2-40B4-BE49-F238E27FC236}">
                      <a16:creationId xmlns:a16="http://schemas.microsoft.com/office/drawing/2014/main" id="{AD6FCFC5-1EE9-8E4E-BF49-6A45E1C19BA8}"/>
                    </a:ext>
                  </a:extLst>
                </p:cNvPr>
                <p:cNvGrpSpPr/>
                <p:nvPr/>
              </p:nvGrpSpPr>
              <p:grpSpPr>
                <a:xfrm>
                  <a:off x="738859" y="1490096"/>
                  <a:ext cx="3393016" cy="3393016"/>
                  <a:chOff x="738859" y="1490096"/>
                  <a:chExt cx="3393016" cy="3393016"/>
                </a:xfrm>
              </p:grpSpPr>
              <p:pic>
                <p:nvPicPr>
                  <p:cNvPr id="70" name="Imagen 69">
                    <a:extLst>
                      <a:ext uri="{FF2B5EF4-FFF2-40B4-BE49-F238E27FC236}">
                        <a16:creationId xmlns:a16="http://schemas.microsoft.com/office/drawing/2014/main" id="{AC6CBFB4-4CEB-F546-9D8C-D39E269047C9}"/>
                      </a:ext>
                    </a:extLst>
                  </p:cNvPr>
                  <p:cNvPicPr>
                    <a:picLocks noChangeAspect="1"/>
                  </p:cNvPicPr>
                  <p:nvPr/>
                </p:nvPicPr>
                <p:blipFill>
                  <a:blip r:embed="rId3"/>
                  <a:stretch>
                    <a:fillRect/>
                  </a:stretch>
                </p:blipFill>
                <p:spPr>
                  <a:xfrm>
                    <a:off x="738859" y="1490096"/>
                    <a:ext cx="3393016" cy="3393016"/>
                  </a:xfrm>
                  <a:prstGeom prst="rect">
                    <a:avLst/>
                  </a:prstGeom>
                </p:spPr>
              </p:pic>
              <p:sp>
                <p:nvSpPr>
                  <p:cNvPr id="71" name="Elipse 70">
                    <a:extLst>
                      <a:ext uri="{FF2B5EF4-FFF2-40B4-BE49-F238E27FC236}">
                        <a16:creationId xmlns:a16="http://schemas.microsoft.com/office/drawing/2014/main" id="{778D27C0-57AD-0D4A-AAE1-CF009D6E5E1E}"/>
                      </a:ext>
                    </a:extLst>
                  </p:cNvPr>
                  <p:cNvSpPr/>
                  <p:nvPr/>
                </p:nvSpPr>
                <p:spPr>
                  <a:xfrm>
                    <a:off x="1749568" y="2459063"/>
                    <a:ext cx="1505478" cy="1505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63" name="Elipse 62">
                  <a:extLst>
                    <a:ext uri="{FF2B5EF4-FFF2-40B4-BE49-F238E27FC236}">
                      <a16:creationId xmlns:a16="http://schemas.microsoft.com/office/drawing/2014/main" id="{3DE9DB6E-74FE-8448-BD50-5DBA53E70FF9}"/>
                    </a:ext>
                  </a:extLst>
                </p:cNvPr>
                <p:cNvSpPr/>
                <p:nvPr/>
              </p:nvSpPr>
              <p:spPr>
                <a:xfrm>
                  <a:off x="553509" y="1327682"/>
                  <a:ext cx="3743851" cy="3743851"/>
                </a:xfrm>
                <a:prstGeom prst="ellipse">
                  <a:avLst/>
                </a:prstGeom>
                <a:noFill/>
                <a:ln w="15875">
                  <a:solidFill>
                    <a:srgbClr val="D9D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4" name="Elipse 63">
                  <a:extLst>
                    <a:ext uri="{FF2B5EF4-FFF2-40B4-BE49-F238E27FC236}">
                      <a16:creationId xmlns:a16="http://schemas.microsoft.com/office/drawing/2014/main" id="{D9014BC2-008A-D649-8B34-A5BACB0A9570}"/>
                    </a:ext>
                  </a:extLst>
                </p:cNvPr>
                <p:cNvSpPr/>
                <p:nvPr/>
              </p:nvSpPr>
              <p:spPr>
                <a:xfrm>
                  <a:off x="2111377" y="1273708"/>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5" name="Elipse 64">
                  <a:extLst>
                    <a:ext uri="{FF2B5EF4-FFF2-40B4-BE49-F238E27FC236}">
                      <a16:creationId xmlns:a16="http://schemas.microsoft.com/office/drawing/2014/main" id="{B992624C-4C45-4441-9EE0-296DC13A4675}"/>
                    </a:ext>
                  </a:extLst>
                </p:cNvPr>
                <p:cNvSpPr/>
                <p:nvPr/>
              </p:nvSpPr>
              <p:spPr>
                <a:xfrm>
                  <a:off x="3830111" y="19764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6" name="Elipse 65">
                  <a:extLst>
                    <a:ext uri="{FF2B5EF4-FFF2-40B4-BE49-F238E27FC236}">
                      <a16:creationId xmlns:a16="http://schemas.microsoft.com/office/drawing/2014/main" id="{6FEB979B-CFC5-C042-995E-3DB7BBCC00B4}"/>
                    </a:ext>
                  </a:extLst>
                </p:cNvPr>
                <p:cNvSpPr/>
                <p:nvPr/>
              </p:nvSpPr>
              <p:spPr>
                <a:xfrm>
                  <a:off x="4075645" y="38560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7" name="Elipse 66">
                  <a:extLst>
                    <a:ext uri="{FF2B5EF4-FFF2-40B4-BE49-F238E27FC236}">
                      <a16:creationId xmlns:a16="http://schemas.microsoft.com/office/drawing/2014/main" id="{898A4D3B-5B82-5040-B33E-64019D7C97D6}"/>
                    </a:ext>
                  </a:extLst>
                </p:cNvPr>
                <p:cNvSpPr/>
                <p:nvPr/>
              </p:nvSpPr>
              <p:spPr>
                <a:xfrm>
                  <a:off x="2585512" y="4990574"/>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Elipse 67">
                  <a:extLst>
                    <a:ext uri="{FF2B5EF4-FFF2-40B4-BE49-F238E27FC236}">
                      <a16:creationId xmlns:a16="http://schemas.microsoft.com/office/drawing/2014/main" id="{91B85518-7D62-C145-B974-8068DFB26EAD}"/>
                    </a:ext>
                  </a:extLst>
                </p:cNvPr>
                <p:cNvSpPr/>
                <p:nvPr/>
              </p:nvSpPr>
              <p:spPr>
                <a:xfrm>
                  <a:off x="849846" y="42878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9" name="Elipse 68">
                  <a:extLst>
                    <a:ext uri="{FF2B5EF4-FFF2-40B4-BE49-F238E27FC236}">
                      <a16:creationId xmlns:a16="http://schemas.microsoft.com/office/drawing/2014/main" id="{5334E50B-F322-9149-A359-81F09180F352}"/>
                    </a:ext>
                  </a:extLst>
                </p:cNvPr>
                <p:cNvSpPr/>
                <p:nvPr/>
              </p:nvSpPr>
              <p:spPr>
                <a:xfrm>
                  <a:off x="612779" y="24336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42" name="Google Shape;228;p20">
                <a:extLst>
                  <a:ext uri="{FF2B5EF4-FFF2-40B4-BE49-F238E27FC236}">
                    <a16:creationId xmlns:a16="http://schemas.microsoft.com/office/drawing/2014/main" id="{64C7288C-5A9A-B244-A6C2-72E81B6AF567}"/>
                  </a:ext>
                </a:extLst>
              </p:cNvPr>
              <p:cNvSpPr/>
              <p:nvPr/>
            </p:nvSpPr>
            <p:spPr>
              <a:xfrm>
                <a:off x="6248082" y="2071967"/>
                <a:ext cx="700021"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ASEGURAR </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REQUISITOS NO</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FUNCIONALES</a:t>
                </a:r>
                <a:endParaRPr sz="800" b="1" dirty="0">
                  <a:solidFill>
                    <a:schemeClr val="bg1"/>
                  </a:solidFill>
                  <a:latin typeface="Calibri"/>
                  <a:ea typeface="Calibri"/>
                  <a:cs typeface="Calibri"/>
                  <a:sym typeface="Calibri"/>
                </a:endParaRPr>
              </a:p>
            </p:txBody>
          </p:sp>
          <p:sp>
            <p:nvSpPr>
              <p:cNvPr id="43" name="Google Shape;228;p20">
                <a:extLst>
                  <a:ext uri="{FF2B5EF4-FFF2-40B4-BE49-F238E27FC236}">
                    <a16:creationId xmlns:a16="http://schemas.microsoft.com/office/drawing/2014/main" id="{4D1BF721-D39E-1646-BB2C-986F42C6F7A4}"/>
                  </a:ext>
                </a:extLst>
              </p:cNvPr>
              <p:cNvSpPr/>
              <p:nvPr/>
            </p:nvSpPr>
            <p:spPr>
              <a:xfrm>
                <a:off x="7357739" y="2136472"/>
                <a:ext cx="700021"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IDENTIFICAR CAPACIDAD DE RECUPERACIÓN DEL SISTEMA</a:t>
                </a:r>
                <a:endParaRPr sz="800" b="1" dirty="0">
                  <a:solidFill>
                    <a:schemeClr val="bg1"/>
                  </a:solidFill>
                  <a:latin typeface="Calibri"/>
                  <a:ea typeface="Calibri"/>
                  <a:cs typeface="Calibri"/>
                  <a:sym typeface="Calibri"/>
                </a:endParaRPr>
              </a:p>
            </p:txBody>
          </p:sp>
          <p:sp>
            <p:nvSpPr>
              <p:cNvPr id="44" name="Google Shape;228;p20">
                <a:extLst>
                  <a:ext uri="{FF2B5EF4-FFF2-40B4-BE49-F238E27FC236}">
                    <a16:creationId xmlns:a16="http://schemas.microsoft.com/office/drawing/2014/main" id="{8FB04D36-610C-1B4D-848E-A7F845D0A3BD}"/>
                  </a:ext>
                </a:extLst>
              </p:cNvPr>
              <p:cNvSpPr/>
              <p:nvPr/>
            </p:nvSpPr>
            <p:spPr>
              <a:xfrm>
                <a:off x="7698369" y="3215654"/>
                <a:ext cx="665121"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ESTABLECER UMBRALES Y CRITERIOS DE ACEPTACIÓN</a:t>
                </a:r>
                <a:endParaRPr sz="800" b="1" dirty="0">
                  <a:solidFill>
                    <a:schemeClr val="bg1"/>
                  </a:solidFill>
                  <a:latin typeface="Calibri"/>
                  <a:ea typeface="Calibri"/>
                  <a:cs typeface="Calibri"/>
                  <a:sym typeface="Calibri"/>
                </a:endParaRPr>
              </a:p>
            </p:txBody>
          </p:sp>
          <p:sp>
            <p:nvSpPr>
              <p:cNvPr id="45" name="Google Shape;228;p20">
                <a:extLst>
                  <a:ext uri="{FF2B5EF4-FFF2-40B4-BE49-F238E27FC236}">
                    <a16:creationId xmlns:a16="http://schemas.microsoft.com/office/drawing/2014/main" id="{7C27E958-A1C8-C243-A4CA-F370FCF98259}"/>
                  </a:ext>
                </a:extLst>
              </p:cNvPr>
              <p:cNvSpPr/>
              <p:nvPr/>
            </p:nvSpPr>
            <p:spPr>
              <a:xfrm>
                <a:off x="6845414" y="4172002"/>
                <a:ext cx="733279" cy="430887"/>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700" b="1" dirty="0">
                    <a:solidFill>
                      <a:schemeClr val="bg1"/>
                    </a:solidFill>
                    <a:latin typeface="Calibri"/>
                    <a:ea typeface="Calibri"/>
                    <a:cs typeface="Calibri"/>
                    <a:sym typeface="Calibri"/>
                  </a:rPr>
                  <a:t>DETERMINAR EL CUMPLIMIENTO DE LOS OBJETIVOS DE RENDIMIENTO</a:t>
                </a:r>
                <a:endParaRPr sz="700" b="1" dirty="0">
                  <a:solidFill>
                    <a:schemeClr val="bg1"/>
                  </a:solidFill>
                  <a:latin typeface="Calibri"/>
                  <a:ea typeface="Calibri"/>
                  <a:cs typeface="Calibri"/>
                  <a:sym typeface="Calibri"/>
                </a:endParaRPr>
              </a:p>
            </p:txBody>
          </p:sp>
          <p:sp>
            <p:nvSpPr>
              <p:cNvPr id="46" name="Google Shape;228;p20">
                <a:extLst>
                  <a:ext uri="{FF2B5EF4-FFF2-40B4-BE49-F238E27FC236}">
                    <a16:creationId xmlns:a16="http://schemas.microsoft.com/office/drawing/2014/main" id="{7472B4B4-5D59-2146-8906-530B82A107E3}"/>
                  </a:ext>
                </a:extLst>
              </p:cNvPr>
              <p:cNvSpPr/>
              <p:nvPr/>
            </p:nvSpPr>
            <p:spPr>
              <a:xfrm>
                <a:off x="5775608" y="3939648"/>
                <a:ext cx="733279"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AUMENTAR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SATISFACCIÓN </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DEL CLIENTE</a:t>
                </a:r>
                <a:endParaRPr sz="800" b="1" dirty="0">
                  <a:solidFill>
                    <a:schemeClr val="bg1"/>
                  </a:solidFill>
                  <a:latin typeface="Calibri"/>
                  <a:ea typeface="Calibri"/>
                  <a:cs typeface="Calibri"/>
                  <a:sym typeface="Calibri"/>
                </a:endParaRPr>
              </a:p>
            </p:txBody>
          </p:sp>
          <p:sp>
            <p:nvSpPr>
              <p:cNvPr id="47" name="Google Shape;228;p20">
                <a:extLst>
                  <a:ext uri="{FF2B5EF4-FFF2-40B4-BE49-F238E27FC236}">
                    <a16:creationId xmlns:a16="http://schemas.microsoft.com/office/drawing/2014/main" id="{AB7EC5CE-6B22-BE40-A187-F371E8EFAD71}"/>
                  </a:ext>
                </a:extLst>
              </p:cNvPr>
              <p:cNvSpPr/>
              <p:nvPr/>
            </p:nvSpPr>
            <p:spPr>
              <a:xfrm>
                <a:off x="5441988" y="2754518"/>
                <a:ext cx="829394"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IDENTIFICAR CAPACIDAD DE RESPUESTA DEL SISTEMA</a:t>
                </a:r>
              </a:p>
            </p:txBody>
          </p:sp>
          <p:grpSp>
            <p:nvGrpSpPr>
              <p:cNvPr id="36" name="Grupo 35">
                <a:extLst>
                  <a:ext uri="{FF2B5EF4-FFF2-40B4-BE49-F238E27FC236}">
                    <a16:creationId xmlns:a16="http://schemas.microsoft.com/office/drawing/2014/main" id="{F3D74C66-DDA4-2048-917C-C279526F5EC7}"/>
                  </a:ext>
                </a:extLst>
              </p:cNvPr>
              <p:cNvGrpSpPr/>
              <p:nvPr/>
            </p:nvGrpSpPr>
            <p:grpSpPr>
              <a:xfrm>
                <a:off x="7919101" y="2649712"/>
                <a:ext cx="277318" cy="288176"/>
                <a:chOff x="7839856" y="2717942"/>
                <a:chExt cx="277318" cy="288176"/>
              </a:xfrm>
            </p:grpSpPr>
            <p:sp>
              <p:nvSpPr>
                <p:cNvPr id="49" name="Forma libre 48">
                  <a:extLst>
                    <a:ext uri="{FF2B5EF4-FFF2-40B4-BE49-F238E27FC236}">
                      <a16:creationId xmlns:a16="http://schemas.microsoft.com/office/drawing/2014/main" id="{02A81C85-5EE2-ED4D-985C-06B40C0F1BD7}"/>
                    </a:ext>
                  </a:extLst>
                </p:cNvPr>
                <p:cNvSpPr/>
                <p:nvPr/>
              </p:nvSpPr>
              <p:spPr>
                <a:xfrm rot="10800000">
                  <a:off x="7839856" y="2717942"/>
                  <a:ext cx="277318" cy="145179"/>
                </a:xfrm>
                <a:custGeom>
                  <a:avLst/>
                  <a:gdLst>
                    <a:gd name="connsiteX0" fmla="*/ 0 w 277318"/>
                    <a:gd name="connsiteY0" fmla="*/ 0 h 149901"/>
                    <a:gd name="connsiteX1" fmla="*/ 0 w 277318"/>
                    <a:gd name="connsiteY1" fmla="*/ 149901 h 149901"/>
                    <a:gd name="connsiteX2" fmla="*/ 277318 w 277318"/>
                    <a:gd name="connsiteY2" fmla="*/ 149901 h 149901"/>
                    <a:gd name="connsiteX3" fmla="*/ 277318 w 277318"/>
                    <a:gd name="connsiteY3" fmla="*/ 7495 h 149901"/>
                  </a:gdLst>
                  <a:ahLst/>
                  <a:cxnLst>
                    <a:cxn ang="0">
                      <a:pos x="connsiteX0" y="connsiteY0"/>
                    </a:cxn>
                    <a:cxn ang="0">
                      <a:pos x="connsiteX1" y="connsiteY1"/>
                    </a:cxn>
                    <a:cxn ang="0">
                      <a:pos x="connsiteX2" y="connsiteY2"/>
                    </a:cxn>
                    <a:cxn ang="0">
                      <a:pos x="connsiteX3" y="connsiteY3"/>
                    </a:cxn>
                  </a:cxnLst>
                  <a:rect l="l" t="t" r="r" b="b"/>
                  <a:pathLst>
                    <a:path w="277318" h="149901">
                      <a:moveTo>
                        <a:pt x="0" y="0"/>
                      </a:moveTo>
                      <a:lnTo>
                        <a:pt x="0" y="149901"/>
                      </a:lnTo>
                      <a:lnTo>
                        <a:pt x="277318" y="149901"/>
                      </a:lnTo>
                      <a:lnTo>
                        <a:pt x="277318" y="7495"/>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50" name="28 Flecha derecha">
                  <a:extLst>
                    <a:ext uri="{FF2B5EF4-FFF2-40B4-BE49-F238E27FC236}">
                      <a16:creationId xmlns:a16="http://schemas.microsoft.com/office/drawing/2014/main" id="{725E7255-CE96-4F49-9D93-BA198CAA276C}"/>
                    </a:ext>
                  </a:extLst>
                </p:cNvPr>
                <p:cNvSpPr/>
                <p:nvPr/>
              </p:nvSpPr>
              <p:spPr>
                <a:xfrm rot="16200000">
                  <a:off x="7859119" y="2788410"/>
                  <a:ext cx="238792" cy="19662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grpSp>
          <p:grpSp>
            <p:nvGrpSpPr>
              <p:cNvPr id="51" name="Grupo 50">
                <a:extLst>
                  <a:ext uri="{FF2B5EF4-FFF2-40B4-BE49-F238E27FC236}">
                    <a16:creationId xmlns:a16="http://schemas.microsoft.com/office/drawing/2014/main" id="{BBF8B4BE-D415-184B-A541-4D5FD0F3EDF3}"/>
                  </a:ext>
                </a:extLst>
              </p:cNvPr>
              <p:cNvGrpSpPr/>
              <p:nvPr/>
            </p:nvGrpSpPr>
            <p:grpSpPr>
              <a:xfrm>
                <a:off x="6678843" y="1747360"/>
                <a:ext cx="439207" cy="275197"/>
                <a:chOff x="3514628" y="3539211"/>
                <a:chExt cx="537557" cy="336821"/>
              </a:xfrm>
            </p:grpSpPr>
            <p:sp>
              <p:nvSpPr>
                <p:cNvPr id="56" name="Triángulo 55">
                  <a:extLst>
                    <a:ext uri="{FF2B5EF4-FFF2-40B4-BE49-F238E27FC236}">
                      <a16:creationId xmlns:a16="http://schemas.microsoft.com/office/drawing/2014/main" id="{5836AD42-C878-774D-A362-667B2B2BE2B5}"/>
                    </a:ext>
                  </a:extLst>
                </p:cNvPr>
                <p:cNvSpPr/>
                <p:nvPr/>
              </p:nvSpPr>
              <p:spPr>
                <a:xfrm rot="5400000">
                  <a:off x="3514857" y="3538982"/>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57" name="Conector recto 56">
                  <a:extLst>
                    <a:ext uri="{FF2B5EF4-FFF2-40B4-BE49-F238E27FC236}">
                      <a16:creationId xmlns:a16="http://schemas.microsoft.com/office/drawing/2014/main" id="{45DF02BA-C5F2-D242-9227-1312FAB0042C}"/>
                    </a:ext>
                  </a:extLst>
                </p:cNvPr>
                <p:cNvCxnSpPr/>
                <p:nvPr/>
              </p:nvCxnSpPr>
              <p:spPr>
                <a:xfrm>
                  <a:off x="3656898" y="3583952"/>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58" name="Triángulo 57">
                  <a:extLst>
                    <a:ext uri="{FF2B5EF4-FFF2-40B4-BE49-F238E27FC236}">
                      <a16:creationId xmlns:a16="http://schemas.microsoft.com/office/drawing/2014/main" id="{7ED35925-136E-5046-B284-C338971BAC29}"/>
                    </a:ext>
                  </a:extLst>
                </p:cNvPr>
                <p:cNvSpPr/>
                <p:nvPr/>
              </p:nvSpPr>
              <p:spPr>
                <a:xfrm rot="5400000">
                  <a:off x="3514857" y="3666399"/>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59" name="Conector recto 58">
                  <a:extLst>
                    <a:ext uri="{FF2B5EF4-FFF2-40B4-BE49-F238E27FC236}">
                      <a16:creationId xmlns:a16="http://schemas.microsoft.com/office/drawing/2014/main" id="{30BD6E9B-7759-BD42-858B-9A27762DB4EC}"/>
                    </a:ext>
                  </a:extLst>
                </p:cNvPr>
                <p:cNvCxnSpPr/>
                <p:nvPr/>
              </p:nvCxnSpPr>
              <p:spPr>
                <a:xfrm>
                  <a:off x="3656898" y="3711369"/>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riángulo 59">
                  <a:extLst>
                    <a:ext uri="{FF2B5EF4-FFF2-40B4-BE49-F238E27FC236}">
                      <a16:creationId xmlns:a16="http://schemas.microsoft.com/office/drawing/2014/main" id="{ECC58AA9-15F8-C748-AF39-D4664FB4A090}"/>
                    </a:ext>
                  </a:extLst>
                </p:cNvPr>
                <p:cNvSpPr/>
                <p:nvPr/>
              </p:nvSpPr>
              <p:spPr>
                <a:xfrm rot="5400000">
                  <a:off x="3514857" y="3786320"/>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61" name="Conector recto 60">
                  <a:extLst>
                    <a:ext uri="{FF2B5EF4-FFF2-40B4-BE49-F238E27FC236}">
                      <a16:creationId xmlns:a16="http://schemas.microsoft.com/office/drawing/2014/main" id="{52979C93-753D-1741-9ADD-66BBEDFB5A08}"/>
                    </a:ext>
                  </a:extLst>
                </p:cNvPr>
                <p:cNvCxnSpPr/>
                <p:nvPr/>
              </p:nvCxnSpPr>
              <p:spPr>
                <a:xfrm>
                  <a:off x="3656898" y="3831290"/>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53" name="Imagen 52">
                <a:extLst>
                  <a:ext uri="{FF2B5EF4-FFF2-40B4-BE49-F238E27FC236}">
                    <a16:creationId xmlns:a16="http://schemas.microsoft.com/office/drawing/2014/main" id="{207CCEF8-66AB-AB4D-AB06-FEEFEBACABA0}"/>
                  </a:ext>
                </a:extLst>
              </p:cNvPr>
              <p:cNvPicPr>
                <a:picLocks noChangeAspect="1"/>
              </p:cNvPicPr>
              <p:nvPr/>
            </p:nvPicPr>
            <p:blipFill>
              <a:blip r:embed="rId6"/>
              <a:stretch>
                <a:fillRect/>
              </a:stretch>
            </p:blipFill>
            <p:spPr>
              <a:xfrm>
                <a:off x="5754218" y="3605159"/>
                <a:ext cx="353939" cy="307283"/>
              </a:xfrm>
              <a:prstGeom prst="rect">
                <a:avLst/>
              </a:prstGeom>
            </p:spPr>
          </p:pic>
          <p:pic>
            <p:nvPicPr>
              <p:cNvPr id="54" name="Imagen 53">
                <a:extLst>
                  <a:ext uri="{FF2B5EF4-FFF2-40B4-BE49-F238E27FC236}">
                    <a16:creationId xmlns:a16="http://schemas.microsoft.com/office/drawing/2014/main" id="{BB30E9F9-E48D-AC4E-8683-3F4A58280D48}"/>
                  </a:ext>
                </a:extLst>
              </p:cNvPr>
              <p:cNvPicPr>
                <a:picLocks noChangeAspect="1"/>
              </p:cNvPicPr>
              <p:nvPr/>
            </p:nvPicPr>
            <p:blipFill>
              <a:blip r:embed="rId7"/>
              <a:stretch>
                <a:fillRect/>
              </a:stretch>
            </p:blipFill>
            <p:spPr>
              <a:xfrm>
                <a:off x="5663197" y="2372888"/>
                <a:ext cx="303298" cy="306953"/>
              </a:xfrm>
              <a:prstGeom prst="rect">
                <a:avLst/>
              </a:prstGeom>
            </p:spPr>
          </p:pic>
          <p:sp>
            <p:nvSpPr>
              <p:cNvPr id="55" name="Google Shape;228;p20">
                <a:extLst>
                  <a:ext uri="{FF2B5EF4-FFF2-40B4-BE49-F238E27FC236}">
                    <a16:creationId xmlns:a16="http://schemas.microsoft.com/office/drawing/2014/main" id="{57D00279-68C3-7A49-91B9-8D26D451A9CD}"/>
                  </a:ext>
                </a:extLst>
              </p:cNvPr>
              <p:cNvSpPr/>
              <p:nvPr/>
            </p:nvSpPr>
            <p:spPr>
              <a:xfrm>
                <a:off x="6067263" y="3037734"/>
                <a:ext cx="1717466" cy="4001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PRUEBAS DE </a:t>
                </a:r>
              </a:p>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RENDIMIENTO</a:t>
                </a:r>
                <a:endParaRPr sz="1300" b="1" dirty="0">
                  <a:solidFill>
                    <a:schemeClr val="dk1"/>
                  </a:solidFill>
                  <a:latin typeface="Graphik Bold" panose="020B0503030202060203" pitchFamily="34" charset="77"/>
                  <a:ea typeface="Calibri"/>
                  <a:cs typeface="Calibri"/>
                  <a:sym typeface="Calibri"/>
                </a:endParaRPr>
              </a:p>
            </p:txBody>
          </p:sp>
          <p:grpSp>
            <p:nvGrpSpPr>
              <p:cNvPr id="72" name="Grupo 71">
                <a:extLst>
                  <a:ext uri="{FF2B5EF4-FFF2-40B4-BE49-F238E27FC236}">
                    <a16:creationId xmlns:a16="http://schemas.microsoft.com/office/drawing/2014/main" id="{CF2456E2-3CE8-4B43-83D4-B72A2642AA99}"/>
                  </a:ext>
                </a:extLst>
              </p:cNvPr>
              <p:cNvGrpSpPr/>
              <p:nvPr/>
            </p:nvGrpSpPr>
            <p:grpSpPr>
              <a:xfrm>
                <a:off x="7736365" y="3752556"/>
                <a:ext cx="294564" cy="419916"/>
                <a:chOff x="7736365" y="3752556"/>
                <a:chExt cx="294564" cy="419916"/>
              </a:xfrm>
            </p:grpSpPr>
            <p:pic>
              <p:nvPicPr>
                <p:cNvPr id="37" name="Imagen 36">
                  <a:extLst>
                    <a:ext uri="{FF2B5EF4-FFF2-40B4-BE49-F238E27FC236}">
                      <a16:creationId xmlns:a16="http://schemas.microsoft.com/office/drawing/2014/main" id="{D3B1ABB6-B22D-9B4F-95F1-0752C8A41539}"/>
                    </a:ext>
                  </a:extLst>
                </p:cNvPr>
                <p:cNvPicPr>
                  <a:picLocks noChangeAspect="1"/>
                </p:cNvPicPr>
                <p:nvPr/>
              </p:nvPicPr>
              <p:blipFill>
                <a:blip r:embed="rId8"/>
                <a:stretch>
                  <a:fillRect/>
                </a:stretch>
              </p:blipFill>
              <p:spPr>
                <a:xfrm>
                  <a:off x="7736365" y="3883684"/>
                  <a:ext cx="294564" cy="288788"/>
                </a:xfrm>
                <a:prstGeom prst="rect">
                  <a:avLst/>
                </a:prstGeom>
              </p:spPr>
            </p:pic>
            <p:sp>
              <p:nvSpPr>
                <p:cNvPr id="39" name="Triángulo 38">
                  <a:extLst>
                    <a:ext uri="{FF2B5EF4-FFF2-40B4-BE49-F238E27FC236}">
                      <a16:creationId xmlns:a16="http://schemas.microsoft.com/office/drawing/2014/main" id="{6A58A475-10D8-4943-ABC1-C3003E6044D9}"/>
                    </a:ext>
                  </a:extLst>
                </p:cNvPr>
                <p:cNvSpPr/>
                <p:nvPr/>
              </p:nvSpPr>
              <p:spPr>
                <a:xfrm>
                  <a:off x="7751290" y="3752556"/>
                  <a:ext cx="246200" cy="1063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73" name="Imagen 72">
                <a:extLst>
                  <a:ext uri="{FF2B5EF4-FFF2-40B4-BE49-F238E27FC236}">
                    <a16:creationId xmlns:a16="http://schemas.microsoft.com/office/drawing/2014/main" id="{73DD302C-2334-FF40-8A74-1B9A15BD3AF2}"/>
                  </a:ext>
                </a:extLst>
              </p:cNvPr>
              <p:cNvPicPr>
                <a:picLocks noChangeAspect="1"/>
              </p:cNvPicPr>
              <p:nvPr/>
            </p:nvPicPr>
            <p:blipFill>
              <a:blip r:embed="rId9"/>
              <a:stretch>
                <a:fillRect/>
              </a:stretch>
            </p:blipFill>
            <p:spPr>
              <a:xfrm>
                <a:off x="6418162" y="4395532"/>
                <a:ext cx="364062" cy="293479"/>
              </a:xfrm>
              <a:prstGeom prst="rect">
                <a:avLst/>
              </a:prstGeom>
            </p:spPr>
          </p:pic>
        </p:gr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6" name="Rectangle 5">
            <a:extLst>
              <a:ext uri="{FF2B5EF4-FFF2-40B4-BE49-F238E27FC236}">
                <a16:creationId xmlns:a16="http://schemas.microsoft.com/office/drawing/2014/main" id="{3ED38F10-9E61-2D43-99BA-BDF7A2AA2C5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Google Shape;228;p20">
            <a:extLst>
              <a:ext uri="{FF2B5EF4-FFF2-40B4-BE49-F238E27FC236}">
                <a16:creationId xmlns:a16="http://schemas.microsoft.com/office/drawing/2014/main" id="{9CEBF716-2764-9344-BA12-3BD267EA74A8}"/>
              </a:ext>
            </a:extLst>
          </p:cNvPr>
          <p:cNvSpPr/>
          <p:nvPr/>
        </p:nvSpPr>
        <p:spPr>
          <a:xfrm>
            <a:off x="503238" y="971134"/>
            <a:ext cx="8172450"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REQUERIMIENTOS DEL SISTEMA</a:t>
            </a:r>
            <a:endParaRPr sz="1600" b="1" dirty="0">
              <a:solidFill>
                <a:schemeClr val="dk1"/>
              </a:solidFill>
              <a:latin typeface="Calibri"/>
              <a:ea typeface="Calibri"/>
              <a:cs typeface="Calibri"/>
              <a:sym typeface="Calibri"/>
            </a:endParaRPr>
          </a:p>
        </p:txBody>
      </p:sp>
      <p:grpSp>
        <p:nvGrpSpPr>
          <p:cNvPr id="8" name="Grupo 7">
            <a:extLst>
              <a:ext uri="{FF2B5EF4-FFF2-40B4-BE49-F238E27FC236}">
                <a16:creationId xmlns:a16="http://schemas.microsoft.com/office/drawing/2014/main" id="{92AAE51E-1C5E-0D44-A842-096D2D612316}"/>
              </a:ext>
            </a:extLst>
          </p:cNvPr>
          <p:cNvGrpSpPr/>
          <p:nvPr/>
        </p:nvGrpSpPr>
        <p:grpSpPr>
          <a:xfrm>
            <a:off x="714834" y="1464733"/>
            <a:ext cx="7714331" cy="3539596"/>
            <a:chOff x="778573" y="1464733"/>
            <a:chExt cx="7714331" cy="3539596"/>
          </a:xfrm>
        </p:grpSpPr>
        <p:grpSp>
          <p:nvGrpSpPr>
            <p:cNvPr id="9" name="Grupo 8">
              <a:extLst>
                <a:ext uri="{FF2B5EF4-FFF2-40B4-BE49-F238E27FC236}">
                  <a16:creationId xmlns:a16="http://schemas.microsoft.com/office/drawing/2014/main" id="{923FA8CD-6781-1C4C-B861-6A377F3E11AC}"/>
                </a:ext>
              </a:extLst>
            </p:cNvPr>
            <p:cNvGrpSpPr/>
            <p:nvPr/>
          </p:nvGrpSpPr>
          <p:grpSpPr>
            <a:xfrm>
              <a:off x="778573" y="1464733"/>
              <a:ext cx="3442761" cy="3539596"/>
              <a:chOff x="949852" y="1464733"/>
              <a:chExt cx="3442761" cy="3539596"/>
            </a:xfrm>
          </p:grpSpPr>
          <p:grpSp>
            <p:nvGrpSpPr>
              <p:cNvPr id="45" name="Grupo 44">
                <a:extLst>
                  <a:ext uri="{FF2B5EF4-FFF2-40B4-BE49-F238E27FC236}">
                    <a16:creationId xmlns:a16="http://schemas.microsoft.com/office/drawing/2014/main" id="{3EE52F8D-451C-E046-AE0A-FE9A182E09EE}"/>
                  </a:ext>
                </a:extLst>
              </p:cNvPr>
              <p:cNvGrpSpPr/>
              <p:nvPr/>
            </p:nvGrpSpPr>
            <p:grpSpPr>
              <a:xfrm>
                <a:off x="949852" y="1464733"/>
                <a:ext cx="3442761" cy="3539596"/>
                <a:chOff x="553509" y="1273708"/>
                <a:chExt cx="3743851" cy="3849155"/>
              </a:xfrm>
            </p:grpSpPr>
            <p:grpSp>
              <p:nvGrpSpPr>
                <p:cNvPr id="66" name="Grupo 65">
                  <a:extLst>
                    <a:ext uri="{FF2B5EF4-FFF2-40B4-BE49-F238E27FC236}">
                      <a16:creationId xmlns:a16="http://schemas.microsoft.com/office/drawing/2014/main" id="{F57454CF-48D8-C248-A6B1-4E2AA58EFA5C}"/>
                    </a:ext>
                  </a:extLst>
                </p:cNvPr>
                <p:cNvGrpSpPr/>
                <p:nvPr/>
              </p:nvGrpSpPr>
              <p:grpSpPr>
                <a:xfrm>
                  <a:off x="738859" y="1490096"/>
                  <a:ext cx="3393016" cy="3393016"/>
                  <a:chOff x="738859" y="1490096"/>
                  <a:chExt cx="3393016" cy="3393016"/>
                </a:xfrm>
              </p:grpSpPr>
              <p:pic>
                <p:nvPicPr>
                  <p:cNvPr id="74" name="Imagen 73">
                    <a:extLst>
                      <a:ext uri="{FF2B5EF4-FFF2-40B4-BE49-F238E27FC236}">
                        <a16:creationId xmlns:a16="http://schemas.microsoft.com/office/drawing/2014/main" id="{DF47097B-36FE-1A4D-84EF-E1F5F4B848D6}"/>
                      </a:ext>
                    </a:extLst>
                  </p:cNvPr>
                  <p:cNvPicPr>
                    <a:picLocks noChangeAspect="1"/>
                  </p:cNvPicPr>
                  <p:nvPr/>
                </p:nvPicPr>
                <p:blipFill>
                  <a:blip r:embed="rId3"/>
                  <a:stretch>
                    <a:fillRect/>
                  </a:stretch>
                </p:blipFill>
                <p:spPr>
                  <a:xfrm>
                    <a:off x="738859" y="1490096"/>
                    <a:ext cx="3393016" cy="3393016"/>
                  </a:xfrm>
                  <a:prstGeom prst="rect">
                    <a:avLst/>
                  </a:prstGeom>
                </p:spPr>
              </p:pic>
              <p:sp>
                <p:nvSpPr>
                  <p:cNvPr id="75" name="Elipse 74">
                    <a:extLst>
                      <a:ext uri="{FF2B5EF4-FFF2-40B4-BE49-F238E27FC236}">
                        <a16:creationId xmlns:a16="http://schemas.microsoft.com/office/drawing/2014/main" id="{F1E0652D-19F2-AE4C-965A-C4AE06B2BC7E}"/>
                      </a:ext>
                    </a:extLst>
                  </p:cNvPr>
                  <p:cNvSpPr/>
                  <p:nvPr/>
                </p:nvSpPr>
                <p:spPr>
                  <a:xfrm>
                    <a:off x="1749568" y="2459063"/>
                    <a:ext cx="1505478" cy="1505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67" name="Elipse 66">
                  <a:extLst>
                    <a:ext uri="{FF2B5EF4-FFF2-40B4-BE49-F238E27FC236}">
                      <a16:creationId xmlns:a16="http://schemas.microsoft.com/office/drawing/2014/main" id="{36945744-118C-D04A-A576-20968E42FEA3}"/>
                    </a:ext>
                  </a:extLst>
                </p:cNvPr>
                <p:cNvSpPr/>
                <p:nvPr/>
              </p:nvSpPr>
              <p:spPr>
                <a:xfrm>
                  <a:off x="553509" y="1327682"/>
                  <a:ext cx="3743851" cy="3743851"/>
                </a:xfrm>
                <a:prstGeom prst="ellipse">
                  <a:avLst/>
                </a:prstGeom>
                <a:noFill/>
                <a:ln w="15875">
                  <a:solidFill>
                    <a:srgbClr val="D9D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Elipse 67">
                  <a:extLst>
                    <a:ext uri="{FF2B5EF4-FFF2-40B4-BE49-F238E27FC236}">
                      <a16:creationId xmlns:a16="http://schemas.microsoft.com/office/drawing/2014/main" id="{CA941298-FE10-0A4F-B12A-9CEA78F127F9}"/>
                    </a:ext>
                  </a:extLst>
                </p:cNvPr>
                <p:cNvSpPr/>
                <p:nvPr/>
              </p:nvSpPr>
              <p:spPr>
                <a:xfrm>
                  <a:off x="2111377" y="1273708"/>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9" name="Elipse 68">
                  <a:extLst>
                    <a:ext uri="{FF2B5EF4-FFF2-40B4-BE49-F238E27FC236}">
                      <a16:creationId xmlns:a16="http://schemas.microsoft.com/office/drawing/2014/main" id="{C28B75E3-5AF0-CC46-AAC8-2B036E6CEDF4}"/>
                    </a:ext>
                  </a:extLst>
                </p:cNvPr>
                <p:cNvSpPr/>
                <p:nvPr/>
              </p:nvSpPr>
              <p:spPr>
                <a:xfrm>
                  <a:off x="3830111" y="19764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0" name="Elipse 69">
                  <a:extLst>
                    <a:ext uri="{FF2B5EF4-FFF2-40B4-BE49-F238E27FC236}">
                      <a16:creationId xmlns:a16="http://schemas.microsoft.com/office/drawing/2014/main" id="{E386E5F7-1D68-D24E-B94E-C0DC4A33AB40}"/>
                    </a:ext>
                  </a:extLst>
                </p:cNvPr>
                <p:cNvSpPr/>
                <p:nvPr/>
              </p:nvSpPr>
              <p:spPr>
                <a:xfrm>
                  <a:off x="4075645" y="38560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1" name="Elipse 70">
                  <a:extLst>
                    <a:ext uri="{FF2B5EF4-FFF2-40B4-BE49-F238E27FC236}">
                      <a16:creationId xmlns:a16="http://schemas.microsoft.com/office/drawing/2014/main" id="{703AEECF-956F-A44B-B2E2-96933C6BD806}"/>
                    </a:ext>
                  </a:extLst>
                </p:cNvPr>
                <p:cNvSpPr/>
                <p:nvPr/>
              </p:nvSpPr>
              <p:spPr>
                <a:xfrm>
                  <a:off x="2585512" y="4990574"/>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2" name="Elipse 71">
                  <a:extLst>
                    <a:ext uri="{FF2B5EF4-FFF2-40B4-BE49-F238E27FC236}">
                      <a16:creationId xmlns:a16="http://schemas.microsoft.com/office/drawing/2014/main" id="{15F47E2B-1746-B84F-9498-B904187A7686}"/>
                    </a:ext>
                  </a:extLst>
                </p:cNvPr>
                <p:cNvSpPr/>
                <p:nvPr/>
              </p:nvSpPr>
              <p:spPr>
                <a:xfrm>
                  <a:off x="849846" y="42878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3" name="Elipse 72">
                  <a:extLst>
                    <a:ext uri="{FF2B5EF4-FFF2-40B4-BE49-F238E27FC236}">
                      <a16:creationId xmlns:a16="http://schemas.microsoft.com/office/drawing/2014/main" id="{F605D322-9C7F-CB4D-BA0B-F08CBDB8088B}"/>
                    </a:ext>
                  </a:extLst>
                </p:cNvPr>
                <p:cNvSpPr/>
                <p:nvPr/>
              </p:nvSpPr>
              <p:spPr>
                <a:xfrm>
                  <a:off x="612779" y="24336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46" name="Google Shape;228;p20">
                <a:extLst>
                  <a:ext uri="{FF2B5EF4-FFF2-40B4-BE49-F238E27FC236}">
                    <a16:creationId xmlns:a16="http://schemas.microsoft.com/office/drawing/2014/main" id="{EED61D8F-D0FA-524E-98AA-79B33B18F5F8}"/>
                  </a:ext>
                </a:extLst>
              </p:cNvPr>
              <p:cNvSpPr/>
              <p:nvPr/>
            </p:nvSpPr>
            <p:spPr>
              <a:xfrm>
                <a:off x="2073762" y="1845348"/>
                <a:ext cx="920130" cy="61555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MEDIR LA CONFIDENCIALIDAD, INTEGRIDAD Y DISPONIBILIDAD </a:t>
                </a:r>
                <a:br>
                  <a:rPr lang="es-PE" sz="800" b="1" dirty="0">
                    <a:solidFill>
                      <a:schemeClr val="bg1"/>
                    </a:solidFill>
                    <a:latin typeface="Calibri"/>
                    <a:ea typeface="Calibri"/>
                    <a:cs typeface="Calibri"/>
                    <a:sym typeface="Calibri"/>
                  </a:rPr>
                </a:br>
                <a:r>
                  <a:rPr lang="es-PE" sz="800" b="1" dirty="0">
                    <a:solidFill>
                      <a:schemeClr val="bg1"/>
                    </a:solidFill>
                    <a:latin typeface="Calibri"/>
                    <a:ea typeface="Calibri"/>
                    <a:cs typeface="Calibri"/>
                    <a:sym typeface="Calibri"/>
                  </a:rPr>
                  <a:t>DE LOS DATOS</a:t>
                </a:r>
                <a:endParaRPr sz="800" b="1" dirty="0">
                  <a:solidFill>
                    <a:schemeClr val="bg1"/>
                  </a:solidFill>
                  <a:latin typeface="Calibri"/>
                  <a:ea typeface="Calibri"/>
                  <a:cs typeface="Calibri"/>
                  <a:sym typeface="Calibri"/>
                </a:endParaRPr>
              </a:p>
            </p:txBody>
          </p:sp>
          <p:sp>
            <p:nvSpPr>
              <p:cNvPr id="47" name="Google Shape;228;p20">
                <a:extLst>
                  <a:ext uri="{FF2B5EF4-FFF2-40B4-BE49-F238E27FC236}">
                    <a16:creationId xmlns:a16="http://schemas.microsoft.com/office/drawing/2014/main" id="{568F9C36-654A-E741-8772-CCBD5F479E78}"/>
                  </a:ext>
                </a:extLst>
              </p:cNvPr>
              <p:cNvSpPr/>
              <p:nvPr/>
            </p:nvSpPr>
            <p:spPr>
              <a:xfrm>
                <a:off x="3026269" y="2229189"/>
                <a:ext cx="90413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800" b="1" dirty="0">
                    <a:solidFill>
                      <a:schemeClr val="bg1"/>
                    </a:solidFill>
                    <a:latin typeface="Calibri"/>
                    <a:ea typeface="Calibri"/>
                    <a:cs typeface="Calibri"/>
                    <a:sym typeface="Calibri"/>
                  </a:rPr>
                  <a:t>IDENTIFICAR POSIBLES AMENAZAS Y RIESGOS A NIVEL DE APLICACIÓN</a:t>
                </a:r>
                <a:endParaRPr sz="800" b="1" dirty="0">
                  <a:solidFill>
                    <a:schemeClr val="bg1"/>
                  </a:solidFill>
                  <a:latin typeface="Calibri"/>
                  <a:ea typeface="Calibri"/>
                  <a:cs typeface="Calibri"/>
                  <a:sym typeface="Calibri"/>
                </a:endParaRPr>
              </a:p>
            </p:txBody>
          </p:sp>
          <p:sp>
            <p:nvSpPr>
              <p:cNvPr id="48" name="Google Shape;228;p20">
                <a:extLst>
                  <a:ext uri="{FF2B5EF4-FFF2-40B4-BE49-F238E27FC236}">
                    <a16:creationId xmlns:a16="http://schemas.microsoft.com/office/drawing/2014/main" id="{ECF3B594-E0EF-114C-A36E-9012FB301787}"/>
                  </a:ext>
                </a:extLst>
              </p:cNvPr>
              <p:cNvSpPr/>
              <p:nvPr/>
            </p:nvSpPr>
            <p:spPr>
              <a:xfrm>
                <a:off x="3478334" y="3358937"/>
                <a:ext cx="665121" cy="49244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ESTABLECER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UMBRALES Y CRITERIOS DE ACEPTACIÓN</a:t>
                </a:r>
                <a:endParaRPr sz="800" b="1" dirty="0">
                  <a:solidFill>
                    <a:schemeClr val="bg1"/>
                  </a:solidFill>
                  <a:latin typeface="Calibri"/>
                  <a:ea typeface="Calibri"/>
                  <a:cs typeface="Calibri"/>
                  <a:sym typeface="Calibri"/>
                </a:endParaRPr>
              </a:p>
            </p:txBody>
          </p:sp>
          <p:sp>
            <p:nvSpPr>
              <p:cNvPr id="49" name="Google Shape;228;p20">
                <a:extLst>
                  <a:ext uri="{FF2B5EF4-FFF2-40B4-BE49-F238E27FC236}">
                    <a16:creationId xmlns:a16="http://schemas.microsoft.com/office/drawing/2014/main" id="{BF24176F-0D99-0748-A693-C64108402989}"/>
                  </a:ext>
                </a:extLst>
              </p:cNvPr>
              <p:cNvSpPr/>
              <p:nvPr/>
            </p:nvSpPr>
            <p:spPr>
              <a:xfrm>
                <a:off x="2491798" y="4088516"/>
                <a:ext cx="871532" cy="53860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700" b="1" dirty="0">
                    <a:solidFill>
                      <a:schemeClr val="bg1"/>
                    </a:solidFill>
                    <a:latin typeface="Calibri"/>
                    <a:ea typeface="Calibri"/>
                    <a:cs typeface="Calibri"/>
                    <a:sym typeface="Calibri"/>
                  </a:rPr>
                  <a:t>IDENTIFICAR VULNERABILIDAD </a:t>
                </a:r>
                <a:br>
                  <a:rPr lang="es-PE" sz="700" b="1" dirty="0">
                    <a:solidFill>
                      <a:schemeClr val="bg1"/>
                    </a:solidFill>
                    <a:latin typeface="Calibri"/>
                    <a:ea typeface="Calibri"/>
                    <a:cs typeface="Calibri"/>
                    <a:sym typeface="Calibri"/>
                  </a:rPr>
                </a:br>
                <a:r>
                  <a:rPr lang="es-PE" sz="700" b="1" dirty="0">
                    <a:solidFill>
                      <a:schemeClr val="bg1"/>
                    </a:solidFill>
                    <a:latin typeface="Calibri"/>
                    <a:ea typeface="Calibri"/>
                    <a:cs typeface="Calibri"/>
                    <a:sym typeface="Calibri"/>
                  </a:rPr>
                  <a:t>Y PUNTOS DE </a:t>
                </a:r>
                <a:br>
                  <a:rPr lang="es-PE" sz="700" b="1" dirty="0">
                    <a:solidFill>
                      <a:schemeClr val="bg1"/>
                    </a:solidFill>
                    <a:latin typeface="Calibri"/>
                    <a:ea typeface="Calibri"/>
                    <a:cs typeface="Calibri"/>
                    <a:sym typeface="Calibri"/>
                  </a:rPr>
                </a:br>
                <a:r>
                  <a:rPr lang="es-PE" sz="700" b="1" dirty="0">
                    <a:solidFill>
                      <a:schemeClr val="bg1"/>
                    </a:solidFill>
                    <a:latin typeface="Calibri"/>
                    <a:ea typeface="Calibri"/>
                    <a:cs typeface="Calibri"/>
                    <a:sym typeface="Calibri"/>
                  </a:rPr>
                  <a:t>ACCESO A NIVEL DE INFRAESTRUCTURA</a:t>
                </a:r>
                <a:endParaRPr sz="700" b="1" dirty="0">
                  <a:solidFill>
                    <a:schemeClr val="bg1"/>
                  </a:solidFill>
                  <a:latin typeface="Calibri"/>
                  <a:ea typeface="Calibri"/>
                  <a:cs typeface="Calibri"/>
                  <a:sym typeface="Calibri"/>
                </a:endParaRPr>
              </a:p>
            </p:txBody>
          </p:sp>
          <p:sp>
            <p:nvSpPr>
              <p:cNvPr id="50" name="Google Shape;228;p20">
                <a:extLst>
                  <a:ext uri="{FF2B5EF4-FFF2-40B4-BE49-F238E27FC236}">
                    <a16:creationId xmlns:a16="http://schemas.microsoft.com/office/drawing/2014/main" id="{7E697A7A-5FB0-6F49-9DC6-F93F3702CFF1}"/>
                  </a:ext>
                </a:extLst>
              </p:cNvPr>
              <p:cNvSpPr/>
              <p:nvPr/>
            </p:nvSpPr>
            <p:spPr>
              <a:xfrm>
                <a:off x="1434620" y="3694246"/>
                <a:ext cx="874178"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800" b="1" dirty="0">
                    <a:solidFill>
                      <a:schemeClr val="bg1"/>
                    </a:solidFill>
                    <a:latin typeface="Calibri"/>
                    <a:ea typeface="Calibri"/>
                    <a:cs typeface="Calibri"/>
                    <a:sym typeface="Calibri"/>
                  </a:rPr>
                  <a:t>ANALIZAR </a:t>
                </a:r>
              </a:p>
              <a:p>
                <a:pPr marL="0" marR="0" lvl="0" indent="0" algn="ctr" rtl="0">
                  <a:spcBef>
                    <a:spcPts val="0"/>
                  </a:spcBef>
                  <a:spcAft>
                    <a:spcPts val="0"/>
                  </a:spcAft>
                  <a:buNone/>
                </a:pPr>
                <a:r>
                  <a:rPr lang="es-PE" sz="800" b="1" dirty="0">
                    <a:solidFill>
                      <a:schemeClr val="bg1"/>
                    </a:solidFill>
                    <a:latin typeface="Calibri"/>
                    <a:ea typeface="Calibri"/>
                    <a:cs typeface="Calibri"/>
                    <a:sym typeface="Calibri"/>
                  </a:rPr>
                  <a:t>IMPACTO DE NO CUMPLIMIENTO SOBRE EL NEGOCIO</a:t>
                </a:r>
                <a:endParaRPr sz="800" b="1" dirty="0">
                  <a:solidFill>
                    <a:schemeClr val="bg1"/>
                  </a:solidFill>
                  <a:latin typeface="Calibri"/>
                  <a:ea typeface="Calibri"/>
                  <a:cs typeface="Calibri"/>
                  <a:sym typeface="Calibri"/>
                </a:endParaRPr>
              </a:p>
            </p:txBody>
          </p:sp>
          <p:sp>
            <p:nvSpPr>
              <p:cNvPr id="51" name="Google Shape;228;p20">
                <a:extLst>
                  <a:ext uri="{FF2B5EF4-FFF2-40B4-BE49-F238E27FC236}">
                    <a16:creationId xmlns:a16="http://schemas.microsoft.com/office/drawing/2014/main" id="{B58E36C1-7C34-AE4E-8DC6-90BE050BC006}"/>
                  </a:ext>
                </a:extLst>
              </p:cNvPr>
              <p:cNvSpPr/>
              <p:nvPr/>
            </p:nvSpPr>
            <p:spPr>
              <a:xfrm>
                <a:off x="1278450" y="2646971"/>
                <a:ext cx="829394" cy="615553"/>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IMPLEMENTAR BUENAS PRACTICAS </a:t>
                </a:r>
                <a:br>
                  <a:rPr lang="es-PE" sz="800" b="1" dirty="0">
                    <a:solidFill>
                      <a:schemeClr val="bg1"/>
                    </a:solidFill>
                    <a:latin typeface="Calibri"/>
                    <a:ea typeface="Calibri"/>
                    <a:cs typeface="Calibri"/>
                    <a:sym typeface="Calibri"/>
                  </a:rPr>
                </a:br>
                <a:r>
                  <a:rPr lang="es-PE" sz="800" b="1" dirty="0">
                    <a:solidFill>
                      <a:schemeClr val="bg1"/>
                    </a:solidFill>
                    <a:latin typeface="Calibri"/>
                    <a:ea typeface="Calibri"/>
                    <a:cs typeface="Calibri"/>
                    <a:sym typeface="Calibri"/>
                  </a:rPr>
                  <a:t>PARA PREVENIR ATAQUES</a:t>
                </a:r>
              </a:p>
            </p:txBody>
          </p:sp>
          <p:sp>
            <p:nvSpPr>
              <p:cNvPr id="59" name="Google Shape;228;p20">
                <a:extLst>
                  <a:ext uri="{FF2B5EF4-FFF2-40B4-BE49-F238E27FC236}">
                    <a16:creationId xmlns:a16="http://schemas.microsoft.com/office/drawing/2014/main" id="{9F8E6F24-334E-5A4C-B65F-231A6F121937}"/>
                  </a:ext>
                </a:extLst>
              </p:cNvPr>
              <p:cNvSpPr/>
              <p:nvPr/>
            </p:nvSpPr>
            <p:spPr>
              <a:xfrm>
                <a:off x="1892502" y="3037734"/>
                <a:ext cx="1717466" cy="40011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PRUEBAS DE </a:t>
                </a:r>
              </a:p>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SEGURIDAD</a:t>
                </a:r>
                <a:endParaRPr sz="1300" b="1" dirty="0">
                  <a:solidFill>
                    <a:schemeClr val="dk1"/>
                  </a:solidFill>
                  <a:latin typeface="Graphik Bold" panose="020B0503030202060203" pitchFamily="34" charset="77"/>
                  <a:ea typeface="Calibri"/>
                  <a:cs typeface="Calibri"/>
                  <a:sym typeface="Calibri"/>
                </a:endParaRPr>
              </a:p>
            </p:txBody>
          </p:sp>
        </p:grpSp>
        <p:grpSp>
          <p:nvGrpSpPr>
            <p:cNvPr id="10" name="Grupo 9">
              <a:extLst>
                <a:ext uri="{FF2B5EF4-FFF2-40B4-BE49-F238E27FC236}">
                  <a16:creationId xmlns:a16="http://schemas.microsoft.com/office/drawing/2014/main" id="{DC103BA8-03CA-184C-BFAB-509A25BC3432}"/>
                </a:ext>
              </a:extLst>
            </p:cNvPr>
            <p:cNvGrpSpPr/>
            <p:nvPr/>
          </p:nvGrpSpPr>
          <p:grpSpPr>
            <a:xfrm>
              <a:off x="5050143" y="1464733"/>
              <a:ext cx="3442761" cy="3539596"/>
              <a:chOff x="5124613" y="1464733"/>
              <a:chExt cx="3442761" cy="3539596"/>
            </a:xfrm>
          </p:grpSpPr>
          <p:grpSp>
            <p:nvGrpSpPr>
              <p:cNvPr id="11" name="Grupo 10">
                <a:extLst>
                  <a:ext uri="{FF2B5EF4-FFF2-40B4-BE49-F238E27FC236}">
                    <a16:creationId xmlns:a16="http://schemas.microsoft.com/office/drawing/2014/main" id="{246D82D7-21D3-B54D-8C07-D068A05ECA6C}"/>
                  </a:ext>
                </a:extLst>
              </p:cNvPr>
              <p:cNvGrpSpPr/>
              <p:nvPr/>
            </p:nvGrpSpPr>
            <p:grpSpPr>
              <a:xfrm>
                <a:off x="5124613" y="1464733"/>
                <a:ext cx="3442761" cy="3539596"/>
                <a:chOff x="553509" y="1273708"/>
                <a:chExt cx="3743851" cy="3849155"/>
              </a:xfrm>
            </p:grpSpPr>
            <p:grpSp>
              <p:nvGrpSpPr>
                <p:cNvPr id="35" name="Grupo 34">
                  <a:extLst>
                    <a:ext uri="{FF2B5EF4-FFF2-40B4-BE49-F238E27FC236}">
                      <a16:creationId xmlns:a16="http://schemas.microsoft.com/office/drawing/2014/main" id="{E4BDE87E-6883-8A4E-A149-2D0758F6AB07}"/>
                    </a:ext>
                  </a:extLst>
                </p:cNvPr>
                <p:cNvGrpSpPr/>
                <p:nvPr/>
              </p:nvGrpSpPr>
              <p:grpSpPr>
                <a:xfrm>
                  <a:off x="738859" y="1490096"/>
                  <a:ext cx="3393016" cy="3393016"/>
                  <a:chOff x="738859" y="1490096"/>
                  <a:chExt cx="3393016" cy="3393016"/>
                </a:xfrm>
              </p:grpSpPr>
              <p:pic>
                <p:nvPicPr>
                  <p:cNvPr id="43" name="Imagen 42">
                    <a:extLst>
                      <a:ext uri="{FF2B5EF4-FFF2-40B4-BE49-F238E27FC236}">
                        <a16:creationId xmlns:a16="http://schemas.microsoft.com/office/drawing/2014/main" id="{CEBA43C2-9F4C-8542-BE54-F7DF6C7BEA16}"/>
                      </a:ext>
                    </a:extLst>
                  </p:cNvPr>
                  <p:cNvPicPr>
                    <a:picLocks noChangeAspect="1"/>
                  </p:cNvPicPr>
                  <p:nvPr/>
                </p:nvPicPr>
                <p:blipFill>
                  <a:blip r:embed="rId3"/>
                  <a:stretch>
                    <a:fillRect/>
                  </a:stretch>
                </p:blipFill>
                <p:spPr>
                  <a:xfrm>
                    <a:off x="738859" y="1490096"/>
                    <a:ext cx="3393016" cy="3393016"/>
                  </a:xfrm>
                  <a:prstGeom prst="rect">
                    <a:avLst/>
                  </a:prstGeom>
                </p:spPr>
              </p:pic>
              <p:sp>
                <p:nvSpPr>
                  <p:cNvPr id="44" name="Elipse 43">
                    <a:extLst>
                      <a:ext uri="{FF2B5EF4-FFF2-40B4-BE49-F238E27FC236}">
                        <a16:creationId xmlns:a16="http://schemas.microsoft.com/office/drawing/2014/main" id="{895B16D0-C662-7245-9E63-49DCED49BA0A}"/>
                      </a:ext>
                    </a:extLst>
                  </p:cNvPr>
                  <p:cNvSpPr/>
                  <p:nvPr/>
                </p:nvSpPr>
                <p:spPr>
                  <a:xfrm>
                    <a:off x="1749568" y="2459063"/>
                    <a:ext cx="1505478" cy="150547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6" name="Elipse 35">
                  <a:extLst>
                    <a:ext uri="{FF2B5EF4-FFF2-40B4-BE49-F238E27FC236}">
                      <a16:creationId xmlns:a16="http://schemas.microsoft.com/office/drawing/2014/main" id="{D40BD552-3A77-B840-89AA-D782B8C02EE6}"/>
                    </a:ext>
                  </a:extLst>
                </p:cNvPr>
                <p:cNvSpPr/>
                <p:nvPr/>
              </p:nvSpPr>
              <p:spPr>
                <a:xfrm>
                  <a:off x="553509" y="1327682"/>
                  <a:ext cx="3743851" cy="3743851"/>
                </a:xfrm>
                <a:prstGeom prst="ellipse">
                  <a:avLst/>
                </a:prstGeom>
                <a:noFill/>
                <a:ln w="15875">
                  <a:solidFill>
                    <a:srgbClr val="D9DBE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7" name="Elipse 36">
                  <a:extLst>
                    <a:ext uri="{FF2B5EF4-FFF2-40B4-BE49-F238E27FC236}">
                      <a16:creationId xmlns:a16="http://schemas.microsoft.com/office/drawing/2014/main" id="{B3AC0858-5F5B-3843-A2A3-CB1E85C287DB}"/>
                    </a:ext>
                  </a:extLst>
                </p:cNvPr>
                <p:cNvSpPr/>
                <p:nvPr/>
              </p:nvSpPr>
              <p:spPr>
                <a:xfrm>
                  <a:off x="2111377" y="1273708"/>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8" name="Elipse 37">
                  <a:extLst>
                    <a:ext uri="{FF2B5EF4-FFF2-40B4-BE49-F238E27FC236}">
                      <a16:creationId xmlns:a16="http://schemas.microsoft.com/office/drawing/2014/main" id="{8C168B8E-61C4-C442-B978-4A13E1CB616B}"/>
                    </a:ext>
                  </a:extLst>
                </p:cNvPr>
                <p:cNvSpPr/>
                <p:nvPr/>
              </p:nvSpPr>
              <p:spPr>
                <a:xfrm>
                  <a:off x="3830111" y="19764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9" name="Elipse 38">
                  <a:extLst>
                    <a:ext uri="{FF2B5EF4-FFF2-40B4-BE49-F238E27FC236}">
                      <a16:creationId xmlns:a16="http://schemas.microsoft.com/office/drawing/2014/main" id="{EDC372E4-D700-F342-9595-4C2C3B459CC1}"/>
                    </a:ext>
                  </a:extLst>
                </p:cNvPr>
                <p:cNvSpPr/>
                <p:nvPr/>
              </p:nvSpPr>
              <p:spPr>
                <a:xfrm>
                  <a:off x="4075645" y="3856041"/>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0" name="Elipse 39">
                  <a:extLst>
                    <a:ext uri="{FF2B5EF4-FFF2-40B4-BE49-F238E27FC236}">
                      <a16:creationId xmlns:a16="http://schemas.microsoft.com/office/drawing/2014/main" id="{1B9F9DF7-FD7E-9440-AC35-A553090A4600}"/>
                    </a:ext>
                  </a:extLst>
                </p:cNvPr>
                <p:cNvSpPr/>
                <p:nvPr/>
              </p:nvSpPr>
              <p:spPr>
                <a:xfrm>
                  <a:off x="2585512" y="4990574"/>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1" name="Elipse 40">
                  <a:extLst>
                    <a:ext uri="{FF2B5EF4-FFF2-40B4-BE49-F238E27FC236}">
                      <a16:creationId xmlns:a16="http://schemas.microsoft.com/office/drawing/2014/main" id="{348D63F8-F616-F244-9C4C-F3D0E3CD813D}"/>
                    </a:ext>
                  </a:extLst>
                </p:cNvPr>
                <p:cNvSpPr/>
                <p:nvPr/>
              </p:nvSpPr>
              <p:spPr>
                <a:xfrm>
                  <a:off x="849846" y="42878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2" name="Elipse 41">
                  <a:extLst>
                    <a:ext uri="{FF2B5EF4-FFF2-40B4-BE49-F238E27FC236}">
                      <a16:creationId xmlns:a16="http://schemas.microsoft.com/office/drawing/2014/main" id="{16A555CD-3F25-6F46-BEC3-66C36D2461DF}"/>
                    </a:ext>
                  </a:extLst>
                </p:cNvPr>
                <p:cNvSpPr/>
                <p:nvPr/>
              </p:nvSpPr>
              <p:spPr>
                <a:xfrm>
                  <a:off x="612779" y="2433640"/>
                  <a:ext cx="132289" cy="132289"/>
                </a:xfrm>
                <a:prstGeom prst="ellipse">
                  <a:avLst/>
                </a:prstGeom>
                <a:solidFill>
                  <a:srgbClr val="D9DB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12" name="Google Shape;228;p20">
                <a:extLst>
                  <a:ext uri="{FF2B5EF4-FFF2-40B4-BE49-F238E27FC236}">
                    <a16:creationId xmlns:a16="http://schemas.microsoft.com/office/drawing/2014/main" id="{3BB40D00-DA9C-EB42-83FE-3DAC706B0A1C}"/>
                  </a:ext>
                </a:extLst>
              </p:cNvPr>
              <p:cNvSpPr/>
              <p:nvPr/>
            </p:nvSpPr>
            <p:spPr>
              <a:xfrm>
                <a:off x="6248082" y="2071967"/>
                <a:ext cx="700021"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GENERAR LINEA DE BASE DEL PROCESO</a:t>
                </a:r>
                <a:endParaRPr sz="800" b="1" dirty="0">
                  <a:solidFill>
                    <a:schemeClr val="bg1"/>
                  </a:solidFill>
                  <a:latin typeface="Calibri"/>
                  <a:ea typeface="Calibri"/>
                  <a:cs typeface="Calibri"/>
                  <a:sym typeface="Calibri"/>
                </a:endParaRPr>
              </a:p>
            </p:txBody>
          </p:sp>
          <p:sp>
            <p:nvSpPr>
              <p:cNvPr id="13" name="Google Shape;228;p20">
                <a:extLst>
                  <a:ext uri="{FF2B5EF4-FFF2-40B4-BE49-F238E27FC236}">
                    <a16:creationId xmlns:a16="http://schemas.microsoft.com/office/drawing/2014/main" id="{0AACA761-1078-AE4E-A475-03E83F4BF2FE}"/>
                  </a:ext>
                </a:extLst>
              </p:cNvPr>
              <p:cNvSpPr/>
              <p:nvPr/>
            </p:nvSpPr>
            <p:spPr>
              <a:xfrm>
                <a:off x="7321035" y="2247199"/>
                <a:ext cx="776118"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IDENTIFICAR OPORTUNIDADES DE MEJORA</a:t>
                </a:r>
                <a:endParaRPr sz="800" b="1" dirty="0">
                  <a:solidFill>
                    <a:schemeClr val="bg1"/>
                  </a:solidFill>
                  <a:latin typeface="Calibri"/>
                  <a:ea typeface="Calibri"/>
                  <a:cs typeface="Calibri"/>
                  <a:sym typeface="Calibri"/>
                </a:endParaRPr>
              </a:p>
            </p:txBody>
          </p:sp>
          <p:sp>
            <p:nvSpPr>
              <p:cNvPr id="14" name="Google Shape;228;p20">
                <a:extLst>
                  <a:ext uri="{FF2B5EF4-FFF2-40B4-BE49-F238E27FC236}">
                    <a16:creationId xmlns:a16="http://schemas.microsoft.com/office/drawing/2014/main" id="{6BAE359E-DDB9-AB4B-83D6-CFE513FF419A}"/>
                  </a:ext>
                </a:extLst>
              </p:cNvPr>
              <p:cNvSpPr/>
              <p:nvPr/>
            </p:nvSpPr>
            <p:spPr>
              <a:xfrm>
                <a:off x="7730420" y="3267972"/>
                <a:ext cx="665121"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MEJORA CONTINUA</a:t>
                </a:r>
                <a:endParaRPr sz="800" b="1" dirty="0">
                  <a:solidFill>
                    <a:schemeClr val="bg1"/>
                  </a:solidFill>
                  <a:latin typeface="Calibri"/>
                  <a:ea typeface="Calibri"/>
                  <a:cs typeface="Calibri"/>
                  <a:sym typeface="Calibri"/>
                </a:endParaRPr>
              </a:p>
            </p:txBody>
          </p:sp>
          <p:sp>
            <p:nvSpPr>
              <p:cNvPr id="15" name="Google Shape;228;p20">
                <a:extLst>
                  <a:ext uri="{FF2B5EF4-FFF2-40B4-BE49-F238E27FC236}">
                    <a16:creationId xmlns:a16="http://schemas.microsoft.com/office/drawing/2014/main" id="{5CD82985-7338-9A4C-99D4-33C1C87ABC24}"/>
                  </a:ext>
                </a:extLst>
              </p:cNvPr>
              <p:cNvSpPr/>
              <p:nvPr/>
            </p:nvSpPr>
            <p:spPr>
              <a:xfrm>
                <a:off x="6841035" y="4149311"/>
                <a:ext cx="733279"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ESTANDARIZAR PROCESO</a:t>
                </a:r>
                <a:endParaRPr sz="800" b="1" dirty="0">
                  <a:solidFill>
                    <a:schemeClr val="bg1"/>
                  </a:solidFill>
                  <a:latin typeface="Calibri"/>
                  <a:ea typeface="Calibri"/>
                  <a:cs typeface="Calibri"/>
                  <a:sym typeface="Calibri"/>
                </a:endParaRPr>
              </a:p>
            </p:txBody>
          </p:sp>
          <p:sp>
            <p:nvSpPr>
              <p:cNvPr id="16" name="Google Shape;228;p20">
                <a:extLst>
                  <a:ext uri="{FF2B5EF4-FFF2-40B4-BE49-F238E27FC236}">
                    <a16:creationId xmlns:a16="http://schemas.microsoft.com/office/drawing/2014/main" id="{D0592E02-FA5A-5144-A64E-530EAF6D1C84}"/>
                  </a:ext>
                </a:extLst>
              </p:cNvPr>
              <p:cNvSpPr/>
              <p:nvPr/>
            </p:nvSpPr>
            <p:spPr>
              <a:xfrm>
                <a:off x="5775608" y="3939648"/>
                <a:ext cx="733279" cy="369332"/>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AUMENTAR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EFECTIVIDAD Y EFICIENCIA</a:t>
                </a:r>
                <a:endParaRPr sz="800" b="1" dirty="0">
                  <a:solidFill>
                    <a:schemeClr val="bg1"/>
                  </a:solidFill>
                  <a:latin typeface="Calibri"/>
                  <a:ea typeface="Calibri"/>
                  <a:cs typeface="Calibri"/>
                  <a:sym typeface="Calibri"/>
                </a:endParaRPr>
              </a:p>
            </p:txBody>
          </p:sp>
          <p:sp>
            <p:nvSpPr>
              <p:cNvPr id="17" name="Google Shape;228;p20">
                <a:extLst>
                  <a:ext uri="{FF2B5EF4-FFF2-40B4-BE49-F238E27FC236}">
                    <a16:creationId xmlns:a16="http://schemas.microsoft.com/office/drawing/2014/main" id="{F4E77AFD-D5D1-CB41-918A-5A82E2B92265}"/>
                  </a:ext>
                </a:extLst>
              </p:cNvPr>
              <p:cNvSpPr/>
              <p:nvPr/>
            </p:nvSpPr>
            <p:spPr>
              <a:xfrm>
                <a:off x="5478565" y="2889807"/>
                <a:ext cx="829394" cy="246221"/>
              </a:xfrm>
              <a:prstGeom prst="rect">
                <a:avLst/>
              </a:prstGeom>
              <a:noFill/>
              <a:ln>
                <a:noFill/>
              </a:ln>
            </p:spPr>
            <p:txBody>
              <a:bodyPr spcFirstLastPara="1" wrap="square" lIns="0" tIns="0" rIns="0" bIns="0" anchor="t" anchorCtr="0">
                <a:spAutoFit/>
              </a:bodyPr>
              <a:lstStyle/>
              <a:p>
                <a:pPr marL="0" marR="0" lvl="0" indent="0" rtl="0">
                  <a:spcBef>
                    <a:spcPts val="0"/>
                  </a:spcBef>
                  <a:spcAft>
                    <a:spcPts val="0"/>
                  </a:spcAft>
                  <a:buNone/>
                </a:pPr>
                <a:r>
                  <a:rPr lang="es-PE" sz="800" b="1" dirty="0">
                    <a:solidFill>
                      <a:schemeClr val="bg1"/>
                    </a:solidFill>
                    <a:latin typeface="Calibri"/>
                    <a:ea typeface="Calibri"/>
                    <a:cs typeface="Calibri"/>
                    <a:sym typeface="Calibri"/>
                  </a:rPr>
                  <a:t>OPTIMIZAR</a:t>
                </a:r>
              </a:p>
              <a:p>
                <a:pPr marL="0" marR="0" lvl="0" indent="0" rtl="0">
                  <a:spcBef>
                    <a:spcPts val="0"/>
                  </a:spcBef>
                  <a:spcAft>
                    <a:spcPts val="0"/>
                  </a:spcAft>
                  <a:buNone/>
                </a:pPr>
                <a:r>
                  <a:rPr lang="es-PE" sz="800" b="1" dirty="0">
                    <a:solidFill>
                      <a:schemeClr val="bg1"/>
                    </a:solidFill>
                    <a:latin typeface="Calibri"/>
                    <a:ea typeface="Calibri"/>
                    <a:cs typeface="Calibri"/>
                    <a:sym typeface="Calibri"/>
                  </a:rPr>
                  <a:t>PROCESO</a:t>
                </a:r>
              </a:p>
            </p:txBody>
          </p:sp>
          <p:grpSp>
            <p:nvGrpSpPr>
              <p:cNvPr id="18" name="Grupo 17">
                <a:extLst>
                  <a:ext uri="{FF2B5EF4-FFF2-40B4-BE49-F238E27FC236}">
                    <a16:creationId xmlns:a16="http://schemas.microsoft.com/office/drawing/2014/main" id="{48F51498-9CE8-5249-8462-68570777F99B}"/>
                  </a:ext>
                </a:extLst>
              </p:cNvPr>
              <p:cNvGrpSpPr/>
              <p:nvPr/>
            </p:nvGrpSpPr>
            <p:grpSpPr>
              <a:xfrm>
                <a:off x="7919101" y="2649712"/>
                <a:ext cx="277318" cy="288176"/>
                <a:chOff x="7839856" y="2717942"/>
                <a:chExt cx="277318" cy="288176"/>
              </a:xfrm>
            </p:grpSpPr>
            <p:sp>
              <p:nvSpPr>
                <p:cNvPr id="33" name="Forma libre 32">
                  <a:extLst>
                    <a:ext uri="{FF2B5EF4-FFF2-40B4-BE49-F238E27FC236}">
                      <a16:creationId xmlns:a16="http://schemas.microsoft.com/office/drawing/2014/main" id="{554FD702-2587-4143-B348-5F69148A8F9B}"/>
                    </a:ext>
                  </a:extLst>
                </p:cNvPr>
                <p:cNvSpPr/>
                <p:nvPr/>
              </p:nvSpPr>
              <p:spPr>
                <a:xfrm rot="10800000">
                  <a:off x="7839856" y="2717942"/>
                  <a:ext cx="277318" cy="145179"/>
                </a:xfrm>
                <a:custGeom>
                  <a:avLst/>
                  <a:gdLst>
                    <a:gd name="connsiteX0" fmla="*/ 0 w 277318"/>
                    <a:gd name="connsiteY0" fmla="*/ 0 h 149901"/>
                    <a:gd name="connsiteX1" fmla="*/ 0 w 277318"/>
                    <a:gd name="connsiteY1" fmla="*/ 149901 h 149901"/>
                    <a:gd name="connsiteX2" fmla="*/ 277318 w 277318"/>
                    <a:gd name="connsiteY2" fmla="*/ 149901 h 149901"/>
                    <a:gd name="connsiteX3" fmla="*/ 277318 w 277318"/>
                    <a:gd name="connsiteY3" fmla="*/ 7495 h 149901"/>
                  </a:gdLst>
                  <a:ahLst/>
                  <a:cxnLst>
                    <a:cxn ang="0">
                      <a:pos x="connsiteX0" y="connsiteY0"/>
                    </a:cxn>
                    <a:cxn ang="0">
                      <a:pos x="connsiteX1" y="connsiteY1"/>
                    </a:cxn>
                    <a:cxn ang="0">
                      <a:pos x="connsiteX2" y="connsiteY2"/>
                    </a:cxn>
                    <a:cxn ang="0">
                      <a:pos x="connsiteX3" y="connsiteY3"/>
                    </a:cxn>
                  </a:cxnLst>
                  <a:rect l="l" t="t" r="r" b="b"/>
                  <a:pathLst>
                    <a:path w="277318" h="149901">
                      <a:moveTo>
                        <a:pt x="0" y="0"/>
                      </a:moveTo>
                      <a:lnTo>
                        <a:pt x="0" y="149901"/>
                      </a:lnTo>
                      <a:lnTo>
                        <a:pt x="277318" y="149901"/>
                      </a:lnTo>
                      <a:lnTo>
                        <a:pt x="277318" y="7495"/>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4" name="28 Flecha derecha">
                  <a:extLst>
                    <a:ext uri="{FF2B5EF4-FFF2-40B4-BE49-F238E27FC236}">
                      <a16:creationId xmlns:a16="http://schemas.microsoft.com/office/drawing/2014/main" id="{163A64F0-760E-3341-8FB6-7745048B03CE}"/>
                    </a:ext>
                  </a:extLst>
                </p:cNvPr>
                <p:cNvSpPr/>
                <p:nvPr/>
              </p:nvSpPr>
              <p:spPr>
                <a:xfrm rot="16200000">
                  <a:off x="7859119" y="2788410"/>
                  <a:ext cx="238792" cy="196624"/>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PE" sz="1600" dirty="0">
                    <a:latin typeface="Calibri" panose="020F0502020204030204" pitchFamily="34" charset="0"/>
                  </a:endParaRPr>
                </a:p>
              </p:txBody>
            </p:sp>
          </p:grpSp>
          <p:grpSp>
            <p:nvGrpSpPr>
              <p:cNvPr id="19" name="Grupo 18">
                <a:extLst>
                  <a:ext uri="{FF2B5EF4-FFF2-40B4-BE49-F238E27FC236}">
                    <a16:creationId xmlns:a16="http://schemas.microsoft.com/office/drawing/2014/main" id="{74F06A4C-8311-1949-B3A1-4273377CCA10}"/>
                  </a:ext>
                </a:extLst>
              </p:cNvPr>
              <p:cNvGrpSpPr/>
              <p:nvPr/>
            </p:nvGrpSpPr>
            <p:grpSpPr>
              <a:xfrm>
                <a:off x="6678843" y="1747360"/>
                <a:ext cx="439207" cy="275197"/>
                <a:chOff x="3514628" y="3539211"/>
                <a:chExt cx="537557" cy="336821"/>
              </a:xfrm>
            </p:grpSpPr>
            <p:sp>
              <p:nvSpPr>
                <p:cNvPr id="27" name="Triángulo 26">
                  <a:extLst>
                    <a:ext uri="{FF2B5EF4-FFF2-40B4-BE49-F238E27FC236}">
                      <a16:creationId xmlns:a16="http://schemas.microsoft.com/office/drawing/2014/main" id="{31A67EE0-BBB3-814C-93F6-206008CEB871}"/>
                    </a:ext>
                  </a:extLst>
                </p:cNvPr>
                <p:cNvSpPr/>
                <p:nvPr/>
              </p:nvSpPr>
              <p:spPr>
                <a:xfrm rot="5400000">
                  <a:off x="3514857" y="3538982"/>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28" name="Conector recto 27">
                  <a:extLst>
                    <a:ext uri="{FF2B5EF4-FFF2-40B4-BE49-F238E27FC236}">
                      <a16:creationId xmlns:a16="http://schemas.microsoft.com/office/drawing/2014/main" id="{CC7CC831-56E7-524C-A251-0275A7DB6F0A}"/>
                    </a:ext>
                  </a:extLst>
                </p:cNvPr>
                <p:cNvCxnSpPr/>
                <p:nvPr/>
              </p:nvCxnSpPr>
              <p:spPr>
                <a:xfrm>
                  <a:off x="3656898" y="3583952"/>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riángulo 28">
                  <a:extLst>
                    <a:ext uri="{FF2B5EF4-FFF2-40B4-BE49-F238E27FC236}">
                      <a16:creationId xmlns:a16="http://schemas.microsoft.com/office/drawing/2014/main" id="{C1446F86-289A-3041-8462-AF6EA984945D}"/>
                    </a:ext>
                  </a:extLst>
                </p:cNvPr>
                <p:cNvSpPr/>
                <p:nvPr/>
              </p:nvSpPr>
              <p:spPr>
                <a:xfrm rot="5400000">
                  <a:off x="3514857" y="3666399"/>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30" name="Conector recto 29">
                  <a:extLst>
                    <a:ext uri="{FF2B5EF4-FFF2-40B4-BE49-F238E27FC236}">
                      <a16:creationId xmlns:a16="http://schemas.microsoft.com/office/drawing/2014/main" id="{D0DEA224-2D5E-1640-9682-BF7DFFF14F72}"/>
                    </a:ext>
                  </a:extLst>
                </p:cNvPr>
                <p:cNvCxnSpPr/>
                <p:nvPr/>
              </p:nvCxnSpPr>
              <p:spPr>
                <a:xfrm>
                  <a:off x="3656898" y="3711369"/>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riángulo 30">
                  <a:extLst>
                    <a:ext uri="{FF2B5EF4-FFF2-40B4-BE49-F238E27FC236}">
                      <a16:creationId xmlns:a16="http://schemas.microsoft.com/office/drawing/2014/main" id="{AF480A11-7545-7D47-9CA6-2E46299311E8}"/>
                    </a:ext>
                  </a:extLst>
                </p:cNvPr>
                <p:cNvSpPr/>
                <p:nvPr/>
              </p:nvSpPr>
              <p:spPr>
                <a:xfrm rot="5400000">
                  <a:off x="3514857" y="3786320"/>
                  <a:ext cx="89483" cy="8994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cxnSp>
              <p:nvCxnSpPr>
                <p:cNvPr id="32" name="Conector recto 31">
                  <a:extLst>
                    <a:ext uri="{FF2B5EF4-FFF2-40B4-BE49-F238E27FC236}">
                      <a16:creationId xmlns:a16="http://schemas.microsoft.com/office/drawing/2014/main" id="{1ED1785E-918B-7646-A335-2E865758B2D8}"/>
                    </a:ext>
                  </a:extLst>
                </p:cNvPr>
                <p:cNvCxnSpPr/>
                <p:nvPr/>
              </p:nvCxnSpPr>
              <p:spPr>
                <a:xfrm>
                  <a:off x="3656898" y="3831290"/>
                  <a:ext cx="395287" cy="0"/>
                </a:xfrm>
                <a:prstGeom prst="line">
                  <a:avLst/>
                </a:prstGeom>
                <a:ln w="41275">
                  <a:solidFill>
                    <a:schemeClr val="bg1"/>
                  </a:solidFill>
                </a:ln>
              </p:spPr>
              <p:style>
                <a:lnRef idx="1">
                  <a:schemeClr val="accent1"/>
                </a:lnRef>
                <a:fillRef idx="0">
                  <a:schemeClr val="accent1"/>
                </a:fillRef>
                <a:effectRef idx="0">
                  <a:schemeClr val="accent1"/>
                </a:effectRef>
                <a:fontRef idx="minor">
                  <a:schemeClr val="tx1"/>
                </a:fontRef>
              </p:style>
            </p:cxnSp>
          </p:grpSp>
          <p:pic>
            <p:nvPicPr>
              <p:cNvPr id="20" name="Imagen 19">
                <a:extLst>
                  <a:ext uri="{FF2B5EF4-FFF2-40B4-BE49-F238E27FC236}">
                    <a16:creationId xmlns:a16="http://schemas.microsoft.com/office/drawing/2014/main" id="{147BEE69-722E-FE46-A015-C0A4D095AE42}"/>
                  </a:ext>
                </a:extLst>
              </p:cNvPr>
              <p:cNvPicPr>
                <a:picLocks noChangeAspect="1"/>
              </p:cNvPicPr>
              <p:nvPr/>
            </p:nvPicPr>
            <p:blipFill>
              <a:blip r:embed="rId4"/>
              <a:stretch>
                <a:fillRect/>
              </a:stretch>
            </p:blipFill>
            <p:spPr>
              <a:xfrm>
                <a:off x="5754218" y="3605159"/>
                <a:ext cx="353939" cy="307283"/>
              </a:xfrm>
              <a:prstGeom prst="rect">
                <a:avLst/>
              </a:prstGeom>
            </p:spPr>
          </p:pic>
          <p:pic>
            <p:nvPicPr>
              <p:cNvPr id="21" name="Imagen 20">
                <a:extLst>
                  <a:ext uri="{FF2B5EF4-FFF2-40B4-BE49-F238E27FC236}">
                    <a16:creationId xmlns:a16="http://schemas.microsoft.com/office/drawing/2014/main" id="{BEC8E919-5808-5642-9346-0CE8AD6FA062}"/>
                  </a:ext>
                </a:extLst>
              </p:cNvPr>
              <p:cNvPicPr>
                <a:picLocks noChangeAspect="1"/>
              </p:cNvPicPr>
              <p:nvPr/>
            </p:nvPicPr>
            <p:blipFill>
              <a:blip r:embed="rId5"/>
              <a:stretch>
                <a:fillRect/>
              </a:stretch>
            </p:blipFill>
            <p:spPr>
              <a:xfrm>
                <a:off x="5640635" y="2476342"/>
                <a:ext cx="303298" cy="306953"/>
              </a:xfrm>
              <a:prstGeom prst="rect">
                <a:avLst/>
              </a:prstGeom>
            </p:spPr>
          </p:pic>
          <p:sp>
            <p:nvSpPr>
              <p:cNvPr id="22" name="Google Shape;228;p20">
                <a:extLst>
                  <a:ext uri="{FF2B5EF4-FFF2-40B4-BE49-F238E27FC236}">
                    <a16:creationId xmlns:a16="http://schemas.microsoft.com/office/drawing/2014/main" id="{F7841B1B-996E-5845-A04D-0DF0813C08C9}"/>
                  </a:ext>
                </a:extLst>
              </p:cNvPr>
              <p:cNvSpPr/>
              <p:nvPr/>
            </p:nvSpPr>
            <p:spPr>
              <a:xfrm>
                <a:off x="6067263" y="2981063"/>
                <a:ext cx="1717466"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300" b="1" dirty="0">
                    <a:solidFill>
                      <a:schemeClr val="dk1"/>
                    </a:solidFill>
                    <a:latin typeface="Graphik Bold" panose="020B0503030202060203" pitchFamily="34" charset="77"/>
                    <a:ea typeface="Calibri"/>
                    <a:cs typeface="Calibri"/>
                    <a:sym typeface="Calibri"/>
                  </a:rPr>
                  <a:t>EVALUACIÓN </a:t>
                </a:r>
                <a:br>
                  <a:rPr lang="es-PE" sz="1300" b="1" dirty="0">
                    <a:solidFill>
                      <a:schemeClr val="dk1"/>
                    </a:solidFill>
                    <a:latin typeface="Graphik Bold" panose="020B0503030202060203" pitchFamily="34" charset="77"/>
                    <a:ea typeface="Calibri"/>
                    <a:cs typeface="Calibri"/>
                    <a:sym typeface="Calibri"/>
                  </a:rPr>
                </a:br>
                <a:r>
                  <a:rPr lang="es-PE" sz="1300" b="1" dirty="0">
                    <a:solidFill>
                      <a:schemeClr val="dk1"/>
                    </a:solidFill>
                    <a:latin typeface="Graphik Bold" panose="020B0503030202060203" pitchFamily="34" charset="77"/>
                    <a:ea typeface="Calibri"/>
                    <a:cs typeface="Calibri"/>
                    <a:sym typeface="Calibri"/>
                  </a:rPr>
                  <a:t>&amp; MEJORA DE PROCESOS</a:t>
                </a:r>
                <a:endParaRPr sz="1300" b="1" dirty="0">
                  <a:solidFill>
                    <a:schemeClr val="dk1"/>
                  </a:solidFill>
                  <a:latin typeface="Graphik Bold" panose="020B0503030202060203" pitchFamily="34" charset="77"/>
                  <a:ea typeface="Calibri"/>
                  <a:cs typeface="Calibri"/>
                  <a:sym typeface="Calibri"/>
                </a:endParaRPr>
              </a:p>
            </p:txBody>
          </p:sp>
          <p:grpSp>
            <p:nvGrpSpPr>
              <p:cNvPr id="23" name="Grupo 22">
                <a:extLst>
                  <a:ext uri="{FF2B5EF4-FFF2-40B4-BE49-F238E27FC236}">
                    <a16:creationId xmlns:a16="http://schemas.microsoft.com/office/drawing/2014/main" id="{B72C843D-581F-6D4B-BB89-EB2D6CC6C2B9}"/>
                  </a:ext>
                </a:extLst>
              </p:cNvPr>
              <p:cNvGrpSpPr/>
              <p:nvPr/>
            </p:nvGrpSpPr>
            <p:grpSpPr>
              <a:xfrm>
                <a:off x="7789888" y="3593440"/>
                <a:ext cx="294564" cy="419916"/>
                <a:chOff x="7789888" y="3593440"/>
                <a:chExt cx="294564" cy="419916"/>
              </a:xfrm>
            </p:grpSpPr>
            <p:pic>
              <p:nvPicPr>
                <p:cNvPr id="25" name="Imagen 24">
                  <a:extLst>
                    <a:ext uri="{FF2B5EF4-FFF2-40B4-BE49-F238E27FC236}">
                      <a16:creationId xmlns:a16="http://schemas.microsoft.com/office/drawing/2014/main" id="{29DBF219-FD8A-7041-BAB0-F748B29DDE2F}"/>
                    </a:ext>
                  </a:extLst>
                </p:cNvPr>
                <p:cNvPicPr>
                  <a:picLocks noChangeAspect="1"/>
                </p:cNvPicPr>
                <p:nvPr/>
              </p:nvPicPr>
              <p:blipFill>
                <a:blip r:embed="rId6"/>
                <a:stretch>
                  <a:fillRect/>
                </a:stretch>
              </p:blipFill>
              <p:spPr>
                <a:xfrm>
                  <a:off x="7789888" y="3724568"/>
                  <a:ext cx="294564" cy="288788"/>
                </a:xfrm>
                <a:prstGeom prst="rect">
                  <a:avLst/>
                </a:prstGeom>
              </p:spPr>
            </p:pic>
            <p:sp>
              <p:nvSpPr>
                <p:cNvPr id="26" name="Triángulo 25">
                  <a:extLst>
                    <a:ext uri="{FF2B5EF4-FFF2-40B4-BE49-F238E27FC236}">
                      <a16:creationId xmlns:a16="http://schemas.microsoft.com/office/drawing/2014/main" id="{03F2B74E-1DCD-8746-BA92-A5B849B9EF73}"/>
                    </a:ext>
                  </a:extLst>
                </p:cNvPr>
                <p:cNvSpPr/>
                <p:nvPr/>
              </p:nvSpPr>
              <p:spPr>
                <a:xfrm>
                  <a:off x="7804813" y="3593440"/>
                  <a:ext cx="246200" cy="10631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24" name="Imagen 23">
                <a:extLst>
                  <a:ext uri="{FF2B5EF4-FFF2-40B4-BE49-F238E27FC236}">
                    <a16:creationId xmlns:a16="http://schemas.microsoft.com/office/drawing/2014/main" id="{6DDAC476-2D85-7449-8BF2-BB453E59D2C3}"/>
                  </a:ext>
                </a:extLst>
              </p:cNvPr>
              <p:cNvPicPr>
                <a:picLocks noChangeAspect="1"/>
              </p:cNvPicPr>
              <p:nvPr/>
            </p:nvPicPr>
            <p:blipFill>
              <a:blip r:embed="rId7"/>
              <a:stretch>
                <a:fillRect/>
              </a:stretch>
            </p:blipFill>
            <p:spPr>
              <a:xfrm>
                <a:off x="6491065" y="4404682"/>
                <a:ext cx="364062" cy="293479"/>
              </a:xfrm>
              <a:prstGeom prst="rect">
                <a:avLst/>
              </a:prstGeom>
            </p:spPr>
          </p:pic>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5" name="Google Shape;245;p22"/>
          <p:cNvSpPr/>
          <p:nvPr/>
        </p:nvSpPr>
        <p:spPr>
          <a:xfrm>
            <a:off x="514874" y="912813"/>
            <a:ext cx="3614772"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ANÁLISIS ESTÁTICO POR HERRAMIENTAS</a:t>
            </a:r>
            <a:endParaRPr sz="1600" b="1" dirty="0">
              <a:solidFill>
                <a:schemeClr val="dk1"/>
              </a:solidFill>
              <a:latin typeface="Calibri"/>
              <a:ea typeface="Calibri"/>
              <a:cs typeface="Calibri"/>
              <a:sym typeface="Calibri"/>
            </a:endParaRPr>
          </a:p>
        </p:txBody>
      </p:sp>
      <p:sp>
        <p:nvSpPr>
          <p:cNvPr id="5" name="Rectangle 5">
            <a:extLst>
              <a:ext uri="{FF2B5EF4-FFF2-40B4-BE49-F238E27FC236}">
                <a16:creationId xmlns:a16="http://schemas.microsoft.com/office/drawing/2014/main" id="{C8DEB3D8-507B-8E49-A37D-1FC901141E0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Google Shape;333;p23">
            <a:extLst>
              <a:ext uri="{FF2B5EF4-FFF2-40B4-BE49-F238E27FC236}">
                <a16:creationId xmlns:a16="http://schemas.microsoft.com/office/drawing/2014/main" id="{48C50C08-3F55-3247-B2C1-D03CBC91085E}"/>
              </a:ext>
            </a:extLst>
          </p:cNvPr>
          <p:cNvSpPr/>
          <p:nvPr/>
        </p:nvSpPr>
        <p:spPr>
          <a:xfrm>
            <a:off x="1209258" y="1663702"/>
            <a:ext cx="3175640" cy="501005"/>
          </a:xfrm>
          <a:prstGeom prst="roundRect">
            <a:avLst>
              <a:gd name="adj" fmla="val 18326"/>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Calibri"/>
              <a:buNone/>
            </a:pPr>
            <a:r>
              <a:rPr lang="es-PE" sz="1400" b="1" i="0" u="none" strike="noStrike" cap="none" dirty="0">
                <a:solidFill>
                  <a:schemeClr val="bg1"/>
                </a:solidFill>
                <a:latin typeface="Calibri" panose="020F0502020204030204" pitchFamily="34" charset="0"/>
                <a:cs typeface="Calibri" panose="020F0502020204030204" pitchFamily="34" charset="0"/>
                <a:sym typeface="Arial"/>
              </a:rPr>
              <a:t>PRUEBAS ALFA</a:t>
            </a:r>
          </a:p>
        </p:txBody>
      </p:sp>
      <p:sp>
        <p:nvSpPr>
          <p:cNvPr id="7" name="Google Shape;335;p23">
            <a:extLst>
              <a:ext uri="{FF2B5EF4-FFF2-40B4-BE49-F238E27FC236}">
                <a16:creationId xmlns:a16="http://schemas.microsoft.com/office/drawing/2014/main" id="{F489A5BD-4361-344A-9519-F6268EC0F97D}"/>
              </a:ext>
            </a:extLst>
          </p:cNvPr>
          <p:cNvSpPr/>
          <p:nvPr/>
        </p:nvSpPr>
        <p:spPr>
          <a:xfrm>
            <a:off x="1209258" y="2238253"/>
            <a:ext cx="3175640" cy="2131380"/>
          </a:xfrm>
          <a:prstGeom prst="roundRect">
            <a:avLst>
              <a:gd name="adj" fmla="val 2748"/>
            </a:avLst>
          </a:prstGeom>
          <a:solidFill>
            <a:srgbClr val="D1EFF4"/>
          </a:solidFill>
          <a:ln>
            <a:noFill/>
          </a:ln>
        </p:spPr>
        <p:txBody>
          <a:bodyPr spcFirstLastPara="1" wrap="square" lIns="108000" tIns="108000" rIns="108000" bIns="45700" anchor="t" anchorCtr="0">
            <a:noAutofit/>
          </a:bodyPr>
          <a:lstStyle/>
          <a:p>
            <a:pPr marL="222250" marR="0" lvl="0" indent="-134938" algn="l" rtl="0">
              <a:lnSpc>
                <a:spcPct val="100000"/>
              </a:lnSpc>
              <a:spcBef>
                <a:spcPts val="0"/>
              </a:spcBef>
              <a:spcAft>
                <a:spcPts val="0"/>
              </a:spcAft>
              <a:buClr>
                <a:srgbClr val="00B1C2"/>
              </a:buClr>
              <a:buSzPct val="100000"/>
              <a:buFont typeface="Arial" panose="020B0604020202020204" pitchFamily="34" charset="0"/>
              <a:buChar char="•"/>
            </a:pPr>
            <a:r>
              <a:rPr lang="es-PE" sz="1400" b="0" i="0" u="none" strike="noStrike" cap="none" dirty="0">
                <a:solidFill>
                  <a:srgbClr val="000000"/>
                </a:solidFill>
                <a:latin typeface="Calibri" panose="020F0502020204030204" pitchFamily="34" charset="0"/>
                <a:ea typeface="+mj-lt"/>
                <a:cs typeface="Calibri" panose="020F0502020204030204" pitchFamily="34" charset="0"/>
                <a:sym typeface="Arial"/>
              </a:rPr>
              <a:t>Pruebas operacionales simuladas o reales por los usuarios/clientes o por un equipo de pruebas independiente en el sitio de los desarrolladores, pero fuera de la organización de desarrollo. </a:t>
            </a:r>
          </a:p>
        </p:txBody>
      </p:sp>
      <p:grpSp>
        <p:nvGrpSpPr>
          <p:cNvPr id="8" name="Agrupar 9">
            <a:extLst>
              <a:ext uri="{FF2B5EF4-FFF2-40B4-BE49-F238E27FC236}">
                <a16:creationId xmlns:a16="http://schemas.microsoft.com/office/drawing/2014/main" id="{12908292-4A87-BB40-BA7C-AC8710519F65}"/>
              </a:ext>
            </a:extLst>
          </p:cNvPr>
          <p:cNvGrpSpPr/>
          <p:nvPr/>
        </p:nvGrpSpPr>
        <p:grpSpPr>
          <a:xfrm>
            <a:off x="993492" y="1712331"/>
            <a:ext cx="459474" cy="403823"/>
            <a:chOff x="5892512" y="2805541"/>
            <a:chExt cx="459474" cy="403823"/>
          </a:xfrm>
        </p:grpSpPr>
        <p:sp>
          <p:nvSpPr>
            <p:cNvPr id="9" name="Elipse 8">
              <a:extLst>
                <a:ext uri="{FF2B5EF4-FFF2-40B4-BE49-F238E27FC236}">
                  <a16:creationId xmlns:a16="http://schemas.microsoft.com/office/drawing/2014/main" id="{1A75DC41-A6D1-224F-99D3-286E46C3C1D4}"/>
                </a:ext>
              </a:extLst>
            </p:cNvPr>
            <p:cNvSpPr/>
            <p:nvPr/>
          </p:nvSpPr>
          <p:spPr>
            <a:xfrm>
              <a:off x="5956277" y="2824919"/>
              <a:ext cx="395709" cy="376075"/>
            </a:xfrm>
            <a:prstGeom prst="ellipse">
              <a:avLst/>
            </a:prstGeom>
            <a:solidFill>
              <a:srgbClr val="0B82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Elipse 9">
              <a:extLst>
                <a:ext uri="{FF2B5EF4-FFF2-40B4-BE49-F238E27FC236}">
                  <a16:creationId xmlns:a16="http://schemas.microsoft.com/office/drawing/2014/main" id="{8566DE44-4344-E24C-B409-90312AEE5218}"/>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Triángulo 10">
              <a:extLst>
                <a:ext uri="{FF2B5EF4-FFF2-40B4-BE49-F238E27FC236}">
                  <a16:creationId xmlns:a16="http://schemas.microsoft.com/office/drawing/2014/main" id="{C7A9ED5E-5DE5-B648-94CF-EC4A719C571C}"/>
                </a:ext>
              </a:extLst>
            </p:cNvPr>
            <p:cNvSpPr/>
            <p:nvPr/>
          </p:nvSpPr>
          <p:spPr>
            <a:xfrm rot="5400000">
              <a:off x="6076285" y="2946262"/>
              <a:ext cx="186870" cy="122381"/>
            </a:xfrm>
            <a:prstGeom prst="triangle">
              <a:avLst/>
            </a:prstGeom>
            <a:solidFill>
              <a:srgbClr val="00B1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
        <p:nvSpPr>
          <p:cNvPr id="12" name="Google Shape;332;p23">
            <a:extLst>
              <a:ext uri="{FF2B5EF4-FFF2-40B4-BE49-F238E27FC236}">
                <a16:creationId xmlns:a16="http://schemas.microsoft.com/office/drawing/2014/main" id="{E8DDED49-5C9E-0F4B-9FAC-F1AFE62BD2B5}"/>
              </a:ext>
            </a:extLst>
          </p:cNvPr>
          <p:cNvSpPr/>
          <p:nvPr/>
        </p:nvSpPr>
        <p:spPr>
          <a:xfrm>
            <a:off x="4751388" y="1663702"/>
            <a:ext cx="3175640" cy="501005"/>
          </a:xfrm>
          <a:prstGeom prst="roundRect">
            <a:avLst>
              <a:gd name="adj" fmla="val 18326"/>
            </a:avLst>
          </a:prstGeom>
          <a:solidFill>
            <a:srgbClr val="EE4639"/>
          </a:solidFill>
          <a:ln>
            <a:noFill/>
          </a:ln>
        </p:spPr>
        <p:txBody>
          <a:bodyPr spcFirstLastPara="1" wrap="square" lIns="91425" tIns="45700" rIns="91425" bIns="45700" anchor="ctr" anchorCtr="0">
            <a:noAutofit/>
          </a:bodyPr>
          <a:lstStyle/>
          <a:p>
            <a:pPr marL="11430" marR="0" lvl="0" indent="0" algn="ctr" rtl="0">
              <a:lnSpc>
                <a:spcPct val="100000"/>
              </a:lnSpc>
              <a:spcBef>
                <a:spcPts val="0"/>
              </a:spcBef>
              <a:spcAft>
                <a:spcPts val="0"/>
              </a:spcAft>
              <a:buClr>
                <a:srgbClr val="000000"/>
              </a:buClr>
              <a:buSzPts val="1600"/>
              <a:buFont typeface="Arial"/>
              <a:buNone/>
            </a:pPr>
            <a:r>
              <a:rPr lang="es-PE" sz="1500" b="1" i="0" u="none" strike="noStrike" cap="none" dirty="0">
                <a:solidFill>
                  <a:schemeClr val="bg1"/>
                </a:solidFill>
                <a:latin typeface="Calibri" panose="020F0502020204030204" pitchFamily="34" charset="0"/>
                <a:cs typeface="Calibri" panose="020F0502020204030204" pitchFamily="34" charset="0"/>
                <a:sym typeface="Arial"/>
              </a:rPr>
              <a:t>PRUEBAS BETA</a:t>
            </a:r>
          </a:p>
        </p:txBody>
      </p:sp>
      <p:sp>
        <p:nvSpPr>
          <p:cNvPr id="13" name="Google Shape;334;p23">
            <a:extLst>
              <a:ext uri="{FF2B5EF4-FFF2-40B4-BE49-F238E27FC236}">
                <a16:creationId xmlns:a16="http://schemas.microsoft.com/office/drawing/2014/main" id="{3BB75CF3-D02F-1447-9F63-6A67101AB307}"/>
              </a:ext>
            </a:extLst>
          </p:cNvPr>
          <p:cNvSpPr/>
          <p:nvPr/>
        </p:nvSpPr>
        <p:spPr>
          <a:xfrm>
            <a:off x="4751388" y="2238253"/>
            <a:ext cx="3175640" cy="2131380"/>
          </a:xfrm>
          <a:prstGeom prst="roundRect">
            <a:avLst>
              <a:gd name="adj" fmla="val 2748"/>
            </a:avLst>
          </a:prstGeom>
          <a:solidFill>
            <a:srgbClr val="FFD8D4"/>
          </a:solidFill>
          <a:ln>
            <a:noFill/>
          </a:ln>
        </p:spPr>
        <p:txBody>
          <a:bodyPr spcFirstLastPara="1" wrap="square" lIns="108000" tIns="108000" rIns="108000" bIns="45700" anchor="t" anchorCtr="0">
            <a:noAutofit/>
          </a:bodyPr>
          <a:lstStyle/>
          <a:p>
            <a:pPr marL="138113" marR="0" lvl="0" indent="-128588" algn="l" defTabSz="457200" rtl="0">
              <a:lnSpc>
                <a:spcPct val="100000"/>
              </a:lnSpc>
              <a:spcBef>
                <a:spcPts val="0"/>
              </a:spcBef>
              <a:spcAft>
                <a:spcPts val="0"/>
              </a:spcAft>
              <a:buClr>
                <a:srgbClr val="EE4639"/>
              </a:buClr>
              <a:buSzPct val="100000"/>
              <a:buFont typeface="Arial" panose="020B0604020202020204" pitchFamily="34" charset="0"/>
              <a:buChar char="•"/>
              <a:tabLst>
                <a:tab pos="3228975" algn="l"/>
              </a:tabLst>
            </a:pPr>
            <a:r>
              <a:rPr lang="es-PE" sz="1400" b="0" i="0" u="none" strike="noStrike" cap="none" dirty="0">
                <a:solidFill>
                  <a:srgbClr val="262626"/>
                </a:solidFill>
                <a:latin typeface="Calibri"/>
                <a:ea typeface="+mn-ea"/>
                <a:cs typeface="Calibri"/>
                <a:sym typeface="Arial"/>
              </a:rPr>
              <a:t>Pruebas operacionales realizadas por los usuarios/clientes en un sitio externo sin involucrar de alguna forma a los desarrolladores, para determinar si un componente o sistema satisface las necesidades del usuario/cliente y se ajusta a los procesos de negocio.</a:t>
            </a:r>
          </a:p>
        </p:txBody>
      </p:sp>
      <p:grpSp>
        <p:nvGrpSpPr>
          <p:cNvPr id="14" name="Agrupar 4">
            <a:extLst>
              <a:ext uri="{FF2B5EF4-FFF2-40B4-BE49-F238E27FC236}">
                <a16:creationId xmlns:a16="http://schemas.microsoft.com/office/drawing/2014/main" id="{5EA94E05-FD53-564C-919B-4467A438EAEE}"/>
              </a:ext>
            </a:extLst>
          </p:cNvPr>
          <p:cNvGrpSpPr/>
          <p:nvPr/>
        </p:nvGrpSpPr>
        <p:grpSpPr>
          <a:xfrm>
            <a:off x="4536473" y="1712331"/>
            <a:ext cx="459474" cy="403823"/>
            <a:chOff x="5892512" y="2805541"/>
            <a:chExt cx="459474" cy="403823"/>
          </a:xfrm>
        </p:grpSpPr>
        <p:sp>
          <p:nvSpPr>
            <p:cNvPr id="15" name="Elipse 14">
              <a:extLst>
                <a:ext uri="{FF2B5EF4-FFF2-40B4-BE49-F238E27FC236}">
                  <a16:creationId xmlns:a16="http://schemas.microsoft.com/office/drawing/2014/main" id="{D6484D0B-D675-BA43-B735-C1DEBFA00CF0}"/>
                </a:ext>
              </a:extLst>
            </p:cNvPr>
            <p:cNvSpPr/>
            <p:nvPr/>
          </p:nvSpPr>
          <p:spPr>
            <a:xfrm>
              <a:off x="5956277" y="2824919"/>
              <a:ext cx="395709" cy="376075"/>
            </a:xfrm>
            <a:prstGeom prst="ellipse">
              <a:avLst/>
            </a:prstGeom>
            <a:solidFill>
              <a:srgbClr val="B736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6" name="Elipse 15">
              <a:extLst>
                <a:ext uri="{FF2B5EF4-FFF2-40B4-BE49-F238E27FC236}">
                  <a16:creationId xmlns:a16="http://schemas.microsoft.com/office/drawing/2014/main" id="{25417CDB-881F-F74C-AC48-5D617FD8EF6E}"/>
                </a:ext>
              </a:extLst>
            </p:cNvPr>
            <p:cNvSpPr/>
            <p:nvPr/>
          </p:nvSpPr>
          <p:spPr>
            <a:xfrm>
              <a:off x="5892512" y="2805541"/>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7" name="Triángulo 16">
              <a:extLst>
                <a:ext uri="{FF2B5EF4-FFF2-40B4-BE49-F238E27FC236}">
                  <a16:creationId xmlns:a16="http://schemas.microsoft.com/office/drawing/2014/main" id="{7350A526-9BF1-7742-97CD-BA19C6F794FB}"/>
                </a:ext>
              </a:extLst>
            </p:cNvPr>
            <p:cNvSpPr/>
            <p:nvPr/>
          </p:nvSpPr>
          <p:spPr>
            <a:xfrm rot="5400000">
              <a:off x="6076285" y="2946262"/>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3" name="Google Shape;253;p23"/>
          <p:cNvSpPr/>
          <p:nvPr/>
        </p:nvSpPr>
        <p:spPr>
          <a:xfrm>
            <a:off x="503238" y="912813"/>
            <a:ext cx="8189473"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600" b="1" dirty="0">
                <a:solidFill>
                  <a:schemeClr val="dk1"/>
                </a:solidFill>
                <a:latin typeface="Calibri"/>
                <a:ea typeface="Calibri"/>
                <a:cs typeface="Calibri"/>
                <a:sym typeface="Calibri"/>
              </a:rPr>
              <a:t>PRUEBAS DE ACEPTACIÓN</a:t>
            </a:r>
            <a:endParaRPr dirty="0"/>
          </a:p>
        </p:txBody>
      </p:sp>
      <p:sp>
        <p:nvSpPr>
          <p:cNvPr id="4" name="Rectangle 5">
            <a:extLst>
              <a:ext uri="{FF2B5EF4-FFF2-40B4-BE49-F238E27FC236}">
                <a16:creationId xmlns:a16="http://schemas.microsoft.com/office/drawing/2014/main" id="{FB23FDDC-20C5-A54A-9616-28E8EBB1E4A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redondeado 6">
            <a:extLst>
              <a:ext uri="{FF2B5EF4-FFF2-40B4-BE49-F238E27FC236}">
                <a16:creationId xmlns:a16="http://schemas.microsoft.com/office/drawing/2014/main" id="{4621148F-7C21-104C-827D-E7D66810A83F}"/>
              </a:ext>
            </a:extLst>
          </p:cNvPr>
          <p:cNvSpPr/>
          <p:nvPr/>
        </p:nvSpPr>
        <p:spPr>
          <a:xfrm>
            <a:off x="989806" y="1464914"/>
            <a:ext cx="7164388" cy="729320"/>
          </a:xfrm>
          <a:prstGeom prst="roundRect">
            <a:avLst>
              <a:gd name="adj" fmla="val 1244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80975" lvl="0" indent="-174625" defTabSz="663575">
              <a:spcAft>
                <a:spcPts val="600"/>
              </a:spcAft>
              <a:buClr>
                <a:srgbClr val="00B1C2"/>
              </a:buClr>
              <a:buSzPct val="100000"/>
              <a:buFont typeface="Arial" panose="020B0604020202020204" pitchFamily="34" charset="0"/>
              <a:buChar char="•"/>
              <a:tabLst>
                <a:tab pos="3228975" algn="l"/>
              </a:tabLst>
            </a:pPr>
            <a:r>
              <a:rPr lang="es-PE" dirty="0">
                <a:solidFill>
                  <a:schemeClr val="tx1"/>
                </a:solidFill>
                <a:latin typeface="Calibri" panose="020F0502020204030204" pitchFamily="34" charset="0"/>
                <a:ea typeface="+mn-ea"/>
                <a:cs typeface="Calibri" panose="020F0502020204030204" pitchFamily="34" charset="0"/>
                <a:sym typeface="Calibri"/>
              </a:rPr>
              <a:t>Proporciona a los usuarios finales la conformidad de que el sistema funcionará de acuerdo con sus expectativas.</a:t>
            </a:r>
            <a:endParaRPr lang="es-PE" dirty="0">
              <a:solidFill>
                <a:schemeClr val="tx1"/>
              </a:solidFill>
              <a:latin typeface="Calibri" panose="020F0502020204030204" pitchFamily="34" charset="0"/>
              <a:ea typeface="+mn-ea"/>
              <a:cs typeface="Calibri" panose="020F0502020204030204" pitchFamily="34" charset="0"/>
            </a:endParaRPr>
          </a:p>
        </p:txBody>
      </p:sp>
      <p:sp>
        <p:nvSpPr>
          <p:cNvPr id="8" name="Rectángulo redondeado 7">
            <a:extLst>
              <a:ext uri="{FF2B5EF4-FFF2-40B4-BE49-F238E27FC236}">
                <a16:creationId xmlns:a16="http://schemas.microsoft.com/office/drawing/2014/main" id="{DA7784D0-3780-1C4F-9681-E5390F6E533C}"/>
              </a:ext>
            </a:extLst>
          </p:cNvPr>
          <p:cNvSpPr/>
          <p:nvPr/>
        </p:nvSpPr>
        <p:spPr>
          <a:xfrm>
            <a:off x="989806" y="2404714"/>
            <a:ext cx="7164388" cy="729320"/>
          </a:xfrm>
          <a:prstGeom prst="roundRect">
            <a:avLst>
              <a:gd name="adj" fmla="val 1244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80975" indent="-174625" defTabSz="663575">
              <a:spcAft>
                <a:spcPts val="600"/>
              </a:spcAft>
              <a:buClr>
                <a:srgbClr val="00B1C2"/>
              </a:buClr>
              <a:buSzPct val="100000"/>
              <a:buFont typeface="Arial" panose="020B0604020202020204" pitchFamily="34" charset="0"/>
              <a:buChar char="•"/>
              <a:tabLst>
                <a:tab pos="3228975" algn="l"/>
              </a:tabLst>
            </a:pPr>
            <a:r>
              <a:rPr lang="es-PE" dirty="0">
                <a:solidFill>
                  <a:schemeClr val="tx1"/>
                </a:solidFill>
                <a:latin typeface="Calibri" panose="020F0502020204030204" pitchFamily="34" charset="0"/>
                <a:ea typeface="+mn-ea"/>
                <a:cs typeface="Calibri" panose="020F0502020204030204" pitchFamily="34" charset="0"/>
                <a:sym typeface="Calibri"/>
              </a:rPr>
              <a:t>Los objetos de pruebas pueden incluir: el sistema totalmente integrado, formularios y reportes producidos por el sistema</a:t>
            </a:r>
            <a:endParaRPr lang="es-PE" dirty="0">
              <a:solidFill>
                <a:schemeClr val="tx1"/>
              </a:solidFill>
              <a:latin typeface="Calibri" panose="020F0502020204030204" pitchFamily="34" charset="0"/>
              <a:ea typeface="+mn-ea"/>
              <a:cs typeface="Calibri" panose="020F0502020204030204" pitchFamily="34" charset="0"/>
            </a:endParaRPr>
          </a:p>
        </p:txBody>
      </p:sp>
      <p:sp>
        <p:nvSpPr>
          <p:cNvPr id="9" name="Rectángulo redondeado 8">
            <a:extLst>
              <a:ext uri="{FF2B5EF4-FFF2-40B4-BE49-F238E27FC236}">
                <a16:creationId xmlns:a16="http://schemas.microsoft.com/office/drawing/2014/main" id="{C9588FE4-3408-2A46-9805-BE70C9C5B080}"/>
              </a:ext>
            </a:extLst>
          </p:cNvPr>
          <p:cNvSpPr/>
          <p:nvPr/>
        </p:nvSpPr>
        <p:spPr>
          <a:xfrm>
            <a:off x="989806" y="3369914"/>
            <a:ext cx="7164388" cy="729320"/>
          </a:xfrm>
          <a:prstGeom prst="roundRect">
            <a:avLst>
              <a:gd name="adj" fmla="val 12445"/>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80975" indent="-174625" defTabSz="663575">
              <a:spcAft>
                <a:spcPts val="600"/>
              </a:spcAft>
              <a:buClr>
                <a:srgbClr val="00B1C2"/>
              </a:buClr>
              <a:buSzPct val="100000"/>
              <a:buFont typeface="Arial" panose="020B0604020202020204" pitchFamily="34" charset="0"/>
              <a:buChar char="•"/>
              <a:tabLst>
                <a:tab pos="3228975" algn="l"/>
              </a:tabLst>
            </a:pPr>
            <a:r>
              <a:rPr lang="es-PE" dirty="0">
                <a:solidFill>
                  <a:schemeClr val="tx1"/>
                </a:solidFill>
                <a:latin typeface="Calibri" panose="020F0502020204030204" pitchFamily="34" charset="0"/>
                <a:ea typeface="+mn-ea"/>
                <a:cs typeface="Calibri" panose="020F0502020204030204" pitchFamily="34" charset="0"/>
                <a:sym typeface="Calibri"/>
              </a:rPr>
              <a:t>A diferencia de las pruebas de sistema, las pruebas llevadas aquí deben ser independientes de otras pruebas llevadas a cabo.</a:t>
            </a:r>
            <a:endParaRPr lang="es-PE" dirty="0">
              <a:solidFill>
                <a:schemeClr val="tx1"/>
              </a:solidFill>
              <a:latin typeface="Calibri" panose="020F0502020204030204" pitchFamily="34" charset="0"/>
              <a:ea typeface="+mn-ea"/>
              <a:cs typeface="Calibri" panose="020F0502020204030204" pitchFamily="34" charset="0"/>
            </a:endParaRPr>
          </a:p>
        </p:txBody>
      </p:sp>
      <p:sp>
        <p:nvSpPr>
          <p:cNvPr id="10" name="Rectángulo redondeado 9">
            <a:extLst>
              <a:ext uri="{FF2B5EF4-FFF2-40B4-BE49-F238E27FC236}">
                <a16:creationId xmlns:a16="http://schemas.microsoft.com/office/drawing/2014/main" id="{E5489C14-FF0F-5A48-A4E7-2BDC0DCACE12}"/>
              </a:ext>
            </a:extLst>
          </p:cNvPr>
          <p:cNvSpPr/>
          <p:nvPr/>
        </p:nvSpPr>
        <p:spPr>
          <a:xfrm>
            <a:off x="989806" y="4368980"/>
            <a:ext cx="7164388" cy="534807"/>
          </a:xfrm>
          <a:prstGeom prst="roundRect">
            <a:avLst>
              <a:gd name="adj" fmla="val 20361"/>
            </a:avLst>
          </a:prstGeom>
          <a:solidFill>
            <a:srgbClr val="D1EFF4"/>
          </a:solidFill>
          <a:ln w="38100">
            <a:solidFill>
              <a:srgbClr val="00B1C2"/>
            </a:solidFill>
          </a:ln>
        </p:spPr>
        <p:style>
          <a:lnRef idx="2">
            <a:schemeClr val="accent1">
              <a:shade val="50000"/>
            </a:schemeClr>
          </a:lnRef>
          <a:fillRef idx="1">
            <a:schemeClr val="accent1"/>
          </a:fillRef>
          <a:effectRef idx="0">
            <a:schemeClr val="accent1"/>
          </a:effectRef>
          <a:fontRef idx="minor">
            <a:schemeClr val="lt1"/>
          </a:fontRef>
        </p:style>
        <p:txBody>
          <a:bodyPr lIns="180000" tIns="108000" rIns="36000" rtlCol="0" anchor="t"/>
          <a:lstStyle/>
          <a:p>
            <a:pPr marL="180975" indent="-174625" defTabSz="663575">
              <a:spcAft>
                <a:spcPts val="600"/>
              </a:spcAft>
              <a:buClr>
                <a:srgbClr val="00B1C2"/>
              </a:buClr>
              <a:buSzPct val="100000"/>
              <a:buFont typeface="Arial" panose="020B0604020202020204" pitchFamily="34" charset="0"/>
              <a:buChar char="•"/>
              <a:tabLst>
                <a:tab pos="3228975" algn="l"/>
              </a:tabLst>
            </a:pPr>
            <a:r>
              <a:rPr lang="es-PE" dirty="0">
                <a:solidFill>
                  <a:schemeClr val="tx1"/>
                </a:solidFill>
                <a:latin typeface="Calibri" panose="020F0502020204030204" pitchFamily="34" charset="0"/>
                <a:ea typeface="+mn-ea"/>
                <a:cs typeface="Calibri" panose="020F0502020204030204" pitchFamily="34" charset="0"/>
                <a:sym typeface="Calibri"/>
              </a:rPr>
              <a:t>Su propósito es demostrar la conformidad del sistema con los requerimientos del cliente.</a:t>
            </a:r>
            <a:endParaRPr lang="es-PE" dirty="0">
              <a:solidFill>
                <a:schemeClr val="tx1"/>
              </a:solidFill>
              <a:latin typeface="Calibri" panose="020F0502020204030204" pitchFamily="34" charset="0"/>
              <a:ea typeface="+mn-ea"/>
              <a:cs typeface="Calibri" panose="020F050202020403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9" name="Google Shape;259;p24"/>
          <p:cNvSpPr/>
          <p:nvPr/>
        </p:nvSpPr>
        <p:spPr>
          <a:xfrm>
            <a:off x="503239" y="911225"/>
            <a:ext cx="8172450" cy="33701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DE REGRESIÓN</a:t>
            </a:r>
            <a:endParaRPr dirty="0"/>
          </a:p>
          <a:p>
            <a:pPr marL="185738"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Consiste en la repetición selectiva de pruebas para detectar fallos introducidos durante la modificación de un sistema o componente de un sistema. </a:t>
            </a:r>
            <a:endParaRPr dirty="0"/>
          </a:p>
          <a:p>
            <a:pPr marL="185738"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efectúa para comprobar que los cambios no han originado efectos adversos no intencionales o que se siguen cumpliendo los requisitos especificados.</a:t>
            </a:r>
            <a:endParaRPr dirty="0"/>
          </a:p>
          <a:p>
            <a:pPr marL="136525" marR="0" lvl="0" indent="-254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5738"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debe:</a:t>
            </a:r>
            <a:endParaRPr dirty="0"/>
          </a:p>
          <a:p>
            <a:pPr marL="363538"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Probar íntegramente los módulos que se han cambiado.</a:t>
            </a:r>
            <a:endParaRPr dirty="0"/>
          </a:p>
          <a:p>
            <a:pPr marL="363538" marR="0" lvl="1" indent="-177800"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Decidir las pruebas a efectuar para los módulos que no han cambiado y que han sido afectados por los cambios producidos.</a:t>
            </a:r>
            <a:endParaRPr dirty="0"/>
          </a:p>
          <a:p>
            <a:pPr marL="136525" marR="0" lvl="0" indent="-254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85738" marR="0" lvl="0" indent="-176213"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realizan durante el </a:t>
            </a:r>
            <a:r>
              <a:rPr lang="es-PE" sz="1600" b="1" dirty="0">
                <a:solidFill>
                  <a:schemeClr val="dk1"/>
                </a:solidFill>
                <a:latin typeface="Calibri"/>
                <a:ea typeface="Calibri"/>
                <a:cs typeface="Calibri"/>
                <a:sym typeface="Calibri"/>
              </a:rPr>
              <a:t>desarrollo</a:t>
            </a:r>
            <a:r>
              <a:rPr lang="es-PE" sz="1600" dirty="0">
                <a:solidFill>
                  <a:schemeClr val="dk1"/>
                </a:solidFill>
                <a:latin typeface="Calibri"/>
                <a:ea typeface="Calibri"/>
                <a:cs typeface="Calibri"/>
                <a:sym typeface="Calibri"/>
              </a:rPr>
              <a:t> cuando se produzcan cambios en el software, como durante el </a:t>
            </a:r>
            <a:r>
              <a:rPr lang="es-PE" sz="1600" b="1" dirty="0">
                <a:solidFill>
                  <a:schemeClr val="dk1"/>
                </a:solidFill>
                <a:latin typeface="Calibri"/>
                <a:ea typeface="Calibri"/>
                <a:cs typeface="Calibri"/>
                <a:sym typeface="Calibri"/>
              </a:rPr>
              <a:t>mantenimiento</a:t>
            </a:r>
            <a:r>
              <a:rPr lang="es-PE" sz="1600" dirty="0">
                <a:solidFill>
                  <a:schemeClr val="dk1"/>
                </a:solidFill>
                <a:latin typeface="Calibri"/>
                <a:ea typeface="Calibri"/>
                <a:cs typeface="Calibri"/>
                <a:sym typeface="Calibri"/>
              </a:rPr>
              <a:t>. </a:t>
            </a:r>
            <a:endParaRPr dirty="0"/>
          </a:p>
        </p:txBody>
      </p:sp>
      <p:sp>
        <p:nvSpPr>
          <p:cNvPr id="4" name="Rectangle 5">
            <a:extLst>
              <a:ext uri="{FF2B5EF4-FFF2-40B4-BE49-F238E27FC236}">
                <a16:creationId xmlns:a16="http://schemas.microsoft.com/office/drawing/2014/main" id="{267A9450-900E-C041-8B7C-6CBD1497CCA5}"/>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 name="Rectángulo 1">
            <a:extLst>
              <a:ext uri="{FF2B5EF4-FFF2-40B4-BE49-F238E27FC236}">
                <a16:creationId xmlns:a16="http://schemas.microsoft.com/office/drawing/2014/main" id="{C6235E50-CA82-314B-A7D1-9C83C29688CE}"/>
              </a:ext>
            </a:extLst>
          </p:cNvPr>
          <p:cNvSpPr/>
          <p:nvPr/>
        </p:nvSpPr>
        <p:spPr>
          <a:xfrm>
            <a:off x="468313" y="912813"/>
            <a:ext cx="8207375" cy="4321175"/>
          </a:xfrm>
          <a:prstGeom prst="rect">
            <a:avLst/>
          </a:prstGeom>
          <a:solidFill>
            <a:srgbClr val="E3DCED">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66" name="Google Shape;266;p25"/>
          <p:cNvSpPr/>
          <p:nvPr/>
        </p:nvSpPr>
        <p:spPr>
          <a:xfrm>
            <a:off x="468312" y="1028413"/>
            <a:ext cx="8172451" cy="246221"/>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PE" sz="1600" b="1" dirty="0">
                <a:solidFill>
                  <a:schemeClr val="dk1"/>
                </a:solidFill>
                <a:latin typeface="Calibri"/>
                <a:ea typeface="Calibri"/>
                <a:cs typeface="Calibri"/>
                <a:sym typeface="Calibri"/>
              </a:rPr>
              <a:t>NIVELES PROGRESIVOS DE LAS PRUEBAS</a:t>
            </a:r>
            <a:endParaRPr sz="1600" b="1" dirty="0">
              <a:solidFill>
                <a:schemeClr val="dk1"/>
              </a:solidFill>
              <a:latin typeface="Calibri"/>
              <a:ea typeface="Calibri"/>
              <a:cs typeface="Calibri"/>
              <a:sym typeface="Calibri"/>
            </a:endParaRPr>
          </a:p>
        </p:txBody>
      </p:sp>
      <p:sp>
        <p:nvSpPr>
          <p:cNvPr id="267" name="Google Shape;267;p25"/>
          <p:cNvSpPr/>
          <p:nvPr/>
        </p:nvSpPr>
        <p:spPr>
          <a:xfrm>
            <a:off x="575935" y="1378781"/>
            <a:ext cx="1386641" cy="664797"/>
          </a:xfrm>
          <a:prstGeom prst="rect">
            <a:avLst/>
          </a:prstGeom>
          <a:noFill/>
          <a:ln>
            <a:noFill/>
          </a:ln>
        </p:spPr>
        <p:txBody>
          <a:bodyPr spcFirstLastPara="1" wrap="square" lIns="0" tIns="0" rIns="0" bIns="0" anchor="t" anchorCtr="0">
            <a:spAutoFit/>
          </a:bodyPr>
          <a:lstStyle/>
          <a:p>
            <a:pPr marL="136525" marR="0" lvl="0" indent="-136525" algn="l" rtl="0">
              <a:lnSpc>
                <a:spcPct val="90000"/>
              </a:lnSpc>
              <a:spcBef>
                <a:spcPts val="0"/>
              </a:spcBef>
              <a:spcAft>
                <a:spcPts val="0"/>
              </a:spcAft>
              <a:buClr>
                <a:schemeClr val="dk1"/>
              </a:buClr>
              <a:buSzPts val="1200"/>
              <a:buFont typeface="Arial"/>
              <a:buChar char="•"/>
            </a:pPr>
            <a:r>
              <a:rPr lang="es-PE" sz="1200" b="1" dirty="0">
                <a:solidFill>
                  <a:schemeClr val="dk1"/>
                </a:solidFill>
                <a:latin typeface="Calibri"/>
                <a:ea typeface="Calibri"/>
                <a:cs typeface="Calibri"/>
                <a:sym typeface="Calibri"/>
              </a:rPr>
              <a:t>Actividades de la ejecución de las pruebas en las fases de pruebas.</a:t>
            </a:r>
            <a:endParaRPr dirty="0"/>
          </a:p>
        </p:txBody>
      </p:sp>
      <p:sp>
        <p:nvSpPr>
          <p:cNvPr id="268" name="Google Shape;268;p25"/>
          <p:cNvSpPr/>
          <p:nvPr/>
        </p:nvSpPr>
        <p:spPr>
          <a:xfrm>
            <a:off x="1900126" y="1500397"/>
            <a:ext cx="2057399" cy="278557"/>
          </a:xfrm>
          <a:prstGeom prst="roundRect">
            <a:avLst>
              <a:gd name="adj" fmla="val 28514"/>
            </a:avLst>
          </a:prstGeom>
          <a:noFill/>
          <a:ln w="190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Unidad</a:t>
            </a:r>
            <a:endParaRPr/>
          </a:p>
        </p:txBody>
      </p:sp>
      <p:sp>
        <p:nvSpPr>
          <p:cNvPr id="269" name="Google Shape;269;p25"/>
          <p:cNvSpPr/>
          <p:nvPr/>
        </p:nvSpPr>
        <p:spPr>
          <a:xfrm>
            <a:off x="2470402" y="1875619"/>
            <a:ext cx="2057399" cy="278557"/>
          </a:xfrm>
          <a:prstGeom prst="roundRect">
            <a:avLst>
              <a:gd name="adj" fmla="val 19395"/>
            </a:avLst>
          </a:prstGeom>
          <a:noFill/>
          <a:ln w="19050" cap="flat" cmpd="sng">
            <a:solidFill>
              <a:srgbClr val="00B1C2"/>
            </a:solidFill>
            <a:prstDash val="sys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Componente</a:t>
            </a:r>
            <a:endParaRPr/>
          </a:p>
        </p:txBody>
      </p:sp>
      <p:sp>
        <p:nvSpPr>
          <p:cNvPr id="270" name="Google Shape;270;p25"/>
          <p:cNvSpPr/>
          <p:nvPr/>
        </p:nvSpPr>
        <p:spPr>
          <a:xfrm>
            <a:off x="3112700" y="2244428"/>
            <a:ext cx="2057399" cy="278557"/>
          </a:xfrm>
          <a:prstGeom prst="roundRect">
            <a:avLst>
              <a:gd name="adj" fmla="val 13316"/>
            </a:avLst>
          </a:prstGeom>
          <a:noFill/>
          <a:ln w="19050" cap="flat" cmpd="sng">
            <a:solidFill>
              <a:srgbClr val="00B1C2"/>
            </a:solidFill>
            <a:prstDash val="sys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Integración / Cadena</a:t>
            </a:r>
            <a:endParaRPr/>
          </a:p>
        </p:txBody>
      </p:sp>
      <p:sp>
        <p:nvSpPr>
          <p:cNvPr id="271" name="Google Shape;271;p25"/>
          <p:cNvSpPr/>
          <p:nvPr/>
        </p:nvSpPr>
        <p:spPr>
          <a:xfrm>
            <a:off x="3957525" y="2610771"/>
            <a:ext cx="2057399" cy="278557"/>
          </a:xfrm>
          <a:prstGeom prst="roundRect">
            <a:avLst>
              <a:gd name="adj" fmla="val 19395"/>
            </a:avLst>
          </a:prstGeom>
          <a:noFill/>
          <a:ln w="190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Sistema</a:t>
            </a:r>
            <a:endParaRPr/>
          </a:p>
        </p:txBody>
      </p:sp>
      <p:sp>
        <p:nvSpPr>
          <p:cNvPr id="272" name="Google Shape;272;p25"/>
          <p:cNvSpPr/>
          <p:nvPr/>
        </p:nvSpPr>
        <p:spPr>
          <a:xfrm>
            <a:off x="4782474" y="2977114"/>
            <a:ext cx="1928191" cy="278557"/>
          </a:xfrm>
          <a:prstGeom prst="roundRect">
            <a:avLst>
              <a:gd name="adj" fmla="val 28514"/>
            </a:avLst>
          </a:prstGeom>
          <a:noFill/>
          <a:ln w="19050" cap="flat" cmpd="sng">
            <a:solidFill>
              <a:srgbClr val="00B1C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Aceptación</a:t>
            </a:r>
            <a:endParaRPr/>
          </a:p>
        </p:txBody>
      </p:sp>
      <p:sp>
        <p:nvSpPr>
          <p:cNvPr id="273" name="Google Shape;273;p25"/>
          <p:cNvSpPr/>
          <p:nvPr/>
        </p:nvSpPr>
        <p:spPr>
          <a:xfrm>
            <a:off x="6819996" y="2977114"/>
            <a:ext cx="1767992" cy="278557"/>
          </a:xfrm>
          <a:prstGeom prst="roundRect">
            <a:avLst>
              <a:gd name="adj" fmla="val 22435"/>
            </a:avLst>
          </a:prstGeom>
          <a:noFill/>
          <a:ln w="19050" cap="flat" cmpd="sng">
            <a:solidFill>
              <a:srgbClr val="00B1C2"/>
            </a:solidFill>
            <a:prstDash val="sys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PE" sz="1200">
                <a:solidFill>
                  <a:schemeClr val="dk1"/>
                </a:solidFill>
                <a:latin typeface="Calibri"/>
                <a:ea typeface="Calibri"/>
                <a:cs typeface="Calibri"/>
                <a:sym typeface="Calibri"/>
              </a:rPr>
              <a:t>Piloto</a:t>
            </a:r>
            <a:endParaRPr/>
          </a:p>
        </p:txBody>
      </p:sp>
      <p:sp>
        <p:nvSpPr>
          <p:cNvPr id="274" name="Google Shape;274;p25"/>
          <p:cNvSpPr/>
          <p:nvPr/>
        </p:nvSpPr>
        <p:spPr>
          <a:xfrm>
            <a:off x="575934" y="3461828"/>
            <a:ext cx="1321533" cy="332399"/>
          </a:xfrm>
          <a:prstGeom prst="rect">
            <a:avLst/>
          </a:prstGeom>
          <a:noFill/>
          <a:ln>
            <a:noFill/>
          </a:ln>
        </p:spPr>
        <p:txBody>
          <a:bodyPr spcFirstLastPara="1" wrap="square" lIns="0" tIns="0" rIns="0" bIns="0" anchor="t" anchorCtr="0">
            <a:spAutoFit/>
          </a:bodyPr>
          <a:lstStyle/>
          <a:p>
            <a:pPr marL="136525" marR="0" lvl="0" indent="-136525" algn="l" rtl="0">
              <a:lnSpc>
                <a:spcPct val="90000"/>
              </a:lnSpc>
              <a:spcBef>
                <a:spcPts val="0"/>
              </a:spcBef>
              <a:spcAft>
                <a:spcPts val="0"/>
              </a:spcAft>
              <a:buClr>
                <a:schemeClr val="dk1"/>
              </a:buClr>
              <a:buSzPts val="1200"/>
              <a:buFont typeface="Arial"/>
              <a:buChar char="•"/>
            </a:pPr>
            <a:r>
              <a:rPr lang="es-PE" sz="1200" b="1">
                <a:solidFill>
                  <a:schemeClr val="dk1"/>
                </a:solidFill>
                <a:latin typeface="Calibri"/>
                <a:ea typeface="Calibri"/>
                <a:cs typeface="Calibri"/>
                <a:sym typeface="Calibri"/>
              </a:rPr>
              <a:t>Probadores Ideales:</a:t>
            </a:r>
            <a:endParaRPr/>
          </a:p>
        </p:txBody>
      </p:sp>
      <p:sp>
        <p:nvSpPr>
          <p:cNvPr id="275" name="Google Shape;275;p25"/>
          <p:cNvSpPr/>
          <p:nvPr/>
        </p:nvSpPr>
        <p:spPr>
          <a:xfrm>
            <a:off x="575934" y="3984075"/>
            <a:ext cx="1460681" cy="332399"/>
          </a:xfrm>
          <a:prstGeom prst="rect">
            <a:avLst/>
          </a:prstGeom>
          <a:noFill/>
          <a:ln>
            <a:noFill/>
          </a:ln>
        </p:spPr>
        <p:txBody>
          <a:bodyPr spcFirstLastPara="1" wrap="square" lIns="0" tIns="0" rIns="0" bIns="0" anchor="t" anchorCtr="0">
            <a:spAutoFit/>
          </a:bodyPr>
          <a:lstStyle/>
          <a:p>
            <a:pPr marL="136525" marR="0" lvl="0" indent="-136525" algn="l" rtl="0">
              <a:lnSpc>
                <a:spcPct val="90000"/>
              </a:lnSpc>
              <a:spcBef>
                <a:spcPts val="0"/>
              </a:spcBef>
              <a:spcAft>
                <a:spcPts val="0"/>
              </a:spcAft>
              <a:buClr>
                <a:schemeClr val="dk1"/>
              </a:buClr>
              <a:buSzPts val="1200"/>
              <a:buFont typeface="Arial"/>
              <a:buChar char="•"/>
            </a:pPr>
            <a:r>
              <a:rPr lang="es-PE" sz="1200" b="1" dirty="0">
                <a:solidFill>
                  <a:schemeClr val="dk1"/>
                </a:solidFill>
                <a:latin typeface="Calibri"/>
                <a:ea typeface="Calibri"/>
                <a:cs typeface="Calibri"/>
                <a:sym typeface="Calibri"/>
              </a:rPr>
              <a:t>Granularidad </a:t>
            </a:r>
            <a:br>
              <a:rPr lang="es-PE" sz="1200" b="1" dirty="0">
                <a:solidFill>
                  <a:schemeClr val="dk1"/>
                </a:solidFill>
                <a:latin typeface="Calibri"/>
                <a:ea typeface="Calibri"/>
                <a:cs typeface="Calibri"/>
                <a:sym typeface="Calibri"/>
              </a:rPr>
            </a:br>
            <a:r>
              <a:rPr lang="es-PE" sz="1200" b="1" dirty="0">
                <a:solidFill>
                  <a:schemeClr val="dk1"/>
                </a:solidFill>
                <a:latin typeface="Calibri"/>
                <a:ea typeface="Calibri"/>
                <a:cs typeface="Calibri"/>
                <a:sym typeface="Calibri"/>
              </a:rPr>
              <a:t>de Pruebas:</a:t>
            </a:r>
            <a:endParaRPr dirty="0"/>
          </a:p>
        </p:txBody>
      </p:sp>
      <p:sp>
        <p:nvSpPr>
          <p:cNvPr id="276" name="Google Shape;276;p25"/>
          <p:cNvSpPr/>
          <p:nvPr/>
        </p:nvSpPr>
        <p:spPr>
          <a:xfrm>
            <a:off x="575934" y="4675826"/>
            <a:ext cx="1460681" cy="332399"/>
          </a:xfrm>
          <a:prstGeom prst="rect">
            <a:avLst/>
          </a:prstGeom>
          <a:noFill/>
          <a:ln>
            <a:noFill/>
          </a:ln>
        </p:spPr>
        <p:txBody>
          <a:bodyPr spcFirstLastPara="1" wrap="square" lIns="0" tIns="0" rIns="0" bIns="0" anchor="t" anchorCtr="0">
            <a:spAutoFit/>
          </a:bodyPr>
          <a:lstStyle/>
          <a:p>
            <a:pPr marL="136525" marR="0" lvl="0" indent="-136525" algn="l" rtl="0">
              <a:lnSpc>
                <a:spcPct val="90000"/>
              </a:lnSpc>
              <a:spcBef>
                <a:spcPts val="0"/>
              </a:spcBef>
              <a:spcAft>
                <a:spcPts val="0"/>
              </a:spcAft>
              <a:buClr>
                <a:schemeClr val="dk1"/>
              </a:buClr>
              <a:buSzPts val="1200"/>
              <a:buFont typeface="Arial"/>
              <a:buChar char="•"/>
            </a:pPr>
            <a:r>
              <a:rPr lang="es-PE" sz="1200" b="1" dirty="0">
                <a:solidFill>
                  <a:schemeClr val="dk1"/>
                </a:solidFill>
                <a:latin typeface="Calibri"/>
                <a:ea typeface="Calibri"/>
                <a:cs typeface="Calibri"/>
                <a:sym typeface="Calibri"/>
              </a:rPr>
              <a:t>Cronología </a:t>
            </a:r>
            <a:br>
              <a:rPr lang="es-PE" sz="1200" b="1" dirty="0">
                <a:solidFill>
                  <a:schemeClr val="dk1"/>
                </a:solidFill>
                <a:latin typeface="Calibri"/>
                <a:ea typeface="Calibri"/>
                <a:cs typeface="Calibri"/>
                <a:sym typeface="Calibri"/>
              </a:rPr>
            </a:br>
            <a:r>
              <a:rPr lang="es-PE" sz="1200" b="1" dirty="0">
                <a:solidFill>
                  <a:schemeClr val="dk1"/>
                </a:solidFill>
                <a:latin typeface="Calibri"/>
                <a:ea typeface="Calibri"/>
                <a:cs typeface="Calibri"/>
                <a:sym typeface="Calibri"/>
              </a:rPr>
              <a:t>del Proyecto</a:t>
            </a:r>
            <a:endParaRPr dirty="0"/>
          </a:p>
        </p:txBody>
      </p:sp>
      <p:cxnSp>
        <p:nvCxnSpPr>
          <p:cNvPr id="277" name="Google Shape;277;p25"/>
          <p:cNvCxnSpPr/>
          <p:nvPr/>
        </p:nvCxnSpPr>
        <p:spPr>
          <a:xfrm>
            <a:off x="1900126" y="4199297"/>
            <a:ext cx="6539947" cy="0"/>
          </a:xfrm>
          <a:prstGeom prst="straightConnector1">
            <a:avLst/>
          </a:prstGeom>
          <a:noFill/>
          <a:ln w="38100" cap="flat" cmpd="sng">
            <a:solidFill>
              <a:srgbClr val="7150A0"/>
            </a:solidFill>
            <a:prstDash val="solid"/>
            <a:round/>
            <a:headEnd type="none" w="sm" len="sm"/>
            <a:tailEnd type="none" w="sm" len="sm"/>
          </a:ln>
        </p:spPr>
      </p:cxnSp>
      <p:sp>
        <p:nvSpPr>
          <p:cNvPr id="281" name="Google Shape;281;p25"/>
          <p:cNvSpPr/>
          <p:nvPr/>
        </p:nvSpPr>
        <p:spPr>
          <a:xfrm>
            <a:off x="1995422" y="4424323"/>
            <a:ext cx="1460681" cy="3046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dirty="0">
                <a:solidFill>
                  <a:schemeClr val="dk1"/>
                </a:solidFill>
                <a:latin typeface="Calibri"/>
                <a:ea typeface="Calibri"/>
                <a:cs typeface="Calibri"/>
                <a:sym typeface="Calibri"/>
              </a:rPr>
              <a:t>Estructural</a:t>
            </a:r>
            <a:endParaRPr dirty="0"/>
          </a:p>
          <a:p>
            <a:pPr marL="0" marR="0" lvl="0" indent="0" algn="l" rtl="0">
              <a:lnSpc>
                <a:spcPct val="90000"/>
              </a:lnSpc>
              <a:spcBef>
                <a:spcPts val="0"/>
              </a:spcBef>
              <a:spcAft>
                <a:spcPts val="0"/>
              </a:spcAft>
              <a:buNone/>
            </a:pPr>
            <a:r>
              <a:rPr lang="es-PE" sz="1100" dirty="0">
                <a:solidFill>
                  <a:schemeClr val="dk1"/>
                </a:solidFill>
                <a:latin typeface="Calibri"/>
                <a:ea typeface="Calibri"/>
                <a:cs typeface="Calibri"/>
                <a:sym typeface="Calibri"/>
              </a:rPr>
              <a:t>(“Caja Blanca”)</a:t>
            </a:r>
            <a:endParaRPr dirty="0"/>
          </a:p>
        </p:txBody>
      </p:sp>
      <p:sp>
        <p:nvSpPr>
          <p:cNvPr id="282" name="Google Shape;282;p25"/>
          <p:cNvSpPr/>
          <p:nvPr/>
        </p:nvSpPr>
        <p:spPr>
          <a:xfrm>
            <a:off x="1995423" y="3531826"/>
            <a:ext cx="2509198" cy="45704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dirty="0">
                <a:solidFill>
                  <a:schemeClr val="dk1"/>
                </a:solidFill>
                <a:latin typeface="Calibri"/>
                <a:ea typeface="Calibri"/>
                <a:cs typeface="Calibri"/>
                <a:sym typeface="Calibri"/>
              </a:rPr>
              <a:t>Programadores</a:t>
            </a:r>
            <a:endParaRPr dirty="0"/>
          </a:p>
          <a:p>
            <a:pPr marL="0" marR="0" lvl="0" indent="0" algn="l" rtl="0">
              <a:lnSpc>
                <a:spcPct val="90000"/>
              </a:lnSpc>
              <a:spcBef>
                <a:spcPts val="0"/>
              </a:spcBef>
              <a:spcAft>
                <a:spcPts val="0"/>
              </a:spcAft>
              <a:buNone/>
            </a:pPr>
            <a:r>
              <a:rPr lang="es-PE" sz="1100" dirty="0">
                <a:solidFill>
                  <a:schemeClr val="dk1"/>
                </a:solidFill>
                <a:latin typeface="Calibri"/>
                <a:ea typeface="Calibri"/>
                <a:cs typeface="Calibri"/>
                <a:sym typeface="Calibri"/>
              </a:rPr>
              <a:t>Administradores de BD/ Redes/ Sistemas Ingenieros Eléctricos/ Mecánicos</a:t>
            </a:r>
            <a:endParaRPr dirty="0"/>
          </a:p>
        </p:txBody>
      </p:sp>
      <p:sp>
        <p:nvSpPr>
          <p:cNvPr id="283" name="Google Shape;283;p25"/>
          <p:cNvSpPr/>
          <p:nvPr/>
        </p:nvSpPr>
        <p:spPr>
          <a:xfrm>
            <a:off x="4736311" y="4424323"/>
            <a:ext cx="1460681" cy="3046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s-PE" sz="1100">
                <a:solidFill>
                  <a:schemeClr val="dk1"/>
                </a:solidFill>
                <a:latin typeface="Calibri"/>
                <a:ea typeface="Calibri"/>
                <a:cs typeface="Calibri"/>
                <a:sym typeface="Calibri"/>
              </a:rPr>
              <a:t>De Comportamiento</a:t>
            </a:r>
            <a:endParaRPr/>
          </a:p>
          <a:p>
            <a:pPr marL="0" marR="0" lvl="0" indent="0" algn="ctr" rtl="0">
              <a:lnSpc>
                <a:spcPct val="90000"/>
              </a:lnSpc>
              <a:spcBef>
                <a:spcPts val="0"/>
              </a:spcBef>
              <a:spcAft>
                <a:spcPts val="0"/>
              </a:spcAft>
              <a:buNone/>
            </a:pPr>
            <a:r>
              <a:rPr lang="es-PE" sz="1100">
                <a:solidFill>
                  <a:schemeClr val="dk1"/>
                </a:solidFill>
                <a:latin typeface="Calibri"/>
                <a:ea typeface="Calibri"/>
                <a:cs typeface="Calibri"/>
                <a:sym typeface="Calibri"/>
              </a:rPr>
              <a:t>(“Caja Negra”)</a:t>
            </a:r>
            <a:endParaRPr/>
          </a:p>
        </p:txBody>
      </p:sp>
      <p:sp>
        <p:nvSpPr>
          <p:cNvPr id="284" name="Google Shape;284;p25"/>
          <p:cNvSpPr/>
          <p:nvPr/>
        </p:nvSpPr>
        <p:spPr>
          <a:xfrm>
            <a:off x="4646587" y="3537022"/>
            <a:ext cx="1764766" cy="45704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a:solidFill>
                  <a:schemeClr val="dk1"/>
                </a:solidFill>
                <a:latin typeface="Calibri"/>
                <a:ea typeface="Calibri"/>
                <a:cs typeface="Calibri"/>
                <a:sym typeface="Calibri"/>
              </a:rPr>
              <a:t>Ingenieros de Pruebas</a:t>
            </a:r>
            <a:endParaRPr/>
          </a:p>
          <a:p>
            <a:pPr marL="0" marR="0" lvl="0" indent="0" algn="l" rtl="0">
              <a:lnSpc>
                <a:spcPct val="90000"/>
              </a:lnSpc>
              <a:spcBef>
                <a:spcPts val="0"/>
              </a:spcBef>
              <a:spcAft>
                <a:spcPts val="0"/>
              </a:spcAft>
              <a:buNone/>
            </a:pPr>
            <a:r>
              <a:rPr lang="es-PE" sz="1100">
                <a:solidFill>
                  <a:schemeClr val="dk1"/>
                </a:solidFill>
                <a:latin typeface="Calibri"/>
                <a:ea typeface="Calibri"/>
                <a:cs typeface="Calibri"/>
                <a:sym typeface="Calibri"/>
              </a:rPr>
              <a:t>Técnicos de Pruebas</a:t>
            </a:r>
            <a:endParaRPr/>
          </a:p>
          <a:p>
            <a:pPr marL="0" marR="0" lvl="0" indent="0" algn="l" rtl="0">
              <a:lnSpc>
                <a:spcPct val="90000"/>
              </a:lnSpc>
              <a:spcBef>
                <a:spcPts val="0"/>
              </a:spcBef>
              <a:spcAft>
                <a:spcPts val="0"/>
              </a:spcAft>
              <a:buNone/>
            </a:pPr>
            <a:r>
              <a:rPr lang="es-PE" sz="1100">
                <a:solidFill>
                  <a:schemeClr val="dk1"/>
                </a:solidFill>
                <a:latin typeface="Calibri"/>
                <a:ea typeface="Calibri"/>
                <a:cs typeface="Calibri"/>
                <a:sym typeface="Calibri"/>
              </a:rPr>
              <a:t>(Algunos) Programadores</a:t>
            </a:r>
            <a:endParaRPr/>
          </a:p>
        </p:txBody>
      </p:sp>
      <p:sp>
        <p:nvSpPr>
          <p:cNvPr id="285" name="Google Shape;285;p25"/>
          <p:cNvSpPr/>
          <p:nvPr/>
        </p:nvSpPr>
        <p:spPr>
          <a:xfrm>
            <a:off x="6901370" y="4424323"/>
            <a:ext cx="1460681" cy="332399"/>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None/>
            </a:pPr>
            <a:r>
              <a:rPr lang="es-PE" sz="1200">
                <a:solidFill>
                  <a:schemeClr val="dk1"/>
                </a:solidFill>
                <a:latin typeface="Calibri"/>
                <a:ea typeface="Calibri"/>
                <a:cs typeface="Calibri"/>
                <a:sym typeface="Calibri"/>
              </a:rPr>
              <a:t>En Vivo</a:t>
            </a:r>
            <a:endParaRPr/>
          </a:p>
          <a:p>
            <a:pPr marL="0" marR="0" lvl="0" indent="0" algn="ctr" rtl="0">
              <a:lnSpc>
                <a:spcPct val="90000"/>
              </a:lnSpc>
              <a:spcBef>
                <a:spcPts val="0"/>
              </a:spcBef>
              <a:spcAft>
                <a:spcPts val="0"/>
              </a:spcAft>
              <a:buNone/>
            </a:pPr>
            <a:r>
              <a:rPr lang="es-PE" sz="1200">
                <a:solidFill>
                  <a:schemeClr val="dk1"/>
                </a:solidFill>
                <a:latin typeface="Calibri"/>
                <a:ea typeface="Calibri"/>
                <a:cs typeface="Calibri"/>
                <a:sym typeface="Calibri"/>
              </a:rPr>
              <a:t>(“Alfa / Beta”)</a:t>
            </a:r>
            <a:endParaRPr/>
          </a:p>
        </p:txBody>
      </p:sp>
      <p:sp>
        <p:nvSpPr>
          <p:cNvPr id="286" name="Google Shape;286;p25"/>
          <p:cNvSpPr/>
          <p:nvPr/>
        </p:nvSpPr>
        <p:spPr>
          <a:xfrm>
            <a:off x="6515170" y="3544734"/>
            <a:ext cx="2233079" cy="45704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1100">
                <a:solidFill>
                  <a:schemeClr val="dk1"/>
                </a:solidFill>
                <a:latin typeface="Calibri"/>
                <a:ea typeface="Calibri"/>
                <a:cs typeface="Calibri"/>
                <a:sym typeface="Calibri"/>
              </a:rPr>
              <a:t>Soporte Técnico/ Soporte al Cliente Ventas/ Marketing</a:t>
            </a:r>
            <a:endParaRPr/>
          </a:p>
          <a:p>
            <a:pPr marL="0" marR="0" lvl="0" indent="0" algn="l" rtl="0">
              <a:lnSpc>
                <a:spcPct val="90000"/>
              </a:lnSpc>
              <a:spcBef>
                <a:spcPts val="0"/>
              </a:spcBef>
              <a:spcAft>
                <a:spcPts val="0"/>
              </a:spcAft>
              <a:buNone/>
            </a:pPr>
            <a:r>
              <a:rPr lang="es-PE" sz="1100">
                <a:solidFill>
                  <a:schemeClr val="dk1"/>
                </a:solidFill>
                <a:latin typeface="Calibri"/>
                <a:ea typeface="Calibri"/>
                <a:cs typeface="Calibri"/>
                <a:sym typeface="Calibri"/>
              </a:rPr>
              <a:t>Analistas de Negocios/ Usuarios</a:t>
            </a:r>
            <a:endParaRPr/>
          </a:p>
        </p:txBody>
      </p:sp>
      <p:cxnSp>
        <p:nvCxnSpPr>
          <p:cNvPr id="287" name="Google Shape;287;p25"/>
          <p:cNvCxnSpPr/>
          <p:nvPr/>
        </p:nvCxnSpPr>
        <p:spPr>
          <a:xfrm>
            <a:off x="1804830" y="4888192"/>
            <a:ext cx="6783158" cy="0"/>
          </a:xfrm>
          <a:prstGeom prst="straightConnector1">
            <a:avLst/>
          </a:prstGeom>
          <a:noFill/>
          <a:ln w="38100" cap="flat" cmpd="sng">
            <a:solidFill>
              <a:srgbClr val="7150A0"/>
            </a:solidFill>
            <a:prstDash val="solid"/>
            <a:round/>
            <a:headEnd type="none" w="sm" len="sm"/>
            <a:tailEnd type="triangle" w="med" len="med"/>
          </a:ln>
        </p:spPr>
      </p:cxnSp>
      <p:sp>
        <p:nvSpPr>
          <p:cNvPr id="26" name="Rectangle 5">
            <a:extLst>
              <a:ext uri="{FF2B5EF4-FFF2-40B4-BE49-F238E27FC236}">
                <a16:creationId xmlns:a16="http://schemas.microsoft.com/office/drawing/2014/main" id="{3DBE7F0D-F402-A14B-A2BC-190E9333FA9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grpSp>
        <p:nvGrpSpPr>
          <p:cNvPr id="27" name="Agrupar 54">
            <a:extLst>
              <a:ext uri="{FF2B5EF4-FFF2-40B4-BE49-F238E27FC236}">
                <a16:creationId xmlns:a16="http://schemas.microsoft.com/office/drawing/2014/main" id="{B0C26AF1-7FC1-224B-A03F-878542117209}"/>
              </a:ext>
            </a:extLst>
          </p:cNvPr>
          <p:cNvGrpSpPr/>
          <p:nvPr/>
        </p:nvGrpSpPr>
        <p:grpSpPr>
          <a:xfrm>
            <a:off x="1796149" y="4119261"/>
            <a:ext cx="168063" cy="167425"/>
            <a:chOff x="3427964" y="2244682"/>
            <a:chExt cx="225891" cy="225034"/>
          </a:xfrm>
        </p:grpSpPr>
        <p:sp>
          <p:nvSpPr>
            <p:cNvPr id="28" name="Elipse 27">
              <a:extLst>
                <a:ext uri="{FF2B5EF4-FFF2-40B4-BE49-F238E27FC236}">
                  <a16:creationId xmlns:a16="http://schemas.microsoft.com/office/drawing/2014/main" id="{547AC9F9-7F61-5240-AA8C-24A122322EC6}"/>
                </a:ext>
              </a:extLst>
            </p:cNvPr>
            <p:cNvSpPr/>
            <p:nvPr/>
          </p:nvSpPr>
          <p:spPr>
            <a:xfrm>
              <a:off x="3427964" y="2244682"/>
              <a:ext cx="225891" cy="225034"/>
            </a:xfrm>
            <a:prstGeom prst="ellipse">
              <a:avLst/>
            </a:prstGeom>
            <a:solidFill>
              <a:srgbClr val="E3DCED"/>
            </a:solidFill>
            <a:ln w="19050">
              <a:solidFill>
                <a:srgbClr val="714F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9" name="Elipse 28">
              <a:extLst>
                <a:ext uri="{FF2B5EF4-FFF2-40B4-BE49-F238E27FC236}">
                  <a16:creationId xmlns:a16="http://schemas.microsoft.com/office/drawing/2014/main" id="{262CE3EC-82C8-3C4E-9579-2BF73507B7FC}"/>
                </a:ext>
              </a:extLst>
            </p:cNvPr>
            <p:cNvSpPr/>
            <p:nvPr/>
          </p:nvSpPr>
          <p:spPr>
            <a:xfrm>
              <a:off x="3482167" y="2298680"/>
              <a:ext cx="117483" cy="117037"/>
            </a:xfrm>
            <a:prstGeom prst="ellipse">
              <a:avLst/>
            </a:prstGeom>
            <a:solidFill>
              <a:srgbClr val="714F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grpSp>
        <p:nvGrpSpPr>
          <p:cNvPr id="30" name="Agrupar 54">
            <a:extLst>
              <a:ext uri="{FF2B5EF4-FFF2-40B4-BE49-F238E27FC236}">
                <a16:creationId xmlns:a16="http://schemas.microsoft.com/office/drawing/2014/main" id="{78C56A12-EECD-584F-8613-A8F13D3F5DCA}"/>
              </a:ext>
            </a:extLst>
          </p:cNvPr>
          <p:cNvGrpSpPr/>
          <p:nvPr/>
        </p:nvGrpSpPr>
        <p:grpSpPr>
          <a:xfrm>
            <a:off x="5498719" y="4119261"/>
            <a:ext cx="168063" cy="167425"/>
            <a:chOff x="3427964" y="2244682"/>
            <a:chExt cx="225891" cy="225034"/>
          </a:xfrm>
        </p:grpSpPr>
        <p:sp>
          <p:nvSpPr>
            <p:cNvPr id="31" name="Elipse 30">
              <a:extLst>
                <a:ext uri="{FF2B5EF4-FFF2-40B4-BE49-F238E27FC236}">
                  <a16:creationId xmlns:a16="http://schemas.microsoft.com/office/drawing/2014/main" id="{61341E09-F9A7-C742-B129-EFED611B9BA4}"/>
                </a:ext>
              </a:extLst>
            </p:cNvPr>
            <p:cNvSpPr/>
            <p:nvPr/>
          </p:nvSpPr>
          <p:spPr>
            <a:xfrm>
              <a:off x="3427964" y="2244682"/>
              <a:ext cx="225891" cy="225034"/>
            </a:xfrm>
            <a:prstGeom prst="ellipse">
              <a:avLst/>
            </a:prstGeom>
            <a:solidFill>
              <a:srgbClr val="E3DCED"/>
            </a:solidFill>
            <a:ln w="19050">
              <a:solidFill>
                <a:srgbClr val="714F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2" name="Elipse 31">
              <a:extLst>
                <a:ext uri="{FF2B5EF4-FFF2-40B4-BE49-F238E27FC236}">
                  <a16:creationId xmlns:a16="http://schemas.microsoft.com/office/drawing/2014/main" id="{5122F4C1-0A4A-AA4A-8CC2-1D0C2FF501AC}"/>
                </a:ext>
              </a:extLst>
            </p:cNvPr>
            <p:cNvSpPr/>
            <p:nvPr/>
          </p:nvSpPr>
          <p:spPr>
            <a:xfrm>
              <a:off x="3482167" y="2298680"/>
              <a:ext cx="117483" cy="117037"/>
            </a:xfrm>
            <a:prstGeom prst="ellipse">
              <a:avLst/>
            </a:prstGeom>
            <a:solidFill>
              <a:srgbClr val="714F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grpSp>
        <p:nvGrpSpPr>
          <p:cNvPr id="33" name="Agrupar 54">
            <a:extLst>
              <a:ext uri="{FF2B5EF4-FFF2-40B4-BE49-F238E27FC236}">
                <a16:creationId xmlns:a16="http://schemas.microsoft.com/office/drawing/2014/main" id="{9E6D2AB3-4444-3549-A757-CC1E5EDF695D}"/>
              </a:ext>
            </a:extLst>
          </p:cNvPr>
          <p:cNvGrpSpPr/>
          <p:nvPr/>
        </p:nvGrpSpPr>
        <p:grpSpPr>
          <a:xfrm>
            <a:off x="8331860" y="4119261"/>
            <a:ext cx="168063" cy="167425"/>
            <a:chOff x="3427964" y="2244682"/>
            <a:chExt cx="225891" cy="225034"/>
          </a:xfrm>
        </p:grpSpPr>
        <p:sp>
          <p:nvSpPr>
            <p:cNvPr id="34" name="Elipse 33">
              <a:extLst>
                <a:ext uri="{FF2B5EF4-FFF2-40B4-BE49-F238E27FC236}">
                  <a16:creationId xmlns:a16="http://schemas.microsoft.com/office/drawing/2014/main" id="{62E207CF-7BE4-E04F-829E-D67AA735E662}"/>
                </a:ext>
              </a:extLst>
            </p:cNvPr>
            <p:cNvSpPr/>
            <p:nvPr/>
          </p:nvSpPr>
          <p:spPr>
            <a:xfrm>
              <a:off x="3427964" y="2244682"/>
              <a:ext cx="225891" cy="225034"/>
            </a:xfrm>
            <a:prstGeom prst="ellipse">
              <a:avLst/>
            </a:prstGeom>
            <a:solidFill>
              <a:srgbClr val="E3DCED"/>
            </a:solidFill>
            <a:ln w="19050">
              <a:solidFill>
                <a:srgbClr val="714F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35" name="Elipse 34">
              <a:extLst>
                <a:ext uri="{FF2B5EF4-FFF2-40B4-BE49-F238E27FC236}">
                  <a16:creationId xmlns:a16="http://schemas.microsoft.com/office/drawing/2014/main" id="{3D508A1B-3217-C844-A211-806A0762260A}"/>
                </a:ext>
              </a:extLst>
            </p:cNvPr>
            <p:cNvSpPr/>
            <p:nvPr/>
          </p:nvSpPr>
          <p:spPr>
            <a:xfrm>
              <a:off x="3482167" y="2298680"/>
              <a:ext cx="117483" cy="117037"/>
            </a:xfrm>
            <a:prstGeom prst="ellipse">
              <a:avLst/>
            </a:prstGeom>
            <a:solidFill>
              <a:srgbClr val="714FA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3" name="Google Shape;293;p26"/>
          <p:cNvSpPr/>
          <p:nvPr/>
        </p:nvSpPr>
        <p:spPr>
          <a:xfrm>
            <a:off x="503238" y="912813"/>
            <a:ext cx="8267813" cy="28007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FUNCIONALES</a:t>
            </a:r>
            <a:endParaRPr dirty="0"/>
          </a:p>
          <a:p>
            <a:pPr marL="177800" marR="0" lvl="0" indent="-177800"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Objetivo: Probar la función</a:t>
            </a:r>
            <a:endParaRPr dirty="0"/>
          </a:p>
          <a:p>
            <a:pPr marL="177800" marR="0" lvl="0" indent="-17780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Objetivo: </a:t>
            </a:r>
            <a:r>
              <a:rPr lang="es-PE" sz="1600" b="1" dirty="0">
                <a:solidFill>
                  <a:schemeClr val="dk1"/>
                </a:solidFill>
                <a:latin typeface="Calibri"/>
                <a:ea typeface="Calibri"/>
                <a:cs typeface="Calibri"/>
                <a:sym typeface="Calibri"/>
              </a:rPr>
              <a:t>Validar la funcionalidad del objeto de prueba.</a:t>
            </a:r>
            <a:endParaRPr dirty="0"/>
          </a:p>
          <a:p>
            <a:pPr marL="133350" marR="0" lvl="0" indent="-190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 funcionalidad puede ser vinculada a los datos de entrada y salida de un objeto de prueba.</a:t>
            </a:r>
            <a:endParaRPr dirty="0"/>
          </a:p>
          <a:p>
            <a:pPr marL="357188" marR="0" lvl="1" indent="-179388"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Los métodos de caja negra se utilizan en el diseño de casos de prueba relevantes.</a:t>
            </a:r>
            <a:endParaRPr dirty="0"/>
          </a:p>
          <a:p>
            <a:pPr marL="357188" marR="0" lvl="1" indent="-179388"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Las pruebas se desarrollan teniendo en cuento los requisitos funcionales establecidos en las especificaciones: Conceptos, casos de estudio, reglas de negocio o documentos relacionados.</a:t>
            </a:r>
            <a:endParaRPr dirty="0"/>
          </a:p>
        </p:txBody>
      </p:sp>
      <p:sp>
        <p:nvSpPr>
          <p:cNvPr id="294" name="Google Shape;294;p26"/>
          <p:cNvSpPr txBox="1"/>
          <p:nvPr/>
        </p:nvSpPr>
        <p:spPr>
          <a:xfrm>
            <a:off x="851317" y="3893070"/>
            <a:ext cx="745135"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39A8932A-FAAB-F540-BD98-CB3AC089C4BC}"/>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300" name="Google Shape;300;p27"/>
          <p:cNvSpPr/>
          <p:nvPr/>
        </p:nvSpPr>
        <p:spPr>
          <a:xfrm>
            <a:off x="503238" y="912813"/>
            <a:ext cx="3889375" cy="401648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FUNCIONALES</a:t>
            </a:r>
            <a:endParaRPr dirty="0"/>
          </a:p>
          <a:p>
            <a:pPr marL="177800" marR="0" lvl="0" indent="-171450" algn="l" rtl="0">
              <a:spcBef>
                <a:spcPts val="0"/>
              </a:spcBef>
              <a:spcAft>
                <a:spcPts val="0"/>
              </a:spcAft>
              <a:buClr>
                <a:schemeClr val="dk1"/>
              </a:buClr>
              <a:buSzPct val="100000"/>
              <a:buFont typeface="Arial"/>
              <a:buChar char="•"/>
            </a:pPr>
            <a:r>
              <a:rPr lang="es-PE" sz="1500" b="1" dirty="0">
                <a:solidFill>
                  <a:schemeClr val="dk1"/>
                </a:solidFill>
                <a:latin typeface="Calibri"/>
                <a:ea typeface="Calibri"/>
                <a:cs typeface="Calibri"/>
                <a:sym typeface="Calibri"/>
              </a:rPr>
              <a:t>Objetivo: Probar la función</a:t>
            </a:r>
            <a:endParaRPr sz="1500" dirty="0"/>
          </a:p>
          <a:p>
            <a:pPr marL="177800" marR="0" lvl="0" indent="-171450" algn="l" rtl="0">
              <a:spcBef>
                <a:spcPts val="0"/>
              </a:spcBef>
              <a:spcAft>
                <a:spcPts val="0"/>
              </a:spcAft>
              <a:buClr>
                <a:schemeClr val="dk1"/>
              </a:buClr>
              <a:buSzPct val="100000"/>
              <a:buFont typeface="Arial"/>
              <a:buNone/>
            </a:pPr>
            <a:endParaRPr sz="1500" b="1" dirty="0">
              <a:solidFill>
                <a:schemeClr val="dk1"/>
              </a:solidFill>
              <a:latin typeface="Calibri"/>
              <a:ea typeface="Calibri"/>
              <a:cs typeface="Calibri"/>
              <a:sym typeface="Calibri"/>
            </a:endParaRPr>
          </a:p>
          <a:p>
            <a:pPr marL="177800" marR="0" lvl="0" indent="-171450"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Ámbito de aplicación.</a:t>
            </a:r>
            <a:endParaRPr sz="1500" dirty="0"/>
          </a:p>
          <a:p>
            <a:pPr marL="133350" marR="0" lvl="0" indent="-19050" algn="l" rtl="0">
              <a:spcBef>
                <a:spcPts val="0"/>
              </a:spcBef>
              <a:spcAft>
                <a:spcPts val="0"/>
              </a:spcAft>
              <a:buClr>
                <a:schemeClr val="dk1"/>
              </a:buClr>
              <a:buSzPts val="1600"/>
              <a:buFont typeface="Arial"/>
              <a:buNone/>
            </a:pPr>
            <a:endParaRPr sz="1500"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Las pruebas funcionales se pueden llevar a cabo </a:t>
            </a:r>
            <a:r>
              <a:rPr lang="es-PE" sz="1500" b="1" i="0" u="none" strike="noStrike" cap="none" dirty="0">
                <a:solidFill>
                  <a:schemeClr val="dk1"/>
                </a:solidFill>
                <a:latin typeface="Calibri"/>
                <a:ea typeface="Calibri"/>
                <a:cs typeface="Calibri"/>
                <a:sym typeface="Calibri"/>
              </a:rPr>
              <a:t>en todos los niveles de prueba.</a:t>
            </a:r>
            <a:endParaRPr sz="1500" dirty="0"/>
          </a:p>
          <a:p>
            <a:pPr marL="133350" marR="0" lvl="0" indent="-19050" algn="l" rtl="0">
              <a:spcBef>
                <a:spcPts val="0"/>
              </a:spcBef>
              <a:spcAft>
                <a:spcPts val="0"/>
              </a:spcAft>
              <a:buClr>
                <a:schemeClr val="dk1"/>
              </a:buClr>
              <a:buSzPct val="100000"/>
              <a:buFont typeface="Arial"/>
              <a:buNone/>
            </a:pPr>
            <a:endParaRPr sz="1500" dirty="0">
              <a:solidFill>
                <a:schemeClr val="dk1"/>
              </a:solidFill>
              <a:latin typeface="Calibri"/>
              <a:ea typeface="Calibri"/>
              <a:cs typeface="Calibri"/>
              <a:sym typeface="Calibri"/>
            </a:endParaRPr>
          </a:p>
          <a:p>
            <a:pPr marL="177800" marR="0" lvl="0" indent="-165100" algn="l" rtl="0">
              <a:spcBef>
                <a:spcPts val="0"/>
              </a:spcBef>
              <a:spcAft>
                <a:spcPts val="0"/>
              </a:spcAft>
              <a:buClr>
                <a:schemeClr val="dk1"/>
              </a:buClr>
              <a:buSzPct val="100000"/>
              <a:buFont typeface="Arial"/>
              <a:buChar char="•"/>
            </a:pPr>
            <a:r>
              <a:rPr lang="es-PE" sz="1500" dirty="0">
                <a:solidFill>
                  <a:schemeClr val="dk1"/>
                </a:solidFill>
                <a:latin typeface="Calibri"/>
                <a:ea typeface="Calibri"/>
                <a:cs typeface="Calibri"/>
                <a:sym typeface="Calibri"/>
              </a:rPr>
              <a:t>Ejecución.</a:t>
            </a:r>
            <a:endParaRPr sz="1500" dirty="0"/>
          </a:p>
          <a:p>
            <a:pPr marL="133350" marR="0" lvl="0" indent="-19050" algn="l" rtl="0">
              <a:spcBef>
                <a:spcPts val="0"/>
              </a:spcBef>
              <a:spcAft>
                <a:spcPts val="0"/>
              </a:spcAft>
              <a:buClr>
                <a:schemeClr val="dk1"/>
              </a:buClr>
              <a:buSzPts val="1600"/>
              <a:buFont typeface="Arial"/>
              <a:buNone/>
            </a:pPr>
            <a:endParaRPr sz="1500"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El objeto de prueba es ejecutado utilizando combinaciones de datos de prueba derivados a partir de los casos de prueba.</a:t>
            </a:r>
            <a:endParaRPr sz="1500" dirty="0"/>
          </a:p>
          <a:p>
            <a:pPr marL="357188" marR="0" lvl="1" indent="-179388" algn="l" rtl="0">
              <a:spcBef>
                <a:spcPts val="0"/>
              </a:spcBef>
              <a:spcAft>
                <a:spcPts val="0"/>
              </a:spcAft>
              <a:buClr>
                <a:schemeClr val="dk1"/>
              </a:buClr>
              <a:buSzPct val="100000"/>
              <a:buFont typeface="Arial"/>
              <a:buNone/>
            </a:pPr>
            <a:endParaRPr sz="15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ct val="100000"/>
              <a:buFont typeface="Arial"/>
              <a:buChar char="•"/>
            </a:pPr>
            <a:r>
              <a:rPr lang="es-PE" sz="1500" b="0" i="0" u="none" strike="noStrike" cap="none" dirty="0">
                <a:solidFill>
                  <a:schemeClr val="dk1"/>
                </a:solidFill>
                <a:latin typeface="Calibri"/>
                <a:ea typeface="Calibri"/>
                <a:cs typeface="Calibri"/>
                <a:sym typeface="Calibri"/>
              </a:rPr>
              <a:t>Los </a:t>
            </a:r>
            <a:r>
              <a:rPr lang="es-PE" sz="1500" b="1" i="0" u="none" strike="noStrike" cap="none" dirty="0">
                <a:solidFill>
                  <a:schemeClr val="dk1"/>
                </a:solidFill>
                <a:latin typeface="Calibri"/>
                <a:ea typeface="Calibri"/>
                <a:cs typeface="Calibri"/>
                <a:sym typeface="Calibri"/>
              </a:rPr>
              <a:t>resultados</a:t>
            </a:r>
            <a:r>
              <a:rPr lang="es-PE" sz="1500" b="0" i="0" u="none" strike="noStrike" cap="none" dirty="0">
                <a:solidFill>
                  <a:schemeClr val="dk1"/>
                </a:solidFill>
                <a:latin typeface="Calibri"/>
                <a:ea typeface="Calibri"/>
                <a:cs typeface="Calibri"/>
                <a:sym typeface="Calibri"/>
              </a:rPr>
              <a:t> </a:t>
            </a:r>
            <a:r>
              <a:rPr lang="es-PE" sz="1500" b="1" i="0" u="none" strike="noStrike" cap="none" dirty="0">
                <a:solidFill>
                  <a:schemeClr val="dk1"/>
                </a:solidFill>
                <a:latin typeface="Calibri"/>
                <a:ea typeface="Calibri"/>
                <a:cs typeface="Calibri"/>
                <a:sym typeface="Calibri"/>
              </a:rPr>
              <a:t>de la ejecución </a:t>
            </a:r>
            <a:r>
              <a:rPr lang="es-PE" sz="1500" b="0" i="0" u="none" strike="noStrike" cap="none" dirty="0">
                <a:solidFill>
                  <a:schemeClr val="dk1"/>
                </a:solidFill>
                <a:latin typeface="Calibri"/>
                <a:ea typeface="Calibri"/>
                <a:cs typeface="Calibri"/>
                <a:sym typeface="Calibri"/>
              </a:rPr>
              <a:t>de la prueba son </a:t>
            </a:r>
            <a:r>
              <a:rPr lang="es-PE" sz="1500" b="1" i="0" u="none" strike="noStrike" cap="none" dirty="0">
                <a:solidFill>
                  <a:schemeClr val="dk1"/>
                </a:solidFill>
                <a:latin typeface="Calibri"/>
                <a:ea typeface="Calibri"/>
                <a:cs typeface="Calibri"/>
                <a:sym typeface="Calibri"/>
              </a:rPr>
              <a:t>comparados</a:t>
            </a:r>
            <a:r>
              <a:rPr lang="es-PE" sz="1500" b="0" i="0" u="none" strike="noStrike" cap="none" dirty="0">
                <a:solidFill>
                  <a:schemeClr val="dk1"/>
                </a:solidFill>
                <a:latin typeface="Calibri"/>
                <a:ea typeface="Calibri"/>
                <a:cs typeface="Calibri"/>
                <a:sym typeface="Calibri"/>
              </a:rPr>
              <a:t> con los </a:t>
            </a:r>
            <a:r>
              <a:rPr lang="es-PE" sz="1500" b="1" i="0" u="none" strike="noStrike" cap="none" dirty="0">
                <a:solidFill>
                  <a:schemeClr val="dk1"/>
                </a:solidFill>
                <a:latin typeface="Calibri"/>
                <a:ea typeface="Calibri"/>
                <a:cs typeface="Calibri"/>
                <a:sym typeface="Calibri"/>
              </a:rPr>
              <a:t>resultados esperados.</a:t>
            </a:r>
            <a:endParaRPr sz="1500" dirty="0"/>
          </a:p>
        </p:txBody>
      </p:sp>
      <p:sp>
        <p:nvSpPr>
          <p:cNvPr id="301" name="Google Shape;301;p27"/>
          <p:cNvSpPr txBox="1"/>
          <p:nvPr/>
        </p:nvSpPr>
        <p:spPr>
          <a:xfrm>
            <a:off x="603979" y="4987767"/>
            <a:ext cx="4572000"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PE" sz="1000" dirty="0">
                <a:solidFill>
                  <a:schemeClr val="dk1"/>
                </a:solidFill>
                <a:latin typeface="Calibri"/>
                <a:ea typeface="Calibri"/>
                <a:cs typeface="Calibri"/>
                <a:sym typeface="Calibri"/>
              </a:rPr>
              <a:t>kupdf.net</a:t>
            </a:r>
            <a:endParaRPr dirty="0"/>
          </a:p>
        </p:txBody>
      </p:sp>
      <p:sp>
        <p:nvSpPr>
          <p:cNvPr id="5" name="Rectangle 5">
            <a:extLst>
              <a:ext uri="{FF2B5EF4-FFF2-40B4-BE49-F238E27FC236}">
                <a16:creationId xmlns:a16="http://schemas.microsoft.com/office/drawing/2014/main" id="{7A9F197D-B7F6-CA45-800F-267919BC7773}"/>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F903087C-85A5-E74B-80B6-F1EDC47A141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8" y="912812"/>
            <a:ext cx="4392611" cy="432117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8" name="Google Shape;308;p28"/>
          <p:cNvSpPr/>
          <p:nvPr/>
        </p:nvSpPr>
        <p:spPr>
          <a:xfrm>
            <a:off x="503238" y="918721"/>
            <a:ext cx="8267813" cy="31238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NO FUNCIONALES</a:t>
            </a:r>
            <a:endParaRPr dirty="0"/>
          </a:p>
          <a:p>
            <a:pPr marL="177800" marR="0" lvl="0" indent="-177800"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Objetivo: Probar el atributo</a:t>
            </a:r>
            <a:endParaRPr dirty="0"/>
          </a:p>
          <a:p>
            <a:pPr marL="177800" marR="0" lvl="0" indent="-177800" algn="l" rtl="0">
              <a:spcBef>
                <a:spcPts val="0"/>
              </a:spcBef>
              <a:spcAft>
                <a:spcPts val="0"/>
              </a:spcAft>
              <a:buClr>
                <a:schemeClr val="dk1"/>
              </a:buClr>
              <a:buSzPts val="1600"/>
              <a:buFont typeface="Arial"/>
              <a:buNone/>
            </a:pPr>
            <a:endParaRPr sz="1600" b="1" dirty="0">
              <a:solidFill>
                <a:schemeClr val="dk1"/>
              </a:solidFill>
              <a:latin typeface="Calibri"/>
              <a:ea typeface="Calibri"/>
              <a:cs typeface="Calibri"/>
              <a:sym typeface="Calibri"/>
            </a:endParaRPr>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Objetivo: </a:t>
            </a:r>
            <a:r>
              <a:rPr lang="es-PE" sz="1600" b="1" dirty="0">
                <a:solidFill>
                  <a:schemeClr val="dk1"/>
                </a:solidFill>
                <a:latin typeface="Calibri"/>
                <a:ea typeface="Calibri"/>
                <a:cs typeface="Calibri"/>
                <a:sym typeface="Calibri"/>
              </a:rPr>
              <a:t>Validar las características del producto software.</a:t>
            </a:r>
            <a:endParaRPr dirty="0"/>
          </a:p>
          <a:p>
            <a:pPr marL="142875" marR="0" lvl="1" indent="-41275"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¿De qué forma el software lleva a cabo la función?</a:t>
            </a:r>
            <a:endParaRPr dirty="0"/>
          </a:p>
          <a:p>
            <a:pPr marL="357188" marR="0" lvl="1" indent="-179388"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Se v</a:t>
            </a:r>
            <a:r>
              <a:rPr lang="es-PE" sz="1600" b="0" i="0" u="none" strike="noStrike" cap="none" dirty="0">
                <a:solidFill>
                  <a:schemeClr val="dk1"/>
                </a:solidFill>
                <a:latin typeface="Calibri"/>
                <a:ea typeface="Calibri"/>
                <a:cs typeface="Calibri"/>
                <a:sym typeface="Calibri"/>
              </a:rPr>
              <a:t>alida características no funcionales del software. </a:t>
            </a:r>
            <a:endParaRPr dirty="0"/>
          </a:p>
          <a:p>
            <a:pPr marL="357188" marR="0" lvl="2"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Según ISO 9126: Fiabilidad, usabilidad. eficiencia, mantenibilidad, portabilidad.</a:t>
            </a:r>
            <a:endParaRPr dirty="0"/>
          </a:p>
          <a:p>
            <a:pPr marL="357188" marR="0" lvl="1" indent="-179388"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A menudo las características no funcionales son vagas, incompletas o inexistentes, dificultando las pruebas asociadas a las mismas.</a:t>
            </a:r>
            <a:endParaRPr dirty="0"/>
          </a:p>
        </p:txBody>
      </p:sp>
      <p:sp>
        <p:nvSpPr>
          <p:cNvPr id="309" name="Google Shape;309;p28"/>
          <p:cNvSpPr txBox="1"/>
          <p:nvPr/>
        </p:nvSpPr>
        <p:spPr>
          <a:xfrm>
            <a:off x="684213" y="4123685"/>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D545A7CD-7C23-5E41-9EF0-1370BBEE5CE6}"/>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29"/>
          <p:cNvSpPr/>
          <p:nvPr/>
        </p:nvSpPr>
        <p:spPr>
          <a:xfrm>
            <a:off x="503238" y="893837"/>
            <a:ext cx="8267813" cy="4411977"/>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600"/>
              </a:spcAft>
              <a:buNone/>
            </a:pPr>
            <a:r>
              <a:rPr lang="es-PE" sz="1600" b="1" dirty="0">
                <a:solidFill>
                  <a:schemeClr val="dk1"/>
                </a:solidFill>
                <a:latin typeface="Calibri"/>
                <a:ea typeface="Calibri"/>
                <a:cs typeface="Calibri"/>
                <a:sym typeface="Calibri"/>
              </a:rPr>
              <a:t>PRUEBAS NO FUNCIONALES</a:t>
            </a:r>
            <a:endParaRPr dirty="0"/>
          </a:p>
          <a:p>
            <a:pPr marL="177800" marR="0" lvl="0" indent="-168275" algn="l" rtl="0">
              <a:lnSpc>
                <a:spcPct val="90000"/>
              </a:lnSpc>
              <a:spcBef>
                <a:spcPts val="0"/>
              </a:spcBef>
              <a:spcAft>
                <a:spcPts val="0"/>
              </a:spcAft>
              <a:buClr>
                <a:schemeClr val="dk1"/>
              </a:buClr>
              <a:buSzPct val="100000"/>
              <a:buFont typeface="Arial"/>
              <a:buChar char="•"/>
            </a:pPr>
            <a:r>
              <a:rPr lang="es-PE" sz="1300" b="1" dirty="0">
                <a:solidFill>
                  <a:schemeClr val="dk1"/>
                </a:solidFill>
                <a:latin typeface="Calibri"/>
                <a:ea typeface="Calibri"/>
                <a:cs typeface="Calibri"/>
                <a:sym typeface="Calibri"/>
              </a:rPr>
              <a:t>Objetivo: Probar el atributo</a:t>
            </a:r>
            <a:endParaRPr sz="1300" dirty="0"/>
          </a:p>
          <a:p>
            <a:pPr marL="177800" marR="0" lvl="0" indent="-168275" algn="l" rtl="0">
              <a:lnSpc>
                <a:spcPct val="90000"/>
              </a:lnSpc>
              <a:spcBef>
                <a:spcPts val="0"/>
              </a:spcBef>
              <a:spcAft>
                <a:spcPts val="0"/>
              </a:spcAft>
              <a:buClr>
                <a:schemeClr val="dk1"/>
              </a:buClr>
              <a:buSzPct val="100000"/>
              <a:buFont typeface="Arial"/>
              <a:buNone/>
            </a:pPr>
            <a:endParaRPr sz="1300" b="1" dirty="0">
              <a:solidFill>
                <a:schemeClr val="dk1"/>
              </a:solidFill>
              <a:latin typeface="Calibri"/>
              <a:ea typeface="Calibri"/>
              <a:cs typeface="Calibri"/>
              <a:sym typeface="Calibri"/>
            </a:endParaRPr>
          </a:p>
          <a:p>
            <a:pPr marL="177800" marR="0" lvl="0" indent="-168275" algn="l" rtl="0">
              <a:lnSpc>
                <a:spcPct val="90000"/>
              </a:lnSpc>
              <a:spcBef>
                <a:spcPts val="0"/>
              </a:spcBef>
              <a:spcAft>
                <a:spcPts val="0"/>
              </a:spcAft>
              <a:buClr>
                <a:schemeClr val="dk1"/>
              </a:buClr>
              <a:buSzPct val="100000"/>
              <a:buFont typeface="Arial"/>
              <a:buChar char="•"/>
            </a:pPr>
            <a:r>
              <a:rPr lang="es-PE" sz="1300" b="1" dirty="0">
                <a:solidFill>
                  <a:schemeClr val="dk1"/>
                </a:solidFill>
                <a:latin typeface="Calibri"/>
                <a:ea typeface="Calibri"/>
                <a:cs typeface="Calibri"/>
                <a:sym typeface="Calibri"/>
              </a:rPr>
              <a:t>Ámbito de aplicación.</a:t>
            </a:r>
            <a:endParaRPr sz="1300" dirty="0"/>
          </a:p>
          <a:p>
            <a:pPr marL="142875" marR="0" lvl="1" indent="-31750" algn="l" rtl="0">
              <a:lnSpc>
                <a:spcPct val="90000"/>
              </a:lnSpc>
              <a:spcBef>
                <a:spcPts val="0"/>
              </a:spcBef>
              <a:spcAft>
                <a:spcPts val="0"/>
              </a:spcAft>
              <a:buClr>
                <a:schemeClr val="dk1"/>
              </a:buClr>
              <a:buSzPts val="1600"/>
              <a:buFont typeface="Arial"/>
              <a:buNone/>
            </a:pPr>
            <a:endParaRPr b="0" i="0" u="none" strike="noStrike" cap="none" dirty="0">
              <a:solidFill>
                <a:schemeClr val="dk1"/>
              </a:solidFill>
              <a:latin typeface="Calibri"/>
              <a:ea typeface="Calibri"/>
              <a:cs typeface="Calibri"/>
              <a:sym typeface="Calibri"/>
            </a:endParaRPr>
          </a:p>
          <a:p>
            <a:pPr marL="357188" marR="0" lvl="1" indent="-179388" algn="l" rtl="0">
              <a:lnSpc>
                <a:spcPct val="90000"/>
              </a:lnSpc>
              <a:spcBef>
                <a:spcPts val="0"/>
              </a:spcBef>
              <a:spcAft>
                <a:spcPts val="0"/>
              </a:spcAft>
              <a:buClr>
                <a:schemeClr val="dk1"/>
              </a:buClr>
              <a:buSzPct val="100000"/>
              <a:buFont typeface="Arial"/>
              <a:buChar char="•"/>
            </a:pPr>
            <a:r>
              <a:rPr lang="es-PE" b="0" i="0" u="none" strike="noStrike" cap="none" dirty="0">
                <a:solidFill>
                  <a:schemeClr val="dk1"/>
                </a:solidFill>
                <a:latin typeface="Calibri"/>
                <a:ea typeface="Calibri"/>
                <a:cs typeface="Calibri"/>
                <a:sym typeface="Calibri"/>
              </a:rPr>
              <a:t>Las pruebas no funcionales se pueden llevar a cabo </a:t>
            </a:r>
            <a:r>
              <a:rPr lang="es-PE" b="1" i="0" u="none" strike="noStrike" cap="none" dirty="0">
                <a:solidFill>
                  <a:schemeClr val="dk1"/>
                </a:solidFill>
                <a:latin typeface="Calibri"/>
                <a:ea typeface="Calibri"/>
                <a:cs typeface="Calibri"/>
                <a:sym typeface="Calibri"/>
              </a:rPr>
              <a:t>en todos los niveles</a:t>
            </a:r>
            <a:r>
              <a:rPr lang="es-PE" b="0" i="0" u="none" strike="noStrike" cap="none" dirty="0">
                <a:solidFill>
                  <a:schemeClr val="dk1"/>
                </a:solidFill>
                <a:latin typeface="Calibri"/>
                <a:ea typeface="Calibri"/>
                <a:cs typeface="Calibri"/>
                <a:sym typeface="Calibri"/>
              </a:rPr>
              <a:t>.</a:t>
            </a:r>
            <a:endParaRPr dirty="0"/>
          </a:p>
          <a:p>
            <a:pPr marL="357188" marR="0" lvl="1" indent="-179388" algn="l" rtl="0">
              <a:lnSpc>
                <a:spcPct val="90000"/>
              </a:lnSpc>
              <a:spcBef>
                <a:spcPts val="0"/>
              </a:spcBef>
              <a:spcAft>
                <a:spcPts val="0"/>
              </a:spcAft>
              <a:buClr>
                <a:schemeClr val="dk1"/>
              </a:buClr>
              <a:buSzPct val="100000"/>
              <a:buFont typeface="Arial"/>
              <a:buNone/>
            </a:pPr>
            <a:endParaRPr b="0" i="0" u="none" strike="noStrike" cap="none" dirty="0">
              <a:solidFill>
                <a:schemeClr val="dk1"/>
              </a:solidFill>
              <a:latin typeface="Calibri"/>
              <a:ea typeface="Calibri"/>
              <a:cs typeface="Calibri"/>
              <a:sym typeface="Calibri"/>
            </a:endParaRPr>
          </a:p>
          <a:p>
            <a:pPr marL="357188" marR="0" lvl="1" indent="-179388" algn="l" rtl="0">
              <a:lnSpc>
                <a:spcPct val="90000"/>
              </a:lnSpc>
              <a:spcBef>
                <a:spcPts val="0"/>
              </a:spcBef>
              <a:spcAft>
                <a:spcPts val="0"/>
              </a:spcAft>
              <a:buClr>
                <a:schemeClr val="dk1"/>
              </a:buClr>
              <a:buSzPct val="100000"/>
              <a:buFont typeface="Arial"/>
              <a:buChar char="•"/>
            </a:pPr>
            <a:r>
              <a:rPr lang="es-PE" b="0" i="0" u="none" strike="noStrike" cap="none" dirty="0">
                <a:solidFill>
                  <a:schemeClr val="dk1"/>
                </a:solidFill>
                <a:latin typeface="Calibri"/>
                <a:ea typeface="Calibri"/>
                <a:cs typeface="Calibri"/>
                <a:sym typeface="Calibri"/>
              </a:rPr>
              <a:t>Pruebas no funcionales típicas:</a:t>
            </a:r>
            <a:endParaRPr dirty="0"/>
          </a:p>
          <a:p>
            <a:pPr marL="317500" marR="0" lvl="1" indent="-73025" algn="l" rtl="0">
              <a:lnSpc>
                <a:spcPct val="90000"/>
              </a:lnSpc>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ES"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PE"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ES"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lang="es-ES" sz="1600" dirty="0">
              <a:solidFill>
                <a:schemeClr val="dk1"/>
              </a:solidFill>
              <a:latin typeface="Calibri"/>
              <a:ea typeface="Calibri"/>
              <a:cs typeface="Calibri"/>
              <a:sym typeface="Calibri"/>
            </a:endParaRPr>
          </a:p>
          <a:p>
            <a:pPr marL="317500" marR="0" lvl="0" indent="-73025" algn="l" rtl="0">
              <a:lnSpc>
                <a:spcPct val="90000"/>
              </a:lnSpc>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177800" marR="0" lvl="0" indent="-168275" algn="l" rtl="0">
              <a:lnSpc>
                <a:spcPct val="90000"/>
              </a:lnSpc>
              <a:spcBef>
                <a:spcPts val="0"/>
              </a:spcBef>
              <a:spcAft>
                <a:spcPts val="0"/>
              </a:spcAft>
              <a:buClr>
                <a:schemeClr val="dk1"/>
              </a:buClr>
              <a:buSzPct val="100000"/>
              <a:buFont typeface="Arial"/>
              <a:buChar char="•"/>
            </a:pPr>
            <a:r>
              <a:rPr lang="es-PE" sz="1300" b="1" dirty="0">
                <a:solidFill>
                  <a:schemeClr val="dk1"/>
                </a:solidFill>
                <a:latin typeface="Calibri"/>
                <a:ea typeface="Calibri"/>
                <a:cs typeface="Calibri"/>
                <a:sym typeface="Calibri"/>
              </a:rPr>
              <a:t>Ejecución.</a:t>
            </a:r>
            <a:endParaRPr sz="1300" dirty="0"/>
          </a:p>
          <a:p>
            <a:pPr marL="357188" marR="0" lvl="1" indent="-179388" algn="l" rtl="0">
              <a:lnSpc>
                <a:spcPct val="90000"/>
              </a:lnSpc>
              <a:spcBef>
                <a:spcPts val="0"/>
              </a:spcBef>
              <a:spcAft>
                <a:spcPts val="0"/>
              </a:spcAft>
              <a:buClr>
                <a:schemeClr val="dk1"/>
              </a:buClr>
              <a:buSzPct val="100000"/>
              <a:buFont typeface="Arial"/>
              <a:buChar char="•"/>
            </a:pPr>
            <a:r>
              <a:rPr lang="es-PE" sz="1300" b="0" i="0" u="none" strike="noStrike" cap="none" dirty="0">
                <a:solidFill>
                  <a:schemeClr val="dk1"/>
                </a:solidFill>
                <a:latin typeface="Calibri"/>
                <a:ea typeface="Calibri"/>
                <a:cs typeface="Calibri"/>
                <a:sym typeface="Calibri"/>
              </a:rPr>
              <a:t>La conformidad con los requisitos no funcionales se mide utilizando atributos seleccionados.</a:t>
            </a:r>
            <a:endParaRPr sz="1300" dirty="0"/>
          </a:p>
        </p:txBody>
      </p:sp>
      <p:sp>
        <p:nvSpPr>
          <p:cNvPr id="4" name="Rectangle 5">
            <a:extLst>
              <a:ext uri="{FF2B5EF4-FFF2-40B4-BE49-F238E27FC236}">
                <a16:creationId xmlns:a16="http://schemas.microsoft.com/office/drawing/2014/main" id="{3F4F41A3-D43F-524F-B3D4-7C2F0AF6CE24}"/>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Rectángulo 5">
            <a:extLst>
              <a:ext uri="{FF2B5EF4-FFF2-40B4-BE49-F238E27FC236}">
                <a16:creationId xmlns:a16="http://schemas.microsoft.com/office/drawing/2014/main" id="{26BB802C-9FB4-5C42-AE72-D7F2BDF67819}"/>
              </a:ext>
            </a:extLst>
          </p:cNvPr>
          <p:cNvSpPr/>
          <p:nvPr/>
        </p:nvSpPr>
        <p:spPr>
          <a:xfrm>
            <a:off x="1116329" y="2623013"/>
            <a:ext cx="6588609" cy="18004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rendimiento, Pruebas de carga , Pruebas de estrés, Pruebas de volumen.</a:t>
            </a:r>
          </a:p>
        </p:txBody>
      </p:sp>
      <p:cxnSp>
        <p:nvCxnSpPr>
          <p:cNvPr id="7" name="Conector recto 6">
            <a:extLst>
              <a:ext uri="{FF2B5EF4-FFF2-40B4-BE49-F238E27FC236}">
                <a16:creationId xmlns:a16="http://schemas.microsoft.com/office/drawing/2014/main" id="{EDCF35D7-4A02-6446-9A87-4C0B1DA39F96}"/>
              </a:ext>
            </a:extLst>
          </p:cNvPr>
          <p:cNvCxnSpPr>
            <a:cxnSpLocks/>
          </p:cNvCxnSpPr>
          <p:nvPr/>
        </p:nvCxnSpPr>
        <p:spPr>
          <a:xfrm>
            <a:off x="901928" y="2825883"/>
            <a:ext cx="0" cy="171755"/>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8" name="Rectángulo 7">
            <a:extLst>
              <a:ext uri="{FF2B5EF4-FFF2-40B4-BE49-F238E27FC236}">
                <a16:creationId xmlns:a16="http://schemas.microsoft.com/office/drawing/2014/main" id="{2D8CC86B-98A5-0545-BA63-29A79CB12E57}"/>
              </a:ext>
            </a:extLst>
          </p:cNvPr>
          <p:cNvSpPr/>
          <p:nvPr/>
        </p:nvSpPr>
        <p:spPr>
          <a:xfrm>
            <a:off x="1116329" y="2997638"/>
            <a:ext cx="6775990" cy="36009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las características de seguridad para el software, pruebas de las características de seguridad del software.</a:t>
            </a:r>
          </a:p>
        </p:txBody>
      </p:sp>
      <p:sp>
        <p:nvSpPr>
          <p:cNvPr id="10" name="Más 9">
            <a:extLst>
              <a:ext uri="{FF2B5EF4-FFF2-40B4-BE49-F238E27FC236}">
                <a16:creationId xmlns:a16="http://schemas.microsoft.com/office/drawing/2014/main" id="{93030B07-EB48-2F4A-A508-A4A4F8823A70}"/>
              </a:ext>
            </a:extLst>
          </p:cNvPr>
          <p:cNvSpPr/>
          <p:nvPr/>
        </p:nvSpPr>
        <p:spPr>
          <a:xfrm>
            <a:off x="825586" y="2632785"/>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2" name="Más 11">
            <a:extLst>
              <a:ext uri="{FF2B5EF4-FFF2-40B4-BE49-F238E27FC236}">
                <a16:creationId xmlns:a16="http://schemas.microsoft.com/office/drawing/2014/main" id="{83235DC3-E360-7B4C-9AFA-2125C1AFDEBE}"/>
              </a:ext>
            </a:extLst>
          </p:cNvPr>
          <p:cNvSpPr/>
          <p:nvPr/>
        </p:nvSpPr>
        <p:spPr>
          <a:xfrm>
            <a:off x="825586" y="3008526"/>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6" name="Conector recto 15">
            <a:extLst>
              <a:ext uri="{FF2B5EF4-FFF2-40B4-BE49-F238E27FC236}">
                <a16:creationId xmlns:a16="http://schemas.microsoft.com/office/drawing/2014/main" id="{BECF25F9-F783-0143-B3B0-5684B8FF7BB0}"/>
              </a:ext>
            </a:extLst>
          </p:cNvPr>
          <p:cNvCxnSpPr>
            <a:cxnSpLocks/>
          </p:cNvCxnSpPr>
          <p:nvPr/>
        </p:nvCxnSpPr>
        <p:spPr>
          <a:xfrm>
            <a:off x="901928" y="3161209"/>
            <a:ext cx="0" cy="316115"/>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17" name="Rectángulo 16">
            <a:extLst>
              <a:ext uri="{FF2B5EF4-FFF2-40B4-BE49-F238E27FC236}">
                <a16:creationId xmlns:a16="http://schemas.microsoft.com/office/drawing/2014/main" id="{A49B270E-4394-F141-862C-411D2B438789}"/>
              </a:ext>
            </a:extLst>
          </p:cNvPr>
          <p:cNvSpPr/>
          <p:nvPr/>
        </p:nvSpPr>
        <p:spPr>
          <a:xfrm>
            <a:off x="1116329" y="3477324"/>
            <a:ext cx="6775990" cy="18004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estabilidad y robustez.</a:t>
            </a:r>
          </a:p>
        </p:txBody>
      </p:sp>
      <p:sp>
        <p:nvSpPr>
          <p:cNvPr id="18" name="Más 17">
            <a:extLst>
              <a:ext uri="{FF2B5EF4-FFF2-40B4-BE49-F238E27FC236}">
                <a16:creationId xmlns:a16="http://schemas.microsoft.com/office/drawing/2014/main" id="{CAD06BAF-C06E-924B-9EBE-981780B5CC20}"/>
              </a:ext>
            </a:extLst>
          </p:cNvPr>
          <p:cNvSpPr/>
          <p:nvPr/>
        </p:nvSpPr>
        <p:spPr>
          <a:xfrm>
            <a:off x="825586" y="348821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20" name="Conector recto 19">
            <a:extLst>
              <a:ext uri="{FF2B5EF4-FFF2-40B4-BE49-F238E27FC236}">
                <a16:creationId xmlns:a16="http://schemas.microsoft.com/office/drawing/2014/main" id="{A0D148F7-86C5-DF42-9EB0-032C912D7888}"/>
              </a:ext>
            </a:extLst>
          </p:cNvPr>
          <p:cNvCxnSpPr>
            <a:cxnSpLocks/>
          </p:cNvCxnSpPr>
          <p:nvPr/>
        </p:nvCxnSpPr>
        <p:spPr>
          <a:xfrm>
            <a:off x="901928" y="3642847"/>
            <a:ext cx="0" cy="171755"/>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21" name="Rectángulo 20">
            <a:extLst>
              <a:ext uri="{FF2B5EF4-FFF2-40B4-BE49-F238E27FC236}">
                <a16:creationId xmlns:a16="http://schemas.microsoft.com/office/drawing/2014/main" id="{020D7696-E161-3141-BAD8-602D1BFFBF33}"/>
              </a:ext>
            </a:extLst>
          </p:cNvPr>
          <p:cNvSpPr/>
          <p:nvPr/>
        </p:nvSpPr>
        <p:spPr>
          <a:xfrm>
            <a:off x="1116329" y="3814602"/>
            <a:ext cx="6775990" cy="18004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compatibilidad.</a:t>
            </a:r>
          </a:p>
        </p:txBody>
      </p:sp>
      <p:sp>
        <p:nvSpPr>
          <p:cNvPr id="22" name="Más 21">
            <a:extLst>
              <a:ext uri="{FF2B5EF4-FFF2-40B4-BE49-F238E27FC236}">
                <a16:creationId xmlns:a16="http://schemas.microsoft.com/office/drawing/2014/main" id="{BEC58221-9188-4442-907D-D29D20146166}"/>
              </a:ext>
            </a:extLst>
          </p:cNvPr>
          <p:cNvSpPr/>
          <p:nvPr/>
        </p:nvSpPr>
        <p:spPr>
          <a:xfrm>
            <a:off x="825586" y="3825490"/>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23" name="Conector recto 22">
            <a:extLst>
              <a:ext uri="{FF2B5EF4-FFF2-40B4-BE49-F238E27FC236}">
                <a16:creationId xmlns:a16="http://schemas.microsoft.com/office/drawing/2014/main" id="{47F7EC14-7139-4B41-A982-828ED5A49DF6}"/>
              </a:ext>
            </a:extLst>
          </p:cNvPr>
          <p:cNvCxnSpPr>
            <a:cxnSpLocks/>
          </p:cNvCxnSpPr>
          <p:nvPr/>
        </p:nvCxnSpPr>
        <p:spPr>
          <a:xfrm>
            <a:off x="901928" y="3980125"/>
            <a:ext cx="0" cy="171755"/>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24" name="Rectángulo 23">
            <a:extLst>
              <a:ext uri="{FF2B5EF4-FFF2-40B4-BE49-F238E27FC236}">
                <a16:creationId xmlns:a16="http://schemas.microsoft.com/office/drawing/2014/main" id="{7E97FC3D-5867-794A-904B-77E44877F8E0}"/>
              </a:ext>
            </a:extLst>
          </p:cNvPr>
          <p:cNvSpPr/>
          <p:nvPr/>
        </p:nvSpPr>
        <p:spPr>
          <a:xfrm>
            <a:off x="1116329" y="4151880"/>
            <a:ext cx="6775990" cy="18004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usabilidad.</a:t>
            </a:r>
          </a:p>
        </p:txBody>
      </p:sp>
      <p:sp>
        <p:nvSpPr>
          <p:cNvPr id="25" name="Más 24">
            <a:extLst>
              <a:ext uri="{FF2B5EF4-FFF2-40B4-BE49-F238E27FC236}">
                <a16:creationId xmlns:a16="http://schemas.microsoft.com/office/drawing/2014/main" id="{BFF5E2A1-4EFE-7D4F-9919-919A4BDA6282}"/>
              </a:ext>
            </a:extLst>
          </p:cNvPr>
          <p:cNvSpPr/>
          <p:nvPr/>
        </p:nvSpPr>
        <p:spPr>
          <a:xfrm>
            <a:off x="825586" y="4162768"/>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26" name="Conector recto 25">
            <a:extLst>
              <a:ext uri="{FF2B5EF4-FFF2-40B4-BE49-F238E27FC236}">
                <a16:creationId xmlns:a16="http://schemas.microsoft.com/office/drawing/2014/main" id="{52519D6F-7868-E943-9A22-813C7BDC211D}"/>
              </a:ext>
            </a:extLst>
          </p:cNvPr>
          <p:cNvCxnSpPr>
            <a:cxnSpLocks/>
          </p:cNvCxnSpPr>
          <p:nvPr/>
        </p:nvCxnSpPr>
        <p:spPr>
          <a:xfrm>
            <a:off x="901928" y="4317404"/>
            <a:ext cx="0" cy="171755"/>
          </a:xfrm>
          <a:prstGeom prst="line">
            <a:avLst/>
          </a:prstGeom>
          <a:ln>
            <a:solidFill>
              <a:srgbClr val="EE4639"/>
            </a:solidFill>
          </a:ln>
        </p:spPr>
        <p:style>
          <a:lnRef idx="1">
            <a:schemeClr val="accent1"/>
          </a:lnRef>
          <a:fillRef idx="0">
            <a:schemeClr val="accent1"/>
          </a:fillRef>
          <a:effectRef idx="0">
            <a:schemeClr val="accent1"/>
          </a:effectRef>
          <a:fontRef idx="minor">
            <a:schemeClr val="tx1"/>
          </a:fontRef>
        </p:style>
      </p:cxnSp>
      <p:sp>
        <p:nvSpPr>
          <p:cNvPr id="27" name="Rectángulo 26">
            <a:extLst>
              <a:ext uri="{FF2B5EF4-FFF2-40B4-BE49-F238E27FC236}">
                <a16:creationId xmlns:a16="http://schemas.microsoft.com/office/drawing/2014/main" id="{999E4495-5BA9-864E-87EB-6965389830C2}"/>
              </a:ext>
            </a:extLst>
          </p:cNvPr>
          <p:cNvSpPr/>
          <p:nvPr/>
        </p:nvSpPr>
        <p:spPr>
          <a:xfrm>
            <a:off x="1116329" y="4489159"/>
            <a:ext cx="6775990" cy="180049"/>
          </a:xfrm>
          <a:prstGeom prst="rect">
            <a:avLst/>
          </a:prstGeom>
        </p:spPr>
        <p:txBody>
          <a:bodyPr wrap="square" lIns="0" tIns="0" rIns="0" bIns="0">
            <a:spAutoFit/>
          </a:bodyPr>
          <a:lstStyle/>
          <a:p>
            <a:pPr marR="0" lvl="2" algn="l" rtl="0">
              <a:lnSpc>
                <a:spcPct val="90000"/>
              </a:lnSpc>
              <a:spcBef>
                <a:spcPts val="0"/>
              </a:spcBef>
              <a:spcAft>
                <a:spcPts val="0"/>
              </a:spcAft>
              <a:buClr>
                <a:schemeClr val="dk1"/>
              </a:buClr>
              <a:buSzPts val="1600"/>
            </a:pPr>
            <a:r>
              <a:rPr lang="es-PE" sz="1300" b="0" i="0" u="none" strike="noStrike" cap="none" dirty="0">
                <a:solidFill>
                  <a:schemeClr val="dk1"/>
                </a:solidFill>
                <a:latin typeface="Calibri"/>
                <a:ea typeface="Calibri"/>
                <a:cs typeface="Calibri"/>
                <a:sym typeface="Calibri"/>
              </a:rPr>
              <a:t>Pruebas de configuración.</a:t>
            </a:r>
            <a:endParaRPr lang="es-PE" sz="1300" dirty="0"/>
          </a:p>
        </p:txBody>
      </p:sp>
      <p:sp>
        <p:nvSpPr>
          <p:cNvPr id="28" name="Más 27">
            <a:extLst>
              <a:ext uri="{FF2B5EF4-FFF2-40B4-BE49-F238E27FC236}">
                <a16:creationId xmlns:a16="http://schemas.microsoft.com/office/drawing/2014/main" id="{B756EFA9-C12B-EA4F-B917-32A990BC34C3}"/>
              </a:ext>
            </a:extLst>
          </p:cNvPr>
          <p:cNvSpPr/>
          <p:nvPr/>
        </p:nvSpPr>
        <p:spPr>
          <a:xfrm>
            <a:off x="825586" y="4500047"/>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29" name="Imagen 28">
            <a:extLst>
              <a:ext uri="{FF2B5EF4-FFF2-40B4-BE49-F238E27FC236}">
                <a16:creationId xmlns:a16="http://schemas.microsoft.com/office/drawing/2014/main" id="{F36BB714-D857-5F4D-8ADB-765E3AB7B23F}"/>
              </a:ext>
            </a:extLst>
          </p:cNvPr>
          <p:cNvPicPr>
            <a:picLocks noChangeAspect="1"/>
          </p:cNvPicPr>
          <p:nvPr/>
        </p:nvPicPr>
        <p:blipFill>
          <a:blip r:embed="rId3"/>
          <a:stretch>
            <a:fillRect/>
          </a:stretch>
        </p:blipFill>
        <p:spPr>
          <a:xfrm>
            <a:off x="6124225" y="3357737"/>
            <a:ext cx="1471640" cy="14716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3" name="Google Shape;323;p30"/>
          <p:cNvSpPr/>
          <p:nvPr/>
        </p:nvSpPr>
        <p:spPr>
          <a:xfrm>
            <a:off x="503238" y="912813"/>
            <a:ext cx="3899877" cy="30315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RELACIONADAS CON LOS CAMBIOS</a:t>
            </a:r>
            <a:endParaRPr dirty="0"/>
          </a:p>
          <a:p>
            <a:pPr marL="177800" marR="0" lvl="0" indent="-168275"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Objetivo: </a:t>
            </a:r>
            <a:r>
              <a:rPr lang="es-PE" sz="1600" b="1" dirty="0">
                <a:solidFill>
                  <a:schemeClr val="dk1"/>
                </a:solidFill>
                <a:latin typeface="Calibri"/>
                <a:ea typeface="Calibri"/>
                <a:cs typeface="Calibri"/>
                <a:sym typeface="Calibri"/>
              </a:rPr>
              <a:t>Validar objeto de pruebas después de cambios</a:t>
            </a:r>
            <a:r>
              <a:rPr lang="es-PE" sz="1600" dirty="0">
                <a:solidFill>
                  <a:schemeClr val="dk1"/>
                </a:solidFill>
                <a:latin typeface="Calibri"/>
                <a:ea typeface="Calibri"/>
                <a:cs typeface="Calibri"/>
                <a:sym typeface="Calibri"/>
              </a:rPr>
              <a:t>.</a:t>
            </a:r>
            <a:endParaRPr dirty="0"/>
          </a:p>
          <a:p>
            <a:pPr marL="142875" marR="0" lvl="0" indent="-31750" algn="l" rtl="0">
              <a:spcBef>
                <a:spcPts val="0"/>
              </a:spcBef>
              <a:spcAft>
                <a:spcPts val="0"/>
              </a:spcAft>
              <a:buClr>
                <a:schemeClr val="dk1"/>
              </a:buClr>
              <a:buSzPts val="1600"/>
              <a:buFont typeface="Arial"/>
              <a:buNone/>
            </a:pPr>
            <a:endParaRPr sz="1600"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Luego de una  modificación, todos los resultados de pruebas resultan inválidos, por lo que las pruebas deben ser repetidas.</a:t>
            </a:r>
            <a:endParaRPr dirty="0"/>
          </a:p>
          <a:p>
            <a:pPr marL="357188" marR="0" lvl="1" indent="-179388" algn="l" rtl="0">
              <a:spcBef>
                <a:spcPts val="0"/>
              </a:spcBef>
              <a:spcAft>
                <a:spcPts val="0"/>
              </a:spcAft>
              <a:buClr>
                <a:schemeClr val="dk1"/>
              </a:buClr>
              <a:buSzPts val="1600"/>
              <a:buFont typeface="Arial"/>
              <a:buNone/>
            </a:pPr>
            <a:endParaRPr sz="1600" b="0" i="0" u="none" strike="noStrike" cap="none" dirty="0">
              <a:solidFill>
                <a:schemeClr val="dk1"/>
              </a:solidFill>
              <a:latin typeface="Calibri"/>
              <a:ea typeface="Calibri"/>
              <a:cs typeface="Calibri"/>
              <a:sym typeface="Calibri"/>
            </a:endParaRPr>
          </a:p>
          <a:p>
            <a:pPr marL="357188" marR="0" lvl="1" indent="-179388" algn="l" rtl="0">
              <a:spcBef>
                <a:spcPts val="0"/>
              </a:spcBef>
              <a:spcAft>
                <a:spcPts val="0"/>
              </a:spcAft>
              <a:buClr>
                <a:schemeClr val="dk1"/>
              </a:buClr>
              <a:buSzPts val="1600"/>
              <a:buFont typeface="Arial"/>
              <a:buChar char="•"/>
            </a:pPr>
            <a:r>
              <a:rPr lang="es-PE" sz="1600" b="0" i="0" u="none" strike="noStrike" cap="none" dirty="0">
                <a:solidFill>
                  <a:schemeClr val="dk1"/>
                </a:solidFill>
                <a:latin typeface="Calibri"/>
                <a:ea typeface="Calibri"/>
                <a:cs typeface="Calibri"/>
                <a:sym typeface="Calibri"/>
              </a:rPr>
              <a:t>Volver o probar zonas adyacentes debido a efectos colaterales no deseados de una funcionalidad extendida o nueva.</a:t>
            </a:r>
            <a:r>
              <a:rPr lang="es-PE" sz="1600" b="1" i="0" u="none" strike="noStrike" cap="none" dirty="0">
                <a:solidFill>
                  <a:schemeClr val="dk1"/>
                </a:solidFill>
                <a:latin typeface="Calibri"/>
                <a:ea typeface="Calibri"/>
                <a:cs typeface="Calibri"/>
                <a:sym typeface="Calibri"/>
              </a:rPr>
              <a:t> </a:t>
            </a:r>
            <a:endParaRPr sz="1600" b="1" i="0" u="none" strike="noStrike" cap="none" dirty="0">
              <a:solidFill>
                <a:schemeClr val="dk1"/>
              </a:solidFill>
              <a:latin typeface="Calibri"/>
              <a:ea typeface="Calibri"/>
              <a:cs typeface="Calibri"/>
              <a:sym typeface="Calibri"/>
            </a:endParaRPr>
          </a:p>
        </p:txBody>
      </p:sp>
      <p:grpSp>
        <p:nvGrpSpPr>
          <p:cNvPr id="2" name="Grupo 1">
            <a:extLst>
              <a:ext uri="{FF2B5EF4-FFF2-40B4-BE49-F238E27FC236}">
                <a16:creationId xmlns:a16="http://schemas.microsoft.com/office/drawing/2014/main" id="{192A8499-27B6-5A4A-8D51-4C90468AF1D6}"/>
              </a:ext>
            </a:extLst>
          </p:cNvPr>
          <p:cNvGrpSpPr/>
          <p:nvPr/>
        </p:nvGrpSpPr>
        <p:grpSpPr>
          <a:xfrm>
            <a:off x="5106916" y="912813"/>
            <a:ext cx="3276013" cy="4188658"/>
            <a:chOff x="5075433" y="886034"/>
            <a:chExt cx="3456473" cy="4419391"/>
          </a:xfrm>
        </p:grpSpPr>
        <p:sp>
          <p:nvSpPr>
            <p:cNvPr id="324" name="Google Shape;324;p30"/>
            <p:cNvSpPr/>
            <p:nvPr/>
          </p:nvSpPr>
          <p:spPr>
            <a:xfrm>
              <a:off x="5075433" y="886034"/>
              <a:ext cx="1376738" cy="683783"/>
            </a:xfrm>
            <a:prstGeom prst="roundRect">
              <a:avLst>
                <a:gd name="adj" fmla="val 10870"/>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Corrección </a:t>
              </a:r>
              <a:endParaRPr/>
            </a:p>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de Errores</a:t>
              </a:r>
              <a:endParaRPr/>
            </a:p>
          </p:txBody>
        </p:sp>
        <p:sp>
          <p:nvSpPr>
            <p:cNvPr id="325" name="Google Shape;325;p30"/>
            <p:cNvSpPr/>
            <p:nvPr/>
          </p:nvSpPr>
          <p:spPr>
            <a:xfrm>
              <a:off x="7124345" y="886034"/>
              <a:ext cx="1407561" cy="683783"/>
            </a:xfrm>
            <a:prstGeom prst="roundRect">
              <a:avLst>
                <a:gd name="adj" fmla="val 10870"/>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Extensión de Funcionalidad</a:t>
              </a:r>
              <a:endParaRPr/>
            </a:p>
          </p:txBody>
        </p:sp>
        <p:sp>
          <p:nvSpPr>
            <p:cNvPr id="326" name="Google Shape;326;p30"/>
            <p:cNvSpPr/>
            <p:nvPr/>
          </p:nvSpPr>
          <p:spPr>
            <a:xfrm>
              <a:off x="5075433" y="1895030"/>
              <a:ext cx="1376738" cy="683783"/>
            </a:xfrm>
            <a:prstGeom prst="roundRect">
              <a:avLst>
                <a:gd name="adj" fmla="val 10870"/>
              </a:avLst>
            </a:prstGeom>
            <a:solidFill>
              <a:srgbClr val="80879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Pruebas de Confirmación</a:t>
              </a:r>
              <a:endParaRPr/>
            </a:p>
          </p:txBody>
        </p:sp>
        <p:sp>
          <p:nvSpPr>
            <p:cNvPr id="327" name="Google Shape;327;p30"/>
            <p:cNvSpPr/>
            <p:nvPr/>
          </p:nvSpPr>
          <p:spPr>
            <a:xfrm>
              <a:off x="7124345" y="1895030"/>
              <a:ext cx="1407561" cy="683783"/>
            </a:xfrm>
            <a:prstGeom prst="roundRect">
              <a:avLst>
                <a:gd name="adj" fmla="val 10870"/>
              </a:avLst>
            </a:prstGeom>
            <a:solidFill>
              <a:srgbClr val="80879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Nuevos Casos de Pruebas</a:t>
              </a:r>
              <a:endParaRPr/>
            </a:p>
          </p:txBody>
        </p:sp>
        <p:sp>
          <p:nvSpPr>
            <p:cNvPr id="328" name="Google Shape;328;p30"/>
            <p:cNvSpPr/>
            <p:nvPr/>
          </p:nvSpPr>
          <p:spPr>
            <a:xfrm>
              <a:off x="6096930" y="3612646"/>
              <a:ext cx="1407561" cy="683783"/>
            </a:xfrm>
            <a:prstGeom prst="roundRect">
              <a:avLst>
                <a:gd name="adj" fmla="val 10870"/>
              </a:avLst>
            </a:prstGeom>
            <a:solidFill>
              <a:srgbClr val="808799"/>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Pruebas </a:t>
              </a:r>
              <a:endParaRPr/>
            </a:p>
            <a:p>
              <a:pPr marL="0" marR="0" lvl="0" indent="0" algn="ctr" rtl="0">
                <a:lnSpc>
                  <a:spcPct val="90000"/>
                </a:lnSpc>
                <a:spcBef>
                  <a:spcPts val="0"/>
                </a:spcBef>
                <a:spcAft>
                  <a:spcPts val="0"/>
                </a:spcAft>
                <a:buNone/>
              </a:pPr>
              <a:r>
                <a:rPr lang="es-PE">
                  <a:solidFill>
                    <a:schemeClr val="lt1"/>
                  </a:solidFill>
                  <a:latin typeface="Calibri"/>
                  <a:ea typeface="Calibri"/>
                  <a:cs typeface="Calibri"/>
                  <a:sym typeface="Calibri"/>
                </a:rPr>
                <a:t>de Regresión</a:t>
              </a:r>
              <a:endParaRPr/>
            </a:p>
          </p:txBody>
        </p:sp>
        <p:sp>
          <p:nvSpPr>
            <p:cNvPr id="329" name="Google Shape;329;p30"/>
            <p:cNvSpPr/>
            <p:nvPr/>
          </p:nvSpPr>
          <p:spPr>
            <a:xfrm>
              <a:off x="6096930" y="4621642"/>
              <a:ext cx="1407561" cy="683783"/>
            </a:xfrm>
            <a:prstGeom prst="roundRect">
              <a:avLst>
                <a:gd name="adj" fmla="val 10870"/>
              </a:avLst>
            </a:prstGeom>
            <a:solidFill>
              <a:srgbClr val="00B1C2"/>
            </a:solid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s-PE" dirty="0">
                  <a:solidFill>
                    <a:schemeClr val="lt1"/>
                  </a:solidFill>
                  <a:latin typeface="Calibri"/>
                  <a:ea typeface="Calibri"/>
                  <a:cs typeface="Calibri"/>
                  <a:sym typeface="Calibri"/>
                </a:rPr>
                <a:t>Lanzamiento de Software</a:t>
              </a:r>
              <a:endParaRPr dirty="0"/>
            </a:p>
          </p:txBody>
        </p:sp>
        <p:sp>
          <p:nvSpPr>
            <p:cNvPr id="330" name="Google Shape;330;p30"/>
            <p:cNvSpPr/>
            <p:nvPr/>
          </p:nvSpPr>
          <p:spPr>
            <a:xfrm>
              <a:off x="6543856" y="2786988"/>
              <a:ext cx="513708" cy="513708"/>
            </a:xfrm>
            <a:prstGeom prst="ellipse">
              <a:avLst/>
            </a:prstGeom>
            <a:solidFill>
              <a:srgbClr val="8087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1" name="Google Shape;331;p30"/>
            <p:cNvSpPr/>
            <p:nvPr/>
          </p:nvSpPr>
          <p:spPr>
            <a:xfrm>
              <a:off x="5663246" y="1569817"/>
              <a:ext cx="197740" cy="285877"/>
            </a:xfrm>
            <a:prstGeom prst="down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2" name="Google Shape;332;p30"/>
            <p:cNvSpPr/>
            <p:nvPr/>
          </p:nvSpPr>
          <p:spPr>
            <a:xfrm>
              <a:off x="7729255" y="1569817"/>
              <a:ext cx="197740" cy="285877"/>
            </a:xfrm>
            <a:prstGeom prst="down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3" name="Google Shape;333;p30"/>
            <p:cNvSpPr/>
            <p:nvPr/>
          </p:nvSpPr>
          <p:spPr>
            <a:xfrm>
              <a:off x="6701840" y="4294667"/>
              <a:ext cx="197740" cy="285877"/>
            </a:xfrm>
            <a:prstGeom prst="down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4" name="Google Shape;334;p30"/>
            <p:cNvSpPr/>
            <p:nvPr/>
          </p:nvSpPr>
          <p:spPr>
            <a:xfrm>
              <a:off x="6701840" y="3293909"/>
              <a:ext cx="197740" cy="285877"/>
            </a:xfrm>
            <a:prstGeom prst="down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5" name="Google Shape;335;p30"/>
            <p:cNvSpPr/>
            <p:nvPr/>
          </p:nvSpPr>
          <p:spPr>
            <a:xfrm>
              <a:off x="5710320" y="2578813"/>
              <a:ext cx="106820" cy="499991"/>
            </a:xfrm>
            <a:prstGeom prst="rect">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6" name="Google Shape;336;p30"/>
            <p:cNvSpPr/>
            <p:nvPr/>
          </p:nvSpPr>
          <p:spPr>
            <a:xfrm>
              <a:off x="5710320" y="2944589"/>
              <a:ext cx="787757" cy="191850"/>
            </a:xfrm>
            <a:prstGeom prst="rightArrow">
              <a:avLst>
                <a:gd name="adj1" fmla="val 50000"/>
                <a:gd name="adj2" fmla="val 50000"/>
              </a:avLst>
            </a:prstGeom>
            <a:solidFill>
              <a:srgbClr val="EE463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37" name="Google Shape;337;p30"/>
            <p:cNvGrpSpPr/>
            <p:nvPr/>
          </p:nvGrpSpPr>
          <p:grpSpPr>
            <a:xfrm flipH="1">
              <a:off x="7096348" y="2578813"/>
              <a:ext cx="797406" cy="557626"/>
              <a:chOff x="6899580" y="2578813"/>
              <a:chExt cx="787757" cy="557626"/>
            </a:xfrm>
            <a:solidFill>
              <a:srgbClr val="EE4639"/>
            </a:solidFill>
          </p:grpSpPr>
          <p:sp>
            <p:nvSpPr>
              <p:cNvPr id="338" name="Google Shape;338;p30"/>
              <p:cNvSpPr/>
              <p:nvPr/>
            </p:nvSpPr>
            <p:spPr>
              <a:xfrm>
                <a:off x="6899580" y="2578813"/>
                <a:ext cx="106820" cy="499991"/>
              </a:xfrm>
              <a:prstGeom prst="rect">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39" name="Google Shape;339;p30"/>
              <p:cNvSpPr/>
              <p:nvPr/>
            </p:nvSpPr>
            <p:spPr>
              <a:xfrm>
                <a:off x="6899580" y="2944589"/>
                <a:ext cx="787757" cy="191850"/>
              </a:xfrm>
              <a:prstGeom prst="rightArrow">
                <a:avLst>
                  <a:gd name="adj1" fmla="val 50000"/>
                  <a:gd name="adj2" fmla="val 50000"/>
                </a:avLst>
              </a:prstGeom>
              <a:gr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340" name="Google Shape;340;p30"/>
          <p:cNvSpPr txBox="1"/>
          <p:nvPr/>
        </p:nvSpPr>
        <p:spPr>
          <a:xfrm>
            <a:off x="684213" y="4202016"/>
            <a:ext cx="1050633"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21" name="Rectangle 5">
            <a:extLst>
              <a:ext uri="{FF2B5EF4-FFF2-40B4-BE49-F238E27FC236}">
                <a16:creationId xmlns:a16="http://schemas.microsoft.com/office/drawing/2014/main" id="{0CA3749A-D446-1A4B-BC17-89681B2EE740}"/>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31"/>
          <p:cNvSpPr/>
          <p:nvPr/>
        </p:nvSpPr>
        <p:spPr>
          <a:xfrm>
            <a:off x="503239" y="912813"/>
            <a:ext cx="8172450"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RELACIONADAS CON LOS CAMBIOS</a:t>
            </a:r>
            <a:endParaRPr dirty="0"/>
          </a:p>
          <a:p>
            <a:pPr marL="177800" marR="0" lvl="0" indent="-177800" algn="l" rtl="0">
              <a:spcBef>
                <a:spcPts val="0"/>
              </a:spcBef>
              <a:spcAft>
                <a:spcPts val="0"/>
              </a:spcAft>
              <a:buClr>
                <a:schemeClr val="dk1"/>
              </a:buClr>
              <a:buSzPts val="1600"/>
              <a:buFont typeface="Arial"/>
              <a:buChar char="•"/>
            </a:pPr>
            <a:r>
              <a:rPr lang="es-PE" sz="1600" dirty="0">
                <a:solidFill>
                  <a:schemeClr val="dk1"/>
                </a:solidFill>
                <a:latin typeface="Calibri"/>
                <a:ea typeface="Calibri"/>
                <a:cs typeface="Calibri"/>
                <a:sym typeface="Calibri"/>
              </a:rPr>
              <a:t>Las pruebas relacionadas con los cambios son:</a:t>
            </a:r>
            <a:endParaRPr dirty="0"/>
          </a:p>
        </p:txBody>
      </p:sp>
      <p:sp>
        <p:nvSpPr>
          <p:cNvPr id="347" name="Google Shape;347;p31"/>
          <p:cNvSpPr txBox="1"/>
          <p:nvPr/>
        </p:nvSpPr>
        <p:spPr>
          <a:xfrm>
            <a:off x="503238" y="5004517"/>
            <a:ext cx="316865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67CB5865-A54C-5544-8E98-12DB46FBFA5E}"/>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redondeado 6">
            <a:extLst>
              <a:ext uri="{FF2B5EF4-FFF2-40B4-BE49-F238E27FC236}">
                <a16:creationId xmlns:a16="http://schemas.microsoft.com/office/drawing/2014/main" id="{8FD7F5B7-376D-9348-A7EF-A7FAAD1AA2D6}"/>
              </a:ext>
            </a:extLst>
          </p:cNvPr>
          <p:cNvSpPr/>
          <p:nvPr/>
        </p:nvSpPr>
        <p:spPr>
          <a:xfrm>
            <a:off x="4481278" y="1880282"/>
            <a:ext cx="1973019" cy="2134281"/>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defTabSz="666750">
              <a:lnSpc>
                <a:spcPct val="90000"/>
              </a:lnSpc>
              <a:spcAft>
                <a:spcPts val="1200"/>
              </a:spcAft>
              <a:buClr>
                <a:schemeClr val="bg1"/>
              </a:buClr>
              <a:buSzPts val="1600"/>
            </a:pPr>
            <a:r>
              <a:rPr lang="es-PE" b="1" dirty="0">
                <a:solidFill>
                  <a:schemeClr val="bg1"/>
                </a:solidFill>
                <a:latin typeface="Calibri" charset="0"/>
                <a:cs typeface="Calibri" charset="0"/>
                <a:sym typeface="Calibri"/>
              </a:rPr>
              <a:t>PRUEBAS DE REGRESIÓN: </a:t>
            </a:r>
            <a:endParaRPr lang="es-PE" b="1" dirty="0">
              <a:solidFill>
                <a:schemeClr val="bg1"/>
              </a:solidFill>
              <a:latin typeface="Calibri" charset="0"/>
              <a:cs typeface="Calibri" charset="0"/>
            </a:endParaRPr>
          </a:p>
          <a:p>
            <a:pPr marL="138113" indent="-133350" defTabSz="577850">
              <a:buClr>
                <a:schemeClr val="bg1"/>
              </a:buClr>
              <a:buSzPts val="1600"/>
              <a:buFont typeface="Arial" panose="020B0604020202020204" pitchFamily="34" charset="0"/>
              <a:buChar char="•"/>
            </a:pPr>
            <a:r>
              <a:rPr lang="es-PE" dirty="0">
                <a:solidFill>
                  <a:schemeClr val="bg1"/>
                </a:solidFill>
                <a:latin typeface="Calibri" charset="0"/>
                <a:cs typeface="Calibri" charset="0"/>
                <a:sym typeface="Calibri"/>
              </a:rPr>
              <a:t>Pruebas para descubrir nuevos defectos introducidos por </a:t>
            </a:r>
            <a:br>
              <a:rPr lang="es-PE" dirty="0">
                <a:solidFill>
                  <a:schemeClr val="bg1"/>
                </a:solidFill>
                <a:latin typeface="Calibri" charset="0"/>
                <a:cs typeface="Calibri" charset="0"/>
                <a:sym typeface="Calibri"/>
              </a:rPr>
            </a:br>
            <a:r>
              <a:rPr lang="es-PE" dirty="0">
                <a:solidFill>
                  <a:schemeClr val="bg1"/>
                </a:solidFill>
                <a:latin typeface="Calibri" charset="0"/>
                <a:cs typeface="Calibri" charset="0"/>
                <a:sym typeface="Calibri"/>
              </a:rPr>
              <a:t>un cambio.</a:t>
            </a:r>
            <a:endParaRPr lang="es-ES_tradnl" dirty="0">
              <a:solidFill>
                <a:schemeClr val="bg1"/>
              </a:solidFill>
              <a:latin typeface="Calibri" charset="0"/>
              <a:cs typeface="Calibri" charset="0"/>
            </a:endParaRPr>
          </a:p>
        </p:txBody>
      </p:sp>
      <p:sp>
        <p:nvSpPr>
          <p:cNvPr id="8" name="Elipse 7">
            <a:extLst>
              <a:ext uri="{FF2B5EF4-FFF2-40B4-BE49-F238E27FC236}">
                <a16:creationId xmlns:a16="http://schemas.microsoft.com/office/drawing/2014/main" id="{902357F9-6481-AB48-8381-3A9AEB86248F}"/>
              </a:ext>
            </a:extLst>
          </p:cNvPr>
          <p:cNvSpPr/>
          <p:nvPr/>
        </p:nvSpPr>
        <p:spPr>
          <a:xfrm>
            <a:off x="4327465" y="2762898"/>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9" name="Elipse 8">
            <a:extLst>
              <a:ext uri="{FF2B5EF4-FFF2-40B4-BE49-F238E27FC236}">
                <a16:creationId xmlns:a16="http://schemas.microsoft.com/office/drawing/2014/main" id="{4AC3FF26-E57D-D64F-B850-2771B853DB9E}"/>
              </a:ext>
            </a:extLst>
          </p:cNvPr>
          <p:cNvSpPr/>
          <p:nvPr/>
        </p:nvSpPr>
        <p:spPr>
          <a:xfrm>
            <a:off x="4263700" y="2749024"/>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0" name="Triángulo 9">
            <a:extLst>
              <a:ext uri="{FF2B5EF4-FFF2-40B4-BE49-F238E27FC236}">
                <a16:creationId xmlns:a16="http://schemas.microsoft.com/office/drawing/2014/main" id="{21BC8965-997E-3D49-87C2-92D29222050B}"/>
              </a:ext>
            </a:extLst>
          </p:cNvPr>
          <p:cNvSpPr/>
          <p:nvPr/>
        </p:nvSpPr>
        <p:spPr>
          <a:xfrm rot="5400000">
            <a:off x="4447472" y="2889745"/>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1" name="Rectángulo redondeado 10">
            <a:extLst>
              <a:ext uri="{FF2B5EF4-FFF2-40B4-BE49-F238E27FC236}">
                <a16:creationId xmlns:a16="http://schemas.microsoft.com/office/drawing/2014/main" id="{16BC687A-2CCC-A64F-8D57-39229CAA6C29}"/>
              </a:ext>
            </a:extLst>
          </p:cNvPr>
          <p:cNvSpPr/>
          <p:nvPr/>
        </p:nvSpPr>
        <p:spPr>
          <a:xfrm>
            <a:off x="2419594" y="1880282"/>
            <a:ext cx="1973019" cy="2134281"/>
          </a:xfrm>
          <a:prstGeom prst="roundRect">
            <a:avLst>
              <a:gd name="adj" fmla="val 74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lIns="251999" tIns="144000" rIns="0" rtlCol="0" anchor="t"/>
          <a:lstStyle/>
          <a:p>
            <a:pPr defTabSz="666750">
              <a:lnSpc>
                <a:spcPct val="90000"/>
              </a:lnSpc>
              <a:spcAft>
                <a:spcPts val="1200"/>
              </a:spcAft>
              <a:buClr>
                <a:schemeClr val="bg1"/>
              </a:buClr>
              <a:buSzPts val="1600"/>
            </a:pPr>
            <a:r>
              <a:rPr lang="es-PE" b="1" dirty="0">
                <a:solidFill>
                  <a:schemeClr val="bg1"/>
                </a:solidFill>
                <a:latin typeface="Calibri" charset="0"/>
                <a:cs typeface="Calibri" charset="0"/>
                <a:sym typeface="Calibri"/>
              </a:rPr>
              <a:t>PRUEBAS DE CONFIRMACIÓN </a:t>
            </a:r>
            <a:br>
              <a:rPr lang="es-PE" b="1" dirty="0">
                <a:solidFill>
                  <a:schemeClr val="bg1"/>
                </a:solidFill>
                <a:latin typeface="Calibri" charset="0"/>
                <a:cs typeface="Calibri" charset="0"/>
                <a:sym typeface="Calibri"/>
              </a:rPr>
            </a:br>
            <a:r>
              <a:rPr lang="es-PE" b="1" dirty="0">
                <a:solidFill>
                  <a:schemeClr val="bg1"/>
                </a:solidFill>
                <a:latin typeface="Calibri" charset="0"/>
                <a:cs typeface="Calibri" charset="0"/>
                <a:sym typeface="Calibri"/>
              </a:rPr>
              <a:t>(RE-TESTING)</a:t>
            </a:r>
            <a:endParaRPr lang="es-PE" b="1" dirty="0">
              <a:solidFill>
                <a:schemeClr val="bg1"/>
              </a:solidFill>
              <a:latin typeface="Calibri" charset="0"/>
              <a:cs typeface="Calibri" charset="0"/>
            </a:endParaRPr>
          </a:p>
          <a:p>
            <a:pPr marL="138113" indent="-133350" defTabSz="577850">
              <a:buClr>
                <a:schemeClr val="bg1"/>
              </a:buClr>
              <a:buSzPts val="1600"/>
              <a:buFont typeface="Arial" panose="020B0604020202020204" pitchFamily="34" charset="0"/>
              <a:buChar char="•"/>
            </a:pPr>
            <a:r>
              <a:rPr lang="es-PE" dirty="0">
                <a:solidFill>
                  <a:schemeClr val="bg1"/>
                </a:solidFill>
                <a:latin typeface="Calibri" charset="0"/>
                <a:cs typeface="Calibri" charset="0"/>
                <a:sym typeface="Calibri"/>
              </a:rPr>
              <a:t>Pruebas después de corrección de un defecto.</a:t>
            </a:r>
            <a:endParaRPr lang="es-PE" dirty="0">
              <a:solidFill>
                <a:schemeClr val="bg1"/>
              </a:solidFill>
              <a:latin typeface="Calibri" charset="0"/>
              <a:cs typeface="Calibri" charset="0"/>
            </a:endParaRPr>
          </a:p>
        </p:txBody>
      </p:sp>
      <p:sp>
        <p:nvSpPr>
          <p:cNvPr id="12" name="Elipse 11">
            <a:extLst>
              <a:ext uri="{FF2B5EF4-FFF2-40B4-BE49-F238E27FC236}">
                <a16:creationId xmlns:a16="http://schemas.microsoft.com/office/drawing/2014/main" id="{36C93266-E27D-5941-B908-AB6B20B7B212}"/>
              </a:ext>
            </a:extLst>
          </p:cNvPr>
          <p:cNvSpPr/>
          <p:nvPr/>
        </p:nvSpPr>
        <p:spPr>
          <a:xfrm>
            <a:off x="2270166" y="2762898"/>
            <a:ext cx="395709" cy="376075"/>
          </a:xfrm>
          <a:prstGeom prst="ellipse">
            <a:avLst/>
          </a:prstGeom>
          <a:solidFill>
            <a:srgbClr val="C73A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3" name="Elipse 12">
            <a:extLst>
              <a:ext uri="{FF2B5EF4-FFF2-40B4-BE49-F238E27FC236}">
                <a16:creationId xmlns:a16="http://schemas.microsoft.com/office/drawing/2014/main" id="{A113C002-9606-3447-A085-FAEE0666F434}"/>
              </a:ext>
            </a:extLst>
          </p:cNvPr>
          <p:cNvSpPr/>
          <p:nvPr/>
        </p:nvSpPr>
        <p:spPr>
          <a:xfrm>
            <a:off x="2206400" y="2749024"/>
            <a:ext cx="424906" cy="4038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
        <p:nvSpPr>
          <p:cNvPr id="14" name="Triángulo 13">
            <a:extLst>
              <a:ext uri="{FF2B5EF4-FFF2-40B4-BE49-F238E27FC236}">
                <a16:creationId xmlns:a16="http://schemas.microsoft.com/office/drawing/2014/main" id="{F94258B4-A787-3A4D-AFBE-91E3FBD75CC4}"/>
              </a:ext>
            </a:extLst>
          </p:cNvPr>
          <p:cNvSpPr/>
          <p:nvPr/>
        </p:nvSpPr>
        <p:spPr>
          <a:xfrm rot="5400000">
            <a:off x="2390173" y="2889745"/>
            <a:ext cx="186870" cy="122381"/>
          </a:xfrm>
          <a:prstGeom prst="triangle">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300" dirty="0">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3" name="Google Shape;353;p32"/>
          <p:cNvSpPr/>
          <p:nvPr/>
        </p:nvSpPr>
        <p:spPr>
          <a:xfrm>
            <a:off x="503238" y="912813"/>
            <a:ext cx="8368264"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RELACIONADAS CON LOS CAMBIOS</a:t>
            </a:r>
            <a:endParaRPr dirty="0"/>
          </a:p>
          <a:p>
            <a:pPr marL="177800" marR="0" lvl="0" indent="-168275"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Ámbito de aplicación.</a:t>
            </a:r>
            <a:endParaRPr dirty="0"/>
          </a:p>
        </p:txBody>
      </p:sp>
      <p:sp>
        <p:nvSpPr>
          <p:cNvPr id="354" name="Google Shape;354;p32"/>
          <p:cNvSpPr txBox="1"/>
          <p:nvPr/>
        </p:nvSpPr>
        <p:spPr>
          <a:xfrm>
            <a:off x="503238" y="5040233"/>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a:solidFill>
                  <a:schemeClr val="bg1">
                    <a:lumMod val="50000"/>
                  </a:schemeClr>
                </a:solidFill>
                <a:latin typeface="Calibri"/>
                <a:ea typeface="Calibri"/>
                <a:cs typeface="Calibri"/>
                <a:sym typeface="Calibri"/>
              </a:rPr>
              <a:t>kupdf.net</a:t>
            </a:r>
            <a:endParaRPr>
              <a:solidFill>
                <a:schemeClr val="bg1">
                  <a:lumMod val="50000"/>
                </a:schemeClr>
              </a:solidFill>
            </a:endParaRPr>
          </a:p>
        </p:txBody>
      </p:sp>
      <p:sp>
        <p:nvSpPr>
          <p:cNvPr id="5" name="Rectangle 5">
            <a:extLst>
              <a:ext uri="{FF2B5EF4-FFF2-40B4-BE49-F238E27FC236}">
                <a16:creationId xmlns:a16="http://schemas.microsoft.com/office/drawing/2014/main" id="{9788DC7E-3723-5842-B455-94BF4505252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0475D716-0A0E-CB4F-8630-82C3D16A1213}"/>
              </a:ext>
            </a:extLst>
          </p:cNvPr>
          <p:cNvSpPr/>
          <p:nvPr/>
        </p:nvSpPr>
        <p:spPr>
          <a:xfrm>
            <a:off x="974956" y="1696733"/>
            <a:ext cx="5613221"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Pueden ser ejecutadas en todos los niveles de pruebas.</a:t>
            </a:r>
            <a:endParaRPr lang="es-PE" dirty="0"/>
          </a:p>
        </p:txBody>
      </p:sp>
      <p:cxnSp>
        <p:nvCxnSpPr>
          <p:cNvPr id="8" name="Conector recto 7">
            <a:extLst>
              <a:ext uri="{FF2B5EF4-FFF2-40B4-BE49-F238E27FC236}">
                <a16:creationId xmlns:a16="http://schemas.microsoft.com/office/drawing/2014/main" id="{6B38EC59-A945-9641-91FB-57D750A6D32E}"/>
              </a:ext>
            </a:extLst>
          </p:cNvPr>
          <p:cNvCxnSpPr>
            <a:cxnSpLocks/>
          </p:cNvCxnSpPr>
          <p:nvPr/>
        </p:nvCxnSpPr>
        <p:spPr>
          <a:xfrm>
            <a:off x="760555" y="1899603"/>
            <a:ext cx="0" cy="288961"/>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D431EBF2-EAEE-0F4B-A473-49E191A66659}"/>
              </a:ext>
            </a:extLst>
          </p:cNvPr>
          <p:cNvSpPr/>
          <p:nvPr/>
        </p:nvSpPr>
        <p:spPr>
          <a:xfrm>
            <a:off x="974956" y="2188564"/>
            <a:ext cx="6085408" cy="430887"/>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Repetir una prueba de funcionalidad que ya había sido verificada. Se llama prueba de regresión.</a:t>
            </a:r>
            <a:endParaRPr lang="es-PE" dirty="0"/>
          </a:p>
        </p:txBody>
      </p:sp>
      <p:sp>
        <p:nvSpPr>
          <p:cNvPr id="10" name="Rectángulo 9">
            <a:extLst>
              <a:ext uri="{FF2B5EF4-FFF2-40B4-BE49-F238E27FC236}">
                <a16:creationId xmlns:a16="http://schemas.microsoft.com/office/drawing/2014/main" id="{F8B28D75-4CF4-FF49-95F5-5DE13D0D22CE}"/>
              </a:ext>
            </a:extLst>
          </p:cNvPr>
          <p:cNvSpPr/>
          <p:nvPr/>
        </p:nvSpPr>
        <p:spPr>
          <a:xfrm>
            <a:off x="974956" y="2827902"/>
            <a:ext cx="6445175" cy="430887"/>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El alcance de las pruebas de regresión depende del riesgo e impacto de la nueva funcionalidad implementada (extensión o corrección de defectos).</a:t>
            </a:r>
            <a:endParaRPr lang="es-PE" dirty="0"/>
          </a:p>
        </p:txBody>
      </p:sp>
      <p:sp>
        <p:nvSpPr>
          <p:cNvPr id="11" name="Más 10">
            <a:extLst>
              <a:ext uri="{FF2B5EF4-FFF2-40B4-BE49-F238E27FC236}">
                <a16:creationId xmlns:a16="http://schemas.microsoft.com/office/drawing/2014/main" id="{A160DE84-97C9-1C4C-9679-9499008E8F90}"/>
              </a:ext>
            </a:extLst>
          </p:cNvPr>
          <p:cNvSpPr/>
          <p:nvPr/>
        </p:nvSpPr>
        <p:spPr>
          <a:xfrm>
            <a:off x="684213" y="1706505"/>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2" name="Conector recto 11">
            <a:extLst>
              <a:ext uri="{FF2B5EF4-FFF2-40B4-BE49-F238E27FC236}">
                <a16:creationId xmlns:a16="http://schemas.microsoft.com/office/drawing/2014/main" id="{DDEEA757-483D-5D41-BC57-53605761F8C6}"/>
              </a:ext>
            </a:extLst>
          </p:cNvPr>
          <p:cNvCxnSpPr>
            <a:cxnSpLocks/>
          </p:cNvCxnSpPr>
          <p:nvPr/>
        </p:nvCxnSpPr>
        <p:spPr>
          <a:xfrm>
            <a:off x="760555" y="2382201"/>
            <a:ext cx="0" cy="40596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3" name="Más 12">
            <a:extLst>
              <a:ext uri="{FF2B5EF4-FFF2-40B4-BE49-F238E27FC236}">
                <a16:creationId xmlns:a16="http://schemas.microsoft.com/office/drawing/2014/main" id="{ED02D12A-C889-EE4C-B379-025378EE7141}"/>
              </a:ext>
            </a:extLst>
          </p:cNvPr>
          <p:cNvSpPr/>
          <p:nvPr/>
        </p:nvSpPr>
        <p:spPr>
          <a:xfrm>
            <a:off x="684213" y="219945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Más 13">
            <a:extLst>
              <a:ext uri="{FF2B5EF4-FFF2-40B4-BE49-F238E27FC236}">
                <a16:creationId xmlns:a16="http://schemas.microsoft.com/office/drawing/2014/main" id="{300AD285-DDAF-0B47-8DEF-3FB1033865A1}"/>
              </a:ext>
            </a:extLst>
          </p:cNvPr>
          <p:cNvSpPr/>
          <p:nvPr/>
        </p:nvSpPr>
        <p:spPr>
          <a:xfrm>
            <a:off x="684213" y="282790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2" name="Google Shape;362;p33"/>
          <p:cNvSpPr txBox="1"/>
          <p:nvPr/>
        </p:nvSpPr>
        <p:spPr>
          <a:xfrm>
            <a:off x="503238" y="5011073"/>
            <a:ext cx="457200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BA674CB3-9EA0-CB43-900E-60AC85F6BD7B}"/>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sp>
        <p:nvSpPr>
          <p:cNvPr id="6" name="Google Shape;353;p32">
            <a:extLst>
              <a:ext uri="{FF2B5EF4-FFF2-40B4-BE49-F238E27FC236}">
                <a16:creationId xmlns:a16="http://schemas.microsoft.com/office/drawing/2014/main" id="{7E2DE16A-3665-5043-8296-7121FF907AB5}"/>
              </a:ext>
            </a:extLst>
          </p:cNvPr>
          <p:cNvSpPr/>
          <p:nvPr/>
        </p:nvSpPr>
        <p:spPr>
          <a:xfrm>
            <a:off x="503238" y="912813"/>
            <a:ext cx="8368264"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RELACIONADAS CON LOS CAMBIOS</a:t>
            </a:r>
            <a:endParaRPr dirty="0"/>
          </a:p>
          <a:p>
            <a:pPr marL="177800" marR="0" lvl="0" indent="-168275"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Ejecución</a:t>
            </a:r>
            <a:endParaRPr dirty="0"/>
          </a:p>
        </p:txBody>
      </p:sp>
      <p:sp>
        <p:nvSpPr>
          <p:cNvPr id="7" name="Rectángulo 6">
            <a:extLst>
              <a:ext uri="{FF2B5EF4-FFF2-40B4-BE49-F238E27FC236}">
                <a16:creationId xmlns:a16="http://schemas.microsoft.com/office/drawing/2014/main" id="{351181A6-D33E-CF4A-BF1C-C855A6BF05B1}"/>
              </a:ext>
            </a:extLst>
          </p:cNvPr>
          <p:cNvSpPr/>
          <p:nvPr/>
        </p:nvSpPr>
        <p:spPr>
          <a:xfrm>
            <a:off x="974956" y="1696733"/>
            <a:ext cx="6962333"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b="0" i="0" u="none" strike="noStrike" cap="none" dirty="0">
                <a:solidFill>
                  <a:schemeClr val="dk1"/>
                </a:solidFill>
                <a:latin typeface="Calibri"/>
                <a:ea typeface="Calibri"/>
                <a:cs typeface="Calibri"/>
                <a:sym typeface="Calibri"/>
              </a:rPr>
              <a:t>Tiene lugar de la misma forma en la cual se han ejecutado las pruebas en iteraciones previas.</a:t>
            </a:r>
            <a:endParaRPr lang="es-PE" dirty="0"/>
          </a:p>
        </p:txBody>
      </p:sp>
      <p:cxnSp>
        <p:nvCxnSpPr>
          <p:cNvPr id="8" name="Conector recto 7">
            <a:extLst>
              <a:ext uri="{FF2B5EF4-FFF2-40B4-BE49-F238E27FC236}">
                <a16:creationId xmlns:a16="http://schemas.microsoft.com/office/drawing/2014/main" id="{B82CB244-B65D-D64F-BE06-568BC0828D45}"/>
              </a:ext>
            </a:extLst>
          </p:cNvPr>
          <p:cNvCxnSpPr>
            <a:cxnSpLocks/>
          </p:cNvCxnSpPr>
          <p:nvPr/>
        </p:nvCxnSpPr>
        <p:spPr>
          <a:xfrm>
            <a:off x="760555" y="1899603"/>
            <a:ext cx="0" cy="288961"/>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9" name="Rectángulo 8">
            <a:extLst>
              <a:ext uri="{FF2B5EF4-FFF2-40B4-BE49-F238E27FC236}">
                <a16:creationId xmlns:a16="http://schemas.microsoft.com/office/drawing/2014/main" id="{9CB28E81-A3B3-9C4B-A38D-8886E526E6D7}"/>
              </a:ext>
            </a:extLst>
          </p:cNvPr>
          <p:cNvSpPr/>
          <p:nvPr/>
        </p:nvSpPr>
        <p:spPr>
          <a:xfrm>
            <a:off x="974956" y="2188564"/>
            <a:ext cx="6085408"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b="0" i="0" u="none" strike="noStrike" cap="none" dirty="0">
                <a:solidFill>
                  <a:schemeClr val="dk1"/>
                </a:solidFill>
                <a:latin typeface="Calibri"/>
                <a:ea typeface="Calibri"/>
                <a:cs typeface="Calibri"/>
                <a:sym typeface="Calibri"/>
              </a:rPr>
              <a:t>Una prueba de regresión completa no es viable dado sus altos costos y duración.</a:t>
            </a:r>
            <a:endParaRPr lang="es-PE" dirty="0"/>
          </a:p>
        </p:txBody>
      </p:sp>
      <p:sp>
        <p:nvSpPr>
          <p:cNvPr id="10" name="Rectángulo 9">
            <a:extLst>
              <a:ext uri="{FF2B5EF4-FFF2-40B4-BE49-F238E27FC236}">
                <a16:creationId xmlns:a16="http://schemas.microsoft.com/office/drawing/2014/main" id="{CAE68821-EDFF-CE46-BB34-AF744A28C354}"/>
              </a:ext>
            </a:extLst>
          </p:cNvPr>
          <p:cNvSpPr/>
          <p:nvPr/>
        </p:nvSpPr>
        <p:spPr>
          <a:xfrm>
            <a:off x="974956" y="2827902"/>
            <a:ext cx="6445175" cy="215444"/>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b="0" i="0" u="none" strike="noStrike" cap="none" dirty="0">
                <a:solidFill>
                  <a:schemeClr val="dk1"/>
                </a:solidFill>
                <a:latin typeface="Calibri"/>
                <a:ea typeface="Calibri"/>
                <a:cs typeface="Calibri"/>
                <a:sym typeface="Calibri"/>
              </a:rPr>
              <a:t>Un alto grado de modularidad en el software permite reducir las pruebas de regresión.</a:t>
            </a:r>
            <a:endParaRPr lang="es-PE" dirty="0"/>
          </a:p>
        </p:txBody>
      </p:sp>
      <p:sp>
        <p:nvSpPr>
          <p:cNvPr id="11" name="Más 10">
            <a:extLst>
              <a:ext uri="{FF2B5EF4-FFF2-40B4-BE49-F238E27FC236}">
                <a16:creationId xmlns:a16="http://schemas.microsoft.com/office/drawing/2014/main" id="{CA5B6958-3790-144A-B9D8-CBE88157D45F}"/>
              </a:ext>
            </a:extLst>
          </p:cNvPr>
          <p:cNvSpPr/>
          <p:nvPr/>
        </p:nvSpPr>
        <p:spPr>
          <a:xfrm>
            <a:off x="684213" y="1706505"/>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cxnSp>
        <p:nvCxnSpPr>
          <p:cNvPr id="12" name="Conector recto 11">
            <a:extLst>
              <a:ext uri="{FF2B5EF4-FFF2-40B4-BE49-F238E27FC236}">
                <a16:creationId xmlns:a16="http://schemas.microsoft.com/office/drawing/2014/main" id="{58637971-149C-C245-A410-91C20914AD30}"/>
              </a:ext>
            </a:extLst>
          </p:cNvPr>
          <p:cNvCxnSpPr>
            <a:cxnSpLocks/>
          </p:cNvCxnSpPr>
          <p:nvPr/>
        </p:nvCxnSpPr>
        <p:spPr>
          <a:xfrm>
            <a:off x="760555" y="2382201"/>
            <a:ext cx="0" cy="405969"/>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3" name="Más 12">
            <a:extLst>
              <a:ext uri="{FF2B5EF4-FFF2-40B4-BE49-F238E27FC236}">
                <a16:creationId xmlns:a16="http://schemas.microsoft.com/office/drawing/2014/main" id="{A36E761D-629D-4C42-A6EC-A9BD3542F6F4}"/>
              </a:ext>
            </a:extLst>
          </p:cNvPr>
          <p:cNvSpPr/>
          <p:nvPr/>
        </p:nvSpPr>
        <p:spPr>
          <a:xfrm>
            <a:off x="684213" y="219945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4" name="Más 13">
            <a:extLst>
              <a:ext uri="{FF2B5EF4-FFF2-40B4-BE49-F238E27FC236}">
                <a16:creationId xmlns:a16="http://schemas.microsoft.com/office/drawing/2014/main" id="{F0E2B94E-E8BB-B947-91D9-CC6F1E2F82E1}"/>
              </a:ext>
            </a:extLst>
          </p:cNvPr>
          <p:cNvSpPr/>
          <p:nvPr/>
        </p:nvSpPr>
        <p:spPr>
          <a:xfrm>
            <a:off x="684213" y="282790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9" name="Google Shape;369;p34"/>
          <p:cNvSpPr/>
          <p:nvPr/>
        </p:nvSpPr>
        <p:spPr>
          <a:xfrm>
            <a:off x="503238" y="918257"/>
            <a:ext cx="3889375" cy="5693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600"/>
              </a:spcAft>
              <a:buNone/>
            </a:pPr>
            <a:r>
              <a:rPr lang="es-PE" sz="1600" b="1" dirty="0">
                <a:solidFill>
                  <a:schemeClr val="dk1"/>
                </a:solidFill>
                <a:latin typeface="Calibri"/>
                <a:ea typeface="Calibri"/>
                <a:cs typeface="Calibri"/>
                <a:sym typeface="Calibri"/>
              </a:rPr>
              <a:t>PRUEBAS RELACIONADAS CON LOS CAMBIOS</a:t>
            </a:r>
            <a:endParaRPr dirty="0"/>
          </a:p>
          <a:p>
            <a:pPr marL="177800" marR="0" lvl="0" indent="-168275" algn="l" rtl="0">
              <a:spcBef>
                <a:spcPts val="0"/>
              </a:spcBef>
              <a:spcAft>
                <a:spcPts val="0"/>
              </a:spcAft>
              <a:buClr>
                <a:schemeClr val="dk1"/>
              </a:buClr>
              <a:buSzPts val="1600"/>
              <a:buFont typeface="Arial"/>
              <a:buChar char="•"/>
            </a:pPr>
            <a:r>
              <a:rPr lang="es-PE" sz="1600" b="1" dirty="0">
                <a:solidFill>
                  <a:schemeClr val="dk1"/>
                </a:solidFill>
                <a:latin typeface="Calibri"/>
                <a:ea typeface="Calibri"/>
                <a:cs typeface="Calibri"/>
                <a:sym typeface="Calibri"/>
              </a:rPr>
              <a:t>Ejecución</a:t>
            </a:r>
            <a:endParaRPr sz="1600" b="0" i="0" u="none" strike="noStrike" cap="none" dirty="0">
              <a:solidFill>
                <a:schemeClr val="dk1"/>
              </a:solidFill>
              <a:latin typeface="Calibri"/>
              <a:ea typeface="Calibri"/>
              <a:cs typeface="Calibri"/>
              <a:sym typeface="Calibri"/>
            </a:endParaRPr>
          </a:p>
        </p:txBody>
      </p:sp>
      <p:sp>
        <p:nvSpPr>
          <p:cNvPr id="370" name="Google Shape;370;p34"/>
          <p:cNvSpPr txBox="1"/>
          <p:nvPr/>
        </p:nvSpPr>
        <p:spPr>
          <a:xfrm>
            <a:off x="684213" y="4874113"/>
            <a:ext cx="3024187"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1000" dirty="0">
                <a:solidFill>
                  <a:schemeClr val="bg1">
                    <a:lumMod val="50000"/>
                  </a:schemeClr>
                </a:solidFill>
                <a:latin typeface="Calibri"/>
                <a:ea typeface="Calibri"/>
                <a:cs typeface="Calibri"/>
                <a:sym typeface="Calibri"/>
              </a:rPr>
              <a:t>kupdf.net</a:t>
            </a:r>
            <a:endParaRPr dirty="0">
              <a:solidFill>
                <a:schemeClr val="bg1">
                  <a:lumMod val="50000"/>
                </a:schemeClr>
              </a:solidFill>
            </a:endParaRPr>
          </a:p>
        </p:txBody>
      </p:sp>
      <p:sp>
        <p:nvSpPr>
          <p:cNvPr id="5" name="Rectangle 5">
            <a:extLst>
              <a:ext uri="{FF2B5EF4-FFF2-40B4-BE49-F238E27FC236}">
                <a16:creationId xmlns:a16="http://schemas.microsoft.com/office/drawing/2014/main" id="{866C7D21-D358-FA43-BCDB-C0238A11D88A}"/>
              </a:ext>
            </a:extLst>
          </p:cNvPr>
          <p:cNvSpPr/>
          <p:nvPr/>
        </p:nvSpPr>
        <p:spPr>
          <a:xfrm>
            <a:off x="503238" y="376232"/>
            <a:ext cx="3300666"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panose="020F0502020204030204" pitchFamily="34" charset="0"/>
                <a:cs typeface="Calibri" panose="020F0502020204030204" pitchFamily="34" charset="0"/>
                <a:sym typeface="Calibri"/>
              </a:rPr>
              <a:t>NIVELES DE PRUEBAS</a:t>
            </a:r>
            <a:endParaRPr lang="es-PE" sz="1000" dirty="0">
              <a:solidFill>
                <a:schemeClr val="bg1">
                  <a:lumMod val="65000"/>
                </a:schemeClr>
              </a:solidFill>
              <a:latin typeface="Calibri" panose="020F0502020204030204" pitchFamily="34" charset="0"/>
              <a:cs typeface="Calibri" panose="020F0502020204030204" pitchFamily="34" charset="0"/>
            </a:endParaRPr>
          </a:p>
        </p:txBody>
      </p:sp>
      <p:pic>
        <p:nvPicPr>
          <p:cNvPr id="3" name="Imagen 2">
            <a:extLst>
              <a:ext uri="{FF2B5EF4-FFF2-40B4-BE49-F238E27FC236}">
                <a16:creationId xmlns:a16="http://schemas.microsoft.com/office/drawing/2014/main" id="{1BB8A7A6-7353-3445-8E4C-F81C23FB278F}"/>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751387" y="912812"/>
            <a:ext cx="4392613" cy="4321175"/>
          </a:xfrm>
          <a:prstGeom prst="rect">
            <a:avLst/>
          </a:prstGeom>
        </p:spPr>
      </p:pic>
      <p:sp>
        <p:nvSpPr>
          <p:cNvPr id="6" name="Rectángulo 5">
            <a:extLst>
              <a:ext uri="{FF2B5EF4-FFF2-40B4-BE49-F238E27FC236}">
                <a16:creationId xmlns:a16="http://schemas.microsoft.com/office/drawing/2014/main" id="{947C9165-F76B-FF4C-B77D-CD3E5CC0E57A}"/>
              </a:ext>
            </a:extLst>
          </p:cNvPr>
          <p:cNvSpPr/>
          <p:nvPr/>
        </p:nvSpPr>
        <p:spPr>
          <a:xfrm>
            <a:off x="974956" y="1704228"/>
            <a:ext cx="3417657" cy="1938992"/>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b="0" i="0" u="none" strike="noStrike" cap="none" dirty="0">
                <a:solidFill>
                  <a:schemeClr val="dk1"/>
                </a:solidFill>
                <a:latin typeface="Calibri"/>
                <a:ea typeface="Calibri"/>
                <a:cs typeface="Calibri"/>
                <a:sym typeface="Calibri"/>
              </a:rPr>
              <a:t>Criterios para la selección de casos de prueba de regresión:</a:t>
            </a:r>
          </a:p>
          <a:p>
            <a:pPr marL="177800" marR="0" lvl="2" indent="-177800" algn="l" rtl="0">
              <a:spcBef>
                <a:spcPts val="0"/>
              </a:spcBef>
              <a:spcAft>
                <a:spcPts val="0"/>
              </a:spcAft>
              <a:buClr>
                <a:srgbClr val="EE4639"/>
              </a:buClr>
              <a:buSzPct val="100000"/>
              <a:buFont typeface="Arial" panose="020B0604020202020204" pitchFamily="34" charset="0"/>
              <a:buChar char="•"/>
            </a:pPr>
            <a:r>
              <a:rPr lang="es-PE" b="0" i="0" u="none" strike="noStrike" cap="none" dirty="0">
                <a:solidFill>
                  <a:schemeClr val="dk1"/>
                </a:solidFill>
                <a:latin typeface="Calibri"/>
                <a:ea typeface="Calibri"/>
                <a:cs typeface="Calibri"/>
                <a:sym typeface="Calibri"/>
              </a:rPr>
              <a:t>Casos de prueba de alta prioridad.</a:t>
            </a:r>
            <a:endParaRPr lang="es-PE" dirty="0"/>
          </a:p>
          <a:p>
            <a:pPr marL="177800" marR="0" lvl="2" indent="-177800" algn="l" rtl="0">
              <a:spcBef>
                <a:spcPts val="0"/>
              </a:spcBef>
              <a:spcAft>
                <a:spcPts val="0"/>
              </a:spcAft>
              <a:buClr>
                <a:srgbClr val="EE4639"/>
              </a:buClr>
              <a:buSzPct val="100000"/>
              <a:buFont typeface="Arial" panose="020B0604020202020204" pitchFamily="34" charset="0"/>
              <a:buChar char="•"/>
            </a:pPr>
            <a:r>
              <a:rPr lang="es-PE" b="0" i="0" u="none" strike="noStrike" cap="none" dirty="0">
                <a:solidFill>
                  <a:schemeClr val="dk1"/>
                </a:solidFill>
                <a:latin typeface="Calibri"/>
                <a:ea typeface="Calibri"/>
                <a:cs typeface="Calibri"/>
                <a:sym typeface="Calibri"/>
              </a:rPr>
              <a:t>Probar solamente la funcionalidad estándar, saltarse casos y variaciones especiales.</a:t>
            </a:r>
            <a:endParaRPr lang="es-PE" dirty="0"/>
          </a:p>
          <a:p>
            <a:pPr marL="177800" marR="0" lvl="2" indent="-177800" algn="l" rtl="0">
              <a:spcBef>
                <a:spcPts val="0"/>
              </a:spcBef>
              <a:spcAft>
                <a:spcPts val="0"/>
              </a:spcAft>
              <a:buClr>
                <a:srgbClr val="EE4639"/>
              </a:buClr>
              <a:buSzPct val="100000"/>
              <a:buFont typeface="Arial" panose="020B0604020202020204" pitchFamily="34" charset="0"/>
              <a:buChar char="•"/>
            </a:pPr>
            <a:r>
              <a:rPr lang="es-PE" b="0" i="0" u="none" strike="noStrike" cap="none" dirty="0">
                <a:solidFill>
                  <a:schemeClr val="dk1"/>
                </a:solidFill>
                <a:latin typeface="Calibri"/>
                <a:ea typeface="Calibri"/>
                <a:cs typeface="Calibri"/>
                <a:sym typeface="Calibri"/>
              </a:rPr>
              <a:t>Probar solamente la configuración utilizada con mayor frecuencia.</a:t>
            </a:r>
            <a:endParaRPr lang="es-PE" dirty="0"/>
          </a:p>
          <a:p>
            <a:pPr marL="177800" marR="0" lvl="2" indent="-177800" algn="l" rtl="0">
              <a:spcBef>
                <a:spcPts val="0"/>
              </a:spcBef>
              <a:spcAft>
                <a:spcPts val="0"/>
              </a:spcAft>
              <a:buClr>
                <a:srgbClr val="EE4639"/>
              </a:buClr>
              <a:buSzPct val="100000"/>
              <a:buFont typeface="Arial" panose="020B0604020202020204" pitchFamily="34" charset="0"/>
              <a:buChar char="•"/>
            </a:pPr>
            <a:r>
              <a:rPr lang="es-PE" b="0" i="0" u="none" strike="noStrike" cap="none" dirty="0">
                <a:solidFill>
                  <a:schemeClr val="dk1"/>
                </a:solidFill>
                <a:latin typeface="Calibri"/>
                <a:ea typeface="Calibri"/>
                <a:cs typeface="Calibri"/>
                <a:sym typeface="Calibri"/>
              </a:rPr>
              <a:t>Probar solamente subsistemas / zonas seleccionadas del objeto de pruebas</a:t>
            </a:r>
            <a:endParaRPr lang="es-PE" dirty="0"/>
          </a:p>
        </p:txBody>
      </p:sp>
      <p:cxnSp>
        <p:nvCxnSpPr>
          <p:cNvPr id="7" name="Conector recto 6">
            <a:extLst>
              <a:ext uri="{FF2B5EF4-FFF2-40B4-BE49-F238E27FC236}">
                <a16:creationId xmlns:a16="http://schemas.microsoft.com/office/drawing/2014/main" id="{EA12DD44-B576-8C4D-831C-34256B3D63D2}"/>
              </a:ext>
            </a:extLst>
          </p:cNvPr>
          <p:cNvCxnSpPr>
            <a:cxnSpLocks/>
          </p:cNvCxnSpPr>
          <p:nvPr/>
        </p:nvCxnSpPr>
        <p:spPr>
          <a:xfrm>
            <a:off x="760555" y="1907098"/>
            <a:ext cx="0" cy="1965924"/>
          </a:xfrm>
          <a:prstGeom prst="line">
            <a:avLst/>
          </a:prstGeom>
          <a:ln w="12700">
            <a:solidFill>
              <a:srgbClr val="EE4639"/>
            </a:solidFill>
          </a:ln>
        </p:spPr>
        <p:style>
          <a:lnRef idx="1">
            <a:schemeClr val="accent1"/>
          </a:lnRef>
          <a:fillRef idx="0">
            <a:schemeClr val="accent1"/>
          </a:fillRef>
          <a:effectRef idx="0">
            <a:schemeClr val="accent1"/>
          </a:effectRef>
          <a:fontRef idx="minor">
            <a:schemeClr val="tx1"/>
          </a:fontRef>
        </p:style>
      </p:cxnSp>
      <p:sp>
        <p:nvSpPr>
          <p:cNvPr id="10" name="Más 9">
            <a:extLst>
              <a:ext uri="{FF2B5EF4-FFF2-40B4-BE49-F238E27FC236}">
                <a16:creationId xmlns:a16="http://schemas.microsoft.com/office/drawing/2014/main" id="{5C95A3C7-60A2-B645-AA4C-497CDDB961A8}"/>
              </a:ext>
            </a:extLst>
          </p:cNvPr>
          <p:cNvSpPr/>
          <p:nvPr/>
        </p:nvSpPr>
        <p:spPr>
          <a:xfrm>
            <a:off x="684213" y="1714000"/>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3" name="Más 12">
            <a:extLst>
              <a:ext uri="{FF2B5EF4-FFF2-40B4-BE49-F238E27FC236}">
                <a16:creationId xmlns:a16="http://schemas.microsoft.com/office/drawing/2014/main" id="{E727DB22-40A2-F949-B211-DB2B6D5DC131}"/>
              </a:ext>
            </a:extLst>
          </p:cNvPr>
          <p:cNvSpPr/>
          <p:nvPr/>
        </p:nvSpPr>
        <p:spPr>
          <a:xfrm>
            <a:off x="684213" y="3873022"/>
            <a:ext cx="152683" cy="152683"/>
          </a:xfrm>
          <a:prstGeom prst="mathPlus">
            <a:avLst>
              <a:gd name="adj1" fmla="val 15202"/>
            </a:avLst>
          </a:prstGeom>
          <a:solidFill>
            <a:srgbClr val="EE46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15" name="Rectángulo 14">
            <a:extLst>
              <a:ext uri="{FF2B5EF4-FFF2-40B4-BE49-F238E27FC236}">
                <a16:creationId xmlns:a16="http://schemas.microsoft.com/office/drawing/2014/main" id="{F0B7BD2B-4C6D-3A45-9DAF-7CFFA187C694}"/>
              </a:ext>
            </a:extLst>
          </p:cNvPr>
          <p:cNvSpPr/>
          <p:nvPr/>
        </p:nvSpPr>
        <p:spPr>
          <a:xfrm>
            <a:off x="974956" y="3873022"/>
            <a:ext cx="3417657" cy="430887"/>
          </a:xfrm>
          <a:prstGeom prst="rect">
            <a:avLst/>
          </a:prstGeom>
        </p:spPr>
        <p:txBody>
          <a:bodyPr wrap="square" lIns="0" tIns="0" rIns="0" bIns="0">
            <a:spAutoFit/>
          </a:bodyPr>
          <a:lstStyle/>
          <a:p>
            <a:pPr marR="0" lvl="1" algn="l" rtl="0">
              <a:spcBef>
                <a:spcPts val="0"/>
              </a:spcBef>
              <a:spcAft>
                <a:spcPts val="0"/>
              </a:spcAft>
              <a:buClr>
                <a:schemeClr val="dk1"/>
              </a:buClr>
              <a:buSzPts val="1600"/>
            </a:pPr>
            <a:r>
              <a:rPr lang="es-PE" sz="1400" b="0" i="0" u="none" strike="noStrike" cap="none" dirty="0">
                <a:solidFill>
                  <a:schemeClr val="dk1"/>
                </a:solidFill>
                <a:latin typeface="Calibri"/>
                <a:ea typeface="Calibri"/>
                <a:cs typeface="Calibri"/>
                <a:sym typeface="Calibri"/>
              </a:rPr>
              <a:t>Considerar la automatización de </a:t>
            </a:r>
            <a:br>
              <a:rPr lang="es-PE" sz="1400" b="0" i="0" u="none" strike="noStrike" cap="none" dirty="0">
                <a:solidFill>
                  <a:schemeClr val="dk1"/>
                </a:solidFill>
                <a:latin typeface="Calibri"/>
                <a:ea typeface="Calibri"/>
                <a:cs typeface="Calibri"/>
                <a:sym typeface="Calibri"/>
              </a:rPr>
            </a:br>
            <a:r>
              <a:rPr lang="es-PE" sz="1400" b="0" i="0" u="none" strike="noStrike" cap="none" dirty="0">
                <a:solidFill>
                  <a:schemeClr val="dk1"/>
                </a:solidFill>
                <a:latin typeface="Calibri"/>
                <a:ea typeface="Calibri"/>
                <a:cs typeface="Calibri"/>
                <a:sym typeface="Calibri"/>
              </a:rPr>
              <a:t>estas pruebas.</a:t>
            </a:r>
            <a:endParaRPr lang="es-PE"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F962C480-2753-5B41-A9C9-A25177E91365}"/>
              </a:ext>
            </a:extLst>
          </p:cNvPr>
          <p:cNvSpPr/>
          <p:nvPr/>
        </p:nvSpPr>
        <p:spPr>
          <a:xfrm>
            <a:off x="0" y="0"/>
            <a:ext cx="9144000" cy="5715000"/>
          </a:xfrm>
          <a:prstGeom prst="rect">
            <a:avLst/>
          </a:prstGeom>
          <a:solidFill>
            <a:srgbClr val="654E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grpSp>
        <p:nvGrpSpPr>
          <p:cNvPr id="3" name="Grupo 2">
            <a:extLst>
              <a:ext uri="{FF2B5EF4-FFF2-40B4-BE49-F238E27FC236}">
                <a16:creationId xmlns:a16="http://schemas.microsoft.com/office/drawing/2014/main" id="{874597F1-12FD-5947-BC9A-008DA6F35E6E}"/>
              </a:ext>
            </a:extLst>
          </p:cNvPr>
          <p:cNvGrpSpPr/>
          <p:nvPr/>
        </p:nvGrpSpPr>
        <p:grpSpPr>
          <a:xfrm>
            <a:off x="2506315" y="2194222"/>
            <a:ext cx="4581728" cy="1326557"/>
            <a:chOff x="2403187" y="2211377"/>
            <a:chExt cx="4581728" cy="1326557"/>
          </a:xfrm>
        </p:grpSpPr>
        <p:sp>
          <p:nvSpPr>
            <p:cNvPr id="4" name="CuadroTexto 3">
              <a:extLst>
                <a:ext uri="{FF2B5EF4-FFF2-40B4-BE49-F238E27FC236}">
                  <a16:creationId xmlns:a16="http://schemas.microsoft.com/office/drawing/2014/main" id="{67B4F4DA-2281-3843-B6BB-B99B0AE17D2F}"/>
                </a:ext>
              </a:extLst>
            </p:cNvPr>
            <p:cNvSpPr txBox="1"/>
            <p:nvPr/>
          </p:nvSpPr>
          <p:spPr>
            <a:xfrm>
              <a:off x="2403187" y="2540738"/>
              <a:ext cx="4581728" cy="997196"/>
            </a:xfrm>
            <a:prstGeom prst="rect">
              <a:avLst/>
            </a:prstGeom>
            <a:noFill/>
          </p:spPr>
          <p:txBody>
            <a:bodyPr wrap="square" lIns="0" tIns="0" rIns="0" bIns="0" rtlCol="0">
              <a:spAutoFit/>
            </a:bodyPr>
            <a:lstStyle/>
            <a:p>
              <a:pPr>
                <a:lnSpc>
                  <a:spcPct val="90000"/>
                </a:lnSpc>
              </a:pPr>
              <a:r>
                <a:rPr lang="es-ES_tradnl" sz="3600" dirty="0">
                  <a:solidFill>
                    <a:schemeClr val="bg1"/>
                  </a:solidFill>
                  <a:latin typeface="Graphik Regular" charset="0"/>
                  <a:ea typeface="Graphik Regular" charset="0"/>
                  <a:cs typeface="Graphik Regular" charset="0"/>
                </a:rPr>
                <a:t>CONCLUSIONES</a:t>
              </a:r>
              <a:br>
                <a:rPr lang="es-ES_tradnl" sz="3600" dirty="0">
                  <a:solidFill>
                    <a:schemeClr val="bg1"/>
                  </a:solidFill>
                  <a:latin typeface="Graphik Regular" charset="0"/>
                  <a:ea typeface="Graphik Regular" charset="0"/>
                  <a:cs typeface="Graphik Regular" charset="0"/>
                </a:rPr>
              </a:br>
              <a:r>
                <a:rPr lang="es-ES_tradnl" sz="3600" b="1" dirty="0">
                  <a:solidFill>
                    <a:schemeClr val="bg1"/>
                  </a:solidFill>
                  <a:latin typeface="Graphik Bold" charset="0"/>
                  <a:ea typeface="Graphik Bold" charset="0"/>
                  <a:cs typeface="Graphik Bold" charset="0"/>
                </a:rPr>
                <a:t>MÁS REFERENCIAS</a:t>
              </a:r>
            </a:p>
          </p:txBody>
        </p:sp>
        <p:pic>
          <p:nvPicPr>
            <p:cNvPr id="5" name="Imagen 4">
              <a:extLst>
                <a:ext uri="{FF2B5EF4-FFF2-40B4-BE49-F238E27FC236}">
                  <a16:creationId xmlns:a16="http://schemas.microsoft.com/office/drawing/2014/main" id="{9ABC7B41-F06C-0F4A-8CC4-5FFBED9B79C6}"/>
                </a:ext>
              </a:extLst>
            </p:cNvPr>
            <p:cNvPicPr>
              <a:picLocks noChangeAspect="1"/>
            </p:cNvPicPr>
            <p:nvPr/>
          </p:nvPicPr>
          <p:blipFill>
            <a:blip r:embed="rId2"/>
            <a:stretch>
              <a:fillRect/>
            </a:stretch>
          </p:blipFill>
          <p:spPr>
            <a:xfrm>
              <a:off x="2425491" y="2211377"/>
              <a:ext cx="202176" cy="208211"/>
            </a:xfrm>
            <a:prstGeom prst="rect">
              <a:avLst/>
            </a:prstGeom>
          </p:spPr>
        </p:pic>
      </p:grpSp>
      <p:pic>
        <p:nvPicPr>
          <p:cNvPr id="6" name="Imagen 5">
            <a:extLst>
              <a:ext uri="{FF2B5EF4-FFF2-40B4-BE49-F238E27FC236}">
                <a16:creationId xmlns:a16="http://schemas.microsoft.com/office/drawing/2014/main" id="{64364EB5-E314-C74D-847E-F7AC50347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3" y="946969"/>
            <a:ext cx="2072214" cy="3898064"/>
          </a:xfrm>
          <a:prstGeom prst="rect">
            <a:avLst/>
          </a:prstGeom>
        </p:spPr>
      </p:pic>
    </p:spTree>
    <p:extLst>
      <p:ext uri="{BB962C8B-B14F-4D97-AF65-F5344CB8AC3E}">
        <p14:creationId xmlns:p14="http://schemas.microsoft.com/office/powerpoint/2010/main" val="2545842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22" name="Rectángulo 21">
            <a:extLst>
              <a:ext uri="{FF2B5EF4-FFF2-40B4-BE49-F238E27FC236}">
                <a16:creationId xmlns:a16="http://schemas.microsoft.com/office/drawing/2014/main" id="{7334979C-BDF6-9B47-A4D2-1CFE7701C6DE}"/>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23" name="object 7">
            <a:extLst>
              <a:ext uri="{FF2B5EF4-FFF2-40B4-BE49-F238E27FC236}">
                <a16:creationId xmlns:a16="http://schemas.microsoft.com/office/drawing/2014/main" id="{46CF4DA7-6DE8-0148-9B33-3ABEA9990CCF}"/>
              </a:ext>
            </a:extLst>
          </p:cNvPr>
          <p:cNvSpPr txBox="1"/>
          <p:nvPr/>
        </p:nvSpPr>
        <p:spPr>
          <a:xfrm>
            <a:off x="1279545" y="912813"/>
            <a:ext cx="5137158" cy="2585323"/>
          </a:xfrm>
          <a:prstGeom prst="rect">
            <a:avLst/>
          </a:prstGeom>
        </p:spPr>
        <p:txBody>
          <a:bodyPr vert="horz" wrap="square" lIns="0" tIns="0" rIns="0" bIns="0" rtlCol="0">
            <a:spAutoFit/>
          </a:bodyPr>
          <a:lstStyle/>
          <a:p>
            <a:pPr marL="9525" marR="0" lvl="0" algn="l" rtl="0">
              <a:spcBef>
                <a:spcPts val="0"/>
              </a:spcBef>
              <a:spcAft>
                <a:spcPts val="0"/>
              </a:spcAft>
              <a:buClr>
                <a:schemeClr val="lt1"/>
              </a:buClr>
              <a:buSzPts val="1700"/>
            </a:pPr>
            <a:r>
              <a:rPr lang="es-PE" dirty="0">
                <a:solidFill>
                  <a:schemeClr val="tx1"/>
                </a:solidFill>
                <a:latin typeface="Calibri"/>
                <a:ea typeface="Calibri"/>
                <a:cs typeface="Calibri"/>
                <a:sym typeface="Calibri"/>
              </a:rPr>
              <a:t>La estrategia que se ha de seguir a la hora de evaluar dinámicamente un sistema software debe permitir comenzar por los componentes más simples y más pequeños e ir avanzando progresivamente hasta probar todo el software en su conjunto. </a:t>
            </a:r>
            <a:endParaRPr lang="es-PE" dirty="0">
              <a:solidFill>
                <a:schemeClr val="tx1"/>
              </a:solidFill>
            </a:endParaRPr>
          </a:p>
          <a:p>
            <a:pPr marL="242888" marR="0" lvl="0" algn="l" rtl="0">
              <a:spcBef>
                <a:spcPts val="0"/>
              </a:spcBef>
              <a:spcAft>
                <a:spcPts val="0"/>
              </a:spcAft>
              <a:buClr>
                <a:schemeClr val="dk1"/>
              </a:buClr>
              <a:buSzPts val="1700"/>
            </a:pPr>
            <a:endParaRPr lang="es-PE" dirty="0">
              <a:solidFill>
                <a:schemeClr val="tx1"/>
              </a:solidFill>
              <a:latin typeface="Calibri"/>
              <a:ea typeface="Calibri"/>
              <a:cs typeface="Calibri"/>
              <a:sym typeface="Calibri"/>
            </a:endParaRPr>
          </a:p>
          <a:p>
            <a:pPr marL="7938" marR="0" lvl="1" algn="l" rtl="0">
              <a:spcBef>
                <a:spcPts val="0"/>
              </a:spcBef>
              <a:spcAft>
                <a:spcPts val="0"/>
              </a:spcAft>
              <a:buClr>
                <a:schemeClr val="lt1"/>
              </a:buClr>
              <a:buSzPts val="1700"/>
            </a:pPr>
            <a:r>
              <a:rPr lang="es-PE" b="0" i="0" u="none" strike="noStrike" cap="none" dirty="0">
                <a:solidFill>
                  <a:schemeClr val="tx1"/>
                </a:solidFill>
                <a:latin typeface="Calibri"/>
                <a:ea typeface="Calibri"/>
                <a:cs typeface="Calibri"/>
                <a:sym typeface="Calibri"/>
              </a:rPr>
              <a:t>Se pueden realizar: </a:t>
            </a:r>
            <a:endParaRPr lang="es-PE" dirty="0">
              <a:solidFill>
                <a:schemeClr val="tx1"/>
              </a:solidFill>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Pruebas Unitarias. </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Pruebas de Integración.</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 del Sistema</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Pruebas Alfa &amp; Beta</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Pruebas de Aceptación</a:t>
            </a:r>
            <a:endParaRPr lang="es-PE" spc="-10" dirty="0">
              <a:solidFill>
                <a:schemeClr val="tx1"/>
              </a:solidFill>
              <a:latin typeface="Calibri" panose="020F0502020204030204" pitchFamily="34" charset="0"/>
              <a:cs typeface="Calibri" panose="020F0502020204030204" pitchFamily="34" charset="0"/>
            </a:endParaRPr>
          </a:p>
          <a:p>
            <a:pPr marL="177800" lvl="2" indent="-165100">
              <a:buClr>
                <a:srgbClr val="7150A0"/>
              </a:buClr>
              <a:buSzPct val="100000"/>
              <a:buFont typeface="Arial" charset="0"/>
              <a:buChar char="•"/>
              <a:tabLst>
                <a:tab pos="120650" algn="l"/>
              </a:tabLst>
            </a:pPr>
            <a:r>
              <a:rPr lang="es-PE" spc="-10" dirty="0">
                <a:solidFill>
                  <a:schemeClr val="tx1"/>
                </a:solidFill>
                <a:latin typeface="Calibri" panose="020F0502020204030204" pitchFamily="34" charset="0"/>
                <a:cs typeface="Calibri" panose="020F0502020204030204" pitchFamily="34" charset="0"/>
                <a:sym typeface="Calibri"/>
              </a:rPr>
              <a:t>Pruebas de Regresión</a:t>
            </a:r>
            <a:endParaRPr lang="es-PE" spc="-10" dirty="0">
              <a:solidFill>
                <a:schemeClr val="tx1"/>
              </a:solidFill>
              <a:latin typeface="Calibri" panose="020F0502020204030204" pitchFamily="34" charset="0"/>
              <a:cs typeface="Calibri" panose="020F0502020204030204" pitchFamily="34" charset="0"/>
            </a:endParaRPr>
          </a:p>
        </p:txBody>
      </p:sp>
      <p:pic>
        <p:nvPicPr>
          <p:cNvPr id="24" name="Imagen 23">
            <a:extLst>
              <a:ext uri="{FF2B5EF4-FFF2-40B4-BE49-F238E27FC236}">
                <a16:creationId xmlns:a16="http://schemas.microsoft.com/office/drawing/2014/main" id="{5734EFD0-A4E5-9B41-8EFD-243729D366EC}"/>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26" name="Imagen 25">
            <a:extLst>
              <a:ext uri="{FF2B5EF4-FFF2-40B4-BE49-F238E27FC236}">
                <a16:creationId xmlns:a16="http://schemas.microsoft.com/office/drawing/2014/main" id="{EBFF1A2B-E18D-3E48-8FFB-78A55F46F4E5}"/>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27" name="Rectangle 5">
            <a:extLst>
              <a:ext uri="{FF2B5EF4-FFF2-40B4-BE49-F238E27FC236}">
                <a16:creationId xmlns:a16="http://schemas.microsoft.com/office/drawing/2014/main" id="{01703038-7CCD-B841-9CA9-277E9E5491C2}"/>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28" name="Imagen 27">
            <a:extLst>
              <a:ext uri="{FF2B5EF4-FFF2-40B4-BE49-F238E27FC236}">
                <a16:creationId xmlns:a16="http://schemas.microsoft.com/office/drawing/2014/main" id="{1E67A473-88CE-6544-975E-B2C47D4E7A6D}"/>
              </a:ext>
            </a:extLst>
          </p:cNvPr>
          <p:cNvPicPr>
            <a:picLocks noChangeAspect="1"/>
          </p:cNvPicPr>
          <p:nvPr/>
        </p:nvPicPr>
        <p:blipFill>
          <a:blip r:embed="rId3"/>
          <a:stretch>
            <a:fillRect/>
          </a:stretch>
        </p:blipFill>
        <p:spPr>
          <a:xfrm>
            <a:off x="1011260" y="2017597"/>
            <a:ext cx="114138" cy="1175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5" name="Rectángulo 4">
            <a:extLst>
              <a:ext uri="{FF2B5EF4-FFF2-40B4-BE49-F238E27FC236}">
                <a16:creationId xmlns:a16="http://schemas.microsoft.com/office/drawing/2014/main" id="{F8367407-A9FC-6041-A8CF-DD545A2AC0C6}"/>
              </a:ext>
            </a:extLst>
          </p:cNvPr>
          <p:cNvSpPr/>
          <p:nvPr/>
        </p:nvSpPr>
        <p:spPr>
          <a:xfrm>
            <a:off x="301556" y="5321030"/>
            <a:ext cx="8453337" cy="2918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sp>
        <p:nvSpPr>
          <p:cNvPr id="6" name="object 7">
            <a:extLst>
              <a:ext uri="{FF2B5EF4-FFF2-40B4-BE49-F238E27FC236}">
                <a16:creationId xmlns:a16="http://schemas.microsoft.com/office/drawing/2014/main" id="{647AA1B3-9331-8444-B340-582E105E0A51}"/>
              </a:ext>
            </a:extLst>
          </p:cNvPr>
          <p:cNvSpPr txBox="1"/>
          <p:nvPr/>
        </p:nvSpPr>
        <p:spPr>
          <a:xfrm>
            <a:off x="1279545" y="912813"/>
            <a:ext cx="5137158" cy="2800767"/>
          </a:xfrm>
          <a:prstGeom prst="rect">
            <a:avLst/>
          </a:prstGeom>
        </p:spPr>
        <p:txBody>
          <a:bodyPr vert="horz" wrap="square" lIns="0" tIns="0" rIns="0" bIns="0" rtlCol="0">
            <a:spAutoFit/>
          </a:bodyPr>
          <a:lstStyle/>
          <a:p>
            <a:pPr marL="9525" marR="0" lvl="0" rtl="0">
              <a:spcBef>
                <a:spcPts val="0"/>
              </a:spcBef>
              <a:spcAft>
                <a:spcPts val="0"/>
              </a:spcAft>
              <a:buClr>
                <a:schemeClr val="lt1"/>
              </a:buClr>
              <a:buSzPts val="1700"/>
            </a:pPr>
            <a:r>
              <a:rPr lang="es-PE" dirty="0">
                <a:solidFill>
                  <a:schemeClr val="tx1"/>
                </a:solidFill>
                <a:latin typeface="Calibri"/>
                <a:ea typeface="Calibri"/>
                <a:cs typeface="Calibri"/>
                <a:sym typeface="Calibri"/>
              </a:rPr>
              <a:t>En niveles de pruebas distintos se utilizan diferentes tipos de pruebas.</a:t>
            </a:r>
            <a:endParaRPr lang="es-PE" dirty="0">
              <a:solidFill>
                <a:schemeClr val="tx1"/>
              </a:solidFill>
            </a:endParaRPr>
          </a:p>
          <a:p>
            <a:pPr marL="117475" marR="0" lvl="0" rtl="0">
              <a:spcBef>
                <a:spcPts val="0"/>
              </a:spcBef>
              <a:spcAft>
                <a:spcPts val="0"/>
              </a:spcAft>
              <a:buClr>
                <a:schemeClr val="dk1"/>
              </a:buClr>
              <a:buSzPts val="1700"/>
            </a:pPr>
            <a:endParaRPr lang="es-PE" dirty="0">
              <a:solidFill>
                <a:schemeClr val="tx1"/>
              </a:solidFill>
              <a:latin typeface="Calibri"/>
              <a:ea typeface="Calibri"/>
              <a:cs typeface="Calibri"/>
              <a:sym typeface="Calibri"/>
            </a:endParaRPr>
          </a:p>
          <a:p>
            <a:pPr marL="9525" marR="0" lvl="0" rtl="0">
              <a:spcBef>
                <a:spcPts val="0"/>
              </a:spcBef>
              <a:spcAft>
                <a:spcPts val="0"/>
              </a:spcAft>
              <a:buClr>
                <a:schemeClr val="lt1"/>
              </a:buClr>
              <a:buSzPts val="1700"/>
            </a:pPr>
            <a:r>
              <a:rPr lang="es-PE" dirty="0">
                <a:solidFill>
                  <a:schemeClr val="tx1"/>
                </a:solidFill>
                <a:latin typeface="Calibri"/>
                <a:ea typeface="Calibri"/>
                <a:cs typeface="Calibri"/>
                <a:sym typeface="Calibri"/>
              </a:rPr>
              <a:t>Los tipos de pruebas son: funcionales, no funcionales y pruebas relacionadas con los cambios.</a:t>
            </a:r>
            <a:endParaRPr lang="es-PE" dirty="0">
              <a:solidFill>
                <a:schemeClr val="tx1"/>
              </a:solidFill>
            </a:endParaRPr>
          </a:p>
          <a:p>
            <a:pPr marL="117475" marR="0" lvl="0" rtl="0">
              <a:spcBef>
                <a:spcPts val="0"/>
              </a:spcBef>
              <a:spcAft>
                <a:spcPts val="0"/>
              </a:spcAft>
              <a:buClr>
                <a:schemeClr val="dk1"/>
              </a:buClr>
              <a:buSzPts val="1700"/>
            </a:pPr>
            <a:endParaRPr lang="es-PE" dirty="0">
              <a:solidFill>
                <a:schemeClr val="tx1"/>
              </a:solidFill>
              <a:latin typeface="Calibri"/>
              <a:ea typeface="Calibri"/>
              <a:cs typeface="Calibri"/>
              <a:sym typeface="Calibri"/>
            </a:endParaRPr>
          </a:p>
          <a:p>
            <a:pPr marL="9525" marR="0" lvl="0" rtl="0">
              <a:spcBef>
                <a:spcPts val="0"/>
              </a:spcBef>
              <a:spcAft>
                <a:spcPts val="0"/>
              </a:spcAft>
              <a:buClr>
                <a:schemeClr val="lt1"/>
              </a:buClr>
              <a:buSzPts val="1700"/>
            </a:pPr>
            <a:r>
              <a:rPr lang="es-PE" dirty="0">
                <a:solidFill>
                  <a:schemeClr val="tx1"/>
                </a:solidFill>
                <a:latin typeface="Calibri"/>
                <a:ea typeface="Calibri"/>
                <a:cs typeface="Calibri"/>
                <a:sym typeface="Calibri"/>
              </a:rPr>
              <a:t>Las pruebas funcionales comprueban el comportamiento de entradas y salidas de un objeto de pruebas.</a:t>
            </a:r>
            <a:endParaRPr lang="es-PE" dirty="0">
              <a:solidFill>
                <a:schemeClr val="tx1"/>
              </a:solidFill>
            </a:endParaRPr>
          </a:p>
          <a:p>
            <a:pPr marL="117475" marR="0" lvl="0" rtl="0">
              <a:spcBef>
                <a:spcPts val="0"/>
              </a:spcBef>
              <a:spcAft>
                <a:spcPts val="0"/>
              </a:spcAft>
              <a:buClr>
                <a:schemeClr val="dk1"/>
              </a:buClr>
              <a:buSzPts val="1700"/>
            </a:pPr>
            <a:endParaRPr lang="es-PE" dirty="0">
              <a:solidFill>
                <a:schemeClr val="tx1"/>
              </a:solidFill>
              <a:latin typeface="Calibri"/>
              <a:ea typeface="Calibri"/>
              <a:cs typeface="Calibri"/>
              <a:sym typeface="Calibri"/>
            </a:endParaRPr>
          </a:p>
          <a:p>
            <a:pPr marL="9525" marR="0" lvl="0" rtl="0">
              <a:spcBef>
                <a:spcPts val="0"/>
              </a:spcBef>
              <a:spcAft>
                <a:spcPts val="0"/>
              </a:spcAft>
              <a:buClr>
                <a:schemeClr val="lt1"/>
              </a:buClr>
              <a:buSzPts val="1700"/>
            </a:pPr>
            <a:r>
              <a:rPr lang="es-PE" dirty="0">
                <a:solidFill>
                  <a:schemeClr val="tx1"/>
                </a:solidFill>
                <a:latin typeface="Calibri"/>
                <a:ea typeface="Calibri"/>
                <a:cs typeface="Calibri"/>
                <a:sym typeface="Calibri"/>
              </a:rPr>
              <a:t>Las pruebas no funcionales comprueban las características de </a:t>
            </a:r>
            <a:br>
              <a:rPr lang="es-PE" dirty="0">
                <a:solidFill>
                  <a:schemeClr val="tx1"/>
                </a:solidFill>
                <a:latin typeface="Calibri"/>
                <a:ea typeface="Calibri"/>
                <a:cs typeface="Calibri"/>
                <a:sym typeface="Calibri"/>
              </a:rPr>
            </a:br>
            <a:r>
              <a:rPr lang="es-PE" dirty="0">
                <a:solidFill>
                  <a:schemeClr val="tx1"/>
                </a:solidFill>
                <a:latin typeface="Calibri"/>
                <a:ea typeface="Calibri"/>
                <a:cs typeface="Calibri"/>
                <a:sym typeface="Calibri"/>
              </a:rPr>
              <a:t>un producto.</a:t>
            </a:r>
            <a:endParaRPr lang="es-PE" dirty="0">
              <a:solidFill>
                <a:schemeClr val="tx1"/>
              </a:solidFill>
            </a:endParaRPr>
          </a:p>
          <a:p>
            <a:pPr marL="117475" marR="0" lvl="0" rtl="0">
              <a:spcBef>
                <a:spcPts val="0"/>
              </a:spcBef>
              <a:spcAft>
                <a:spcPts val="0"/>
              </a:spcAft>
              <a:buClr>
                <a:schemeClr val="dk1"/>
              </a:buClr>
              <a:buSzPts val="1700"/>
            </a:pPr>
            <a:endParaRPr lang="es-PE" dirty="0">
              <a:solidFill>
                <a:schemeClr val="tx1"/>
              </a:solidFill>
              <a:latin typeface="Calibri"/>
              <a:ea typeface="Calibri"/>
              <a:cs typeface="Calibri"/>
              <a:sym typeface="Calibri"/>
            </a:endParaRPr>
          </a:p>
          <a:p>
            <a:pPr marL="9525" marR="0" lvl="0" rtl="0">
              <a:spcBef>
                <a:spcPts val="0"/>
              </a:spcBef>
              <a:spcAft>
                <a:spcPts val="0"/>
              </a:spcAft>
              <a:buClr>
                <a:schemeClr val="lt1"/>
              </a:buClr>
              <a:buSzPts val="1700"/>
            </a:pPr>
            <a:r>
              <a:rPr lang="es-PE" dirty="0">
                <a:solidFill>
                  <a:schemeClr val="tx1"/>
                </a:solidFill>
                <a:latin typeface="Calibri"/>
                <a:ea typeface="Calibri"/>
                <a:cs typeface="Calibri"/>
                <a:sym typeface="Calibri"/>
              </a:rPr>
              <a:t>Pruebas importantes después de un cambio: pruebas de confirmación (retest) y pruebas de regresión.</a:t>
            </a:r>
            <a:endParaRPr lang="es-PE" dirty="0">
              <a:solidFill>
                <a:schemeClr val="tx1"/>
              </a:solidFill>
            </a:endParaRPr>
          </a:p>
        </p:txBody>
      </p:sp>
      <p:pic>
        <p:nvPicPr>
          <p:cNvPr id="7" name="Imagen 6">
            <a:extLst>
              <a:ext uri="{FF2B5EF4-FFF2-40B4-BE49-F238E27FC236}">
                <a16:creationId xmlns:a16="http://schemas.microsoft.com/office/drawing/2014/main" id="{81A8B90F-CA2B-DF4A-9DA9-31322CBACAB3}"/>
              </a:ext>
            </a:extLst>
          </p:cNvPr>
          <p:cNvPicPr>
            <a:picLocks noChangeAspect="1"/>
          </p:cNvPicPr>
          <p:nvPr/>
        </p:nvPicPr>
        <p:blipFill>
          <a:blip r:embed="rId3"/>
          <a:stretch>
            <a:fillRect/>
          </a:stretch>
        </p:blipFill>
        <p:spPr>
          <a:xfrm>
            <a:off x="1011260" y="954885"/>
            <a:ext cx="114138" cy="117546"/>
          </a:xfrm>
          <a:prstGeom prst="rect">
            <a:avLst/>
          </a:prstGeom>
        </p:spPr>
      </p:pic>
      <p:pic>
        <p:nvPicPr>
          <p:cNvPr id="8" name="Imagen 7">
            <a:extLst>
              <a:ext uri="{FF2B5EF4-FFF2-40B4-BE49-F238E27FC236}">
                <a16:creationId xmlns:a16="http://schemas.microsoft.com/office/drawing/2014/main" id="{747DDE60-CB5D-F740-B18A-E38A1F9962B2}"/>
              </a:ext>
            </a:extLst>
          </p:cNvPr>
          <p:cNvPicPr>
            <a:picLocks noChangeAspect="1"/>
          </p:cNvPicPr>
          <p:nvPr/>
        </p:nvPicPr>
        <p:blipFill>
          <a:blip r:embed="rId4">
            <a:alphaModFix amt="42000"/>
            <a:extLst>
              <a:ext uri="{28A0092B-C50C-407E-A947-70E740481C1C}">
                <a14:useLocalDpi xmlns:a14="http://schemas.microsoft.com/office/drawing/2010/main" val="0"/>
              </a:ext>
            </a:extLst>
          </a:blip>
          <a:stretch>
            <a:fillRect/>
          </a:stretch>
        </p:blipFill>
        <p:spPr>
          <a:xfrm>
            <a:off x="6984999" y="3048772"/>
            <a:ext cx="1690689" cy="2185216"/>
          </a:xfrm>
          <a:prstGeom prst="rect">
            <a:avLst/>
          </a:prstGeom>
        </p:spPr>
      </p:pic>
      <p:sp>
        <p:nvSpPr>
          <p:cNvPr id="9" name="Rectangle 5">
            <a:extLst>
              <a:ext uri="{FF2B5EF4-FFF2-40B4-BE49-F238E27FC236}">
                <a16:creationId xmlns:a16="http://schemas.microsoft.com/office/drawing/2014/main" id="{CC936E17-9F59-3348-810F-DD4ED4D35380}"/>
              </a:ext>
            </a:extLst>
          </p:cNvPr>
          <p:cNvSpPr/>
          <p:nvPr/>
        </p:nvSpPr>
        <p:spPr>
          <a:xfrm>
            <a:off x="503238" y="376836"/>
            <a:ext cx="2430462" cy="138499"/>
          </a:xfrm>
          <a:prstGeom prst="rect">
            <a:avLst/>
          </a:prstGeom>
        </p:spPr>
        <p:txBody>
          <a:bodyPr wrap="square" lIns="0" tIns="0" rIns="0" bIns="0" anchor="b">
            <a:spAutoFit/>
          </a:bodyPr>
          <a:lstStyle/>
          <a:p>
            <a:pPr>
              <a:lnSpc>
                <a:spcPct val="90000"/>
              </a:lnSpc>
              <a:spcBef>
                <a:spcPts val="1000"/>
              </a:spcBef>
              <a:defRPr/>
            </a:pPr>
            <a:r>
              <a:rPr lang="es-PE" sz="1000" b="1" dirty="0">
                <a:solidFill>
                  <a:schemeClr val="tx1">
                    <a:lumMod val="50000"/>
                    <a:lumOff val="50000"/>
                  </a:schemeClr>
                </a:solidFill>
                <a:latin typeface="Calibri"/>
                <a:cs typeface="Calibri"/>
              </a:rPr>
              <a:t>+ </a:t>
            </a:r>
            <a:r>
              <a:rPr lang="es-PE" sz="1000" dirty="0">
                <a:solidFill>
                  <a:schemeClr val="bg1">
                    <a:lumMod val="65000"/>
                  </a:schemeClr>
                </a:solidFill>
                <a:latin typeface="Calibri" charset="0"/>
                <a:ea typeface="Calibri" charset="0"/>
                <a:cs typeface="Calibri" charset="0"/>
              </a:rPr>
              <a:t>CONCLUSIONES </a:t>
            </a:r>
          </a:p>
        </p:txBody>
      </p:sp>
      <p:pic>
        <p:nvPicPr>
          <p:cNvPr id="10" name="Imagen 9">
            <a:extLst>
              <a:ext uri="{FF2B5EF4-FFF2-40B4-BE49-F238E27FC236}">
                <a16:creationId xmlns:a16="http://schemas.microsoft.com/office/drawing/2014/main" id="{F87FCE2D-15D5-F24F-902B-AFE82790C95D}"/>
              </a:ext>
            </a:extLst>
          </p:cNvPr>
          <p:cNvPicPr>
            <a:picLocks noChangeAspect="1"/>
          </p:cNvPicPr>
          <p:nvPr/>
        </p:nvPicPr>
        <p:blipFill>
          <a:blip r:embed="rId3"/>
          <a:stretch>
            <a:fillRect/>
          </a:stretch>
        </p:blipFill>
        <p:spPr>
          <a:xfrm>
            <a:off x="1011260" y="2017597"/>
            <a:ext cx="114138" cy="117546"/>
          </a:xfrm>
          <a:prstGeom prst="rect">
            <a:avLst/>
          </a:prstGeom>
        </p:spPr>
      </p:pic>
      <p:pic>
        <p:nvPicPr>
          <p:cNvPr id="11" name="Imagen 10">
            <a:extLst>
              <a:ext uri="{FF2B5EF4-FFF2-40B4-BE49-F238E27FC236}">
                <a16:creationId xmlns:a16="http://schemas.microsoft.com/office/drawing/2014/main" id="{3658A12B-81D7-0B4A-8300-4B225268C9D0}"/>
              </a:ext>
            </a:extLst>
          </p:cNvPr>
          <p:cNvPicPr>
            <a:picLocks noChangeAspect="1"/>
          </p:cNvPicPr>
          <p:nvPr/>
        </p:nvPicPr>
        <p:blipFill>
          <a:blip r:embed="rId3"/>
          <a:stretch>
            <a:fillRect/>
          </a:stretch>
        </p:blipFill>
        <p:spPr>
          <a:xfrm>
            <a:off x="1011260" y="1381493"/>
            <a:ext cx="114138" cy="117546"/>
          </a:xfrm>
          <a:prstGeom prst="rect">
            <a:avLst/>
          </a:prstGeom>
        </p:spPr>
      </p:pic>
      <p:pic>
        <p:nvPicPr>
          <p:cNvPr id="12" name="Imagen 11">
            <a:extLst>
              <a:ext uri="{FF2B5EF4-FFF2-40B4-BE49-F238E27FC236}">
                <a16:creationId xmlns:a16="http://schemas.microsoft.com/office/drawing/2014/main" id="{6F6798D7-CAF7-1045-88AD-A3C5A561B45F}"/>
              </a:ext>
            </a:extLst>
          </p:cNvPr>
          <p:cNvPicPr>
            <a:picLocks noChangeAspect="1"/>
          </p:cNvPicPr>
          <p:nvPr/>
        </p:nvPicPr>
        <p:blipFill>
          <a:blip r:embed="rId3"/>
          <a:stretch>
            <a:fillRect/>
          </a:stretch>
        </p:blipFill>
        <p:spPr>
          <a:xfrm>
            <a:off x="1011260" y="2653702"/>
            <a:ext cx="114138" cy="117546"/>
          </a:xfrm>
          <a:prstGeom prst="rect">
            <a:avLst/>
          </a:prstGeom>
        </p:spPr>
      </p:pic>
      <p:pic>
        <p:nvPicPr>
          <p:cNvPr id="13" name="Imagen 12">
            <a:extLst>
              <a:ext uri="{FF2B5EF4-FFF2-40B4-BE49-F238E27FC236}">
                <a16:creationId xmlns:a16="http://schemas.microsoft.com/office/drawing/2014/main" id="{BC8739F4-D8C5-3A4C-83DC-420D58370A6D}"/>
              </a:ext>
            </a:extLst>
          </p:cNvPr>
          <p:cNvPicPr>
            <a:picLocks noChangeAspect="1"/>
          </p:cNvPicPr>
          <p:nvPr/>
        </p:nvPicPr>
        <p:blipFill>
          <a:blip r:embed="rId3"/>
          <a:stretch>
            <a:fillRect/>
          </a:stretch>
        </p:blipFill>
        <p:spPr>
          <a:xfrm>
            <a:off x="1011260" y="3313661"/>
            <a:ext cx="114138" cy="11754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1A7C65A4-4514-5944-94F4-A2A16DD0DCDF}"/>
              </a:ext>
            </a:extLst>
          </p:cNvPr>
          <p:cNvSpPr/>
          <p:nvPr/>
        </p:nvSpPr>
        <p:spPr>
          <a:xfrm>
            <a:off x="0" y="0"/>
            <a:ext cx="9144000" cy="5715000"/>
          </a:xfrm>
          <a:prstGeom prst="rect">
            <a:avLst/>
          </a:prstGeom>
          <a:solidFill>
            <a:srgbClr val="8087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latin typeface="Calibri" panose="020F0502020204030204" pitchFamily="34" charset="0"/>
            </a:endParaRPr>
          </a:p>
        </p:txBody>
      </p:sp>
      <p:pic>
        <p:nvPicPr>
          <p:cNvPr id="3" name="Imagen 2">
            <a:extLst>
              <a:ext uri="{FF2B5EF4-FFF2-40B4-BE49-F238E27FC236}">
                <a16:creationId xmlns:a16="http://schemas.microsoft.com/office/drawing/2014/main" id="{37D0C943-34A8-AE41-BE08-19E12949BD59}"/>
              </a:ext>
            </a:extLst>
          </p:cNvPr>
          <p:cNvPicPr>
            <a:picLocks noChangeAspect="1"/>
          </p:cNvPicPr>
          <p:nvPr/>
        </p:nvPicPr>
        <p:blipFill>
          <a:blip r:embed="rId2"/>
          <a:stretch>
            <a:fillRect/>
          </a:stretch>
        </p:blipFill>
        <p:spPr>
          <a:xfrm>
            <a:off x="3924199" y="2666298"/>
            <a:ext cx="1295601" cy="386803"/>
          </a:xfrm>
          <a:prstGeom prst="rect">
            <a:avLst/>
          </a:prstGeom>
        </p:spPr>
      </p:pic>
    </p:spTree>
    <p:extLst>
      <p:ext uri="{BB962C8B-B14F-4D97-AF65-F5344CB8AC3E}">
        <p14:creationId xmlns:p14="http://schemas.microsoft.com/office/powerpoint/2010/main" val="122508770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TotalTime>
  <Words>4923</Words>
  <Application>Microsoft Office PowerPoint</Application>
  <PresentationFormat>Presentación en pantalla (16:10)</PresentationFormat>
  <Paragraphs>579</Paragraphs>
  <Slides>39</Slides>
  <Notes>36</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39</vt:i4>
      </vt:variant>
    </vt:vector>
  </HeadingPairs>
  <TitlesOfParts>
    <vt:vector size="47" baseType="lpstr">
      <vt:lpstr>Graphik Bold</vt:lpstr>
      <vt:lpstr>Graphik Regular</vt:lpstr>
      <vt:lpstr>Graphik-Medium</vt:lpstr>
      <vt:lpstr>Noto Sans Symbols</vt:lpstr>
      <vt:lpstr>Arial</vt:lpstr>
      <vt:lpstr>Calibri</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ISIL</dc:creator>
  <cp:lastModifiedBy>Elva Zoraida Hamada Doshi</cp:lastModifiedBy>
  <cp:revision>135</cp:revision>
  <dcterms:created xsi:type="dcterms:W3CDTF">2016-10-06T14:52:02Z</dcterms:created>
  <dcterms:modified xsi:type="dcterms:W3CDTF">2024-12-03T15:47:42Z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