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9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91" r:id="rId34"/>
    <p:sldId id="287" r:id="rId35"/>
    <p:sldId id="288" r:id="rId36"/>
    <p:sldId id="289" r:id="rId37"/>
    <p:sldId id="292" r:id="rId38"/>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6" pos="2880" userDrawn="1">
          <p15:clr>
            <a:srgbClr val="A4A3A4"/>
          </p15:clr>
        </p15:guide>
        <p15:guide id="7" orient="horz" pos="180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pFMsnhe2+MIJmaKdZxnulfLcBC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D9F2"/>
    <a:srgbClr val="E3DCED"/>
    <a:srgbClr val="00B1C2"/>
    <a:srgbClr val="808799"/>
    <a:srgbClr val="4E697E"/>
    <a:srgbClr val="CE3A32"/>
    <a:srgbClr val="EE4639"/>
    <a:srgbClr val="FFD8D4"/>
    <a:srgbClr val="7150A0"/>
    <a:srgbClr val="FEC2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228D95-4AB4-48C5-BFF1-23C89AF4A915}">
  <a:tblStyle styleId="{82228D95-4AB4-48C5-BFF1-23C89AF4A91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82"/>
    <p:restoredTop sz="94674"/>
  </p:normalViewPr>
  <p:slideViewPr>
    <p:cSldViewPr snapToGrid="0">
      <p:cViewPr varScale="1">
        <p:scale>
          <a:sx n="72" d="100"/>
          <a:sy n="72" d="100"/>
        </p:scale>
        <p:origin x="1392" y="56"/>
      </p:cViewPr>
      <p:guideLst>
        <p:guide pos="2880"/>
        <p:guide orient="horz" pos="180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latin typeface="Arial"/>
              <a:ea typeface="Arial"/>
              <a:cs typeface="Arial"/>
              <a:sym typeface="Arial"/>
            </a:endParaRPr>
          </a:p>
        </p:txBody>
      </p:sp>
      <p:sp>
        <p:nvSpPr>
          <p:cNvPr id="28" name="Google Shape;2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40" name="Google Shape;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La estructura del programa es el foco de atención.</a:t>
            </a:r>
            <a:endParaRPr/>
          </a:p>
          <a:p>
            <a:pPr marL="457200" lvl="1" indent="0" algn="just" rtl="0">
              <a:spcBef>
                <a:spcPts val="0"/>
              </a:spcBef>
              <a:spcAft>
                <a:spcPts val="0"/>
              </a:spcAft>
              <a:buNone/>
            </a:pPr>
            <a:r>
              <a:rPr lang="es-PE"/>
              <a:t>La técnica de caja blanca también es conocida como prueba estructural o pruebas basados en el flujo de control.</a:t>
            </a:r>
            <a:endParaRPr/>
          </a:p>
          <a:p>
            <a:pPr marL="0" lvl="0" indent="0" algn="l" rtl="0">
              <a:spcBef>
                <a:spcPts val="0"/>
              </a:spcBef>
              <a:spcAft>
                <a:spcPts val="0"/>
              </a:spcAft>
              <a:buNone/>
            </a:pPr>
            <a:endParaRPr/>
          </a:p>
          <a:p>
            <a:pPr marL="0" lvl="0" indent="0" algn="l" rtl="0">
              <a:spcBef>
                <a:spcPts val="0"/>
              </a:spcBef>
              <a:spcAft>
                <a:spcPts val="0"/>
              </a:spcAft>
              <a:buNone/>
            </a:pPr>
            <a:r>
              <a:rPr lang="es-PE"/>
              <a:t>El probador conoce la estructura Interna del programa/código.</a:t>
            </a:r>
            <a:endParaRPr/>
          </a:p>
          <a:p>
            <a:pPr marL="457200" lvl="1" indent="0" algn="l" rtl="0">
              <a:spcBef>
                <a:spcPts val="0"/>
              </a:spcBef>
              <a:spcAft>
                <a:spcPts val="0"/>
              </a:spcAft>
              <a:buNone/>
            </a:pPr>
            <a:r>
              <a:rPr lang="es-PE"/>
              <a:t>Por ejemplo, jerarquía de los componentes, flujo de control, flujo de datos, etc.</a:t>
            </a:r>
            <a:endParaRPr/>
          </a:p>
          <a:p>
            <a:pPr marL="0" lvl="0" indent="0" algn="l" rtl="0">
              <a:spcBef>
                <a:spcPts val="0"/>
              </a:spcBef>
              <a:spcAft>
                <a:spcPts val="0"/>
              </a:spcAft>
              <a:buNone/>
            </a:pPr>
            <a:endParaRPr/>
          </a:p>
          <a:p>
            <a:pPr marL="0" lvl="0" indent="0" algn="l" rtl="0">
              <a:spcBef>
                <a:spcPts val="0"/>
              </a:spcBef>
              <a:spcAft>
                <a:spcPts val="0"/>
              </a:spcAft>
              <a:buNone/>
            </a:pPr>
            <a:r>
              <a:rPr lang="es-PE"/>
              <a:t>Los casos de prueba son seleccionados en base a la estructura interna del programa/código.</a:t>
            </a:r>
            <a:endParaRPr/>
          </a:p>
          <a:p>
            <a:pPr marL="457200" lvl="1" indent="0" algn="l" rtl="0">
              <a:spcBef>
                <a:spcPts val="0"/>
              </a:spcBef>
              <a:spcAft>
                <a:spcPts val="0"/>
              </a:spcAft>
              <a:buNone/>
            </a:pPr>
            <a:r>
              <a:rPr lang="es-PE"/>
              <a:t>A lo largo de las pruebas es posible que se interfiera con la ejecución de las pruebas.</a:t>
            </a:r>
            <a:endParaRPr/>
          </a:p>
          <a:p>
            <a:pPr marL="0" lvl="0" indent="0" algn="l" rtl="0">
              <a:spcBef>
                <a:spcPts val="0"/>
              </a:spcBef>
              <a:spcAft>
                <a:spcPts val="0"/>
              </a:spcAft>
              <a:buNone/>
            </a:pPr>
            <a:endParaRPr/>
          </a:p>
        </p:txBody>
      </p:sp>
      <p:sp>
        <p:nvSpPr>
          <p:cNvPr id="154" name="Google Shape;15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Técnicas de caja blanca (white box):</a:t>
            </a:r>
            <a:endParaRPr/>
          </a:p>
          <a:p>
            <a:pPr marL="457200" lvl="1" indent="0" algn="l" rtl="0">
              <a:spcBef>
                <a:spcPts val="0"/>
              </a:spcBef>
              <a:spcAft>
                <a:spcPts val="0"/>
              </a:spcAft>
              <a:buNone/>
            </a:pPr>
            <a:r>
              <a:rPr lang="es-PE"/>
              <a:t>Pruebas de sentencia y cobertura.</a:t>
            </a:r>
            <a:endParaRPr/>
          </a:p>
          <a:p>
            <a:pPr marL="457200" lvl="1" indent="0" algn="l" rtl="0">
              <a:spcBef>
                <a:spcPts val="0"/>
              </a:spcBef>
              <a:spcAft>
                <a:spcPts val="0"/>
              </a:spcAft>
              <a:buNone/>
            </a:pPr>
            <a:r>
              <a:rPr lang="es-PE"/>
              <a:t>Pruebas de decisión o rama (branch) y cobertura.</a:t>
            </a:r>
            <a:endParaRPr/>
          </a:p>
          <a:p>
            <a:pPr marL="457200" lvl="1" indent="0" algn="l" rtl="0">
              <a:spcBef>
                <a:spcPts val="0"/>
              </a:spcBef>
              <a:spcAft>
                <a:spcPts val="0"/>
              </a:spcAft>
              <a:buNone/>
            </a:pPr>
            <a:r>
              <a:rPr lang="es-PE"/>
              <a:t>Pruebas de camino (path) y cobertura.</a:t>
            </a:r>
            <a:endParaRPr/>
          </a:p>
          <a:p>
            <a:pPr marL="457200" lvl="1" indent="0" algn="l" rtl="0">
              <a:spcBef>
                <a:spcPts val="0"/>
              </a:spcBef>
              <a:spcAft>
                <a:spcPts val="0"/>
              </a:spcAft>
              <a:buNone/>
            </a:pPr>
            <a:r>
              <a:rPr lang="es-PE"/>
              <a:t>Pruebas de condición y cobertura.</a:t>
            </a:r>
            <a:endParaRPr/>
          </a:p>
          <a:p>
            <a:pPr marL="457200" lvl="1" indent="0" algn="l" rtl="0">
              <a:spcBef>
                <a:spcPts val="0"/>
              </a:spcBef>
              <a:spcAft>
                <a:spcPts val="0"/>
              </a:spcAft>
              <a:buNone/>
            </a:pPr>
            <a:endParaRPr/>
          </a:p>
          <a:p>
            <a:pPr marL="457200" marR="0" lvl="1" indent="0" algn="l" rtl="0">
              <a:lnSpc>
                <a:spcPct val="100000"/>
              </a:lnSpc>
              <a:spcBef>
                <a:spcPts val="0"/>
              </a:spcBef>
              <a:spcAft>
                <a:spcPts val="0"/>
              </a:spcAft>
              <a:buClr>
                <a:schemeClr val="dk1"/>
              </a:buClr>
              <a:buSzPts val="1200"/>
              <a:buFont typeface="Calibri"/>
              <a:buNone/>
            </a:pPr>
            <a:r>
              <a:rPr lang="es-PE"/>
              <a:t> Estas técnicas representan las técnicas de pruebas dinámicas más importantes y utilizadas de forma más frecuente. Estas técnicas están relacionadas con las técnicas de análisis estático descritas anteriormente.</a:t>
            </a:r>
            <a:endParaRPr/>
          </a:p>
          <a:p>
            <a:pPr marL="0" lvl="0" indent="0" algn="l" rtl="0">
              <a:spcBef>
                <a:spcPts val="0"/>
              </a:spcBef>
              <a:spcAft>
                <a:spcPts val="0"/>
              </a:spcAft>
              <a:buNone/>
            </a:pPr>
            <a:endParaRPr/>
          </a:p>
          <a:p>
            <a:pPr marL="0" lvl="0" indent="0" algn="l" rtl="0">
              <a:spcBef>
                <a:spcPts val="0"/>
              </a:spcBef>
              <a:spcAft>
                <a:spcPts val="0"/>
              </a:spcAft>
              <a:buNone/>
            </a:pPr>
            <a:r>
              <a:rPr lang="es-PE"/>
              <a:t>Otras técnicas de caja blanca (pero no limitadas a estas) son:</a:t>
            </a:r>
            <a:endParaRPr/>
          </a:p>
          <a:p>
            <a:pPr marL="457200" lvl="1" indent="0" algn="l" rtl="0">
              <a:spcBef>
                <a:spcPts val="0"/>
              </a:spcBef>
              <a:spcAft>
                <a:spcPts val="0"/>
              </a:spcAft>
              <a:buNone/>
            </a:pPr>
            <a:r>
              <a:rPr lang="es-PE"/>
              <a:t>LCSAJ (linear Code Sequence And Jump): Secuencia lineal de código y salto.</a:t>
            </a:r>
            <a:endParaRPr/>
          </a:p>
          <a:p>
            <a:pPr marL="457200" lvl="1" indent="0" algn="l" rtl="0">
              <a:spcBef>
                <a:spcPts val="0"/>
              </a:spcBef>
              <a:spcAft>
                <a:spcPts val="0"/>
              </a:spcAft>
              <a:buNone/>
            </a:pPr>
            <a:r>
              <a:rPr lang="es-PE"/>
              <a:t>Técnicas basadas en el flujo de datos.</a:t>
            </a:r>
            <a:endParaRPr/>
          </a:p>
          <a:p>
            <a:pPr marL="0" lvl="0" indent="0" algn="l" rtl="0">
              <a:spcBef>
                <a:spcPts val="0"/>
              </a:spcBef>
              <a:spcAft>
                <a:spcPts val="0"/>
              </a:spcAft>
              <a:buNone/>
            </a:pPr>
            <a:endParaRPr/>
          </a:p>
        </p:txBody>
      </p:sp>
      <p:sp>
        <p:nvSpPr>
          <p:cNvPr id="162" name="Google Shape;16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Se basa en identificar la estructura del software o el sistema:</a:t>
            </a:r>
            <a:endParaRPr/>
          </a:p>
          <a:p>
            <a:pPr marL="457200" lvl="1" indent="0" algn="l" rtl="0">
              <a:spcBef>
                <a:spcPts val="0"/>
              </a:spcBef>
              <a:spcAft>
                <a:spcPts val="0"/>
              </a:spcAft>
              <a:buNone/>
            </a:pPr>
            <a:r>
              <a:rPr lang="es-PE"/>
              <a:t>Nivel de Componente: La estructura de un componente de software, por ejemplo: sentencias, decisiones, ramas, caminos (paths).</a:t>
            </a:r>
            <a:endParaRPr/>
          </a:p>
          <a:p>
            <a:pPr marL="457200" lvl="1" indent="0" algn="l" rtl="0">
              <a:spcBef>
                <a:spcPts val="0"/>
              </a:spcBef>
              <a:spcAft>
                <a:spcPts val="0"/>
              </a:spcAft>
              <a:buNone/>
            </a:pPr>
            <a:r>
              <a:rPr lang="es-PE"/>
              <a:t>Nivelo de Integración: La estructura puede ser llamada árbol (un diagrama con módulos y llamados a otros módulos).</a:t>
            </a:r>
            <a:endParaRPr/>
          </a:p>
          <a:p>
            <a:pPr marL="457200" lvl="1" indent="0" algn="l" rtl="0">
              <a:spcBef>
                <a:spcPts val="0"/>
              </a:spcBef>
              <a:spcAft>
                <a:spcPts val="0"/>
              </a:spcAft>
              <a:buNone/>
            </a:pPr>
            <a:r>
              <a:rPr lang="es-PE"/>
              <a:t>Nivel de Sistema: La estructura puede ser un menú, procesos de negocio, o la estructura de una página web.</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s-PE"/>
              <a:t>Las tres anteriores están relacionadas con las técnicas diseño de las pruebas de estructura por la cobertura del código basada en sentencias, decisiones y caminos.</a:t>
            </a:r>
            <a:endParaRPr/>
          </a:p>
          <a:p>
            <a:pPr marL="0" lvl="0" indent="0" algn="l" rtl="0">
              <a:spcBef>
                <a:spcPts val="0"/>
              </a:spcBef>
              <a:spcAft>
                <a:spcPts val="0"/>
              </a:spcAft>
              <a:buNone/>
            </a:pPr>
            <a:endParaRPr/>
          </a:p>
        </p:txBody>
      </p:sp>
      <p:sp>
        <p:nvSpPr>
          <p:cNvPr id="182" name="Google Shape;18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El foco de la atención son las sentencias del código de un programa.</a:t>
            </a:r>
            <a:endParaRPr/>
          </a:p>
          <a:p>
            <a:pPr marL="457200" lvl="1" indent="0" algn="l" rtl="0">
              <a:spcBef>
                <a:spcPts val="0"/>
              </a:spcBef>
              <a:spcAft>
                <a:spcPts val="0"/>
              </a:spcAft>
              <a:buNone/>
            </a:pPr>
            <a:r>
              <a:rPr lang="es-PE"/>
              <a:t>¿Qué casos de prueba son necesarios con el objeto de ejecutar todas (o un porcentaje determinado) las sentencias del código existentes?</a:t>
            </a:r>
            <a:endParaRPr/>
          </a:p>
          <a:p>
            <a:pPr marL="0" lvl="0" indent="0" algn="l" rtl="0">
              <a:spcBef>
                <a:spcPts val="0"/>
              </a:spcBef>
              <a:spcAft>
                <a:spcPts val="0"/>
              </a:spcAft>
              <a:buNone/>
            </a:pPr>
            <a:endParaRPr/>
          </a:p>
          <a:p>
            <a:pPr marL="0" lvl="0" indent="0" algn="l" rtl="0">
              <a:spcBef>
                <a:spcPts val="0"/>
              </a:spcBef>
              <a:spcAft>
                <a:spcPts val="0"/>
              </a:spcAft>
              <a:buNone/>
            </a:pPr>
            <a:r>
              <a:rPr lang="es-PE"/>
              <a:t>La base de este análisis es el diagrama de flujo de control.</a:t>
            </a:r>
            <a:endParaRPr/>
          </a:p>
          <a:p>
            <a:pPr marL="457200" lvl="1" indent="0" algn="l" rtl="0">
              <a:spcBef>
                <a:spcPts val="0"/>
              </a:spcBef>
              <a:spcAft>
                <a:spcPts val="0"/>
              </a:spcAft>
              <a:buNone/>
            </a:pPr>
            <a:r>
              <a:rPr lang="es-PE"/>
              <a:t>Todas las instrucciones o sentencias están representadas por nodos y el flujo de control entre instrucciones está representado por una arista (flecha).</a:t>
            </a:r>
            <a:endParaRPr/>
          </a:p>
          <a:p>
            <a:pPr marL="457200" lvl="1" indent="0" algn="l" rtl="0">
              <a:spcBef>
                <a:spcPts val="0"/>
              </a:spcBef>
              <a:spcAft>
                <a:spcPts val="0"/>
              </a:spcAft>
              <a:buNone/>
            </a:pPr>
            <a:r>
              <a:rPr lang="es-PE"/>
              <a:t>Las instrucciones múltiples se combinan en un nodo independiente si solamente pueden ser ejecutados en una secuencia particular.</a:t>
            </a:r>
            <a:endParaRPr/>
          </a:p>
          <a:p>
            <a:pPr marL="0" lvl="0" indent="0" algn="l" rtl="0">
              <a:spcBef>
                <a:spcPts val="0"/>
              </a:spcBef>
              <a:spcAft>
                <a:spcPts val="0"/>
              </a:spcAft>
              <a:buNone/>
            </a:pPr>
            <a:endParaRPr/>
          </a:p>
          <a:p>
            <a:pPr marL="0" lvl="0" indent="0" algn="l" rtl="0">
              <a:spcBef>
                <a:spcPts val="0"/>
              </a:spcBef>
              <a:spcAft>
                <a:spcPts val="0"/>
              </a:spcAft>
              <a:buNone/>
            </a:pPr>
            <a:r>
              <a:rPr lang="es-PE"/>
              <a:t>El objetivo de la prueba (criterio de salida) es lograr la cobertura de un porcentaje específico de todas las sentencias denominado cobertura de sentencia. (C0 cobertura de código - code coverage).</a:t>
            </a:r>
            <a:endParaRPr/>
          </a:p>
          <a:p>
            <a:pPr marL="0" lvl="0" indent="0" algn="l" rtl="0">
              <a:spcBef>
                <a:spcPts val="0"/>
              </a:spcBef>
              <a:spcAft>
                <a:spcPts val="0"/>
              </a:spcAft>
              <a:buNone/>
            </a:pPr>
            <a:r>
              <a:rPr lang="es-PE"/>
              <a:t> </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s-PE"/>
              <a:t>La medición de la cobertura se realiza con el uso de herramientas diseñadas de forma específica.</a:t>
            </a:r>
            <a:endParaRPr/>
          </a:p>
          <a:p>
            <a:pPr marL="628650" lvl="1" indent="-171450" algn="l" rtl="0">
              <a:spcBef>
                <a:spcPts val="0"/>
              </a:spcBef>
              <a:spcAft>
                <a:spcPts val="0"/>
              </a:spcAft>
              <a:buClr>
                <a:schemeClr val="dk1"/>
              </a:buClr>
              <a:buSzPts val="1200"/>
              <a:buFont typeface="Arial"/>
              <a:buChar char="•"/>
            </a:pPr>
            <a:r>
              <a:rPr lang="es-PE"/>
              <a:t>Estas herramientas se denominan Herramientas de Análisis de Cobertura (Coverage Analysis Tools) o Analizadores de Cobertura (Coverage Analyzers).</a:t>
            </a:r>
            <a:endParaRPr/>
          </a:p>
          <a:p>
            <a:pPr marL="171450" lvl="0" indent="-171450" algn="l" rtl="0">
              <a:spcBef>
                <a:spcPts val="0"/>
              </a:spcBef>
              <a:spcAft>
                <a:spcPts val="0"/>
              </a:spcAft>
              <a:buClr>
                <a:schemeClr val="dk1"/>
              </a:buClr>
              <a:buSzPts val="1200"/>
              <a:buFont typeface="Arial"/>
              <a:buChar char="•"/>
            </a:pPr>
            <a:r>
              <a:rPr lang="es-PE"/>
              <a:t>Beneficios/desventajas dé este método.</a:t>
            </a:r>
            <a:endParaRPr/>
          </a:p>
          <a:p>
            <a:pPr marL="628650" lvl="1" indent="-171450" algn="l" rtl="0">
              <a:spcBef>
                <a:spcPts val="0"/>
              </a:spcBef>
              <a:spcAft>
                <a:spcPts val="0"/>
              </a:spcAft>
              <a:buClr>
                <a:schemeClr val="dk1"/>
              </a:buClr>
              <a:buSzPts val="1200"/>
              <a:buFont typeface="Arial"/>
              <a:buChar char="•"/>
            </a:pPr>
            <a:r>
              <a:rPr lang="es-PE"/>
              <a:t>El código muerto (código constituido por sentencias que nunca se ejecutan) será detectado.</a:t>
            </a:r>
            <a:endParaRPr/>
          </a:p>
          <a:p>
            <a:pPr marL="1085850" lvl="2" indent="-171450" algn="l" rtl="0">
              <a:spcBef>
                <a:spcPts val="0"/>
              </a:spcBef>
              <a:spcAft>
                <a:spcPts val="0"/>
              </a:spcAft>
              <a:buClr>
                <a:schemeClr val="dk1"/>
              </a:buClr>
              <a:buSzPts val="1200"/>
              <a:buFont typeface="Arial"/>
              <a:buChar char="•"/>
            </a:pPr>
            <a:r>
              <a:rPr lang="es-PE"/>
              <a:t>Si hay código muerto en el programa, no se podrá lograr una cobertura del 100%.</a:t>
            </a:r>
            <a:endParaRPr/>
          </a:p>
          <a:p>
            <a:pPr marL="628650" lvl="1" indent="-171450" algn="l" rtl="0">
              <a:spcBef>
                <a:spcPts val="0"/>
              </a:spcBef>
              <a:spcAft>
                <a:spcPts val="0"/>
              </a:spcAft>
              <a:buClr>
                <a:schemeClr val="dk1"/>
              </a:buClr>
              <a:buSzPts val="1200"/>
              <a:buFont typeface="Arial"/>
              <a:buChar char="•"/>
            </a:pPr>
            <a:r>
              <a:rPr lang="es-PE"/>
              <a:t>Instrucciones faltantes (código faltante que es necesario para cumplir con la especificación) no puede ser detectado.</a:t>
            </a:r>
            <a:endParaRPr/>
          </a:p>
          <a:p>
            <a:pPr marL="1085850" lvl="2" indent="-171450" algn="l" rtl="0">
              <a:spcBef>
                <a:spcPts val="0"/>
              </a:spcBef>
              <a:spcAft>
                <a:spcPts val="0"/>
              </a:spcAft>
              <a:buClr>
                <a:schemeClr val="dk1"/>
              </a:buClr>
              <a:buSzPts val="1200"/>
              <a:buFont typeface="Arial"/>
              <a:buChar char="•"/>
            </a:pPr>
            <a:r>
              <a:rPr lang="es-PE"/>
              <a:t>Las pruebas se desarrollan solamente para las sentencias ejecutadas: ¿Todo el código puede ser alcanzado/ejecutado?</a:t>
            </a:r>
            <a:endParaRPr/>
          </a:p>
          <a:p>
            <a:pPr marL="1085850" lvl="2" indent="-171450" algn="l" rtl="0">
              <a:spcBef>
                <a:spcPts val="0"/>
              </a:spcBef>
              <a:spcAft>
                <a:spcPts val="0"/>
              </a:spcAft>
              <a:buClr>
                <a:schemeClr val="dk1"/>
              </a:buClr>
              <a:buSzPts val="1200"/>
              <a:buFont typeface="Arial"/>
              <a:buChar char="•"/>
            </a:pPr>
            <a:r>
              <a:rPr lang="es-PE"/>
              <a:t>El código faltante no puede ser detectado utilizando técnicos de caja blanca.</a:t>
            </a:r>
            <a:endParaRPr/>
          </a:p>
          <a:p>
            <a:pPr marL="914400" lvl="2"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endParaRPr/>
          </a:p>
        </p:txBody>
      </p:sp>
      <p:sp>
        <p:nvSpPr>
          <p:cNvPr id="197" name="Google Shape;19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¿Cuántos casos de prueba se requieren para lograr una cobertura de sentencia del 100%?</a:t>
            </a:r>
            <a:endParaRPr/>
          </a:p>
          <a:p>
            <a:pPr marL="0" lvl="0" indent="0" algn="l" rtl="0">
              <a:spcBef>
                <a:spcPts val="0"/>
              </a:spcBef>
              <a:spcAft>
                <a:spcPts val="0"/>
              </a:spcAft>
              <a:buNone/>
            </a:pPr>
            <a:endParaRPr/>
          </a:p>
          <a:p>
            <a:pPr marL="0" lvl="0" indent="0" algn="l" rtl="0">
              <a:spcBef>
                <a:spcPts val="0"/>
              </a:spcBef>
              <a:spcAft>
                <a:spcPts val="0"/>
              </a:spcAft>
              <a:buNone/>
            </a:pPr>
            <a:r>
              <a:rPr lang="es-PE"/>
              <a:t>Ruta 1 – 3 – 6 – 7 – 8</a:t>
            </a:r>
            <a:endParaRPr/>
          </a:p>
          <a:p>
            <a:pPr marL="0" lvl="0" indent="0" algn="l" rtl="0">
              <a:spcBef>
                <a:spcPts val="0"/>
              </a:spcBef>
              <a:spcAft>
                <a:spcPts val="0"/>
              </a:spcAft>
              <a:buNone/>
            </a:pPr>
            <a:r>
              <a:rPr lang="es-PE"/>
              <a:t>Ruta 1 – 2 – 4 -  5  - 8 </a:t>
            </a:r>
            <a:endParaRPr/>
          </a:p>
          <a:p>
            <a:pPr marL="0" lvl="0" indent="0" algn="l" rtl="0">
              <a:spcBef>
                <a:spcPts val="0"/>
              </a:spcBef>
              <a:spcAft>
                <a:spcPts val="0"/>
              </a:spcAft>
              <a:buNone/>
            </a:pPr>
            <a:endParaRPr/>
          </a:p>
        </p:txBody>
      </p:sp>
      <p:sp>
        <p:nvSpPr>
          <p:cNvPr id="205" name="Google Shape;20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s-PE"/>
              <a:t>Ejemplo 1</a:t>
            </a:r>
            <a:endParaRPr/>
          </a:p>
          <a:p>
            <a:pPr marL="0" lvl="0" indent="0" algn="l" rtl="0">
              <a:spcBef>
                <a:spcPts val="0"/>
              </a:spcBef>
              <a:spcAft>
                <a:spcPts val="0"/>
              </a:spcAft>
              <a:buClr>
                <a:schemeClr val="dk1"/>
              </a:buClr>
              <a:buSzPts val="1200"/>
              <a:buFont typeface="Arial"/>
              <a:buNone/>
            </a:pPr>
            <a:r>
              <a:rPr lang="es-PE"/>
              <a:t>Consideramos el siguiente ejemplo: Leer A, Leer B, preguntar si A es mayor que B, entonces C es igual a 0 y termina. </a:t>
            </a:r>
            <a:endParaRPr/>
          </a:p>
          <a:p>
            <a:pPr marL="0" lvl="0" indent="0" algn="l" rtl="0">
              <a:spcBef>
                <a:spcPts val="0"/>
              </a:spcBef>
              <a:spcAft>
                <a:spcPts val="0"/>
              </a:spcAft>
              <a:buClr>
                <a:schemeClr val="dk1"/>
              </a:buClr>
              <a:buSzPts val="1200"/>
              <a:buFont typeface="Arial"/>
              <a:buNone/>
            </a:pPr>
            <a:r>
              <a:rPr lang="es-PE"/>
              <a:t>Nuestra condición para lograr una cobertura del estado del 100% de este segmento de código solo se requiere un caso de prueba. </a:t>
            </a:r>
            <a:endParaRPr/>
          </a:p>
          <a:p>
            <a:pPr marL="0" lvl="0" indent="0" algn="l" rtl="0">
              <a:spcBef>
                <a:spcPts val="0"/>
              </a:spcBef>
              <a:spcAft>
                <a:spcPts val="0"/>
              </a:spcAft>
              <a:buClr>
                <a:schemeClr val="dk1"/>
              </a:buClr>
              <a:buSzPts val="1200"/>
              <a:buFont typeface="Arial"/>
              <a:buNone/>
            </a:pPr>
            <a:r>
              <a:rPr lang="es-PE"/>
              <a:t>Uno que asegure que la variable A tenga un valor que sea mayor al valor de B. </a:t>
            </a:r>
            <a:endParaRPr/>
          </a:p>
          <a:p>
            <a:pPr marL="0" lvl="0" indent="0" algn="l" rtl="0">
              <a:spcBef>
                <a:spcPts val="0"/>
              </a:spcBef>
              <a:spcAft>
                <a:spcPts val="0"/>
              </a:spcAft>
              <a:buClr>
                <a:schemeClr val="dk1"/>
              </a:buClr>
              <a:buSzPts val="1200"/>
              <a:buFont typeface="Arial"/>
              <a:buNone/>
            </a:pPr>
            <a:r>
              <a:rPr lang="es-PE"/>
              <a:t>Por ejemplo, A es igual a 12 y b igual a 10. </a:t>
            </a:r>
            <a:endParaRPr/>
          </a:p>
          <a:p>
            <a:pPr marL="0" lvl="0" indent="0" algn="l" rtl="0">
              <a:spcBef>
                <a:spcPts val="0"/>
              </a:spcBef>
              <a:spcAft>
                <a:spcPts val="0"/>
              </a:spcAft>
              <a:buClr>
                <a:schemeClr val="dk1"/>
              </a:buClr>
              <a:buSzPts val="1200"/>
              <a:buFont typeface="Arial"/>
              <a:buNone/>
            </a:pPr>
            <a:r>
              <a:rPr lang="es-PE"/>
              <a:t>Ten en cuenta que estamos haciendo primero un diseño de prueba estructural ya que estamos eligiendo nuestros valores de entrada para garantizar la cobertura de la declaración. </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endParaRPr/>
          </a:p>
        </p:txBody>
      </p:sp>
      <p:sp>
        <p:nvSpPr>
          <p:cNvPr id="213" name="Google Shape;213;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En lugar de las sentencias, la cobertura de decisión se centra en el flujo de control en un segmento de programa (no los nodos sino las aristas del diagrama de flujo de control).</a:t>
            </a:r>
            <a:endParaRPr/>
          </a:p>
          <a:p>
            <a:pPr marL="457200" lvl="1" indent="0" algn="l" rtl="0">
              <a:spcBef>
                <a:spcPts val="0"/>
              </a:spcBef>
              <a:spcAft>
                <a:spcPts val="0"/>
              </a:spcAft>
              <a:buNone/>
            </a:pPr>
            <a:r>
              <a:rPr lang="es-PE"/>
              <a:t>Todas las aristas del diagrama de flujo de control tienen que ser cubiertas al menos una vez.</a:t>
            </a:r>
            <a:endParaRPr/>
          </a:p>
          <a:p>
            <a:pPr marL="457200" lvl="1" indent="0" algn="l" rtl="0">
              <a:spcBef>
                <a:spcPts val="0"/>
              </a:spcBef>
              <a:spcAft>
                <a:spcPts val="0"/>
              </a:spcAft>
              <a:buNone/>
            </a:pPr>
            <a:r>
              <a:rPr lang="es-PE"/>
              <a:t>¿Qué casos de prueba son necesarios para cubrir cada arista del diagrama de flujo de control al menos una vez?</a:t>
            </a:r>
            <a:endParaRPr/>
          </a:p>
          <a:p>
            <a:pPr marL="0" lvl="0" indent="0" algn="l" rtl="0">
              <a:spcBef>
                <a:spcPts val="0"/>
              </a:spcBef>
              <a:spcAft>
                <a:spcPts val="0"/>
              </a:spcAft>
              <a:buNone/>
            </a:pPr>
            <a:endParaRPr/>
          </a:p>
          <a:p>
            <a:pPr marL="0" lvl="0" indent="0" algn="l" rtl="0">
              <a:spcBef>
                <a:spcPts val="0"/>
              </a:spcBef>
              <a:spcAft>
                <a:spcPts val="0"/>
              </a:spcAft>
              <a:buNone/>
            </a:pPr>
            <a:r>
              <a:rPr lang="es-PE"/>
              <a:t>El propósito de esta prueba (criterio de salida) es lograr la cobertura de un porcentaje específico de todas las decisiones denominado cobertura de decisión (C1 cobertura de código - code coverage)</a:t>
            </a:r>
            <a:endParaRPr/>
          </a:p>
          <a:p>
            <a:pPr marL="0" lvl="0" indent="0" algn="l" rtl="0">
              <a:spcBef>
                <a:spcPts val="0"/>
              </a:spcBef>
              <a:spcAft>
                <a:spcPts val="0"/>
              </a:spcAft>
              <a:buNone/>
            </a:pPr>
            <a:endParaRPr/>
          </a:p>
          <a:p>
            <a:pPr marL="0" lvl="0" indent="0" algn="l" rtl="0">
              <a:spcBef>
                <a:spcPts val="0"/>
              </a:spcBef>
              <a:spcAft>
                <a:spcPts val="0"/>
              </a:spcAft>
              <a:buNone/>
            </a:pPr>
            <a:r>
              <a:rPr lang="es-PE" b="1"/>
              <a:t>Conclusiones</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Lograr una cobertura de decisión del 100% requiere, al menos de los mismos casos de prueba que requiere la cobertura de sentencia (más en la mayoría de los casos).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Una cobertura de decisión del 100% siempre incluye una cobertura de sentencia del 100%. </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La mayoría de las aristas son cubiertas en múltiples ocasiones. </a:t>
            </a:r>
            <a:endParaRPr/>
          </a:p>
          <a:p>
            <a:pPr marL="171450" lvl="0" indent="-171450" algn="l" rtl="0">
              <a:spcBef>
                <a:spcPts val="0"/>
              </a:spcBef>
              <a:spcAft>
                <a:spcPts val="0"/>
              </a:spcAft>
              <a:buClr>
                <a:schemeClr val="dk1"/>
              </a:buClr>
              <a:buSzPts val="1200"/>
              <a:buFont typeface="Arial"/>
              <a:buChar char="•"/>
            </a:pPr>
            <a:r>
              <a:rPr lang="es-PE" sz="1200" b="1" i="0" u="none" strike="noStrike">
                <a:solidFill>
                  <a:schemeClr val="dk1"/>
                </a:solidFill>
                <a:latin typeface="Calibri"/>
                <a:ea typeface="Calibri"/>
                <a:cs typeface="Calibri"/>
                <a:sym typeface="Calibri"/>
              </a:rPr>
              <a:t>Desventajas. </a:t>
            </a:r>
            <a:endParaRPr sz="1200" b="0" i="0" u="none" strike="noStrike">
              <a:solidFill>
                <a:schemeClr val="dk1"/>
              </a:solidFill>
              <a:latin typeface="Calibri"/>
              <a:ea typeface="Calibri"/>
              <a:cs typeface="Calibri"/>
              <a:sym typeface="Calibri"/>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No se pueden detectar sentencias faltantes.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No es suficiente para probar condiciones complejas.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No es suficiente para probar bucles de forma extensiva.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No se consideran las dependencias entre bucles.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31" name="Google Shape;23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¿Cuántos casos de prueba se requieren para lograr una cobertura de sentencia del 100%?</a:t>
            </a:r>
            <a:endParaRPr/>
          </a:p>
          <a:p>
            <a:pPr marL="0" lvl="0" indent="0" algn="l" rtl="0">
              <a:spcBef>
                <a:spcPts val="0"/>
              </a:spcBef>
              <a:spcAft>
                <a:spcPts val="0"/>
              </a:spcAft>
              <a:buNone/>
            </a:pPr>
            <a:endParaRPr/>
          </a:p>
          <a:p>
            <a:pPr marL="0" lvl="0" indent="0" algn="l" rtl="0">
              <a:spcBef>
                <a:spcPts val="0"/>
              </a:spcBef>
              <a:spcAft>
                <a:spcPts val="0"/>
              </a:spcAft>
              <a:buNone/>
            </a:pPr>
            <a:r>
              <a:rPr lang="es-PE"/>
              <a:t>Ruta 1 – 3 – 6 – 7 – 8</a:t>
            </a:r>
            <a:endParaRPr/>
          </a:p>
          <a:p>
            <a:pPr marL="0" lvl="0" indent="0" algn="l" rtl="0">
              <a:spcBef>
                <a:spcPts val="0"/>
              </a:spcBef>
              <a:spcAft>
                <a:spcPts val="0"/>
              </a:spcAft>
              <a:buNone/>
            </a:pPr>
            <a:r>
              <a:rPr lang="es-PE"/>
              <a:t>Ruta 1 – 3 – 7 -   8 </a:t>
            </a:r>
            <a:endParaRPr/>
          </a:p>
          <a:p>
            <a:pPr marL="0" lvl="0" indent="0" algn="l" rtl="0">
              <a:spcBef>
                <a:spcPts val="0"/>
              </a:spcBef>
              <a:spcAft>
                <a:spcPts val="0"/>
              </a:spcAft>
              <a:buNone/>
            </a:pPr>
            <a:r>
              <a:rPr lang="es-PE"/>
              <a:t>Ruta 1 – 2 – 4 –  8</a:t>
            </a:r>
            <a:endParaRPr/>
          </a:p>
          <a:p>
            <a:pPr marL="0" lvl="0" indent="0" algn="l" rtl="0">
              <a:spcBef>
                <a:spcPts val="0"/>
              </a:spcBef>
              <a:spcAft>
                <a:spcPts val="0"/>
              </a:spcAft>
              <a:buNone/>
            </a:pPr>
            <a:r>
              <a:rPr lang="es-PE"/>
              <a:t>Ruta 1 – 2 – 5 -   8 </a:t>
            </a:r>
            <a:endParaRPr/>
          </a:p>
          <a:p>
            <a:pPr marL="0" lvl="0" indent="0" algn="l" rtl="0">
              <a:spcBef>
                <a:spcPts val="0"/>
              </a:spcBef>
              <a:spcAft>
                <a:spcPts val="0"/>
              </a:spcAft>
              <a:buNone/>
            </a:pPr>
            <a:endParaRPr/>
          </a:p>
        </p:txBody>
      </p:sp>
      <p:sp>
        <p:nvSpPr>
          <p:cNvPr id="240" name="Google Shape;24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264" name="Google Shape;26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s-PE">
                <a:latin typeface="Arial"/>
                <a:ea typeface="Arial"/>
                <a:cs typeface="Arial"/>
                <a:sym typeface="Arial"/>
              </a:rPr>
              <a:t>En el video se explica cómo crear el grafo de flujo de un programa.</a:t>
            </a:r>
            <a:endParaRPr/>
          </a:p>
        </p:txBody>
      </p:sp>
      <p:sp>
        <p:nvSpPr>
          <p:cNvPr id="273" name="Google Shape;27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s-PE">
                <a:latin typeface="Arial"/>
                <a:ea typeface="Arial"/>
                <a:cs typeface="Arial"/>
                <a:sym typeface="Arial"/>
              </a:rPr>
              <a:t>En el video se explica cómo diseñar la prueba del camino básico (tipo de prueba de caja blanca).</a:t>
            </a:r>
            <a:endParaRPr/>
          </a:p>
        </p:txBody>
      </p:sp>
      <p:sp>
        <p:nvSpPr>
          <p:cNvPr id="283" name="Google Shape;28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Caja Blanca</a:t>
            </a:r>
            <a:endParaRPr/>
          </a:p>
          <a:p>
            <a:pPr marL="0" lvl="0" indent="0" algn="l" rtl="0">
              <a:spcBef>
                <a:spcPts val="0"/>
              </a:spcBef>
              <a:spcAft>
                <a:spcPts val="0"/>
              </a:spcAft>
              <a:buNone/>
            </a:pPr>
            <a:r>
              <a:rPr lang="es-PE"/>
              <a:t>Caja Negra</a:t>
            </a:r>
            <a:endParaRPr/>
          </a:p>
          <a:p>
            <a:pPr marL="0" lvl="0" indent="0" algn="l" rtl="0">
              <a:spcBef>
                <a:spcPts val="0"/>
              </a:spcBef>
              <a:spcAft>
                <a:spcPts val="0"/>
              </a:spcAft>
              <a:buNone/>
            </a:pPr>
            <a:endParaRPr/>
          </a:p>
        </p:txBody>
      </p:sp>
      <p:sp>
        <p:nvSpPr>
          <p:cNvPr id="300" name="Google Shape;300;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s-PE">
                <a:latin typeface="Arial"/>
                <a:ea typeface="Arial"/>
                <a:cs typeface="Arial"/>
                <a:sym typeface="Arial"/>
              </a:rPr>
              <a:t>Videoconferencia de un testeo de caja blanca.</a:t>
            </a:r>
            <a:endParaRPr/>
          </a:p>
          <a:p>
            <a:pPr marL="0" lvl="0" indent="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08" name="Google Shape;308;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s-PE">
                <a:latin typeface="Arial"/>
                <a:ea typeface="Arial"/>
                <a:cs typeface="Arial"/>
                <a:sym typeface="Arial"/>
              </a:rPr>
              <a:t>Videoconferencia de un testeo de caja negra.</a:t>
            </a:r>
            <a:endParaRPr/>
          </a:p>
        </p:txBody>
      </p:sp>
      <p:sp>
        <p:nvSpPr>
          <p:cNvPr id="318" name="Google Shape;31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2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a:t>La cobertura de camino se centra en la ejecución de todos los posibles caminos a través de un programa.</a:t>
            </a:r>
            <a:endParaRPr/>
          </a:p>
          <a:p>
            <a:pPr marL="457200" lvl="1" indent="0" algn="just" rtl="0">
              <a:spcBef>
                <a:spcPts val="0"/>
              </a:spcBef>
              <a:spcAft>
                <a:spcPts val="0"/>
              </a:spcAft>
              <a:buNone/>
            </a:pPr>
            <a:r>
              <a:rPr lang="es-PE"/>
              <a:t>Un camino es una combinación de segmentos de programa (en un diagrama de flujo de control es una secuencia alternada de nodos y aristas).</a:t>
            </a:r>
            <a:endParaRPr/>
          </a:p>
          <a:p>
            <a:pPr marL="0" lvl="0" indent="0" algn="just" rtl="0">
              <a:spcBef>
                <a:spcPts val="0"/>
              </a:spcBef>
              <a:spcAft>
                <a:spcPts val="0"/>
              </a:spcAft>
              <a:buNone/>
            </a:pPr>
            <a:endParaRPr/>
          </a:p>
          <a:p>
            <a:pPr marL="0" lvl="0" indent="0" algn="just" rtl="0">
              <a:spcBef>
                <a:spcPts val="0"/>
              </a:spcBef>
              <a:spcAft>
                <a:spcPts val="0"/>
              </a:spcAft>
              <a:buNone/>
            </a:pPr>
            <a:r>
              <a:rPr lang="es-PE"/>
              <a:t>Un caso de prueba que no entre al bucle.</a:t>
            </a:r>
            <a:endParaRPr/>
          </a:p>
          <a:p>
            <a:pPr marL="0" lvl="0" indent="0" algn="just" rtl="0">
              <a:spcBef>
                <a:spcPts val="0"/>
              </a:spcBef>
              <a:spcAft>
                <a:spcPts val="0"/>
              </a:spcAft>
              <a:buNone/>
            </a:pPr>
            <a:r>
              <a:rPr lang="es-PE"/>
              <a:t>Un caso de prueba adicional por cada iteración en el bucle.</a:t>
            </a:r>
            <a:endParaRPr/>
          </a:p>
          <a:p>
            <a:pPr marL="0" lvl="0" indent="0" algn="just" rtl="0">
              <a:spcBef>
                <a:spcPts val="0"/>
              </a:spcBef>
              <a:spcAft>
                <a:spcPts val="0"/>
              </a:spcAft>
              <a:buNone/>
            </a:pPr>
            <a:r>
              <a:rPr lang="es-PE"/>
              <a:t>Esto puede conducir o un alto número de casos de prueba.</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El foco del análisis de cobertura es el diagrama de flujo de control.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Las sentencias son nodos.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El flujo de control está representado por las aristas.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Cada camino es una vía única desde el inicio hasta el final del diagrama de flujo de control.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El objetivo de esta prueba (criterio de salida) es alcanzar un porcentaje definido de cobertura de caminos.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200"/>
              <a:buFont typeface="Arial"/>
              <a:buNone/>
            </a:pPr>
            <a:r>
              <a:rPr lang="es-PE" sz="1200" b="1" i="0" u="none" strike="noStrike">
                <a:solidFill>
                  <a:schemeClr val="dk1"/>
                </a:solidFill>
                <a:latin typeface="Calibri"/>
                <a:ea typeface="Calibri"/>
                <a:cs typeface="Calibri"/>
                <a:sym typeface="Calibri"/>
              </a:rPr>
              <a:t>Conclusiones generales </a:t>
            </a:r>
            <a:endParaRPr sz="1200" b="0" i="0" u="none" strike="noStrike">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El 100% de cobertura de camino sólo se puede lograr en programas muy simples.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Un solo bucle puede conducir a uno explosión de casos de prueba dado que todo número posible de ejecuciones de un bucle constituye un nuevo caso de prueba.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Teóricamente es posible un número indefinido de caminos. </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La cobertura de camino es más exhaustiva que la cobertura de sentencia y de decisión.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Cada posible camino a través del programa es ejecutado. </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100% de cobertura de camino incluye 100% de cobertura de decisión y de sentencia. </a:t>
            </a:r>
            <a:endParaRPr/>
          </a:p>
          <a:p>
            <a:pPr marL="0" lvl="0" indent="0" algn="l" rtl="0">
              <a:spcBef>
                <a:spcPts val="0"/>
              </a:spcBef>
              <a:spcAft>
                <a:spcPts val="0"/>
              </a:spcAft>
              <a:buNone/>
            </a:pPr>
            <a:endParaRPr/>
          </a:p>
        </p:txBody>
      </p:sp>
      <p:sp>
        <p:nvSpPr>
          <p:cNvPr id="335" name="Google Shape;33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Simple</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Cada subcondición atómica de una sentencia condicional combinada debe tomar alguna vez, los valores lógicos verdadero (true) y falso (false).</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Este ejemplo se utiliza para explicar la  cobertura de condición utilizando una  expresión con una condición múltiple. </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Con sólo dos casos de prueba se puede  lograr una cobertura de condición simple. Cada subcondición ha tomado los valores: verdadero (true) y falso (false). </a:t>
            </a:r>
            <a:endParaRPr/>
          </a:p>
          <a:p>
            <a:pPr marL="171450" lvl="0"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Sin embargo, el resultado combinado es verdadero (true) en ambos casos.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true OR false = true </a:t>
            </a:r>
            <a:endParaRPr/>
          </a:p>
          <a:p>
            <a:pPr marL="628650" lvl="1" indent="-171450" algn="l" rtl="0">
              <a:spcBef>
                <a:spcPts val="0"/>
              </a:spcBef>
              <a:spcAft>
                <a:spcPts val="0"/>
              </a:spcAft>
              <a:buClr>
                <a:schemeClr val="dk1"/>
              </a:buClr>
              <a:buSzPts val="1200"/>
              <a:buFont typeface="Arial"/>
              <a:buChar char="•"/>
            </a:pPr>
            <a:r>
              <a:rPr lang="es-PE" sz="1200" b="0" i="0" u="none" strike="noStrike">
                <a:solidFill>
                  <a:schemeClr val="dk1"/>
                </a:solidFill>
                <a:latin typeface="Calibri"/>
                <a:ea typeface="Calibri"/>
                <a:cs typeface="Calibri"/>
                <a:sym typeface="Calibri"/>
              </a:rPr>
              <a:t>false OR true = true </a:t>
            </a:r>
            <a:endParaRPr/>
          </a:p>
          <a:p>
            <a:pPr marL="0" lvl="0" indent="0" algn="l" rtl="0">
              <a:spcBef>
                <a:spcPts val="0"/>
              </a:spcBef>
              <a:spcAft>
                <a:spcPts val="0"/>
              </a:spcAft>
              <a:buNone/>
            </a:pPr>
            <a:r>
              <a:rPr lang="es-PE" b="1"/>
              <a:t>Múltiple</a:t>
            </a:r>
            <a:endParaRPr/>
          </a:p>
          <a:p>
            <a:pPr marL="171450" lvl="0" indent="-171450" algn="l" rtl="0">
              <a:spcBef>
                <a:spcPts val="0"/>
              </a:spcBef>
              <a:spcAft>
                <a:spcPts val="0"/>
              </a:spcAft>
              <a:buClr>
                <a:schemeClr val="dk1"/>
              </a:buClr>
              <a:buSzPts val="1200"/>
              <a:buFont typeface="Arial"/>
              <a:buChar char="•"/>
            </a:pPr>
            <a:r>
              <a:rPr lang="es-PE"/>
              <a:t>Todas las combinaciones que puedan ser creadas utilizando permutaciones de las subcondiciones atómicas deben formar parte de las pruebas.</a:t>
            </a:r>
            <a:endParaRPr/>
          </a:p>
          <a:p>
            <a:pPr marL="171450" lvl="0" indent="-171450" algn="l" rtl="0">
              <a:spcBef>
                <a:spcPts val="0"/>
              </a:spcBef>
              <a:spcAft>
                <a:spcPts val="0"/>
              </a:spcAft>
              <a:buClr>
                <a:schemeClr val="dk1"/>
              </a:buClr>
              <a:buSzPts val="1200"/>
              <a:buFont typeface="Arial"/>
              <a:buChar char="•"/>
            </a:pPr>
            <a:r>
              <a:rPr lang="es-PE"/>
              <a:t>Este ejemplo se utiliza para explicar la cobertura de condición utilizando una expresión con una condición múltiple.</a:t>
            </a:r>
            <a:endParaRPr/>
          </a:p>
          <a:p>
            <a:pPr marL="171450" lvl="0" indent="-171450" algn="l" rtl="0">
              <a:spcBef>
                <a:spcPts val="0"/>
              </a:spcBef>
              <a:spcAft>
                <a:spcPts val="0"/>
              </a:spcAft>
              <a:buClr>
                <a:schemeClr val="dk1"/>
              </a:buClr>
              <a:buSzPts val="1200"/>
              <a:buFont typeface="Arial"/>
              <a:buChar char="•"/>
            </a:pPr>
            <a:r>
              <a:rPr lang="es-PE"/>
              <a:t>Con cuatro casos de prueba se puede lograr una cobertura de condición múltiple.</a:t>
            </a:r>
            <a:endParaRPr/>
          </a:p>
          <a:p>
            <a:pPr marL="628650" lvl="1" indent="-171450" algn="l" rtl="0">
              <a:spcBef>
                <a:spcPts val="0"/>
              </a:spcBef>
              <a:spcAft>
                <a:spcPts val="0"/>
              </a:spcAft>
              <a:buClr>
                <a:schemeClr val="dk1"/>
              </a:buClr>
              <a:buSzPts val="1200"/>
              <a:buFont typeface="Arial"/>
              <a:buChar char="•"/>
            </a:pPr>
            <a:r>
              <a:rPr lang="es-PE"/>
              <a:t>Se han creado todas las combinaciones de los valores verdadero (true) y falso (false).</a:t>
            </a:r>
            <a:endParaRPr/>
          </a:p>
          <a:p>
            <a:pPr marL="628650" lvl="1" indent="-171450" algn="l" rtl="0">
              <a:spcBef>
                <a:spcPts val="0"/>
              </a:spcBef>
              <a:spcAft>
                <a:spcPts val="0"/>
              </a:spcAft>
              <a:buClr>
                <a:schemeClr val="dk1"/>
              </a:buClr>
              <a:buSzPts val="1200"/>
              <a:buFont typeface="Arial"/>
              <a:buChar char="•"/>
            </a:pPr>
            <a:r>
              <a:rPr lang="es-PE"/>
              <a:t>Se han logrado todos los posibles resultados de la condición múltiple.</a:t>
            </a:r>
            <a:endParaRPr/>
          </a:p>
          <a:p>
            <a:pPr marL="171450" lvl="0" indent="-171450" algn="l" rtl="0">
              <a:spcBef>
                <a:spcPts val="0"/>
              </a:spcBef>
              <a:spcAft>
                <a:spcPts val="0"/>
              </a:spcAft>
              <a:buClr>
                <a:schemeClr val="dk1"/>
              </a:buClr>
              <a:buSzPts val="1200"/>
              <a:buFont typeface="Arial"/>
              <a:buChar char="•"/>
            </a:pPr>
            <a:r>
              <a:rPr lang="es-PE"/>
              <a:t>El número de caso de prueba se incrementa de forma exponencial:</a:t>
            </a:r>
            <a:endParaRPr/>
          </a:p>
          <a:p>
            <a:pPr marL="628650" lvl="1" indent="-171450" algn="l" rtl="0">
              <a:spcBef>
                <a:spcPts val="0"/>
              </a:spcBef>
              <a:spcAft>
                <a:spcPts val="0"/>
              </a:spcAft>
              <a:buClr>
                <a:schemeClr val="dk1"/>
              </a:buClr>
              <a:buSzPts val="1200"/>
              <a:buFont typeface="Arial"/>
              <a:buChar char="•"/>
            </a:pPr>
            <a:r>
              <a:rPr lang="es-PE"/>
              <a:t>n = número de condiciones atómicas.</a:t>
            </a:r>
            <a:endParaRPr/>
          </a:p>
          <a:p>
            <a:pPr marL="628650" lvl="1" indent="-171450" algn="l" rtl="0">
              <a:spcBef>
                <a:spcPts val="0"/>
              </a:spcBef>
              <a:spcAft>
                <a:spcPts val="0"/>
              </a:spcAft>
              <a:buClr>
                <a:schemeClr val="dk1"/>
              </a:buClr>
              <a:buSzPts val="1200"/>
              <a:buFont typeface="Arial"/>
              <a:buChar char="•"/>
            </a:pPr>
            <a:r>
              <a:rPr lang="es-PE"/>
              <a:t>2n = número de casos de prueba.</a:t>
            </a:r>
            <a:endParaRPr/>
          </a:p>
        </p:txBody>
      </p:sp>
      <p:sp>
        <p:nvSpPr>
          <p:cNvPr id="352" name="Google Shape;352;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Las técnicas basadas en la estructura sirven para dos propósitos medición de cobertura de prueba y diseño de casos de prueba estructural.</a:t>
            </a:r>
            <a:endParaRPr/>
          </a:p>
          <a:p>
            <a:pPr marL="0" lvl="0" indent="0" algn="l" rtl="0">
              <a:spcBef>
                <a:spcPts val="0"/>
              </a:spcBef>
              <a:spcAft>
                <a:spcPts val="0"/>
              </a:spcAft>
              <a:buNone/>
            </a:pPr>
            <a:r>
              <a:rPr lang="es-PE"/>
              <a:t>A menudo este es usan primero para evaluar la cantidad de pruebas realizadas por pruebas derivadas de técnicas basadas en especificaciones es decir para evaluar la cobertura.</a:t>
            </a:r>
            <a:endParaRPr/>
          </a:p>
          <a:p>
            <a:pPr marL="0" lvl="0" indent="0" algn="l" rtl="0">
              <a:spcBef>
                <a:spcPts val="0"/>
              </a:spcBef>
              <a:spcAft>
                <a:spcPts val="0"/>
              </a:spcAft>
              <a:buNone/>
            </a:pPr>
            <a:r>
              <a:rPr lang="es-PE"/>
              <a:t>Luego se usan para diseñar pruebas tradicionales con el objetivo de aumentar la cobertura de la prueba </a:t>
            </a:r>
            <a:endParaRPr/>
          </a:p>
          <a:p>
            <a:pPr marL="0" lvl="0" indent="0" algn="l" rtl="0">
              <a:spcBef>
                <a:spcPts val="0"/>
              </a:spcBef>
              <a:spcAft>
                <a:spcPts val="0"/>
              </a:spcAft>
              <a:buNone/>
            </a:pPr>
            <a:r>
              <a:rPr lang="es-PE"/>
              <a:t>Las técnicas de diseño de pruebas basada en la estructura son una buena forma de generar casos de prueba adicionales que son diferentes de las pruebas existentes</a:t>
            </a:r>
            <a:endParaRPr/>
          </a:p>
          <a:p>
            <a:pPr marL="0" lvl="0" indent="0" algn="l" rtl="0">
              <a:spcBef>
                <a:spcPts val="0"/>
              </a:spcBef>
              <a:spcAft>
                <a:spcPts val="0"/>
              </a:spcAft>
              <a:buNone/>
            </a:pPr>
            <a:r>
              <a:rPr lang="es-PE"/>
              <a:t>Pueden ayudar a garantizar una mayor amplitud de las pruebas en el sentido de que los casos de prueba que alcanza el 100% de cobertura en cualquier medida ejercerán todas las partes del software desde el punto de vista de los artículos que se cubren</a:t>
            </a:r>
            <a:endParaRPr/>
          </a:p>
          <a:p>
            <a:pPr marL="0" lvl="0" indent="0" algn="l" rtl="0">
              <a:spcBef>
                <a:spcPts val="0"/>
              </a:spcBef>
              <a:spcAft>
                <a:spcPts val="0"/>
              </a:spcAft>
              <a:buNone/>
            </a:pPr>
            <a:endParaRPr/>
          </a:p>
        </p:txBody>
      </p:sp>
      <p:sp>
        <p:nvSpPr>
          <p:cNvPr id="361" name="Google Shape;361;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1200"/>
              <a:buFont typeface="Arial"/>
              <a:buNone/>
            </a:pPr>
            <a:r>
              <a:rPr lang="es-PE" b="1"/>
              <a:t>CAJA BLANCA</a:t>
            </a:r>
            <a:endParaRPr/>
          </a:p>
          <a:p>
            <a:pPr marL="171450" lvl="0" indent="-171450" algn="just" rtl="0">
              <a:spcBef>
                <a:spcPts val="0"/>
              </a:spcBef>
              <a:spcAft>
                <a:spcPts val="0"/>
              </a:spcAft>
              <a:buClr>
                <a:schemeClr val="dk1"/>
              </a:buClr>
              <a:buSzPts val="1200"/>
              <a:buFont typeface="Arial"/>
              <a:buChar char="•"/>
            </a:pPr>
            <a:r>
              <a:rPr lang="es-PE"/>
              <a:t>Sólo se puede probar código existente. No se pueden hallar funciones faltantes. </a:t>
            </a:r>
            <a:endParaRPr/>
          </a:p>
          <a:p>
            <a:pPr marL="171450" lvl="0" indent="-171450" algn="just" rtl="0">
              <a:spcBef>
                <a:spcPts val="0"/>
              </a:spcBef>
              <a:spcAft>
                <a:spcPts val="0"/>
              </a:spcAft>
              <a:buClr>
                <a:schemeClr val="dk1"/>
              </a:buClr>
              <a:buSzPts val="1200"/>
              <a:buFont typeface="Arial"/>
              <a:buChar char="•"/>
            </a:pPr>
            <a:r>
              <a:rPr lang="es-PE"/>
              <a:t>Sin embargo, el código muerto o superfluo puede ser detectado con las pruebas de caja blanca. Principalmente, los métodos de caja blanca son utilizados en pruebas de bajo nivel como pruebas de componente o pruebas de integración. </a:t>
            </a:r>
            <a:endParaRPr/>
          </a:p>
          <a:p>
            <a:pPr marL="171450" lvl="0" indent="-171450" algn="just" rtl="0">
              <a:spcBef>
                <a:spcPts val="0"/>
              </a:spcBef>
              <a:spcAft>
                <a:spcPts val="0"/>
              </a:spcAft>
              <a:buClr>
                <a:schemeClr val="dk1"/>
              </a:buClr>
              <a:buSzPts val="1200"/>
              <a:buFont typeface="Arial"/>
              <a:buChar char="•"/>
            </a:pPr>
            <a:r>
              <a:rPr lang="es-PE"/>
              <a:t>Los métodos difieren en la intensidad de las pruebas (profundidad de la prueba). </a:t>
            </a:r>
            <a:endParaRPr/>
          </a:p>
          <a:p>
            <a:pPr marL="628650" lvl="1" indent="-171450" algn="just" rtl="0">
              <a:spcBef>
                <a:spcPts val="0"/>
              </a:spcBef>
              <a:spcAft>
                <a:spcPts val="0"/>
              </a:spcAft>
              <a:buClr>
                <a:schemeClr val="dk1"/>
              </a:buClr>
              <a:buSzPts val="1200"/>
              <a:buFont typeface="Arial"/>
              <a:buChar char="•"/>
            </a:pPr>
            <a:r>
              <a:rPr lang="es-PE"/>
              <a:t>Dependiendo del método, el número de casos de prueba es distinto. </a:t>
            </a:r>
            <a:endParaRPr/>
          </a:p>
          <a:p>
            <a:pPr marL="0" lvl="0" indent="0" algn="l" rtl="0">
              <a:spcBef>
                <a:spcPts val="0"/>
              </a:spcBef>
              <a:spcAft>
                <a:spcPts val="0"/>
              </a:spcAft>
              <a:buNone/>
            </a:pPr>
            <a:endParaRPr/>
          </a:p>
        </p:txBody>
      </p:sp>
      <p:sp>
        <p:nvSpPr>
          <p:cNvPr id="372" name="Google Shape;372;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34</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35</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ema - 1 Imagen A">
  <p:cSld name="Subtema - 1 Imagen A">
    <p:spTree>
      <p:nvGrpSpPr>
        <p:cNvPr id="1"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ema - Video">
  <p:cSld name="Subtema - Video">
    <p:spTree>
      <p:nvGrpSpPr>
        <p:cNvPr id="1"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6" name="Rectangle 3">
            <a:extLst>
              <a:ext uri="{FF2B5EF4-FFF2-40B4-BE49-F238E27FC236}">
                <a16:creationId xmlns:a16="http://schemas.microsoft.com/office/drawing/2014/main" id="{C6A5849E-3A82-A743-845A-F0AA57A6EC83}"/>
              </a:ext>
            </a:extLst>
          </p:cNvPr>
          <p:cNvSpPr/>
          <p:nvPr userDrawn="1"/>
        </p:nvSpPr>
        <p:spPr>
          <a:xfrm>
            <a:off x="7204422" y="5371562"/>
            <a:ext cx="1544012"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sp>
        <p:nvSpPr>
          <p:cNvPr id="7" name="TextBox 7">
            <a:extLst>
              <a:ext uri="{FF2B5EF4-FFF2-40B4-BE49-F238E27FC236}">
                <a16:creationId xmlns:a16="http://schemas.microsoft.com/office/drawing/2014/main" id="{BB9D8A73-A9D5-BA42-87EC-B031774F2353}"/>
              </a:ext>
            </a:extLst>
          </p:cNvPr>
          <p:cNvSpPr txBox="1"/>
          <p:nvPr userDrawn="1"/>
        </p:nvSpPr>
        <p:spPr>
          <a:xfrm>
            <a:off x="876300" y="5343295"/>
            <a:ext cx="2164375" cy="215444"/>
          </a:xfrm>
          <a:prstGeom prst="rect">
            <a:avLst/>
          </a:prstGeom>
          <a:noFill/>
        </p:spPr>
        <p:txBody>
          <a:bodyPr wrap="none" rtlCol="0">
            <a:spAutoFit/>
          </a:bodyPr>
          <a:lstStyle/>
          <a:p>
            <a:r>
              <a:rPr lang="en-US" sz="800" kern="1200" baseline="0" dirty="0">
                <a:solidFill>
                  <a:schemeClr val="bg1">
                    <a:lumMod val="50000"/>
                  </a:schemeClr>
                </a:solidFill>
                <a:latin typeface="Calibri"/>
                <a:ea typeface="+mn-ea"/>
                <a:cs typeface="Calibri"/>
                <a:sym typeface="Wingdings"/>
              </a:rPr>
              <a:t>CALIDAD Y PRUEBAS DE SOFTWARE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09</a:t>
            </a:r>
            <a:endParaRPr lang="en-US" sz="800" dirty="0">
              <a:solidFill>
                <a:schemeClr val="bg1">
                  <a:lumMod val="50000"/>
                </a:schemeClr>
              </a:solidFill>
              <a:latin typeface="Calibri"/>
              <a:cs typeface="Calibri"/>
            </a:endParaRPr>
          </a:p>
        </p:txBody>
      </p:sp>
      <p:pic>
        <p:nvPicPr>
          <p:cNvPr id="8" name="Imagen 7">
            <a:extLst>
              <a:ext uri="{FF2B5EF4-FFF2-40B4-BE49-F238E27FC236}">
                <a16:creationId xmlns:a16="http://schemas.microsoft.com/office/drawing/2014/main" id="{EF0E8433-C545-AC43-9F56-43BCD7269725}"/>
              </a:ext>
            </a:extLst>
          </p:cNvPr>
          <p:cNvPicPr>
            <a:picLocks noChangeAspect="1"/>
          </p:cNvPicPr>
          <p:nvPr userDrawn="1"/>
        </p:nvPicPr>
        <p:blipFill>
          <a:blip r:embed="rId7"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1800" userDrawn="1">
          <p15:clr>
            <a:srgbClr val="F26B43"/>
          </p15:clr>
        </p15:guide>
        <p15:guide id="3" pos="2767" userDrawn="1">
          <p15:clr>
            <a:srgbClr val="F26B43"/>
          </p15:clr>
        </p15:guide>
        <p15:guide id="4" pos="2993" userDrawn="1">
          <p15:clr>
            <a:srgbClr val="F26B43"/>
          </p15:clr>
        </p15:guide>
        <p15:guide id="5" pos="295" userDrawn="1">
          <p15:clr>
            <a:srgbClr val="F26B43"/>
          </p15:clr>
        </p15:guide>
        <p15:guide id="6" pos="408" userDrawn="1">
          <p15:clr>
            <a:srgbClr val="F26B43"/>
          </p15:clr>
        </p15:guide>
        <p15:guide id="7" pos="5465" userDrawn="1">
          <p15:clr>
            <a:srgbClr val="F26B43"/>
          </p15:clr>
        </p15:guide>
        <p15:guide id="8" orient="horz" pos="303" userDrawn="1">
          <p15:clr>
            <a:srgbClr val="F26B43"/>
          </p15:clr>
        </p15:guide>
        <p15:guide id="9" orient="horz" pos="575" userDrawn="1">
          <p15:clr>
            <a:srgbClr val="F26B43"/>
          </p15:clr>
        </p15:guide>
        <p15:guide id="10" orient="horz" pos="32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emf"/></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15.png"/><Relationship Id="rId4" Type="http://schemas.openxmlformats.org/officeDocument/2006/relationships/image" Target="../media/image14.emf"/></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9" name="Rectángulo 8">
            <a:extLst>
              <a:ext uri="{FF2B5EF4-FFF2-40B4-BE49-F238E27FC236}">
                <a16:creationId xmlns:a16="http://schemas.microsoft.com/office/drawing/2014/main" id="{C02DF3AC-3465-D14A-9AA7-A5724668ABDF}"/>
              </a:ext>
            </a:extLst>
          </p:cNvPr>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1" name="CuadroTexto 10">
            <a:extLst>
              <a:ext uri="{FF2B5EF4-FFF2-40B4-BE49-F238E27FC236}">
                <a16:creationId xmlns:a16="http://schemas.microsoft.com/office/drawing/2014/main" id="{9809E7B3-F029-B84F-9191-F32CC3A7AACD}"/>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rgbClr val="6C6D6C"/>
                </a:solidFill>
                <a:latin typeface="Calibri" charset="0"/>
                <a:cs typeface="Calibri" charset="0"/>
              </a:rPr>
              <a:t>CALIDAD Y PRUEBAS DE SOFTWARE</a:t>
            </a:r>
          </a:p>
        </p:txBody>
      </p:sp>
      <p:sp>
        <p:nvSpPr>
          <p:cNvPr id="23" name="Rectángulo 22">
            <a:extLst>
              <a:ext uri="{FF2B5EF4-FFF2-40B4-BE49-F238E27FC236}">
                <a16:creationId xmlns:a16="http://schemas.microsoft.com/office/drawing/2014/main" id="{48FF599E-D087-9847-ABDD-B8DFEBEB446D}"/>
              </a:ext>
            </a:extLst>
          </p:cNvPr>
          <p:cNvSpPr/>
          <p:nvPr/>
        </p:nvSpPr>
        <p:spPr>
          <a:xfrm>
            <a:off x="503239" y="2177570"/>
            <a:ext cx="3056852" cy="830997"/>
          </a:xfrm>
          <a:prstGeom prst="rect">
            <a:avLst/>
          </a:prstGeom>
        </p:spPr>
        <p:txBody>
          <a:bodyPr wrap="square" lIns="0" tIns="0" rIns="0" bIns="0">
            <a:spAutoFit/>
          </a:bodyPr>
          <a:lstStyle/>
          <a:p>
            <a:pPr>
              <a:lnSpc>
                <a:spcPct val="90000"/>
              </a:lnSpc>
            </a:pPr>
            <a:r>
              <a:rPr lang="es-PE" sz="3000" dirty="0">
                <a:latin typeface="Graphik-Medium" charset="0"/>
                <a:ea typeface="Graphik-Medium" charset="0"/>
                <a:cs typeface="Graphik-Medium" charset="0"/>
              </a:rPr>
              <a:t>TÉCNICAS </a:t>
            </a:r>
            <a:br>
              <a:rPr lang="es-PE" sz="3000" dirty="0">
                <a:latin typeface="Graphik-Medium" charset="0"/>
                <a:ea typeface="Graphik-Medium" charset="0"/>
                <a:cs typeface="Graphik-Medium" charset="0"/>
              </a:rPr>
            </a:br>
            <a:r>
              <a:rPr lang="es-PE" sz="3000" b="1" dirty="0">
                <a:latin typeface="Graphik Bold" charset="0"/>
                <a:ea typeface="Graphik Bold" charset="0"/>
                <a:cs typeface="Graphik Bold" charset="0"/>
              </a:rPr>
              <a:t>DINÁMICAS - II</a:t>
            </a:r>
          </a:p>
        </p:txBody>
      </p:sp>
      <p:sp>
        <p:nvSpPr>
          <p:cNvPr id="24" name="Rectángulo 23">
            <a:extLst>
              <a:ext uri="{FF2B5EF4-FFF2-40B4-BE49-F238E27FC236}">
                <a16:creationId xmlns:a16="http://schemas.microsoft.com/office/drawing/2014/main" id="{E1A5123A-EEAE-CF4F-B49F-7B7F95EBC25A}"/>
              </a:ext>
            </a:extLst>
          </p:cNvPr>
          <p:cNvSpPr/>
          <p:nvPr/>
        </p:nvSpPr>
        <p:spPr>
          <a:xfrm>
            <a:off x="503238" y="3219842"/>
            <a:ext cx="2845526" cy="420821"/>
          </a:xfrm>
          <a:prstGeom prst="rect">
            <a:avLst/>
          </a:prstGeom>
        </p:spPr>
        <p:txBody>
          <a:bodyPr wrap="square" lIns="0" tIns="0" rIns="0" bIns="0">
            <a:spAutoFit/>
          </a:bodyPr>
          <a:lstStyle/>
          <a:p>
            <a:pPr marL="177800" lvl="0" indent="-177800">
              <a:lnSpc>
                <a:spcPct val="120000"/>
              </a:lnSpc>
              <a:buClr>
                <a:srgbClr val="4E697E"/>
              </a:buClr>
              <a:buSzPct val="100000"/>
              <a:buFont typeface="Arial"/>
              <a:buChar char="•"/>
            </a:pPr>
            <a:r>
              <a:rPr lang="es-PE" sz="1200" dirty="0">
                <a:latin typeface="Graphik-Medium" charset="0"/>
                <a:sym typeface="Calibri"/>
              </a:rPr>
              <a:t>Técnicas de caja blanca o basadas en la estructura</a:t>
            </a:r>
            <a:endParaRPr lang="es-PE" sz="1200" dirty="0">
              <a:latin typeface="Graphik-Medium" charset="0"/>
            </a:endParaRPr>
          </a:p>
        </p:txBody>
      </p:sp>
      <p:sp>
        <p:nvSpPr>
          <p:cNvPr id="25" name="CuadroTexto 24">
            <a:extLst>
              <a:ext uri="{FF2B5EF4-FFF2-40B4-BE49-F238E27FC236}">
                <a16:creationId xmlns:a16="http://schemas.microsoft.com/office/drawing/2014/main" id="{EADBF6FE-2E96-A248-9102-E2A9997A498D}"/>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4E697E"/>
                </a:solidFill>
                <a:latin typeface="Calibri" charset="0"/>
                <a:ea typeface="Calibri" charset="0"/>
                <a:cs typeface="Calibri" charset="0"/>
              </a:rPr>
              <a:t>TEMA 09</a:t>
            </a:r>
          </a:p>
        </p:txBody>
      </p:sp>
      <p:pic>
        <p:nvPicPr>
          <p:cNvPr id="27" name="Imagen 26">
            <a:extLst>
              <a:ext uri="{FF2B5EF4-FFF2-40B4-BE49-F238E27FC236}">
                <a16:creationId xmlns:a16="http://schemas.microsoft.com/office/drawing/2014/main" id="{C8E5E560-BB64-1A4E-A1C0-F27EFC0B2FE6}"/>
              </a:ext>
            </a:extLst>
          </p:cNvPr>
          <p:cNvPicPr>
            <a:picLocks noChangeAspect="1"/>
          </p:cNvPicPr>
          <p:nvPr/>
        </p:nvPicPr>
        <p:blipFill>
          <a:blip r:embed="rId3"/>
          <a:stretch>
            <a:fillRect/>
          </a:stretch>
        </p:blipFill>
        <p:spPr>
          <a:xfrm>
            <a:off x="507464" y="1883411"/>
            <a:ext cx="166865" cy="170453"/>
          </a:xfrm>
          <a:prstGeom prst="rect">
            <a:avLst/>
          </a:prstGeom>
        </p:spPr>
      </p:pic>
      <p:pic>
        <p:nvPicPr>
          <p:cNvPr id="28" name="Imagen 27">
            <a:extLst>
              <a:ext uri="{FF2B5EF4-FFF2-40B4-BE49-F238E27FC236}">
                <a16:creationId xmlns:a16="http://schemas.microsoft.com/office/drawing/2014/main" id="{3C072776-C448-EF49-8481-10F1BA6B7967}"/>
              </a:ext>
            </a:extLst>
          </p:cNvPr>
          <p:cNvPicPr>
            <a:picLocks noChangeAspect="1"/>
          </p:cNvPicPr>
          <p:nvPr/>
        </p:nvPicPr>
        <p:blipFill>
          <a:blip r:embed="rId4"/>
          <a:stretch>
            <a:fillRect/>
          </a:stretch>
        </p:blipFill>
        <p:spPr>
          <a:xfrm>
            <a:off x="3752850" y="0"/>
            <a:ext cx="5391150" cy="571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8B93000-B0A9-B34D-98EB-AFE1D2A975B2}"/>
              </a:ext>
            </a:extLst>
          </p:cNvPr>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8D2FA3CB-7322-D44B-B70D-FB978B212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4" name="Rectángulo 3">
            <a:extLst>
              <a:ext uri="{FF2B5EF4-FFF2-40B4-BE49-F238E27FC236}">
                <a16:creationId xmlns:a16="http://schemas.microsoft.com/office/drawing/2014/main" id="{3FEB945F-7DCC-424E-BAAF-35E80633D5B7}"/>
              </a:ext>
            </a:extLst>
          </p:cNvPr>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528CCE10-3CE5-D740-BD35-6B16043480FB}"/>
              </a:ext>
            </a:extLst>
          </p:cNvPr>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6" name="Imagen 5">
            <a:extLst>
              <a:ext uri="{FF2B5EF4-FFF2-40B4-BE49-F238E27FC236}">
                <a16:creationId xmlns:a16="http://schemas.microsoft.com/office/drawing/2014/main" id="{44CCEEB0-F6E8-9246-835D-E8E8243E507F}"/>
              </a:ext>
            </a:extLst>
          </p:cNvPr>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7" name="Imagen 6">
            <a:extLst>
              <a:ext uri="{FF2B5EF4-FFF2-40B4-BE49-F238E27FC236}">
                <a16:creationId xmlns:a16="http://schemas.microsoft.com/office/drawing/2014/main" id="{9DCC2EC2-B756-6941-BAAF-C78B5E74F4AC}"/>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2330186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 name="Rectángulo 3">
            <a:extLst>
              <a:ext uri="{FF2B5EF4-FFF2-40B4-BE49-F238E27FC236}">
                <a16:creationId xmlns:a16="http://schemas.microsoft.com/office/drawing/2014/main" id="{F7CEC51B-C4A8-E04B-8D3F-ABC67A9E8C50}"/>
              </a:ext>
            </a:extLst>
          </p:cNvPr>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object 7">
            <a:extLst>
              <a:ext uri="{FF2B5EF4-FFF2-40B4-BE49-F238E27FC236}">
                <a16:creationId xmlns:a16="http://schemas.microsoft.com/office/drawing/2014/main" id="{352B92A9-04DE-0D4E-A466-68B6EBEC2803}"/>
              </a:ext>
            </a:extLst>
          </p:cNvPr>
          <p:cNvSpPr txBox="1"/>
          <p:nvPr/>
        </p:nvSpPr>
        <p:spPr>
          <a:xfrm>
            <a:off x="1282299" y="918372"/>
            <a:ext cx="5200798" cy="861774"/>
          </a:xfrm>
          <a:prstGeom prst="rect">
            <a:avLst/>
          </a:prstGeom>
        </p:spPr>
        <p:txBody>
          <a:bodyPr vert="horz" wrap="square" lIns="0" tIns="0" rIns="0" bIns="0" rtlCol="0">
            <a:spAutoFit/>
          </a:bodyPr>
          <a:lstStyle/>
          <a:p>
            <a:pPr marL="11725" marR="0" lvl="0" indent="0" algn="l" rtl="0">
              <a:spcBef>
                <a:spcPts val="0"/>
              </a:spcBef>
              <a:spcAft>
                <a:spcPts val="0"/>
              </a:spcAft>
              <a:buNone/>
            </a:pPr>
            <a:r>
              <a:rPr lang="es-PE" dirty="0">
                <a:solidFill>
                  <a:srgbClr val="262626"/>
                </a:solidFill>
                <a:latin typeface="Calibri"/>
                <a:ea typeface="Calibri"/>
                <a:cs typeface="Calibri"/>
                <a:sym typeface="Calibri"/>
              </a:rPr>
              <a:t>Durante esta sesión:</a:t>
            </a:r>
            <a:endParaRPr lang="es-PE" dirty="0"/>
          </a:p>
          <a:p>
            <a:pPr marL="177800" lvl="1" indent="-165100">
              <a:buClr>
                <a:srgbClr val="EE4639"/>
              </a:buClr>
              <a:buSzPct val="100000"/>
              <a:buFont typeface="Arial" charset="0"/>
              <a:buChar char="•"/>
              <a:tabLst>
                <a:tab pos="120650" algn="l"/>
              </a:tabLst>
            </a:pPr>
            <a:r>
              <a:rPr lang="es-PE" b="1" spc="-10" dirty="0">
                <a:solidFill>
                  <a:srgbClr val="262626"/>
                </a:solidFill>
                <a:latin typeface="Calibri" charset="0"/>
                <a:cs typeface="Calibri" charset="0"/>
                <a:sym typeface="Calibri"/>
              </a:rPr>
              <a:t>Identificarás </a:t>
            </a:r>
            <a:r>
              <a:rPr lang="es-PE" spc="-10" dirty="0">
                <a:solidFill>
                  <a:srgbClr val="262626"/>
                </a:solidFill>
                <a:latin typeface="Calibri" charset="0"/>
                <a:cs typeface="Calibri" charset="0"/>
                <a:sym typeface="Calibri"/>
              </a:rPr>
              <a:t>las situaciones en donde se debe aplicar las técnicas dinámicas basadas en la estructura (caja blanca).</a:t>
            </a:r>
            <a:endParaRPr lang="es-PE" spc="-10" dirty="0">
              <a:solidFill>
                <a:srgbClr val="262626"/>
              </a:solidFill>
              <a:latin typeface="Calibri" charset="0"/>
              <a:cs typeface="Calibri" charset="0"/>
            </a:endParaRPr>
          </a:p>
          <a:p>
            <a:pPr marL="177800" lvl="1" indent="-165100">
              <a:buClr>
                <a:srgbClr val="EE4639"/>
              </a:buClr>
              <a:buSzPct val="100000"/>
              <a:buFont typeface="Arial" charset="0"/>
              <a:buChar char="•"/>
              <a:tabLst>
                <a:tab pos="120650" algn="l"/>
              </a:tabLst>
            </a:pPr>
            <a:r>
              <a:rPr lang="es-PE" b="1" spc="-10" dirty="0">
                <a:solidFill>
                  <a:srgbClr val="262626"/>
                </a:solidFill>
                <a:latin typeface="Calibri" charset="0"/>
                <a:cs typeface="Calibri" charset="0"/>
                <a:sym typeface="Calibri"/>
              </a:rPr>
              <a:t>Aprenderás</a:t>
            </a:r>
            <a:r>
              <a:rPr lang="es-PE" spc="-10" dirty="0">
                <a:solidFill>
                  <a:srgbClr val="262626"/>
                </a:solidFill>
                <a:latin typeface="Calibri" charset="0"/>
                <a:cs typeface="Calibri" charset="0"/>
                <a:sym typeface="Calibri"/>
              </a:rPr>
              <a:t> a diseñar las pruebas.</a:t>
            </a:r>
            <a:endParaRPr lang="es-PE" spc="-10" dirty="0">
              <a:solidFill>
                <a:srgbClr val="262626"/>
              </a:solidFill>
              <a:latin typeface="Calibri" charset="0"/>
              <a:cs typeface="Calibri" charset="0"/>
            </a:endParaRPr>
          </a:p>
        </p:txBody>
      </p:sp>
      <p:pic>
        <p:nvPicPr>
          <p:cNvPr id="6" name="Imagen 5">
            <a:extLst>
              <a:ext uri="{FF2B5EF4-FFF2-40B4-BE49-F238E27FC236}">
                <a16:creationId xmlns:a16="http://schemas.microsoft.com/office/drawing/2014/main" id="{9F5375F1-C439-9844-BE39-17648D4B6868}"/>
              </a:ext>
            </a:extLst>
          </p:cNvPr>
          <p:cNvPicPr>
            <a:picLocks noChangeAspect="1"/>
          </p:cNvPicPr>
          <p:nvPr/>
        </p:nvPicPr>
        <p:blipFill>
          <a:blip r:embed="rId3"/>
          <a:stretch>
            <a:fillRect/>
          </a:stretch>
        </p:blipFill>
        <p:spPr>
          <a:xfrm>
            <a:off x="1010839" y="954885"/>
            <a:ext cx="117851" cy="121369"/>
          </a:xfrm>
          <a:prstGeom prst="rect">
            <a:avLst/>
          </a:prstGeom>
        </p:spPr>
      </p:pic>
      <p:pic>
        <p:nvPicPr>
          <p:cNvPr id="7" name="Imagen 6">
            <a:extLst>
              <a:ext uri="{FF2B5EF4-FFF2-40B4-BE49-F238E27FC236}">
                <a16:creationId xmlns:a16="http://schemas.microsoft.com/office/drawing/2014/main" id="{7BEB0DB5-4640-D14C-8A48-68CDC0184F71}"/>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8" name="Rectángulo 7">
            <a:extLst>
              <a:ext uri="{FF2B5EF4-FFF2-40B4-BE49-F238E27FC236}">
                <a16:creationId xmlns:a16="http://schemas.microsoft.com/office/drawing/2014/main" id="{463B7EDF-7500-5E44-8C22-2F23D8993EAD}"/>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9" name="Rectangle 5">
            <a:extLst>
              <a:ext uri="{FF2B5EF4-FFF2-40B4-BE49-F238E27FC236}">
                <a16:creationId xmlns:a16="http://schemas.microsoft.com/office/drawing/2014/main" id="{8B3CCAC7-0707-2A48-A546-886878FB95E9}"/>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 name="Rectángulo 3">
            <a:extLst>
              <a:ext uri="{FF2B5EF4-FFF2-40B4-BE49-F238E27FC236}">
                <a16:creationId xmlns:a16="http://schemas.microsoft.com/office/drawing/2014/main" id="{A120EB79-961B-D040-97BB-1803D3DA86D4}"/>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74101332-1519-8848-BD4E-C8838D27A25F}"/>
              </a:ext>
            </a:extLst>
          </p:cNvPr>
          <p:cNvSpPr txBox="1"/>
          <p:nvPr/>
        </p:nvSpPr>
        <p:spPr>
          <a:xfrm>
            <a:off x="1008063" y="3169972"/>
            <a:ext cx="5993558" cy="997196"/>
          </a:xfrm>
          <a:prstGeom prst="rect">
            <a:avLst/>
          </a:prstGeom>
          <a:noFill/>
        </p:spPr>
        <p:txBody>
          <a:bodyPr wrap="square" lIns="0" tIns="0" rIns="0" bIns="0" rtlCol="0">
            <a:spAutoFit/>
          </a:bodyPr>
          <a:lstStyle/>
          <a:p>
            <a:pPr>
              <a:lnSpc>
                <a:spcPct val="90000"/>
              </a:lnSpc>
              <a:spcBef>
                <a:spcPts val="1000"/>
              </a:spcBef>
              <a:defRPr/>
            </a:pPr>
            <a:r>
              <a:rPr lang="es-PE" sz="2400" dirty="0">
                <a:solidFill>
                  <a:schemeClr val="bg1"/>
                </a:solidFill>
                <a:latin typeface="Graphik Regular" charset="0"/>
                <a:ea typeface="Graphik Regular" charset="0"/>
                <a:cs typeface="Graphik Regular" charset="0"/>
              </a:rPr>
              <a:t>TÉCNICAS DE CAJA</a:t>
            </a:r>
            <a:br>
              <a:rPr lang="es-PE" sz="2400" dirty="0">
                <a:solidFill>
                  <a:schemeClr val="bg1"/>
                </a:solidFill>
                <a:latin typeface="Graphik Regular" charset="0"/>
              </a:rPr>
            </a:br>
            <a:r>
              <a:rPr lang="es-PE" sz="2400" b="1" dirty="0">
                <a:solidFill>
                  <a:schemeClr val="bg1"/>
                </a:solidFill>
                <a:latin typeface="Graphik Bold" charset="0"/>
              </a:rPr>
              <a:t>BLANCA O BASADAS</a:t>
            </a:r>
            <a:br>
              <a:rPr lang="es-PE" sz="2400" dirty="0">
                <a:solidFill>
                  <a:schemeClr val="bg1"/>
                </a:solidFill>
                <a:latin typeface="Graphik Regular" charset="0"/>
              </a:rPr>
            </a:br>
            <a:r>
              <a:rPr lang="es-PE" sz="2400" b="1" dirty="0">
                <a:solidFill>
                  <a:schemeClr val="bg1"/>
                </a:solidFill>
                <a:latin typeface="Graphik Bold" charset="0"/>
                <a:ea typeface="Graphik Bold" charset="0"/>
                <a:cs typeface="Graphik Bold" charset="0"/>
              </a:rPr>
              <a:t>EN LA ESTRUCTURA</a:t>
            </a:r>
          </a:p>
        </p:txBody>
      </p:sp>
      <p:pic>
        <p:nvPicPr>
          <p:cNvPr id="6" name="Imagen 5">
            <a:extLst>
              <a:ext uri="{FF2B5EF4-FFF2-40B4-BE49-F238E27FC236}">
                <a16:creationId xmlns:a16="http://schemas.microsoft.com/office/drawing/2014/main" id="{698D4609-E9BD-0A4F-A6E8-C26D3671D7FB}"/>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cxnSp>
        <p:nvCxnSpPr>
          <p:cNvPr id="92" name="Google Shape;92;p4"/>
          <p:cNvCxnSpPr/>
          <p:nvPr/>
        </p:nvCxnSpPr>
        <p:spPr>
          <a:xfrm>
            <a:off x="6602251" y="2680113"/>
            <a:ext cx="0" cy="2359698"/>
          </a:xfrm>
          <a:prstGeom prst="straightConnector1">
            <a:avLst/>
          </a:prstGeom>
          <a:noFill/>
          <a:ln w="25400" cap="flat" cmpd="sng">
            <a:solidFill>
              <a:srgbClr val="EE4639"/>
            </a:solidFill>
            <a:prstDash val="solid"/>
            <a:round/>
            <a:headEnd type="none" w="sm" len="sm"/>
            <a:tailEnd type="none" w="sm" len="sm"/>
          </a:ln>
        </p:spPr>
      </p:cxnSp>
      <p:cxnSp>
        <p:nvCxnSpPr>
          <p:cNvPr id="93" name="Google Shape;93;p4"/>
          <p:cNvCxnSpPr/>
          <p:nvPr/>
        </p:nvCxnSpPr>
        <p:spPr>
          <a:xfrm>
            <a:off x="6602251" y="3001561"/>
            <a:ext cx="227451" cy="0"/>
          </a:xfrm>
          <a:prstGeom prst="straightConnector1">
            <a:avLst/>
          </a:prstGeom>
          <a:noFill/>
          <a:ln w="25400" cap="flat" cmpd="sng">
            <a:solidFill>
              <a:srgbClr val="EE4639"/>
            </a:solidFill>
            <a:prstDash val="solid"/>
            <a:round/>
            <a:headEnd type="none" w="sm" len="sm"/>
            <a:tailEnd type="none" w="sm" len="sm"/>
          </a:ln>
        </p:spPr>
      </p:cxnSp>
      <p:cxnSp>
        <p:nvCxnSpPr>
          <p:cNvPr id="94" name="Google Shape;94;p4"/>
          <p:cNvCxnSpPr/>
          <p:nvPr/>
        </p:nvCxnSpPr>
        <p:spPr>
          <a:xfrm>
            <a:off x="6602251" y="3511332"/>
            <a:ext cx="227451" cy="0"/>
          </a:xfrm>
          <a:prstGeom prst="straightConnector1">
            <a:avLst/>
          </a:prstGeom>
          <a:noFill/>
          <a:ln w="25400" cap="flat" cmpd="sng">
            <a:solidFill>
              <a:srgbClr val="EE4639"/>
            </a:solidFill>
            <a:prstDash val="solid"/>
            <a:round/>
            <a:headEnd type="none" w="sm" len="sm"/>
            <a:tailEnd type="none" w="sm" len="sm"/>
          </a:ln>
        </p:spPr>
      </p:cxnSp>
      <p:cxnSp>
        <p:nvCxnSpPr>
          <p:cNvPr id="95" name="Google Shape;95;p4"/>
          <p:cNvCxnSpPr/>
          <p:nvPr/>
        </p:nvCxnSpPr>
        <p:spPr>
          <a:xfrm>
            <a:off x="6602251" y="4024391"/>
            <a:ext cx="227451" cy="0"/>
          </a:xfrm>
          <a:prstGeom prst="straightConnector1">
            <a:avLst/>
          </a:prstGeom>
          <a:noFill/>
          <a:ln w="25400" cap="flat" cmpd="sng">
            <a:solidFill>
              <a:srgbClr val="EE4639"/>
            </a:solidFill>
            <a:prstDash val="solid"/>
            <a:round/>
            <a:headEnd type="none" w="sm" len="sm"/>
            <a:tailEnd type="none" w="sm" len="sm"/>
          </a:ln>
        </p:spPr>
      </p:cxnSp>
      <p:cxnSp>
        <p:nvCxnSpPr>
          <p:cNvPr id="96" name="Google Shape;96;p4"/>
          <p:cNvCxnSpPr/>
          <p:nvPr/>
        </p:nvCxnSpPr>
        <p:spPr>
          <a:xfrm>
            <a:off x="6602251" y="4538155"/>
            <a:ext cx="227451" cy="0"/>
          </a:xfrm>
          <a:prstGeom prst="straightConnector1">
            <a:avLst/>
          </a:prstGeom>
          <a:noFill/>
          <a:ln w="25400" cap="flat" cmpd="sng">
            <a:solidFill>
              <a:srgbClr val="EE4639"/>
            </a:solidFill>
            <a:prstDash val="solid"/>
            <a:round/>
            <a:headEnd type="none" w="sm" len="sm"/>
            <a:tailEnd type="none" w="sm" len="sm"/>
          </a:ln>
        </p:spPr>
      </p:cxnSp>
      <p:cxnSp>
        <p:nvCxnSpPr>
          <p:cNvPr id="97" name="Google Shape;97;p4"/>
          <p:cNvCxnSpPr/>
          <p:nvPr/>
        </p:nvCxnSpPr>
        <p:spPr>
          <a:xfrm>
            <a:off x="6602251" y="5028983"/>
            <a:ext cx="227451" cy="0"/>
          </a:xfrm>
          <a:prstGeom prst="straightConnector1">
            <a:avLst/>
          </a:prstGeom>
          <a:noFill/>
          <a:ln w="25400" cap="flat" cmpd="sng">
            <a:solidFill>
              <a:srgbClr val="EE4639"/>
            </a:solidFill>
            <a:prstDash val="solid"/>
            <a:round/>
            <a:headEnd type="none" w="sm" len="sm"/>
            <a:tailEnd type="none" w="sm" len="sm"/>
          </a:ln>
        </p:spPr>
      </p:cxnSp>
      <p:cxnSp>
        <p:nvCxnSpPr>
          <p:cNvPr id="84" name="Google Shape;84;p4"/>
          <p:cNvCxnSpPr/>
          <p:nvPr/>
        </p:nvCxnSpPr>
        <p:spPr>
          <a:xfrm>
            <a:off x="3055198" y="2668404"/>
            <a:ext cx="0" cy="1881775"/>
          </a:xfrm>
          <a:prstGeom prst="straightConnector1">
            <a:avLst/>
          </a:prstGeom>
          <a:noFill/>
          <a:ln w="25400" cap="flat" cmpd="sng">
            <a:solidFill>
              <a:srgbClr val="EE4639"/>
            </a:solidFill>
            <a:prstDash val="solid"/>
            <a:round/>
            <a:headEnd type="none" w="sm" len="sm"/>
            <a:tailEnd type="none" w="sm" len="sm"/>
          </a:ln>
        </p:spPr>
      </p:cxnSp>
      <p:cxnSp>
        <p:nvCxnSpPr>
          <p:cNvPr id="85" name="Google Shape;85;p4"/>
          <p:cNvCxnSpPr/>
          <p:nvPr/>
        </p:nvCxnSpPr>
        <p:spPr>
          <a:xfrm>
            <a:off x="3055198" y="3514047"/>
            <a:ext cx="227451" cy="0"/>
          </a:xfrm>
          <a:prstGeom prst="straightConnector1">
            <a:avLst/>
          </a:prstGeom>
          <a:noFill/>
          <a:ln w="25400" cap="flat" cmpd="sng">
            <a:solidFill>
              <a:srgbClr val="EE4639"/>
            </a:solidFill>
            <a:prstDash val="solid"/>
            <a:round/>
            <a:headEnd type="none" w="sm" len="sm"/>
            <a:tailEnd type="none" w="sm" len="sm"/>
          </a:ln>
        </p:spPr>
      </p:cxnSp>
      <p:cxnSp>
        <p:nvCxnSpPr>
          <p:cNvPr id="86" name="Google Shape;86;p4"/>
          <p:cNvCxnSpPr/>
          <p:nvPr/>
        </p:nvCxnSpPr>
        <p:spPr>
          <a:xfrm>
            <a:off x="3055198" y="3001561"/>
            <a:ext cx="227451" cy="0"/>
          </a:xfrm>
          <a:prstGeom prst="straightConnector1">
            <a:avLst/>
          </a:prstGeom>
          <a:noFill/>
          <a:ln w="25400" cap="flat" cmpd="sng">
            <a:solidFill>
              <a:srgbClr val="EE4639"/>
            </a:solidFill>
            <a:prstDash val="solid"/>
            <a:round/>
            <a:headEnd type="none" w="sm" len="sm"/>
            <a:tailEnd type="none" w="sm" len="sm"/>
          </a:ln>
        </p:spPr>
      </p:cxnSp>
      <p:cxnSp>
        <p:nvCxnSpPr>
          <p:cNvPr id="87" name="Google Shape;87;p4"/>
          <p:cNvCxnSpPr/>
          <p:nvPr/>
        </p:nvCxnSpPr>
        <p:spPr>
          <a:xfrm>
            <a:off x="3055198" y="4021103"/>
            <a:ext cx="227451" cy="0"/>
          </a:xfrm>
          <a:prstGeom prst="straightConnector1">
            <a:avLst/>
          </a:prstGeom>
          <a:noFill/>
          <a:ln w="25400" cap="flat" cmpd="sng">
            <a:solidFill>
              <a:srgbClr val="EE4639"/>
            </a:solidFill>
            <a:prstDash val="solid"/>
            <a:round/>
            <a:headEnd type="none" w="sm" len="sm"/>
            <a:tailEnd type="none" w="sm" len="sm"/>
          </a:ln>
        </p:spPr>
      </p:cxnSp>
      <p:cxnSp>
        <p:nvCxnSpPr>
          <p:cNvPr id="88" name="Google Shape;88;p4"/>
          <p:cNvCxnSpPr/>
          <p:nvPr/>
        </p:nvCxnSpPr>
        <p:spPr>
          <a:xfrm>
            <a:off x="3055198" y="4540300"/>
            <a:ext cx="227451" cy="0"/>
          </a:xfrm>
          <a:prstGeom prst="straightConnector1">
            <a:avLst/>
          </a:prstGeom>
          <a:noFill/>
          <a:ln w="25400" cap="flat" cmpd="sng">
            <a:solidFill>
              <a:srgbClr val="EE4639"/>
            </a:solidFill>
            <a:prstDash val="solid"/>
            <a:round/>
            <a:headEnd type="none" w="sm" len="sm"/>
            <a:tailEnd type="none" w="sm" len="sm"/>
          </a:ln>
        </p:spPr>
      </p:cxnSp>
      <p:cxnSp>
        <p:nvCxnSpPr>
          <p:cNvPr id="55" name="Google Shape;55;p4"/>
          <p:cNvCxnSpPr/>
          <p:nvPr/>
        </p:nvCxnSpPr>
        <p:spPr>
          <a:xfrm>
            <a:off x="4812071" y="2680113"/>
            <a:ext cx="0" cy="842928"/>
          </a:xfrm>
          <a:prstGeom prst="straightConnector1">
            <a:avLst/>
          </a:prstGeom>
          <a:noFill/>
          <a:ln w="25400" cap="flat" cmpd="sng">
            <a:solidFill>
              <a:srgbClr val="EE4639"/>
            </a:solidFill>
            <a:prstDash val="solid"/>
            <a:round/>
            <a:headEnd type="none" w="sm" len="sm"/>
            <a:tailEnd type="none" w="sm" len="sm"/>
          </a:ln>
        </p:spPr>
      </p:cxnSp>
      <p:cxnSp>
        <p:nvCxnSpPr>
          <p:cNvPr id="90" name="Google Shape;90;p4"/>
          <p:cNvCxnSpPr/>
          <p:nvPr/>
        </p:nvCxnSpPr>
        <p:spPr>
          <a:xfrm>
            <a:off x="4812071" y="3001561"/>
            <a:ext cx="227451" cy="0"/>
          </a:xfrm>
          <a:prstGeom prst="straightConnector1">
            <a:avLst/>
          </a:prstGeom>
          <a:noFill/>
          <a:ln w="25400" cap="flat" cmpd="sng">
            <a:solidFill>
              <a:srgbClr val="EE4639"/>
            </a:solidFill>
            <a:prstDash val="solid"/>
            <a:round/>
            <a:headEnd type="none" w="sm" len="sm"/>
            <a:tailEnd type="none" w="sm" len="sm"/>
          </a:ln>
        </p:spPr>
      </p:cxnSp>
      <p:cxnSp>
        <p:nvCxnSpPr>
          <p:cNvPr id="91" name="Google Shape;91;p4"/>
          <p:cNvCxnSpPr/>
          <p:nvPr/>
        </p:nvCxnSpPr>
        <p:spPr>
          <a:xfrm>
            <a:off x="4812071" y="3511332"/>
            <a:ext cx="227451" cy="0"/>
          </a:xfrm>
          <a:prstGeom prst="straightConnector1">
            <a:avLst/>
          </a:prstGeom>
          <a:noFill/>
          <a:ln w="25400" cap="flat" cmpd="sng">
            <a:solidFill>
              <a:srgbClr val="EE4639"/>
            </a:solidFill>
            <a:prstDash val="solid"/>
            <a:round/>
            <a:headEnd type="none" w="sm" len="sm"/>
            <a:tailEnd type="none" w="sm" len="sm"/>
          </a:ln>
        </p:spPr>
      </p:cxnSp>
      <p:sp>
        <p:nvSpPr>
          <p:cNvPr id="123" name="Forma libre 122">
            <a:extLst>
              <a:ext uri="{FF2B5EF4-FFF2-40B4-BE49-F238E27FC236}">
                <a16:creationId xmlns:a16="http://schemas.microsoft.com/office/drawing/2014/main" id="{F569C102-B38C-364D-A98D-CD0F44DA10B8}"/>
              </a:ext>
            </a:extLst>
          </p:cNvPr>
          <p:cNvSpPr/>
          <p:nvPr/>
        </p:nvSpPr>
        <p:spPr>
          <a:xfrm>
            <a:off x="796798" y="1976717"/>
            <a:ext cx="218455" cy="2573461"/>
          </a:xfrm>
          <a:custGeom>
            <a:avLst/>
            <a:gdLst>
              <a:gd name="connsiteX0" fmla="*/ 0 w 141194"/>
              <a:gd name="connsiteY0" fmla="*/ 0 h 2447364"/>
              <a:gd name="connsiteX1" fmla="*/ 0 w 141194"/>
              <a:gd name="connsiteY1" fmla="*/ 2447364 h 2447364"/>
              <a:gd name="connsiteX2" fmla="*/ 141194 w 141194"/>
              <a:gd name="connsiteY2" fmla="*/ 2447364 h 2447364"/>
            </a:gdLst>
            <a:ahLst/>
            <a:cxnLst>
              <a:cxn ang="0">
                <a:pos x="connsiteX0" y="connsiteY0"/>
              </a:cxn>
              <a:cxn ang="0">
                <a:pos x="connsiteX1" y="connsiteY1"/>
              </a:cxn>
              <a:cxn ang="0">
                <a:pos x="connsiteX2" y="connsiteY2"/>
              </a:cxn>
            </a:cxnLst>
            <a:rect l="l" t="t" r="r" b="b"/>
            <a:pathLst>
              <a:path w="141194" h="2447364">
                <a:moveTo>
                  <a:pt x="0" y="0"/>
                </a:moveTo>
                <a:lnTo>
                  <a:pt x="0" y="2447364"/>
                </a:lnTo>
                <a:lnTo>
                  <a:pt x="141194" y="2447364"/>
                </a:lnTo>
              </a:path>
            </a:pathLst>
          </a:custGeom>
          <a:noFill/>
          <a:ln>
            <a:solidFill>
              <a:srgbClr val="92C1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77" name="Google Shape;77;p4"/>
          <p:cNvCxnSpPr/>
          <p:nvPr/>
        </p:nvCxnSpPr>
        <p:spPr>
          <a:xfrm rot="10800000">
            <a:off x="3643823" y="1458924"/>
            <a:ext cx="0" cy="165383"/>
          </a:xfrm>
          <a:prstGeom prst="straightConnector1">
            <a:avLst/>
          </a:prstGeom>
          <a:noFill/>
          <a:ln w="25400" cap="flat" cmpd="sng">
            <a:solidFill>
              <a:srgbClr val="EE4639"/>
            </a:solidFill>
            <a:prstDash val="solid"/>
            <a:round/>
            <a:headEnd type="none" w="sm" len="sm"/>
            <a:tailEnd type="none" w="sm" len="sm"/>
          </a:ln>
        </p:spPr>
      </p:cxnSp>
      <p:sp>
        <p:nvSpPr>
          <p:cNvPr id="57" name="Google Shape;57;p4"/>
          <p:cNvSpPr/>
          <p:nvPr/>
        </p:nvSpPr>
        <p:spPr>
          <a:xfrm>
            <a:off x="757268" y="1720700"/>
            <a:ext cx="1398713" cy="38835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Estáticas</a:t>
            </a:r>
            <a:endParaRPr sz="1500"/>
          </a:p>
        </p:txBody>
      </p:sp>
      <p:sp>
        <p:nvSpPr>
          <p:cNvPr id="58" name="Google Shape;58;p4"/>
          <p:cNvSpPr/>
          <p:nvPr/>
        </p:nvSpPr>
        <p:spPr>
          <a:xfrm>
            <a:off x="1017054" y="2297615"/>
            <a:ext cx="1398713" cy="388353"/>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lt1"/>
                </a:solidFill>
                <a:latin typeface="Calibri"/>
                <a:ea typeface="Calibri"/>
                <a:cs typeface="Calibri"/>
                <a:sym typeface="Calibri"/>
              </a:rPr>
              <a:t>Revisiones</a:t>
            </a:r>
            <a:endParaRPr sz="1200"/>
          </a:p>
        </p:txBody>
      </p:sp>
      <p:sp>
        <p:nvSpPr>
          <p:cNvPr id="59" name="Google Shape;59;p4"/>
          <p:cNvSpPr/>
          <p:nvPr/>
        </p:nvSpPr>
        <p:spPr>
          <a:xfrm>
            <a:off x="1017054" y="2807386"/>
            <a:ext cx="1398713" cy="388353"/>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lt1"/>
                </a:solidFill>
                <a:latin typeface="Calibri"/>
                <a:ea typeface="Calibri"/>
                <a:cs typeface="Calibri"/>
                <a:sym typeface="Calibri"/>
              </a:rPr>
              <a:t>Walkthoughs</a:t>
            </a:r>
            <a:endParaRPr sz="1200"/>
          </a:p>
        </p:txBody>
      </p:sp>
      <p:sp>
        <p:nvSpPr>
          <p:cNvPr id="60" name="Google Shape;60;p4"/>
          <p:cNvSpPr/>
          <p:nvPr/>
        </p:nvSpPr>
        <p:spPr>
          <a:xfrm>
            <a:off x="1017054" y="3317157"/>
            <a:ext cx="1398713" cy="388353"/>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lt1"/>
                </a:solidFill>
                <a:latin typeface="Calibri"/>
                <a:ea typeface="Calibri"/>
                <a:cs typeface="Calibri"/>
                <a:sym typeface="Calibri"/>
              </a:rPr>
              <a:t>Revisión Técnica</a:t>
            </a:r>
            <a:endParaRPr sz="1200"/>
          </a:p>
        </p:txBody>
      </p:sp>
      <p:sp>
        <p:nvSpPr>
          <p:cNvPr id="61" name="Google Shape;61;p4"/>
          <p:cNvSpPr/>
          <p:nvPr/>
        </p:nvSpPr>
        <p:spPr>
          <a:xfrm>
            <a:off x="1017054" y="3826928"/>
            <a:ext cx="1398713" cy="388353"/>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lt1"/>
                </a:solidFill>
                <a:latin typeface="Calibri"/>
                <a:ea typeface="Calibri"/>
                <a:cs typeface="Calibri"/>
                <a:sym typeface="Calibri"/>
              </a:rPr>
              <a:t>Inspección</a:t>
            </a:r>
            <a:endParaRPr sz="1200"/>
          </a:p>
        </p:txBody>
      </p:sp>
      <p:sp>
        <p:nvSpPr>
          <p:cNvPr id="62" name="Google Shape;62;p4"/>
          <p:cNvSpPr/>
          <p:nvPr/>
        </p:nvSpPr>
        <p:spPr>
          <a:xfrm>
            <a:off x="1017054" y="4336698"/>
            <a:ext cx="1398713" cy="388353"/>
          </a:xfrm>
          <a:prstGeom prst="roundRect">
            <a:avLst>
              <a:gd name="adj" fmla="val 16667"/>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lt1"/>
                </a:solidFill>
                <a:latin typeface="Calibri"/>
                <a:ea typeface="Calibri"/>
                <a:cs typeface="Calibri"/>
                <a:sym typeface="Calibri"/>
              </a:rPr>
              <a:t>Análisis Estático</a:t>
            </a:r>
            <a:endParaRPr sz="1200"/>
          </a:p>
        </p:txBody>
      </p:sp>
      <p:sp>
        <p:nvSpPr>
          <p:cNvPr id="63" name="Google Shape;63;p4"/>
          <p:cNvSpPr/>
          <p:nvPr/>
        </p:nvSpPr>
        <p:spPr>
          <a:xfrm>
            <a:off x="4768014" y="2297614"/>
            <a:ext cx="1398713" cy="388353"/>
          </a:xfrm>
          <a:prstGeom prst="roundRect">
            <a:avLst>
              <a:gd name="adj" fmla="val 16667"/>
            </a:avLst>
          </a:prstGeom>
          <a:solidFill>
            <a:srgbClr val="7150A0"/>
          </a:solidFill>
          <a:ln w="28575" cap="flat" cmpd="sng">
            <a:solidFill>
              <a:srgbClr val="67529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Experiencia</a:t>
            </a:r>
            <a:endParaRPr sz="1500"/>
          </a:p>
        </p:txBody>
      </p:sp>
      <p:sp>
        <p:nvSpPr>
          <p:cNvPr id="65" name="Google Shape;65;p4"/>
          <p:cNvSpPr/>
          <p:nvPr/>
        </p:nvSpPr>
        <p:spPr>
          <a:xfrm>
            <a:off x="3174844" y="2807386"/>
            <a:ext cx="1476377"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Sentencias</a:t>
            </a:r>
            <a:endParaRPr sz="1200">
              <a:solidFill>
                <a:schemeClr val="tx1"/>
              </a:solidFill>
            </a:endParaRPr>
          </a:p>
        </p:txBody>
      </p:sp>
      <p:sp>
        <p:nvSpPr>
          <p:cNvPr id="66" name="Google Shape;66;p4"/>
          <p:cNvSpPr/>
          <p:nvPr/>
        </p:nvSpPr>
        <p:spPr>
          <a:xfrm>
            <a:off x="3174844" y="3317156"/>
            <a:ext cx="1476377"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Decisión</a:t>
            </a:r>
            <a:endParaRPr sz="1200">
              <a:solidFill>
                <a:schemeClr val="tx1"/>
              </a:solidFill>
            </a:endParaRPr>
          </a:p>
        </p:txBody>
      </p:sp>
      <p:sp>
        <p:nvSpPr>
          <p:cNvPr id="67" name="Google Shape;67;p4"/>
          <p:cNvSpPr/>
          <p:nvPr/>
        </p:nvSpPr>
        <p:spPr>
          <a:xfrm>
            <a:off x="3174844" y="3826927"/>
            <a:ext cx="1476377"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Condición</a:t>
            </a:r>
            <a:endParaRPr sz="1200">
              <a:solidFill>
                <a:schemeClr val="tx1"/>
              </a:solidFill>
            </a:endParaRPr>
          </a:p>
        </p:txBody>
      </p:sp>
      <p:sp>
        <p:nvSpPr>
          <p:cNvPr id="68" name="Google Shape;68;p4"/>
          <p:cNvSpPr/>
          <p:nvPr/>
        </p:nvSpPr>
        <p:spPr>
          <a:xfrm>
            <a:off x="3174843" y="4336281"/>
            <a:ext cx="1476378"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Múltiple Condición</a:t>
            </a:r>
            <a:endParaRPr sz="1200">
              <a:solidFill>
                <a:schemeClr val="tx1"/>
              </a:solidFill>
            </a:endParaRPr>
          </a:p>
        </p:txBody>
      </p:sp>
      <p:sp>
        <p:nvSpPr>
          <p:cNvPr id="69" name="Google Shape;69;p4"/>
          <p:cNvSpPr/>
          <p:nvPr/>
        </p:nvSpPr>
        <p:spPr>
          <a:xfrm>
            <a:off x="4953846" y="2807386"/>
            <a:ext cx="1476377"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Adivinar Errores</a:t>
            </a:r>
            <a:endParaRPr sz="1200">
              <a:solidFill>
                <a:schemeClr val="tx1"/>
              </a:solidFill>
            </a:endParaRPr>
          </a:p>
        </p:txBody>
      </p:sp>
      <p:sp>
        <p:nvSpPr>
          <p:cNvPr id="70" name="Google Shape;70;p4"/>
          <p:cNvSpPr/>
          <p:nvPr/>
        </p:nvSpPr>
        <p:spPr>
          <a:xfrm>
            <a:off x="4953846" y="3317156"/>
            <a:ext cx="1476377"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Prueba Exploratoria</a:t>
            </a:r>
            <a:endParaRPr sz="1200">
              <a:solidFill>
                <a:schemeClr val="tx1"/>
              </a:solidFill>
            </a:endParaRPr>
          </a:p>
        </p:txBody>
      </p:sp>
      <p:sp>
        <p:nvSpPr>
          <p:cNvPr id="71" name="Google Shape;71;p4"/>
          <p:cNvSpPr/>
          <p:nvPr/>
        </p:nvSpPr>
        <p:spPr>
          <a:xfrm>
            <a:off x="6774281" y="2806969"/>
            <a:ext cx="1476377" cy="388770"/>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dirty="0">
                <a:solidFill>
                  <a:schemeClr val="tx1"/>
                </a:solidFill>
                <a:latin typeface="Calibri"/>
                <a:ea typeface="Calibri"/>
                <a:cs typeface="Calibri"/>
                <a:sym typeface="Calibri"/>
              </a:rPr>
              <a:t>Participación de Equivalencia</a:t>
            </a:r>
            <a:endParaRPr sz="1200" dirty="0">
              <a:solidFill>
                <a:schemeClr val="tx1"/>
              </a:solidFill>
            </a:endParaRPr>
          </a:p>
        </p:txBody>
      </p:sp>
      <p:sp>
        <p:nvSpPr>
          <p:cNvPr id="72" name="Google Shape;72;p4"/>
          <p:cNvSpPr/>
          <p:nvPr/>
        </p:nvSpPr>
        <p:spPr>
          <a:xfrm>
            <a:off x="6774281" y="3305912"/>
            <a:ext cx="1476377" cy="399597"/>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Análisis de Valores de Frontera</a:t>
            </a:r>
            <a:endParaRPr sz="1200">
              <a:solidFill>
                <a:schemeClr val="tx1"/>
              </a:solidFill>
            </a:endParaRPr>
          </a:p>
        </p:txBody>
      </p:sp>
      <p:sp>
        <p:nvSpPr>
          <p:cNvPr id="73" name="Google Shape;73;p4"/>
          <p:cNvSpPr/>
          <p:nvPr/>
        </p:nvSpPr>
        <p:spPr>
          <a:xfrm>
            <a:off x="6774281" y="3826927"/>
            <a:ext cx="1476377"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Tablas de Decisión</a:t>
            </a:r>
            <a:endParaRPr sz="1200">
              <a:solidFill>
                <a:schemeClr val="tx1"/>
              </a:solidFill>
            </a:endParaRPr>
          </a:p>
        </p:txBody>
      </p:sp>
      <p:sp>
        <p:nvSpPr>
          <p:cNvPr id="74" name="Google Shape;74;p4"/>
          <p:cNvSpPr/>
          <p:nvPr/>
        </p:nvSpPr>
        <p:spPr>
          <a:xfrm>
            <a:off x="6774280" y="4336281"/>
            <a:ext cx="1476378"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Estados de Transición</a:t>
            </a:r>
            <a:endParaRPr sz="1200">
              <a:solidFill>
                <a:schemeClr val="tx1"/>
              </a:solidFill>
            </a:endParaRPr>
          </a:p>
        </p:txBody>
      </p:sp>
      <p:sp>
        <p:nvSpPr>
          <p:cNvPr id="75" name="Google Shape;75;p4"/>
          <p:cNvSpPr/>
          <p:nvPr/>
        </p:nvSpPr>
        <p:spPr>
          <a:xfrm>
            <a:off x="6774280" y="4845635"/>
            <a:ext cx="1476378" cy="388353"/>
          </a:xfrm>
          <a:prstGeom prst="roundRect">
            <a:avLst>
              <a:gd name="adj" fmla="val 16667"/>
            </a:avLst>
          </a:prstGeom>
          <a:solidFill>
            <a:srgbClr val="FFD8D4"/>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None/>
            </a:pPr>
            <a:r>
              <a:rPr lang="es-PE" sz="1200">
                <a:solidFill>
                  <a:schemeClr val="tx1"/>
                </a:solidFill>
                <a:latin typeface="Calibri"/>
                <a:ea typeface="Calibri"/>
                <a:cs typeface="Calibri"/>
                <a:sym typeface="Calibri"/>
              </a:rPr>
              <a:t>Casos de Usos</a:t>
            </a:r>
            <a:endParaRPr sz="1200">
              <a:solidFill>
                <a:schemeClr val="tx1"/>
              </a:solidFill>
            </a:endParaRPr>
          </a:p>
        </p:txBody>
      </p:sp>
      <p:cxnSp>
        <p:nvCxnSpPr>
          <p:cNvPr id="80" name="Google Shape;80;p4"/>
          <p:cNvCxnSpPr/>
          <p:nvPr/>
        </p:nvCxnSpPr>
        <p:spPr>
          <a:xfrm>
            <a:off x="796798" y="4021103"/>
            <a:ext cx="227451" cy="0"/>
          </a:xfrm>
          <a:prstGeom prst="straightConnector1">
            <a:avLst/>
          </a:prstGeom>
          <a:noFill/>
          <a:ln w="25400" cap="flat" cmpd="sng">
            <a:solidFill>
              <a:srgbClr val="92C14E"/>
            </a:solidFill>
            <a:prstDash val="solid"/>
            <a:round/>
            <a:headEnd type="none" w="sm" len="sm"/>
            <a:tailEnd type="none" w="sm" len="sm"/>
          </a:ln>
        </p:spPr>
      </p:cxnSp>
      <p:cxnSp>
        <p:nvCxnSpPr>
          <p:cNvPr id="81" name="Google Shape;81;p4"/>
          <p:cNvCxnSpPr/>
          <p:nvPr/>
        </p:nvCxnSpPr>
        <p:spPr>
          <a:xfrm>
            <a:off x="796798" y="3511332"/>
            <a:ext cx="227451" cy="0"/>
          </a:xfrm>
          <a:prstGeom prst="straightConnector1">
            <a:avLst/>
          </a:prstGeom>
          <a:noFill/>
          <a:ln w="25400" cap="flat" cmpd="sng">
            <a:solidFill>
              <a:srgbClr val="92C14E"/>
            </a:solidFill>
            <a:prstDash val="solid"/>
            <a:round/>
            <a:headEnd type="none" w="sm" len="sm"/>
            <a:tailEnd type="none" w="sm" len="sm"/>
          </a:ln>
        </p:spPr>
      </p:cxnSp>
      <p:cxnSp>
        <p:nvCxnSpPr>
          <p:cNvPr id="82" name="Google Shape;82;p4"/>
          <p:cNvCxnSpPr/>
          <p:nvPr/>
        </p:nvCxnSpPr>
        <p:spPr>
          <a:xfrm>
            <a:off x="796798" y="3004276"/>
            <a:ext cx="227451" cy="0"/>
          </a:xfrm>
          <a:prstGeom prst="straightConnector1">
            <a:avLst/>
          </a:prstGeom>
          <a:noFill/>
          <a:ln w="25400" cap="flat" cmpd="sng">
            <a:solidFill>
              <a:srgbClr val="92C14E"/>
            </a:solidFill>
            <a:prstDash val="solid"/>
            <a:round/>
            <a:headEnd type="none" w="sm" len="sm"/>
            <a:tailEnd type="none" w="sm" len="sm"/>
          </a:ln>
        </p:spPr>
      </p:cxnSp>
      <p:cxnSp>
        <p:nvCxnSpPr>
          <p:cNvPr id="83" name="Google Shape;83;p4"/>
          <p:cNvCxnSpPr/>
          <p:nvPr/>
        </p:nvCxnSpPr>
        <p:spPr>
          <a:xfrm>
            <a:off x="796798" y="2491790"/>
            <a:ext cx="227451" cy="0"/>
          </a:xfrm>
          <a:prstGeom prst="straightConnector1">
            <a:avLst/>
          </a:prstGeom>
          <a:noFill/>
          <a:ln w="25400" cap="flat" cmpd="sng">
            <a:solidFill>
              <a:srgbClr val="92C14E"/>
            </a:solidFill>
            <a:prstDash val="solid"/>
            <a:round/>
            <a:headEnd type="none" w="sm" len="sm"/>
            <a:tailEnd type="none" w="sm" len="sm"/>
          </a:ln>
        </p:spPr>
      </p:cxnSp>
      <p:cxnSp>
        <p:nvCxnSpPr>
          <p:cNvPr id="99" name="Google Shape;99;p4"/>
          <p:cNvCxnSpPr/>
          <p:nvPr/>
        </p:nvCxnSpPr>
        <p:spPr>
          <a:xfrm rot="10800000">
            <a:off x="5519112" y="2048081"/>
            <a:ext cx="0" cy="152477"/>
          </a:xfrm>
          <a:prstGeom prst="straightConnector1">
            <a:avLst/>
          </a:prstGeom>
          <a:noFill/>
          <a:ln w="25400" cap="flat" cmpd="sng">
            <a:solidFill>
              <a:srgbClr val="92C14E"/>
            </a:solidFill>
            <a:prstDash val="solid"/>
            <a:round/>
            <a:headEnd type="none" w="sm" len="sm"/>
            <a:tailEnd type="none" w="sm" len="sm"/>
          </a:ln>
        </p:spPr>
      </p:cxnSp>
      <p:sp>
        <p:nvSpPr>
          <p:cNvPr id="100" name="Google Shape;100;p4"/>
          <p:cNvSpPr/>
          <p:nvPr/>
        </p:nvSpPr>
        <p:spPr>
          <a:xfrm>
            <a:off x="4839520" y="1726176"/>
            <a:ext cx="1359182" cy="38835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Dinámicas</a:t>
            </a:r>
            <a:endParaRPr sz="1500"/>
          </a:p>
        </p:txBody>
      </p:sp>
      <p:sp>
        <p:nvSpPr>
          <p:cNvPr id="102" name="Google Shape;102;p4"/>
          <p:cNvSpPr/>
          <p:nvPr/>
        </p:nvSpPr>
        <p:spPr>
          <a:xfrm>
            <a:off x="524504" y="919046"/>
            <a:ext cx="269626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TÉCNICAS DINÁMICAS </a:t>
            </a:r>
            <a:endParaRPr dirty="0"/>
          </a:p>
        </p:txBody>
      </p:sp>
      <p:sp>
        <p:nvSpPr>
          <p:cNvPr id="50" name="Rectangle 5">
            <a:extLst>
              <a:ext uri="{FF2B5EF4-FFF2-40B4-BE49-F238E27FC236}">
                <a16:creationId xmlns:a16="http://schemas.microsoft.com/office/drawing/2014/main" id="{A053E969-FD1C-BF41-A809-3A14B7B5E8B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51" name="Grupo 50">
            <a:extLst>
              <a:ext uri="{FF2B5EF4-FFF2-40B4-BE49-F238E27FC236}">
                <a16:creationId xmlns:a16="http://schemas.microsoft.com/office/drawing/2014/main" id="{3A7A9ABD-E3C3-D34B-BD83-80DAEF400677}"/>
              </a:ext>
            </a:extLst>
          </p:cNvPr>
          <p:cNvGrpSpPr/>
          <p:nvPr/>
        </p:nvGrpSpPr>
        <p:grpSpPr>
          <a:xfrm>
            <a:off x="2415767" y="1145901"/>
            <a:ext cx="2438589" cy="379672"/>
            <a:chOff x="287221" y="917244"/>
            <a:chExt cx="2980979" cy="500394"/>
          </a:xfrm>
        </p:grpSpPr>
        <p:sp>
          <p:nvSpPr>
            <p:cNvPr id="52" name="Rectángulo redondeado 51">
              <a:extLst>
                <a:ext uri="{FF2B5EF4-FFF2-40B4-BE49-F238E27FC236}">
                  <a16:creationId xmlns:a16="http://schemas.microsoft.com/office/drawing/2014/main" id="{6C088B50-5140-3A4B-B0B0-4005A0F8317B}"/>
                </a:ext>
              </a:extLst>
            </p:cNvPr>
            <p:cNvSpPr/>
            <p:nvPr/>
          </p:nvSpPr>
          <p:spPr>
            <a:xfrm>
              <a:off x="503237" y="917244"/>
              <a:ext cx="2764963"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300" b="1" dirty="0">
                  <a:solidFill>
                    <a:schemeClr val="lt1"/>
                  </a:solidFill>
                  <a:latin typeface="Calibri" charset="0"/>
                  <a:ea typeface="+mn-ea"/>
                  <a:cs typeface="Calibri" charset="0"/>
                  <a:sym typeface="Calibri"/>
                </a:rPr>
                <a:t>Técnicas de Pruebas</a:t>
              </a:r>
              <a:endParaRPr lang="es-PE" sz="1300" b="1" dirty="0">
                <a:solidFill>
                  <a:schemeClr val="lt1"/>
                </a:solidFill>
                <a:latin typeface="Calibri" charset="0"/>
                <a:ea typeface="+mn-ea"/>
                <a:cs typeface="Calibri" charset="0"/>
              </a:endParaRPr>
            </a:p>
          </p:txBody>
        </p:sp>
        <p:grpSp>
          <p:nvGrpSpPr>
            <p:cNvPr id="53" name="Agrupar 14">
              <a:extLst>
                <a:ext uri="{FF2B5EF4-FFF2-40B4-BE49-F238E27FC236}">
                  <a16:creationId xmlns:a16="http://schemas.microsoft.com/office/drawing/2014/main" id="{BEB65C60-E29D-C841-B6FD-8CE47016E67A}"/>
                </a:ext>
              </a:extLst>
            </p:cNvPr>
            <p:cNvGrpSpPr/>
            <p:nvPr/>
          </p:nvGrpSpPr>
          <p:grpSpPr>
            <a:xfrm>
              <a:off x="287221" y="965530"/>
              <a:ext cx="459474" cy="403823"/>
              <a:chOff x="5892512" y="2805541"/>
              <a:chExt cx="459474" cy="403823"/>
            </a:xfrm>
          </p:grpSpPr>
          <p:sp>
            <p:nvSpPr>
              <p:cNvPr id="54" name="Elipse 53">
                <a:extLst>
                  <a:ext uri="{FF2B5EF4-FFF2-40B4-BE49-F238E27FC236}">
                    <a16:creationId xmlns:a16="http://schemas.microsoft.com/office/drawing/2014/main" id="{79B63CAB-2501-2C48-BEEA-AC8CCF1E54BC}"/>
                  </a:ext>
                </a:extLst>
              </p:cNvPr>
              <p:cNvSpPr/>
              <p:nvPr/>
            </p:nvSpPr>
            <p:spPr>
              <a:xfrm>
                <a:off x="5956277" y="2824919"/>
                <a:ext cx="395709" cy="376075"/>
              </a:xfrm>
              <a:prstGeom prst="ellipse">
                <a:avLst/>
              </a:prstGeom>
              <a:solidFill>
                <a:srgbClr val="079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3" name="Elipse 102">
                <a:extLst>
                  <a:ext uri="{FF2B5EF4-FFF2-40B4-BE49-F238E27FC236}">
                    <a16:creationId xmlns:a16="http://schemas.microsoft.com/office/drawing/2014/main" id="{77CCB541-7BCE-C44D-A2CD-577DAC544A59}"/>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4" name="Triángulo 103">
                <a:extLst>
                  <a:ext uri="{FF2B5EF4-FFF2-40B4-BE49-F238E27FC236}">
                    <a16:creationId xmlns:a16="http://schemas.microsoft.com/office/drawing/2014/main" id="{4A5B58D0-C9A5-0547-8DB3-EE603D00AE8E}"/>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05" name="Forma libre 104">
            <a:extLst>
              <a:ext uri="{FF2B5EF4-FFF2-40B4-BE49-F238E27FC236}">
                <a16:creationId xmlns:a16="http://schemas.microsoft.com/office/drawing/2014/main" id="{0639D1C9-14AC-BE4E-8207-0F9076D735DB}"/>
              </a:ext>
            </a:extLst>
          </p:cNvPr>
          <p:cNvSpPr/>
          <p:nvPr/>
        </p:nvSpPr>
        <p:spPr>
          <a:xfrm>
            <a:off x="1387744" y="1624480"/>
            <a:ext cx="4191165" cy="110258"/>
          </a:xfrm>
          <a:custGeom>
            <a:avLst/>
            <a:gdLst>
              <a:gd name="connsiteX0" fmla="*/ 0 w 4229100"/>
              <a:gd name="connsiteY0" fmla="*/ 121023 h 134470"/>
              <a:gd name="connsiteX1" fmla="*/ 0 w 4229100"/>
              <a:gd name="connsiteY1" fmla="*/ 0 h 134470"/>
              <a:gd name="connsiteX2" fmla="*/ 4229100 w 4229100"/>
              <a:gd name="connsiteY2" fmla="*/ 0 h 134470"/>
              <a:gd name="connsiteX3" fmla="*/ 4229100 w 4229100"/>
              <a:gd name="connsiteY3" fmla="*/ 134470 h 134470"/>
            </a:gdLst>
            <a:ahLst/>
            <a:cxnLst>
              <a:cxn ang="0">
                <a:pos x="connsiteX0" y="connsiteY0"/>
              </a:cxn>
              <a:cxn ang="0">
                <a:pos x="connsiteX1" y="connsiteY1"/>
              </a:cxn>
              <a:cxn ang="0">
                <a:pos x="connsiteX2" y="connsiteY2"/>
              </a:cxn>
              <a:cxn ang="0">
                <a:pos x="connsiteX3" y="connsiteY3"/>
              </a:cxn>
            </a:cxnLst>
            <a:rect l="l" t="t" r="r" b="b"/>
            <a:pathLst>
              <a:path w="4229100" h="134470">
                <a:moveTo>
                  <a:pt x="0" y="121023"/>
                </a:moveTo>
                <a:lnTo>
                  <a:pt x="0" y="0"/>
                </a:lnTo>
                <a:lnTo>
                  <a:pt x="4229100" y="0"/>
                </a:lnTo>
                <a:lnTo>
                  <a:pt x="4229100" y="134470"/>
                </a:lnTo>
              </a:path>
            </a:pathLst>
          </a:custGeom>
          <a:noFill/>
          <a:ln>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4" name="Forma libre 123">
            <a:extLst>
              <a:ext uri="{FF2B5EF4-FFF2-40B4-BE49-F238E27FC236}">
                <a16:creationId xmlns:a16="http://schemas.microsoft.com/office/drawing/2014/main" id="{BA130698-8835-DF45-A518-9560A77728C3}"/>
              </a:ext>
            </a:extLst>
          </p:cNvPr>
          <p:cNvSpPr/>
          <p:nvPr/>
        </p:nvSpPr>
        <p:spPr>
          <a:xfrm>
            <a:off x="3622945" y="2200212"/>
            <a:ext cx="3641456" cy="115929"/>
          </a:xfrm>
          <a:custGeom>
            <a:avLst/>
            <a:gdLst>
              <a:gd name="connsiteX0" fmla="*/ 0 w 4229100"/>
              <a:gd name="connsiteY0" fmla="*/ 121023 h 134470"/>
              <a:gd name="connsiteX1" fmla="*/ 0 w 4229100"/>
              <a:gd name="connsiteY1" fmla="*/ 0 h 134470"/>
              <a:gd name="connsiteX2" fmla="*/ 4229100 w 4229100"/>
              <a:gd name="connsiteY2" fmla="*/ 0 h 134470"/>
              <a:gd name="connsiteX3" fmla="*/ 4229100 w 4229100"/>
              <a:gd name="connsiteY3" fmla="*/ 134470 h 134470"/>
            </a:gdLst>
            <a:ahLst/>
            <a:cxnLst>
              <a:cxn ang="0">
                <a:pos x="connsiteX0" y="connsiteY0"/>
              </a:cxn>
              <a:cxn ang="0">
                <a:pos x="connsiteX1" y="connsiteY1"/>
              </a:cxn>
              <a:cxn ang="0">
                <a:pos x="connsiteX2" y="connsiteY2"/>
              </a:cxn>
              <a:cxn ang="0">
                <a:pos x="connsiteX3" y="connsiteY3"/>
              </a:cxn>
            </a:cxnLst>
            <a:rect l="l" t="t" r="r" b="b"/>
            <a:pathLst>
              <a:path w="4229100" h="134470">
                <a:moveTo>
                  <a:pt x="0" y="121023"/>
                </a:moveTo>
                <a:lnTo>
                  <a:pt x="0" y="0"/>
                </a:lnTo>
                <a:lnTo>
                  <a:pt x="4229100" y="0"/>
                </a:lnTo>
                <a:lnTo>
                  <a:pt x="4229100" y="134470"/>
                </a:lnTo>
              </a:path>
            </a:pathLst>
          </a:custGeom>
          <a:noFill/>
          <a:ln>
            <a:solidFill>
              <a:srgbClr val="92C1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4" name="Google Shape;64;p4"/>
          <p:cNvSpPr/>
          <p:nvPr/>
        </p:nvSpPr>
        <p:spPr>
          <a:xfrm>
            <a:off x="6561163" y="2297615"/>
            <a:ext cx="1362435" cy="388353"/>
          </a:xfrm>
          <a:prstGeom prst="roundRect">
            <a:avLst>
              <a:gd name="adj" fmla="val 16667"/>
            </a:avLst>
          </a:prstGeom>
          <a:solidFill>
            <a:srgbClr val="808799"/>
          </a:solidFill>
          <a:ln w="28575" cap="flat" cmpd="sng">
            <a:solidFill>
              <a:srgbClr val="8087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dirty="0">
                <a:solidFill>
                  <a:schemeClr val="lt1"/>
                </a:solidFill>
                <a:latin typeface="Calibri"/>
                <a:ea typeface="Calibri"/>
                <a:cs typeface="Calibri"/>
                <a:sym typeface="Calibri"/>
              </a:rPr>
              <a:t>Especificación</a:t>
            </a:r>
            <a:endParaRPr sz="1500" dirty="0"/>
          </a:p>
        </p:txBody>
      </p:sp>
      <p:sp>
        <p:nvSpPr>
          <p:cNvPr id="89" name="Google Shape;89;p4"/>
          <p:cNvSpPr/>
          <p:nvPr/>
        </p:nvSpPr>
        <p:spPr>
          <a:xfrm>
            <a:off x="3018921" y="2297614"/>
            <a:ext cx="1398713" cy="388353"/>
          </a:xfrm>
          <a:prstGeom prst="roundRect">
            <a:avLst>
              <a:gd name="adj" fmla="val 16667"/>
            </a:avLst>
          </a:prstGeom>
          <a:noFill/>
          <a:ln w="28575"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dk1"/>
                </a:solidFill>
                <a:latin typeface="Calibri"/>
                <a:ea typeface="Calibri"/>
                <a:cs typeface="Calibri"/>
                <a:sym typeface="Calibri"/>
              </a:rPr>
              <a:t>Estructura</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p:nvPr/>
        </p:nvSpPr>
        <p:spPr>
          <a:xfrm>
            <a:off x="503239" y="912813"/>
            <a:ext cx="3618258" cy="25391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TÉCNICAS DINÁMICAS</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pruebas dinámicas se dividen en categorías / grupos:</a:t>
            </a:r>
            <a:endParaRPr dirty="0"/>
          </a:p>
          <a:p>
            <a:pPr marL="285750" marR="0" lvl="1" indent="-184150"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63538" marR="0" lvl="1" indent="-1778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 agrupación se realiza en función del carácter básico del método utilizado para obtener los casos </a:t>
            </a:r>
            <a:br>
              <a:rPr lang="es-PE" sz="1600" b="0" i="0" u="none" strike="noStrike" cap="none" dirty="0">
                <a:solidFill>
                  <a:schemeClr val="dk1"/>
                </a:solidFill>
                <a:latin typeface="Calibri"/>
                <a:ea typeface="Calibri"/>
                <a:cs typeface="Calibri"/>
                <a:sym typeface="Calibri"/>
              </a:rPr>
            </a:br>
            <a:r>
              <a:rPr lang="es-PE" sz="1600" b="0" i="0" u="none" strike="noStrike" cap="none" dirty="0">
                <a:solidFill>
                  <a:schemeClr val="dk1"/>
                </a:solidFill>
                <a:latin typeface="Calibri"/>
                <a:ea typeface="Calibri"/>
                <a:cs typeface="Calibri"/>
                <a:sym typeface="Calibri"/>
              </a:rPr>
              <a:t>de prueba”.</a:t>
            </a:r>
            <a:endParaRPr dirty="0"/>
          </a:p>
          <a:p>
            <a:pPr marL="363538" marR="0" lvl="1" indent="-1778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Cada grupo tiene sus propios métodos para diseñar casos de prueba.</a:t>
            </a:r>
            <a:endParaRPr dirty="0"/>
          </a:p>
        </p:txBody>
      </p:sp>
      <p:sp>
        <p:nvSpPr>
          <p:cNvPr id="129" name="Google Shape;129;p5"/>
          <p:cNvSpPr txBox="1"/>
          <p:nvPr/>
        </p:nvSpPr>
        <p:spPr>
          <a:xfrm>
            <a:off x="503238" y="4020867"/>
            <a:ext cx="1521884"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www.coursehero.com</a:t>
            </a:r>
            <a:endParaRPr dirty="0">
              <a:solidFill>
                <a:schemeClr val="bg1">
                  <a:lumMod val="50000"/>
                </a:schemeClr>
              </a:solidFill>
            </a:endParaRPr>
          </a:p>
        </p:txBody>
      </p:sp>
      <p:sp>
        <p:nvSpPr>
          <p:cNvPr id="24" name="Rectangle 5">
            <a:extLst>
              <a:ext uri="{FF2B5EF4-FFF2-40B4-BE49-F238E27FC236}">
                <a16:creationId xmlns:a16="http://schemas.microsoft.com/office/drawing/2014/main" id="{C84908DC-1641-3B49-A777-7F038251E738}"/>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5" name="Grupo 24">
            <a:extLst>
              <a:ext uri="{FF2B5EF4-FFF2-40B4-BE49-F238E27FC236}">
                <a16:creationId xmlns:a16="http://schemas.microsoft.com/office/drawing/2014/main" id="{DB6F4806-C625-3744-AA91-5C28CEE87054}"/>
              </a:ext>
            </a:extLst>
          </p:cNvPr>
          <p:cNvGrpSpPr/>
          <p:nvPr/>
        </p:nvGrpSpPr>
        <p:grpSpPr>
          <a:xfrm>
            <a:off x="4495342" y="1196644"/>
            <a:ext cx="4387873" cy="3826070"/>
            <a:chOff x="4495342" y="1196644"/>
            <a:chExt cx="4387873" cy="3826070"/>
          </a:xfrm>
        </p:grpSpPr>
        <p:sp>
          <p:nvSpPr>
            <p:cNvPr id="26" name="Rectángulo redondeado 25">
              <a:extLst>
                <a:ext uri="{FF2B5EF4-FFF2-40B4-BE49-F238E27FC236}">
                  <a16:creationId xmlns:a16="http://schemas.microsoft.com/office/drawing/2014/main" id="{1E8B2E73-96E8-504D-972B-EEBA4522FE4D}"/>
                </a:ext>
              </a:extLst>
            </p:cNvPr>
            <p:cNvSpPr/>
            <p:nvPr/>
          </p:nvSpPr>
          <p:spPr>
            <a:xfrm>
              <a:off x="6058568" y="2928157"/>
              <a:ext cx="2617034" cy="944388"/>
            </a:xfrm>
            <a:prstGeom prst="roundRect">
              <a:avLst>
                <a:gd name="adj" fmla="val 9953"/>
              </a:avLst>
            </a:prstGeom>
            <a:solidFill>
              <a:srgbClr val="FDC212"/>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spcBef>
                  <a:spcPts val="0"/>
                </a:spcBef>
                <a:spcAft>
                  <a:spcPts val="0"/>
                </a:spcAft>
                <a:buNone/>
              </a:pPr>
              <a:r>
                <a:rPr lang="es-PE" sz="1200" dirty="0">
                  <a:solidFill>
                    <a:schemeClr val="dk1"/>
                  </a:solidFill>
                  <a:latin typeface="Calibri"/>
                  <a:ea typeface="Calibri"/>
                  <a:cs typeface="Calibri"/>
                  <a:sym typeface="Calibri"/>
                </a:rPr>
                <a:t>Cobertura de sentencia</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Cobertura de rama </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Cobertura de condición </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Cobertura de camino</a:t>
              </a:r>
              <a:endParaRPr lang="es-PE" sz="1200" b="1" dirty="0">
                <a:solidFill>
                  <a:schemeClr val="bg1"/>
                </a:solidFill>
                <a:latin typeface="Calibri" charset="0"/>
                <a:ea typeface="Calibri" charset="0"/>
                <a:cs typeface="Calibri" charset="0"/>
              </a:endParaRPr>
            </a:p>
          </p:txBody>
        </p:sp>
        <p:sp>
          <p:nvSpPr>
            <p:cNvPr id="27" name="Rectángulo redondeado 26">
              <a:extLst>
                <a:ext uri="{FF2B5EF4-FFF2-40B4-BE49-F238E27FC236}">
                  <a16:creationId xmlns:a16="http://schemas.microsoft.com/office/drawing/2014/main" id="{52A16914-9167-2949-84F9-D12EC1EF72FE}"/>
                </a:ext>
              </a:extLst>
            </p:cNvPr>
            <p:cNvSpPr/>
            <p:nvPr/>
          </p:nvSpPr>
          <p:spPr>
            <a:xfrm rot="16200000">
              <a:off x="5142329" y="1648855"/>
              <a:ext cx="1239543" cy="335122"/>
            </a:xfrm>
            <a:prstGeom prst="roundRect">
              <a:avLst>
                <a:gd name="adj" fmla="val 18663"/>
              </a:avLst>
            </a:prstGeom>
            <a:solidFill>
              <a:srgbClr val="FDC212"/>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200" dirty="0">
                  <a:solidFill>
                    <a:schemeClr val="dk1"/>
                  </a:solidFill>
                  <a:latin typeface="Calibri"/>
                  <a:ea typeface="Calibri"/>
                  <a:cs typeface="Calibri"/>
                  <a:sym typeface="Calibri"/>
                </a:rPr>
                <a:t>Caja negra</a:t>
              </a:r>
              <a:endParaRPr lang="es-PE" sz="1200" dirty="0"/>
            </a:p>
          </p:txBody>
        </p:sp>
        <p:sp>
          <p:nvSpPr>
            <p:cNvPr id="28" name="Google Shape;148;p6">
              <a:extLst>
                <a:ext uri="{FF2B5EF4-FFF2-40B4-BE49-F238E27FC236}">
                  <a16:creationId xmlns:a16="http://schemas.microsoft.com/office/drawing/2014/main" id="{A3E016C4-EA2D-1E41-B226-39966F059D95}"/>
                </a:ext>
              </a:extLst>
            </p:cNvPr>
            <p:cNvSpPr/>
            <p:nvPr/>
          </p:nvSpPr>
          <p:spPr>
            <a:xfrm>
              <a:off x="6058881" y="1243662"/>
              <a:ext cx="2824334"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dirty="0"/>
            </a:p>
          </p:txBody>
        </p:sp>
        <p:sp>
          <p:nvSpPr>
            <p:cNvPr id="29" name="Rectángulo redondeado 28">
              <a:extLst>
                <a:ext uri="{FF2B5EF4-FFF2-40B4-BE49-F238E27FC236}">
                  <a16:creationId xmlns:a16="http://schemas.microsoft.com/office/drawing/2014/main" id="{9695777B-0890-5F49-8B93-9FE9C503ECA1}"/>
                </a:ext>
              </a:extLst>
            </p:cNvPr>
            <p:cNvSpPr/>
            <p:nvPr/>
          </p:nvSpPr>
          <p:spPr>
            <a:xfrm>
              <a:off x="6058568" y="1203656"/>
              <a:ext cx="2617034" cy="1232708"/>
            </a:xfrm>
            <a:prstGeom prst="roundRect">
              <a:avLst>
                <a:gd name="adj" fmla="val 9953"/>
              </a:avLst>
            </a:prstGeom>
            <a:solidFill>
              <a:srgbClr val="FDC212"/>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spcBef>
                  <a:spcPts val="0"/>
                </a:spcBef>
                <a:spcAft>
                  <a:spcPts val="0"/>
                </a:spcAft>
                <a:buNone/>
              </a:pPr>
              <a:r>
                <a:rPr lang="es-PE" sz="1200" dirty="0">
                  <a:solidFill>
                    <a:schemeClr val="dk1"/>
                  </a:solidFill>
                  <a:latin typeface="Calibri"/>
                  <a:ea typeface="Calibri"/>
                  <a:cs typeface="Calibri"/>
                  <a:sym typeface="Calibri"/>
                </a:rPr>
                <a:t>Clases de equivalencia</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Análisis de valores límite</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Pruebas de transición de estado</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Tablas de decisión </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Pruebas basadas en el caso de uso</a:t>
              </a:r>
              <a:endParaRPr lang="es-PE" sz="1200" b="1" dirty="0">
                <a:solidFill>
                  <a:schemeClr val="bg1"/>
                </a:solidFill>
                <a:latin typeface="Calibri" charset="0"/>
                <a:ea typeface="Calibri" charset="0"/>
                <a:cs typeface="Calibri" charset="0"/>
              </a:endParaRPr>
            </a:p>
          </p:txBody>
        </p:sp>
        <p:sp>
          <p:nvSpPr>
            <p:cNvPr id="30" name="Rectángulo redondeado 29">
              <a:extLst>
                <a:ext uri="{FF2B5EF4-FFF2-40B4-BE49-F238E27FC236}">
                  <a16:creationId xmlns:a16="http://schemas.microsoft.com/office/drawing/2014/main" id="{D9DA57D3-AAA3-4246-B160-80B53F8E7A66}"/>
                </a:ext>
              </a:extLst>
            </p:cNvPr>
            <p:cNvSpPr/>
            <p:nvPr/>
          </p:nvSpPr>
          <p:spPr>
            <a:xfrm rot="16200000">
              <a:off x="5279168" y="3223724"/>
              <a:ext cx="965868" cy="335122"/>
            </a:xfrm>
            <a:prstGeom prst="roundRect">
              <a:avLst>
                <a:gd name="adj" fmla="val 18663"/>
              </a:avLst>
            </a:prstGeom>
            <a:solidFill>
              <a:srgbClr val="FDC212"/>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200" dirty="0">
                  <a:solidFill>
                    <a:schemeClr val="dk1"/>
                  </a:solidFill>
                  <a:latin typeface="Calibri"/>
                  <a:ea typeface="Calibri"/>
                  <a:cs typeface="Calibri"/>
                  <a:sym typeface="Calibri"/>
                </a:rPr>
                <a:t>Caja blanca</a:t>
              </a:r>
              <a:endParaRPr lang="es-PE" sz="1200" dirty="0"/>
            </a:p>
          </p:txBody>
        </p:sp>
        <p:sp>
          <p:nvSpPr>
            <p:cNvPr id="31" name="Rectángulo redondeado 30">
              <a:extLst>
                <a:ext uri="{FF2B5EF4-FFF2-40B4-BE49-F238E27FC236}">
                  <a16:creationId xmlns:a16="http://schemas.microsoft.com/office/drawing/2014/main" id="{A1C31BD4-1336-A44A-AE13-8625C7D8A124}"/>
                </a:ext>
              </a:extLst>
            </p:cNvPr>
            <p:cNvSpPr/>
            <p:nvPr/>
          </p:nvSpPr>
          <p:spPr>
            <a:xfrm>
              <a:off x="5602758" y="2512075"/>
              <a:ext cx="3072843" cy="335122"/>
            </a:xfrm>
            <a:prstGeom prst="roundRect">
              <a:avLst>
                <a:gd name="adj" fmla="val 18663"/>
              </a:avLst>
            </a:prstGeom>
            <a:solidFill>
              <a:schemeClr val="bg1"/>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200" dirty="0">
                  <a:solidFill>
                    <a:schemeClr val="dk1"/>
                  </a:solidFill>
                  <a:latin typeface="Calibri"/>
                  <a:ea typeface="Calibri"/>
                  <a:cs typeface="Calibri"/>
                  <a:sym typeface="Calibri"/>
                </a:rPr>
                <a:t>Técnicas basadas en la experiencia</a:t>
              </a:r>
              <a:endParaRPr lang="es-PE" sz="1200" dirty="0"/>
            </a:p>
          </p:txBody>
        </p:sp>
        <p:sp>
          <p:nvSpPr>
            <p:cNvPr id="32" name="Rectángulo redondeado 31">
              <a:extLst>
                <a:ext uri="{FF2B5EF4-FFF2-40B4-BE49-F238E27FC236}">
                  <a16:creationId xmlns:a16="http://schemas.microsoft.com/office/drawing/2014/main" id="{3891704A-AC18-E84C-9671-060B415EC4EC}"/>
                </a:ext>
              </a:extLst>
            </p:cNvPr>
            <p:cNvSpPr/>
            <p:nvPr/>
          </p:nvSpPr>
          <p:spPr>
            <a:xfrm>
              <a:off x="5602845" y="3956322"/>
              <a:ext cx="3072843" cy="1060333"/>
            </a:xfrm>
            <a:prstGeom prst="roundRect">
              <a:avLst>
                <a:gd name="adj" fmla="val 10888"/>
              </a:avLst>
            </a:prstGeom>
            <a:solidFill>
              <a:schemeClr val="bg1"/>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rtl="0">
                <a:spcBef>
                  <a:spcPts val="0"/>
                </a:spcBef>
                <a:spcAft>
                  <a:spcPts val="0"/>
                </a:spcAft>
                <a:buNone/>
              </a:pPr>
              <a:r>
                <a:rPr lang="es-PE" sz="1200" dirty="0">
                  <a:solidFill>
                    <a:schemeClr val="dk1"/>
                  </a:solidFill>
                  <a:latin typeface="Calibri"/>
                  <a:ea typeface="Calibri"/>
                  <a:cs typeface="Calibri"/>
                  <a:sym typeface="Calibri"/>
                </a:rPr>
                <a:t>Revisiones / ensayo</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Análisis de flujo de control</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Análisis de flujo de datos</a:t>
              </a:r>
              <a:endParaRPr lang="es-PE" sz="1200" dirty="0"/>
            </a:p>
            <a:p>
              <a:pPr marL="0" marR="0" lvl="0" indent="0" algn="l" rtl="0">
                <a:spcBef>
                  <a:spcPts val="0"/>
                </a:spcBef>
                <a:spcAft>
                  <a:spcPts val="0"/>
                </a:spcAft>
                <a:buNone/>
              </a:pPr>
              <a:r>
                <a:rPr lang="es-PE" sz="1200" dirty="0">
                  <a:solidFill>
                    <a:schemeClr val="dk1"/>
                  </a:solidFill>
                  <a:latin typeface="Calibri"/>
                  <a:ea typeface="Calibri"/>
                  <a:cs typeface="Calibri"/>
                  <a:sym typeface="Calibri"/>
                </a:rPr>
                <a:t>Métricas de compilador / analizador</a:t>
              </a:r>
            </a:p>
          </p:txBody>
        </p:sp>
        <p:sp>
          <p:nvSpPr>
            <p:cNvPr id="33" name="Rectángulo redondeado 32">
              <a:extLst>
                <a:ext uri="{FF2B5EF4-FFF2-40B4-BE49-F238E27FC236}">
                  <a16:creationId xmlns:a16="http://schemas.microsoft.com/office/drawing/2014/main" id="{5267FAD1-F1E4-B248-8AF9-51CE637E558D}"/>
                </a:ext>
              </a:extLst>
            </p:cNvPr>
            <p:cNvSpPr/>
            <p:nvPr/>
          </p:nvSpPr>
          <p:spPr>
            <a:xfrm rot="16200000">
              <a:off x="3945418" y="2317182"/>
              <a:ext cx="2614234" cy="421446"/>
            </a:xfrm>
            <a:prstGeom prst="roundRect">
              <a:avLst>
                <a:gd name="adj" fmla="val 18663"/>
              </a:avLst>
            </a:prstGeom>
            <a:solidFill>
              <a:schemeClr val="bg1"/>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200" dirty="0">
                  <a:solidFill>
                    <a:schemeClr val="dk1"/>
                  </a:solidFill>
                  <a:latin typeface="Calibri"/>
                  <a:ea typeface="Calibri"/>
                  <a:cs typeface="Calibri"/>
                  <a:sym typeface="Calibri"/>
                </a:rPr>
                <a:t>Dinámico</a:t>
              </a:r>
              <a:endParaRPr lang="es-PE" sz="1200" dirty="0"/>
            </a:p>
          </p:txBody>
        </p:sp>
        <p:sp>
          <p:nvSpPr>
            <p:cNvPr id="34" name="Rectángulo redondeado 33">
              <a:extLst>
                <a:ext uri="{FF2B5EF4-FFF2-40B4-BE49-F238E27FC236}">
                  <a16:creationId xmlns:a16="http://schemas.microsoft.com/office/drawing/2014/main" id="{424C13A5-6DC3-B647-B14D-4DED765ABE3F}"/>
                </a:ext>
              </a:extLst>
            </p:cNvPr>
            <p:cNvSpPr/>
            <p:nvPr/>
          </p:nvSpPr>
          <p:spPr>
            <a:xfrm rot="16200000">
              <a:off x="4716309" y="4275765"/>
              <a:ext cx="1072452" cy="421446"/>
            </a:xfrm>
            <a:prstGeom prst="roundRect">
              <a:avLst>
                <a:gd name="adj" fmla="val 18663"/>
              </a:avLst>
            </a:prstGeom>
            <a:solidFill>
              <a:schemeClr val="bg1"/>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200" dirty="0">
                  <a:solidFill>
                    <a:schemeClr val="dk1"/>
                  </a:solidFill>
                  <a:latin typeface="Calibri"/>
                  <a:ea typeface="Calibri"/>
                  <a:cs typeface="Calibri"/>
                  <a:sym typeface="Calibri"/>
                </a:rPr>
                <a:t>Estático</a:t>
              </a:r>
              <a:endParaRPr lang="es-PE" sz="1200" dirty="0"/>
            </a:p>
          </p:txBody>
        </p:sp>
        <p:sp>
          <p:nvSpPr>
            <p:cNvPr id="35" name="Rectángulo redondeado 34">
              <a:extLst>
                <a:ext uri="{FF2B5EF4-FFF2-40B4-BE49-F238E27FC236}">
                  <a16:creationId xmlns:a16="http://schemas.microsoft.com/office/drawing/2014/main" id="{E27C9073-92A3-8B4D-9563-BC04E05C56B9}"/>
                </a:ext>
              </a:extLst>
            </p:cNvPr>
            <p:cNvSpPr/>
            <p:nvPr/>
          </p:nvSpPr>
          <p:spPr>
            <a:xfrm rot="16200000">
              <a:off x="2808131" y="2907997"/>
              <a:ext cx="3795867" cy="421446"/>
            </a:xfrm>
            <a:prstGeom prst="roundRect">
              <a:avLst>
                <a:gd name="adj" fmla="val 18663"/>
              </a:avLst>
            </a:prstGeom>
            <a:solidFill>
              <a:schemeClr val="bg1"/>
            </a:solid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200" dirty="0">
                  <a:solidFill>
                    <a:schemeClr val="dk1"/>
                  </a:solidFill>
                  <a:latin typeface="Calibri"/>
                  <a:ea typeface="Calibri"/>
                  <a:cs typeface="Calibri"/>
                  <a:sym typeface="Calibri"/>
                </a:rPr>
                <a:t>QA Analítico</a:t>
              </a:r>
              <a:endParaRPr lang="es-PE" sz="12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6"/>
          <p:cNvSpPr/>
          <p:nvPr/>
        </p:nvSpPr>
        <p:spPr>
          <a:xfrm>
            <a:off x="510694" y="2062662"/>
            <a:ext cx="8165828" cy="984885"/>
          </a:xfrm>
          <a:prstGeom prst="rect">
            <a:avLst/>
          </a:prstGeom>
          <a:noFill/>
          <a:ln>
            <a:noFill/>
          </a:ln>
        </p:spPr>
        <p:txBody>
          <a:bodyPr spcFirstLastPara="1" wrap="square" lIns="0" tIns="0" rIns="0" bIns="0" anchor="t" anchorCtr="0">
            <a:spAutoFit/>
          </a:bodyPr>
          <a:lstStyle/>
          <a:p>
            <a:pPr marL="134938" marR="0" lvl="1" indent="-1270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“El objeto de prueba ha sido seleccionado de acuerdo con el modelo funcional de software”.</a:t>
            </a:r>
            <a:endParaRPr dirty="0"/>
          </a:p>
          <a:p>
            <a:pPr marL="134938" marR="0" lvl="1" indent="-127000"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134938" marR="0" lvl="1" indent="-1270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 cobertura de la especificación puede ser medida (por ejemplo, el porcentaje de la especificación cubierta por casos de prueba)”.</a:t>
            </a:r>
            <a:endParaRPr dirty="0"/>
          </a:p>
        </p:txBody>
      </p:sp>
      <p:sp>
        <p:nvSpPr>
          <p:cNvPr id="136" name="Google Shape;136;p6"/>
          <p:cNvSpPr txBox="1"/>
          <p:nvPr/>
        </p:nvSpPr>
        <p:spPr>
          <a:xfrm>
            <a:off x="647700" y="3364646"/>
            <a:ext cx="1325033"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idoc.pub/documents</a:t>
            </a:r>
            <a:endParaRPr dirty="0">
              <a:solidFill>
                <a:schemeClr val="bg1">
                  <a:lumMod val="50000"/>
                </a:schemeClr>
              </a:solidFill>
            </a:endParaRPr>
          </a:p>
        </p:txBody>
      </p:sp>
      <p:sp>
        <p:nvSpPr>
          <p:cNvPr id="5" name="Rectangle 5">
            <a:extLst>
              <a:ext uri="{FF2B5EF4-FFF2-40B4-BE49-F238E27FC236}">
                <a16:creationId xmlns:a16="http://schemas.microsoft.com/office/drawing/2014/main" id="{08970AAE-09FD-544A-8A53-D568F429EA2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6" name="Grupo 5">
            <a:extLst>
              <a:ext uri="{FF2B5EF4-FFF2-40B4-BE49-F238E27FC236}">
                <a16:creationId xmlns:a16="http://schemas.microsoft.com/office/drawing/2014/main" id="{05918D2D-41D7-C344-B969-9DDA3B1D8959}"/>
              </a:ext>
            </a:extLst>
          </p:cNvPr>
          <p:cNvGrpSpPr/>
          <p:nvPr/>
        </p:nvGrpSpPr>
        <p:grpSpPr>
          <a:xfrm>
            <a:off x="326977" y="1450644"/>
            <a:ext cx="3787823" cy="394721"/>
            <a:chOff x="287221" y="917244"/>
            <a:chExt cx="4453773" cy="500394"/>
          </a:xfrm>
        </p:grpSpPr>
        <p:sp>
          <p:nvSpPr>
            <p:cNvPr id="7" name="Rectángulo redondeado 6">
              <a:extLst>
                <a:ext uri="{FF2B5EF4-FFF2-40B4-BE49-F238E27FC236}">
                  <a16:creationId xmlns:a16="http://schemas.microsoft.com/office/drawing/2014/main" id="{FFF09184-E766-694D-B2AE-E04604561860}"/>
                </a:ext>
              </a:extLst>
            </p:cNvPr>
            <p:cNvSpPr/>
            <p:nvPr/>
          </p:nvSpPr>
          <p:spPr>
            <a:xfrm>
              <a:off x="503238" y="917244"/>
              <a:ext cx="4237756" cy="500394"/>
            </a:xfrm>
            <a:prstGeom prst="roundRect">
              <a:avLst>
                <a:gd name="adj" fmla="val 24841"/>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0" algn="ctr">
                <a:buSzPts val="1600"/>
                <a:tabLst>
                  <a:tab pos="569913" algn="l"/>
                </a:tabLst>
              </a:pPr>
              <a:r>
                <a:rPr lang="es-PE" b="1" dirty="0">
                  <a:solidFill>
                    <a:schemeClr val="lt1"/>
                  </a:solidFill>
                  <a:latin typeface="Calibri" charset="0"/>
                  <a:cs typeface="Calibri" charset="0"/>
                  <a:sym typeface="Calibri"/>
                </a:rPr>
                <a:t>Métodos basados en la especificación</a:t>
              </a:r>
              <a:endParaRPr lang="es-PE" b="1" dirty="0">
                <a:solidFill>
                  <a:schemeClr val="lt1"/>
                </a:solidFill>
                <a:latin typeface="Calibri" charset="0"/>
                <a:cs typeface="Calibri" charset="0"/>
              </a:endParaRPr>
            </a:p>
          </p:txBody>
        </p:sp>
        <p:grpSp>
          <p:nvGrpSpPr>
            <p:cNvPr id="8" name="Agrupar 14">
              <a:extLst>
                <a:ext uri="{FF2B5EF4-FFF2-40B4-BE49-F238E27FC236}">
                  <a16:creationId xmlns:a16="http://schemas.microsoft.com/office/drawing/2014/main" id="{9DA58963-D13E-374C-81FB-531DE0FF0CF8}"/>
                </a:ext>
              </a:extLst>
            </p:cNvPr>
            <p:cNvGrpSpPr/>
            <p:nvPr/>
          </p:nvGrpSpPr>
          <p:grpSpPr>
            <a:xfrm>
              <a:off x="287221" y="965530"/>
              <a:ext cx="459474" cy="403823"/>
              <a:chOff x="5892512" y="2805541"/>
              <a:chExt cx="459474" cy="403823"/>
            </a:xfrm>
          </p:grpSpPr>
          <p:sp>
            <p:nvSpPr>
              <p:cNvPr id="9" name="Elipse 8">
                <a:extLst>
                  <a:ext uri="{FF2B5EF4-FFF2-40B4-BE49-F238E27FC236}">
                    <a16:creationId xmlns:a16="http://schemas.microsoft.com/office/drawing/2014/main" id="{2B356C88-D3B4-0F4E-ABF3-949DE08553F5}"/>
                  </a:ext>
                </a:extLst>
              </p:cNvPr>
              <p:cNvSpPr/>
              <p:nvPr/>
            </p:nvSpPr>
            <p:spPr>
              <a:xfrm>
                <a:off x="5956277" y="2824919"/>
                <a:ext cx="395709" cy="376075"/>
              </a:xfrm>
              <a:prstGeom prst="ellipse">
                <a:avLst/>
              </a:prstGeom>
              <a:solidFill>
                <a:srgbClr val="6F95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Elipse 9">
                <a:extLst>
                  <a:ext uri="{FF2B5EF4-FFF2-40B4-BE49-F238E27FC236}">
                    <a16:creationId xmlns:a16="http://schemas.microsoft.com/office/drawing/2014/main" id="{19F1055B-6605-8A49-B1EA-0F4733DD8B70}"/>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Triángulo 10">
                <a:extLst>
                  <a:ext uri="{FF2B5EF4-FFF2-40B4-BE49-F238E27FC236}">
                    <a16:creationId xmlns:a16="http://schemas.microsoft.com/office/drawing/2014/main" id="{86D685B7-B97E-7D4C-A337-CF1F97B72AD8}"/>
                  </a:ext>
                </a:extLst>
              </p:cNvPr>
              <p:cNvSpPr/>
              <p:nvPr/>
            </p:nvSpPr>
            <p:spPr>
              <a:xfrm rot="5400000">
                <a:off x="6076285" y="2946262"/>
                <a:ext cx="186870" cy="122381"/>
              </a:xfrm>
              <a:prstGeom prst="triangle">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2" name="Google Shape;135;p6">
            <a:extLst>
              <a:ext uri="{FF2B5EF4-FFF2-40B4-BE49-F238E27FC236}">
                <a16:creationId xmlns:a16="http://schemas.microsoft.com/office/drawing/2014/main" id="{00E2DD35-329C-494A-82F3-5B568FB76CAC}"/>
              </a:ext>
            </a:extLst>
          </p:cNvPr>
          <p:cNvSpPr/>
          <p:nvPr/>
        </p:nvSpPr>
        <p:spPr>
          <a:xfrm>
            <a:off x="503238" y="912813"/>
            <a:ext cx="8165828"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CATEGORÍAS DE LAS TÉCNICAS DINÁMICAS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7"/>
          <p:cNvSpPr txBox="1"/>
          <p:nvPr/>
        </p:nvSpPr>
        <p:spPr>
          <a:xfrm>
            <a:off x="647700" y="3511065"/>
            <a:ext cx="3744913"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idoc.pub/documents</a:t>
            </a:r>
            <a:endParaRPr dirty="0">
              <a:solidFill>
                <a:schemeClr val="bg1">
                  <a:lumMod val="50000"/>
                </a:schemeClr>
              </a:solidFill>
            </a:endParaRPr>
          </a:p>
        </p:txBody>
      </p:sp>
      <p:sp>
        <p:nvSpPr>
          <p:cNvPr id="5" name="Rectangle 5">
            <a:extLst>
              <a:ext uri="{FF2B5EF4-FFF2-40B4-BE49-F238E27FC236}">
                <a16:creationId xmlns:a16="http://schemas.microsoft.com/office/drawing/2014/main" id="{025ED106-4240-264B-8525-C53C7F235E5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Google Shape;135;p6">
            <a:extLst>
              <a:ext uri="{FF2B5EF4-FFF2-40B4-BE49-F238E27FC236}">
                <a16:creationId xmlns:a16="http://schemas.microsoft.com/office/drawing/2014/main" id="{D861BFB4-411F-864F-9476-8D113DE0F4EA}"/>
              </a:ext>
            </a:extLst>
          </p:cNvPr>
          <p:cNvSpPr/>
          <p:nvPr/>
        </p:nvSpPr>
        <p:spPr>
          <a:xfrm>
            <a:off x="510694" y="2062662"/>
            <a:ext cx="8165828" cy="1231106"/>
          </a:xfrm>
          <a:prstGeom prst="rect">
            <a:avLst/>
          </a:prstGeom>
          <a:noFill/>
          <a:ln>
            <a:noFill/>
          </a:ln>
        </p:spPr>
        <p:txBody>
          <a:bodyPr spcFirstLastPara="1" wrap="square" lIns="0" tIns="0" rIns="0" bIns="0" anchor="t" anchorCtr="0">
            <a:spAutoFit/>
          </a:bodyPr>
          <a:lstStyle/>
          <a:p>
            <a:pPr marL="134938" lvl="1" indent="-127000">
              <a:buClr>
                <a:schemeClr val="dk1"/>
              </a:buClr>
              <a:buSzPts val="1600"/>
              <a:buFont typeface="Arial"/>
              <a:buChar char="•"/>
            </a:pPr>
            <a:r>
              <a:rPr lang="es-PE" sz="1600" dirty="0">
                <a:solidFill>
                  <a:schemeClr val="dk1"/>
                </a:solidFill>
                <a:latin typeface="Calibri"/>
                <a:cs typeface="Calibri"/>
                <a:sym typeface="Calibri"/>
              </a:rPr>
              <a:t>“La estructura Interna del objeto de prueba es utilizada para diseñar los casos de prueba (código/sentencias. menús, llamados, etc.)”.</a:t>
            </a:r>
            <a:endParaRPr lang="es-PE" sz="1600" dirty="0">
              <a:solidFill>
                <a:schemeClr val="dk1"/>
              </a:solidFill>
              <a:latin typeface="Calibri"/>
              <a:cs typeface="Calibri"/>
            </a:endParaRPr>
          </a:p>
          <a:p>
            <a:pPr marL="134938" lvl="1" indent="-127000">
              <a:buClr>
                <a:schemeClr val="dk1"/>
              </a:buClr>
              <a:buSzPts val="1600"/>
              <a:buFont typeface="Arial"/>
              <a:buNone/>
            </a:pPr>
            <a:endParaRPr lang="es-PE" sz="1600" dirty="0">
              <a:solidFill>
                <a:schemeClr val="dk1"/>
              </a:solidFill>
              <a:latin typeface="Calibri"/>
              <a:cs typeface="Calibri"/>
              <a:sym typeface="Calibri"/>
            </a:endParaRPr>
          </a:p>
          <a:p>
            <a:pPr marL="134938" lvl="1" indent="-127000">
              <a:buClr>
                <a:schemeClr val="dk1"/>
              </a:buClr>
              <a:buSzPts val="1600"/>
              <a:buFont typeface="Arial"/>
              <a:buChar char="•"/>
            </a:pPr>
            <a:r>
              <a:rPr lang="es-PE" sz="1600" dirty="0">
                <a:solidFill>
                  <a:schemeClr val="dk1"/>
                </a:solidFill>
                <a:latin typeface="Calibri"/>
                <a:cs typeface="Calibri"/>
                <a:sym typeface="Calibri"/>
              </a:rPr>
              <a:t>“El porcentaje de cobertura es medido y utilizado como fuente para la creación de casos de prueba adicionales”.</a:t>
            </a:r>
            <a:endParaRPr lang="es-PE" sz="1600" dirty="0">
              <a:solidFill>
                <a:schemeClr val="dk1"/>
              </a:solidFill>
              <a:latin typeface="Calibri"/>
              <a:cs typeface="Calibri"/>
            </a:endParaRPr>
          </a:p>
        </p:txBody>
      </p:sp>
      <p:grpSp>
        <p:nvGrpSpPr>
          <p:cNvPr id="7" name="Grupo 6">
            <a:extLst>
              <a:ext uri="{FF2B5EF4-FFF2-40B4-BE49-F238E27FC236}">
                <a16:creationId xmlns:a16="http://schemas.microsoft.com/office/drawing/2014/main" id="{74ADEA87-BFD0-AF4A-A240-373BFB1EF66C}"/>
              </a:ext>
            </a:extLst>
          </p:cNvPr>
          <p:cNvGrpSpPr/>
          <p:nvPr/>
        </p:nvGrpSpPr>
        <p:grpSpPr>
          <a:xfrm>
            <a:off x="326977" y="1450644"/>
            <a:ext cx="3542290" cy="394721"/>
            <a:chOff x="287221" y="917244"/>
            <a:chExt cx="4165072" cy="500394"/>
          </a:xfrm>
        </p:grpSpPr>
        <p:sp>
          <p:nvSpPr>
            <p:cNvPr id="8" name="Rectángulo redondeado 7">
              <a:extLst>
                <a:ext uri="{FF2B5EF4-FFF2-40B4-BE49-F238E27FC236}">
                  <a16:creationId xmlns:a16="http://schemas.microsoft.com/office/drawing/2014/main" id="{B5CF16CE-6B0B-F84B-8A62-CDCF788D7FDB}"/>
                </a:ext>
              </a:extLst>
            </p:cNvPr>
            <p:cNvSpPr/>
            <p:nvPr/>
          </p:nvSpPr>
          <p:spPr>
            <a:xfrm>
              <a:off x="503238" y="917244"/>
              <a:ext cx="3949055" cy="500394"/>
            </a:xfrm>
            <a:prstGeom prst="roundRect">
              <a:avLst>
                <a:gd name="adj" fmla="val 24841"/>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SzPts val="1600"/>
                <a:tabLst>
                  <a:tab pos="569913" algn="l"/>
                </a:tabLst>
              </a:pPr>
              <a:r>
                <a:rPr lang="es-PE" b="1" dirty="0">
                  <a:solidFill>
                    <a:schemeClr val="lt1"/>
                  </a:solidFill>
                  <a:latin typeface="Calibri" charset="0"/>
                  <a:ea typeface="+mn-ea"/>
                  <a:cs typeface="Calibri" charset="0"/>
                  <a:sym typeface="Calibri"/>
                </a:rPr>
                <a:t>Métodos basados en la estructura</a:t>
              </a:r>
              <a:endParaRPr lang="es-PE" b="1" dirty="0">
                <a:solidFill>
                  <a:schemeClr val="lt1"/>
                </a:solidFill>
                <a:latin typeface="Calibri" charset="0"/>
                <a:ea typeface="+mn-ea"/>
                <a:cs typeface="Calibri" charset="0"/>
              </a:endParaRPr>
            </a:p>
          </p:txBody>
        </p:sp>
        <p:grpSp>
          <p:nvGrpSpPr>
            <p:cNvPr id="9" name="Agrupar 14">
              <a:extLst>
                <a:ext uri="{FF2B5EF4-FFF2-40B4-BE49-F238E27FC236}">
                  <a16:creationId xmlns:a16="http://schemas.microsoft.com/office/drawing/2014/main" id="{8680C2E0-AD60-5F45-BDE8-7BE9646B38E4}"/>
                </a:ext>
              </a:extLst>
            </p:cNvPr>
            <p:cNvGrpSpPr/>
            <p:nvPr/>
          </p:nvGrpSpPr>
          <p:grpSpPr>
            <a:xfrm>
              <a:off x="287221" y="965530"/>
              <a:ext cx="459474" cy="403823"/>
              <a:chOff x="5892512" y="2805541"/>
              <a:chExt cx="459474" cy="403823"/>
            </a:xfrm>
          </p:grpSpPr>
          <p:sp>
            <p:nvSpPr>
              <p:cNvPr id="10" name="Elipse 9">
                <a:extLst>
                  <a:ext uri="{FF2B5EF4-FFF2-40B4-BE49-F238E27FC236}">
                    <a16:creationId xmlns:a16="http://schemas.microsoft.com/office/drawing/2014/main" id="{7CDDB33D-53D1-A547-A4E1-EC0A00F710DE}"/>
                  </a:ext>
                </a:extLst>
              </p:cNvPr>
              <p:cNvSpPr/>
              <p:nvPr/>
            </p:nvSpPr>
            <p:spPr>
              <a:xfrm>
                <a:off x="5956277" y="2824919"/>
                <a:ext cx="395709" cy="376075"/>
              </a:xfrm>
              <a:prstGeom prst="ellipse">
                <a:avLst/>
              </a:prstGeom>
              <a:solidFill>
                <a:srgbClr val="6F95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Elipse 10">
                <a:extLst>
                  <a:ext uri="{FF2B5EF4-FFF2-40B4-BE49-F238E27FC236}">
                    <a16:creationId xmlns:a16="http://schemas.microsoft.com/office/drawing/2014/main" id="{B084416F-029B-6449-A66A-E5BB39435855}"/>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Triángulo 11">
                <a:extLst>
                  <a:ext uri="{FF2B5EF4-FFF2-40B4-BE49-F238E27FC236}">
                    <a16:creationId xmlns:a16="http://schemas.microsoft.com/office/drawing/2014/main" id="{909FE0E8-C472-264C-A867-871BC97996F9}"/>
                  </a:ext>
                </a:extLst>
              </p:cNvPr>
              <p:cNvSpPr/>
              <p:nvPr/>
            </p:nvSpPr>
            <p:spPr>
              <a:xfrm rot="5400000">
                <a:off x="6076285" y="2946262"/>
                <a:ext cx="186870" cy="122381"/>
              </a:xfrm>
              <a:prstGeom prst="triangle">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3" name="Google Shape;135;p6">
            <a:extLst>
              <a:ext uri="{FF2B5EF4-FFF2-40B4-BE49-F238E27FC236}">
                <a16:creationId xmlns:a16="http://schemas.microsoft.com/office/drawing/2014/main" id="{425F63D6-9C22-344E-8EF6-DF2003866768}"/>
              </a:ext>
            </a:extLst>
          </p:cNvPr>
          <p:cNvSpPr/>
          <p:nvPr/>
        </p:nvSpPr>
        <p:spPr>
          <a:xfrm>
            <a:off x="503238" y="912813"/>
            <a:ext cx="8165828"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CATEGORÍAS DE LAS TÉCNICAS DINÁMICAS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5" name="Rectangle 5">
            <a:extLst>
              <a:ext uri="{FF2B5EF4-FFF2-40B4-BE49-F238E27FC236}">
                <a16:creationId xmlns:a16="http://schemas.microsoft.com/office/drawing/2014/main" id="{935B9ABD-A8E0-2045-8F1E-A140AD66889D}"/>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Google Shape;143;p7">
            <a:extLst>
              <a:ext uri="{FF2B5EF4-FFF2-40B4-BE49-F238E27FC236}">
                <a16:creationId xmlns:a16="http://schemas.microsoft.com/office/drawing/2014/main" id="{78F01A6D-B2F4-234E-83AA-22DCBD35B6E8}"/>
              </a:ext>
            </a:extLst>
          </p:cNvPr>
          <p:cNvSpPr txBox="1"/>
          <p:nvPr/>
        </p:nvSpPr>
        <p:spPr>
          <a:xfrm>
            <a:off x="647700" y="3511065"/>
            <a:ext cx="3744913" cy="153888"/>
          </a:xfrm>
          <a:prstGeom prst="rect">
            <a:avLst/>
          </a:prstGeom>
          <a:noFill/>
          <a:ln>
            <a:noFill/>
          </a:ln>
        </p:spPr>
        <p:txBody>
          <a:bodyPr spcFirstLastPara="1" wrap="square" lIns="0" tIns="0" rIns="0" bIns="0" anchor="t" anchorCtr="0">
            <a:spAutoFit/>
          </a:bodyPr>
          <a:lstStyle/>
          <a:p>
            <a:r>
              <a:rPr lang="es-PE" sz="1000" dirty="0">
                <a:solidFill>
                  <a:schemeClr val="bg1">
                    <a:lumMod val="50000"/>
                  </a:schemeClr>
                </a:solidFill>
                <a:latin typeface="Calibri"/>
                <a:cs typeface="Calibri"/>
                <a:sym typeface="Calibri"/>
              </a:rPr>
              <a:t>es.scribd.com</a:t>
            </a:r>
            <a:endParaRPr lang="es-PE" sz="1000" dirty="0">
              <a:solidFill>
                <a:schemeClr val="bg1">
                  <a:lumMod val="50000"/>
                </a:schemeClr>
              </a:solidFill>
              <a:latin typeface="Calibri"/>
              <a:cs typeface="Calibri"/>
            </a:endParaRPr>
          </a:p>
        </p:txBody>
      </p:sp>
      <p:sp>
        <p:nvSpPr>
          <p:cNvPr id="7" name="Google Shape;135;p6">
            <a:extLst>
              <a:ext uri="{FF2B5EF4-FFF2-40B4-BE49-F238E27FC236}">
                <a16:creationId xmlns:a16="http://schemas.microsoft.com/office/drawing/2014/main" id="{EC7BB9DC-07BB-2C40-8B15-E8ACB256D1A7}"/>
              </a:ext>
            </a:extLst>
          </p:cNvPr>
          <p:cNvSpPr/>
          <p:nvPr/>
        </p:nvSpPr>
        <p:spPr>
          <a:xfrm>
            <a:off x="510694" y="2062662"/>
            <a:ext cx="8165828" cy="1231106"/>
          </a:xfrm>
          <a:prstGeom prst="rect">
            <a:avLst/>
          </a:prstGeom>
          <a:noFill/>
          <a:ln>
            <a:noFill/>
          </a:ln>
        </p:spPr>
        <p:txBody>
          <a:bodyPr spcFirstLastPara="1" wrap="square" lIns="0" tIns="0" rIns="0" bIns="0" anchor="t" anchorCtr="0">
            <a:spAutoFit/>
          </a:bodyPr>
          <a:lstStyle/>
          <a:p>
            <a:pPr marL="134938" lvl="1" indent="-127000">
              <a:buClr>
                <a:schemeClr val="dk1"/>
              </a:buClr>
              <a:buSzPts val="1600"/>
              <a:buFont typeface="Arial"/>
              <a:buChar char="•"/>
            </a:pPr>
            <a:r>
              <a:rPr lang="es-PE" sz="1600" dirty="0">
                <a:solidFill>
                  <a:schemeClr val="dk1"/>
                </a:solidFill>
                <a:latin typeface="Calibri"/>
                <a:cs typeface="Calibri"/>
                <a:sym typeface="Calibri"/>
              </a:rPr>
              <a:t>“El conocimiento y experiencia respecto de los objetos de prueba y su entorno son las fuentes para el diseño de casos de prueba”.</a:t>
            </a:r>
            <a:endParaRPr lang="es-PE" sz="1600" dirty="0">
              <a:solidFill>
                <a:schemeClr val="dk1"/>
              </a:solidFill>
              <a:latin typeface="Calibri"/>
              <a:cs typeface="Calibri"/>
            </a:endParaRPr>
          </a:p>
          <a:p>
            <a:pPr marL="134938" lvl="1" indent="-127000">
              <a:buClr>
                <a:schemeClr val="dk1"/>
              </a:buClr>
              <a:buSzPts val="1600"/>
              <a:buFont typeface="Arial"/>
              <a:buNone/>
            </a:pPr>
            <a:endParaRPr lang="es-PE" sz="1600" dirty="0">
              <a:solidFill>
                <a:schemeClr val="dk1"/>
              </a:solidFill>
              <a:latin typeface="Calibri"/>
              <a:cs typeface="Calibri"/>
              <a:sym typeface="Calibri"/>
            </a:endParaRPr>
          </a:p>
          <a:p>
            <a:pPr marL="134938" lvl="1" indent="-127000">
              <a:buClr>
                <a:schemeClr val="dk1"/>
              </a:buClr>
              <a:buSzPts val="1600"/>
              <a:buFont typeface="Arial"/>
              <a:buChar char="•"/>
            </a:pPr>
            <a:r>
              <a:rPr lang="es-PE" sz="1600" dirty="0">
                <a:solidFill>
                  <a:schemeClr val="dk1"/>
                </a:solidFill>
                <a:latin typeface="Calibri"/>
                <a:cs typeface="Calibri"/>
                <a:sym typeface="Calibri"/>
              </a:rPr>
              <a:t>“El conocimiento y experiencia respecto de posibles puntos débiles, posibles errores y errores previos son utilizados para determinar/definir casos de prueba”.</a:t>
            </a:r>
            <a:endParaRPr lang="es-PE" sz="1600" dirty="0">
              <a:solidFill>
                <a:schemeClr val="dk1"/>
              </a:solidFill>
              <a:latin typeface="Calibri"/>
              <a:cs typeface="Calibri"/>
            </a:endParaRPr>
          </a:p>
        </p:txBody>
      </p:sp>
      <p:grpSp>
        <p:nvGrpSpPr>
          <p:cNvPr id="8" name="Grupo 7">
            <a:extLst>
              <a:ext uri="{FF2B5EF4-FFF2-40B4-BE49-F238E27FC236}">
                <a16:creationId xmlns:a16="http://schemas.microsoft.com/office/drawing/2014/main" id="{FBC7DF91-4BDF-8D45-A41B-1F6AEBBD89FE}"/>
              </a:ext>
            </a:extLst>
          </p:cNvPr>
          <p:cNvGrpSpPr/>
          <p:nvPr/>
        </p:nvGrpSpPr>
        <p:grpSpPr>
          <a:xfrm>
            <a:off x="326977" y="1450644"/>
            <a:ext cx="3567690" cy="394721"/>
            <a:chOff x="287221" y="917244"/>
            <a:chExt cx="4194938" cy="500394"/>
          </a:xfrm>
        </p:grpSpPr>
        <p:sp>
          <p:nvSpPr>
            <p:cNvPr id="9" name="Rectángulo redondeado 8">
              <a:extLst>
                <a:ext uri="{FF2B5EF4-FFF2-40B4-BE49-F238E27FC236}">
                  <a16:creationId xmlns:a16="http://schemas.microsoft.com/office/drawing/2014/main" id="{1A639E24-71D2-FC47-A662-723B7377AD63}"/>
                </a:ext>
              </a:extLst>
            </p:cNvPr>
            <p:cNvSpPr/>
            <p:nvPr/>
          </p:nvSpPr>
          <p:spPr>
            <a:xfrm>
              <a:off x="503238" y="917244"/>
              <a:ext cx="3978921" cy="500394"/>
            </a:xfrm>
            <a:prstGeom prst="roundRect">
              <a:avLst>
                <a:gd name="adj" fmla="val 24841"/>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buSzPts val="1600"/>
                <a:tabLst>
                  <a:tab pos="569913" algn="l"/>
                </a:tabLst>
              </a:pPr>
              <a:r>
                <a:rPr lang="es-PE" b="1" dirty="0">
                  <a:solidFill>
                    <a:schemeClr val="lt1"/>
                  </a:solidFill>
                  <a:latin typeface="Calibri" charset="0"/>
                  <a:ea typeface="+mn-ea"/>
                  <a:cs typeface="Calibri" charset="0"/>
                  <a:sym typeface="Calibri"/>
                </a:rPr>
                <a:t>Métodos basados en la experiencia</a:t>
              </a:r>
              <a:endParaRPr lang="es-PE" b="1" dirty="0">
                <a:solidFill>
                  <a:schemeClr val="lt1"/>
                </a:solidFill>
                <a:latin typeface="Calibri" charset="0"/>
                <a:ea typeface="+mn-ea"/>
                <a:cs typeface="Calibri" charset="0"/>
              </a:endParaRPr>
            </a:p>
          </p:txBody>
        </p:sp>
        <p:grpSp>
          <p:nvGrpSpPr>
            <p:cNvPr id="10" name="Agrupar 14">
              <a:extLst>
                <a:ext uri="{FF2B5EF4-FFF2-40B4-BE49-F238E27FC236}">
                  <a16:creationId xmlns:a16="http://schemas.microsoft.com/office/drawing/2014/main" id="{BEBE4A89-0761-9B4D-BAD6-E1D2493965EC}"/>
                </a:ext>
              </a:extLst>
            </p:cNvPr>
            <p:cNvGrpSpPr/>
            <p:nvPr/>
          </p:nvGrpSpPr>
          <p:grpSpPr>
            <a:xfrm>
              <a:off x="287221" y="965530"/>
              <a:ext cx="459474" cy="403823"/>
              <a:chOff x="5892512" y="2805541"/>
              <a:chExt cx="459474" cy="403823"/>
            </a:xfrm>
          </p:grpSpPr>
          <p:sp>
            <p:nvSpPr>
              <p:cNvPr id="11" name="Elipse 10">
                <a:extLst>
                  <a:ext uri="{FF2B5EF4-FFF2-40B4-BE49-F238E27FC236}">
                    <a16:creationId xmlns:a16="http://schemas.microsoft.com/office/drawing/2014/main" id="{61743A23-77A1-864C-B2F7-1385891A1FB0}"/>
                  </a:ext>
                </a:extLst>
              </p:cNvPr>
              <p:cNvSpPr/>
              <p:nvPr/>
            </p:nvSpPr>
            <p:spPr>
              <a:xfrm>
                <a:off x="5956277" y="2824919"/>
                <a:ext cx="395709" cy="376075"/>
              </a:xfrm>
              <a:prstGeom prst="ellipse">
                <a:avLst/>
              </a:prstGeom>
              <a:solidFill>
                <a:srgbClr val="6F95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Elipse 11">
                <a:extLst>
                  <a:ext uri="{FF2B5EF4-FFF2-40B4-BE49-F238E27FC236}">
                    <a16:creationId xmlns:a16="http://schemas.microsoft.com/office/drawing/2014/main" id="{85128BCF-5929-B144-A08E-D57553AEFD58}"/>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Triángulo 12">
                <a:extLst>
                  <a:ext uri="{FF2B5EF4-FFF2-40B4-BE49-F238E27FC236}">
                    <a16:creationId xmlns:a16="http://schemas.microsoft.com/office/drawing/2014/main" id="{A5113F18-BE83-7A47-BE2E-8C6838626FC3}"/>
                  </a:ext>
                </a:extLst>
              </p:cNvPr>
              <p:cNvSpPr/>
              <p:nvPr/>
            </p:nvSpPr>
            <p:spPr>
              <a:xfrm rot="5400000">
                <a:off x="6076285" y="2946262"/>
                <a:ext cx="186870" cy="122381"/>
              </a:xfrm>
              <a:prstGeom prst="triangle">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4" name="Google Shape;135;p6">
            <a:extLst>
              <a:ext uri="{FF2B5EF4-FFF2-40B4-BE49-F238E27FC236}">
                <a16:creationId xmlns:a16="http://schemas.microsoft.com/office/drawing/2014/main" id="{45639D18-5022-E243-8934-18C513606483}"/>
              </a:ext>
            </a:extLst>
          </p:cNvPr>
          <p:cNvSpPr/>
          <p:nvPr/>
        </p:nvSpPr>
        <p:spPr>
          <a:xfrm>
            <a:off x="503238" y="912813"/>
            <a:ext cx="8165828"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CATEGORÍAS DE LAS TÉCNICAS DINÁMICAS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41" name="Rectángulo 40">
            <a:extLst>
              <a:ext uri="{FF2B5EF4-FFF2-40B4-BE49-F238E27FC236}">
                <a16:creationId xmlns:a16="http://schemas.microsoft.com/office/drawing/2014/main" id="{E68D4C8D-FFAD-3640-B170-93EBCEA562F8}"/>
              </a:ext>
            </a:extLst>
          </p:cNvPr>
          <p:cNvSpPr/>
          <p:nvPr/>
        </p:nvSpPr>
        <p:spPr>
          <a:xfrm>
            <a:off x="503238" y="2721935"/>
            <a:ext cx="8172450" cy="25120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7" name="Google Shape;157;p9"/>
          <p:cNvSpPr/>
          <p:nvPr/>
        </p:nvSpPr>
        <p:spPr>
          <a:xfrm>
            <a:off x="520172" y="924247"/>
            <a:ext cx="8137524"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TÉCNICAS DE CAJA BLANCA (WHITE BOX) O BASADAS EN LA ESTRUCTURA</a:t>
            </a:r>
            <a:endParaRPr dirty="0"/>
          </a:p>
        </p:txBody>
      </p:sp>
      <p:sp>
        <p:nvSpPr>
          <p:cNvPr id="5" name="Rectangle 5">
            <a:extLst>
              <a:ext uri="{FF2B5EF4-FFF2-40B4-BE49-F238E27FC236}">
                <a16:creationId xmlns:a16="http://schemas.microsoft.com/office/drawing/2014/main" id="{996913D6-F492-9C43-AAFE-4A3E4A3B49C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40" name="Grupo 39">
            <a:extLst>
              <a:ext uri="{FF2B5EF4-FFF2-40B4-BE49-F238E27FC236}">
                <a16:creationId xmlns:a16="http://schemas.microsoft.com/office/drawing/2014/main" id="{C4A8FAF7-F04D-4C4D-A8A4-EB665244005A}"/>
              </a:ext>
            </a:extLst>
          </p:cNvPr>
          <p:cNvGrpSpPr/>
          <p:nvPr/>
        </p:nvGrpSpPr>
        <p:grpSpPr>
          <a:xfrm>
            <a:off x="2282902" y="2957837"/>
            <a:ext cx="4578196" cy="2040247"/>
            <a:chOff x="2299855" y="2770051"/>
            <a:chExt cx="4578196" cy="2040247"/>
          </a:xfrm>
        </p:grpSpPr>
        <p:sp>
          <p:nvSpPr>
            <p:cNvPr id="2" name="Forma libre 1">
              <a:extLst>
                <a:ext uri="{FF2B5EF4-FFF2-40B4-BE49-F238E27FC236}">
                  <a16:creationId xmlns:a16="http://schemas.microsoft.com/office/drawing/2014/main" id="{BC1A2E83-B6EF-6B41-BBC1-51978FF3F527}"/>
                </a:ext>
              </a:extLst>
            </p:cNvPr>
            <p:cNvSpPr/>
            <p:nvPr/>
          </p:nvSpPr>
          <p:spPr>
            <a:xfrm>
              <a:off x="3236422" y="3092335"/>
              <a:ext cx="2726574" cy="1717963"/>
            </a:xfrm>
            <a:custGeom>
              <a:avLst/>
              <a:gdLst>
                <a:gd name="connsiteX0" fmla="*/ 11083 w 2726574"/>
                <a:gd name="connsiteY0" fmla="*/ 426720 h 1717963"/>
                <a:gd name="connsiteX1" fmla="*/ 437803 w 2726574"/>
                <a:gd name="connsiteY1" fmla="*/ 0 h 1717963"/>
                <a:gd name="connsiteX2" fmla="*/ 2726574 w 2726574"/>
                <a:gd name="connsiteY2" fmla="*/ 5541 h 1717963"/>
                <a:gd name="connsiteX3" fmla="*/ 2726574 w 2726574"/>
                <a:gd name="connsiteY3" fmla="*/ 1291243 h 1717963"/>
                <a:gd name="connsiteX4" fmla="*/ 2305396 w 2726574"/>
                <a:gd name="connsiteY4" fmla="*/ 1712421 h 1717963"/>
                <a:gd name="connsiteX5" fmla="*/ 0 w 2726574"/>
                <a:gd name="connsiteY5" fmla="*/ 1717963 h 1717963"/>
                <a:gd name="connsiteX6" fmla="*/ 11083 w 2726574"/>
                <a:gd name="connsiteY6" fmla="*/ 426720 h 1717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6574" h="1717963">
                  <a:moveTo>
                    <a:pt x="11083" y="426720"/>
                  </a:moveTo>
                  <a:lnTo>
                    <a:pt x="437803" y="0"/>
                  </a:lnTo>
                  <a:lnTo>
                    <a:pt x="2726574" y="5541"/>
                  </a:lnTo>
                  <a:lnTo>
                    <a:pt x="2726574" y="1291243"/>
                  </a:lnTo>
                  <a:lnTo>
                    <a:pt x="2305396" y="1712421"/>
                  </a:lnTo>
                  <a:lnTo>
                    <a:pt x="0" y="1717963"/>
                  </a:lnTo>
                  <a:cubicBezTo>
                    <a:pt x="3694" y="1287549"/>
                    <a:pt x="7389" y="857134"/>
                    <a:pt x="11083" y="426720"/>
                  </a:cubicBezTo>
                  <a:close/>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Forma libre 2">
              <a:extLst>
                <a:ext uri="{FF2B5EF4-FFF2-40B4-BE49-F238E27FC236}">
                  <a16:creationId xmlns:a16="http://schemas.microsoft.com/office/drawing/2014/main" id="{ED7113C5-F5B3-A445-9791-6DF15683015A}"/>
                </a:ext>
              </a:extLst>
            </p:cNvPr>
            <p:cNvSpPr/>
            <p:nvPr/>
          </p:nvSpPr>
          <p:spPr>
            <a:xfrm>
              <a:off x="3253047" y="3524596"/>
              <a:ext cx="2294313" cy="1274619"/>
            </a:xfrm>
            <a:custGeom>
              <a:avLst/>
              <a:gdLst>
                <a:gd name="connsiteX0" fmla="*/ 0 w 2294313"/>
                <a:gd name="connsiteY0" fmla="*/ 0 h 1274619"/>
                <a:gd name="connsiteX1" fmla="*/ 2294313 w 2294313"/>
                <a:gd name="connsiteY1" fmla="*/ 0 h 1274619"/>
                <a:gd name="connsiteX2" fmla="*/ 2294313 w 2294313"/>
                <a:gd name="connsiteY2" fmla="*/ 1274619 h 1274619"/>
              </a:gdLst>
              <a:ahLst/>
              <a:cxnLst>
                <a:cxn ang="0">
                  <a:pos x="connsiteX0" y="connsiteY0"/>
                </a:cxn>
                <a:cxn ang="0">
                  <a:pos x="connsiteX1" y="connsiteY1"/>
                </a:cxn>
                <a:cxn ang="0">
                  <a:pos x="connsiteX2" y="connsiteY2"/>
                </a:cxn>
              </a:cxnLst>
              <a:rect l="l" t="t" r="r" b="b"/>
              <a:pathLst>
                <a:path w="2294313" h="1274619">
                  <a:moveTo>
                    <a:pt x="0" y="0"/>
                  </a:moveTo>
                  <a:lnTo>
                    <a:pt x="2294313" y="0"/>
                  </a:lnTo>
                  <a:lnTo>
                    <a:pt x="2294313" y="1274619"/>
                  </a:lnTo>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Forma libre 3">
              <a:extLst>
                <a:ext uri="{FF2B5EF4-FFF2-40B4-BE49-F238E27FC236}">
                  <a16:creationId xmlns:a16="http://schemas.microsoft.com/office/drawing/2014/main" id="{99060954-A339-E04C-82ED-6594D05B4941}"/>
                </a:ext>
              </a:extLst>
            </p:cNvPr>
            <p:cNvSpPr/>
            <p:nvPr/>
          </p:nvSpPr>
          <p:spPr>
            <a:xfrm>
              <a:off x="3247505" y="4378036"/>
              <a:ext cx="2715491" cy="426720"/>
            </a:xfrm>
            <a:custGeom>
              <a:avLst/>
              <a:gdLst>
                <a:gd name="connsiteX0" fmla="*/ 0 w 2715491"/>
                <a:gd name="connsiteY0" fmla="*/ 426720 h 426720"/>
                <a:gd name="connsiteX1" fmla="*/ 426720 w 2715491"/>
                <a:gd name="connsiteY1" fmla="*/ 5542 h 426720"/>
                <a:gd name="connsiteX2" fmla="*/ 2715491 w 2715491"/>
                <a:gd name="connsiteY2" fmla="*/ 0 h 426720"/>
              </a:gdLst>
              <a:ahLst/>
              <a:cxnLst>
                <a:cxn ang="0">
                  <a:pos x="connsiteX0" y="connsiteY0"/>
                </a:cxn>
                <a:cxn ang="0">
                  <a:pos x="connsiteX1" y="connsiteY1"/>
                </a:cxn>
                <a:cxn ang="0">
                  <a:pos x="connsiteX2" y="connsiteY2"/>
                </a:cxn>
              </a:cxnLst>
              <a:rect l="l" t="t" r="r" b="b"/>
              <a:pathLst>
                <a:path w="2715491" h="426720">
                  <a:moveTo>
                    <a:pt x="0" y="426720"/>
                  </a:moveTo>
                  <a:lnTo>
                    <a:pt x="426720" y="5542"/>
                  </a:lnTo>
                  <a:lnTo>
                    <a:pt x="2715491" y="0"/>
                  </a:lnTo>
                </a:path>
              </a:pathLst>
            </a:custGeom>
            <a:noFill/>
            <a:ln w="19050">
              <a:solidFill>
                <a:srgbClr val="8087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7" name="Conector recto 6">
              <a:extLst>
                <a:ext uri="{FF2B5EF4-FFF2-40B4-BE49-F238E27FC236}">
                  <a16:creationId xmlns:a16="http://schemas.microsoft.com/office/drawing/2014/main" id="{80D7E3DD-2FB4-AA44-91AF-5B864D41A5ED}"/>
                </a:ext>
              </a:extLst>
            </p:cNvPr>
            <p:cNvCxnSpPr>
              <a:cxnSpLocks/>
              <a:stCxn id="2" idx="1"/>
              <a:endCxn id="4" idx="1"/>
            </p:cNvCxnSpPr>
            <p:nvPr/>
          </p:nvCxnSpPr>
          <p:spPr>
            <a:xfrm>
              <a:off x="3674225" y="3092335"/>
              <a:ext cx="0" cy="1291243"/>
            </a:xfrm>
            <a:prstGeom prst="line">
              <a:avLst/>
            </a:prstGeom>
            <a:ln w="19050">
              <a:solidFill>
                <a:srgbClr val="808799"/>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D5178155-12AE-C24E-899F-F15E1535DCE9}"/>
                </a:ext>
              </a:extLst>
            </p:cNvPr>
            <p:cNvCxnSpPr>
              <a:cxnSpLocks/>
              <a:endCxn id="2" idx="2"/>
            </p:cNvCxnSpPr>
            <p:nvPr/>
          </p:nvCxnSpPr>
          <p:spPr>
            <a:xfrm flipV="1">
              <a:off x="5547360" y="3097876"/>
              <a:ext cx="415636" cy="426722"/>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sp>
          <p:nvSpPr>
            <p:cNvPr id="16" name="28 Flecha derecha">
              <a:extLst>
                <a:ext uri="{FF2B5EF4-FFF2-40B4-BE49-F238E27FC236}">
                  <a16:creationId xmlns:a16="http://schemas.microsoft.com/office/drawing/2014/main" id="{6B0ABFC3-3334-AA4F-8C7B-031F5E3A6B69}"/>
                </a:ext>
              </a:extLst>
            </p:cNvPr>
            <p:cNvSpPr/>
            <p:nvPr/>
          </p:nvSpPr>
          <p:spPr>
            <a:xfrm>
              <a:off x="2299855" y="3854586"/>
              <a:ext cx="1114559" cy="340338"/>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7" name="28 Flecha derecha">
              <a:extLst>
                <a:ext uri="{FF2B5EF4-FFF2-40B4-BE49-F238E27FC236}">
                  <a16:creationId xmlns:a16="http://schemas.microsoft.com/office/drawing/2014/main" id="{2094F162-4E79-4C42-8406-3C68288E9DB2}"/>
                </a:ext>
              </a:extLst>
            </p:cNvPr>
            <p:cNvSpPr/>
            <p:nvPr/>
          </p:nvSpPr>
          <p:spPr>
            <a:xfrm>
              <a:off x="5763492" y="3854586"/>
              <a:ext cx="1114559" cy="340338"/>
            </a:xfrm>
            <a:prstGeom prst="rightArrow">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3" name="Elipse 12">
              <a:extLst>
                <a:ext uri="{FF2B5EF4-FFF2-40B4-BE49-F238E27FC236}">
                  <a16:creationId xmlns:a16="http://schemas.microsoft.com/office/drawing/2014/main" id="{9B5E8D6C-762C-924B-8466-5ADF17F32B75}"/>
                </a:ext>
              </a:extLst>
            </p:cNvPr>
            <p:cNvSpPr/>
            <p:nvPr/>
          </p:nvSpPr>
          <p:spPr>
            <a:xfrm>
              <a:off x="4051068" y="3629891"/>
              <a:ext cx="238299" cy="182308"/>
            </a:xfrm>
            <a:prstGeom prst="ellipse">
              <a:avLst/>
            </a:prstGeom>
            <a:solidFill>
              <a:schemeClr val="bg1">
                <a:lumMod val="95000"/>
              </a:schemeClr>
            </a:solidFill>
            <a:ln>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9" name="Elipse 18">
              <a:extLst>
                <a:ext uri="{FF2B5EF4-FFF2-40B4-BE49-F238E27FC236}">
                  <a16:creationId xmlns:a16="http://schemas.microsoft.com/office/drawing/2014/main" id="{DB7A5F2B-2DC8-C245-B562-B0A0DE31B5F9}"/>
                </a:ext>
              </a:extLst>
            </p:cNvPr>
            <p:cNvSpPr/>
            <p:nvPr/>
          </p:nvSpPr>
          <p:spPr>
            <a:xfrm>
              <a:off x="4716086" y="3801688"/>
              <a:ext cx="238299" cy="182308"/>
            </a:xfrm>
            <a:prstGeom prst="ellipse">
              <a:avLst/>
            </a:prstGeom>
            <a:solidFill>
              <a:schemeClr val="bg1">
                <a:lumMod val="95000"/>
              </a:schemeClr>
            </a:solidFill>
            <a:ln>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0" name="Elipse 19">
              <a:extLst>
                <a:ext uri="{FF2B5EF4-FFF2-40B4-BE49-F238E27FC236}">
                  <a16:creationId xmlns:a16="http://schemas.microsoft.com/office/drawing/2014/main" id="{E60F71CB-D0F6-FC40-BC1B-F738C0576708}"/>
                </a:ext>
              </a:extLst>
            </p:cNvPr>
            <p:cNvSpPr/>
            <p:nvPr/>
          </p:nvSpPr>
          <p:spPr>
            <a:xfrm>
              <a:off x="4178529" y="4106488"/>
              <a:ext cx="238299" cy="182308"/>
            </a:xfrm>
            <a:prstGeom prst="ellipse">
              <a:avLst/>
            </a:prstGeom>
            <a:solidFill>
              <a:schemeClr val="bg1">
                <a:lumMod val="95000"/>
              </a:schemeClr>
            </a:solidFill>
            <a:ln>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Elipse 20">
              <a:extLst>
                <a:ext uri="{FF2B5EF4-FFF2-40B4-BE49-F238E27FC236}">
                  <a16:creationId xmlns:a16="http://schemas.microsoft.com/office/drawing/2014/main" id="{E65A8004-2443-914F-A655-2FCB4F0383B3}"/>
                </a:ext>
              </a:extLst>
            </p:cNvPr>
            <p:cNvSpPr/>
            <p:nvPr/>
          </p:nvSpPr>
          <p:spPr>
            <a:xfrm>
              <a:off x="5131722" y="4167448"/>
              <a:ext cx="238299" cy="182308"/>
            </a:xfrm>
            <a:prstGeom prst="ellipse">
              <a:avLst/>
            </a:prstGeom>
            <a:solidFill>
              <a:schemeClr val="bg1">
                <a:lumMod val="95000"/>
              </a:schemeClr>
            </a:solidFill>
            <a:ln>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15" name="Conector recto de flecha 14">
              <a:extLst>
                <a:ext uri="{FF2B5EF4-FFF2-40B4-BE49-F238E27FC236}">
                  <a16:creationId xmlns:a16="http://schemas.microsoft.com/office/drawing/2014/main" id="{BD015780-00BD-4246-872D-FB276AABB0D7}"/>
                </a:ext>
              </a:extLst>
            </p:cNvPr>
            <p:cNvCxnSpPr>
              <a:cxnSpLocks/>
            </p:cNvCxnSpPr>
            <p:nvPr/>
          </p:nvCxnSpPr>
          <p:spPr>
            <a:xfrm flipV="1">
              <a:off x="3441469" y="3740727"/>
              <a:ext cx="570810" cy="2937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3526FCF0-70BB-8D40-9104-918BBC4B79C4}"/>
                </a:ext>
              </a:extLst>
            </p:cNvPr>
            <p:cNvCxnSpPr>
              <a:cxnSpLocks/>
            </p:cNvCxnSpPr>
            <p:nvPr/>
          </p:nvCxnSpPr>
          <p:spPr>
            <a:xfrm>
              <a:off x="3441469" y="4034444"/>
              <a:ext cx="687186" cy="1881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D9CB6C89-CACE-4B42-8D36-9734799E3946}"/>
                </a:ext>
              </a:extLst>
            </p:cNvPr>
            <p:cNvCxnSpPr>
              <a:cxnSpLocks/>
            </p:cNvCxnSpPr>
            <p:nvPr/>
          </p:nvCxnSpPr>
          <p:spPr>
            <a:xfrm flipV="1">
              <a:off x="4427915" y="3971889"/>
              <a:ext cx="315880" cy="1900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F9061496-4D7B-0348-988F-2F3332E86ECC}"/>
                </a:ext>
              </a:extLst>
            </p:cNvPr>
            <p:cNvCxnSpPr>
              <a:cxnSpLocks/>
            </p:cNvCxnSpPr>
            <p:nvPr/>
          </p:nvCxnSpPr>
          <p:spPr>
            <a:xfrm>
              <a:off x="4310196" y="3750720"/>
              <a:ext cx="375412" cy="1053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BDD970A7-217D-6240-92BC-32E6E192FAD2}"/>
                </a:ext>
              </a:extLst>
            </p:cNvPr>
            <p:cNvCxnSpPr>
              <a:cxnSpLocks/>
            </p:cNvCxnSpPr>
            <p:nvPr/>
          </p:nvCxnSpPr>
          <p:spPr>
            <a:xfrm>
              <a:off x="4947505" y="3961309"/>
              <a:ext cx="211926" cy="1922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A00E7EEF-51E2-0A45-9378-F2513EFB72AC}"/>
                </a:ext>
              </a:extLst>
            </p:cNvPr>
            <p:cNvCxnSpPr>
              <a:cxnSpLocks/>
            </p:cNvCxnSpPr>
            <p:nvPr/>
          </p:nvCxnSpPr>
          <p:spPr>
            <a:xfrm flipV="1">
              <a:off x="5390850" y="4043560"/>
              <a:ext cx="317555" cy="1790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Forma libre 37">
              <a:extLst>
                <a:ext uri="{FF2B5EF4-FFF2-40B4-BE49-F238E27FC236}">
                  <a16:creationId xmlns:a16="http://schemas.microsoft.com/office/drawing/2014/main" id="{832DCEC1-8725-D445-AFB8-1171EC46005D}"/>
                </a:ext>
              </a:extLst>
            </p:cNvPr>
            <p:cNvSpPr/>
            <p:nvPr/>
          </p:nvSpPr>
          <p:spPr>
            <a:xfrm>
              <a:off x="4849090" y="4073236"/>
              <a:ext cx="282631" cy="210589"/>
            </a:xfrm>
            <a:custGeom>
              <a:avLst/>
              <a:gdLst>
                <a:gd name="connsiteX0" fmla="*/ 249382 w 249382"/>
                <a:gd name="connsiteY0" fmla="*/ 210589 h 210589"/>
                <a:gd name="connsiteX1" fmla="*/ 94211 w 249382"/>
                <a:gd name="connsiteY1" fmla="*/ 160713 h 210589"/>
                <a:gd name="connsiteX2" fmla="*/ 0 w 249382"/>
                <a:gd name="connsiteY2" fmla="*/ 0 h 210589"/>
              </a:gdLst>
              <a:ahLst/>
              <a:cxnLst>
                <a:cxn ang="0">
                  <a:pos x="connsiteX0" y="connsiteY0"/>
                </a:cxn>
                <a:cxn ang="0">
                  <a:pos x="connsiteX1" y="connsiteY1"/>
                </a:cxn>
                <a:cxn ang="0">
                  <a:pos x="connsiteX2" y="connsiteY2"/>
                </a:cxn>
              </a:cxnLst>
              <a:rect l="l" t="t" r="r" b="b"/>
              <a:pathLst>
                <a:path w="249382" h="210589">
                  <a:moveTo>
                    <a:pt x="249382" y="210589"/>
                  </a:moveTo>
                  <a:cubicBezTo>
                    <a:pt x="192578" y="203200"/>
                    <a:pt x="135775" y="195811"/>
                    <a:pt x="94211" y="160713"/>
                  </a:cubicBezTo>
                  <a:cubicBezTo>
                    <a:pt x="52647" y="125615"/>
                    <a:pt x="26323" y="62807"/>
                    <a:pt x="0" y="0"/>
                  </a:cubicBez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2" name="Google Shape;157;p9">
              <a:extLst>
                <a:ext uri="{FF2B5EF4-FFF2-40B4-BE49-F238E27FC236}">
                  <a16:creationId xmlns:a16="http://schemas.microsoft.com/office/drawing/2014/main" id="{7D6FAB3E-4D0A-1A44-A713-703D0FE98115}"/>
                </a:ext>
              </a:extLst>
            </p:cNvPr>
            <p:cNvSpPr/>
            <p:nvPr/>
          </p:nvSpPr>
          <p:spPr>
            <a:xfrm>
              <a:off x="2303585" y="3623754"/>
              <a:ext cx="856593" cy="230832"/>
            </a:xfrm>
            <a:prstGeom prst="rect">
              <a:avLst/>
            </a:prstGeom>
            <a:noFill/>
            <a:ln>
              <a:noFill/>
            </a:ln>
          </p:spPr>
          <p:txBody>
            <a:bodyPr spcFirstLastPara="1" wrap="square" lIns="0" tIns="0" rIns="0" bIns="0" anchor="t" anchorCtr="0">
              <a:spAutoFit/>
            </a:bodyPr>
            <a:lstStyle/>
            <a:p>
              <a:pPr marL="0" marR="0" lvl="0" indent="0" algn="l" rtl="0">
                <a:spcBef>
                  <a:spcPts val="0"/>
                </a:spcBef>
                <a:buNone/>
              </a:pPr>
              <a:r>
                <a:rPr lang="es-PE" sz="1500" b="1" dirty="0">
                  <a:solidFill>
                    <a:schemeClr val="dk1"/>
                  </a:solidFill>
                  <a:latin typeface="Calibri"/>
                  <a:ea typeface="Calibri"/>
                  <a:cs typeface="Calibri"/>
                  <a:sym typeface="Calibri"/>
                </a:rPr>
                <a:t>Entrada</a:t>
              </a:r>
              <a:endParaRPr sz="1500" dirty="0"/>
            </a:p>
          </p:txBody>
        </p:sp>
        <p:sp>
          <p:nvSpPr>
            <p:cNvPr id="43" name="Google Shape;157;p9">
              <a:extLst>
                <a:ext uri="{FF2B5EF4-FFF2-40B4-BE49-F238E27FC236}">
                  <a16:creationId xmlns:a16="http://schemas.microsoft.com/office/drawing/2014/main" id="{09808661-E533-8445-A92E-7293FB8C63C2}"/>
                </a:ext>
              </a:extLst>
            </p:cNvPr>
            <p:cNvSpPr/>
            <p:nvPr/>
          </p:nvSpPr>
          <p:spPr>
            <a:xfrm>
              <a:off x="6256059" y="3623754"/>
              <a:ext cx="594782" cy="230832"/>
            </a:xfrm>
            <a:prstGeom prst="rect">
              <a:avLst/>
            </a:prstGeom>
            <a:noFill/>
            <a:ln>
              <a:noFill/>
            </a:ln>
          </p:spPr>
          <p:txBody>
            <a:bodyPr spcFirstLastPara="1" wrap="square" lIns="0" tIns="0" rIns="0" bIns="0" anchor="t" anchorCtr="0">
              <a:spAutoFit/>
            </a:bodyPr>
            <a:lstStyle/>
            <a:p>
              <a:pPr marL="0" marR="0" lvl="0" indent="0" algn="l" rtl="0">
                <a:spcBef>
                  <a:spcPts val="0"/>
                </a:spcBef>
                <a:buNone/>
              </a:pPr>
              <a:r>
                <a:rPr lang="es-PE" sz="1500" b="1" dirty="0">
                  <a:solidFill>
                    <a:schemeClr val="dk1"/>
                  </a:solidFill>
                  <a:latin typeface="Calibri"/>
                  <a:ea typeface="Calibri"/>
                  <a:cs typeface="Calibri"/>
                  <a:sym typeface="Calibri"/>
                </a:rPr>
                <a:t>Salida</a:t>
              </a:r>
              <a:endParaRPr sz="1500" dirty="0"/>
            </a:p>
          </p:txBody>
        </p:sp>
        <p:sp>
          <p:nvSpPr>
            <p:cNvPr id="44" name="Google Shape;157;p9">
              <a:extLst>
                <a:ext uri="{FF2B5EF4-FFF2-40B4-BE49-F238E27FC236}">
                  <a16:creationId xmlns:a16="http://schemas.microsoft.com/office/drawing/2014/main" id="{3CF33D31-3A85-AA4D-985A-B755993DF75C}"/>
                </a:ext>
              </a:extLst>
            </p:cNvPr>
            <p:cNvSpPr/>
            <p:nvPr/>
          </p:nvSpPr>
          <p:spPr>
            <a:xfrm>
              <a:off x="3672414" y="2770051"/>
              <a:ext cx="2290582" cy="261610"/>
            </a:xfrm>
            <a:prstGeom prst="rect">
              <a:avLst/>
            </a:prstGeom>
            <a:noFill/>
            <a:ln>
              <a:noFill/>
            </a:ln>
          </p:spPr>
          <p:txBody>
            <a:bodyPr spcFirstLastPara="1" wrap="square" lIns="0" tIns="0" rIns="0" bIns="0" anchor="t" anchorCtr="0">
              <a:spAutoFit/>
            </a:bodyPr>
            <a:lstStyle/>
            <a:p>
              <a:pPr marL="0" marR="0" lvl="0" indent="0" algn="ctr" rtl="0">
                <a:spcBef>
                  <a:spcPts val="0"/>
                </a:spcBef>
                <a:buNone/>
              </a:pPr>
              <a:r>
                <a:rPr lang="es-PE" sz="1700" b="1" dirty="0">
                  <a:solidFill>
                    <a:schemeClr val="dk1"/>
                  </a:solidFill>
                  <a:latin typeface="Calibri"/>
                  <a:ea typeface="Calibri"/>
                  <a:cs typeface="Calibri"/>
                  <a:sym typeface="Calibri"/>
                </a:rPr>
                <a:t>Caja blanca</a:t>
              </a:r>
              <a:endParaRPr sz="1700" dirty="0"/>
            </a:p>
          </p:txBody>
        </p:sp>
      </p:grpSp>
      <p:sp>
        <p:nvSpPr>
          <p:cNvPr id="27" name="Rectángulo 26">
            <a:extLst>
              <a:ext uri="{FF2B5EF4-FFF2-40B4-BE49-F238E27FC236}">
                <a16:creationId xmlns:a16="http://schemas.microsoft.com/office/drawing/2014/main" id="{49908B48-3342-AA48-BF09-E8A7E0BA8D7D}"/>
              </a:ext>
            </a:extLst>
          </p:cNvPr>
          <p:cNvSpPr/>
          <p:nvPr/>
        </p:nvSpPr>
        <p:spPr>
          <a:xfrm>
            <a:off x="810915" y="1331645"/>
            <a:ext cx="4186619" cy="215444"/>
          </a:xfrm>
          <a:prstGeom prst="rect">
            <a:avLst/>
          </a:prstGeom>
        </p:spPr>
        <p:txBody>
          <a:bodyPr wrap="square" lIns="0" tIns="0" rIns="0" bIns="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La estructura del código es el foco de atención.</a:t>
            </a:r>
            <a:endParaRPr lang="es-PE" dirty="0"/>
          </a:p>
        </p:txBody>
      </p:sp>
      <p:cxnSp>
        <p:nvCxnSpPr>
          <p:cNvPr id="29" name="Conector recto 28">
            <a:extLst>
              <a:ext uri="{FF2B5EF4-FFF2-40B4-BE49-F238E27FC236}">
                <a16:creationId xmlns:a16="http://schemas.microsoft.com/office/drawing/2014/main" id="{464697B1-0EE3-3D4B-BC33-73D49099D6C2}"/>
              </a:ext>
            </a:extLst>
          </p:cNvPr>
          <p:cNvCxnSpPr>
            <a:cxnSpLocks/>
          </p:cNvCxnSpPr>
          <p:nvPr/>
        </p:nvCxnSpPr>
        <p:spPr>
          <a:xfrm>
            <a:off x="596514" y="1534515"/>
            <a:ext cx="0" cy="239409"/>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1A3C20D5-9798-D449-875E-D08E14030DBA}"/>
              </a:ext>
            </a:extLst>
          </p:cNvPr>
          <p:cNvSpPr/>
          <p:nvPr/>
        </p:nvSpPr>
        <p:spPr>
          <a:xfrm>
            <a:off x="810915" y="1787525"/>
            <a:ext cx="4186619" cy="215444"/>
          </a:xfrm>
          <a:prstGeom prst="rect">
            <a:avLst/>
          </a:prstGeom>
        </p:spPr>
        <p:txBody>
          <a:bodyPr wrap="square" lIns="0" tIns="0" rIns="0" bIns="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El probador conoce la estructura interna del código.</a:t>
            </a:r>
            <a:endParaRPr lang="es-PE" dirty="0"/>
          </a:p>
        </p:txBody>
      </p:sp>
      <p:sp>
        <p:nvSpPr>
          <p:cNvPr id="31" name="Rectángulo 30">
            <a:extLst>
              <a:ext uri="{FF2B5EF4-FFF2-40B4-BE49-F238E27FC236}">
                <a16:creationId xmlns:a16="http://schemas.microsoft.com/office/drawing/2014/main" id="{EEC006F5-E42A-1B42-8ACC-0725423B0EED}"/>
              </a:ext>
            </a:extLst>
          </p:cNvPr>
          <p:cNvSpPr/>
          <p:nvPr/>
        </p:nvSpPr>
        <p:spPr>
          <a:xfrm>
            <a:off x="810915" y="2243967"/>
            <a:ext cx="6458266" cy="215444"/>
          </a:xfrm>
          <a:prstGeom prst="rect">
            <a:avLst/>
          </a:prstGeom>
        </p:spPr>
        <p:txBody>
          <a:bodyPr wrap="square" lIns="0" tIns="0" rIns="0" bIns="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Los casos de prueba son seleccionados en base a la estructura interna del código.</a:t>
            </a:r>
            <a:endParaRPr lang="es-PE" dirty="0"/>
          </a:p>
        </p:txBody>
      </p:sp>
      <p:sp>
        <p:nvSpPr>
          <p:cNvPr id="33" name="Más 32">
            <a:extLst>
              <a:ext uri="{FF2B5EF4-FFF2-40B4-BE49-F238E27FC236}">
                <a16:creationId xmlns:a16="http://schemas.microsoft.com/office/drawing/2014/main" id="{5200459D-5814-C047-A347-D5F97A9A7876}"/>
              </a:ext>
            </a:extLst>
          </p:cNvPr>
          <p:cNvSpPr/>
          <p:nvPr/>
        </p:nvSpPr>
        <p:spPr>
          <a:xfrm>
            <a:off x="520172" y="1341417"/>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34" name="Conector recto 33">
            <a:extLst>
              <a:ext uri="{FF2B5EF4-FFF2-40B4-BE49-F238E27FC236}">
                <a16:creationId xmlns:a16="http://schemas.microsoft.com/office/drawing/2014/main" id="{4E0F6C3A-8AA2-D94B-A801-12F9DB2D6F78}"/>
              </a:ext>
            </a:extLst>
          </p:cNvPr>
          <p:cNvCxnSpPr>
            <a:cxnSpLocks/>
          </p:cNvCxnSpPr>
          <p:nvPr/>
        </p:nvCxnSpPr>
        <p:spPr>
          <a:xfrm>
            <a:off x="596514" y="1981162"/>
            <a:ext cx="0" cy="230084"/>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36" name="Más 35">
            <a:extLst>
              <a:ext uri="{FF2B5EF4-FFF2-40B4-BE49-F238E27FC236}">
                <a16:creationId xmlns:a16="http://schemas.microsoft.com/office/drawing/2014/main" id="{18700737-55C9-F041-AD5C-ACE5D34DA1B5}"/>
              </a:ext>
            </a:extLst>
          </p:cNvPr>
          <p:cNvSpPr/>
          <p:nvPr/>
        </p:nvSpPr>
        <p:spPr>
          <a:xfrm>
            <a:off x="520172" y="1798413"/>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39" name="Más 38">
            <a:extLst>
              <a:ext uri="{FF2B5EF4-FFF2-40B4-BE49-F238E27FC236}">
                <a16:creationId xmlns:a16="http://schemas.microsoft.com/office/drawing/2014/main" id="{8FD007A9-6F76-F849-92D2-851463AA5E96}"/>
              </a:ext>
            </a:extLst>
          </p:cNvPr>
          <p:cNvSpPr/>
          <p:nvPr/>
        </p:nvSpPr>
        <p:spPr>
          <a:xfrm>
            <a:off x="520172" y="2243967"/>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10"/>
          <p:cNvSpPr/>
          <p:nvPr/>
        </p:nvSpPr>
        <p:spPr>
          <a:xfrm>
            <a:off x="503237" y="918959"/>
            <a:ext cx="8137525"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1600" b="1" dirty="0">
                <a:solidFill>
                  <a:schemeClr val="dk1"/>
                </a:solidFill>
                <a:latin typeface="Calibri"/>
                <a:ea typeface="Calibri"/>
                <a:cs typeface="Calibri"/>
                <a:sym typeface="Calibri"/>
              </a:rPr>
              <a:t>TÉCNICAS DE CAJA BLANCA (WHITE BOX) O BASADAS EN LA ESTRUCTURA</a:t>
            </a:r>
            <a:endParaRPr sz="1600" b="1" dirty="0">
              <a:solidFill>
                <a:schemeClr val="dk1"/>
              </a:solidFill>
              <a:latin typeface="Calibri"/>
              <a:ea typeface="Calibri"/>
              <a:cs typeface="Calibri"/>
              <a:sym typeface="Calibri"/>
            </a:endParaRPr>
          </a:p>
        </p:txBody>
      </p:sp>
      <p:sp>
        <p:nvSpPr>
          <p:cNvPr id="17" name="Rectangle 5">
            <a:extLst>
              <a:ext uri="{FF2B5EF4-FFF2-40B4-BE49-F238E27FC236}">
                <a16:creationId xmlns:a16="http://schemas.microsoft.com/office/drawing/2014/main" id="{DD864820-856D-9B49-9273-EFBD4E5DC7B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3" name="Grupo 2">
            <a:extLst>
              <a:ext uri="{FF2B5EF4-FFF2-40B4-BE49-F238E27FC236}">
                <a16:creationId xmlns:a16="http://schemas.microsoft.com/office/drawing/2014/main" id="{9E9E216B-9094-ED48-B30E-1FA31CAD1E24}"/>
              </a:ext>
            </a:extLst>
          </p:cNvPr>
          <p:cNvGrpSpPr/>
          <p:nvPr/>
        </p:nvGrpSpPr>
        <p:grpSpPr>
          <a:xfrm>
            <a:off x="1424692" y="1757099"/>
            <a:ext cx="6294616" cy="2356745"/>
            <a:chOff x="1424692" y="2014471"/>
            <a:chExt cx="6294616" cy="2356745"/>
          </a:xfrm>
        </p:grpSpPr>
        <p:grpSp>
          <p:nvGrpSpPr>
            <p:cNvPr id="2" name="Grupo 1">
              <a:extLst>
                <a:ext uri="{FF2B5EF4-FFF2-40B4-BE49-F238E27FC236}">
                  <a16:creationId xmlns:a16="http://schemas.microsoft.com/office/drawing/2014/main" id="{1F8A791A-B475-0C4C-9EAE-EF71E97BE794}"/>
                </a:ext>
              </a:extLst>
            </p:cNvPr>
            <p:cNvGrpSpPr/>
            <p:nvPr/>
          </p:nvGrpSpPr>
          <p:grpSpPr>
            <a:xfrm>
              <a:off x="1424692" y="2014471"/>
              <a:ext cx="6294616" cy="1095015"/>
              <a:chOff x="1226147" y="1915379"/>
              <a:chExt cx="6993954" cy="1216672"/>
            </a:xfrm>
          </p:grpSpPr>
          <p:sp>
            <p:nvSpPr>
              <p:cNvPr id="18" name="Rectángulo redondeado 17">
                <a:extLst>
                  <a:ext uri="{FF2B5EF4-FFF2-40B4-BE49-F238E27FC236}">
                    <a16:creationId xmlns:a16="http://schemas.microsoft.com/office/drawing/2014/main" id="{B6963C7D-3E67-104D-B3D8-D6CFB55BFB0D}"/>
                  </a:ext>
                </a:extLst>
              </p:cNvPr>
              <p:cNvSpPr/>
              <p:nvPr/>
            </p:nvSpPr>
            <p:spPr>
              <a:xfrm>
                <a:off x="1226147" y="1915379"/>
                <a:ext cx="2230568" cy="1216672"/>
              </a:xfrm>
              <a:prstGeom prst="roundRect">
                <a:avLst>
                  <a:gd name="adj" fmla="val 1137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chemeClr val="lt1"/>
                  </a:buClr>
                  <a:buSzPts val="2000"/>
                  <a:buFont typeface="Calibri"/>
                  <a:buNone/>
                </a:pPr>
                <a:r>
                  <a:rPr lang="es-PE" sz="1600" b="1" dirty="0">
                    <a:solidFill>
                      <a:schemeClr val="lt1"/>
                    </a:solidFill>
                    <a:latin typeface="Calibri"/>
                    <a:ea typeface="Calibri"/>
                    <a:cs typeface="Calibri"/>
                    <a:sym typeface="Calibri"/>
                  </a:rPr>
                  <a:t>Pruebas de </a:t>
                </a:r>
                <a:br>
                  <a:rPr lang="es-PE" sz="1600" b="1" dirty="0">
                    <a:solidFill>
                      <a:schemeClr val="lt1"/>
                    </a:solidFill>
                    <a:latin typeface="Calibri"/>
                    <a:ea typeface="Calibri"/>
                    <a:cs typeface="Calibri"/>
                    <a:sym typeface="Calibri"/>
                  </a:rPr>
                </a:br>
                <a:r>
                  <a:rPr lang="es-PE" sz="1600" b="1" dirty="0">
                    <a:solidFill>
                      <a:schemeClr val="lt1"/>
                    </a:solidFill>
                    <a:latin typeface="Calibri"/>
                    <a:ea typeface="Calibri"/>
                    <a:cs typeface="Calibri"/>
                    <a:sym typeface="Calibri"/>
                  </a:rPr>
                  <a:t>sentencia</a:t>
                </a:r>
                <a:endParaRPr lang="es-PE" sz="1600" dirty="0"/>
              </a:p>
            </p:txBody>
          </p:sp>
          <p:sp>
            <p:nvSpPr>
              <p:cNvPr id="20" name="Rectángulo redondeado 19">
                <a:extLst>
                  <a:ext uri="{FF2B5EF4-FFF2-40B4-BE49-F238E27FC236}">
                    <a16:creationId xmlns:a16="http://schemas.microsoft.com/office/drawing/2014/main" id="{04AE7BBA-DA9D-D24D-888D-BF39F843D3A2}"/>
                  </a:ext>
                </a:extLst>
              </p:cNvPr>
              <p:cNvSpPr/>
              <p:nvPr/>
            </p:nvSpPr>
            <p:spPr>
              <a:xfrm>
                <a:off x="3586575" y="1915379"/>
                <a:ext cx="2230568" cy="1216672"/>
              </a:xfrm>
              <a:prstGeom prst="roundRect">
                <a:avLst>
                  <a:gd name="adj" fmla="val 11372"/>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chemeClr val="lt1"/>
                  </a:buClr>
                  <a:buSzPts val="2000"/>
                  <a:buFont typeface="Calibri"/>
                  <a:buNone/>
                </a:pPr>
                <a:r>
                  <a:rPr lang="es-PE" sz="1600" b="1" dirty="0">
                    <a:solidFill>
                      <a:schemeClr val="lt1"/>
                    </a:solidFill>
                    <a:latin typeface="Calibri"/>
                    <a:ea typeface="Calibri"/>
                    <a:cs typeface="Calibri"/>
                    <a:sym typeface="Calibri"/>
                  </a:rPr>
                  <a:t>Pruebas de </a:t>
                </a:r>
                <a:br>
                  <a:rPr lang="es-PE" sz="1600" b="1" dirty="0">
                    <a:solidFill>
                      <a:schemeClr val="lt1"/>
                    </a:solidFill>
                    <a:latin typeface="Calibri"/>
                    <a:ea typeface="Calibri"/>
                    <a:cs typeface="Calibri"/>
                    <a:sym typeface="Calibri"/>
                  </a:rPr>
                </a:br>
                <a:r>
                  <a:rPr lang="es-PE" sz="1600" b="1" dirty="0">
                    <a:solidFill>
                      <a:schemeClr val="lt1"/>
                    </a:solidFill>
                    <a:latin typeface="Calibri"/>
                    <a:ea typeface="Calibri"/>
                    <a:cs typeface="Calibri"/>
                    <a:sym typeface="Calibri"/>
                  </a:rPr>
                  <a:t>decisión o rama</a:t>
                </a:r>
                <a:endParaRPr lang="es-PE" sz="1600" dirty="0"/>
              </a:p>
            </p:txBody>
          </p:sp>
          <p:sp>
            <p:nvSpPr>
              <p:cNvPr id="21" name="Rectángulo redondeado 20">
                <a:extLst>
                  <a:ext uri="{FF2B5EF4-FFF2-40B4-BE49-F238E27FC236}">
                    <a16:creationId xmlns:a16="http://schemas.microsoft.com/office/drawing/2014/main" id="{544A0F55-522B-684F-A6B0-AC493325E1DF}"/>
                  </a:ext>
                </a:extLst>
              </p:cNvPr>
              <p:cNvSpPr/>
              <p:nvPr/>
            </p:nvSpPr>
            <p:spPr>
              <a:xfrm>
                <a:off x="5989533" y="1915379"/>
                <a:ext cx="2230568" cy="1216672"/>
              </a:xfrm>
              <a:prstGeom prst="roundRect">
                <a:avLst>
                  <a:gd name="adj" fmla="val 11372"/>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chemeClr val="lt1"/>
                  </a:buClr>
                  <a:buSzPts val="2000"/>
                  <a:buFont typeface="Calibri"/>
                  <a:buNone/>
                </a:pPr>
                <a:r>
                  <a:rPr lang="es-PE" sz="1600" b="1" dirty="0">
                    <a:solidFill>
                      <a:schemeClr val="lt1"/>
                    </a:solidFill>
                    <a:latin typeface="Calibri"/>
                    <a:ea typeface="Calibri"/>
                    <a:cs typeface="Calibri"/>
                    <a:sym typeface="Calibri"/>
                  </a:rPr>
                  <a:t>LCSAJ</a:t>
                </a:r>
                <a:endParaRPr lang="es-PE" sz="1600" dirty="0"/>
              </a:p>
            </p:txBody>
          </p:sp>
        </p:grpSp>
        <p:grpSp>
          <p:nvGrpSpPr>
            <p:cNvPr id="23" name="Grupo 22">
              <a:extLst>
                <a:ext uri="{FF2B5EF4-FFF2-40B4-BE49-F238E27FC236}">
                  <a16:creationId xmlns:a16="http://schemas.microsoft.com/office/drawing/2014/main" id="{B82972A3-5194-7040-84E2-9696269F8CB0}"/>
                </a:ext>
              </a:extLst>
            </p:cNvPr>
            <p:cNvGrpSpPr/>
            <p:nvPr/>
          </p:nvGrpSpPr>
          <p:grpSpPr>
            <a:xfrm>
              <a:off x="1424692" y="3276201"/>
              <a:ext cx="6294616" cy="1095015"/>
              <a:chOff x="1226147" y="1915379"/>
              <a:chExt cx="6993954" cy="1216672"/>
            </a:xfrm>
          </p:grpSpPr>
          <p:sp>
            <p:nvSpPr>
              <p:cNvPr id="24" name="Rectángulo redondeado 23">
                <a:extLst>
                  <a:ext uri="{FF2B5EF4-FFF2-40B4-BE49-F238E27FC236}">
                    <a16:creationId xmlns:a16="http://schemas.microsoft.com/office/drawing/2014/main" id="{D4E6C4F7-2303-0747-A5F3-8E14B46754F3}"/>
                  </a:ext>
                </a:extLst>
              </p:cNvPr>
              <p:cNvSpPr/>
              <p:nvPr/>
            </p:nvSpPr>
            <p:spPr>
              <a:xfrm>
                <a:off x="1226147" y="1915379"/>
                <a:ext cx="2230568" cy="1216672"/>
              </a:xfrm>
              <a:prstGeom prst="roundRect">
                <a:avLst>
                  <a:gd name="adj" fmla="val 1137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chemeClr val="lt1"/>
                  </a:buClr>
                  <a:buSzPts val="2000"/>
                  <a:buFont typeface="Calibri"/>
                  <a:buNone/>
                </a:pPr>
                <a:r>
                  <a:rPr lang="es-PE" sz="1600" b="1" dirty="0">
                    <a:solidFill>
                      <a:schemeClr val="lt1"/>
                    </a:solidFill>
                    <a:latin typeface="Calibri"/>
                    <a:ea typeface="Calibri"/>
                    <a:cs typeface="Calibri"/>
                    <a:sym typeface="Calibri"/>
                  </a:rPr>
                  <a:t>Pruebas </a:t>
                </a:r>
                <a:br>
                  <a:rPr lang="es-PE" sz="1600" b="1" dirty="0">
                    <a:solidFill>
                      <a:schemeClr val="lt1"/>
                    </a:solidFill>
                    <a:latin typeface="Calibri"/>
                    <a:ea typeface="Calibri"/>
                    <a:cs typeface="Calibri"/>
                    <a:sym typeface="Calibri"/>
                  </a:rPr>
                </a:br>
                <a:r>
                  <a:rPr lang="es-PE" sz="1600" b="1" dirty="0">
                    <a:solidFill>
                      <a:schemeClr val="lt1"/>
                    </a:solidFill>
                    <a:latin typeface="Calibri"/>
                    <a:ea typeface="Calibri"/>
                    <a:cs typeface="Calibri"/>
                    <a:sym typeface="Calibri"/>
                  </a:rPr>
                  <a:t>de camino</a:t>
                </a:r>
                <a:endParaRPr lang="es-PE" sz="1600" dirty="0"/>
              </a:p>
            </p:txBody>
          </p:sp>
          <p:sp>
            <p:nvSpPr>
              <p:cNvPr id="25" name="Rectángulo redondeado 24">
                <a:extLst>
                  <a:ext uri="{FF2B5EF4-FFF2-40B4-BE49-F238E27FC236}">
                    <a16:creationId xmlns:a16="http://schemas.microsoft.com/office/drawing/2014/main" id="{D6B5B403-6494-4441-A923-298A43511FA3}"/>
                  </a:ext>
                </a:extLst>
              </p:cNvPr>
              <p:cNvSpPr/>
              <p:nvPr/>
            </p:nvSpPr>
            <p:spPr>
              <a:xfrm>
                <a:off x="3586575" y="1915379"/>
                <a:ext cx="2230568" cy="1216672"/>
              </a:xfrm>
              <a:prstGeom prst="roundRect">
                <a:avLst>
                  <a:gd name="adj" fmla="val 11372"/>
                </a:avLst>
              </a:prstGeom>
              <a:solidFill>
                <a:srgbClr val="FE7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chemeClr val="lt1"/>
                  </a:buClr>
                  <a:buSzPts val="2000"/>
                  <a:buFont typeface="Calibri"/>
                  <a:buNone/>
                </a:pPr>
                <a:r>
                  <a:rPr lang="es-PE" sz="1600" b="1" dirty="0">
                    <a:solidFill>
                      <a:schemeClr val="lt1"/>
                    </a:solidFill>
                    <a:latin typeface="Calibri"/>
                    <a:ea typeface="Calibri"/>
                    <a:cs typeface="Calibri"/>
                    <a:sym typeface="Calibri"/>
                  </a:rPr>
                  <a:t>Pruebas de condición</a:t>
                </a:r>
                <a:endParaRPr lang="es-PE" sz="1600" dirty="0"/>
              </a:p>
            </p:txBody>
          </p:sp>
          <p:sp>
            <p:nvSpPr>
              <p:cNvPr id="26" name="Rectángulo redondeado 25">
                <a:extLst>
                  <a:ext uri="{FF2B5EF4-FFF2-40B4-BE49-F238E27FC236}">
                    <a16:creationId xmlns:a16="http://schemas.microsoft.com/office/drawing/2014/main" id="{D7EEF0F6-9ADF-C942-BA27-DB988C376788}"/>
                  </a:ext>
                </a:extLst>
              </p:cNvPr>
              <p:cNvSpPr/>
              <p:nvPr/>
            </p:nvSpPr>
            <p:spPr>
              <a:xfrm>
                <a:off x="5989533" y="1915379"/>
                <a:ext cx="2230568" cy="1216672"/>
              </a:xfrm>
              <a:prstGeom prst="roundRect">
                <a:avLst>
                  <a:gd name="adj" fmla="val 11372"/>
                </a:avLst>
              </a:prstGeom>
              <a:solidFill>
                <a:srgbClr val="FEC2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100000"/>
                  </a:lnSpc>
                  <a:spcBef>
                    <a:spcPts val="0"/>
                  </a:spcBef>
                  <a:spcAft>
                    <a:spcPts val="0"/>
                  </a:spcAft>
                  <a:buClr>
                    <a:schemeClr val="lt1"/>
                  </a:buClr>
                  <a:buSzPts val="2000"/>
                  <a:buFont typeface="Calibri"/>
                  <a:buNone/>
                </a:pPr>
                <a:r>
                  <a:rPr lang="es-PE" sz="1600" b="1" dirty="0">
                    <a:solidFill>
                      <a:schemeClr val="lt1"/>
                    </a:solidFill>
                    <a:latin typeface="Calibri"/>
                    <a:ea typeface="Calibri"/>
                    <a:cs typeface="Calibri"/>
                    <a:sym typeface="Calibri"/>
                  </a:rPr>
                  <a:t>Flujo de </a:t>
                </a:r>
                <a:endParaRPr lang="es-PE" sz="1600" dirty="0"/>
              </a:p>
              <a:p>
                <a:pPr marL="0" marR="0" lvl="0" indent="0" algn="ctr" rtl="0">
                  <a:lnSpc>
                    <a:spcPct val="100000"/>
                  </a:lnSpc>
                  <a:spcBef>
                    <a:spcPts val="0"/>
                  </a:spcBef>
                  <a:spcAft>
                    <a:spcPts val="0"/>
                  </a:spcAft>
                  <a:buClr>
                    <a:schemeClr val="lt1"/>
                  </a:buClr>
                  <a:buSzPts val="2000"/>
                  <a:buFont typeface="Calibri"/>
                  <a:buNone/>
                </a:pPr>
                <a:r>
                  <a:rPr lang="es-PE" sz="1600" b="1" dirty="0">
                    <a:solidFill>
                      <a:schemeClr val="lt1"/>
                    </a:solidFill>
                    <a:latin typeface="Calibri"/>
                    <a:ea typeface="Calibri"/>
                    <a:cs typeface="Calibri"/>
                    <a:sym typeface="Calibri"/>
                  </a:rPr>
                  <a:t>Datos</a:t>
                </a:r>
                <a:endParaRPr lang="es-PE" sz="1600" dirty="0"/>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5" name="Google Shape;185;p11"/>
          <p:cNvSpPr/>
          <p:nvPr/>
        </p:nvSpPr>
        <p:spPr>
          <a:xfrm>
            <a:off x="503238" y="922612"/>
            <a:ext cx="8137524"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1600" b="1" dirty="0">
                <a:solidFill>
                  <a:schemeClr val="dk1"/>
                </a:solidFill>
                <a:latin typeface="Calibri"/>
                <a:ea typeface="Calibri"/>
                <a:cs typeface="Calibri"/>
                <a:sym typeface="Calibri"/>
              </a:rPr>
              <a:t>TÉCNICAS DE CAJA BLANCA (WHITE BOX) O BASADAS EN LA ESTRUCTURA</a:t>
            </a:r>
            <a:endParaRPr sz="1600" b="1" dirty="0">
              <a:solidFill>
                <a:schemeClr val="dk1"/>
              </a:solidFill>
              <a:latin typeface="Calibri"/>
              <a:ea typeface="Calibri"/>
              <a:cs typeface="Calibri"/>
              <a:sym typeface="Calibri"/>
            </a:endParaRPr>
          </a:p>
        </p:txBody>
      </p:sp>
      <p:grpSp>
        <p:nvGrpSpPr>
          <p:cNvPr id="186" name="Google Shape;186;p11"/>
          <p:cNvGrpSpPr/>
          <p:nvPr/>
        </p:nvGrpSpPr>
        <p:grpSpPr>
          <a:xfrm>
            <a:off x="3056019" y="1840076"/>
            <a:ext cx="3031962" cy="2759600"/>
            <a:chOff x="1679986" y="-100563"/>
            <a:chExt cx="3031962" cy="2759600"/>
          </a:xfrm>
        </p:grpSpPr>
        <p:sp>
          <p:nvSpPr>
            <p:cNvPr id="187" name="Google Shape;187;p11"/>
            <p:cNvSpPr/>
            <p:nvPr/>
          </p:nvSpPr>
          <p:spPr>
            <a:xfrm>
              <a:off x="1679986" y="-100563"/>
              <a:ext cx="2636489" cy="2759600"/>
            </a:xfrm>
            <a:prstGeom prst="triangle">
              <a:avLst>
                <a:gd name="adj" fmla="val 50269"/>
              </a:avLst>
            </a:prstGeom>
            <a:solidFill>
              <a:srgbClr val="00B1C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a:off x="2998231" y="265064"/>
              <a:ext cx="1713717" cy="624106"/>
            </a:xfrm>
            <a:prstGeom prst="roundRect">
              <a:avLst>
                <a:gd name="adj" fmla="val 16667"/>
              </a:avLst>
            </a:prstGeom>
            <a:solidFill>
              <a:schemeClr val="lt1">
                <a:alpha val="89803"/>
              </a:schemeClr>
            </a:solidFill>
            <a:ln w="25400" cap="flat" cmpd="sng">
              <a:solidFill>
                <a:srgbClr val="00B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Calibri" panose="020F0502020204030204" pitchFamily="34" charset="0"/>
                <a:cs typeface="Calibri" panose="020F0502020204030204" pitchFamily="34" charset="0"/>
              </a:endParaRPr>
            </a:p>
          </p:txBody>
        </p:sp>
        <p:sp>
          <p:nvSpPr>
            <p:cNvPr id="189" name="Google Shape;189;p11"/>
            <p:cNvSpPr txBox="1"/>
            <p:nvPr/>
          </p:nvSpPr>
          <p:spPr>
            <a:xfrm>
              <a:off x="3028697" y="295530"/>
              <a:ext cx="1652785" cy="563174"/>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PE" sz="1800">
                  <a:solidFill>
                    <a:schemeClr val="dk1"/>
                  </a:solidFill>
                  <a:latin typeface="Calibri"/>
                  <a:ea typeface="Calibri"/>
                  <a:cs typeface="Calibri"/>
                  <a:sym typeface="Calibri"/>
                </a:rPr>
                <a:t>Sistema</a:t>
              </a:r>
              <a:endParaRPr sz="1800"/>
            </a:p>
          </p:txBody>
        </p:sp>
        <p:sp>
          <p:nvSpPr>
            <p:cNvPr id="190" name="Google Shape;190;p11"/>
            <p:cNvSpPr/>
            <p:nvPr/>
          </p:nvSpPr>
          <p:spPr>
            <a:xfrm>
              <a:off x="2998231" y="967184"/>
              <a:ext cx="1713717" cy="624106"/>
            </a:xfrm>
            <a:prstGeom prst="roundRect">
              <a:avLst>
                <a:gd name="adj" fmla="val 16667"/>
              </a:avLst>
            </a:prstGeom>
            <a:solidFill>
              <a:schemeClr val="lt1">
                <a:alpha val="89803"/>
              </a:schemeClr>
            </a:solidFill>
            <a:ln w="25400" cap="flat" cmpd="sng">
              <a:solidFill>
                <a:srgbClr val="00B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Calibri" panose="020F0502020204030204" pitchFamily="34" charset="0"/>
                <a:cs typeface="Calibri" panose="020F0502020204030204" pitchFamily="34" charset="0"/>
              </a:endParaRPr>
            </a:p>
          </p:txBody>
        </p:sp>
        <p:sp>
          <p:nvSpPr>
            <p:cNvPr id="191" name="Google Shape;191;p11"/>
            <p:cNvSpPr txBox="1"/>
            <p:nvPr/>
          </p:nvSpPr>
          <p:spPr>
            <a:xfrm>
              <a:off x="3028697" y="997650"/>
              <a:ext cx="1652785" cy="563174"/>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PE" sz="1800">
                  <a:solidFill>
                    <a:schemeClr val="dk1"/>
                  </a:solidFill>
                  <a:latin typeface="Calibri"/>
                  <a:ea typeface="Calibri"/>
                  <a:cs typeface="Calibri"/>
                  <a:sym typeface="Calibri"/>
                </a:rPr>
                <a:t>Integración</a:t>
              </a:r>
              <a:endParaRPr sz="1800"/>
            </a:p>
          </p:txBody>
        </p:sp>
        <p:sp>
          <p:nvSpPr>
            <p:cNvPr id="192" name="Google Shape;192;p11"/>
            <p:cNvSpPr/>
            <p:nvPr/>
          </p:nvSpPr>
          <p:spPr>
            <a:xfrm>
              <a:off x="2998231" y="1669304"/>
              <a:ext cx="1713717" cy="624106"/>
            </a:xfrm>
            <a:prstGeom prst="roundRect">
              <a:avLst>
                <a:gd name="adj" fmla="val 16667"/>
              </a:avLst>
            </a:prstGeom>
            <a:solidFill>
              <a:schemeClr val="lt1">
                <a:alpha val="89803"/>
              </a:schemeClr>
            </a:solidFill>
            <a:ln w="25400" cap="flat" cmpd="sng">
              <a:solidFill>
                <a:srgbClr val="00B1C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latin typeface="Calibri" panose="020F0502020204030204" pitchFamily="34" charset="0"/>
                <a:cs typeface="Calibri" panose="020F0502020204030204" pitchFamily="34" charset="0"/>
              </a:endParaRPr>
            </a:p>
          </p:txBody>
        </p:sp>
        <p:sp>
          <p:nvSpPr>
            <p:cNvPr id="193" name="Google Shape;193;p11"/>
            <p:cNvSpPr txBox="1"/>
            <p:nvPr/>
          </p:nvSpPr>
          <p:spPr>
            <a:xfrm>
              <a:off x="3028697" y="1699770"/>
              <a:ext cx="1652785" cy="563174"/>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s-PE" sz="1800">
                  <a:solidFill>
                    <a:schemeClr val="dk1"/>
                  </a:solidFill>
                  <a:latin typeface="Calibri"/>
                  <a:ea typeface="Calibri"/>
                  <a:cs typeface="Calibri"/>
                  <a:sym typeface="Calibri"/>
                </a:rPr>
                <a:t>Componente</a:t>
              </a:r>
              <a:endParaRPr sz="1800"/>
            </a:p>
          </p:txBody>
        </p:sp>
      </p:grpSp>
      <p:sp>
        <p:nvSpPr>
          <p:cNvPr id="12" name="Rectangle 5">
            <a:extLst>
              <a:ext uri="{FF2B5EF4-FFF2-40B4-BE49-F238E27FC236}">
                <a16:creationId xmlns:a16="http://schemas.microsoft.com/office/drawing/2014/main" id="{8FB2FA51-DAD2-964D-9330-7182A45E7507}"/>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1" name="Google Shape;201;p12"/>
          <p:cNvSpPr/>
          <p:nvPr/>
        </p:nvSpPr>
        <p:spPr>
          <a:xfrm>
            <a:off x="1287614" y="3758981"/>
            <a:ext cx="6568772" cy="777577"/>
          </a:xfrm>
          <a:prstGeom prst="roundRect">
            <a:avLst>
              <a:gd name="adj" fmla="val 14996"/>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Cobertura de Sentencia = (Número de declaraciones ejecutadas / Número Total de declaraciones ) x 100%</a:t>
            </a:r>
            <a:endParaRPr/>
          </a:p>
        </p:txBody>
      </p:sp>
      <p:sp>
        <p:nvSpPr>
          <p:cNvPr id="5" name="Rectangle 5">
            <a:extLst>
              <a:ext uri="{FF2B5EF4-FFF2-40B4-BE49-F238E27FC236}">
                <a16:creationId xmlns:a16="http://schemas.microsoft.com/office/drawing/2014/main" id="{1CD0540E-C7F7-874F-9782-F204B1A1065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880896A4-AEC7-5042-B4E5-EDEF58C95BF3}"/>
              </a:ext>
            </a:extLst>
          </p:cNvPr>
          <p:cNvSpPr/>
          <p:nvPr/>
        </p:nvSpPr>
        <p:spPr>
          <a:xfrm>
            <a:off x="503238" y="916472"/>
            <a:ext cx="8172450" cy="2477601"/>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COBERTURA DE SENTENCIA</a:t>
            </a:r>
            <a:endParaRPr lang="es-PE" sz="1600" b="1" dirty="0">
              <a:solidFill>
                <a:srgbClr val="EE4639"/>
              </a:solidFill>
              <a:latin typeface="Calibri" charset="0"/>
              <a:cs typeface="Calibri" charset="0"/>
            </a:endParaRPr>
          </a:p>
          <a:p>
            <a:pPr marL="134938" marR="0" lvl="0" indent="-13493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El foco de la atención son las sentencias del código.</a:t>
            </a:r>
            <a:endParaRPr lang="es-PE" sz="1500" dirty="0"/>
          </a:p>
          <a:p>
            <a:pPr marL="134938" marR="0" lvl="0" indent="-33337"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34938" marR="0" lvl="0" indent="-13493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La base de este análisis es el diagrama de flujo de control.</a:t>
            </a:r>
            <a:endParaRPr lang="es-PE" sz="1500" dirty="0"/>
          </a:p>
          <a:p>
            <a:pPr marL="134938" marR="0" lvl="0" indent="-33337"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34938" marR="0" lvl="0" indent="-13493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El objetivo de la prueba: </a:t>
            </a:r>
            <a:r>
              <a:rPr lang="es-PE" sz="1500" b="1" dirty="0">
                <a:solidFill>
                  <a:schemeClr val="dk1"/>
                </a:solidFill>
                <a:latin typeface="Calibri"/>
                <a:ea typeface="Calibri"/>
                <a:cs typeface="Calibri"/>
                <a:sym typeface="Calibri"/>
              </a:rPr>
              <a:t>Lograr la cobertura de un porcentaje específico de todas las sentencias denominado cobertura de sentencia</a:t>
            </a:r>
            <a:r>
              <a:rPr lang="es-PE" sz="1500" dirty="0">
                <a:solidFill>
                  <a:schemeClr val="dk1"/>
                </a:solidFill>
                <a:latin typeface="Calibri"/>
                <a:ea typeface="Calibri"/>
                <a:cs typeface="Calibri"/>
                <a:sym typeface="Calibri"/>
              </a:rPr>
              <a:t>. </a:t>
            </a:r>
            <a:endParaRPr lang="es-PE" sz="1500" dirty="0"/>
          </a:p>
          <a:p>
            <a:pPr marL="134938" marR="0" lvl="0" indent="-33337"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34938" marR="0" lvl="0" indent="-134938" algn="l" rtl="0">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CO </a:t>
            </a:r>
            <a:r>
              <a:rPr lang="es-PE" sz="1500" dirty="0">
                <a:solidFill>
                  <a:schemeClr val="dk1"/>
                </a:solidFill>
                <a:latin typeface="Calibri"/>
                <a:ea typeface="Calibri"/>
                <a:cs typeface="Calibri"/>
                <a:sym typeface="Calibri"/>
              </a:rPr>
              <a:t>Cobertura de Código (Code Coverage).</a:t>
            </a:r>
            <a:endParaRPr lang="es-PE"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5" name="Rectangle 5">
            <a:extLst>
              <a:ext uri="{FF2B5EF4-FFF2-40B4-BE49-F238E27FC236}">
                <a16:creationId xmlns:a16="http://schemas.microsoft.com/office/drawing/2014/main" id="{334EBED4-15CC-F346-B2AC-FF1F3A5FBAE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00F810A2-3631-D149-96E2-3EC1C51CAF90}"/>
              </a:ext>
            </a:extLst>
          </p:cNvPr>
          <p:cNvSpPr/>
          <p:nvPr/>
        </p:nvSpPr>
        <p:spPr>
          <a:xfrm>
            <a:off x="503238" y="916472"/>
            <a:ext cx="3889375" cy="1092607"/>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COBERTURA DE SENTENCIA</a:t>
            </a:r>
            <a:endParaRPr lang="es-PE" sz="1600" b="1" dirty="0">
              <a:solidFill>
                <a:srgbClr val="EE4639"/>
              </a:solidFill>
              <a:latin typeface="Calibri" charset="0"/>
              <a:cs typeface="Calibri" charset="0"/>
            </a:endParaRPr>
          </a:p>
          <a:p>
            <a:pPr marL="134938" marR="0" lvl="0" indent="-134938"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¿Cuántos casos de prueba se requieren para lograr una </a:t>
            </a:r>
            <a:r>
              <a:rPr lang="es-PE" sz="1500" b="1" dirty="0">
                <a:solidFill>
                  <a:schemeClr val="dk1"/>
                </a:solidFill>
                <a:latin typeface="Calibri"/>
                <a:ea typeface="Calibri"/>
                <a:cs typeface="Calibri"/>
                <a:sym typeface="Calibri"/>
              </a:rPr>
              <a:t>cobertura de sentencia </a:t>
            </a:r>
            <a:r>
              <a:rPr lang="es-PE" sz="1500" dirty="0">
                <a:solidFill>
                  <a:schemeClr val="dk1"/>
                </a:solidFill>
                <a:latin typeface="Calibri"/>
                <a:ea typeface="Calibri"/>
                <a:cs typeface="Calibri"/>
                <a:sym typeface="Calibri"/>
              </a:rPr>
              <a:t>del 100%?</a:t>
            </a:r>
            <a:endParaRPr lang="es-PE" sz="1500" dirty="0"/>
          </a:p>
        </p:txBody>
      </p:sp>
      <p:grpSp>
        <p:nvGrpSpPr>
          <p:cNvPr id="213" name="Grupo 212">
            <a:extLst>
              <a:ext uri="{FF2B5EF4-FFF2-40B4-BE49-F238E27FC236}">
                <a16:creationId xmlns:a16="http://schemas.microsoft.com/office/drawing/2014/main" id="{3E619024-B26D-8246-8A68-01AB067B6BBE}"/>
              </a:ext>
            </a:extLst>
          </p:cNvPr>
          <p:cNvGrpSpPr/>
          <p:nvPr/>
        </p:nvGrpSpPr>
        <p:grpSpPr>
          <a:xfrm>
            <a:off x="4266814" y="1054580"/>
            <a:ext cx="4094753" cy="3902189"/>
            <a:chOff x="4245549" y="912813"/>
            <a:chExt cx="4094753" cy="3902189"/>
          </a:xfrm>
        </p:grpSpPr>
        <p:sp>
          <p:nvSpPr>
            <p:cNvPr id="9" name="Arco 8">
              <a:extLst>
                <a:ext uri="{FF2B5EF4-FFF2-40B4-BE49-F238E27FC236}">
                  <a16:creationId xmlns:a16="http://schemas.microsoft.com/office/drawing/2014/main" id="{19BCE666-45C1-5045-9F75-96C427286DDA}"/>
                </a:ext>
              </a:extLst>
            </p:cNvPr>
            <p:cNvSpPr/>
            <p:nvPr/>
          </p:nvSpPr>
          <p:spPr>
            <a:xfrm rot="16200000">
              <a:off x="4553348" y="2943526"/>
              <a:ext cx="1861801" cy="840403"/>
            </a:xfrm>
            <a:prstGeom prst="arc">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2" name="Arco 31">
              <a:extLst>
                <a:ext uri="{FF2B5EF4-FFF2-40B4-BE49-F238E27FC236}">
                  <a16:creationId xmlns:a16="http://schemas.microsoft.com/office/drawing/2014/main" id="{13904EED-D515-8947-99AC-1A4D1A98902F}"/>
                </a:ext>
              </a:extLst>
            </p:cNvPr>
            <p:cNvSpPr/>
            <p:nvPr/>
          </p:nvSpPr>
          <p:spPr>
            <a:xfrm rot="16200000">
              <a:off x="5471657" y="1918623"/>
              <a:ext cx="1370772" cy="1025802"/>
            </a:xfrm>
            <a:prstGeom prst="arc">
              <a:avLst>
                <a:gd name="adj1" fmla="val 16905154"/>
                <a:gd name="adj2" fmla="val 0"/>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3" name="Arco 32">
              <a:extLst>
                <a:ext uri="{FF2B5EF4-FFF2-40B4-BE49-F238E27FC236}">
                  <a16:creationId xmlns:a16="http://schemas.microsoft.com/office/drawing/2014/main" id="{1AEA4664-CDC8-1D40-BD7F-FC61DD9A19B2}"/>
                </a:ext>
              </a:extLst>
            </p:cNvPr>
            <p:cNvSpPr/>
            <p:nvPr/>
          </p:nvSpPr>
          <p:spPr>
            <a:xfrm rot="16200000" flipV="1">
              <a:off x="5821026" y="1849211"/>
              <a:ext cx="1370772" cy="1126285"/>
            </a:xfrm>
            <a:prstGeom prst="arc">
              <a:avLst>
                <a:gd name="adj1" fmla="val 16905154"/>
                <a:gd name="adj2" fmla="val 0"/>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4" name="Arco 33">
              <a:extLst>
                <a:ext uri="{FF2B5EF4-FFF2-40B4-BE49-F238E27FC236}">
                  <a16:creationId xmlns:a16="http://schemas.microsoft.com/office/drawing/2014/main" id="{43556748-C9E3-F841-A049-71EE0EEB9798}"/>
                </a:ext>
              </a:extLst>
            </p:cNvPr>
            <p:cNvSpPr/>
            <p:nvPr/>
          </p:nvSpPr>
          <p:spPr>
            <a:xfrm rot="5400000">
              <a:off x="5161203" y="2399340"/>
              <a:ext cx="251026" cy="2082334"/>
            </a:xfrm>
            <a:prstGeom prst="arc">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2" name="Arco 1">
              <a:extLst>
                <a:ext uri="{FF2B5EF4-FFF2-40B4-BE49-F238E27FC236}">
                  <a16:creationId xmlns:a16="http://schemas.microsoft.com/office/drawing/2014/main" id="{9BD8D9FE-6F6D-E64C-B0C2-75016098272B}"/>
                </a:ext>
              </a:extLst>
            </p:cNvPr>
            <p:cNvSpPr/>
            <p:nvPr/>
          </p:nvSpPr>
          <p:spPr>
            <a:xfrm rot="5758896">
              <a:off x="5552624" y="2439750"/>
              <a:ext cx="1439186" cy="1987368"/>
            </a:xfrm>
            <a:prstGeom prst="arc">
              <a:avLst>
                <a:gd name="adj1" fmla="val 17045675"/>
                <a:gd name="adj2" fmla="val 0"/>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6" name="Arco 35">
              <a:extLst>
                <a:ext uri="{FF2B5EF4-FFF2-40B4-BE49-F238E27FC236}">
                  <a16:creationId xmlns:a16="http://schemas.microsoft.com/office/drawing/2014/main" id="{95E4B08E-A154-D04E-A9B4-CBCC4BD80C15}"/>
                </a:ext>
              </a:extLst>
            </p:cNvPr>
            <p:cNvSpPr/>
            <p:nvPr/>
          </p:nvSpPr>
          <p:spPr>
            <a:xfrm rot="19572148">
              <a:off x="6910633" y="2367067"/>
              <a:ext cx="1237029" cy="1845936"/>
            </a:xfrm>
            <a:prstGeom prst="arc">
              <a:avLst>
                <a:gd name="adj1" fmla="val 17045675"/>
                <a:gd name="adj2" fmla="val 287624"/>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45" name="Arco 44">
              <a:extLst>
                <a:ext uri="{FF2B5EF4-FFF2-40B4-BE49-F238E27FC236}">
                  <a16:creationId xmlns:a16="http://schemas.microsoft.com/office/drawing/2014/main" id="{9A4C08AA-8E17-3245-84AE-A8A1199722BC}"/>
                </a:ext>
              </a:extLst>
            </p:cNvPr>
            <p:cNvSpPr/>
            <p:nvPr/>
          </p:nvSpPr>
          <p:spPr>
            <a:xfrm rot="9926420">
              <a:off x="5025818" y="2914833"/>
              <a:ext cx="1663378" cy="1225787"/>
            </a:xfrm>
            <a:prstGeom prst="arc">
              <a:avLst>
                <a:gd name="adj1" fmla="val 17335174"/>
                <a:gd name="adj2" fmla="val 0"/>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46" name="Arco 45">
              <a:extLst>
                <a:ext uri="{FF2B5EF4-FFF2-40B4-BE49-F238E27FC236}">
                  <a16:creationId xmlns:a16="http://schemas.microsoft.com/office/drawing/2014/main" id="{B1D22E0B-AA97-704E-9591-E873C93180F7}"/>
                </a:ext>
              </a:extLst>
            </p:cNvPr>
            <p:cNvSpPr/>
            <p:nvPr/>
          </p:nvSpPr>
          <p:spPr>
            <a:xfrm rot="4725571">
              <a:off x="7138262" y="2386148"/>
              <a:ext cx="900951" cy="1503129"/>
            </a:xfrm>
            <a:prstGeom prst="arc">
              <a:avLst>
                <a:gd name="adj1" fmla="val 17990753"/>
                <a:gd name="adj2" fmla="val 2004508"/>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47" name="Arco 46">
              <a:extLst>
                <a:ext uri="{FF2B5EF4-FFF2-40B4-BE49-F238E27FC236}">
                  <a16:creationId xmlns:a16="http://schemas.microsoft.com/office/drawing/2014/main" id="{081D7EF8-39D1-BF44-A24A-B1CBF851A329}"/>
                </a:ext>
              </a:extLst>
            </p:cNvPr>
            <p:cNvSpPr/>
            <p:nvPr/>
          </p:nvSpPr>
          <p:spPr>
            <a:xfrm rot="12817770">
              <a:off x="6699189" y="2055231"/>
              <a:ext cx="1244907" cy="1603664"/>
            </a:xfrm>
            <a:prstGeom prst="arc">
              <a:avLst>
                <a:gd name="adj1" fmla="val 15653186"/>
                <a:gd name="adj2" fmla="val 1044931"/>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48" name="Elipse 47">
              <a:extLst>
                <a:ext uri="{FF2B5EF4-FFF2-40B4-BE49-F238E27FC236}">
                  <a16:creationId xmlns:a16="http://schemas.microsoft.com/office/drawing/2014/main" id="{FE9B1CC3-24C9-FF40-84B5-9FB06F3B75AE}"/>
                </a:ext>
              </a:extLst>
            </p:cNvPr>
            <p:cNvSpPr/>
            <p:nvPr/>
          </p:nvSpPr>
          <p:spPr>
            <a:xfrm>
              <a:off x="6136094" y="159493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1</a:t>
              </a:r>
            </a:p>
          </p:txBody>
        </p:sp>
        <p:sp>
          <p:nvSpPr>
            <p:cNvPr id="50" name="Elipse 49">
              <a:extLst>
                <a:ext uri="{FF2B5EF4-FFF2-40B4-BE49-F238E27FC236}">
                  <a16:creationId xmlns:a16="http://schemas.microsoft.com/office/drawing/2014/main" id="{4392A29F-A43B-694C-90B6-F03DBDC9EC13}"/>
                </a:ext>
              </a:extLst>
            </p:cNvPr>
            <p:cNvSpPr/>
            <p:nvPr/>
          </p:nvSpPr>
          <p:spPr>
            <a:xfrm>
              <a:off x="5424894" y="231629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2</a:t>
              </a:r>
            </a:p>
          </p:txBody>
        </p:sp>
        <p:sp>
          <p:nvSpPr>
            <p:cNvPr id="51" name="Elipse 50">
              <a:extLst>
                <a:ext uri="{FF2B5EF4-FFF2-40B4-BE49-F238E27FC236}">
                  <a16:creationId xmlns:a16="http://schemas.microsoft.com/office/drawing/2014/main" id="{ED8E1CDC-6FFE-B743-828F-E85986F3397F}"/>
                </a:ext>
              </a:extLst>
            </p:cNvPr>
            <p:cNvSpPr/>
            <p:nvPr/>
          </p:nvSpPr>
          <p:spPr>
            <a:xfrm>
              <a:off x="6852374" y="228073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3</a:t>
              </a:r>
            </a:p>
          </p:txBody>
        </p:sp>
        <p:sp>
          <p:nvSpPr>
            <p:cNvPr id="52" name="Elipse 51">
              <a:extLst>
                <a:ext uri="{FF2B5EF4-FFF2-40B4-BE49-F238E27FC236}">
                  <a16:creationId xmlns:a16="http://schemas.microsoft.com/office/drawing/2014/main" id="{0422F8E7-3D45-434D-9061-558C675639FC}"/>
                </a:ext>
              </a:extLst>
            </p:cNvPr>
            <p:cNvSpPr/>
            <p:nvPr/>
          </p:nvSpPr>
          <p:spPr>
            <a:xfrm>
              <a:off x="6131014" y="304781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4</a:t>
              </a:r>
            </a:p>
          </p:txBody>
        </p:sp>
        <p:sp>
          <p:nvSpPr>
            <p:cNvPr id="53" name="Elipse 52">
              <a:extLst>
                <a:ext uri="{FF2B5EF4-FFF2-40B4-BE49-F238E27FC236}">
                  <a16:creationId xmlns:a16="http://schemas.microsoft.com/office/drawing/2014/main" id="{7C21AC2F-BE9D-E342-8F28-00CB7D079A8B}"/>
                </a:ext>
              </a:extLst>
            </p:cNvPr>
            <p:cNvSpPr/>
            <p:nvPr/>
          </p:nvSpPr>
          <p:spPr>
            <a:xfrm>
              <a:off x="4881334" y="336277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5</a:t>
              </a:r>
            </a:p>
          </p:txBody>
        </p:sp>
        <p:sp>
          <p:nvSpPr>
            <p:cNvPr id="54" name="Elipse 53">
              <a:extLst>
                <a:ext uri="{FF2B5EF4-FFF2-40B4-BE49-F238E27FC236}">
                  <a16:creationId xmlns:a16="http://schemas.microsoft.com/office/drawing/2014/main" id="{A19E6156-FFB3-C449-A9B8-2E9D30845D02}"/>
                </a:ext>
              </a:extLst>
            </p:cNvPr>
            <p:cNvSpPr/>
            <p:nvPr/>
          </p:nvSpPr>
          <p:spPr>
            <a:xfrm>
              <a:off x="7914094" y="298177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6</a:t>
              </a:r>
            </a:p>
          </p:txBody>
        </p:sp>
        <p:sp>
          <p:nvSpPr>
            <p:cNvPr id="55" name="Elipse 54">
              <a:extLst>
                <a:ext uri="{FF2B5EF4-FFF2-40B4-BE49-F238E27FC236}">
                  <a16:creationId xmlns:a16="http://schemas.microsoft.com/office/drawing/2014/main" id="{F42E2941-4581-7040-B951-C17A8DA279AB}"/>
                </a:ext>
              </a:extLst>
            </p:cNvPr>
            <p:cNvSpPr/>
            <p:nvPr/>
          </p:nvSpPr>
          <p:spPr>
            <a:xfrm>
              <a:off x="6989534" y="338309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7</a:t>
              </a:r>
            </a:p>
          </p:txBody>
        </p:sp>
        <p:sp>
          <p:nvSpPr>
            <p:cNvPr id="56" name="Elipse 55">
              <a:extLst>
                <a:ext uri="{FF2B5EF4-FFF2-40B4-BE49-F238E27FC236}">
                  <a16:creationId xmlns:a16="http://schemas.microsoft.com/office/drawing/2014/main" id="{3E437A53-207E-5E4F-8097-0BE9C02A2999}"/>
                </a:ext>
              </a:extLst>
            </p:cNvPr>
            <p:cNvSpPr/>
            <p:nvPr/>
          </p:nvSpPr>
          <p:spPr>
            <a:xfrm>
              <a:off x="5816054" y="395205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8</a:t>
              </a:r>
            </a:p>
          </p:txBody>
        </p:sp>
        <p:cxnSp>
          <p:nvCxnSpPr>
            <p:cNvPr id="57" name="Conector recto de flecha 56">
              <a:extLst>
                <a:ext uri="{FF2B5EF4-FFF2-40B4-BE49-F238E27FC236}">
                  <a16:creationId xmlns:a16="http://schemas.microsoft.com/office/drawing/2014/main" id="{A1ABF31B-845D-184C-844C-AC00F32DD9C0}"/>
                </a:ext>
              </a:extLst>
            </p:cNvPr>
            <p:cNvCxnSpPr>
              <a:endCxn id="48" idx="0"/>
            </p:cNvCxnSpPr>
            <p:nvPr/>
          </p:nvCxnSpPr>
          <p:spPr>
            <a:xfrm>
              <a:off x="6337201" y="912813"/>
              <a:ext cx="0" cy="682122"/>
            </a:xfrm>
            <a:prstGeom prst="straightConnector1">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recto de flecha 58">
              <a:extLst>
                <a:ext uri="{FF2B5EF4-FFF2-40B4-BE49-F238E27FC236}">
                  <a16:creationId xmlns:a16="http://schemas.microsoft.com/office/drawing/2014/main" id="{F4A8CEC0-BBB0-C942-85D7-652221B3119C}"/>
                </a:ext>
              </a:extLst>
            </p:cNvPr>
            <p:cNvCxnSpPr>
              <a:cxnSpLocks/>
            </p:cNvCxnSpPr>
            <p:nvPr/>
          </p:nvCxnSpPr>
          <p:spPr>
            <a:xfrm>
              <a:off x="6018106" y="4331653"/>
              <a:ext cx="0" cy="483349"/>
            </a:xfrm>
            <a:prstGeom prst="straightConnector1">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Conector curvado 210">
              <a:extLst>
                <a:ext uri="{FF2B5EF4-FFF2-40B4-BE49-F238E27FC236}">
                  <a16:creationId xmlns:a16="http://schemas.microsoft.com/office/drawing/2014/main" id="{3132FDA7-BB09-C640-B8FD-9E2376EC6CCC}"/>
                </a:ext>
              </a:extLst>
            </p:cNvPr>
            <p:cNvCxnSpPr>
              <a:cxnSpLocks/>
            </p:cNvCxnSpPr>
            <p:nvPr/>
          </p:nvCxnSpPr>
          <p:spPr>
            <a:xfrm rot="4080000" flipV="1">
              <a:off x="5497690" y="2565748"/>
              <a:ext cx="746424" cy="525595"/>
            </a:xfrm>
            <a:prstGeom prst="curvedConnector3">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7" name="Rectángulo 6">
            <a:extLst>
              <a:ext uri="{FF2B5EF4-FFF2-40B4-BE49-F238E27FC236}">
                <a16:creationId xmlns:a16="http://schemas.microsoft.com/office/drawing/2014/main" id="{F6001254-1A0B-2742-85D7-688E7367FDD2}"/>
              </a:ext>
            </a:extLst>
          </p:cNvPr>
          <p:cNvSpPr/>
          <p:nvPr/>
        </p:nvSpPr>
        <p:spPr>
          <a:xfrm>
            <a:off x="503238" y="912813"/>
            <a:ext cx="8172450" cy="43211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6" name="Google Shape;216;p14"/>
          <p:cNvSpPr/>
          <p:nvPr/>
        </p:nvSpPr>
        <p:spPr>
          <a:xfrm>
            <a:off x="526682" y="1888611"/>
            <a:ext cx="8042162"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COBERTURA DE SENTENCIA- EJEMPLO 1</a:t>
            </a:r>
            <a:endParaRPr dirty="0"/>
          </a:p>
        </p:txBody>
      </p:sp>
      <p:sp>
        <p:nvSpPr>
          <p:cNvPr id="217" name="Google Shape;217;p14"/>
          <p:cNvSpPr/>
          <p:nvPr/>
        </p:nvSpPr>
        <p:spPr>
          <a:xfrm>
            <a:off x="4143851" y="3075008"/>
            <a:ext cx="3094117"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2000" dirty="0">
                <a:solidFill>
                  <a:schemeClr val="dk1"/>
                </a:solidFill>
                <a:latin typeface="Calibri"/>
                <a:ea typeface="Calibri"/>
                <a:cs typeface="Calibri"/>
                <a:sym typeface="Calibri"/>
              </a:rPr>
              <a:t>Prueba 1.1 🡪 A = 12, B = 10</a:t>
            </a:r>
            <a:endParaRPr sz="2000" dirty="0">
              <a:solidFill>
                <a:schemeClr val="dk1"/>
              </a:solidFill>
              <a:latin typeface="Calibri"/>
              <a:ea typeface="Calibri"/>
              <a:cs typeface="Calibri"/>
              <a:sym typeface="Calibri"/>
            </a:endParaRPr>
          </a:p>
        </p:txBody>
      </p:sp>
      <p:sp>
        <p:nvSpPr>
          <p:cNvPr id="218" name="Google Shape;218;p14"/>
          <p:cNvSpPr/>
          <p:nvPr/>
        </p:nvSpPr>
        <p:spPr>
          <a:xfrm>
            <a:off x="2237362" y="2456983"/>
            <a:ext cx="1712846" cy="15388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2000" b="1" dirty="0">
                <a:solidFill>
                  <a:schemeClr val="dk1"/>
                </a:solidFill>
                <a:latin typeface="Calibri"/>
                <a:ea typeface="Calibri"/>
                <a:cs typeface="Calibri"/>
                <a:sym typeface="Calibri"/>
              </a:rPr>
              <a:t>READ A</a:t>
            </a:r>
            <a:endParaRPr dirty="0"/>
          </a:p>
          <a:p>
            <a:pPr marL="0" marR="0" lvl="0" indent="0" algn="l" rtl="0">
              <a:spcBef>
                <a:spcPts val="0"/>
              </a:spcBef>
              <a:spcAft>
                <a:spcPts val="0"/>
              </a:spcAft>
              <a:buNone/>
            </a:pPr>
            <a:r>
              <a:rPr lang="es-PE" sz="2000" b="1" dirty="0">
                <a:solidFill>
                  <a:schemeClr val="dk1"/>
                </a:solidFill>
                <a:latin typeface="Calibri"/>
                <a:ea typeface="Calibri"/>
                <a:cs typeface="Calibri"/>
                <a:sym typeface="Calibri"/>
              </a:rPr>
              <a:t>READ B</a:t>
            </a:r>
            <a:endParaRPr dirty="0"/>
          </a:p>
          <a:p>
            <a:pPr marL="0" marR="0" lvl="0" indent="0" algn="l" rtl="0">
              <a:spcBef>
                <a:spcPts val="0"/>
              </a:spcBef>
              <a:spcAft>
                <a:spcPts val="0"/>
              </a:spcAft>
              <a:buNone/>
            </a:pPr>
            <a:r>
              <a:rPr lang="es-PE" sz="2000" b="1" dirty="0">
                <a:solidFill>
                  <a:schemeClr val="dk1"/>
                </a:solidFill>
                <a:latin typeface="Calibri"/>
                <a:ea typeface="Calibri"/>
                <a:cs typeface="Calibri"/>
                <a:sym typeface="Calibri"/>
              </a:rPr>
              <a:t>IF A &gt; B THEN </a:t>
            </a:r>
            <a:endParaRPr dirty="0"/>
          </a:p>
          <a:p>
            <a:pPr marL="0" marR="0" lvl="0" indent="0" algn="l" rtl="0">
              <a:spcBef>
                <a:spcPts val="0"/>
              </a:spcBef>
              <a:spcAft>
                <a:spcPts val="0"/>
              </a:spcAft>
              <a:buNone/>
            </a:pPr>
            <a:r>
              <a:rPr lang="es-PE" sz="2000" b="1" dirty="0">
                <a:solidFill>
                  <a:schemeClr val="dk1"/>
                </a:solidFill>
                <a:latin typeface="Calibri"/>
                <a:ea typeface="Calibri"/>
                <a:cs typeface="Calibri"/>
                <a:sym typeface="Calibri"/>
              </a:rPr>
              <a:t>C = 0</a:t>
            </a:r>
            <a:endParaRPr dirty="0"/>
          </a:p>
          <a:p>
            <a:pPr marL="0" marR="0" lvl="0" indent="0" algn="l" rtl="0">
              <a:spcBef>
                <a:spcPts val="0"/>
              </a:spcBef>
              <a:spcAft>
                <a:spcPts val="0"/>
              </a:spcAft>
              <a:buNone/>
            </a:pPr>
            <a:r>
              <a:rPr lang="es-PE" sz="2000" b="1" dirty="0">
                <a:solidFill>
                  <a:schemeClr val="dk1"/>
                </a:solidFill>
                <a:latin typeface="Calibri"/>
                <a:ea typeface="Calibri"/>
                <a:cs typeface="Calibri"/>
                <a:sym typeface="Calibri"/>
              </a:rPr>
              <a:t>END IF</a:t>
            </a:r>
            <a:endParaRPr dirty="0"/>
          </a:p>
        </p:txBody>
      </p:sp>
      <p:sp>
        <p:nvSpPr>
          <p:cNvPr id="6" name="Rectangle 5">
            <a:extLst>
              <a:ext uri="{FF2B5EF4-FFF2-40B4-BE49-F238E27FC236}">
                <a16:creationId xmlns:a16="http://schemas.microsoft.com/office/drawing/2014/main" id="{7BC7A3FE-F7F3-0E4E-8312-B2AAEB8E1AAD}"/>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4" name="Google Shape;224;p15"/>
          <p:cNvSpPr/>
          <p:nvPr/>
        </p:nvSpPr>
        <p:spPr>
          <a:xfrm>
            <a:off x="503238" y="1629707"/>
            <a:ext cx="8137525"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COBERTURA DE SENTENCIA- EJEMPLO 2</a:t>
            </a:r>
            <a:endParaRPr dirty="0"/>
          </a:p>
        </p:txBody>
      </p:sp>
      <p:sp>
        <p:nvSpPr>
          <p:cNvPr id="225" name="Google Shape;225;p15"/>
          <p:cNvSpPr/>
          <p:nvPr/>
        </p:nvSpPr>
        <p:spPr>
          <a:xfrm>
            <a:off x="647701" y="2273302"/>
            <a:ext cx="1980050" cy="147732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1 READ A</a:t>
            </a:r>
            <a:endParaRPr dirty="0"/>
          </a:p>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2 READ B</a:t>
            </a:r>
            <a:endParaRPr dirty="0"/>
          </a:p>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3 C = A + 2 * B</a:t>
            </a:r>
            <a:endParaRPr dirty="0"/>
          </a:p>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4 IF C &gt; 50 THEN </a:t>
            </a:r>
            <a:endParaRPr dirty="0"/>
          </a:p>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5 PRINT LARGE C </a:t>
            </a:r>
            <a:endParaRPr dirty="0"/>
          </a:p>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6 END IF</a:t>
            </a:r>
            <a:endParaRPr dirty="0"/>
          </a:p>
        </p:txBody>
      </p:sp>
      <p:graphicFrame>
        <p:nvGraphicFramePr>
          <p:cNvPr id="226" name="Google Shape;226;p15"/>
          <p:cNvGraphicFramePr/>
          <p:nvPr>
            <p:extLst>
              <p:ext uri="{D42A27DB-BD31-4B8C-83A1-F6EECF244321}">
                <p14:modId xmlns:p14="http://schemas.microsoft.com/office/powerpoint/2010/main" val="2339382576"/>
              </p:ext>
            </p:extLst>
          </p:nvPr>
        </p:nvGraphicFramePr>
        <p:xfrm>
          <a:off x="2548647" y="2285505"/>
          <a:ext cx="6092125" cy="1465125"/>
        </p:xfrm>
        <a:graphic>
          <a:graphicData uri="http://schemas.openxmlformats.org/drawingml/2006/table">
            <a:tbl>
              <a:tblPr firstRow="1" bandRow="1">
                <a:noFill/>
                <a:tableStyleId>{82228D95-4AB4-48C5-BFF1-23C89AF4A915}</a:tableStyleId>
              </a:tblPr>
              <a:tblGrid>
                <a:gridCol w="2203750">
                  <a:extLst>
                    <a:ext uri="{9D8B030D-6E8A-4147-A177-3AD203B41FA5}">
                      <a16:colId xmlns:a16="http://schemas.microsoft.com/office/drawing/2014/main" val="20000"/>
                    </a:ext>
                  </a:extLst>
                </a:gridCol>
                <a:gridCol w="3888375">
                  <a:extLst>
                    <a:ext uri="{9D8B030D-6E8A-4147-A177-3AD203B41FA5}">
                      <a16:colId xmlns:a16="http://schemas.microsoft.com/office/drawing/2014/main" val="20001"/>
                    </a:ext>
                  </a:extLst>
                </a:gridCol>
              </a:tblGrid>
              <a:tr h="270125">
                <a:tc>
                  <a:txBody>
                    <a:bodyPr/>
                    <a:lstStyle/>
                    <a:p>
                      <a:pPr marL="0" marR="0" lvl="0" indent="0" algn="l" rtl="0">
                        <a:spcBef>
                          <a:spcPts val="0"/>
                        </a:spcBef>
                        <a:spcAft>
                          <a:spcPts val="0"/>
                        </a:spcAft>
                        <a:buNone/>
                      </a:pPr>
                      <a:r>
                        <a:rPr lang="es-PE" sz="1200" u="none" strike="noStrike" cap="none" dirty="0"/>
                        <a:t>PRUEBA</a:t>
                      </a:r>
                      <a:endParaRPr dirty="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7150A0"/>
                    </a:solidFill>
                  </a:tcPr>
                </a:tc>
                <a:tc>
                  <a:txBody>
                    <a:bodyPr/>
                    <a:lstStyle/>
                    <a:p>
                      <a:pPr marL="0" marR="0" lvl="0" indent="0" algn="l" rtl="0">
                        <a:spcBef>
                          <a:spcPts val="0"/>
                        </a:spcBef>
                        <a:spcAft>
                          <a:spcPts val="0"/>
                        </a:spcAft>
                        <a:buNone/>
                      </a:pPr>
                      <a:r>
                        <a:rPr lang="es-PE" sz="1200" dirty="0"/>
                        <a:t>AFIRMACIONES</a:t>
                      </a:r>
                      <a:endParaRPr dirty="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7150A0"/>
                    </a:solidFill>
                  </a:tcPr>
                </a:tc>
                <a:extLst>
                  <a:ext uri="{0D108BD9-81ED-4DB2-BD59-A6C34878D82A}">
                    <a16:rowId xmlns:a16="http://schemas.microsoft.com/office/drawing/2014/main" val="10000"/>
                  </a:ext>
                </a:extLst>
              </a:tr>
              <a:tr h="298750">
                <a:tc>
                  <a:txBody>
                    <a:bodyPr/>
                    <a:lstStyle/>
                    <a:p>
                      <a:pPr marL="0" marR="0" lvl="0" indent="0" algn="l" rtl="0">
                        <a:spcBef>
                          <a:spcPts val="0"/>
                        </a:spcBef>
                        <a:spcAft>
                          <a:spcPts val="0"/>
                        </a:spcAft>
                        <a:buNone/>
                      </a:pPr>
                      <a:r>
                        <a:rPr lang="es-PE" sz="1200" dirty="0"/>
                        <a:t>Prueba 1.1 🡪 A = 2, B = 3</a:t>
                      </a:r>
                      <a:endParaRPr sz="1200" dirty="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tc>
                  <a:txBody>
                    <a:bodyPr/>
                    <a:lstStyle/>
                    <a:p>
                      <a:pPr marL="185738" marR="0" lvl="0" indent="-185738" algn="l" rtl="0">
                        <a:spcBef>
                          <a:spcPts val="0"/>
                        </a:spcBef>
                        <a:spcAft>
                          <a:spcPts val="0"/>
                        </a:spcAft>
                        <a:buClr>
                          <a:srgbClr val="7150A0"/>
                        </a:buClr>
                        <a:buSzPts val="1200"/>
                        <a:buFont typeface="Arial" panose="020B0604020202020204" pitchFamily="34" charset="0"/>
                        <a:buChar char="•"/>
                        <a:tabLst/>
                      </a:pPr>
                      <a:r>
                        <a:rPr lang="es-PE" sz="1200" dirty="0"/>
                        <a:t>C será 8, cubriendo las líneas  1 a 4 y 6.     </a:t>
                      </a:r>
                      <a:r>
                        <a:rPr lang="es-PE" sz="1200" b="1" dirty="0"/>
                        <a:t>83%</a:t>
                      </a:r>
                      <a:endParaRPr dirty="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extLst>
                  <a:ext uri="{0D108BD9-81ED-4DB2-BD59-A6C34878D82A}">
                    <a16:rowId xmlns:a16="http://schemas.microsoft.com/office/drawing/2014/main" val="10001"/>
                  </a:ext>
                </a:extLst>
              </a:tr>
              <a:tr h="298750">
                <a:tc>
                  <a:txBody>
                    <a:bodyPr/>
                    <a:lstStyle/>
                    <a:p>
                      <a:pPr marL="0" marR="0" lvl="0" indent="0" algn="l" rtl="0">
                        <a:spcBef>
                          <a:spcPts val="0"/>
                        </a:spcBef>
                        <a:spcAft>
                          <a:spcPts val="0"/>
                        </a:spcAft>
                        <a:buNone/>
                      </a:pPr>
                      <a:r>
                        <a:rPr lang="es-PE" sz="1200"/>
                        <a:t>Prueba 1.2 🡪 A = 0, B = 25</a:t>
                      </a:r>
                      <a:endParaRPr sz="120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tc>
                  <a:txBody>
                    <a:bodyPr/>
                    <a:lstStyle/>
                    <a:p>
                      <a:pPr marL="185738" marR="0" lvl="0" indent="-185738" algn="l" rtl="0">
                        <a:spcBef>
                          <a:spcPts val="0"/>
                        </a:spcBef>
                        <a:spcAft>
                          <a:spcPts val="0"/>
                        </a:spcAft>
                        <a:buClr>
                          <a:srgbClr val="7150A0"/>
                        </a:buClr>
                        <a:buSzPts val="1200"/>
                        <a:buFont typeface="Arial" panose="020B0604020202020204" pitchFamily="34" charset="0"/>
                        <a:buChar char="•"/>
                        <a:tabLst/>
                      </a:pPr>
                      <a:r>
                        <a:rPr lang="es-PE" sz="1200" dirty="0"/>
                        <a:t>C será 50, cubriendo las líneas  1 a 4 y 6.   </a:t>
                      </a:r>
                      <a:r>
                        <a:rPr lang="es-PE" sz="1200" b="1" dirty="0"/>
                        <a:t>83%</a:t>
                      </a:r>
                      <a:endParaRPr sz="1200" dirty="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extLst>
                  <a:ext uri="{0D108BD9-81ED-4DB2-BD59-A6C34878D82A}">
                    <a16:rowId xmlns:a16="http://schemas.microsoft.com/office/drawing/2014/main" val="10002"/>
                  </a:ext>
                </a:extLst>
              </a:tr>
              <a:tr h="298750">
                <a:tc>
                  <a:txBody>
                    <a:bodyPr/>
                    <a:lstStyle/>
                    <a:p>
                      <a:pPr marL="0" marR="0" lvl="0" indent="0" algn="l" rtl="0">
                        <a:spcBef>
                          <a:spcPts val="0"/>
                        </a:spcBef>
                        <a:spcAft>
                          <a:spcPts val="0"/>
                        </a:spcAft>
                        <a:buNone/>
                      </a:pPr>
                      <a:r>
                        <a:rPr lang="es-PE" sz="1200"/>
                        <a:t>Prueba 1.3 🡪 A = 47, B = 1</a:t>
                      </a:r>
                      <a:endParaRPr sz="120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tc>
                  <a:txBody>
                    <a:bodyPr/>
                    <a:lstStyle/>
                    <a:p>
                      <a:pPr marL="185738" marR="0" lvl="0" indent="-185738" algn="l" rtl="0">
                        <a:spcBef>
                          <a:spcPts val="0"/>
                        </a:spcBef>
                        <a:spcAft>
                          <a:spcPts val="0"/>
                        </a:spcAft>
                        <a:buClr>
                          <a:srgbClr val="7150A0"/>
                        </a:buClr>
                        <a:buSzPts val="1200"/>
                        <a:buFont typeface="Arial" panose="020B0604020202020204" pitchFamily="34" charset="0"/>
                        <a:buChar char="•"/>
                        <a:tabLst/>
                      </a:pPr>
                      <a:r>
                        <a:rPr lang="es-PE" sz="1200" dirty="0"/>
                        <a:t>C será 49, cubriendo las líneas  1 a 4 y 6.   </a:t>
                      </a:r>
                      <a:r>
                        <a:rPr lang="es-PE" sz="1200" b="1" dirty="0"/>
                        <a:t>83%</a:t>
                      </a:r>
                      <a:endParaRPr sz="1200" dirty="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extLst>
                  <a:ext uri="{0D108BD9-81ED-4DB2-BD59-A6C34878D82A}">
                    <a16:rowId xmlns:a16="http://schemas.microsoft.com/office/drawing/2014/main" val="10003"/>
                  </a:ext>
                </a:extLst>
              </a:tr>
              <a:tr h="298750">
                <a:tc>
                  <a:txBody>
                    <a:bodyPr/>
                    <a:lstStyle/>
                    <a:p>
                      <a:pPr marL="0" marR="0" lvl="0" indent="0" algn="l" rtl="0">
                        <a:spcBef>
                          <a:spcPts val="0"/>
                        </a:spcBef>
                        <a:spcAft>
                          <a:spcPts val="0"/>
                        </a:spcAft>
                        <a:buNone/>
                      </a:pPr>
                      <a:r>
                        <a:rPr lang="es-PE" sz="1200"/>
                        <a:t>Prueba 1.4 🡪 A = 20, B = 25</a:t>
                      </a:r>
                      <a:endParaRPr sz="120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tc>
                  <a:txBody>
                    <a:bodyPr/>
                    <a:lstStyle/>
                    <a:p>
                      <a:pPr marL="185738" marR="0" lvl="0" indent="-185738" algn="l" rtl="0">
                        <a:spcBef>
                          <a:spcPts val="0"/>
                        </a:spcBef>
                        <a:spcAft>
                          <a:spcPts val="0"/>
                        </a:spcAft>
                        <a:buClr>
                          <a:srgbClr val="7150A0"/>
                        </a:buClr>
                        <a:buSzPts val="1200"/>
                        <a:buFont typeface="Arial" panose="020B0604020202020204" pitchFamily="34" charset="0"/>
                        <a:buChar char="•"/>
                        <a:tabLst/>
                      </a:pPr>
                      <a:r>
                        <a:rPr lang="es-PE" sz="1200" dirty="0"/>
                        <a:t>C será 70, cubriendo las líneas  1 a 6.        </a:t>
                      </a:r>
                      <a:r>
                        <a:rPr lang="es-PE" sz="1200" b="1" dirty="0"/>
                        <a:t>100%</a:t>
                      </a:r>
                      <a:endParaRPr dirty="0"/>
                    </a:p>
                  </a:txBody>
                  <a:tcPr marL="89125" marR="89125" marT="36825" marB="36825">
                    <a:lnL w="12700" cap="flat" cmpd="sng" algn="ctr">
                      <a:solidFill>
                        <a:srgbClr val="7150A0"/>
                      </a:solidFill>
                      <a:prstDash val="solid"/>
                      <a:round/>
                      <a:headEnd type="none" w="med" len="med"/>
                      <a:tailEnd type="none" w="med" len="med"/>
                    </a:lnL>
                    <a:lnR w="12700" cap="flat" cmpd="sng" algn="ctr">
                      <a:solidFill>
                        <a:srgbClr val="7150A0"/>
                      </a:solidFill>
                      <a:prstDash val="solid"/>
                      <a:round/>
                      <a:headEnd type="none" w="med" len="med"/>
                      <a:tailEnd type="none" w="med" len="med"/>
                    </a:lnR>
                    <a:lnT w="12700" cap="flat" cmpd="sng" algn="ctr">
                      <a:solidFill>
                        <a:srgbClr val="7150A0"/>
                      </a:solidFill>
                      <a:prstDash val="solid"/>
                      <a:round/>
                      <a:headEnd type="none" w="med" len="med"/>
                      <a:tailEnd type="none" w="med" len="med"/>
                    </a:lnT>
                    <a:lnB w="12700" cap="flat" cmpd="sng" algn="ctr">
                      <a:solidFill>
                        <a:srgbClr val="7150A0"/>
                      </a:solidFill>
                      <a:prstDash val="solid"/>
                      <a:round/>
                      <a:headEnd type="none" w="med" len="med"/>
                      <a:tailEnd type="none" w="med" len="med"/>
                    </a:lnB>
                    <a:solidFill>
                      <a:srgbClr val="F4F5F8"/>
                    </a:solidFill>
                  </a:tcPr>
                </a:tc>
                <a:extLst>
                  <a:ext uri="{0D108BD9-81ED-4DB2-BD59-A6C34878D82A}">
                    <a16:rowId xmlns:a16="http://schemas.microsoft.com/office/drawing/2014/main" val="10004"/>
                  </a:ext>
                </a:extLst>
              </a:tr>
            </a:tbl>
          </a:graphicData>
        </a:graphic>
      </p:graphicFrame>
      <p:sp>
        <p:nvSpPr>
          <p:cNvPr id="227" name="Google Shape;227;p15"/>
          <p:cNvSpPr/>
          <p:nvPr/>
        </p:nvSpPr>
        <p:spPr>
          <a:xfrm>
            <a:off x="2548647" y="3855165"/>
            <a:ext cx="6092116" cy="461665"/>
          </a:xfrm>
          <a:prstGeom prst="rect">
            <a:avLst/>
          </a:prstGeom>
          <a:noFill/>
          <a:ln>
            <a:noFill/>
          </a:ln>
        </p:spPr>
        <p:txBody>
          <a:bodyPr spcFirstLastPara="1" wrap="square" lIns="0" tIns="0" rIns="0" bIns="0" anchor="t" anchorCtr="0">
            <a:spAutoFit/>
          </a:bodyPr>
          <a:lstStyle/>
          <a:p>
            <a:pPr marL="184150" marR="0" lvl="0" indent="-184150" algn="l" rtl="0">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Ser más efectivo y más eficiente es la marca de una buena técnica de prueba.</a:t>
            </a:r>
            <a:endParaRPr sz="1500" dirty="0"/>
          </a:p>
        </p:txBody>
      </p:sp>
      <p:sp>
        <p:nvSpPr>
          <p:cNvPr id="7" name="Rectangle 5">
            <a:extLst>
              <a:ext uri="{FF2B5EF4-FFF2-40B4-BE49-F238E27FC236}">
                <a16:creationId xmlns:a16="http://schemas.microsoft.com/office/drawing/2014/main" id="{2CB71413-8EE0-7941-BEBE-0F41402829EC}"/>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6" name="Rectangle 5">
            <a:extLst>
              <a:ext uri="{FF2B5EF4-FFF2-40B4-BE49-F238E27FC236}">
                <a16:creationId xmlns:a16="http://schemas.microsoft.com/office/drawing/2014/main" id="{A273133A-DD26-764B-8632-E2B6160AB20F}"/>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redondeado 6">
            <a:extLst>
              <a:ext uri="{FF2B5EF4-FFF2-40B4-BE49-F238E27FC236}">
                <a16:creationId xmlns:a16="http://schemas.microsoft.com/office/drawing/2014/main" id="{5FD16021-1A67-A547-82F6-1B27451736BB}"/>
              </a:ext>
            </a:extLst>
          </p:cNvPr>
          <p:cNvSpPr/>
          <p:nvPr/>
        </p:nvSpPr>
        <p:spPr>
          <a:xfrm>
            <a:off x="676055" y="3456173"/>
            <a:ext cx="3827462" cy="1004652"/>
          </a:xfrm>
          <a:prstGeom prst="roundRect">
            <a:avLst>
              <a:gd name="adj" fmla="val 1137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500" dirty="0">
                <a:solidFill>
                  <a:schemeClr val="lt1"/>
                </a:solidFill>
                <a:latin typeface="Calibri"/>
                <a:ea typeface="Calibri"/>
                <a:cs typeface="Calibri"/>
                <a:sym typeface="Calibri"/>
              </a:rPr>
              <a:t>Cobertura de Decisión = (Número de decisiones ejecutadas / Número Total de decisiones ) x 100%</a:t>
            </a:r>
            <a:endParaRPr lang="es-PE" sz="1500" dirty="0"/>
          </a:p>
        </p:txBody>
      </p:sp>
      <p:sp>
        <p:nvSpPr>
          <p:cNvPr id="8" name="Rectángulo redondeado 7">
            <a:extLst>
              <a:ext uri="{FF2B5EF4-FFF2-40B4-BE49-F238E27FC236}">
                <a16:creationId xmlns:a16="http://schemas.microsoft.com/office/drawing/2014/main" id="{DA47EEA2-1B9C-0F41-9032-F015EDA45914}"/>
              </a:ext>
            </a:extLst>
          </p:cNvPr>
          <p:cNvSpPr/>
          <p:nvPr/>
        </p:nvSpPr>
        <p:spPr>
          <a:xfrm>
            <a:off x="4652631" y="3456173"/>
            <a:ext cx="3827462" cy="1004652"/>
          </a:xfrm>
          <a:prstGeom prst="roundRect">
            <a:avLst>
              <a:gd name="adj" fmla="val 11372"/>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es-PE" sz="1500" dirty="0">
                <a:solidFill>
                  <a:schemeClr val="lt1"/>
                </a:solidFill>
                <a:latin typeface="Calibri"/>
                <a:ea typeface="Calibri"/>
                <a:cs typeface="Calibri"/>
                <a:sym typeface="Calibri"/>
              </a:rPr>
              <a:t>Cobertura de Ramas = (Número de ramas ejecutadas / Número Total de ramas ) x 100%</a:t>
            </a:r>
            <a:endParaRPr lang="es-PE" sz="1500" dirty="0"/>
          </a:p>
        </p:txBody>
      </p:sp>
      <p:sp>
        <p:nvSpPr>
          <p:cNvPr id="9" name="Rectángulo 8">
            <a:extLst>
              <a:ext uri="{FF2B5EF4-FFF2-40B4-BE49-F238E27FC236}">
                <a16:creationId xmlns:a16="http://schemas.microsoft.com/office/drawing/2014/main" id="{2CCA065F-4B6E-DF49-BB6A-B08841ECB7DB}"/>
              </a:ext>
            </a:extLst>
          </p:cNvPr>
          <p:cNvSpPr/>
          <p:nvPr/>
        </p:nvSpPr>
        <p:spPr>
          <a:xfrm>
            <a:off x="503238" y="916472"/>
            <a:ext cx="7976855" cy="2246769"/>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COBERTURA DE DECISIÓN O RAMA</a:t>
            </a:r>
            <a:endParaRPr lang="es-PE" sz="1600" b="1" dirty="0">
              <a:solidFill>
                <a:srgbClr val="EE4639"/>
              </a:solidFill>
              <a:latin typeface="Calibri" charset="0"/>
              <a:cs typeface="Calibri" charset="0"/>
            </a:endParaRPr>
          </a:p>
          <a:p>
            <a:pPr marL="134938" marR="0" lvl="0" indent="-13493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Se centra en el flujo de control en un segmento de código (no los nodos sino las aristas del diagrama de flujo de control).</a:t>
            </a:r>
            <a:endParaRPr lang="es-PE" sz="1500" dirty="0"/>
          </a:p>
          <a:p>
            <a:pPr marL="134938" marR="0" lvl="0" indent="-33337"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34938" marR="0" lvl="0" indent="-13493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El objetivo de esta prueba es lograr la cobertura de un porcentaje específico de todas las decisiones denominado </a:t>
            </a:r>
            <a:endParaRPr lang="es-PE" sz="1500" dirty="0"/>
          </a:p>
          <a:p>
            <a:pPr marL="134938" marR="0" lvl="0" indent="-33337"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34938" marR="0" lvl="0" indent="-134938" algn="l" rtl="0">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CD </a:t>
            </a:r>
            <a:r>
              <a:rPr lang="es-PE" sz="1500" dirty="0">
                <a:solidFill>
                  <a:schemeClr val="dk1"/>
                </a:solidFill>
                <a:latin typeface="Calibri"/>
                <a:ea typeface="Calibri"/>
                <a:cs typeface="Calibri"/>
                <a:sym typeface="Calibri"/>
              </a:rPr>
              <a:t>Cobertura de decisión</a:t>
            </a:r>
            <a:endParaRPr lang="es-PE"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5" name="Rectangle 5">
            <a:extLst>
              <a:ext uri="{FF2B5EF4-FFF2-40B4-BE49-F238E27FC236}">
                <a16:creationId xmlns:a16="http://schemas.microsoft.com/office/drawing/2014/main" id="{2266B5C7-3D4C-6548-BA5B-86C154A2DD0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6F96F07C-D322-F64D-9142-000E8CF69BD2}"/>
              </a:ext>
            </a:extLst>
          </p:cNvPr>
          <p:cNvSpPr/>
          <p:nvPr/>
        </p:nvSpPr>
        <p:spPr>
          <a:xfrm>
            <a:off x="503238" y="916472"/>
            <a:ext cx="3889375" cy="1092607"/>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COBERTURA DE DECISIÓN O RAMA</a:t>
            </a:r>
            <a:endParaRPr lang="es-PE" sz="1600" b="1" dirty="0">
              <a:solidFill>
                <a:srgbClr val="EE4639"/>
              </a:solidFill>
              <a:latin typeface="Calibri" charset="0"/>
              <a:cs typeface="Calibri" charset="0"/>
            </a:endParaRPr>
          </a:p>
          <a:p>
            <a:pPr marL="134938" marR="0" lvl="0" indent="-13493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¿Cuántos casos de prueba se requieren para lograr una </a:t>
            </a:r>
            <a:r>
              <a:rPr lang="es-PE" sz="1500" b="1" dirty="0">
                <a:solidFill>
                  <a:schemeClr val="dk1"/>
                </a:solidFill>
                <a:latin typeface="Calibri"/>
                <a:ea typeface="Calibri"/>
                <a:cs typeface="Calibri"/>
                <a:sym typeface="Calibri"/>
              </a:rPr>
              <a:t>cobertura de sentencia </a:t>
            </a:r>
            <a:r>
              <a:rPr lang="es-PE" sz="1500" dirty="0">
                <a:solidFill>
                  <a:schemeClr val="dk1"/>
                </a:solidFill>
                <a:latin typeface="Calibri"/>
                <a:ea typeface="Calibri"/>
                <a:cs typeface="Calibri"/>
                <a:sym typeface="Calibri"/>
              </a:rPr>
              <a:t>del 100%?</a:t>
            </a:r>
            <a:endParaRPr lang="es-PE" sz="1500" dirty="0"/>
          </a:p>
        </p:txBody>
      </p:sp>
      <p:grpSp>
        <p:nvGrpSpPr>
          <p:cNvPr id="28" name="Grupo 27">
            <a:extLst>
              <a:ext uri="{FF2B5EF4-FFF2-40B4-BE49-F238E27FC236}">
                <a16:creationId xmlns:a16="http://schemas.microsoft.com/office/drawing/2014/main" id="{551A2FFF-E3CE-894A-84AF-B05F21FF7DB3}"/>
              </a:ext>
            </a:extLst>
          </p:cNvPr>
          <p:cNvGrpSpPr/>
          <p:nvPr/>
        </p:nvGrpSpPr>
        <p:grpSpPr>
          <a:xfrm>
            <a:off x="4266814" y="1054580"/>
            <a:ext cx="4094753" cy="3902189"/>
            <a:chOff x="4245549" y="912813"/>
            <a:chExt cx="4094753" cy="3902189"/>
          </a:xfrm>
        </p:grpSpPr>
        <p:sp>
          <p:nvSpPr>
            <p:cNvPr id="29" name="Arco 28">
              <a:extLst>
                <a:ext uri="{FF2B5EF4-FFF2-40B4-BE49-F238E27FC236}">
                  <a16:creationId xmlns:a16="http://schemas.microsoft.com/office/drawing/2014/main" id="{F9314701-8E6D-B74A-9F1E-D4AC2F620334}"/>
                </a:ext>
              </a:extLst>
            </p:cNvPr>
            <p:cNvSpPr/>
            <p:nvPr/>
          </p:nvSpPr>
          <p:spPr>
            <a:xfrm rot="16200000">
              <a:off x="4553348" y="2943526"/>
              <a:ext cx="1861801" cy="840403"/>
            </a:xfrm>
            <a:prstGeom prst="arc">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0" name="Arco 29">
              <a:extLst>
                <a:ext uri="{FF2B5EF4-FFF2-40B4-BE49-F238E27FC236}">
                  <a16:creationId xmlns:a16="http://schemas.microsoft.com/office/drawing/2014/main" id="{2163FF67-6251-EE4E-BBFC-E7CCC102F607}"/>
                </a:ext>
              </a:extLst>
            </p:cNvPr>
            <p:cNvSpPr/>
            <p:nvPr/>
          </p:nvSpPr>
          <p:spPr>
            <a:xfrm rot="16200000">
              <a:off x="5471657" y="1918623"/>
              <a:ext cx="1370772" cy="1025802"/>
            </a:xfrm>
            <a:prstGeom prst="arc">
              <a:avLst>
                <a:gd name="adj1" fmla="val 16905154"/>
                <a:gd name="adj2" fmla="val 0"/>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1" name="Arco 30">
              <a:extLst>
                <a:ext uri="{FF2B5EF4-FFF2-40B4-BE49-F238E27FC236}">
                  <a16:creationId xmlns:a16="http://schemas.microsoft.com/office/drawing/2014/main" id="{88EE749C-8299-2847-834F-97E5352FA7CE}"/>
                </a:ext>
              </a:extLst>
            </p:cNvPr>
            <p:cNvSpPr/>
            <p:nvPr/>
          </p:nvSpPr>
          <p:spPr>
            <a:xfrm rot="16200000" flipV="1">
              <a:off x="5821026" y="1849211"/>
              <a:ext cx="1370772" cy="1126285"/>
            </a:xfrm>
            <a:prstGeom prst="arc">
              <a:avLst>
                <a:gd name="adj1" fmla="val 16905154"/>
                <a:gd name="adj2" fmla="val 0"/>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2" name="Arco 31">
              <a:extLst>
                <a:ext uri="{FF2B5EF4-FFF2-40B4-BE49-F238E27FC236}">
                  <a16:creationId xmlns:a16="http://schemas.microsoft.com/office/drawing/2014/main" id="{C02C69FF-82E5-B945-8EB0-34BE4CF2DE91}"/>
                </a:ext>
              </a:extLst>
            </p:cNvPr>
            <p:cNvSpPr/>
            <p:nvPr/>
          </p:nvSpPr>
          <p:spPr>
            <a:xfrm rot="5400000">
              <a:off x="5161203" y="2399340"/>
              <a:ext cx="251026" cy="2082334"/>
            </a:xfrm>
            <a:prstGeom prst="arc">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3" name="Arco 32">
              <a:extLst>
                <a:ext uri="{FF2B5EF4-FFF2-40B4-BE49-F238E27FC236}">
                  <a16:creationId xmlns:a16="http://schemas.microsoft.com/office/drawing/2014/main" id="{BE5E31C6-D3A5-DB42-8275-6B2BA88F85EE}"/>
                </a:ext>
              </a:extLst>
            </p:cNvPr>
            <p:cNvSpPr/>
            <p:nvPr/>
          </p:nvSpPr>
          <p:spPr>
            <a:xfrm rot="5758896">
              <a:off x="5552624" y="2439750"/>
              <a:ext cx="1439186" cy="1987368"/>
            </a:xfrm>
            <a:prstGeom prst="arc">
              <a:avLst>
                <a:gd name="adj1" fmla="val 17045675"/>
                <a:gd name="adj2" fmla="val 0"/>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4" name="Arco 33">
              <a:extLst>
                <a:ext uri="{FF2B5EF4-FFF2-40B4-BE49-F238E27FC236}">
                  <a16:creationId xmlns:a16="http://schemas.microsoft.com/office/drawing/2014/main" id="{F27B14A7-4683-A140-89EF-388EA56568A8}"/>
                </a:ext>
              </a:extLst>
            </p:cNvPr>
            <p:cNvSpPr/>
            <p:nvPr/>
          </p:nvSpPr>
          <p:spPr>
            <a:xfrm rot="19572148">
              <a:off x="6910633" y="2367067"/>
              <a:ext cx="1237029" cy="1845936"/>
            </a:xfrm>
            <a:prstGeom prst="arc">
              <a:avLst>
                <a:gd name="adj1" fmla="val 17045675"/>
                <a:gd name="adj2" fmla="val 287624"/>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5" name="Arco 34">
              <a:extLst>
                <a:ext uri="{FF2B5EF4-FFF2-40B4-BE49-F238E27FC236}">
                  <a16:creationId xmlns:a16="http://schemas.microsoft.com/office/drawing/2014/main" id="{C12DAA1F-0BBA-9F4E-88F9-DFCA026852B7}"/>
                </a:ext>
              </a:extLst>
            </p:cNvPr>
            <p:cNvSpPr/>
            <p:nvPr/>
          </p:nvSpPr>
          <p:spPr>
            <a:xfrm rot="9926420">
              <a:off x="5025818" y="2914833"/>
              <a:ext cx="1663378" cy="1225787"/>
            </a:xfrm>
            <a:prstGeom prst="arc">
              <a:avLst>
                <a:gd name="adj1" fmla="val 17335174"/>
                <a:gd name="adj2" fmla="val 0"/>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6" name="Arco 35">
              <a:extLst>
                <a:ext uri="{FF2B5EF4-FFF2-40B4-BE49-F238E27FC236}">
                  <a16:creationId xmlns:a16="http://schemas.microsoft.com/office/drawing/2014/main" id="{85CF2891-A0B1-2A45-B8C2-194D35F0523F}"/>
                </a:ext>
              </a:extLst>
            </p:cNvPr>
            <p:cNvSpPr/>
            <p:nvPr/>
          </p:nvSpPr>
          <p:spPr>
            <a:xfrm rot="4725571">
              <a:off x="7138262" y="2386148"/>
              <a:ext cx="900951" cy="1503129"/>
            </a:xfrm>
            <a:prstGeom prst="arc">
              <a:avLst>
                <a:gd name="adj1" fmla="val 17990753"/>
                <a:gd name="adj2" fmla="val 2004508"/>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7" name="Arco 36">
              <a:extLst>
                <a:ext uri="{FF2B5EF4-FFF2-40B4-BE49-F238E27FC236}">
                  <a16:creationId xmlns:a16="http://schemas.microsoft.com/office/drawing/2014/main" id="{13ADCDA9-F6D7-DB45-A5A9-A5678513586D}"/>
                </a:ext>
              </a:extLst>
            </p:cNvPr>
            <p:cNvSpPr/>
            <p:nvPr/>
          </p:nvSpPr>
          <p:spPr>
            <a:xfrm rot="12817770">
              <a:off x="6699189" y="2055231"/>
              <a:ext cx="1244907" cy="1603664"/>
            </a:xfrm>
            <a:prstGeom prst="arc">
              <a:avLst>
                <a:gd name="adj1" fmla="val 15653186"/>
                <a:gd name="adj2" fmla="val 1044931"/>
              </a:avLst>
            </a:prstGeom>
            <a:ln w="19050">
              <a:solidFill>
                <a:srgbClr val="00B1C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38" name="Elipse 37">
              <a:extLst>
                <a:ext uri="{FF2B5EF4-FFF2-40B4-BE49-F238E27FC236}">
                  <a16:creationId xmlns:a16="http://schemas.microsoft.com/office/drawing/2014/main" id="{F89C47BE-6456-5C44-8586-1B3B7EF8D00D}"/>
                </a:ext>
              </a:extLst>
            </p:cNvPr>
            <p:cNvSpPr/>
            <p:nvPr/>
          </p:nvSpPr>
          <p:spPr>
            <a:xfrm>
              <a:off x="6136094" y="159493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1</a:t>
              </a:r>
            </a:p>
          </p:txBody>
        </p:sp>
        <p:sp>
          <p:nvSpPr>
            <p:cNvPr id="39" name="Elipse 38">
              <a:extLst>
                <a:ext uri="{FF2B5EF4-FFF2-40B4-BE49-F238E27FC236}">
                  <a16:creationId xmlns:a16="http://schemas.microsoft.com/office/drawing/2014/main" id="{C603A344-A71E-CD43-A754-911BDE6FB828}"/>
                </a:ext>
              </a:extLst>
            </p:cNvPr>
            <p:cNvSpPr/>
            <p:nvPr/>
          </p:nvSpPr>
          <p:spPr>
            <a:xfrm>
              <a:off x="5424894" y="231629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2</a:t>
              </a:r>
            </a:p>
          </p:txBody>
        </p:sp>
        <p:sp>
          <p:nvSpPr>
            <p:cNvPr id="40" name="Elipse 39">
              <a:extLst>
                <a:ext uri="{FF2B5EF4-FFF2-40B4-BE49-F238E27FC236}">
                  <a16:creationId xmlns:a16="http://schemas.microsoft.com/office/drawing/2014/main" id="{B2F33195-C6D7-1349-9897-203FCD3F663F}"/>
                </a:ext>
              </a:extLst>
            </p:cNvPr>
            <p:cNvSpPr/>
            <p:nvPr/>
          </p:nvSpPr>
          <p:spPr>
            <a:xfrm>
              <a:off x="6852374" y="228073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3</a:t>
              </a:r>
            </a:p>
          </p:txBody>
        </p:sp>
        <p:sp>
          <p:nvSpPr>
            <p:cNvPr id="41" name="Elipse 40">
              <a:extLst>
                <a:ext uri="{FF2B5EF4-FFF2-40B4-BE49-F238E27FC236}">
                  <a16:creationId xmlns:a16="http://schemas.microsoft.com/office/drawing/2014/main" id="{F837E1FF-AF34-3349-9B3D-BD96E7C6621B}"/>
                </a:ext>
              </a:extLst>
            </p:cNvPr>
            <p:cNvSpPr/>
            <p:nvPr/>
          </p:nvSpPr>
          <p:spPr>
            <a:xfrm>
              <a:off x="6131014" y="304781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4</a:t>
              </a:r>
            </a:p>
          </p:txBody>
        </p:sp>
        <p:sp>
          <p:nvSpPr>
            <p:cNvPr id="42" name="Elipse 41">
              <a:extLst>
                <a:ext uri="{FF2B5EF4-FFF2-40B4-BE49-F238E27FC236}">
                  <a16:creationId xmlns:a16="http://schemas.microsoft.com/office/drawing/2014/main" id="{8542B583-3245-7449-BD7B-76D366DBAB05}"/>
                </a:ext>
              </a:extLst>
            </p:cNvPr>
            <p:cNvSpPr/>
            <p:nvPr/>
          </p:nvSpPr>
          <p:spPr>
            <a:xfrm>
              <a:off x="4881334" y="336277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5</a:t>
              </a:r>
            </a:p>
          </p:txBody>
        </p:sp>
        <p:sp>
          <p:nvSpPr>
            <p:cNvPr id="43" name="Elipse 42">
              <a:extLst>
                <a:ext uri="{FF2B5EF4-FFF2-40B4-BE49-F238E27FC236}">
                  <a16:creationId xmlns:a16="http://schemas.microsoft.com/office/drawing/2014/main" id="{AC48FFD5-AE5C-1640-81B8-27FD23138E2E}"/>
                </a:ext>
              </a:extLst>
            </p:cNvPr>
            <p:cNvSpPr/>
            <p:nvPr/>
          </p:nvSpPr>
          <p:spPr>
            <a:xfrm>
              <a:off x="7914094" y="298177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6</a:t>
              </a:r>
            </a:p>
          </p:txBody>
        </p:sp>
        <p:sp>
          <p:nvSpPr>
            <p:cNvPr id="44" name="Elipse 43">
              <a:extLst>
                <a:ext uri="{FF2B5EF4-FFF2-40B4-BE49-F238E27FC236}">
                  <a16:creationId xmlns:a16="http://schemas.microsoft.com/office/drawing/2014/main" id="{CC86696A-43AC-C34B-BF50-3240686730A1}"/>
                </a:ext>
              </a:extLst>
            </p:cNvPr>
            <p:cNvSpPr/>
            <p:nvPr/>
          </p:nvSpPr>
          <p:spPr>
            <a:xfrm>
              <a:off x="6989534" y="338309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7</a:t>
              </a:r>
            </a:p>
          </p:txBody>
        </p:sp>
        <p:sp>
          <p:nvSpPr>
            <p:cNvPr id="45" name="Elipse 44">
              <a:extLst>
                <a:ext uri="{FF2B5EF4-FFF2-40B4-BE49-F238E27FC236}">
                  <a16:creationId xmlns:a16="http://schemas.microsoft.com/office/drawing/2014/main" id="{D7220FB6-1AEB-1245-8A22-B5F01401EACF}"/>
                </a:ext>
              </a:extLst>
            </p:cNvPr>
            <p:cNvSpPr/>
            <p:nvPr/>
          </p:nvSpPr>
          <p:spPr>
            <a:xfrm>
              <a:off x="5816054" y="3952055"/>
              <a:ext cx="402214" cy="393639"/>
            </a:xfrm>
            <a:prstGeom prst="ellips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_tradnl" dirty="0">
                  <a:latin typeface="Calibri" panose="020F0502020204030204" pitchFamily="34" charset="0"/>
                  <a:cs typeface="Calibri" panose="020F0502020204030204" pitchFamily="34" charset="0"/>
                </a:rPr>
                <a:t>8</a:t>
              </a:r>
            </a:p>
          </p:txBody>
        </p:sp>
        <p:cxnSp>
          <p:nvCxnSpPr>
            <p:cNvPr id="46" name="Conector recto de flecha 45">
              <a:extLst>
                <a:ext uri="{FF2B5EF4-FFF2-40B4-BE49-F238E27FC236}">
                  <a16:creationId xmlns:a16="http://schemas.microsoft.com/office/drawing/2014/main" id="{927BDDBC-138A-674E-8B8D-7B661CC4A4E8}"/>
                </a:ext>
              </a:extLst>
            </p:cNvPr>
            <p:cNvCxnSpPr>
              <a:endCxn id="38" idx="0"/>
            </p:cNvCxnSpPr>
            <p:nvPr/>
          </p:nvCxnSpPr>
          <p:spPr>
            <a:xfrm>
              <a:off x="6337201" y="912813"/>
              <a:ext cx="0" cy="682122"/>
            </a:xfrm>
            <a:prstGeom prst="straightConnector1">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F45D0F71-2E3C-304D-8BA1-A79FCCF8628D}"/>
                </a:ext>
              </a:extLst>
            </p:cNvPr>
            <p:cNvCxnSpPr>
              <a:cxnSpLocks/>
            </p:cNvCxnSpPr>
            <p:nvPr/>
          </p:nvCxnSpPr>
          <p:spPr>
            <a:xfrm>
              <a:off x="6018106" y="4331653"/>
              <a:ext cx="0" cy="483349"/>
            </a:xfrm>
            <a:prstGeom prst="straightConnector1">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curvado 47">
              <a:extLst>
                <a:ext uri="{FF2B5EF4-FFF2-40B4-BE49-F238E27FC236}">
                  <a16:creationId xmlns:a16="http://schemas.microsoft.com/office/drawing/2014/main" id="{242C8813-33FE-C74B-AD34-126FA4D90537}"/>
                </a:ext>
              </a:extLst>
            </p:cNvPr>
            <p:cNvCxnSpPr>
              <a:cxnSpLocks/>
            </p:cNvCxnSpPr>
            <p:nvPr/>
          </p:nvCxnSpPr>
          <p:spPr>
            <a:xfrm rot="4080000" flipV="1">
              <a:off x="5497690" y="2565748"/>
              <a:ext cx="746424" cy="525595"/>
            </a:xfrm>
            <a:prstGeom prst="curvedConnector3">
              <a:avLst/>
            </a:prstGeom>
            <a:ln w="19050">
              <a:solidFill>
                <a:srgbClr val="00B1C2"/>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1" name="Google Shape;251;p18"/>
          <p:cNvSpPr/>
          <p:nvPr/>
        </p:nvSpPr>
        <p:spPr>
          <a:xfrm>
            <a:off x="503238" y="914570"/>
            <a:ext cx="3889374" cy="3400931"/>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600"/>
              </a:spcAft>
              <a:buNone/>
            </a:pPr>
            <a:r>
              <a:rPr lang="es-PE" sz="1600" b="1" dirty="0">
                <a:solidFill>
                  <a:schemeClr val="dk1"/>
                </a:solidFill>
                <a:latin typeface="Calibri"/>
                <a:ea typeface="Calibri"/>
                <a:cs typeface="Calibri"/>
                <a:sym typeface="Calibri"/>
              </a:rPr>
              <a:t>FLUJO DE CONTROL</a:t>
            </a:r>
            <a:endParaRPr dirty="0"/>
          </a:p>
          <a:p>
            <a:pPr marL="136525" marR="0" lvl="0" indent="-136525" algn="l" rtl="0">
              <a:lnSpc>
                <a:spcPct val="90000"/>
              </a:lnSpc>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 estructura del código se representa como un diagrama de control de flujo.</a:t>
            </a:r>
            <a:endParaRPr dirty="0"/>
          </a:p>
          <a:p>
            <a:pPr marL="136525" marR="0" lvl="0" indent="-136525" algn="l" rtl="0">
              <a:lnSpc>
                <a:spcPct val="90000"/>
              </a:lnSpc>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36525" marR="0" lvl="0" indent="-136525" algn="l" rtl="0">
              <a:lnSpc>
                <a:spcPct val="90000"/>
              </a:lnSpc>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Elementos:</a:t>
            </a:r>
            <a:endParaRPr dirty="0"/>
          </a:p>
          <a:p>
            <a:pPr marL="314325" marR="0" lvl="1" indent="-180975" algn="l" rtl="0">
              <a:lnSpc>
                <a:spcPct val="90000"/>
              </a:lnSpc>
              <a:spcBef>
                <a:spcPts val="0"/>
              </a:spcBef>
              <a:spcAft>
                <a:spcPts val="0"/>
              </a:spcAft>
              <a:buClr>
                <a:schemeClr val="dk1"/>
              </a:buClr>
              <a:buSzPts val="1600"/>
              <a:buFont typeface="Arial"/>
              <a:buChar char="•"/>
            </a:pPr>
            <a:r>
              <a:rPr lang="es-PE" sz="1600" b="1" i="0" u="none" strike="noStrike" cap="none" dirty="0">
                <a:solidFill>
                  <a:schemeClr val="dk1"/>
                </a:solidFill>
                <a:latin typeface="Calibri"/>
                <a:ea typeface="Calibri"/>
                <a:cs typeface="Calibri"/>
                <a:sym typeface="Calibri"/>
              </a:rPr>
              <a:t>Nodos:</a:t>
            </a:r>
            <a:r>
              <a:rPr lang="es-PE" sz="1600" b="0" i="0" u="none" strike="noStrike" cap="none" dirty="0">
                <a:solidFill>
                  <a:schemeClr val="dk1"/>
                </a:solidFill>
                <a:latin typeface="Calibri"/>
                <a:ea typeface="Calibri"/>
                <a:cs typeface="Calibri"/>
                <a:sym typeface="Calibri"/>
              </a:rPr>
              <a:t> representan sentencias o secuencias de sentencias.</a:t>
            </a:r>
            <a:endParaRPr dirty="0"/>
          </a:p>
          <a:p>
            <a:pPr marL="314325" marR="0" lvl="1" indent="-180975" algn="l" rtl="0">
              <a:lnSpc>
                <a:spcPct val="90000"/>
              </a:lnSpc>
              <a:spcBef>
                <a:spcPts val="0"/>
              </a:spcBef>
              <a:spcAft>
                <a:spcPts val="0"/>
              </a:spcAft>
              <a:buClr>
                <a:schemeClr val="dk1"/>
              </a:buClr>
              <a:buSzPts val="1600"/>
              <a:buFont typeface="Arial"/>
              <a:buChar char="•"/>
            </a:pPr>
            <a:r>
              <a:rPr lang="es-PE" sz="1600" b="1" i="0" u="none" strike="noStrike" cap="none" dirty="0">
                <a:solidFill>
                  <a:schemeClr val="dk1"/>
                </a:solidFill>
                <a:latin typeface="Calibri"/>
                <a:ea typeface="Calibri"/>
                <a:cs typeface="Calibri"/>
                <a:sym typeface="Calibri"/>
              </a:rPr>
              <a:t>Aristas</a:t>
            </a:r>
            <a:r>
              <a:rPr lang="es-PE" sz="1600" b="0" i="0" u="none" strike="noStrike" cap="none" dirty="0">
                <a:solidFill>
                  <a:schemeClr val="dk1"/>
                </a:solidFill>
                <a:latin typeface="Calibri"/>
                <a:ea typeface="Calibri"/>
                <a:cs typeface="Calibri"/>
                <a:sym typeface="Calibri"/>
              </a:rPr>
              <a:t>: representan la transferencia del flujo de control.</a:t>
            </a:r>
            <a:endParaRPr dirty="0"/>
          </a:p>
          <a:p>
            <a:pPr marL="285750" marR="0" lvl="1" indent="-184150" algn="l" rtl="0">
              <a:lnSpc>
                <a:spcPct val="9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136525" marR="0" lvl="0" indent="-136525" algn="l" rtl="0">
              <a:lnSpc>
                <a:spcPct val="90000"/>
              </a:lnSpc>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Beneficios:</a:t>
            </a:r>
            <a:endParaRPr dirty="0"/>
          </a:p>
          <a:p>
            <a:pPr marL="314325" marR="0" lvl="1" indent="-180975" algn="l" rtl="0">
              <a:lnSpc>
                <a:spcPct val="90000"/>
              </a:lnSpc>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Visión del conjunto de código.</a:t>
            </a:r>
            <a:endParaRPr dirty="0"/>
          </a:p>
          <a:p>
            <a:pPr marL="314325" marR="0" lvl="1" indent="-180975" algn="l" rtl="0">
              <a:lnSpc>
                <a:spcPct val="90000"/>
              </a:lnSpc>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Detectar Anomalías.</a:t>
            </a:r>
            <a:endParaRPr dirty="0"/>
          </a:p>
          <a:p>
            <a:pPr marL="314325" marR="0" lvl="1" indent="-180975" algn="l" rtl="0">
              <a:lnSpc>
                <a:spcPct val="90000"/>
              </a:lnSpc>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Herramientas: Se suele obtener del mismo “Framework” de desarrollo.</a:t>
            </a:r>
            <a:endParaRPr dirty="0"/>
          </a:p>
        </p:txBody>
      </p:sp>
      <p:sp>
        <p:nvSpPr>
          <p:cNvPr id="5" name="Rectangle 5">
            <a:extLst>
              <a:ext uri="{FF2B5EF4-FFF2-40B4-BE49-F238E27FC236}">
                <a16:creationId xmlns:a16="http://schemas.microsoft.com/office/drawing/2014/main" id="{303D95A4-564A-FA43-85AC-A404D455F68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30" name="Grupo 29">
            <a:extLst>
              <a:ext uri="{FF2B5EF4-FFF2-40B4-BE49-F238E27FC236}">
                <a16:creationId xmlns:a16="http://schemas.microsoft.com/office/drawing/2014/main" id="{1BC79D1C-6184-6145-BDA0-6B658E586948}"/>
              </a:ext>
            </a:extLst>
          </p:cNvPr>
          <p:cNvGrpSpPr/>
          <p:nvPr/>
        </p:nvGrpSpPr>
        <p:grpSpPr>
          <a:xfrm>
            <a:off x="5932964" y="1024466"/>
            <a:ext cx="1352937" cy="3459126"/>
            <a:chOff x="6522244" y="1348645"/>
            <a:chExt cx="1352937" cy="3459126"/>
          </a:xfrm>
        </p:grpSpPr>
        <p:sp>
          <p:nvSpPr>
            <p:cNvPr id="2" name="Elipse 1">
              <a:extLst>
                <a:ext uri="{FF2B5EF4-FFF2-40B4-BE49-F238E27FC236}">
                  <a16:creationId xmlns:a16="http://schemas.microsoft.com/office/drawing/2014/main" id="{152997CE-EFC2-F749-92BF-FBA03FDBAF16}"/>
                </a:ext>
              </a:extLst>
            </p:cNvPr>
            <p:cNvSpPr/>
            <p:nvPr/>
          </p:nvSpPr>
          <p:spPr>
            <a:xfrm>
              <a:off x="6677246" y="1348645"/>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Elipse 6">
              <a:extLst>
                <a:ext uri="{FF2B5EF4-FFF2-40B4-BE49-F238E27FC236}">
                  <a16:creationId xmlns:a16="http://schemas.microsoft.com/office/drawing/2014/main" id="{4DB3F8CB-A0B5-1248-B8A1-AA1FAF9AE66A}"/>
                </a:ext>
              </a:extLst>
            </p:cNvPr>
            <p:cNvSpPr/>
            <p:nvPr/>
          </p:nvSpPr>
          <p:spPr>
            <a:xfrm>
              <a:off x="6677246" y="1795212"/>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Elipse 8">
              <a:extLst>
                <a:ext uri="{FF2B5EF4-FFF2-40B4-BE49-F238E27FC236}">
                  <a16:creationId xmlns:a16="http://schemas.microsoft.com/office/drawing/2014/main" id="{A16E3845-4208-7C43-9019-734F0E23FB3A}"/>
                </a:ext>
              </a:extLst>
            </p:cNvPr>
            <p:cNvSpPr/>
            <p:nvPr/>
          </p:nvSpPr>
          <p:spPr>
            <a:xfrm>
              <a:off x="7584558" y="2702524"/>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 name="Elipse 9">
              <a:extLst>
                <a:ext uri="{FF2B5EF4-FFF2-40B4-BE49-F238E27FC236}">
                  <a16:creationId xmlns:a16="http://schemas.microsoft.com/office/drawing/2014/main" id="{4ADDF022-C251-244E-AB57-AE127353B549}"/>
                </a:ext>
              </a:extLst>
            </p:cNvPr>
            <p:cNvSpPr/>
            <p:nvPr/>
          </p:nvSpPr>
          <p:spPr>
            <a:xfrm>
              <a:off x="7584558" y="3149092"/>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Elipse 10">
              <a:extLst>
                <a:ext uri="{FF2B5EF4-FFF2-40B4-BE49-F238E27FC236}">
                  <a16:creationId xmlns:a16="http://schemas.microsoft.com/office/drawing/2014/main" id="{22E8FC82-25CD-D14B-8CDC-261888F5BE04}"/>
                </a:ext>
              </a:extLst>
            </p:cNvPr>
            <p:cNvSpPr/>
            <p:nvPr/>
          </p:nvSpPr>
          <p:spPr>
            <a:xfrm>
              <a:off x="7130902" y="3609836"/>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Elipse 11">
              <a:extLst>
                <a:ext uri="{FF2B5EF4-FFF2-40B4-BE49-F238E27FC236}">
                  <a16:creationId xmlns:a16="http://schemas.microsoft.com/office/drawing/2014/main" id="{76FAE116-3BB0-D84F-A240-D0BFFB356B1C}"/>
                </a:ext>
              </a:extLst>
            </p:cNvPr>
            <p:cNvSpPr/>
            <p:nvPr/>
          </p:nvSpPr>
          <p:spPr>
            <a:xfrm>
              <a:off x="6684334" y="4063492"/>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Elipse 12">
              <a:extLst>
                <a:ext uri="{FF2B5EF4-FFF2-40B4-BE49-F238E27FC236}">
                  <a16:creationId xmlns:a16="http://schemas.microsoft.com/office/drawing/2014/main" id="{63DDB052-CB20-CA46-A73A-E8B550410A26}"/>
                </a:ext>
              </a:extLst>
            </p:cNvPr>
            <p:cNvSpPr/>
            <p:nvPr/>
          </p:nvSpPr>
          <p:spPr>
            <a:xfrm>
              <a:off x="6684334" y="4517148"/>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Forma libre 2">
              <a:extLst>
                <a:ext uri="{FF2B5EF4-FFF2-40B4-BE49-F238E27FC236}">
                  <a16:creationId xmlns:a16="http://schemas.microsoft.com/office/drawing/2014/main" id="{9D7D1932-E0CC-B64A-82E0-7873A418C2D3}"/>
                </a:ext>
              </a:extLst>
            </p:cNvPr>
            <p:cNvSpPr/>
            <p:nvPr/>
          </p:nvSpPr>
          <p:spPr>
            <a:xfrm>
              <a:off x="6522244" y="1991833"/>
              <a:ext cx="162091" cy="2176130"/>
            </a:xfrm>
            <a:custGeom>
              <a:avLst/>
              <a:gdLst>
                <a:gd name="connsiteX0" fmla="*/ 162091 w 162091"/>
                <a:gd name="connsiteY0" fmla="*/ 0 h 2176130"/>
                <a:gd name="connsiteX1" fmla="*/ 41589 w 162091"/>
                <a:gd name="connsiteY1" fmla="*/ 467832 h 2176130"/>
                <a:gd name="connsiteX2" fmla="*/ 6147 w 162091"/>
                <a:gd name="connsiteY2" fmla="*/ 1360967 h 2176130"/>
                <a:gd name="connsiteX3" fmla="*/ 155003 w 162091"/>
                <a:gd name="connsiteY3" fmla="*/ 2176130 h 2176130"/>
              </a:gdLst>
              <a:ahLst/>
              <a:cxnLst>
                <a:cxn ang="0">
                  <a:pos x="connsiteX0" y="connsiteY0"/>
                </a:cxn>
                <a:cxn ang="0">
                  <a:pos x="connsiteX1" y="connsiteY1"/>
                </a:cxn>
                <a:cxn ang="0">
                  <a:pos x="connsiteX2" y="connsiteY2"/>
                </a:cxn>
                <a:cxn ang="0">
                  <a:pos x="connsiteX3" y="connsiteY3"/>
                </a:cxn>
              </a:cxnLst>
              <a:rect l="l" t="t" r="r" b="b"/>
              <a:pathLst>
                <a:path w="162091" h="2176130">
                  <a:moveTo>
                    <a:pt x="162091" y="0"/>
                  </a:moveTo>
                  <a:cubicBezTo>
                    <a:pt x="114835" y="120502"/>
                    <a:pt x="67580" y="241004"/>
                    <a:pt x="41589" y="467832"/>
                  </a:cubicBezTo>
                  <a:cubicBezTo>
                    <a:pt x="15598" y="694660"/>
                    <a:pt x="-12755" y="1076251"/>
                    <a:pt x="6147" y="1360967"/>
                  </a:cubicBezTo>
                  <a:cubicBezTo>
                    <a:pt x="25049" y="1645683"/>
                    <a:pt x="90026" y="1910906"/>
                    <a:pt x="155003" y="2176130"/>
                  </a:cubicBezTo>
                </a:path>
              </a:pathLst>
            </a:custGeom>
            <a:noFill/>
            <a:ln w="15875">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Forma libre 14">
              <a:extLst>
                <a:ext uri="{FF2B5EF4-FFF2-40B4-BE49-F238E27FC236}">
                  <a16:creationId xmlns:a16="http://schemas.microsoft.com/office/drawing/2014/main" id="{4E89A3A9-947E-CC40-8A42-293C7E1C4C3A}"/>
                </a:ext>
              </a:extLst>
            </p:cNvPr>
            <p:cNvSpPr/>
            <p:nvPr/>
          </p:nvSpPr>
          <p:spPr>
            <a:xfrm>
              <a:off x="7052930" y="2410047"/>
              <a:ext cx="85060" cy="1304260"/>
            </a:xfrm>
            <a:custGeom>
              <a:avLst/>
              <a:gdLst>
                <a:gd name="connsiteX0" fmla="*/ 162091 w 162091"/>
                <a:gd name="connsiteY0" fmla="*/ 0 h 2176130"/>
                <a:gd name="connsiteX1" fmla="*/ 41589 w 162091"/>
                <a:gd name="connsiteY1" fmla="*/ 467832 h 2176130"/>
                <a:gd name="connsiteX2" fmla="*/ 6147 w 162091"/>
                <a:gd name="connsiteY2" fmla="*/ 1360967 h 2176130"/>
                <a:gd name="connsiteX3" fmla="*/ 155003 w 162091"/>
                <a:gd name="connsiteY3" fmla="*/ 2176130 h 2176130"/>
              </a:gdLst>
              <a:ahLst/>
              <a:cxnLst>
                <a:cxn ang="0">
                  <a:pos x="connsiteX0" y="connsiteY0"/>
                </a:cxn>
                <a:cxn ang="0">
                  <a:pos x="connsiteX1" y="connsiteY1"/>
                </a:cxn>
                <a:cxn ang="0">
                  <a:pos x="connsiteX2" y="connsiteY2"/>
                </a:cxn>
                <a:cxn ang="0">
                  <a:pos x="connsiteX3" y="connsiteY3"/>
                </a:cxn>
              </a:cxnLst>
              <a:rect l="l" t="t" r="r" b="b"/>
              <a:pathLst>
                <a:path w="162091" h="2176130">
                  <a:moveTo>
                    <a:pt x="162091" y="0"/>
                  </a:moveTo>
                  <a:cubicBezTo>
                    <a:pt x="114835" y="120502"/>
                    <a:pt x="67580" y="241004"/>
                    <a:pt x="41589" y="467832"/>
                  </a:cubicBezTo>
                  <a:cubicBezTo>
                    <a:pt x="15598" y="694660"/>
                    <a:pt x="-12755" y="1076251"/>
                    <a:pt x="6147" y="1360967"/>
                  </a:cubicBezTo>
                  <a:cubicBezTo>
                    <a:pt x="25049" y="1645683"/>
                    <a:pt x="90026" y="1910906"/>
                    <a:pt x="155003" y="2176130"/>
                  </a:cubicBezTo>
                </a:path>
              </a:pathLst>
            </a:custGeom>
            <a:noFill/>
            <a:ln w="15875">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6" name="Conector recto de flecha 5">
              <a:extLst>
                <a:ext uri="{FF2B5EF4-FFF2-40B4-BE49-F238E27FC236}">
                  <a16:creationId xmlns:a16="http://schemas.microsoft.com/office/drawing/2014/main" id="{C9A041D2-5512-B545-843F-F180420F8803}"/>
                </a:ext>
              </a:extLst>
            </p:cNvPr>
            <p:cNvCxnSpPr>
              <a:cxnSpLocks/>
              <a:stCxn id="7" idx="5"/>
              <a:endCxn id="8" idx="1"/>
            </p:cNvCxnSpPr>
            <p:nvPr/>
          </p:nvCxnSpPr>
          <p:spPr>
            <a:xfrm>
              <a:off x="6925308" y="2043274"/>
              <a:ext cx="248155" cy="24815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F6E579D7-7311-F041-AE5C-FF194CBA8571}"/>
                </a:ext>
              </a:extLst>
            </p:cNvPr>
            <p:cNvCxnSpPr>
              <a:cxnSpLocks/>
              <a:stCxn id="8" idx="5"/>
            </p:cNvCxnSpPr>
            <p:nvPr/>
          </p:nvCxnSpPr>
          <p:spPr>
            <a:xfrm>
              <a:off x="7378964" y="2496930"/>
              <a:ext cx="251699" cy="26185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C89EE62E-3DFC-CA49-8F27-FDD2D0E5CF8F}"/>
                </a:ext>
              </a:extLst>
            </p:cNvPr>
            <p:cNvCxnSpPr>
              <a:cxnSpLocks/>
              <a:endCxn id="10" idx="0"/>
            </p:cNvCxnSpPr>
            <p:nvPr/>
          </p:nvCxnSpPr>
          <p:spPr>
            <a:xfrm>
              <a:off x="7727948" y="3003780"/>
              <a:ext cx="1922" cy="1453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F21D8CC3-08E4-E449-B363-94FA87B34A51}"/>
                </a:ext>
              </a:extLst>
            </p:cNvPr>
            <p:cNvCxnSpPr>
              <a:cxnSpLocks/>
              <a:stCxn id="10" idx="3"/>
              <a:endCxn id="11" idx="7"/>
            </p:cNvCxnSpPr>
            <p:nvPr/>
          </p:nvCxnSpPr>
          <p:spPr>
            <a:xfrm flipH="1">
              <a:off x="7378964" y="3397154"/>
              <a:ext cx="248155" cy="25524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711CFAD0-BEA5-C048-BCFD-2C31110C1A9D}"/>
                </a:ext>
              </a:extLst>
            </p:cNvPr>
            <p:cNvCxnSpPr>
              <a:cxnSpLocks/>
            </p:cNvCxnSpPr>
            <p:nvPr/>
          </p:nvCxnSpPr>
          <p:spPr>
            <a:xfrm flipH="1">
              <a:off x="6926844" y="3857694"/>
              <a:ext cx="239382" cy="23666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77A53E58-0E96-2B46-B0DE-2B9B96C2E893}"/>
                </a:ext>
              </a:extLst>
            </p:cNvPr>
            <p:cNvCxnSpPr>
              <a:cxnSpLocks/>
              <a:stCxn id="2" idx="4"/>
              <a:endCxn id="7" idx="0"/>
            </p:cNvCxnSpPr>
            <p:nvPr/>
          </p:nvCxnSpPr>
          <p:spPr>
            <a:xfrm>
              <a:off x="6822558" y="1639268"/>
              <a:ext cx="0" cy="15594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36456223-55D4-504E-9D9A-9CBC9A2B5D91}"/>
                </a:ext>
              </a:extLst>
            </p:cNvPr>
            <p:cNvCxnSpPr>
              <a:cxnSpLocks/>
              <a:endCxn id="13" idx="0"/>
            </p:cNvCxnSpPr>
            <p:nvPr/>
          </p:nvCxnSpPr>
          <p:spPr>
            <a:xfrm flipH="1">
              <a:off x="6829646" y="4360140"/>
              <a:ext cx="4222" cy="15700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Elipse 7">
              <a:extLst>
                <a:ext uri="{FF2B5EF4-FFF2-40B4-BE49-F238E27FC236}">
                  <a16:creationId xmlns:a16="http://schemas.microsoft.com/office/drawing/2014/main" id="{39661C67-25E4-394D-BF60-CB0D8869A124}"/>
                </a:ext>
              </a:extLst>
            </p:cNvPr>
            <p:cNvSpPr/>
            <p:nvPr/>
          </p:nvSpPr>
          <p:spPr>
            <a:xfrm>
              <a:off x="7130902" y="2248868"/>
              <a:ext cx="290623" cy="290623"/>
            </a:xfrm>
            <a:prstGeom prst="ellipse">
              <a:avLst/>
            </a:prstGeom>
            <a:solidFill>
              <a:srgbClr val="E3DCE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4" name="Arco 3">
            <a:extLst>
              <a:ext uri="{FF2B5EF4-FFF2-40B4-BE49-F238E27FC236}">
                <a16:creationId xmlns:a16="http://schemas.microsoft.com/office/drawing/2014/main" id="{E13669DF-B83A-824B-A2D1-170C43A2430C}"/>
              </a:ext>
            </a:extLst>
          </p:cNvPr>
          <p:cNvSpPr/>
          <p:nvPr/>
        </p:nvSpPr>
        <p:spPr>
          <a:xfrm>
            <a:off x="6740427" y="2504991"/>
            <a:ext cx="718021" cy="541042"/>
          </a:xfrm>
          <a:prstGeom prst="arc">
            <a:avLst>
              <a:gd name="adj1" fmla="val 18514211"/>
              <a:gd name="adj2" fmla="val 3035110"/>
            </a:avLst>
          </a:prstGeom>
          <a:ln w="15875">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8" name="Google Shape;258;p19"/>
          <p:cNvSpPr/>
          <p:nvPr/>
        </p:nvSpPr>
        <p:spPr>
          <a:xfrm>
            <a:off x="503238" y="1051023"/>
            <a:ext cx="8137525"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FLUJO DE CONTROL - EJERCICIO</a:t>
            </a:r>
            <a:endParaRPr sz="1600" b="1" dirty="0">
              <a:solidFill>
                <a:schemeClr val="dk1"/>
              </a:solidFill>
              <a:latin typeface="Calibri"/>
              <a:ea typeface="Calibri"/>
              <a:cs typeface="Calibri"/>
              <a:sym typeface="Calibri"/>
            </a:endParaRPr>
          </a:p>
        </p:txBody>
      </p:sp>
      <p:pic>
        <p:nvPicPr>
          <p:cNvPr id="259" name="Google Shape;259;p19"/>
          <p:cNvPicPr preferRelativeResize="0"/>
          <p:nvPr/>
        </p:nvPicPr>
        <p:blipFill rotWithShape="1">
          <a:blip r:embed="rId3">
            <a:alphaModFix/>
          </a:blip>
          <a:srcRect/>
          <a:stretch/>
        </p:blipFill>
        <p:spPr>
          <a:xfrm>
            <a:off x="6328368" y="1297244"/>
            <a:ext cx="2023274" cy="3527058"/>
          </a:xfrm>
          <a:prstGeom prst="rect">
            <a:avLst/>
          </a:prstGeom>
          <a:noFill/>
          <a:ln>
            <a:noFill/>
          </a:ln>
        </p:spPr>
      </p:pic>
      <p:pic>
        <p:nvPicPr>
          <p:cNvPr id="260" name="Google Shape;260;p19"/>
          <p:cNvPicPr preferRelativeResize="0"/>
          <p:nvPr/>
        </p:nvPicPr>
        <p:blipFill rotWithShape="1">
          <a:blip r:embed="rId4">
            <a:alphaModFix/>
          </a:blip>
          <a:srcRect/>
          <a:stretch/>
        </p:blipFill>
        <p:spPr>
          <a:xfrm>
            <a:off x="1139258" y="1636112"/>
            <a:ext cx="4967233" cy="3292236"/>
          </a:xfrm>
          <a:prstGeom prst="rect">
            <a:avLst/>
          </a:prstGeom>
          <a:noFill/>
          <a:ln>
            <a:noFill/>
          </a:ln>
        </p:spPr>
      </p:pic>
      <p:sp>
        <p:nvSpPr>
          <p:cNvPr id="6" name="Rectangle 5">
            <a:extLst>
              <a:ext uri="{FF2B5EF4-FFF2-40B4-BE49-F238E27FC236}">
                <a16:creationId xmlns:a16="http://schemas.microsoft.com/office/drawing/2014/main" id="{04EF928D-2CF9-7640-AC25-07EF45E72FC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 name="Rectángulo 1">
            <a:extLst>
              <a:ext uri="{FF2B5EF4-FFF2-40B4-BE49-F238E27FC236}">
                <a16:creationId xmlns:a16="http://schemas.microsoft.com/office/drawing/2014/main" id="{C350611E-D303-9D40-A18E-A1909F03B476}"/>
              </a:ext>
            </a:extLst>
          </p:cNvPr>
          <p:cNvSpPr/>
          <p:nvPr/>
        </p:nvSpPr>
        <p:spPr>
          <a:xfrm>
            <a:off x="468313" y="912813"/>
            <a:ext cx="8207375" cy="43211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7" name="Google Shape;267;p20"/>
          <p:cNvSpPr/>
          <p:nvPr/>
        </p:nvSpPr>
        <p:spPr>
          <a:xfrm>
            <a:off x="2254588" y="1050215"/>
            <a:ext cx="4634824"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GRAFO DE FLUJO DE UN PROGRAMA</a:t>
            </a:r>
            <a:endParaRPr sz="1600" b="1" dirty="0">
              <a:solidFill>
                <a:schemeClr val="dk1"/>
              </a:solidFill>
              <a:latin typeface="Calibri"/>
              <a:ea typeface="Calibri"/>
              <a:cs typeface="Calibri"/>
              <a:sym typeface="Calibri"/>
            </a:endParaRPr>
          </a:p>
        </p:txBody>
      </p:sp>
      <p:pic>
        <p:nvPicPr>
          <p:cNvPr id="268" name="Google Shape;268;p20"/>
          <p:cNvPicPr preferRelativeResize="0"/>
          <p:nvPr/>
        </p:nvPicPr>
        <p:blipFill rotWithShape="1">
          <a:blip r:embed="rId3">
            <a:alphaModFix/>
          </a:blip>
          <a:srcRect/>
          <a:stretch/>
        </p:blipFill>
        <p:spPr>
          <a:xfrm>
            <a:off x="3561878" y="1772192"/>
            <a:ext cx="4176122" cy="3139712"/>
          </a:xfrm>
          <a:prstGeom prst="rect">
            <a:avLst/>
          </a:prstGeom>
          <a:noFill/>
          <a:ln>
            <a:noFill/>
          </a:ln>
        </p:spPr>
      </p:pic>
      <p:pic>
        <p:nvPicPr>
          <p:cNvPr id="269" name="Google Shape;269;p20"/>
          <p:cNvPicPr preferRelativeResize="0"/>
          <p:nvPr/>
        </p:nvPicPr>
        <p:blipFill rotWithShape="1">
          <a:blip r:embed="rId4">
            <a:alphaModFix/>
          </a:blip>
          <a:srcRect/>
          <a:stretch/>
        </p:blipFill>
        <p:spPr>
          <a:xfrm>
            <a:off x="1114270" y="1382654"/>
            <a:ext cx="2895851" cy="4011516"/>
          </a:xfrm>
          <a:prstGeom prst="rect">
            <a:avLst/>
          </a:prstGeom>
          <a:noFill/>
          <a:ln>
            <a:noFill/>
          </a:ln>
        </p:spPr>
      </p:pic>
      <p:sp>
        <p:nvSpPr>
          <p:cNvPr id="6" name="Rectangle 5">
            <a:extLst>
              <a:ext uri="{FF2B5EF4-FFF2-40B4-BE49-F238E27FC236}">
                <a16:creationId xmlns:a16="http://schemas.microsoft.com/office/drawing/2014/main" id="{47B6ADFC-756B-7840-B95B-0446ACB132B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7" name="Imagen 6">
            <a:extLst>
              <a:ext uri="{FF2B5EF4-FFF2-40B4-BE49-F238E27FC236}">
                <a16:creationId xmlns:a16="http://schemas.microsoft.com/office/drawing/2014/main" id="{F19633C9-7CDC-5E4E-BD07-3D207FB65A6D}"/>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766317" y="866714"/>
            <a:ext cx="7611366" cy="3822174"/>
          </a:xfrm>
          <a:prstGeom prst="rect">
            <a:avLst/>
          </a:prstGeom>
        </p:spPr>
      </p:pic>
      <p:sp>
        <p:nvSpPr>
          <p:cNvPr id="8" name="CuadroTexto 7">
            <a:extLst>
              <a:ext uri="{FF2B5EF4-FFF2-40B4-BE49-F238E27FC236}">
                <a16:creationId xmlns:a16="http://schemas.microsoft.com/office/drawing/2014/main" id="{46A0334D-D991-9748-8A59-978D866C6943}"/>
              </a:ext>
            </a:extLst>
          </p:cNvPr>
          <p:cNvSpPr txBox="1"/>
          <p:nvPr/>
        </p:nvSpPr>
        <p:spPr>
          <a:xfrm>
            <a:off x="1499337" y="4371232"/>
            <a:ext cx="6001491" cy="461665"/>
          </a:xfrm>
          <a:prstGeom prst="rect">
            <a:avLst/>
          </a:prstGeom>
          <a:noFill/>
        </p:spPr>
        <p:txBody>
          <a:bodyPr wrap="square" lIns="0" tIns="0" rIns="0" bIns="0" rtlCol="0">
            <a:spAutoFit/>
          </a:bodyPr>
          <a:lstStyle/>
          <a:p>
            <a:pPr>
              <a:spcAft>
                <a:spcPts val="600"/>
              </a:spcAft>
            </a:pPr>
            <a:r>
              <a:rPr lang="es-PE" b="1" dirty="0">
                <a:latin typeface="Calibri" charset="0"/>
                <a:cs typeface="Calibri" charset="0"/>
                <a:sym typeface="Calibri"/>
              </a:rPr>
              <a:t>“CÓMO CREAR EL GRAFO DE FLUJO DE UN PROGRAMA”</a:t>
            </a:r>
            <a:r>
              <a:rPr lang="es-ES_tradnl" sz="1400" b="1" dirty="0">
                <a:latin typeface="Calibri" charset="0"/>
                <a:ea typeface="Calibri" charset="0"/>
                <a:cs typeface="Calibri" charset="0"/>
              </a:rPr>
              <a:t> </a:t>
            </a:r>
          </a:p>
          <a:p>
            <a:pPr marL="177800" lvl="0" indent="44450">
              <a:buFont typeface="Arial"/>
              <a:buNone/>
            </a:pPr>
            <a:r>
              <a:rPr lang="es-PE" sz="1100" dirty="0">
                <a:solidFill>
                  <a:schemeClr val="bg1">
                    <a:lumMod val="50000"/>
                  </a:schemeClr>
                </a:solidFill>
                <a:latin typeface="Calibri" charset="0"/>
                <a:cs typeface="Calibri" charset="0"/>
                <a:sym typeface="Calibri"/>
              </a:rPr>
              <a:t>https://www.youtube.com/watch?v=9N5vPeSWRfQ</a:t>
            </a:r>
            <a:endParaRPr lang="es-PE" sz="1100" dirty="0">
              <a:solidFill>
                <a:schemeClr val="bg1">
                  <a:lumMod val="50000"/>
                </a:schemeClr>
              </a:solidFill>
              <a:latin typeface="Calibri" charset="0"/>
              <a:cs typeface="Calibri" charset="0"/>
            </a:endParaRPr>
          </a:p>
        </p:txBody>
      </p:sp>
      <p:sp>
        <p:nvSpPr>
          <p:cNvPr id="9" name="Rectángulo 8">
            <a:extLst>
              <a:ext uri="{FF2B5EF4-FFF2-40B4-BE49-F238E27FC236}">
                <a16:creationId xmlns:a16="http://schemas.microsoft.com/office/drawing/2014/main" id="{C563F69D-8560-3A4D-B8FD-9BF59BE55AC8}"/>
              </a:ext>
            </a:extLst>
          </p:cNvPr>
          <p:cNvSpPr/>
          <p:nvPr/>
        </p:nvSpPr>
        <p:spPr>
          <a:xfrm>
            <a:off x="683568" y="481236"/>
            <a:ext cx="544831" cy="193899"/>
          </a:xfrm>
          <a:prstGeom prst="rect">
            <a:avLst/>
          </a:prstGeom>
        </p:spPr>
        <p:txBody>
          <a:bodyPr wrap="square" lIns="0" tIns="0" rIns="0" bIns="0">
            <a:spAutoFit/>
          </a:bodyPr>
          <a:lstStyle/>
          <a:p>
            <a:pPr>
              <a:lnSpc>
                <a:spcPct val="90000"/>
              </a:lnSpc>
              <a:spcBef>
                <a:spcPts val="0"/>
              </a:spcBef>
              <a:defRPr/>
            </a:pPr>
            <a:r>
              <a:rPr lang="es-PE" sz="1400" b="1" dirty="0">
                <a:solidFill>
                  <a:srgbClr val="00B1C3"/>
                </a:solidFill>
                <a:latin typeface="Calibri" charset="0"/>
                <a:ea typeface="Calibri" charset="0"/>
                <a:cs typeface="Calibri" charset="0"/>
              </a:rPr>
              <a:t>VIDEO</a:t>
            </a:r>
            <a:endParaRPr lang="es-ES" sz="1600" b="1" dirty="0">
              <a:solidFill>
                <a:srgbClr val="00B1C3"/>
              </a:solidFill>
              <a:latin typeface="Calibri" charset="0"/>
              <a:ea typeface="Calibri" charset="0"/>
              <a:cs typeface="Calibri" charset="0"/>
            </a:endParaRPr>
          </a:p>
        </p:txBody>
      </p:sp>
      <p:grpSp>
        <p:nvGrpSpPr>
          <p:cNvPr id="10" name="Agrupar 7">
            <a:extLst>
              <a:ext uri="{FF2B5EF4-FFF2-40B4-BE49-F238E27FC236}">
                <a16:creationId xmlns:a16="http://schemas.microsoft.com/office/drawing/2014/main" id="{BB0ABACF-2F30-3D45-B2DA-1812FFA79B32}"/>
              </a:ext>
            </a:extLst>
          </p:cNvPr>
          <p:cNvGrpSpPr/>
          <p:nvPr/>
        </p:nvGrpSpPr>
        <p:grpSpPr>
          <a:xfrm>
            <a:off x="514858" y="499074"/>
            <a:ext cx="131794" cy="132296"/>
            <a:chOff x="511902" y="912278"/>
            <a:chExt cx="281320" cy="282391"/>
          </a:xfrm>
        </p:grpSpPr>
        <p:sp>
          <p:nvSpPr>
            <p:cNvPr id="11" name="Elipse 10">
              <a:extLst>
                <a:ext uri="{FF2B5EF4-FFF2-40B4-BE49-F238E27FC236}">
                  <a16:creationId xmlns:a16="http://schemas.microsoft.com/office/drawing/2014/main" id="{41FD3470-E809-7E43-8938-008056AB246F}"/>
                </a:ext>
              </a:extLst>
            </p:cNvPr>
            <p:cNvSpPr/>
            <p:nvPr/>
          </p:nvSpPr>
          <p:spPr>
            <a:xfrm rot="5400000">
              <a:off x="511366" y="912814"/>
              <a:ext cx="282391" cy="281320"/>
            </a:xfrm>
            <a:prstGeom prst="ellipse">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2" name="Imagen 11">
              <a:extLst>
                <a:ext uri="{FF2B5EF4-FFF2-40B4-BE49-F238E27FC236}">
                  <a16:creationId xmlns:a16="http://schemas.microsoft.com/office/drawing/2014/main" id="{1E4EBC98-9F38-B34A-A94B-F76E001B5A1D}"/>
                </a:ext>
              </a:extLst>
            </p:cNvPr>
            <p:cNvPicPr>
              <a:picLocks noChangeAspect="1"/>
            </p:cNvPicPr>
            <p:nvPr/>
          </p:nvPicPr>
          <p:blipFill>
            <a:blip r:embed="rId4">
              <a:alphaModFix/>
              <a:lum bright="100000" contrast="100000"/>
            </a:blip>
            <a:stretch>
              <a:fillRect/>
            </a:stretch>
          </p:blipFill>
          <p:spPr>
            <a:xfrm rot="5400000">
              <a:off x="578093" y="979007"/>
              <a:ext cx="148937" cy="148937"/>
            </a:xfrm>
            <a:prstGeom prst="rect">
              <a:avLst/>
            </a:prstGeom>
          </p:spPr>
        </p:pic>
      </p:grpSp>
      <p:pic>
        <p:nvPicPr>
          <p:cNvPr id="13" name="Imagen 12">
            <a:extLst>
              <a:ext uri="{FF2B5EF4-FFF2-40B4-BE49-F238E27FC236}">
                <a16:creationId xmlns:a16="http://schemas.microsoft.com/office/drawing/2014/main" id="{BD05380C-4A13-494B-BE2B-DAD091EC5CA4}"/>
              </a:ext>
            </a:extLst>
          </p:cNvPr>
          <p:cNvPicPr>
            <a:picLocks noChangeAspect="1"/>
          </p:cNvPicPr>
          <p:nvPr/>
        </p:nvPicPr>
        <p:blipFill>
          <a:blip r:embed="rId5"/>
          <a:stretch>
            <a:fillRect/>
          </a:stretch>
        </p:blipFill>
        <p:spPr>
          <a:xfrm>
            <a:off x="1504950" y="4658654"/>
            <a:ext cx="185286" cy="177874"/>
          </a:xfrm>
          <a:prstGeom prst="rect">
            <a:avLst/>
          </a:prstGeom>
        </p:spPr>
      </p:pic>
      <p:pic>
        <p:nvPicPr>
          <p:cNvPr id="14" name="Imagen 13">
            <a:extLst>
              <a:ext uri="{FF2B5EF4-FFF2-40B4-BE49-F238E27FC236}">
                <a16:creationId xmlns:a16="http://schemas.microsoft.com/office/drawing/2014/main" id="{1ECD3421-BEDA-2346-89C5-5265C70FAB5E}"/>
              </a:ext>
            </a:extLst>
          </p:cNvPr>
          <p:cNvPicPr>
            <a:picLocks noChangeAspect="1"/>
          </p:cNvPicPr>
          <p:nvPr/>
        </p:nvPicPr>
        <p:blipFill>
          <a:blip r:embed="rId6"/>
          <a:srcRect t="7565" b="7565"/>
          <a:stretch/>
        </p:blipFill>
        <p:spPr>
          <a:xfrm>
            <a:off x="1644203" y="1142624"/>
            <a:ext cx="5856625" cy="2783333"/>
          </a:xfrm>
          <a:prstGeom prst="round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7" name="Imagen 6">
            <a:extLst>
              <a:ext uri="{FF2B5EF4-FFF2-40B4-BE49-F238E27FC236}">
                <a16:creationId xmlns:a16="http://schemas.microsoft.com/office/drawing/2014/main" id="{BF6282B1-9255-C542-9618-C6F6248FB28C}"/>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766317" y="866714"/>
            <a:ext cx="7611366" cy="3822174"/>
          </a:xfrm>
          <a:prstGeom prst="rect">
            <a:avLst/>
          </a:prstGeom>
        </p:spPr>
      </p:pic>
      <p:sp>
        <p:nvSpPr>
          <p:cNvPr id="8" name="CuadroTexto 7">
            <a:extLst>
              <a:ext uri="{FF2B5EF4-FFF2-40B4-BE49-F238E27FC236}">
                <a16:creationId xmlns:a16="http://schemas.microsoft.com/office/drawing/2014/main" id="{5206D713-6DA9-5E40-A677-BFD39DBBA2E3}"/>
              </a:ext>
            </a:extLst>
          </p:cNvPr>
          <p:cNvSpPr txBox="1"/>
          <p:nvPr/>
        </p:nvSpPr>
        <p:spPr>
          <a:xfrm>
            <a:off x="1499337" y="4371232"/>
            <a:ext cx="6001491" cy="461665"/>
          </a:xfrm>
          <a:prstGeom prst="rect">
            <a:avLst/>
          </a:prstGeom>
          <a:noFill/>
        </p:spPr>
        <p:txBody>
          <a:bodyPr wrap="square" lIns="0" tIns="0" rIns="0" bIns="0" rtlCol="0">
            <a:spAutoFit/>
          </a:bodyPr>
          <a:lstStyle/>
          <a:p>
            <a:pPr>
              <a:spcAft>
                <a:spcPts val="600"/>
              </a:spcAft>
            </a:pPr>
            <a:r>
              <a:rPr lang="es-PE" b="1" dirty="0">
                <a:latin typeface="Calibri" charset="0"/>
                <a:cs typeface="Calibri" charset="0"/>
                <a:sym typeface="Calibri"/>
              </a:rPr>
              <a:t>“PRUEBA DEL CAMINO BÁSICO. PRUEBAS DE CAJA BLANCA”</a:t>
            </a:r>
            <a:r>
              <a:rPr lang="es-ES_tradnl" sz="1400" b="1" dirty="0">
                <a:latin typeface="Calibri" charset="0"/>
                <a:ea typeface="Calibri" charset="0"/>
                <a:cs typeface="Calibri" charset="0"/>
              </a:rPr>
              <a:t> </a:t>
            </a:r>
          </a:p>
          <a:p>
            <a:pPr marL="177800" lvl="0" indent="44450">
              <a:buFont typeface="Arial"/>
              <a:buNone/>
            </a:pPr>
            <a:r>
              <a:rPr lang="es-PE" sz="1100" dirty="0">
                <a:solidFill>
                  <a:schemeClr val="bg1">
                    <a:lumMod val="50000"/>
                  </a:schemeClr>
                </a:solidFill>
                <a:latin typeface="Calibri" charset="0"/>
                <a:cs typeface="Calibri" charset="0"/>
                <a:sym typeface="Calibri"/>
              </a:rPr>
              <a:t>https://www.youtube.com/watch?v=GVegCwwfBZ0</a:t>
            </a:r>
            <a:endParaRPr lang="es-PE" sz="1100" dirty="0">
              <a:solidFill>
                <a:schemeClr val="bg1">
                  <a:lumMod val="50000"/>
                </a:schemeClr>
              </a:solidFill>
              <a:latin typeface="Calibri" charset="0"/>
              <a:cs typeface="Calibri" charset="0"/>
            </a:endParaRPr>
          </a:p>
        </p:txBody>
      </p:sp>
      <p:sp>
        <p:nvSpPr>
          <p:cNvPr id="9" name="Rectángulo 8">
            <a:extLst>
              <a:ext uri="{FF2B5EF4-FFF2-40B4-BE49-F238E27FC236}">
                <a16:creationId xmlns:a16="http://schemas.microsoft.com/office/drawing/2014/main" id="{FB12A624-03CC-4443-9265-FE63D515CF72}"/>
              </a:ext>
            </a:extLst>
          </p:cNvPr>
          <p:cNvSpPr/>
          <p:nvPr/>
        </p:nvSpPr>
        <p:spPr>
          <a:xfrm>
            <a:off x="683568" y="481236"/>
            <a:ext cx="544831" cy="193899"/>
          </a:xfrm>
          <a:prstGeom prst="rect">
            <a:avLst/>
          </a:prstGeom>
        </p:spPr>
        <p:txBody>
          <a:bodyPr wrap="square" lIns="0" tIns="0" rIns="0" bIns="0">
            <a:spAutoFit/>
          </a:bodyPr>
          <a:lstStyle/>
          <a:p>
            <a:pPr>
              <a:lnSpc>
                <a:spcPct val="90000"/>
              </a:lnSpc>
              <a:spcBef>
                <a:spcPts val="0"/>
              </a:spcBef>
              <a:defRPr/>
            </a:pPr>
            <a:r>
              <a:rPr lang="es-PE" sz="1400" b="1" dirty="0">
                <a:solidFill>
                  <a:srgbClr val="00B1C3"/>
                </a:solidFill>
                <a:latin typeface="Calibri" charset="0"/>
                <a:ea typeface="Calibri" charset="0"/>
                <a:cs typeface="Calibri" charset="0"/>
              </a:rPr>
              <a:t>VIDEO</a:t>
            </a:r>
            <a:endParaRPr lang="es-ES" sz="1600" b="1" dirty="0">
              <a:solidFill>
                <a:srgbClr val="00B1C3"/>
              </a:solidFill>
              <a:latin typeface="Calibri" charset="0"/>
              <a:ea typeface="Calibri" charset="0"/>
              <a:cs typeface="Calibri" charset="0"/>
            </a:endParaRPr>
          </a:p>
        </p:txBody>
      </p:sp>
      <p:grpSp>
        <p:nvGrpSpPr>
          <p:cNvPr id="10" name="Agrupar 7">
            <a:extLst>
              <a:ext uri="{FF2B5EF4-FFF2-40B4-BE49-F238E27FC236}">
                <a16:creationId xmlns:a16="http://schemas.microsoft.com/office/drawing/2014/main" id="{D8CA6CFB-29A3-CE42-8557-8057255E0589}"/>
              </a:ext>
            </a:extLst>
          </p:cNvPr>
          <p:cNvGrpSpPr/>
          <p:nvPr/>
        </p:nvGrpSpPr>
        <p:grpSpPr>
          <a:xfrm>
            <a:off x="514858" y="499074"/>
            <a:ext cx="131794" cy="132296"/>
            <a:chOff x="511902" y="912278"/>
            <a:chExt cx="281320" cy="282391"/>
          </a:xfrm>
        </p:grpSpPr>
        <p:sp>
          <p:nvSpPr>
            <p:cNvPr id="11" name="Elipse 10">
              <a:extLst>
                <a:ext uri="{FF2B5EF4-FFF2-40B4-BE49-F238E27FC236}">
                  <a16:creationId xmlns:a16="http://schemas.microsoft.com/office/drawing/2014/main" id="{857FE95A-894E-304B-8524-02899BBE3742}"/>
                </a:ext>
              </a:extLst>
            </p:cNvPr>
            <p:cNvSpPr/>
            <p:nvPr/>
          </p:nvSpPr>
          <p:spPr>
            <a:xfrm rot="5400000">
              <a:off x="511366" y="912814"/>
              <a:ext cx="282391" cy="281320"/>
            </a:xfrm>
            <a:prstGeom prst="ellipse">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2" name="Imagen 11">
              <a:extLst>
                <a:ext uri="{FF2B5EF4-FFF2-40B4-BE49-F238E27FC236}">
                  <a16:creationId xmlns:a16="http://schemas.microsoft.com/office/drawing/2014/main" id="{87632B50-D7B5-1A45-AA51-BFBE1E25E495}"/>
                </a:ext>
              </a:extLst>
            </p:cNvPr>
            <p:cNvPicPr>
              <a:picLocks noChangeAspect="1"/>
            </p:cNvPicPr>
            <p:nvPr/>
          </p:nvPicPr>
          <p:blipFill>
            <a:blip r:embed="rId4">
              <a:alphaModFix/>
              <a:lum bright="100000" contrast="100000"/>
            </a:blip>
            <a:stretch>
              <a:fillRect/>
            </a:stretch>
          </p:blipFill>
          <p:spPr>
            <a:xfrm rot="5400000">
              <a:off x="578093" y="979007"/>
              <a:ext cx="148937" cy="148937"/>
            </a:xfrm>
            <a:prstGeom prst="rect">
              <a:avLst/>
            </a:prstGeom>
          </p:spPr>
        </p:pic>
      </p:grpSp>
      <p:pic>
        <p:nvPicPr>
          <p:cNvPr id="13" name="Imagen 12">
            <a:extLst>
              <a:ext uri="{FF2B5EF4-FFF2-40B4-BE49-F238E27FC236}">
                <a16:creationId xmlns:a16="http://schemas.microsoft.com/office/drawing/2014/main" id="{646C0BBD-B6D0-5F47-8417-D19061D4D09F}"/>
              </a:ext>
            </a:extLst>
          </p:cNvPr>
          <p:cNvPicPr>
            <a:picLocks noChangeAspect="1"/>
          </p:cNvPicPr>
          <p:nvPr/>
        </p:nvPicPr>
        <p:blipFill>
          <a:blip r:embed="rId5"/>
          <a:stretch>
            <a:fillRect/>
          </a:stretch>
        </p:blipFill>
        <p:spPr>
          <a:xfrm>
            <a:off x="1504950" y="4658654"/>
            <a:ext cx="185286" cy="177874"/>
          </a:xfrm>
          <a:prstGeom prst="rect">
            <a:avLst/>
          </a:prstGeom>
        </p:spPr>
      </p:pic>
      <p:pic>
        <p:nvPicPr>
          <p:cNvPr id="14" name="Imagen 13">
            <a:extLst>
              <a:ext uri="{FF2B5EF4-FFF2-40B4-BE49-F238E27FC236}">
                <a16:creationId xmlns:a16="http://schemas.microsoft.com/office/drawing/2014/main" id="{5D6E68F9-1A9A-0B47-8A62-C39E9D3A8CB3}"/>
              </a:ext>
            </a:extLst>
          </p:cNvPr>
          <p:cNvPicPr>
            <a:picLocks noChangeAspect="1"/>
          </p:cNvPicPr>
          <p:nvPr/>
        </p:nvPicPr>
        <p:blipFill rotWithShape="1">
          <a:blip r:embed="rId6"/>
          <a:srcRect t="3002" b="9370"/>
          <a:stretch/>
        </p:blipFill>
        <p:spPr>
          <a:xfrm>
            <a:off x="1644203" y="1142624"/>
            <a:ext cx="5856625" cy="2783333"/>
          </a:xfrm>
          <a:prstGeom prst="round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3"/>
          <p:cNvPicPr preferRelativeResize="0"/>
          <p:nvPr/>
        </p:nvPicPr>
        <p:blipFill rotWithShape="1">
          <a:blip r:embed="rId3">
            <a:alphaModFix/>
          </a:blip>
          <a:srcRect/>
          <a:stretch/>
        </p:blipFill>
        <p:spPr>
          <a:xfrm>
            <a:off x="962329" y="1363532"/>
            <a:ext cx="7219342" cy="3810208"/>
          </a:xfrm>
          <a:prstGeom prst="rect">
            <a:avLst/>
          </a:prstGeom>
          <a:noFill/>
          <a:ln>
            <a:noFill/>
          </a:ln>
        </p:spPr>
      </p:pic>
      <p:sp>
        <p:nvSpPr>
          <p:cNvPr id="296" name="Google Shape;296;p23"/>
          <p:cNvSpPr/>
          <p:nvPr/>
        </p:nvSpPr>
        <p:spPr>
          <a:xfrm>
            <a:off x="503238" y="1021821"/>
            <a:ext cx="8137525"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GRAFO DE FLUJO DE UN PROGRAMA</a:t>
            </a:r>
            <a:endParaRPr sz="1600" b="1" dirty="0">
              <a:solidFill>
                <a:schemeClr val="dk1"/>
              </a:solidFill>
              <a:latin typeface="Calibri"/>
              <a:ea typeface="Calibri"/>
              <a:cs typeface="Calibri"/>
              <a:sym typeface="Calibri"/>
            </a:endParaRPr>
          </a:p>
        </p:txBody>
      </p:sp>
      <p:sp>
        <p:nvSpPr>
          <p:cNvPr id="5" name="Rectangle 5">
            <a:extLst>
              <a:ext uri="{FF2B5EF4-FFF2-40B4-BE49-F238E27FC236}">
                <a16:creationId xmlns:a16="http://schemas.microsoft.com/office/drawing/2014/main" id="{E0CC9D8E-A68A-3D4D-A82E-1A1760E7442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6" name="Rectángulo 5">
            <a:extLst>
              <a:ext uri="{FF2B5EF4-FFF2-40B4-BE49-F238E27FC236}">
                <a16:creationId xmlns:a16="http://schemas.microsoft.com/office/drawing/2014/main" id="{C628C2A2-793A-F749-920A-EA6BC6A806ED}"/>
              </a:ext>
            </a:extLst>
          </p:cNvPr>
          <p:cNvSpPr/>
          <p:nvPr/>
        </p:nvSpPr>
        <p:spPr>
          <a:xfrm>
            <a:off x="468312" y="912813"/>
            <a:ext cx="8207375" cy="43211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s-ES_tradnl"/>
          </a:p>
        </p:txBody>
      </p:sp>
      <p:sp>
        <p:nvSpPr>
          <p:cNvPr id="303" name="Google Shape;303;p24"/>
          <p:cNvSpPr/>
          <p:nvPr/>
        </p:nvSpPr>
        <p:spPr>
          <a:xfrm>
            <a:off x="503237" y="1143166"/>
            <a:ext cx="8137525" cy="3490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GRAFO DE FLUJO DE UN PROGRAMA</a:t>
            </a:r>
            <a:endParaRPr sz="1600" b="1" dirty="0">
              <a:solidFill>
                <a:schemeClr val="dk1"/>
              </a:solidFill>
              <a:latin typeface="Calibri"/>
              <a:ea typeface="Calibri"/>
              <a:cs typeface="Calibri"/>
              <a:sym typeface="Calibri"/>
            </a:endParaRPr>
          </a:p>
        </p:txBody>
      </p:sp>
      <p:pic>
        <p:nvPicPr>
          <p:cNvPr id="304" name="Google Shape;304;p24"/>
          <p:cNvPicPr preferRelativeResize="0"/>
          <p:nvPr/>
        </p:nvPicPr>
        <p:blipFill rotWithShape="1">
          <a:blip r:embed="rId3">
            <a:alphaModFix/>
          </a:blip>
          <a:srcRect/>
          <a:stretch/>
        </p:blipFill>
        <p:spPr>
          <a:xfrm>
            <a:off x="1054303" y="1961507"/>
            <a:ext cx="7035394" cy="2426418"/>
          </a:xfrm>
          <a:prstGeom prst="rect">
            <a:avLst/>
          </a:prstGeom>
          <a:noFill/>
          <a:ln>
            <a:noFill/>
          </a:ln>
        </p:spPr>
      </p:pic>
      <p:sp>
        <p:nvSpPr>
          <p:cNvPr id="5" name="Rectangle 5">
            <a:extLst>
              <a:ext uri="{FF2B5EF4-FFF2-40B4-BE49-F238E27FC236}">
                <a16:creationId xmlns:a16="http://schemas.microsoft.com/office/drawing/2014/main" id="{C7DB443F-644E-CF48-95A1-C7BDE539B186}"/>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7" name="Imagen 6">
            <a:extLst>
              <a:ext uri="{FF2B5EF4-FFF2-40B4-BE49-F238E27FC236}">
                <a16:creationId xmlns:a16="http://schemas.microsoft.com/office/drawing/2014/main" id="{C0911EBC-B0C3-A747-A71D-F22563927EB5}"/>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766317" y="866714"/>
            <a:ext cx="7611366" cy="3822174"/>
          </a:xfrm>
          <a:prstGeom prst="rect">
            <a:avLst/>
          </a:prstGeom>
        </p:spPr>
      </p:pic>
      <p:sp>
        <p:nvSpPr>
          <p:cNvPr id="8" name="CuadroTexto 7">
            <a:extLst>
              <a:ext uri="{FF2B5EF4-FFF2-40B4-BE49-F238E27FC236}">
                <a16:creationId xmlns:a16="http://schemas.microsoft.com/office/drawing/2014/main" id="{E92788C2-C127-B445-B2B7-0B9C31F0621C}"/>
              </a:ext>
            </a:extLst>
          </p:cNvPr>
          <p:cNvSpPr txBox="1"/>
          <p:nvPr/>
        </p:nvSpPr>
        <p:spPr>
          <a:xfrm>
            <a:off x="1499337" y="4371232"/>
            <a:ext cx="6001491" cy="461665"/>
          </a:xfrm>
          <a:prstGeom prst="rect">
            <a:avLst/>
          </a:prstGeom>
          <a:noFill/>
        </p:spPr>
        <p:txBody>
          <a:bodyPr wrap="square" lIns="0" tIns="0" rIns="0" bIns="0" rtlCol="0">
            <a:spAutoFit/>
          </a:bodyPr>
          <a:lstStyle/>
          <a:p>
            <a:pPr>
              <a:spcAft>
                <a:spcPts val="600"/>
              </a:spcAft>
            </a:pPr>
            <a:r>
              <a:rPr lang="es-PE" b="1" dirty="0">
                <a:latin typeface="Calibri" charset="0"/>
                <a:cs typeface="Calibri" charset="0"/>
                <a:sym typeface="Calibri"/>
              </a:rPr>
              <a:t>“TESTEO - CAJA BLANCA”</a:t>
            </a:r>
            <a:r>
              <a:rPr lang="es-ES_tradnl" sz="1400" b="1" dirty="0">
                <a:latin typeface="Calibri" charset="0"/>
                <a:ea typeface="Calibri" charset="0"/>
                <a:cs typeface="Calibri" charset="0"/>
              </a:rPr>
              <a:t> </a:t>
            </a:r>
          </a:p>
          <a:p>
            <a:pPr marL="177800" lvl="0" indent="44450">
              <a:buFont typeface="Arial"/>
              <a:buNone/>
            </a:pPr>
            <a:r>
              <a:rPr lang="es-PE" sz="1100" dirty="0">
                <a:solidFill>
                  <a:schemeClr val="bg1">
                    <a:lumMod val="50000"/>
                  </a:schemeClr>
                </a:solidFill>
                <a:latin typeface="Calibri" charset="0"/>
                <a:cs typeface="Calibri" charset="0"/>
                <a:sym typeface="Calibri"/>
              </a:rPr>
              <a:t>https://www.youtube.com/watch?v=mCpyKJYdM6w</a:t>
            </a:r>
          </a:p>
        </p:txBody>
      </p:sp>
      <p:sp>
        <p:nvSpPr>
          <p:cNvPr id="9" name="Rectángulo 8">
            <a:extLst>
              <a:ext uri="{FF2B5EF4-FFF2-40B4-BE49-F238E27FC236}">
                <a16:creationId xmlns:a16="http://schemas.microsoft.com/office/drawing/2014/main" id="{8808CD0F-4160-3741-9228-B1C00B1C649D}"/>
              </a:ext>
            </a:extLst>
          </p:cNvPr>
          <p:cNvSpPr/>
          <p:nvPr/>
        </p:nvSpPr>
        <p:spPr>
          <a:xfrm>
            <a:off x="683568" y="481236"/>
            <a:ext cx="544831" cy="193899"/>
          </a:xfrm>
          <a:prstGeom prst="rect">
            <a:avLst/>
          </a:prstGeom>
        </p:spPr>
        <p:txBody>
          <a:bodyPr wrap="square" lIns="0" tIns="0" rIns="0" bIns="0">
            <a:spAutoFit/>
          </a:bodyPr>
          <a:lstStyle/>
          <a:p>
            <a:pPr>
              <a:lnSpc>
                <a:spcPct val="90000"/>
              </a:lnSpc>
              <a:spcBef>
                <a:spcPts val="0"/>
              </a:spcBef>
              <a:defRPr/>
            </a:pPr>
            <a:r>
              <a:rPr lang="es-PE" sz="1400" b="1" dirty="0">
                <a:solidFill>
                  <a:srgbClr val="00B1C3"/>
                </a:solidFill>
                <a:latin typeface="Calibri" charset="0"/>
                <a:ea typeface="Calibri" charset="0"/>
                <a:cs typeface="Calibri" charset="0"/>
              </a:rPr>
              <a:t>VIDEO</a:t>
            </a:r>
            <a:endParaRPr lang="es-ES" sz="1600" b="1" dirty="0">
              <a:solidFill>
                <a:srgbClr val="00B1C3"/>
              </a:solidFill>
              <a:latin typeface="Calibri" charset="0"/>
              <a:ea typeface="Calibri" charset="0"/>
              <a:cs typeface="Calibri" charset="0"/>
            </a:endParaRPr>
          </a:p>
        </p:txBody>
      </p:sp>
      <p:grpSp>
        <p:nvGrpSpPr>
          <p:cNvPr id="10" name="Agrupar 7">
            <a:extLst>
              <a:ext uri="{FF2B5EF4-FFF2-40B4-BE49-F238E27FC236}">
                <a16:creationId xmlns:a16="http://schemas.microsoft.com/office/drawing/2014/main" id="{D8272DFF-B870-A742-A729-74D52FB9F348}"/>
              </a:ext>
            </a:extLst>
          </p:cNvPr>
          <p:cNvGrpSpPr/>
          <p:nvPr/>
        </p:nvGrpSpPr>
        <p:grpSpPr>
          <a:xfrm>
            <a:off x="514858" y="499074"/>
            <a:ext cx="131794" cy="132296"/>
            <a:chOff x="511902" y="912278"/>
            <a:chExt cx="281320" cy="282391"/>
          </a:xfrm>
        </p:grpSpPr>
        <p:sp>
          <p:nvSpPr>
            <p:cNvPr id="11" name="Elipse 10">
              <a:extLst>
                <a:ext uri="{FF2B5EF4-FFF2-40B4-BE49-F238E27FC236}">
                  <a16:creationId xmlns:a16="http://schemas.microsoft.com/office/drawing/2014/main" id="{40E4E11D-AD39-A743-9FCE-53A6F78C5694}"/>
                </a:ext>
              </a:extLst>
            </p:cNvPr>
            <p:cNvSpPr/>
            <p:nvPr/>
          </p:nvSpPr>
          <p:spPr>
            <a:xfrm rot="5400000">
              <a:off x="511366" y="912814"/>
              <a:ext cx="282391" cy="281320"/>
            </a:xfrm>
            <a:prstGeom prst="ellipse">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2" name="Imagen 11">
              <a:extLst>
                <a:ext uri="{FF2B5EF4-FFF2-40B4-BE49-F238E27FC236}">
                  <a16:creationId xmlns:a16="http://schemas.microsoft.com/office/drawing/2014/main" id="{4E7128B5-7F04-6F4E-A675-0B7FE08F8FE7}"/>
                </a:ext>
              </a:extLst>
            </p:cNvPr>
            <p:cNvPicPr>
              <a:picLocks noChangeAspect="1"/>
            </p:cNvPicPr>
            <p:nvPr/>
          </p:nvPicPr>
          <p:blipFill>
            <a:blip r:embed="rId4">
              <a:alphaModFix/>
              <a:lum bright="100000" contrast="100000"/>
            </a:blip>
            <a:stretch>
              <a:fillRect/>
            </a:stretch>
          </p:blipFill>
          <p:spPr>
            <a:xfrm rot="5400000">
              <a:off x="578093" y="979007"/>
              <a:ext cx="148937" cy="148937"/>
            </a:xfrm>
            <a:prstGeom prst="rect">
              <a:avLst/>
            </a:prstGeom>
          </p:spPr>
        </p:pic>
      </p:grpSp>
      <p:pic>
        <p:nvPicPr>
          <p:cNvPr id="13" name="Imagen 12">
            <a:extLst>
              <a:ext uri="{FF2B5EF4-FFF2-40B4-BE49-F238E27FC236}">
                <a16:creationId xmlns:a16="http://schemas.microsoft.com/office/drawing/2014/main" id="{21EE9B76-AC41-7941-BEF4-8DFF3E456914}"/>
              </a:ext>
            </a:extLst>
          </p:cNvPr>
          <p:cNvPicPr>
            <a:picLocks noChangeAspect="1"/>
          </p:cNvPicPr>
          <p:nvPr/>
        </p:nvPicPr>
        <p:blipFill>
          <a:blip r:embed="rId5"/>
          <a:stretch>
            <a:fillRect/>
          </a:stretch>
        </p:blipFill>
        <p:spPr>
          <a:xfrm>
            <a:off x="1504950" y="4658654"/>
            <a:ext cx="185286" cy="177874"/>
          </a:xfrm>
          <a:prstGeom prst="rect">
            <a:avLst/>
          </a:prstGeom>
        </p:spPr>
      </p:pic>
      <p:pic>
        <p:nvPicPr>
          <p:cNvPr id="14" name="Imagen 13">
            <a:extLst>
              <a:ext uri="{FF2B5EF4-FFF2-40B4-BE49-F238E27FC236}">
                <a16:creationId xmlns:a16="http://schemas.microsoft.com/office/drawing/2014/main" id="{2A1DA6C0-8151-D447-8488-E541C347AE5B}"/>
              </a:ext>
            </a:extLst>
          </p:cNvPr>
          <p:cNvPicPr>
            <a:picLocks noChangeAspect="1"/>
          </p:cNvPicPr>
          <p:nvPr/>
        </p:nvPicPr>
        <p:blipFill rotWithShape="1">
          <a:blip r:embed="rId6"/>
          <a:srcRect t="-175" b="36824"/>
          <a:stretch/>
        </p:blipFill>
        <p:spPr>
          <a:xfrm>
            <a:off x="1644203" y="1142624"/>
            <a:ext cx="5856625" cy="2783333"/>
          </a:xfrm>
          <a:prstGeom prst="round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7" name="Imagen 6">
            <a:extLst>
              <a:ext uri="{FF2B5EF4-FFF2-40B4-BE49-F238E27FC236}">
                <a16:creationId xmlns:a16="http://schemas.microsoft.com/office/drawing/2014/main" id="{CE11A7F0-62D8-C04A-AB34-6D785FEA9915}"/>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766317" y="866714"/>
            <a:ext cx="7611366" cy="3822174"/>
          </a:xfrm>
          <a:prstGeom prst="rect">
            <a:avLst/>
          </a:prstGeom>
        </p:spPr>
      </p:pic>
      <p:sp>
        <p:nvSpPr>
          <p:cNvPr id="8" name="CuadroTexto 7">
            <a:extLst>
              <a:ext uri="{FF2B5EF4-FFF2-40B4-BE49-F238E27FC236}">
                <a16:creationId xmlns:a16="http://schemas.microsoft.com/office/drawing/2014/main" id="{DA461DEB-3032-8743-8065-FD774F81C5AB}"/>
              </a:ext>
            </a:extLst>
          </p:cNvPr>
          <p:cNvSpPr txBox="1"/>
          <p:nvPr/>
        </p:nvSpPr>
        <p:spPr>
          <a:xfrm>
            <a:off x="1499337" y="4371232"/>
            <a:ext cx="6001491" cy="461665"/>
          </a:xfrm>
          <a:prstGeom prst="rect">
            <a:avLst/>
          </a:prstGeom>
          <a:noFill/>
        </p:spPr>
        <p:txBody>
          <a:bodyPr wrap="square" lIns="0" tIns="0" rIns="0" bIns="0" rtlCol="0">
            <a:spAutoFit/>
          </a:bodyPr>
          <a:lstStyle/>
          <a:p>
            <a:pPr>
              <a:spcAft>
                <a:spcPts val="600"/>
              </a:spcAft>
            </a:pPr>
            <a:r>
              <a:rPr lang="es-PE" b="1" dirty="0">
                <a:latin typeface="Calibri" charset="0"/>
                <a:cs typeface="Calibri" charset="0"/>
                <a:sym typeface="Calibri"/>
              </a:rPr>
              <a:t>“TESTEO - CAJA NEGRA”</a:t>
            </a:r>
            <a:r>
              <a:rPr lang="es-ES_tradnl" sz="1400" b="1" dirty="0">
                <a:latin typeface="Calibri" charset="0"/>
                <a:ea typeface="Calibri" charset="0"/>
                <a:cs typeface="Calibri" charset="0"/>
              </a:rPr>
              <a:t> </a:t>
            </a:r>
          </a:p>
          <a:p>
            <a:pPr marL="177800" lvl="0" indent="44450">
              <a:buFont typeface="Arial"/>
              <a:buNone/>
            </a:pPr>
            <a:r>
              <a:rPr lang="es-PE" sz="1100" dirty="0">
                <a:solidFill>
                  <a:schemeClr val="bg1">
                    <a:lumMod val="50000"/>
                  </a:schemeClr>
                </a:solidFill>
                <a:latin typeface="Calibri" charset="0"/>
                <a:cs typeface="Calibri" charset="0"/>
                <a:sym typeface="Calibri"/>
              </a:rPr>
              <a:t>https://www.youtube.com/watch?v=B-iTr1pY21o</a:t>
            </a:r>
          </a:p>
        </p:txBody>
      </p:sp>
      <p:sp>
        <p:nvSpPr>
          <p:cNvPr id="9" name="Rectángulo 8">
            <a:extLst>
              <a:ext uri="{FF2B5EF4-FFF2-40B4-BE49-F238E27FC236}">
                <a16:creationId xmlns:a16="http://schemas.microsoft.com/office/drawing/2014/main" id="{A6749FA1-A494-7444-8B77-A364A2BE140C}"/>
              </a:ext>
            </a:extLst>
          </p:cNvPr>
          <p:cNvSpPr/>
          <p:nvPr/>
        </p:nvSpPr>
        <p:spPr>
          <a:xfrm>
            <a:off x="683568" y="481236"/>
            <a:ext cx="544831" cy="193899"/>
          </a:xfrm>
          <a:prstGeom prst="rect">
            <a:avLst/>
          </a:prstGeom>
        </p:spPr>
        <p:txBody>
          <a:bodyPr wrap="square" lIns="0" tIns="0" rIns="0" bIns="0">
            <a:spAutoFit/>
          </a:bodyPr>
          <a:lstStyle/>
          <a:p>
            <a:pPr>
              <a:lnSpc>
                <a:spcPct val="90000"/>
              </a:lnSpc>
              <a:spcBef>
                <a:spcPts val="0"/>
              </a:spcBef>
              <a:defRPr/>
            </a:pPr>
            <a:r>
              <a:rPr lang="es-PE" sz="1400" b="1" dirty="0">
                <a:solidFill>
                  <a:srgbClr val="00B1C3"/>
                </a:solidFill>
                <a:latin typeface="Calibri" charset="0"/>
                <a:ea typeface="Calibri" charset="0"/>
                <a:cs typeface="Calibri" charset="0"/>
              </a:rPr>
              <a:t>VIDEO</a:t>
            </a:r>
            <a:endParaRPr lang="es-ES" sz="1600" b="1" dirty="0">
              <a:solidFill>
                <a:srgbClr val="00B1C3"/>
              </a:solidFill>
              <a:latin typeface="Calibri" charset="0"/>
              <a:ea typeface="Calibri" charset="0"/>
              <a:cs typeface="Calibri" charset="0"/>
            </a:endParaRPr>
          </a:p>
        </p:txBody>
      </p:sp>
      <p:grpSp>
        <p:nvGrpSpPr>
          <p:cNvPr id="10" name="Agrupar 7">
            <a:extLst>
              <a:ext uri="{FF2B5EF4-FFF2-40B4-BE49-F238E27FC236}">
                <a16:creationId xmlns:a16="http://schemas.microsoft.com/office/drawing/2014/main" id="{D81C576A-A9F6-CA46-937A-E75A98E8E4D7}"/>
              </a:ext>
            </a:extLst>
          </p:cNvPr>
          <p:cNvGrpSpPr/>
          <p:nvPr/>
        </p:nvGrpSpPr>
        <p:grpSpPr>
          <a:xfrm>
            <a:off x="514858" y="499074"/>
            <a:ext cx="131794" cy="132296"/>
            <a:chOff x="511902" y="912278"/>
            <a:chExt cx="281320" cy="282391"/>
          </a:xfrm>
        </p:grpSpPr>
        <p:sp>
          <p:nvSpPr>
            <p:cNvPr id="11" name="Elipse 10">
              <a:extLst>
                <a:ext uri="{FF2B5EF4-FFF2-40B4-BE49-F238E27FC236}">
                  <a16:creationId xmlns:a16="http://schemas.microsoft.com/office/drawing/2014/main" id="{2DFEE973-ADAB-1446-AD90-3433FD549D8C}"/>
                </a:ext>
              </a:extLst>
            </p:cNvPr>
            <p:cNvSpPr/>
            <p:nvPr/>
          </p:nvSpPr>
          <p:spPr>
            <a:xfrm rot="5400000">
              <a:off x="511366" y="912814"/>
              <a:ext cx="282391" cy="281320"/>
            </a:xfrm>
            <a:prstGeom prst="ellipse">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2" name="Imagen 11">
              <a:extLst>
                <a:ext uri="{FF2B5EF4-FFF2-40B4-BE49-F238E27FC236}">
                  <a16:creationId xmlns:a16="http://schemas.microsoft.com/office/drawing/2014/main" id="{EA3A869F-4AC1-E44A-9510-101BCE17491F}"/>
                </a:ext>
              </a:extLst>
            </p:cNvPr>
            <p:cNvPicPr>
              <a:picLocks noChangeAspect="1"/>
            </p:cNvPicPr>
            <p:nvPr/>
          </p:nvPicPr>
          <p:blipFill>
            <a:blip r:embed="rId4">
              <a:alphaModFix/>
              <a:lum bright="100000" contrast="100000"/>
            </a:blip>
            <a:stretch>
              <a:fillRect/>
            </a:stretch>
          </p:blipFill>
          <p:spPr>
            <a:xfrm rot="5400000">
              <a:off x="578093" y="979007"/>
              <a:ext cx="148937" cy="148937"/>
            </a:xfrm>
            <a:prstGeom prst="rect">
              <a:avLst/>
            </a:prstGeom>
          </p:spPr>
        </p:pic>
      </p:grpSp>
      <p:pic>
        <p:nvPicPr>
          <p:cNvPr id="13" name="Imagen 12">
            <a:extLst>
              <a:ext uri="{FF2B5EF4-FFF2-40B4-BE49-F238E27FC236}">
                <a16:creationId xmlns:a16="http://schemas.microsoft.com/office/drawing/2014/main" id="{0B18C4A9-2712-354F-AC5C-FEC7A497BA75}"/>
              </a:ext>
            </a:extLst>
          </p:cNvPr>
          <p:cNvPicPr>
            <a:picLocks noChangeAspect="1"/>
          </p:cNvPicPr>
          <p:nvPr/>
        </p:nvPicPr>
        <p:blipFill>
          <a:blip r:embed="rId5"/>
          <a:stretch>
            <a:fillRect/>
          </a:stretch>
        </p:blipFill>
        <p:spPr>
          <a:xfrm>
            <a:off x="1504950" y="4658654"/>
            <a:ext cx="185286" cy="177874"/>
          </a:xfrm>
          <a:prstGeom prst="rect">
            <a:avLst/>
          </a:prstGeom>
        </p:spPr>
      </p:pic>
      <p:pic>
        <p:nvPicPr>
          <p:cNvPr id="14" name="Imagen 13">
            <a:extLst>
              <a:ext uri="{FF2B5EF4-FFF2-40B4-BE49-F238E27FC236}">
                <a16:creationId xmlns:a16="http://schemas.microsoft.com/office/drawing/2014/main" id="{CC8E2702-E2A0-7C41-832B-3A2D96AE8FA6}"/>
              </a:ext>
            </a:extLst>
          </p:cNvPr>
          <p:cNvPicPr>
            <a:picLocks noChangeAspect="1"/>
          </p:cNvPicPr>
          <p:nvPr/>
        </p:nvPicPr>
        <p:blipFill rotWithShape="1">
          <a:blip r:embed="rId6"/>
          <a:srcRect t="6457" b="30639"/>
          <a:stretch/>
        </p:blipFill>
        <p:spPr>
          <a:xfrm>
            <a:off x="1644203" y="1142624"/>
            <a:ext cx="5856625" cy="2783333"/>
          </a:xfrm>
          <a:prstGeom prst="round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6" name="Rectángulo 5">
            <a:extLst>
              <a:ext uri="{FF2B5EF4-FFF2-40B4-BE49-F238E27FC236}">
                <a16:creationId xmlns:a16="http://schemas.microsoft.com/office/drawing/2014/main" id="{7549CEC6-E86B-5B40-A7E6-C65B13F93449}"/>
              </a:ext>
            </a:extLst>
          </p:cNvPr>
          <p:cNvSpPr/>
          <p:nvPr/>
        </p:nvSpPr>
        <p:spPr>
          <a:xfrm>
            <a:off x="468313" y="912813"/>
            <a:ext cx="8207375" cy="43211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329" name="Google Shape;329;p27"/>
          <p:cNvPicPr preferRelativeResize="0"/>
          <p:nvPr/>
        </p:nvPicPr>
        <p:blipFill rotWithShape="1">
          <a:blip r:embed="rId3">
            <a:alphaModFix/>
          </a:blip>
          <a:srcRect/>
          <a:stretch/>
        </p:blipFill>
        <p:spPr>
          <a:xfrm>
            <a:off x="1085338" y="1522612"/>
            <a:ext cx="7691949" cy="3480220"/>
          </a:xfrm>
          <a:prstGeom prst="rect">
            <a:avLst/>
          </a:prstGeom>
          <a:noFill/>
          <a:ln>
            <a:noFill/>
          </a:ln>
        </p:spPr>
      </p:pic>
      <p:sp>
        <p:nvSpPr>
          <p:cNvPr id="330" name="Google Shape;330;p27"/>
          <p:cNvSpPr/>
          <p:nvPr/>
        </p:nvSpPr>
        <p:spPr>
          <a:xfrm>
            <a:off x="503238" y="1045236"/>
            <a:ext cx="8137524"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GRAFO DE FLUJO DE UN PROGRAMA EJERCICIO</a:t>
            </a:r>
            <a:endParaRPr sz="1600" b="1" dirty="0">
              <a:solidFill>
                <a:schemeClr val="dk1"/>
              </a:solidFill>
              <a:latin typeface="Calibri"/>
              <a:ea typeface="Calibri"/>
              <a:cs typeface="Calibri"/>
              <a:sym typeface="Calibri"/>
            </a:endParaRPr>
          </a:p>
        </p:txBody>
      </p:sp>
      <p:sp>
        <p:nvSpPr>
          <p:cNvPr id="5" name="Rectangle 5">
            <a:extLst>
              <a:ext uri="{FF2B5EF4-FFF2-40B4-BE49-F238E27FC236}">
                <a16:creationId xmlns:a16="http://schemas.microsoft.com/office/drawing/2014/main" id="{D6D86D6D-7A53-8E45-93E8-B5CB60A9B9E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9" name="Google Shape;339;p28"/>
          <p:cNvSpPr/>
          <p:nvPr/>
        </p:nvSpPr>
        <p:spPr>
          <a:xfrm>
            <a:off x="503238" y="4551652"/>
            <a:ext cx="8137525" cy="400069"/>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187325" marR="0" lvl="0" indent="-187325" algn="ctr" rtl="0">
              <a:spcBef>
                <a:spcPts val="0"/>
              </a:spcBef>
              <a:spcAft>
                <a:spcPts val="0"/>
              </a:spcAft>
              <a:buClr>
                <a:schemeClr val="lt1"/>
              </a:buClr>
              <a:buSzPts val="1600"/>
              <a:buFont typeface="Arial"/>
              <a:buChar char="•"/>
            </a:pPr>
            <a:r>
              <a:rPr lang="es-PE">
                <a:solidFill>
                  <a:schemeClr val="lt1"/>
                </a:solidFill>
                <a:latin typeface="Calibri"/>
                <a:ea typeface="Calibri"/>
                <a:cs typeface="Calibri"/>
                <a:sym typeface="Calibri"/>
              </a:rPr>
              <a:t>Cobertura de Camino = (Número de caminos ejecutadas / Número Total de caminos ) x 100%</a:t>
            </a:r>
            <a:endParaRPr/>
          </a:p>
        </p:txBody>
      </p:sp>
      <p:sp>
        <p:nvSpPr>
          <p:cNvPr id="340" name="Google Shape;340;p28"/>
          <p:cNvSpPr txBox="1"/>
          <p:nvPr/>
        </p:nvSpPr>
        <p:spPr>
          <a:xfrm>
            <a:off x="6928920" y="4317403"/>
            <a:ext cx="1711842"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idoc.pub/documents</a:t>
            </a:r>
            <a:endParaRPr dirty="0">
              <a:solidFill>
                <a:schemeClr val="bg1">
                  <a:lumMod val="50000"/>
                </a:schemeClr>
              </a:solidFill>
            </a:endParaRPr>
          </a:p>
        </p:txBody>
      </p:sp>
      <p:sp>
        <p:nvSpPr>
          <p:cNvPr id="6" name="Rectangle 5">
            <a:extLst>
              <a:ext uri="{FF2B5EF4-FFF2-40B4-BE49-F238E27FC236}">
                <a16:creationId xmlns:a16="http://schemas.microsoft.com/office/drawing/2014/main" id="{BD37B0F8-9BA9-144C-9977-10BB5765FBF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4DCB1A75-FE14-E848-B0F5-055F4290C61A}"/>
              </a:ext>
            </a:extLst>
          </p:cNvPr>
          <p:cNvSpPr/>
          <p:nvPr/>
        </p:nvSpPr>
        <p:spPr>
          <a:xfrm>
            <a:off x="503238" y="916472"/>
            <a:ext cx="7976855" cy="3400931"/>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COBERTURA DE CAMINO</a:t>
            </a:r>
            <a:endParaRPr lang="es-PE" sz="1600" b="1" dirty="0">
              <a:solidFill>
                <a:srgbClr val="EE4639"/>
              </a:solidFill>
              <a:latin typeface="Calibri" charset="0"/>
              <a:cs typeface="Calibri" charset="0"/>
            </a:endParaRPr>
          </a:p>
          <a:p>
            <a:pPr marL="134938" marR="0" lvl="0" indent="-134938"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Se centra en la ejecución de todos los posibles caminos a través de un código. Un camino es una combinación de segmentos de Código.</a:t>
            </a:r>
            <a:endParaRPr lang="es-PE" sz="1500" dirty="0"/>
          </a:p>
          <a:p>
            <a:pPr marL="134938" marR="0" lvl="0" indent="-134938" algn="l" rtl="0">
              <a:spcBef>
                <a:spcPts val="0"/>
              </a:spcBef>
              <a:spcAft>
                <a:spcPts val="0"/>
              </a:spcAft>
              <a:buClr>
                <a:schemeClr val="dk1"/>
              </a:buClr>
              <a:buSzPts val="1600"/>
              <a:buFont typeface="Arial"/>
              <a:buNone/>
            </a:pPr>
            <a:endParaRPr lang="es-PE" sz="1500" dirty="0">
              <a:solidFill>
                <a:schemeClr val="dk1"/>
              </a:solidFill>
              <a:latin typeface="Calibri"/>
              <a:ea typeface="Calibri"/>
              <a:cs typeface="Calibri"/>
              <a:sym typeface="Calibri"/>
            </a:endParaRPr>
          </a:p>
          <a:p>
            <a:pPr marL="134938" marR="0" lvl="0" indent="-134938"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“Los bucles en la cobertura de caminos”.</a:t>
            </a:r>
            <a:endParaRPr lang="es-PE" sz="1500" dirty="0"/>
          </a:p>
          <a:p>
            <a:pPr marL="285750" marR="0" lvl="0" indent="-184150" algn="l" rtl="0">
              <a:spcBef>
                <a:spcPts val="0"/>
              </a:spcBef>
              <a:spcAft>
                <a:spcPts val="0"/>
              </a:spcAft>
              <a:buClr>
                <a:schemeClr val="dk1"/>
              </a:buClr>
              <a:buSzPts val="1600"/>
              <a:buFont typeface="Arial"/>
              <a:buNone/>
            </a:pPr>
            <a:endParaRPr lang="es-PE" sz="1500" dirty="0">
              <a:solidFill>
                <a:schemeClr val="dk1"/>
              </a:solidFill>
              <a:latin typeface="Calibri"/>
              <a:ea typeface="Calibri"/>
              <a:cs typeface="Calibri"/>
              <a:sym typeface="Calibri"/>
            </a:endParaRPr>
          </a:p>
          <a:p>
            <a:pPr marL="363538" marR="0" lvl="1" indent="-177800"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“Para la cobertura de decisión, un solo camino a través de un bucle es suficiente”.</a:t>
            </a:r>
            <a:endParaRPr lang="es-PE" sz="1500" dirty="0"/>
          </a:p>
          <a:p>
            <a:pPr marL="363538" marR="0" lvl="1" indent="-177800"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“Para la cobertura de camino hay casos de prueba adicionales”.</a:t>
            </a:r>
            <a:endParaRPr lang="es-PE" sz="1500" dirty="0"/>
          </a:p>
          <a:p>
            <a:pPr marL="285750" marR="0" lvl="0" indent="-184150" algn="l" rtl="0">
              <a:spcBef>
                <a:spcPts val="0"/>
              </a:spcBef>
              <a:spcAft>
                <a:spcPts val="0"/>
              </a:spcAft>
              <a:buClr>
                <a:schemeClr val="dk1"/>
              </a:buClr>
              <a:buSzPts val="1600"/>
              <a:buFont typeface="Arial"/>
              <a:buNone/>
            </a:pPr>
            <a:endParaRPr lang="es-PE" sz="1500" dirty="0">
              <a:solidFill>
                <a:schemeClr val="dk1"/>
              </a:solidFill>
              <a:latin typeface="Calibri"/>
              <a:ea typeface="Calibri"/>
              <a:cs typeface="Calibri"/>
              <a:sym typeface="Calibri"/>
            </a:endParaRPr>
          </a:p>
          <a:p>
            <a:pPr marL="134938" marR="0" lvl="0" indent="-134938"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Condiciones:</a:t>
            </a:r>
            <a:endParaRPr lang="es-PE" sz="1500" dirty="0"/>
          </a:p>
          <a:p>
            <a:pPr marL="363538" marR="0" lvl="1" indent="-220663"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“Un caso de prueba que no entre al bucle”.</a:t>
            </a:r>
            <a:endParaRPr lang="es-PE" sz="1500" dirty="0"/>
          </a:p>
          <a:p>
            <a:pPr marL="363538" marR="0" lvl="1" indent="-220663"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“Un caso de prueba adicional por cada iteración en el bucle”.</a:t>
            </a:r>
            <a:endParaRPr lang="es-PE" sz="1500" dirty="0"/>
          </a:p>
          <a:p>
            <a:pPr marL="363538" marR="0" lvl="1" indent="-220663"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“Esto puede conducir o un alto número de casos de prueba”.</a:t>
            </a:r>
            <a:endParaRPr lang="es-PE"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8" name="Google Shape;348;p29"/>
          <p:cNvSpPr txBox="1"/>
          <p:nvPr/>
        </p:nvSpPr>
        <p:spPr>
          <a:xfrm>
            <a:off x="6145139" y="5009900"/>
            <a:ext cx="2530549"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idoc.pub/documents / es.scribd.com</a:t>
            </a:r>
            <a:endParaRPr dirty="0">
              <a:solidFill>
                <a:schemeClr val="bg1">
                  <a:lumMod val="50000"/>
                </a:schemeClr>
              </a:solidFill>
            </a:endParaRPr>
          </a:p>
        </p:txBody>
      </p:sp>
      <p:sp>
        <p:nvSpPr>
          <p:cNvPr id="5" name="Rectangle 5">
            <a:extLst>
              <a:ext uri="{FF2B5EF4-FFF2-40B4-BE49-F238E27FC236}">
                <a16:creationId xmlns:a16="http://schemas.microsoft.com/office/drawing/2014/main" id="{07916993-DA4C-7F4B-97CA-F1C009C2CD18}"/>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7521D7CD-A4E7-0241-A41B-224C9CF8A0D2}"/>
              </a:ext>
            </a:extLst>
          </p:cNvPr>
          <p:cNvSpPr/>
          <p:nvPr/>
        </p:nvSpPr>
        <p:spPr>
          <a:xfrm>
            <a:off x="503238" y="916472"/>
            <a:ext cx="7976855" cy="4093428"/>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+ 04.</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COBERTURA DE CONDICIÓN</a:t>
            </a:r>
            <a:endParaRPr lang="es-PE" sz="1600" b="1" dirty="0">
              <a:solidFill>
                <a:srgbClr val="EE4639"/>
              </a:solidFill>
              <a:latin typeface="Calibri" charset="0"/>
              <a:cs typeface="Calibri" charset="0"/>
            </a:endParaRPr>
          </a:p>
          <a:p>
            <a:pPr marL="185738" marR="0" lvl="0" indent="-176213"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Se tiene en cuenta la complejidad de una condición que esté constituida por múltiples condiciones atómicas.</a:t>
            </a:r>
            <a:endParaRPr lang="es-PE" sz="1500" dirty="0"/>
          </a:p>
          <a:p>
            <a:pPr marL="295275" marR="0" lvl="0" indent="-184150" algn="l" rtl="0">
              <a:spcBef>
                <a:spcPts val="0"/>
              </a:spcBef>
              <a:spcAft>
                <a:spcPts val="0"/>
              </a:spcAft>
              <a:buClr>
                <a:schemeClr val="dk1"/>
              </a:buClr>
              <a:buSzPts val="1600"/>
              <a:buFont typeface="Arial"/>
              <a:buNone/>
            </a:pPr>
            <a:endParaRPr lang="es-PE" sz="1500" dirty="0">
              <a:solidFill>
                <a:schemeClr val="dk1"/>
              </a:solidFill>
              <a:latin typeface="Calibri"/>
              <a:ea typeface="Calibri"/>
              <a:cs typeface="Calibri"/>
              <a:sym typeface="Calibri"/>
            </a:endParaRPr>
          </a:p>
          <a:p>
            <a:pPr marL="363538" marR="0" lvl="1" indent="-177800"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Una condición atómica no puede ser dividida en sentencias condicionales más pequeñas.</a:t>
            </a:r>
            <a:endParaRPr lang="es-PE" sz="1500" dirty="0"/>
          </a:p>
          <a:p>
            <a:pPr marL="295275" marR="0" lvl="0" indent="-184150" algn="l" rtl="0">
              <a:spcBef>
                <a:spcPts val="0"/>
              </a:spcBef>
              <a:spcAft>
                <a:spcPts val="0"/>
              </a:spcAft>
              <a:buClr>
                <a:schemeClr val="dk1"/>
              </a:buClr>
              <a:buSzPts val="1600"/>
              <a:buFont typeface="Arial"/>
              <a:buNone/>
            </a:pPr>
            <a:endParaRPr lang="es-PE" sz="1500" dirty="0">
              <a:solidFill>
                <a:schemeClr val="dk1"/>
              </a:solidFill>
              <a:latin typeface="Calibri"/>
              <a:ea typeface="Calibri"/>
              <a:cs typeface="Calibri"/>
              <a:sym typeface="Calibri"/>
            </a:endParaRPr>
          </a:p>
          <a:p>
            <a:pPr marL="185738" marR="0" lvl="0" indent="-176213"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El objetivo es detectar defectos que resulten de la Implementación de condiciones múltiples (condiciones combinadas).</a:t>
            </a:r>
            <a:endParaRPr lang="es-PE" sz="1500" dirty="0"/>
          </a:p>
          <a:p>
            <a:pPr marL="363538" marR="0" lvl="1" indent="-177800"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Las condiciones múltiples están constituidas por condiciones atómicas que se combinan con el uso de operadores lógicos como: OR, AND, XOR, etc. Ejemplo ((a&gt;2) OR (b&lt;6)).</a:t>
            </a:r>
            <a:endParaRPr lang="es-PE" sz="1500" dirty="0"/>
          </a:p>
          <a:p>
            <a:pPr marL="363538" marR="0" lvl="1" indent="-177800"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Las condiciones atómicas no contienen operadores lógicos, sólo contienen operadores relacionales y el operador NOT (=, &gt;, &lt;, etc.).</a:t>
            </a:r>
            <a:endParaRPr lang="es-PE" sz="1500" dirty="0"/>
          </a:p>
          <a:p>
            <a:pPr marL="295275" marR="0" lvl="0" indent="-184150" algn="l" rtl="0">
              <a:spcBef>
                <a:spcPts val="0"/>
              </a:spcBef>
              <a:spcAft>
                <a:spcPts val="0"/>
              </a:spcAft>
              <a:buClr>
                <a:schemeClr val="dk1"/>
              </a:buClr>
              <a:buSzPts val="1600"/>
              <a:buFont typeface="Arial"/>
              <a:buNone/>
            </a:pPr>
            <a:endParaRPr lang="es-PE" sz="1500" dirty="0">
              <a:solidFill>
                <a:schemeClr val="dk1"/>
              </a:solidFill>
              <a:latin typeface="Calibri"/>
              <a:ea typeface="Calibri"/>
              <a:cs typeface="Calibri"/>
              <a:sym typeface="Calibri"/>
            </a:endParaRPr>
          </a:p>
          <a:p>
            <a:pPr marL="134938" marR="0" lvl="0" indent="-125413" algn="l" rtl="0">
              <a:spcBef>
                <a:spcPts val="0"/>
              </a:spcBef>
              <a:spcAft>
                <a:spcPts val="0"/>
              </a:spcAft>
              <a:buClr>
                <a:schemeClr val="dk1"/>
              </a:buClr>
              <a:buSzPts val="1600"/>
              <a:buFont typeface="Arial"/>
              <a:buChar char="•"/>
            </a:pPr>
            <a:r>
              <a:rPr lang="es-PE" sz="1500" dirty="0">
                <a:solidFill>
                  <a:schemeClr val="dk1"/>
                </a:solidFill>
                <a:latin typeface="Calibri"/>
                <a:ea typeface="Calibri"/>
                <a:cs typeface="Calibri"/>
                <a:sym typeface="Calibri"/>
              </a:rPr>
              <a:t>Hay dos tipos de cobertura de condición.</a:t>
            </a:r>
            <a:endParaRPr lang="es-PE" sz="1500" dirty="0"/>
          </a:p>
          <a:p>
            <a:pPr marL="363538" marR="0" lvl="1" indent="-230188"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Cobertura de condición simple.</a:t>
            </a:r>
            <a:endParaRPr lang="es-PE" sz="1500" dirty="0"/>
          </a:p>
          <a:p>
            <a:pPr marL="363538" marR="0" lvl="1" indent="-230188" algn="l" rtl="0">
              <a:spcBef>
                <a:spcPts val="0"/>
              </a:spcBef>
              <a:spcAft>
                <a:spcPts val="0"/>
              </a:spcAft>
              <a:buClr>
                <a:schemeClr val="dk1"/>
              </a:buClr>
              <a:buSzPts val="1600"/>
              <a:buFont typeface="Arial"/>
              <a:buChar char="•"/>
            </a:pPr>
            <a:r>
              <a:rPr lang="es-PE" sz="1500" b="0" i="0" u="none" strike="noStrike" cap="none" dirty="0">
                <a:solidFill>
                  <a:schemeClr val="dk1"/>
                </a:solidFill>
                <a:latin typeface="Calibri"/>
                <a:ea typeface="Calibri"/>
                <a:cs typeface="Calibri"/>
                <a:sym typeface="Calibri"/>
              </a:rPr>
              <a:t>Cobertura de condición múltiple.</a:t>
            </a:r>
            <a:endParaRPr lang="es-PE"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6" name="Rectangle 5">
            <a:extLst>
              <a:ext uri="{FF2B5EF4-FFF2-40B4-BE49-F238E27FC236}">
                <a16:creationId xmlns:a16="http://schemas.microsoft.com/office/drawing/2014/main" id="{92A40B3B-7331-FE4B-8C79-F2B4D43DC31C}"/>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TÉCNICAS DE CAJA BLANCA O BASADAS EN LA ESTRUCTURA</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7" name="Grupo 6">
            <a:extLst>
              <a:ext uri="{FF2B5EF4-FFF2-40B4-BE49-F238E27FC236}">
                <a16:creationId xmlns:a16="http://schemas.microsoft.com/office/drawing/2014/main" id="{AAC3315B-5228-854F-B2E6-8141ACC01879}"/>
              </a:ext>
            </a:extLst>
          </p:cNvPr>
          <p:cNvGrpSpPr/>
          <p:nvPr/>
        </p:nvGrpSpPr>
        <p:grpSpPr>
          <a:xfrm>
            <a:off x="1088427" y="1588546"/>
            <a:ext cx="6776161" cy="2793985"/>
            <a:chOff x="1075934" y="1843779"/>
            <a:chExt cx="6776161" cy="2793985"/>
          </a:xfrm>
        </p:grpSpPr>
        <p:sp>
          <p:nvSpPr>
            <p:cNvPr id="8" name="Google Shape;333;p23">
              <a:extLst>
                <a:ext uri="{FF2B5EF4-FFF2-40B4-BE49-F238E27FC236}">
                  <a16:creationId xmlns:a16="http://schemas.microsoft.com/office/drawing/2014/main" id="{758581CD-B384-EC4D-A389-CFF5A6CC58F5}"/>
                </a:ext>
              </a:extLst>
            </p:cNvPr>
            <p:cNvSpPr/>
            <p:nvPr/>
          </p:nvSpPr>
          <p:spPr>
            <a:xfrm>
              <a:off x="4676455" y="1843779"/>
              <a:ext cx="3175640" cy="501005"/>
            </a:xfrm>
            <a:prstGeom prst="roundRect">
              <a:avLst>
                <a:gd name="adj" fmla="val 18326"/>
              </a:avLst>
            </a:prstGeom>
            <a:solidFill>
              <a:srgbClr val="EE463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400" b="1" dirty="0">
                  <a:solidFill>
                    <a:schemeClr val="lt1"/>
                  </a:solidFill>
                  <a:latin typeface="Calibri"/>
                  <a:ea typeface="Calibri"/>
                  <a:cs typeface="Calibri"/>
                  <a:sym typeface="Calibri"/>
                </a:rPr>
                <a:t>MÚLTIPLE</a:t>
              </a:r>
            </a:p>
          </p:txBody>
        </p:sp>
        <p:sp>
          <p:nvSpPr>
            <p:cNvPr id="9" name="Google Shape;335;p23">
              <a:extLst>
                <a:ext uri="{FF2B5EF4-FFF2-40B4-BE49-F238E27FC236}">
                  <a16:creationId xmlns:a16="http://schemas.microsoft.com/office/drawing/2014/main" id="{EAD4C48B-49EE-6348-8546-B4C4338B2D3E}"/>
                </a:ext>
              </a:extLst>
            </p:cNvPr>
            <p:cNvSpPr/>
            <p:nvPr/>
          </p:nvSpPr>
          <p:spPr>
            <a:xfrm>
              <a:off x="4676455" y="2418330"/>
              <a:ext cx="3175640" cy="2219434"/>
            </a:xfrm>
            <a:prstGeom prst="roundRect">
              <a:avLst>
                <a:gd name="adj" fmla="val 5160"/>
              </a:avLst>
            </a:prstGeom>
            <a:solidFill>
              <a:srgbClr val="FFD8D4"/>
            </a:solidFill>
            <a:ln>
              <a:noFill/>
            </a:ln>
          </p:spPr>
          <p:txBody>
            <a:bodyPr spcFirstLastPara="1" wrap="square" lIns="108000" tIns="108000" rIns="108000" bIns="45700" anchor="t" anchorCtr="0">
              <a:noAutofit/>
            </a:bodyPr>
            <a:lstStyle/>
            <a:p>
              <a:pPr marL="222250" indent="-134938">
                <a:buClr>
                  <a:srgbClr val="00B1C2"/>
                </a:buClr>
                <a:buSzPct val="100000"/>
                <a:buFont typeface="Arial" panose="020B0604020202020204" pitchFamily="34" charset="0"/>
                <a:buChar char="•"/>
              </a:pPr>
              <a:endParaRPr lang="es-ES_tradnl" sz="1400" dirty="0">
                <a:latin typeface="Calibri" panose="020F0502020204030204" pitchFamily="34" charset="0"/>
                <a:ea typeface="+mj-lt"/>
                <a:cs typeface="Calibri" panose="020F0502020204030204" pitchFamily="34" charset="0"/>
                <a:sym typeface="Calibri"/>
              </a:endParaRPr>
            </a:p>
          </p:txBody>
        </p:sp>
        <p:grpSp>
          <p:nvGrpSpPr>
            <p:cNvPr id="10" name="Agrupar 9">
              <a:extLst>
                <a:ext uri="{FF2B5EF4-FFF2-40B4-BE49-F238E27FC236}">
                  <a16:creationId xmlns:a16="http://schemas.microsoft.com/office/drawing/2014/main" id="{85984666-8456-8740-8B18-A1C2B14DFE82}"/>
                </a:ext>
              </a:extLst>
            </p:cNvPr>
            <p:cNvGrpSpPr/>
            <p:nvPr/>
          </p:nvGrpSpPr>
          <p:grpSpPr>
            <a:xfrm>
              <a:off x="4460689" y="1892408"/>
              <a:ext cx="459474" cy="403823"/>
              <a:chOff x="5892512" y="2805541"/>
              <a:chExt cx="459474" cy="403823"/>
            </a:xfrm>
          </p:grpSpPr>
          <p:sp>
            <p:nvSpPr>
              <p:cNvPr id="17" name="Elipse 16">
                <a:extLst>
                  <a:ext uri="{FF2B5EF4-FFF2-40B4-BE49-F238E27FC236}">
                    <a16:creationId xmlns:a16="http://schemas.microsoft.com/office/drawing/2014/main" id="{0AA86BBB-E2D5-A94C-ADA8-D93DB2D27696}"/>
                  </a:ext>
                </a:extLst>
              </p:cNvPr>
              <p:cNvSpPr/>
              <p:nvPr/>
            </p:nvSpPr>
            <p:spPr>
              <a:xfrm>
                <a:off x="5956277" y="2824919"/>
                <a:ext cx="395709" cy="376075"/>
              </a:xfrm>
              <a:prstGeom prst="ellipse">
                <a:avLst/>
              </a:prstGeom>
              <a:solidFill>
                <a:srgbClr val="CE3A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8" name="Elipse 17">
                <a:extLst>
                  <a:ext uri="{FF2B5EF4-FFF2-40B4-BE49-F238E27FC236}">
                    <a16:creationId xmlns:a16="http://schemas.microsoft.com/office/drawing/2014/main" id="{F76E9FE1-98FB-BE4F-A49F-0CBA2F6CE999}"/>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9" name="Triángulo 18">
                <a:extLst>
                  <a:ext uri="{FF2B5EF4-FFF2-40B4-BE49-F238E27FC236}">
                    <a16:creationId xmlns:a16="http://schemas.microsoft.com/office/drawing/2014/main" id="{D3F9B8E4-F92F-C441-8BA1-A46FD2DA5997}"/>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sp>
          <p:nvSpPr>
            <p:cNvPr id="11" name="Google Shape;332;p23">
              <a:extLst>
                <a:ext uri="{FF2B5EF4-FFF2-40B4-BE49-F238E27FC236}">
                  <a16:creationId xmlns:a16="http://schemas.microsoft.com/office/drawing/2014/main" id="{91621B01-ED01-624D-8E1F-5BA8306183A1}"/>
                </a:ext>
              </a:extLst>
            </p:cNvPr>
            <p:cNvSpPr/>
            <p:nvPr/>
          </p:nvSpPr>
          <p:spPr>
            <a:xfrm>
              <a:off x="1290849" y="1843779"/>
              <a:ext cx="3175640" cy="501005"/>
            </a:xfrm>
            <a:prstGeom prst="roundRect">
              <a:avLst>
                <a:gd name="adj" fmla="val 18326"/>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s-PE" sz="1600" b="1" dirty="0">
                  <a:solidFill>
                    <a:schemeClr val="lt1"/>
                  </a:solidFill>
                  <a:latin typeface="Calibri"/>
                  <a:ea typeface="Calibri"/>
                  <a:cs typeface="Calibri"/>
                  <a:sym typeface="Calibri"/>
                </a:rPr>
                <a:t>SIMPLE</a:t>
              </a:r>
            </a:p>
          </p:txBody>
        </p:sp>
        <p:sp>
          <p:nvSpPr>
            <p:cNvPr id="12" name="Google Shape;334;p23">
              <a:extLst>
                <a:ext uri="{FF2B5EF4-FFF2-40B4-BE49-F238E27FC236}">
                  <a16:creationId xmlns:a16="http://schemas.microsoft.com/office/drawing/2014/main" id="{011811AD-EDB1-3D40-991E-0938121ED480}"/>
                </a:ext>
              </a:extLst>
            </p:cNvPr>
            <p:cNvSpPr/>
            <p:nvPr/>
          </p:nvSpPr>
          <p:spPr>
            <a:xfrm>
              <a:off x="1290849" y="2418330"/>
              <a:ext cx="3175640" cy="2219433"/>
            </a:xfrm>
            <a:prstGeom prst="roundRect">
              <a:avLst>
                <a:gd name="adj" fmla="val 4330"/>
              </a:avLst>
            </a:prstGeom>
            <a:solidFill>
              <a:srgbClr val="DDEEC7"/>
            </a:solidFill>
            <a:ln>
              <a:noFill/>
            </a:ln>
          </p:spPr>
          <p:txBody>
            <a:bodyPr spcFirstLastPara="1" wrap="square" lIns="108000" tIns="108000" rIns="108000" bIns="45700" anchor="t" anchorCtr="0">
              <a:noAutofit/>
            </a:bodyPr>
            <a:lstStyle/>
            <a:p>
              <a:pPr marL="9525" lvl="1" defTabSz="457200">
                <a:buClr>
                  <a:srgbClr val="92C14E"/>
                </a:buClr>
                <a:buSzPct val="100000"/>
                <a:tabLst>
                  <a:tab pos="3228975" algn="l"/>
                </a:tabLst>
              </a:pPr>
              <a:endParaRPr lang="es-PE" sz="1400" dirty="0">
                <a:solidFill>
                  <a:srgbClr val="262626"/>
                </a:solidFill>
                <a:latin typeface="Calibri"/>
                <a:ea typeface="+mn-ea"/>
                <a:cs typeface="Calibri"/>
                <a:sym typeface="Calibri"/>
              </a:endParaRPr>
            </a:p>
          </p:txBody>
        </p:sp>
        <p:grpSp>
          <p:nvGrpSpPr>
            <p:cNvPr id="13" name="Agrupar 4">
              <a:extLst>
                <a:ext uri="{FF2B5EF4-FFF2-40B4-BE49-F238E27FC236}">
                  <a16:creationId xmlns:a16="http://schemas.microsoft.com/office/drawing/2014/main" id="{525B5FE6-D9EF-094E-BC1F-9587F83A6B12}"/>
                </a:ext>
              </a:extLst>
            </p:cNvPr>
            <p:cNvGrpSpPr/>
            <p:nvPr/>
          </p:nvGrpSpPr>
          <p:grpSpPr>
            <a:xfrm>
              <a:off x="1075934" y="1892408"/>
              <a:ext cx="459474" cy="403823"/>
              <a:chOff x="5892512" y="2805541"/>
              <a:chExt cx="459474" cy="403823"/>
            </a:xfrm>
          </p:grpSpPr>
          <p:sp>
            <p:nvSpPr>
              <p:cNvPr id="14" name="Elipse 13">
                <a:extLst>
                  <a:ext uri="{FF2B5EF4-FFF2-40B4-BE49-F238E27FC236}">
                    <a16:creationId xmlns:a16="http://schemas.microsoft.com/office/drawing/2014/main" id="{1F7A41CC-EBD5-344F-AF53-BDCDA2E5013B}"/>
                  </a:ext>
                </a:extLst>
              </p:cNvPr>
              <p:cNvSpPr/>
              <p:nvPr/>
            </p:nvSpPr>
            <p:spPr>
              <a:xfrm>
                <a:off x="5956277" y="2824919"/>
                <a:ext cx="395709" cy="376075"/>
              </a:xfrm>
              <a:prstGeom prst="ellipse">
                <a:avLst/>
              </a:prstGeom>
              <a:solidFill>
                <a:srgbClr val="7CA5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5" name="Elipse 14">
                <a:extLst>
                  <a:ext uri="{FF2B5EF4-FFF2-40B4-BE49-F238E27FC236}">
                    <a16:creationId xmlns:a16="http://schemas.microsoft.com/office/drawing/2014/main" id="{F4C3AE7E-3D22-FE49-A14F-610AEF23EE61}"/>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sp>
            <p:nvSpPr>
              <p:cNvPr id="16" name="Triángulo 15">
                <a:extLst>
                  <a:ext uri="{FF2B5EF4-FFF2-40B4-BE49-F238E27FC236}">
                    <a16:creationId xmlns:a16="http://schemas.microsoft.com/office/drawing/2014/main" id="{CBD65F37-11D9-CD4F-996E-5C6751D1E7E5}"/>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400" dirty="0">
                  <a:latin typeface="Calibri" panose="020F0502020204030204" pitchFamily="34" charset="0"/>
                </a:endParaRPr>
              </a:p>
            </p:txBody>
          </p:sp>
        </p:grpSp>
      </p:grpSp>
      <p:graphicFrame>
        <p:nvGraphicFramePr>
          <p:cNvPr id="20" name="13 Tabla">
            <a:extLst>
              <a:ext uri="{FF2B5EF4-FFF2-40B4-BE49-F238E27FC236}">
                <a16:creationId xmlns:a16="http://schemas.microsoft.com/office/drawing/2014/main" id="{FF50AF13-BA44-6F40-9DA4-2E650FDAC306}"/>
              </a:ext>
            </a:extLst>
          </p:cNvPr>
          <p:cNvGraphicFramePr>
            <a:graphicFrameLocks noGrp="1"/>
          </p:cNvGraphicFramePr>
          <p:nvPr>
            <p:extLst>
              <p:ext uri="{D42A27DB-BD31-4B8C-83A1-F6EECF244321}">
                <p14:modId xmlns:p14="http://schemas.microsoft.com/office/powerpoint/2010/main" val="1637580919"/>
              </p:ext>
            </p:extLst>
          </p:nvPr>
        </p:nvGraphicFramePr>
        <p:xfrm>
          <a:off x="1408268" y="2609977"/>
          <a:ext cx="2965788" cy="1071672"/>
        </p:xfrm>
        <a:graphic>
          <a:graphicData uri="http://schemas.openxmlformats.org/drawingml/2006/table">
            <a:tbl>
              <a:tblPr firstRow="1" bandRow="1">
                <a:tableStyleId>{5C22544A-7EE6-4342-B048-85BDC9FD1C3A}</a:tableStyleId>
              </a:tblPr>
              <a:tblGrid>
                <a:gridCol w="759691">
                  <a:extLst>
                    <a:ext uri="{9D8B030D-6E8A-4147-A177-3AD203B41FA5}">
                      <a16:colId xmlns:a16="http://schemas.microsoft.com/office/drawing/2014/main" val="20000"/>
                    </a:ext>
                  </a:extLst>
                </a:gridCol>
                <a:gridCol w="850900">
                  <a:extLst>
                    <a:ext uri="{9D8B030D-6E8A-4147-A177-3AD203B41FA5}">
                      <a16:colId xmlns:a16="http://schemas.microsoft.com/office/drawing/2014/main" val="20001"/>
                    </a:ext>
                  </a:extLst>
                </a:gridCol>
                <a:gridCol w="1355197">
                  <a:extLst>
                    <a:ext uri="{9D8B030D-6E8A-4147-A177-3AD203B41FA5}">
                      <a16:colId xmlns:a16="http://schemas.microsoft.com/office/drawing/2014/main" val="20002"/>
                    </a:ext>
                  </a:extLst>
                </a:gridCol>
              </a:tblGrid>
              <a:tr h="580242">
                <a:tc gridSpan="3">
                  <a:txBody>
                    <a:bodyPr/>
                    <a:lstStyle/>
                    <a:p>
                      <a:pPr algn="ctr"/>
                      <a:r>
                        <a:rPr lang="es-PE" sz="900" dirty="0">
                          <a:latin typeface="Calibri" charset="0"/>
                          <a:ea typeface="Calibri" charset="0"/>
                          <a:cs typeface="Calibri" charset="0"/>
                        </a:rPr>
                        <a:t>Considere la siguiente condición</a:t>
                      </a:r>
                    </a:p>
                    <a:p>
                      <a:pPr algn="ctr"/>
                      <a:r>
                        <a:rPr lang="es-PE" sz="900" dirty="0">
                          <a:latin typeface="Calibri" charset="0"/>
                          <a:ea typeface="Calibri" charset="0"/>
                          <a:cs typeface="Calibri" charset="0"/>
                        </a:rPr>
                        <a:t>a &gt; 2 OR b &lt; 6</a:t>
                      </a:r>
                    </a:p>
                    <a:p>
                      <a:pPr algn="ctr"/>
                      <a:r>
                        <a:rPr lang="es-PE" sz="900" dirty="0">
                          <a:latin typeface="Calibri" charset="0"/>
                          <a:ea typeface="Calibri" charset="0"/>
                          <a:cs typeface="Calibri" charset="0"/>
                        </a:rPr>
                        <a:t>Ejemplos de casos de prueba para</a:t>
                      </a:r>
                    </a:p>
                    <a:p>
                      <a:pPr algn="ctr"/>
                      <a:r>
                        <a:rPr lang="es-PE" sz="900" dirty="0">
                          <a:latin typeface="Calibri" charset="0"/>
                          <a:ea typeface="Calibri" charset="0"/>
                          <a:cs typeface="Calibri" charset="0"/>
                        </a:rPr>
                        <a:t>cobertura de condición simple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es-PE" sz="1300" dirty="0">
                        <a:latin typeface="Calibri" charset="0"/>
                        <a:ea typeface="Calibri" charset="0"/>
                        <a:cs typeface="Calibri" charset="0"/>
                      </a:endParaRPr>
                    </a:p>
                  </a:txBody>
                  <a:tcPr marL="82902" marR="82902" marT="41452" marB="41452" anchor="ctr">
                    <a:lnL w="12700" cap="flat" cmpd="sng" algn="ctr">
                      <a:solidFill>
                        <a:srgbClr val="92C34D"/>
                      </a:solidFill>
                      <a:prstDash val="solid"/>
                      <a:round/>
                      <a:headEnd type="none" w="med" len="med"/>
                      <a:tailEnd type="none" w="med" len="med"/>
                    </a:lnL>
                    <a:lnR w="12700" cap="flat" cmpd="sng" algn="ctr">
                      <a:solidFill>
                        <a:srgbClr val="92C34D"/>
                      </a:solidFill>
                      <a:prstDash val="solid"/>
                      <a:round/>
                      <a:headEnd type="none" w="med" len="med"/>
                      <a:tailEnd type="none" w="med" len="med"/>
                    </a:lnR>
                    <a:lnT w="12700" cap="flat" cmpd="sng" algn="ctr">
                      <a:solidFill>
                        <a:srgbClr val="92C34D"/>
                      </a:solidFill>
                      <a:prstDash val="solid"/>
                      <a:round/>
                      <a:headEnd type="none" w="med" len="med"/>
                      <a:tailEnd type="none" w="med" len="med"/>
                    </a:lnT>
                    <a:lnB w="12700" cap="flat" cmpd="sng" algn="ctr">
                      <a:solidFill>
                        <a:srgbClr val="92C34D"/>
                      </a:solidFill>
                      <a:prstDash val="solid"/>
                      <a:round/>
                      <a:headEnd type="none" w="med" len="med"/>
                      <a:tailEnd type="none" w="med" len="med"/>
                    </a:lnB>
                    <a:solidFill>
                      <a:srgbClr val="8EC540"/>
                    </a:solidFill>
                  </a:tcPr>
                </a:tc>
                <a:tc hMerge="1">
                  <a:txBody>
                    <a:bodyPr/>
                    <a:lstStyle/>
                    <a:p>
                      <a:pPr algn="ctr"/>
                      <a:endParaRPr lang="es-PE" sz="1300" dirty="0">
                        <a:latin typeface="Calibri" charset="0"/>
                        <a:ea typeface="Calibri" charset="0"/>
                        <a:cs typeface="Calibri" charset="0"/>
                      </a:endParaRPr>
                    </a:p>
                  </a:txBody>
                  <a:tcPr marL="82902" marR="82902" marT="41452" marB="41452" anchor="ctr">
                    <a:lnL w="12700" cap="flat" cmpd="sng" algn="ctr">
                      <a:solidFill>
                        <a:srgbClr val="92C34D"/>
                      </a:solidFill>
                      <a:prstDash val="solid"/>
                      <a:round/>
                      <a:headEnd type="none" w="med" len="med"/>
                      <a:tailEnd type="none" w="med" len="med"/>
                    </a:lnL>
                    <a:lnR w="12700" cap="flat" cmpd="sng" algn="ctr">
                      <a:solidFill>
                        <a:srgbClr val="92C34D"/>
                      </a:solidFill>
                      <a:prstDash val="solid"/>
                      <a:round/>
                      <a:headEnd type="none" w="med" len="med"/>
                      <a:tailEnd type="none" w="med" len="med"/>
                    </a:lnR>
                    <a:lnT w="12700" cap="flat" cmpd="sng" algn="ctr">
                      <a:solidFill>
                        <a:srgbClr val="92C34D"/>
                      </a:solidFill>
                      <a:prstDash val="solid"/>
                      <a:round/>
                      <a:headEnd type="none" w="med" len="med"/>
                      <a:tailEnd type="none" w="med" len="med"/>
                    </a:lnT>
                    <a:lnB w="12700" cap="flat" cmpd="sng" algn="ctr">
                      <a:solidFill>
                        <a:srgbClr val="92C34D"/>
                      </a:solidFill>
                      <a:prstDash val="solid"/>
                      <a:round/>
                      <a:headEnd type="none" w="med" len="med"/>
                      <a:tailEnd type="none" w="med" len="med"/>
                    </a:lnB>
                    <a:solidFill>
                      <a:srgbClr val="8EC540"/>
                    </a:solidFill>
                  </a:tcPr>
                </a:tc>
                <a:extLst>
                  <a:ext uri="{0D108BD9-81ED-4DB2-BD59-A6C34878D82A}">
                    <a16:rowId xmlns:a16="http://schemas.microsoft.com/office/drawing/2014/main" val="10000"/>
                  </a:ext>
                </a:extLst>
              </a:tr>
              <a:tr h="215219">
                <a:tc>
                  <a:txBody>
                    <a:bodyPr/>
                    <a:lstStyle/>
                    <a:p>
                      <a:pPr algn="ctr"/>
                      <a:r>
                        <a:rPr lang="es-PE" sz="900" noProof="0" dirty="0">
                          <a:latin typeface="Calibri" charset="0"/>
                          <a:ea typeface="Calibri" charset="0"/>
                          <a:cs typeface="Calibri" charset="0"/>
                        </a:rPr>
                        <a:t>a = 3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b = 7 (false)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a &gt; 2 OR b &lt; 6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extLst>
                  <a:ext uri="{0D108BD9-81ED-4DB2-BD59-A6C34878D82A}">
                    <a16:rowId xmlns:a16="http://schemas.microsoft.com/office/drawing/2014/main" val="10001"/>
                  </a:ext>
                </a:extLst>
              </a:tr>
              <a:tr h="210030">
                <a:tc>
                  <a:txBody>
                    <a:bodyPr/>
                    <a:lstStyle/>
                    <a:p>
                      <a:pPr algn="ctr"/>
                      <a:r>
                        <a:rPr lang="es-PE" sz="900" dirty="0">
                          <a:latin typeface="Calibri" charset="0"/>
                          <a:ea typeface="Calibri" charset="0"/>
                          <a:cs typeface="Calibri" charset="0"/>
                        </a:rPr>
                        <a:t>a = 1 (false)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b = 5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a &gt; 2 OR b &lt; 6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extLst>
                  <a:ext uri="{0D108BD9-81ED-4DB2-BD59-A6C34878D82A}">
                    <a16:rowId xmlns:a16="http://schemas.microsoft.com/office/drawing/2014/main" val="10002"/>
                  </a:ext>
                </a:extLst>
              </a:tr>
            </a:tbl>
          </a:graphicData>
        </a:graphic>
      </p:graphicFrame>
      <p:graphicFrame>
        <p:nvGraphicFramePr>
          <p:cNvPr id="21" name="13 Tabla">
            <a:extLst>
              <a:ext uri="{FF2B5EF4-FFF2-40B4-BE49-F238E27FC236}">
                <a16:creationId xmlns:a16="http://schemas.microsoft.com/office/drawing/2014/main" id="{367086FD-9218-6443-816B-D5394C780F11}"/>
              </a:ext>
            </a:extLst>
          </p:cNvPr>
          <p:cNvGraphicFramePr>
            <a:graphicFrameLocks noGrp="1"/>
          </p:cNvGraphicFramePr>
          <p:nvPr>
            <p:extLst>
              <p:ext uri="{D42A27DB-BD31-4B8C-83A1-F6EECF244321}">
                <p14:modId xmlns:p14="http://schemas.microsoft.com/office/powerpoint/2010/main" val="352729163"/>
              </p:ext>
            </p:extLst>
          </p:nvPr>
        </p:nvGraphicFramePr>
        <p:xfrm>
          <a:off x="4793874" y="2389913"/>
          <a:ext cx="2965788" cy="1511800"/>
        </p:xfrm>
        <a:graphic>
          <a:graphicData uri="http://schemas.openxmlformats.org/drawingml/2006/table">
            <a:tbl>
              <a:tblPr firstRow="1" bandRow="1">
                <a:tableStyleId>{5C22544A-7EE6-4342-B048-85BDC9FD1C3A}</a:tableStyleId>
              </a:tblPr>
              <a:tblGrid>
                <a:gridCol w="759691">
                  <a:extLst>
                    <a:ext uri="{9D8B030D-6E8A-4147-A177-3AD203B41FA5}">
                      <a16:colId xmlns:a16="http://schemas.microsoft.com/office/drawing/2014/main" val="20000"/>
                    </a:ext>
                  </a:extLst>
                </a:gridCol>
                <a:gridCol w="850900">
                  <a:extLst>
                    <a:ext uri="{9D8B030D-6E8A-4147-A177-3AD203B41FA5}">
                      <a16:colId xmlns:a16="http://schemas.microsoft.com/office/drawing/2014/main" val="20001"/>
                    </a:ext>
                  </a:extLst>
                </a:gridCol>
                <a:gridCol w="1355197">
                  <a:extLst>
                    <a:ext uri="{9D8B030D-6E8A-4147-A177-3AD203B41FA5}">
                      <a16:colId xmlns:a16="http://schemas.microsoft.com/office/drawing/2014/main" val="20002"/>
                    </a:ext>
                  </a:extLst>
                </a:gridCol>
              </a:tblGrid>
              <a:tr h="580242">
                <a:tc gridSpan="3">
                  <a:txBody>
                    <a:bodyPr/>
                    <a:lstStyle/>
                    <a:p>
                      <a:pPr algn="ctr"/>
                      <a:r>
                        <a:rPr lang="es-PE" sz="900" dirty="0">
                          <a:latin typeface="Calibri" charset="0"/>
                          <a:ea typeface="Calibri" charset="0"/>
                          <a:cs typeface="Calibri" charset="0"/>
                        </a:rPr>
                        <a:t>Considere la siguiente condición</a:t>
                      </a:r>
                    </a:p>
                    <a:p>
                      <a:pPr algn="ctr"/>
                      <a:r>
                        <a:rPr lang="es-PE" sz="900" dirty="0">
                          <a:latin typeface="Calibri" charset="0"/>
                          <a:ea typeface="Calibri" charset="0"/>
                          <a:cs typeface="Calibri" charset="0"/>
                        </a:rPr>
                        <a:t>a &gt; 2 OR b &lt; 6</a:t>
                      </a:r>
                    </a:p>
                    <a:p>
                      <a:pPr algn="ctr"/>
                      <a:r>
                        <a:rPr lang="es-PE" sz="900" dirty="0">
                          <a:latin typeface="Calibri" charset="0"/>
                          <a:ea typeface="Calibri" charset="0"/>
                          <a:cs typeface="Calibri" charset="0"/>
                        </a:rPr>
                        <a:t>Ejemplos de casos de prueba para</a:t>
                      </a:r>
                    </a:p>
                    <a:p>
                      <a:pPr algn="ctr"/>
                      <a:r>
                        <a:rPr lang="es-PE" sz="900" dirty="0">
                          <a:latin typeface="Calibri" charset="0"/>
                          <a:ea typeface="Calibri" charset="0"/>
                          <a:cs typeface="Calibri" charset="0"/>
                        </a:rPr>
                        <a:t>cobertura de condición multiple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es-PE" sz="1300" dirty="0">
                        <a:latin typeface="Calibri" charset="0"/>
                        <a:ea typeface="Calibri" charset="0"/>
                        <a:cs typeface="Calibri" charset="0"/>
                      </a:endParaRPr>
                    </a:p>
                  </a:txBody>
                  <a:tcPr marL="82902" marR="82902" marT="41452" marB="41452" anchor="ctr">
                    <a:lnL w="12700" cap="flat" cmpd="sng" algn="ctr">
                      <a:solidFill>
                        <a:srgbClr val="92C34D"/>
                      </a:solidFill>
                      <a:prstDash val="solid"/>
                      <a:round/>
                      <a:headEnd type="none" w="med" len="med"/>
                      <a:tailEnd type="none" w="med" len="med"/>
                    </a:lnL>
                    <a:lnR w="12700" cap="flat" cmpd="sng" algn="ctr">
                      <a:solidFill>
                        <a:srgbClr val="92C34D"/>
                      </a:solidFill>
                      <a:prstDash val="solid"/>
                      <a:round/>
                      <a:headEnd type="none" w="med" len="med"/>
                      <a:tailEnd type="none" w="med" len="med"/>
                    </a:lnR>
                    <a:lnT w="12700" cap="flat" cmpd="sng" algn="ctr">
                      <a:solidFill>
                        <a:srgbClr val="92C34D"/>
                      </a:solidFill>
                      <a:prstDash val="solid"/>
                      <a:round/>
                      <a:headEnd type="none" w="med" len="med"/>
                      <a:tailEnd type="none" w="med" len="med"/>
                    </a:lnT>
                    <a:lnB w="12700" cap="flat" cmpd="sng" algn="ctr">
                      <a:solidFill>
                        <a:srgbClr val="92C34D"/>
                      </a:solidFill>
                      <a:prstDash val="solid"/>
                      <a:round/>
                      <a:headEnd type="none" w="med" len="med"/>
                      <a:tailEnd type="none" w="med" len="med"/>
                    </a:lnB>
                    <a:solidFill>
                      <a:srgbClr val="8EC540"/>
                    </a:solidFill>
                  </a:tcPr>
                </a:tc>
                <a:tc hMerge="1">
                  <a:txBody>
                    <a:bodyPr/>
                    <a:lstStyle/>
                    <a:p>
                      <a:pPr algn="ctr"/>
                      <a:endParaRPr lang="es-PE" sz="1300" dirty="0">
                        <a:latin typeface="Calibri" charset="0"/>
                        <a:ea typeface="Calibri" charset="0"/>
                        <a:cs typeface="Calibri" charset="0"/>
                      </a:endParaRPr>
                    </a:p>
                  </a:txBody>
                  <a:tcPr marL="82902" marR="82902" marT="41452" marB="41452" anchor="ctr">
                    <a:lnL w="12700" cap="flat" cmpd="sng" algn="ctr">
                      <a:solidFill>
                        <a:srgbClr val="92C34D"/>
                      </a:solidFill>
                      <a:prstDash val="solid"/>
                      <a:round/>
                      <a:headEnd type="none" w="med" len="med"/>
                      <a:tailEnd type="none" w="med" len="med"/>
                    </a:lnL>
                    <a:lnR w="12700" cap="flat" cmpd="sng" algn="ctr">
                      <a:solidFill>
                        <a:srgbClr val="92C34D"/>
                      </a:solidFill>
                      <a:prstDash val="solid"/>
                      <a:round/>
                      <a:headEnd type="none" w="med" len="med"/>
                      <a:tailEnd type="none" w="med" len="med"/>
                    </a:lnR>
                    <a:lnT w="12700" cap="flat" cmpd="sng" algn="ctr">
                      <a:solidFill>
                        <a:srgbClr val="92C34D"/>
                      </a:solidFill>
                      <a:prstDash val="solid"/>
                      <a:round/>
                      <a:headEnd type="none" w="med" len="med"/>
                      <a:tailEnd type="none" w="med" len="med"/>
                    </a:lnT>
                    <a:lnB w="12700" cap="flat" cmpd="sng" algn="ctr">
                      <a:solidFill>
                        <a:srgbClr val="92C34D"/>
                      </a:solidFill>
                      <a:prstDash val="solid"/>
                      <a:round/>
                      <a:headEnd type="none" w="med" len="med"/>
                      <a:tailEnd type="none" w="med" len="med"/>
                    </a:lnB>
                    <a:solidFill>
                      <a:srgbClr val="8EC540"/>
                    </a:solidFill>
                  </a:tcPr>
                </a:tc>
                <a:extLst>
                  <a:ext uri="{0D108BD9-81ED-4DB2-BD59-A6C34878D82A}">
                    <a16:rowId xmlns:a16="http://schemas.microsoft.com/office/drawing/2014/main" val="10000"/>
                  </a:ext>
                </a:extLst>
              </a:tr>
              <a:tr h="215219">
                <a:tc>
                  <a:txBody>
                    <a:bodyPr/>
                    <a:lstStyle/>
                    <a:p>
                      <a:pPr algn="ctr"/>
                      <a:r>
                        <a:rPr lang="es-PE" sz="900" noProof="0" dirty="0">
                          <a:latin typeface="Calibri" charset="0"/>
                          <a:ea typeface="Calibri" charset="0"/>
                          <a:cs typeface="Calibri" charset="0"/>
                        </a:rPr>
                        <a:t>a = 3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b = 7 (false)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a &gt; 2 OR b &lt; 6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extLst>
                  <a:ext uri="{0D108BD9-81ED-4DB2-BD59-A6C34878D82A}">
                    <a16:rowId xmlns:a16="http://schemas.microsoft.com/office/drawing/2014/main" val="10001"/>
                  </a:ext>
                </a:extLst>
              </a:tr>
              <a:tr h="215219">
                <a:tc>
                  <a:txBody>
                    <a:bodyPr/>
                    <a:lstStyle/>
                    <a:p>
                      <a:pPr algn="ctr"/>
                      <a:r>
                        <a:rPr lang="es-PE" sz="900" noProof="0" dirty="0">
                          <a:latin typeface="Calibri" charset="0"/>
                          <a:ea typeface="Calibri" charset="0"/>
                          <a:cs typeface="Calibri" charset="0"/>
                        </a:rPr>
                        <a:t>a = 3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b = 5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a &gt; 2 OR b &lt; 6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extLst>
                  <a:ext uri="{0D108BD9-81ED-4DB2-BD59-A6C34878D82A}">
                    <a16:rowId xmlns:a16="http://schemas.microsoft.com/office/drawing/2014/main" val="197058923"/>
                  </a:ext>
                </a:extLst>
              </a:tr>
              <a:tr h="210030">
                <a:tc>
                  <a:txBody>
                    <a:bodyPr/>
                    <a:lstStyle/>
                    <a:p>
                      <a:pPr algn="ctr"/>
                      <a:r>
                        <a:rPr lang="es-PE" sz="900" dirty="0">
                          <a:latin typeface="Calibri" charset="0"/>
                          <a:ea typeface="Calibri" charset="0"/>
                          <a:cs typeface="Calibri" charset="0"/>
                        </a:rPr>
                        <a:t>a = 1 (false)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b = 5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a &gt; 2 OR b &lt; 6 (true)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extLst>
                  <a:ext uri="{0D108BD9-81ED-4DB2-BD59-A6C34878D82A}">
                    <a16:rowId xmlns:a16="http://schemas.microsoft.com/office/drawing/2014/main" val="10002"/>
                  </a:ext>
                </a:extLst>
              </a:tr>
              <a:tr h="210030">
                <a:tc>
                  <a:txBody>
                    <a:bodyPr/>
                    <a:lstStyle/>
                    <a:p>
                      <a:pPr algn="ctr"/>
                      <a:r>
                        <a:rPr lang="es-PE" sz="900" dirty="0">
                          <a:latin typeface="Calibri" charset="0"/>
                          <a:ea typeface="Calibri" charset="0"/>
                          <a:cs typeface="Calibri" charset="0"/>
                        </a:rPr>
                        <a:t>a = 1 (false)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b = 7 (false)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tc>
                  <a:txBody>
                    <a:bodyPr/>
                    <a:lstStyle/>
                    <a:p>
                      <a:pPr algn="ctr"/>
                      <a:r>
                        <a:rPr lang="es-PE" sz="900" dirty="0">
                          <a:latin typeface="Calibri" charset="0"/>
                          <a:ea typeface="Calibri" charset="0"/>
                          <a:cs typeface="Calibri" charset="0"/>
                        </a:rPr>
                        <a:t>a &gt; 2 OR b &lt; 6 (false)</a:t>
                      </a:r>
                    </a:p>
                  </a:txBody>
                  <a:tcPr marL="82902" marR="82902" marT="41452" marB="414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9F2"/>
                    </a:solidFill>
                  </a:tcPr>
                </a:tc>
                <a:extLst>
                  <a:ext uri="{0D108BD9-81ED-4DB2-BD59-A6C34878D82A}">
                    <a16:rowId xmlns:a16="http://schemas.microsoft.com/office/drawing/2014/main" val="10121336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1"/>
          <p:cNvSpPr/>
          <p:nvPr/>
        </p:nvSpPr>
        <p:spPr>
          <a:xfrm>
            <a:off x="503238" y="914847"/>
            <a:ext cx="8137525"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TÉCNICAS BASADAS EN LA ESTRUCTURA</a:t>
            </a:r>
            <a:endParaRPr sz="1600" b="1" dirty="0">
              <a:solidFill>
                <a:schemeClr val="dk1"/>
              </a:solidFill>
              <a:latin typeface="Calibri"/>
              <a:ea typeface="Calibri"/>
              <a:cs typeface="Calibri"/>
              <a:sym typeface="Calibri"/>
            </a:endParaRPr>
          </a:p>
        </p:txBody>
      </p:sp>
      <p:sp>
        <p:nvSpPr>
          <p:cNvPr id="364" name="Google Shape;364;p31"/>
          <p:cNvSpPr/>
          <p:nvPr/>
        </p:nvSpPr>
        <p:spPr>
          <a:xfrm>
            <a:off x="794243" y="2741398"/>
            <a:ext cx="2397157" cy="95334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800" b="1">
                <a:solidFill>
                  <a:schemeClr val="lt1"/>
                </a:solidFill>
                <a:latin typeface="Calibri"/>
                <a:ea typeface="Calibri"/>
                <a:cs typeface="Calibri"/>
                <a:sym typeface="Calibri"/>
              </a:rPr>
              <a:t>Medición de Cobertura</a:t>
            </a:r>
            <a:endParaRPr sz="1800"/>
          </a:p>
        </p:txBody>
      </p:sp>
      <p:sp>
        <p:nvSpPr>
          <p:cNvPr id="365" name="Google Shape;365;p31"/>
          <p:cNvSpPr/>
          <p:nvPr/>
        </p:nvSpPr>
        <p:spPr>
          <a:xfrm>
            <a:off x="6243606" y="2741397"/>
            <a:ext cx="2397157" cy="95334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800" b="1">
                <a:solidFill>
                  <a:schemeClr val="lt1"/>
                </a:solidFill>
                <a:latin typeface="Calibri"/>
                <a:ea typeface="Calibri"/>
                <a:cs typeface="Calibri"/>
                <a:sym typeface="Calibri"/>
              </a:rPr>
              <a:t>Diseño de Casos de Prueba Estructural</a:t>
            </a:r>
            <a:endParaRPr sz="1800"/>
          </a:p>
        </p:txBody>
      </p:sp>
      <p:sp>
        <p:nvSpPr>
          <p:cNvPr id="366" name="Google Shape;366;p31"/>
          <p:cNvSpPr/>
          <p:nvPr/>
        </p:nvSpPr>
        <p:spPr>
          <a:xfrm>
            <a:off x="3373421" y="1710619"/>
            <a:ext cx="2397157" cy="854755"/>
          </a:xfrm>
          <a:prstGeom prst="roundRect">
            <a:avLst>
              <a:gd name="adj" fmla="val 16667"/>
            </a:avLst>
          </a:prstGeom>
          <a:solidFill>
            <a:schemeClr val="lt1"/>
          </a:solidFill>
          <a:ln w="25400" cap="flat" cmpd="sng">
            <a:solidFill>
              <a:srgbClr val="715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2000" b="1" dirty="0">
                <a:solidFill>
                  <a:srgbClr val="00B1C2"/>
                </a:solidFill>
                <a:latin typeface="Calibri"/>
                <a:ea typeface="Calibri"/>
                <a:cs typeface="Calibri"/>
                <a:sym typeface="Calibri"/>
              </a:rPr>
              <a:t>Técnicas de </a:t>
            </a:r>
            <a:br>
              <a:rPr lang="es-PE" sz="2000" b="1" dirty="0">
                <a:solidFill>
                  <a:srgbClr val="00B1C2"/>
                </a:solidFill>
                <a:latin typeface="Calibri"/>
                <a:ea typeface="Calibri"/>
                <a:cs typeface="Calibri"/>
                <a:sym typeface="Calibri"/>
              </a:rPr>
            </a:br>
            <a:r>
              <a:rPr lang="es-PE" sz="2000" b="1" dirty="0">
                <a:solidFill>
                  <a:srgbClr val="00B1C2"/>
                </a:solidFill>
                <a:latin typeface="Calibri"/>
                <a:ea typeface="Calibri"/>
                <a:cs typeface="Calibri"/>
                <a:sym typeface="Calibri"/>
              </a:rPr>
              <a:t>Caja Blanca</a:t>
            </a:r>
            <a:endParaRPr dirty="0">
              <a:solidFill>
                <a:srgbClr val="00B1C2"/>
              </a:solidFill>
            </a:endParaRPr>
          </a:p>
        </p:txBody>
      </p:sp>
      <p:sp>
        <p:nvSpPr>
          <p:cNvPr id="367" name="Google Shape;367;p31"/>
          <p:cNvSpPr/>
          <p:nvPr/>
        </p:nvSpPr>
        <p:spPr>
          <a:xfrm>
            <a:off x="3803904" y="4054482"/>
            <a:ext cx="1572397" cy="36933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s-PE" sz="2000" b="1" dirty="0">
                <a:solidFill>
                  <a:srgbClr val="00B1C2"/>
                </a:solidFill>
                <a:latin typeface="Calibri"/>
                <a:ea typeface="Calibri"/>
                <a:cs typeface="Calibri"/>
                <a:sym typeface="Calibri"/>
              </a:rPr>
              <a:t>Cobertura</a:t>
            </a:r>
            <a:endParaRPr sz="2000" dirty="0">
              <a:solidFill>
                <a:srgbClr val="00B1C2"/>
              </a:solidFill>
              <a:latin typeface="Calibri"/>
              <a:ea typeface="Calibri"/>
              <a:cs typeface="Calibri"/>
              <a:sym typeface="Calibri"/>
            </a:endParaRPr>
          </a:p>
        </p:txBody>
      </p:sp>
      <p:sp>
        <p:nvSpPr>
          <p:cNvPr id="8" name="Rectangle 5">
            <a:extLst>
              <a:ext uri="{FF2B5EF4-FFF2-40B4-BE49-F238E27FC236}">
                <a16:creationId xmlns:a16="http://schemas.microsoft.com/office/drawing/2014/main" id="{72966265-7A3F-894D-8F7E-D87728C2306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RESUMEN</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23B0F0F-FE61-EE47-B266-60F29ACD0453}"/>
              </a:ext>
            </a:extLst>
          </p:cNvPr>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3" name="Grupo 2">
            <a:extLst>
              <a:ext uri="{FF2B5EF4-FFF2-40B4-BE49-F238E27FC236}">
                <a16:creationId xmlns:a16="http://schemas.microsoft.com/office/drawing/2014/main" id="{845BD763-05D7-D44B-A2EB-AB5C436C43FA}"/>
              </a:ext>
            </a:extLst>
          </p:cNvPr>
          <p:cNvGrpSpPr/>
          <p:nvPr/>
        </p:nvGrpSpPr>
        <p:grpSpPr>
          <a:xfrm>
            <a:off x="2506315" y="2194222"/>
            <a:ext cx="4581728" cy="1326557"/>
            <a:chOff x="2403187" y="2211377"/>
            <a:chExt cx="4581728" cy="1326557"/>
          </a:xfrm>
        </p:grpSpPr>
        <p:sp>
          <p:nvSpPr>
            <p:cNvPr id="4" name="CuadroTexto 3">
              <a:extLst>
                <a:ext uri="{FF2B5EF4-FFF2-40B4-BE49-F238E27FC236}">
                  <a16:creationId xmlns:a16="http://schemas.microsoft.com/office/drawing/2014/main" id="{C469D383-3206-F746-AD99-D6F6BDC22717}"/>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5" name="Imagen 4">
              <a:extLst>
                <a:ext uri="{FF2B5EF4-FFF2-40B4-BE49-F238E27FC236}">
                  <a16:creationId xmlns:a16="http://schemas.microsoft.com/office/drawing/2014/main" id="{97F2CB1E-7AB3-8D44-9E4C-4A36DA19E8CB}"/>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6" name="Imagen 5">
            <a:extLst>
              <a:ext uri="{FF2B5EF4-FFF2-40B4-BE49-F238E27FC236}">
                <a16:creationId xmlns:a16="http://schemas.microsoft.com/office/drawing/2014/main" id="{FFA2D936-9BCF-4F4D-A8FA-4C3354D71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4072981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5" name="Rectángulo 4">
            <a:extLst>
              <a:ext uri="{FF2B5EF4-FFF2-40B4-BE49-F238E27FC236}">
                <a16:creationId xmlns:a16="http://schemas.microsoft.com/office/drawing/2014/main" id="{58041FA9-6D4A-6040-87C4-A1B1383B21C4}"/>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object 7">
            <a:extLst>
              <a:ext uri="{FF2B5EF4-FFF2-40B4-BE49-F238E27FC236}">
                <a16:creationId xmlns:a16="http://schemas.microsoft.com/office/drawing/2014/main" id="{ABB42003-E138-3049-A014-DC3A316A0FFE}"/>
              </a:ext>
            </a:extLst>
          </p:cNvPr>
          <p:cNvSpPr txBox="1"/>
          <p:nvPr/>
        </p:nvSpPr>
        <p:spPr>
          <a:xfrm>
            <a:off x="1279545" y="912813"/>
            <a:ext cx="5705454" cy="1077218"/>
          </a:xfrm>
          <a:prstGeom prst="rect">
            <a:avLst/>
          </a:prstGeom>
        </p:spPr>
        <p:txBody>
          <a:bodyPr vert="horz" wrap="square" lIns="0" tIns="0" rIns="0" bIns="0" rtlCol="0">
            <a:spAutoFit/>
          </a:bodyPr>
          <a:lstStyle/>
          <a:p>
            <a:pPr marL="9525" marR="0" lvl="0" algn="l" rtl="0">
              <a:spcBef>
                <a:spcPts val="0"/>
              </a:spcBef>
              <a:spcAft>
                <a:spcPts val="0"/>
              </a:spcAft>
              <a:buClr>
                <a:schemeClr val="lt1"/>
              </a:buClr>
              <a:buSzPts val="1700"/>
            </a:pPr>
            <a:r>
              <a:rPr lang="es-PE" dirty="0">
                <a:solidFill>
                  <a:schemeClr val="tx1"/>
                </a:solidFill>
                <a:latin typeface="Calibri"/>
                <a:ea typeface="Calibri"/>
                <a:cs typeface="Calibri"/>
                <a:sym typeface="Calibri"/>
              </a:rPr>
              <a:t>El método de caja blanca (White box) comprende: </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Cobertura de sentencia (Statement Coverage)</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Cobertura de decisión (Decision Coverage)</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Cobertura de caminho (Path Coverage)</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Cobertura de condición (Condition Coverage)</a:t>
            </a:r>
            <a:endParaRPr lang="es-PE" spc="-10" dirty="0">
              <a:solidFill>
                <a:srgbClr val="262626"/>
              </a:solidFill>
              <a:latin typeface="Calibri" charset="0"/>
              <a:cs typeface="Calibri" charset="0"/>
            </a:endParaRPr>
          </a:p>
        </p:txBody>
      </p:sp>
      <p:pic>
        <p:nvPicPr>
          <p:cNvPr id="7" name="Imagen 6">
            <a:extLst>
              <a:ext uri="{FF2B5EF4-FFF2-40B4-BE49-F238E27FC236}">
                <a16:creationId xmlns:a16="http://schemas.microsoft.com/office/drawing/2014/main" id="{EE405B1C-4ECA-3947-8CDB-439CB4EFD272}"/>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8" name="Imagen 7">
            <a:extLst>
              <a:ext uri="{FF2B5EF4-FFF2-40B4-BE49-F238E27FC236}">
                <a16:creationId xmlns:a16="http://schemas.microsoft.com/office/drawing/2014/main" id="{73E78BA7-5320-A74E-9FFA-B7DBF1A03DD8}"/>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a:extLst>
              <a:ext uri="{FF2B5EF4-FFF2-40B4-BE49-F238E27FC236}">
                <a16:creationId xmlns:a16="http://schemas.microsoft.com/office/drawing/2014/main" id="{76FB308E-AE2A-414E-91FB-0A3867E2157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5" name="Rectángulo 4">
            <a:extLst>
              <a:ext uri="{FF2B5EF4-FFF2-40B4-BE49-F238E27FC236}">
                <a16:creationId xmlns:a16="http://schemas.microsoft.com/office/drawing/2014/main" id="{9D86AB9E-F688-6A47-ADF7-76CFFA864BE6}"/>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object 7">
            <a:extLst>
              <a:ext uri="{FF2B5EF4-FFF2-40B4-BE49-F238E27FC236}">
                <a16:creationId xmlns:a16="http://schemas.microsoft.com/office/drawing/2014/main" id="{2782B3AF-3193-0641-97CB-A8F229FD9D47}"/>
              </a:ext>
            </a:extLst>
          </p:cNvPr>
          <p:cNvSpPr txBox="1"/>
          <p:nvPr/>
        </p:nvSpPr>
        <p:spPr>
          <a:xfrm>
            <a:off x="1279545" y="912813"/>
            <a:ext cx="5705454" cy="3080843"/>
          </a:xfrm>
          <a:prstGeom prst="rect">
            <a:avLst/>
          </a:prstGeom>
        </p:spPr>
        <p:txBody>
          <a:bodyPr vert="horz" wrap="square" lIns="0" tIns="0" rIns="0" bIns="0" rtlCol="0">
            <a:spAutoFit/>
          </a:bodyPr>
          <a:lstStyle/>
          <a:p>
            <a:pPr marL="9525" marR="0" lvl="0" algn="l" rtl="0">
              <a:lnSpc>
                <a:spcPct val="90000"/>
              </a:lnSpc>
              <a:spcBef>
                <a:spcPts val="0"/>
              </a:spcBef>
              <a:spcAft>
                <a:spcPts val="0"/>
              </a:spcAft>
              <a:buClr>
                <a:schemeClr val="lt1"/>
              </a:buClr>
              <a:buSzPts val="1700"/>
            </a:pPr>
            <a:r>
              <a:rPr lang="es-PE" dirty="0">
                <a:solidFill>
                  <a:schemeClr val="tx1"/>
                </a:solidFill>
                <a:latin typeface="Calibri"/>
                <a:ea typeface="Calibri"/>
                <a:cs typeface="Calibri"/>
                <a:sym typeface="Calibri"/>
              </a:rPr>
              <a:t>Cobertura de Sentencias</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Cada </a:t>
            </a:r>
            <a:r>
              <a:rPr lang="es-PE" b="1" spc="-10" dirty="0">
                <a:solidFill>
                  <a:srgbClr val="262626"/>
                </a:solidFill>
                <a:latin typeface="Calibri" charset="0"/>
                <a:cs typeface="Calibri" charset="0"/>
                <a:sym typeface="Calibri"/>
              </a:rPr>
              <a:t>sentencia</a:t>
            </a:r>
            <a:r>
              <a:rPr lang="es-PE" spc="-10" dirty="0">
                <a:solidFill>
                  <a:srgbClr val="262626"/>
                </a:solidFill>
                <a:latin typeface="Calibri" charset="0"/>
                <a:cs typeface="Calibri" charset="0"/>
                <a:sym typeface="Calibri"/>
              </a:rPr>
              <a:t> se ejecuta al menos una vez.</a:t>
            </a:r>
            <a:endParaRPr lang="es-PE" spc="-10" dirty="0">
              <a:solidFill>
                <a:srgbClr val="262626"/>
              </a:solidFill>
              <a:latin typeface="Calibri" charset="0"/>
              <a:cs typeface="Calibri" charset="0"/>
            </a:endParaRPr>
          </a:p>
          <a:p>
            <a:pPr marL="179388" marR="0" lvl="0" indent="-61912" algn="l" rtl="0">
              <a:lnSpc>
                <a:spcPct val="90000"/>
              </a:lnSpc>
              <a:spcBef>
                <a:spcPts val="0"/>
              </a:spcBef>
              <a:spcAft>
                <a:spcPts val="0"/>
              </a:spcAft>
              <a:buClr>
                <a:schemeClr val="dk1"/>
              </a:buClr>
              <a:buSzPts val="1700"/>
              <a:buFont typeface="Arial"/>
              <a:buNone/>
            </a:pPr>
            <a:endParaRPr lang="es-PE" dirty="0">
              <a:solidFill>
                <a:schemeClr val="tx1"/>
              </a:solidFill>
              <a:latin typeface="Calibri"/>
              <a:ea typeface="Calibri"/>
              <a:cs typeface="Calibri"/>
              <a:sym typeface="Calibri"/>
            </a:endParaRPr>
          </a:p>
          <a:p>
            <a:pPr marL="9525" marR="0" lvl="0" algn="l" rtl="0">
              <a:lnSpc>
                <a:spcPct val="90000"/>
              </a:lnSpc>
              <a:spcBef>
                <a:spcPts val="0"/>
              </a:spcBef>
              <a:spcAft>
                <a:spcPts val="0"/>
              </a:spcAft>
              <a:buClr>
                <a:schemeClr val="lt1"/>
              </a:buClr>
              <a:buSzPts val="1700"/>
            </a:pPr>
            <a:r>
              <a:rPr lang="es-PE" dirty="0">
                <a:solidFill>
                  <a:schemeClr val="tx1"/>
                </a:solidFill>
                <a:latin typeface="Calibri"/>
                <a:ea typeface="Calibri"/>
                <a:cs typeface="Calibri"/>
                <a:sym typeface="Calibri"/>
              </a:rPr>
              <a:t>Cobertura de Decisiones</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Cada sentencia se ejecuta al menos una vez; cada </a:t>
            </a:r>
            <a:r>
              <a:rPr lang="es-PE" b="1" spc="-10" dirty="0">
                <a:solidFill>
                  <a:srgbClr val="262626"/>
                </a:solidFill>
                <a:latin typeface="Calibri" charset="0"/>
                <a:cs typeface="Calibri" charset="0"/>
                <a:sym typeface="Calibri"/>
              </a:rPr>
              <a:t>decisión </a:t>
            </a:r>
            <a:r>
              <a:rPr lang="es-PE" spc="-10" dirty="0">
                <a:solidFill>
                  <a:srgbClr val="262626"/>
                </a:solidFill>
                <a:latin typeface="Calibri" charset="0"/>
                <a:cs typeface="Calibri" charset="0"/>
                <a:sym typeface="Calibri"/>
              </a:rPr>
              <a:t>toma los resultados posibles al menos una vez .</a:t>
            </a:r>
            <a:endParaRPr lang="es-PE" spc="-10" dirty="0">
              <a:solidFill>
                <a:srgbClr val="262626"/>
              </a:solidFill>
              <a:latin typeface="Calibri" charset="0"/>
              <a:cs typeface="Calibri" charset="0"/>
            </a:endParaRPr>
          </a:p>
          <a:p>
            <a:pPr marL="358775" marR="0" lvl="1" indent="-71437" algn="l" rtl="0">
              <a:lnSpc>
                <a:spcPct val="90000"/>
              </a:lnSpc>
              <a:spcBef>
                <a:spcPts val="0"/>
              </a:spcBef>
              <a:spcAft>
                <a:spcPts val="0"/>
              </a:spcAft>
              <a:buClr>
                <a:schemeClr val="dk1"/>
              </a:buClr>
              <a:buSzPts val="1700"/>
              <a:buFont typeface="Arial"/>
              <a:buNone/>
            </a:pPr>
            <a:endParaRPr lang="es-PE" b="0" i="0" u="none" strike="noStrike" cap="none" dirty="0">
              <a:solidFill>
                <a:schemeClr val="tx1"/>
              </a:solidFill>
              <a:latin typeface="Calibri"/>
              <a:ea typeface="Calibri"/>
              <a:cs typeface="Calibri"/>
              <a:sym typeface="Calibri"/>
            </a:endParaRPr>
          </a:p>
          <a:p>
            <a:pPr marL="9525" marR="0" lvl="0" algn="l" rtl="0">
              <a:lnSpc>
                <a:spcPct val="90000"/>
              </a:lnSpc>
              <a:spcBef>
                <a:spcPts val="0"/>
              </a:spcBef>
              <a:spcAft>
                <a:spcPts val="0"/>
              </a:spcAft>
              <a:buClr>
                <a:schemeClr val="lt1"/>
              </a:buClr>
              <a:buSzPts val="1700"/>
            </a:pPr>
            <a:r>
              <a:rPr lang="es-PE" dirty="0">
                <a:solidFill>
                  <a:schemeClr val="tx1"/>
                </a:solidFill>
                <a:latin typeface="Calibri"/>
                <a:ea typeface="Calibri"/>
                <a:cs typeface="Calibri"/>
                <a:sym typeface="Calibri"/>
              </a:rPr>
              <a:t>Cobertura de Condiciones</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Cada sentencia se ejecuta al menos una vez; cada </a:t>
            </a:r>
            <a:r>
              <a:rPr lang="es-PE" b="1" spc="-10" dirty="0">
                <a:solidFill>
                  <a:srgbClr val="262626"/>
                </a:solidFill>
                <a:latin typeface="Calibri" charset="0"/>
                <a:cs typeface="Calibri" charset="0"/>
                <a:sym typeface="Calibri"/>
              </a:rPr>
              <a:t>condición</a:t>
            </a:r>
            <a:r>
              <a:rPr lang="es-PE" spc="-10" dirty="0">
                <a:solidFill>
                  <a:srgbClr val="262626"/>
                </a:solidFill>
                <a:latin typeface="Calibri" charset="0"/>
                <a:cs typeface="Calibri" charset="0"/>
                <a:sym typeface="Calibri"/>
              </a:rPr>
              <a:t> en la decisión toma todos los posibles resultados al menos una vez.</a:t>
            </a:r>
            <a:endParaRPr lang="es-PE" spc="-10" dirty="0">
              <a:solidFill>
                <a:srgbClr val="262626"/>
              </a:solidFill>
              <a:latin typeface="Calibri" charset="0"/>
              <a:cs typeface="Calibri" charset="0"/>
            </a:endParaRPr>
          </a:p>
          <a:p>
            <a:pPr marL="358775" marR="0" lvl="1" indent="-61912" algn="l" rtl="0">
              <a:lnSpc>
                <a:spcPct val="90000"/>
              </a:lnSpc>
              <a:spcBef>
                <a:spcPts val="0"/>
              </a:spcBef>
              <a:spcAft>
                <a:spcPts val="0"/>
              </a:spcAft>
              <a:buClr>
                <a:schemeClr val="dk1"/>
              </a:buClr>
              <a:buSzPts val="1700"/>
              <a:buFont typeface="Arial"/>
              <a:buNone/>
            </a:pPr>
            <a:endParaRPr lang="es-PE" b="0" i="0" u="none" strike="noStrike" cap="none" dirty="0">
              <a:solidFill>
                <a:schemeClr val="tx1"/>
              </a:solidFill>
              <a:latin typeface="Calibri"/>
              <a:ea typeface="Calibri"/>
              <a:cs typeface="Calibri"/>
              <a:sym typeface="Calibri"/>
            </a:endParaRPr>
          </a:p>
          <a:p>
            <a:pPr marL="9525" marR="0" lvl="0" algn="l" rtl="0">
              <a:lnSpc>
                <a:spcPct val="90000"/>
              </a:lnSpc>
              <a:spcBef>
                <a:spcPts val="0"/>
              </a:spcBef>
              <a:spcAft>
                <a:spcPts val="0"/>
              </a:spcAft>
              <a:buClr>
                <a:schemeClr val="lt1"/>
              </a:buClr>
              <a:buSzPts val="1700"/>
            </a:pPr>
            <a:r>
              <a:rPr lang="es-PE" dirty="0">
                <a:solidFill>
                  <a:schemeClr val="tx1"/>
                </a:solidFill>
                <a:latin typeface="Calibri"/>
                <a:ea typeface="Calibri"/>
                <a:cs typeface="Calibri"/>
                <a:sym typeface="Calibri"/>
              </a:rPr>
              <a:t>Cobertura de Decisión/Condición</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Cada sentencia se ejecuta al menos una vez; cada decisión toma todos los resultados posibles al menos una vez; cada condición en la decisión toma todos los posibles resultados al menos una vez.</a:t>
            </a:r>
            <a:endParaRPr lang="es-PE" spc="-10" dirty="0">
              <a:solidFill>
                <a:srgbClr val="262626"/>
              </a:solidFill>
              <a:latin typeface="Calibri" charset="0"/>
              <a:cs typeface="Calibri" charset="0"/>
            </a:endParaRPr>
          </a:p>
        </p:txBody>
      </p:sp>
      <p:pic>
        <p:nvPicPr>
          <p:cNvPr id="7" name="Imagen 6">
            <a:extLst>
              <a:ext uri="{FF2B5EF4-FFF2-40B4-BE49-F238E27FC236}">
                <a16:creationId xmlns:a16="http://schemas.microsoft.com/office/drawing/2014/main" id="{CF362FAD-BACC-764E-9C28-C4ABFFD0F7B8}"/>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8" name="Imagen 7">
            <a:extLst>
              <a:ext uri="{FF2B5EF4-FFF2-40B4-BE49-F238E27FC236}">
                <a16:creationId xmlns:a16="http://schemas.microsoft.com/office/drawing/2014/main" id="{403A64BE-A105-944A-A9E3-ADA2F6A6A4AE}"/>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a:extLst>
              <a:ext uri="{FF2B5EF4-FFF2-40B4-BE49-F238E27FC236}">
                <a16:creationId xmlns:a16="http://schemas.microsoft.com/office/drawing/2014/main" id="{C1E84E7A-C252-504C-8E11-AF0F33CE39A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10" name="Imagen 9">
            <a:extLst>
              <a:ext uri="{FF2B5EF4-FFF2-40B4-BE49-F238E27FC236}">
                <a16:creationId xmlns:a16="http://schemas.microsoft.com/office/drawing/2014/main" id="{01CEDB69-0AF3-7C41-A0ED-C64C8DFEA3FB}"/>
              </a:ext>
            </a:extLst>
          </p:cNvPr>
          <p:cNvPicPr>
            <a:picLocks noChangeAspect="1"/>
          </p:cNvPicPr>
          <p:nvPr/>
        </p:nvPicPr>
        <p:blipFill>
          <a:blip r:embed="rId3"/>
          <a:stretch>
            <a:fillRect/>
          </a:stretch>
        </p:blipFill>
        <p:spPr>
          <a:xfrm>
            <a:off x="1011260" y="1539085"/>
            <a:ext cx="114138" cy="117546"/>
          </a:xfrm>
          <a:prstGeom prst="rect">
            <a:avLst/>
          </a:prstGeom>
        </p:spPr>
      </p:pic>
      <p:pic>
        <p:nvPicPr>
          <p:cNvPr id="11" name="Imagen 10">
            <a:extLst>
              <a:ext uri="{FF2B5EF4-FFF2-40B4-BE49-F238E27FC236}">
                <a16:creationId xmlns:a16="http://schemas.microsoft.com/office/drawing/2014/main" id="{A67C8CB8-90F2-CD4B-BC74-D3782DFAD9FF}"/>
              </a:ext>
            </a:extLst>
          </p:cNvPr>
          <p:cNvPicPr>
            <a:picLocks noChangeAspect="1"/>
          </p:cNvPicPr>
          <p:nvPr/>
        </p:nvPicPr>
        <p:blipFill>
          <a:blip r:embed="rId3"/>
          <a:stretch>
            <a:fillRect/>
          </a:stretch>
        </p:blipFill>
        <p:spPr>
          <a:xfrm>
            <a:off x="1011260" y="2334951"/>
            <a:ext cx="114138" cy="117546"/>
          </a:xfrm>
          <a:prstGeom prst="rect">
            <a:avLst/>
          </a:prstGeom>
        </p:spPr>
      </p:pic>
      <p:pic>
        <p:nvPicPr>
          <p:cNvPr id="12" name="Imagen 11">
            <a:extLst>
              <a:ext uri="{FF2B5EF4-FFF2-40B4-BE49-F238E27FC236}">
                <a16:creationId xmlns:a16="http://schemas.microsoft.com/office/drawing/2014/main" id="{5D56F072-BA8E-724B-B0D0-5F6DAD1C3CC7}"/>
              </a:ext>
            </a:extLst>
          </p:cNvPr>
          <p:cNvPicPr>
            <a:picLocks noChangeAspect="1"/>
          </p:cNvPicPr>
          <p:nvPr/>
        </p:nvPicPr>
        <p:blipFill>
          <a:blip r:embed="rId3"/>
          <a:stretch>
            <a:fillRect/>
          </a:stretch>
        </p:blipFill>
        <p:spPr>
          <a:xfrm>
            <a:off x="1011260" y="3147751"/>
            <a:ext cx="114138" cy="1175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5" name="Rectángulo 4">
            <a:extLst>
              <a:ext uri="{FF2B5EF4-FFF2-40B4-BE49-F238E27FC236}">
                <a16:creationId xmlns:a16="http://schemas.microsoft.com/office/drawing/2014/main" id="{834F8385-9C2F-A44F-84D3-A733390DFF60}"/>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object 7">
            <a:extLst>
              <a:ext uri="{FF2B5EF4-FFF2-40B4-BE49-F238E27FC236}">
                <a16:creationId xmlns:a16="http://schemas.microsoft.com/office/drawing/2014/main" id="{D7AFBAC6-8055-F145-B51F-84A5912D9E13}"/>
              </a:ext>
            </a:extLst>
          </p:cNvPr>
          <p:cNvSpPr txBox="1"/>
          <p:nvPr/>
        </p:nvSpPr>
        <p:spPr>
          <a:xfrm>
            <a:off x="1279545" y="912813"/>
            <a:ext cx="5705454" cy="840230"/>
          </a:xfrm>
          <a:prstGeom prst="rect">
            <a:avLst/>
          </a:prstGeom>
        </p:spPr>
        <p:txBody>
          <a:bodyPr vert="horz" wrap="square" lIns="0" tIns="0" rIns="0" bIns="0" rtlCol="0">
            <a:spAutoFit/>
          </a:bodyPr>
          <a:lstStyle/>
          <a:p>
            <a:pPr marL="9525" marR="0" lvl="0" algn="l" rtl="0">
              <a:lnSpc>
                <a:spcPct val="90000"/>
              </a:lnSpc>
              <a:spcBef>
                <a:spcPts val="0"/>
              </a:spcBef>
              <a:spcAft>
                <a:spcPts val="0"/>
              </a:spcAft>
              <a:buClr>
                <a:schemeClr val="lt1"/>
              </a:buClr>
              <a:buSzPts val="1700"/>
            </a:pPr>
            <a:r>
              <a:rPr lang="es-PE" dirty="0">
                <a:solidFill>
                  <a:schemeClr val="tx1"/>
                </a:solidFill>
                <a:latin typeface="Calibri"/>
                <a:ea typeface="Calibri"/>
                <a:cs typeface="Calibri"/>
                <a:sym typeface="Calibri"/>
              </a:rPr>
              <a:t>Cobertura de Condiciones Múltiple</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Cada sentencia se ejecuta al menos una vez. Todas las posibles combinaciones de los resultados de la condición en cada decisión ocurren al menos una vez.</a:t>
            </a:r>
            <a:endParaRPr lang="es-PE" spc="-10" dirty="0">
              <a:solidFill>
                <a:srgbClr val="262626"/>
              </a:solidFill>
              <a:latin typeface="Calibri" charset="0"/>
              <a:cs typeface="Calibri" charset="0"/>
            </a:endParaRPr>
          </a:p>
        </p:txBody>
      </p:sp>
      <p:pic>
        <p:nvPicPr>
          <p:cNvPr id="7" name="Imagen 6">
            <a:extLst>
              <a:ext uri="{FF2B5EF4-FFF2-40B4-BE49-F238E27FC236}">
                <a16:creationId xmlns:a16="http://schemas.microsoft.com/office/drawing/2014/main" id="{CF5710FD-6F66-8146-81C7-0D6346FB7771}"/>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8" name="Imagen 7">
            <a:extLst>
              <a:ext uri="{FF2B5EF4-FFF2-40B4-BE49-F238E27FC236}">
                <a16:creationId xmlns:a16="http://schemas.microsoft.com/office/drawing/2014/main" id="{0FC6B7CF-EC0E-7F41-8262-67B0A3A92095}"/>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a:extLst>
              <a:ext uri="{FF2B5EF4-FFF2-40B4-BE49-F238E27FC236}">
                <a16:creationId xmlns:a16="http://schemas.microsoft.com/office/drawing/2014/main" id="{94BB733E-3F7F-7848-8EB1-BD1AC480AEE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0919766-3FDE-A646-B171-21DF3785F660}"/>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1CBE1008-A708-364E-8CA8-72669C9417FF}"/>
              </a:ext>
            </a:extLst>
          </p:cNvPr>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231200913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334</TotalTime>
  <Words>3738</Words>
  <Application>Microsoft Office PowerPoint</Application>
  <PresentationFormat>Presentación en pantalla (16:10)</PresentationFormat>
  <Paragraphs>446</Paragraphs>
  <Slides>37</Slides>
  <Notes>34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37</vt:i4>
      </vt:variant>
    </vt:vector>
  </HeadingPairs>
  <TitlesOfParts>
    <vt:vector size="44" baseType="lpstr">
      <vt:lpstr>Graphik Bold</vt:lpstr>
      <vt:lpstr>Graphik Regular</vt:lpstr>
      <vt:lpstr>Graphik-Medium</vt:lpstr>
      <vt:lpstr>Arial</vt:lpstr>
      <vt:lpstr>Calibri</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Elva Zoraida Hamada Doshi</cp:lastModifiedBy>
  <cp:revision>100</cp:revision>
  <dcterms:created xsi:type="dcterms:W3CDTF">2016-10-06T14:52:02Z</dcterms:created>
  <dcterms:modified xsi:type="dcterms:W3CDTF">2024-12-06T16:12:58Z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