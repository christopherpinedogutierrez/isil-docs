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8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5" r:id="rId30"/>
    <p:sldId id="283" r:id="rId31"/>
    <p:sldId id="286" r:id="rId32"/>
  </p:sldIdLst>
  <p:sldSz cx="9144000" cy="5715000" type="screen16x1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6" pos="2880" userDrawn="1">
          <p15:clr>
            <a:srgbClr val="A4A3A4"/>
          </p15:clr>
        </p15:guide>
        <p15:guide id="7" pos="2562" userDrawn="1">
          <p15:clr>
            <a:srgbClr val="A4A3A4"/>
          </p15:clr>
        </p15:guide>
        <p15:guide id="8" orient="horz" pos="180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gzKQJNhZ7ahEtrxKAAwTUGyZPZ0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697E"/>
    <a:srgbClr val="EE4639"/>
    <a:srgbClr val="00B1C2"/>
    <a:srgbClr val="D1EFF4"/>
    <a:srgbClr val="E3DCED"/>
    <a:srgbClr val="EFCC67"/>
    <a:srgbClr val="92C14E"/>
    <a:srgbClr val="7150A0"/>
    <a:srgbClr val="FFD8D4"/>
    <a:srgbClr val="FFD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0F2DBC9-AC23-4C36-9B80-8D008C74F947}">
  <a:tblStyle styleId="{C0F2DBC9-AC23-4C36-9B80-8D008C74F94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82"/>
    <p:restoredTop sz="94674"/>
  </p:normalViewPr>
  <p:slideViewPr>
    <p:cSldViewPr snapToGrid="0">
      <p:cViewPr varScale="1">
        <p:scale>
          <a:sx n="98" d="100"/>
          <a:sy n="98" d="100"/>
        </p:scale>
        <p:origin x="1542" y="72"/>
      </p:cViewPr>
      <p:guideLst>
        <p:guide pos="2880"/>
        <p:guide pos="2562"/>
        <p:guide orient="horz" pos="180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PE"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latin typeface="Arial"/>
              <a:ea typeface="Arial"/>
              <a:cs typeface="Arial"/>
              <a:sym typeface="Arial"/>
            </a:endParaRPr>
          </a:p>
        </p:txBody>
      </p:sp>
      <p:sp>
        <p:nvSpPr>
          <p:cNvPr id="41" name="Google Shape;4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53" name="Google Shape;5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200"/>
              <a:buFont typeface="Calibri"/>
              <a:buNone/>
            </a:pPr>
            <a:r>
              <a:rPr lang="es-PE"/>
              <a:t>El encargado de realizar las pruebas es el ingeniero de software con ayuda de especialistas en pruebas.</a:t>
            </a:r>
            <a:endParaRPr/>
          </a:p>
          <a:p>
            <a:pPr marL="0" lvl="0" indent="0" algn="just" rtl="0">
              <a:spcBef>
                <a:spcPts val="0"/>
              </a:spcBef>
              <a:spcAft>
                <a:spcPts val="0"/>
              </a:spcAft>
              <a:buNone/>
            </a:pPr>
            <a:endParaRPr/>
          </a:p>
          <a:p>
            <a:pPr marL="0" lvl="0" indent="0" algn="just" rtl="0">
              <a:spcBef>
                <a:spcPts val="0"/>
              </a:spcBef>
              <a:spcAft>
                <a:spcPts val="0"/>
              </a:spcAft>
              <a:buNone/>
            </a:pPr>
            <a:r>
              <a:rPr lang="es-PE"/>
              <a:t>Las técnicas de pruebas del software permiten diseñar pruebas que:</a:t>
            </a:r>
            <a:endParaRPr/>
          </a:p>
          <a:p>
            <a:pPr marL="457200" lvl="1" indent="0" algn="just" rtl="0">
              <a:spcBef>
                <a:spcPts val="0"/>
              </a:spcBef>
              <a:spcAft>
                <a:spcPts val="0"/>
              </a:spcAft>
              <a:buNone/>
            </a:pPr>
            <a:r>
              <a:rPr lang="es-PE"/>
              <a:t>Comprueben la lógica interna de los componentes software.</a:t>
            </a:r>
            <a:endParaRPr/>
          </a:p>
          <a:p>
            <a:pPr marL="457200" lvl="1" indent="0" algn="just" rtl="0">
              <a:spcBef>
                <a:spcPts val="0"/>
              </a:spcBef>
              <a:spcAft>
                <a:spcPts val="0"/>
              </a:spcAft>
              <a:buNone/>
            </a:pPr>
            <a:r>
              <a:rPr lang="es-PE"/>
              <a:t>Verifiquen los dominios de entrada y salida del programa para descubrir errores en la funcionalidad, el comportamiento y rendimiento.</a:t>
            </a:r>
            <a:endParaRPr/>
          </a:p>
          <a:p>
            <a:pPr marL="0" lvl="0" indent="0" algn="l" rtl="0">
              <a:spcBef>
                <a:spcPts val="0"/>
              </a:spcBef>
              <a:spcAft>
                <a:spcPts val="0"/>
              </a:spcAft>
              <a:buNone/>
            </a:pPr>
            <a:endParaRPr/>
          </a:p>
        </p:txBody>
      </p:sp>
      <p:sp>
        <p:nvSpPr>
          <p:cNvPr id="67" name="Google Shape;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a:t>Esfuerzo reducido en la preparación de la sesión de revisión.</a:t>
            </a:r>
            <a:endParaRPr/>
          </a:p>
          <a:p>
            <a:pPr marL="0" lvl="0" indent="0" algn="just" rtl="0">
              <a:spcBef>
                <a:spcPts val="0"/>
              </a:spcBef>
              <a:spcAft>
                <a:spcPts val="0"/>
              </a:spcAft>
              <a:buNone/>
            </a:pPr>
            <a:r>
              <a:rPr lang="es-PE"/>
              <a:t>El resultado puede quedar abierto.</a:t>
            </a:r>
            <a:endParaRPr/>
          </a:p>
          <a:p>
            <a:pPr marL="0" lvl="0" indent="0" algn="just" rtl="0">
              <a:spcBef>
                <a:spcPts val="0"/>
              </a:spcBef>
              <a:spcAft>
                <a:spcPts val="0"/>
              </a:spcAft>
              <a:buNone/>
            </a:pPr>
            <a:r>
              <a:rPr lang="es-PE"/>
              <a:t>Una sesión puede ser iniciada a través de notificaciones realizadas con poca antelación.</a:t>
            </a:r>
            <a:endParaRPr/>
          </a:p>
          <a:p>
            <a:pPr marL="0" lvl="0" indent="0" algn="just" rtl="0">
              <a:spcBef>
                <a:spcPts val="0"/>
              </a:spcBef>
              <a:spcAft>
                <a:spcPts val="0"/>
              </a:spcAft>
              <a:buNone/>
            </a:pPr>
            <a:r>
              <a:rPr lang="es-PE"/>
              <a:t>El autor tiene una gran influencia sobre el resultado: dado que él mismo modera la revisión, hay un riesgo de dominación por su parte (puntos críticos no abordados en profundidad).</a:t>
            </a:r>
            <a:endParaRPr/>
          </a:p>
          <a:p>
            <a:pPr marL="0" lvl="0" indent="0" algn="just" rtl="0">
              <a:spcBef>
                <a:spcPts val="0"/>
              </a:spcBef>
              <a:spcAft>
                <a:spcPts val="0"/>
              </a:spcAft>
              <a:buNone/>
            </a:pPr>
            <a:r>
              <a:rPr lang="es-PE"/>
              <a:t>Posibilidad limitada de control, dado que el autor también se encuentra a cargo de cualquier actividad de seguimiento.</a:t>
            </a:r>
            <a:endParaRPr/>
          </a:p>
          <a:p>
            <a:pPr marL="0" lvl="0" indent="0" algn="l" rtl="0">
              <a:spcBef>
                <a:spcPts val="0"/>
              </a:spcBef>
              <a:spcAft>
                <a:spcPts val="0"/>
              </a:spcAft>
              <a:buNone/>
            </a:pPr>
            <a:endParaRPr/>
          </a:p>
          <a:p>
            <a:pPr marL="0" lvl="0" indent="0" algn="l" rtl="0">
              <a:spcBef>
                <a:spcPts val="0"/>
              </a:spcBef>
              <a:spcAft>
                <a:spcPts val="0"/>
              </a:spcAft>
              <a:buNone/>
            </a:pPr>
            <a:r>
              <a:rPr lang="es-PE"/>
              <a:t>Opcionalmente puede haber una reunión previa de preparación de los revisores.</a:t>
            </a:r>
            <a:endParaRPr/>
          </a:p>
          <a:p>
            <a:pPr marL="0" lvl="0" indent="0" algn="l" rtl="0">
              <a:spcBef>
                <a:spcPts val="0"/>
              </a:spcBef>
              <a:spcAft>
                <a:spcPts val="0"/>
              </a:spcAft>
              <a:buNone/>
            </a:pPr>
            <a:r>
              <a:rPr lang="es-PE"/>
              <a:t>Sesiones de inicio y finalización.</a:t>
            </a:r>
            <a:endParaRPr/>
          </a:p>
          <a:p>
            <a:pPr marL="0" lvl="0" indent="0" algn="l" rtl="0">
              <a:spcBef>
                <a:spcPts val="0"/>
              </a:spcBef>
              <a:spcAft>
                <a:spcPts val="0"/>
              </a:spcAft>
              <a:buNone/>
            </a:pPr>
            <a:r>
              <a:rPr lang="es-PE"/>
              <a:t>Puede tomar la forma de escenarios, con examinación por pares.</a:t>
            </a:r>
            <a:endParaRPr/>
          </a:p>
          <a:p>
            <a:pPr marL="0" lvl="0" indent="0" algn="l" rtl="0">
              <a:spcBef>
                <a:spcPts val="0"/>
              </a:spcBef>
              <a:spcAft>
                <a:spcPts val="0"/>
              </a:spcAft>
              <a:buNone/>
            </a:pPr>
            <a:r>
              <a:rPr lang="es-PE"/>
              <a:t>La reunión es dirigida por el autor que explica el objeto en revisión.</a:t>
            </a:r>
            <a:endParaRPr/>
          </a:p>
          <a:p>
            <a:pPr marL="0" lvl="0" indent="0" algn="l" rtl="0">
              <a:spcBef>
                <a:spcPts val="0"/>
              </a:spcBef>
              <a:spcAft>
                <a:spcPts val="0"/>
              </a:spcAft>
              <a:buNone/>
            </a:pPr>
            <a:r>
              <a:rPr lang="es-PE"/>
              <a:t>No es necesario un moderador distinto (el autor modera).</a:t>
            </a:r>
            <a:endParaRPr/>
          </a:p>
          <a:p>
            <a:pPr marL="0" lvl="0" indent="0" algn="l" rtl="0">
              <a:spcBef>
                <a:spcPts val="0"/>
              </a:spcBef>
              <a:spcAft>
                <a:spcPts val="0"/>
              </a:spcAft>
              <a:buNone/>
            </a:pPr>
            <a:r>
              <a:rPr lang="es-PE"/>
              <a:t>A lo largo de la presentación por parte del autor, los revisores tratan de localizar desviaciones y/o áreas que representen un problema.</a:t>
            </a:r>
            <a:endParaRPr/>
          </a:p>
          <a:p>
            <a:pPr marL="0" lvl="0" indent="0" algn="l" rtl="0">
              <a:spcBef>
                <a:spcPts val="0"/>
              </a:spcBef>
              <a:spcAft>
                <a:spcPts val="0"/>
              </a:spcAft>
              <a:buNone/>
            </a:pPr>
            <a:endParaRPr/>
          </a:p>
        </p:txBody>
      </p:sp>
      <p:sp>
        <p:nvSpPr>
          <p:cNvPr id="146" name="Google Shape;14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dirty="0"/>
              <a:t>Es aquella actividad que consiste en el análisis de un objeto de prueba. </a:t>
            </a:r>
            <a:endParaRPr dirty="0"/>
          </a:p>
          <a:p>
            <a:pPr marL="457200" lvl="1" indent="0" algn="just" rtl="0">
              <a:spcBef>
                <a:spcPts val="0"/>
              </a:spcBef>
              <a:spcAft>
                <a:spcPts val="0"/>
              </a:spcAft>
              <a:buNone/>
            </a:pPr>
            <a:r>
              <a:rPr lang="es-PE" dirty="0"/>
              <a:t>Por ejemplo, código fuente, guion (script), requisito) llevado a cabo sin ejecutar el producto software.</a:t>
            </a:r>
            <a:endParaRPr dirty="0"/>
          </a:p>
          <a:p>
            <a:pPr marL="457200" lvl="1" indent="0" algn="just" rtl="0">
              <a:spcBef>
                <a:spcPts val="0"/>
              </a:spcBef>
              <a:spcAft>
                <a:spcPts val="0"/>
              </a:spcAft>
              <a:buNone/>
            </a:pPr>
            <a:endParaRPr dirty="0"/>
          </a:p>
          <a:p>
            <a:pPr marL="0" lvl="0" indent="0" algn="just" rtl="0">
              <a:spcBef>
                <a:spcPts val="0"/>
              </a:spcBef>
              <a:spcAft>
                <a:spcPts val="0"/>
              </a:spcAft>
              <a:buNone/>
            </a:pPr>
            <a:r>
              <a:rPr lang="es-PE" dirty="0"/>
              <a:t>Posibles aspectos o ser comprobados con análisis estático:</a:t>
            </a:r>
            <a:endParaRPr dirty="0"/>
          </a:p>
          <a:p>
            <a:pPr marL="457200" lvl="1" indent="0" algn="just" rtl="0">
              <a:spcBef>
                <a:spcPts val="0"/>
              </a:spcBef>
              <a:spcAft>
                <a:spcPts val="0"/>
              </a:spcAft>
              <a:buNone/>
            </a:pPr>
            <a:r>
              <a:rPr lang="es-PE" dirty="0"/>
              <a:t>Reglas y estándares de programación.</a:t>
            </a:r>
            <a:endParaRPr dirty="0"/>
          </a:p>
          <a:p>
            <a:pPr marL="457200" lvl="1" indent="0" algn="just" rtl="0">
              <a:spcBef>
                <a:spcPts val="0"/>
              </a:spcBef>
              <a:spcAft>
                <a:spcPts val="0"/>
              </a:spcAft>
              <a:buNone/>
            </a:pPr>
            <a:r>
              <a:rPr lang="es-PE" dirty="0"/>
              <a:t>Diseño de un programa (análisis del flujo de control).</a:t>
            </a:r>
            <a:endParaRPr dirty="0"/>
          </a:p>
          <a:p>
            <a:pPr marL="457200" lvl="1" indent="0" algn="just" rtl="0">
              <a:spcBef>
                <a:spcPts val="0"/>
              </a:spcBef>
              <a:spcAft>
                <a:spcPts val="0"/>
              </a:spcAft>
              <a:buNone/>
            </a:pPr>
            <a:r>
              <a:rPr lang="es-PE" dirty="0"/>
              <a:t>Uso de datos (análisis del flujo de datos).</a:t>
            </a:r>
            <a:endParaRPr dirty="0"/>
          </a:p>
          <a:p>
            <a:pPr marL="457200" lvl="1" indent="0" algn="just" rtl="0">
              <a:spcBef>
                <a:spcPts val="0"/>
              </a:spcBef>
              <a:spcAft>
                <a:spcPts val="0"/>
              </a:spcAft>
              <a:buNone/>
            </a:pPr>
            <a:r>
              <a:rPr lang="es-PE" dirty="0"/>
              <a:t>Complejidad en la estructura del programa. (Métricas, por ejemplo, número ciclomático).</a:t>
            </a:r>
            <a:endParaRPr dirty="0"/>
          </a:p>
          <a:p>
            <a:pPr marL="0" lvl="0" indent="0" algn="l" rtl="0">
              <a:spcBef>
                <a:spcPts val="0"/>
              </a:spcBef>
              <a:spcAft>
                <a:spcPts val="0"/>
              </a:spcAft>
              <a:buNone/>
            </a:pPr>
            <a:endParaRPr dirty="0"/>
          </a:p>
        </p:txBody>
      </p:sp>
      <p:sp>
        <p:nvSpPr>
          <p:cNvPr id="170" name="Google Shape;17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a:t>Se utiliza normalmente por los desarrolladores antes y durante las pruebas de componentes y de integración.</a:t>
            </a:r>
            <a:endParaRPr/>
          </a:p>
          <a:p>
            <a:pPr marL="0" lvl="0" indent="0" algn="just" rtl="0">
              <a:spcBef>
                <a:spcPts val="0"/>
              </a:spcBef>
              <a:spcAft>
                <a:spcPts val="0"/>
              </a:spcAft>
              <a:buNone/>
            </a:pPr>
            <a:endParaRPr/>
          </a:p>
          <a:p>
            <a:pPr marL="0" lvl="0" indent="0" algn="just" rtl="0">
              <a:spcBef>
                <a:spcPts val="0"/>
              </a:spcBef>
              <a:spcAft>
                <a:spcPts val="0"/>
              </a:spcAft>
              <a:buNone/>
            </a:pPr>
            <a:r>
              <a:rPr lang="es-PE"/>
              <a:t>Durante la configuración y también es utilizado por los diseñadores durante el modelado de software.</a:t>
            </a:r>
            <a:endParaRPr/>
          </a:p>
          <a:p>
            <a:pPr marL="0" lvl="0" indent="0" algn="just" rtl="0">
              <a:spcBef>
                <a:spcPts val="0"/>
              </a:spcBef>
              <a:spcAft>
                <a:spcPts val="0"/>
              </a:spcAft>
              <a:buNone/>
            </a:pPr>
            <a:endParaRPr/>
          </a:p>
          <a:p>
            <a:pPr marL="0" lvl="0" indent="0" algn="just" rtl="0">
              <a:spcBef>
                <a:spcPts val="0"/>
              </a:spcBef>
              <a:spcAft>
                <a:spcPts val="0"/>
              </a:spcAft>
              <a:buNone/>
            </a:pPr>
            <a:r>
              <a:rPr lang="es-PE"/>
              <a:t>Compilador puede ser considerado como una herramienta de análisis estático porque construye una tabla de símbolos, señala el uso incorrecto y cheques en caso de incumplimiento a la codificación de las convenciones del lenguaje o sintaxis.</a:t>
            </a:r>
            <a:endParaRPr/>
          </a:p>
          <a:p>
            <a:pPr marL="0" lvl="0" indent="0" algn="l" rtl="0">
              <a:spcBef>
                <a:spcPts val="0"/>
              </a:spcBef>
              <a:spcAft>
                <a:spcPts val="0"/>
              </a:spcAft>
              <a:buNone/>
            </a:pPr>
            <a:endParaRPr/>
          </a:p>
          <a:p>
            <a:pPr marL="0" lvl="0" indent="0" algn="just" rtl="0">
              <a:spcBef>
                <a:spcPts val="0"/>
              </a:spcBef>
              <a:spcAft>
                <a:spcPts val="0"/>
              </a:spcAft>
              <a:buNone/>
            </a:pPr>
            <a:r>
              <a:rPr lang="es-PE"/>
              <a:t>Las herramientas de análisis estático generalmente las utilizan los desarrolladores (cotejar con reglas predefinidas o estándares de programación) antes y durante las pruebas de componente y de integración, o durante la comprobación del código, para configurar las herramientas de gestión, así como los diseñadores durante la modelación del software. Las herramientas de análisis estático pueden producir un gran número de mensajes de advertencia que deben ser bien gestionados para permitir el uso más efectivo de la herramienta.</a:t>
            </a:r>
            <a:endParaRPr/>
          </a:p>
          <a:p>
            <a:pPr marL="457200" lvl="1" indent="0" algn="just" rtl="0">
              <a:spcBef>
                <a:spcPts val="0"/>
              </a:spcBef>
              <a:spcAft>
                <a:spcPts val="0"/>
              </a:spcAft>
              <a:buNone/>
            </a:pPr>
            <a:endParaRPr/>
          </a:p>
          <a:p>
            <a:pPr marL="0" lvl="0" indent="0" algn="just" rtl="0">
              <a:spcBef>
                <a:spcPts val="0"/>
              </a:spcBef>
              <a:spcAft>
                <a:spcPts val="0"/>
              </a:spcAft>
              <a:buNone/>
            </a:pPr>
            <a:r>
              <a:rPr lang="es-PE"/>
              <a:t>Los compiladores pueden constituir un soporte para los análisis estáticos, incluyendo el cálculo de métricas.</a:t>
            </a:r>
            <a:endParaRPr/>
          </a:p>
          <a:p>
            <a:pPr marL="0" lvl="0" indent="0" algn="l" rtl="0">
              <a:spcBef>
                <a:spcPts val="0"/>
              </a:spcBef>
              <a:spcAft>
                <a:spcPts val="0"/>
              </a:spcAft>
              <a:buNone/>
            </a:pPr>
            <a:endParaRPr/>
          </a:p>
        </p:txBody>
      </p:sp>
      <p:sp>
        <p:nvSpPr>
          <p:cNvPr id="177" name="Google Shape;17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a:t>Las herramientas de análisis estático generalmente las utilizan los desarrolladores (cotejar con reglas predefinidas o estándares de programación) antes y durante las pruebas de componente y de integración, o durante la comprobación del código, para configurar las herramientas de gestión, así como los diseñadores durante la modelación del software. Las herramientas de análisis estático pueden producir un gran número de mensajes de advertencia que deben ser bien gestionados para permitir el uso más efectivo de la herramienta.</a:t>
            </a:r>
            <a:endParaRPr/>
          </a:p>
          <a:p>
            <a:pPr marL="457200" lvl="1" indent="0" algn="just" rtl="0">
              <a:spcBef>
                <a:spcPts val="0"/>
              </a:spcBef>
              <a:spcAft>
                <a:spcPts val="0"/>
              </a:spcAft>
              <a:buNone/>
            </a:pPr>
            <a:endParaRPr/>
          </a:p>
          <a:p>
            <a:pPr marL="0" lvl="0" indent="0" algn="just" rtl="0">
              <a:spcBef>
                <a:spcPts val="0"/>
              </a:spcBef>
              <a:spcAft>
                <a:spcPts val="0"/>
              </a:spcAft>
              <a:buNone/>
            </a:pPr>
            <a:r>
              <a:rPr lang="es-PE"/>
              <a:t>Los compiladores pueden constituir un soporte para los análisis estáticos, incluyendo el cálculo de métricas.</a:t>
            </a:r>
            <a:endParaRPr/>
          </a:p>
          <a:p>
            <a:pPr marL="0" lvl="0" indent="0" algn="l" rtl="0">
              <a:spcBef>
                <a:spcPts val="0"/>
              </a:spcBef>
              <a:spcAft>
                <a:spcPts val="0"/>
              </a:spcAft>
              <a:buNone/>
            </a:pPr>
            <a:endParaRPr/>
          </a:p>
        </p:txBody>
      </p:sp>
      <p:sp>
        <p:nvSpPr>
          <p:cNvPr id="184" name="Google Shape;18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a:t>Todos los objetos de prueba deben tener una estructura formal.</a:t>
            </a:r>
            <a:endParaRPr/>
          </a:p>
          <a:p>
            <a:pPr marL="457200" lvl="1" indent="0" algn="just" rtl="0">
              <a:spcBef>
                <a:spcPts val="0"/>
              </a:spcBef>
              <a:spcAft>
                <a:spcPts val="0"/>
              </a:spcAft>
              <a:buNone/>
            </a:pPr>
            <a:r>
              <a:rPr lang="es-PE"/>
              <a:t>o Esto es especialmente importante cuando se utilizan herramientas de pruebas.</a:t>
            </a:r>
            <a:endParaRPr/>
          </a:p>
          <a:p>
            <a:pPr marL="457200" lvl="1" indent="0" algn="just" rtl="0">
              <a:spcBef>
                <a:spcPts val="0"/>
              </a:spcBef>
              <a:spcAft>
                <a:spcPts val="0"/>
              </a:spcAft>
              <a:buNone/>
            </a:pPr>
            <a:r>
              <a:rPr lang="es-PE"/>
              <a:t>o Con mucha frecuencia no se generan documentos formalmente.</a:t>
            </a:r>
            <a:endParaRPr/>
          </a:p>
          <a:p>
            <a:pPr marL="457200" lvl="1" indent="0" algn="just" rtl="0">
              <a:spcBef>
                <a:spcPts val="0"/>
              </a:spcBef>
              <a:spcAft>
                <a:spcPts val="0"/>
              </a:spcAft>
              <a:buNone/>
            </a:pPr>
            <a:r>
              <a:rPr lang="es-PE"/>
              <a:t>o En la práctica, lenguajes de modelado, programación y de guion (scripting) cumplen con la regla, de la misma forma que algunos diagramas.</a:t>
            </a:r>
            <a:endParaRPr/>
          </a:p>
          <a:p>
            <a:pPr marL="0" lvl="0" indent="0" algn="just" rtl="0">
              <a:spcBef>
                <a:spcPts val="0"/>
              </a:spcBef>
              <a:spcAft>
                <a:spcPts val="0"/>
              </a:spcAft>
              <a:buNone/>
            </a:pPr>
            <a:endParaRPr/>
          </a:p>
          <a:p>
            <a:pPr marL="0" lvl="0" indent="0" algn="just" rtl="0">
              <a:spcBef>
                <a:spcPts val="0"/>
              </a:spcBef>
              <a:spcAft>
                <a:spcPts val="0"/>
              </a:spcAft>
              <a:buNone/>
            </a:pPr>
            <a:r>
              <a:rPr lang="es-PE"/>
              <a:t>El análisis estático de un programa mediante el uso de herramientas se desarrolla con un menor esfuerzo que el necesario en una revisión.</a:t>
            </a:r>
            <a:endParaRPr/>
          </a:p>
          <a:p>
            <a:pPr marL="457200" lvl="1" indent="0" algn="just" rtl="0">
              <a:spcBef>
                <a:spcPts val="0"/>
              </a:spcBef>
              <a:spcAft>
                <a:spcPts val="0"/>
              </a:spcAft>
              <a:buNone/>
            </a:pPr>
            <a:r>
              <a:rPr lang="es-PE"/>
              <a:t>Frecuentemente el análisis estático se ejecuta antes de que tenga lugar una revisión.</a:t>
            </a:r>
            <a:endParaRPr/>
          </a:p>
          <a:p>
            <a:pPr marL="0" lvl="0" indent="0" algn="just" rtl="0">
              <a:spcBef>
                <a:spcPts val="0"/>
              </a:spcBef>
              <a:spcAft>
                <a:spcPts val="0"/>
              </a:spcAft>
              <a:buNone/>
            </a:pPr>
            <a:endParaRPr/>
          </a:p>
          <a:p>
            <a:pPr marL="0" lvl="0" indent="0" algn="just" rtl="0">
              <a:spcBef>
                <a:spcPts val="0"/>
              </a:spcBef>
              <a:spcAft>
                <a:spcPts val="0"/>
              </a:spcAft>
              <a:buNone/>
            </a:pPr>
            <a:r>
              <a:rPr lang="es-PE"/>
              <a:t>Para encontrar un error lógico (potenciales loops infinitos).</a:t>
            </a:r>
            <a:endParaRPr/>
          </a:p>
          <a:p>
            <a:pPr marL="0" lvl="0" indent="0" algn="just" rtl="0">
              <a:spcBef>
                <a:spcPts val="0"/>
              </a:spcBef>
              <a:spcAft>
                <a:spcPts val="0"/>
              </a:spcAft>
              <a:buNone/>
            </a:pPr>
            <a:endParaRPr/>
          </a:p>
          <a:p>
            <a:pPr marL="0" lvl="0" indent="0" algn="just" rtl="0">
              <a:spcBef>
                <a:spcPts val="0"/>
              </a:spcBef>
              <a:spcAft>
                <a:spcPts val="0"/>
              </a:spcAft>
              <a:buNone/>
            </a:pPr>
            <a:r>
              <a:rPr lang="es-PE"/>
              <a:t>Para descubrir construcciones complicadas, vulnerabilidades de seguridad, interfaces inconsistentes, etc.</a:t>
            </a:r>
            <a:endParaRPr/>
          </a:p>
          <a:p>
            <a:pPr marL="0" lvl="0" indent="0" algn="l" rtl="0">
              <a:spcBef>
                <a:spcPts val="0"/>
              </a:spcBef>
              <a:spcAft>
                <a:spcPts val="0"/>
              </a:spcAft>
              <a:buNone/>
            </a:pPr>
            <a:endParaRPr/>
          </a:p>
        </p:txBody>
      </p:sp>
      <p:sp>
        <p:nvSpPr>
          <p:cNvPr id="192" name="Google Shape;19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PE" b="1"/>
              <a:t>CyVis </a:t>
            </a:r>
            <a:r>
              <a:rPr lang="es-PE"/>
              <a:t>es una herramienta de recolección, análisis y visualización de métricas de software gratuito para software basado en Java.</a:t>
            </a:r>
            <a:endParaRPr/>
          </a:p>
          <a:p>
            <a:pPr marL="0" lvl="0" indent="0" algn="l" rtl="0">
              <a:spcBef>
                <a:spcPts val="0"/>
              </a:spcBef>
              <a:spcAft>
                <a:spcPts val="0"/>
              </a:spcAft>
              <a:buNone/>
            </a:pPr>
            <a:endParaRPr/>
          </a:p>
        </p:txBody>
      </p:sp>
      <p:sp>
        <p:nvSpPr>
          <p:cNvPr id="200" name="Google Shape;20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PE" b="0"/>
              <a:t>Es una herramienta de recolección, análisis y visualización de métricas de software gratuito para PHP.</a:t>
            </a:r>
            <a:endParaRPr/>
          </a:p>
          <a:p>
            <a:pPr marL="0" lvl="0" indent="0" algn="l" rtl="0">
              <a:spcBef>
                <a:spcPts val="0"/>
              </a:spcBef>
              <a:spcAft>
                <a:spcPts val="0"/>
              </a:spcAft>
              <a:buNone/>
            </a:pPr>
            <a:endParaRPr/>
          </a:p>
        </p:txBody>
      </p:sp>
      <p:sp>
        <p:nvSpPr>
          <p:cNvPr id="208" name="Google Shape;20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2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2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Análisis Estático. </a:t>
            </a:r>
            <a:endParaRPr/>
          </a:p>
          <a:p>
            <a:pPr marL="457200" lvl="1" indent="0" algn="l" rtl="0">
              <a:spcBef>
                <a:spcPts val="0"/>
              </a:spcBef>
              <a:spcAft>
                <a:spcPts val="0"/>
              </a:spcAft>
              <a:buNone/>
            </a:pPr>
            <a:r>
              <a:rPr lang="es-PE"/>
              <a:t>Con el uso de herramientas para la realización de análisis estático (compiladores, analizadores) el código del programa puede ser objeto de Inspección sin ser ejecutado. </a:t>
            </a:r>
            <a:endParaRPr/>
          </a:p>
          <a:p>
            <a:pPr marL="457200" lvl="1" indent="0" algn="l" rtl="0">
              <a:spcBef>
                <a:spcPts val="0"/>
              </a:spcBef>
              <a:spcAft>
                <a:spcPts val="0"/>
              </a:spcAft>
              <a:buNone/>
            </a:pPr>
            <a:r>
              <a:rPr lang="es-PE"/>
              <a:t>Con el uso de herramientas se puede realizar el análisis estático de un programa con un esfuerzo menor que el necesario para una Inspección. </a:t>
            </a:r>
            <a:endParaRPr/>
          </a:p>
          <a:p>
            <a:pPr marL="0" lvl="0" indent="0" algn="l" rtl="0">
              <a:spcBef>
                <a:spcPts val="0"/>
              </a:spcBef>
              <a:spcAft>
                <a:spcPts val="0"/>
              </a:spcAft>
              <a:buNone/>
            </a:pPr>
            <a:endParaRPr/>
          </a:p>
          <a:p>
            <a:pPr marL="0" lvl="0" indent="0" algn="l" rtl="0">
              <a:spcBef>
                <a:spcPts val="0"/>
              </a:spcBef>
              <a:spcAft>
                <a:spcPts val="0"/>
              </a:spcAft>
              <a:buNone/>
            </a:pPr>
            <a:r>
              <a:rPr lang="es-PE" b="1"/>
              <a:t>Resultado del Análisis. </a:t>
            </a:r>
            <a:endParaRPr/>
          </a:p>
          <a:p>
            <a:pPr marL="457200" lvl="1" indent="0" algn="l" rtl="0">
              <a:spcBef>
                <a:spcPts val="0"/>
              </a:spcBef>
              <a:spcAft>
                <a:spcPts val="0"/>
              </a:spcAft>
              <a:buNone/>
            </a:pPr>
            <a:r>
              <a:rPr lang="es-PE"/>
              <a:t>El diagrama de control de flujo presenta el flujo del programa y permite la detección de ramas muertas y código inalcanzable. </a:t>
            </a:r>
            <a:endParaRPr/>
          </a:p>
          <a:p>
            <a:pPr marL="457200" lvl="1" indent="0" algn="l" rtl="0">
              <a:spcBef>
                <a:spcPts val="0"/>
              </a:spcBef>
              <a:spcAft>
                <a:spcPts val="0"/>
              </a:spcAft>
              <a:buNone/>
            </a:pPr>
            <a:r>
              <a:rPr lang="es-PE"/>
              <a:t>Las anomalías en los datos se detectan utilizando el análisis del flujo de datos. </a:t>
            </a:r>
            <a:endParaRPr/>
          </a:p>
          <a:p>
            <a:pPr marL="457200" lvl="1" indent="0" algn="l" rtl="0">
              <a:spcBef>
                <a:spcPts val="0"/>
              </a:spcBef>
              <a:spcAft>
                <a:spcPts val="0"/>
              </a:spcAft>
              <a:buNone/>
            </a:pPr>
            <a:r>
              <a:rPr lang="es-PE"/>
              <a:t>Las métricas pueden ser utilizadas para evaluar la complejidad estructural conduciendo o una estimación del esfuerzo en pruebas esperado. </a:t>
            </a:r>
            <a:endParaRPr/>
          </a:p>
          <a:p>
            <a:pPr marL="0" lvl="0" indent="0" algn="l" rtl="0">
              <a:spcBef>
                <a:spcPts val="0"/>
              </a:spcBef>
              <a:spcAft>
                <a:spcPts val="0"/>
              </a:spcAft>
              <a:buNone/>
            </a:pPr>
            <a:endParaRPr/>
          </a:p>
        </p:txBody>
      </p:sp>
      <p:sp>
        <p:nvSpPr>
          <p:cNvPr id="293" name="Google Shape;293;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userDrawn="1">
  <p:cSld name="TITLE">
    <p:spTree>
      <p:nvGrpSpPr>
        <p:cNvPr id="1" name="Shape 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tema - 1 Imagen A" userDrawn="1">
  <p:cSld name="Subtema - 1 Imagen A">
    <p:spTree>
      <p:nvGrpSpPr>
        <p:cNvPr id="1" name="Shape 2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6" name="Rectangle 3">
            <a:extLst>
              <a:ext uri="{FF2B5EF4-FFF2-40B4-BE49-F238E27FC236}">
                <a16:creationId xmlns:a16="http://schemas.microsoft.com/office/drawing/2014/main" id="{7CCB7608-1C82-CA48-A053-C1724AA0AEC1}"/>
              </a:ext>
            </a:extLst>
          </p:cNvPr>
          <p:cNvSpPr/>
          <p:nvPr userDrawn="1"/>
        </p:nvSpPr>
        <p:spPr>
          <a:xfrm>
            <a:off x="7204422" y="5371562"/>
            <a:ext cx="1544012"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sp>
        <p:nvSpPr>
          <p:cNvPr id="7" name="TextBox 7">
            <a:extLst>
              <a:ext uri="{FF2B5EF4-FFF2-40B4-BE49-F238E27FC236}">
                <a16:creationId xmlns:a16="http://schemas.microsoft.com/office/drawing/2014/main" id="{81AD1554-48D2-624E-B3F2-0DB0DFB925E6}"/>
              </a:ext>
            </a:extLst>
          </p:cNvPr>
          <p:cNvSpPr txBox="1"/>
          <p:nvPr userDrawn="1"/>
        </p:nvSpPr>
        <p:spPr>
          <a:xfrm>
            <a:off x="876300" y="5343295"/>
            <a:ext cx="2164375" cy="215444"/>
          </a:xfrm>
          <a:prstGeom prst="rect">
            <a:avLst/>
          </a:prstGeom>
          <a:noFill/>
        </p:spPr>
        <p:txBody>
          <a:bodyPr wrap="none" rtlCol="0">
            <a:spAutoFit/>
          </a:bodyPr>
          <a:lstStyle/>
          <a:p>
            <a:r>
              <a:rPr lang="en-US" sz="800" kern="1200" baseline="0" dirty="0">
                <a:solidFill>
                  <a:schemeClr val="bg1">
                    <a:lumMod val="50000"/>
                  </a:schemeClr>
                </a:solidFill>
                <a:latin typeface="Calibri"/>
                <a:ea typeface="+mn-ea"/>
                <a:cs typeface="Calibri"/>
                <a:sym typeface="Wingdings"/>
              </a:rPr>
              <a:t>CALIDAD Y PRUEBAS DE SOFTWARE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TEMA 06</a:t>
            </a:r>
            <a:endParaRPr lang="en-US" sz="800" dirty="0">
              <a:solidFill>
                <a:schemeClr val="bg1">
                  <a:lumMod val="50000"/>
                </a:schemeClr>
              </a:solidFill>
              <a:latin typeface="Calibri"/>
              <a:cs typeface="Calibri"/>
            </a:endParaRPr>
          </a:p>
        </p:txBody>
      </p:sp>
      <p:pic>
        <p:nvPicPr>
          <p:cNvPr id="8" name="Imagen 7">
            <a:extLst>
              <a:ext uri="{FF2B5EF4-FFF2-40B4-BE49-F238E27FC236}">
                <a16:creationId xmlns:a16="http://schemas.microsoft.com/office/drawing/2014/main" id="{F1521247-5774-1C4A-8C3D-F36913EAD18A}"/>
              </a:ext>
            </a:extLst>
          </p:cNvPr>
          <p:cNvPicPr>
            <a:picLocks noChangeAspect="1"/>
          </p:cNvPicPr>
          <p:nvPr userDrawn="1"/>
        </p:nvPicPr>
        <p:blipFill>
          <a:blip r:embed="rId7"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userDrawn="1">
          <p15:clr>
            <a:srgbClr val="F26B43"/>
          </p15:clr>
        </p15:guide>
        <p15:guide id="2" orient="horz" pos="1800" userDrawn="1">
          <p15:clr>
            <a:srgbClr val="F26B43"/>
          </p15:clr>
        </p15:guide>
        <p15:guide id="3" pos="2767" userDrawn="1">
          <p15:clr>
            <a:srgbClr val="F26B43"/>
          </p15:clr>
        </p15:guide>
        <p15:guide id="4" pos="2993" userDrawn="1">
          <p15:clr>
            <a:srgbClr val="F26B43"/>
          </p15:clr>
        </p15:guide>
        <p15:guide id="5" pos="295" userDrawn="1">
          <p15:clr>
            <a:srgbClr val="F26B43"/>
          </p15:clr>
        </p15:guide>
        <p15:guide id="6" pos="431" userDrawn="1">
          <p15:clr>
            <a:srgbClr val="F26B43"/>
          </p15:clr>
        </p15:guide>
        <p15:guide id="7" pos="5465" userDrawn="1">
          <p15:clr>
            <a:srgbClr val="F26B43"/>
          </p15:clr>
        </p15:guide>
        <p15:guide id="8" orient="horz" pos="303" userDrawn="1">
          <p15:clr>
            <a:srgbClr val="F26B43"/>
          </p15:clr>
        </p15:guide>
        <p15:guide id="9" orient="horz" pos="575" userDrawn="1">
          <p15:clr>
            <a:srgbClr val="F26B43"/>
          </p15:clr>
        </p15:guide>
        <p15:guide id="10" orient="horz" pos="329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cyvis.sourceforge.net/" TargetMode="External"/><Relationship Id="rId4" Type="http://schemas.openxmlformats.org/officeDocument/2006/relationships/hyperlink" Target="http://checkstyle.sourceforge.net/"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www.phpmetrics.org/"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9" name="Rectángulo 8">
            <a:extLst>
              <a:ext uri="{FF2B5EF4-FFF2-40B4-BE49-F238E27FC236}">
                <a16:creationId xmlns:a16="http://schemas.microsoft.com/office/drawing/2014/main" id="{5700F011-E99D-0148-BCB9-4C260474378E}"/>
              </a:ext>
            </a:extLst>
          </p:cNvPr>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1" name="CuadroTexto 10">
            <a:extLst>
              <a:ext uri="{FF2B5EF4-FFF2-40B4-BE49-F238E27FC236}">
                <a16:creationId xmlns:a16="http://schemas.microsoft.com/office/drawing/2014/main" id="{A1158BD7-1B7C-C047-9EAA-D62D64749192}"/>
              </a:ext>
            </a:extLst>
          </p:cNvPr>
          <p:cNvSpPr txBox="1"/>
          <p:nvPr/>
        </p:nvSpPr>
        <p:spPr>
          <a:xfrm>
            <a:off x="503238" y="808689"/>
            <a:ext cx="3104743" cy="138499"/>
          </a:xfrm>
          <a:prstGeom prst="rect">
            <a:avLst/>
          </a:prstGeom>
          <a:noFill/>
        </p:spPr>
        <p:txBody>
          <a:bodyPr wrap="square" lIns="0" tIns="0" rIns="0" bIns="0" rtlCol="0">
            <a:spAutoFit/>
          </a:bodyPr>
          <a:lstStyle/>
          <a:p>
            <a:r>
              <a:rPr lang="es-ES_tradnl" sz="900" b="1" dirty="0">
                <a:solidFill>
                  <a:srgbClr val="6C6D6C"/>
                </a:solidFill>
                <a:latin typeface="Calibri" charset="0"/>
                <a:cs typeface="Calibri" charset="0"/>
              </a:rPr>
              <a:t>CALIDAD Y PRUEBAS DE SOFTWARE</a:t>
            </a:r>
          </a:p>
        </p:txBody>
      </p:sp>
      <p:sp>
        <p:nvSpPr>
          <p:cNvPr id="23" name="Rectángulo 22">
            <a:extLst>
              <a:ext uri="{FF2B5EF4-FFF2-40B4-BE49-F238E27FC236}">
                <a16:creationId xmlns:a16="http://schemas.microsoft.com/office/drawing/2014/main" id="{FE14A0AA-DF40-A047-A0DE-0B89F5BDE6B2}"/>
              </a:ext>
            </a:extLst>
          </p:cNvPr>
          <p:cNvSpPr/>
          <p:nvPr/>
        </p:nvSpPr>
        <p:spPr>
          <a:xfrm>
            <a:off x="503239" y="2177570"/>
            <a:ext cx="3056852" cy="886397"/>
          </a:xfrm>
          <a:prstGeom prst="rect">
            <a:avLst/>
          </a:prstGeom>
        </p:spPr>
        <p:txBody>
          <a:bodyPr wrap="square" lIns="0" tIns="0" rIns="0" bIns="0">
            <a:spAutoFit/>
          </a:bodyPr>
          <a:lstStyle/>
          <a:p>
            <a:pPr>
              <a:lnSpc>
                <a:spcPct val="90000"/>
              </a:lnSpc>
            </a:pPr>
            <a:r>
              <a:rPr lang="es-PE" sz="3200" dirty="0">
                <a:latin typeface="Graphik-Medium" charset="0"/>
                <a:ea typeface="Graphik-Medium" charset="0"/>
                <a:cs typeface="Graphik-Medium" charset="0"/>
              </a:rPr>
              <a:t>TÉCNICAS </a:t>
            </a:r>
            <a:br>
              <a:rPr lang="es-PE" sz="3200" dirty="0">
                <a:latin typeface="Graphik-Medium" charset="0"/>
                <a:ea typeface="Graphik-Medium" charset="0"/>
                <a:cs typeface="Graphik-Medium" charset="0"/>
              </a:rPr>
            </a:br>
            <a:r>
              <a:rPr lang="es-PE" sz="3200" b="1" dirty="0">
                <a:latin typeface="Graphik Bold" charset="0"/>
                <a:ea typeface="Graphik Bold" charset="0"/>
                <a:cs typeface="Graphik Bold" charset="0"/>
              </a:rPr>
              <a:t>ESTÁTICAS</a:t>
            </a:r>
          </a:p>
        </p:txBody>
      </p:sp>
      <p:sp>
        <p:nvSpPr>
          <p:cNvPr id="24" name="Rectángulo 23">
            <a:extLst>
              <a:ext uri="{FF2B5EF4-FFF2-40B4-BE49-F238E27FC236}">
                <a16:creationId xmlns:a16="http://schemas.microsoft.com/office/drawing/2014/main" id="{A1997033-5108-6C44-98C4-7CAFD8A77D9B}"/>
              </a:ext>
            </a:extLst>
          </p:cNvPr>
          <p:cNvSpPr/>
          <p:nvPr/>
        </p:nvSpPr>
        <p:spPr>
          <a:xfrm>
            <a:off x="503238" y="3219842"/>
            <a:ext cx="2845526" cy="420884"/>
          </a:xfrm>
          <a:prstGeom prst="rect">
            <a:avLst/>
          </a:prstGeom>
        </p:spPr>
        <p:txBody>
          <a:bodyPr wrap="square" lIns="0" tIns="0" rIns="0" bIns="0">
            <a:spAutoFit/>
          </a:bodyPr>
          <a:lstStyle/>
          <a:p>
            <a:pPr marL="177800" lvl="0" indent="-177800">
              <a:lnSpc>
                <a:spcPct val="120000"/>
              </a:lnSpc>
              <a:buClr>
                <a:srgbClr val="4E697E"/>
              </a:buClr>
              <a:buSzPct val="100000"/>
              <a:buFont typeface="Arial"/>
              <a:buChar char="•"/>
            </a:pPr>
            <a:r>
              <a:rPr lang="es-PE" sz="1200" dirty="0">
                <a:latin typeface="Graphik-Medium" charset="0"/>
                <a:sym typeface="Calibri"/>
              </a:rPr>
              <a:t>Walkthrough</a:t>
            </a:r>
            <a:endParaRPr lang="es-PE" sz="1200" dirty="0">
              <a:latin typeface="Graphik-Medium" charset="0"/>
            </a:endParaRPr>
          </a:p>
          <a:p>
            <a:pPr marL="177800" lvl="0" indent="-177800">
              <a:lnSpc>
                <a:spcPct val="120000"/>
              </a:lnSpc>
              <a:buClr>
                <a:srgbClr val="4E697E"/>
              </a:buClr>
              <a:buSzPct val="100000"/>
              <a:buFont typeface="Arial"/>
              <a:buChar char="•"/>
            </a:pPr>
            <a:r>
              <a:rPr lang="es-PE" sz="1200" dirty="0">
                <a:latin typeface="Graphik-Medium" charset="0"/>
                <a:sym typeface="Calibri"/>
              </a:rPr>
              <a:t>Análisis estático</a:t>
            </a:r>
            <a:endParaRPr lang="es-PE" sz="1200" dirty="0">
              <a:latin typeface="Graphik-Medium" charset="0"/>
            </a:endParaRPr>
          </a:p>
        </p:txBody>
      </p:sp>
      <p:sp>
        <p:nvSpPr>
          <p:cNvPr id="25" name="CuadroTexto 24">
            <a:extLst>
              <a:ext uri="{FF2B5EF4-FFF2-40B4-BE49-F238E27FC236}">
                <a16:creationId xmlns:a16="http://schemas.microsoft.com/office/drawing/2014/main" id="{6F51967F-713C-8342-B85C-562042E54B6F}"/>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4E697E"/>
                </a:solidFill>
                <a:latin typeface="Calibri" charset="0"/>
                <a:ea typeface="Calibri" charset="0"/>
                <a:cs typeface="Calibri" charset="0"/>
              </a:rPr>
              <a:t>TEMA 06</a:t>
            </a:r>
          </a:p>
        </p:txBody>
      </p:sp>
      <p:pic>
        <p:nvPicPr>
          <p:cNvPr id="27" name="Imagen 26">
            <a:extLst>
              <a:ext uri="{FF2B5EF4-FFF2-40B4-BE49-F238E27FC236}">
                <a16:creationId xmlns:a16="http://schemas.microsoft.com/office/drawing/2014/main" id="{5BB64595-832D-434D-A597-554AA77FE1E0}"/>
              </a:ext>
            </a:extLst>
          </p:cNvPr>
          <p:cNvPicPr>
            <a:picLocks noChangeAspect="1"/>
          </p:cNvPicPr>
          <p:nvPr/>
        </p:nvPicPr>
        <p:blipFill>
          <a:blip r:embed="rId3"/>
          <a:stretch>
            <a:fillRect/>
          </a:stretch>
        </p:blipFill>
        <p:spPr>
          <a:xfrm>
            <a:off x="507464" y="1883411"/>
            <a:ext cx="166865" cy="170453"/>
          </a:xfrm>
          <a:prstGeom prst="rect">
            <a:avLst/>
          </a:prstGeom>
        </p:spPr>
      </p:pic>
      <p:pic>
        <p:nvPicPr>
          <p:cNvPr id="28" name="Imagen 27">
            <a:extLst>
              <a:ext uri="{FF2B5EF4-FFF2-40B4-BE49-F238E27FC236}">
                <a16:creationId xmlns:a16="http://schemas.microsoft.com/office/drawing/2014/main" id="{E0F8AE5E-1E87-A649-BD10-9E63BB710555}"/>
              </a:ext>
            </a:extLst>
          </p:cNvPr>
          <p:cNvPicPr>
            <a:picLocks noChangeAspect="1"/>
          </p:cNvPicPr>
          <p:nvPr/>
        </p:nvPicPr>
        <p:blipFill>
          <a:blip r:embed="rId4"/>
          <a:stretch>
            <a:fillRect/>
          </a:stretch>
        </p:blipFill>
        <p:spPr>
          <a:xfrm>
            <a:off x="3752850" y="0"/>
            <a:ext cx="5391150" cy="571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73C5541-505D-6F41-A671-38EC15E045E0}"/>
              </a:ext>
            </a:extLst>
          </p:cNvPr>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317BF9A4-811F-4C4A-B9EE-22A7CD408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4" name="Rectángulo 3">
            <a:extLst>
              <a:ext uri="{FF2B5EF4-FFF2-40B4-BE49-F238E27FC236}">
                <a16:creationId xmlns:a16="http://schemas.microsoft.com/office/drawing/2014/main" id="{493BAB2E-89B5-5140-BB7D-01FBA69FB863}"/>
              </a:ext>
            </a:extLst>
          </p:cNvPr>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67C47878-C318-8F4D-AD45-7470D81C25BB}"/>
              </a:ext>
            </a:extLst>
          </p:cNvPr>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6" name="Imagen 5">
            <a:extLst>
              <a:ext uri="{FF2B5EF4-FFF2-40B4-BE49-F238E27FC236}">
                <a16:creationId xmlns:a16="http://schemas.microsoft.com/office/drawing/2014/main" id="{D5A90BFE-FC98-8547-8A70-05C153A81157}"/>
              </a:ext>
            </a:extLst>
          </p:cNvPr>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7" name="Imagen 6">
            <a:extLst>
              <a:ext uri="{FF2B5EF4-FFF2-40B4-BE49-F238E27FC236}">
                <a16:creationId xmlns:a16="http://schemas.microsoft.com/office/drawing/2014/main" id="{8DD98CC5-DD55-5C42-958C-7A94C370F3AA}"/>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193491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4" name="Rectángulo 3">
            <a:extLst>
              <a:ext uri="{FF2B5EF4-FFF2-40B4-BE49-F238E27FC236}">
                <a16:creationId xmlns:a16="http://schemas.microsoft.com/office/drawing/2014/main" id="{0CBE742F-8DDA-7749-B9F4-C1C7F83F1738}"/>
              </a:ext>
            </a:extLst>
          </p:cNvPr>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object 7">
            <a:extLst>
              <a:ext uri="{FF2B5EF4-FFF2-40B4-BE49-F238E27FC236}">
                <a16:creationId xmlns:a16="http://schemas.microsoft.com/office/drawing/2014/main" id="{ACD32650-83DD-EB46-9913-71279D7FD018}"/>
              </a:ext>
            </a:extLst>
          </p:cNvPr>
          <p:cNvSpPr txBox="1"/>
          <p:nvPr/>
        </p:nvSpPr>
        <p:spPr>
          <a:xfrm>
            <a:off x="1282299" y="918372"/>
            <a:ext cx="5200798" cy="646331"/>
          </a:xfrm>
          <a:prstGeom prst="rect">
            <a:avLst/>
          </a:prstGeom>
        </p:spPr>
        <p:txBody>
          <a:bodyPr vert="horz" wrap="square" lIns="0" tIns="0" rIns="0" bIns="0" rtlCol="0">
            <a:spAutoFit/>
          </a:bodyPr>
          <a:lstStyle/>
          <a:p>
            <a:pPr marL="11725" marR="0" lvl="0" indent="0" algn="l" rtl="0">
              <a:spcBef>
                <a:spcPts val="0"/>
              </a:spcBef>
              <a:spcAft>
                <a:spcPts val="0"/>
              </a:spcAft>
              <a:buNone/>
            </a:pPr>
            <a:r>
              <a:rPr lang="es-PE" dirty="0">
                <a:solidFill>
                  <a:srgbClr val="262626"/>
                </a:solidFill>
                <a:latin typeface="Calibri"/>
                <a:ea typeface="Calibri"/>
                <a:cs typeface="Calibri"/>
                <a:sym typeface="Calibri"/>
              </a:rPr>
              <a:t>Durante esta sesión:</a:t>
            </a:r>
            <a:endParaRPr lang="es-PE" dirty="0"/>
          </a:p>
          <a:p>
            <a:pPr marL="177800" lvl="1" indent="-165100">
              <a:buClr>
                <a:srgbClr val="EE4639"/>
              </a:buClr>
              <a:buSzPct val="100000"/>
              <a:buFont typeface="Arial" charset="0"/>
              <a:buChar char="•"/>
              <a:tabLst>
                <a:tab pos="120650" algn="l"/>
              </a:tabLst>
            </a:pPr>
            <a:r>
              <a:rPr lang="es-PE" b="1" spc="-10" dirty="0">
                <a:solidFill>
                  <a:srgbClr val="262626"/>
                </a:solidFill>
                <a:latin typeface="Calibri" charset="0"/>
                <a:cs typeface="Calibri" charset="0"/>
                <a:sym typeface="Calibri"/>
              </a:rPr>
              <a:t>Identificarás</a:t>
            </a:r>
            <a:r>
              <a:rPr lang="es-PE" spc="-10" dirty="0">
                <a:solidFill>
                  <a:srgbClr val="262626"/>
                </a:solidFill>
                <a:latin typeface="Calibri" charset="0"/>
                <a:cs typeface="Calibri" charset="0"/>
                <a:sym typeface="Calibri"/>
              </a:rPr>
              <a:t> el contexto de aplicación de la prueba estática walkthrough, elaborando y explicando la documentación generada.</a:t>
            </a:r>
            <a:endParaRPr lang="es-PE" spc="-10" dirty="0">
              <a:solidFill>
                <a:srgbClr val="262626"/>
              </a:solidFill>
              <a:latin typeface="Calibri" charset="0"/>
              <a:cs typeface="Calibri" charset="0"/>
            </a:endParaRPr>
          </a:p>
        </p:txBody>
      </p:sp>
      <p:pic>
        <p:nvPicPr>
          <p:cNvPr id="6" name="Imagen 5">
            <a:extLst>
              <a:ext uri="{FF2B5EF4-FFF2-40B4-BE49-F238E27FC236}">
                <a16:creationId xmlns:a16="http://schemas.microsoft.com/office/drawing/2014/main" id="{76093ABB-4FD9-194D-B271-FB44E39F21B8}"/>
              </a:ext>
            </a:extLst>
          </p:cNvPr>
          <p:cNvPicPr>
            <a:picLocks noChangeAspect="1"/>
          </p:cNvPicPr>
          <p:nvPr/>
        </p:nvPicPr>
        <p:blipFill>
          <a:blip r:embed="rId3"/>
          <a:stretch>
            <a:fillRect/>
          </a:stretch>
        </p:blipFill>
        <p:spPr>
          <a:xfrm>
            <a:off x="1010839" y="954885"/>
            <a:ext cx="117851" cy="121369"/>
          </a:xfrm>
          <a:prstGeom prst="rect">
            <a:avLst/>
          </a:prstGeom>
        </p:spPr>
      </p:pic>
      <p:pic>
        <p:nvPicPr>
          <p:cNvPr id="7" name="Imagen 6">
            <a:extLst>
              <a:ext uri="{FF2B5EF4-FFF2-40B4-BE49-F238E27FC236}">
                <a16:creationId xmlns:a16="http://schemas.microsoft.com/office/drawing/2014/main" id="{E3B58E97-A422-3F47-9BC6-4B9563DE205D}"/>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sp>
        <p:nvSpPr>
          <p:cNvPr id="8" name="Rectángulo 7">
            <a:extLst>
              <a:ext uri="{FF2B5EF4-FFF2-40B4-BE49-F238E27FC236}">
                <a16:creationId xmlns:a16="http://schemas.microsoft.com/office/drawing/2014/main" id="{07BB320C-FE5E-B74C-B345-BC7D18EDA578}"/>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9" name="Rectangle 5">
            <a:extLst>
              <a:ext uri="{FF2B5EF4-FFF2-40B4-BE49-F238E27FC236}">
                <a16:creationId xmlns:a16="http://schemas.microsoft.com/office/drawing/2014/main" id="{D99674B6-96A1-4B44-9A02-754A1CBF465A}"/>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4" name="Rectángulo 3">
            <a:extLst>
              <a:ext uri="{FF2B5EF4-FFF2-40B4-BE49-F238E27FC236}">
                <a16:creationId xmlns:a16="http://schemas.microsoft.com/office/drawing/2014/main" id="{226E40D9-615B-EE4C-94F7-480B56EF1114}"/>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0418DEFD-0CF7-7F4E-94E6-44B31B9A3768}"/>
              </a:ext>
            </a:extLst>
          </p:cNvPr>
          <p:cNvSpPr txBox="1"/>
          <p:nvPr/>
        </p:nvSpPr>
        <p:spPr>
          <a:xfrm>
            <a:off x="1008063" y="3169972"/>
            <a:ext cx="5993558" cy="387798"/>
          </a:xfrm>
          <a:prstGeom prst="rect">
            <a:avLst/>
          </a:prstGeom>
          <a:noFill/>
        </p:spPr>
        <p:txBody>
          <a:bodyPr wrap="square" lIns="0" tIns="0" rIns="0" bIns="0" rtlCol="0">
            <a:spAutoFit/>
          </a:bodyPr>
          <a:lstStyle/>
          <a:p>
            <a:pPr>
              <a:lnSpc>
                <a:spcPct val="90000"/>
              </a:lnSpc>
              <a:spcBef>
                <a:spcPts val="1000"/>
              </a:spcBef>
              <a:defRPr/>
            </a:pPr>
            <a:r>
              <a:rPr lang="es-PE" sz="2800" b="1" dirty="0">
                <a:solidFill>
                  <a:schemeClr val="bg1"/>
                </a:solidFill>
                <a:latin typeface="Graphik Bold" charset="0"/>
                <a:ea typeface="Graphik Bold" charset="0"/>
                <a:cs typeface="Graphik Bold" charset="0"/>
              </a:rPr>
              <a:t>WALKTHROUGH</a:t>
            </a:r>
          </a:p>
        </p:txBody>
      </p:sp>
      <p:pic>
        <p:nvPicPr>
          <p:cNvPr id="6" name="Imagen 5">
            <a:extLst>
              <a:ext uri="{FF2B5EF4-FFF2-40B4-BE49-F238E27FC236}">
                <a16:creationId xmlns:a16="http://schemas.microsoft.com/office/drawing/2014/main" id="{07FD9861-9730-FB40-AC4B-F89AEBEFE216}"/>
              </a:ext>
            </a:extLst>
          </p:cNvPr>
          <p:cNvPicPr>
            <a:picLocks noChangeAspect="1"/>
          </p:cNvPicPr>
          <p:nvPr/>
        </p:nvPicPr>
        <p:blipFill>
          <a:blip r:embed="rId3"/>
          <a:stretch>
            <a:fillRect/>
          </a:stretch>
        </p:blipFill>
        <p:spPr>
          <a:xfrm>
            <a:off x="1008063" y="2869612"/>
            <a:ext cx="195423" cy="201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70" name="Google Shape;70;p4"/>
          <p:cNvSpPr/>
          <p:nvPr/>
        </p:nvSpPr>
        <p:spPr>
          <a:xfrm>
            <a:off x="503238" y="912813"/>
            <a:ext cx="7894450" cy="754053"/>
          </a:xfrm>
          <a:prstGeom prst="rect">
            <a:avLst/>
          </a:prstGeom>
          <a:noFill/>
          <a:ln>
            <a:noFill/>
          </a:ln>
        </p:spPr>
        <p:txBody>
          <a:bodyPr spcFirstLastPara="1" wrap="square" lIns="0" tIns="0" rIns="0" bIns="0" anchor="t" anchorCtr="0">
            <a:spAutoFit/>
          </a:bodyPr>
          <a:lstStyle/>
          <a:p>
            <a:pPr marL="0" marR="0" lvl="0" indent="9525" rtl="0">
              <a:spcBef>
                <a:spcPts val="0"/>
              </a:spcBef>
              <a:spcAft>
                <a:spcPts val="600"/>
              </a:spcAft>
              <a:buNone/>
            </a:pPr>
            <a:r>
              <a:rPr lang="es-PE" sz="1600" b="1" dirty="0">
                <a:solidFill>
                  <a:schemeClr val="dk1"/>
                </a:solidFill>
                <a:latin typeface="Calibri"/>
                <a:ea typeface="Calibri"/>
                <a:cs typeface="Calibri"/>
                <a:sym typeface="Calibri"/>
              </a:rPr>
              <a:t>RECORDEMOS: TÉCNICAS DE PRUEBAS - TAXONOMÍA DE LAS PRUEBAS</a:t>
            </a:r>
            <a:endParaRPr dirty="0"/>
          </a:p>
          <a:p>
            <a:pPr marL="176213" indent="-176213">
              <a:buClr>
                <a:srgbClr val="92C14E"/>
              </a:buClr>
              <a:buSzPct val="100000"/>
              <a:buFont typeface="Arial"/>
              <a:buChar char="•"/>
            </a:pPr>
            <a:endParaRPr dirty="0">
              <a:solidFill>
                <a:schemeClr val="tx1"/>
              </a:solidFill>
              <a:latin typeface="Calibri" panose="020F0502020204030204" pitchFamily="34" charset="0"/>
              <a:ea typeface="+mn-ea"/>
              <a:cs typeface="Calibri" panose="020F0502020204030204" pitchFamily="34" charset="0"/>
              <a:sym typeface="Calibri"/>
            </a:endParaRPr>
          </a:p>
          <a:p>
            <a:pPr marL="176213" indent="-176213">
              <a:buClr>
                <a:srgbClr val="00B1C2"/>
              </a:buClr>
              <a:buSzPct val="100000"/>
              <a:buFont typeface="Arial"/>
              <a:buChar char="•"/>
            </a:pPr>
            <a:endParaRPr dirty="0">
              <a:solidFill>
                <a:schemeClr val="tx1"/>
              </a:solidFill>
              <a:latin typeface="Calibri" panose="020F0502020204030204" pitchFamily="34" charset="0"/>
              <a:ea typeface="+mn-ea"/>
              <a:cs typeface="Calibri" panose="020F0502020204030204" pitchFamily="34" charset="0"/>
              <a:sym typeface="Calibri"/>
            </a:endParaRPr>
          </a:p>
        </p:txBody>
      </p:sp>
      <p:sp>
        <p:nvSpPr>
          <p:cNvPr id="71" name="Google Shape;71;p4"/>
          <p:cNvSpPr txBox="1"/>
          <p:nvPr/>
        </p:nvSpPr>
        <p:spPr>
          <a:xfrm>
            <a:off x="468313" y="5053204"/>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a:solidFill>
                  <a:schemeClr val="bg1">
                    <a:lumMod val="50000"/>
                  </a:schemeClr>
                </a:solidFill>
                <a:latin typeface="Calibri"/>
                <a:ea typeface="Calibri"/>
                <a:cs typeface="Calibri"/>
                <a:sym typeface="Calibri"/>
              </a:rPr>
              <a:t>es.scribd.com</a:t>
            </a:r>
            <a:endParaRPr>
              <a:solidFill>
                <a:schemeClr val="bg1">
                  <a:lumMod val="50000"/>
                </a:schemeClr>
              </a:solidFill>
            </a:endParaRPr>
          </a:p>
        </p:txBody>
      </p:sp>
      <p:sp>
        <p:nvSpPr>
          <p:cNvPr id="5" name="Rectangle 5">
            <a:extLst>
              <a:ext uri="{FF2B5EF4-FFF2-40B4-BE49-F238E27FC236}">
                <a16:creationId xmlns:a16="http://schemas.microsoft.com/office/drawing/2014/main" id="{1AE5D0D2-60D9-3446-9FAF-89213338838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WALKTHROUGH</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redondeado 5">
            <a:extLst>
              <a:ext uri="{FF2B5EF4-FFF2-40B4-BE49-F238E27FC236}">
                <a16:creationId xmlns:a16="http://schemas.microsoft.com/office/drawing/2014/main" id="{641BADC3-B739-1E45-8D02-B60D353ECD1B}"/>
              </a:ext>
            </a:extLst>
          </p:cNvPr>
          <p:cNvSpPr/>
          <p:nvPr/>
        </p:nvSpPr>
        <p:spPr>
          <a:xfrm>
            <a:off x="1054139" y="1539613"/>
            <a:ext cx="7035721" cy="772885"/>
          </a:xfrm>
          <a:prstGeom prst="roundRect">
            <a:avLst>
              <a:gd name="adj" fmla="val 14385"/>
            </a:avLst>
          </a:prstGeom>
          <a:solidFill>
            <a:srgbClr val="D1EFF4"/>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176213" indent="-176213">
              <a:buClr>
                <a:srgbClr val="00B1C2"/>
              </a:buClr>
              <a:buSzPct val="100000"/>
              <a:buFont typeface="Arial"/>
              <a:buChar char="•"/>
            </a:pPr>
            <a:r>
              <a:rPr lang="es-PE" dirty="0">
                <a:solidFill>
                  <a:schemeClr val="tx1"/>
                </a:solidFill>
                <a:latin typeface="Calibri" panose="020F0502020204030204" pitchFamily="34" charset="0"/>
                <a:ea typeface="+mn-ea"/>
                <a:cs typeface="Calibri" panose="020F0502020204030204" pitchFamily="34" charset="0"/>
                <a:sym typeface="Calibri"/>
              </a:rPr>
              <a:t>Las pruebas del software abarcan la exploración final de las especificaciones del diseño y de la codificación.</a:t>
            </a:r>
            <a:endParaRPr lang="es-PE" dirty="0">
              <a:solidFill>
                <a:schemeClr val="tx1"/>
              </a:solidFill>
              <a:latin typeface="Calibri" panose="020F0502020204030204" pitchFamily="34" charset="0"/>
              <a:ea typeface="+mn-ea"/>
              <a:cs typeface="Calibri" panose="020F0502020204030204" pitchFamily="34" charset="0"/>
            </a:endParaRPr>
          </a:p>
        </p:txBody>
      </p:sp>
      <p:sp>
        <p:nvSpPr>
          <p:cNvPr id="7" name="Rectángulo redondeado 6">
            <a:extLst>
              <a:ext uri="{FF2B5EF4-FFF2-40B4-BE49-F238E27FC236}">
                <a16:creationId xmlns:a16="http://schemas.microsoft.com/office/drawing/2014/main" id="{46058320-4B1A-C849-8369-96D3F5A7B539}"/>
              </a:ext>
            </a:extLst>
          </p:cNvPr>
          <p:cNvSpPr/>
          <p:nvPr/>
        </p:nvSpPr>
        <p:spPr>
          <a:xfrm>
            <a:off x="1054139" y="2528964"/>
            <a:ext cx="7035721" cy="772885"/>
          </a:xfrm>
          <a:prstGeom prst="roundRect">
            <a:avLst>
              <a:gd name="adj" fmla="val 14385"/>
            </a:avLst>
          </a:prstGeom>
          <a:solidFill>
            <a:srgbClr val="D1EFF4"/>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176213" indent="-176213">
              <a:buClr>
                <a:srgbClr val="00B1C2"/>
              </a:buClr>
              <a:buSzPct val="100000"/>
              <a:buFont typeface="Arial"/>
              <a:buChar char="•"/>
            </a:pPr>
            <a:r>
              <a:rPr lang="es-PE" dirty="0">
                <a:solidFill>
                  <a:schemeClr val="tx1"/>
                </a:solidFill>
                <a:latin typeface="Calibri" panose="020F0502020204030204" pitchFamily="34" charset="0"/>
                <a:ea typeface="+mn-ea"/>
                <a:cs typeface="Calibri" panose="020F0502020204030204" pitchFamily="34" charset="0"/>
                <a:sym typeface="Calibri"/>
              </a:rPr>
              <a:t>Las pruebas del software son un conjunto de evaluaciones cuyo fin es identificar y descubrir un defecto.</a:t>
            </a:r>
            <a:endParaRPr lang="es-PE" dirty="0">
              <a:solidFill>
                <a:schemeClr val="tx1"/>
              </a:solidFill>
              <a:latin typeface="Calibri" panose="020F0502020204030204" pitchFamily="34" charset="0"/>
              <a:ea typeface="+mn-ea"/>
              <a:cs typeface="Calibri" panose="020F0502020204030204" pitchFamily="34" charset="0"/>
            </a:endParaRPr>
          </a:p>
        </p:txBody>
      </p:sp>
      <p:sp>
        <p:nvSpPr>
          <p:cNvPr id="8" name="Rectángulo redondeado 7">
            <a:extLst>
              <a:ext uri="{FF2B5EF4-FFF2-40B4-BE49-F238E27FC236}">
                <a16:creationId xmlns:a16="http://schemas.microsoft.com/office/drawing/2014/main" id="{165ADB1B-01CF-1441-A5C6-68916B039D65}"/>
              </a:ext>
            </a:extLst>
          </p:cNvPr>
          <p:cNvSpPr/>
          <p:nvPr/>
        </p:nvSpPr>
        <p:spPr>
          <a:xfrm>
            <a:off x="1054139" y="3465849"/>
            <a:ext cx="7035721" cy="941722"/>
          </a:xfrm>
          <a:prstGeom prst="roundRect">
            <a:avLst>
              <a:gd name="adj" fmla="val 14385"/>
            </a:avLst>
          </a:prstGeom>
          <a:solidFill>
            <a:srgbClr val="D1EFF4"/>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176213" indent="-176213">
              <a:buClr>
                <a:srgbClr val="00B1C2"/>
              </a:buClr>
              <a:buSzPct val="100000"/>
              <a:buFont typeface="Arial"/>
              <a:buChar char="•"/>
            </a:pPr>
            <a:r>
              <a:rPr lang="es-PE" dirty="0">
                <a:solidFill>
                  <a:schemeClr val="tx1"/>
                </a:solidFill>
                <a:latin typeface="Calibri" panose="020F0502020204030204" pitchFamily="34" charset="0"/>
                <a:ea typeface="+mn-ea"/>
                <a:cs typeface="Calibri" panose="020F0502020204030204" pitchFamily="34" charset="0"/>
                <a:sym typeface="Calibri"/>
              </a:rPr>
              <a:t>El software debe aprobarse desde dos perspectivas:</a:t>
            </a:r>
            <a:endParaRPr lang="es-PE" dirty="0">
              <a:solidFill>
                <a:schemeClr val="tx1"/>
              </a:solidFill>
              <a:latin typeface="Calibri" panose="020F0502020204030204" pitchFamily="34" charset="0"/>
              <a:ea typeface="+mn-ea"/>
              <a:cs typeface="Calibri" panose="020F0502020204030204" pitchFamily="34" charset="0"/>
            </a:endParaRPr>
          </a:p>
          <a:p>
            <a:pPr marL="312738" marR="0" lvl="1" indent="-133350" rtl="0">
              <a:spcBef>
                <a:spcPts val="0"/>
              </a:spcBef>
              <a:spcAft>
                <a:spcPts val="0"/>
              </a:spcAft>
              <a:buClr>
                <a:srgbClr val="00B1C2"/>
              </a:buClr>
              <a:buSzPct val="100000"/>
              <a:buFont typeface="Arial"/>
              <a:buChar char="•"/>
            </a:pPr>
            <a:r>
              <a:rPr lang="es-PE" b="0" i="0" u="none" strike="noStrike" cap="none" dirty="0">
                <a:solidFill>
                  <a:schemeClr val="dk1"/>
                </a:solidFill>
                <a:latin typeface="Calibri"/>
                <a:ea typeface="Calibri"/>
                <a:cs typeface="Calibri"/>
                <a:sym typeface="Calibri"/>
              </a:rPr>
              <a:t>La lógica interna del programa. Utilizando pruebas de “caja blanca”.</a:t>
            </a:r>
            <a:endParaRPr lang="es-PE" dirty="0"/>
          </a:p>
          <a:p>
            <a:pPr marL="312738" marR="0" lvl="1" indent="-133350" rtl="0">
              <a:spcBef>
                <a:spcPts val="0"/>
              </a:spcBef>
              <a:spcAft>
                <a:spcPts val="0"/>
              </a:spcAft>
              <a:buClr>
                <a:srgbClr val="00B1C2"/>
              </a:buClr>
              <a:buSzPct val="100000"/>
              <a:buFont typeface="Arial"/>
              <a:buChar char="•"/>
            </a:pPr>
            <a:r>
              <a:rPr lang="es-PE" b="0" i="0" u="none" strike="noStrike" cap="none" dirty="0">
                <a:solidFill>
                  <a:schemeClr val="dk1"/>
                </a:solidFill>
                <a:latin typeface="Calibri"/>
                <a:ea typeface="Calibri"/>
                <a:cs typeface="Calibri"/>
                <a:sym typeface="Calibri"/>
              </a:rPr>
              <a:t>Los requisitos del software. Utilizando pruebas de “caja negra”.</a:t>
            </a:r>
            <a:endParaRPr lang="es-P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63" name="Forma libre 62">
            <a:extLst>
              <a:ext uri="{FF2B5EF4-FFF2-40B4-BE49-F238E27FC236}">
                <a16:creationId xmlns:a16="http://schemas.microsoft.com/office/drawing/2014/main" id="{51B0D32A-CEAA-5648-91ED-976AB0D417A8}"/>
              </a:ext>
            </a:extLst>
          </p:cNvPr>
          <p:cNvSpPr/>
          <p:nvPr/>
        </p:nvSpPr>
        <p:spPr>
          <a:xfrm>
            <a:off x="3696229" y="2085224"/>
            <a:ext cx="3719821" cy="121123"/>
          </a:xfrm>
          <a:custGeom>
            <a:avLst/>
            <a:gdLst>
              <a:gd name="connsiteX0" fmla="*/ 0 w 4229100"/>
              <a:gd name="connsiteY0" fmla="*/ 121023 h 134470"/>
              <a:gd name="connsiteX1" fmla="*/ 0 w 4229100"/>
              <a:gd name="connsiteY1" fmla="*/ 0 h 134470"/>
              <a:gd name="connsiteX2" fmla="*/ 4229100 w 4229100"/>
              <a:gd name="connsiteY2" fmla="*/ 0 h 134470"/>
              <a:gd name="connsiteX3" fmla="*/ 4229100 w 4229100"/>
              <a:gd name="connsiteY3" fmla="*/ 134470 h 134470"/>
            </a:gdLst>
            <a:ahLst/>
            <a:cxnLst>
              <a:cxn ang="0">
                <a:pos x="connsiteX0" y="connsiteY0"/>
              </a:cxn>
              <a:cxn ang="0">
                <a:pos x="connsiteX1" y="connsiteY1"/>
              </a:cxn>
              <a:cxn ang="0">
                <a:pos x="connsiteX2" y="connsiteY2"/>
              </a:cxn>
              <a:cxn ang="0">
                <a:pos x="connsiteX3" y="connsiteY3"/>
              </a:cxn>
            </a:cxnLst>
            <a:rect l="l" t="t" r="r" b="b"/>
            <a:pathLst>
              <a:path w="4229100" h="134470">
                <a:moveTo>
                  <a:pt x="0" y="121023"/>
                </a:moveTo>
                <a:lnTo>
                  <a:pt x="0" y="0"/>
                </a:lnTo>
                <a:lnTo>
                  <a:pt x="4229100" y="0"/>
                </a:lnTo>
                <a:lnTo>
                  <a:pt x="4229100" y="134470"/>
                </a:lnTo>
              </a:path>
            </a:pathLst>
          </a:custGeom>
          <a:noFill/>
          <a:ln>
            <a:solidFill>
              <a:srgbClr val="92C1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3" name="Forma libre 52">
            <a:extLst>
              <a:ext uri="{FF2B5EF4-FFF2-40B4-BE49-F238E27FC236}">
                <a16:creationId xmlns:a16="http://schemas.microsoft.com/office/drawing/2014/main" id="{185BC37D-5680-1B49-8553-E0555E14914D}"/>
              </a:ext>
            </a:extLst>
          </p:cNvPr>
          <p:cNvSpPr/>
          <p:nvPr/>
        </p:nvSpPr>
        <p:spPr>
          <a:xfrm>
            <a:off x="3082204" y="2554942"/>
            <a:ext cx="178707" cy="1892738"/>
          </a:xfrm>
          <a:custGeom>
            <a:avLst/>
            <a:gdLst>
              <a:gd name="connsiteX0" fmla="*/ 0 w 141194"/>
              <a:gd name="connsiteY0" fmla="*/ 0 h 2447364"/>
              <a:gd name="connsiteX1" fmla="*/ 0 w 141194"/>
              <a:gd name="connsiteY1" fmla="*/ 2447364 h 2447364"/>
              <a:gd name="connsiteX2" fmla="*/ 141194 w 141194"/>
              <a:gd name="connsiteY2" fmla="*/ 2447364 h 2447364"/>
            </a:gdLst>
            <a:ahLst/>
            <a:cxnLst>
              <a:cxn ang="0">
                <a:pos x="connsiteX0" y="connsiteY0"/>
              </a:cxn>
              <a:cxn ang="0">
                <a:pos x="connsiteX1" y="connsiteY1"/>
              </a:cxn>
              <a:cxn ang="0">
                <a:pos x="connsiteX2" y="connsiteY2"/>
              </a:cxn>
            </a:cxnLst>
            <a:rect l="l" t="t" r="r" b="b"/>
            <a:pathLst>
              <a:path w="141194" h="2447364">
                <a:moveTo>
                  <a:pt x="0" y="0"/>
                </a:moveTo>
                <a:lnTo>
                  <a:pt x="0" y="2447364"/>
                </a:lnTo>
                <a:lnTo>
                  <a:pt x="141194" y="2447364"/>
                </a:lnTo>
              </a:path>
            </a:pathLst>
          </a:custGeom>
          <a:noFill/>
          <a:ln>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9" name="Google Shape;79;p5"/>
          <p:cNvSpPr/>
          <p:nvPr/>
        </p:nvSpPr>
        <p:spPr>
          <a:xfrm>
            <a:off x="787576" y="1586766"/>
            <a:ext cx="1380150" cy="394344"/>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Estáticas</a:t>
            </a:r>
            <a:endParaRPr/>
          </a:p>
        </p:txBody>
      </p:sp>
      <p:sp>
        <p:nvSpPr>
          <p:cNvPr id="80" name="Google Shape;80;p5"/>
          <p:cNvSpPr/>
          <p:nvPr/>
        </p:nvSpPr>
        <p:spPr>
          <a:xfrm>
            <a:off x="1011228" y="2172581"/>
            <a:ext cx="1420290" cy="394344"/>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lt1"/>
                </a:solidFill>
                <a:latin typeface="Calibri"/>
                <a:ea typeface="Calibri"/>
                <a:cs typeface="Calibri"/>
                <a:sym typeface="Calibri"/>
              </a:rPr>
              <a:t>Revisiones</a:t>
            </a:r>
            <a:endParaRPr sz="1300"/>
          </a:p>
        </p:txBody>
      </p:sp>
      <p:sp>
        <p:nvSpPr>
          <p:cNvPr id="81" name="Google Shape;81;p5"/>
          <p:cNvSpPr/>
          <p:nvPr/>
        </p:nvSpPr>
        <p:spPr>
          <a:xfrm>
            <a:off x="1011228" y="2690216"/>
            <a:ext cx="1420290" cy="394344"/>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lt1"/>
                </a:solidFill>
                <a:latin typeface="Calibri"/>
                <a:ea typeface="Calibri"/>
                <a:cs typeface="Calibri"/>
                <a:sym typeface="Calibri"/>
              </a:rPr>
              <a:t>Walkthoughs</a:t>
            </a:r>
            <a:endParaRPr sz="1300"/>
          </a:p>
        </p:txBody>
      </p:sp>
      <p:sp>
        <p:nvSpPr>
          <p:cNvPr id="82" name="Google Shape;82;p5"/>
          <p:cNvSpPr/>
          <p:nvPr/>
        </p:nvSpPr>
        <p:spPr>
          <a:xfrm>
            <a:off x="1011228" y="3207851"/>
            <a:ext cx="1420290" cy="394344"/>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lt1"/>
                </a:solidFill>
                <a:latin typeface="Calibri"/>
                <a:ea typeface="Calibri"/>
                <a:cs typeface="Calibri"/>
                <a:sym typeface="Calibri"/>
              </a:rPr>
              <a:t>Revisión Técnica</a:t>
            </a:r>
            <a:endParaRPr sz="1300"/>
          </a:p>
        </p:txBody>
      </p:sp>
      <p:sp>
        <p:nvSpPr>
          <p:cNvPr id="83" name="Google Shape;83;p5"/>
          <p:cNvSpPr/>
          <p:nvPr/>
        </p:nvSpPr>
        <p:spPr>
          <a:xfrm>
            <a:off x="1011228" y="3725485"/>
            <a:ext cx="1420290" cy="394344"/>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lt1"/>
                </a:solidFill>
                <a:latin typeface="Calibri"/>
                <a:ea typeface="Calibri"/>
                <a:cs typeface="Calibri"/>
                <a:sym typeface="Calibri"/>
              </a:rPr>
              <a:t>Inspección</a:t>
            </a:r>
            <a:endParaRPr sz="1300"/>
          </a:p>
        </p:txBody>
      </p:sp>
      <p:sp>
        <p:nvSpPr>
          <p:cNvPr id="84" name="Google Shape;84;p5"/>
          <p:cNvSpPr/>
          <p:nvPr/>
        </p:nvSpPr>
        <p:spPr>
          <a:xfrm>
            <a:off x="1011228" y="4243120"/>
            <a:ext cx="1420290" cy="394344"/>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lt1"/>
                </a:solidFill>
                <a:latin typeface="Calibri"/>
                <a:ea typeface="Calibri"/>
                <a:cs typeface="Calibri"/>
                <a:sym typeface="Calibri"/>
              </a:rPr>
              <a:t>Análisis Estático</a:t>
            </a:r>
            <a:endParaRPr sz="1300"/>
          </a:p>
        </p:txBody>
      </p:sp>
      <p:cxnSp>
        <p:nvCxnSpPr>
          <p:cNvPr id="99" name="Google Shape;99;p5"/>
          <p:cNvCxnSpPr/>
          <p:nvPr/>
        </p:nvCxnSpPr>
        <p:spPr>
          <a:xfrm rot="10800000">
            <a:off x="3502446" y="1294358"/>
            <a:ext cx="0" cy="154829"/>
          </a:xfrm>
          <a:prstGeom prst="straightConnector1">
            <a:avLst/>
          </a:prstGeom>
          <a:noFill/>
          <a:ln w="25400" cap="flat" cmpd="sng">
            <a:solidFill>
              <a:srgbClr val="EE4639"/>
            </a:solidFill>
            <a:prstDash val="solid"/>
            <a:round/>
            <a:headEnd type="none" w="sm" len="sm"/>
            <a:tailEnd type="none" w="sm" len="sm"/>
          </a:ln>
        </p:spPr>
      </p:cxnSp>
      <p:cxnSp>
        <p:nvCxnSpPr>
          <p:cNvPr id="102" name="Google Shape;102;p5"/>
          <p:cNvCxnSpPr/>
          <p:nvPr/>
        </p:nvCxnSpPr>
        <p:spPr>
          <a:xfrm>
            <a:off x="848380" y="3922656"/>
            <a:ext cx="230959" cy="0"/>
          </a:xfrm>
          <a:prstGeom prst="straightConnector1">
            <a:avLst/>
          </a:prstGeom>
          <a:noFill/>
          <a:ln w="25400" cap="flat" cmpd="sng">
            <a:solidFill>
              <a:srgbClr val="92C14E"/>
            </a:solidFill>
            <a:prstDash val="solid"/>
            <a:round/>
            <a:headEnd type="none" w="sm" len="sm"/>
            <a:tailEnd type="none" w="sm" len="sm"/>
          </a:ln>
        </p:spPr>
      </p:cxnSp>
      <p:cxnSp>
        <p:nvCxnSpPr>
          <p:cNvPr id="103" name="Google Shape;103;p5"/>
          <p:cNvCxnSpPr/>
          <p:nvPr/>
        </p:nvCxnSpPr>
        <p:spPr>
          <a:xfrm>
            <a:off x="848380" y="3405021"/>
            <a:ext cx="230959" cy="0"/>
          </a:xfrm>
          <a:prstGeom prst="straightConnector1">
            <a:avLst/>
          </a:prstGeom>
          <a:noFill/>
          <a:ln w="25400" cap="flat" cmpd="sng">
            <a:solidFill>
              <a:srgbClr val="92C14E"/>
            </a:solidFill>
            <a:prstDash val="solid"/>
            <a:round/>
            <a:headEnd type="none" w="sm" len="sm"/>
            <a:tailEnd type="none" w="sm" len="sm"/>
          </a:ln>
        </p:spPr>
      </p:cxnSp>
      <p:cxnSp>
        <p:nvCxnSpPr>
          <p:cNvPr id="104" name="Google Shape;104;p5"/>
          <p:cNvCxnSpPr/>
          <p:nvPr/>
        </p:nvCxnSpPr>
        <p:spPr>
          <a:xfrm>
            <a:off x="848380" y="2890143"/>
            <a:ext cx="230959" cy="0"/>
          </a:xfrm>
          <a:prstGeom prst="straightConnector1">
            <a:avLst/>
          </a:prstGeom>
          <a:noFill/>
          <a:ln w="25400" cap="flat" cmpd="sng">
            <a:solidFill>
              <a:srgbClr val="92C14E"/>
            </a:solidFill>
            <a:prstDash val="solid"/>
            <a:round/>
            <a:headEnd type="none" w="sm" len="sm"/>
            <a:tailEnd type="none" w="sm" len="sm"/>
          </a:ln>
        </p:spPr>
      </p:cxnSp>
      <p:cxnSp>
        <p:nvCxnSpPr>
          <p:cNvPr id="105" name="Google Shape;105;p5"/>
          <p:cNvCxnSpPr/>
          <p:nvPr/>
        </p:nvCxnSpPr>
        <p:spPr>
          <a:xfrm>
            <a:off x="848380" y="2369751"/>
            <a:ext cx="230959" cy="0"/>
          </a:xfrm>
          <a:prstGeom prst="straightConnector1">
            <a:avLst/>
          </a:prstGeom>
          <a:noFill/>
          <a:ln w="25400" cap="flat" cmpd="sng">
            <a:solidFill>
              <a:srgbClr val="92C14E"/>
            </a:solidFill>
            <a:prstDash val="solid"/>
            <a:round/>
            <a:headEnd type="none" w="sm" len="sm"/>
            <a:tailEnd type="none" w="sm" len="sm"/>
          </a:ln>
        </p:spPr>
      </p:cxnSp>
      <p:cxnSp>
        <p:nvCxnSpPr>
          <p:cNvPr id="107" name="Google Shape;107;p5"/>
          <p:cNvCxnSpPr/>
          <p:nvPr/>
        </p:nvCxnSpPr>
        <p:spPr>
          <a:xfrm>
            <a:off x="3080815" y="3407778"/>
            <a:ext cx="230959" cy="0"/>
          </a:xfrm>
          <a:prstGeom prst="straightConnector1">
            <a:avLst/>
          </a:prstGeom>
          <a:noFill/>
          <a:ln w="25400" cap="flat" cmpd="sng">
            <a:solidFill>
              <a:srgbClr val="EE4639"/>
            </a:solidFill>
            <a:prstDash val="solid"/>
            <a:round/>
            <a:headEnd type="none" w="sm" len="sm"/>
            <a:tailEnd type="none" w="sm" len="sm"/>
          </a:ln>
        </p:spPr>
      </p:cxnSp>
      <p:cxnSp>
        <p:nvCxnSpPr>
          <p:cNvPr id="108" name="Google Shape;108;p5"/>
          <p:cNvCxnSpPr/>
          <p:nvPr/>
        </p:nvCxnSpPr>
        <p:spPr>
          <a:xfrm>
            <a:off x="3080815" y="2887386"/>
            <a:ext cx="230959" cy="0"/>
          </a:xfrm>
          <a:prstGeom prst="straightConnector1">
            <a:avLst/>
          </a:prstGeom>
          <a:noFill/>
          <a:ln w="25400" cap="flat" cmpd="sng">
            <a:solidFill>
              <a:srgbClr val="EE4639"/>
            </a:solidFill>
            <a:prstDash val="solid"/>
            <a:round/>
            <a:headEnd type="none" w="sm" len="sm"/>
            <a:tailEnd type="none" w="sm" len="sm"/>
          </a:ln>
        </p:spPr>
      </p:cxnSp>
      <p:cxnSp>
        <p:nvCxnSpPr>
          <p:cNvPr id="109" name="Google Shape;109;p5"/>
          <p:cNvCxnSpPr/>
          <p:nvPr/>
        </p:nvCxnSpPr>
        <p:spPr>
          <a:xfrm>
            <a:off x="3080815" y="3922656"/>
            <a:ext cx="230959" cy="0"/>
          </a:xfrm>
          <a:prstGeom prst="straightConnector1">
            <a:avLst/>
          </a:prstGeom>
          <a:noFill/>
          <a:ln w="25400" cap="flat" cmpd="sng">
            <a:solidFill>
              <a:srgbClr val="EE4639"/>
            </a:solidFill>
            <a:prstDash val="solid"/>
            <a:round/>
            <a:headEnd type="none" w="sm" len="sm"/>
            <a:tailEnd type="none" w="sm" len="sm"/>
          </a:ln>
        </p:spPr>
      </p:cxnSp>
      <p:cxnSp>
        <p:nvCxnSpPr>
          <p:cNvPr id="112" name="Google Shape;112;p5"/>
          <p:cNvCxnSpPr/>
          <p:nvPr/>
        </p:nvCxnSpPr>
        <p:spPr>
          <a:xfrm>
            <a:off x="4864790" y="2887386"/>
            <a:ext cx="230959" cy="0"/>
          </a:xfrm>
          <a:prstGeom prst="straightConnector1">
            <a:avLst/>
          </a:prstGeom>
          <a:noFill/>
          <a:ln w="25400" cap="flat" cmpd="sng">
            <a:solidFill>
              <a:srgbClr val="EE4639"/>
            </a:solidFill>
            <a:prstDash val="solid"/>
            <a:round/>
            <a:headEnd type="none" w="sm" len="sm"/>
            <a:tailEnd type="none" w="sm" len="sm"/>
          </a:ln>
        </p:spPr>
      </p:cxnSp>
      <p:cxnSp>
        <p:nvCxnSpPr>
          <p:cNvPr id="115" name="Google Shape;115;p5"/>
          <p:cNvCxnSpPr/>
          <p:nvPr/>
        </p:nvCxnSpPr>
        <p:spPr>
          <a:xfrm>
            <a:off x="6682587" y="2887386"/>
            <a:ext cx="230959" cy="0"/>
          </a:xfrm>
          <a:prstGeom prst="straightConnector1">
            <a:avLst/>
          </a:prstGeom>
          <a:noFill/>
          <a:ln w="25400" cap="flat" cmpd="sng">
            <a:solidFill>
              <a:srgbClr val="EE4639"/>
            </a:solidFill>
            <a:prstDash val="solid"/>
            <a:round/>
            <a:headEnd type="none" w="sm" len="sm"/>
            <a:tailEnd type="none" w="sm" len="sm"/>
          </a:ln>
        </p:spPr>
      </p:cxnSp>
      <p:cxnSp>
        <p:nvCxnSpPr>
          <p:cNvPr id="116" name="Google Shape;116;p5"/>
          <p:cNvCxnSpPr/>
          <p:nvPr/>
        </p:nvCxnSpPr>
        <p:spPr>
          <a:xfrm>
            <a:off x="6682587" y="3405021"/>
            <a:ext cx="230959" cy="0"/>
          </a:xfrm>
          <a:prstGeom prst="straightConnector1">
            <a:avLst/>
          </a:prstGeom>
          <a:noFill/>
          <a:ln w="25400" cap="flat" cmpd="sng">
            <a:solidFill>
              <a:srgbClr val="EE4639"/>
            </a:solidFill>
            <a:prstDash val="solid"/>
            <a:round/>
            <a:headEnd type="none" w="sm" len="sm"/>
            <a:tailEnd type="none" w="sm" len="sm"/>
          </a:ln>
        </p:spPr>
      </p:cxnSp>
      <p:cxnSp>
        <p:nvCxnSpPr>
          <p:cNvPr id="117" name="Google Shape;117;p5"/>
          <p:cNvCxnSpPr/>
          <p:nvPr/>
        </p:nvCxnSpPr>
        <p:spPr>
          <a:xfrm>
            <a:off x="6682587" y="3925994"/>
            <a:ext cx="230959" cy="0"/>
          </a:xfrm>
          <a:prstGeom prst="straightConnector1">
            <a:avLst/>
          </a:prstGeom>
          <a:noFill/>
          <a:ln w="25400" cap="flat" cmpd="sng">
            <a:solidFill>
              <a:srgbClr val="EE4639"/>
            </a:solidFill>
            <a:prstDash val="solid"/>
            <a:round/>
            <a:headEnd type="none" w="sm" len="sm"/>
            <a:tailEnd type="none" w="sm" len="sm"/>
          </a:ln>
        </p:spPr>
      </p:cxnSp>
      <p:cxnSp>
        <p:nvCxnSpPr>
          <p:cNvPr id="118" name="Google Shape;118;p5"/>
          <p:cNvCxnSpPr/>
          <p:nvPr/>
        </p:nvCxnSpPr>
        <p:spPr>
          <a:xfrm>
            <a:off x="6682587" y="4447685"/>
            <a:ext cx="230959" cy="0"/>
          </a:xfrm>
          <a:prstGeom prst="straightConnector1">
            <a:avLst/>
          </a:prstGeom>
          <a:noFill/>
          <a:ln w="25400" cap="flat" cmpd="sng">
            <a:solidFill>
              <a:srgbClr val="EE4639"/>
            </a:solidFill>
            <a:prstDash val="solid"/>
            <a:round/>
            <a:headEnd type="none" w="sm" len="sm"/>
            <a:tailEnd type="none" w="sm" len="sm"/>
          </a:ln>
        </p:spPr>
      </p:cxnSp>
      <p:cxnSp>
        <p:nvCxnSpPr>
          <p:cNvPr id="121" name="Google Shape;121;p5"/>
          <p:cNvCxnSpPr/>
          <p:nvPr/>
        </p:nvCxnSpPr>
        <p:spPr>
          <a:xfrm rot="10800000">
            <a:off x="5582738" y="1919197"/>
            <a:ext cx="0" cy="154829"/>
          </a:xfrm>
          <a:prstGeom prst="straightConnector1">
            <a:avLst/>
          </a:prstGeom>
          <a:noFill/>
          <a:ln w="25400" cap="flat" cmpd="sng">
            <a:solidFill>
              <a:srgbClr val="92C14E"/>
            </a:solidFill>
            <a:prstDash val="solid"/>
            <a:round/>
            <a:headEnd type="none" w="sm" len="sm"/>
            <a:tailEnd type="none" w="sm" len="sm"/>
          </a:ln>
        </p:spPr>
      </p:cxnSp>
      <p:sp>
        <p:nvSpPr>
          <p:cNvPr id="122" name="Google Shape;122;p5"/>
          <p:cNvSpPr/>
          <p:nvPr/>
        </p:nvSpPr>
        <p:spPr>
          <a:xfrm>
            <a:off x="4892663" y="1592326"/>
            <a:ext cx="1380150" cy="394344"/>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Dinámicas</a:t>
            </a:r>
            <a:endParaRPr/>
          </a:p>
        </p:txBody>
      </p:sp>
      <p:sp>
        <p:nvSpPr>
          <p:cNvPr id="49" name="Rectangle 5">
            <a:extLst>
              <a:ext uri="{FF2B5EF4-FFF2-40B4-BE49-F238E27FC236}">
                <a16:creationId xmlns:a16="http://schemas.microsoft.com/office/drawing/2014/main" id="{1FBEC7F2-3E76-864F-89D4-B71209D4584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WALKTHROUGH</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87" name="Google Shape;87;p5"/>
          <p:cNvSpPr/>
          <p:nvPr/>
        </p:nvSpPr>
        <p:spPr>
          <a:xfrm>
            <a:off x="3202306" y="2690216"/>
            <a:ext cx="1499153" cy="394344"/>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Sentencias</a:t>
            </a:r>
            <a:endParaRPr sz="1300">
              <a:solidFill>
                <a:schemeClr val="tx1"/>
              </a:solidFill>
            </a:endParaRPr>
          </a:p>
        </p:txBody>
      </p:sp>
      <p:sp>
        <p:nvSpPr>
          <p:cNvPr id="88" name="Google Shape;88;p5"/>
          <p:cNvSpPr/>
          <p:nvPr/>
        </p:nvSpPr>
        <p:spPr>
          <a:xfrm>
            <a:off x="3202306" y="3207850"/>
            <a:ext cx="1499153" cy="394344"/>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Decisión</a:t>
            </a:r>
            <a:endParaRPr sz="1300">
              <a:solidFill>
                <a:schemeClr val="tx1"/>
              </a:solidFill>
            </a:endParaRPr>
          </a:p>
        </p:txBody>
      </p:sp>
      <p:sp>
        <p:nvSpPr>
          <p:cNvPr id="89" name="Google Shape;89;p5"/>
          <p:cNvSpPr/>
          <p:nvPr/>
        </p:nvSpPr>
        <p:spPr>
          <a:xfrm>
            <a:off x="3202306" y="3725484"/>
            <a:ext cx="1499153" cy="394344"/>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Condición</a:t>
            </a:r>
            <a:endParaRPr sz="1300">
              <a:solidFill>
                <a:schemeClr val="tx1"/>
              </a:solidFill>
            </a:endParaRPr>
          </a:p>
        </p:txBody>
      </p:sp>
      <p:sp>
        <p:nvSpPr>
          <p:cNvPr id="90" name="Google Shape;90;p5"/>
          <p:cNvSpPr/>
          <p:nvPr/>
        </p:nvSpPr>
        <p:spPr>
          <a:xfrm>
            <a:off x="3202305" y="4242696"/>
            <a:ext cx="1499154" cy="394344"/>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Múltiple Condición</a:t>
            </a:r>
            <a:endParaRPr sz="1300">
              <a:solidFill>
                <a:schemeClr val="tx1"/>
              </a:solidFill>
            </a:endParaRPr>
          </a:p>
        </p:txBody>
      </p:sp>
      <p:sp>
        <p:nvSpPr>
          <p:cNvPr id="91" name="Google Shape;91;p5"/>
          <p:cNvSpPr/>
          <p:nvPr/>
        </p:nvSpPr>
        <p:spPr>
          <a:xfrm>
            <a:off x="5008753" y="2690216"/>
            <a:ext cx="1499153" cy="394344"/>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Adivinar Errores</a:t>
            </a:r>
            <a:endParaRPr sz="1300">
              <a:solidFill>
                <a:schemeClr val="tx1"/>
              </a:solidFill>
            </a:endParaRPr>
          </a:p>
        </p:txBody>
      </p:sp>
      <p:sp>
        <p:nvSpPr>
          <p:cNvPr id="93" name="Google Shape;93;p5"/>
          <p:cNvSpPr/>
          <p:nvPr/>
        </p:nvSpPr>
        <p:spPr>
          <a:xfrm>
            <a:off x="6857270" y="2689793"/>
            <a:ext cx="1499153" cy="394767"/>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dirty="0">
                <a:solidFill>
                  <a:schemeClr val="tx1"/>
                </a:solidFill>
                <a:latin typeface="Calibri"/>
                <a:ea typeface="Calibri"/>
                <a:cs typeface="Calibri"/>
                <a:sym typeface="Calibri"/>
              </a:rPr>
              <a:t>Participación de Equivalencia</a:t>
            </a:r>
            <a:endParaRPr sz="1300" dirty="0">
              <a:solidFill>
                <a:schemeClr val="tx1"/>
              </a:solidFill>
            </a:endParaRPr>
          </a:p>
        </p:txBody>
      </p:sp>
      <p:sp>
        <p:nvSpPr>
          <p:cNvPr id="94" name="Google Shape;94;p5"/>
          <p:cNvSpPr/>
          <p:nvPr/>
        </p:nvSpPr>
        <p:spPr>
          <a:xfrm>
            <a:off x="6857270" y="3196432"/>
            <a:ext cx="1499153" cy="405762"/>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Análisis de Valores de Frontera</a:t>
            </a:r>
            <a:endParaRPr sz="1300">
              <a:solidFill>
                <a:schemeClr val="tx1"/>
              </a:solidFill>
            </a:endParaRPr>
          </a:p>
        </p:txBody>
      </p:sp>
      <p:sp>
        <p:nvSpPr>
          <p:cNvPr id="95" name="Google Shape;95;p5"/>
          <p:cNvSpPr/>
          <p:nvPr/>
        </p:nvSpPr>
        <p:spPr>
          <a:xfrm>
            <a:off x="6857270" y="3725484"/>
            <a:ext cx="1499153" cy="394344"/>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Tablas de Decisión</a:t>
            </a:r>
            <a:endParaRPr sz="1300">
              <a:solidFill>
                <a:schemeClr val="tx1"/>
              </a:solidFill>
            </a:endParaRPr>
          </a:p>
        </p:txBody>
      </p:sp>
      <p:sp>
        <p:nvSpPr>
          <p:cNvPr id="96" name="Google Shape;96;p5"/>
          <p:cNvSpPr/>
          <p:nvPr/>
        </p:nvSpPr>
        <p:spPr>
          <a:xfrm>
            <a:off x="6857269" y="4242696"/>
            <a:ext cx="1499154" cy="394344"/>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Estados de Transición</a:t>
            </a:r>
            <a:endParaRPr sz="1300">
              <a:solidFill>
                <a:schemeClr val="tx1"/>
              </a:solidFill>
            </a:endParaRPr>
          </a:p>
        </p:txBody>
      </p:sp>
      <p:sp>
        <p:nvSpPr>
          <p:cNvPr id="97" name="Google Shape;97;p5"/>
          <p:cNvSpPr/>
          <p:nvPr/>
        </p:nvSpPr>
        <p:spPr>
          <a:xfrm>
            <a:off x="6857269" y="4759908"/>
            <a:ext cx="1499154" cy="394344"/>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Casos de Usos</a:t>
            </a:r>
            <a:endParaRPr sz="1300">
              <a:solidFill>
                <a:schemeClr val="tx1"/>
              </a:solidFill>
            </a:endParaRPr>
          </a:p>
        </p:txBody>
      </p:sp>
      <p:sp>
        <p:nvSpPr>
          <p:cNvPr id="4" name="Forma libre 3">
            <a:extLst>
              <a:ext uri="{FF2B5EF4-FFF2-40B4-BE49-F238E27FC236}">
                <a16:creationId xmlns:a16="http://schemas.microsoft.com/office/drawing/2014/main" id="{B1C295BA-4AAC-8E4E-AAB6-EB04DB2A5205}"/>
              </a:ext>
            </a:extLst>
          </p:cNvPr>
          <p:cNvSpPr/>
          <p:nvPr/>
        </p:nvSpPr>
        <p:spPr>
          <a:xfrm>
            <a:off x="836546" y="1976718"/>
            <a:ext cx="178707" cy="2447364"/>
          </a:xfrm>
          <a:custGeom>
            <a:avLst/>
            <a:gdLst>
              <a:gd name="connsiteX0" fmla="*/ 0 w 141194"/>
              <a:gd name="connsiteY0" fmla="*/ 0 h 2447364"/>
              <a:gd name="connsiteX1" fmla="*/ 0 w 141194"/>
              <a:gd name="connsiteY1" fmla="*/ 2447364 h 2447364"/>
              <a:gd name="connsiteX2" fmla="*/ 141194 w 141194"/>
              <a:gd name="connsiteY2" fmla="*/ 2447364 h 2447364"/>
            </a:gdLst>
            <a:ahLst/>
            <a:cxnLst>
              <a:cxn ang="0">
                <a:pos x="connsiteX0" y="connsiteY0"/>
              </a:cxn>
              <a:cxn ang="0">
                <a:pos x="connsiteX1" y="connsiteY1"/>
              </a:cxn>
              <a:cxn ang="0">
                <a:pos x="connsiteX2" y="connsiteY2"/>
              </a:cxn>
            </a:cxnLst>
            <a:rect l="l" t="t" r="r" b="b"/>
            <a:pathLst>
              <a:path w="141194" h="2447364">
                <a:moveTo>
                  <a:pt x="0" y="0"/>
                </a:moveTo>
                <a:lnTo>
                  <a:pt x="0" y="2447364"/>
                </a:lnTo>
                <a:lnTo>
                  <a:pt x="141194" y="2447364"/>
                </a:lnTo>
              </a:path>
            </a:pathLst>
          </a:custGeom>
          <a:noFill/>
          <a:ln>
            <a:solidFill>
              <a:srgbClr val="92C1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54" name="Grupo 53">
            <a:extLst>
              <a:ext uri="{FF2B5EF4-FFF2-40B4-BE49-F238E27FC236}">
                <a16:creationId xmlns:a16="http://schemas.microsoft.com/office/drawing/2014/main" id="{526DCB52-1102-524D-AE00-68D973CF3502}"/>
              </a:ext>
            </a:extLst>
          </p:cNvPr>
          <p:cNvGrpSpPr/>
          <p:nvPr/>
        </p:nvGrpSpPr>
        <p:grpSpPr>
          <a:xfrm>
            <a:off x="2022750" y="957673"/>
            <a:ext cx="3335910" cy="379672"/>
            <a:chOff x="287221" y="917244"/>
            <a:chExt cx="4077881" cy="500394"/>
          </a:xfrm>
        </p:grpSpPr>
        <p:sp>
          <p:nvSpPr>
            <p:cNvPr id="55" name="Rectángulo redondeado 54">
              <a:extLst>
                <a:ext uri="{FF2B5EF4-FFF2-40B4-BE49-F238E27FC236}">
                  <a16:creationId xmlns:a16="http://schemas.microsoft.com/office/drawing/2014/main" id="{1D65935A-3309-1C45-9C33-F9D3D5A12A6A}"/>
                </a:ext>
              </a:extLst>
            </p:cNvPr>
            <p:cNvSpPr/>
            <p:nvPr/>
          </p:nvSpPr>
          <p:spPr>
            <a:xfrm>
              <a:off x="503237" y="917244"/>
              <a:ext cx="3861865"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300" b="1" dirty="0">
                  <a:solidFill>
                    <a:schemeClr val="lt1"/>
                  </a:solidFill>
                  <a:latin typeface="Calibri" charset="0"/>
                  <a:ea typeface="+mn-ea"/>
                  <a:cs typeface="Calibri" charset="0"/>
                  <a:sym typeface="Calibri"/>
                </a:rPr>
                <a:t>RECORDEMOS:  TÉCNICAS DE PRUEBAS</a:t>
              </a:r>
              <a:endParaRPr lang="es-PE" sz="1300" b="1" dirty="0">
                <a:solidFill>
                  <a:schemeClr val="lt1"/>
                </a:solidFill>
                <a:latin typeface="Calibri" charset="0"/>
                <a:ea typeface="+mn-ea"/>
                <a:cs typeface="Calibri" charset="0"/>
              </a:endParaRPr>
            </a:p>
          </p:txBody>
        </p:sp>
        <p:grpSp>
          <p:nvGrpSpPr>
            <p:cNvPr id="56" name="Agrupar 14">
              <a:extLst>
                <a:ext uri="{FF2B5EF4-FFF2-40B4-BE49-F238E27FC236}">
                  <a16:creationId xmlns:a16="http://schemas.microsoft.com/office/drawing/2014/main" id="{ED775F47-15A1-474F-9F39-1116A7EE5A6E}"/>
                </a:ext>
              </a:extLst>
            </p:cNvPr>
            <p:cNvGrpSpPr/>
            <p:nvPr/>
          </p:nvGrpSpPr>
          <p:grpSpPr>
            <a:xfrm>
              <a:off x="287221" y="965530"/>
              <a:ext cx="459474" cy="403823"/>
              <a:chOff x="5892512" y="2805541"/>
              <a:chExt cx="459474" cy="403823"/>
            </a:xfrm>
          </p:grpSpPr>
          <p:sp>
            <p:nvSpPr>
              <p:cNvPr id="57" name="Elipse 56">
                <a:extLst>
                  <a:ext uri="{FF2B5EF4-FFF2-40B4-BE49-F238E27FC236}">
                    <a16:creationId xmlns:a16="http://schemas.microsoft.com/office/drawing/2014/main" id="{9A232523-C354-D44E-AC02-70538AFE9B56}"/>
                  </a:ext>
                </a:extLst>
              </p:cNvPr>
              <p:cNvSpPr/>
              <p:nvPr/>
            </p:nvSpPr>
            <p:spPr>
              <a:xfrm>
                <a:off x="5956277" y="2824919"/>
                <a:ext cx="395709" cy="376075"/>
              </a:xfrm>
              <a:prstGeom prst="ellipse">
                <a:avLst/>
              </a:prstGeom>
              <a:solidFill>
                <a:srgbClr val="079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58" name="Elipse 57">
                <a:extLst>
                  <a:ext uri="{FF2B5EF4-FFF2-40B4-BE49-F238E27FC236}">
                    <a16:creationId xmlns:a16="http://schemas.microsoft.com/office/drawing/2014/main" id="{778677D0-BDC4-AC44-9229-A72DCCEF5051}"/>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59" name="Triángulo 58">
                <a:extLst>
                  <a:ext uri="{FF2B5EF4-FFF2-40B4-BE49-F238E27FC236}">
                    <a16:creationId xmlns:a16="http://schemas.microsoft.com/office/drawing/2014/main" id="{21A3CC58-18E6-0842-AE51-14CB2760C052}"/>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5" name="Forma libre 4">
            <a:extLst>
              <a:ext uri="{FF2B5EF4-FFF2-40B4-BE49-F238E27FC236}">
                <a16:creationId xmlns:a16="http://schemas.microsoft.com/office/drawing/2014/main" id="{BB8EDAAF-DDA3-3A48-ACBE-61B6D19BF917}"/>
              </a:ext>
            </a:extLst>
          </p:cNvPr>
          <p:cNvSpPr/>
          <p:nvPr/>
        </p:nvSpPr>
        <p:spPr>
          <a:xfrm>
            <a:off x="1405218" y="1459005"/>
            <a:ext cx="4177517" cy="168573"/>
          </a:xfrm>
          <a:custGeom>
            <a:avLst/>
            <a:gdLst>
              <a:gd name="connsiteX0" fmla="*/ 0 w 4229100"/>
              <a:gd name="connsiteY0" fmla="*/ 121023 h 134470"/>
              <a:gd name="connsiteX1" fmla="*/ 0 w 4229100"/>
              <a:gd name="connsiteY1" fmla="*/ 0 h 134470"/>
              <a:gd name="connsiteX2" fmla="*/ 4229100 w 4229100"/>
              <a:gd name="connsiteY2" fmla="*/ 0 h 134470"/>
              <a:gd name="connsiteX3" fmla="*/ 4229100 w 4229100"/>
              <a:gd name="connsiteY3" fmla="*/ 134470 h 134470"/>
            </a:gdLst>
            <a:ahLst/>
            <a:cxnLst>
              <a:cxn ang="0">
                <a:pos x="connsiteX0" y="connsiteY0"/>
              </a:cxn>
              <a:cxn ang="0">
                <a:pos x="connsiteX1" y="connsiteY1"/>
              </a:cxn>
              <a:cxn ang="0">
                <a:pos x="connsiteX2" y="connsiteY2"/>
              </a:cxn>
              <a:cxn ang="0">
                <a:pos x="connsiteX3" y="connsiteY3"/>
              </a:cxn>
            </a:cxnLst>
            <a:rect l="l" t="t" r="r" b="b"/>
            <a:pathLst>
              <a:path w="4229100" h="134470">
                <a:moveTo>
                  <a:pt x="0" y="121023"/>
                </a:moveTo>
                <a:lnTo>
                  <a:pt x="0" y="0"/>
                </a:lnTo>
                <a:lnTo>
                  <a:pt x="4229100" y="0"/>
                </a:lnTo>
                <a:lnTo>
                  <a:pt x="4229100" y="134470"/>
                </a:lnTo>
              </a:path>
            </a:pathLst>
          </a:custGeom>
          <a:noFill/>
          <a:ln>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1" name="Forma libre 60">
            <a:extLst>
              <a:ext uri="{FF2B5EF4-FFF2-40B4-BE49-F238E27FC236}">
                <a16:creationId xmlns:a16="http://schemas.microsoft.com/office/drawing/2014/main" id="{71B27341-FEDF-9A49-9DA7-62FC1972E073}"/>
              </a:ext>
            </a:extLst>
          </p:cNvPr>
          <p:cNvSpPr/>
          <p:nvPr/>
        </p:nvSpPr>
        <p:spPr>
          <a:xfrm>
            <a:off x="4870663" y="2566923"/>
            <a:ext cx="178707" cy="858779"/>
          </a:xfrm>
          <a:custGeom>
            <a:avLst/>
            <a:gdLst>
              <a:gd name="connsiteX0" fmla="*/ 0 w 141194"/>
              <a:gd name="connsiteY0" fmla="*/ 0 h 2447364"/>
              <a:gd name="connsiteX1" fmla="*/ 0 w 141194"/>
              <a:gd name="connsiteY1" fmla="*/ 2447364 h 2447364"/>
              <a:gd name="connsiteX2" fmla="*/ 141194 w 141194"/>
              <a:gd name="connsiteY2" fmla="*/ 2447364 h 2447364"/>
            </a:gdLst>
            <a:ahLst/>
            <a:cxnLst>
              <a:cxn ang="0">
                <a:pos x="connsiteX0" y="connsiteY0"/>
              </a:cxn>
              <a:cxn ang="0">
                <a:pos x="connsiteX1" y="connsiteY1"/>
              </a:cxn>
              <a:cxn ang="0">
                <a:pos x="connsiteX2" y="connsiteY2"/>
              </a:cxn>
            </a:cxnLst>
            <a:rect l="l" t="t" r="r" b="b"/>
            <a:pathLst>
              <a:path w="141194" h="2447364">
                <a:moveTo>
                  <a:pt x="0" y="0"/>
                </a:moveTo>
                <a:lnTo>
                  <a:pt x="0" y="2447364"/>
                </a:lnTo>
                <a:lnTo>
                  <a:pt x="141194" y="2447364"/>
                </a:lnTo>
              </a:path>
            </a:pathLst>
          </a:custGeom>
          <a:noFill/>
          <a:ln>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2" name="Google Shape;92;p5"/>
          <p:cNvSpPr/>
          <p:nvPr/>
        </p:nvSpPr>
        <p:spPr>
          <a:xfrm>
            <a:off x="5008753" y="3207850"/>
            <a:ext cx="1499153" cy="394344"/>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300">
                <a:solidFill>
                  <a:schemeClr val="tx1"/>
                </a:solidFill>
                <a:latin typeface="Calibri"/>
                <a:ea typeface="Calibri"/>
                <a:cs typeface="Calibri"/>
                <a:sym typeface="Calibri"/>
              </a:rPr>
              <a:t>Prueba Exploratoria</a:t>
            </a:r>
            <a:endParaRPr sz="1300">
              <a:solidFill>
                <a:schemeClr val="tx1"/>
              </a:solidFill>
            </a:endParaRPr>
          </a:p>
        </p:txBody>
      </p:sp>
      <p:sp>
        <p:nvSpPr>
          <p:cNvPr id="62" name="Forma libre 61">
            <a:extLst>
              <a:ext uri="{FF2B5EF4-FFF2-40B4-BE49-F238E27FC236}">
                <a16:creationId xmlns:a16="http://schemas.microsoft.com/office/drawing/2014/main" id="{F8BDC127-C099-EC4E-B1DA-FD9DFEA9C6C7}"/>
              </a:ext>
            </a:extLst>
          </p:cNvPr>
          <p:cNvSpPr/>
          <p:nvPr/>
        </p:nvSpPr>
        <p:spPr>
          <a:xfrm>
            <a:off x="6686016" y="2518569"/>
            <a:ext cx="178707" cy="2456844"/>
          </a:xfrm>
          <a:custGeom>
            <a:avLst/>
            <a:gdLst>
              <a:gd name="connsiteX0" fmla="*/ 0 w 141194"/>
              <a:gd name="connsiteY0" fmla="*/ 0 h 2447364"/>
              <a:gd name="connsiteX1" fmla="*/ 0 w 141194"/>
              <a:gd name="connsiteY1" fmla="*/ 2447364 h 2447364"/>
              <a:gd name="connsiteX2" fmla="*/ 141194 w 141194"/>
              <a:gd name="connsiteY2" fmla="*/ 2447364 h 2447364"/>
            </a:gdLst>
            <a:ahLst/>
            <a:cxnLst>
              <a:cxn ang="0">
                <a:pos x="connsiteX0" y="connsiteY0"/>
              </a:cxn>
              <a:cxn ang="0">
                <a:pos x="connsiteX1" y="connsiteY1"/>
              </a:cxn>
              <a:cxn ang="0">
                <a:pos x="connsiteX2" y="connsiteY2"/>
              </a:cxn>
            </a:cxnLst>
            <a:rect l="l" t="t" r="r" b="b"/>
            <a:pathLst>
              <a:path w="141194" h="2447364">
                <a:moveTo>
                  <a:pt x="0" y="0"/>
                </a:moveTo>
                <a:lnTo>
                  <a:pt x="0" y="2447364"/>
                </a:lnTo>
                <a:lnTo>
                  <a:pt x="141194" y="2447364"/>
                </a:lnTo>
              </a:path>
            </a:pathLst>
          </a:custGeom>
          <a:noFill/>
          <a:ln>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5" name="Google Shape;85;p5"/>
          <p:cNvSpPr/>
          <p:nvPr/>
        </p:nvSpPr>
        <p:spPr>
          <a:xfrm>
            <a:off x="4820054" y="2172580"/>
            <a:ext cx="1420290" cy="394344"/>
          </a:xfrm>
          <a:prstGeom prst="roundRect">
            <a:avLst>
              <a:gd name="adj" fmla="val 16667"/>
            </a:avLst>
          </a:prstGeom>
          <a:solidFill>
            <a:srgbClr val="7150A0"/>
          </a:solidFill>
          <a:ln w="28575" cap="flat" cmpd="sng">
            <a:solidFill>
              <a:srgbClr val="67529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Experiencia</a:t>
            </a:r>
            <a:endParaRPr/>
          </a:p>
        </p:txBody>
      </p:sp>
      <p:sp>
        <p:nvSpPr>
          <p:cNvPr id="86" name="Google Shape;86;p5"/>
          <p:cNvSpPr/>
          <p:nvPr/>
        </p:nvSpPr>
        <p:spPr>
          <a:xfrm>
            <a:off x="6640865" y="2172581"/>
            <a:ext cx="1383452" cy="394344"/>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Especificación</a:t>
            </a:r>
            <a:endParaRPr/>
          </a:p>
        </p:txBody>
      </p:sp>
      <p:sp>
        <p:nvSpPr>
          <p:cNvPr id="111" name="Google Shape;111;p5"/>
          <p:cNvSpPr/>
          <p:nvPr/>
        </p:nvSpPr>
        <p:spPr>
          <a:xfrm>
            <a:off x="3043978" y="2172580"/>
            <a:ext cx="1420290" cy="394344"/>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Estructura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4" name="Rectángulo 3">
            <a:extLst>
              <a:ext uri="{FF2B5EF4-FFF2-40B4-BE49-F238E27FC236}">
                <a16:creationId xmlns:a16="http://schemas.microsoft.com/office/drawing/2014/main" id="{91EE9EAA-E1FB-FF49-9235-1432E73F3C7A}"/>
              </a:ext>
            </a:extLst>
          </p:cNvPr>
          <p:cNvSpPr/>
          <p:nvPr/>
        </p:nvSpPr>
        <p:spPr>
          <a:xfrm>
            <a:off x="4751388" y="912813"/>
            <a:ext cx="4392612" cy="4321175"/>
          </a:xfrm>
          <a:prstGeom prst="rect">
            <a:avLst/>
          </a:prstGeom>
          <a:solidFill>
            <a:srgbClr val="EFCC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8" name="Google Shape;128;p6"/>
          <p:cNvSpPr/>
          <p:nvPr/>
        </p:nvSpPr>
        <p:spPr>
          <a:xfrm>
            <a:off x="503237" y="912813"/>
            <a:ext cx="3889375" cy="1554272"/>
          </a:xfrm>
          <a:prstGeom prst="rect">
            <a:avLst/>
          </a:prstGeom>
          <a:noFill/>
          <a:ln>
            <a:noFill/>
          </a:ln>
        </p:spPr>
        <p:txBody>
          <a:bodyPr spcFirstLastPara="1" wrap="square" lIns="0" tIns="0" rIns="0" bIns="0" anchor="t" anchorCtr="0">
            <a:spAutoFit/>
          </a:bodyPr>
          <a:lstStyle/>
          <a:p>
            <a:pPr marL="0" marR="0" lvl="0" indent="9525" algn="l" rtl="0">
              <a:spcBef>
                <a:spcPts val="0"/>
              </a:spcBef>
              <a:spcAft>
                <a:spcPts val="600"/>
              </a:spcAft>
              <a:buNone/>
            </a:pPr>
            <a:r>
              <a:rPr lang="es-PE" sz="1600" b="1" dirty="0">
                <a:solidFill>
                  <a:schemeClr val="dk1"/>
                </a:solidFill>
                <a:latin typeface="Calibri"/>
                <a:ea typeface="Calibri"/>
                <a:cs typeface="Calibri"/>
                <a:sym typeface="Calibri"/>
              </a:rPr>
              <a:t>RECORDEMOS: TÉCNICAS ESTÁTICAS</a:t>
            </a:r>
            <a:endParaRPr sz="1600" dirty="0">
              <a:solidFill>
                <a:schemeClr val="dk1"/>
              </a:solidFill>
              <a:latin typeface="Calibri"/>
              <a:ea typeface="Calibri"/>
              <a:cs typeface="Calibri"/>
              <a:sym typeface="Calibri"/>
            </a:endParaRPr>
          </a:p>
          <a:p>
            <a:pPr marL="179388" marR="0" lvl="1" indent="-173038" algn="l" rtl="0">
              <a:spcBef>
                <a:spcPts val="0"/>
              </a:spcBef>
              <a:spcAft>
                <a:spcPts val="0"/>
              </a:spcAft>
              <a:buClr>
                <a:schemeClr val="dk1"/>
              </a:buClr>
              <a:buSzPts val="1600"/>
              <a:buFont typeface="Arial" panose="020B0604020202020204" pitchFamily="34" charset="0"/>
              <a:buChar char="•"/>
            </a:pPr>
            <a:r>
              <a:rPr lang="es-PE" sz="1600" b="0" i="0" u="none" strike="noStrike" cap="none" dirty="0">
                <a:solidFill>
                  <a:schemeClr val="dk1"/>
                </a:solidFill>
                <a:latin typeface="Calibri"/>
                <a:ea typeface="Calibri"/>
                <a:cs typeface="Calibri"/>
                <a:sym typeface="Calibri"/>
              </a:rPr>
              <a:t>En el transcurso de las pruebas estáticas no se ejecuta el objeto de prueba.</a:t>
            </a:r>
            <a:endParaRPr sz="1600" dirty="0"/>
          </a:p>
          <a:p>
            <a:pPr marL="179388" marR="0" lvl="1" indent="-173038" algn="l" rtl="0">
              <a:spcBef>
                <a:spcPts val="0"/>
              </a:spcBef>
              <a:spcAft>
                <a:spcPts val="0"/>
              </a:spcAft>
              <a:buClr>
                <a:schemeClr val="dk1"/>
              </a:buClr>
              <a:buSzPts val="1600"/>
              <a:buFont typeface="Arial" panose="020B0604020202020204" pitchFamily="34" charset="0"/>
              <a:buChar char="•"/>
            </a:pPr>
            <a:endParaRPr sz="1600" b="0" i="0" u="none" strike="noStrike" cap="none" dirty="0">
              <a:solidFill>
                <a:schemeClr val="dk1"/>
              </a:solidFill>
              <a:latin typeface="Calibri"/>
              <a:ea typeface="Calibri"/>
              <a:cs typeface="Calibri"/>
              <a:sym typeface="Calibri"/>
            </a:endParaRPr>
          </a:p>
          <a:p>
            <a:pPr marL="179388" marR="0" lvl="1" indent="-173038" algn="l" rtl="0">
              <a:spcBef>
                <a:spcPts val="0"/>
              </a:spcBef>
              <a:spcAft>
                <a:spcPts val="0"/>
              </a:spcAft>
              <a:buClr>
                <a:schemeClr val="dk1"/>
              </a:buClr>
              <a:buSzPts val="1600"/>
              <a:buFont typeface="Arial" panose="020B0604020202020204" pitchFamily="34" charset="0"/>
              <a:buChar char="•"/>
            </a:pPr>
            <a:r>
              <a:rPr lang="es-PE" sz="1600" b="0" i="0" u="none" strike="noStrike" cap="none" dirty="0">
                <a:solidFill>
                  <a:schemeClr val="dk1"/>
                </a:solidFill>
                <a:latin typeface="Calibri"/>
                <a:ea typeface="Calibri"/>
                <a:cs typeface="Calibri"/>
                <a:sym typeface="Calibri"/>
              </a:rPr>
              <a:t>Tipos de revisiones: Formal – Informal - </a:t>
            </a:r>
            <a:r>
              <a:rPr lang="es-PE" sz="1600" dirty="0">
                <a:solidFill>
                  <a:schemeClr val="dk1"/>
                </a:solidFill>
                <a:latin typeface="Calibri"/>
                <a:ea typeface="Calibri"/>
                <a:cs typeface="Calibri"/>
                <a:sym typeface="Calibri"/>
              </a:rPr>
              <a:t>Walkthrough</a:t>
            </a:r>
            <a:r>
              <a:rPr lang="es-PE" sz="1600" b="0" i="0" u="none" strike="noStrike" cap="none" dirty="0">
                <a:solidFill>
                  <a:schemeClr val="dk1"/>
                </a:solidFill>
                <a:latin typeface="Calibri"/>
                <a:ea typeface="Calibri"/>
                <a:cs typeface="Calibri"/>
                <a:sym typeface="Calibri"/>
              </a:rPr>
              <a:t> – Técnica – Análisis Estático.</a:t>
            </a:r>
            <a:endParaRPr sz="1600" dirty="0"/>
          </a:p>
        </p:txBody>
      </p:sp>
      <p:sp>
        <p:nvSpPr>
          <p:cNvPr id="5" name="Rectangle 5">
            <a:extLst>
              <a:ext uri="{FF2B5EF4-FFF2-40B4-BE49-F238E27FC236}">
                <a16:creationId xmlns:a16="http://schemas.microsoft.com/office/drawing/2014/main" id="{FE2BCD52-D621-4E45-B280-3E6D29D5BD6F}"/>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WALKTHROUGH</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2F45F817-8199-F14A-96BB-CD18C237F023}"/>
              </a:ext>
            </a:extLst>
          </p:cNvPr>
          <p:cNvPicPr>
            <a:picLocks noChangeAspect="1"/>
          </p:cNvPicPr>
          <p:nvPr/>
        </p:nvPicPr>
        <p:blipFill rotWithShape="1">
          <a:blip r:embed="rId3"/>
          <a:srcRect l="10908" r="10725"/>
          <a:stretch/>
        </p:blipFill>
        <p:spPr>
          <a:xfrm>
            <a:off x="5046739" y="1358153"/>
            <a:ext cx="3756697" cy="33483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6" name="Google Shape;136;p7"/>
          <p:cNvPicPr preferRelativeResize="0"/>
          <p:nvPr/>
        </p:nvPicPr>
        <p:blipFill rotWithShape="1">
          <a:blip r:embed="rId3">
            <a:alphaModFix/>
          </a:blip>
          <a:srcRect r="10924"/>
          <a:stretch/>
        </p:blipFill>
        <p:spPr>
          <a:xfrm>
            <a:off x="3373254" y="912813"/>
            <a:ext cx="5770746" cy="4321175"/>
          </a:xfrm>
          <a:prstGeom prst="rect">
            <a:avLst/>
          </a:prstGeom>
          <a:noFill/>
          <a:ln>
            <a:noFill/>
          </a:ln>
        </p:spPr>
      </p:pic>
      <p:sp>
        <p:nvSpPr>
          <p:cNvPr id="5" name="Rectangle 5">
            <a:extLst>
              <a:ext uri="{FF2B5EF4-FFF2-40B4-BE49-F238E27FC236}">
                <a16:creationId xmlns:a16="http://schemas.microsoft.com/office/drawing/2014/main" id="{8BF0F644-15FF-4243-A1FF-8B2DDF0E677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WALKTHROUGH</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35" name="Google Shape;135;p7"/>
          <p:cNvSpPr/>
          <p:nvPr/>
        </p:nvSpPr>
        <p:spPr>
          <a:xfrm>
            <a:off x="503238" y="912813"/>
            <a:ext cx="2603033" cy="278537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WALKTHROUGH: OBJETIVOS</a:t>
            </a:r>
            <a:endParaRPr sz="1600" dirty="0">
              <a:solidFill>
                <a:schemeClr val="dk1"/>
              </a:solidFill>
              <a:latin typeface="Calibri"/>
              <a:ea typeface="Calibri"/>
              <a:cs typeface="Calibri"/>
              <a:sym typeface="Calibri"/>
            </a:endParaRPr>
          </a:p>
          <a:p>
            <a:pPr marL="179388" marR="0" lvl="0" indent="-173038" algn="l" rtl="0">
              <a:spcBef>
                <a:spcPts val="0"/>
              </a:spcBef>
              <a:spcAft>
                <a:spcPts val="0"/>
              </a:spcAft>
              <a:buClr>
                <a:schemeClr val="dk1"/>
              </a:buClr>
              <a:buSzPts val="1600"/>
              <a:buFont typeface="Arial" panose="020B0604020202020204" pitchFamily="34" charset="0"/>
              <a:buChar char="•"/>
            </a:pPr>
            <a:r>
              <a:rPr lang="es-PE" sz="1600" dirty="0">
                <a:solidFill>
                  <a:schemeClr val="dk1"/>
                </a:solidFill>
                <a:latin typeface="Calibri"/>
                <a:ea typeface="Calibri"/>
                <a:cs typeface="Calibri"/>
                <a:sym typeface="Calibri"/>
              </a:rPr>
              <a:t>Presentar los documentos.</a:t>
            </a:r>
            <a:endParaRPr dirty="0"/>
          </a:p>
          <a:p>
            <a:pPr marL="179388" marR="0" lvl="0" indent="-173038" algn="l" rtl="0">
              <a:spcBef>
                <a:spcPts val="0"/>
              </a:spcBef>
              <a:spcAft>
                <a:spcPts val="0"/>
              </a:spcAft>
              <a:buClr>
                <a:schemeClr val="dk1"/>
              </a:buClr>
              <a:buSzPts val="1600"/>
              <a:buFont typeface="Arial" panose="020B0604020202020204" pitchFamily="34" charset="0"/>
              <a:buChar char="•"/>
            </a:pPr>
            <a:r>
              <a:rPr lang="es-PE" sz="1600" dirty="0">
                <a:solidFill>
                  <a:schemeClr val="dk1"/>
                </a:solidFill>
                <a:latin typeface="Calibri"/>
                <a:ea typeface="Calibri"/>
                <a:cs typeface="Calibri"/>
                <a:sym typeface="Calibri"/>
              </a:rPr>
              <a:t>Explicar o hacer la transferencia de conocimientos y evaluar el contenido del documento.</a:t>
            </a:r>
            <a:endParaRPr dirty="0"/>
          </a:p>
          <a:p>
            <a:pPr marL="179388" marR="0" lvl="0" indent="-173038" algn="l" rtl="0">
              <a:spcBef>
                <a:spcPts val="0"/>
              </a:spcBef>
              <a:spcAft>
                <a:spcPts val="0"/>
              </a:spcAft>
              <a:buClr>
                <a:schemeClr val="dk1"/>
              </a:buClr>
              <a:buSzPts val="1600"/>
              <a:buFont typeface="Arial" panose="020B0604020202020204" pitchFamily="34" charset="0"/>
              <a:buChar char="•"/>
            </a:pPr>
            <a:r>
              <a:rPr lang="es-PE" sz="1600" dirty="0">
                <a:solidFill>
                  <a:schemeClr val="dk1"/>
                </a:solidFill>
                <a:latin typeface="Calibri"/>
                <a:ea typeface="Calibri"/>
                <a:cs typeface="Calibri"/>
                <a:sym typeface="Calibri"/>
              </a:rPr>
              <a:t>Lograr un entendimiento común y el intercambio </a:t>
            </a:r>
            <a:br>
              <a:rPr lang="es-PE" sz="1600" dirty="0">
                <a:solidFill>
                  <a:schemeClr val="dk1"/>
                </a:solidFill>
                <a:latin typeface="Calibri"/>
                <a:ea typeface="Calibri"/>
                <a:cs typeface="Calibri"/>
                <a:sym typeface="Calibri"/>
              </a:rPr>
            </a:br>
            <a:r>
              <a:rPr lang="es-PE" sz="1600" dirty="0">
                <a:solidFill>
                  <a:schemeClr val="dk1"/>
                </a:solidFill>
                <a:latin typeface="Calibri"/>
                <a:ea typeface="Calibri"/>
                <a:cs typeface="Calibri"/>
                <a:sym typeface="Calibri"/>
              </a:rPr>
              <a:t>de ideas.</a:t>
            </a:r>
            <a:endParaRPr dirty="0"/>
          </a:p>
          <a:p>
            <a:pPr marL="179388" marR="0" lvl="0" indent="-173038" algn="l" rtl="0">
              <a:spcBef>
                <a:spcPts val="0"/>
              </a:spcBef>
              <a:spcAft>
                <a:spcPts val="0"/>
              </a:spcAft>
              <a:buClr>
                <a:schemeClr val="dk1"/>
              </a:buClr>
              <a:buSzPts val="1600"/>
              <a:buFont typeface="Arial" panose="020B0604020202020204" pitchFamily="34" charset="0"/>
              <a:buChar char="•"/>
            </a:pPr>
            <a:r>
              <a:rPr lang="es-PE" sz="1600" dirty="0">
                <a:solidFill>
                  <a:schemeClr val="dk1"/>
                </a:solidFill>
                <a:latin typeface="Calibri"/>
                <a:ea typeface="Calibri"/>
                <a:cs typeface="Calibri"/>
                <a:sym typeface="Calibri"/>
              </a:rPr>
              <a:t>Examinar y discutir la validez de las soluciones propuestas.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8" name="Imagen 17">
            <a:extLst>
              <a:ext uri="{FF2B5EF4-FFF2-40B4-BE49-F238E27FC236}">
                <a16:creationId xmlns:a16="http://schemas.microsoft.com/office/drawing/2014/main" id="{542CF2A9-6BD0-8647-A6D4-1656D0298118}"/>
              </a:ext>
            </a:extLst>
          </p:cNvPr>
          <p:cNvPicPr>
            <a:picLocks noChangeAspect="1"/>
          </p:cNvPicPr>
          <p:nvPr/>
        </p:nvPicPr>
        <p:blipFill rotWithShape="1">
          <a:blip r:embed="rId3"/>
          <a:srcRect l="13333" r="22707"/>
          <a:stretch/>
        </p:blipFill>
        <p:spPr>
          <a:xfrm>
            <a:off x="4822914" y="1215904"/>
            <a:ext cx="3852774" cy="4018084"/>
          </a:xfrm>
          <a:prstGeom prst="rect">
            <a:avLst/>
          </a:prstGeom>
        </p:spPr>
      </p:pic>
      <p:sp>
        <p:nvSpPr>
          <p:cNvPr id="142" name="Google Shape;142;p8"/>
          <p:cNvSpPr/>
          <p:nvPr/>
        </p:nvSpPr>
        <p:spPr>
          <a:xfrm>
            <a:off x="503238" y="912813"/>
            <a:ext cx="388937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WALKTHROUGH: CARACTERÍSTICAS</a:t>
            </a:r>
            <a:endParaRPr dirty="0"/>
          </a:p>
        </p:txBody>
      </p:sp>
      <p:sp>
        <p:nvSpPr>
          <p:cNvPr id="4" name="Rectangle 5">
            <a:extLst>
              <a:ext uri="{FF2B5EF4-FFF2-40B4-BE49-F238E27FC236}">
                <a16:creationId xmlns:a16="http://schemas.microsoft.com/office/drawing/2014/main" id="{518CF1B1-0C5F-B749-AB53-1807C236682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WALKTHROUGH</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5" name="Rectángulo 4">
            <a:extLst>
              <a:ext uri="{FF2B5EF4-FFF2-40B4-BE49-F238E27FC236}">
                <a16:creationId xmlns:a16="http://schemas.microsoft.com/office/drawing/2014/main" id="{13122BF9-07F4-1B41-B082-627EEC1B1078}"/>
              </a:ext>
            </a:extLst>
          </p:cNvPr>
          <p:cNvSpPr/>
          <p:nvPr/>
        </p:nvSpPr>
        <p:spPr>
          <a:xfrm>
            <a:off x="974956" y="1341672"/>
            <a:ext cx="4186619" cy="215444"/>
          </a:xfrm>
          <a:prstGeom prst="rect">
            <a:avLst/>
          </a:prstGeom>
        </p:spPr>
        <p:txBody>
          <a:bodyPr wrap="square" lIns="0" tIns="0" rIns="0" bIns="0">
            <a:spAutoFit/>
          </a:bodyPr>
          <a:lstStyle/>
          <a:p>
            <a:pPr marR="0" lvl="0" algn="l" rtl="0">
              <a:spcBef>
                <a:spcPts val="0"/>
              </a:spcBef>
              <a:spcAft>
                <a:spcPts val="0"/>
              </a:spcAft>
              <a:buClr>
                <a:schemeClr val="dk1"/>
              </a:buClr>
              <a:buSzPts val="1600"/>
            </a:pPr>
            <a:r>
              <a:rPr lang="es-PE" dirty="0">
                <a:solidFill>
                  <a:schemeClr val="dk1"/>
                </a:solidFill>
                <a:latin typeface="Calibri"/>
                <a:ea typeface="Calibri"/>
                <a:cs typeface="Calibri"/>
                <a:sym typeface="Calibri"/>
              </a:rPr>
              <a:t>No es un proceso formal.</a:t>
            </a:r>
            <a:endParaRPr lang="es-PE" dirty="0"/>
          </a:p>
        </p:txBody>
      </p:sp>
      <p:cxnSp>
        <p:nvCxnSpPr>
          <p:cNvPr id="6" name="Conector recto 5">
            <a:extLst>
              <a:ext uri="{FF2B5EF4-FFF2-40B4-BE49-F238E27FC236}">
                <a16:creationId xmlns:a16="http://schemas.microsoft.com/office/drawing/2014/main" id="{0D49635A-28A3-C64E-A02B-5DC8F7E0125E}"/>
              </a:ext>
            </a:extLst>
          </p:cNvPr>
          <p:cNvCxnSpPr>
            <a:cxnSpLocks/>
          </p:cNvCxnSpPr>
          <p:nvPr/>
        </p:nvCxnSpPr>
        <p:spPr>
          <a:xfrm>
            <a:off x="760555" y="1544542"/>
            <a:ext cx="0" cy="263143"/>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76CCC65C-EF86-2144-8B0E-07098940193A}"/>
              </a:ext>
            </a:extLst>
          </p:cNvPr>
          <p:cNvSpPr/>
          <p:nvPr/>
        </p:nvSpPr>
        <p:spPr>
          <a:xfrm>
            <a:off x="974956" y="1807685"/>
            <a:ext cx="4186619" cy="215444"/>
          </a:xfrm>
          <a:prstGeom prst="rect">
            <a:avLst/>
          </a:prstGeom>
        </p:spPr>
        <p:txBody>
          <a:bodyPr wrap="square" lIns="0" tIns="0" rIns="0" bIns="0">
            <a:spAutoFit/>
          </a:bodyPr>
          <a:lstStyle/>
          <a:p>
            <a:pPr marR="0" lvl="0" algn="l" rtl="0">
              <a:spcBef>
                <a:spcPts val="0"/>
              </a:spcBef>
              <a:spcAft>
                <a:spcPts val="0"/>
              </a:spcAft>
              <a:buClr>
                <a:schemeClr val="dk1"/>
              </a:buClr>
              <a:buSzPts val="1600"/>
            </a:pPr>
            <a:r>
              <a:rPr lang="es-PE" dirty="0">
                <a:solidFill>
                  <a:schemeClr val="dk1"/>
                </a:solidFill>
                <a:latin typeface="Calibri"/>
                <a:ea typeface="Calibri"/>
                <a:cs typeface="Calibri"/>
                <a:sym typeface="Calibri"/>
              </a:rPr>
              <a:t>Está dirigido por el autor.</a:t>
            </a:r>
            <a:endParaRPr lang="es-PE" dirty="0"/>
          </a:p>
        </p:txBody>
      </p:sp>
      <p:sp>
        <p:nvSpPr>
          <p:cNvPr id="8" name="Rectángulo 7">
            <a:extLst>
              <a:ext uri="{FF2B5EF4-FFF2-40B4-BE49-F238E27FC236}">
                <a16:creationId xmlns:a16="http://schemas.microsoft.com/office/drawing/2014/main" id="{3CDC07D1-30DE-844D-96C7-1D4CD910C118}"/>
              </a:ext>
            </a:extLst>
          </p:cNvPr>
          <p:cNvSpPr/>
          <p:nvPr/>
        </p:nvSpPr>
        <p:spPr>
          <a:xfrm>
            <a:off x="974957" y="3093477"/>
            <a:ext cx="3847956" cy="430887"/>
          </a:xfrm>
          <a:prstGeom prst="rect">
            <a:avLst/>
          </a:prstGeom>
        </p:spPr>
        <p:txBody>
          <a:bodyPr wrap="square" lIns="0" tIns="0" rIns="0" bIns="0">
            <a:spAutoFit/>
          </a:bodyPr>
          <a:lstStyle/>
          <a:p>
            <a:pPr marR="0" lvl="0" algn="l" rtl="0">
              <a:spcBef>
                <a:spcPts val="0"/>
              </a:spcBef>
              <a:spcAft>
                <a:spcPts val="0"/>
              </a:spcAft>
              <a:buClr>
                <a:schemeClr val="dk1"/>
              </a:buClr>
              <a:buSzPts val="1600"/>
            </a:pPr>
            <a:r>
              <a:rPr lang="es-PE" dirty="0">
                <a:solidFill>
                  <a:schemeClr val="dk1"/>
                </a:solidFill>
                <a:latin typeface="Calibri"/>
                <a:ea typeface="Calibri"/>
                <a:cs typeface="Calibri"/>
                <a:sym typeface="Calibri"/>
              </a:rPr>
              <a:t>Útil para empresas que no cuentan con una disciplina de software.</a:t>
            </a:r>
            <a:endParaRPr lang="es-PE" dirty="0"/>
          </a:p>
        </p:txBody>
      </p:sp>
      <p:sp>
        <p:nvSpPr>
          <p:cNvPr id="9" name="Más 8">
            <a:extLst>
              <a:ext uri="{FF2B5EF4-FFF2-40B4-BE49-F238E27FC236}">
                <a16:creationId xmlns:a16="http://schemas.microsoft.com/office/drawing/2014/main" id="{A909E952-E894-D14E-9A8A-39404ADBE7BB}"/>
              </a:ext>
            </a:extLst>
          </p:cNvPr>
          <p:cNvSpPr/>
          <p:nvPr/>
        </p:nvSpPr>
        <p:spPr>
          <a:xfrm>
            <a:off x="684213" y="1351444"/>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10" name="Conector recto 9">
            <a:extLst>
              <a:ext uri="{FF2B5EF4-FFF2-40B4-BE49-F238E27FC236}">
                <a16:creationId xmlns:a16="http://schemas.microsoft.com/office/drawing/2014/main" id="{1214DFF2-BB4A-E841-A7E7-72AFE2659170}"/>
              </a:ext>
            </a:extLst>
          </p:cNvPr>
          <p:cNvCxnSpPr>
            <a:cxnSpLocks/>
          </p:cNvCxnSpPr>
          <p:nvPr/>
        </p:nvCxnSpPr>
        <p:spPr>
          <a:xfrm>
            <a:off x="760555" y="2001322"/>
            <a:ext cx="0" cy="236669"/>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1" name="Más 10">
            <a:extLst>
              <a:ext uri="{FF2B5EF4-FFF2-40B4-BE49-F238E27FC236}">
                <a16:creationId xmlns:a16="http://schemas.microsoft.com/office/drawing/2014/main" id="{91C934CE-732D-5E46-9790-BFF5CD3CA08F}"/>
              </a:ext>
            </a:extLst>
          </p:cNvPr>
          <p:cNvSpPr/>
          <p:nvPr/>
        </p:nvSpPr>
        <p:spPr>
          <a:xfrm>
            <a:off x="684213" y="1818573"/>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2" name="Más 11">
            <a:extLst>
              <a:ext uri="{FF2B5EF4-FFF2-40B4-BE49-F238E27FC236}">
                <a16:creationId xmlns:a16="http://schemas.microsoft.com/office/drawing/2014/main" id="{BCF5BE05-E4CA-6242-B283-9247FE71345D}"/>
              </a:ext>
            </a:extLst>
          </p:cNvPr>
          <p:cNvSpPr/>
          <p:nvPr/>
        </p:nvSpPr>
        <p:spPr>
          <a:xfrm>
            <a:off x="684213" y="3093477"/>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5" name="Rectángulo 14">
            <a:extLst>
              <a:ext uri="{FF2B5EF4-FFF2-40B4-BE49-F238E27FC236}">
                <a16:creationId xmlns:a16="http://schemas.microsoft.com/office/drawing/2014/main" id="{A5916C57-0BF2-7047-A932-6AB42F297F02}"/>
              </a:ext>
            </a:extLst>
          </p:cNvPr>
          <p:cNvSpPr/>
          <p:nvPr/>
        </p:nvSpPr>
        <p:spPr>
          <a:xfrm>
            <a:off x="974956" y="3681154"/>
            <a:ext cx="4186619" cy="430887"/>
          </a:xfrm>
          <a:prstGeom prst="rect">
            <a:avLst/>
          </a:prstGeom>
        </p:spPr>
        <p:txBody>
          <a:bodyPr wrap="square" lIns="0" tIns="0" rIns="0" bIns="0">
            <a:spAutoFit/>
          </a:bodyPr>
          <a:lstStyle/>
          <a:p>
            <a:pPr marR="0" lvl="0" algn="l" rtl="0">
              <a:spcBef>
                <a:spcPts val="0"/>
              </a:spcBef>
              <a:spcAft>
                <a:spcPts val="0"/>
              </a:spcAft>
              <a:buClr>
                <a:schemeClr val="dk1"/>
              </a:buClr>
              <a:buSzPts val="1600"/>
            </a:pPr>
            <a:r>
              <a:rPr lang="es-PE" dirty="0">
                <a:solidFill>
                  <a:schemeClr val="dk1"/>
                </a:solidFill>
                <a:latin typeface="Calibri"/>
                <a:ea typeface="Calibri"/>
                <a:cs typeface="Calibri"/>
                <a:sym typeface="Calibri"/>
              </a:rPr>
              <a:t>Es especialmente útil para los documentos de nivel superior como especificación de requisitos.</a:t>
            </a:r>
            <a:endParaRPr lang="es-PE" dirty="0"/>
          </a:p>
        </p:txBody>
      </p:sp>
      <p:cxnSp>
        <p:nvCxnSpPr>
          <p:cNvPr id="16" name="Conector recto 15">
            <a:extLst>
              <a:ext uri="{FF2B5EF4-FFF2-40B4-BE49-F238E27FC236}">
                <a16:creationId xmlns:a16="http://schemas.microsoft.com/office/drawing/2014/main" id="{E5B88817-E0A7-B849-A83C-2B2DC6B0ACDA}"/>
              </a:ext>
            </a:extLst>
          </p:cNvPr>
          <p:cNvCxnSpPr>
            <a:cxnSpLocks/>
          </p:cNvCxnSpPr>
          <p:nvPr/>
        </p:nvCxnSpPr>
        <p:spPr>
          <a:xfrm>
            <a:off x="760555" y="3246160"/>
            <a:ext cx="0" cy="429905"/>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7" name="Más 16">
            <a:extLst>
              <a:ext uri="{FF2B5EF4-FFF2-40B4-BE49-F238E27FC236}">
                <a16:creationId xmlns:a16="http://schemas.microsoft.com/office/drawing/2014/main" id="{71FEA2A6-7F1D-9140-98D7-A53067E91141}"/>
              </a:ext>
            </a:extLst>
          </p:cNvPr>
          <p:cNvSpPr/>
          <p:nvPr/>
        </p:nvSpPr>
        <p:spPr>
          <a:xfrm>
            <a:off x="684213" y="3691872"/>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9" name="Más 11">
            <a:extLst>
              <a:ext uri="{FF2B5EF4-FFF2-40B4-BE49-F238E27FC236}">
                <a16:creationId xmlns:a16="http://schemas.microsoft.com/office/drawing/2014/main" id="{077E86A2-8E31-4C16-8687-812D471CE3AB}"/>
              </a:ext>
            </a:extLst>
          </p:cNvPr>
          <p:cNvSpPr/>
          <p:nvPr/>
        </p:nvSpPr>
        <p:spPr>
          <a:xfrm>
            <a:off x="686011" y="2323420"/>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 name="Rectángulo 1">
            <a:extLst>
              <a:ext uri="{FF2B5EF4-FFF2-40B4-BE49-F238E27FC236}">
                <a16:creationId xmlns:a16="http://schemas.microsoft.com/office/drawing/2014/main" id="{18378B4A-9D5F-47FD-895A-AF84B392117B}"/>
              </a:ext>
            </a:extLst>
          </p:cNvPr>
          <p:cNvSpPr/>
          <p:nvPr/>
        </p:nvSpPr>
        <p:spPr>
          <a:xfrm>
            <a:off x="916588" y="2271059"/>
            <a:ext cx="4151132" cy="738664"/>
          </a:xfrm>
          <a:prstGeom prst="rect">
            <a:avLst/>
          </a:prstGeom>
        </p:spPr>
        <p:txBody>
          <a:bodyPr wrap="square">
            <a:spAutoFit/>
          </a:bodyPr>
          <a:lstStyle/>
          <a:p>
            <a:pPr lvl="0">
              <a:buClr>
                <a:schemeClr val="dk1"/>
              </a:buClr>
              <a:buSzPts val="1600"/>
            </a:pPr>
            <a:r>
              <a:rPr lang="es-ES" dirty="0">
                <a:solidFill>
                  <a:schemeClr val="dk1"/>
                </a:solidFill>
                <a:latin typeface="Calibri"/>
                <a:cs typeface="Calibri"/>
                <a:sym typeface="Calibri"/>
              </a:rPr>
              <a:t>El autor guía a los participantes a través del documento de acuerdo con el proceso para lograr un entendimiento común y un intercambio de ideas.</a:t>
            </a:r>
            <a:endParaRPr lang="es-ES" dirty="0">
              <a:solidFill>
                <a:schemeClr val="dk1"/>
              </a:solidFill>
              <a:latin typeface="Calibri"/>
              <a:cs typeface="Calibri"/>
            </a:endParaRPr>
          </a:p>
        </p:txBody>
      </p:sp>
      <p:cxnSp>
        <p:nvCxnSpPr>
          <p:cNvPr id="21" name="Conector recto 20">
            <a:extLst>
              <a:ext uri="{FF2B5EF4-FFF2-40B4-BE49-F238E27FC236}">
                <a16:creationId xmlns:a16="http://schemas.microsoft.com/office/drawing/2014/main" id="{D136BEFC-654C-43F3-B2F8-C5D011778782}"/>
              </a:ext>
            </a:extLst>
          </p:cNvPr>
          <p:cNvCxnSpPr>
            <a:cxnSpLocks/>
          </p:cNvCxnSpPr>
          <p:nvPr/>
        </p:nvCxnSpPr>
        <p:spPr>
          <a:xfrm>
            <a:off x="760554" y="2498385"/>
            <a:ext cx="0" cy="595092"/>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9" name="Google Shape;149;p9"/>
          <p:cNvSpPr/>
          <p:nvPr/>
        </p:nvSpPr>
        <p:spPr>
          <a:xfrm>
            <a:off x="509962" y="920722"/>
            <a:ext cx="772352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WALKTHROUGH: VENTAJAS Y DESVENTAJAS</a:t>
            </a:r>
            <a:endParaRPr dirty="0">
              <a:solidFill>
                <a:schemeClr val="dk1"/>
              </a:solidFill>
              <a:latin typeface="Calibri"/>
              <a:cs typeface="Calibri"/>
              <a:sym typeface="Calibri"/>
            </a:endParaRPr>
          </a:p>
        </p:txBody>
      </p:sp>
      <p:sp>
        <p:nvSpPr>
          <p:cNvPr id="150" name="Google Shape;150;p9"/>
          <p:cNvSpPr txBox="1"/>
          <p:nvPr/>
        </p:nvSpPr>
        <p:spPr>
          <a:xfrm>
            <a:off x="509962" y="5055004"/>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2287C2BB-45D3-924C-8AAF-28F9435E2CB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WALKTHROUGH</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00057B58-3483-3E42-9385-B511F3A6BCEE}"/>
              </a:ext>
            </a:extLst>
          </p:cNvPr>
          <p:cNvSpPr/>
          <p:nvPr/>
        </p:nvSpPr>
        <p:spPr>
          <a:xfrm>
            <a:off x="974956" y="1341672"/>
            <a:ext cx="4991126" cy="215444"/>
          </a:xfrm>
          <a:prstGeom prst="rect">
            <a:avLst/>
          </a:prstGeom>
        </p:spPr>
        <p:txBody>
          <a:bodyPr wrap="square" lIns="0" tIns="0" rIns="0" bIns="0">
            <a:spAutoFit/>
          </a:bodyPr>
          <a:lstStyle/>
          <a:p>
            <a:pPr>
              <a:buClr>
                <a:schemeClr val="dk1"/>
              </a:buClr>
              <a:buSzPts val="1600"/>
            </a:pPr>
            <a:r>
              <a:rPr lang="es-PE" dirty="0">
                <a:solidFill>
                  <a:schemeClr val="dk1"/>
                </a:solidFill>
                <a:latin typeface="Calibri"/>
                <a:cs typeface="Calibri"/>
                <a:sym typeface="Calibri"/>
              </a:rPr>
              <a:t>Esfuerzo reducido en la preparación de la sesión de revisión.</a:t>
            </a:r>
            <a:endParaRPr lang="es-PE" dirty="0">
              <a:solidFill>
                <a:schemeClr val="dk1"/>
              </a:solidFill>
              <a:latin typeface="Calibri"/>
              <a:cs typeface="Calibri"/>
            </a:endParaRPr>
          </a:p>
        </p:txBody>
      </p:sp>
      <p:cxnSp>
        <p:nvCxnSpPr>
          <p:cNvPr id="7" name="Conector recto 6">
            <a:extLst>
              <a:ext uri="{FF2B5EF4-FFF2-40B4-BE49-F238E27FC236}">
                <a16:creationId xmlns:a16="http://schemas.microsoft.com/office/drawing/2014/main" id="{8A6852F0-3D16-FA41-8D30-DB0001238772}"/>
              </a:ext>
            </a:extLst>
          </p:cNvPr>
          <p:cNvCxnSpPr>
            <a:cxnSpLocks/>
          </p:cNvCxnSpPr>
          <p:nvPr/>
        </p:nvCxnSpPr>
        <p:spPr>
          <a:xfrm>
            <a:off x="760555" y="1544542"/>
            <a:ext cx="0" cy="263143"/>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8" name="Rectángulo 7">
            <a:extLst>
              <a:ext uri="{FF2B5EF4-FFF2-40B4-BE49-F238E27FC236}">
                <a16:creationId xmlns:a16="http://schemas.microsoft.com/office/drawing/2014/main" id="{A9204DA0-380F-0E47-846C-00F85E04C954}"/>
              </a:ext>
            </a:extLst>
          </p:cNvPr>
          <p:cNvSpPr/>
          <p:nvPr/>
        </p:nvSpPr>
        <p:spPr>
          <a:xfrm>
            <a:off x="974956" y="1807685"/>
            <a:ext cx="4186619" cy="215444"/>
          </a:xfrm>
          <a:prstGeom prst="rect">
            <a:avLst/>
          </a:prstGeom>
        </p:spPr>
        <p:txBody>
          <a:bodyPr wrap="square" lIns="0" tIns="0" rIns="0" bIns="0">
            <a:spAutoFit/>
          </a:bodyPr>
          <a:lstStyle/>
          <a:p>
            <a:pPr>
              <a:buClr>
                <a:schemeClr val="dk1"/>
              </a:buClr>
              <a:buSzPts val="1600"/>
            </a:pPr>
            <a:r>
              <a:rPr lang="es-PE" dirty="0">
                <a:solidFill>
                  <a:schemeClr val="dk1"/>
                </a:solidFill>
                <a:latin typeface="Calibri"/>
                <a:cs typeface="Calibri"/>
                <a:sym typeface="Calibri"/>
              </a:rPr>
              <a:t>El resultado puede quedar abierto.</a:t>
            </a:r>
            <a:endParaRPr lang="es-PE" dirty="0">
              <a:solidFill>
                <a:schemeClr val="dk1"/>
              </a:solidFill>
              <a:latin typeface="Calibri"/>
              <a:cs typeface="Calibri"/>
            </a:endParaRPr>
          </a:p>
        </p:txBody>
      </p:sp>
      <p:sp>
        <p:nvSpPr>
          <p:cNvPr id="9" name="Rectángulo 8">
            <a:extLst>
              <a:ext uri="{FF2B5EF4-FFF2-40B4-BE49-F238E27FC236}">
                <a16:creationId xmlns:a16="http://schemas.microsoft.com/office/drawing/2014/main" id="{727628AE-4593-4A4A-A7EC-C2461CC6AD35}"/>
              </a:ext>
            </a:extLst>
          </p:cNvPr>
          <p:cNvSpPr/>
          <p:nvPr/>
        </p:nvSpPr>
        <p:spPr>
          <a:xfrm>
            <a:off x="974956" y="2253798"/>
            <a:ext cx="4186619" cy="430887"/>
          </a:xfrm>
          <a:prstGeom prst="rect">
            <a:avLst/>
          </a:prstGeom>
        </p:spPr>
        <p:txBody>
          <a:bodyPr wrap="square" lIns="0" tIns="0" rIns="0" bIns="0">
            <a:spAutoFit/>
          </a:bodyPr>
          <a:lstStyle/>
          <a:p>
            <a:pPr>
              <a:buClr>
                <a:schemeClr val="dk1"/>
              </a:buClr>
              <a:buSzPts val="1600"/>
            </a:pPr>
            <a:r>
              <a:rPr lang="es-PE" dirty="0">
                <a:solidFill>
                  <a:schemeClr val="dk1"/>
                </a:solidFill>
                <a:latin typeface="Calibri"/>
                <a:cs typeface="Calibri"/>
                <a:sym typeface="Calibri"/>
              </a:rPr>
              <a:t>Una sesión puede ser iniciada a través de notificaciones realizadas con poca antelación.</a:t>
            </a:r>
            <a:endParaRPr lang="es-PE" dirty="0">
              <a:solidFill>
                <a:schemeClr val="dk1"/>
              </a:solidFill>
              <a:latin typeface="Calibri"/>
              <a:cs typeface="Calibri"/>
            </a:endParaRPr>
          </a:p>
        </p:txBody>
      </p:sp>
      <p:sp>
        <p:nvSpPr>
          <p:cNvPr id="10" name="Más 9">
            <a:extLst>
              <a:ext uri="{FF2B5EF4-FFF2-40B4-BE49-F238E27FC236}">
                <a16:creationId xmlns:a16="http://schemas.microsoft.com/office/drawing/2014/main" id="{429BE542-8055-4746-B2F9-09B009BFDF20}"/>
              </a:ext>
            </a:extLst>
          </p:cNvPr>
          <p:cNvSpPr/>
          <p:nvPr/>
        </p:nvSpPr>
        <p:spPr>
          <a:xfrm>
            <a:off x="684213" y="1351444"/>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11" name="Conector recto 10">
            <a:extLst>
              <a:ext uri="{FF2B5EF4-FFF2-40B4-BE49-F238E27FC236}">
                <a16:creationId xmlns:a16="http://schemas.microsoft.com/office/drawing/2014/main" id="{FB9D6FB7-5C77-0B41-9A51-F4BDF8B178B8}"/>
              </a:ext>
            </a:extLst>
          </p:cNvPr>
          <p:cNvCxnSpPr>
            <a:cxnSpLocks/>
          </p:cNvCxnSpPr>
          <p:nvPr/>
        </p:nvCxnSpPr>
        <p:spPr>
          <a:xfrm>
            <a:off x="760555" y="2001322"/>
            <a:ext cx="0" cy="236669"/>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2" name="Más 11">
            <a:extLst>
              <a:ext uri="{FF2B5EF4-FFF2-40B4-BE49-F238E27FC236}">
                <a16:creationId xmlns:a16="http://schemas.microsoft.com/office/drawing/2014/main" id="{63293F21-60F3-C147-909A-5D475DE1B9D9}"/>
              </a:ext>
            </a:extLst>
          </p:cNvPr>
          <p:cNvSpPr/>
          <p:nvPr/>
        </p:nvSpPr>
        <p:spPr>
          <a:xfrm>
            <a:off x="684213" y="1818573"/>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3" name="Más 12">
            <a:extLst>
              <a:ext uri="{FF2B5EF4-FFF2-40B4-BE49-F238E27FC236}">
                <a16:creationId xmlns:a16="http://schemas.microsoft.com/office/drawing/2014/main" id="{98CB888A-5342-2E43-9789-A4856D0A8BBD}"/>
              </a:ext>
            </a:extLst>
          </p:cNvPr>
          <p:cNvSpPr/>
          <p:nvPr/>
        </p:nvSpPr>
        <p:spPr>
          <a:xfrm>
            <a:off x="684213" y="2253798"/>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4" name="Rectángulo 13">
            <a:extLst>
              <a:ext uri="{FF2B5EF4-FFF2-40B4-BE49-F238E27FC236}">
                <a16:creationId xmlns:a16="http://schemas.microsoft.com/office/drawing/2014/main" id="{5E25178A-88AF-5047-97DF-E6E537A7C44A}"/>
              </a:ext>
            </a:extLst>
          </p:cNvPr>
          <p:cNvSpPr/>
          <p:nvPr/>
        </p:nvSpPr>
        <p:spPr>
          <a:xfrm>
            <a:off x="974956" y="2852193"/>
            <a:ext cx="4186619" cy="215444"/>
          </a:xfrm>
          <a:prstGeom prst="rect">
            <a:avLst/>
          </a:prstGeom>
        </p:spPr>
        <p:txBody>
          <a:bodyPr wrap="square" lIns="0" tIns="0" rIns="0" bIns="0">
            <a:spAutoFit/>
          </a:bodyPr>
          <a:lstStyle/>
          <a:p>
            <a:pPr>
              <a:buClr>
                <a:schemeClr val="dk1"/>
              </a:buClr>
              <a:buSzPts val="1600"/>
            </a:pPr>
            <a:r>
              <a:rPr lang="es-PE" dirty="0">
                <a:solidFill>
                  <a:schemeClr val="dk1"/>
                </a:solidFill>
                <a:latin typeface="Calibri"/>
                <a:cs typeface="Calibri"/>
                <a:sym typeface="Calibri"/>
              </a:rPr>
              <a:t>El autor tiene una gran influencia sobre el resultado.</a:t>
            </a:r>
            <a:endParaRPr lang="es-PE" dirty="0">
              <a:solidFill>
                <a:schemeClr val="dk1"/>
              </a:solidFill>
              <a:latin typeface="Calibri"/>
              <a:cs typeface="Calibri"/>
            </a:endParaRPr>
          </a:p>
        </p:txBody>
      </p:sp>
      <p:cxnSp>
        <p:nvCxnSpPr>
          <p:cNvPr id="15" name="Conector recto 14">
            <a:extLst>
              <a:ext uri="{FF2B5EF4-FFF2-40B4-BE49-F238E27FC236}">
                <a16:creationId xmlns:a16="http://schemas.microsoft.com/office/drawing/2014/main" id="{53FE1995-854E-2B48-A785-6233B6AA760D}"/>
              </a:ext>
            </a:extLst>
          </p:cNvPr>
          <p:cNvCxnSpPr>
            <a:cxnSpLocks/>
          </p:cNvCxnSpPr>
          <p:nvPr/>
        </p:nvCxnSpPr>
        <p:spPr>
          <a:xfrm>
            <a:off x="760555" y="2406481"/>
            <a:ext cx="0" cy="429905"/>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6" name="Más 15">
            <a:extLst>
              <a:ext uri="{FF2B5EF4-FFF2-40B4-BE49-F238E27FC236}">
                <a16:creationId xmlns:a16="http://schemas.microsoft.com/office/drawing/2014/main" id="{140D82AE-7FC3-744B-9CCC-8018A815847B}"/>
              </a:ext>
            </a:extLst>
          </p:cNvPr>
          <p:cNvSpPr/>
          <p:nvPr/>
        </p:nvSpPr>
        <p:spPr>
          <a:xfrm>
            <a:off x="684213" y="2852193"/>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7" name="Rectángulo 16">
            <a:extLst>
              <a:ext uri="{FF2B5EF4-FFF2-40B4-BE49-F238E27FC236}">
                <a16:creationId xmlns:a16="http://schemas.microsoft.com/office/drawing/2014/main" id="{D2964D4B-C51A-834F-9A5C-2EE2910F2C7C}"/>
              </a:ext>
            </a:extLst>
          </p:cNvPr>
          <p:cNvSpPr/>
          <p:nvPr/>
        </p:nvSpPr>
        <p:spPr>
          <a:xfrm>
            <a:off x="974956" y="3285332"/>
            <a:ext cx="4186619" cy="215444"/>
          </a:xfrm>
          <a:prstGeom prst="rect">
            <a:avLst/>
          </a:prstGeom>
        </p:spPr>
        <p:txBody>
          <a:bodyPr wrap="square" lIns="0" tIns="0" rIns="0" bIns="0">
            <a:spAutoFit/>
          </a:bodyPr>
          <a:lstStyle/>
          <a:p>
            <a:pPr>
              <a:buClr>
                <a:schemeClr val="dk1"/>
              </a:buClr>
              <a:buSzPts val="1600"/>
            </a:pPr>
            <a:r>
              <a:rPr lang="es-PE" dirty="0">
                <a:solidFill>
                  <a:schemeClr val="dk1"/>
                </a:solidFill>
                <a:latin typeface="Calibri"/>
                <a:cs typeface="Calibri"/>
                <a:sym typeface="Calibri"/>
              </a:rPr>
              <a:t>Posibilidad limitada de control.</a:t>
            </a:r>
            <a:endParaRPr lang="es-PE" dirty="0">
              <a:solidFill>
                <a:schemeClr val="dk1"/>
              </a:solidFill>
              <a:latin typeface="Calibri"/>
              <a:cs typeface="Calibri"/>
            </a:endParaRPr>
          </a:p>
        </p:txBody>
      </p:sp>
      <p:cxnSp>
        <p:nvCxnSpPr>
          <p:cNvPr id="18" name="Conector recto 17">
            <a:extLst>
              <a:ext uri="{FF2B5EF4-FFF2-40B4-BE49-F238E27FC236}">
                <a16:creationId xmlns:a16="http://schemas.microsoft.com/office/drawing/2014/main" id="{FA4369AE-DC7E-2A45-BD4C-0986B3735246}"/>
              </a:ext>
            </a:extLst>
          </p:cNvPr>
          <p:cNvCxnSpPr>
            <a:cxnSpLocks/>
          </p:cNvCxnSpPr>
          <p:nvPr/>
        </p:nvCxnSpPr>
        <p:spPr>
          <a:xfrm>
            <a:off x="760555" y="3006088"/>
            <a:ext cx="0" cy="246778"/>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9" name="Más 18">
            <a:extLst>
              <a:ext uri="{FF2B5EF4-FFF2-40B4-BE49-F238E27FC236}">
                <a16:creationId xmlns:a16="http://schemas.microsoft.com/office/drawing/2014/main" id="{64D7FB1C-6F5E-EA45-9805-F4DEC424F6AA}"/>
              </a:ext>
            </a:extLst>
          </p:cNvPr>
          <p:cNvSpPr/>
          <p:nvPr/>
        </p:nvSpPr>
        <p:spPr>
          <a:xfrm>
            <a:off x="684213" y="3285332"/>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7" name="Google Shape;157;p10"/>
          <p:cNvSpPr/>
          <p:nvPr/>
        </p:nvSpPr>
        <p:spPr>
          <a:xfrm>
            <a:off x="503238" y="912813"/>
            <a:ext cx="2535797" cy="286232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WALKTHROUGH: EJEMPLOS</a:t>
            </a:r>
            <a:endParaRPr dirty="0"/>
          </a:p>
          <a:p>
            <a:pPr marL="179388" marR="0" lvl="0" indent="-179388" algn="l" rtl="0">
              <a:spcBef>
                <a:spcPts val="0"/>
              </a:spcBef>
              <a:spcAft>
                <a:spcPts val="0"/>
              </a:spcAft>
              <a:buClr>
                <a:schemeClr val="dk1"/>
              </a:buClr>
              <a:buSzPts val="1600"/>
              <a:buFont typeface="Arial"/>
              <a:buChar char="•"/>
            </a:pPr>
            <a:r>
              <a:rPr lang="es-PE" sz="1500" dirty="0">
                <a:solidFill>
                  <a:schemeClr val="dk1"/>
                </a:solidFill>
                <a:latin typeface="Calibri"/>
                <a:ea typeface="Calibri"/>
                <a:cs typeface="Calibri"/>
                <a:sym typeface="Calibri"/>
              </a:rPr>
              <a:t>Ejemplos para el uso de Walkthroughs:</a:t>
            </a:r>
            <a:endParaRPr sz="1500" dirty="0"/>
          </a:p>
          <a:p>
            <a:pPr marL="133350" marR="0" lvl="1" indent="-31750" algn="l" rtl="0">
              <a:spcBef>
                <a:spcPts val="0"/>
              </a:spcBef>
              <a:spcAft>
                <a:spcPts val="0"/>
              </a:spcAft>
              <a:buClr>
                <a:schemeClr val="dk1"/>
              </a:buClr>
              <a:buSzPts val="1600"/>
              <a:buFont typeface="Arial"/>
              <a:buNone/>
            </a:pPr>
            <a:endParaRPr sz="1500" b="0" i="0" u="none" strike="noStrike" cap="none" dirty="0">
              <a:solidFill>
                <a:schemeClr val="dk1"/>
              </a:solidFill>
              <a:latin typeface="Calibri"/>
              <a:ea typeface="Calibri"/>
              <a:cs typeface="Calibri"/>
              <a:sym typeface="Calibri"/>
            </a:endParaRPr>
          </a:p>
          <a:p>
            <a:pPr marL="360363" marR="0" lvl="1" indent="-180975"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Walkthrough de documentos.</a:t>
            </a:r>
            <a:endParaRPr sz="1500" dirty="0"/>
          </a:p>
          <a:p>
            <a:pPr marL="360363" marR="0" lvl="1" indent="-180975"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Walkthrough de un diseño preliminar de interfaz de usuario.</a:t>
            </a:r>
            <a:endParaRPr sz="1500" dirty="0"/>
          </a:p>
          <a:p>
            <a:pPr marL="360363" marR="0" lvl="1" indent="-180975"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Walkthrough de un modelo de datos del proceso de negocio.</a:t>
            </a:r>
            <a:endParaRPr sz="1500" dirty="0"/>
          </a:p>
        </p:txBody>
      </p:sp>
      <p:sp>
        <p:nvSpPr>
          <p:cNvPr id="159" name="Google Shape;159;p10"/>
          <p:cNvSpPr txBox="1"/>
          <p:nvPr/>
        </p:nvSpPr>
        <p:spPr>
          <a:xfrm>
            <a:off x="684213" y="5025798"/>
            <a:ext cx="37084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6" name="Rectangle 5">
            <a:extLst>
              <a:ext uri="{FF2B5EF4-FFF2-40B4-BE49-F238E27FC236}">
                <a16:creationId xmlns:a16="http://schemas.microsoft.com/office/drawing/2014/main" id="{DFCB2339-18E2-7647-BD26-600316B11EE4}"/>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WALKTHROUGH</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15AE5FAB-984C-DC47-8B60-865675601E3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3401067" y="912813"/>
            <a:ext cx="5742934" cy="4321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4" name="Rectángulo 3">
            <a:extLst>
              <a:ext uri="{FF2B5EF4-FFF2-40B4-BE49-F238E27FC236}">
                <a16:creationId xmlns:a16="http://schemas.microsoft.com/office/drawing/2014/main" id="{2CD5116F-8DE0-3742-9E14-C0C2C56D209F}"/>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E61B3196-55D5-C64E-B0DE-AA5E3DCBF63B}"/>
              </a:ext>
            </a:extLst>
          </p:cNvPr>
          <p:cNvSpPr txBox="1"/>
          <p:nvPr/>
        </p:nvSpPr>
        <p:spPr>
          <a:xfrm>
            <a:off x="1008063" y="3169972"/>
            <a:ext cx="5993558"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ANÁLISIS</a:t>
            </a:r>
            <a:br>
              <a:rPr lang="es-PE" sz="2800" b="1" dirty="0">
                <a:solidFill>
                  <a:schemeClr val="bg1"/>
                </a:solidFill>
                <a:latin typeface="Calibri"/>
                <a:cs typeface="Calibri"/>
              </a:rPr>
            </a:br>
            <a:r>
              <a:rPr lang="es-PE" sz="2800" b="1" dirty="0">
                <a:solidFill>
                  <a:schemeClr val="bg1"/>
                </a:solidFill>
                <a:latin typeface="Graphik Bold" charset="0"/>
                <a:ea typeface="Graphik Bold" charset="0"/>
                <a:cs typeface="Graphik Bold" charset="0"/>
              </a:rPr>
              <a:t>ESTÁTICO</a:t>
            </a:r>
          </a:p>
        </p:txBody>
      </p:sp>
      <p:pic>
        <p:nvPicPr>
          <p:cNvPr id="6" name="Imagen 5">
            <a:extLst>
              <a:ext uri="{FF2B5EF4-FFF2-40B4-BE49-F238E27FC236}">
                <a16:creationId xmlns:a16="http://schemas.microsoft.com/office/drawing/2014/main" id="{F4BC4A70-83D8-CE43-B0F8-1735231B6AC0}"/>
              </a:ext>
            </a:extLst>
          </p:cNvPr>
          <p:cNvPicPr>
            <a:picLocks noChangeAspect="1"/>
          </p:cNvPicPr>
          <p:nvPr/>
        </p:nvPicPr>
        <p:blipFill>
          <a:blip r:embed="rId3"/>
          <a:stretch>
            <a:fillRect/>
          </a:stretch>
        </p:blipFill>
        <p:spPr>
          <a:xfrm>
            <a:off x="1008063" y="2869612"/>
            <a:ext cx="195423" cy="201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3" name="Imagen 2">
            <a:extLst>
              <a:ext uri="{FF2B5EF4-FFF2-40B4-BE49-F238E27FC236}">
                <a16:creationId xmlns:a16="http://schemas.microsoft.com/office/drawing/2014/main" id="{3E8A278C-7E93-A34B-8987-2DB51B102CE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067175" y="923962"/>
            <a:ext cx="5076825" cy="4310025"/>
          </a:xfrm>
          <a:prstGeom prst="rect">
            <a:avLst/>
          </a:prstGeom>
        </p:spPr>
      </p:pic>
      <p:sp>
        <p:nvSpPr>
          <p:cNvPr id="4" name="Rectangle 5">
            <a:extLst>
              <a:ext uri="{FF2B5EF4-FFF2-40B4-BE49-F238E27FC236}">
                <a16:creationId xmlns:a16="http://schemas.microsoft.com/office/drawing/2014/main" id="{60925946-3B9C-0742-ADD3-5E2783F3030D}"/>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12A227EC-F27B-074C-9553-E61CA27D769E}"/>
              </a:ext>
            </a:extLst>
          </p:cNvPr>
          <p:cNvSpPr/>
          <p:nvPr/>
        </p:nvSpPr>
        <p:spPr>
          <a:xfrm>
            <a:off x="503238" y="916472"/>
            <a:ext cx="3168650" cy="3416320"/>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PE" sz="1600" dirty="0">
                <a:solidFill>
                  <a:srgbClr val="EE4639"/>
                </a:solidFill>
                <a:latin typeface="Calibri" charset="0"/>
                <a:cs typeface="Calibri" charset="0"/>
                <a:sym typeface="Calibri"/>
              </a:rPr>
              <a:t>ANÁLISIS ESTÁTICO POR </a:t>
            </a:r>
            <a:r>
              <a:rPr lang="es-PE" sz="1600" b="1" dirty="0">
                <a:solidFill>
                  <a:srgbClr val="EE4639"/>
                </a:solidFill>
                <a:latin typeface="Calibri" charset="0"/>
                <a:cs typeface="Calibri" charset="0"/>
                <a:sym typeface="Calibri"/>
              </a:rPr>
              <a:t>HERRAMIENTAS</a:t>
            </a:r>
            <a:endParaRPr lang="es-PE" sz="1600" b="1" dirty="0">
              <a:solidFill>
                <a:srgbClr val="EE4639"/>
              </a:solidFill>
              <a:latin typeface="Calibri" charset="0"/>
              <a:cs typeface="Calibri" charset="0"/>
            </a:endParaRPr>
          </a:p>
          <a:p>
            <a:pPr marL="179388" marR="0" lvl="0" indent="-17938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Es aquella actividad que consiste en el análisis de un objeto de prueba. </a:t>
            </a:r>
            <a:endParaRPr lang="es-PE" sz="1500" dirty="0"/>
          </a:p>
          <a:p>
            <a:pPr marL="179388" marR="0" lvl="1" indent="-179388" algn="l" rtl="0">
              <a:spcBef>
                <a:spcPts val="0"/>
              </a:spcBef>
              <a:spcAft>
                <a:spcPts val="0"/>
              </a:spcAft>
              <a:buClr>
                <a:schemeClr val="dk1"/>
              </a:buClr>
              <a:buSzPct val="100000"/>
              <a:buFont typeface="Arial"/>
              <a:buNone/>
            </a:pPr>
            <a:endParaRPr lang="es-PE" sz="1500" b="0" i="0" u="none" strike="noStrike" cap="none" dirty="0">
              <a:solidFill>
                <a:schemeClr val="dk1"/>
              </a:solidFill>
              <a:latin typeface="Calibri"/>
              <a:ea typeface="Calibri"/>
              <a:cs typeface="Calibri"/>
              <a:sym typeface="Calibri"/>
            </a:endParaRPr>
          </a:p>
          <a:p>
            <a:pPr marL="179388" marR="0" lvl="0" indent="-17938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Posibles aspectos o ser comprobados con análisis estático:</a:t>
            </a:r>
            <a:endParaRPr lang="es-PE" sz="1500" dirty="0"/>
          </a:p>
          <a:p>
            <a:pPr marL="360363" marR="0" lvl="1" indent="-18097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Reglas y estándares de programación.</a:t>
            </a:r>
            <a:endParaRPr lang="es-PE" sz="1500" dirty="0"/>
          </a:p>
          <a:p>
            <a:pPr marL="360363" marR="0" lvl="1" indent="-18097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Diseño de un programa</a:t>
            </a:r>
            <a:endParaRPr lang="es-PE" sz="1500" dirty="0"/>
          </a:p>
          <a:p>
            <a:pPr marL="360363" marR="0" lvl="1" indent="-18097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Uso de datos</a:t>
            </a:r>
            <a:endParaRPr lang="es-PE" sz="1500" dirty="0"/>
          </a:p>
          <a:p>
            <a:pPr marL="360363" marR="0" lvl="1" indent="-18097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Complejidad en la estructura del programa. </a:t>
            </a:r>
            <a:endParaRPr lang="es-PE"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9" name="Rectángulo redondeado 18">
            <a:extLst>
              <a:ext uri="{FF2B5EF4-FFF2-40B4-BE49-F238E27FC236}">
                <a16:creationId xmlns:a16="http://schemas.microsoft.com/office/drawing/2014/main" id="{009AC738-DCA6-F948-A177-76601B1888E5}"/>
              </a:ext>
            </a:extLst>
          </p:cNvPr>
          <p:cNvSpPr/>
          <p:nvPr/>
        </p:nvSpPr>
        <p:spPr>
          <a:xfrm>
            <a:off x="6698384" y="1803680"/>
            <a:ext cx="1973019" cy="2107639"/>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136525" indent="-136525" defTabSz="577850">
              <a:buClr>
                <a:schemeClr val="bg1"/>
              </a:buClr>
              <a:buSzPct val="100000"/>
              <a:buFont typeface="Arial" panose="020B0604020202020204" pitchFamily="34" charset="0"/>
              <a:buChar char="•"/>
            </a:pPr>
            <a:r>
              <a:rPr lang="es-PE" dirty="0">
                <a:solidFill>
                  <a:schemeClr val="bg1"/>
                </a:solidFill>
                <a:latin typeface="Calibri" charset="0"/>
                <a:cs typeface="Calibri" charset="0"/>
                <a:sym typeface="Calibri"/>
              </a:rPr>
              <a:t>El Compilador puede ser considerado como una herramienta de análisis estático.</a:t>
            </a:r>
            <a:endParaRPr lang="es-PE" dirty="0">
              <a:solidFill>
                <a:schemeClr val="bg1"/>
              </a:solidFill>
              <a:latin typeface="Calibri" charset="0"/>
              <a:cs typeface="Calibri" charset="0"/>
            </a:endParaRPr>
          </a:p>
        </p:txBody>
      </p:sp>
      <p:sp>
        <p:nvSpPr>
          <p:cNvPr id="20" name="Elipse 19">
            <a:extLst>
              <a:ext uri="{FF2B5EF4-FFF2-40B4-BE49-F238E27FC236}">
                <a16:creationId xmlns:a16="http://schemas.microsoft.com/office/drawing/2014/main" id="{974E6FA0-360D-9C43-AE37-3CD75B065ECF}"/>
              </a:ext>
            </a:extLst>
          </p:cNvPr>
          <p:cNvSpPr/>
          <p:nvPr/>
        </p:nvSpPr>
        <p:spPr>
          <a:xfrm>
            <a:off x="6548956" y="2661757"/>
            <a:ext cx="395709" cy="376075"/>
          </a:xfrm>
          <a:prstGeom prst="ellipse">
            <a:avLst/>
          </a:prstGeom>
          <a:solidFill>
            <a:srgbClr val="C739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1" name="Elipse 20">
            <a:extLst>
              <a:ext uri="{FF2B5EF4-FFF2-40B4-BE49-F238E27FC236}">
                <a16:creationId xmlns:a16="http://schemas.microsoft.com/office/drawing/2014/main" id="{74E16326-7F1C-574D-B549-FAEB242B3CBD}"/>
              </a:ext>
            </a:extLst>
          </p:cNvPr>
          <p:cNvSpPr/>
          <p:nvPr/>
        </p:nvSpPr>
        <p:spPr>
          <a:xfrm>
            <a:off x="6485190" y="2647883"/>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2" name="Triángulo 21">
            <a:extLst>
              <a:ext uri="{FF2B5EF4-FFF2-40B4-BE49-F238E27FC236}">
                <a16:creationId xmlns:a16="http://schemas.microsoft.com/office/drawing/2014/main" id="{8B6D9FDA-640D-3A4D-9C3B-42B5257FEC54}"/>
              </a:ext>
            </a:extLst>
          </p:cNvPr>
          <p:cNvSpPr/>
          <p:nvPr/>
        </p:nvSpPr>
        <p:spPr>
          <a:xfrm rot="5400000">
            <a:off x="6668963" y="2788604"/>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80" name="Google Shape;180;p13"/>
          <p:cNvSpPr/>
          <p:nvPr/>
        </p:nvSpPr>
        <p:spPr>
          <a:xfrm>
            <a:off x="521571" y="912813"/>
            <a:ext cx="8100858"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rgbClr val="EE4639"/>
                </a:solidFill>
                <a:latin typeface="Calibri"/>
                <a:ea typeface="Calibri"/>
                <a:cs typeface="Calibri"/>
                <a:sym typeface="Calibri"/>
              </a:rPr>
              <a:t>ANÁLISIS ESTÁTICO: CARACTERÍSTICAS</a:t>
            </a:r>
            <a:endParaRPr dirty="0">
              <a:solidFill>
                <a:srgbClr val="EE4639"/>
              </a:solidFill>
            </a:endParaRPr>
          </a:p>
        </p:txBody>
      </p:sp>
      <p:sp>
        <p:nvSpPr>
          <p:cNvPr id="4" name="Rectangle 5">
            <a:extLst>
              <a:ext uri="{FF2B5EF4-FFF2-40B4-BE49-F238E27FC236}">
                <a16:creationId xmlns:a16="http://schemas.microsoft.com/office/drawing/2014/main" id="{72A37965-337B-6540-A73A-AE75625F4050}"/>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redondeado 6">
            <a:extLst>
              <a:ext uri="{FF2B5EF4-FFF2-40B4-BE49-F238E27FC236}">
                <a16:creationId xmlns:a16="http://schemas.microsoft.com/office/drawing/2014/main" id="{A18E3860-3518-554B-B51C-A9DBCE5A8198}"/>
              </a:ext>
            </a:extLst>
          </p:cNvPr>
          <p:cNvSpPr/>
          <p:nvPr/>
        </p:nvSpPr>
        <p:spPr>
          <a:xfrm>
            <a:off x="4640984" y="1803680"/>
            <a:ext cx="1973019" cy="2107639"/>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136525" indent="-136525" defTabSz="577850">
              <a:buClr>
                <a:schemeClr val="bg1"/>
              </a:buClr>
              <a:buSzPct val="100000"/>
              <a:buFont typeface="Arial" panose="020B0604020202020204" pitchFamily="34" charset="0"/>
              <a:buChar char="•"/>
            </a:pPr>
            <a:r>
              <a:rPr lang="es-PE" dirty="0">
                <a:solidFill>
                  <a:schemeClr val="bg1"/>
                </a:solidFill>
                <a:latin typeface="Calibri" charset="0"/>
                <a:cs typeface="Calibri" charset="0"/>
                <a:sym typeface="Calibri"/>
              </a:rPr>
              <a:t>Se utiliza normalmente por los desarrolladores antes y durante las pruebas de componentes y de integración.</a:t>
            </a:r>
            <a:endParaRPr lang="es-PE" dirty="0">
              <a:solidFill>
                <a:schemeClr val="bg1"/>
              </a:solidFill>
              <a:latin typeface="Calibri" charset="0"/>
              <a:cs typeface="Calibri" charset="0"/>
            </a:endParaRPr>
          </a:p>
        </p:txBody>
      </p:sp>
      <p:sp>
        <p:nvSpPr>
          <p:cNvPr id="8" name="Elipse 7">
            <a:extLst>
              <a:ext uri="{FF2B5EF4-FFF2-40B4-BE49-F238E27FC236}">
                <a16:creationId xmlns:a16="http://schemas.microsoft.com/office/drawing/2014/main" id="{50C8C265-EAF0-BE40-A64A-E8D7FDDFDE27}"/>
              </a:ext>
            </a:extLst>
          </p:cNvPr>
          <p:cNvSpPr/>
          <p:nvPr/>
        </p:nvSpPr>
        <p:spPr>
          <a:xfrm>
            <a:off x="4491556" y="2661757"/>
            <a:ext cx="395709" cy="376075"/>
          </a:xfrm>
          <a:prstGeom prst="ellipse">
            <a:avLst/>
          </a:prstGeom>
          <a:solidFill>
            <a:srgbClr val="C739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9" name="Elipse 8">
            <a:extLst>
              <a:ext uri="{FF2B5EF4-FFF2-40B4-BE49-F238E27FC236}">
                <a16:creationId xmlns:a16="http://schemas.microsoft.com/office/drawing/2014/main" id="{F7B06A1D-865B-8840-B571-327D4B3404A0}"/>
              </a:ext>
            </a:extLst>
          </p:cNvPr>
          <p:cNvSpPr/>
          <p:nvPr/>
        </p:nvSpPr>
        <p:spPr>
          <a:xfrm>
            <a:off x="4427790" y="2647883"/>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Triángulo 9">
            <a:extLst>
              <a:ext uri="{FF2B5EF4-FFF2-40B4-BE49-F238E27FC236}">
                <a16:creationId xmlns:a16="http://schemas.microsoft.com/office/drawing/2014/main" id="{8B4477E8-5CB9-2941-9DC1-669F9699B668}"/>
              </a:ext>
            </a:extLst>
          </p:cNvPr>
          <p:cNvSpPr/>
          <p:nvPr/>
        </p:nvSpPr>
        <p:spPr>
          <a:xfrm rot="5400000">
            <a:off x="4611563" y="2788604"/>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Rectángulo redondeado 10">
            <a:extLst>
              <a:ext uri="{FF2B5EF4-FFF2-40B4-BE49-F238E27FC236}">
                <a16:creationId xmlns:a16="http://schemas.microsoft.com/office/drawing/2014/main" id="{35D35356-0C80-CF4F-AAD4-A99C72C63229}"/>
              </a:ext>
            </a:extLst>
          </p:cNvPr>
          <p:cNvSpPr/>
          <p:nvPr/>
        </p:nvSpPr>
        <p:spPr>
          <a:xfrm>
            <a:off x="2579301" y="1803680"/>
            <a:ext cx="1973019" cy="2107639"/>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136525" indent="-136525" defTabSz="577850">
              <a:buClr>
                <a:schemeClr val="bg1"/>
              </a:buClr>
              <a:buSzPct val="100000"/>
              <a:buFont typeface="Arial" panose="020B0604020202020204" pitchFamily="34" charset="0"/>
              <a:buChar char="•"/>
            </a:pPr>
            <a:r>
              <a:rPr lang="es-PE" dirty="0">
                <a:solidFill>
                  <a:schemeClr val="bg1"/>
                </a:solidFill>
                <a:latin typeface="Calibri" charset="0"/>
                <a:cs typeface="Calibri" charset="0"/>
                <a:sym typeface="Calibri"/>
              </a:rPr>
              <a:t>El objetivo del análisis estático es encontrar los defectos utilizando herramientas.</a:t>
            </a:r>
            <a:endParaRPr lang="es-PE" dirty="0">
              <a:solidFill>
                <a:schemeClr val="bg1"/>
              </a:solidFill>
              <a:latin typeface="Calibri" charset="0"/>
              <a:cs typeface="Calibri" charset="0"/>
            </a:endParaRPr>
          </a:p>
        </p:txBody>
      </p:sp>
      <p:sp>
        <p:nvSpPr>
          <p:cNvPr id="12" name="Elipse 11">
            <a:extLst>
              <a:ext uri="{FF2B5EF4-FFF2-40B4-BE49-F238E27FC236}">
                <a16:creationId xmlns:a16="http://schemas.microsoft.com/office/drawing/2014/main" id="{D9B0CCD8-5A96-E64B-8837-19C3834B3B02}"/>
              </a:ext>
            </a:extLst>
          </p:cNvPr>
          <p:cNvSpPr/>
          <p:nvPr/>
        </p:nvSpPr>
        <p:spPr>
          <a:xfrm>
            <a:off x="2419625" y="2661757"/>
            <a:ext cx="395709" cy="376075"/>
          </a:xfrm>
          <a:prstGeom prst="ellipse">
            <a:avLst/>
          </a:prstGeom>
          <a:solidFill>
            <a:srgbClr val="C739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Elipse 12">
            <a:extLst>
              <a:ext uri="{FF2B5EF4-FFF2-40B4-BE49-F238E27FC236}">
                <a16:creationId xmlns:a16="http://schemas.microsoft.com/office/drawing/2014/main" id="{687B2D77-0D82-AB40-A4B9-C24226837E30}"/>
              </a:ext>
            </a:extLst>
          </p:cNvPr>
          <p:cNvSpPr/>
          <p:nvPr/>
        </p:nvSpPr>
        <p:spPr>
          <a:xfrm>
            <a:off x="2355860" y="2647883"/>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Triángulo 13">
            <a:extLst>
              <a:ext uri="{FF2B5EF4-FFF2-40B4-BE49-F238E27FC236}">
                <a16:creationId xmlns:a16="http://schemas.microsoft.com/office/drawing/2014/main" id="{00602969-D979-2947-98EA-6A42D209F6D2}"/>
              </a:ext>
            </a:extLst>
          </p:cNvPr>
          <p:cNvSpPr/>
          <p:nvPr/>
        </p:nvSpPr>
        <p:spPr>
          <a:xfrm rot="5400000">
            <a:off x="2539633" y="2788604"/>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Rectángulo redondeado 14">
            <a:extLst>
              <a:ext uri="{FF2B5EF4-FFF2-40B4-BE49-F238E27FC236}">
                <a16:creationId xmlns:a16="http://schemas.microsoft.com/office/drawing/2014/main" id="{249443BC-D1B2-CA4C-8A87-BE23D0BFAC47}"/>
              </a:ext>
            </a:extLst>
          </p:cNvPr>
          <p:cNvSpPr/>
          <p:nvPr/>
        </p:nvSpPr>
        <p:spPr>
          <a:xfrm>
            <a:off x="517617" y="1803680"/>
            <a:ext cx="1973019" cy="2107639"/>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136525" indent="-136525" defTabSz="577850">
              <a:buClr>
                <a:schemeClr val="bg1"/>
              </a:buClr>
              <a:buSzPct val="100000"/>
              <a:buFont typeface="Arial" panose="020B0604020202020204" pitchFamily="34" charset="0"/>
              <a:buChar char="•"/>
            </a:pPr>
            <a:r>
              <a:rPr lang="es-PE" dirty="0">
                <a:solidFill>
                  <a:schemeClr val="bg1"/>
                </a:solidFill>
                <a:latin typeface="Calibri" charset="0"/>
                <a:cs typeface="Calibri" charset="0"/>
                <a:sym typeface="Calibri"/>
              </a:rPr>
              <a:t>Se realiza el diseño requisito o código sin tener que ejecutar el software o antes de que el código se ejecute realmente.</a:t>
            </a:r>
            <a:endParaRPr lang="es-PE" dirty="0">
              <a:solidFill>
                <a:schemeClr val="bg1"/>
              </a:solidFill>
              <a:latin typeface="Calibri" charset="0"/>
              <a:cs typeface="Calibri" charset="0"/>
            </a:endParaRPr>
          </a:p>
        </p:txBody>
      </p:sp>
      <p:sp>
        <p:nvSpPr>
          <p:cNvPr id="16" name="Elipse 15">
            <a:extLst>
              <a:ext uri="{FF2B5EF4-FFF2-40B4-BE49-F238E27FC236}">
                <a16:creationId xmlns:a16="http://schemas.microsoft.com/office/drawing/2014/main" id="{C373A4F5-1B99-7A43-9B3D-31B3E1B41848}"/>
              </a:ext>
            </a:extLst>
          </p:cNvPr>
          <p:cNvSpPr/>
          <p:nvPr/>
        </p:nvSpPr>
        <p:spPr>
          <a:xfrm>
            <a:off x="365364" y="2661757"/>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7" name="Elipse 16">
            <a:extLst>
              <a:ext uri="{FF2B5EF4-FFF2-40B4-BE49-F238E27FC236}">
                <a16:creationId xmlns:a16="http://schemas.microsoft.com/office/drawing/2014/main" id="{8C47C073-449D-2245-8714-98736AA4BE75}"/>
              </a:ext>
            </a:extLst>
          </p:cNvPr>
          <p:cNvSpPr/>
          <p:nvPr/>
        </p:nvSpPr>
        <p:spPr>
          <a:xfrm>
            <a:off x="301599" y="2647883"/>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8" name="Triángulo 17">
            <a:extLst>
              <a:ext uri="{FF2B5EF4-FFF2-40B4-BE49-F238E27FC236}">
                <a16:creationId xmlns:a16="http://schemas.microsoft.com/office/drawing/2014/main" id="{7DB66C3B-F528-6F41-ABA6-F7144A1EAFB8}"/>
              </a:ext>
            </a:extLst>
          </p:cNvPr>
          <p:cNvSpPr/>
          <p:nvPr/>
        </p:nvSpPr>
        <p:spPr>
          <a:xfrm rot="5400000">
            <a:off x="485372" y="2788604"/>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14"/>
          <p:cNvSpPr/>
          <p:nvPr/>
        </p:nvSpPr>
        <p:spPr>
          <a:xfrm>
            <a:off x="521571" y="912813"/>
            <a:ext cx="8100858" cy="538609"/>
          </a:xfrm>
          <a:prstGeom prst="rect">
            <a:avLst/>
          </a:prstGeom>
          <a:noFill/>
          <a:ln>
            <a:noFill/>
          </a:ln>
        </p:spPr>
        <p:txBody>
          <a:bodyPr spcFirstLastPara="1" wrap="square" lIns="0" tIns="0" rIns="0" bIns="0" anchor="t" anchorCtr="0">
            <a:spAutoFit/>
          </a:bodyPr>
          <a:lstStyle/>
          <a:p>
            <a:pPr marL="0" lvl="0" indent="0" algn="l" rtl="0">
              <a:spcBef>
                <a:spcPts val="0"/>
              </a:spcBef>
              <a:spcAft>
                <a:spcPts val="600"/>
              </a:spcAft>
              <a:buNone/>
            </a:pPr>
            <a:r>
              <a:rPr lang="es-PE" sz="1600" b="1" dirty="0">
                <a:solidFill>
                  <a:srgbClr val="EE4639"/>
                </a:solidFill>
                <a:latin typeface="Calibri"/>
                <a:ea typeface="Calibri"/>
                <a:cs typeface="Calibri"/>
                <a:sym typeface="Calibri"/>
              </a:rPr>
              <a:t>ANÁLISIS ESTÁTICO: CARACTERÍSTICAS</a:t>
            </a:r>
            <a:endParaRPr dirty="0">
              <a:solidFill>
                <a:srgbClr val="EE4639"/>
              </a:solidFill>
            </a:endParaRPr>
          </a:p>
          <a:p>
            <a:pPr marL="179388" marR="0" lvl="0" indent="-169863" algn="l" rtl="0">
              <a:spcBef>
                <a:spcPts val="0"/>
              </a:spcBef>
              <a:spcAft>
                <a:spcPts val="0"/>
              </a:spcAft>
              <a:buClr>
                <a:schemeClr val="dk1"/>
              </a:buClr>
              <a:buSzPct val="100000"/>
              <a:buFont typeface="Arial"/>
              <a:buChar char="•"/>
            </a:pPr>
            <a:r>
              <a:rPr lang="es-PE" dirty="0">
                <a:solidFill>
                  <a:schemeClr val="dk1"/>
                </a:solidFill>
                <a:latin typeface="Calibri"/>
                <a:ea typeface="Calibri"/>
                <a:cs typeface="Calibri"/>
                <a:sym typeface="Calibri"/>
              </a:rPr>
              <a:t>Los defectos habitualmente detectados por las herramientas de análisis estático:</a:t>
            </a:r>
            <a:endParaRPr dirty="0"/>
          </a:p>
        </p:txBody>
      </p:sp>
      <p:sp>
        <p:nvSpPr>
          <p:cNvPr id="188" name="Google Shape;188;p14"/>
          <p:cNvSpPr txBox="1"/>
          <p:nvPr/>
        </p:nvSpPr>
        <p:spPr>
          <a:xfrm>
            <a:off x="7574056" y="5097517"/>
            <a:ext cx="1101632" cy="1538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PE" sz="1000" dirty="0">
                <a:solidFill>
                  <a:schemeClr val="bg1">
                    <a:lumMod val="50000"/>
                  </a:schemeClr>
                </a:solidFill>
                <a:latin typeface="Calibri"/>
                <a:ea typeface="Calibri"/>
                <a:cs typeface="Calibri"/>
                <a:sym typeface="Calibri"/>
              </a:rPr>
              <a:t>es.scribd.com</a:t>
            </a:r>
            <a:endParaRPr dirty="0">
              <a:solidFill>
                <a:schemeClr val="bg1">
                  <a:lumMod val="50000"/>
                </a:schemeClr>
              </a:solidFill>
            </a:endParaRPr>
          </a:p>
        </p:txBody>
      </p:sp>
      <p:sp>
        <p:nvSpPr>
          <p:cNvPr id="5" name="Rectangle 5">
            <a:extLst>
              <a:ext uri="{FF2B5EF4-FFF2-40B4-BE49-F238E27FC236}">
                <a16:creationId xmlns:a16="http://schemas.microsoft.com/office/drawing/2014/main" id="{315652C6-FFD7-2640-B4AC-12EB407D2FE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8" name="Rectángulo 7">
            <a:extLst>
              <a:ext uri="{FF2B5EF4-FFF2-40B4-BE49-F238E27FC236}">
                <a16:creationId xmlns:a16="http://schemas.microsoft.com/office/drawing/2014/main" id="{1DD5F95F-F34A-3A4C-AFC3-25956E2D0556}"/>
              </a:ext>
            </a:extLst>
          </p:cNvPr>
          <p:cNvSpPr/>
          <p:nvPr/>
        </p:nvSpPr>
        <p:spPr>
          <a:xfrm>
            <a:off x="974956" y="1575954"/>
            <a:ext cx="4186619"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tx1"/>
                </a:solidFill>
                <a:latin typeface="Calibri"/>
                <a:ea typeface="Calibri"/>
                <a:cs typeface="Calibri"/>
                <a:sym typeface="Calibri"/>
              </a:rPr>
              <a:t>Referenciar una variable con un valor indefinido.</a:t>
            </a:r>
            <a:endParaRPr lang="es-PE" dirty="0">
              <a:solidFill>
                <a:schemeClr val="tx1"/>
              </a:solidFill>
            </a:endParaRPr>
          </a:p>
        </p:txBody>
      </p:sp>
      <p:cxnSp>
        <p:nvCxnSpPr>
          <p:cNvPr id="9" name="Conector recto 8">
            <a:extLst>
              <a:ext uri="{FF2B5EF4-FFF2-40B4-BE49-F238E27FC236}">
                <a16:creationId xmlns:a16="http://schemas.microsoft.com/office/drawing/2014/main" id="{ED783B48-00C6-C74A-9DD7-C0FD290F89A8}"/>
              </a:ext>
            </a:extLst>
          </p:cNvPr>
          <p:cNvCxnSpPr>
            <a:cxnSpLocks/>
          </p:cNvCxnSpPr>
          <p:nvPr/>
        </p:nvCxnSpPr>
        <p:spPr>
          <a:xfrm>
            <a:off x="760555" y="1778824"/>
            <a:ext cx="0" cy="263143"/>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0" name="Rectángulo 9">
            <a:extLst>
              <a:ext uri="{FF2B5EF4-FFF2-40B4-BE49-F238E27FC236}">
                <a16:creationId xmlns:a16="http://schemas.microsoft.com/office/drawing/2014/main" id="{647F0C1D-4370-3C4B-B131-C89F4AC9D5CF}"/>
              </a:ext>
            </a:extLst>
          </p:cNvPr>
          <p:cNvSpPr/>
          <p:nvPr/>
        </p:nvSpPr>
        <p:spPr>
          <a:xfrm>
            <a:off x="974956" y="2041967"/>
            <a:ext cx="4186619"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tx1"/>
                </a:solidFill>
                <a:latin typeface="Calibri"/>
                <a:ea typeface="Calibri"/>
                <a:cs typeface="Calibri"/>
                <a:sym typeface="Calibri"/>
              </a:rPr>
              <a:t>Interfaces inconsistentes entre módulos y componentes.</a:t>
            </a:r>
            <a:endParaRPr lang="es-PE" dirty="0">
              <a:solidFill>
                <a:schemeClr val="tx1"/>
              </a:solidFill>
            </a:endParaRPr>
          </a:p>
        </p:txBody>
      </p:sp>
      <p:sp>
        <p:nvSpPr>
          <p:cNvPr id="11" name="Rectángulo 10">
            <a:extLst>
              <a:ext uri="{FF2B5EF4-FFF2-40B4-BE49-F238E27FC236}">
                <a16:creationId xmlns:a16="http://schemas.microsoft.com/office/drawing/2014/main" id="{451A5270-B616-FB4A-B5E9-98AD0E400E07}"/>
              </a:ext>
            </a:extLst>
          </p:cNvPr>
          <p:cNvSpPr/>
          <p:nvPr/>
        </p:nvSpPr>
        <p:spPr>
          <a:xfrm>
            <a:off x="974956" y="2488080"/>
            <a:ext cx="6185602"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tx1"/>
                </a:solidFill>
                <a:latin typeface="Calibri"/>
                <a:ea typeface="Calibri"/>
                <a:cs typeface="Calibri"/>
                <a:sym typeface="Calibri"/>
              </a:rPr>
              <a:t>Variables que no se utilizan o que se declaran de forma incorrecta.</a:t>
            </a:r>
            <a:endParaRPr lang="es-PE" dirty="0">
              <a:solidFill>
                <a:schemeClr val="tx1"/>
              </a:solidFill>
            </a:endParaRPr>
          </a:p>
        </p:txBody>
      </p:sp>
      <p:sp>
        <p:nvSpPr>
          <p:cNvPr id="12" name="Más 11">
            <a:extLst>
              <a:ext uri="{FF2B5EF4-FFF2-40B4-BE49-F238E27FC236}">
                <a16:creationId xmlns:a16="http://schemas.microsoft.com/office/drawing/2014/main" id="{04DEB72D-3AD2-8A4A-87A9-C73EB617EB1B}"/>
              </a:ext>
            </a:extLst>
          </p:cNvPr>
          <p:cNvSpPr/>
          <p:nvPr/>
        </p:nvSpPr>
        <p:spPr>
          <a:xfrm>
            <a:off x="684213" y="1585726"/>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13" name="Conector recto 12">
            <a:extLst>
              <a:ext uri="{FF2B5EF4-FFF2-40B4-BE49-F238E27FC236}">
                <a16:creationId xmlns:a16="http://schemas.microsoft.com/office/drawing/2014/main" id="{A403317B-6BE9-704A-A4C9-1BF2A3917B0B}"/>
              </a:ext>
            </a:extLst>
          </p:cNvPr>
          <p:cNvCxnSpPr>
            <a:cxnSpLocks/>
          </p:cNvCxnSpPr>
          <p:nvPr/>
        </p:nvCxnSpPr>
        <p:spPr>
          <a:xfrm>
            <a:off x="760555" y="2235604"/>
            <a:ext cx="0" cy="236669"/>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4" name="Más 13">
            <a:extLst>
              <a:ext uri="{FF2B5EF4-FFF2-40B4-BE49-F238E27FC236}">
                <a16:creationId xmlns:a16="http://schemas.microsoft.com/office/drawing/2014/main" id="{DBC7CC3E-4774-E14D-8BC3-E7536C271AFE}"/>
              </a:ext>
            </a:extLst>
          </p:cNvPr>
          <p:cNvSpPr/>
          <p:nvPr/>
        </p:nvSpPr>
        <p:spPr>
          <a:xfrm>
            <a:off x="684213" y="2052855"/>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5" name="Más 14">
            <a:extLst>
              <a:ext uri="{FF2B5EF4-FFF2-40B4-BE49-F238E27FC236}">
                <a16:creationId xmlns:a16="http://schemas.microsoft.com/office/drawing/2014/main" id="{07F0AE4B-60A9-2B47-ACD5-BDBB48562E88}"/>
              </a:ext>
            </a:extLst>
          </p:cNvPr>
          <p:cNvSpPr/>
          <p:nvPr/>
        </p:nvSpPr>
        <p:spPr>
          <a:xfrm>
            <a:off x="684213" y="2488080"/>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6" name="Rectángulo 15">
            <a:extLst>
              <a:ext uri="{FF2B5EF4-FFF2-40B4-BE49-F238E27FC236}">
                <a16:creationId xmlns:a16="http://schemas.microsoft.com/office/drawing/2014/main" id="{2C88A5E8-8064-9240-B05C-38C9EFC69710}"/>
              </a:ext>
            </a:extLst>
          </p:cNvPr>
          <p:cNvSpPr/>
          <p:nvPr/>
        </p:nvSpPr>
        <p:spPr>
          <a:xfrm>
            <a:off x="974956" y="2913031"/>
            <a:ext cx="4186619"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tx1"/>
                </a:solidFill>
                <a:latin typeface="Calibri"/>
                <a:ea typeface="Calibri"/>
                <a:cs typeface="Calibri"/>
                <a:sym typeface="Calibri"/>
              </a:rPr>
              <a:t>Código inaccesible (muerto).</a:t>
            </a:r>
            <a:endParaRPr lang="es-PE" dirty="0">
              <a:solidFill>
                <a:schemeClr val="tx1"/>
              </a:solidFill>
            </a:endParaRPr>
          </a:p>
        </p:txBody>
      </p:sp>
      <p:cxnSp>
        <p:nvCxnSpPr>
          <p:cNvPr id="17" name="Conector recto 16">
            <a:extLst>
              <a:ext uri="{FF2B5EF4-FFF2-40B4-BE49-F238E27FC236}">
                <a16:creationId xmlns:a16="http://schemas.microsoft.com/office/drawing/2014/main" id="{D4D6A9C8-30D8-A441-961C-A384EE6910C5}"/>
              </a:ext>
            </a:extLst>
          </p:cNvPr>
          <p:cNvCxnSpPr>
            <a:cxnSpLocks/>
          </p:cNvCxnSpPr>
          <p:nvPr/>
        </p:nvCxnSpPr>
        <p:spPr>
          <a:xfrm>
            <a:off x="760555" y="2640763"/>
            <a:ext cx="0" cy="253916"/>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8" name="Más 17">
            <a:extLst>
              <a:ext uri="{FF2B5EF4-FFF2-40B4-BE49-F238E27FC236}">
                <a16:creationId xmlns:a16="http://schemas.microsoft.com/office/drawing/2014/main" id="{F1FA1132-E33F-F542-AC4D-81C668AE3D28}"/>
              </a:ext>
            </a:extLst>
          </p:cNvPr>
          <p:cNvSpPr/>
          <p:nvPr/>
        </p:nvSpPr>
        <p:spPr>
          <a:xfrm>
            <a:off x="684213" y="2913031"/>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0" name="Rectángulo 19">
            <a:extLst>
              <a:ext uri="{FF2B5EF4-FFF2-40B4-BE49-F238E27FC236}">
                <a16:creationId xmlns:a16="http://schemas.microsoft.com/office/drawing/2014/main" id="{8715F7E7-FEF5-1B45-B3E5-07EB3FF4AFBC}"/>
              </a:ext>
            </a:extLst>
          </p:cNvPr>
          <p:cNvSpPr/>
          <p:nvPr/>
        </p:nvSpPr>
        <p:spPr>
          <a:xfrm>
            <a:off x="974956" y="3350060"/>
            <a:ext cx="5398950"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tx1"/>
                </a:solidFill>
                <a:latin typeface="Calibri"/>
                <a:ea typeface="Calibri"/>
                <a:cs typeface="Calibri"/>
                <a:sym typeface="Calibri"/>
              </a:rPr>
              <a:t>Ausencia de lógica o lógica errónea (posibles bucles infinitos).</a:t>
            </a:r>
            <a:endParaRPr lang="es-PE" dirty="0">
              <a:solidFill>
                <a:schemeClr val="tx1"/>
              </a:solidFill>
            </a:endParaRPr>
          </a:p>
        </p:txBody>
      </p:sp>
      <p:cxnSp>
        <p:nvCxnSpPr>
          <p:cNvPr id="21" name="Conector recto 20">
            <a:extLst>
              <a:ext uri="{FF2B5EF4-FFF2-40B4-BE49-F238E27FC236}">
                <a16:creationId xmlns:a16="http://schemas.microsoft.com/office/drawing/2014/main" id="{C438C87F-62B7-9F4D-9B63-0F1D13B36818}"/>
              </a:ext>
            </a:extLst>
          </p:cNvPr>
          <p:cNvCxnSpPr>
            <a:cxnSpLocks/>
          </p:cNvCxnSpPr>
          <p:nvPr/>
        </p:nvCxnSpPr>
        <p:spPr>
          <a:xfrm>
            <a:off x="760555" y="3077792"/>
            <a:ext cx="0" cy="253916"/>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22" name="Más 21">
            <a:extLst>
              <a:ext uri="{FF2B5EF4-FFF2-40B4-BE49-F238E27FC236}">
                <a16:creationId xmlns:a16="http://schemas.microsoft.com/office/drawing/2014/main" id="{672A4FFC-084B-314A-B9C2-97D60EC185B6}"/>
              </a:ext>
            </a:extLst>
          </p:cNvPr>
          <p:cNvSpPr/>
          <p:nvPr/>
        </p:nvSpPr>
        <p:spPr>
          <a:xfrm>
            <a:off x="684213" y="3350060"/>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Rectángulo 22">
            <a:extLst>
              <a:ext uri="{FF2B5EF4-FFF2-40B4-BE49-F238E27FC236}">
                <a16:creationId xmlns:a16="http://schemas.microsoft.com/office/drawing/2014/main" id="{B49B9C37-3BE1-EB42-B7E6-BE7517A9695A}"/>
              </a:ext>
            </a:extLst>
          </p:cNvPr>
          <p:cNvSpPr/>
          <p:nvPr/>
        </p:nvSpPr>
        <p:spPr>
          <a:xfrm>
            <a:off x="974956" y="3780366"/>
            <a:ext cx="5398950"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tx1"/>
                </a:solidFill>
                <a:latin typeface="Calibri"/>
                <a:ea typeface="Calibri"/>
                <a:cs typeface="Calibri"/>
                <a:sym typeface="Calibri"/>
              </a:rPr>
              <a:t>Construcciones demasiado complicadas.</a:t>
            </a:r>
            <a:endParaRPr lang="es-PE" dirty="0">
              <a:solidFill>
                <a:schemeClr val="tx1"/>
              </a:solidFill>
            </a:endParaRPr>
          </a:p>
        </p:txBody>
      </p:sp>
      <p:cxnSp>
        <p:nvCxnSpPr>
          <p:cNvPr id="24" name="Conector recto 23">
            <a:extLst>
              <a:ext uri="{FF2B5EF4-FFF2-40B4-BE49-F238E27FC236}">
                <a16:creationId xmlns:a16="http://schemas.microsoft.com/office/drawing/2014/main" id="{39279651-98EE-334B-83D3-6A720D9436F9}"/>
              </a:ext>
            </a:extLst>
          </p:cNvPr>
          <p:cNvCxnSpPr>
            <a:cxnSpLocks/>
          </p:cNvCxnSpPr>
          <p:nvPr/>
        </p:nvCxnSpPr>
        <p:spPr>
          <a:xfrm>
            <a:off x="760555" y="3508098"/>
            <a:ext cx="0" cy="253916"/>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25" name="Más 24">
            <a:extLst>
              <a:ext uri="{FF2B5EF4-FFF2-40B4-BE49-F238E27FC236}">
                <a16:creationId xmlns:a16="http://schemas.microsoft.com/office/drawing/2014/main" id="{144E289B-61FE-1541-8297-2F3AF4BC9259}"/>
              </a:ext>
            </a:extLst>
          </p:cNvPr>
          <p:cNvSpPr/>
          <p:nvPr/>
        </p:nvSpPr>
        <p:spPr>
          <a:xfrm>
            <a:off x="684213" y="3780366"/>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6" name="Rectángulo 25">
            <a:extLst>
              <a:ext uri="{FF2B5EF4-FFF2-40B4-BE49-F238E27FC236}">
                <a16:creationId xmlns:a16="http://schemas.microsoft.com/office/drawing/2014/main" id="{4EDE8AA9-6C76-9843-892D-EE593ED4ED6D}"/>
              </a:ext>
            </a:extLst>
          </p:cNvPr>
          <p:cNvSpPr/>
          <p:nvPr/>
        </p:nvSpPr>
        <p:spPr>
          <a:xfrm>
            <a:off x="974956" y="4203949"/>
            <a:ext cx="5398950"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tx1"/>
                </a:solidFill>
                <a:latin typeface="Calibri"/>
                <a:ea typeface="Calibri"/>
                <a:cs typeface="Calibri"/>
                <a:sym typeface="Calibri"/>
              </a:rPr>
              <a:t>Infracciones de los estándares de programación.</a:t>
            </a:r>
            <a:endParaRPr lang="es-PE" dirty="0">
              <a:solidFill>
                <a:schemeClr val="tx1"/>
              </a:solidFill>
            </a:endParaRPr>
          </a:p>
        </p:txBody>
      </p:sp>
      <p:cxnSp>
        <p:nvCxnSpPr>
          <p:cNvPr id="27" name="Conector recto 26">
            <a:extLst>
              <a:ext uri="{FF2B5EF4-FFF2-40B4-BE49-F238E27FC236}">
                <a16:creationId xmlns:a16="http://schemas.microsoft.com/office/drawing/2014/main" id="{968F2D3D-B742-A046-88AE-8B571A7623E4}"/>
              </a:ext>
            </a:extLst>
          </p:cNvPr>
          <p:cNvCxnSpPr>
            <a:cxnSpLocks/>
          </p:cNvCxnSpPr>
          <p:nvPr/>
        </p:nvCxnSpPr>
        <p:spPr>
          <a:xfrm>
            <a:off x="760555" y="3931681"/>
            <a:ext cx="0" cy="253916"/>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28" name="Más 27">
            <a:extLst>
              <a:ext uri="{FF2B5EF4-FFF2-40B4-BE49-F238E27FC236}">
                <a16:creationId xmlns:a16="http://schemas.microsoft.com/office/drawing/2014/main" id="{30F56271-DBF3-7647-A31D-9E3B10D578FD}"/>
              </a:ext>
            </a:extLst>
          </p:cNvPr>
          <p:cNvSpPr/>
          <p:nvPr/>
        </p:nvSpPr>
        <p:spPr>
          <a:xfrm>
            <a:off x="684213" y="4203949"/>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9" name="Rectángulo 28">
            <a:extLst>
              <a:ext uri="{FF2B5EF4-FFF2-40B4-BE49-F238E27FC236}">
                <a16:creationId xmlns:a16="http://schemas.microsoft.com/office/drawing/2014/main" id="{A04D5154-1E88-C64B-849F-81D7CDDE29D7}"/>
              </a:ext>
            </a:extLst>
          </p:cNvPr>
          <p:cNvSpPr/>
          <p:nvPr/>
        </p:nvSpPr>
        <p:spPr>
          <a:xfrm>
            <a:off x="974956" y="4640978"/>
            <a:ext cx="5398950"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tx1"/>
                </a:solidFill>
                <a:latin typeface="Calibri"/>
                <a:ea typeface="Calibri"/>
                <a:cs typeface="Calibri"/>
                <a:sym typeface="Calibri"/>
              </a:rPr>
              <a:t>Vulnerabilidades de seguridad.</a:t>
            </a:r>
            <a:endParaRPr lang="es-PE" dirty="0">
              <a:solidFill>
                <a:schemeClr val="tx1"/>
              </a:solidFill>
            </a:endParaRPr>
          </a:p>
        </p:txBody>
      </p:sp>
      <p:cxnSp>
        <p:nvCxnSpPr>
          <p:cNvPr id="30" name="Conector recto 29">
            <a:extLst>
              <a:ext uri="{FF2B5EF4-FFF2-40B4-BE49-F238E27FC236}">
                <a16:creationId xmlns:a16="http://schemas.microsoft.com/office/drawing/2014/main" id="{DF6D8429-FFBE-F849-8819-B987DA401D9B}"/>
              </a:ext>
            </a:extLst>
          </p:cNvPr>
          <p:cNvCxnSpPr>
            <a:cxnSpLocks/>
          </p:cNvCxnSpPr>
          <p:nvPr/>
        </p:nvCxnSpPr>
        <p:spPr>
          <a:xfrm>
            <a:off x="760555" y="4368710"/>
            <a:ext cx="0" cy="253916"/>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31" name="Más 30">
            <a:extLst>
              <a:ext uri="{FF2B5EF4-FFF2-40B4-BE49-F238E27FC236}">
                <a16:creationId xmlns:a16="http://schemas.microsoft.com/office/drawing/2014/main" id="{D5087D12-2FEF-634C-BC77-7058BB744CC3}"/>
              </a:ext>
            </a:extLst>
          </p:cNvPr>
          <p:cNvSpPr/>
          <p:nvPr/>
        </p:nvSpPr>
        <p:spPr>
          <a:xfrm>
            <a:off x="684213" y="4640978"/>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32" name="Rectángulo 31">
            <a:extLst>
              <a:ext uri="{FF2B5EF4-FFF2-40B4-BE49-F238E27FC236}">
                <a16:creationId xmlns:a16="http://schemas.microsoft.com/office/drawing/2014/main" id="{C919C30F-E0D3-304B-AA36-CCD4B50299CC}"/>
              </a:ext>
            </a:extLst>
          </p:cNvPr>
          <p:cNvSpPr/>
          <p:nvPr/>
        </p:nvSpPr>
        <p:spPr>
          <a:xfrm>
            <a:off x="974956" y="5071284"/>
            <a:ext cx="5398950"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tx1"/>
                </a:solidFill>
                <a:latin typeface="Calibri"/>
                <a:ea typeface="Calibri"/>
                <a:cs typeface="Calibri"/>
                <a:sym typeface="Calibri"/>
              </a:rPr>
              <a:t>Infracciones de sintaxis del código y modelos de software.</a:t>
            </a:r>
            <a:endParaRPr lang="es-ES_tradnl" dirty="0">
              <a:solidFill>
                <a:schemeClr val="tx1"/>
              </a:solidFill>
            </a:endParaRPr>
          </a:p>
        </p:txBody>
      </p:sp>
      <p:cxnSp>
        <p:nvCxnSpPr>
          <p:cNvPr id="33" name="Conector recto 32">
            <a:extLst>
              <a:ext uri="{FF2B5EF4-FFF2-40B4-BE49-F238E27FC236}">
                <a16:creationId xmlns:a16="http://schemas.microsoft.com/office/drawing/2014/main" id="{027F13B1-1724-AB45-A75F-8B7A9C3E7C6C}"/>
              </a:ext>
            </a:extLst>
          </p:cNvPr>
          <p:cNvCxnSpPr>
            <a:cxnSpLocks/>
          </p:cNvCxnSpPr>
          <p:nvPr/>
        </p:nvCxnSpPr>
        <p:spPr>
          <a:xfrm>
            <a:off x="760555" y="4799016"/>
            <a:ext cx="0" cy="253916"/>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34" name="Más 33">
            <a:extLst>
              <a:ext uri="{FF2B5EF4-FFF2-40B4-BE49-F238E27FC236}">
                <a16:creationId xmlns:a16="http://schemas.microsoft.com/office/drawing/2014/main" id="{19FE3D8E-CB94-0348-B0EB-2704C6BF01F3}"/>
              </a:ext>
            </a:extLst>
          </p:cNvPr>
          <p:cNvSpPr/>
          <p:nvPr/>
        </p:nvSpPr>
        <p:spPr>
          <a:xfrm>
            <a:off x="684213" y="5071284"/>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6" name="Google Shape;196;p15"/>
          <p:cNvSpPr txBox="1"/>
          <p:nvPr/>
        </p:nvSpPr>
        <p:spPr>
          <a:xfrm>
            <a:off x="503237" y="4994491"/>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ECA6455C-56B8-8E4B-BB4F-85A55D98579D}"/>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4CEE1660-66C0-B041-80AE-68E77E760359}"/>
              </a:ext>
            </a:extLst>
          </p:cNvPr>
          <p:cNvSpPr/>
          <p:nvPr/>
        </p:nvSpPr>
        <p:spPr>
          <a:xfrm>
            <a:off x="503237" y="916472"/>
            <a:ext cx="7820491" cy="2708434"/>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ANÁLISIS ESTÁTICO POR HERRAMIENTAS</a:t>
            </a:r>
            <a:endParaRPr lang="es-PE" sz="1600" b="1" dirty="0">
              <a:solidFill>
                <a:srgbClr val="EE4639"/>
              </a:solidFill>
              <a:latin typeface="Calibri" charset="0"/>
              <a:cs typeface="Calibri" charset="0"/>
            </a:endParaRPr>
          </a:p>
          <a:p>
            <a:pPr marL="179388" lvl="0" indent="-179388">
              <a:buClr>
                <a:schemeClr val="dk1"/>
              </a:buClr>
              <a:buSzPct val="100000"/>
              <a:buFont typeface="Arial"/>
              <a:buChar char="•"/>
            </a:pPr>
            <a:r>
              <a:rPr lang="es-PE" sz="1500" dirty="0">
                <a:solidFill>
                  <a:schemeClr val="dk1"/>
                </a:solidFill>
                <a:latin typeface="Calibri"/>
                <a:cs typeface="Calibri"/>
                <a:sym typeface="Calibri"/>
              </a:rPr>
              <a:t>Advertir de aspectos sospechosos en el código.</a:t>
            </a:r>
            <a:endParaRPr lang="es-PE" sz="1500" dirty="0">
              <a:solidFill>
                <a:schemeClr val="dk1"/>
              </a:solidFill>
              <a:latin typeface="Calibri"/>
              <a:cs typeface="Calibri"/>
            </a:endParaRPr>
          </a:p>
          <a:p>
            <a:pPr marL="179388" lvl="0" indent="-179388">
              <a:buClr>
                <a:schemeClr val="dk1"/>
              </a:buClr>
              <a:buSzPct val="100000"/>
              <a:buFont typeface="Arial"/>
              <a:buNone/>
            </a:pPr>
            <a:endParaRPr lang="es-PE" sz="1500" dirty="0">
              <a:solidFill>
                <a:schemeClr val="dk1"/>
              </a:solidFill>
              <a:latin typeface="Calibri"/>
              <a:cs typeface="Calibri"/>
              <a:sym typeface="Calibri"/>
            </a:endParaRPr>
          </a:p>
          <a:p>
            <a:pPr marL="179388" lvl="0" indent="-179388">
              <a:buClr>
                <a:schemeClr val="dk1"/>
              </a:buClr>
              <a:buSzPct val="100000"/>
              <a:buFont typeface="Arial"/>
              <a:buChar char="•"/>
            </a:pPr>
            <a:r>
              <a:rPr lang="es-PE" sz="1500" dirty="0">
                <a:solidFill>
                  <a:schemeClr val="dk1"/>
                </a:solidFill>
                <a:latin typeface="Calibri"/>
                <a:cs typeface="Calibri"/>
                <a:sym typeface="Calibri"/>
              </a:rPr>
              <a:t>Detectar discrepancias en el diseño y para el cálculo de medidas de alta complejidad.</a:t>
            </a:r>
            <a:endParaRPr lang="es-PE" sz="1500" dirty="0">
              <a:solidFill>
                <a:schemeClr val="dk1"/>
              </a:solidFill>
              <a:latin typeface="Calibri"/>
              <a:cs typeface="Calibri"/>
            </a:endParaRPr>
          </a:p>
          <a:p>
            <a:pPr marL="179388" lvl="0" indent="-179388">
              <a:buClr>
                <a:schemeClr val="dk1"/>
              </a:buClr>
              <a:buSzPct val="100000"/>
              <a:buFont typeface="Arial"/>
              <a:buNone/>
            </a:pPr>
            <a:endParaRPr lang="es-PE" sz="1500" dirty="0">
              <a:solidFill>
                <a:schemeClr val="dk1"/>
              </a:solidFill>
              <a:latin typeface="Calibri"/>
              <a:cs typeface="Calibri"/>
              <a:sym typeface="Calibri"/>
            </a:endParaRPr>
          </a:p>
          <a:p>
            <a:pPr marL="179388" lvl="0" indent="-179388">
              <a:buClr>
                <a:schemeClr val="dk1"/>
              </a:buClr>
              <a:buSzPct val="100000"/>
              <a:buFont typeface="Arial"/>
              <a:buChar char="•"/>
            </a:pPr>
            <a:r>
              <a:rPr lang="es-PE" sz="1500" dirty="0">
                <a:solidFill>
                  <a:schemeClr val="dk1"/>
                </a:solidFill>
                <a:latin typeface="Calibri"/>
                <a:cs typeface="Calibri"/>
                <a:sym typeface="Calibri"/>
              </a:rPr>
              <a:t>Detectar inconsistencias y dependencias.</a:t>
            </a:r>
            <a:endParaRPr lang="es-PE" sz="1500" dirty="0">
              <a:solidFill>
                <a:schemeClr val="dk1"/>
              </a:solidFill>
              <a:latin typeface="Calibri"/>
              <a:cs typeface="Calibri"/>
            </a:endParaRPr>
          </a:p>
          <a:p>
            <a:pPr marL="179388" lvl="0" indent="-179388">
              <a:buClr>
                <a:schemeClr val="dk1"/>
              </a:buClr>
              <a:buSzPct val="100000"/>
              <a:buFont typeface="Arial"/>
              <a:buNone/>
            </a:pPr>
            <a:endParaRPr lang="es-PE" sz="1500" dirty="0">
              <a:solidFill>
                <a:schemeClr val="dk1"/>
              </a:solidFill>
              <a:latin typeface="Calibri"/>
              <a:cs typeface="Calibri"/>
              <a:sym typeface="Calibri"/>
            </a:endParaRPr>
          </a:p>
          <a:p>
            <a:pPr marL="179388" lvl="0" indent="-179388">
              <a:buClr>
                <a:schemeClr val="dk1"/>
              </a:buClr>
              <a:buSzPct val="100000"/>
              <a:buFont typeface="Arial"/>
              <a:buChar char="•"/>
            </a:pPr>
            <a:r>
              <a:rPr lang="es-PE" sz="1500" dirty="0">
                <a:solidFill>
                  <a:schemeClr val="dk1"/>
                </a:solidFill>
                <a:latin typeface="Calibri"/>
                <a:cs typeface="Calibri"/>
                <a:sym typeface="Calibri"/>
              </a:rPr>
              <a:t>Verificar la mantenibilidad del diseño del código.</a:t>
            </a:r>
            <a:endParaRPr lang="es-PE" sz="1500" dirty="0">
              <a:solidFill>
                <a:schemeClr val="dk1"/>
              </a:solidFill>
              <a:latin typeface="Calibri"/>
              <a:cs typeface="Calibri"/>
            </a:endParaRPr>
          </a:p>
          <a:p>
            <a:pPr marL="179388" lvl="0" indent="-179388">
              <a:buClr>
                <a:schemeClr val="dk1"/>
              </a:buClr>
              <a:buSzPct val="100000"/>
              <a:buFont typeface="Arial"/>
              <a:buNone/>
            </a:pPr>
            <a:endParaRPr lang="es-PE" sz="1500" dirty="0">
              <a:solidFill>
                <a:schemeClr val="dk1"/>
              </a:solidFill>
              <a:latin typeface="Calibri"/>
              <a:cs typeface="Calibri"/>
              <a:sym typeface="Calibri"/>
            </a:endParaRPr>
          </a:p>
          <a:p>
            <a:pPr marL="179388" lvl="0" indent="-179388">
              <a:buClr>
                <a:schemeClr val="dk1"/>
              </a:buClr>
              <a:buSzPct val="100000"/>
              <a:buFont typeface="Arial"/>
              <a:buChar char="•"/>
            </a:pPr>
            <a:r>
              <a:rPr lang="es-PE" sz="1500" dirty="0">
                <a:solidFill>
                  <a:schemeClr val="dk1"/>
                </a:solidFill>
                <a:latin typeface="Calibri"/>
                <a:cs typeface="Calibri"/>
                <a:sym typeface="Calibri"/>
              </a:rPr>
              <a:t>Estos defectos no son fáciles de detectar con pruebas dinámicas.</a:t>
            </a:r>
            <a:endParaRPr lang="es-PE" sz="1500" dirty="0">
              <a:solidFill>
                <a:schemeClr val="dk1"/>
              </a:solidFill>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4" name="Google Shape;204;p16" descr="http://cyvis.sourceforge.net/images/cyvis/package_classtooltip.PNG"/>
          <p:cNvPicPr preferRelativeResize="0"/>
          <p:nvPr/>
        </p:nvPicPr>
        <p:blipFill rotWithShape="1">
          <a:blip r:embed="rId3">
            <a:alphaModFix/>
          </a:blip>
          <a:srcRect/>
          <a:stretch/>
        </p:blipFill>
        <p:spPr>
          <a:xfrm>
            <a:off x="4067175" y="916472"/>
            <a:ext cx="4608513" cy="3443218"/>
          </a:xfrm>
          <a:prstGeom prst="rect">
            <a:avLst/>
          </a:prstGeom>
          <a:noFill/>
          <a:ln>
            <a:noFill/>
          </a:ln>
        </p:spPr>
      </p:pic>
      <p:sp>
        <p:nvSpPr>
          <p:cNvPr id="5" name="Rectangle 5">
            <a:extLst>
              <a:ext uri="{FF2B5EF4-FFF2-40B4-BE49-F238E27FC236}">
                <a16:creationId xmlns:a16="http://schemas.microsoft.com/office/drawing/2014/main" id="{666FFE9A-417D-CE46-B61C-5A6CC8BABDFC}"/>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8C5E55DA-D9BB-374E-9DB3-763D7C17D285}"/>
              </a:ext>
            </a:extLst>
          </p:cNvPr>
          <p:cNvSpPr/>
          <p:nvPr/>
        </p:nvSpPr>
        <p:spPr>
          <a:xfrm>
            <a:off x="503238" y="916472"/>
            <a:ext cx="3168650" cy="2954655"/>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PE" sz="1600" dirty="0">
                <a:solidFill>
                  <a:srgbClr val="EE4639"/>
                </a:solidFill>
                <a:latin typeface="Calibri" charset="0"/>
                <a:cs typeface="Calibri" charset="0"/>
                <a:sym typeface="Calibri"/>
              </a:rPr>
              <a:t>ANÁLISIS ESTÁTICO POR </a:t>
            </a:r>
            <a:r>
              <a:rPr lang="es-PE" sz="1600" b="1" dirty="0">
                <a:solidFill>
                  <a:srgbClr val="EE4639"/>
                </a:solidFill>
                <a:latin typeface="Calibri" charset="0"/>
                <a:cs typeface="Calibri" charset="0"/>
                <a:sym typeface="Calibri"/>
              </a:rPr>
              <a:t>HERRAMIENTAS</a:t>
            </a:r>
            <a:endParaRPr lang="es-PE" sz="1600" b="1" dirty="0">
              <a:solidFill>
                <a:srgbClr val="EE4639"/>
              </a:solidFill>
              <a:latin typeface="Calibri" charset="0"/>
              <a:cs typeface="Calibri" charset="0"/>
            </a:endParaRPr>
          </a:p>
          <a:p>
            <a:pPr marL="179388" lvl="0" indent="-179388">
              <a:buClr>
                <a:schemeClr val="dk1"/>
              </a:buClr>
              <a:buSzPct val="100000"/>
              <a:buFont typeface="Arial"/>
              <a:buChar char="•"/>
            </a:pPr>
            <a:r>
              <a:rPr lang="es-PE" sz="1500" dirty="0">
                <a:solidFill>
                  <a:schemeClr val="dk1"/>
                </a:solidFill>
                <a:latin typeface="Calibri"/>
                <a:cs typeface="Calibri"/>
                <a:sym typeface="Calibri"/>
              </a:rPr>
              <a:t>Parseo de Código</a:t>
            </a:r>
            <a:endParaRPr lang="es-PE" sz="1500" dirty="0">
              <a:solidFill>
                <a:schemeClr val="dk1"/>
              </a:solidFill>
              <a:latin typeface="Calibri"/>
              <a:cs typeface="Calibri"/>
            </a:endParaRPr>
          </a:p>
          <a:p>
            <a:pPr marL="179388" lvl="0" indent="-179388">
              <a:buClr>
                <a:schemeClr val="dk1"/>
              </a:buClr>
              <a:buSzPct val="100000"/>
              <a:buFont typeface="Arial"/>
              <a:buNone/>
            </a:pPr>
            <a:endParaRPr lang="es-PE" sz="1500" dirty="0">
              <a:solidFill>
                <a:schemeClr val="dk1"/>
              </a:solidFill>
              <a:latin typeface="Calibri"/>
              <a:cs typeface="Calibri"/>
              <a:sym typeface="Calibri"/>
            </a:endParaRPr>
          </a:p>
          <a:p>
            <a:pPr marL="179388" lvl="1" indent="-179388">
              <a:buClr>
                <a:schemeClr val="dk1"/>
              </a:buClr>
              <a:buSzPct val="100000"/>
              <a:buFont typeface="Arial"/>
              <a:buChar char="•"/>
            </a:pPr>
            <a:r>
              <a:rPr lang="es-PE" sz="1500" dirty="0">
                <a:solidFill>
                  <a:schemeClr val="dk1"/>
                </a:solidFill>
                <a:latin typeface="Calibri"/>
                <a:cs typeface="Calibri"/>
                <a:sym typeface="Calibri"/>
              </a:rPr>
              <a:t>Semántica</a:t>
            </a:r>
            <a:endParaRPr lang="es-PE" sz="1500" dirty="0">
              <a:solidFill>
                <a:schemeClr val="dk1"/>
              </a:solidFill>
              <a:latin typeface="Calibri"/>
              <a:cs typeface="Calibri"/>
            </a:endParaRPr>
          </a:p>
          <a:p>
            <a:pPr marL="179388" lvl="1" indent="-179388">
              <a:buClr>
                <a:schemeClr val="dk1"/>
              </a:buClr>
              <a:buSzPct val="100000"/>
              <a:buFont typeface="Arial"/>
              <a:buNone/>
            </a:pPr>
            <a:endParaRPr lang="es-PE" sz="1500" dirty="0">
              <a:solidFill>
                <a:schemeClr val="dk1"/>
              </a:solidFill>
              <a:latin typeface="Calibri"/>
              <a:cs typeface="Calibri"/>
              <a:sym typeface="Calibri"/>
            </a:endParaRPr>
          </a:p>
          <a:p>
            <a:pPr marL="179388" lvl="1" indent="-179388">
              <a:buClr>
                <a:schemeClr val="dk1"/>
              </a:buClr>
              <a:buSzPct val="100000"/>
              <a:buFont typeface="Arial"/>
              <a:buChar char="•"/>
            </a:pPr>
            <a:r>
              <a:rPr lang="es-PE" sz="1500" dirty="0">
                <a:solidFill>
                  <a:schemeClr val="dk1"/>
                </a:solidFill>
                <a:latin typeface="Calibri"/>
                <a:cs typeface="Calibri"/>
                <a:sym typeface="Calibri"/>
              </a:rPr>
              <a:t>Estándares y Guías</a:t>
            </a:r>
            <a:endParaRPr lang="es-PE" sz="1500" dirty="0">
              <a:solidFill>
                <a:schemeClr val="dk1"/>
              </a:solidFill>
              <a:latin typeface="Calibri"/>
              <a:cs typeface="Calibri"/>
            </a:endParaRPr>
          </a:p>
          <a:p>
            <a:pPr marL="179388" lvl="1" indent="-179388">
              <a:buClr>
                <a:schemeClr val="dk1"/>
              </a:buClr>
              <a:buSzPct val="100000"/>
              <a:buFont typeface="Arial"/>
              <a:buNone/>
            </a:pPr>
            <a:endParaRPr lang="es-PE" sz="1500" dirty="0">
              <a:solidFill>
                <a:schemeClr val="dk1"/>
              </a:solidFill>
              <a:latin typeface="Calibri"/>
              <a:cs typeface="Calibri"/>
              <a:sym typeface="Calibri"/>
            </a:endParaRPr>
          </a:p>
          <a:p>
            <a:pPr marL="179388" lvl="1" indent="-179388">
              <a:buClr>
                <a:schemeClr val="dk1"/>
              </a:buClr>
              <a:buSzPct val="100000"/>
              <a:buFont typeface="Arial"/>
              <a:buChar char="•"/>
            </a:pPr>
            <a:r>
              <a:rPr lang="es-PE" sz="1500" dirty="0">
                <a:solidFill>
                  <a:schemeClr val="dk1"/>
                </a:solidFill>
                <a:latin typeface="Calibri"/>
                <a:cs typeface="Calibri"/>
                <a:sym typeface="Calibri"/>
                <a:hlinkClick r:id="rId4">
                  <a:extLst>
                    <a:ext uri="{A12FA001-AC4F-418D-AE19-62706E023703}">
                      <ahyp:hlinkClr xmlns:ahyp="http://schemas.microsoft.com/office/drawing/2018/hyperlinkcolor" val="tx"/>
                    </a:ext>
                  </a:extLst>
                </a:hlinkClick>
              </a:rPr>
              <a:t>http://checkstyle.sourceforge.net/</a:t>
            </a:r>
            <a:endParaRPr lang="es-PE" sz="1500" dirty="0">
              <a:solidFill>
                <a:schemeClr val="dk1"/>
              </a:solidFill>
              <a:latin typeface="Calibri"/>
              <a:cs typeface="Calibri"/>
              <a:sym typeface="Calibri"/>
            </a:endParaRPr>
          </a:p>
          <a:p>
            <a:pPr marL="179388" lvl="1" indent="-179388">
              <a:buClr>
                <a:schemeClr val="dk1"/>
              </a:buClr>
              <a:buSzPct val="100000"/>
              <a:buFont typeface="Arial"/>
              <a:buNone/>
            </a:pPr>
            <a:endParaRPr lang="es-PE" sz="1500" dirty="0">
              <a:solidFill>
                <a:schemeClr val="dk1"/>
              </a:solidFill>
              <a:latin typeface="Calibri"/>
              <a:cs typeface="Calibri"/>
              <a:sym typeface="Calibri"/>
            </a:endParaRPr>
          </a:p>
          <a:p>
            <a:pPr marL="179388" lvl="1" indent="-179388">
              <a:buClr>
                <a:schemeClr val="dk1"/>
              </a:buClr>
              <a:buSzPct val="100000"/>
              <a:buFont typeface="Arial"/>
              <a:buChar char="•"/>
            </a:pPr>
            <a:r>
              <a:rPr lang="es-PE" sz="1500" dirty="0">
                <a:solidFill>
                  <a:schemeClr val="dk1"/>
                </a:solidFill>
                <a:latin typeface="Calibri"/>
                <a:cs typeface="Calibri"/>
                <a:sym typeface="Calibri"/>
                <a:hlinkClick r:id="rId5">
                  <a:extLst>
                    <a:ext uri="{A12FA001-AC4F-418D-AE19-62706E023703}">
                      <ahyp:hlinkClr xmlns:ahyp="http://schemas.microsoft.com/office/drawing/2018/hyperlinkcolor" val="tx"/>
                    </a:ext>
                  </a:extLst>
                </a:hlinkClick>
              </a:rPr>
              <a:t>http://cyvis.sourceforge.net/</a:t>
            </a:r>
            <a:endParaRPr lang="es-PE"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2" name="Google Shape;212;p17"/>
          <p:cNvPicPr preferRelativeResize="0"/>
          <p:nvPr/>
        </p:nvPicPr>
        <p:blipFill rotWithShape="1">
          <a:blip r:embed="rId3">
            <a:alphaModFix/>
          </a:blip>
          <a:srcRect/>
          <a:stretch/>
        </p:blipFill>
        <p:spPr>
          <a:xfrm>
            <a:off x="1370484" y="2497404"/>
            <a:ext cx="6403031" cy="2524316"/>
          </a:xfrm>
          <a:prstGeom prst="rect">
            <a:avLst/>
          </a:prstGeom>
          <a:noFill/>
          <a:ln w="12700">
            <a:solidFill>
              <a:schemeClr val="bg1">
                <a:lumMod val="75000"/>
              </a:schemeClr>
            </a:solidFill>
          </a:ln>
        </p:spPr>
      </p:pic>
      <p:sp>
        <p:nvSpPr>
          <p:cNvPr id="5" name="Rectangle 5">
            <a:extLst>
              <a:ext uri="{FF2B5EF4-FFF2-40B4-BE49-F238E27FC236}">
                <a16:creationId xmlns:a16="http://schemas.microsoft.com/office/drawing/2014/main" id="{08574938-FB30-D94A-9BA3-35FDCA9CAFB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983449D8-F3C1-CB4A-9BE9-6A93B89F4E40}"/>
              </a:ext>
            </a:extLst>
          </p:cNvPr>
          <p:cNvSpPr/>
          <p:nvPr/>
        </p:nvSpPr>
        <p:spPr>
          <a:xfrm>
            <a:off x="503237" y="916472"/>
            <a:ext cx="6650597" cy="1323439"/>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ANÁLISIS ESTÁTICO POR HERRAMIENTAS</a:t>
            </a:r>
            <a:endParaRPr lang="es-PE" sz="1600" b="1" dirty="0">
              <a:solidFill>
                <a:srgbClr val="EE4639"/>
              </a:solidFill>
              <a:latin typeface="Calibri" charset="0"/>
              <a:cs typeface="Calibri" charset="0"/>
            </a:endParaRPr>
          </a:p>
          <a:p>
            <a:pPr marL="179388" lvl="0" indent="-179388">
              <a:buClr>
                <a:schemeClr val="dk1"/>
              </a:buClr>
              <a:buSzPct val="100000"/>
              <a:buFont typeface="Arial"/>
              <a:buChar char="•"/>
            </a:pPr>
            <a:r>
              <a:rPr lang="es-PE" sz="1500" dirty="0">
                <a:solidFill>
                  <a:schemeClr val="dk1"/>
                </a:solidFill>
                <a:latin typeface="Calibri"/>
                <a:cs typeface="Calibri"/>
                <a:sym typeface="Calibri"/>
              </a:rPr>
              <a:t>PhpMetrics</a:t>
            </a:r>
            <a:endParaRPr lang="es-PE" sz="1500" dirty="0">
              <a:solidFill>
                <a:schemeClr val="dk1"/>
              </a:solidFill>
              <a:latin typeface="Calibri"/>
              <a:cs typeface="Calibri"/>
            </a:endParaRPr>
          </a:p>
          <a:p>
            <a:pPr marL="179388" lvl="0" indent="-179388">
              <a:buClr>
                <a:schemeClr val="dk1"/>
              </a:buClr>
              <a:buSzPct val="100000"/>
              <a:buFont typeface="Arial"/>
              <a:buNone/>
            </a:pPr>
            <a:endParaRPr lang="es-PE" sz="1500" dirty="0">
              <a:solidFill>
                <a:schemeClr val="dk1"/>
              </a:solidFill>
              <a:latin typeface="Calibri"/>
              <a:cs typeface="Calibri"/>
              <a:sym typeface="Calibri"/>
            </a:endParaRPr>
          </a:p>
          <a:p>
            <a:pPr marL="179388" lvl="0" indent="-179388">
              <a:buClr>
                <a:schemeClr val="dk1"/>
              </a:buClr>
              <a:buSzPct val="100000"/>
              <a:buFont typeface="Arial"/>
              <a:buChar char="•"/>
            </a:pPr>
            <a:r>
              <a:rPr lang="es-PE" sz="1500" dirty="0">
                <a:solidFill>
                  <a:schemeClr val="dk1"/>
                </a:solidFill>
                <a:latin typeface="Calibri"/>
                <a:cs typeface="Calibri"/>
                <a:sym typeface="Calibri"/>
                <a:hlinkClick r:id="rId4">
                  <a:extLst>
                    <a:ext uri="{A12FA001-AC4F-418D-AE19-62706E023703}">
                      <ahyp:hlinkClr xmlns:ahyp="http://schemas.microsoft.com/office/drawing/2018/hyperlinkcolor" val="tx"/>
                    </a:ext>
                  </a:extLst>
                </a:hlinkClick>
              </a:rPr>
              <a:t>http://www.phpmetrics.org/</a:t>
            </a:r>
            <a:endParaRPr lang="es-PE" sz="1500" dirty="0">
              <a:solidFill>
                <a:schemeClr val="dk1"/>
              </a:solidFill>
              <a:latin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5" name="Rectangle 5">
            <a:extLst>
              <a:ext uri="{FF2B5EF4-FFF2-40B4-BE49-F238E27FC236}">
                <a16:creationId xmlns:a16="http://schemas.microsoft.com/office/drawing/2014/main" id="{334F43FF-C56E-4040-996F-6AF7BFB021B4}"/>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0" name="Google Shape;332;p23">
            <a:extLst>
              <a:ext uri="{FF2B5EF4-FFF2-40B4-BE49-F238E27FC236}">
                <a16:creationId xmlns:a16="http://schemas.microsoft.com/office/drawing/2014/main" id="{7BAF03E7-4A65-8341-AB93-15EE4D8C4B8D}"/>
              </a:ext>
            </a:extLst>
          </p:cNvPr>
          <p:cNvSpPr/>
          <p:nvPr/>
        </p:nvSpPr>
        <p:spPr>
          <a:xfrm>
            <a:off x="4641449" y="1331357"/>
            <a:ext cx="3175640" cy="501005"/>
          </a:xfrm>
          <a:prstGeom prst="roundRect">
            <a:avLst>
              <a:gd name="adj" fmla="val 18326"/>
            </a:avLst>
          </a:prstGeom>
          <a:solidFill>
            <a:srgbClr val="EE4639"/>
          </a:solidFill>
          <a:ln>
            <a:noFill/>
          </a:ln>
        </p:spPr>
        <p:txBody>
          <a:bodyPr spcFirstLastPara="1" wrap="square" lIns="91425" tIns="45700" rIns="91425" bIns="45700" anchor="ctr" anchorCtr="0">
            <a:noAutofit/>
          </a:bodyPr>
          <a:lstStyle/>
          <a:p>
            <a:pPr marL="11430" marR="0" lvl="0" indent="0" algn="ctr" rtl="0">
              <a:lnSpc>
                <a:spcPct val="100000"/>
              </a:lnSpc>
              <a:spcBef>
                <a:spcPts val="0"/>
              </a:spcBef>
              <a:spcAft>
                <a:spcPts val="0"/>
              </a:spcAft>
              <a:buClr>
                <a:srgbClr val="000000"/>
              </a:buClr>
              <a:buSzPts val="2000"/>
              <a:buFont typeface="Arial"/>
              <a:buNone/>
            </a:pPr>
            <a:r>
              <a:rPr lang="es-PE" sz="1500" b="1" i="0" u="none" strike="noStrike" cap="none" dirty="0">
                <a:solidFill>
                  <a:schemeClr val="bg1"/>
                </a:solidFill>
                <a:latin typeface="Calibri" panose="020F0502020204030204" pitchFamily="34" charset="0"/>
                <a:cs typeface="Calibri" panose="020F0502020204030204" pitchFamily="34" charset="0"/>
                <a:sym typeface="Arial"/>
              </a:rPr>
              <a:t>ANALIZADOR</a:t>
            </a:r>
          </a:p>
        </p:txBody>
      </p:sp>
      <p:sp>
        <p:nvSpPr>
          <p:cNvPr id="11" name="Google Shape;334;p23">
            <a:extLst>
              <a:ext uri="{FF2B5EF4-FFF2-40B4-BE49-F238E27FC236}">
                <a16:creationId xmlns:a16="http://schemas.microsoft.com/office/drawing/2014/main" id="{BF01564F-0F77-134D-840F-19BB8E30C515}"/>
              </a:ext>
            </a:extLst>
          </p:cNvPr>
          <p:cNvSpPr/>
          <p:nvPr/>
        </p:nvSpPr>
        <p:spPr>
          <a:xfrm>
            <a:off x="4641449" y="1905908"/>
            <a:ext cx="3175640" cy="2707314"/>
          </a:xfrm>
          <a:prstGeom prst="roundRect">
            <a:avLst>
              <a:gd name="adj" fmla="val 3579"/>
            </a:avLst>
          </a:prstGeom>
          <a:solidFill>
            <a:srgbClr val="FFD8D4"/>
          </a:solidFill>
          <a:ln>
            <a:noFill/>
          </a:ln>
        </p:spPr>
        <p:txBody>
          <a:bodyPr spcFirstLastPara="1" wrap="square" lIns="108000" tIns="108000" rIns="108000" bIns="45700" anchor="t" anchorCtr="0">
            <a:noAutofit/>
          </a:bodyPr>
          <a:lstStyle/>
          <a:p>
            <a:pPr marL="138113" marR="0" lvl="1" indent="-128588" algn="l" defTabSz="457200" rtl="0">
              <a:lnSpc>
                <a:spcPct val="100000"/>
              </a:lnSpc>
              <a:spcBef>
                <a:spcPts val="0"/>
              </a:spcBef>
              <a:spcAft>
                <a:spcPts val="0"/>
              </a:spcAft>
              <a:buClr>
                <a:srgbClr val="EE4639"/>
              </a:buClr>
              <a:buSzPct val="100000"/>
              <a:buFont typeface="Arial" panose="020B0604020202020204" pitchFamily="34" charset="0"/>
              <a:buChar char="•"/>
              <a:tabLst>
                <a:tab pos="3228975" algn="l"/>
              </a:tabLst>
            </a:pPr>
            <a:r>
              <a:rPr lang="es-PE" sz="1300" b="0" i="0" u="none" strike="noStrike" cap="none" dirty="0">
                <a:solidFill>
                  <a:schemeClr val="tx1"/>
                </a:solidFill>
                <a:latin typeface="Calibri"/>
                <a:ea typeface="+mn-ea"/>
                <a:cs typeface="Calibri"/>
                <a:sym typeface="Arial"/>
              </a:rPr>
              <a:t>Convenciones y estándares.</a:t>
            </a:r>
          </a:p>
          <a:p>
            <a:pPr marL="138113" marR="0" lvl="1" indent="-128588" algn="l" defTabSz="457200" rtl="0">
              <a:lnSpc>
                <a:spcPct val="100000"/>
              </a:lnSpc>
              <a:spcBef>
                <a:spcPts val="0"/>
              </a:spcBef>
              <a:spcAft>
                <a:spcPts val="0"/>
              </a:spcAft>
              <a:buClr>
                <a:srgbClr val="EE4639"/>
              </a:buClr>
              <a:buSzPct val="100000"/>
              <a:buFont typeface="Arial" panose="020B0604020202020204" pitchFamily="34" charset="0"/>
              <a:buChar char="•"/>
              <a:tabLst>
                <a:tab pos="3228975" algn="l"/>
              </a:tabLst>
            </a:pPr>
            <a:endParaRPr lang="es-PE" sz="1300" b="0" i="0" u="none" strike="noStrike" cap="none" dirty="0">
              <a:solidFill>
                <a:schemeClr val="tx1"/>
              </a:solidFill>
              <a:latin typeface="Calibri"/>
              <a:ea typeface="+mn-ea"/>
              <a:cs typeface="Calibri"/>
              <a:sym typeface="Arial"/>
            </a:endParaRPr>
          </a:p>
          <a:p>
            <a:pPr marL="138113" marR="0" lvl="1" indent="-128588" algn="l" defTabSz="457200" rtl="0">
              <a:lnSpc>
                <a:spcPct val="100000"/>
              </a:lnSpc>
              <a:spcBef>
                <a:spcPts val="0"/>
              </a:spcBef>
              <a:spcAft>
                <a:spcPts val="0"/>
              </a:spcAft>
              <a:buClr>
                <a:srgbClr val="EE4639"/>
              </a:buClr>
              <a:buSzPct val="100000"/>
              <a:buFont typeface="Arial" panose="020B0604020202020204" pitchFamily="34" charset="0"/>
              <a:buChar char="•"/>
              <a:tabLst>
                <a:tab pos="3228975" algn="l"/>
              </a:tabLst>
            </a:pPr>
            <a:r>
              <a:rPr lang="es-PE" sz="1300" b="0" i="0" u="none" strike="noStrike" cap="none" dirty="0">
                <a:solidFill>
                  <a:schemeClr val="tx1"/>
                </a:solidFill>
                <a:latin typeface="Calibri"/>
                <a:ea typeface="+mn-ea"/>
                <a:cs typeface="Calibri"/>
                <a:sym typeface="Arial"/>
              </a:rPr>
              <a:t>Métricas de complejidad.</a:t>
            </a:r>
          </a:p>
          <a:p>
            <a:pPr marL="138113" marR="0" lvl="1" indent="-128588" algn="l" defTabSz="457200" rtl="0">
              <a:lnSpc>
                <a:spcPct val="100000"/>
              </a:lnSpc>
              <a:spcBef>
                <a:spcPts val="0"/>
              </a:spcBef>
              <a:spcAft>
                <a:spcPts val="0"/>
              </a:spcAft>
              <a:buClr>
                <a:srgbClr val="EE4639"/>
              </a:buClr>
              <a:buSzPct val="100000"/>
              <a:buFont typeface="Arial" panose="020B0604020202020204" pitchFamily="34" charset="0"/>
              <a:buChar char="•"/>
              <a:tabLst>
                <a:tab pos="3228975" algn="l"/>
              </a:tabLst>
            </a:pPr>
            <a:endParaRPr lang="es-PE" sz="1300" b="0" i="0" u="none" strike="noStrike" cap="none" dirty="0">
              <a:solidFill>
                <a:schemeClr val="tx1"/>
              </a:solidFill>
              <a:latin typeface="Calibri"/>
              <a:ea typeface="+mn-ea"/>
              <a:cs typeface="Calibri"/>
              <a:sym typeface="Arial"/>
            </a:endParaRPr>
          </a:p>
          <a:p>
            <a:pPr marL="138113" marR="0" lvl="1" indent="-128588" algn="l" defTabSz="457200" rtl="0">
              <a:lnSpc>
                <a:spcPct val="100000"/>
              </a:lnSpc>
              <a:spcBef>
                <a:spcPts val="0"/>
              </a:spcBef>
              <a:spcAft>
                <a:spcPts val="0"/>
              </a:spcAft>
              <a:buClr>
                <a:srgbClr val="EE4639"/>
              </a:buClr>
              <a:buSzPct val="100000"/>
              <a:buFont typeface="Arial" panose="020B0604020202020204" pitchFamily="34" charset="0"/>
              <a:buChar char="•"/>
              <a:tabLst>
                <a:tab pos="3228975" algn="l"/>
              </a:tabLst>
            </a:pPr>
            <a:r>
              <a:rPr lang="es-PE" sz="1300" b="0" i="0" u="none" strike="noStrike" cap="none" dirty="0">
                <a:solidFill>
                  <a:schemeClr val="tx1"/>
                </a:solidFill>
                <a:latin typeface="Calibri"/>
                <a:ea typeface="+mn-ea"/>
                <a:cs typeface="Calibri"/>
                <a:sym typeface="Arial"/>
              </a:rPr>
              <a:t>Acoplamiento de objetos</a:t>
            </a:r>
          </a:p>
        </p:txBody>
      </p:sp>
      <p:grpSp>
        <p:nvGrpSpPr>
          <p:cNvPr id="12" name="Agrupar 4">
            <a:extLst>
              <a:ext uri="{FF2B5EF4-FFF2-40B4-BE49-F238E27FC236}">
                <a16:creationId xmlns:a16="http://schemas.microsoft.com/office/drawing/2014/main" id="{D2CA1ACC-5419-2B4B-8BFC-E1B6A776ACC3}"/>
              </a:ext>
            </a:extLst>
          </p:cNvPr>
          <p:cNvGrpSpPr/>
          <p:nvPr/>
        </p:nvGrpSpPr>
        <p:grpSpPr>
          <a:xfrm>
            <a:off x="4426534" y="1379986"/>
            <a:ext cx="459474" cy="403823"/>
            <a:chOff x="5892512" y="2805541"/>
            <a:chExt cx="459474" cy="403823"/>
          </a:xfrm>
        </p:grpSpPr>
        <p:sp>
          <p:nvSpPr>
            <p:cNvPr id="13" name="Elipse 12">
              <a:extLst>
                <a:ext uri="{FF2B5EF4-FFF2-40B4-BE49-F238E27FC236}">
                  <a16:creationId xmlns:a16="http://schemas.microsoft.com/office/drawing/2014/main" id="{DE070E93-609F-734C-AA53-BC5CE7F023CD}"/>
                </a:ext>
              </a:extLst>
            </p:cNvPr>
            <p:cNvSpPr/>
            <p:nvPr/>
          </p:nvSpPr>
          <p:spPr>
            <a:xfrm>
              <a:off x="5956277" y="2824919"/>
              <a:ext cx="395709" cy="376075"/>
            </a:xfrm>
            <a:prstGeom prst="ellipse">
              <a:avLst/>
            </a:prstGeom>
            <a:solidFill>
              <a:srgbClr val="B73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Elipse 13">
              <a:extLst>
                <a:ext uri="{FF2B5EF4-FFF2-40B4-BE49-F238E27FC236}">
                  <a16:creationId xmlns:a16="http://schemas.microsoft.com/office/drawing/2014/main" id="{E100760A-80EB-7E4A-9578-ADF0408B7CD9}"/>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Triángulo 14">
              <a:extLst>
                <a:ext uri="{FF2B5EF4-FFF2-40B4-BE49-F238E27FC236}">
                  <a16:creationId xmlns:a16="http://schemas.microsoft.com/office/drawing/2014/main" id="{DCBFEF9E-470D-F042-AF9E-91D6A81EDB7B}"/>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7" name="Google Shape;333;p23">
            <a:extLst>
              <a:ext uri="{FF2B5EF4-FFF2-40B4-BE49-F238E27FC236}">
                <a16:creationId xmlns:a16="http://schemas.microsoft.com/office/drawing/2014/main" id="{0C6601C6-F57F-4B42-90F8-263D00CCB9A0}"/>
              </a:ext>
            </a:extLst>
          </p:cNvPr>
          <p:cNvSpPr/>
          <p:nvPr/>
        </p:nvSpPr>
        <p:spPr>
          <a:xfrm>
            <a:off x="1339966" y="1331357"/>
            <a:ext cx="3175640" cy="501005"/>
          </a:xfrm>
          <a:prstGeom prst="roundRect">
            <a:avLst>
              <a:gd name="adj" fmla="val 18326"/>
            </a:avLst>
          </a:prstGeom>
          <a:solidFill>
            <a:srgbClr val="00B1C2"/>
          </a:solidFill>
          <a:ln>
            <a:noFill/>
          </a:ln>
        </p:spPr>
        <p:txBody>
          <a:bodyPr spcFirstLastPara="1" wrap="square" lIns="91425" tIns="45700" rIns="91425" bIns="45700" anchor="ctr" anchorCtr="0">
            <a:noAutofit/>
          </a:bodyPr>
          <a:lstStyle/>
          <a:p>
            <a:pPr marL="11430" marR="0" lvl="0" indent="0" algn="ctr" rtl="0">
              <a:lnSpc>
                <a:spcPct val="100000"/>
              </a:lnSpc>
              <a:spcBef>
                <a:spcPts val="0"/>
              </a:spcBef>
              <a:spcAft>
                <a:spcPts val="0"/>
              </a:spcAft>
              <a:buClr>
                <a:srgbClr val="000000"/>
              </a:buClr>
              <a:buSzPts val="2000"/>
              <a:buFont typeface="Arial"/>
              <a:buNone/>
            </a:pPr>
            <a:r>
              <a:rPr lang="es-PE" sz="1500" b="1" i="0" u="none" strike="noStrike" cap="none" dirty="0">
                <a:solidFill>
                  <a:schemeClr val="bg1"/>
                </a:solidFill>
                <a:latin typeface="Calibri" panose="020F0502020204030204" pitchFamily="34" charset="0"/>
                <a:cs typeface="Calibri" panose="020F0502020204030204" pitchFamily="34" charset="0"/>
                <a:sym typeface="Arial"/>
              </a:rPr>
              <a:t>COMPILADOR</a:t>
            </a:r>
          </a:p>
        </p:txBody>
      </p:sp>
      <p:sp>
        <p:nvSpPr>
          <p:cNvPr id="8" name="Google Shape;335;p23">
            <a:extLst>
              <a:ext uri="{FF2B5EF4-FFF2-40B4-BE49-F238E27FC236}">
                <a16:creationId xmlns:a16="http://schemas.microsoft.com/office/drawing/2014/main" id="{59BA8784-CACC-1041-8990-BD9D3E28CCB9}"/>
              </a:ext>
            </a:extLst>
          </p:cNvPr>
          <p:cNvSpPr/>
          <p:nvPr/>
        </p:nvSpPr>
        <p:spPr>
          <a:xfrm>
            <a:off x="1339966" y="1905907"/>
            <a:ext cx="3175640" cy="2707313"/>
          </a:xfrm>
          <a:prstGeom prst="roundRect">
            <a:avLst>
              <a:gd name="adj" fmla="val 4409"/>
            </a:avLst>
          </a:prstGeom>
          <a:solidFill>
            <a:srgbClr val="D1EFF4"/>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sz="1300" b="0" i="0" u="none" strike="noStrike" cap="none" dirty="0">
                <a:solidFill>
                  <a:srgbClr val="000000"/>
                </a:solidFill>
                <a:latin typeface="Calibri" panose="020F0502020204030204" pitchFamily="34" charset="0"/>
                <a:ea typeface="+mj-lt"/>
                <a:cs typeface="Calibri" panose="020F0502020204030204" pitchFamily="34" charset="0"/>
                <a:sym typeface="Arial"/>
              </a:rPr>
              <a:t>Detecta errores de sintaxis en el código fuente de un programa.</a:t>
            </a:r>
          </a:p>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sz="1300" b="0" i="0" u="none" strike="noStrike" cap="none" dirty="0">
                <a:solidFill>
                  <a:srgbClr val="000000"/>
                </a:solidFill>
                <a:latin typeface="Calibri" panose="020F0502020204030204" pitchFamily="34" charset="0"/>
                <a:ea typeface="+mj-lt"/>
                <a:cs typeface="Calibri" panose="020F0502020204030204" pitchFamily="34" charset="0"/>
                <a:sym typeface="Arial"/>
              </a:rPr>
              <a:t>Crea datos de referencia en el programa. Por ejemplo, lista de referencias cruzadas, llamada Jerárquica, tabla de símbolos.</a:t>
            </a:r>
          </a:p>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sz="1300" b="0" i="0" u="none" strike="noStrike" cap="none" dirty="0">
                <a:solidFill>
                  <a:srgbClr val="000000"/>
                </a:solidFill>
                <a:latin typeface="Calibri" panose="020F0502020204030204" pitchFamily="34" charset="0"/>
                <a:ea typeface="+mj-lt"/>
                <a:cs typeface="Calibri" panose="020F0502020204030204" pitchFamily="34" charset="0"/>
                <a:sym typeface="Arial"/>
              </a:rPr>
              <a:t>Comprueba la consistencia entre los tipos de variables.</a:t>
            </a:r>
          </a:p>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sz="1300" b="0" i="0" u="none" strike="noStrike" cap="none" dirty="0">
                <a:solidFill>
                  <a:srgbClr val="000000"/>
                </a:solidFill>
                <a:latin typeface="Calibri" panose="020F0502020204030204" pitchFamily="34" charset="0"/>
                <a:ea typeface="+mj-lt"/>
                <a:cs typeface="Calibri" panose="020F0502020204030204" pitchFamily="34" charset="0"/>
                <a:sym typeface="Arial"/>
              </a:rPr>
              <a:t>Encuentra variables no declaradas y código Inaccesible (código muerto).</a:t>
            </a:r>
          </a:p>
        </p:txBody>
      </p:sp>
      <p:grpSp>
        <p:nvGrpSpPr>
          <p:cNvPr id="9" name="Agrupar 9">
            <a:extLst>
              <a:ext uri="{FF2B5EF4-FFF2-40B4-BE49-F238E27FC236}">
                <a16:creationId xmlns:a16="http://schemas.microsoft.com/office/drawing/2014/main" id="{AE6A9696-69E0-1A45-8918-7D76AE6F8579}"/>
              </a:ext>
            </a:extLst>
          </p:cNvPr>
          <p:cNvGrpSpPr/>
          <p:nvPr/>
        </p:nvGrpSpPr>
        <p:grpSpPr>
          <a:xfrm>
            <a:off x="1124200" y="1379986"/>
            <a:ext cx="459474" cy="403823"/>
            <a:chOff x="5892512" y="2805541"/>
            <a:chExt cx="459474" cy="403823"/>
          </a:xfrm>
        </p:grpSpPr>
        <p:sp>
          <p:nvSpPr>
            <p:cNvPr id="16" name="Elipse 15">
              <a:extLst>
                <a:ext uri="{FF2B5EF4-FFF2-40B4-BE49-F238E27FC236}">
                  <a16:creationId xmlns:a16="http://schemas.microsoft.com/office/drawing/2014/main" id="{E6B852E7-6E8F-274F-BC7A-055C9D218F75}"/>
                </a:ext>
              </a:extLst>
            </p:cNvPr>
            <p:cNvSpPr/>
            <p:nvPr/>
          </p:nvSpPr>
          <p:spPr>
            <a:xfrm>
              <a:off x="5956277" y="2824919"/>
              <a:ext cx="395709" cy="376075"/>
            </a:xfrm>
            <a:prstGeom prst="ellipse">
              <a:avLst/>
            </a:prstGeom>
            <a:solidFill>
              <a:srgbClr val="0B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7" name="Elipse 16">
              <a:extLst>
                <a:ext uri="{FF2B5EF4-FFF2-40B4-BE49-F238E27FC236}">
                  <a16:creationId xmlns:a16="http://schemas.microsoft.com/office/drawing/2014/main" id="{21845804-E1E2-F64D-B6D1-AC9D84820EEF}"/>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8" name="Triángulo 17">
              <a:extLst>
                <a:ext uri="{FF2B5EF4-FFF2-40B4-BE49-F238E27FC236}">
                  <a16:creationId xmlns:a16="http://schemas.microsoft.com/office/drawing/2014/main" id="{E71CA911-D06E-BA44-B158-B9E6F0F24D56}"/>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220" name="Google Shape;220;p18"/>
          <p:cNvSpPr txBox="1"/>
          <p:nvPr/>
        </p:nvSpPr>
        <p:spPr>
          <a:xfrm>
            <a:off x="4764933" y="4161748"/>
            <a:ext cx="1722582"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8" name="Google Shape;228;p19"/>
          <p:cNvSpPr txBox="1"/>
          <p:nvPr/>
        </p:nvSpPr>
        <p:spPr>
          <a:xfrm>
            <a:off x="503238" y="5059854"/>
            <a:ext cx="1722582"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6" name="Rectangle 5">
            <a:extLst>
              <a:ext uri="{FF2B5EF4-FFF2-40B4-BE49-F238E27FC236}">
                <a16:creationId xmlns:a16="http://schemas.microsoft.com/office/drawing/2014/main" id="{0E31CABC-CB89-CA4A-8409-B5B585514E1B}"/>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40" name="Grupo 39">
            <a:extLst>
              <a:ext uri="{FF2B5EF4-FFF2-40B4-BE49-F238E27FC236}">
                <a16:creationId xmlns:a16="http://schemas.microsoft.com/office/drawing/2014/main" id="{878FB827-3429-9A41-BB32-86D8AFC05F60}"/>
              </a:ext>
            </a:extLst>
          </p:cNvPr>
          <p:cNvGrpSpPr/>
          <p:nvPr/>
        </p:nvGrpSpPr>
        <p:grpSpPr>
          <a:xfrm>
            <a:off x="5177118" y="1019012"/>
            <a:ext cx="2586360" cy="3939988"/>
            <a:chOff x="5425889" y="1106418"/>
            <a:chExt cx="2586360" cy="3939988"/>
          </a:xfrm>
        </p:grpSpPr>
        <p:sp>
          <p:nvSpPr>
            <p:cNvPr id="2" name="Elipse 1">
              <a:extLst>
                <a:ext uri="{FF2B5EF4-FFF2-40B4-BE49-F238E27FC236}">
                  <a16:creationId xmlns:a16="http://schemas.microsoft.com/office/drawing/2014/main" id="{25CB33A4-5C2F-9140-9189-E149ED9E824A}"/>
                </a:ext>
              </a:extLst>
            </p:cNvPr>
            <p:cNvSpPr/>
            <p:nvPr/>
          </p:nvSpPr>
          <p:spPr>
            <a:xfrm>
              <a:off x="6508377" y="1106418"/>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 name="Elipse 7">
              <a:extLst>
                <a:ext uri="{FF2B5EF4-FFF2-40B4-BE49-F238E27FC236}">
                  <a16:creationId xmlns:a16="http://schemas.microsoft.com/office/drawing/2014/main" id="{DAACCF1C-5AB3-8F41-BC18-8591E888EB72}"/>
                </a:ext>
              </a:extLst>
            </p:cNvPr>
            <p:cNvSpPr/>
            <p:nvPr/>
          </p:nvSpPr>
          <p:spPr>
            <a:xfrm>
              <a:off x="6508377" y="1825836"/>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 name="Elipse 8">
              <a:extLst>
                <a:ext uri="{FF2B5EF4-FFF2-40B4-BE49-F238E27FC236}">
                  <a16:creationId xmlns:a16="http://schemas.microsoft.com/office/drawing/2014/main" id="{EFC3AF7E-AAE3-534E-B54F-327BACF369E4}"/>
                </a:ext>
              </a:extLst>
            </p:cNvPr>
            <p:cNvSpPr/>
            <p:nvPr/>
          </p:nvSpPr>
          <p:spPr>
            <a:xfrm>
              <a:off x="6508377" y="2908324"/>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 name="Elipse 9">
              <a:extLst>
                <a:ext uri="{FF2B5EF4-FFF2-40B4-BE49-F238E27FC236}">
                  <a16:creationId xmlns:a16="http://schemas.microsoft.com/office/drawing/2014/main" id="{189662D5-8531-524C-903C-AB76C23CACF8}"/>
                </a:ext>
              </a:extLst>
            </p:cNvPr>
            <p:cNvSpPr/>
            <p:nvPr/>
          </p:nvSpPr>
          <p:spPr>
            <a:xfrm>
              <a:off x="6508377" y="3937024"/>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Elipse 10">
              <a:extLst>
                <a:ext uri="{FF2B5EF4-FFF2-40B4-BE49-F238E27FC236}">
                  <a16:creationId xmlns:a16="http://schemas.microsoft.com/office/drawing/2014/main" id="{0EC94087-63F7-A442-9660-9CDAB20FD1C9}"/>
                </a:ext>
              </a:extLst>
            </p:cNvPr>
            <p:cNvSpPr/>
            <p:nvPr/>
          </p:nvSpPr>
          <p:spPr>
            <a:xfrm>
              <a:off x="6508377" y="4696783"/>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Elipse 11">
              <a:extLst>
                <a:ext uri="{FF2B5EF4-FFF2-40B4-BE49-F238E27FC236}">
                  <a16:creationId xmlns:a16="http://schemas.microsoft.com/office/drawing/2014/main" id="{8E077DD2-9800-584C-85E3-48C383361234}"/>
                </a:ext>
              </a:extLst>
            </p:cNvPr>
            <p:cNvSpPr/>
            <p:nvPr/>
          </p:nvSpPr>
          <p:spPr>
            <a:xfrm>
              <a:off x="5425889" y="2901601"/>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4" name="Elipse 13">
              <a:extLst>
                <a:ext uri="{FF2B5EF4-FFF2-40B4-BE49-F238E27FC236}">
                  <a16:creationId xmlns:a16="http://schemas.microsoft.com/office/drawing/2014/main" id="{E99AD0F6-091E-F64F-8C9F-4308EE82CAC8}"/>
                </a:ext>
              </a:extLst>
            </p:cNvPr>
            <p:cNvSpPr/>
            <p:nvPr/>
          </p:nvSpPr>
          <p:spPr>
            <a:xfrm>
              <a:off x="5977218" y="2363719"/>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Elipse 14">
              <a:extLst>
                <a:ext uri="{FF2B5EF4-FFF2-40B4-BE49-F238E27FC236}">
                  <a16:creationId xmlns:a16="http://schemas.microsoft.com/office/drawing/2014/main" id="{C1E4F1BD-300E-8442-B962-2449EA8FA2DF}"/>
                </a:ext>
              </a:extLst>
            </p:cNvPr>
            <p:cNvSpPr/>
            <p:nvPr/>
          </p:nvSpPr>
          <p:spPr>
            <a:xfrm>
              <a:off x="7046259" y="2363719"/>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4" name="Conector recto de flecha 3">
              <a:extLst>
                <a:ext uri="{FF2B5EF4-FFF2-40B4-BE49-F238E27FC236}">
                  <a16:creationId xmlns:a16="http://schemas.microsoft.com/office/drawing/2014/main" id="{AE57A043-1462-1142-BA7B-5237427F7601}"/>
                </a:ext>
              </a:extLst>
            </p:cNvPr>
            <p:cNvCxnSpPr>
              <a:stCxn id="2" idx="4"/>
            </p:cNvCxnSpPr>
            <p:nvPr/>
          </p:nvCxnSpPr>
          <p:spPr>
            <a:xfrm flipH="1">
              <a:off x="6683188" y="1456041"/>
              <a:ext cx="1" cy="3697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07E20B75-778D-1F49-BBF0-896631332BE7}"/>
                </a:ext>
              </a:extLst>
            </p:cNvPr>
            <p:cNvCxnSpPr>
              <a:cxnSpLocks/>
            </p:cNvCxnSpPr>
            <p:nvPr/>
          </p:nvCxnSpPr>
          <p:spPr>
            <a:xfrm flipH="1">
              <a:off x="6263013" y="2135118"/>
              <a:ext cx="302022" cy="26033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B6D9683B-42F9-AD4B-8473-F7CB25ECAC43}"/>
                </a:ext>
              </a:extLst>
            </p:cNvPr>
            <p:cNvCxnSpPr>
              <a:cxnSpLocks/>
              <a:stCxn id="14" idx="3"/>
            </p:cNvCxnSpPr>
            <p:nvPr/>
          </p:nvCxnSpPr>
          <p:spPr>
            <a:xfrm flipH="1">
              <a:off x="5725131" y="2662141"/>
              <a:ext cx="303288" cy="27119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F96FA81C-93EE-B643-A0E4-A3B62DA42E26}"/>
                </a:ext>
              </a:extLst>
            </p:cNvPr>
            <p:cNvCxnSpPr>
              <a:cxnSpLocks/>
              <a:endCxn id="15" idx="1"/>
            </p:cNvCxnSpPr>
            <p:nvPr/>
          </p:nvCxnSpPr>
          <p:spPr>
            <a:xfrm>
              <a:off x="6806992" y="2135118"/>
              <a:ext cx="290468" cy="27980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90F45E89-61AC-7B44-8D41-65483703A0E6}"/>
                </a:ext>
              </a:extLst>
            </p:cNvPr>
            <p:cNvCxnSpPr>
              <a:cxnSpLocks/>
              <a:endCxn id="13" idx="1"/>
            </p:cNvCxnSpPr>
            <p:nvPr/>
          </p:nvCxnSpPr>
          <p:spPr>
            <a:xfrm>
              <a:off x="7351598" y="2666277"/>
              <a:ext cx="290468" cy="28652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8CCD1062-6D82-9D46-8019-36CC0FFA023E}"/>
                </a:ext>
              </a:extLst>
            </p:cNvPr>
            <p:cNvCxnSpPr>
              <a:cxnSpLocks/>
              <a:endCxn id="9" idx="1"/>
            </p:cNvCxnSpPr>
            <p:nvPr/>
          </p:nvCxnSpPr>
          <p:spPr>
            <a:xfrm>
              <a:off x="6275834" y="2666277"/>
              <a:ext cx="283744" cy="29324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831C819F-D40A-C349-A4D4-80805A3B8533}"/>
                </a:ext>
              </a:extLst>
            </p:cNvPr>
            <p:cNvCxnSpPr>
              <a:cxnSpLocks/>
              <a:stCxn id="12" idx="5"/>
              <a:endCxn id="10" idx="1"/>
            </p:cNvCxnSpPr>
            <p:nvPr/>
          </p:nvCxnSpPr>
          <p:spPr>
            <a:xfrm>
              <a:off x="5724311" y="3200023"/>
              <a:ext cx="835267" cy="7882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52FE1804-633F-3F4F-A445-3DEA57701663}"/>
                </a:ext>
              </a:extLst>
            </p:cNvPr>
            <p:cNvCxnSpPr>
              <a:cxnSpLocks/>
              <a:stCxn id="13" idx="3"/>
            </p:cNvCxnSpPr>
            <p:nvPr/>
          </p:nvCxnSpPr>
          <p:spPr>
            <a:xfrm flipH="1">
              <a:off x="6830644" y="3200023"/>
              <a:ext cx="811422" cy="7937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2DD0BE9A-944E-754E-AC5F-D8DD8E326C21}"/>
                </a:ext>
              </a:extLst>
            </p:cNvPr>
            <p:cNvCxnSpPr>
              <a:cxnSpLocks/>
            </p:cNvCxnSpPr>
            <p:nvPr/>
          </p:nvCxnSpPr>
          <p:spPr>
            <a:xfrm>
              <a:off x="6683188" y="3265656"/>
              <a:ext cx="0" cy="6713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84E772EE-FAFE-B54E-90D8-D02BF0070142}"/>
                </a:ext>
              </a:extLst>
            </p:cNvPr>
            <p:cNvCxnSpPr>
              <a:cxnSpLocks/>
              <a:endCxn id="11" idx="0"/>
            </p:cNvCxnSpPr>
            <p:nvPr/>
          </p:nvCxnSpPr>
          <p:spPr>
            <a:xfrm>
              <a:off x="6683188" y="4287632"/>
              <a:ext cx="1" cy="4091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Forma libre 32">
              <a:extLst>
                <a:ext uri="{FF2B5EF4-FFF2-40B4-BE49-F238E27FC236}">
                  <a16:creationId xmlns:a16="http://schemas.microsoft.com/office/drawing/2014/main" id="{F6FCB7E7-FA44-C841-9DFC-EBA7C21E9120}"/>
                </a:ext>
              </a:extLst>
            </p:cNvPr>
            <p:cNvSpPr/>
            <p:nvPr/>
          </p:nvSpPr>
          <p:spPr>
            <a:xfrm>
              <a:off x="7334423" y="2292724"/>
              <a:ext cx="677826" cy="645458"/>
            </a:xfrm>
            <a:custGeom>
              <a:avLst/>
              <a:gdLst>
                <a:gd name="connsiteX0" fmla="*/ 470647 w 629813"/>
                <a:gd name="connsiteY0" fmla="*/ 645458 h 645458"/>
                <a:gd name="connsiteX1" fmla="*/ 605118 w 629813"/>
                <a:gd name="connsiteY1" fmla="*/ 376517 h 645458"/>
                <a:gd name="connsiteX2" fmla="*/ 611841 w 629813"/>
                <a:gd name="connsiteY2" fmla="*/ 94129 h 645458"/>
                <a:gd name="connsiteX3" fmla="*/ 416859 w 629813"/>
                <a:gd name="connsiteY3" fmla="*/ 0 h 645458"/>
                <a:gd name="connsiteX4" fmla="*/ 0 w 629813"/>
                <a:gd name="connsiteY4" fmla="*/ 94129 h 64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3" h="645458">
                  <a:moveTo>
                    <a:pt x="470647" y="645458"/>
                  </a:moveTo>
                  <a:cubicBezTo>
                    <a:pt x="526116" y="556931"/>
                    <a:pt x="581586" y="468405"/>
                    <a:pt x="605118" y="376517"/>
                  </a:cubicBezTo>
                  <a:cubicBezTo>
                    <a:pt x="628650" y="284629"/>
                    <a:pt x="643217" y="156882"/>
                    <a:pt x="611841" y="94129"/>
                  </a:cubicBezTo>
                  <a:cubicBezTo>
                    <a:pt x="580465" y="31376"/>
                    <a:pt x="518832" y="0"/>
                    <a:pt x="416859" y="0"/>
                  </a:cubicBezTo>
                  <a:cubicBezTo>
                    <a:pt x="314886" y="0"/>
                    <a:pt x="157443" y="47064"/>
                    <a:pt x="0" y="94129"/>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Elipse 12">
              <a:extLst>
                <a:ext uri="{FF2B5EF4-FFF2-40B4-BE49-F238E27FC236}">
                  <a16:creationId xmlns:a16="http://schemas.microsoft.com/office/drawing/2014/main" id="{4F094C22-B896-1B4E-AF2F-9D3F43ACE246}"/>
                </a:ext>
              </a:extLst>
            </p:cNvPr>
            <p:cNvSpPr/>
            <p:nvPr/>
          </p:nvSpPr>
          <p:spPr>
            <a:xfrm>
              <a:off x="7590865" y="2901601"/>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44" name="Rectángulo 43">
            <a:extLst>
              <a:ext uri="{FF2B5EF4-FFF2-40B4-BE49-F238E27FC236}">
                <a16:creationId xmlns:a16="http://schemas.microsoft.com/office/drawing/2014/main" id="{CC360EEE-571E-BE49-852C-BB4342BE817F}"/>
              </a:ext>
            </a:extLst>
          </p:cNvPr>
          <p:cNvSpPr/>
          <p:nvPr/>
        </p:nvSpPr>
        <p:spPr>
          <a:xfrm>
            <a:off x="503238" y="916472"/>
            <a:ext cx="3889376" cy="3631763"/>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+ 02.</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ANÁLISIS DEL FLUJO DE CONTROL</a:t>
            </a:r>
            <a:endParaRPr lang="es-PE" sz="1600" b="1" dirty="0">
              <a:solidFill>
                <a:srgbClr val="EE4639"/>
              </a:solidFill>
              <a:latin typeface="Calibri" charset="0"/>
              <a:cs typeface="Calibri" charset="0"/>
            </a:endParaRPr>
          </a:p>
          <a:p>
            <a:pPr marL="179388" marR="0" lvl="0" indent="-169863" algn="l" rtl="0">
              <a:spcBef>
                <a:spcPts val="0"/>
              </a:spcBef>
              <a:spcAft>
                <a:spcPts val="0"/>
              </a:spcAft>
              <a:buClr>
                <a:schemeClr val="dk1"/>
              </a:buClr>
              <a:buSzPct val="100000"/>
              <a:buFont typeface="Arial"/>
              <a:buChar char="•"/>
            </a:pPr>
            <a:r>
              <a:rPr lang="es-PE" sz="1500" b="1" dirty="0">
                <a:solidFill>
                  <a:schemeClr val="dk1"/>
                </a:solidFill>
                <a:latin typeface="Calibri"/>
                <a:ea typeface="Calibri"/>
                <a:cs typeface="Calibri"/>
                <a:sym typeface="Calibri"/>
              </a:rPr>
              <a:t>Propósito</a:t>
            </a:r>
            <a:r>
              <a:rPr lang="es-PE" sz="1500" dirty="0">
                <a:solidFill>
                  <a:schemeClr val="dk1"/>
                </a:solidFill>
                <a:latin typeface="Calibri"/>
                <a:ea typeface="Calibri"/>
                <a:cs typeface="Calibri"/>
                <a:sym typeface="Calibri"/>
              </a:rPr>
              <a:t>.</a:t>
            </a:r>
            <a:endParaRPr lang="es-PE" sz="1500" dirty="0"/>
          </a:p>
          <a:p>
            <a:pPr marL="360363" marR="0" lvl="1" indent="-18097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Del código (ramas muertas, código </a:t>
            </a:r>
            <a:br>
              <a:rPr lang="es-PE" sz="1500" b="0" i="0" u="none" strike="noStrike" cap="none" dirty="0">
                <a:solidFill>
                  <a:schemeClr val="dk1"/>
                </a:solidFill>
                <a:latin typeface="Calibri"/>
                <a:ea typeface="Calibri"/>
                <a:cs typeface="Calibri"/>
                <a:sym typeface="Calibri"/>
              </a:rPr>
            </a:br>
            <a:r>
              <a:rPr lang="es-PE" sz="1500" b="0" i="0" u="none" strike="noStrike" cap="none" dirty="0">
                <a:solidFill>
                  <a:schemeClr val="dk1"/>
                </a:solidFill>
                <a:latin typeface="Calibri"/>
                <a:ea typeface="Calibri"/>
                <a:cs typeface="Calibri"/>
                <a:sym typeface="Calibri"/>
              </a:rPr>
              <a:t>muerto, etc.).</a:t>
            </a:r>
            <a:endParaRPr lang="es-PE" sz="1500" dirty="0"/>
          </a:p>
          <a:p>
            <a:pPr marL="133350" marR="0" lvl="1" indent="-22225" algn="l" rtl="0">
              <a:spcBef>
                <a:spcPts val="0"/>
              </a:spcBef>
              <a:spcAft>
                <a:spcPts val="0"/>
              </a:spcAft>
              <a:buClr>
                <a:schemeClr val="dk1"/>
              </a:buClr>
              <a:buSzPts val="1600"/>
              <a:buFont typeface="Arial"/>
              <a:buNone/>
            </a:pPr>
            <a:endParaRPr lang="es-PE" sz="1500" b="0" i="0" u="none" strike="noStrike" cap="none" dirty="0">
              <a:solidFill>
                <a:schemeClr val="dk1"/>
              </a:solidFill>
              <a:latin typeface="Calibri"/>
              <a:ea typeface="Calibri"/>
              <a:cs typeface="Calibri"/>
              <a:sym typeface="Calibri"/>
            </a:endParaRPr>
          </a:p>
          <a:p>
            <a:pPr marL="179388" marR="0" lvl="0" indent="-169863" algn="l" rtl="0">
              <a:spcBef>
                <a:spcPts val="0"/>
              </a:spcBef>
              <a:spcAft>
                <a:spcPts val="0"/>
              </a:spcAft>
              <a:buClr>
                <a:schemeClr val="dk1"/>
              </a:buClr>
              <a:buSzPct val="100000"/>
              <a:buFont typeface="Arial"/>
              <a:buChar char="•"/>
            </a:pPr>
            <a:r>
              <a:rPr lang="es-PE" sz="1500" b="1" dirty="0">
                <a:solidFill>
                  <a:schemeClr val="dk1"/>
                </a:solidFill>
                <a:latin typeface="Calibri"/>
                <a:ea typeface="Calibri"/>
                <a:cs typeface="Calibri"/>
                <a:sym typeface="Calibri"/>
              </a:rPr>
              <a:t>Método</a:t>
            </a:r>
            <a:r>
              <a:rPr lang="es-PE" sz="1500" dirty="0">
                <a:solidFill>
                  <a:schemeClr val="dk1"/>
                </a:solidFill>
                <a:latin typeface="Calibri"/>
                <a:ea typeface="Calibri"/>
                <a:cs typeface="Calibri"/>
                <a:sym typeface="Calibri"/>
              </a:rPr>
              <a:t>.</a:t>
            </a:r>
            <a:endParaRPr lang="es-PE" sz="1500" dirty="0"/>
          </a:p>
          <a:p>
            <a:pPr marL="314325" marR="0" lvl="1" indent="-13493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La estructura del código se representa como un diagrama de control de flujo.</a:t>
            </a:r>
            <a:endParaRPr lang="es-PE" sz="1500" dirty="0"/>
          </a:p>
          <a:p>
            <a:pPr marL="314325" marR="0" lvl="1" indent="-13493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Grafo dirigido.</a:t>
            </a:r>
            <a:endParaRPr lang="es-PE" sz="1500" dirty="0"/>
          </a:p>
          <a:p>
            <a:pPr marL="314325" marR="0" lvl="2" indent="-13493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Los nodos representan sentencias o secuencias de sentencias.</a:t>
            </a:r>
            <a:endParaRPr lang="es-PE" sz="1500" dirty="0"/>
          </a:p>
          <a:p>
            <a:pPr marL="314325" marR="0" lvl="2" indent="-13493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Las aristas representan la transferencia del flujo de control, como decisiones y bucles.</a:t>
            </a:r>
            <a:endParaRPr lang="es-PE" sz="1500" dirty="0"/>
          </a:p>
          <a:p>
            <a:pPr marL="314325" marR="0" lvl="2" indent="-13493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Construcción mediante herramientas.</a:t>
            </a:r>
            <a:endParaRPr lang="es-PE" sz="1500" dirty="0">
              <a:solidFill>
                <a:schemeClr val="dk1"/>
              </a:solidFill>
              <a:latin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6" name="Rectangle 5">
            <a:extLst>
              <a:ext uri="{FF2B5EF4-FFF2-40B4-BE49-F238E27FC236}">
                <a16:creationId xmlns:a16="http://schemas.microsoft.com/office/drawing/2014/main" id="{312D8583-BEE5-0143-A90C-B46DC0E12F9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502069F4-90ED-D549-B037-644F15FE7948}"/>
              </a:ext>
            </a:extLst>
          </p:cNvPr>
          <p:cNvSpPr/>
          <p:nvPr/>
        </p:nvSpPr>
        <p:spPr>
          <a:xfrm>
            <a:off x="503238" y="916472"/>
            <a:ext cx="3889376" cy="2939266"/>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+ 02.</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ANÁLISIS DEL FLUJO DE CONTROL</a:t>
            </a:r>
            <a:endParaRPr lang="es-PE" sz="1600" b="1" dirty="0">
              <a:solidFill>
                <a:srgbClr val="EE4639"/>
              </a:solidFill>
              <a:latin typeface="Calibri" charset="0"/>
              <a:cs typeface="Calibri" charset="0"/>
            </a:endParaRPr>
          </a:p>
          <a:p>
            <a:pPr marL="179388" marR="0" lvl="0" indent="-169863" algn="l" rtl="0">
              <a:spcBef>
                <a:spcPts val="0"/>
              </a:spcBef>
              <a:spcAft>
                <a:spcPts val="0"/>
              </a:spcAft>
              <a:buClr>
                <a:schemeClr val="dk1"/>
              </a:buClr>
              <a:buSzPct val="100000"/>
              <a:buFont typeface="Arial"/>
              <a:buChar char="•"/>
            </a:pPr>
            <a:r>
              <a:rPr lang="es-PE" sz="1500" b="1" dirty="0">
                <a:solidFill>
                  <a:schemeClr val="dk1"/>
                </a:solidFill>
                <a:latin typeface="Calibri"/>
                <a:ea typeface="Calibri"/>
                <a:cs typeface="Calibri"/>
                <a:sym typeface="Calibri"/>
              </a:rPr>
              <a:t>Resultados</a:t>
            </a:r>
            <a:r>
              <a:rPr lang="es-PE" sz="1500" dirty="0">
                <a:solidFill>
                  <a:schemeClr val="dk1"/>
                </a:solidFill>
                <a:latin typeface="Calibri"/>
                <a:ea typeface="Calibri"/>
                <a:cs typeface="Calibri"/>
                <a:sym typeface="Calibri"/>
              </a:rPr>
              <a:t>.</a:t>
            </a:r>
            <a:endParaRPr lang="es-PE" sz="1500" b="0" i="0" u="none" strike="noStrike" cap="none" dirty="0">
              <a:solidFill>
                <a:schemeClr val="dk1"/>
              </a:solidFill>
              <a:latin typeface="Calibri"/>
              <a:ea typeface="Calibri"/>
              <a:cs typeface="Calibri"/>
              <a:sym typeface="Calibri"/>
            </a:endParaRPr>
          </a:p>
          <a:p>
            <a:pPr marL="360363" marR="0" lvl="1" indent="-18097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Mayor visión y comprensión del código del programa.</a:t>
            </a:r>
            <a:endParaRPr lang="es-PE" sz="1500" dirty="0"/>
          </a:p>
          <a:p>
            <a:pPr marL="360363" marR="0" lvl="1" indent="-180975" algn="l" rtl="0">
              <a:spcBef>
                <a:spcPts val="0"/>
              </a:spcBef>
              <a:spcAft>
                <a:spcPts val="0"/>
              </a:spcAft>
              <a:buClr>
                <a:schemeClr val="dk1"/>
              </a:buClr>
              <a:buSzPct val="100000"/>
              <a:buFont typeface="Arial"/>
              <a:buNone/>
            </a:pPr>
            <a:endParaRPr lang="es-PE" sz="1500" b="0" i="0" u="none" strike="noStrike" cap="none" dirty="0">
              <a:solidFill>
                <a:schemeClr val="dk1"/>
              </a:solidFill>
              <a:latin typeface="Calibri"/>
              <a:ea typeface="Calibri"/>
              <a:cs typeface="Calibri"/>
              <a:sym typeface="Calibri"/>
            </a:endParaRPr>
          </a:p>
          <a:p>
            <a:pPr marL="360363" marR="0" lvl="1" indent="-18097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Las anomalías pueden ser fácilmente detectadas, los defectos se hacen evidentes.</a:t>
            </a:r>
            <a:endParaRPr lang="es-PE" sz="1500" dirty="0"/>
          </a:p>
          <a:p>
            <a:pPr marL="314325" marR="0" lvl="1" indent="-79375" algn="l" rtl="0">
              <a:spcBef>
                <a:spcPts val="0"/>
              </a:spcBef>
              <a:spcAft>
                <a:spcPts val="0"/>
              </a:spcAft>
              <a:buClr>
                <a:schemeClr val="dk1"/>
              </a:buClr>
              <a:buSzPct val="100000"/>
              <a:buFont typeface="Arial"/>
              <a:buNone/>
            </a:pPr>
            <a:endParaRPr lang="es-PE" sz="1500" b="0" i="0" u="none" strike="noStrike" cap="none" dirty="0">
              <a:solidFill>
                <a:schemeClr val="dk1"/>
              </a:solidFill>
              <a:latin typeface="Calibri"/>
              <a:ea typeface="Calibri"/>
              <a:cs typeface="Calibri"/>
              <a:sym typeface="Calibri"/>
            </a:endParaRPr>
          </a:p>
          <a:p>
            <a:pPr marL="533400" marR="0" lvl="2" indent="-17303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Salida de un Bucles por un salto.</a:t>
            </a:r>
            <a:endParaRPr lang="es-PE" sz="1500" dirty="0"/>
          </a:p>
          <a:p>
            <a:pPr marL="533400" marR="0" lvl="2" indent="-17303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Ramas muertas.</a:t>
            </a:r>
            <a:endParaRPr lang="es-PE" sz="1500" dirty="0"/>
          </a:p>
          <a:p>
            <a:pPr marL="533400" marR="0" lvl="2" indent="-17303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Retornos múltiples.</a:t>
            </a:r>
            <a:endParaRPr lang="es-PE" sz="1500" dirty="0">
              <a:solidFill>
                <a:schemeClr val="dk1"/>
              </a:solidFill>
              <a:latin typeface="Calibri"/>
              <a:cs typeface="Calibri"/>
              <a:sym typeface="Calibri"/>
            </a:endParaRPr>
          </a:p>
        </p:txBody>
      </p:sp>
      <p:sp>
        <p:nvSpPr>
          <p:cNvPr id="8" name="Google Shape;228;p19">
            <a:extLst>
              <a:ext uri="{FF2B5EF4-FFF2-40B4-BE49-F238E27FC236}">
                <a16:creationId xmlns:a16="http://schemas.microsoft.com/office/drawing/2014/main" id="{6C5E8614-5385-BA4D-AB8B-00E4ACA91C1E}"/>
              </a:ext>
            </a:extLst>
          </p:cNvPr>
          <p:cNvSpPr txBox="1"/>
          <p:nvPr/>
        </p:nvSpPr>
        <p:spPr>
          <a:xfrm>
            <a:off x="503238" y="5059854"/>
            <a:ext cx="1722582"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grpSp>
        <p:nvGrpSpPr>
          <p:cNvPr id="9" name="Grupo 8">
            <a:extLst>
              <a:ext uri="{FF2B5EF4-FFF2-40B4-BE49-F238E27FC236}">
                <a16:creationId xmlns:a16="http://schemas.microsoft.com/office/drawing/2014/main" id="{9F1492CE-85A0-A940-BDAD-04F092EA93B0}"/>
              </a:ext>
            </a:extLst>
          </p:cNvPr>
          <p:cNvGrpSpPr/>
          <p:nvPr/>
        </p:nvGrpSpPr>
        <p:grpSpPr>
          <a:xfrm>
            <a:off x="5029204" y="1119866"/>
            <a:ext cx="3034055" cy="3939988"/>
            <a:chOff x="5425889" y="1106418"/>
            <a:chExt cx="3034055" cy="3939988"/>
          </a:xfrm>
        </p:grpSpPr>
        <p:sp>
          <p:nvSpPr>
            <p:cNvPr id="10" name="Elipse 9">
              <a:extLst>
                <a:ext uri="{FF2B5EF4-FFF2-40B4-BE49-F238E27FC236}">
                  <a16:creationId xmlns:a16="http://schemas.microsoft.com/office/drawing/2014/main" id="{EB11620B-01FC-2F48-99AA-A1694054374C}"/>
                </a:ext>
              </a:extLst>
            </p:cNvPr>
            <p:cNvSpPr/>
            <p:nvPr/>
          </p:nvSpPr>
          <p:spPr>
            <a:xfrm>
              <a:off x="6508377" y="1106418"/>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Elipse 10">
              <a:extLst>
                <a:ext uri="{FF2B5EF4-FFF2-40B4-BE49-F238E27FC236}">
                  <a16:creationId xmlns:a16="http://schemas.microsoft.com/office/drawing/2014/main" id="{72241225-C1D2-4848-8CA5-DB5DBFFC3D6D}"/>
                </a:ext>
              </a:extLst>
            </p:cNvPr>
            <p:cNvSpPr/>
            <p:nvPr/>
          </p:nvSpPr>
          <p:spPr>
            <a:xfrm>
              <a:off x="6508377" y="1825836"/>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Elipse 11">
              <a:extLst>
                <a:ext uri="{FF2B5EF4-FFF2-40B4-BE49-F238E27FC236}">
                  <a16:creationId xmlns:a16="http://schemas.microsoft.com/office/drawing/2014/main" id="{B2C3B488-888C-624E-8C94-F116FDF01405}"/>
                </a:ext>
              </a:extLst>
            </p:cNvPr>
            <p:cNvSpPr/>
            <p:nvPr/>
          </p:nvSpPr>
          <p:spPr>
            <a:xfrm>
              <a:off x="6508377" y="2908324"/>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Elipse 12">
              <a:extLst>
                <a:ext uri="{FF2B5EF4-FFF2-40B4-BE49-F238E27FC236}">
                  <a16:creationId xmlns:a16="http://schemas.microsoft.com/office/drawing/2014/main" id="{8A164EF8-FDD2-EB44-AF1C-E0087341660D}"/>
                </a:ext>
              </a:extLst>
            </p:cNvPr>
            <p:cNvSpPr/>
            <p:nvPr/>
          </p:nvSpPr>
          <p:spPr>
            <a:xfrm>
              <a:off x="6508377" y="3937024"/>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4" name="Elipse 13">
              <a:extLst>
                <a:ext uri="{FF2B5EF4-FFF2-40B4-BE49-F238E27FC236}">
                  <a16:creationId xmlns:a16="http://schemas.microsoft.com/office/drawing/2014/main" id="{25920FF8-862B-F44A-A79F-03C9E5E72501}"/>
                </a:ext>
              </a:extLst>
            </p:cNvPr>
            <p:cNvSpPr/>
            <p:nvPr/>
          </p:nvSpPr>
          <p:spPr>
            <a:xfrm>
              <a:off x="6508377" y="4696783"/>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Elipse 14">
              <a:extLst>
                <a:ext uri="{FF2B5EF4-FFF2-40B4-BE49-F238E27FC236}">
                  <a16:creationId xmlns:a16="http://schemas.microsoft.com/office/drawing/2014/main" id="{2B5AE896-29AE-E14B-A9FD-C57983E85F6A}"/>
                </a:ext>
              </a:extLst>
            </p:cNvPr>
            <p:cNvSpPr/>
            <p:nvPr/>
          </p:nvSpPr>
          <p:spPr>
            <a:xfrm>
              <a:off x="5425889" y="2901601"/>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 name="Elipse 15">
              <a:extLst>
                <a:ext uri="{FF2B5EF4-FFF2-40B4-BE49-F238E27FC236}">
                  <a16:creationId xmlns:a16="http://schemas.microsoft.com/office/drawing/2014/main" id="{87591093-0BCF-F141-A4B0-E3C391384BE3}"/>
                </a:ext>
              </a:extLst>
            </p:cNvPr>
            <p:cNvSpPr/>
            <p:nvPr/>
          </p:nvSpPr>
          <p:spPr>
            <a:xfrm>
              <a:off x="5977218" y="2363719"/>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7" name="Elipse 16">
              <a:extLst>
                <a:ext uri="{FF2B5EF4-FFF2-40B4-BE49-F238E27FC236}">
                  <a16:creationId xmlns:a16="http://schemas.microsoft.com/office/drawing/2014/main" id="{3A520A25-B181-AE40-AD7C-05CCCCE63E3E}"/>
                </a:ext>
              </a:extLst>
            </p:cNvPr>
            <p:cNvSpPr/>
            <p:nvPr/>
          </p:nvSpPr>
          <p:spPr>
            <a:xfrm>
              <a:off x="7046259" y="2363719"/>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18" name="Conector recto de flecha 17">
              <a:extLst>
                <a:ext uri="{FF2B5EF4-FFF2-40B4-BE49-F238E27FC236}">
                  <a16:creationId xmlns:a16="http://schemas.microsoft.com/office/drawing/2014/main" id="{C7F0B924-39FF-4E44-8B85-8C1346985942}"/>
                </a:ext>
              </a:extLst>
            </p:cNvPr>
            <p:cNvCxnSpPr>
              <a:stCxn id="10" idx="4"/>
            </p:cNvCxnSpPr>
            <p:nvPr/>
          </p:nvCxnSpPr>
          <p:spPr>
            <a:xfrm flipH="1">
              <a:off x="6683188" y="1456041"/>
              <a:ext cx="1" cy="3697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2DCFE23E-29AC-514C-9769-D1B0548156EE}"/>
                </a:ext>
              </a:extLst>
            </p:cNvPr>
            <p:cNvCxnSpPr>
              <a:cxnSpLocks/>
            </p:cNvCxnSpPr>
            <p:nvPr/>
          </p:nvCxnSpPr>
          <p:spPr>
            <a:xfrm flipH="1">
              <a:off x="6263013" y="2135118"/>
              <a:ext cx="302022" cy="26033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CD6D6E4A-5A71-FC46-A618-8A0C2341238A}"/>
                </a:ext>
              </a:extLst>
            </p:cNvPr>
            <p:cNvCxnSpPr>
              <a:cxnSpLocks/>
              <a:stCxn id="16" idx="3"/>
            </p:cNvCxnSpPr>
            <p:nvPr/>
          </p:nvCxnSpPr>
          <p:spPr>
            <a:xfrm flipH="1">
              <a:off x="5725131" y="2662141"/>
              <a:ext cx="303288" cy="27119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CD284A5B-4B8B-CD45-8B4F-C09C4F4402E5}"/>
                </a:ext>
              </a:extLst>
            </p:cNvPr>
            <p:cNvCxnSpPr>
              <a:cxnSpLocks/>
              <a:endCxn id="17" idx="1"/>
            </p:cNvCxnSpPr>
            <p:nvPr/>
          </p:nvCxnSpPr>
          <p:spPr>
            <a:xfrm>
              <a:off x="6806992" y="2135118"/>
              <a:ext cx="290468" cy="27980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DE926A34-A572-154B-A173-7476A0FBE8DF}"/>
                </a:ext>
              </a:extLst>
            </p:cNvPr>
            <p:cNvCxnSpPr>
              <a:cxnSpLocks/>
              <a:endCxn id="29" idx="1"/>
            </p:cNvCxnSpPr>
            <p:nvPr/>
          </p:nvCxnSpPr>
          <p:spPr>
            <a:xfrm>
              <a:off x="7351598" y="2666277"/>
              <a:ext cx="290468" cy="28652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8FB62780-404B-DA49-8494-1C309FCBE2EB}"/>
                </a:ext>
              </a:extLst>
            </p:cNvPr>
            <p:cNvCxnSpPr>
              <a:cxnSpLocks/>
              <a:endCxn id="12" idx="1"/>
            </p:cNvCxnSpPr>
            <p:nvPr/>
          </p:nvCxnSpPr>
          <p:spPr>
            <a:xfrm>
              <a:off x="6275834" y="2666277"/>
              <a:ext cx="283744" cy="29324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F5ECDDEE-0262-1B4A-830E-7813390FBDD1}"/>
                </a:ext>
              </a:extLst>
            </p:cNvPr>
            <p:cNvCxnSpPr>
              <a:cxnSpLocks/>
              <a:stCxn id="15" idx="5"/>
              <a:endCxn id="13" idx="1"/>
            </p:cNvCxnSpPr>
            <p:nvPr/>
          </p:nvCxnSpPr>
          <p:spPr>
            <a:xfrm>
              <a:off x="5724311" y="3200023"/>
              <a:ext cx="835267" cy="7882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E525E45C-606B-1E4C-B8DF-3D6D81EA82AE}"/>
                </a:ext>
              </a:extLst>
            </p:cNvPr>
            <p:cNvCxnSpPr>
              <a:cxnSpLocks/>
              <a:stCxn id="29" idx="3"/>
            </p:cNvCxnSpPr>
            <p:nvPr/>
          </p:nvCxnSpPr>
          <p:spPr>
            <a:xfrm flipH="1">
              <a:off x="6830644" y="3200023"/>
              <a:ext cx="811422" cy="7937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982997BD-2E02-9A4F-AF0E-AFF043B2986A}"/>
                </a:ext>
              </a:extLst>
            </p:cNvPr>
            <p:cNvCxnSpPr>
              <a:cxnSpLocks/>
            </p:cNvCxnSpPr>
            <p:nvPr/>
          </p:nvCxnSpPr>
          <p:spPr>
            <a:xfrm>
              <a:off x="6683188" y="3265656"/>
              <a:ext cx="0" cy="6713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4C4B4501-F317-4847-9380-619F09402518}"/>
                </a:ext>
              </a:extLst>
            </p:cNvPr>
            <p:cNvCxnSpPr>
              <a:cxnSpLocks/>
              <a:endCxn id="14" idx="0"/>
            </p:cNvCxnSpPr>
            <p:nvPr/>
          </p:nvCxnSpPr>
          <p:spPr>
            <a:xfrm>
              <a:off x="6683188" y="4287632"/>
              <a:ext cx="1" cy="4091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Forma libre 27">
              <a:extLst>
                <a:ext uri="{FF2B5EF4-FFF2-40B4-BE49-F238E27FC236}">
                  <a16:creationId xmlns:a16="http://schemas.microsoft.com/office/drawing/2014/main" id="{79A9200A-CC91-0243-9690-95BC9FC131E2}"/>
                </a:ext>
              </a:extLst>
            </p:cNvPr>
            <p:cNvSpPr/>
            <p:nvPr/>
          </p:nvSpPr>
          <p:spPr>
            <a:xfrm>
              <a:off x="7334423" y="2292724"/>
              <a:ext cx="677826" cy="645458"/>
            </a:xfrm>
            <a:custGeom>
              <a:avLst/>
              <a:gdLst>
                <a:gd name="connsiteX0" fmla="*/ 470647 w 629813"/>
                <a:gd name="connsiteY0" fmla="*/ 645458 h 645458"/>
                <a:gd name="connsiteX1" fmla="*/ 605118 w 629813"/>
                <a:gd name="connsiteY1" fmla="*/ 376517 h 645458"/>
                <a:gd name="connsiteX2" fmla="*/ 611841 w 629813"/>
                <a:gd name="connsiteY2" fmla="*/ 94129 h 645458"/>
                <a:gd name="connsiteX3" fmla="*/ 416859 w 629813"/>
                <a:gd name="connsiteY3" fmla="*/ 0 h 645458"/>
                <a:gd name="connsiteX4" fmla="*/ 0 w 629813"/>
                <a:gd name="connsiteY4" fmla="*/ 94129 h 64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3" h="645458">
                  <a:moveTo>
                    <a:pt x="470647" y="645458"/>
                  </a:moveTo>
                  <a:cubicBezTo>
                    <a:pt x="526116" y="556931"/>
                    <a:pt x="581586" y="468405"/>
                    <a:pt x="605118" y="376517"/>
                  </a:cubicBezTo>
                  <a:cubicBezTo>
                    <a:pt x="628650" y="284629"/>
                    <a:pt x="643217" y="156882"/>
                    <a:pt x="611841" y="94129"/>
                  </a:cubicBezTo>
                  <a:cubicBezTo>
                    <a:pt x="580465" y="31376"/>
                    <a:pt x="518832" y="0"/>
                    <a:pt x="416859" y="0"/>
                  </a:cubicBezTo>
                  <a:cubicBezTo>
                    <a:pt x="314886" y="0"/>
                    <a:pt x="157443" y="47064"/>
                    <a:pt x="0" y="94129"/>
                  </a:cubicBezTo>
                </a:path>
              </a:pathLst>
            </a:custGeom>
            <a:noFill/>
            <a:ln w="254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9" name="Elipse 28">
              <a:extLst>
                <a:ext uri="{FF2B5EF4-FFF2-40B4-BE49-F238E27FC236}">
                  <a16:creationId xmlns:a16="http://schemas.microsoft.com/office/drawing/2014/main" id="{319EFBD5-CCCA-9C46-876F-40B42A5CB1D9}"/>
                </a:ext>
              </a:extLst>
            </p:cNvPr>
            <p:cNvSpPr/>
            <p:nvPr/>
          </p:nvSpPr>
          <p:spPr>
            <a:xfrm>
              <a:off x="7590865" y="2901601"/>
              <a:ext cx="349623" cy="349623"/>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30" name="Conector recto de flecha 29">
              <a:extLst>
                <a:ext uri="{FF2B5EF4-FFF2-40B4-BE49-F238E27FC236}">
                  <a16:creationId xmlns:a16="http://schemas.microsoft.com/office/drawing/2014/main" id="{9FA931FB-C6BB-6C41-B0FC-071D3E758A5F}"/>
                </a:ext>
              </a:extLst>
            </p:cNvPr>
            <p:cNvCxnSpPr>
              <a:cxnSpLocks/>
            </p:cNvCxnSpPr>
            <p:nvPr/>
          </p:nvCxnSpPr>
          <p:spPr>
            <a:xfrm>
              <a:off x="7896493" y="3200023"/>
              <a:ext cx="283262" cy="28652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Elipse 32">
              <a:extLst>
                <a:ext uri="{FF2B5EF4-FFF2-40B4-BE49-F238E27FC236}">
                  <a16:creationId xmlns:a16="http://schemas.microsoft.com/office/drawing/2014/main" id="{B5C83BC6-EA46-5743-A53B-CA6EF7DCBC02}"/>
                </a:ext>
              </a:extLst>
            </p:cNvPr>
            <p:cNvSpPr/>
            <p:nvPr/>
          </p:nvSpPr>
          <p:spPr>
            <a:xfrm>
              <a:off x="8110321" y="3439976"/>
              <a:ext cx="349623" cy="349623"/>
            </a:xfrm>
            <a:prstGeom prst="ellips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3" name="Google Shape;243;p21"/>
          <p:cNvSpPr txBox="1"/>
          <p:nvPr/>
        </p:nvSpPr>
        <p:spPr>
          <a:xfrm>
            <a:off x="503491" y="5069705"/>
            <a:ext cx="1722582"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F8B435CF-9D63-914B-8CFF-EAF340A94696}"/>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8AB0DADD-0917-7D44-BFA9-32842955D401}"/>
              </a:ext>
            </a:extLst>
          </p:cNvPr>
          <p:cNvSpPr/>
          <p:nvPr/>
        </p:nvSpPr>
        <p:spPr>
          <a:xfrm>
            <a:off x="503238" y="916472"/>
            <a:ext cx="7242268" cy="553998"/>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+ 03.</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ANÁLISIS DEL FLUJO DE DATOS</a:t>
            </a:r>
            <a:endParaRPr lang="es-PE" sz="1600" b="1" dirty="0">
              <a:solidFill>
                <a:srgbClr val="EE4639"/>
              </a:solidFill>
              <a:latin typeface="Calibri" charset="0"/>
              <a:cs typeface="Calibri" charset="0"/>
            </a:endParaRPr>
          </a:p>
        </p:txBody>
      </p:sp>
      <p:sp>
        <p:nvSpPr>
          <p:cNvPr id="7" name="Rectángulo redondeado 6">
            <a:extLst>
              <a:ext uri="{FF2B5EF4-FFF2-40B4-BE49-F238E27FC236}">
                <a16:creationId xmlns:a16="http://schemas.microsoft.com/office/drawing/2014/main" id="{DBE8829B-2723-4B42-85CC-229F31B4D404}"/>
              </a:ext>
            </a:extLst>
          </p:cNvPr>
          <p:cNvSpPr/>
          <p:nvPr/>
        </p:nvSpPr>
        <p:spPr>
          <a:xfrm>
            <a:off x="5488150" y="1711164"/>
            <a:ext cx="1973019" cy="3071845"/>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defTabSz="666750">
              <a:lnSpc>
                <a:spcPct val="90000"/>
              </a:lnSpc>
              <a:spcAft>
                <a:spcPts val="1200"/>
              </a:spcAft>
              <a:buClr>
                <a:schemeClr val="bg1"/>
              </a:buClr>
              <a:buSzPct val="100000"/>
            </a:pPr>
            <a:r>
              <a:rPr lang="es-PE" b="1" dirty="0">
                <a:solidFill>
                  <a:schemeClr val="bg1"/>
                </a:solidFill>
                <a:latin typeface="Calibri" charset="0"/>
                <a:cs typeface="Calibri" charset="0"/>
                <a:sym typeface="Calibri"/>
              </a:rPr>
              <a:t>DESVENTAJAS</a:t>
            </a:r>
            <a:endParaRPr lang="es-PE" b="1" dirty="0">
              <a:solidFill>
                <a:schemeClr val="bg1"/>
              </a:solidFill>
              <a:latin typeface="Calibri" charset="0"/>
              <a:cs typeface="Calibri" charset="0"/>
            </a:endParaRPr>
          </a:p>
          <a:p>
            <a:pPr marL="136525" lvl="1" indent="-136525" defTabSz="577850">
              <a:buClr>
                <a:schemeClr val="bg1"/>
              </a:buClr>
              <a:buSzPct val="100000"/>
              <a:buFont typeface="Arial" panose="020B0604020202020204" pitchFamily="34" charset="0"/>
              <a:buChar char="•"/>
            </a:pPr>
            <a:r>
              <a:rPr lang="es-PE" dirty="0">
                <a:solidFill>
                  <a:schemeClr val="bg1"/>
                </a:solidFill>
                <a:latin typeface="Calibri" charset="0"/>
                <a:ea typeface="+mn-ea"/>
                <a:cs typeface="Calibri" charset="0"/>
                <a:sym typeface="Calibri"/>
              </a:rPr>
              <a:t>Limitado a un rango reducido de tipos </a:t>
            </a:r>
            <a:br>
              <a:rPr lang="es-PE" dirty="0">
                <a:solidFill>
                  <a:schemeClr val="bg1"/>
                </a:solidFill>
                <a:latin typeface="Calibri" charset="0"/>
                <a:ea typeface="+mn-ea"/>
                <a:cs typeface="Calibri" charset="0"/>
                <a:sym typeface="Calibri"/>
              </a:rPr>
            </a:br>
            <a:r>
              <a:rPr lang="es-PE" dirty="0">
                <a:solidFill>
                  <a:schemeClr val="bg1"/>
                </a:solidFill>
                <a:latin typeface="Calibri" charset="0"/>
                <a:ea typeface="+mn-ea"/>
                <a:cs typeface="Calibri" charset="0"/>
                <a:sym typeface="Calibri"/>
              </a:rPr>
              <a:t>de defectos.</a:t>
            </a:r>
            <a:endParaRPr lang="es-PE" sz="1400" dirty="0">
              <a:solidFill>
                <a:schemeClr val="bg1"/>
              </a:solidFill>
              <a:latin typeface="Calibri" charset="0"/>
              <a:ea typeface="Calibri" charset="0"/>
              <a:cs typeface="Calibri" charset="0"/>
            </a:endParaRPr>
          </a:p>
        </p:txBody>
      </p:sp>
      <p:sp>
        <p:nvSpPr>
          <p:cNvPr id="8" name="Elipse 7">
            <a:extLst>
              <a:ext uri="{FF2B5EF4-FFF2-40B4-BE49-F238E27FC236}">
                <a16:creationId xmlns:a16="http://schemas.microsoft.com/office/drawing/2014/main" id="{816E3A00-A67E-F74A-A09B-0B3749E66B96}"/>
              </a:ext>
            </a:extLst>
          </p:cNvPr>
          <p:cNvSpPr/>
          <p:nvPr/>
        </p:nvSpPr>
        <p:spPr>
          <a:xfrm>
            <a:off x="5338722" y="3051816"/>
            <a:ext cx="395709" cy="376075"/>
          </a:xfrm>
          <a:prstGeom prst="ellipse">
            <a:avLst/>
          </a:prstGeom>
          <a:solidFill>
            <a:srgbClr val="C739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9" name="Elipse 8">
            <a:extLst>
              <a:ext uri="{FF2B5EF4-FFF2-40B4-BE49-F238E27FC236}">
                <a16:creationId xmlns:a16="http://schemas.microsoft.com/office/drawing/2014/main" id="{0F33DDDF-3993-C44D-9823-EA6349BEB8C1}"/>
              </a:ext>
            </a:extLst>
          </p:cNvPr>
          <p:cNvSpPr/>
          <p:nvPr/>
        </p:nvSpPr>
        <p:spPr>
          <a:xfrm>
            <a:off x="5274956" y="3037942"/>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Triángulo 9">
            <a:extLst>
              <a:ext uri="{FF2B5EF4-FFF2-40B4-BE49-F238E27FC236}">
                <a16:creationId xmlns:a16="http://schemas.microsoft.com/office/drawing/2014/main" id="{82DB7863-3EF1-EB4E-952F-90260B376E03}"/>
              </a:ext>
            </a:extLst>
          </p:cNvPr>
          <p:cNvSpPr/>
          <p:nvPr/>
        </p:nvSpPr>
        <p:spPr>
          <a:xfrm rot="5400000">
            <a:off x="5458729" y="3178663"/>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Rectángulo redondeado 10">
            <a:extLst>
              <a:ext uri="{FF2B5EF4-FFF2-40B4-BE49-F238E27FC236}">
                <a16:creationId xmlns:a16="http://schemas.microsoft.com/office/drawing/2014/main" id="{0223B09A-0412-F941-BC23-46E8B6C6530E}"/>
              </a:ext>
            </a:extLst>
          </p:cNvPr>
          <p:cNvSpPr/>
          <p:nvPr/>
        </p:nvSpPr>
        <p:spPr>
          <a:xfrm>
            <a:off x="3426467" y="1711164"/>
            <a:ext cx="1973019" cy="3071845"/>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defTabSz="666750">
              <a:lnSpc>
                <a:spcPct val="90000"/>
              </a:lnSpc>
              <a:spcAft>
                <a:spcPts val="1200"/>
              </a:spcAft>
              <a:buClr>
                <a:schemeClr val="bg1"/>
              </a:buClr>
              <a:buSzPct val="100000"/>
            </a:pPr>
            <a:r>
              <a:rPr lang="es-PE" b="1" dirty="0">
                <a:solidFill>
                  <a:schemeClr val="bg1"/>
                </a:solidFill>
                <a:latin typeface="Calibri" charset="0"/>
                <a:cs typeface="Calibri" charset="0"/>
                <a:sym typeface="Calibri"/>
              </a:rPr>
              <a:t>BENEFICIOS</a:t>
            </a:r>
            <a:endParaRPr lang="es-PE" b="1" dirty="0">
              <a:solidFill>
                <a:schemeClr val="bg1"/>
              </a:solidFill>
              <a:latin typeface="Calibri" charset="0"/>
              <a:cs typeface="Calibri" charset="0"/>
            </a:endParaRPr>
          </a:p>
          <a:p>
            <a:pPr marL="136525" lvl="1" indent="-136525" defTabSz="577850">
              <a:buClr>
                <a:schemeClr val="bg1"/>
              </a:buClr>
              <a:buSzPct val="100000"/>
              <a:buFont typeface="Arial" panose="020B0604020202020204" pitchFamily="34" charset="0"/>
              <a:buChar char="•"/>
            </a:pPr>
            <a:r>
              <a:rPr lang="es-PE" dirty="0">
                <a:solidFill>
                  <a:schemeClr val="bg1"/>
                </a:solidFill>
                <a:latin typeface="Calibri" charset="0"/>
                <a:ea typeface="+mn-ea"/>
                <a:cs typeface="Calibri" charset="0"/>
                <a:sym typeface="Calibri"/>
              </a:rPr>
              <a:t>Detección fiable de anomalías en el flujo de datos. Se puede detectar fácilmente la localización exacta de defectos. Es un buen complemento para otros métodos de pruebas.</a:t>
            </a:r>
            <a:endParaRPr lang="es-PE" dirty="0">
              <a:solidFill>
                <a:schemeClr val="bg1"/>
              </a:solidFill>
              <a:latin typeface="Calibri" charset="0"/>
              <a:ea typeface="+mn-ea"/>
              <a:cs typeface="Calibri" charset="0"/>
            </a:endParaRPr>
          </a:p>
        </p:txBody>
      </p:sp>
      <p:sp>
        <p:nvSpPr>
          <p:cNvPr id="12" name="Elipse 11">
            <a:extLst>
              <a:ext uri="{FF2B5EF4-FFF2-40B4-BE49-F238E27FC236}">
                <a16:creationId xmlns:a16="http://schemas.microsoft.com/office/drawing/2014/main" id="{515CE226-B06B-B549-819F-F6D16002706A}"/>
              </a:ext>
            </a:extLst>
          </p:cNvPr>
          <p:cNvSpPr/>
          <p:nvPr/>
        </p:nvSpPr>
        <p:spPr>
          <a:xfrm>
            <a:off x="3266791" y="3051816"/>
            <a:ext cx="395709" cy="376075"/>
          </a:xfrm>
          <a:prstGeom prst="ellipse">
            <a:avLst/>
          </a:prstGeom>
          <a:solidFill>
            <a:srgbClr val="C739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Elipse 12">
            <a:extLst>
              <a:ext uri="{FF2B5EF4-FFF2-40B4-BE49-F238E27FC236}">
                <a16:creationId xmlns:a16="http://schemas.microsoft.com/office/drawing/2014/main" id="{C92518B3-3283-E94A-849D-04D14D2982B5}"/>
              </a:ext>
            </a:extLst>
          </p:cNvPr>
          <p:cNvSpPr/>
          <p:nvPr/>
        </p:nvSpPr>
        <p:spPr>
          <a:xfrm>
            <a:off x="3203026" y="3037942"/>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Triángulo 13">
            <a:extLst>
              <a:ext uri="{FF2B5EF4-FFF2-40B4-BE49-F238E27FC236}">
                <a16:creationId xmlns:a16="http://schemas.microsoft.com/office/drawing/2014/main" id="{F159D9D0-1EF0-D043-908C-7792DFCDBC02}"/>
              </a:ext>
            </a:extLst>
          </p:cNvPr>
          <p:cNvSpPr/>
          <p:nvPr/>
        </p:nvSpPr>
        <p:spPr>
          <a:xfrm rot="5400000">
            <a:off x="3386799" y="3178663"/>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Rectángulo redondeado 14">
            <a:extLst>
              <a:ext uri="{FF2B5EF4-FFF2-40B4-BE49-F238E27FC236}">
                <a16:creationId xmlns:a16="http://schemas.microsoft.com/office/drawing/2014/main" id="{CD7F5E41-D75D-0F47-8C54-577961AF6BB4}"/>
              </a:ext>
            </a:extLst>
          </p:cNvPr>
          <p:cNvSpPr/>
          <p:nvPr/>
        </p:nvSpPr>
        <p:spPr>
          <a:xfrm>
            <a:off x="1364783" y="1711164"/>
            <a:ext cx="1973019" cy="3071845"/>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R="0" lvl="0" algn="l" rtl="0">
              <a:spcBef>
                <a:spcPts val="0"/>
              </a:spcBef>
              <a:spcAft>
                <a:spcPts val="1200"/>
              </a:spcAft>
              <a:buClr>
                <a:schemeClr val="dk1"/>
              </a:buClr>
              <a:buSzPts val="1600"/>
            </a:pPr>
            <a:r>
              <a:rPr lang="es-PE" b="1" dirty="0">
                <a:solidFill>
                  <a:schemeClr val="bg1"/>
                </a:solidFill>
                <a:latin typeface="Calibri" charset="0"/>
                <a:cs typeface="Calibri" charset="0"/>
                <a:sym typeface="Calibri"/>
              </a:rPr>
              <a:t>PROPÓSITO</a:t>
            </a:r>
            <a:endParaRPr lang="es-PE" dirty="0"/>
          </a:p>
          <a:p>
            <a:pPr marL="136525" indent="-136525" defTabSz="577850">
              <a:buClr>
                <a:schemeClr val="bg1"/>
              </a:buClr>
              <a:buSzPct val="100000"/>
              <a:buFont typeface="Arial" panose="020B0604020202020204" pitchFamily="34" charset="0"/>
              <a:buChar char="•"/>
            </a:pPr>
            <a:r>
              <a:rPr lang="es-PE" dirty="0">
                <a:solidFill>
                  <a:schemeClr val="bg1"/>
                </a:solidFill>
                <a:latin typeface="Calibri" charset="0"/>
                <a:cs typeface="Calibri" charset="0"/>
                <a:sym typeface="Calibri"/>
              </a:rPr>
              <a:t>Detección de anomalías en el flujo de datos con la ayuda de los diagramas de control de flujo y conjeturas racionales con respecto de las secuencias del </a:t>
            </a:r>
            <a:br>
              <a:rPr lang="es-PE" dirty="0">
                <a:solidFill>
                  <a:schemeClr val="bg1"/>
                </a:solidFill>
                <a:latin typeface="Calibri" charset="0"/>
                <a:cs typeface="Calibri" charset="0"/>
                <a:sym typeface="Calibri"/>
              </a:rPr>
            </a:br>
            <a:r>
              <a:rPr lang="es-PE" dirty="0">
                <a:solidFill>
                  <a:schemeClr val="bg1"/>
                </a:solidFill>
                <a:latin typeface="Calibri" charset="0"/>
                <a:cs typeface="Calibri" charset="0"/>
                <a:sym typeface="Calibri"/>
              </a:rPr>
              <a:t>flujo de datos.</a:t>
            </a:r>
            <a:endParaRPr lang="es-PE" dirty="0">
              <a:solidFill>
                <a:schemeClr val="bg1"/>
              </a:solidFill>
              <a:latin typeface="Calibri" charset="0"/>
              <a:cs typeface="Calibri" charset="0"/>
            </a:endParaRPr>
          </a:p>
          <a:p>
            <a:pPr marL="136525" lvl="0" indent="-136525" defTabSz="577850">
              <a:spcAft>
                <a:spcPts val="0"/>
              </a:spcAft>
              <a:buClr>
                <a:schemeClr val="bg1"/>
              </a:buClr>
              <a:buFont typeface="Arial" panose="020B0604020202020204" pitchFamily="34" charset="0"/>
              <a:buChar char="•"/>
            </a:pPr>
            <a:endParaRPr lang="es-PE" sz="1400" dirty="0">
              <a:solidFill>
                <a:schemeClr val="bg1"/>
              </a:solidFill>
              <a:latin typeface="Calibri" charset="0"/>
              <a:ea typeface="Calibri" charset="0"/>
              <a:cs typeface="Calibri" charset="0"/>
            </a:endParaRPr>
          </a:p>
        </p:txBody>
      </p:sp>
      <p:sp>
        <p:nvSpPr>
          <p:cNvPr id="16" name="Elipse 15">
            <a:extLst>
              <a:ext uri="{FF2B5EF4-FFF2-40B4-BE49-F238E27FC236}">
                <a16:creationId xmlns:a16="http://schemas.microsoft.com/office/drawing/2014/main" id="{AD78E6FB-34E2-F14A-9AD0-77C10AD090FC}"/>
              </a:ext>
            </a:extLst>
          </p:cNvPr>
          <p:cNvSpPr/>
          <p:nvPr/>
        </p:nvSpPr>
        <p:spPr>
          <a:xfrm>
            <a:off x="1212530" y="3051816"/>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7" name="Elipse 16">
            <a:extLst>
              <a:ext uri="{FF2B5EF4-FFF2-40B4-BE49-F238E27FC236}">
                <a16:creationId xmlns:a16="http://schemas.microsoft.com/office/drawing/2014/main" id="{10A89BB5-2DD0-064B-A26B-3A538D46D447}"/>
              </a:ext>
            </a:extLst>
          </p:cNvPr>
          <p:cNvSpPr/>
          <p:nvPr/>
        </p:nvSpPr>
        <p:spPr>
          <a:xfrm>
            <a:off x="1148765" y="3037942"/>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8" name="Triángulo 17">
            <a:extLst>
              <a:ext uri="{FF2B5EF4-FFF2-40B4-BE49-F238E27FC236}">
                <a16:creationId xmlns:a16="http://schemas.microsoft.com/office/drawing/2014/main" id="{A7678D2E-6AE3-CF4A-8A8A-35140CDE76EB}"/>
              </a:ext>
            </a:extLst>
          </p:cNvPr>
          <p:cNvSpPr/>
          <p:nvPr/>
        </p:nvSpPr>
        <p:spPr>
          <a:xfrm rot="5400000">
            <a:off x="1332538" y="3178663"/>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50" name="Google Shape;250;p22"/>
          <p:cNvSpPr txBox="1"/>
          <p:nvPr/>
        </p:nvSpPr>
        <p:spPr>
          <a:xfrm>
            <a:off x="503238" y="5059928"/>
            <a:ext cx="1722582"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a:solidFill>
                  <a:schemeClr val="bg1">
                    <a:lumMod val="50000"/>
                  </a:schemeClr>
                </a:solidFill>
                <a:latin typeface="Calibri"/>
                <a:ea typeface="Calibri"/>
                <a:cs typeface="Calibri"/>
                <a:sym typeface="Calibri"/>
              </a:rPr>
              <a:t>kupdf.net</a:t>
            </a:r>
            <a:endParaRPr>
              <a:solidFill>
                <a:schemeClr val="bg1">
                  <a:lumMod val="50000"/>
                </a:schemeClr>
              </a:solidFill>
            </a:endParaRPr>
          </a:p>
        </p:txBody>
      </p:sp>
      <p:sp>
        <p:nvSpPr>
          <p:cNvPr id="5" name="Rectangle 5">
            <a:extLst>
              <a:ext uri="{FF2B5EF4-FFF2-40B4-BE49-F238E27FC236}">
                <a16:creationId xmlns:a16="http://schemas.microsoft.com/office/drawing/2014/main" id="{C19EF2CA-0509-5347-B5E1-C8D3945C747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653D7D90-9E96-E34D-942E-68FC5C8E8BC6}"/>
              </a:ext>
            </a:extLst>
          </p:cNvPr>
          <p:cNvSpPr/>
          <p:nvPr/>
        </p:nvSpPr>
        <p:spPr>
          <a:xfrm>
            <a:off x="503238" y="916472"/>
            <a:ext cx="8172450" cy="3954929"/>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+ 03.</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ANÁLISIS DEL FLUJO DE DATOS</a:t>
            </a:r>
            <a:endParaRPr lang="es-PE" sz="1600" b="1" dirty="0">
              <a:solidFill>
                <a:srgbClr val="EE4639"/>
              </a:solidFill>
              <a:latin typeface="Calibri" charset="0"/>
              <a:cs typeface="Calibri" charset="0"/>
            </a:endParaRPr>
          </a:p>
          <a:p>
            <a:pPr marL="179388" marR="0" lvl="0" indent="-179388" algn="l" rtl="0">
              <a:lnSpc>
                <a:spcPct val="90000"/>
              </a:lnSpc>
              <a:spcBef>
                <a:spcPts val="0"/>
              </a:spcBef>
              <a:spcAft>
                <a:spcPts val="0"/>
              </a:spcAft>
              <a:buClr>
                <a:schemeClr val="dk1"/>
              </a:buClr>
              <a:buSzPct val="100000"/>
              <a:buFont typeface="Arial"/>
              <a:buChar char="•"/>
            </a:pPr>
            <a:r>
              <a:rPr lang="es-PE" sz="1500" b="1" dirty="0">
                <a:solidFill>
                  <a:schemeClr val="dk1"/>
                </a:solidFill>
                <a:latin typeface="Calibri"/>
                <a:ea typeface="Calibri"/>
                <a:cs typeface="Calibri"/>
                <a:sym typeface="Calibri"/>
              </a:rPr>
              <a:t>Método</a:t>
            </a:r>
            <a:endParaRPr lang="es-PE" sz="1500" dirty="0">
              <a:solidFill>
                <a:schemeClr val="dk1"/>
              </a:solidFill>
              <a:latin typeface="Calibri"/>
              <a:ea typeface="Calibri"/>
              <a:cs typeface="Calibri"/>
              <a:sym typeface="Calibri"/>
            </a:endParaRPr>
          </a:p>
          <a:p>
            <a:pPr marL="314325" marR="0" lvl="1" indent="-134938"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Una variable x puede tener los siguientes estados a lo largo de la ejecución de un programa:</a:t>
            </a:r>
            <a:endParaRPr lang="es-PE" sz="1500" dirty="0"/>
          </a:p>
          <a:p>
            <a:pPr marL="495300" marR="0" lvl="2" indent="-180975"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x se encuentra indefinida (u): no ha sido asignado valor alguno a la variable x.</a:t>
            </a:r>
            <a:endParaRPr lang="es-PE" sz="1500" dirty="0"/>
          </a:p>
          <a:p>
            <a:pPr marL="495300" marR="0" lvl="2" indent="-180975"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x se encuentra definida (d): ha sido asignado un valor a x. Por ejemplo, x = 1.</a:t>
            </a:r>
            <a:endParaRPr lang="es-PE" sz="1500" dirty="0"/>
          </a:p>
          <a:p>
            <a:pPr marL="495300" marR="0" lvl="2" indent="-180975"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x está referenciada (r): ha sido tomada una referencia, el valor de x no cambia. Por ejemplo, x &gt; 0, a = b + x.</a:t>
            </a:r>
            <a:endParaRPr lang="es-PE" sz="1500" dirty="0"/>
          </a:p>
          <a:p>
            <a:pPr marL="495300" marR="0" lvl="2" indent="-180975"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x no ha sido utilizada (e): x no ha sido referenciada (ni en lectura ni en escritura).</a:t>
            </a:r>
            <a:endParaRPr lang="es-PE" sz="1500" dirty="0"/>
          </a:p>
          <a:p>
            <a:pPr marL="314325" marR="0" lvl="1" indent="-79375" algn="l" rtl="0">
              <a:lnSpc>
                <a:spcPct val="90000"/>
              </a:lnSpc>
              <a:spcBef>
                <a:spcPts val="0"/>
              </a:spcBef>
              <a:spcAft>
                <a:spcPts val="0"/>
              </a:spcAft>
              <a:buClr>
                <a:schemeClr val="dk1"/>
              </a:buClr>
              <a:buSzPct val="100000"/>
              <a:buFont typeface="Arial"/>
              <a:buNone/>
            </a:pPr>
            <a:endParaRPr lang="es-PE" sz="1500" b="0" i="0" u="none" strike="noStrike" cap="none" dirty="0">
              <a:solidFill>
                <a:schemeClr val="dk1"/>
              </a:solidFill>
              <a:latin typeface="Calibri"/>
              <a:ea typeface="Calibri"/>
              <a:cs typeface="Calibri"/>
              <a:sym typeface="Calibri"/>
            </a:endParaRPr>
          </a:p>
          <a:p>
            <a:pPr marL="312738" marR="0" lvl="1" indent="-133350"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El flujo de datos de una variable puede ser expresado como una secuencia de estados: d, u, y r. Por ejemplo, x  u d r d r </a:t>
            </a:r>
            <a:r>
              <a:rPr lang="es-PE" sz="1500" b="0" i="0" u="none" strike="noStrike" cap="none" dirty="0" err="1">
                <a:solidFill>
                  <a:schemeClr val="dk1"/>
                </a:solidFill>
                <a:latin typeface="Calibri"/>
                <a:ea typeface="Calibri"/>
                <a:cs typeface="Calibri"/>
                <a:sym typeface="Calibri"/>
              </a:rPr>
              <a:t>r</a:t>
            </a:r>
            <a:r>
              <a:rPr lang="es-PE" sz="1500" b="0" i="0" u="none" strike="noStrike" cap="none" dirty="0">
                <a:solidFill>
                  <a:schemeClr val="dk1"/>
                </a:solidFill>
                <a:latin typeface="Calibri"/>
                <a:ea typeface="Calibri"/>
                <a:cs typeface="Calibri"/>
                <a:sym typeface="Calibri"/>
              </a:rPr>
              <a:t> u.</a:t>
            </a:r>
            <a:endParaRPr lang="es-PE" sz="1500" dirty="0"/>
          </a:p>
          <a:p>
            <a:pPr marL="312738" marR="0" lvl="1" indent="-133350" algn="l" rtl="0">
              <a:lnSpc>
                <a:spcPct val="90000"/>
              </a:lnSpc>
              <a:spcBef>
                <a:spcPts val="0"/>
              </a:spcBef>
              <a:spcAft>
                <a:spcPts val="0"/>
              </a:spcAft>
              <a:buClr>
                <a:schemeClr val="dk1"/>
              </a:buClr>
              <a:buSzPct val="100000"/>
              <a:buFont typeface="Arial"/>
              <a:buNone/>
            </a:pPr>
            <a:endParaRPr lang="es-PE" sz="1500" b="0" i="0" u="none" strike="noStrike" cap="none" dirty="0">
              <a:solidFill>
                <a:schemeClr val="dk1"/>
              </a:solidFill>
              <a:latin typeface="Calibri"/>
              <a:ea typeface="Calibri"/>
              <a:cs typeface="Calibri"/>
              <a:sym typeface="Calibri"/>
            </a:endParaRPr>
          </a:p>
          <a:p>
            <a:pPr marL="312738" marR="0" lvl="1" indent="-133350"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Si una de estas secuencias contiene una sub-secuencia que no tiene sentido, entonces ha tenido lugar una anomalía en el flujo de datos.</a:t>
            </a:r>
            <a:endParaRPr lang="es-PE" sz="1500" dirty="0"/>
          </a:p>
          <a:p>
            <a:pPr marL="493713" marR="0" lvl="2" indent="-180975"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Anomalía ur: Valores indefinidos han sido referenciados.</a:t>
            </a:r>
            <a:endParaRPr lang="es-PE" sz="1500" dirty="0"/>
          </a:p>
          <a:p>
            <a:pPr marL="493713" marR="0" lvl="2" indent="-180975"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Anomalía du: Definición de un valor y luego es indefinido antes de lectura.</a:t>
            </a:r>
            <a:endParaRPr lang="es-PE" sz="1500" dirty="0"/>
          </a:p>
          <a:p>
            <a:pPr marL="493713" marR="0" lvl="2" indent="-180975" algn="l" rtl="0">
              <a:lnSpc>
                <a:spcPct val="90000"/>
              </a:lnSpc>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Anomalía dd: Definición de un valor y se define nuevamente antes de lectura.</a:t>
            </a:r>
            <a:endParaRPr lang="es-PE"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7" name="Rectangle 5">
            <a:extLst>
              <a:ext uri="{FF2B5EF4-FFF2-40B4-BE49-F238E27FC236}">
                <a16:creationId xmlns:a16="http://schemas.microsoft.com/office/drawing/2014/main" id="{874D4EE1-3021-3D4B-9CB6-33DB2B7AECF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8" name="Rectángulo redondeado 7">
            <a:extLst>
              <a:ext uri="{FF2B5EF4-FFF2-40B4-BE49-F238E27FC236}">
                <a16:creationId xmlns:a16="http://schemas.microsoft.com/office/drawing/2014/main" id="{9F339ADB-3D3A-E641-A9A9-7E8F83326C95}"/>
              </a:ext>
            </a:extLst>
          </p:cNvPr>
          <p:cNvSpPr/>
          <p:nvPr/>
        </p:nvSpPr>
        <p:spPr>
          <a:xfrm>
            <a:off x="630986" y="1899203"/>
            <a:ext cx="2470967" cy="3334784"/>
          </a:xfrm>
          <a:prstGeom prst="roundRect">
            <a:avLst>
              <a:gd name="adj" fmla="val 4548"/>
            </a:avLst>
          </a:prstGeom>
          <a:solidFill>
            <a:srgbClr val="FFD8D4"/>
          </a:solidFill>
          <a:ln w="38100">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0" marR="0" lvl="0" indent="0" algn="l" rtl="0">
              <a:spcBef>
                <a:spcPts val="0"/>
              </a:spcBef>
              <a:spcAft>
                <a:spcPts val="0"/>
              </a:spcAft>
              <a:buNone/>
            </a:pPr>
            <a:r>
              <a:rPr lang="es-PE" sz="1200" dirty="0">
                <a:solidFill>
                  <a:schemeClr val="dk1"/>
                </a:solidFill>
                <a:latin typeface="Calibri"/>
                <a:ea typeface="Calibri"/>
                <a:cs typeface="Calibri"/>
                <a:sym typeface="Calibri"/>
              </a:rPr>
              <a:t>Para este ejemplo, los valores de dos variables son intercambiados a través de una variable auxiliar, si no están ordenados por valor.</a:t>
            </a:r>
            <a:endParaRPr lang="es-PE" sz="1200" dirty="0"/>
          </a:p>
          <a:p>
            <a:pPr marL="0" marR="0" lvl="0" indent="0" algn="l" rtl="0">
              <a:spcBef>
                <a:spcPts val="0"/>
              </a:spcBef>
              <a:spcAft>
                <a:spcPts val="0"/>
              </a:spcAft>
              <a:buNone/>
            </a:pPr>
            <a:endParaRPr lang="es-PE"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Void MinMax (int Min, int Max)</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int Help;</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if(Min&gt;Max)</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Max = Help;</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Max = Min;</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Help = Min;</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End MinMax;</a:t>
            </a:r>
            <a:endParaRPr lang="es-ES" sz="1200" dirty="0">
              <a:solidFill>
                <a:schemeClr val="tx1"/>
              </a:solidFill>
              <a:latin typeface="Calibri" panose="020F0502020204030204" pitchFamily="34" charset="0"/>
              <a:ea typeface="+mn-ea"/>
              <a:cs typeface="Calibri" panose="020F0502020204030204" pitchFamily="34" charset="0"/>
              <a:sym typeface="Calibri"/>
            </a:endParaRPr>
          </a:p>
        </p:txBody>
      </p:sp>
      <p:sp>
        <p:nvSpPr>
          <p:cNvPr id="9" name="Rectángulo 8">
            <a:extLst>
              <a:ext uri="{FF2B5EF4-FFF2-40B4-BE49-F238E27FC236}">
                <a16:creationId xmlns:a16="http://schemas.microsoft.com/office/drawing/2014/main" id="{C40F923C-C4CE-884E-A0AB-7254528B1762}"/>
              </a:ext>
            </a:extLst>
          </p:cNvPr>
          <p:cNvSpPr/>
          <p:nvPr/>
        </p:nvSpPr>
        <p:spPr>
          <a:xfrm>
            <a:off x="503238" y="916472"/>
            <a:ext cx="8172450" cy="838691"/>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+ 03.</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ANÁLISIS DEL FLUJO DE DATOS</a:t>
            </a:r>
            <a:endParaRPr lang="es-PE" sz="1600" b="1" dirty="0">
              <a:solidFill>
                <a:srgbClr val="EE4639"/>
              </a:solidFill>
              <a:latin typeface="Calibri" charset="0"/>
              <a:cs typeface="Calibri" charset="0"/>
            </a:endParaRPr>
          </a:p>
          <a:p>
            <a:pPr marL="179388" marR="0" lvl="0" indent="-179388" algn="l" rtl="0">
              <a:lnSpc>
                <a:spcPct val="90000"/>
              </a:lnSpc>
              <a:spcBef>
                <a:spcPts val="0"/>
              </a:spcBef>
              <a:spcAft>
                <a:spcPts val="0"/>
              </a:spcAft>
              <a:buClr>
                <a:schemeClr val="dk1"/>
              </a:buClr>
              <a:buSzPts val="1600"/>
              <a:buFont typeface="Arial"/>
              <a:buChar char="•"/>
            </a:pPr>
            <a:r>
              <a:rPr lang="es-PE" sz="1500" b="1" dirty="0">
                <a:solidFill>
                  <a:schemeClr val="dk1"/>
                </a:solidFill>
                <a:latin typeface="Calibri"/>
                <a:ea typeface="Calibri"/>
                <a:cs typeface="Calibri"/>
                <a:sym typeface="Calibri"/>
              </a:rPr>
              <a:t>Ejemplo</a:t>
            </a:r>
            <a:endParaRPr lang="es-PE" sz="1500" dirty="0"/>
          </a:p>
        </p:txBody>
      </p:sp>
      <p:sp>
        <p:nvSpPr>
          <p:cNvPr id="10" name="Rectángulo redondeado 9">
            <a:extLst>
              <a:ext uri="{FF2B5EF4-FFF2-40B4-BE49-F238E27FC236}">
                <a16:creationId xmlns:a16="http://schemas.microsoft.com/office/drawing/2014/main" id="{37F7ECAD-1D4A-2C42-B22B-B716731C0870}"/>
              </a:ext>
            </a:extLst>
          </p:cNvPr>
          <p:cNvSpPr/>
          <p:nvPr/>
        </p:nvSpPr>
        <p:spPr>
          <a:xfrm>
            <a:off x="3288833" y="1899202"/>
            <a:ext cx="2470967" cy="3334785"/>
          </a:xfrm>
          <a:prstGeom prst="roundRect">
            <a:avLst>
              <a:gd name="adj" fmla="val 4548"/>
            </a:avLst>
          </a:prstGeom>
          <a:solidFill>
            <a:srgbClr val="FFD8D4"/>
          </a:solidFill>
          <a:ln w="38100">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0" marR="0" lvl="0" indent="0" algn="l" rtl="0">
              <a:spcBef>
                <a:spcPts val="0"/>
              </a:spcBef>
              <a:spcAft>
                <a:spcPts val="0"/>
              </a:spcAft>
              <a:buNone/>
            </a:pPr>
            <a:r>
              <a:rPr lang="es-PE" sz="1200" dirty="0">
                <a:solidFill>
                  <a:schemeClr val="dk1"/>
                </a:solidFill>
                <a:latin typeface="Calibri"/>
                <a:ea typeface="Calibri"/>
                <a:cs typeface="Calibri"/>
                <a:sym typeface="Calibri"/>
              </a:rPr>
              <a:t>El análisis de flujo de datos muestra:</a:t>
            </a:r>
            <a:endParaRPr lang="es-PE" sz="1200" dirty="0"/>
          </a:p>
          <a:p>
            <a:pPr marL="0" marR="0" lvl="0" indent="0" algn="l" rtl="0">
              <a:spcBef>
                <a:spcPts val="0"/>
              </a:spcBef>
              <a:spcAft>
                <a:spcPts val="0"/>
              </a:spcAft>
              <a:buNone/>
            </a:pPr>
            <a:endParaRPr lang="es-PE" sz="1200" dirty="0">
              <a:solidFill>
                <a:schemeClr val="dk1"/>
              </a:solidFill>
              <a:latin typeface="Calibri"/>
              <a:ea typeface="Calibri"/>
              <a:cs typeface="Calibri"/>
              <a:sym typeface="Calibri"/>
            </a:endParaRPr>
          </a:p>
          <a:p>
            <a:pPr marL="133350" marR="0" lvl="0" indent="-123825" algn="l" rtl="0">
              <a:spcBef>
                <a:spcPts val="0"/>
              </a:spcBef>
              <a:spcAft>
                <a:spcPts val="0"/>
              </a:spcAft>
              <a:buClr>
                <a:srgbClr val="EE4639"/>
              </a:buClr>
              <a:buSzPts val="1200"/>
              <a:buFont typeface="Arial"/>
              <a:buChar char="•"/>
            </a:pPr>
            <a:r>
              <a:rPr lang="es-PE" sz="1200" dirty="0">
                <a:solidFill>
                  <a:schemeClr val="dk1"/>
                </a:solidFill>
                <a:latin typeface="Calibri"/>
                <a:ea typeface="Calibri"/>
                <a:cs typeface="Calibri"/>
                <a:sym typeface="Calibri"/>
              </a:rPr>
              <a:t>La Variable Help se encuentra indefinida (undefined) cuando es referencia; </a:t>
            </a:r>
            <a:r>
              <a:rPr lang="es-PE" sz="1200" b="1" dirty="0">
                <a:solidFill>
                  <a:schemeClr val="dk1"/>
                </a:solidFill>
                <a:latin typeface="Calibri"/>
                <a:ea typeface="Calibri"/>
                <a:cs typeface="Calibri"/>
                <a:sym typeface="Calibri"/>
              </a:rPr>
              <a:t>Anomalía ur.</a:t>
            </a:r>
            <a:endParaRPr lang="es-PE" sz="1200" dirty="0"/>
          </a:p>
          <a:p>
            <a:pPr marL="133350" marR="0" lvl="0" indent="-47625" algn="l" rtl="0">
              <a:spcBef>
                <a:spcPts val="0"/>
              </a:spcBef>
              <a:spcAft>
                <a:spcPts val="0"/>
              </a:spcAft>
              <a:buClr>
                <a:srgbClr val="EE4639"/>
              </a:buClr>
              <a:buSzPts val="1200"/>
              <a:buFont typeface="Arial"/>
              <a:buNone/>
            </a:pPr>
            <a:endParaRPr lang="es-PE" sz="1200" b="1" dirty="0">
              <a:solidFill>
                <a:schemeClr val="dk1"/>
              </a:solidFill>
              <a:latin typeface="Calibri"/>
              <a:ea typeface="Calibri"/>
              <a:cs typeface="Calibri"/>
              <a:sym typeface="Calibri"/>
            </a:endParaRPr>
          </a:p>
          <a:p>
            <a:pPr marL="133350" marR="0" lvl="0" indent="-123825" algn="l" rtl="0">
              <a:spcBef>
                <a:spcPts val="0"/>
              </a:spcBef>
              <a:spcAft>
                <a:spcPts val="0"/>
              </a:spcAft>
              <a:buClr>
                <a:srgbClr val="EE4639"/>
              </a:buClr>
              <a:buSzPts val="1200"/>
              <a:buFont typeface="Arial"/>
              <a:buChar char="•"/>
            </a:pPr>
            <a:r>
              <a:rPr lang="es-PE" sz="1200" dirty="0">
                <a:solidFill>
                  <a:schemeClr val="dk1"/>
                </a:solidFill>
                <a:latin typeface="Calibri"/>
                <a:ea typeface="Calibri"/>
                <a:cs typeface="Calibri"/>
                <a:sym typeface="Calibri"/>
              </a:rPr>
              <a:t>La variable Max se define dos veces sin ninguna referencia entre ambas definiciones: </a:t>
            </a:r>
            <a:r>
              <a:rPr lang="es-PE" sz="1200" b="1" dirty="0">
                <a:solidFill>
                  <a:schemeClr val="dk1"/>
                </a:solidFill>
                <a:latin typeface="Calibri"/>
                <a:ea typeface="Calibri"/>
                <a:cs typeface="Calibri"/>
                <a:sym typeface="Calibri"/>
              </a:rPr>
              <a:t>Anomalía dd.</a:t>
            </a:r>
            <a:endParaRPr lang="es-PE" sz="1200" dirty="0"/>
          </a:p>
          <a:p>
            <a:pPr marL="133350" marR="0" lvl="0" indent="-47625" algn="l" rtl="0">
              <a:spcBef>
                <a:spcPts val="0"/>
              </a:spcBef>
              <a:spcAft>
                <a:spcPts val="0"/>
              </a:spcAft>
              <a:buClr>
                <a:srgbClr val="EE4639"/>
              </a:buClr>
              <a:buSzPts val="1200"/>
              <a:buFont typeface="Arial"/>
              <a:buNone/>
            </a:pPr>
            <a:endParaRPr lang="es-PE" sz="1200" b="1" dirty="0">
              <a:solidFill>
                <a:schemeClr val="dk1"/>
              </a:solidFill>
              <a:latin typeface="Calibri"/>
              <a:ea typeface="Calibri"/>
              <a:cs typeface="Calibri"/>
              <a:sym typeface="Calibri"/>
            </a:endParaRPr>
          </a:p>
          <a:p>
            <a:pPr marL="133350" marR="0" lvl="0" indent="-123825" algn="l" rtl="0">
              <a:spcBef>
                <a:spcPts val="0"/>
              </a:spcBef>
              <a:spcAft>
                <a:spcPts val="0"/>
              </a:spcAft>
              <a:buClr>
                <a:srgbClr val="EE4639"/>
              </a:buClr>
              <a:buSzPts val="1200"/>
              <a:buFont typeface="Arial"/>
              <a:buChar char="•"/>
            </a:pPr>
            <a:r>
              <a:rPr lang="es-PE" sz="1200" dirty="0">
                <a:solidFill>
                  <a:schemeClr val="dk1"/>
                </a:solidFill>
                <a:latin typeface="Calibri"/>
                <a:ea typeface="Calibri"/>
                <a:cs typeface="Calibri"/>
                <a:sym typeface="Calibri"/>
              </a:rPr>
              <a:t>El valor definido para la variable Help se vuelve indefinido al final del programa sin referencia: </a:t>
            </a:r>
            <a:r>
              <a:rPr lang="es-PE" sz="1200" b="1" dirty="0">
                <a:solidFill>
                  <a:schemeClr val="dk1"/>
                </a:solidFill>
                <a:latin typeface="Calibri"/>
                <a:ea typeface="Calibri"/>
                <a:cs typeface="Calibri"/>
                <a:sym typeface="Calibri"/>
              </a:rPr>
              <a:t>Anomalia du.</a:t>
            </a:r>
            <a:endParaRPr lang="es-PE" sz="1200" dirty="0"/>
          </a:p>
          <a:p>
            <a:pPr marL="0" marR="0" lvl="0" indent="0" algn="l" rtl="0">
              <a:spcBef>
                <a:spcPts val="0"/>
              </a:spcBef>
              <a:spcAft>
                <a:spcPts val="0"/>
              </a:spcAft>
              <a:buNone/>
            </a:pPr>
            <a:endParaRPr lang="es-ES" sz="1200" dirty="0">
              <a:solidFill>
                <a:schemeClr val="tx1"/>
              </a:solidFill>
              <a:latin typeface="Calibri" panose="020F0502020204030204" pitchFamily="34" charset="0"/>
              <a:ea typeface="+mn-ea"/>
              <a:cs typeface="Calibri" panose="020F0502020204030204" pitchFamily="34" charset="0"/>
              <a:sym typeface="Calibri"/>
            </a:endParaRPr>
          </a:p>
        </p:txBody>
      </p:sp>
      <p:sp>
        <p:nvSpPr>
          <p:cNvPr id="11" name="Rectángulo redondeado 10">
            <a:extLst>
              <a:ext uri="{FF2B5EF4-FFF2-40B4-BE49-F238E27FC236}">
                <a16:creationId xmlns:a16="http://schemas.microsoft.com/office/drawing/2014/main" id="{9F6CE0C1-EAB6-4F45-93FC-042AC561E781}"/>
              </a:ext>
            </a:extLst>
          </p:cNvPr>
          <p:cNvSpPr/>
          <p:nvPr/>
        </p:nvSpPr>
        <p:spPr>
          <a:xfrm>
            <a:off x="5946680" y="1899202"/>
            <a:ext cx="2470967" cy="3334785"/>
          </a:xfrm>
          <a:prstGeom prst="roundRect">
            <a:avLst>
              <a:gd name="adj" fmla="val 4548"/>
            </a:avLst>
          </a:prstGeom>
          <a:solidFill>
            <a:srgbClr val="FFD8D4"/>
          </a:solidFill>
          <a:ln w="38100">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0" marR="0" lvl="0" indent="0" algn="l" rtl="0">
              <a:spcBef>
                <a:spcPts val="0"/>
              </a:spcBef>
              <a:spcAft>
                <a:spcPts val="0"/>
              </a:spcAft>
              <a:buNone/>
            </a:pPr>
            <a:r>
              <a:rPr lang="es-PE" sz="1200" dirty="0">
                <a:solidFill>
                  <a:schemeClr val="dk1"/>
                </a:solidFill>
                <a:latin typeface="Calibri"/>
                <a:ea typeface="Calibri"/>
                <a:cs typeface="Calibri"/>
                <a:sym typeface="Calibri"/>
              </a:rPr>
              <a:t>El ejemplo puede ser fácilmente corregido.</a:t>
            </a:r>
            <a:endParaRPr lang="es-PE" sz="1200" dirty="0"/>
          </a:p>
          <a:p>
            <a:pPr marL="0" marR="0" lvl="0" indent="0" algn="l" rtl="0">
              <a:spcBef>
                <a:spcPts val="0"/>
              </a:spcBef>
              <a:spcAft>
                <a:spcPts val="0"/>
              </a:spcAft>
              <a:buNone/>
            </a:pPr>
            <a:endParaRPr lang="es-PE"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Void MinMax(int Min, intMax)</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a:t>
            </a:r>
            <a:endParaRPr lang="es-PE" sz="1200" dirty="0"/>
          </a:p>
          <a:p>
            <a:pPr marL="0" marR="0" lvl="0" indent="228600" algn="l" rtl="0">
              <a:spcBef>
                <a:spcPts val="0"/>
              </a:spcBef>
              <a:spcAft>
                <a:spcPts val="0"/>
              </a:spcAft>
              <a:buNone/>
            </a:pPr>
            <a:r>
              <a:rPr lang="es-PE" sz="1200" dirty="0">
                <a:solidFill>
                  <a:schemeClr val="dk1"/>
                </a:solidFill>
                <a:latin typeface="Calibri"/>
                <a:ea typeface="Calibri"/>
                <a:cs typeface="Calibri"/>
                <a:sym typeface="Calibri"/>
              </a:rPr>
              <a:t>Int Help;</a:t>
            </a:r>
            <a:endParaRPr lang="es-PE" sz="1200" dirty="0"/>
          </a:p>
          <a:p>
            <a:pPr marL="0" marR="0" lvl="0" indent="228600" algn="l" rtl="0">
              <a:spcBef>
                <a:spcPts val="0"/>
              </a:spcBef>
              <a:spcAft>
                <a:spcPts val="0"/>
              </a:spcAft>
              <a:buNone/>
            </a:pPr>
            <a:r>
              <a:rPr lang="es-PE" sz="1200" dirty="0">
                <a:solidFill>
                  <a:schemeClr val="dk1"/>
                </a:solidFill>
                <a:latin typeface="Calibri"/>
                <a:ea typeface="Calibri"/>
                <a:cs typeface="Calibri"/>
                <a:sym typeface="Calibri"/>
              </a:rPr>
              <a:t>If(Min&gt;Max)</a:t>
            </a:r>
            <a:endParaRPr lang="es-PE" sz="1200" dirty="0"/>
          </a:p>
          <a:p>
            <a:pPr marL="0" marR="0" lvl="0" indent="228600" algn="l" rtl="0">
              <a:spcBef>
                <a:spcPts val="0"/>
              </a:spcBef>
              <a:spcAft>
                <a:spcPts val="0"/>
              </a:spcAft>
              <a:buNone/>
            </a:pPr>
            <a:r>
              <a:rPr lang="es-PE" sz="1200" dirty="0">
                <a:solidFill>
                  <a:schemeClr val="dk1"/>
                </a:solidFill>
                <a:latin typeface="Calibri"/>
                <a:ea typeface="Calibri"/>
                <a:cs typeface="Calibri"/>
                <a:sym typeface="Calibri"/>
              </a:rPr>
              <a:t>{</a:t>
            </a:r>
            <a:endParaRPr lang="es-PE" sz="1200" dirty="0"/>
          </a:p>
          <a:p>
            <a:pPr marL="0" marR="0" lvl="0" indent="495300" algn="l" rtl="0">
              <a:spcBef>
                <a:spcPts val="0"/>
              </a:spcBef>
              <a:spcAft>
                <a:spcPts val="0"/>
              </a:spcAft>
              <a:buNone/>
            </a:pPr>
            <a:r>
              <a:rPr lang="es-PE" sz="1200" dirty="0">
                <a:solidFill>
                  <a:schemeClr val="dk1"/>
                </a:solidFill>
                <a:latin typeface="Calibri"/>
                <a:ea typeface="Calibri"/>
                <a:cs typeface="Calibri"/>
                <a:sym typeface="Calibri"/>
              </a:rPr>
              <a:t>Help = Max;</a:t>
            </a:r>
            <a:endParaRPr lang="es-PE" sz="1200" dirty="0"/>
          </a:p>
          <a:p>
            <a:pPr marL="0" marR="0" lvl="0" indent="495300" algn="l" rtl="0">
              <a:spcBef>
                <a:spcPts val="0"/>
              </a:spcBef>
              <a:spcAft>
                <a:spcPts val="0"/>
              </a:spcAft>
              <a:buNone/>
            </a:pPr>
            <a:r>
              <a:rPr lang="es-PE" sz="1200" dirty="0">
                <a:solidFill>
                  <a:schemeClr val="dk1"/>
                </a:solidFill>
                <a:latin typeface="Calibri"/>
                <a:ea typeface="Calibri"/>
                <a:cs typeface="Calibri"/>
                <a:sym typeface="Calibri"/>
              </a:rPr>
              <a:t>Max = Min;</a:t>
            </a:r>
            <a:endParaRPr lang="es-PE" sz="1200" dirty="0"/>
          </a:p>
          <a:p>
            <a:pPr marL="0" marR="0" lvl="0" indent="495300" algn="l" rtl="0">
              <a:spcBef>
                <a:spcPts val="0"/>
              </a:spcBef>
              <a:spcAft>
                <a:spcPts val="0"/>
              </a:spcAft>
              <a:buNone/>
            </a:pPr>
            <a:r>
              <a:rPr lang="es-PE" sz="1200" dirty="0">
                <a:solidFill>
                  <a:schemeClr val="dk1"/>
                </a:solidFill>
                <a:latin typeface="Calibri"/>
                <a:ea typeface="Calibri"/>
                <a:cs typeface="Calibri"/>
                <a:sym typeface="Calibri"/>
              </a:rPr>
              <a:t>Min = Help;</a:t>
            </a:r>
            <a:endParaRPr lang="es-PE" sz="1200" dirty="0"/>
          </a:p>
          <a:p>
            <a:pPr marL="0" marR="0" lvl="0" indent="9525" algn="l" rtl="0">
              <a:spcBef>
                <a:spcPts val="0"/>
              </a:spcBef>
              <a:spcAft>
                <a:spcPts val="0"/>
              </a:spcAft>
              <a:buNone/>
            </a:pPr>
            <a:r>
              <a:rPr lang="es-PE" sz="1200" dirty="0">
                <a:solidFill>
                  <a:schemeClr val="dk1"/>
                </a:solidFill>
                <a:latin typeface="Calibri"/>
                <a:ea typeface="Calibri"/>
                <a:cs typeface="Calibri"/>
                <a:sym typeface="Calibri"/>
              </a:rPr>
              <a:t>}</a:t>
            </a:r>
            <a:endParaRPr lang="es-PE" sz="1200" dirty="0"/>
          </a:p>
          <a:p>
            <a:pPr marL="0" marR="0" lvl="0" indent="9525" algn="l" rtl="0">
              <a:spcBef>
                <a:spcPts val="0"/>
              </a:spcBef>
              <a:spcAft>
                <a:spcPts val="0"/>
              </a:spcAft>
              <a:buNone/>
            </a:pPr>
            <a:r>
              <a:rPr lang="es-PE" sz="1200" dirty="0">
                <a:solidFill>
                  <a:schemeClr val="dk1"/>
                </a:solidFill>
                <a:latin typeface="Calibri"/>
                <a:ea typeface="Calibri"/>
                <a:cs typeface="Calibri"/>
                <a:sym typeface="Calibri"/>
              </a:rPr>
              <a:t>End MinMax;</a:t>
            </a:r>
            <a:endParaRPr lang="es-PE"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7" name="Google Shape;267;p24"/>
          <p:cNvSpPr txBox="1"/>
          <p:nvPr/>
        </p:nvSpPr>
        <p:spPr>
          <a:xfrm>
            <a:off x="503238" y="5024610"/>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2B8EF734-8857-6141-BC5D-924745037C7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ACF3D27A-E5FD-F94B-B8CD-3D855B448592}"/>
              </a:ext>
            </a:extLst>
          </p:cNvPr>
          <p:cNvSpPr/>
          <p:nvPr/>
        </p:nvSpPr>
        <p:spPr>
          <a:xfrm>
            <a:off x="503238" y="916472"/>
            <a:ext cx="8172450" cy="3631763"/>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+ 04.</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LAS </a:t>
            </a:r>
            <a:r>
              <a:rPr lang="es-PE" sz="1600" b="1" dirty="0">
                <a:solidFill>
                  <a:srgbClr val="EE4639"/>
                </a:solidFill>
                <a:latin typeface="Calibri" charset="0"/>
                <a:cs typeface="Calibri" charset="0"/>
                <a:sym typeface="Calibri"/>
              </a:rPr>
              <a:t>MÉTRICAS Y SU CÁLCULO</a:t>
            </a:r>
            <a:endParaRPr lang="es-PE" sz="1600" b="1" dirty="0">
              <a:solidFill>
                <a:srgbClr val="EE4639"/>
              </a:solidFill>
              <a:latin typeface="Calibri" charset="0"/>
              <a:cs typeface="Calibri" charset="0"/>
            </a:endParaRPr>
          </a:p>
          <a:p>
            <a:pPr marL="179388" marR="0" lvl="0" indent="-17938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Ciertos aspectos de la calidad de un programa pueden ser medidos utilizando métricas.</a:t>
            </a:r>
            <a:endParaRPr lang="es-PE" sz="1500" dirty="0"/>
          </a:p>
          <a:p>
            <a:pPr marL="360363" marR="0" lvl="1" indent="-18097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La métrica sólo tiene relevancia para el aspecto medido (considerado).</a:t>
            </a:r>
            <a:endParaRPr lang="es-PE" sz="1500" dirty="0"/>
          </a:p>
          <a:p>
            <a:pPr marL="133350" marR="0" lvl="0" indent="-31750"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79388" marR="0" lvl="0" indent="-17938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La complejidad estática de un programa puede ser medida.</a:t>
            </a:r>
            <a:endParaRPr lang="es-PE" sz="1500" dirty="0"/>
          </a:p>
          <a:p>
            <a:pPr marL="360363" marR="0" lvl="1" indent="-18097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Actualmente, hay aproximadamente 100 métricas diferentes disponibles.</a:t>
            </a:r>
            <a:endParaRPr lang="es-PE" sz="1500" dirty="0"/>
          </a:p>
          <a:p>
            <a:pPr marL="360363" marR="0" lvl="0" indent="-180975"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79388" marR="0" lvl="0" indent="-17938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Métricas diferentes, tratan aspectos diferentes de la complejidad del programa.</a:t>
            </a:r>
            <a:endParaRPr lang="es-PE" sz="1500" dirty="0"/>
          </a:p>
          <a:p>
            <a:pPr marL="312738" marR="0" lvl="1" indent="-133350"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Tamaño del programa. Por ejemplo, líneas de código.</a:t>
            </a:r>
            <a:endParaRPr lang="es-PE" sz="1500" dirty="0"/>
          </a:p>
          <a:p>
            <a:pPr marL="312738" marR="0" lvl="1" indent="-133350"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Estructuras de control del programa. Por ejemplo, número ciclomático.</a:t>
            </a:r>
            <a:endParaRPr lang="es-PE" sz="1500" dirty="0"/>
          </a:p>
          <a:p>
            <a:pPr marL="312738" marR="0" lvl="1" indent="-133350"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Estructuras de control de datos. Por ejemplo, métrica de Halstead.</a:t>
            </a:r>
            <a:endParaRPr lang="es-PE" sz="1500" dirty="0"/>
          </a:p>
          <a:p>
            <a:pPr marL="133350" marR="0" lvl="0" indent="-31750"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79388" marR="0" lvl="0" indent="-17938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Es difícil comparar dos métricas diferentes, incluso cuando ambas abordan el mismo atributo del programa.</a:t>
            </a:r>
            <a:endParaRPr lang="es-PE"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 name="Arco 1">
            <a:extLst>
              <a:ext uri="{FF2B5EF4-FFF2-40B4-BE49-F238E27FC236}">
                <a16:creationId xmlns:a16="http://schemas.microsoft.com/office/drawing/2014/main" id="{0FD5F62D-C303-F04F-9EC9-7B9BD64FA3B1}"/>
              </a:ext>
            </a:extLst>
          </p:cNvPr>
          <p:cNvSpPr/>
          <p:nvPr/>
        </p:nvSpPr>
        <p:spPr>
          <a:xfrm rot="15623666">
            <a:off x="5078071" y="1314565"/>
            <a:ext cx="3487994" cy="3098811"/>
          </a:xfrm>
          <a:prstGeom prst="arc">
            <a:avLst>
              <a:gd name="adj1" fmla="val 11791771"/>
              <a:gd name="adj2" fmla="val 91622"/>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 name="Arco 2">
            <a:extLst>
              <a:ext uri="{FF2B5EF4-FFF2-40B4-BE49-F238E27FC236}">
                <a16:creationId xmlns:a16="http://schemas.microsoft.com/office/drawing/2014/main" id="{A4E13FC4-D367-4747-9CAB-016478D55A54}"/>
              </a:ext>
            </a:extLst>
          </p:cNvPr>
          <p:cNvSpPr/>
          <p:nvPr/>
        </p:nvSpPr>
        <p:spPr>
          <a:xfrm rot="16200000">
            <a:off x="7107510" y="2670056"/>
            <a:ext cx="300229" cy="501490"/>
          </a:xfrm>
          <a:prstGeom prst="arc">
            <a:avLst>
              <a:gd name="adj1" fmla="val 12954276"/>
              <a:gd name="adj2" fmla="val 241365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275" name="Google Shape;275;p25"/>
          <p:cNvSpPr txBox="1"/>
          <p:nvPr/>
        </p:nvSpPr>
        <p:spPr>
          <a:xfrm>
            <a:off x="7740281" y="5009900"/>
            <a:ext cx="935407" cy="1538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6" name="Rectangle 5">
            <a:extLst>
              <a:ext uri="{FF2B5EF4-FFF2-40B4-BE49-F238E27FC236}">
                <a16:creationId xmlns:a16="http://schemas.microsoft.com/office/drawing/2014/main" id="{4C2A6628-17C2-7548-87EF-C8CEA563E06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B807D9E0-DC33-F043-8E85-84BD6794C114}"/>
              </a:ext>
            </a:extLst>
          </p:cNvPr>
          <p:cNvSpPr/>
          <p:nvPr/>
        </p:nvSpPr>
        <p:spPr>
          <a:xfrm>
            <a:off x="503238" y="916472"/>
            <a:ext cx="4453124" cy="4093428"/>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+ 05.</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NÚMERO CICLOMÁTICO: v(G) = e – n + 2p</a:t>
            </a:r>
            <a:endParaRPr lang="es-PE" sz="1600" b="1" dirty="0">
              <a:solidFill>
                <a:srgbClr val="EE4639"/>
              </a:solidFill>
              <a:latin typeface="Calibri" charset="0"/>
              <a:cs typeface="Calibri" charset="0"/>
            </a:endParaRPr>
          </a:p>
          <a:p>
            <a:pPr marL="179388" marR="0" lvl="0" indent="-1698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Métrica que mide la complejidad estática de un programa basada en su grafo de flujo de control.</a:t>
            </a:r>
            <a:endParaRPr lang="es-PE" sz="1500" dirty="0"/>
          </a:p>
          <a:p>
            <a:pPr marL="179388" marR="0" lvl="0" indent="-169863"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79388" marR="0" lvl="0" indent="-1698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Mide los caminos linealmente independientes, como índice de la testabilidad y mantenibilidad.</a:t>
            </a:r>
            <a:endParaRPr lang="es-PE" sz="1500" dirty="0"/>
          </a:p>
          <a:p>
            <a:pPr marL="179388" marR="0" lvl="0" indent="-169863"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79388" marR="0" lvl="0" indent="-1698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El número ciclomático se define de la siguiente forma:</a:t>
            </a:r>
            <a:endParaRPr lang="es-PE" sz="1500" dirty="0"/>
          </a:p>
          <a:p>
            <a:pPr marL="312738" marR="0" lvl="1" indent="-133350"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Número de aristas: e.</a:t>
            </a:r>
            <a:endParaRPr lang="es-PE" sz="1500" dirty="0"/>
          </a:p>
          <a:p>
            <a:pPr marL="312738" marR="0" lvl="1" indent="-133350"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Número de nodos: n.</a:t>
            </a:r>
            <a:endParaRPr lang="es-PE" sz="1500" dirty="0"/>
          </a:p>
          <a:p>
            <a:pPr marL="312738" marR="0" lvl="1" indent="-133350"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Número de partes del programa Independientes.</a:t>
            </a:r>
            <a:endParaRPr lang="es-PE" sz="1500" dirty="0"/>
          </a:p>
          <a:p>
            <a:pPr marL="266700" marR="0" lvl="1" indent="-31750" algn="l" rtl="0">
              <a:spcBef>
                <a:spcPts val="0"/>
              </a:spcBef>
              <a:spcAft>
                <a:spcPts val="0"/>
              </a:spcAft>
              <a:buClr>
                <a:schemeClr val="dk1"/>
              </a:buClr>
              <a:buSzPct val="100000"/>
              <a:buFont typeface="Arial"/>
              <a:buNone/>
            </a:pPr>
            <a:endParaRPr lang="es-PE" sz="1500" b="0" i="0" u="none" strike="noStrike" cap="none" dirty="0">
              <a:solidFill>
                <a:schemeClr val="dk1"/>
              </a:solidFill>
              <a:latin typeface="Calibri"/>
              <a:ea typeface="Calibri"/>
              <a:cs typeface="Calibri"/>
              <a:sym typeface="Calibri"/>
            </a:endParaRPr>
          </a:p>
          <a:p>
            <a:pPr marL="179388" marR="0" lvl="0" indent="-1698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Inspeccionadas: p (normalmente 1).</a:t>
            </a:r>
            <a:endParaRPr lang="es-PE" sz="1500" dirty="0"/>
          </a:p>
          <a:p>
            <a:pPr marL="312738" marR="0" lvl="1" indent="-133350"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Valores hasta 10 son aceptables. Para valores superiores el código debe ser mejorado (reworked - buena práctica según McCabe).</a:t>
            </a:r>
            <a:r>
              <a:rPr lang="es-PE" sz="1500" b="1" i="0" u="none" strike="noStrike" cap="none" dirty="0">
                <a:solidFill>
                  <a:schemeClr val="dk1"/>
                </a:solidFill>
                <a:latin typeface="Calibri"/>
                <a:ea typeface="Calibri"/>
                <a:cs typeface="Calibri"/>
                <a:sym typeface="Calibri"/>
              </a:rPr>
              <a:t> </a:t>
            </a:r>
          </a:p>
        </p:txBody>
      </p:sp>
      <p:cxnSp>
        <p:nvCxnSpPr>
          <p:cNvPr id="43" name="Conector recto de flecha 42">
            <a:extLst>
              <a:ext uri="{FF2B5EF4-FFF2-40B4-BE49-F238E27FC236}">
                <a16:creationId xmlns:a16="http://schemas.microsoft.com/office/drawing/2014/main" id="{BA399A8B-AFC2-0F44-B805-1E462A60AE5F}"/>
              </a:ext>
            </a:extLst>
          </p:cNvPr>
          <p:cNvCxnSpPr>
            <a:cxnSpLocks/>
          </p:cNvCxnSpPr>
          <p:nvPr/>
        </p:nvCxnSpPr>
        <p:spPr>
          <a:xfrm flipH="1">
            <a:off x="7306697" y="2844336"/>
            <a:ext cx="169533" cy="1757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4A02F66E-CE13-6246-9250-707CD01630DC}"/>
              </a:ext>
            </a:extLst>
          </p:cNvPr>
          <p:cNvCxnSpPr>
            <a:cxnSpLocks/>
            <a:endCxn id="60" idx="7"/>
          </p:cNvCxnSpPr>
          <p:nvPr/>
        </p:nvCxnSpPr>
        <p:spPr>
          <a:xfrm flipH="1">
            <a:off x="7570748" y="2590064"/>
            <a:ext cx="169533" cy="1757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Elipse 45">
            <a:extLst>
              <a:ext uri="{FF2B5EF4-FFF2-40B4-BE49-F238E27FC236}">
                <a16:creationId xmlns:a16="http://schemas.microsoft.com/office/drawing/2014/main" id="{BC48C4FF-9666-8146-9D84-9C0E85D62D43}"/>
              </a:ext>
            </a:extLst>
          </p:cNvPr>
          <p:cNvSpPr/>
          <p:nvPr/>
        </p:nvSpPr>
        <p:spPr>
          <a:xfrm>
            <a:off x="6582462" y="986999"/>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48" name="Conector recto de flecha 47">
            <a:extLst>
              <a:ext uri="{FF2B5EF4-FFF2-40B4-BE49-F238E27FC236}">
                <a16:creationId xmlns:a16="http://schemas.microsoft.com/office/drawing/2014/main" id="{841251F9-76A8-A24A-B742-F599AC21CAC1}"/>
              </a:ext>
            </a:extLst>
          </p:cNvPr>
          <p:cNvCxnSpPr>
            <a:cxnSpLocks/>
            <a:stCxn id="49" idx="3"/>
          </p:cNvCxnSpPr>
          <p:nvPr/>
        </p:nvCxnSpPr>
        <p:spPr>
          <a:xfrm flipH="1">
            <a:off x="5968066" y="1689165"/>
            <a:ext cx="655126" cy="6708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Elipse 48">
            <a:extLst>
              <a:ext uri="{FF2B5EF4-FFF2-40B4-BE49-F238E27FC236}">
                <a16:creationId xmlns:a16="http://schemas.microsoft.com/office/drawing/2014/main" id="{E86EBC5F-FCAD-5D4D-BC5C-706BD890CB9B}"/>
              </a:ext>
            </a:extLst>
          </p:cNvPr>
          <p:cNvSpPr/>
          <p:nvPr/>
        </p:nvSpPr>
        <p:spPr>
          <a:xfrm>
            <a:off x="6582905" y="1454357"/>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2" name="Elipse 51">
            <a:extLst>
              <a:ext uri="{FF2B5EF4-FFF2-40B4-BE49-F238E27FC236}">
                <a16:creationId xmlns:a16="http://schemas.microsoft.com/office/drawing/2014/main" id="{C855C2CC-D80B-4C42-8015-469635F1B3A3}"/>
              </a:ext>
            </a:extLst>
          </p:cNvPr>
          <p:cNvSpPr/>
          <p:nvPr/>
        </p:nvSpPr>
        <p:spPr>
          <a:xfrm>
            <a:off x="5742464" y="2314969"/>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4" name="Elipse 53">
            <a:extLst>
              <a:ext uri="{FF2B5EF4-FFF2-40B4-BE49-F238E27FC236}">
                <a16:creationId xmlns:a16="http://schemas.microsoft.com/office/drawing/2014/main" id="{955EDA3E-7EB4-6F41-8DA2-8108AE7AFCCB}"/>
              </a:ext>
            </a:extLst>
          </p:cNvPr>
          <p:cNvSpPr/>
          <p:nvPr/>
        </p:nvSpPr>
        <p:spPr>
          <a:xfrm>
            <a:off x="7201470" y="2072922"/>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5" name="Elipse 54">
            <a:extLst>
              <a:ext uri="{FF2B5EF4-FFF2-40B4-BE49-F238E27FC236}">
                <a16:creationId xmlns:a16="http://schemas.microsoft.com/office/drawing/2014/main" id="{FA333B7B-D116-934C-ACF8-564012FA869F}"/>
              </a:ext>
            </a:extLst>
          </p:cNvPr>
          <p:cNvSpPr/>
          <p:nvPr/>
        </p:nvSpPr>
        <p:spPr>
          <a:xfrm>
            <a:off x="5379393" y="2698210"/>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7" name="Elipse 56">
            <a:extLst>
              <a:ext uri="{FF2B5EF4-FFF2-40B4-BE49-F238E27FC236}">
                <a16:creationId xmlns:a16="http://schemas.microsoft.com/office/drawing/2014/main" id="{35BB49C3-EFE3-3F46-8166-23E37DA1745A}"/>
              </a:ext>
            </a:extLst>
          </p:cNvPr>
          <p:cNvSpPr/>
          <p:nvPr/>
        </p:nvSpPr>
        <p:spPr>
          <a:xfrm>
            <a:off x="6125705" y="2698210"/>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8" name="Elipse 57">
            <a:extLst>
              <a:ext uri="{FF2B5EF4-FFF2-40B4-BE49-F238E27FC236}">
                <a16:creationId xmlns:a16="http://schemas.microsoft.com/office/drawing/2014/main" id="{32B1A676-71C1-494B-8F83-458276264F87}"/>
              </a:ext>
            </a:extLst>
          </p:cNvPr>
          <p:cNvSpPr/>
          <p:nvPr/>
        </p:nvSpPr>
        <p:spPr>
          <a:xfrm>
            <a:off x="6582905" y="2698210"/>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0" name="Elipse 59">
            <a:extLst>
              <a:ext uri="{FF2B5EF4-FFF2-40B4-BE49-F238E27FC236}">
                <a16:creationId xmlns:a16="http://schemas.microsoft.com/office/drawing/2014/main" id="{FD77741E-C45E-754E-A8D0-CB003E9EC878}"/>
              </a:ext>
            </a:extLst>
          </p:cNvPr>
          <p:cNvSpPr/>
          <p:nvPr/>
        </p:nvSpPr>
        <p:spPr>
          <a:xfrm>
            <a:off x="7335940" y="2725555"/>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2" name="Elipse 61">
            <a:extLst>
              <a:ext uri="{FF2B5EF4-FFF2-40B4-BE49-F238E27FC236}">
                <a16:creationId xmlns:a16="http://schemas.microsoft.com/office/drawing/2014/main" id="{860AC33D-5D17-5F49-B4EF-CA8D4ECCF855}"/>
              </a:ext>
            </a:extLst>
          </p:cNvPr>
          <p:cNvSpPr/>
          <p:nvPr/>
        </p:nvSpPr>
        <p:spPr>
          <a:xfrm>
            <a:off x="7591434" y="2435992"/>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3" name="Elipse 62">
            <a:extLst>
              <a:ext uri="{FF2B5EF4-FFF2-40B4-BE49-F238E27FC236}">
                <a16:creationId xmlns:a16="http://schemas.microsoft.com/office/drawing/2014/main" id="{2DBAF308-0E8F-584E-A479-2D1972AAA4D6}"/>
              </a:ext>
            </a:extLst>
          </p:cNvPr>
          <p:cNvSpPr/>
          <p:nvPr/>
        </p:nvSpPr>
        <p:spPr>
          <a:xfrm>
            <a:off x="8088975" y="2960428"/>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5" name="Elipse 64">
            <a:extLst>
              <a:ext uri="{FF2B5EF4-FFF2-40B4-BE49-F238E27FC236}">
                <a16:creationId xmlns:a16="http://schemas.microsoft.com/office/drawing/2014/main" id="{8EE76029-ADB0-FD42-B39B-7CB7EBC26956}"/>
              </a:ext>
            </a:extLst>
          </p:cNvPr>
          <p:cNvSpPr/>
          <p:nvPr/>
        </p:nvSpPr>
        <p:spPr>
          <a:xfrm>
            <a:off x="7577986" y="3457969"/>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8" name="Elipse 67">
            <a:extLst>
              <a:ext uri="{FF2B5EF4-FFF2-40B4-BE49-F238E27FC236}">
                <a16:creationId xmlns:a16="http://schemas.microsoft.com/office/drawing/2014/main" id="{FCF15D2F-5008-F348-88BF-B2C3B7E89D7D}"/>
              </a:ext>
            </a:extLst>
          </p:cNvPr>
          <p:cNvSpPr/>
          <p:nvPr/>
        </p:nvSpPr>
        <p:spPr>
          <a:xfrm>
            <a:off x="6582904" y="4903529"/>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9" name="Elipse 68">
            <a:extLst>
              <a:ext uri="{FF2B5EF4-FFF2-40B4-BE49-F238E27FC236}">
                <a16:creationId xmlns:a16="http://schemas.microsoft.com/office/drawing/2014/main" id="{7F972F80-9213-FA4E-A6D1-171C4D33235A}"/>
              </a:ext>
            </a:extLst>
          </p:cNvPr>
          <p:cNvSpPr/>
          <p:nvPr/>
        </p:nvSpPr>
        <p:spPr>
          <a:xfrm>
            <a:off x="7066998" y="2953704"/>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1" name="Elipse 70">
            <a:extLst>
              <a:ext uri="{FF2B5EF4-FFF2-40B4-BE49-F238E27FC236}">
                <a16:creationId xmlns:a16="http://schemas.microsoft.com/office/drawing/2014/main" id="{9373CC99-B429-8342-9188-B5C9484C9772}"/>
              </a:ext>
            </a:extLst>
          </p:cNvPr>
          <p:cNvSpPr/>
          <p:nvPr/>
        </p:nvSpPr>
        <p:spPr>
          <a:xfrm>
            <a:off x="5749186" y="3081451"/>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72" name="Conector recto de flecha 71">
            <a:extLst>
              <a:ext uri="{FF2B5EF4-FFF2-40B4-BE49-F238E27FC236}">
                <a16:creationId xmlns:a16="http://schemas.microsoft.com/office/drawing/2014/main" id="{393C4663-A09B-FA40-B561-987DE55929BD}"/>
              </a:ext>
            </a:extLst>
          </p:cNvPr>
          <p:cNvCxnSpPr>
            <a:cxnSpLocks/>
            <a:endCxn id="54" idx="1"/>
          </p:cNvCxnSpPr>
          <p:nvPr/>
        </p:nvCxnSpPr>
        <p:spPr>
          <a:xfrm>
            <a:off x="6806298" y="1689165"/>
            <a:ext cx="435459" cy="4240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ector recto de flecha 73">
            <a:extLst>
              <a:ext uri="{FF2B5EF4-FFF2-40B4-BE49-F238E27FC236}">
                <a16:creationId xmlns:a16="http://schemas.microsoft.com/office/drawing/2014/main" id="{34984A5E-D412-7C45-B8E2-3BD464580315}"/>
              </a:ext>
            </a:extLst>
          </p:cNvPr>
          <p:cNvCxnSpPr>
            <a:cxnSpLocks/>
          </p:cNvCxnSpPr>
          <p:nvPr/>
        </p:nvCxnSpPr>
        <p:spPr>
          <a:xfrm>
            <a:off x="5607995" y="2935593"/>
            <a:ext cx="173248" cy="1893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ector recto de flecha 77">
            <a:extLst>
              <a:ext uri="{FF2B5EF4-FFF2-40B4-BE49-F238E27FC236}">
                <a16:creationId xmlns:a16="http://schemas.microsoft.com/office/drawing/2014/main" id="{DC1086AB-E678-D449-9D9C-C7EE4E0C5FBE}"/>
              </a:ext>
            </a:extLst>
          </p:cNvPr>
          <p:cNvCxnSpPr>
            <a:cxnSpLocks/>
          </p:cNvCxnSpPr>
          <p:nvPr/>
        </p:nvCxnSpPr>
        <p:spPr>
          <a:xfrm>
            <a:off x="5984513" y="2559075"/>
            <a:ext cx="173248" cy="1893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ector recto de flecha 78">
            <a:extLst>
              <a:ext uri="{FF2B5EF4-FFF2-40B4-BE49-F238E27FC236}">
                <a16:creationId xmlns:a16="http://schemas.microsoft.com/office/drawing/2014/main" id="{5C092C92-0223-CA48-B9E5-7731BD06CFD5}"/>
              </a:ext>
            </a:extLst>
          </p:cNvPr>
          <p:cNvCxnSpPr>
            <a:cxnSpLocks/>
          </p:cNvCxnSpPr>
          <p:nvPr/>
        </p:nvCxnSpPr>
        <p:spPr>
          <a:xfrm flipH="1">
            <a:off x="5975793" y="2947475"/>
            <a:ext cx="192243" cy="164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ector recto de flecha 79">
            <a:extLst>
              <a:ext uri="{FF2B5EF4-FFF2-40B4-BE49-F238E27FC236}">
                <a16:creationId xmlns:a16="http://schemas.microsoft.com/office/drawing/2014/main" id="{6C0A11DE-A0D3-524D-9FF4-2A5FDD3108D4}"/>
              </a:ext>
            </a:extLst>
          </p:cNvPr>
          <p:cNvCxnSpPr>
            <a:cxnSpLocks/>
            <a:stCxn id="69" idx="5"/>
            <a:endCxn id="65" idx="1"/>
          </p:cNvCxnSpPr>
          <p:nvPr/>
        </p:nvCxnSpPr>
        <p:spPr>
          <a:xfrm>
            <a:off x="7301806" y="3188512"/>
            <a:ext cx="316467" cy="3097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9424E09A-152A-A04D-BE34-CDB9AB2CD055}"/>
              </a:ext>
            </a:extLst>
          </p:cNvPr>
          <p:cNvCxnSpPr>
            <a:cxnSpLocks/>
            <a:stCxn id="58" idx="4"/>
          </p:cNvCxnSpPr>
          <p:nvPr/>
        </p:nvCxnSpPr>
        <p:spPr>
          <a:xfrm flipH="1">
            <a:off x="6720451" y="2973305"/>
            <a:ext cx="2" cy="14326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Conector recto de flecha 81">
            <a:extLst>
              <a:ext uri="{FF2B5EF4-FFF2-40B4-BE49-F238E27FC236}">
                <a16:creationId xmlns:a16="http://schemas.microsoft.com/office/drawing/2014/main" id="{9E2DE05A-F57E-324E-9D47-63B4C07AB7FB}"/>
              </a:ext>
            </a:extLst>
          </p:cNvPr>
          <p:cNvCxnSpPr>
            <a:cxnSpLocks/>
            <a:endCxn id="95" idx="1"/>
          </p:cNvCxnSpPr>
          <p:nvPr/>
        </p:nvCxnSpPr>
        <p:spPr>
          <a:xfrm>
            <a:off x="5939436" y="3345222"/>
            <a:ext cx="683755" cy="11010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Conector recto de flecha 83">
            <a:extLst>
              <a:ext uri="{FF2B5EF4-FFF2-40B4-BE49-F238E27FC236}">
                <a16:creationId xmlns:a16="http://schemas.microsoft.com/office/drawing/2014/main" id="{52BE57DC-C5AC-814E-BA19-D581198E30A1}"/>
              </a:ext>
            </a:extLst>
          </p:cNvPr>
          <p:cNvCxnSpPr>
            <a:cxnSpLocks/>
            <a:stCxn id="65" idx="3"/>
            <a:endCxn id="95" idx="7"/>
          </p:cNvCxnSpPr>
          <p:nvPr/>
        </p:nvCxnSpPr>
        <p:spPr>
          <a:xfrm flipH="1">
            <a:off x="6817712" y="3692777"/>
            <a:ext cx="800561" cy="753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ector recto de flecha 84">
            <a:extLst>
              <a:ext uri="{FF2B5EF4-FFF2-40B4-BE49-F238E27FC236}">
                <a16:creationId xmlns:a16="http://schemas.microsoft.com/office/drawing/2014/main" id="{F5CF2D98-3DA7-4F48-853E-A229D0847A71}"/>
              </a:ext>
            </a:extLst>
          </p:cNvPr>
          <p:cNvCxnSpPr>
            <a:cxnSpLocks/>
            <a:stCxn id="95" idx="4"/>
            <a:endCxn id="68" idx="0"/>
          </p:cNvCxnSpPr>
          <p:nvPr/>
        </p:nvCxnSpPr>
        <p:spPr>
          <a:xfrm>
            <a:off x="6720452" y="4681082"/>
            <a:ext cx="0" cy="2224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Conector recto de flecha 86">
            <a:extLst>
              <a:ext uri="{FF2B5EF4-FFF2-40B4-BE49-F238E27FC236}">
                <a16:creationId xmlns:a16="http://schemas.microsoft.com/office/drawing/2014/main" id="{31A56FF6-31B9-0546-9B0D-F6AF148F01DB}"/>
              </a:ext>
            </a:extLst>
          </p:cNvPr>
          <p:cNvCxnSpPr>
            <a:cxnSpLocks/>
            <a:stCxn id="46" idx="4"/>
            <a:endCxn id="49" idx="0"/>
          </p:cNvCxnSpPr>
          <p:nvPr/>
        </p:nvCxnSpPr>
        <p:spPr>
          <a:xfrm>
            <a:off x="6720010" y="1262094"/>
            <a:ext cx="443" cy="19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Conector recto de flecha 87">
            <a:extLst>
              <a:ext uri="{FF2B5EF4-FFF2-40B4-BE49-F238E27FC236}">
                <a16:creationId xmlns:a16="http://schemas.microsoft.com/office/drawing/2014/main" id="{452A4AD6-5866-2544-AF41-63A0D322B763}"/>
              </a:ext>
            </a:extLst>
          </p:cNvPr>
          <p:cNvCxnSpPr>
            <a:cxnSpLocks/>
            <a:stCxn id="54" idx="3"/>
          </p:cNvCxnSpPr>
          <p:nvPr/>
        </p:nvCxnSpPr>
        <p:spPr>
          <a:xfrm flipH="1">
            <a:off x="6806393" y="2307730"/>
            <a:ext cx="435364" cy="4315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onector recto de flecha 88">
            <a:extLst>
              <a:ext uri="{FF2B5EF4-FFF2-40B4-BE49-F238E27FC236}">
                <a16:creationId xmlns:a16="http://schemas.microsoft.com/office/drawing/2014/main" id="{E8D50C18-EB3C-2B4B-9B44-BDA28620D70B}"/>
              </a:ext>
            </a:extLst>
          </p:cNvPr>
          <p:cNvCxnSpPr>
            <a:cxnSpLocks/>
            <a:stCxn id="54" idx="5"/>
            <a:endCxn id="62" idx="1"/>
          </p:cNvCxnSpPr>
          <p:nvPr/>
        </p:nvCxnSpPr>
        <p:spPr>
          <a:xfrm>
            <a:off x="7436278" y="2307730"/>
            <a:ext cx="195443" cy="1685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onector recto de flecha 89">
            <a:extLst>
              <a:ext uri="{FF2B5EF4-FFF2-40B4-BE49-F238E27FC236}">
                <a16:creationId xmlns:a16="http://schemas.microsoft.com/office/drawing/2014/main" id="{4650499D-40A4-834E-B87E-73E81B81F159}"/>
              </a:ext>
            </a:extLst>
          </p:cNvPr>
          <p:cNvCxnSpPr>
            <a:cxnSpLocks/>
            <a:endCxn id="63" idx="1"/>
          </p:cNvCxnSpPr>
          <p:nvPr/>
        </p:nvCxnSpPr>
        <p:spPr>
          <a:xfrm>
            <a:off x="7814741" y="2678996"/>
            <a:ext cx="314521" cy="3217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Conector recto de flecha 90">
            <a:extLst>
              <a:ext uri="{FF2B5EF4-FFF2-40B4-BE49-F238E27FC236}">
                <a16:creationId xmlns:a16="http://schemas.microsoft.com/office/drawing/2014/main" id="{E999C394-3EC8-AA4D-B4F3-0A560F852289}"/>
              </a:ext>
            </a:extLst>
          </p:cNvPr>
          <p:cNvCxnSpPr>
            <a:cxnSpLocks/>
            <a:endCxn id="65" idx="7"/>
          </p:cNvCxnSpPr>
          <p:nvPr/>
        </p:nvCxnSpPr>
        <p:spPr>
          <a:xfrm flipH="1">
            <a:off x="7812794" y="3195236"/>
            <a:ext cx="323192" cy="3030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Conector recto de flecha 91">
            <a:extLst>
              <a:ext uri="{FF2B5EF4-FFF2-40B4-BE49-F238E27FC236}">
                <a16:creationId xmlns:a16="http://schemas.microsoft.com/office/drawing/2014/main" id="{C05C48AC-58DB-9D4E-9CCC-E5BC646CFC68}"/>
              </a:ext>
            </a:extLst>
          </p:cNvPr>
          <p:cNvCxnSpPr>
            <a:cxnSpLocks/>
          </p:cNvCxnSpPr>
          <p:nvPr/>
        </p:nvCxnSpPr>
        <p:spPr>
          <a:xfrm flipH="1">
            <a:off x="5606543" y="2568294"/>
            <a:ext cx="175483" cy="1774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Elipse 94">
            <a:extLst>
              <a:ext uri="{FF2B5EF4-FFF2-40B4-BE49-F238E27FC236}">
                <a16:creationId xmlns:a16="http://schemas.microsoft.com/office/drawing/2014/main" id="{A1697B4A-20B5-484F-A170-0A95BA74CD5B}"/>
              </a:ext>
            </a:extLst>
          </p:cNvPr>
          <p:cNvSpPr/>
          <p:nvPr/>
        </p:nvSpPr>
        <p:spPr>
          <a:xfrm>
            <a:off x="6582904" y="4405987"/>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73" name="Arco 72">
            <a:extLst>
              <a:ext uri="{FF2B5EF4-FFF2-40B4-BE49-F238E27FC236}">
                <a16:creationId xmlns:a16="http://schemas.microsoft.com/office/drawing/2014/main" id="{5E149301-6163-EA4F-BD76-BEEBCD57F894}"/>
              </a:ext>
            </a:extLst>
          </p:cNvPr>
          <p:cNvSpPr/>
          <p:nvPr/>
        </p:nvSpPr>
        <p:spPr>
          <a:xfrm rot="15623666">
            <a:off x="5078071" y="1314565"/>
            <a:ext cx="3487994" cy="3098811"/>
          </a:xfrm>
          <a:prstGeom prst="arc">
            <a:avLst>
              <a:gd name="adj1" fmla="val 11791771"/>
              <a:gd name="adj2" fmla="val 91622"/>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74" name="Arco 73">
            <a:extLst>
              <a:ext uri="{FF2B5EF4-FFF2-40B4-BE49-F238E27FC236}">
                <a16:creationId xmlns:a16="http://schemas.microsoft.com/office/drawing/2014/main" id="{425996A5-A187-324D-BF41-A8AEBA938C8C}"/>
              </a:ext>
            </a:extLst>
          </p:cNvPr>
          <p:cNvSpPr/>
          <p:nvPr/>
        </p:nvSpPr>
        <p:spPr>
          <a:xfrm rot="16200000">
            <a:off x="7107510" y="2670056"/>
            <a:ext cx="300229" cy="501490"/>
          </a:xfrm>
          <a:prstGeom prst="arc">
            <a:avLst>
              <a:gd name="adj1" fmla="val 12954276"/>
              <a:gd name="adj2" fmla="val 241365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cxnSp>
        <p:nvCxnSpPr>
          <p:cNvPr id="113" name="Conector recto de flecha 112">
            <a:extLst>
              <a:ext uri="{FF2B5EF4-FFF2-40B4-BE49-F238E27FC236}">
                <a16:creationId xmlns:a16="http://schemas.microsoft.com/office/drawing/2014/main" id="{D87D3E6F-1279-0449-81B1-214C118CB6F4}"/>
              </a:ext>
            </a:extLst>
          </p:cNvPr>
          <p:cNvCxnSpPr>
            <a:cxnSpLocks/>
          </p:cNvCxnSpPr>
          <p:nvPr/>
        </p:nvCxnSpPr>
        <p:spPr>
          <a:xfrm flipH="1">
            <a:off x="7306697" y="2844336"/>
            <a:ext cx="169533" cy="1757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ector recto de flecha 64">
            <a:extLst>
              <a:ext uri="{FF2B5EF4-FFF2-40B4-BE49-F238E27FC236}">
                <a16:creationId xmlns:a16="http://schemas.microsoft.com/office/drawing/2014/main" id="{D67096F8-6A82-AA41-B9E5-9E9E57996BD0}"/>
              </a:ext>
            </a:extLst>
          </p:cNvPr>
          <p:cNvCxnSpPr>
            <a:cxnSpLocks/>
            <a:endCxn id="17" idx="7"/>
          </p:cNvCxnSpPr>
          <p:nvPr/>
        </p:nvCxnSpPr>
        <p:spPr>
          <a:xfrm flipH="1">
            <a:off x="7570748" y="2590064"/>
            <a:ext cx="169533" cy="1757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5">
            <a:extLst>
              <a:ext uri="{FF2B5EF4-FFF2-40B4-BE49-F238E27FC236}">
                <a16:creationId xmlns:a16="http://schemas.microsoft.com/office/drawing/2014/main" id="{77715A51-B387-CC4C-97AF-FC86F24A598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77E986F9-D7DC-474A-8087-46F6B21B8AB6}"/>
              </a:ext>
            </a:extLst>
          </p:cNvPr>
          <p:cNvSpPr/>
          <p:nvPr/>
        </p:nvSpPr>
        <p:spPr>
          <a:xfrm>
            <a:off x="503238" y="916472"/>
            <a:ext cx="4453124" cy="3093154"/>
          </a:xfrm>
          <a:prstGeom prst="rect">
            <a:avLst/>
          </a:prstGeom>
        </p:spPr>
        <p:txBody>
          <a:bodyPr wrap="square" lIns="0" tIns="0" rIns="0" bIns="0">
            <a:spAutoFit/>
          </a:bodyPr>
          <a:lstStyle/>
          <a:p>
            <a:pPr marR="0" lvl="0" algn="l" rtl="0">
              <a:spcBef>
                <a:spcPts val="0"/>
              </a:spcBef>
              <a:spcAft>
                <a:spcPts val="600"/>
              </a:spcAft>
              <a:buClr>
                <a:schemeClr val="dk1"/>
              </a:buClr>
              <a:buSzPts val="1600"/>
            </a:pPr>
            <a:r>
              <a:rPr lang="es-ES" sz="2000" b="1" dirty="0">
                <a:solidFill>
                  <a:srgbClr val="EE4639"/>
                </a:solidFill>
                <a:latin typeface="Graphik Bold" panose="020B0503030202060203" pitchFamily="34" charset="77"/>
                <a:cs typeface="Calibri" charset="0"/>
              </a:rPr>
              <a:t>+ 05.</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NÚMERO CICLOMÁTICO: v(G) = e – n + 2p</a:t>
            </a:r>
            <a:endParaRPr lang="es-PE" sz="1600" b="1" dirty="0">
              <a:solidFill>
                <a:srgbClr val="EE4639"/>
              </a:solidFill>
              <a:latin typeface="Calibri" charset="0"/>
              <a:cs typeface="Calibri" charset="0"/>
            </a:endParaRPr>
          </a:p>
          <a:p>
            <a:pPr marL="180975" marR="0" lvl="0" indent="-171450" algn="l" rtl="0">
              <a:spcBef>
                <a:spcPts val="0"/>
              </a:spcBef>
              <a:spcAft>
                <a:spcPts val="0"/>
              </a:spcAft>
              <a:buClr>
                <a:schemeClr val="dk1"/>
              </a:buClr>
              <a:buSzPts val="1600"/>
              <a:buFont typeface="Arial"/>
              <a:buChar char="•"/>
            </a:pPr>
            <a:r>
              <a:rPr lang="es-PE" sz="1600" b="1" dirty="0">
                <a:solidFill>
                  <a:schemeClr val="dk1"/>
                </a:solidFill>
                <a:latin typeface="Calibri"/>
                <a:ea typeface="Calibri"/>
                <a:cs typeface="Calibri"/>
                <a:sym typeface="Calibri"/>
              </a:rPr>
              <a:t>Ejemplo</a:t>
            </a:r>
            <a:endParaRPr lang="es-PE" dirty="0"/>
          </a:p>
          <a:p>
            <a:pPr marL="314325" marR="0" lvl="0" indent="-79375" algn="l" rtl="0">
              <a:spcBef>
                <a:spcPts val="0"/>
              </a:spcBef>
              <a:spcAft>
                <a:spcPts val="0"/>
              </a:spcAft>
              <a:buClr>
                <a:schemeClr val="dk1"/>
              </a:buClr>
              <a:buSzPts val="1600"/>
              <a:buFont typeface="Arial"/>
              <a:buNone/>
            </a:pPr>
            <a:endParaRPr lang="es-PE" sz="1600"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El grafo de la derecha tiene:</a:t>
            </a:r>
            <a:endParaRPr lang="es-PE" dirty="0"/>
          </a:p>
          <a:p>
            <a:pPr marL="314325" marR="0" lvl="1" indent="-79375" algn="l" rtl="0">
              <a:spcBef>
                <a:spcPts val="0"/>
              </a:spcBef>
              <a:spcAft>
                <a:spcPts val="0"/>
              </a:spcAft>
              <a:buClr>
                <a:schemeClr val="dk1"/>
              </a:buClr>
              <a:buSzPts val="1600"/>
              <a:buFont typeface="Arial"/>
              <a:buNone/>
            </a:pPr>
            <a:endParaRPr lang="es-PE" sz="1600" b="0" i="0" u="none" strike="noStrike" cap="none" dirty="0">
              <a:solidFill>
                <a:schemeClr val="dk1"/>
              </a:solidFill>
              <a:latin typeface="Calibri"/>
              <a:ea typeface="Calibri"/>
              <a:cs typeface="Calibri"/>
              <a:sym typeface="Calibri"/>
            </a:endParaRPr>
          </a:p>
          <a:p>
            <a:pPr marL="536575" marR="0" lvl="2"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1 Partes independientes: p = 1</a:t>
            </a:r>
            <a:endParaRPr lang="es-PE" dirty="0"/>
          </a:p>
          <a:p>
            <a:pPr marL="536575" marR="0" lvl="2"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15 Nodos: n = 15</a:t>
            </a:r>
            <a:endParaRPr lang="es-PE" dirty="0"/>
          </a:p>
          <a:p>
            <a:pPr marL="536575" marR="0" lvl="2"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20 Aristas: e = 20</a:t>
            </a:r>
            <a:endParaRPr lang="es-PE" dirty="0"/>
          </a:p>
          <a:p>
            <a:pPr marL="314325" marR="0" lvl="2" indent="-79375" algn="l" rtl="0">
              <a:spcBef>
                <a:spcPts val="0"/>
              </a:spcBef>
              <a:spcAft>
                <a:spcPts val="0"/>
              </a:spcAft>
              <a:buClr>
                <a:schemeClr val="dk1"/>
              </a:buClr>
              <a:buSzPts val="1600"/>
              <a:buFont typeface="Arial"/>
              <a:buNone/>
            </a:pPr>
            <a:endParaRPr lang="es-PE" sz="1600" b="0" i="0" u="none" strike="noStrike" cap="none" dirty="0">
              <a:solidFill>
                <a:schemeClr val="dk1"/>
              </a:solidFill>
              <a:latin typeface="Calibri"/>
              <a:ea typeface="Calibri"/>
              <a:cs typeface="Calibri"/>
              <a:sym typeface="Calibri"/>
            </a:endParaRPr>
          </a:p>
          <a:p>
            <a:pPr marL="133350" marR="0" lvl="1" indent="0" algn="l" rtl="0">
              <a:spcBef>
                <a:spcPts val="0"/>
              </a:spcBef>
              <a:spcAft>
                <a:spcPts val="0"/>
              </a:spcAft>
              <a:buNone/>
            </a:pPr>
            <a:r>
              <a:rPr lang="es-PE" sz="1600" b="0" i="0" u="none" strike="noStrike" cap="none" dirty="0">
                <a:solidFill>
                  <a:schemeClr val="dk1"/>
                </a:solidFill>
                <a:latin typeface="Calibri"/>
                <a:ea typeface="Calibri"/>
                <a:cs typeface="Calibri"/>
                <a:sym typeface="Calibri"/>
              </a:rPr>
              <a:t>v(G) = e – n + 2p</a:t>
            </a:r>
            <a:endParaRPr lang="es-PE" dirty="0"/>
          </a:p>
          <a:p>
            <a:pPr marL="133350" marR="0" lvl="1" indent="0" algn="l" rtl="0">
              <a:spcBef>
                <a:spcPts val="0"/>
              </a:spcBef>
              <a:spcAft>
                <a:spcPts val="0"/>
              </a:spcAft>
              <a:buNone/>
            </a:pPr>
            <a:r>
              <a:rPr lang="es-PE" sz="1600" b="0" i="0" u="none" strike="noStrike" cap="none" dirty="0">
                <a:solidFill>
                  <a:schemeClr val="dk1"/>
                </a:solidFill>
                <a:latin typeface="Calibri"/>
                <a:ea typeface="Calibri"/>
                <a:cs typeface="Calibri"/>
                <a:sym typeface="Calibri"/>
              </a:rPr>
              <a:t>v(G) = 7</a:t>
            </a:r>
            <a:endParaRPr lang="es-PE" sz="1500" b="1" i="0" u="none" strike="noStrike" cap="none" dirty="0">
              <a:solidFill>
                <a:schemeClr val="dk1"/>
              </a:solidFill>
              <a:latin typeface="Calibri"/>
              <a:ea typeface="Calibri"/>
              <a:cs typeface="Calibri"/>
              <a:sym typeface="Calibri"/>
            </a:endParaRPr>
          </a:p>
        </p:txBody>
      </p:sp>
      <p:sp>
        <p:nvSpPr>
          <p:cNvPr id="7" name="Google Shape;275;p25">
            <a:extLst>
              <a:ext uri="{FF2B5EF4-FFF2-40B4-BE49-F238E27FC236}">
                <a16:creationId xmlns:a16="http://schemas.microsoft.com/office/drawing/2014/main" id="{CA9DCD26-0E42-6443-BFD6-A7A3C4EEB64B}"/>
              </a:ext>
            </a:extLst>
          </p:cNvPr>
          <p:cNvSpPr txBox="1"/>
          <p:nvPr/>
        </p:nvSpPr>
        <p:spPr>
          <a:xfrm>
            <a:off x="7740281" y="5009900"/>
            <a:ext cx="935407" cy="1538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9" name="Elipse 8">
            <a:extLst>
              <a:ext uri="{FF2B5EF4-FFF2-40B4-BE49-F238E27FC236}">
                <a16:creationId xmlns:a16="http://schemas.microsoft.com/office/drawing/2014/main" id="{26A7EA6D-7EC7-3041-B3DA-9E262B38FEAA}"/>
              </a:ext>
            </a:extLst>
          </p:cNvPr>
          <p:cNvSpPr/>
          <p:nvPr/>
        </p:nvSpPr>
        <p:spPr>
          <a:xfrm>
            <a:off x="6582462" y="986999"/>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10" name="Conector recto de flecha 9">
            <a:extLst>
              <a:ext uri="{FF2B5EF4-FFF2-40B4-BE49-F238E27FC236}">
                <a16:creationId xmlns:a16="http://schemas.microsoft.com/office/drawing/2014/main" id="{3C733057-7CA1-9B4E-AF53-5A9E674B57C7}"/>
              </a:ext>
            </a:extLst>
          </p:cNvPr>
          <p:cNvCxnSpPr>
            <a:cxnSpLocks/>
            <a:stCxn id="11" idx="3"/>
          </p:cNvCxnSpPr>
          <p:nvPr/>
        </p:nvCxnSpPr>
        <p:spPr>
          <a:xfrm flipH="1">
            <a:off x="5968066" y="1689165"/>
            <a:ext cx="655126" cy="6708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Elipse 10">
            <a:extLst>
              <a:ext uri="{FF2B5EF4-FFF2-40B4-BE49-F238E27FC236}">
                <a16:creationId xmlns:a16="http://schemas.microsoft.com/office/drawing/2014/main" id="{1949C72A-61D6-174B-9918-DFC30AD4F7A3}"/>
              </a:ext>
            </a:extLst>
          </p:cNvPr>
          <p:cNvSpPr/>
          <p:nvPr/>
        </p:nvSpPr>
        <p:spPr>
          <a:xfrm>
            <a:off x="6582905" y="1454357"/>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Elipse 11">
            <a:extLst>
              <a:ext uri="{FF2B5EF4-FFF2-40B4-BE49-F238E27FC236}">
                <a16:creationId xmlns:a16="http://schemas.microsoft.com/office/drawing/2014/main" id="{F95D9905-73FE-054F-9536-6AAB6A205480}"/>
              </a:ext>
            </a:extLst>
          </p:cNvPr>
          <p:cNvSpPr/>
          <p:nvPr/>
        </p:nvSpPr>
        <p:spPr>
          <a:xfrm>
            <a:off x="5742464" y="2314969"/>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Elipse 12">
            <a:extLst>
              <a:ext uri="{FF2B5EF4-FFF2-40B4-BE49-F238E27FC236}">
                <a16:creationId xmlns:a16="http://schemas.microsoft.com/office/drawing/2014/main" id="{0351A7BE-9014-8E40-A687-FF5C0E9117A7}"/>
              </a:ext>
            </a:extLst>
          </p:cNvPr>
          <p:cNvSpPr/>
          <p:nvPr/>
        </p:nvSpPr>
        <p:spPr>
          <a:xfrm>
            <a:off x="7201470" y="2072922"/>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4" name="Elipse 13">
            <a:extLst>
              <a:ext uri="{FF2B5EF4-FFF2-40B4-BE49-F238E27FC236}">
                <a16:creationId xmlns:a16="http://schemas.microsoft.com/office/drawing/2014/main" id="{49210336-4E83-DE4D-AC86-7DE3FD84D204}"/>
              </a:ext>
            </a:extLst>
          </p:cNvPr>
          <p:cNvSpPr/>
          <p:nvPr/>
        </p:nvSpPr>
        <p:spPr>
          <a:xfrm>
            <a:off x="5379393" y="2698210"/>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Elipse 14">
            <a:extLst>
              <a:ext uri="{FF2B5EF4-FFF2-40B4-BE49-F238E27FC236}">
                <a16:creationId xmlns:a16="http://schemas.microsoft.com/office/drawing/2014/main" id="{D71F7F64-DEF5-5E4B-90DB-BE643E07385A}"/>
              </a:ext>
            </a:extLst>
          </p:cNvPr>
          <p:cNvSpPr/>
          <p:nvPr/>
        </p:nvSpPr>
        <p:spPr>
          <a:xfrm>
            <a:off x="6125705" y="2698210"/>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 name="Elipse 15">
            <a:extLst>
              <a:ext uri="{FF2B5EF4-FFF2-40B4-BE49-F238E27FC236}">
                <a16:creationId xmlns:a16="http://schemas.microsoft.com/office/drawing/2014/main" id="{99620C32-E221-E84F-B187-4981E09E0ECC}"/>
              </a:ext>
            </a:extLst>
          </p:cNvPr>
          <p:cNvSpPr/>
          <p:nvPr/>
        </p:nvSpPr>
        <p:spPr>
          <a:xfrm>
            <a:off x="6582905" y="2698210"/>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7" name="Elipse 16">
            <a:extLst>
              <a:ext uri="{FF2B5EF4-FFF2-40B4-BE49-F238E27FC236}">
                <a16:creationId xmlns:a16="http://schemas.microsoft.com/office/drawing/2014/main" id="{F6099CF2-0B30-7845-B35A-2BA91731DC52}"/>
              </a:ext>
            </a:extLst>
          </p:cNvPr>
          <p:cNvSpPr/>
          <p:nvPr/>
        </p:nvSpPr>
        <p:spPr>
          <a:xfrm>
            <a:off x="7335940" y="2725555"/>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8" name="Elipse 17">
            <a:extLst>
              <a:ext uri="{FF2B5EF4-FFF2-40B4-BE49-F238E27FC236}">
                <a16:creationId xmlns:a16="http://schemas.microsoft.com/office/drawing/2014/main" id="{A0E79EDA-D3F9-3944-8FC3-F00F280C3CED}"/>
              </a:ext>
            </a:extLst>
          </p:cNvPr>
          <p:cNvSpPr/>
          <p:nvPr/>
        </p:nvSpPr>
        <p:spPr>
          <a:xfrm>
            <a:off x="7591434" y="2435992"/>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9" name="Elipse 18">
            <a:extLst>
              <a:ext uri="{FF2B5EF4-FFF2-40B4-BE49-F238E27FC236}">
                <a16:creationId xmlns:a16="http://schemas.microsoft.com/office/drawing/2014/main" id="{48D6420F-CC11-4F49-90B2-5FD2EC0F515D}"/>
              </a:ext>
            </a:extLst>
          </p:cNvPr>
          <p:cNvSpPr/>
          <p:nvPr/>
        </p:nvSpPr>
        <p:spPr>
          <a:xfrm>
            <a:off x="8088975" y="2960428"/>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0" name="Elipse 19">
            <a:extLst>
              <a:ext uri="{FF2B5EF4-FFF2-40B4-BE49-F238E27FC236}">
                <a16:creationId xmlns:a16="http://schemas.microsoft.com/office/drawing/2014/main" id="{0E867CF9-076A-0841-B940-09D334DF902A}"/>
              </a:ext>
            </a:extLst>
          </p:cNvPr>
          <p:cNvSpPr/>
          <p:nvPr/>
        </p:nvSpPr>
        <p:spPr>
          <a:xfrm>
            <a:off x="7577986" y="3457969"/>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 name="Elipse 20">
            <a:extLst>
              <a:ext uri="{FF2B5EF4-FFF2-40B4-BE49-F238E27FC236}">
                <a16:creationId xmlns:a16="http://schemas.microsoft.com/office/drawing/2014/main" id="{088E07BF-04ED-E741-AA6D-AFE13BA2E6B5}"/>
              </a:ext>
            </a:extLst>
          </p:cNvPr>
          <p:cNvSpPr/>
          <p:nvPr/>
        </p:nvSpPr>
        <p:spPr>
          <a:xfrm>
            <a:off x="6582904" y="4903529"/>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2" name="Elipse 21">
            <a:extLst>
              <a:ext uri="{FF2B5EF4-FFF2-40B4-BE49-F238E27FC236}">
                <a16:creationId xmlns:a16="http://schemas.microsoft.com/office/drawing/2014/main" id="{357DE9DF-684E-8441-AF2C-DBF343C7307A}"/>
              </a:ext>
            </a:extLst>
          </p:cNvPr>
          <p:cNvSpPr/>
          <p:nvPr/>
        </p:nvSpPr>
        <p:spPr>
          <a:xfrm>
            <a:off x="7066998" y="2953704"/>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Elipse 22">
            <a:extLst>
              <a:ext uri="{FF2B5EF4-FFF2-40B4-BE49-F238E27FC236}">
                <a16:creationId xmlns:a16="http://schemas.microsoft.com/office/drawing/2014/main" id="{D8C04362-BCE8-F540-8B41-B10200C88DEB}"/>
              </a:ext>
            </a:extLst>
          </p:cNvPr>
          <p:cNvSpPr/>
          <p:nvPr/>
        </p:nvSpPr>
        <p:spPr>
          <a:xfrm>
            <a:off x="5749186" y="3081451"/>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24" name="Conector recto de flecha 23">
            <a:extLst>
              <a:ext uri="{FF2B5EF4-FFF2-40B4-BE49-F238E27FC236}">
                <a16:creationId xmlns:a16="http://schemas.microsoft.com/office/drawing/2014/main" id="{85FEBF2E-B71E-DB43-A9D5-561E617DA694}"/>
              </a:ext>
            </a:extLst>
          </p:cNvPr>
          <p:cNvCxnSpPr>
            <a:cxnSpLocks/>
            <a:endCxn id="13" idx="1"/>
          </p:cNvCxnSpPr>
          <p:nvPr/>
        </p:nvCxnSpPr>
        <p:spPr>
          <a:xfrm>
            <a:off x="6806298" y="1689165"/>
            <a:ext cx="435459" cy="4240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680F40B8-4BD1-B44C-A3DE-06DD851240A1}"/>
              </a:ext>
            </a:extLst>
          </p:cNvPr>
          <p:cNvCxnSpPr>
            <a:cxnSpLocks/>
          </p:cNvCxnSpPr>
          <p:nvPr/>
        </p:nvCxnSpPr>
        <p:spPr>
          <a:xfrm>
            <a:off x="5607995" y="2935593"/>
            <a:ext cx="173248" cy="1893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AED81380-9591-3240-8085-760D7F202F30}"/>
              </a:ext>
            </a:extLst>
          </p:cNvPr>
          <p:cNvCxnSpPr>
            <a:cxnSpLocks/>
          </p:cNvCxnSpPr>
          <p:nvPr/>
        </p:nvCxnSpPr>
        <p:spPr>
          <a:xfrm>
            <a:off x="5984513" y="2559075"/>
            <a:ext cx="173248" cy="1893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6C2DC0F2-FC40-7948-9339-02C474479988}"/>
              </a:ext>
            </a:extLst>
          </p:cNvPr>
          <p:cNvCxnSpPr>
            <a:cxnSpLocks/>
          </p:cNvCxnSpPr>
          <p:nvPr/>
        </p:nvCxnSpPr>
        <p:spPr>
          <a:xfrm flipH="1">
            <a:off x="5975793" y="2947475"/>
            <a:ext cx="192243" cy="164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D02837F8-BA84-BE41-A797-F9D7B25EBECC}"/>
              </a:ext>
            </a:extLst>
          </p:cNvPr>
          <p:cNvCxnSpPr>
            <a:cxnSpLocks/>
            <a:stCxn id="22" idx="5"/>
            <a:endCxn id="20" idx="1"/>
          </p:cNvCxnSpPr>
          <p:nvPr/>
        </p:nvCxnSpPr>
        <p:spPr>
          <a:xfrm>
            <a:off x="7301806" y="3188512"/>
            <a:ext cx="316467" cy="3097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35A337C8-D5C5-D04D-BB0B-35946F57C905}"/>
              </a:ext>
            </a:extLst>
          </p:cNvPr>
          <p:cNvCxnSpPr>
            <a:cxnSpLocks/>
            <a:stCxn id="16" idx="4"/>
          </p:cNvCxnSpPr>
          <p:nvPr/>
        </p:nvCxnSpPr>
        <p:spPr>
          <a:xfrm flipH="1">
            <a:off x="6720451" y="2973305"/>
            <a:ext cx="2" cy="14326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212A65C4-D3D7-2644-8579-B79C752B541A}"/>
              </a:ext>
            </a:extLst>
          </p:cNvPr>
          <p:cNvCxnSpPr>
            <a:cxnSpLocks/>
            <a:endCxn id="41" idx="1"/>
          </p:cNvCxnSpPr>
          <p:nvPr/>
        </p:nvCxnSpPr>
        <p:spPr>
          <a:xfrm>
            <a:off x="5939436" y="3345222"/>
            <a:ext cx="683755" cy="11010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E829DA83-187C-404D-8074-0FA3F7E0720E}"/>
              </a:ext>
            </a:extLst>
          </p:cNvPr>
          <p:cNvCxnSpPr>
            <a:cxnSpLocks/>
            <a:stCxn id="20" idx="3"/>
            <a:endCxn id="41" idx="7"/>
          </p:cNvCxnSpPr>
          <p:nvPr/>
        </p:nvCxnSpPr>
        <p:spPr>
          <a:xfrm flipH="1">
            <a:off x="6817712" y="3692777"/>
            <a:ext cx="800561" cy="753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FF31B74E-609A-E24C-A1C9-05447E256719}"/>
              </a:ext>
            </a:extLst>
          </p:cNvPr>
          <p:cNvCxnSpPr>
            <a:cxnSpLocks/>
            <a:stCxn id="9" idx="4"/>
            <a:endCxn id="11" idx="0"/>
          </p:cNvCxnSpPr>
          <p:nvPr/>
        </p:nvCxnSpPr>
        <p:spPr>
          <a:xfrm>
            <a:off x="6720010" y="1262094"/>
            <a:ext cx="443" cy="1922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a:extLst>
              <a:ext uri="{FF2B5EF4-FFF2-40B4-BE49-F238E27FC236}">
                <a16:creationId xmlns:a16="http://schemas.microsoft.com/office/drawing/2014/main" id="{403694F1-00F1-5944-B41B-D9F23C0C084A}"/>
              </a:ext>
            </a:extLst>
          </p:cNvPr>
          <p:cNvCxnSpPr>
            <a:cxnSpLocks/>
            <a:stCxn id="13" idx="3"/>
          </p:cNvCxnSpPr>
          <p:nvPr/>
        </p:nvCxnSpPr>
        <p:spPr>
          <a:xfrm flipH="1">
            <a:off x="6806393" y="2307730"/>
            <a:ext cx="435364" cy="4315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914D25A2-CD18-3349-85CE-5F518AD81FE5}"/>
              </a:ext>
            </a:extLst>
          </p:cNvPr>
          <p:cNvCxnSpPr>
            <a:cxnSpLocks/>
            <a:stCxn id="13" idx="5"/>
            <a:endCxn id="18" idx="1"/>
          </p:cNvCxnSpPr>
          <p:nvPr/>
        </p:nvCxnSpPr>
        <p:spPr>
          <a:xfrm>
            <a:off x="7436278" y="2307730"/>
            <a:ext cx="195443" cy="1685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E16C1AB9-69AF-2D43-8E52-5DE465B14CD6}"/>
              </a:ext>
            </a:extLst>
          </p:cNvPr>
          <p:cNvCxnSpPr>
            <a:cxnSpLocks/>
            <a:endCxn id="19" idx="1"/>
          </p:cNvCxnSpPr>
          <p:nvPr/>
        </p:nvCxnSpPr>
        <p:spPr>
          <a:xfrm>
            <a:off x="7814741" y="2678996"/>
            <a:ext cx="314521" cy="3217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3E6E8083-FAFA-FB43-843B-EC565F9ECC9C}"/>
              </a:ext>
            </a:extLst>
          </p:cNvPr>
          <p:cNvCxnSpPr>
            <a:cxnSpLocks/>
            <a:endCxn id="20" idx="7"/>
          </p:cNvCxnSpPr>
          <p:nvPr/>
        </p:nvCxnSpPr>
        <p:spPr>
          <a:xfrm flipH="1">
            <a:off x="7812794" y="3195236"/>
            <a:ext cx="323192" cy="3030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FC6E037E-F762-3A47-8078-71658C2FB404}"/>
              </a:ext>
            </a:extLst>
          </p:cNvPr>
          <p:cNvCxnSpPr>
            <a:cxnSpLocks/>
          </p:cNvCxnSpPr>
          <p:nvPr/>
        </p:nvCxnSpPr>
        <p:spPr>
          <a:xfrm flipH="1">
            <a:off x="5606543" y="2568294"/>
            <a:ext cx="175483" cy="1774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Elipse 40">
            <a:extLst>
              <a:ext uri="{FF2B5EF4-FFF2-40B4-BE49-F238E27FC236}">
                <a16:creationId xmlns:a16="http://schemas.microsoft.com/office/drawing/2014/main" id="{A1CADBBA-0F9E-4047-94DC-0195E19C368C}"/>
              </a:ext>
            </a:extLst>
          </p:cNvPr>
          <p:cNvSpPr/>
          <p:nvPr/>
        </p:nvSpPr>
        <p:spPr>
          <a:xfrm>
            <a:off x="6582904" y="4405987"/>
            <a:ext cx="275095" cy="275095"/>
          </a:xfrm>
          <a:prstGeom prst="ellipse">
            <a:avLst/>
          </a:prstGeom>
          <a:solidFill>
            <a:srgbClr val="E3D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2" name="CuadroTexto 41">
            <a:extLst>
              <a:ext uri="{FF2B5EF4-FFF2-40B4-BE49-F238E27FC236}">
                <a16:creationId xmlns:a16="http://schemas.microsoft.com/office/drawing/2014/main" id="{FA86B707-0F5D-464E-BEE0-CBC6A2E56089}"/>
              </a:ext>
            </a:extLst>
          </p:cNvPr>
          <p:cNvSpPr txBox="1"/>
          <p:nvPr/>
        </p:nvSpPr>
        <p:spPr>
          <a:xfrm>
            <a:off x="6880216" y="1027769"/>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1</a:t>
            </a:r>
            <a:endParaRPr lang="es-ES_tradnl" sz="1200" dirty="0">
              <a:solidFill>
                <a:srgbClr val="EE4639"/>
              </a:solidFill>
            </a:endParaRPr>
          </a:p>
        </p:txBody>
      </p:sp>
      <p:sp>
        <p:nvSpPr>
          <p:cNvPr id="43" name="CuadroTexto 42">
            <a:extLst>
              <a:ext uri="{FF2B5EF4-FFF2-40B4-BE49-F238E27FC236}">
                <a16:creationId xmlns:a16="http://schemas.microsoft.com/office/drawing/2014/main" id="{C91C3F3E-DAFA-9141-A83B-EFFF9E64C7DC}"/>
              </a:ext>
            </a:extLst>
          </p:cNvPr>
          <p:cNvSpPr txBox="1"/>
          <p:nvPr/>
        </p:nvSpPr>
        <p:spPr>
          <a:xfrm>
            <a:off x="6812981" y="1256369"/>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1</a:t>
            </a:r>
            <a:endParaRPr lang="es-ES_tradnl" sz="1200" dirty="0">
              <a:solidFill>
                <a:srgbClr val="00B1C2"/>
              </a:solidFill>
            </a:endParaRPr>
          </a:p>
        </p:txBody>
      </p:sp>
      <p:sp>
        <p:nvSpPr>
          <p:cNvPr id="46" name="CuadroTexto 45">
            <a:extLst>
              <a:ext uri="{FF2B5EF4-FFF2-40B4-BE49-F238E27FC236}">
                <a16:creationId xmlns:a16="http://schemas.microsoft.com/office/drawing/2014/main" id="{B27B6EF9-7CC1-C946-8F74-87E386CE4602}"/>
              </a:ext>
            </a:extLst>
          </p:cNvPr>
          <p:cNvSpPr txBox="1"/>
          <p:nvPr/>
        </p:nvSpPr>
        <p:spPr>
          <a:xfrm>
            <a:off x="6893664" y="1478246"/>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2</a:t>
            </a:r>
            <a:endParaRPr lang="es-ES_tradnl" sz="1200" dirty="0">
              <a:solidFill>
                <a:srgbClr val="EE4639"/>
              </a:solidFill>
            </a:endParaRPr>
          </a:p>
        </p:txBody>
      </p:sp>
      <p:sp>
        <p:nvSpPr>
          <p:cNvPr id="47" name="CuadroTexto 46">
            <a:extLst>
              <a:ext uri="{FF2B5EF4-FFF2-40B4-BE49-F238E27FC236}">
                <a16:creationId xmlns:a16="http://schemas.microsoft.com/office/drawing/2014/main" id="{1855F969-B9C5-9B40-9236-9E43208B3C6B}"/>
              </a:ext>
            </a:extLst>
          </p:cNvPr>
          <p:cNvSpPr txBox="1"/>
          <p:nvPr/>
        </p:nvSpPr>
        <p:spPr>
          <a:xfrm>
            <a:off x="7075198" y="1700122"/>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3</a:t>
            </a:r>
            <a:endParaRPr lang="es-ES_tradnl" sz="1200" dirty="0">
              <a:solidFill>
                <a:srgbClr val="00B1C2"/>
              </a:solidFill>
            </a:endParaRPr>
          </a:p>
        </p:txBody>
      </p:sp>
      <p:sp>
        <p:nvSpPr>
          <p:cNvPr id="48" name="CuadroTexto 47">
            <a:extLst>
              <a:ext uri="{FF2B5EF4-FFF2-40B4-BE49-F238E27FC236}">
                <a16:creationId xmlns:a16="http://schemas.microsoft.com/office/drawing/2014/main" id="{3810B2E3-CED6-C840-BBAD-EF54EE4F89E8}"/>
              </a:ext>
            </a:extLst>
          </p:cNvPr>
          <p:cNvSpPr txBox="1"/>
          <p:nvPr/>
        </p:nvSpPr>
        <p:spPr>
          <a:xfrm>
            <a:off x="6173690" y="1813435"/>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2</a:t>
            </a:r>
            <a:endParaRPr lang="es-ES_tradnl" sz="1200" dirty="0">
              <a:solidFill>
                <a:srgbClr val="00B1C2"/>
              </a:solidFill>
            </a:endParaRPr>
          </a:p>
        </p:txBody>
      </p:sp>
      <p:sp>
        <p:nvSpPr>
          <p:cNvPr id="49" name="CuadroTexto 48">
            <a:extLst>
              <a:ext uri="{FF2B5EF4-FFF2-40B4-BE49-F238E27FC236}">
                <a16:creationId xmlns:a16="http://schemas.microsoft.com/office/drawing/2014/main" id="{E675FCAD-5702-B649-9373-1AFB5023B058}"/>
              </a:ext>
            </a:extLst>
          </p:cNvPr>
          <p:cNvSpPr txBox="1"/>
          <p:nvPr/>
        </p:nvSpPr>
        <p:spPr>
          <a:xfrm>
            <a:off x="7465164" y="1928723"/>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4</a:t>
            </a:r>
            <a:endParaRPr lang="es-ES_tradnl" sz="1200" dirty="0">
              <a:solidFill>
                <a:srgbClr val="EE4639"/>
              </a:solidFill>
            </a:endParaRPr>
          </a:p>
        </p:txBody>
      </p:sp>
      <p:sp>
        <p:nvSpPr>
          <p:cNvPr id="50" name="CuadroTexto 49">
            <a:extLst>
              <a:ext uri="{FF2B5EF4-FFF2-40B4-BE49-F238E27FC236}">
                <a16:creationId xmlns:a16="http://schemas.microsoft.com/office/drawing/2014/main" id="{0B3163C3-DB24-8948-8B8F-C8418E370BEB}"/>
              </a:ext>
            </a:extLst>
          </p:cNvPr>
          <p:cNvSpPr txBox="1"/>
          <p:nvPr/>
        </p:nvSpPr>
        <p:spPr>
          <a:xfrm>
            <a:off x="7619805" y="2143876"/>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7</a:t>
            </a:r>
            <a:endParaRPr lang="es-ES_tradnl" sz="1200" dirty="0">
              <a:solidFill>
                <a:srgbClr val="00B1C2"/>
              </a:solidFill>
            </a:endParaRPr>
          </a:p>
        </p:txBody>
      </p:sp>
      <p:sp>
        <p:nvSpPr>
          <p:cNvPr id="51" name="CuadroTexto 50">
            <a:extLst>
              <a:ext uri="{FF2B5EF4-FFF2-40B4-BE49-F238E27FC236}">
                <a16:creationId xmlns:a16="http://schemas.microsoft.com/office/drawing/2014/main" id="{A5F3989B-FB45-F14A-A22D-9A0A219CB596}"/>
              </a:ext>
            </a:extLst>
          </p:cNvPr>
          <p:cNvSpPr txBox="1"/>
          <p:nvPr/>
        </p:nvSpPr>
        <p:spPr>
          <a:xfrm>
            <a:off x="7861852" y="2305241"/>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11</a:t>
            </a:r>
            <a:endParaRPr lang="es-ES_tradnl" sz="1200" dirty="0">
              <a:solidFill>
                <a:srgbClr val="EE4639"/>
              </a:solidFill>
            </a:endParaRPr>
          </a:p>
        </p:txBody>
      </p:sp>
      <p:sp>
        <p:nvSpPr>
          <p:cNvPr id="52" name="CuadroTexto 51">
            <a:extLst>
              <a:ext uri="{FF2B5EF4-FFF2-40B4-BE49-F238E27FC236}">
                <a16:creationId xmlns:a16="http://schemas.microsoft.com/office/drawing/2014/main" id="{E7B2F562-7855-3245-87A3-508AA0B6FC62}"/>
              </a:ext>
            </a:extLst>
          </p:cNvPr>
          <p:cNvSpPr txBox="1"/>
          <p:nvPr/>
        </p:nvSpPr>
        <p:spPr>
          <a:xfrm>
            <a:off x="8029941" y="2621247"/>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12</a:t>
            </a:r>
            <a:endParaRPr lang="es-ES_tradnl" sz="1200" dirty="0">
              <a:solidFill>
                <a:srgbClr val="00B1C2"/>
              </a:solidFill>
            </a:endParaRPr>
          </a:p>
        </p:txBody>
      </p:sp>
      <p:sp>
        <p:nvSpPr>
          <p:cNvPr id="53" name="CuadroTexto 52">
            <a:extLst>
              <a:ext uri="{FF2B5EF4-FFF2-40B4-BE49-F238E27FC236}">
                <a16:creationId xmlns:a16="http://schemas.microsoft.com/office/drawing/2014/main" id="{C1CC5678-9663-9342-9D45-87A5936599F4}"/>
              </a:ext>
            </a:extLst>
          </p:cNvPr>
          <p:cNvSpPr txBox="1"/>
          <p:nvPr/>
        </p:nvSpPr>
        <p:spPr>
          <a:xfrm>
            <a:off x="8426628" y="2970871"/>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12</a:t>
            </a:r>
            <a:endParaRPr lang="es-ES_tradnl" sz="1200" dirty="0">
              <a:solidFill>
                <a:srgbClr val="EE4639"/>
              </a:solidFill>
            </a:endParaRPr>
          </a:p>
        </p:txBody>
      </p:sp>
      <p:sp>
        <p:nvSpPr>
          <p:cNvPr id="54" name="CuadroTexto 53">
            <a:extLst>
              <a:ext uri="{FF2B5EF4-FFF2-40B4-BE49-F238E27FC236}">
                <a16:creationId xmlns:a16="http://schemas.microsoft.com/office/drawing/2014/main" id="{25E1D510-0018-9242-A6FD-5FE41DDD7502}"/>
              </a:ext>
            </a:extLst>
          </p:cNvPr>
          <p:cNvSpPr txBox="1"/>
          <p:nvPr/>
        </p:nvSpPr>
        <p:spPr>
          <a:xfrm>
            <a:off x="8077005" y="3347388"/>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15</a:t>
            </a:r>
            <a:endParaRPr lang="es-ES_tradnl" sz="1200" dirty="0">
              <a:solidFill>
                <a:srgbClr val="00B1C2"/>
              </a:solidFill>
            </a:endParaRPr>
          </a:p>
        </p:txBody>
      </p:sp>
      <p:sp>
        <p:nvSpPr>
          <p:cNvPr id="55" name="CuadroTexto 54">
            <a:extLst>
              <a:ext uri="{FF2B5EF4-FFF2-40B4-BE49-F238E27FC236}">
                <a16:creationId xmlns:a16="http://schemas.microsoft.com/office/drawing/2014/main" id="{CAA39BFE-6728-6D4A-B1EA-E51228AD5E53}"/>
              </a:ext>
            </a:extLst>
          </p:cNvPr>
          <p:cNvSpPr txBox="1"/>
          <p:nvPr/>
        </p:nvSpPr>
        <p:spPr>
          <a:xfrm>
            <a:off x="7861852" y="3611799"/>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13</a:t>
            </a:r>
            <a:endParaRPr lang="es-ES_tradnl" sz="1200" dirty="0">
              <a:solidFill>
                <a:srgbClr val="EE4639"/>
              </a:solidFill>
            </a:endParaRPr>
          </a:p>
        </p:txBody>
      </p:sp>
      <p:sp>
        <p:nvSpPr>
          <p:cNvPr id="56" name="CuadroTexto 55">
            <a:extLst>
              <a:ext uri="{FF2B5EF4-FFF2-40B4-BE49-F238E27FC236}">
                <a16:creationId xmlns:a16="http://schemas.microsoft.com/office/drawing/2014/main" id="{137114CE-6473-7843-8EA4-3FC43728AD55}"/>
              </a:ext>
            </a:extLst>
          </p:cNvPr>
          <p:cNvSpPr txBox="1"/>
          <p:nvPr/>
        </p:nvSpPr>
        <p:spPr>
          <a:xfrm>
            <a:off x="7303799" y="4060082"/>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19</a:t>
            </a:r>
            <a:endParaRPr lang="es-ES_tradnl" sz="1200" dirty="0">
              <a:solidFill>
                <a:srgbClr val="00B1C2"/>
              </a:solidFill>
            </a:endParaRPr>
          </a:p>
        </p:txBody>
      </p:sp>
      <p:sp>
        <p:nvSpPr>
          <p:cNvPr id="57" name="CuadroTexto 56">
            <a:extLst>
              <a:ext uri="{FF2B5EF4-FFF2-40B4-BE49-F238E27FC236}">
                <a16:creationId xmlns:a16="http://schemas.microsoft.com/office/drawing/2014/main" id="{3F2389FA-0ABE-5048-8FC2-8BD3336CF51B}"/>
              </a:ext>
            </a:extLst>
          </p:cNvPr>
          <p:cNvSpPr txBox="1"/>
          <p:nvPr/>
        </p:nvSpPr>
        <p:spPr>
          <a:xfrm>
            <a:off x="6812982" y="4698817"/>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20</a:t>
            </a:r>
            <a:endParaRPr lang="es-ES_tradnl" sz="1200" dirty="0">
              <a:solidFill>
                <a:srgbClr val="00B1C2"/>
              </a:solidFill>
            </a:endParaRPr>
          </a:p>
        </p:txBody>
      </p:sp>
      <p:sp>
        <p:nvSpPr>
          <p:cNvPr id="58" name="CuadroTexto 57">
            <a:extLst>
              <a:ext uri="{FF2B5EF4-FFF2-40B4-BE49-F238E27FC236}">
                <a16:creationId xmlns:a16="http://schemas.microsoft.com/office/drawing/2014/main" id="{06E0B284-7363-494E-B284-32DFE3A04DEF}"/>
              </a:ext>
            </a:extLst>
          </p:cNvPr>
          <p:cNvSpPr txBox="1"/>
          <p:nvPr/>
        </p:nvSpPr>
        <p:spPr>
          <a:xfrm>
            <a:off x="6907112" y="4954311"/>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15</a:t>
            </a:r>
            <a:endParaRPr lang="es-ES_tradnl" sz="1200" dirty="0">
              <a:solidFill>
                <a:srgbClr val="EE4639"/>
              </a:solidFill>
            </a:endParaRPr>
          </a:p>
        </p:txBody>
      </p:sp>
      <p:sp>
        <p:nvSpPr>
          <p:cNvPr id="59" name="CuadroTexto 58">
            <a:extLst>
              <a:ext uri="{FF2B5EF4-FFF2-40B4-BE49-F238E27FC236}">
                <a16:creationId xmlns:a16="http://schemas.microsoft.com/office/drawing/2014/main" id="{DBF75C3C-91CD-4847-824E-59A51D68A8AB}"/>
              </a:ext>
            </a:extLst>
          </p:cNvPr>
          <p:cNvSpPr txBox="1"/>
          <p:nvPr/>
        </p:nvSpPr>
        <p:spPr>
          <a:xfrm>
            <a:off x="6335612" y="4510559"/>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14</a:t>
            </a:r>
            <a:endParaRPr lang="es-ES_tradnl" sz="1200" dirty="0">
              <a:solidFill>
                <a:srgbClr val="EE4639"/>
              </a:solidFill>
            </a:endParaRPr>
          </a:p>
        </p:txBody>
      </p:sp>
      <p:sp>
        <p:nvSpPr>
          <p:cNvPr id="60" name="CuadroTexto 59">
            <a:extLst>
              <a:ext uri="{FF2B5EF4-FFF2-40B4-BE49-F238E27FC236}">
                <a16:creationId xmlns:a16="http://schemas.microsoft.com/office/drawing/2014/main" id="{C90D6100-E93C-DE49-9F49-2C7B8FC911CF}"/>
              </a:ext>
            </a:extLst>
          </p:cNvPr>
          <p:cNvSpPr txBox="1"/>
          <p:nvPr/>
        </p:nvSpPr>
        <p:spPr>
          <a:xfrm>
            <a:off x="5694284" y="4198424"/>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16</a:t>
            </a:r>
            <a:endParaRPr lang="es-ES_tradnl" sz="1200" dirty="0">
              <a:solidFill>
                <a:srgbClr val="00B1C2"/>
              </a:solidFill>
            </a:endParaRPr>
          </a:p>
        </p:txBody>
      </p:sp>
      <p:sp>
        <p:nvSpPr>
          <p:cNvPr id="61" name="CuadroTexto 60">
            <a:extLst>
              <a:ext uri="{FF2B5EF4-FFF2-40B4-BE49-F238E27FC236}">
                <a16:creationId xmlns:a16="http://schemas.microsoft.com/office/drawing/2014/main" id="{D3BA1757-104F-BB4F-85BA-CBB50F9097BA}"/>
              </a:ext>
            </a:extLst>
          </p:cNvPr>
          <p:cNvSpPr txBox="1"/>
          <p:nvPr/>
        </p:nvSpPr>
        <p:spPr>
          <a:xfrm>
            <a:off x="6019652" y="3749863"/>
            <a:ext cx="156036" cy="184666"/>
          </a:xfrm>
          <a:prstGeom prst="rect">
            <a:avLst/>
          </a:prstGeom>
          <a:noFill/>
        </p:spPr>
        <p:txBody>
          <a:bodyPr wrap="square" lIns="0" tIns="0" rIns="0" bIns="0">
            <a:spAutoFit/>
          </a:bodyPr>
          <a:lstStyle/>
          <a:p>
            <a:r>
              <a:rPr lang="es-PE" sz="1200" i="0" u="none" strike="noStrike" cap="none" dirty="0">
                <a:solidFill>
                  <a:srgbClr val="00B1C2"/>
                </a:solidFill>
                <a:latin typeface="Calibri"/>
                <a:ea typeface="Calibri"/>
                <a:cs typeface="Calibri"/>
                <a:sym typeface="Calibri"/>
              </a:rPr>
              <a:t>17</a:t>
            </a:r>
            <a:endParaRPr lang="es-ES_tradnl" sz="1200" dirty="0">
              <a:solidFill>
                <a:srgbClr val="00B1C2"/>
              </a:solidFill>
            </a:endParaRPr>
          </a:p>
        </p:txBody>
      </p:sp>
      <p:sp>
        <p:nvSpPr>
          <p:cNvPr id="62" name="CuadroTexto 61">
            <a:extLst>
              <a:ext uri="{FF2B5EF4-FFF2-40B4-BE49-F238E27FC236}">
                <a16:creationId xmlns:a16="http://schemas.microsoft.com/office/drawing/2014/main" id="{F440E8B9-89FA-8D48-8494-86F5C335BC4A}"/>
              </a:ext>
            </a:extLst>
          </p:cNvPr>
          <p:cNvSpPr txBox="1"/>
          <p:nvPr/>
        </p:nvSpPr>
        <p:spPr>
          <a:xfrm>
            <a:off x="6510470" y="3427133"/>
            <a:ext cx="156036"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18</a:t>
            </a:r>
            <a:endParaRPr lang="es-ES_tradnl" sz="1200" dirty="0">
              <a:solidFill>
                <a:srgbClr val="00B1C2"/>
              </a:solidFill>
            </a:endParaRPr>
          </a:p>
        </p:txBody>
      </p:sp>
      <p:sp>
        <p:nvSpPr>
          <p:cNvPr id="63" name="CuadroTexto 62">
            <a:extLst>
              <a:ext uri="{FF2B5EF4-FFF2-40B4-BE49-F238E27FC236}">
                <a16:creationId xmlns:a16="http://schemas.microsoft.com/office/drawing/2014/main" id="{7BCDAC8B-AF0A-7C44-9758-2D973429EE6F}"/>
              </a:ext>
            </a:extLst>
          </p:cNvPr>
          <p:cNvSpPr txBox="1"/>
          <p:nvPr/>
        </p:nvSpPr>
        <p:spPr>
          <a:xfrm>
            <a:off x="7243335" y="3312833"/>
            <a:ext cx="156036"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14</a:t>
            </a:r>
            <a:endParaRPr lang="es-ES_tradnl" sz="1200" dirty="0">
              <a:solidFill>
                <a:srgbClr val="00B1C2"/>
              </a:solidFill>
            </a:endParaRPr>
          </a:p>
        </p:txBody>
      </p:sp>
      <p:sp>
        <p:nvSpPr>
          <p:cNvPr id="64" name="CuadroTexto 63">
            <a:extLst>
              <a:ext uri="{FF2B5EF4-FFF2-40B4-BE49-F238E27FC236}">
                <a16:creationId xmlns:a16="http://schemas.microsoft.com/office/drawing/2014/main" id="{A618E183-5CC0-3F4C-BC9E-755627671DD0}"/>
              </a:ext>
            </a:extLst>
          </p:cNvPr>
          <p:cNvSpPr txBox="1"/>
          <p:nvPr/>
        </p:nvSpPr>
        <p:spPr>
          <a:xfrm>
            <a:off x="7391253" y="3016997"/>
            <a:ext cx="156036"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13</a:t>
            </a:r>
            <a:endParaRPr lang="es-ES_tradnl" sz="1200" dirty="0">
              <a:solidFill>
                <a:srgbClr val="00B1C2"/>
              </a:solidFill>
            </a:endParaRPr>
          </a:p>
        </p:txBody>
      </p:sp>
      <p:sp>
        <p:nvSpPr>
          <p:cNvPr id="107" name="CuadroTexto 106">
            <a:extLst>
              <a:ext uri="{FF2B5EF4-FFF2-40B4-BE49-F238E27FC236}">
                <a16:creationId xmlns:a16="http://schemas.microsoft.com/office/drawing/2014/main" id="{5BA5F8B9-4B11-4943-9CB2-E98A2F05BF84}"/>
              </a:ext>
            </a:extLst>
          </p:cNvPr>
          <p:cNvSpPr txBox="1"/>
          <p:nvPr/>
        </p:nvSpPr>
        <p:spPr>
          <a:xfrm>
            <a:off x="7048353" y="2579968"/>
            <a:ext cx="156036"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10</a:t>
            </a:r>
            <a:endParaRPr lang="es-ES_tradnl" sz="1200" dirty="0">
              <a:solidFill>
                <a:srgbClr val="00B1C2"/>
              </a:solidFill>
            </a:endParaRPr>
          </a:p>
        </p:txBody>
      </p:sp>
      <p:sp>
        <p:nvSpPr>
          <p:cNvPr id="108" name="CuadroTexto 107">
            <a:extLst>
              <a:ext uri="{FF2B5EF4-FFF2-40B4-BE49-F238E27FC236}">
                <a16:creationId xmlns:a16="http://schemas.microsoft.com/office/drawing/2014/main" id="{D8FC7BF2-9CFC-594A-BB9F-B1FE534CE1D5}"/>
              </a:ext>
            </a:extLst>
          </p:cNvPr>
          <p:cNvSpPr txBox="1"/>
          <p:nvPr/>
        </p:nvSpPr>
        <p:spPr>
          <a:xfrm>
            <a:off x="7384520" y="2486134"/>
            <a:ext cx="156036"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11</a:t>
            </a:r>
            <a:endParaRPr lang="es-ES_tradnl" sz="1200" dirty="0">
              <a:solidFill>
                <a:srgbClr val="00B1C2"/>
              </a:solidFill>
            </a:endParaRPr>
          </a:p>
        </p:txBody>
      </p:sp>
      <p:sp>
        <p:nvSpPr>
          <p:cNvPr id="109" name="CuadroTexto 108">
            <a:extLst>
              <a:ext uri="{FF2B5EF4-FFF2-40B4-BE49-F238E27FC236}">
                <a16:creationId xmlns:a16="http://schemas.microsoft.com/office/drawing/2014/main" id="{E9307D75-9057-B946-A38D-AE6B0F9833DC}"/>
              </a:ext>
            </a:extLst>
          </p:cNvPr>
          <p:cNvSpPr txBox="1"/>
          <p:nvPr/>
        </p:nvSpPr>
        <p:spPr>
          <a:xfrm>
            <a:off x="7021203" y="3149512"/>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9</a:t>
            </a:r>
            <a:endParaRPr lang="es-ES_tradnl" sz="1200" dirty="0">
              <a:solidFill>
                <a:srgbClr val="EE4639"/>
              </a:solidFill>
            </a:endParaRPr>
          </a:p>
        </p:txBody>
      </p:sp>
      <p:sp>
        <p:nvSpPr>
          <p:cNvPr id="114" name="CuadroTexto 113">
            <a:extLst>
              <a:ext uri="{FF2B5EF4-FFF2-40B4-BE49-F238E27FC236}">
                <a16:creationId xmlns:a16="http://schemas.microsoft.com/office/drawing/2014/main" id="{89B61D10-5DBE-F447-B306-C47A1214FE20}"/>
              </a:ext>
            </a:extLst>
          </p:cNvPr>
          <p:cNvSpPr txBox="1"/>
          <p:nvPr/>
        </p:nvSpPr>
        <p:spPr>
          <a:xfrm>
            <a:off x="6004092" y="2753336"/>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6</a:t>
            </a:r>
            <a:endParaRPr lang="es-ES_tradnl" sz="1200" dirty="0">
              <a:solidFill>
                <a:srgbClr val="EE4639"/>
              </a:solidFill>
            </a:endParaRPr>
          </a:p>
        </p:txBody>
      </p:sp>
      <p:sp>
        <p:nvSpPr>
          <p:cNvPr id="115" name="CuadroTexto 114">
            <a:extLst>
              <a:ext uri="{FF2B5EF4-FFF2-40B4-BE49-F238E27FC236}">
                <a16:creationId xmlns:a16="http://schemas.microsoft.com/office/drawing/2014/main" id="{FAED2A16-A114-1141-AAD2-191F8BADC8DD}"/>
              </a:ext>
            </a:extLst>
          </p:cNvPr>
          <p:cNvSpPr txBox="1"/>
          <p:nvPr/>
        </p:nvSpPr>
        <p:spPr>
          <a:xfrm>
            <a:off x="5700922" y="3300998"/>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7</a:t>
            </a:r>
            <a:endParaRPr lang="es-ES_tradnl" sz="1200" dirty="0">
              <a:solidFill>
                <a:srgbClr val="EE4639"/>
              </a:solidFill>
            </a:endParaRPr>
          </a:p>
        </p:txBody>
      </p:sp>
      <p:sp>
        <p:nvSpPr>
          <p:cNvPr id="116" name="CuadroTexto 115">
            <a:extLst>
              <a:ext uri="{FF2B5EF4-FFF2-40B4-BE49-F238E27FC236}">
                <a16:creationId xmlns:a16="http://schemas.microsoft.com/office/drawing/2014/main" id="{56D311C1-FDB6-4943-9CE9-70E55224C823}"/>
              </a:ext>
            </a:extLst>
          </p:cNvPr>
          <p:cNvSpPr txBox="1"/>
          <p:nvPr/>
        </p:nvSpPr>
        <p:spPr>
          <a:xfrm>
            <a:off x="5510502" y="3020568"/>
            <a:ext cx="110508"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8</a:t>
            </a:r>
            <a:endParaRPr lang="es-ES_tradnl" sz="1200" dirty="0">
              <a:solidFill>
                <a:srgbClr val="00B1C2"/>
              </a:solidFill>
            </a:endParaRPr>
          </a:p>
        </p:txBody>
      </p:sp>
      <p:sp>
        <p:nvSpPr>
          <p:cNvPr id="117" name="CuadroTexto 116">
            <a:extLst>
              <a:ext uri="{FF2B5EF4-FFF2-40B4-BE49-F238E27FC236}">
                <a16:creationId xmlns:a16="http://schemas.microsoft.com/office/drawing/2014/main" id="{6D26F54D-3288-4446-9370-C0DEDB3C2E87}"/>
              </a:ext>
            </a:extLst>
          </p:cNvPr>
          <p:cNvSpPr txBox="1"/>
          <p:nvPr/>
        </p:nvSpPr>
        <p:spPr>
          <a:xfrm>
            <a:off x="5290442" y="2753336"/>
            <a:ext cx="156036" cy="184666"/>
          </a:xfrm>
          <a:prstGeom prst="rect">
            <a:avLst/>
          </a:prstGeom>
          <a:noFill/>
        </p:spPr>
        <p:txBody>
          <a:bodyPr wrap="square" lIns="0" tIns="0" rIns="0" bIns="0">
            <a:spAutoFit/>
          </a:bodyPr>
          <a:lstStyle/>
          <a:p>
            <a:r>
              <a:rPr lang="es-PE" sz="1200" i="0" u="none" strike="noStrike" cap="none" dirty="0">
                <a:solidFill>
                  <a:srgbClr val="EE4639"/>
                </a:solidFill>
                <a:latin typeface="Calibri"/>
                <a:ea typeface="Calibri"/>
                <a:cs typeface="Calibri"/>
                <a:sym typeface="Calibri"/>
              </a:rPr>
              <a:t>5</a:t>
            </a:r>
            <a:endParaRPr lang="es-ES_tradnl" sz="1200" dirty="0">
              <a:solidFill>
                <a:srgbClr val="EE4639"/>
              </a:solidFill>
            </a:endParaRPr>
          </a:p>
        </p:txBody>
      </p:sp>
      <p:sp>
        <p:nvSpPr>
          <p:cNvPr id="118" name="CuadroTexto 117">
            <a:extLst>
              <a:ext uri="{FF2B5EF4-FFF2-40B4-BE49-F238E27FC236}">
                <a16:creationId xmlns:a16="http://schemas.microsoft.com/office/drawing/2014/main" id="{1CBCF32B-5EFD-2D45-B5FF-A527F10738E6}"/>
              </a:ext>
            </a:extLst>
          </p:cNvPr>
          <p:cNvSpPr txBox="1"/>
          <p:nvPr/>
        </p:nvSpPr>
        <p:spPr>
          <a:xfrm>
            <a:off x="5559401" y="2399558"/>
            <a:ext cx="110508"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4</a:t>
            </a:r>
            <a:endParaRPr lang="es-ES_tradnl" sz="1200" dirty="0">
              <a:solidFill>
                <a:srgbClr val="00B1C2"/>
              </a:solidFill>
            </a:endParaRPr>
          </a:p>
        </p:txBody>
      </p:sp>
      <p:sp>
        <p:nvSpPr>
          <p:cNvPr id="119" name="CuadroTexto 118">
            <a:extLst>
              <a:ext uri="{FF2B5EF4-FFF2-40B4-BE49-F238E27FC236}">
                <a16:creationId xmlns:a16="http://schemas.microsoft.com/office/drawing/2014/main" id="{EF944655-F23B-E142-9CAC-D5D9E1973210}"/>
              </a:ext>
            </a:extLst>
          </p:cNvPr>
          <p:cNvSpPr txBox="1"/>
          <p:nvPr/>
        </p:nvSpPr>
        <p:spPr>
          <a:xfrm>
            <a:off x="5666977" y="2194185"/>
            <a:ext cx="110508" cy="184666"/>
          </a:xfrm>
          <a:prstGeom prst="rect">
            <a:avLst/>
          </a:prstGeom>
          <a:noFill/>
        </p:spPr>
        <p:txBody>
          <a:bodyPr wrap="square" lIns="0" tIns="0" rIns="0" bIns="0">
            <a:spAutoFit/>
          </a:bodyPr>
          <a:lstStyle/>
          <a:p>
            <a:r>
              <a:rPr lang="es-PE" sz="1200" dirty="0">
                <a:solidFill>
                  <a:srgbClr val="EE4639"/>
                </a:solidFill>
                <a:latin typeface="Calibri"/>
                <a:cs typeface="Calibri"/>
                <a:sym typeface="Calibri"/>
              </a:rPr>
              <a:t>3</a:t>
            </a:r>
            <a:endParaRPr lang="es-ES_tradnl" sz="1200" dirty="0">
              <a:solidFill>
                <a:srgbClr val="EE4639"/>
              </a:solidFill>
            </a:endParaRPr>
          </a:p>
        </p:txBody>
      </p:sp>
      <p:sp>
        <p:nvSpPr>
          <p:cNvPr id="120" name="CuadroTexto 119">
            <a:extLst>
              <a:ext uri="{FF2B5EF4-FFF2-40B4-BE49-F238E27FC236}">
                <a16:creationId xmlns:a16="http://schemas.microsoft.com/office/drawing/2014/main" id="{D038E68D-0B4C-5143-A4D8-DF665AF8CAC2}"/>
              </a:ext>
            </a:extLst>
          </p:cNvPr>
          <p:cNvSpPr txBox="1"/>
          <p:nvPr/>
        </p:nvSpPr>
        <p:spPr>
          <a:xfrm>
            <a:off x="6082614" y="2399558"/>
            <a:ext cx="110508"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5</a:t>
            </a:r>
            <a:endParaRPr lang="es-ES_tradnl" sz="1200" dirty="0">
              <a:solidFill>
                <a:srgbClr val="00B1C2"/>
              </a:solidFill>
            </a:endParaRPr>
          </a:p>
        </p:txBody>
      </p:sp>
      <p:sp>
        <p:nvSpPr>
          <p:cNvPr id="121" name="CuadroTexto 120">
            <a:extLst>
              <a:ext uri="{FF2B5EF4-FFF2-40B4-BE49-F238E27FC236}">
                <a16:creationId xmlns:a16="http://schemas.microsoft.com/office/drawing/2014/main" id="{93579B23-5D67-E343-B15C-3B635A9CFF10}"/>
              </a:ext>
            </a:extLst>
          </p:cNvPr>
          <p:cNvSpPr txBox="1"/>
          <p:nvPr/>
        </p:nvSpPr>
        <p:spPr>
          <a:xfrm>
            <a:off x="6913886" y="2296871"/>
            <a:ext cx="110508"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6</a:t>
            </a:r>
            <a:endParaRPr lang="es-ES_tradnl" sz="1200" dirty="0">
              <a:solidFill>
                <a:srgbClr val="00B1C2"/>
              </a:solidFill>
            </a:endParaRPr>
          </a:p>
        </p:txBody>
      </p:sp>
      <p:sp>
        <p:nvSpPr>
          <p:cNvPr id="122" name="CuadroTexto 121">
            <a:extLst>
              <a:ext uri="{FF2B5EF4-FFF2-40B4-BE49-F238E27FC236}">
                <a16:creationId xmlns:a16="http://schemas.microsoft.com/office/drawing/2014/main" id="{45CA3111-83BE-BB44-B191-672D524F6DB4}"/>
              </a:ext>
            </a:extLst>
          </p:cNvPr>
          <p:cNvSpPr txBox="1"/>
          <p:nvPr/>
        </p:nvSpPr>
        <p:spPr>
          <a:xfrm>
            <a:off x="6151071" y="3020568"/>
            <a:ext cx="110508" cy="184666"/>
          </a:xfrm>
          <a:prstGeom prst="rect">
            <a:avLst/>
          </a:prstGeom>
          <a:noFill/>
        </p:spPr>
        <p:txBody>
          <a:bodyPr wrap="square" lIns="0" tIns="0" rIns="0" bIns="0">
            <a:spAutoFit/>
          </a:bodyPr>
          <a:lstStyle/>
          <a:p>
            <a:r>
              <a:rPr lang="es-PE" sz="1200" dirty="0">
                <a:solidFill>
                  <a:srgbClr val="00B1C2"/>
                </a:solidFill>
                <a:latin typeface="Calibri"/>
                <a:cs typeface="Calibri"/>
                <a:sym typeface="Calibri"/>
              </a:rPr>
              <a:t>9</a:t>
            </a:r>
            <a:endParaRPr lang="es-ES_tradnl" sz="1200" dirty="0">
              <a:solidFill>
                <a:srgbClr val="00B1C2"/>
              </a:solidFill>
            </a:endParaRPr>
          </a:p>
        </p:txBody>
      </p:sp>
      <p:cxnSp>
        <p:nvCxnSpPr>
          <p:cNvPr id="125" name="Conector recto de flecha 124">
            <a:extLst>
              <a:ext uri="{FF2B5EF4-FFF2-40B4-BE49-F238E27FC236}">
                <a16:creationId xmlns:a16="http://schemas.microsoft.com/office/drawing/2014/main" id="{F8D1518D-B4A5-EC4C-B825-075EAC5C943C}"/>
              </a:ext>
            </a:extLst>
          </p:cNvPr>
          <p:cNvCxnSpPr>
            <a:cxnSpLocks/>
          </p:cNvCxnSpPr>
          <p:nvPr/>
        </p:nvCxnSpPr>
        <p:spPr>
          <a:xfrm>
            <a:off x="6720452" y="4681082"/>
            <a:ext cx="0" cy="2224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9" name="Google Shape;289;p27"/>
          <p:cNvSpPr txBox="1"/>
          <p:nvPr/>
        </p:nvSpPr>
        <p:spPr>
          <a:xfrm>
            <a:off x="503237" y="5025242"/>
            <a:ext cx="935407"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F516BCD2-897F-0E46-A174-346BAA2C9BC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ANÁLISIS ESTÁTICO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46DE65BF-D5FC-DD4F-9930-150C008B7322}"/>
              </a:ext>
            </a:extLst>
          </p:cNvPr>
          <p:cNvSpPr/>
          <p:nvPr/>
        </p:nvSpPr>
        <p:spPr>
          <a:xfrm>
            <a:off x="503237" y="916472"/>
            <a:ext cx="8011175" cy="3323987"/>
          </a:xfrm>
          <a:prstGeom prst="rect">
            <a:avLst/>
          </a:prstGeom>
        </p:spPr>
        <p:txBody>
          <a:bodyPr wrap="square" lIns="0" tIns="0" rIns="0" bIns="0">
            <a:spAutoFit/>
          </a:bodyPr>
          <a:lstStyle/>
          <a:p>
            <a:pPr>
              <a:spcAft>
                <a:spcPts val="600"/>
              </a:spcAft>
              <a:buClr>
                <a:schemeClr val="dk1"/>
              </a:buClr>
              <a:buSzPts val="1600"/>
            </a:pPr>
            <a:r>
              <a:rPr lang="es-ES" sz="2000" b="1" dirty="0">
                <a:solidFill>
                  <a:srgbClr val="EE4639"/>
                </a:solidFill>
                <a:latin typeface="Graphik Bold" panose="020B0503030202060203" pitchFamily="34" charset="77"/>
                <a:cs typeface="Calibri" charset="0"/>
              </a:rPr>
              <a:t>+ 05.</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NÚMERO CICLOMÁTICO: v(G) = e – n + 2p</a:t>
            </a:r>
            <a:endParaRPr lang="es-PE" sz="1600" b="1" dirty="0">
              <a:solidFill>
                <a:srgbClr val="EE4639"/>
              </a:solidFill>
              <a:latin typeface="Calibri" charset="0"/>
              <a:cs typeface="Calibri" charset="0"/>
            </a:endParaRPr>
          </a:p>
          <a:p>
            <a:pPr marL="177800" marR="0" lvl="0" indent="-1682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El número ciclomático puede ser utilizado como un valor objetivo para una revisión de código.</a:t>
            </a:r>
            <a:endParaRPr lang="es-PE" dirty="0"/>
          </a:p>
          <a:p>
            <a:pPr marL="177800" marR="0" lvl="0" indent="-168275" algn="l" rtl="0">
              <a:spcBef>
                <a:spcPts val="0"/>
              </a:spcBef>
              <a:spcAft>
                <a:spcPts val="0"/>
              </a:spcAft>
              <a:buClr>
                <a:schemeClr val="dk1"/>
              </a:buClr>
              <a:buSzPts val="1600"/>
              <a:buFont typeface="Arial"/>
              <a:buNone/>
            </a:pPr>
            <a:endParaRPr lang="es-PE" sz="1600" dirty="0">
              <a:solidFill>
                <a:schemeClr val="dk1"/>
              </a:solidFill>
              <a:latin typeface="Calibri"/>
              <a:ea typeface="Calibri"/>
              <a:cs typeface="Calibri"/>
              <a:sym typeface="Calibri"/>
            </a:endParaRPr>
          </a:p>
          <a:p>
            <a:pPr marL="177800" marR="0" lvl="0" indent="-1682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El número ciclomático también puede ser calculado como el número de decisiones independientes más uno. Si las dos formas de cálculo aportan resultados diferentes se puede deber a:</a:t>
            </a:r>
            <a:endParaRPr lang="es-PE" dirty="0"/>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Ramas superfluas</a:t>
            </a:r>
            <a:endParaRPr lang="es-PE" dirty="0"/>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Ramas faltantes.</a:t>
            </a:r>
            <a:endParaRPr lang="es-PE" dirty="0"/>
          </a:p>
          <a:p>
            <a:pPr marL="133350" marR="0" lvl="0" indent="-22225" algn="l" rtl="0">
              <a:spcBef>
                <a:spcPts val="0"/>
              </a:spcBef>
              <a:spcAft>
                <a:spcPts val="0"/>
              </a:spcAft>
              <a:buClr>
                <a:schemeClr val="dk1"/>
              </a:buClr>
              <a:buSzPts val="1600"/>
              <a:buFont typeface="Arial"/>
              <a:buNone/>
            </a:pPr>
            <a:endParaRPr lang="es-PE" sz="1600" dirty="0">
              <a:solidFill>
                <a:schemeClr val="dk1"/>
              </a:solidFill>
              <a:latin typeface="Calibri"/>
              <a:ea typeface="Calibri"/>
              <a:cs typeface="Calibri"/>
              <a:sym typeface="Calibri"/>
            </a:endParaRPr>
          </a:p>
          <a:p>
            <a:pPr marL="177800" marR="0" lvl="0" indent="-1682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El número ciclomático también aporta un índice del número de casos de prueba necesarios para alcanzar cobertura de decisión.</a:t>
            </a:r>
            <a:endParaRPr lang="es-PE" dirty="0"/>
          </a:p>
          <a:p>
            <a:pPr marL="133350" marR="0" lvl="1" indent="0" algn="l" rtl="0">
              <a:spcBef>
                <a:spcPts val="0"/>
              </a:spcBef>
              <a:spcAft>
                <a:spcPts val="0"/>
              </a:spcAft>
              <a:buNone/>
            </a:pPr>
            <a:endParaRPr lang="es-PE" sz="1500" b="1" i="0" u="none" strike="noStrike" cap="none" dirty="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FF34FD7-0C3B-7444-A0CE-A0C82A590B90}"/>
              </a:ext>
            </a:extLst>
          </p:cNvPr>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nvGrpSpPr>
          <p:cNvPr id="3" name="Grupo 2">
            <a:extLst>
              <a:ext uri="{FF2B5EF4-FFF2-40B4-BE49-F238E27FC236}">
                <a16:creationId xmlns:a16="http://schemas.microsoft.com/office/drawing/2014/main" id="{A29A73CC-8E94-3F4A-8496-50CB779DCCC9}"/>
              </a:ext>
            </a:extLst>
          </p:cNvPr>
          <p:cNvGrpSpPr/>
          <p:nvPr/>
        </p:nvGrpSpPr>
        <p:grpSpPr>
          <a:xfrm>
            <a:off x="2506315" y="2194222"/>
            <a:ext cx="4581728" cy="1326557"/>
            <a:chOff x="2403187" y="2211377"/>
            <a:chExt cx="4581728" cy="1326557"/>
          </a:xfrm>
        </p:grpSpPr>
        <p:sp>
          <p:nvSpPr>
            <p:cNvPr id="4" name="CuadroTexto 3">
              <a:extLst>
                <a:ext uri="{FF2B5EF4-FFF2-40B4-BE49-F238E27FC236}">
                  <a16:creationId xmlns:a16="http://schemas.microsoft.com/office/drawing/2014/main" id="{5752AF49-0A92-264E-B6DB-2E02178ADE03}"/>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5" name="Imagen 4">
              <a:extLst>
                <a:ext uri="{FF2B5EF4-FFF2-40B4-BE49-F238E27FC236}">
                  <a16:creationId xmlns:a16="http://schemas.microsoft.com/office/drawing/2014/main" id="{A09F6E5F-091B-F145-9939-C8410EF81B42}"/>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6" name="Imagen 5">
            <a:extLst>
              <a:ext uri="{FF2B5EF4-FFF2-40B4-BE49-F238E27FC236}">
                <a16:creationId xmlns:a16="http://schemas.microsoft.com/office/drawing/2014/main" id="{8A73A4E6-9D35-9949-A025-763B9B4C2B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3733181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2" name="Rectángulo 21">
            <a:extLst>
              <a:ext uri="{FF2B5EF4-FFF2-40B4-BE49-F238E27FC236}">
                <a16:creationId xmlns:a16="http://schemas.microsoft.com/office/drawing/2014/main" id="{1084F8EF-8A8B-4643-BFF2-3BA31764AA23}"/>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object 7">
            <a:extLst>
              <a:ext uri="{FF2B5EF4-FFF2-40B4-BE49-F238E27FC236}">
                <a16:creationId xmlns:a16="http://schemas.microsoft.com/office/drawing/2014/main" id="{936171B6-0783-1240-8D4A-8BA3A5C9FD07}"/>
              </a:ext>
            </a:extLst>
          </p:cNvPr>
          <p:cNvSpPr txBox="1"/>
          <p:nvPr/>
        </p:nvSpPr>
        <p:spPr>
          <a:xfrm>
            <a:off x="1279545" y="912813"/>
            <a:ext cx="5705454" cy="2585323"/>
          </a:xfrm>
          <a:prstGeom prst="rect">
            <a:avLst/>
          </a:prstGeom>
        </p:spPr>
        <p:txBody>
          <a:bodyPr vert="horz" wrap="square" lIns="0" tIns="0" rIns="0" bIns="0" rtlCol="0">
            <a:spAutoFit/>
          </a:bodyPr>
          <a:lstStyle/>
          <a:p>
            <a:pPr marL="9525" marR="0" lvl="0" algn="l" rtl="0">
              <a:spcBef>
                <a:spcPts val="0"/>
              </a:spcBef>
              <a:spcAft>
                <a:spcPts val="0"/>
              </a:spcAft>
              <a:buClr>
                <a:schemeClr val="lt1"/>
              </a:buClr>
              <a:buSzPts val="1700"/>
            </a:pPr>
            <a:r>
              <a:rPr lang="es-PE" b="1" dirty="0">
                <a:solidFill>
                  <a:schemeClr val="tx1"/>
                </a:solidFill>
                <a:latin typeface="Calibri"/>
                <a:ea typeface="Calibri"/>
                <a:cs typeface="Calibri"/>
                <a:sym typeface="Calibri"/>
              </a:rPr>
              <a:t>Análisis Estático. </a:t>
            </a:r>
            <a:endParaRPr lang="es-PE" dirty="0">
              <a:solidFill>
                <a:schemeClr val="tx1"/>
              </a:solidFill>
              <a:latin typeface="Calibri"/>
              <a:ea typeface="Calibri"/>
              <a:cs typeface="Calibri"/>
              <a:sym typeface="Calibri"/>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Uso de </a:t>
            </a:r>
            <a:r>
              <a:rPr lang="es-PE" b="1" spc="-10" dirty="0">
                <a:solidFill>
                  <a:srgbClr val="262626"/>
                </a:solidFill>
                <a:latin typeface="Calibri" charset="0"/>
                <a:cs typeface="Calibri" charset="0"/>
                <a:sym typeface="Calibri"/>
              </a:rPr>
              <a:t>herramientas</a:t>
            </a:r>
            <a:r>
              <a:rPr lang="es-PE" spc="-10" dirty="0">
                <a:solidFill>
                  <a:srgbClr val="262626"/>
                </a:solidFill>
                <a:latin typeface="Calibri" charset="0"/>
                <a:cs typeface="Calibri" charset="0"/>
                <a:sym typeface="Calibri"/>
              </a:rPr>
              <a:t> para la realización de análisis (compiladores, analizadores). </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b="1" spc="-10" dirty="0">
                <a:solidFill>
                  <a:srgbClr val="262626"/>
                </a:solidFill>
                <a:latin typeface="Calibri" charset="0"/>
                <a:cs typeface="Calibri" charset="0"/>
                <a:sym typeface="Calibri"/>
              </a:rPr>
              <a:t>Esfuerzo menor </a:t>
            </a:r>
            <a:r>
              <a:rPr lang="es-PE" spc="-10" dirty="0">
                <a:solidFill>
                  <a:srgbClr val="262626"/>
                </a:solidFill>
                <a:latin typeface="Calibri" charset="0"/>
                <a:cs typeface="Calibri" charset="0"/>
                <a:sym typeface="Calibri"/>
              </a:rPr>
              <a:t>que el necesario para otros tipos de control de la calidad.</a:t>
            </a:r>
            <a:endParaRPr lang="es-PE" spc="-10" dirty="0">
              <a:solidFill>
                <a:srgbClr val="262626"/>
              </a:solidFill>
              <a:latin typeface="Calibri" charset="0"/>
              <a:cs typeface="Calibri" charset="0"/>
            </a:endParaRPr>
          </a:p>
          <a:p>
            <a:pPr marL="180975" marR="0" lvl="0" indent="-63500" algn="l" rtl="0">
              <a:spcBef>
                <a:spcPts val="0"/>
              </a:spcBef>
              <a:spcAft>
                <a:spcPts val="0"/>
              </a:spcAft>
              <a:buClr>
                <a:srgbClr val="7150A0"/>
              </a:buClr>
              <a:buSzPct val="100000"/>
              <a:buFont typeface="Arial"/>
              <a:buNone/>
            </a:pPr>
            <a:endParaRPr lang="es-PE" dirty="0">
              <a:solidFill>
                <a:schemeClr val="tx1"/>
              </a:solidFill>
              <a:latin typeface="Calibri"/>
              <a:ea typeface="Calibri"/>
              <a:cs typeface="Calibri"/>
              <a:sym typeface="Calibri"/>
            </a:endParaRPr>
          </a:p>
          <a:p>
            <a:pPr marL="9525" marR="0" lvl="0" algn="l" rtl="0">
              <a:spcBef>
                <a:spcPts val="0"/>
              </a:spcBef>
              <a:spcAft>
                <a:spcPts val="0"/>
              </a:spcAft>
              <a:buClr>
                <a:schemeClr val="lt1"/>
              </a:buClr>
              <a:buSzPts val="1700"/>
            </a:pPr>
            <a:r>
              <a:rPr lang="es-PE" b="1" dirty="0">
                <a:solidFill>
                  <a:schemeClr val="tx1"/>
                </a:solidFill>
                <a:latin typeface="Calibri"/>
                <a:ea typeface="Calibri"/>
                <a:cs typeface="Calibri"/>
                <a:sym typeface="Calibri"/>
              </a:rPr>
              <a:t>Resultado del Análisis. </a:t>
            </a:r>
            <a:endParaRPr lang="es-PE" dirty="0">
              <a:solidFill>
                <a:schemeClr val="tx1"/>
              </a:solidFill>
              <a:latin typeface="Calibri"/>
              <a:ea typeface="Calibri"/>
              <a:cs typeface="Calibri"/>
              <a:sym typeface="Calibri"/>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El </a:t>
            </a:r>
            <a:r>
              <a:rPr lang="es-PE" b="1" spc="-10" dirty="0">
                <a:solidFill>
                  <a:srgbClr val="262626"/>
                </a:solidFill>
                <a:latin typeface="Calibri" charset="0"/>
                <a:cs typeface="Calibri" charset="0"/>
                <a:sym typeface="Calibri"/>
              </a:rPr>
              <a:t>diagrama de control de flujo </a:t>
            </a:r>
            <a:r>
              <a:rPr lang="es-PE" spc="-10" dirty="0">
                <a:solidFill>
                  <a:srgbClr val="262626"/>
                </a:solidFill>
                <a:latin typeface="Calibri" charset="0"/>
                <a:cs typeface="Calibri" charset="0"/>
                <a:sym typeface="Calibri"/>
              </a:rPr>
              <a:t>presenta el flujo del programa y permite la detección de ramas muertas y código inalcanzable. </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Las anomalías en los datos se detectan utilizando el </a:t>
            </a:r>
            <a:r>
              <a:rPr lang="es-PE" b="1" spc="-10" dirty="0">
                <a:solidFill>
                  <a:srgbClr val="262626"/>
                </a:solidFill>
                <a:latin typeface="Calibri" charset="0"/>
                <a:cs typeface="Calibri" charset="0"/>
                <a:sym typeface="Calibri"/>
              </a:rPr>
              <a:t>análisis del flujo de datos. </a:t>
            </a:r>
            <a:endParaRPr lang="es-PE" b="1"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Las </a:t>
            </a:r>
            <a:r>
              <a:rPr lang="es-PE" b="1" spc="-10" dirty="0">
                <a:solidFill>
                  <a:srgbClr val="262626"/>
                </a:solidFill>
                <a:latin typeface="Calibri" charset="0"/>
                <a:cs typeface="Calibri" charset="0"/>
                <a:sym typeface="Calibri"/>
              </a:rPr>
              <a:t>métricas</a:t>
            </a:r>
            <a:r>
              <a:rPr lang="es-PE" spc="-10" dirty="0">
                <a:solidFill>
                  <a:srgbClr val="262626"/>
                </a:solidFill>
                <a:latin typeface="Calibri" charset="0"/>
                <a:cs typeface="Calibri" charset="0"/>
                <a:sym typeface="Calibri"/>
              </a:rPr>
              <a:t> pueden ser utilizadas para evaluar la </a:t>
            </a:r>
            <a:r>
              <a:rPr lang="es-PE" b="1" spc="-10" dirty="0">
                <a:solidFill>
                  <a:srgbClr val="262626"/>
                </a:solidFill>
                <a:latin typeface="Calibri" charset="0"/>
                <a:cs typeface="Calibri" charset="0"/>
                <a:sym typeface="Calibri"/>
              </a:rPr>
              <a:t>complejidad</a:t>
            </a:r>
            <a:r>
              <a:rPr lang="es-PE" spc="-10" dirty="0">
                <a:solidFill>
                  <a:srgbClr val="262626"/>
                </a:solidFill>
                <a:latin typeface="Calibri" charset="0"/>
                <a:cs typeface="Calibri" charset="0"/>
                <a:sym typeface="Calibri"/>
              </a:rPr>
              <a:t> estructural conduciendo a una estimación del esfuerzo, en pruebas esperadas. </a:t>
            </a:r>
            <a:endParaRPr lang="es-PE" spc="-10" dirty="0">
              <a:solidFill>
                <a:srgbClr val="262626"/>
              </a:solidFill>
              <a:latin typeface="Calibri" charset="0"/>
              <a:cs typeface="Calibri" charset="0"/>
            </a:endParaRPr>
          </a:p>
        </p:txBody>
      </p:sp>
      <p:pic>
        <p:nvPicPr>
          <p:cNvPr id="24" name="Imagen 23">
            <a:extLst>
              <a:ext uri="{FF2B5EF4-FFF2-40B4-BE49-F238E27FC236}">
                <a16:creationId xmlns:a16="http://schemas.microsoft.com/office/drawing/2014/main" id="{2468850F-1E6C-7349-9CA4-8AEC1E16A686}"/>
              </a:ext>
            </a:extLst>
          </p:cNvPr>
          <p:cNvPicPr>
            <a:picLocks noChangeAspect="1"/>
          </p:cNvPicPr>
          <p:nvPr/>
        </p:nvPicPr>
        <p:blipFill>
          <a:blip r:embed="rId3"/>
          <a:stretch>
            <a:fillRect/>
          </a:stretch>
        </p:blipFill>
        <p:spPr>
          <a:xfrm>
            <a:off x="1011260" y="954885"/>
            <a:ext cx="114138" cy="117546"/>
          </a:xfrm>
          <a:prstGeom prst="rect">
            <a:avLst/>
          </a:prstGeom>
        </p:spPr>
      </p:pic>
      <p:pic>
        <p:nvPicPr>
          <p:cNvPr id="25" name="Imagen 24">
            <a:extLst>
              <a:ext uri="{FF2B5EF4-FFF2-40B4-BE49-F238E27FC236}">
                <a16:creationId xmlns:a16="http://schemas.microsoft.com/office/drawing/2014/main" id="{8D517DFE-EB29-974D-9390-432210D25FDE}"/>
              </a:ext>
            </a:extLst>
          </p:cNvPr>
          <p:cNvPicPr>
            <a:picLocks noChangeAspect="1"/>
          </p:cNvPicPr>
          <p:nvPr/>
        </p:nvPicPr>
        <p:blipFill>
          <a:blip r:embed="rId3"/>
          <a:stretch>
            <a:fillRect/>
          </a:stretch>
        </p:blipFill>
        <p:spPr>
          <a:xfrm>
            <a:off x="1011260" y="2018034"/>
            <a:ext cx="114138" cy="117546"/>
          </a:xfrm>
          <a:prstGeom prst="rect">
            <a:avLst/>
          </a:prstGeom>
        </p:spPr>
      </p:pic>
      <p:pic>
        <p:nvPicPr>
          <p:cNvPr id="27" name="Imagen 26">
            <a:extLst>
              <a:ext uri="{FF2B5EF4-FFF2-40B4-BE49-F238E27FC236}">
                <a16:creationId xmlns:a16="http://schemas.microsoft.com/office/drawing/2014/main" id="{B6B2C99D-56BF-EA4F-A4E8-ECBAFBDBD4E8}"/>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28" name="Rectangle 5">
            <a:extLst>
              <a:ext uri="{FF2B5EF4-FFF2-40B4-BE49-F238E27FC236}">
                <a16:creationId xmlns:a16="http://schemas.microsoft.com/office/drawing/2014/main" id="{A281D7D3-A6BF-A442-B659-2C887EA5D57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9ABD9C3-7603-A94D-95DB-6394307DF3C9}"/>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5EED1D38-CE6E-3A47-BFD8-EA7C27DC74D7}"/>
              </a:ext>
            </a:extLst>
          </p:cNvPr>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13848186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421</TotalTime>
  <Words>2861</Words>
  <Application>Microsoft Office PowerPoint</Application>
  <PresentationFormat>Presentación en pantalla (16:10)</PresentationFormat>
  <Paragraphs>397</Paragraphs>
  <Slides>31</Slides>
  <Notes>28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31</vt:i4>
      </vt:variant>
    </vt:vector>
  </HeadingPairs>
  <TitlesOfParts>
    <vt:vector size="38" baseType="lpstr">
      <vt:lpstr>Graphik Bold</vt:lpstr>
      <vt:lpstr>Graphik Regular</vt:lpstr>
      <vt:lpstr>Graphik-Medium</vt:lpstr>
      <vt:lpstr>Arial</vt:lpstr>
      <vt:lpstr>Calibri</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Elva Zoraida Hamada Doshi</cp:lastModifiedBy>
  <cp:revision>105</cp:revision>
  <dcterms:created xsi:type="dcterms:W3CDTF">2016-10-06T14:52:02Z</dcterms:created>
  <dcterms:modified xsi:type="dcterms:W3CDTF">2024-12-03T16:45:16Z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