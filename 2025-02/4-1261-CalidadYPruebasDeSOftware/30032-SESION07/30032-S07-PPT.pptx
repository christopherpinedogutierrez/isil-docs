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5" r:id="rId29"/>
    <p:sldId id="282" r:id="rId30"/>
    <p:sldId id="283" r:id="rId31"/>
    <p:sldId id="286" r:id="rId32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4" orient="horz" pos="575">
          <p15:clr>
            <a:srgbClr val="A4A3A4"/>
          </p15:clr>
        </p15:guide>
        <p15:guide id="5" orient="horz" pos="1120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heu+oT3UQGvSBxJYF4jsf1DwJZ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150A0"/>
    <a:srgbClr val="EE4639"/>
    <a:srgbClr val="808799"/>
    <a:srgbClr val="4E697E"/>
    <a:srgbClr val="00B1C2"/>
    <a:srgbClr val="FDC212"/>
    <a:srgbClr val="92C14E"/>
    <a:srgbClr val="FFD8D4"/>
    <a:srgbClr val="FFD7C1"/>
    <a:srgbClr val="FFE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6ABA2A7-E02A-4494-9AB4-2959EE87CC34}">
  <a:tblStyle styleId="{96ABA2A7-E02A-4494-9AB4-2959EE87CC3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</a:tcStyle>
    </a:seCell>
    <a:swCell>
      <a:tcTxStyle b="on" i="off">
        <a:font>
          <a:latin typeface="Calibri"/>
          <a:ea typeface="Calibri"/>
          <a:cs typeface="Calibri"/>
        </a:font>
        <a:schemeClr val="dk1"/>
      </a:tcTxStyle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7E7C004-229E-4654-84CB-5644D2D8E789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3"/>
    <p:restoredTop sz="94674"/>
  </p:normalViewPr>
  <p:slideViewPr>
    <p:cSldViewPr snapToGrid="0">
      <p:cViewPr varScale="1">
        <p:scale>
          <a:sx n="98" d="100"/>
          <a:sy n="98" d="100"/>
        </p:scale>
        <p:origin x="1542" y="72"/>
      </p:cViewPr>
      <p:guideLst>
        <p:guide pos="2880"/>
        <p:guide orient="horz" pos="575"/>
        <p:guide orient="horz" pos="1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El encargado de realizar las pruebas es el ingeniero de software con ayuda de especialistas en pruebas.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Las técnicas de pruebas del software permiten diseñar pruebas que:</a:t>
            </a:r>
            <a:endParaRPr/>
          </a:p>
          <a:p>
            <a:pPr marL="45720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Comprueben la lógica interna de los componentes software.</a:t>
            </a:r>
            <a:endParaRPr/>
          </a:p>
          <a:p>
            <a:pPr marL="457200" lvl="1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/>
              <a:t>Verifiquen los dominios de entrada y salida del programa para descubrir errores en la funcionalidad, el comportamiento y rendimiento.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Estos son los métodos más importantes y conocidos.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s-PE"/>
              <a:t>Estos son los métodos más importantes y conocidos.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13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/>
              <a:t>Los datos de entrada y los resultados de salida se agrupan en clases diferentes, en las que todos los miembros de dicha clase están relacionados.</a:t>
            </a:r>
            <a:endParaRPr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/>
              <a:t>Cada una de estas clases es una partición de equivalencia en la que el programa se comporta de la misma forma para cada miembro de la clase.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4" name="Google Shape;26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20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</a:t>
            </a:r>
            <a:r>
              <a:rPr lang="es-PE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Beneficios.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Identificación sistemática de combinaciones de entradas (combinaciones de causas) que no podrían ser identificados utilizando otros métodos.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Los casos de prueba son fáciles de obtener a partir de la tabla de decisión.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Facilidad de determinar una cobertura suficiente de casos de prueba, por ejemplo, por lo menos un caso de prueba por cada columna de la tabla de decisión.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El número de casos de prueba se puede reducir por la fusión sistemática de columnas de la tabla de decisión.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</a:t>
            </a:r>
            <a:r>
              <a:rPr lang="es-PE" sz="1200" b="1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Desventajas. </a:t>
            </a:r>
            <a:endParaRPr sz="1200"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El establecimiento de un gran número de causas conduce a resultados complejos y extensos.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Por lo tanto, se puede incurrir en muchos errores en la aplicación de este método.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Esto hace necesario el uso de una herramienta.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22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2b846a15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PE"/>
              <a:t>Criterio de salida de la prueba.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Cada estado debe haber sido alcanzado al menos una vez.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Cada transición debe haber sido ejecutada al menos una vez.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 Beneficios / Desventajas de este método.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Buen método de pruebas para aquellos objetos de prueba que pueden ser descritos como una máquina de estados.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Buen método de pruebas para probar clases, sólo en el caso de disponer del ciclo de vida del objeto.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Con frecuencia, los estados son más bien complejos, es decir, es necesario un gran número de parámetros para describir el estado.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 En estos casos, diseñar casos de prueba y analizar los resultados de las pruebas puede ser difícil y puede implicar un consumo de tiempo considerable. 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s-PE"/>
              <a:t>La sola cobertura de todos los estados no garantiza una cobertura completa de las pruebas.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g302b846a15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caso de uso describe una cierta tarea (interacción usuario - sistema).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La descripción de un caso de uso incluye, pero no está limitado a: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Precondiciones.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Resultados esperados / comportamiento del sistema.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Poscondiciones.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Estos elementos descriptivos también son utilizados para definir el caso de prueba correspondiente.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Cada caso de uso puede ser utilizado como la fuente para un caso de prueba.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Cada alternativa en el diagrama corresponde a un caso de prueba separado.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 Normalmente, la información aportada por un caso de uso no tiene suficiente detalle para definir casos de prueba. Son necesarios datos adicionales (datos de entrada, resultados esperados) para construir o desarrollar un caso de prueba.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27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3" name="Google Shape;40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29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s-PE" b="1"/>
              <a:t>CAJA NEGRA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/>
              <a:t>Las pruebas de caja negra (black box) verifican funciones especificadas, si las funciones no son especificadas, estas no son probadas.</a:t>
            </a:r>
            <a:endParaRPr/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s-PE"/>
              <a:t>El código sobrante no puede ser detectado utilizando pruebas de caja negra (black box).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30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ema - 1 Imagen A" userDrawn="1">
  <p:cSld name="Subtema - 1 Imagen A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userDrawn="1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4F1BA2A9-622C-8E46-BB01-B4ED021EE421}"/>
              </a:ext>
            </a:extLst>
          </p:cNvPr>
          <p:cNvSpPr/>
          <p:nvPr userDrawn="1"/>
        </p:nvSpPr>
        <p:spPr>
          <a:xfrm>
            <a:off x="7204422" y="5371562"/>
            <a:ext cx="154401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ES_tradnl" sz="600" dirty="0">
                <a:solidFill>
                  <a:schemeClr val="bg1">
                    <a:lumMod val="50000"/>
                  </a:schemeClr>
                </a:solidFill>
              </a:rPr>
              <a:t>© ISIL. Todos los derechos reservados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0E2C0E-45FD-A645-ABA1-E0048C71D566}"/>
              </a:ext>
            </a:extLst>
          </p:cNvPr>
          <p:cNvSpPr txBox="1"/>
          <p:nvPr userDrawn="1"/>
        </p:nvSpPr>
        <p:spPr>
          <a:xfrm>
            <a:off x="876300" y="5343295"/>
            <a:ext cx="21643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kern="1200" baseline="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CALIDAD Y PRUEBAS DE SOFTWARE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ea typeface="Wingdings"/>
                <a:cs typeface="Calibri"/>
                <a:sym typeface="Wingdings"/>
              </a:rPr>
              <a:t></a:t>
            </a:r>
            <a:r>
              <a:rPr lang="en-US" sz="800" kern="1200" dirty="0">
                <a:solidFill>
                  <a:schemeClr val="bg1">
                    <a:lumMod val="50000"/>
                  </a:schemeClr>
                </a:solidFill>
                <a:latin typeface="Calibri"/>
                <a:ea typeface="+mn-ea"/>
                <a:cs typeface="Calibri"/>
                <a:sym typeface="Wingdings"/>
              </a:rPr>
              <a:t>  TEMA 07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22E9889-D1A3-0A41-BD63-6B60796D020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316" y="5349405"/>
            <a:ext cx="369984" cy="206823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800" userDrawn="1">
          <p15:clr>
            <a:srgbClr val="F26B43"/>
          </p15:clr>
        </p15:guide>
        <p15:guide id="3" pos="2767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pos="295" userDrawn="1">
          <p15:clr>
            <a:srgbClr val="F26B43"/>
          </p15:clr>
        </p15:guide>
        <p15:guide id="6" pos="431" userDrawn="1">
          <p15:clr>
            <a:srgbClr val="F26B43"/>
          </p15:clr>
        </p15:guide>
        <p15:guide id="7" pos="5465" userDrawn="1">
          <p15:clr>
            <a:srgbClr val="F26B43"/>
          </p15:clr>
        </p15:guide>
        <p15:guide id="8" orient="horz" pos="303" userDrawn="1">
          <p15:clr>
            <a:srgbClr val="F26B43"/>
          </p15:clr>
        </p15:guide>
        <p15:guide id="9" orient="horz" pos="575" userDrawn="1">
          <p15:clr>
            <a:srgbClr val="F26B43"/>
          </p15:clr>
        </p15:guide>
        <p15:guide id="10" orient="horz" pos="329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B6239D5-37F3-6B4E-AFD7-48523DE54A42}"/>
              </a:ext>
            </a:extLst>
          </p:cNvPr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5FB419-FE86-414F-8AAD-97A948348F75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900" b="1" dirty="0">
                <a:solidFill>
                  <a:srgbClr val="6C6D6C"/>
                </a:solidFill>
                <a:latin typeface="Calibri" charset="0"/>
                <a:cs typeface="Calibri" charset="0"/>
              </a:rPr>
              <a:t>CALIDAD Y PRUEBAS DE SOFTWARE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5DD294D-4230-194D-A357-2858752B5282}"/>
              </a:ext>
            </a:extLst>
          </p:cNvPr>
          <p:cNvSpPr/>
          <p:nvPr/>
        </p:nvSpPr>
        <p:spPr>
          <a:xfrm>
            <a:off x="503239" y="2177570"/>
            <a:ext cx="3056852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3200" dirty="0">
                <a:latin typeface="Graphik-Medium" charset="0"/>
                <a:ea typeface="Graphik-Medium" charset="0"/>
                <a:cs typeface="Graphik-Medium" charset="0"/>
              </a:rPr>
              <a:t>TÉCNICAS </a:t>
            </a:r>
            <a:br>
              <a:rPr lang="es-PE" sz="3200" dirty="0">
                <a:latin typeface="Graphik-Medium" charset="0"/>
                <a:ea typeface="Graphik-Medium" charset="0"/>
                <a:cs typeface="Graphik-Medium" charset="0"/>
              </a:rPr>
            </a:br>
            <a:r>
              <a:rPr lang="es-PE" sz="3200" b="1" dirty="0">
                <a:latin typeface="Graphik Bold" charset="0"/>
                <a:ea typeface="Graphik Bold" charset="0"/>
                <a:cs typeface="Graphik Bold" charset="0"/>
              </a:rPr>
              <a:t>DINÁMICAS - I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8C3BAD9-8485-4744-B267-B3E5B129E399}"/>
              </a:ext>
            </a:extLst>
          </p:cNvPr>
          <p:cNvSpPr/>
          <p:nvPr/>
        </p:nvSpPr>
        <p:spPr>
          <a:xfrm>
            <a:off x="503238" y="3219842"/>
            <a:ext cx="2845526" cy="4284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800" indent="-177800">
              <a:lnSpc>
                <a:spcPct val="120000"/>
              </a:lnSpc>
              <a:buClr>
                <a:srgbClr val="4E697E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-Medium" charset="0"/>
                <a:sym typeface="Calibri"/>
              </a:rPr>
              <a:t>Técnicas de caja negra o basadas en la especificación.</a:t>
            </a:r>
            <a:endParaRPr lang="es-PE" sz="1200" dirty="0">
              <a:latin typeface="Graphik-Medium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F36688C-0854-B243-8032-8754033AD3EB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4E697E"/>
                </a:solidFill>
                <a:latin typeface="Calibri" charset="0"/>
                <a:ea typeface="Calibri" charset="0"/>
                <a:cs typeface="Calibri" charset="0"/>
              </a:rPr>
              <a:t>TEMA 07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A212B1E-F937-EC45-AD21-D6A994F9E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70B49C8A-62EF-F04F-B6FE-0A50098415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0" y="0"/>
            <a:ext cx="539115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9132EE7-8C33-6B49-AC7C-EA5BFA848BC6}"/>
              </a:ext>
            </a:extLst>
          </p:cNvPr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C0DB6A-765D-324B-8D37-E0173CF82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10510FB8-0367-1B40-BC94-FFBFD6479BC6}"/>
              </a:ext>
            </a:extLst>
          </p:cNvPr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CD9C77-D772-2241-930A-113DF2A4F2F3}"/>
              </a:ext>
            </a:extLst>
          </p:cNvPr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AE2613-8270-D343-BDF9-F765D9CB15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97C406C-C79C-C141-9115-36339E027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8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7E88271-AE1E-104A-8E25-0CE55BB55C70}"/>
              </a:ext>
            </a:extLst>
          </p:cNvPr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9773D492-ECDA-144F-AEB7-E23DD12EE63A}"/>
              </a:ext>
            </a:extLst>
          </p:cNvPr>
          <p:cNvSpPr txBox="1"/>
          <p:nvPr/>
        </p:nvSpPr>
        <p:spPr>
          <a:xfrm>
            <a:off x="1282299" y="918372"/>
            <a:ext cx="5200798" cy="861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Durante esta sesión:</a:t>
            </a:r>
            <a:endParaRPr lang="es-PE" dirty="0"/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Conocerás</a:t>
            </a: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 las situaciones en donde se debe aplicar las técnicas dinámicas basadas en la especificación (caja negra).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EE4639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b="1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Aprenderás</a:t>
            </a: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 a diseñar las pruebas.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3811C1A-0EEC-F44D-B29A-AE1565DF0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7E86DA6-1636-8F44-8CA9-2437FBF6025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2AB601-F7D2-9147-814B-E6E486B13B8B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110CE5F-B9AE-A044-821E-0B52EFBE3D7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35FC472-0A82-1847-9B9E-53716909444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BFF2719-14F5-464A-8D07-9EF80590FF7B}"/>
              </a:ext>
            </a:extLst>
          </p:cNvPr>
          <p:cNvSpPr txBox="1"/>
          <p:nvPr/>
        </p:nvSpPr>
        <p:spPr>
          <a:xfrm>
            <a:off x="1008063" y="3169972"/>
            <a:ext cx="599355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TÉCNICAS DE CAJA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</a:rPr>
              <a:t>NEGRA O BASADAS EN</a:t>
            </a:r>
            <a:br>
              <a:rPr lang="es-PE" sz="2400" dirty="0">
                <a:solidFill>
                  <a:schemeClr val="bg1"/>
                </a:solidFill>
                <a:latin typeface="Graphik Regular" charset="0"/>
              </a:rPr>
            </a:br>
            <a:r>
              <a:rPr lang="es-PE" sz="24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LA ESPECIFICACIÓN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B53DED3-F6E0-6F48-A6A0-3F895519E2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503238" y="921942"/>
            <a:ext cx="793747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11113" algn="l" rtl="0">
              <a:spcBef>
                <a:spcPts val="0"/>
              </a:spcBef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RECORDEMOS: TAXONOMÍA DE LAS PRUEBAS</a:t>
            </a:r>
            <a:endParaRPr dirty="0"/>
          </a:p>
        </p:txBody>
      </p:sp>
      <p:sp>
        <p:nvSpPr>
          <p:cNvPr id="71" name="Google Shape;71;p4"/>
          <p:cNvSpPr txBox="1"/>
          <p:nvPr/>
        </p:nvSpPr>
        <p:spPr>
          <a:xfrm>
            <a:off x="1054139" y="4571571"/>
            <a:ext cx="3889375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documentop.com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36B788-DFCF-5242-BFB4-BF2E67FA8B7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A091280A-4299-7A47-8308-983270744B9C}"/>
              </a:ext>
            </a:extLst>
          </p:cNvPr>
          <p:cNvSpPr/>
          <p:nvPr/>
        </p:nvSpPr>
        <p:spPr>
          <a:xfrm>
            <a:off x="1054139" y="1539613"/>
            <a:ext cx="7035721" cy="772885"/>
          </a:xfrm>
          <a:prstGeom prst="roundRect">
            <a:avLst>
              <a:gd name="adj" fmla="val 14385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6213" lvl="0" indent="-176213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Las pruebas del software abarcan la exploración final de las especificaciones del diseño y de la codificación.</a:t>
            </a:r>
            <a:endParaRPr lang="es-PE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D0F3BB0-72D7-9A4C-96EF-A9A068AF1C39}"/>
              </a:ext>
            </a:extLst>
          </p:cNvPr>
          <p:cNvSpPr/>
          <p:nvPr/>
        </p:nvSpPr>
        <p:spPr>
          <a:xfrm>
            <a:off x="1054139" y="2528964"/>
            <a:ext cx="7035721" cy="772885"/>
          </a:xfrm>
          <a:prstGeom prst="roundRect">
            <a:avLst>
              <a:gd name="adj" fmla="val 14385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6213" lvl="0" indent="-176213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Las pruebas del software son un conjunto de evaluaciones cuyo fin es identificar y descubrir un defecto.</a:t>
            </a:r>
            <a:endParaRPr lang="es-PE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lvl="0">
              <a:buClr>
                <a:srgbClr val="00B1C2"/>
              </a:buClr>
              <a:buSzPct val="100000"/>
            </a:pPr>
            <a:endParaRPr lang="es-PE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470F0E1-94C6-F24B-810E-C212810ACE1B}"/>
              </a:ext>
            </a:extLst>
          </p:cNvPr>
          <p:cNvSpPr/>
          <p:nvPr/>
        </p:nvSpPr>
        <p:spPr>
          <a:xfrm>
            <a:off x="1054139" y="3465849"/>
            <a:ext cx="7035721" cy="941722"/>
          </a:xfrm>
          <a:prstGeom prst="roundRect">
            <a:avLst>
              <a:gd name="adj" fmla="val 14385"/>
            </a:avLst>
          </a:prstGeom>
          <a:solidFill>
            <a:srgbClr val="D1EFF4"/>
          </a:solidFill>
          <a:ln w="38100">
            <a:solidFill>
              <a:srgbClr val="00B1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08000" rIns="36000" rtlCol="0" anchor="t"/>
          <a:lstStyle/>
          <a:p>
            <a:pPr marL="176213" lvl="0" indent="-176213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Calibri"/>
              </a:rPr>
              <a:t>El software debe aprobarse desde dos perspectivas:</a:t>
            </a:r>
            <a:endParaRPr lang="es-PE" dirty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312738" lvl="1" indent="-13335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La lógica interna del programa. Utilizando pruebas de “caja blanca”.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12738" lvl="1" indent="-133350">
              <a:buClr>
                <a:srgbClr val="00B1C2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Los requisitos del software. Utilizando pruebas de “caja negra”.</a:t>
            </a:r>
            <a:endParaRPr lang="es-PE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5"/>
          <p:cNvCxnSpPr/>
          <p:nvPr/>
        </p:nvCxnSpPr>
        <p:spPr>
          <a:xfrm>
            <a:off x="6674600" y="2577042"/>
            <a:ext cx="0" cy="2387033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5"/>
          <p:cNvCxnSpPr/>
          <p:nvPr/>
        </p:nvCxnSpPr>
        <p:spPr>
          <a:xfrm>
            <a:off x="6674600" y="2902214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5"/>
          <p:cNvCxnSpPr/>
          <p:nvPr/>
        </p:nvCxnSpPr>
        <p:spPr>
          <a:xfrm>
            <a:off x="6674600" y="3417890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5"/>
          <p:cNvCxnSpPr/>
          <p:nvPr/>
        </p:nvCxnSpPr>
        <p:spPr>
          <a:xfrm>
            <a:off x="6674600" y="3936892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5"/>
          <p:cNvCxnSpPr/>
          <p:nvPr/>
        </p:nvCxnSpPr>
        <p:spPr>
          <a:xfrm>
            <a:off x="6674600" y="4456608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5"/>
          <p:cNvCxnSpPr/>
          <p:nvPr/>
        </p:nvCxnSpPr>
        <p:spPr>
          <a:xfrm>
            <a:off x="6674600" y="4953122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Forma libre 56">
            <a:extLst>
              <a:ext uri="{FF2B5EF4-FFF2-40B4-BE49-F238E27FC236}">
                <a16:creationId xmlns:a16="http://schemas.microsoft.com/office/drawing/2014/main" id="{FDBB3316-22DE-5941-8638-B5528A65E64F}"/>
              </a:ext>
            </a:extLst>
          </p:cNvPr>
          <p:cNvSpPr/>
          <p:nvPr/>
        </p:nvSpPr>
        <p:spPr>
          <a:xfrm>
            <a:off x="3703725" y="2085224"/>
            <a:ext cx="3641456" cy="123631"/>
          </a:xfrm>
          <a:custGeom>
            <a:avLst/>
            <a:gdLst>
              <a:gd name="connsiteX0" fmla="*/ 0 w 4229100"/>
              <a:gd name="connsiteY0" fmla="*/ 121023 h 134470"/>
              <a:gd name="connsiteX1" fmla="*/ 0 w 4229100"/>
              <a:gd name="connsiteY1" fmla="*/ 0 h 134470"/>
              <a:gd name="connsiteX2" fmla="*/ 4229100 w 4229100"/>
              <a:gd name="connsiteY2" fmla="*/ 0 h 134470"/>
              <a:gd name="connsiteX3" fmla="*/ 4229100 w 4229100"/>
              <a:gd name="connsiteY3" fmla="*/ 134470 h 13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9100" h="134470">
                <a:moveTo>
                  <a:pt x="0" y="121023"/>
                </a:moveTo>
                <a:lnTo>
                  <a:pt x="0" y="0"/>
                </a:lnTo>
                <a:lnTo>
                  <a:pt x="4229100" y="0"/>
                </a:lnTo>
                <a:lnTo>
                  <a:pt x="4229100" y="134470"/>
                </a:lnTo>
              </a:path>
            </a:pathLst>
          </a:custGeom>
          <a:noFill/>
          <a:ln>
            <a:solidFill>
              <a:srgbClr val="92C1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05" name="Google Shape;105;p5"/>
          <p:cNvCxnSpPr/>
          <p:nvPr/>
        </p:nvCxnSpPr>
        <p:spPr>
          <a:xfrm>
            <a:off x="3086458" y="2565197"/>
            <a:ext cx="0" cy="1903573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5"/>
          <p:cNvCxnSpPr/>
          <p:nvPr/>
        </p:nvCxnSpPr>
        <p:spPr>
          <a:xfrm>
            <a:off x="3086458" y="3420636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5"/>
          <p:cNvCxnSpPr/>
          <p:nvPr/>
        </p:nvCxnSpPr>
        <p:spPr>
          <a:xfrm>
            <a:off x="3086458" y="2902214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5"/>
          <p:cNvCxnSpPr/>
          <p:nvPr/>
        </p:nvCxnSpPr>
        <p:spPr>
          <a:xfrm>
            <a:off x="3086458" y="3933566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5"/>
          <p:cNvCxnSpPr/>
          <p:nvPr/>
        </p:nvCxnSpPr>
        <p:spPr>
          <a:xfrm>
            <a:off x="3086458" y="4458777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5"/>
          <p:cNvCxnSpPr/>
          <p:nvPr/>
        </p:nvCxnSpPr>
        <p:spPr>
          <a:xfrm>
            <a:off x="4863683" y="2577042"/>
            <a:ext cx="0" cy="852692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p5"/>
          <p:cNvSpPr/>
          <p:nvPr/>
        </p:nvSpPr>
        <p:spPr>
          <a:xfrm>
            <a:off x="801898" y="1606515"/>
            <a:ext cx="1374927" cy="392852"/>
          </a:xfrm>
          <a:prstGeom prst="roundRect">
            <a:avLst>
              <a:gd name="adj" fmla="val 16667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Estáticas</a:t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1024704" y="2190113"/>
            <a:ext cx="1414915" cy="392852"/>
          </a:xfrm>
          <a:prstGeom prst="roundRect">
            <a:avLst>
              <a:gd name="adj" fmla="val 16667"/>
            </a:avLst>
          </a:prstGeom>
          <a:solidFill>
            <a:srgbClr val="92C1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Revisiones</a:t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1024704" y="2705789"/>
            <a:ext cx="1414915" cy="392852"/>
          </a:xfrm>
          <a:prstGeom prst="roundRect">
            <a:avLst>
              <a:gd name="adj" fmla="val 16667"/>
            </a:avLst>
          </a:prstGeom>
          <a:solidFill>
            <a:srgbClr val="92C1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Walkthroughs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1024704" y="3221465"/>
            <a:ext cx="1414915" cy="392852"/>
          </a:xfrm>
          <a:prstGeom prst="roundRect">
            <a:avLst>
              <a:gd name="adj" fmla="val 16667"/>
            </a:avLst>
          </a:prstGeom>
          <a:solidFill>
            <a:srgbClr val="92C1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Revisión Técnica</a:t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1024704" y="3737141"/>
            <a:ext cx="1414915" cy="392852"/>
          </a:xfrm>
          <a:prstGeom prst="roundRect">
            <a:avLst>
              <a:gd name="adj" fmla="val 16667"/>
            </a:avLst>
          </a:prstGeom>
          <a:solidFill>
            <a:srgbClr val="92C1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Inspección</a:t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1024704" y="4252817"/>
            <a:ext cx="1414915" cy="392852"/>
          </a:xfrm>
          <a:prstGeom prst="roundRect">
            <a:avLst>
              <a:gd name="adj" fmla="val 16667"/>
            </a:avLst>
          </a:prstGeom>
          <a:solidFill>
            <a:srgbClr val="92C14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Análisis Estático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819115" y="2190113"/>
            <a:ext cx="1414915" cy="392852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 w="28575" cap="flat" cmpd="sng">
            <a:solidFill>
              <a:srgbClr val="7150A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Experiencia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633036" y="2190113"/>
            <a:ext cx="1378217" cy="392852"/>
          </a:xfrm>
          <a:prstGeom prst="roundRect">
            <a:avLst>
              <a:gd name="adj" fmla="val 16667"/>
            </a:avLst>
          </a:prstGeom>
          <a:solidFill>
            <a:srgbClr val="808799"/>
          </a:solidFill>
          <a:ln w="28575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Especificación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3207490" y="2705789"/>
            <a:ext cx="1493479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Sentencias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3207490" y="3221464"/>
            <a:ext cx="1493479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Decisión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207490" y="3737140"/>
            <a:ext cx="1493479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Condición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207489" y="4252395"/>
            <a:ext cx="1493480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Múltiple Condición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6848623" y="2705368"/>
            <a:ext cx="1493479" cy="393273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Participación de Equivalencia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848623" y="3210090"/>
            <a:ext cx="1493479" cy="404226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Análisis de Valores de Frontera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848623" y="3737140"/>
            <a:ext cx="1493479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Tablas de Decisión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48622" y="4252395"/>
            <a:ext cx="1493480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Estados de Transición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6848622" y="4752659"/>
            <a:ext cx="1493480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Casos de Usos</a:t>
            </a:r>
            <a:endParaRPr sz="1300">
              <a:solidFill>
                <a:schemeClr val="tx1"/>
              </a:solidFill>
            </a:endParaRPr>
          </a:p>
        </p:txBody>
      </p:sp>
      <p:cxnSp>
        <p:nvCxnSpPr>
          <p:cNvPr id="98" name="Google Shape;98;p5"/>
          <p:cNvCxnSpPr/>
          <p:nvPr/>
        </p:nvCxnSpPr>
        <p:spPr>
          <a:xfrm rot="10800000">
            <a:off x="3694041" y="1361316"/>
            <a:ext cx="0" cy="154243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1" name="Google Shape;101;p5"/>
          <p:cNvCxnSpPr/>
          <p:nvPr/>
        </p:nvCxnSpPr>
        <p:spPr>
          <a:xfrm>
            <a:off x="839987" y="3933566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92C14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5"/>
          <p:cNvCxnSpPr/>
          <p:nvPr/>
        </p:nvCxnSpPr>
        <p:spPr>
          <a:xfrm>
            <a:off x="839987" y="3417890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92C14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5"/>
          <p:cNvCxnSpPr/>
          <p:nvPr/>
        </p:nvCxnSpPr>
        <p:spPr>
          <a:xfrm>
            <a:off x="839987" y="2904961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92C14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5"/>
          <p:cNvCxnSpPr/>
          <p:nvPr/>
        </p:nvCxnSpPr>
        <p:spPr>
          <a:xfrm>
            <a:off x="839987" y="2386538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92C1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5"/>
          <p:cNvSpPr/>
          <p:nvPr/>
        </p:nvSpPr>
        <p:spPr>
          <a:xfrm>
            <a:off x="3049761" y="2190113"/>
            <a:ext cx="1414915" cy="392852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B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endParaRPr/>
          </a:p>
        </p:txBody>
      </p:sp>
      <p:cxnSp>
        <p:nvCxnSpPr>
          <p:cNvPr id="111" name="Google Shape;111;p5"/>
          <p:cNvCxnSpPr/>
          <p:nvPr/>
        </p:nvCxnSpPr>
        <p:spPr>
          <a:xfrm>
            <a:off x="4863683" y="2902214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5"/>
          <p:cNvCxnSpPr/>
          <p:nvPr/>
        </p:nvCxnSpPr>
        <p:spPr>
          <a:xfrm>
            <a:off x="4863683" y="3417890"/>
            <a:ext cx="230085" cy="0"/>
          </a:xfrm>
          <a:prstGeom prst="straightConnector1">
            <a:avLst/>
          </a:prstGeom>
          <a:noFill/>
          <a:ln w="2540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0" name="Google Shape;120;p5"/>
          <p:cNvCxnSpPr/>
          <p:nvPr/>
        </p:nvCxnSpPr>
        <p:spPr>
          <a:xfrm rot="10800000">
            <a:off x="5578914" y="1937689"/>
            <a:ext cx="0" cy="154243"/>
          </a:xfrm>
          <a:prstGeom prst="straightConnector1">
            <a:avLst/>
          </a:prstGeom>
          <a:noFill/>
          <a:ln w="25400" cap="flat" cmpd="sng">
            <a:solidFill>
              <a:srgbClr val="92C1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5"/>
          <p:cNvSpPr/>
          <p:nvPr/>
        </p:nvSpPr>
        <p:spPr>
          <a:xfrm>
            <a:off x="4891450" y="1612055"/>
            <a:ext cx="1374927" cy="392852"/>
          </a:xfrm>
          <a:prstGeom prst="roundRect">
            <a:avLst>
              <a:gd name="adj" fmla="val 16667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Dinámicas</a:t>
            </a:r>
            <a:endParaRPr/>
          </a:p>
        </p:txBody>
      </p:sp>
      <p:sp>
        <p:nvSpPr>
          <p:cNvPr id="49" name="Rectangle 5">
            <a:extLst>
              <a:ext uri="{FF2B5EF4-FFF2-40B4-BE49-F238E27FC236}">
                <a16:creationId xmlns:a16="http://schemas.microsoft.com/office/drawing/2014/main" id="{3AE44C31-0B41-6542-961A-5CB4CA3C94CE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DE621685-39AA-7645-8A78-666B244857F4}"/>
              </a:ext>
            </a:extLst>
          </p:cNvPr>
          <p:cNvGrpSpPr/>
          <p:nvPr/>
        </p:nvGrpSpPr>
        <p:grpSpPr>
          <a:xfrm>
            <a:off x="2439619" y="1026877"/>
            <a:ext cx="2438589" cy="379672"/>
            <a:chOff x="287221" y="917244"/>
            <a:chExt cx="2980979" cy="500394"/>
          </a:xfrm>
        </p:grpSpPr>
        <p:sp>
          <p:nvSpPr>
            <p:cNvPr id="52" name="Rectángulo redondeado 51">
              <a:extLst>
                <a:ext uri="{FF2B5EF4-FFF2-40B4-BE49-F238E27FC236}">
                  <a16:creationId xmlns:a16="http://schemas.microsoft.com/office/drawing/2014/main" id="{4054CF01-94A3-4547-A0D4-CB90A9DB02AA}"/>
                </a:ext>
              </a:extLst>
            </p:cNvPr>
            <p:cNvSpPr/>
            <p:nvPr/>
          </p:nvSpPr>
          <p:spPr>
            <a:xfrm>
              <a:off x="503237" y="917244"/>
              <a:ext cx="2764963" cy="500394"/>
            </a:xfrm>
            <a:prstGeom prst="roundRect">
              <a:avLst>
                <a:gd name="adj" fmla="val 24841"/>
              </a:avLst>
            </a:prstGeom>
            <a:solidFill>
              <a:srgbClr val="00B1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PE" sz="1300" b="1" dirty="0">
                  <a:solidFill>
                    <a:schemeClr val="lt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Técnicas de Pruebas</a:t>
              </a:r>
              <a:endParaRPr lang="es-PE" sz="1300" b="1" dirty="0">
                <a:solidFill>
                  <a:schemeClr val="lt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grpSp>
          <p:nvGrpSpPr>
            <p:cNvPr id="53" name="Agrupar 14">
              <a:extLst>
                <a:ext uri="{FF2B5EF4-FFF2-40B4-BE49-F238E27FC236}">
                  <a16:creationId xmlns:a16="http://schemas.microsoft.com/office/drawing/2014/main" id="{A21256BB-1BAE-E847-8062-B40173D28EB1}"/>
                </a:ext>
              </a:extLst>
            </p:cNvPr>
            <p:cNvGrpSpPr/>
            <p:nvPr/>
          </p:nvGrpSpPr>
          <p:grpSpPr>
            <a:xfrm>
              <a:off x="287221" y="965530"/>
              <a:ext cx="459474" cy="403823"/>
              <a:chOff x="5892512" y="2805541"/>
              <a:chExt cx="459474" cy="403823"/>
            </a:xfrm>
          </p:grpSpPr>
          <p:sp>
            <p:nvSpPr>
              <p:cNvPr id="54" name="Elipse 53">
                <a:extLst>
                  <a:ext uri="{FF2B5EF4-FFF2-40B4-BE49-F238E27FC236}">
                    <a16:creationId xmlns:a16="http://schemas.microsoft.com/office/drawing/2014/main" id="{2525AC26-63C6-704E-9373-82999AD21FCD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0792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870F494B-A26F-6D4E-8439-6BE7EFC2AF13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6" name="Triángulo 55">
                <a:extLst>
                  <a:ext uri="{FF2B5EF4-FFF2-40B4-BE49-F238E27FC236}">
                    <a16:creationId xmlns:a16="http://schemas.microsoft.com/office/drawing/2014/main" id="{7EE928B6-9772-0743-9E09-D83A413468B6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00B1C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58" name="Forma libre 57">
            <a:extLst>
              <a:ext uri="{FF2B5EF4-FFF2-40B4-BE49-F238E27FC236}">
                <a16:creationId xmlns:a16="http://schemas.microsoft.com/office/drawing/2014/main" id="{D4D5964A-1656-6642-99B8-B34E5E8C7EB1}"/>
              </a:ext>
            </a:extLst>
          </p:cNvPr>
          <p:cNvSpPr/>
          <p:nvPr/>
        </p:nvSpPr>
        <p:spPr>
          <a:xfrm>
            <a:off x="1387744" y="1515599"/>
            <a:ext cx="4191165" cy="110258"/>
          </a:xfrm>
          <a:custGeom>
            <a:avLst/>
            <a:gdLst>
              <a:gd name="connsiteX0" fmla="*/ 0 w 4229100"/>
              <a:gd name="connsiteY0" fmla="*/ 121023 h 134470"/>
              <a:gd name="connsiteX1" fmla="*/ 0 w 4229100"/>
              <a:gd name="connsiteY1" fmla="*/ 0 h 134470"/>
              <a:gd name="connsiteX2" fmla="*/ 4229100 w 4229100"/>
              <a:gd name="connsiteY2" fmla="*/ 0 h 134470"/>
              <a:gd name="connsiteX3" fmla="*/ 4229100 w 4229100"/>
              <a:gd name="connsiteY3" fmla="*/ 134470 h 134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9100" h="134470">
                <a:moveTo>
                  <a:pt x="0" y="121023"/>
                </a:moveTo>
                <a:lnTo>
                  <a:pt x="0" y="0"/>
                </a:lnTo>
                <a:lnTo>
                  <a:pt x="4229100" y="0"/>
                </a:lnTo>
                <a:lnTo>
                  <a:pt x="4229100" y="134470"/>
                </a:lnTo>
              </a:path>
            </a:pathLst>
          </a:custGeom>
          <a:noFill/>
          <a:ln>
            <a:solidFill>
              <a:srgbClr val="EE46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9" name="Forma libre 58">
            <a:extLst>
              <a:ext uri="{FF2B5EF4-FFF2-40B4-BE49-F238E27FC236}">
                <a16:creationId xmlns:a16="http://schemas.microsoft.com/office/drawing/2014/main" id="{A464C866-0C9F-8642-8916-4811A3E4518F}"/>
              </a:ext>
            </a:extLst>
          </p:cNvPr>
          <p:cNvSpPr/>
          <p:nvPr/>
        </p:nvSpPr>
        <p:spPr>
          <a:xfrm>
            <a:off x="836546" y="1976718"/>
            <a:ext cx="178707" cy="2447364"/>
          </a:xfrm>
          <a:custGeom>
            <a:avLst/>
            <a:gdLst>
              <a:gd name="connsiteX0" fmla="*/ 0 w 141194"/>
              <a:gd name="connsiteY0" fmla="*/ 0 h 2447364"/>
              <a:gd name="connsiteX1" fmla="*/ 0 w 141194"/>
              <a:gd name="connsiteY1" fmla="*/ 2447364 h 2447364"/>
              <a:gd name="connsiteX2" fmla="*/ 141194 w 141194"/>
              <a:gd name="connsiteY2" fmla="*/ 2447364 h 2447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1194" h="2447364">
                <a:moveTo>
                  <a:pt x="0" y="0"/>
                </a:moveTo>
                <a:lnTo>
                  <a:pt x="0" y="2447364"/>
                </a:lnTo>
                <a:lnTo>
                  <a:pt x="141194" y="2447364"/>
                </a:lnTo>
              </a:path>
            </a:pathLst>
          </a:custGeom>
          <a:noFill/>
          <a:ln>
            <a:solidFill>
              <a:srgbClr val="92C14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0" name="Google Shape;90;p5"/>
          <p:cNvSpPr/>
          <p:nvPr/>
        </p:nvSpPr>
        <p:spPr>
          <a:xfrm>
            <a:off x="5007100" y="2705789"/>
            <a:ext cx="1493479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Adivinar Errores</a:t>
            </a:r>
            <a:endParaRPr sz="1300">
              <a:solidFill>
                <a:schemeClr val="tx1"/>
              </a:solidFill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007100" y="3221464"/>
            <a:ext cx="1493479" cy="392852"/>
          </a:xfrm>
          <a:prstGeom prst="roundRect">
            <a:avLst>
              <a:gd name="adj" fmla="val 16667"/>
            </a:avLst>
          </a:prstGeom>
          <a:solidFill>
            <a:srgbClr val="FFD8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3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Prueba Exploratoria</a:t>
            </a:r>
            <a:endParaRPr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504088" y="912813"/>
            <a:ext cx="3719625" cy="2631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DINÁMICAS</a:t>
            </a:r>
            <a:endParaRPr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pruebas dinámicas se dividen en categorías/grupos:</a:t>
            </a:r>
            <a:endParaRPr dirty="0"/>
          </a:p>
          <a:p>
            <a:pPr marL="142875" marR="0" lvl="1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agrupación se realiza en función del carácter básico del método utilizado para obtener los casos de prueba.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grupo tiene sus propios métodos para diseñar casos de prueba.</a:t>
            </a:r>
            <a:endParaRPr dirty="0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7DADC916-A99E-2F44-8180-4D144CF95F22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E87711A6-DF54-114F-9295-ED6F97AD316C}"/>
              </a:ext>
            </a:extLst>
          </p:cNvPr>
          <p:cNvSpPr/>
          <p:nvPr/>
        </p:nvSpPr>
        <p:spPr>
          <a:xfrm>
            <a:off x="6058568" y="2928157"/>
            <a:ext cx="2617034" cy="944388"/>
          </a:xfrm>
          <a:prstGeom prst="roundRect">
            <a:avLst>
              <a:gd name="adj" fmla="val 9953"/>
            </a:avLst>
          </a:prstGeom>
          <a:solidFill>
            <a:srgbClr val="FDC212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sentencia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rama 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condición 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de camino</a:t>
            </a:r>
            <a:endParaRPr lang="es-PE" sz="12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5" name="Rectángulo redondeado 24">
            <a:extLst>
              <a:ext uri="{FF2B5EF4-FFF2-40B4-BE49-F238E27FC236}">
                <a16:creationId xmlns:a16="http://schemas.microsoft.com/office/drawing/2014/main" id="{6110478A-2313-9246-8D8E-DC2B79EC2288}"/>
              </a:ext>
            </a:extLst>
          </p:cNvPr>
          <p:cNvSpPr/>
          <p:nvPr/>
        </p:nvSpPr>
        <p:spPr>
          <a:xfrm rot="16200000">
            <a:off x="5142329" y="1648855"/>
            <a:ext cx="1239543" cy="335122"/>
          </a:xfrm>
          <a:prstGeom prst="roundRect">
            <a:avLst>
              <a:gd name="adj" fmla="val 18663"/>
            </a:avLst>
          </a:prstGeom>
          <a:solidFill>
            <a:srgbClr val="FDC212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Caja negra</a:t>
            </a:r>
            <a:endParaRPr lang="es-PE" sz="1200" dirty="0"/>
          </a:p>
        </p:txBody>
      </p:sp>
      <p:sp>
        <p:nvSpPr>
          <p:cNvPr id="24" name="Rectángulo redondeado 23">
            <a:extLst>
              <a:ext uri="{FF2B5EF4-FFF2-40B4-BE49-F238E27FC236}">
                <a16:creationId xmlns:a16="http://schemas.microsoft.com/office/drawing/2014/main" id="{9E8DFF3C-092F-A848-A850-AEC7506E2CA2}"/>
              </a:ext>
            </a:extLst>
          </p:cNvPr>
          <p:cNvSpPr/>
          <p:nvPr/>
        </p:nvSpPr>
        <p:spPr>
          <a:xfrm>
            <a:off x="6058568" y="1203656"/>
            <a:ext cx="2617034" cy="1232708"/>
          </a:xfrm>
          <a:prstGeom prst="roundRect">
            <a:avLst>
              <a:gd name="adj" fmla="val 9953"/>
            </a:avLst>
          </a:prstGeom>
          <a:solidFill>
            <a:srgbClr val="FDC212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Clases de equivalencia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valores límite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transición de estado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basadas en el caso de uso</a:t>
            </a:r>
            <a:endParaRPr lang="es-PE" sz="1200" b="1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6" name="Rectángulo redondeado 25">
            <a:extLst>
              <a:ext uri="{FF2B5EF4-FFF2-40B4-BE49-F238E27FC236}">
                <a16:creationId xmlns:a16="http://schemas.microsoft.com/office/drawing/2014/main" id="{B3922028-390B-9F41-96DA-C2053F614F29}"/>
              </a:ext>
            </a:extLst>
          </p:cNvPr>
          <p:cNvSpPr/>
          <p:nvPr/>
        </p:nvSpPr>
        <p:spPr>
          <a:xfrm rot="16200000">
            <a:off x="5279168" y="3223724"/>
            <a:ext cx="965868" cy="335122"/>
          </a:xfrm>
          <a:prstGeom prst="roundRect">
            <a:avLst>
              <a:gd name="adj" fmla="val 18663"/>
            </a:avLst>
          </a:prstGeom>
          <a:solidFill>
            <a:srgbClr val="FDC212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Caja blanca</a:t>
            </a:r>
            <a:endParaRPr lang="es-PE" sz="1200" dirty="0"/>
          </a:p>
        </p:txBody>
      </p:sp>
      <p:sp>
        <p:nvSpPr>
          <p:cNvPr id="29" name="Rectángulo redondeado 28">
            <a:extLst>
              <a:ext uri="{FF2B5EF4-FFF2-40B4-BE49-F238E27FC236}">
                <a16:creationId xmlns:a16="http://schemas.microsoft.com/office/drawing/2014/main" id="{16DE3D73-0CFC-374B-A541-5A09A1015882}"/>
              </a:ext>
            </a:extLst>
          </p:cNvPr>
          <p:cNvSpPr/>
          <p:nvPr/>
        </p:nvSpPr>
        <p:spPr>
          <a:xfrm>
            <a:off x="5602758" y="2512075"/>
            <a:ext cx="3072843" cy="335122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basadas en la experiencia</a:t>
            </a:r>
            <a:endParaRPr lang="es-PE" sz="1200" dirty="0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DF4E36A8-28A7-0F47-A12F-3000DA336877}"/>
              </a:ext>
            </a:extLst>
          </p:cNvPr>
          <p:cNvSpPr/>
          <p:nvPr/>
        </p:nvSpPr>
        <p:spPr>
          <a:xfrm>
            <a:off x="5602845" y="3956322"/>
            <a:ext cx="3072843" cy="1060333"/>
          </a:xfrm>
          <a:prstGeom prst="roundRect">
            <a:avLst>
              <a:gd name="adj" fmla="val 10888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Revisiones / ensayo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flujo de control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flujo de datos</a:t>
            </a:r>
            <a:endParaRPr lang="es-PE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de compilador / analizador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42E672CA-C9B4-794B-B6B8-1487BFFC0793}"/>
              </a:ext>
            </a:extLst>
          </p:cNvPr>
          <p:cNvSpPr/>
          <p:nvPr/>
        </p:nvSpPr>
        <p:spPr>
          <a:xfrm rot="16200000">
            <a:off x="3945418" y="2317182"/>
            <a:ext cx="2614234" cy="421446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Dinámico</a:t>
            </a:r>
            <a:endParaRPr lang="es-PE" sz="1200" dirty="0"/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137AD618-FB4D-234E-994A-A2407E4C3EBC}"/>
              </a:ext>
            </a:extLst>
          </p:cNvPr>
          <p:cNvSpPr/>
          <p:nvPr/>
        </p:nvSpPr>
        <p:spPr>
          <a:xfrm rot="16200000">
            <a:off x="4716309" y="4275765"/>
            <a:ext cx="1072452" cy="421446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Estático</a:t>
            </a:r>
            <a:endParaRPr lang="es-PE" sz="1200" dirty="0"/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A855DA65-191B-714F-B102-2520B1622FDC}"/>
              </a:ext>
            </a:extLst>
          </p:cNvPr>
          <p:cNvSpPr/>
          <p:nvPr/>
        </p:nvSpPr>
        <p:spPr>
          <a:xfrm rot="16200000">
            <a:off x="2808131" y="2907997"/>
            <a:ext cx="3795867" cy="421446"/>
          </a:xfrm>
          <a:prstGeom prst="roundRect">
            <a:avLst>
              <a:gd name="adj" fmla="val 18663"/>
            </a:avLst>
          </a:prstGeom>
          <a:solidFill>
            <a:schemeClr val="bg1"/>
          </a:solidFill>
          <a:ln w="19050">
            <a:solidFill>
              <a:srgbClr val="8087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 Analítico</a:t>
            </a:r>
            <a:endParaRPr lang="es-PE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503237" y="912813"/>
            <a:ext cx="3889376" cy="303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DE LAS TÉCNICAS DINÁMICAS</a:t>
            </a:r>
            <a:endParaRPr dirty="0"/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objeto de prueba ha sido seleccionado </a:t>
            </a:r>
            <a:b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acuerdo con el modelo funcional </a:t>
            </a:r>
            <a:b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software”.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“La cobertura de la especificación puede ser medida (por ejemplo, el porcentaje de la especificación cubierta por casos de prueba)”.</a:t>
            </a:r>
            <a:endParaRPr dirty="0"/>
          </a:p>
        </p:txBody>
      </p:sp>
      <p:pic>
        <p:nvPicPr>
          <p:cNvPr id="155" name="Google Shape;155;p7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9"/>
          <a:stretch/>
        </p:blipFill>
        <p:spPr>
          <a:xfrm>
            <a:off x="4751389" y="912813"/>
            <a:ext cx="4392611" cy="432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 txBox="1"/>
          <p:nvPr/>
        </p:nvSpPr>
        <p:spPr>
          <a:xfrm>
            <a:off x="867939" y="4043850"/>
            <a:ext cx="67298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3397F6-93F8-0649-9C43-622315FCA46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D6AC726-4566-DE45-8A48-A3FDB896A580}"/>
              </a:ext>
            </a:extLst>
          </p:cNvPr>
          <p:cNvGrpSpPr/>
          <p:nvPr/>
        </p:nvGrpSpPr>
        <p:grpSpPr>
          <a:xfrm>
            <a:off x="326977" y="1382373"/>
            <a:ext cx="3272483" cy="394721"/>
            <a:chOff x="287221" y="917244"/>
            <a:chExt cx="3847830" cy="500394"/>
          </a:xfrm>
        </p:grpSpPr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6B8654AF-F674-3845-A390-F7F02DD20483}"/>
                </a:ext>
              </a:extLst>
            </p:cNvPr>
            <p:cNvSpPr/>
            <p:nvPr/>
          </p:nvSpPr>
          <p:spPr>
            <a:xfrm>
              <a:off x="503238" y="917244"/>
              <a:ext cx="3631813" cy="500394"/>
            </a:xfrm>
            <a:prstGeom prst="roundRect">
              <a:avLst>
                <a:gd name="adj" fmla="val 24841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4762" lvl="0" algn="ctr">
                <a:buSzPts val="1600"/>
                <a:tabLst>
                  <a:tab pos="569913" algn="l"/>
                </a:tabLst>
              </a:pPr>
              <a:r>
                <a:rPr lang="es-PE" sz="1300" b="1" dirty="0">
                  <a:solidFill>
                    <a:schemeClr val="lt1"/>
                  </a:solidFill>
                  <a:latin typeface="Calibri" charset="0"/>
                  <a:cs typeface="Calibri" charset="0"/>
                  <a:sym typeface="Calibri"/>
                </a:rPr>
                <a:t>Métodos basados en la especificación</a:t>
              </a:r>
              <a:endParaRPr lang="es-PE" sz="1300" b="1" dirty="0">
                <a:solidFill>
                  <a:schemeClr val="lt1"/>
                </a:solidFill>
                <a:latin typeface="Calibri" charset="0"/>
                <a:cs typeface="Calibri" charset="0"/>
              </a:endParaRPr>
            </a:p>
          </p:txBody>
        </p:sp>
        <p:grpSp>
          <p:nvGrpSpPr>
            <p:cNvPr id="9" name="Agrupar 14">
              <a:extLst>
                <a:ext uri="{FF2B5EF4-FFF2-40B4-BE49-F238E27FC236}">
                  <a16:creationId xmlns:a16="http://schemas.microsoft.com/office/drawing/2014/main" id="{8693D1C4-15D3-7B4C-A02C-8A6CED0F02E2}"/>
                </a:ext>
              </a:extLst>
            </p:cNvPr>
            <p:cNvGrpSpPr/>
            <p:nvPr/>
          </p:nvGrpSpPr>
          <p:grpSpPr>
            <a:xfrm>
              <a:off x="287221" y="965530"/>
              <a:ext cx="459474" cy="403823"/>
              <a:chOff x="5892512" y="2805541"/>
              <a:chExt cx="459474" cy="403823"/>
            </a:xfrm>
          </p:grpSpPr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53C68DE8-CF3C-F44A-A8C2-AA9A7F047809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C73A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253190D5-CA17-3B4B-928C-04056C4B14D0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2" name="Triángulo 11">
                <a:extLst>
                  <a:ext uri="{FF2B5EF4-FFF2-40B4-BE49-F238E27FC236}">
                    <a16:creationId xmlns:a16="http://schemas.microsoft.com/office/drawing/2014/main" id="{45052C6A-0962-5F43-AD26-E12FF0AA4FDA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503239" y="912813"/>
            <a:ext cx="3889374" cy="303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DE LAS TÉCNICAS DINÁMICAS</a:t>
            </a:r>
            <a:endParaRPr dirty="0"/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“La estructura Interna del objeto de prueba es utilizada para diseñar los casos de prueba (código/sentencias. menús, llamados, etc.)”.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porcentaje de cobertura es medido y utilizado como fuente para la creación de casos de prueba adicionales”.</a:t>
            </a:r>
            <a:endParaRPr dirty="0"/>
          </a:p>
        </p:txBody>
      </p:sp>
      <p:sp>
        <p:nvSpPr>
          <p:cNvPr id="164" name="Google Shape;164;p8"/>
          <p:cNvSpPr txBox="1"/>
          <p:nvPr/>
        </p:nvSpPr>
        <p:spPr>
          <a:xfrm>
            <a:off x="862656" y="4061300"/>
            <a:ext cx="266917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3DE90D-EB19-9A4E-AF39-65761191106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oogle Shape;155;p7">
            <a:extLst>
              <a:ext uri="{FF2B5EF4-FFF2-40B4-BE49-F238E27FC236}">
                <a16:creationId xmlns:a16="http://schemas.microsoft.com/office/drawing/2014/main" id="{47DAB2B2-872D-6A4E-84F4-34C89D6EA1F8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9"/>
          <a:stretch/>
        </p:blipFill>
        <p:spPr>
          <a:xfrm>
            <a:off x="4751389" y="912813"/>
            <a:ext cx="4392611" cy="43211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3DFB097A-BF4F-E549-8E38-27AD115C8DB0}"/>
              </a:ext>
            </a:extLst>
          </p:cNvPr>
          <p:cNvGrpSpPr/>
          <p:nvPr/>
        </p:nvGrpSpPr>
        <p:grpSpPr>
          <a:xfrm>
            <a:off x="326977" y="1383279"/>
            <a:ext cx="3061060" cy="394721"/>
            <a:chOff x="287221" y="917244"/>
            <a:chExt cx="3599236" cy="500394"/>
          </a:xfrm>
        </p:grpSpPr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B9F7DAC3-C0FA-9444-AC18-F7BA95D430D3}"/>
                </a:ext>
              </a:extLst>
            </p:cNvPr>
            <p:cNvSpPr/>
            <p:nvPr/>
          </p:nvSpPr>
          <p:spPr>
            <a:xfrm>
              <a:off x="503238" y="917244"/>
              <a:ext cx="3383219" cy="500394"/>
            </a:xfrm>
            <a:prstGeom prst="roundRect">
              <a:avLst>
                <a:gd name="adj" fmla="val 24841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SzPts val="1600"/>
                <a:tabLst>
                  <a:tab pos="569913" algn="l"/>
                </a:tabLst>
              </a:pPr>
              <a:r>
                <a:rPr lang="es-PE" sz="1300" b="1" dirty="0">
                  <a:solidFill>
                    <a:schemeClr val="lt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Métodos basados en la estructura</a:t>
              </a:r>
              <a:endParaRPr lang="es-PE" sz="1300" b="1" dirty="0">
                <a:solidFill>
                  <a:schemeClr val="lt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grpSp>
          <p:nvGrpSpPr>
            <p:cNvPr id="10" name="Agrupar 14">
              <a:extLst>
                <a:ext uri="{FF2B5EF4-FFF2-40B4-BE49-F238E27FC236}">
                  <a16:creationId xmlns:a16="http://schemas.microsoft.com/office/drawing/2014/main" id="{B4E95D6A-23DF-8B4A-B339-463F23D4EF1A}"/>
                </a:ext>
              </a:extLst>
            </p:cNvPr>
            <p:cNvGrpSpPr/>
            <p:nvPr/>
          </p:nvGrpSpPr>
          <p:grpSpPr>
            <a:xfrm>
              <a:off x="287221" y="965530"/>
              <a:ext cx="459474" cy="403823"/>
              <a:chOff x="5892512" y="2805541"/>
              <a:chExt cx="459474" cy="403823"/>
            </a:xfrm>
          </p:grpSpPr>
          <p:sp>
            <p:nvSpPr>
              <p:cNvPr id="11" name="Elipse 10">
                <a:extLst>
                  <a:ext uri="{FF2B5EF4-FFF2-40B4-BE49-F238E27FC236}">
                    <a16:creationId xmlns:a16="http://schemas.microsoft.com/office/drawing/2014/main" id="{42BC3773-0612-9C4D-BFDD-D7F5CC6F8349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C73A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2" name="Elipse 11">
                <a:extLst>
                  <a:ext uri="{FF2B5EF4-FFF2-40B4-BE49-F238E27FC236}">
                    <a16:creationId xmlns:a16="http://schemas.microsoft.com/office/drawing/2014/main" id="{4D1678B7-5654-8A40-91A6-A8B79C991BC1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3" name="Triángulo 12">
                <a:extLst>
                  <a:ext uri="{FF2B5EF4-FFF2-40B4-BE49-F238E27FC236}">
                    <a16:creationId xmlns:a16="http://schemas.microsoft.com/office/drawing/2014/main" id="{B74A474F-D4B6-CD45-A813-0032150EF052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503238" y="912813"/>
            <a:ext cx="8172450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CATEGORÍAS DE LAS TÉCNICAS DINÁMICAS</a:t>
            </a:r>
            <a:endParaRPr dirty="0"/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ES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conocimiento y experiencia respecto de los objetos de prueba y su entorno son las fuentes para el diseño de casos de prueba”.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“El conocimiento y experiencia respecto de posibles puntos débiles, posibles errores y errores previos son utilizados para determinar / definir casos de prueba”.</a:t>
            </a:r>
            <a:endParaRPr dirty="0"/>
          </a:p>
        </p:txBody>
      </p:sp>
      <p:sp>
        <p:nvSpPr>
          <p:cNvPr id="171" name="Google Shape;171;p9"/>
          <p:cNvSpPr txBox="1"/>
          <p:nvPr/>
        </p:nvSpPr>
        <p:spPr>
          <a:xfrm>
            <a:off x="867941" y="3347633"/>
            <a:ext cx="4572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290E667-BA87-1747-AD1F-F0ACD245CB9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433E046C-A92B-8847-B416-5CCD5486CAFB}"/>
              </a:ext>
            </a:extLst>
          </p:cNvPr>
          <p:cNvGrpSpPr/>
          <p:nvPr/>
        </p:nvGrpSpPr>
        <p:grpSpPr>
          <a:xfrm>
            <a:off x="326977" y="1383279"/>
            <a:ext cx="3061060" cy="394721"/>
            <a:chOff x="287221" y="917244"/>
            <a:chExt cx="3599236" cy="500394"/>
          </a:xfrm>
        </p:grpSpPr>
        <p:sp>
          <p:nvSpPr>
            <p:cNvPr id="7" name="Rectángulo redondeado 6">
              <a:extLst>
                <a:ext uri="{FF2B5EF4-FFF2-40B4-BE49-F238E27FC236}">
                  <a16:creationId xmlns:a16="http://schemas.microsoft.com/office/drawing/2014/main" id="{8DFCFC84-E33A-3149-9A63-F1895D67FC0E}"/>
                </a:ext>
              </a:extLst>
            </p:cNvPr>
            <p:cNvSpPr/>
            <p:nvPr/>
          </p:nvSpPr>
          <p:spPr>
            <a:xfrm>
              <a:off x="503238" y="917244"/>
              <a:ext cx="3383219" cy="500394"/>
            </a:xfrm>
            <a:prstGeom prst="roundRect">
              <a:avLst>
                <a:gd name="adj" fmla="val 24841"/>
              </a:avLst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9525" lvl="0" algn="ctr">
                <a:buSzPts val="1600"/>
                <a:tabLst>
                  <a:tab pos="569913" algn="l"/>
                </a:tabLst>
              </a:pPr>
              <a:r>
                <a:rPr lang="es-PE" sz="1300" b="1" dirty="0">
                  <a:solidFill>
                    <a:schemeClr val="lt1"/>
                  </a:solidFill>
                  <a:latin typeface="Calibri" charset="0"/>
                  <a:ea typeface="+mn-ea"/>
                  <a:cs typeface="Calibri" charset="0"/>
                  <a:sym typeface="Calibri"/>
                </a:rPr>
                <a:t>Métodos basados en la experiencia</a:t>
              </a:r>
              <a:endParaRPr lang="es-PE" sz="1300" b="1" dirty="0">
                <a:solidFill>
                  <a:schemeClr val="lt1"/>
                </a:solidFill>
                <a:latin typeface="Calibri" charset="0"/>
                <a:ea typeface="+mn-ea"/>
                <a:cs typeface="Calibri" charset="0"/>
              </a:endParaRPr>
            </a:p>
          </p:txBody>
        </p:sp>
        <p:grpSp>
          <p:nvGrpSpPr>
            <p:cNvPr id="8" name="Agrupar 14">
              <a:extLst>
                <a:ext uri="{FF2B5EF4-FFF2-40B4-BE49-F238E27FC236}">
                  <a16:creationId xmlns:a16="http://schemas.microsoft.com/office/drawing/2014/main" id="{7C61003A-DCF5-8A4E-ACC6-464920319725}"/>
                </a:ext>
              </a:extLst>
            </p:cNvPr>
            <p:cNvGrpSpPr/>
            <p:nvPr/>
          </p:nvGrpSpPr>
          <p:grpSpPr>
            <a:xfrm>
              <a:off x="287221" y="965530"/>
              <a:ext cx="459474" cy="403823"/>
              <a:chOff x="5892512" y="2805541"/>
              <a:chExt cx="459474" cy="403823"/>
            </a:xfrm>
          </p:grpSpPr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56B514FC-0E29-264B-AE6A-6CEAE31458F4}"/>
                  </a:ext>
                </a:extLst>
              </p:cNvPr>
              <p:cNvSpPr/>
              <p:nvPr/>
            </p:nvSpPr>
            <p:spPr>
              <a:xfrm>
                <a:off x="5956277" y="2824919"/>
                <a:ext cx="395709" cy="376075"/>
              </a:xfrm>
              <a:prstGeom prst="ellipse">
                <a:avLst/>
              </a:prstGeom>
              <a:solidFill>
                <a:srgbClr val="C73A3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BD28E45B-2847-0C4C-8B8C-DBC309F9157F}"/>
                  </a:ext>
                </a:extLst>
              </p:cNvPr>
              <p:cNvSpPr/>
              <p:nvPr/>
            </p:nvSpPr>
            <p:spPr>
              <a:xfrm>
                <a:off x="5892512" y="2805541"/>
                <a:ext cx="424906" cy="40382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Triángulo 10">
                <a:extLst>
                  <a:ext uri="{FF2B5EF4-FFF2-40B4-BE49-F238E27FC236}">
                    <a16:creationId xmlns:a16="http://schemas.microsoft.com/office/drawing/2014/main" id="{C2F698C5-FC1C-6D43-BBE2-85A5044FFDC9}"/>
                  </a:ext>
                </a:extLst>
              </p:cNvPr>
              <p:cNvSpPr/>
              <p:nvPr/>
            </p:nvSpPr>
            <p:spPr>
              <a:xfrm rot="5400000">
                <a:off x="6076285" y="2946262"/>
                <a:ext cx="186870" cy="122381"/>
              </a:xfrm>
              <a:prstGeom prst="triangle">
                <a:avLst/>
              </a:prstGeom>
              <a:solidFill>
                <a:srgbClr val="EE463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300" dirty="0">
                  <a:latin typeface="Calibri" panose="020F050202020403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503238" y="912763"/>
            <a:ext cx="8232888" cy="287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CAJA NEGRA (BLACK BOX) O BASADAS EN LA ESPECIFICACIÓN</a:t>
            </a:r>
            <a:endParaRPr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probador observa el objeto de prueba como una caja negra.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estructura Interna del objeto de prueba es irrelevante o desconocida.</a:t>
            </a:r>
            <a:endParaRPr dirty="0"/>
          </a:p>
          <a:p>
            <a:pPr marL="142875" marR="0" lvl="0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casos de prueba se obtienen a partir del análisis de la especificación (funcional y no funcional) de un componente o sistema.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del comportamiento entrada / salida (input / output).</a:t>
            </a:r>
            <a:endParaRPr dirty="0"/>
          </a:p>
          <a:p>
            <a:pPr marL="357188" marR="0" lvl="0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funcionalidad es el foco de atención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técnica de caja negra también se denomina prueba funcional o prueba orientada a la especificación.</a:t>
            </a:r>
            <a:r>
              <a:rPr lang="es-PE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1513992" y="3959757"/>
            <a:ext cx="1818526" cy="842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Entradas</a:t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5716122" y="3959757"/>
            <a:ext cx="1818526" cy="8424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Salidas</a:t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609920" y="3881770"/>
            <a:ext cx="1828800" cy="998455"/>
          </a:xfrm>
          <a:prstGeom prst="roundRect">
            <a:avLst>
              <a:gd name="adj" fmla="val 16667"/>
            </a:avLst>
          </a:prstGeom>
          <a:solidFill>
            <a:srgbClr val="7150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857369" y="3790433"/>
            <a:ext cx="881263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728176E8-7458-D444-8F3E-6B26C07C850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503239" y="912813"/>
            <a:ext cx="8172450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CAJA NEGRA (BLACK BOX) O BASADAS EN LA ESPECIFICACIÓN</a:t>
            </a:r>
            <a:endParaRPr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pruebas funcionales están dirigidas a verificar la corrección y la completitud de una función.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¿Están disponibles en el módulo todas las funciones especificadas?</a:t>
            </a:r>
            <a:endParaRPr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¿Las funciones ejecutadas presentan resultados correctos?</a:t>
            </a:r>
            <a:endParaRPr dirty="0"/>
          </a:p>
          <a:p>
            <a:pPr marL="142875" marR="0" lvl="1" indent="-31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ejecución de casos de prueba debe tener una baja redundancia, sin embargo, debe </a:t>
            </a:r>
            <a:b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integral.</a:t>
            </a:r>
            <a:endParaRPr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Probar lo menos posible, probar tanto como sea necesario.</a:t>
            </a:r>
            <a:endParaRPr dirty="0"/>
          </a:p>
        </p:txBody>
      </p:sp>
      <p:sp>
        <p:nvSpPr>
          <p:cNvPr id="190" name="Google Shape;190;p11"/>
          <p:cNvSpPr txBox="1"/>
          <p:nvPr/>
        </p:nvSpPr>
        <p:spPr>
          <a:xfrm>
            <a:off x="684213" y="3395085"/>
            <a:ext cx="4572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2D934B-CC28-714A-A6A4-A96C9A227B0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503238" y="917909"/>
            <a:ext cx="3889375" cy="3524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525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TÉCNICAS DE CAJA NEGRA (BLACK BOX) O BASADAS EN LA ESPECIFICACIÓN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Métodos de caja negra: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Partición de equivalencias o clases de equivalencia.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valores límite.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Tablas de decisión y gráficos causa y efecto.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transición de estado.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caso de uso.</a:t>
            </a:r>
            <a:endParaRPr dirty="0"/>
          </a:p>
          <a:p>
            <a:pPr marL="171450" marR="0" lvl="0" indent="-69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Otros métodos de caja negra son: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estadísticas.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duales (algoritmo dual - pairwise).</a:t>
            </a:r>
            <a:endParaRPr dirty="0"/>
          </a:p>
          <a:p>
            <a:pPr marL="17145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Pruebas de humo.</a:t>
            </a:r>
            <a:endParaRPr dirty="0"/>
          </a:p>
        </p:txBody>
      </p:sp>
      <p:sp>
        <p:nvSpPr>
          <p:cNvPr id="198" name="Google Shape;198;p12"/>
          <p:cNvSpPr txBox="1"/>
          <p:nvPr/>
        </p:nvSpPr>
        <p:spPr>
          <a:xfrm>
            <a:off x="503238" y="5022924"/>
            <a:ext cx="4572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865130-D06B-3B4F-AD0E-56AF607FD276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11534A4-41AB-0043-AE74-07417D50EE1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51388" y="0"/>
            <a:ext cx="4392612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A8DCAE51-1CB9-9142-8FF5-D79D22DC86A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C1DFB4-B7B3-FB4D-8F77-5F5D2B35453F}"/>
              </a:ext>
            </a:extLst>
          </p:cNvPr>
          <p:cNvSpPr/>
          <p:nvPr/>
        </p:nvSpPr>
        <p:spPr>
          <a:xfrm>
            <a:off x="503237" y="916472"/>
            <a:ext cx="8063641" cy="2477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PARTICIÓN DE EQUIVALENCIA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Generalmente se aplica en primer lugar en cualquier nivel de la prueba.</a:t>
            </a:r>
            <a:endParaRPr lang="es-PE" sz="15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idea es dividir (es decir, a la partición) un conjunto de condiciones de prueba en grupos o conjuntos que se puede considerar el mismo (es decir, el sistema debe manejarlos de forma equivalente).</a:t>
            </a:r>
            <a:endParaRPr lang="es-PE" sz="1500"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supone que la prueba de un valor representativo de cada clase sea equivalente a la prueba de cualquier otro valor.</a:t>
            </a:r>
            <a:endParaRPr lang="es-PE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E1CF355B-AD56-2A4F-BA82-F18EDE4D6139}"/>
              </a:ext>
            </a:extLst>
          </p:cNvPr>
          <p:cNvGrpSpPr/>
          <p:nvPr/>
        </p:nvGrpSpPr>
        <p:grpSpPr>
          <a:xfrm>
            <a:off x="503238" y="3888147"/>
            <a:ext cx="8137524" cy="994413"/>
            <a:chOff x="503238" y="3888147"/>
            <a:chExt cx="8137524" cy="994413"/>
          </a:xfrm>
        </p:grpSpPr>
        <p:cxnSp>
          <p:nvCxnSpPr>
            <p:cNvPr id="213" name="Google Shape;213;p14"/>
            <p:cNvCxnSpPr/>
            <p:nvPr/>
          </p:nvCxnSpPr>
          <p:spPr>
            <a:xfrm>
              <a:off x="503238" y="4515442"/>
              <a:ext cx="8137524" cy="0"/>
            </a:xfrm>
            <a:prstGeom prst="straightConnector1">
              <a:avLst/>
            </a:prstGeom>
            <a:noFill/>
            <a:ln w="28575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14" name="Google Shape;214;p14"/>
            <p:cNvSpPr/>
            <p:nvPr/>
          </p:nvSpPr>
          <p:spPr>
            <a:xfrm>
              <a:off x="2360246" y="4636339"/>
              <a:ext cx="69923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$ 0.00</a:t>
              </a:r>
              <a:endParaRPr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3086851" y="4636339"/>
              <a:ext cx="9076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$ 100.00</a:t>
              </a:r>
              <a:endParaRPr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4525389" y="4636339"/>
              <a:ext cx="9076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$ 100.01</a:t>
              </a:r>
              <a:endParaRPr dirty="0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5491390" y="4636339"/>
              <a:ext cx="9076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$ 999.99</a:t>
              </a:r>
              <a:endParaRPr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7106460" y="4636339"/>
              <a:ext cx="1011815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$ 1000.00</a:t>
              </a:r>
              <a:endParaRPr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819090" y="4636339"/>
              <a:ext cx="761747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-0.01</a:t>
              </a:r>
              <a:endParaRPr dirty="0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728938" y="3888147"/>
              <a:ext cx="942053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Inválida</a:t>
              </a:r>
              <a:endParaRPr dirty="0"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2651660" y="3888147"/>
              <a:ext cx="1166789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Válida 3%</a:t>
              </a:r>
              <a:endParaRPr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4903024" y="3888147"/>
              <a:ext cx="1053366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Válida 5%</a:t>
              </a:r>
              <a:endParaRPr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7088266" y="3888147"/>
              <a:ext cx="1053366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Válida 7%</a:t>
              </a:r>
              <a:endParaRPr/>
            </a:p>
          </p:txBody>
        </p:sp>
      </p:grpSp>
      <p:sp>
        <p:nvSpPr>
          <p:cNvPr id="16" name="Rectangle 5">
            <a:extLst>
              <a:ext uri="{FF2B5EF4-FFF2-40B4-BE49-F238E27FC236}">
                <a16:creationId xmlns:a16="http://schemas.microsoft.com/office/drawing/2014/main" id="{17A53C12-3EC5-9B4B-A2C6-C2D02C4FC89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A7E5FAD-6832-F74B-AB04-F2B4CCAD04D7}"/>
              </a:ext>
            </a:extLst>
          </p:cNvPr>
          <p:cNvSpPr/>
          <p:nvPr/>
        </p:nvSpPr>
        <p:spPr>
          <a:xfrm>
            <a:off x="503237" y="916472"/>
            <a:ext cx="8063641" cy="25699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PARTICIÓN DE EQUIVALENCIA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952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ejemplo, </a:t>
            </a:r>
            <a:endParaRPr lang="es-PE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cuenta de ahorros en un banco tiene una tasa de interés diferente en función del saldo de la cuenta.</a:t>
            </a:r>
            <a:endParaRPr lang="es-PE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Probar el software que calcula el debido interés: podemos identificar los rangos de valores que ganan las diferentes tasas de interés. </a:t>
            </a:r>
            <a:endParaRPr lang="es-PE" dirty="0"/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da tasa de 3% de interés si el saldo de la cuenta se encuentra en el rango de $ 0 a $ 100. </a:t>
            </a:r>
            <a:endParaRPr lang="es-PE" dirty="0"/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da tasa de 5% se da la tasa de interés si el saldo de la cuenta está en el rango de $ 100 </a:t>
            </a:r>
            <a:b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$ 1000. </a:t>
            </a:r>
            <a:endParaRPr lang="es-PE" dirty="0"/>
          </a:p>
          <a:p>
            <a:pPr marL="357188" marR="0" lvl="2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da tasa de  7% se da tasa de interés si el saldo de la cuenta es de $ 1000 y superiores. </a:t>
            </a:r>
            <a:endParaRPr lang="es-PE" dirty="0"/>
          </a:p>
          <a:p>
            <a:pPr marL="177800" marR="0" lvl="1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Inicialmente se identifican tres particiones de equivalencia válidos y una partición inválida.</a:t>
            </a:r>
            <a:endParaRPr lang="es-PE" dirty="0"/>
          </a:p>
        </p:txBody>
      </p:sp>
      <p:grpSp>
        <p:nvGrpSpPr>
          <p:cNvPr id="18" name="Agrupar 57">
            <a:extLst>
              <a:ext uri="{FF2B5EF4-FFF2-40B4-BE49-F238E27FC236}">
                <a16:creationId xmlns:a16="http://schemas.microsoft.com/office/drawing/2014/main" id="{BE004BF2-FEAE-7D43-9455-15D196CE9A68}"/>
              </a:ext>
            </a:extLst>
          </p:cNvPr>
          <p:cNvGrpSpPr/>
          <p:nvPr/>
        </p:nvGrpSpPr>
        <p:grpSpPr>
          <a:xfrm>
            <a:off x="1031900" y="4431729"/>
            <a:ext cx="168063" cy="167425"/>
            <a:chOff x="3427964" y="2244682"/>
            <a:chExt cx="225891" cy="225034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2FDE180B-76E6-7E4A-B964-5FC5C56278F5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200ED350-236E-B146-86DA-A077EFD6BA60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1" name="Agrupar 57">
            <a:extLst>
              <a:ext uri="{FF2B5EF4-FFF2-40B4-BE49-F238E27FC236}">
                <a16:creationId xmlns:a16="http://schemas.microsoft.com/office/drawing/2014/main" id="{3968EA84-975C-EB45-9BF3-5FD94E6B8472}"/>
              </a:ext>
            </a:extLst>
          </p:cNvPr>
          <p:cNvGrpSpPr/>
          <p:nvPr/>
        </p:nvGrpSpPr>
        <p:grpSpPr>
          <a:xfrm>
            <a:off x="3103835" y="4431729"/>
            <a:ext cx="168063" cy="167425"/>
            <a:chOff x="3427964" y="2244682"/>
            <a:chExt cx="225891" cy="225034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0C327EBC-CB0B-A343-A0F7-B238F17EC119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B30BBD34-0528-B248-AB5E-D6AC64CBE613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4" name="Agrupar 57">
            <a:extLst>
              <a:ext uri="{FF2B5EF4-FFF2-40B4-BE49-F238E27FC236}">
                <a16:creationId xmlns:a16="http://schemas.microsoft.com/office/drawing/2014/main" id="{6F72A05B-29D6-C746-A611-7170AE0EE65E}"/>
              </a:ext>
            </a:extLst>
          </p:cNvPr>
          <p:cNvGrpSpPr/>
          <p:nvPr/>
        </p:nvGrpSpPr>
        <p:grpSpPr>
          <a:xfrm>
            <a:off x="5323766" y="4431729"/>
            <a:ext cx="168063" cy="167425"/>
            <a:chOff x="3427964" y="2244682"/>
            <a:chExt cx="225891" cy="225034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9A7DF57B-5297-DE43-9926-93C45BF74A4B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43C721BF-791E-C342-9C07-8EEF3B33086C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27" name="Agrupar 57">
            <a:extLst>
              <a:ext uri="{FF2B5EF4-FFF2-40B4-BE49-F238E27FC236}">
                <a16:creationId xmlns:a16="http://schemas.microsoft.com/office/drawing/2014/main" id="{2EA1A96D-88B7-9845-BA39-31B1CD15B3E2}"/>
              </a:ext>
            </a:extLst>
          </p:cNvPr>
          <p:cNvGrpSpPr/>
          <p:nvPr/>
        </p:nvGrpSpPr>
        <p:grpSpPr>
          <a:xfrm>
            <a:off x="7511984" y="4431729"/>
            <a:ext cx="168063" cy="167425"/>
            <a:chOff x="3427964" y="2244682"/>
            <a:chExt cx="225891" cy="225034"/>
          </a:xfrm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BCC074A2-1161-2B4F-805A-37DEA7713A28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3A06520-A887-2141-8A23-3038B4C66F69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/>
          <p:nvPr/>
        </p:nvSpPr>
        <p:spPr>
          <a:xfrm>
            <a:off x="503238" y="3034278"/>
            <a:ext cx="8232888" cy="213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0" indent="-168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han identificado cuatro particiones, a pesar de que la especificación menciona sólo tres. </a:t>
            </a:r>
            <a:endParaRPr dirty="0"/>
          </a:p>
          <a:p>
            <a:pPr marL="177800" marR="0" lvl="0" indent="-168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Esto demuestra una tarea muy importante del probador que es: un probador no sólo debe probar lo que está especificado, sino que también debe pensar en las cosas que no han sido especificadas.</a:t>
            </a:r>
            <a:endParaRPr dirty="0"/>
          </a:p>
          <a:p>
            <a:pPr marL="177800" marR="0" lvl="0" indent="-168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este caso, hemos pensado en un saldo negativo como condición invalida a controlar.</a:t>
            </a:r>
            <a:endParaRPr dirty="0"/>
          </a:p>
          <a:p>
            <a:pPr marL="139700" marR="0" lvl="0" indent="-285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PE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situaciones</a:t>
            </a:r>
            <a:endParaRPr dirty="0"/>
          </a:p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Saldo Máximo</a:t>
            </a:r>
            <a:endParaRPr dirty="0"/>
          </a:p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 no numéricos</a:t>
            </a:r>
            <a:endParaRPr dirty="0"/>
          </a:p>
          <a:p>
            <a:pPr marL="171450" marR="0" lvl="1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Número de decimales </a:t>
            </a:r>
            <a:endParaRPr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3CEF30F6-ABD6-6C42-B686-22338F0B223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EB38453D-6389-2F43-A88E-5449CE84852E}"/>
              </a:ext>
            </a:extLst>
          </p:cNvPr>
          <p:cNvGrpSpPr/>
          <p:nvPr/>
        </p:nvGrpSpPr>
        <p:grpSpPr>
          <a:xfrm>
            <a:off x="503238" y="1686309"/>
            <a:ext cx="8137524" cy="994413"/>
            <a:chOff x="503238" y="3888147"/>
            <a:chExt cx="8137524" cy="994413"/>
          </a:xfrm>
        </p:grpSpPr>
        <p:cxnSp>
          <p:nvCxnSpPr>
            <p:cNvPr id="18" name="Google Shape;213;p14">
              <a:extLst>
                <a:ext uri="{FF2B5EF4-FFF2-40B4-BE49-F238E27FC236}">
                  <a16:creationId xmlns:a16="http://schemas.microsoft.com/office/drawing/2014/main" id="{802FB035-89F7-8E40-98C9-2A73B43800B3}"/>
                </a:ext>
              </a:extLst>
            </p:cNvPr>
            <p:cNvCxnSpPr/>
            <p:nvPr/>
          </p:nvCxnSpPr>
          <p:spPr>
            <a:xfrm>
              <a:off x="503238" y="4515442"/>
              <a:ext cx="8137524" cy="0"/>
            </a:xfrm>
            <a:prstGeom prst="straightConnector1">
              <a:avLst/>
            </a:prstGeom>
            <a:noFill/>
            <a:ln w="28575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" name="Google Shape;214;p14">
              <a:extLst>
                <a:ext uri="{FF2B5EF4-FFF2-40B4-BE49-F238E27FC236}">
                  <a16:creationId xmlns:a16="http://schemas.microsoft.com/office/drawing/2014/main" id="{18B3ADF6-5B32-2241-ABE9-D95AC8FE54F3}"/>
                </a:ext>
              </a:extLst>
            </p:cNvPr>
            <p:cNvSpPr/>
            <p:nvPr/>
          </p:nvSpPr>
          <p:spPr>
            <a:xfrm>
              <a:off x="2360246" y="4636339"/>
              <a:ext cx="699230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$ 0.00</a:t>
              </a:r>
              <a:endParaRPr/>
            </a:p>
          </p:txBody>
        </p:sp>
        <p:sp>
          <p:nvSpPr>
            <p:cNvPr id="20" name="Google Shape;215;p14">
              <a:extLst>
                <a:ext uri="{FF2B5EF4-FFF2-40B4-BE49-F238E27FC236}">
                  <a16:creationId xmlns:a16="http://schemas.microsoft.com/office/drawing/2014/main" id="{C51BBC77-39A0-6745-86F2-3A713A2E7D2F}"/>
                </a:ext>
              </a:extLst>
            </p:cNvPr>
            <p:cNvSpPr/>
            <p:nvPr/>
          </p:nvSpPr>
          <p:spPr>
            <a:xfrm>
              <a:off x="3086851" y="4636339"/>
              <a:ext cx="9076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$ 100.00</a:t>
              </a:r>
              <a:endParaRPr dirty="0"/>
            </a:p>
          </p:txBody>
        </p:sp>
        <p:sp>
          <p:nvSpPr>
            <p:cNvPr id="21" name="Google Shape;216;p14">
              <a:extLst>
                <a:ext uri="{FF2B5EF4-FFF2-40B4-BE49-F238E27FC236}">
                  <a16:creationId xmlns:a16="http://schemas.microsoft.com/office/drawing/2014/main" id="{04A29A31-5D8A-C642-AEC1-CC26A692558B}"/>
                </a:ext>
              </a:extLst>
            </p:cNvPr>
            <p:cNvSpPr/>
            <p:nvPr/>
          </p:nvSpPr>
          <p:spPr>
            <a:xfrm>
              <a:off x="4525389" y="4636339"/>
              <a:ext cx="9076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$ 100.01</a:t>
              </a:r>
              <a:endParaRPr dirty="0"/>
            </a:p>
          </p:txBody>
        </p:sp>
        <p:sp>
          <p:nvSpPr>
            <p:cNvPr id="22" name="Google Shape;217;p14">
              <a:extLst>
                <a:ext uri="{FF2B5EF4-FFF2-40B4-BE49-F238E27FC236}">
                  <a16:creationId xmlns:a16="http://schemas.microsoft.com/office/drawing/2014/main" id="{8DF65101-6768-7F4F-A083-A039AF800057}"/>
                </a:ext>
              </a:extLst>
            </p:cNvPr>
            <p:cNvSpPr/>
            <p:nvPr/>
          </p:nvSpPr>
          <p:spPr>
            <a:xfrm>
              <a:off x="5491390" y="4636339"/>
              <a:ext cx="907621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$ 999.99</a:t>
              </a:r>
              <a:endParaRPr/>
            </a:p>
          </p:txBody>
        </p:sp>
        <p:sp>
          <p:nvSpPr>
            <p:cNvPr id="23" name="Google Shape;218;p14">
              <a:extLst>
                <a:ext uri="{FF2B5EF4-FFF2-40B4-BE49-F238E27FC236}">
                  <a16:creationId xmlns:a16="http://schemas.microsoft.com/office/drawing/2014/main" id="{C421643E-D829-E544-AEF8-CD144AA736A8}"/>
                </a:ext>
              </a:extLst>
            </p:cNvPr>
            <p:cNvSpPr/>
            <p:nvPr/>
          </p:nvSpPr>
          <p:spPr>
            <a:xfrm>
              <a:off x="7106460" y="4636339"/>
              <a:ext cx="1011815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$ 1000.00</a:t>
              </a:r>
              <a:endParaRPr/>
            </a:p>
          </p:txBody>
        </p:sp>
        <p:sp>
          <p:nvSpPr>
            <p:cNvPr id="24" name="Google Shape;219;p14">
              <a:extLst>
                <a:ext uri="{FF2B5EF4-FFF2-40B4-BE49-F238E27FC236}">
                  <a16:creationId xmlns:a16="http://schemas.microsoft.com/office/drawing/2014/main" id="{234CA2D9-FC22-CB4B-BB9E-49081D6B4B19}"/>
                </a:ext>
              </a:extLst>
            </p:cNvPr>
            <p:cNvSpPr/>
            <p:nvPr/>
          </p:nvSpPr>
          <p:spPr>
            <a:xfrm>
              <a:off x="819090" y="4636339"/>
              <a:ext cx="761747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$ -0.01</a:t>
              </a:r>
              <a:endParaRPr dirty="0"/>
            </a:p>
          </p:txBody>
        </p:sp>
        <p:sp>
          <p:nvSpPr>
            <p:cNvPr id="25" name="Google Shape;220;p14">
              <a:extLst>
                <a:ext uri="{FF2B5EF4-FFF2-40B4-BE49-F238E27FC236}">
                  <a16:creationId xmlns:a16="http://schemas.microsoft.com/office/drawing/2014/main" id="{403D23D4-2FAF-1E47-AF52-1AFCC7AF7B26}"/>
                </a:ext>
              </a:extLst>
            </p:cNvPr>
            <p:cNvSpPr/>
            <p:nvPr/>
          </p:nvSpPr>
          <p:spPr>
            <a:xfrm>
              <a:off x="728938" y="3888147"/>
              <a:ext cx="942053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 dirty="0"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Inválida</a:t>
              </a:r>
              <a:endParaRPr dirty="0"/>
            </a:p>
          </p:txBody>
        </p:sp>
        <p:sp>
          <p:nvSpPr>
            <p:cNvPr id="26" name="Google Shape;221;p14">
              <a:extLst>
                <a:ext uri="{FF2B5EF4-FFF2-40B4-BE49-F238E27FC236}">
                  <a16:creationId xmlns:a16="http://schemas.microsoft.com/office/drawing/2014/main" id="{D7476454-A157-F24C-A872-3DD874D8F79F}"/>
                </a:ext>
              </a:extLst>
            </p:cNvPr>
            <p:cNvSpPr/>
            <p:nvPr/>
          </p:nvSpPr>
          <p:spPr>
            <a:xfrm>
              <a:off x="2651660" y="3888147"/>
              <a:ext cx="1166789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Válida 3%</a:t>
              </a:r>
              <a:endParaRPr/>
            </a:p>
          </p:txBody>
        </p:sp>
        <p:sp>
          <p:nvSpPr>
            <p:cNvPr id="27" name="Google Shape;222;p14">
              <a:extLst>
                <a:ext uri="{FF2B5EF4-FFF2-40B4-BE49-F238E27FC236}">
                  <a16:creationId xmlns:a16="http://schemas.microsoft.com/office/drawing/2014/main" id="{9ED28B46-4220-814A-81D5-04812970ADD9}"/>
                </a:ext>
              </a:extLst>
            </p:cNvPr>
            <p:cNvSpPr/>
            <p:nvPr/>
          </p:nvSpPr>
          <p:spPr>
            <a:xfrm>
              <a:off x="4903024" y="3888147"/>
              <a:ext cx="1053366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Válida 5%</a:t>
              </a:r>
              <a:endParaRPr/>
            </a:p>
          </p:txBody>
        </p:sp>
        <p:sp>
          <p:nvSpPr>
            <p:cNvPr id="28" name="Google Shape;223;p14">
              <a:extLst>
                <a:ext uri="{FF2B5EF4-FFF2-40B4-BE49-F238E27FC236}">
                  <a16:creationId xmlns:a16="http://schemas.microsoft.com/office/drawing/2014/main" id="{C719B875-85F3-BC41-9601-802399A12730}"/>
                </a:ext>
              </a:extLst>
            </p:cNvPr>
            <p:cNvSpPr/>
            <p:nvPr/>
          </p:nvSpPr>
          <p:spPr>
            <a:xfrm>
              <a:off x="7088266" y="3888147"/>
              <a:ext cx="1053366" cy="49244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Partición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Válida 7%</a:t>
              </a:r>
              <a:endParaRPr/>
            </a:p>
          </p:txBody>
        </p:sp>
      </p:grpSp>
      <p:sp>
        <p:nvSpPr>
          <p:cNvPr id="29" name="Rectángulo 28">
            <a:extLst>
              <a:ext uri="{FF2B5EF4-FFF2-40B4-BE49-F238E27FC236}">
                <a16:creationId xmlns:a16="http://schemas.microsoft.com/office/drawing/2014/main" id="{ADD6ED0F-B258-4345-BA9C-0A59C3A98E2A}"/>
              </a:ext>
            </a:extLst>
          </p:cNvPr>
          <p:cNvSpPr/>
          <p:nvPr/>
        </p:nvSpPr>
        <p:spPr>
          <a:xfrm>
            <a:off x="503237" y="916472"/>
            <a:ext cx="806364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+ 01.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PARTICIÓN DE EQUIVALENCIA</a:t>
            </a:r>
            <a:endParaRPr lang="es-PE" dirty="0"/>
          </a:p>
        </p:txBody>
      </p:sp>
      <p:grpSp>
        <p:nvGrpSpPr>
          <p:cNvPr id="30" name="Agrupar 57">
            <a:extLst>
              <a:ext uri="{FF2B5EF4-FFF2-40B4-BE49-F238E27FC236}">
                <a16:creationId xmlns:a16="http://schemas.microsoft.com/office/drawing/2014/main" id="{65E9E63F-9F0A-C149-925A-85880762D5AA}"/>
              </a:ext>
            </a:extLst>
          </p:cNvPr>
          <p:cNvGrpSpPr/>
          <p:nvPr/>
        </p:nvGrpSpPr>
        <p:grpSpPr>
          <a:xfrm>
            <a:off x="1031900" y="2227166"/>
            <a:ext cx="168063" cy="167425"/>
            <a:chOff x="3427964" y="2244682"/>
            <a:chExt cx="225891" cy="225034"/>
          </a:xfrm>
        </p:grpSpPr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6D8C9649-906B-7F4B-BAB9-882CAF14E1ED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199AF3DE-96E3-BB4B-85E6-44A9814274E6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3" name="Agrupar 57">
            <a:extLst>
              <a:ext uri="{FF2B5EF4-FFF2-40B4-BE49-F238E27FC236}">
                <a16:creationId xmlns:a16="http://schemas.microsoft.com/office/drawing/2014/main" id="{4A13F21F-902B-ED44-9208-E888599418FE}"/>
              </a:ext>
            </a:extLst>
          </p:cNvPr>
          <p:cNvGrpSpPr/>
          <p:nvPr/>
        </p:nvGrpSpPr>
        <p:grpSpPr>
          <a:xfrm>
            <a:off x="3093264" y="2227166"/>
            <a:ext cx="168063" cy="167425"/>
            <a:chOff x="3427964" y="2244682"/>
            <a:chExt cx="225891" cy="225034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D8212962-18B0-DD43-84C4-86CD606FE18B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3286FA46-F999-3F44-BDE9-92D0465D1FF7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6" name="Agrupar 57">
            <a:extLst>
              <a:ext uri="{FF2B5EF4-FFF2-40B4-BE49-F238E27FC236}">
                <a16:creationId xmlns:a16="http://schemas.microsoft.com/office/drawing/2014/main" id="{DF7CAE76-6C3C-DC46-BFD2-9B8516DD8363}"/>
              </a:ext>
            </a:extLst>
          </p:cNvPr>
          <p:cNvGrpSpPr/>
          <p:nvPr/>
        </p:nvGrpSpPr>
        <p:grpSpPr>
          <a:xfrm>
            <a:off x="5318480" y="2227166"/>
            <a:ext cx="168063" cy="167425"/>
            <a:chOff x="3427964" y="2244682"/>
            <a:chExt cx="225891" cy="225034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C0B06FA6-32B0-2E49-A3FE-048122A11110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38" name="Elipse 37">
              <a:extLst>
                <a:ext uri="{FF2B5EF4-FFF2-40B4-BE49-F238E27FC236}">
                  <a16:creationId xmlns:a16="http://schemas.microsoft.com/office/drawing/2014/main" id="{4BBE585D-3EDB-1340-A0DA-DFC737FC84C6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9" name="Agrupar 57">
            <a:extLst>
              <a:ext uri="{FF2B5EF4-FFF2-40B4-BE49-F238E27FC236}">
                <a16:creationId xmlns:a16="http://schemas.microsoft.com/office/drawing/2014/main" id="{4A89B4A2-73E5-4D47-8506-EA4D652C2F45}"/>
              </a:ext>
            </a:extLst>
          </p:cNvPr>
          <p:cNvGrpSpPr/>
          <p:nvPr/>
        </p:nvGrpSpPr>
        <p:grpSpPr>
          <a:xfrm>
            <a:off x="7522554" y="2227166"/>
            <a:ext cx="168063" cy="167425"/>
            <a:chOff x="3427964" y="2244682"/>
            <a:chExt cx="225891" cy="225034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7AF2CCC6-CB11-F640-9E2D-949BF13392A0}"/>
                </a:ext>
              </a:extLst>
            </p:cNvPr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EE46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4EBB9BCD-ABCF-BA4A-B8E6-593B0F0A8532}"/>
                </a:ext>
              </a:extLst>
            </p:cNvPr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EE4639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020B2A6-D306-564B-93BB-6B2FFF864C92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C8B1A8-C51E-A344-98F7-14D0A8BE8961}"/>
              </a:ext>
            </a:extLst>
          </p:cNvPr>
          <p:cNvSpPr/>
          <p:nvPr/>
        </p:nvSpPr>
        <p:spPr>
          <a:xfrm>
            <a:off x="503237" y="916472"/>
            <a:ext cx="8063641" cy="270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+ 02.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ANÁLISIS DE VALOR LÍMITE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basa en las pruebas en los límites entre las particiones.</a:t>
            </a:r>
            <a:endParaRPr lang="es-PE" sz="1500" dirty="0"/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682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ejemplo, consideremos una impresora que tiene una opción de entrada del número de copias a hacer, del 1 al 99. 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Tomaremos los valores mínimo y máximo (límites) de la partición válido (1 y 99 en este caso).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cada una de las particiones no válidas adyacentes a la partición válida (0 y 100 en </a:t>
            </a:r>
            <a:b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este caso). 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este ejemplo, tendremos tres pruebas de equivalencia de partición (uno de cada una de las tres particiones) y cuatro pruebas de valores en la frontera. </a:t>
            </a:r>
            <a:endParaRPr lang="es-PE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/>
        </p:nvSpPr>
        <p:spPr>
          <a:xfrm>
            <a:off x="6877687" y="5047586"/>
            <a:ext cx="1396299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1B6EF3C-CC65-5B4D-9ABB-15F0CF96B0C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8B3EC2-2291-1B4F-872D-A36B6ECB1AFF}"/>
              </a:ext>
            </a:extLst>
          </p:cNvPr>
          <p:cNvSpPr/>
          <p:nvPr/>
        </p:nvSpPr>
        <p:spPr>
          <a:xfrm>
            <a:off x="503237" y="916472"/>
            <a:ext cx="8063641" cy="40934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TABLAS DE DECISIÓN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“La partición en clases de equivalencia y el análisis de valores límite tratan entradas en condiciones aisladas”.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“Sin embargo, una condición de entrada puede tener efectos sólo en combinación con otras condiciones de entrada”.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“Todos los métodos descritos previamente no tienen en cuenta el efecto de dependencias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y combinaciones”.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“El uso del conjunto completo de las combinaciones de todas las clases de equivalencia de entrada, conduce normalmente a un número muy alto de casos de prueba (explosión de casos de prueba)”.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“Con la ayuda de diagramas causa y efecto y tablas de decisiones, se puede determinar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la cantidad de combinaciones posibles y se pueden reducir de forma sistemática a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un subconjunto”.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>
            <a:extLst>
              <a:ext uri="{FF2B5EF4-FFF2-40B4-BE49-F238E27FC236}">
                <a16:creationId xmlns:a16="http://schemas.microsoft.com/office/drawing/2014/main" id="{E177F431-E823-1340-B035-AB0DFA74B9B0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Google Shape;254;p17">
            <a:extLst>
              <a:ext uri="{FF2B5EF4-FFF2-40B4-BE49-F238E27FC236}">
                <a16:creationId xmlns:a16="http://schemas.microsoft.com/office/drawing/2014/main" id="{BFF7B260-2009-AA4C-B5AB-8727B78BC625}"/>
              </a:ext>
            </a:extLst>
          </p:cNvPr>
          <p:cNvSpPr txBox="1"/>
          <p:nvPr/>
        </p:nvSpPr>
        <p:spPr>
          <a:xfrm>
            <a:off x="684213" y="3346248"/>
            <a:ext cx="1396299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1CD9CB1-4531-6644-88D5-A7AC409213E7}"/>
              </a:ext>
            </a:extLst>
          </p:cNvPr>
          <p:cNvSpPr/>
          <p:nvPr/>
        </p:nvSpPr>
        <p:spPr>
          <a:xfrm>
            <a:off x="503237" y="916472"/>
            <a:ext cx="8063641" cy="22467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TABLAS DE DECISIÓN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diagrama causa y efecto utiliza un lenguaje formal.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diagrama causa y efecto se genera traduciendo la especificación (normalmente informal) de un objeto de prueba a un lenguaje formal.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objeto de prueba está sometido a una determinada cantidad de efectos que se remontan a sus respectivas causas.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9" name="Google Shape;269;p19"/>
          <p:cNvGraphicFramePr/>
          <p:nvPr>
            <p:extLst>
              <p:ext uri="{D42A27DB-BD31-4B8C-83A1-F6EECF244321}">
                <p14:modId xmlns:p14="http://schemas.microsoft.com/office/powerpoint/2010/main" val="3546959805"/>
              </p:ext>
            </p:extLst>
          </p:nvPr>
        </p:nvGraphicFramePr>
        <p:xfrm>
          <a:off x="503238" y="1462613"/>
          <a:ext cx="8137525" cy="3771575"/>
        </p:xfrm>
        <a:graphic>
          <a:graphicData uri="http://schemas.openxmlformats.org/drawingml/2006/table">
            <a:tbl>
              <a:tblPr firstRow="1" bandRow="1">
                <a:noFill/>
                <a:tableStyleId>{96ABA2A7-E02A-4494-9AB4-2959EE87CC34}</a:tableStyleId>
              </a:tblPr>
              <a:tblGrid>
                <a:gridCol w="2767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7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u="none" strike="noStrike" cap="none" dirty="0"/>
                        <a:t>NOMBRE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u="none" strike="noStrike" cap="none" dirty="0"/>
                        <a:t>DEFINICIÓN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1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u="none" strike="noStrike" cap="none" dirty="0"/>
                        <a:t>SÍMBOLO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1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9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u="none" strike="noStrike" cap="none"/>
                        <a:t>Aseveración (assertion)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u="none" strike="noStrike" cap="none" dirty="0"/>
                        <a:t>Si causa A, entonces efecto E.</a:t>
                      </a:r>
                      <a:endParaRPr sz="1300" u="none" strike="noStrike" cap="none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Negación (negation)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dirty="0"/>
                        <a:t>Si causa A, entonces no efecto E.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o (or)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dirty="0"/>
                        <a:t>Si causa A o B, entonces efecto E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y (and)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300" dirty="0"/>
                        <a:t>Si causa A o B, entonces efecto E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Exclusivo (exclusive)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300" dirty="0"/>
                        <a:t>o causa A, o causa B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6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Inclusivo (inclusive)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dirty="0"/>
                        <a:t>Por lo menos una de las 2 causas, A o B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Uno y solo uno (one and only one)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s-PE" sz="1300" dirty="0"/>
                        <a:t>Una y exactamente una de las 2 causas, A o B 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/>
                        <a:t>Requerido (required)</a:t>
                      </a:r>
                      <a:endParaRPr sz="130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300" dirty="0"/>
                        <a:t>Si causa A entonces causa B</a:t>
                      </a:r>
                      <a:endParaRPr sz="1300" dirty="0"/>
                    </a:p>
                  </a:txBody>
                  <a:tcPr marL="78625" marR="78625" marT="39325" marB="39325" anchor="ctr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dirty="0"/>
                    </a:p>
                  </a:txBody>
                  <a:tcPr marL="78625" marR="78625" marT="39325" marB="39325">
                    <a:lnL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1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0" name="Google Shape;270;p19"/>
          <p:cNvSpPr/>
          <p:nvPr/>
        </p:nvSpPr>
        <p:spPr>
          <a:xfrm>
            <a:off x="7053142" y="1832315"/>
            <a:ext cx="219278" cy="228228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71" name="Google Shape;271;p19"/>
          <p:cNvSpPr/>
          <p:nvPr/>
        </p:nvSpPr>
        <p:spPr>
          <a:xfrm>
            <a:off x="8245642" y="1817247"/>
            <a:ext cx="219278" cy="228228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dirty="0"/>
          </a:p>
        </p:txBody>
      </p:sp>
      <p:cxnSp>
        <p:nvCxnSpPr>
          <p:cNvPr id="272" name="Google Shape;272;p19"/>
          <p:cNvCxnSpPr/>
          <p:nvPr/>
        </p:nvCxnSpPr>
        <p:spPr>
          <a:xfrm>
            <a:off x="7272420" y="1953605"/>
            <a:ext cx="973221" cy="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19"/>
          <p:cNvCxnSpPr/>
          <p:nvPr/>
        </p:nvCxnSpPr>
        <p:spPr>
          <a:xfrm>
            <a:off x="7234988" y="2549633"/>
            <a:ext cx="1010653" cy="87192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19"/>
          <p:cNvSpPr/>
          <p:nvPr/>
        </p:nvSpPr>
        <p:spPr>
          <a:xfrm>
            <a:off x="7053142" y="2166391"/>
            <a:ext cx="219278" cy="228228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8245642" y="2151323"/>
            <a:ext cx="219278" cy="228228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276" name="Google Shape;276;p19"/>
          <p:cNvCxnSpPr/>
          <p:nvPr/>
        </p:nvCxnSpPr>
        <p:spPr>
          <a:xfrm>
            <a:off x="7272420" y="2287681"/>
            <a:ext cx="973221" cy="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19"/>
          <p:cNvSpPr/>
          <p:nvPr/>
        </p:nvSpPr>
        <p:spPr>
          <a:xfrm>
            <a:off x="7053142" y="2462441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78" name="Google Shape;278;p19"/>
          <p:cNvSpPr/>
          <p:nvPr/>
        </p:nvSpPr>
        <p:spPr>
          <a:xfrm>
            <a:off x="7053142" y="2660533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79" name="Google Shape;279;p19"/>
          <p:cNvSpPr/>
          <p:nvPr/>
        </p:nvSpPr>
        <p:spPr>
          <a:xfrm>
            <a:off x="8245641" y="2553596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280" name="Google Shape;280;p19"/>
          <p:cNvCxnSpPr>
            <a:endCxn id="279" idx="2"/>
          </p:cNvCxnSpPr>
          <p:nvPr/>
        </p:nvCxnSpPr>
        <p:spPr>
          <a:xfrm rot="10800000" flipH="1">
            <a:off x="7234941" y="2640788"/>
            <a:ext cx="1010700" cy="1068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1" name="Google Shape;281;p19"/>
          <p:cNvSpPr txBox="1"/>
          <p:nvPr/>
        </p:nvSpPr>
        <p:spPr>
          <a:xfrm>
            <a:off x="7647219" y="2541336"/>
            <a:ext cx="18619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cxnSp>
        <p:nvCxnSpPr>
          <p:cNvPr id="282" name="Google Shape;282;p19"/>
          <p:cNvCxnSpPr/>
          <p:nvPr/>
        </p:nvCxnSpPr>
        <p:spPr>
          <a:xfrm>
            <a:off x="7234988" y="3030818"/>
            <a:ext cx="1010653" cy="87192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3" name="Google Shape;283;p19"/>
          <p:cNvSpPr/>
          <p:nvPr/>
        </p:nvSpPr>
        <p:spPr>
          <a:xfrm>
            <a:off x="7053142" y="2943626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7053142" y="3141718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8245641" y="3034781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cxnSp>
        <p:nvCxnSpPr>
          <p:cNvPr id="286" name="Google Shape;286;p19"/>
          <p:cNvCxnSpPr>
            <a:endCxn id="285" idx="2"/>
          </p:cNvCxnSpPr>
          <p:nvPr/>
        </p:nvCxnSpPr>
        <p:spPr>
          <a:xfrm rot="10800000" flipH="1">
            <a:off x="7234941" y="3121973"/>
            <a:ext cx="1010700" cy="1068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7" name="Google Shape;287;p19"/>
          <p:cNvSpPr txBox="1"/>
          <p:nvPr/>
        </p:nvSpPr>
        <p:spPr>
          <a:xfrm rot="10800000">
            <a:off x="7647219" y="3022521"/>
            <a:ext cx="186190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6983492" y="3481639"/>
            <a:ext cx="3401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</a:t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8233064" y="3424159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dirty="0"/>
          </a:p>
        </p:txBody>
      </p:sp>
      <p:sp>
        <p:nvSpPr>
          <p:cNvPr id="290" name="Google Shape;290;p19"/>
          <p:cNvSpPr/>
          <p:nvPr/>
        </p:nvSpPr>
        <p:spPr>
          <a:xfrm>
            <a:off x="8233064" y="3622251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291" name="Google Shape;291;p19"/>
          <p:cNvCxnSpPr>
            <a:stCxn id="288" idx="3"/>
          </p:cNvCxnSpPr>
          <p:nvPr/>
        </p:nvCxnSpPr>
        <p:spPr>
          <a:xfrm rot="10800000" flipH="1">
            <a:off x="7323601" y="3498355"/>
            <a:ext cx="918000" cy="987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ysDash"/>
            <a:round/>
            <a:headEnd type="none" w="sm" len="sm"/>
            <a:tailEnd type="none" w="sm" len="sm"/>
          </a:ln>
        </p:spPr>
      </p:cxnSp>
      <p:cxnSp>
        <p:nvCxnSpPr>
          <p:cNvPr id="292" name="Google Shape;292;p19"/>
          <p:cNvCxnSpPr>
            <a:stCxn id="288" idx="3"/>
            <a:endCxn id="290" idx="2"/>
          </p:cNvCxnSpPr>
          <p:nvPr/>
        </p:nvCxnSpPr>
        <p:spPr>
          <a:xfrm>
            <a:off x="7323601" y="3597055"/>
            <a:ext cx="909600" cy="1125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ysDash"/>
            <a:round/>
            <a:headEnd type="none" w="sm" len="sm"/>
            <a:tailEnd type="none" w="sm" len="sm"/>
          </a:ln>
        </p:spPr>
      </p:cxnSp>
      <p:sp>
        <p:nvSpPr>
          <p:cNvPr id="293" name="Google Shape;293;p19"/>
          <p:cNvSpPr txBox="1"/>
          <p:nvPr/>
        </p:nvSpPr>
        <p:spPr>
          <a:xfrm>
            <a:off x="6983492" y="3922668"/>
            <a:ext cx="3401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8233064" y="3865188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8233064" y="4063280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296" name="Google Shape;296;p19"/>
          <p:cNvCxnSpPr>
            <a:stCxn id="293" idx="3"/>
          </p:cNvCxnSpPr>
          <p:nvPr/>
        </p:nvCxnSpPr>
        <p:spPr>
          <a:xfrm rot="10800000" flipH="1">
            <a:off x="7323601" y="3939384"/>
            <a:ext cx="918000" cy="987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ysDash"/>
            <a:round/>
            <a:headEnd type="none" w="sm" len="sm"/>
            <a:tailEnd type="none" w="sm" len="sm"/>
          </a:ln>
        </p:spPr>
      </p:cxnSp>
      <p:cxnSp>
        <p:nvCxnSpPr>
          <p:cNvPr id="297" name="Google Shape;297;p19"/>
          <p:cNvCxnSpPr>
            <a:stCxn id="293" idx="3"/>
            <a:endCxn id="295" idx="2"/>
          </p:cNvCxnSpPr>
          <p:nvPr/>
        </p:nvCxnSpPr>
        <p:spPr>
          <a:xfrm>
            <a:off x="7323601" y="4038084"/>
            <a:ext cx="909600" cy="1125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ysDash"/>
            <a:round/>
            <a:headEnd type="none" w="sm" len="sm"/>
            <a:tailEnd type="none" w="sm" len="sm"/>
          </a:ln>
        </p:spPr>
      </p:cxnSp>
      <p:sp>
        <p:nvSpPr>
          <p:cNvPr id="298" name="Google Shape;298;p19"/>
          <p:cNvSpPr txBox="1"/>
          <p:nvPr/>
        </p:nvSpPr>
        <p:spPr>
          <a:xfrm>
            <a:off x="6983492" y="4403636"/>
            <a:ext cx="340109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8233064" y="4346156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8233064" y="4544248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cxnSp>
        <p:nvCxnSpPr>
          <p:cNvPr id="301" name="Google Shape;301;p19"/>
          <p:cNvCxnSpPr>
            <a:stCxn id="298" idx="3"/>
          </p:cNvCxnSpPr>
          <p:nvPr/>
        </p:nvCxnSpPr>
        <p:spPr>
          <a:xfrm rot="10800000" flipH="1">
            <a:off x="7323601" y="4420352"/>
            <a:ext cx="918000" cy="987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ysDash"/>
            <a:round/>
            <a:headEnd type="none" w="sm" len="sm"/>
            <a:tailEnd type="none" w="sm" len="sm"/>
          </a:ln>
        </p:spPr>
      </p:cxnSp>
      <p:cxnSp>
        <p:nvCxnSpPr>
          <p:cNvPr id="302" name="Google Shape;302;p19"/>
          <p:cNvCxnSpPr>
            <a:stCxn id="298" idx="3"/>
            <a:endCxn id="300" idx="2"/>
          </p:cNvCxnSpPr>
          <p:nvPr/>
        </p:nvCxnSpPr>
        <p:spPr>
          <a:xfrm>
            <a:off x="7323601" y="4519052"/>
            <a:ext cx="909600" cy="112500"/>
          </a:xfrm>
          <a:prstGeom prst="straightConnector1">
            <a:avLst/>
          </a:prstGeom>
          <a:noFill/>
          <a:ln w="25400" cap="flat" cmpd="sng">
            <a:solidFill>
              <a:srgbClr val="808799"/>
            </a:solidFill>
            <a:prstDash val="sysDash"/>
            <a:round/>
            <a:headEnd type="none" w="sm" len="sm"/>
            <a:tailEnd type="none" w="sm" len="sm"/>
          </a:ln>
        </p:spPr>
      </p:cxnSp>
      <p:sp>
        <p:nvSpPr>
          <p:cNvPr id="303" name="Google Shape;303;p19"/>
          <p:cNvSpPr/>
          <p:nvPr/>
        </p:nvSpPr>
        <p:spPr>
          <a:xfrm>
            <a:off x="8233064" y="4819223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8233064" y="5017315"/>
            <a:ext cx="181846" cy="174384"/>
          </a:xfrm>
          <a:prstGeom prst="ellipse">
            <a:avLst/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pic>
        <p:nvPicPr>
          <p:cNvPr id="305" name="Google Shape;30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4382" y="4799912"/>
            <a:ext cx="238682" cy="41642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Rectangle 5">
            <a:extLst>
              <a:ext uri="{FF2B5EF4-FFF2-40B4-BE49-F238E27FC236}">
                <a16:creationId xmlns:a16="http://schemas.microsoft.com/office/drawing/2014/main" id="{89A46B57-9D1C-DB4F-A4C0-AFFB0F128AA5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FEF0F26-EE0B-9C40-B81C-31773877FDAD}"/>
              </a:ext>
            </a:extLst>
          </p:cNvPr>
          <p:cNvSpPr/>
          <p:nvPr/>
        </p:nvSpPr>
        <p:spPr>
          <a:xfrm>
            <a:off x="503237" y="816746"/>
            <a:ext cx="806364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TABLAS DE DECISIÓN - SÍMBOLOS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/>
        </p:nvSpPr>
        <p:spPr>
          <a:xfrm>
            <a:off x="698273" y="2452797"/>
            <a:ext cx="188540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992D05B-45CE-4445-A866-19BECF315E8B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83D72F1-58DF-E340-ABDC-034C647717D4}"/>
              </a:ext>
            </a:extLst>
          </p:cNvPr>
          <p:cNvGrpSpPr/>
          <p:nvPr/>
        </p:nvGrpSpPr>
        <p:grpSpPr>
          <a:xfrm>
            <a:off x="2153571" y="2452797"/>
            <a:ext cx="5177493" cy="2670207"/>
            <a:chOff x="2118450" y="2285211"/>
            <a:chExt cx="5177493" cy="2670207"/>
          </a:xfrm>
        </p:grpSpPr>
        <p:pic>
          <p:nvPicPr>
            <p:cNvPr id="313" name="Google Shape;313;p20"/>
            <p:cNvPicPr preferRelativeResize="0"/>
            <p:nvPr/>
          </p:nvPicPr>
          <p:blipFill rotWithShape="1">
            <a:blip r:embed="rId3">
              <a:alphaModFix/>
            </a:blip>
            <a:srcRect l="17104" r="23283"/>
            <a:stretch/>
          </p:blipFill>
          <p:spPr>
            <a:xfrm>
              <a:off x="2890443" y="2285211"/>
              <a:ext cx="3047298" cy="267020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20"/>
            <p:cNvSpPr/>
            <p:nvPr/>
          </p:nvSpPr>
          <p:spPr>
            <a:xfrm>
              <a:off x="2890443" y="2413769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2890443" y="3369998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2890443" y="4330613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5517877" y="2413769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5517877" y="3098042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5517877" y="3821794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5517877" y="4571862"/>
              <a:ext cx="315818" cy="315818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11;p20">
              <a:extLst>
                <a:ext uri="{FF2B5EF4-FFF2-40B4-BE49-F238E27FC236}">
                  <a16:creationId xmlns:a16="http://schemas.microsoft.com/office/drawing/2014/main" id="{5F10E767-1F46-1247-A69C-1CA1307469EF}"/>
                </a:ext>
              </a:extLst>
            </p:cNvPr>
            <p:cNvSpPr/>
            <p:nvPr/>
          </p:nvSpPr>
          <p:spPr>
            <a:xfrm>
              <a:off x="2118450" y="2452797"/>
              <a:ext cx="738873" cy="2000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Cobertura</a:t>
              </a:r>
              <a:endParaRPr sz="1300" dirty="0"/>
            </a:p>
          </p:txBody>
        </p:sp>
        <p:sp>
          <p:nvSpPr>
            <p:cNvPr id="17" name="Google Shape;311;p20">
              <a:extLst>
                <a:ext uri="{FF2B5EF4-FFF2-40B4-BE49-F238E27FC236}">
                  <a16:creationId xmlns:a16="http://schemas.microsoft.com/office/drawing/2014/main" id="{D5EFACEB-B9CD-3549-B0E5-B64BB100A133}"/>
                </a:ext>
              </a:extLst>
            </p:cNvPr>
            <p:cNvSpPr/>
            <p:nvPr/>
          </p:nvSpPr>
          <p:spPr>
            <a:xfrm>
              <a:off x="2118450" y="3312463"/>
              <a:ext cx="7388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Receptor</a:t>
              </a:r>
            </a:p>
            <a:p>
              <a:pPr marR="0" lvl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correcto</a:t>
              </a:r>
              <a:endParaRPr sz="1300" dirty="0"/>
            </a:p>
          </p:txBody>
        </p:sp>
        <p:sp>
          <p:nvSpPr>
            <p:cNvPr id="18" name="Google Shape;311;p20">
              <a:extLst>
                <a:ext uri="{FF2B5EF4-FFF2-40B4-BE49-F238E27FC236}">
                  <a16:creationId xmlns:a16="http://schemas.microsoft.com/office/drawing/2014/main" id="{37DDAE8D-1C18-3D49-9E23-8E2EEB53C83C}"/>
                </a:ext>
              </a:extLst>
            </p:cNvPr>
            <p:cNvSpPr/>
            <p:nvPr/>
          </p:nvSpPr>
          <p:spPr>
            <a:xfrm>
              <a:off x="2118450" y="4273078"/>
              <a:ext cx="738873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TAN</a:t>
              </a:r>
            </a:p>
            <a:p>
              <a:pPr marR="0" lvl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Válido</a:t>
              </a:r>
              <a:endParaRPr sz="1300" dirty="0"/>
            </a:p>
          </p:txBody>
        </p:sp>
        <p:sp>
          <p:nvSpPr>
            <p:cNvPr id="19" name="Google Shape;311;p20">
              <a:extLst>
                <a:ext uri="{FF2B5EF4-FFF2-40B4-BE49-F238E27FC236}">
                  <a16:creationId xmlns:a16="http://schemas.microsoft.com/office/drawing/2014/main" id="{EED22EE1-D294-EE4C-9CB0-C0E7746B0FB6}"/>
                </a:ext>
              </a:extLst>
            </p:cNvPr>
            <p:cNvSpPr/>
            <p:nvPr/>
          </p:nvSpPr>
          <p:spPr>
            <a:xfrm>
              <a:off x="5937741" y="2346479"/>
              <a:ext cx="135820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Realizar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Transferencia</a:t>
              </a:r>
              <a:endParaRPr sz="1300" dirty="0"/>
            </a:p>
          </p:txBody>
        </p:sp>
        <p:sp>
          <p:nvSpPr>
            <p:cNvPr id="20" name="Google Shape;311;p20">
              <a:extLst>
                <a:ext uri="{FF2B5EF4-FFF2-40B4-BE49-F238E27FC236}">
                  <a16:creationId xmlns:a16="http://schemas.microsoft.com/office/drawing/2014/main" id="{A8BE8A2F-54C4-9B42-8B4D-F2BB8DF393D2}"/>
                </a:ext>
              </a:extLst>
            </p:cNvPr>
            <p:cNvSpPr/>
            <p:nvPr/>
          </p:nvSpPr>
          <p:spPr>
            <a:xfrm>
              <a:off x="5937741" y="3040507"/>
              <a:ext cx="135820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TAN identificado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como utilizado</a:t>
              </a:r>
              <a:endParaRPr sz="1300" dirty="0"/>
            </a:p>
          </p:txBody>
        </p:sp>
        <p:sp>
          <p:nvSpPr>
            <p:cNvPr id="21" name="Google Shape;311;p20">
              <a:extLst>
                <a:ext uri="{FF2B5EF4-FFF2-40B4-BE49-F238E27FC236}">
                  <a16:creationId xmlns:a16="http://schemas.microsoft.com/office/drawing/2014/main" id="{DCEABC80-48F9-0743-BE9F-AFC4F4438AD5}"/>
                </a:ext>
              </a:extLst>
            </p:cNvPr>
            <p:cNvSpPr/>
            <p:nvPr/>
          </p:nvSpPr>
          <p:spPr>
            <a:xfrm>
              <a:off x="5937741" y="3764259"/>
              <a:ext cx="135820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Denegar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Transferencia</a:t>
              </a:r>
              <a:endParaRPr sz="1300" dirty="0"/>
            </a:p>
          </p:txBody>
        </p:sp>
        <p:sp>
          <p:nvSpPr>
            <p:cNvPr id="22" name="Google Shape;311;p20">
              <a:extLst>
                <a:ext uri="{FF2B5EF4-FFF2-40B4-BE49-F238E27FC236}">
                  <a16:creationId xmlns:a16="http://schemas.microsoft.com/office/drawing/2014/main" id="{5E54FEF4-3D65-EB46-8448-1E32D8821262}"/>
                </a:ext>
              </a:extLst>
            </p:cNvPr>
            <p:cNvSpPr/>
            <p:nvPr/>
          </p:nvSpPr>
          <p:spPr>
            <a:xfrm>
              <a:off x="5937741" y="4524531"/>
              <a:ext cx="1358202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Solicitar TAN</a:t>
              </a:r>
            </a:p>
            <a:p>
              <a:pPr marR="0" lvl="0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</a:pPr>
              <a:r>
                <a:rPr lang="es-ES" sz="1300" dirty="0">
                  <a:solidFill>
                    <a:schemeClr val="dk1"/>
                  </a:solidFill>
                  <a:latin typeface="Calibri"/>
                  <a:cs typeface="Calibri"/>
                  <a:sym typeface="Calibri"/>
                </a:rPr>
                <a:t>nuevamente</a:t>
              </a:r>
              <a:endParaRPr sz="1300" dirty="0"/>
            </a:p>
          </p:txBody>
        </p:sp>
      </p:grpSp>
      <p:sp>
        <p:nvSpPr>
          <p:cNvPr id="33" name="Rectángulo 32">
            <a:extLst>
              <a:ext uri="{FF2B5EF4-FFF2-40B4-BE49-F238E27FC236}">
                <a16:creationId xmlns:a16="http://schemas.microsoft.com/office/drawing/2014/main" id="{51F7EBE2-5568-3E4C-B4E2-59D76AE86DB9}"/>
              </a:ext>
            </a:extLst>
          </p:cNvPr>
          <p:cNvSpPr/>
          <p:nvPr/>
        </p:nvSpPr>
        <p:spPr>
          <a:xfrm>
            <a:off x="503237" y="916472"/>
            <a:ext cx="8063641" cy="1323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TABLAS DE DECISIÓN - EJEMPLO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“El usuario se identifica a través de su número de cuenta y PIN. Si tiene suficiente cobertura podrá realizar una transferencia. Para poder realizar la transferencia debe introducir los datos del receptor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y un TAN (Número de Autenticación de Transferencia) válido”.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9" name="Google Shape;329;p21"/>
          <p:cNvGraphicFramePr/>
          <p:nvPr>
            <p:extLst>
              <p:ext uri="{D42A27DB-BD31-4B8C-83A1-F6EECF244321}">
                <p14:modId xmlns:p14="http://schemas.microsoft.com/office/powerpoint/2010/main" val="1542788303"/>
              </p:ext>
            </p:extLst>
          </p:nvPr>
        </p:nvGraphicFramePr>
        <p:xfrm>
          <a:off x="1782794" y="1556375"/>
          <a:ext cx="5578400" cy="1959225"/>
        </p:xfrm>
        <a:graphic>
          <a:graphicData uri="http://schemas.openxmlformats.org/drawingml/2006/table">
            <a:tbl>
              <a:tblPr firstRow="1" bandRow="1">
                <a:noFill/>
                <a:tableStyleId>{B7E7C004-229E-4654-84CB-5644D2D8E789}</a:tableStyleId>
              </a:tblPr>
              <a:tblGrid>
                <a:gridCol w="143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TABLA DE DECISIÓN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DESCRIPCIÓN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TO1</a:t>
                      </a:r>
                      <a:endParaRPr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TO2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TO3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TO4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TO5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5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1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Causa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Suficiente cobertura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-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-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52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Receptor correcto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-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-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52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TAN válido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-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-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150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Efecto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Realizar Transferencia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27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Marcar TAN como utilizado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 dirty="0"/>
                        <a:t>No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52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/>
                        <a:t>Denegar transferencia</a:t>
                      </a:r>
                      <a:endParaRPr sz="100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Sí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 dirty="0"/>
                        <a:t>No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525">
                <a:tc v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/>
                        <a:t>Solicitar TAN nuevamente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/>
                        <a:t>No</a:t>
                      </a:r>
                      <a:endParaRPr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es-PE" sz="1000" dirty="0"/>
                        <a:t>Sí</a:t>
                      </a:r>
                      <a:endParaRPr dirty="0"/>
                    </a:p>
                  </a:txBody>
                  <a:tcPr marL="54250" marR="54250" marT="27125" marB="27125" anchor="ctr">
                    <a:lnL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5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0" name="Google Shape;330;p21"/>
          <p:cNvSpPr/>
          <p:nvPr/>
        </p:nvSpPr>
        <p:spPr>
          <a:xfrm>
            <a:off x="503238" y="3674318"/>
            <a:ext cx="806364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7800" marR="0" lvl="0" indent="-16827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columna de la tabla representa un caso de prueba.</a:t>
            </a:r>
            <a:br>
              <a:rPr lang="es-PE" sz="1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s-PE" sz="13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Construcción de la tabla de decisión:</a:t>
            </a:r>
            <a:endParaRPr sz="1300" dirty="0"/>
          </a:p>
          <a:p>
            <a:pPr marL="174625" marR="0" lvl="1" indent="-1746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Seleccionar un efecto.</a:t>
            </a:r>
            <a:endParaRPr sz="1300" dirty="0"/>
          </a:p>
          <a:p>
            <a:pPr marL="174625" marR="0" lvl="1" indent="-1746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Regresar al diagrama para identificar las causas.</a:t>
            </a:r>
            <a:endParaRPr sz="1300" dirty="0"/>
          </a:p>
          <a:p>
            <a:pPr marL="174625" marR="0" lvl="1" indent="-1746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combinación de causas está representada por una columna en la tabla de decisión (un caso de prueba).</a:t>
            </a:r>
            <a:endParaRPr sz="1300" dirty="0"/>
          </a:p>
          <a:p>
            <a:pPr marL="174625" marR="0" lvl="1" indent="-1746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Combinaciones de causas idénticas que conducen a efectos distintos, se pueden fusionar para formar un único caso de prueba.</a:t>
            </a:r>
            <a:endParaRPr sz="1300" dirty="0"/>
          </a:p>
        </p:txBody>
      </p:sp>
      <p:sp>
        <p:nvSpPr>
          <p:cNvPr id="331" name="Google Shape;331;p21"/>
          <p:cNvSpPr txBox="1"/>
          <p:nvPr/>
        </p:nvSpPr>
        <p:spPr>
          <a:xfrm>
            <a:off x="7892320" y="5037768"/>
            <a:ext cx="783367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silo.tips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7A6F8EF-C27B-DA47-B7E7-930C4575AC2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3525F2F-5045-8642-9E7F-F2E8E8EA8E00}"/>
              </a:ext>
            </a:extLst>
          </p:cNvPr>
          <p:cNvSpPr/>
          <p:nvPr/>
        </p:nvSpPr>
        <p:spPr>
          <a:xfrm>
            <a:off x="503237" y="916472"/>
            <a:ext cx="806364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+ 03.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TABLAS DE DECISIÓN - EJEMPLO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9111072-A97B-C14B-AEC0-9F6A217AC248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F59781D-5323-7448-BA64-B8FEF5420A97}"/>
              </a:ext>
            </a:extLst>
          </p:cNvPr>
          <p:cNvSpPr/>
          <p:nvPr/>
        </p:nvSpPr>
        <p:spPr>
          <a:xfrm>
            <a:off x="503237" y="916472"/>
            <a:ext cx="8063641" cy="34009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TRANSICIÓN DE ESTADO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Se utiliza cuando algún aspecto del sistema se puede describir en lo que se llama una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“máquina de estados finitos”.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Cualquier sistema en el que se obtiene una salida diferente para la misma entrada, dependiendo de lo que ha sucedido antes, es un sistema de estados finitos.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Una de las ventajas de la técnica es que el modelo puede ser tan detallada o tan abstracto como se requiera.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57188" indent="-179388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Cuando una parte del sistema es más importante, una mayor profundidad de detalle puede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ser modelado. 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57188" indent="-179388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Cuando el sistema es menos importante, el modelo se puede utilizar en un solo estado para significar lo que sería una serie de diferentes estados.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Arco 28">
            <a:extLst>
              <a:ext uri="{FF2B5EF4-FFF2-40B4-BE49-F238E27FC236}">
                <a16:creationId xmlns:a16="http://schemas.microsoft.com/office/drawing/2014/main" id="{6213FDBF-9C5C-074C-81FA-2B9FEA00D8E1}"/>
              </a:ext>
            </a:extLst>
          </p:cNvPr>
          <p:cNvSpPr/>
          <p:nvPr/>
        </p:nvSpPr>
        <p:spPr>
          <a:xfrm rot="7543912">
            <a:off x="3424761" y="846419"/>
            <a:ext cx="4328457" cy="3236256"/>
          </a:xfrm>
          <a:prstGeom prst="arc">
            <a:avLst>
              <a:gd name="adj1" fmla="val 18806858"/>
              <a:gd name="adj2" fmla="val 1799479"/>
            </a:avLst>
          </a:prstGeom>
          <a:ln w="19050">
            <a:solidFill>
              <a:srgbClr val="EE4639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E69F095-B0BB-9D4C-A381-8067A0F45E3D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9310501-D381-3D43-B9C5-08C787674688}"/>
              </a:ext>
            </a:extLst>
          </p:cNvPr>
          <p:cNvSpPr/>
          <p:nvPr/>
        </p:nvSpPr>
        <p:spPr>
          <a:xfrm>
            <a:off x="503237" y="916472"/>
            <a:ext cx="8063641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+ 04.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TRANSICIÓN DE ESTADO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D859ED11-DF5E-8E41-93D7-FF105F7D78EF}"/>
              </a:ext>
            </a:extLst>
          </p:cNvPr>
          <p:cNvGrpSpPr/>
          <p:nvPr/>
        </p:nvGrpSpPr>
        <p:grpSpPr>
          <a:xfrm>
            <a:off x="1692456" y="1872211"/>
            <a:ext cx="5759087" cy="2601373"/>
            <a:chOff x="1842355" y="1866927"/>
            <a:chExt cx="5411659" cy="2444440"/>
          </a:xfrm>
        </p:grpSpPr>
        <p:cxnSp>
          <p:nvCxnSpPr>
            <p:cNvPr id="35" name="Conector curvado 34">
              <a:extLst>
                <a:ext uri="{FF2B5EF4-FFF2-40B4-BE49-F238E27FC236}">
                  <a16:creationId xmlns:a16="http://schemas.microsoft.com/office/drawing/2014/main" id="{CD5544BB-B056-FE4C-B28E-8BAB842C4E1D}"/>
                </a:ext>
              </a:extLst>
            </p:cNvPr>
            <p:cNvCxnSpPr/>
            <p:nvPr/>
          </p:nvCxnSpPr>
          <p:spPr>
            <a:xfrm rot="16200000" flipH="1">
              <a:off x="5514254" y="3391659"/>
              <a:ext cx="480985" cy="227849"/>
            </a:xfrm>
            <a:prstGeom prst="curvedConnector3">
              <a:avLst/>
            </a:prstGeom>
            <a:ln w="19050">
              <a:solidFill>
                <a:srgbClr val="EE463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48FC25E9-8756-E842-9209-FCF71F38456E}"/>
                </a:ext>
              </a:extLst>
            </p:cNvPr>
            <p:cNvSpPr/>
            <p:nvPr/>
          </p:nvSpPr>
          <p:spPr>
            <a:xfrm rot="10414746">
              <a:off x="4808658" y="2590822"/>
              <a:ext cx="1832232" cy="1326276"/>
            </a:xfrm>
            <a:prstGeom prst="arc">
              <a:avLst/>
            </a:prstGeom>
            <a:ln w="19050">
              <a:solidFill>
                <a:srgbClr val="EE4639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0" name="Arco 29">
              <a:extLst>
                <a:ext uri="{FF2B5EF4-FFF2-40B4-BE49-F238E27FC236}">
                  <a16:creationId xmlns:a16="http://schemas.microsoft.com/office/drawing/2014/main" id="{BA7F4987-DDF6-DB4D-BEC6-430A34132F42}"/>
                </a:ext>
              </a:extLst>
            </p:cNvPr>
            <p:cNvSpPr/>
            <p:nvPr/>
          </p:nvSpPr>
          <p:spPr>
            <a:xfrm rot="4848046">
              <a:off x="5755782" y="2177661"/>
              <a:ext cx="916467" cy="702857"/>
            </a:xfrm>
            <a:prstGeom prst="arc">
              <a:avLst>
                <a:gd name="adj1" fmla="val 17439885"/>
                <a:gd name="adj2" fmla="val 474940"/>
              </a:avLst>
            </a:prstGeom>
            <a:ln w="19050">
              <a:solidFill>
                <a:srgbClr val="EE4639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1" name="Arco 30">
              <a:extLst>
                <a:ext uri="{FF2B5EF4-FFF2-40B4-BE49-F238E27FC236}">
                  <a16:creationId xmlns:a16="http://schemas.microsoft.com/office/drawing/2014/main" id="{DD02D007-E75C-6B4C-B3F5-FAFF2BA4373D}"/>
                </a:ext>
              </a:extLst>
            </p:cNvPr>
            <p:cNvSpPr/>
            <p:nvPr/>
          </p:nvSpPr>
          <p:spPr>
            <a:xfrm>
              <a:off x="2376917" y="2147434"/>
              <a:ext cx="275902" cy="1035967"/>
            </a:xfrm>
            <a:prstGeom prst="arc">
              <a:avLst/>
            </a:prstGeom>
            <a:ln w="19050">
              <a:solidFill>
                <a:srgbClr val="EE463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" name="Arco 2">
              <a:extLst>
                <a:ext uri="{FF2B5EF4-FFF2-40B4-BE49-F238E27FC236}">
                  <a16:creationId xmlns:a16="http://schemas.microsoft.com/office/drawing/2014/main" id="{A57A7E12-624A-0042-8117-420291C69D03}"/>
                </a:ext>
              </a:extLst>
            </p:cNvPr>
            <p:cNvSpPr/>
            <p:nvPr/>
          </p:nvSpPr>
          <p:spPr>
            <a:xfrm>
              <a:off x="2899465" y="2505351"/>
              <a:ext cx="613123" cy="491556"/>
            </a:xfrm>
            <a:prstGeom prst="arc">
              <a:avLst>
                <a:gd name="adj1" fmla="val 10908143"/>
                <a:gd name="adj2" fmla="val 0"/>
              </a:avLst>
            </a:prstGeom>
            <a:ln w="19050">
              <a:solidFill>
                <a:srgbClr val="EE463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9951A3DC-32E2-F341-ABCA-7261CE61D2B4}"/>
                </a:ext>
              </a:extLst>
            </p:cNvPr>
            <p:cNvSpPr/>
            <p:nvPr/>
          </p:nvSpPr>
          <p:spPr>
            <a:xfrm>
              <a:off x="1842355" y="1866927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Inicio</a:t>
              </a:r>
            </a:p>
          </p:txBody>
        </p:sp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79EF530D-B234-134E-88B6-AEB0CD193B64}"/>
                </a:ext>
              </a:extLst>
            </p:cNvPr>
            <p:cNvSpPr/>
            <p:nvPr/>
          </p:nvSpPr>
          <p:spPr>
            <a:xfrm>
              <a:off x="6273491" y="1896074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Retener</a:t>
              </a:r>
            </a:p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Tarjeta</a:t>
              </a:r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AB6FF34F-51AF-2C44-85B1-6149FDB7DA03}"/>
                </a:ext>
              </a:extLst>
            </p:cNvPr>
            <p:cNvSpPr/>
            <p:nvPr/>
          </p:nvSpPr>
          <p:spPr>
            <a:xfrm>
              <a:off x="2307484" y="2665418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Esperar</a:t>
              </a:r>
            </a:p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PIN</a:t>
              </a:r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9BE5640F-B420-E24A-A4FB-3B10201158FE}"/>
                </a:ext>
              </a:extLst>
            </p:cNvPr>
            <p:cNvSpPr/>
            <p:nvPr/>
          </p:nvSpPr>
          <p:spPr>
            <a:xfrm>
              <a:off x="3383961" y="2665418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1er.</a:t>
              </a:r>
            </a:p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Intento</a:t>
              </a:r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6F83152A-1AAD-6D4D-B85A-75FDECB3359A}"/>
                </a:ext>
              </a:extLst>
            </p:cNvPr>
            <p:cNvSpPr/>
            <p:nvPr/>
          </p:nvSpPr>
          <p:spPr>
            <a:xfrm>
              <a:off x="4446148" y="2665418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2do.</a:t>
              </a:r>
            </a:p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Intento</a:t>
              </a:r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87D921E5-ACA1-7840-8568-F804FC28C2F7}"/>
                </a:ext>
              </a:extLst>
            </p:cNvPr>
            <p:cNvSpPr/>
            <p:nvPr/>
          </p:nvSpPr>
          <p:spPr>
            <a:xfrm>
              <a:off x="5530354" y="2665418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3er.</a:t>
              </a:r>
            </a:p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Intento</a:t>
              </a:r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D7804221-CDA9-3F49-82C4-B41F4C624C0F}"/>
                </a:ext>
              </a:extLst>
            </p:cNvPr>
            <p:cNvSpPr/>
            <p:nvPr/>
          </p:nvSpPr>
          <p:spPr>
            <a:xfrm>
              <a:off x="5793962" y="3606246"/>
              <a:ext cx="705121" cy="705121"/>
            </a:xfrm>
            <a:prstGeom prst="ellipse">
              <a:avLst/>
            </a:prstGeom>
            <a:solidFill>
              <a:srgbClr val="715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s-ES_tradnl" sz="1000" b="1" dirty="0">
                  <a:latin typeface="Calibri" panose="020F0502020204030204" pitchFamily="34" charset="0"/>
                  <a:cs typeface="Calibri" panose="020F0502020204030204" pitchFamily="34" charset="0"/>
                </a:rPr>
                <a:t>Acceso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D5F95FA-7CE9-3141-9CC5-632906362900}"/>
                </a:ext>
              </a:extLst>
            </p:cNvPr>
            <p:cNvSpPr/>
            <p:nvPr/>
          </p:nvSpPr>
          <p:spPr>
            <a:xfrm>
              <a:off x="2765396" y="2065598"/>
              <a:ext cx="765295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Ingresa</a:t>
              </a:r>
            </a:p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Tarjeta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827B035-F89A-424E-934B-8E4E187E2B37}"/>
                </a:ext>
              </a:extLst>
            </p:cNvPr>
            <p:cNvSpPr/>
            <p:nvPr/>
          </p:nvSpPr>
          <p:spPr>
            <a:xfrm>
              <a:off x="3864790" y="2310660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C7B6FF1-EB77-804F-81CA-6840FADD25E7}"/>
                </a:ext>
              </a:extLst>
            </p:cNvPr>
            <p:cNvSpPr/>
            <p:nvPr/>
          </p:nvSpPr>
          <p:spPr>
            <a:xfrm>
              <a:off x="4990613" y="2310660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913DCE6-A755-584C-B141-B72A9B4A9CF7}"/>
                </a:ext>
              </a:extLst>
            </p:cNvPr>
            <p:cNvSpPr/>
            <p:nvPr/>
          </p:nvSpPr>
          <p:spPr>
            <a:xfrm>
              <a:off x="6488719" y="2601323"/>
              <a:ext cx="765295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</a:t>
              </a:r>
            </a:p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No OK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FD42B58F-D6D4-2347-B9A6-767E764B3F80}"/>
                </a:ext>
              </a:extLst>
            </p:cNvPr>
            <p:cNvSpPr/>
            <p:nvPr/>
          </p:nvSpPr>
          <p:spPr>
            <a:xfrm>
              <a:off x="4809280" y="3478607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 OK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9EB8320-30F9-C84C-98E3-57E9C06F0AB1}"/>
                </a:ext>
              </a:extLst>
            </p:cNvPr>
            <p:cNvSpPr/>
            <p:nvPr/>
          </p:nvSpPr>
          <p:spPr>
            <a:xfrm>
              <a:off x="5850533" y="3383467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 OK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FED7E18E-5340-4B43-81CF-69A45CE56D71}"/>
                </a:ext>
              </a:extLst>
            </p:cNvPr>
            <p:cNvSpPr/>
            <p:nvPr/>
          </p:nvSpPr>
          <p:spPr>
            <a:xfrm>
              <a:off x="4357597" y="4034389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 OK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BAA24A8-1F2A-1A4C-ABBC-0ABC9BAF8D2B}"/>
                </a:ext>
              </a:extLst>
            </p:cNvPr>
            <p:cNvSpPr/>
            <p:nvPr/>
          </p:nvSpPr>
          <p:spPr>
            <a:xfrm>
              <a:off x="2840912" y="3530606"/>
              <a:ext cx="765295" cy="307777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Ingresa</a:t>
              </a:r>
            </a:p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PIN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24" name="Arco 23">
              <a:extLst>
                <a:ext uri="{FF2B5EF4-FFF2-40B4-BE49-F238E27FC236}">
                  <a16:creationId xmlns:a16="http://schemas.microsoft.com/office/drawing/2014/main" id="{93E3E730-CF12-B94D-9088-6B883A5EDC54}"/>
                </a:ext>
              </a:extLst>
            </p:cNvPr>
            <p:cNvSpPr/>
            <p:nvPr/>
          </p:nvSpPr>
          <p:spPr>
            <a:xfrm>
              <a:off x="3962019" y="2505351"/>
              <a:ext cx="613123" cy="491556"/>
            </a:xfrm>
            <a:prstGeom prst="arc">
              <a:avLst>
                <a:gd name="adj1" fmla="val 10908143"/>
                <a:gd name="adj2" fmla="val 0"/>
              </a:avLst>
            </a:prstGeom>
            <a:ln w="19050">
              <a:solidFill>
                <a:srgbClr val="EE463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25" name="Arco 24">
              <a:extLst>
                <a:ext uri="{FF2B5EF4-FFF2-40B4-BE49-F238E27FC236}">
                  <a16:creationId xmlns:a16="http://schemas.microsoft.com/office/drawing/2014/main" id="{619B4250-BB7E-2E45-A3B8-CA12519CA5B4}"/>
                </a:ext>
              </a:extLst>
            </p:cNvPr>
            <p:cNvSpPr/>
            <p:nvPr/>
          </p:nvSpPr>
          <p:spPr>
            <a:xfrm>
              <a:off x="5032242" y="2505351"/>
              <a:ext cx="613123" cy="491556"/>
            </a:xfrm>
            <a:prstGeom prst="arc">
              <a:avLst>
                <a:gd name="adj1" fmla="val 10908143"/>
                <a:gd name="adj2" fmla="val 0"/>
              </a:avLst>
            </a:prstGeom>
            <a:ln w="19050">
              <a:solidFill>
                <a:srgbClr val="EE463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41E3A489-5B41-C44A-85BE-774ABE90DA88}"/>
                </a:ext>
              </a:extLst>
            </p:cNvPr>
            <p:cNvSpPr/>
            <p:nvPr/>
          </p:nvSpPr>
          <p:spPr>
            <a:xfrm>
              <a:off x="3873471" y="2639239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No OK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34" name="Rectángulo 33">
              <a:extLst>
                <a:ext uri="{FF2B5EF4-FFF2-40B4-BE49-F238E27FC236}">
                  <a16:creationId xmlns:a16="http://schemas.microsoft.com/office/drawing/2014/main" id="{6127C206-819C-B24B-9AC5-C1F52EECD51A}"/>
                </a:ext>
              </a:extLst>
            </p:cNvPr>
            <p:cNvSpPr/>
            <p:nvPr/>
          </p:nvSpPr>
          <p:spPr>
            <a:xfrm>
              <a:off x="4967975" y="2639239"/>
              <a:ext cx="765295" cy="15388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s-PE" sz="1000" dirty="0">
                  <a:solidFill>
                    <a:schemeClr val="tx1"/>
                  </a:solidFill>
                  <a:latin typeface="Calibri" charset="0"/>
                  <a:cs typeface="Calibri" charset="0"/>
                  <a:sym typeface="Calibri"/>
                </a:rPr>
                <a:t>No OK</a:t>
              </a:r>
              <a:endParaRPr lang="es-PE" sz="1000" dirty="0">
                <a:solidFill>
                  <a:schemeClr val="tx1"/>
                </a:solidFill>
                <a:latin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4"/>
          <p:cNvSpPr txBox="1"/>
          <p:nvPr/>
        </p:nvSpPr>
        <p:spPr>
          <a:xfrm>
            <a:off x="503237" y="5037130"/>
            <a:ext cx="1190652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qdoc.tips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500F3B-ADFC-A44A-9F0C-EF9BEDBDD677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EAB9480-3B92-554F-A7CB-24BAC3299D66}"/>
              </a:ext>
            </a:extLst>
          </p:cNvPr>
          <p:cNvSpPr/>
          <p:nvPr/>
        </p:nvSpPr>
        <p:spPr>
          <a:xfrm>
            <a:off x="503237" y="916472"/>
            <a:ext cx="8063641" cy="29392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+ 05.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CASO DE USO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Los casos de prueba se obtienen directamente a partir de los casos de uso del objeto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de prueba.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36525" marR="0" lvl="0" indent="-25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objeto de prueba es visto como un sistema reaccionando con sus actores.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caso de uso describe la interacción de todos los actores involucrados conduciendo a un resultado final por parte del sistema.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caso de uso tiene precondiciones que deben ser cumplidas con el objeto de ejecutar el caso de uso (caso de prueba) de forma satisfactoria.</a:t>
            </a:r>
            <a:endParaRPr lang="es-PE" sz="1500" dirty="0"/>
          </a:p>
          <a:p>
            <a:pPr marL="357188" marR="0" lvl="1" indent="-17938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caso de uso tiene poscondiciones que describen el sistema tras la ejecución del caso de uso (caso de pruebo).</a:t>
            </a:r>
            <a:endParaRPr lang="es-PE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5"/>
          <p:cNvSpPr txBox="1"/>
          <p:nvPr/>
        </p:nvSpPr>
        <p:spPr>
          <a:xfrm>
            <a:off x="503237" y="5017747"/>
            <a:ext cx="45720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es.scribd.com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3A38C8-8656-C94A-A562-4F910B3E7DCF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F80978E-06E7-D342-9265-DCFD873BF939}"/>
              </a:ext>
            </a:extLst>
          </p:cNvPr>
          <p:cNvSpPr/>
          <p:nvPr/>
        </p:nvSpPr>
        <p:spPr>
          <a:xfrm>
            <a:off x="503237" y="916472"/>
            <a:ext cx="8063641" cy="2262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+ 05.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CASO DE USO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Los casos de uso son elementos del Lenguaje Unificado de Modelado (Unified Modeling </a:t>
            </a:r>
            <a:b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Language - UML).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57188" lvl="1" indent="-179388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diagrama de casos de uso es uno de los 13 diferentes tipos de diagramas utilizados por UML.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57188" lvl="1" indent="-179388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Un diagrama de casos de uso describe un comportamiento; no describe una secuencia de eventos.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357188" lvl="1" indent="-179388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Un diagrama de casos de uso muestra la reacción del sistema desde el punto de vista del usuario.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36525" marR="0" lvl="0" indent="-25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es-PE"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5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UML es un lenguaje de especificación propietario para el modelado de objetos.</a:t>
            </a:r>
            <a:endParaRPr lang="es-PE" sz="15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31959C26-8113-3144-98B1-02E119479568}"/>
              </a:ext>
            </a:extLst>
          </p:cNvPr>
          <p:cNvGrpSpPr/>
          <p:nvPr/>
        </p:nvGrpSpPr>
        <p:grpSpPr>
          <a:xfrm>
            <a:off x="4739994" y="984433"/>
            <a:ext cx="4081417" cy="4137556"/>
            <a:chOff x="4640450" y="997253"/>
            <a:chExt cx="4081417" cy="4137556"/>
          </a:xfrm>
        </p:grpSpPr>
        <p:sp>
          <p:nvSpPr>
            <p:cNvPr id="39" name="Rectángulo redondeado 38">
              <a:extLst>
                <a:ext uri="{FF2B5EF4-FFF2-40B4-BE49-F238E27FC236}">
                  <a16:creationId xmlns:a16="http://schemas.microsoft.com/office/drawing/2014/main" id="{13EAB448-01D9-964C-84A7-E0C98C947B5E}"/>
                </a:ext>
              </a:extLst>
            </p:cNvPr>
            <p:cNvSpPr/>
            <p:nvPr/>
          </p:nvSpPr>
          <p:spPr>
            <a:xfrm>
              <a:off x="5635030" y="1287764"/>
              <a:ext cx="2165398" cy="3847045"/>
            </a:xfrm>
            <a:prstGeom prst="roundRect">
              <a:avLst>
                <a:gd name="adj" fmla="val 6731"/>
              </a:avLst>
            </a:prstGeom>
            <a:noFill/>
            <a:ln>
              <a:solidFill>
                <a:srgbClr val="8087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s-ES" sz="1600" dirty="0">
                <a:solidFill>
                  <a:schemeClr val="tx1"/>
                </a:solidFill>
                <a:latin typeface="Calibri"/>
                <a:cs typeface="Calibri"/>
              </a:endParaRPr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5635030" y="997253"/>
              <a:ext cx="2165398" cy="2462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6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RESTAURANTE</a:t>
              </a:r>
              <a:endParaRPr dirty="0"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5767331" y="3552534"/>
              <a:ext cx="971808" cy="544939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5767331" y="4256332"/>
              <a:ext cx="971808" cy="544939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71" name="Google Shape;371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960043" y="1764678"/>
              <a:ext cx="594872" cy="97899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26"/>
            <p:cNvSpPr txBox="1"/>
            <p:nvPr/>
          </p:nvSpPr>
          <p:spPr>
            <a:xfrm>
              <a:off x="7750059" y="2792769"/>
              <a:ext cx="97180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Cocinero</a:t>
              </a:r>
              <a:endParaRPr dirty="0"/>
            </a:p>
          </p:txBody>
        </p:sp>
        <p:sp>
          <p:nvSpPr>
            <p:cNvPr id="373" name="Google Shape;373;p26"/>
            <p:cNvSpPr txBox="1"/>
            <p:nvPr/>
          </p:nvSpPr>
          <p:spPr>
            <a:xfrm>
              <a:off x="4711789" y="1990427"/>
              <a:ext cx="97180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Mesero</a:t>
              </a:r>
              <a:endParaRPr dirty="0"/>
            </a:p>
          </p:txBody>
        </p:sp>
        <p:sp>
          <p:nvSpPr>
            <p:cNvPr id="374" name="Google Shape;374;p26"/>
            <p:cNvSpPr txBox="1"/>
            <p:nvPr/>
          </p:nvSpPr>
          <p:spPr>
            <a:xfrm>
              <a:off x="4640450" y="3252216"/>
              <a:ext cx="97180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Cliente</a:t>
              </a:r>
              <a:endParaRPr dirty="0"/>
            </a:p>
          </p:txBody>
        </p:sp>
        <p:pic>
          <p:nvPicPr>
            <p:cNvPr id="375" name="Google Shape;375;p2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725050" y="4085171"/>
              <a:ext cx="856675" cy="5756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6" name="Google Shape;376;p26"/>
            <p:cNvSpPr txBox="1"/>
            <p:nvPr/>
          </p:nvSpPr>
          <p:spPr>
            <a:xfrm>
              <a:off x="4714980" y="4678683"/>
              <a:ext cx="971808" cy="21544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Cajero</a:t>
              </a:r>
              <a:endParaRPr dirty="0"/>
            </a:p>
          </p:txBody>
        </p:sp>
        <p:cxnSp>
          <p:nvCxnSpPr>
            <p:cNvPr id="378" name="Google Shape;378;p26"/>
            <p:cNvCxnSpPr/>
            <p:nvPr/>
          </p:nvCxnSpPr>
          <p:spPr>
            <a:xfrm>
              <a:off x="7612368" y="2213207"/>
              <a:ext cx="347675" cy="209984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9" name="Google Shape;379;p26"/>
            <p:cNvCxnSpPr>
              <a:endCxn id="380" idx="2"/>
            </p:cNvCxnSpPr>
            <p:nvPr/>
          </p:nvCxnSpPr>
          <p:spPr>
            <a:xfrm rot="10800000" flipH="1">
              <a:off x="5453531" y="1762467"/>
              <a:ext cx="313800" cy="5580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1" name="Google Shape;381;p26"/>
            <p:cNvCxnSpPr>
              <a:endCxn id="382" idx="1"/>
            </p:cNvCxnSpPr>
            <p:nvPr/>
          </p:nvCxnSpPr>
          <p:spPr>
            <a:xfrm>
              <a:off x="5469549" y="1824799"/>
              <a:ext cx="440100" cy="44880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83" name="Google Shape;383;p26"/>
            <p:cNvPicPr preferRelativeResize="0"/>
            <p:nvPr/>
          </p:nvPicPr>
          <p:blipFill rotWithShape="1">
            <a:blip r:embed="rId5">
              <a:alphaModFix/>
            </a:blip>
            <a:srcRect l="10531" r="5699"/>
            <a:stretch/>
          </p:blipFill>
          <p:spPr>
            <a:xfrm>
              <a:off x="4671260" y="1329720"/>
              <a:ext cx="831470" cy="6755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26"/>
            <p:cNvSpPr/>
            <p:nvPr/>
          </p:nvSpPr>
          <p:spPr>
            <a:xfrm>
              <a:off x="5767331" y="1489997"/>
              <a:ext cx="971808" cy="544939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5767331" y="2193795"/>
              <a:ext cx="971808" cy="544939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6778251" y="1940738"/>
              <a:ext cx="971808" cy="544939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" name="Google Shape;385;p26"/>
            <p:cNvCxnSpPr/>
            <p:nvPr/>
          </p:nvCxnSpPr>
          <p:spPr>
            <a:xfrm>
              <a:off x="5302975" y="3061277"/>
              <a:ext cx="666428" cy="14715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6" name="Google Shape;386;p26"/>
            <p:cNvCxnSpPr>
              <a:endCxn id="369" idx="1"/>
            </p:cNvCxnSpPr>
            <p:nvPr/>
          </p:nvCxnSpPr>
          <p:spPr>
            <a:xfrm>
              <a:off x="5301549" y="3087538"/>
              <a:ext cx="608100" cy="54480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7" name="Google Shape;387;p26"/>
            <p:cNvCxnSpPr>
              <a:endCxn id="370" idx="1"/>
            </p:cNvCxnSpPr>
            <p:nvPr/>
          </p:nvCxnSpPr>
          <p:spPr>
            <a:xfrm>
              <a:off x="5301549" y="3076136"/>
              <a:ext cx="608100" cy="126000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388" name="Google Shape;388;p2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900018" y="2621931"/>
              <a:ext cx="479845" cy="60424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89" name="Google Shape;389;p26"/>
            <p:cNvCxnSpPr>
              <a:endCxn id="370" idx="2"/>
            </p:cNvCxnSpPr>
            <p:nvPr/>
          </p:nvCxnSpPr>
          <p:spPr>
            <a:xfrm rot="10800000" flipH="1">
              <a:off x="5502731" y="4528802"/>
              <a:ext cx="264600" cy="1200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90" name="Google Shape;390;p26"/>
            <p:cNvSpPr txBox="1"/>
            <p:nvPr/>
          </p:nvSpPr>
          <p:spPr>
            <a:xfrm>
              <a:off x="5779096" y="1532891"/>
              <a:ext cx="971808" cy="4246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Ordenar</a:t>
              </a:r>
              <a:endParaRPr sz="1200"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comida</a:t>
              </a:r>
              <a:endParaRPr sz="1200"/>
            </a:p>
          </p:txBody>
        </p:sp>
        <p:sp>
          <p:nvSpPr>
            <p:cNvPr id="391" name="Google Shape;391;p26"/>
            <p:cNvSpPr txBox="1"/>
            <p:nvPr/>
          </p:nvSpPr>
          <p:spPr>
            <a:xfrm>
              <a:off x="5779096" y="2245611"/>
              <a:ext cx="971808" cy="4246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Servir</a:t>
              </a:r>
              <a:endParaRPr sz="1200"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comida</a:t>
              </a:r>
              <a:endParaRPr sz="1200"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5767331" y="2859028"/>
              <a:ext cx="971808" cy="544939"/>
            </a:xfrm>
            <a:prstGeom prst="ellipse">
              <a:avLst/>
            </a:prstGeom>
            <a:solidFill>
              <a:srgbClr val="00B1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6"/>
            <p:cNvSpPr txBox="1"/>
            <p:nvPr/>
          </p:nvSpPr>
          <p:spPr>
            <a:xfrm>
              <a:off x="5779096" y="2981179"/>
              <a:ext cx="971808" cy="258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Comer</a:t>
              </a:r>
              <a:endParaRPr sz="1200"/>
            </a:p>
          </p:txBody>
        </p:sp>
        <p:sp>
          <p:nvSpPr>
            <p:cNvPr id="394" name="Google Shape;394;p26"/>
            <p:cNvSpPr txBox="1"/>
            <p:nvPr/>
          </p:nvSpPr>
          <p:spPr>
            <a:xfrm>
              <a:off x="5746417" y="3685041"/>
              <a:ext cx="1037166" cy="2584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Tomar vino</a:t>
              </a:r>
              <a:endParaRPr sz="1200"/>
            </a:p>
          </p:txBody>
        </p:sp>
        <p:sp>
          <p:nvSpPr>
            <p:cNvPr id="395" name="Google Shape;395;p26"/>
            <p:cNvSpPr txBox="1"/>
            <p:nvPr/>
          </p:nvSpPr>
          <p:spPr>
            <a:xfrm>
              <a:off x="5741085" y="4308837"/>
              <a:ext cx="1037166" cy="4246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Pagar por </a:t>
              </a:r>
              <a:br>
                <a:rPr lang="es-PE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PE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 comida</a:t>
              </a:r>
              <a:endParaRPr sz="1200" dirty="0"/>
            </a:p>
          </p:txBody>
        </p:sp>
        <p:sp>
          <p:nvSpPr>
            <p:cNvPr id="396" name="Google Shape;396;p26"/>
            <p:cNvSpPr txBox="1"/>
            <p:nvPr/>
          </p:nvSpPr>
          <p:spPr>
            <a:xfrm>
              <a:off x="6785060" y="1997337"/>
              <a:ext cx="971808" cy="4246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Preparar</a:t>
              </a:r>
              <a:endParaRPr sz="1200" dirty="0"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comida</a:t>
              </a:r>
              <a:endParaRPr sz="1200" dirty="0"/>
            </a:p>
          </p:txBody>
        </p:sp>
        <p:cxnSp>
          <p:nvCxnSpPr>
            <p:cNvPr id="397" name="Google Shape;397;p26"/>
            <p:cNvCxnSpPr>
              <a:cxnSpLocks/>
            </p:cNvCxnSpPr>
            <p:nvPr/>
          </p:nvCxnSpPr>
          <p:spPr>
            <a:xfrm>
              <a:off x="7247744" y="4162226"/>
              <a:ext cx="575456" cy="366575"/>
            </a:xfrm>
            <a:prstGeom prst="straightConnector1">
              <a:avLst/>
            </a:prstGeom>
            <a:noFill/>
            <a:ln w="25400" cap="flat" cmpd="sng">
              <a:solidFill>
                <a:srgbClr val="EE4639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400" name="Google Shape;400;p26"/>
          <p:cNvSpPr txBox="1"/>
          <p:nvPr/>
        </p:nvSpPr>
        <p:spPr>
          <a:xfrm>
            <a:off x="703101" y="5045045"/>
            <a:ext cx="1197429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000" dirty="0">
                <a:solidFill>
                  <a:schemeClr val="bg1">
                    <a:lumMod val="5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silo.tips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68805250-E10A-344D-9A9A-B8EAFE817A2A}"/>
              </a:ext>
            </a:extLst>
          </p:cNvPr>
          <p:cNvSpPr/>
          <p:nvPr/>
        </p:nvSpPr>
        <p:spPr>
          <a:xfrm>
            <a:off x="503238" y="376232"/>
            <a:ext cx="3300666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/>
              </a:rPr>
              <a:t>TÉCNICAS DE CAJA NEGRA O BASADAS EN LA ESPECIFICACIÓN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0EFBAAEE-B2B0-064C-A2B8-447B18E76EBB}"/>
              </a:ext>
            </a:extLst>
          </p:cNvPr>
          <p:cNvSpPr/>
          <p:nvPr/>
        </p:nvSpPr>
        <p:spPr>
          <a:xfrm>
            <a:off x="503238" y="916472"/>
            <a:ext cx="3900770" cy="403187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b="1" dirty="0">
                <a:solidFill>
                  <a:srgbClr val="EE4639"/>
                </a:solidFill>
                <a:latin typeface="Graphik Bold" panose="020B0503030202060203" pitchFamily="34" charset="77"/>
                <a:cs typeface="Calibri" charset="0"/>
              </a:rPr>
              <a:t>+ 05.</a:t>
            </a:r>
            <a:br>
              <a:rPr lang="es-ES" sz="1600" b="1" dirty="0">
                <a:solidFill>
                  <a:srgbClr val="EE4639"/>
                </a:solidFill>
                <a:latin typeface="Calibri" charset="0"/>
                <a:cs typeface="Calibri" charset="0"/>
              </a:rPr>
            </a:br>
            <a:r>
              <a:rPr lang="es-PE" sz="1600" b="1" dirty="0">
                <a:solidFill>
                  <a:srgbClr val="EE4639"/>
                </a:solidFill>
                <a:latin typeface="Calibri" charset="0"/>
                <a:cs typeface="Calibri" charset="0"/>
                <a:sym typeface="Calibri"/>
              </a:rPr>
              <a:t>CASO DE USO - EJEMPLO</a:t>
            </a:r>
            <a:endParaRPr lang="es-PE" sz="1600" b="1" dirty="0">
              <a:solidFill>
                <a:srgbClr val="EE4639"/>
              </a:solidFill>
              <a:latin typeface="Calibri" charset="0"/>
              <a:cs typeface="Calibri" charset="0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diagrama describe la funcionalidad de un Sistema de Restaurante sencillo.</a:t>
            </a:r>
            <a:endParaRPr lang="es-PE" sz="13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endParaRPr lang="es-PE" sz="13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Los casos de uso están representados por óvalos y los actores están representados por figuras humanas.</a:t>
            </a:r>
            <a:endParaRPr lang="es-PE" sz="13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endParaRPr lang="es-PE" sz="13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actor Cliente puede comer comida, pagar </a:t>
            </a:r>
            <a:b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</a:b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por la comida o beber vino.</a:t>
            </a:r>
            <a:endParaRPr lang="es-PE" sz="13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endParaRPr lang="es-PE" sz="13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El actor Cocinero sólo puede preparar comida.</a:t>
            </a:r>
            <a:endParaRPr lang="es-PE" sz="13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endParaRPr lang="es-PE" sz="13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Los actores Cliente y Cajero están involucrados en el caso de uso pagar por la comida.</a:t>
            </a:r>
            <a:endParaRPr lang="es-PE" sz="1300" dirty="0">
              <a:solidFill>
                <a:schemeClr val="dk1"/>
              </a:solidFill>
              <a:latin typeface="Calibri"/>
              <a:cs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endParaRPr lang="es-PE" sz="1300" dirty="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  <a:p>
            <a:pPr marL="177800" lvl="0" indent="-168275">
              <a:buClr>
                <a:schemeClr val="dk1"/>
              </a:buClr>
              <a:buSzPct val="100000"/>
              <a:buFont typeface="Arial"/>
              <a:buChar char="•"/>
            </a:pPr>
            <a:r>
              <a:rPr lang="es-PE" sz="13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La caja define los límites del sistema del Restaurante, es decir, los casos de uso representados son parte del sistema a modelar y no los actores.</a:t>
            </a:r>
            <a:endParaRPr lang="es-PE" sz="1300" dirty="0">
              <a:solidFill>
                <a:schemeClr val="dk1"/>
              </a:solidFill>
              <a:latin typeface="Calibri"/>
              <a:cs typeface="Calibri"/>
            </a:endParaRPr>
          </a:p>
        </p:txBody>
      </p:sp>
      <p:sp>
        <p:nvSpPr>
          <p:cNvPr id="40" name="Rectángulo redondeado 39">
            <a:extLst>
              <a:ext uri="{FF2B5EF4-FFF2-40B4-BE49-F238E27FC236}">
                <a16:creationId xmlns:a16="http://schemas.microsoft.com/office/drawing/2014/main" id="{8BF8DA0D-798C-174D-A3A2-E23F558DFE7A}"/>
              </a:ext>
            </a:extLst>
          </p:cNvPr>
          <p:cNvSpPr/>
          <p:nvPr/>
        </p:nvSpPr>
        <p:spPr>
          <a:xfrm>
            <a:off x="6936432" y="3772914"/>
            <a:ext cx="908197" cy="470598"/>
          </a:xfrm>
          <a:prstGeom prst="roundRect">
            <a:avLst>
              <a:gd name="adj" fmla="val 16033"/>
            </a:avLst>
          </a:prstGeom>
          <a:solidFill>
            <a:srgbClr val="715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1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Frontera del Sistema</a:t>
            </a:r>
            <a:endParaRPr lang="es-PE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4A7A892-D5BD-0843-AD86-6325780FAE0C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CFD0506-63A3-6E45-BBF5-3A7DD59A2047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01C3706E-EAF1-F741-9F29-46395D9E736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3AB8AA4A-4E7E-3646-AB3B-C6595743AD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4E1805B9-44D3-094A-B4DE-602CE40016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410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D4685805-9242-3241-B09E-1D538C1989A4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23" name="object 7">
            <a:extLst>
              <a:ext uri="{FF2B5EF4-FFF2-40B4-BE49-F238E27FC236}">
                <a16:creationId xmlns:a16="http://schemas.microsoft.com/office/drawing/2014/main" id="{E3234215-D348-6349-97DB-A98F1A1F67AE}"/>
              </a:ext>
            </a:extLst>
          </p:cNvPr>
          <p:cNvSpPr txBox="1"/>
          <p:nvPr/>
        </p:nvSpPr>
        <p:spPr>
          <a:xfrm>
            <a:off x="1279545" y="912813"/>
            <a:ext cx="5705454" cy="25853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Los casos de prueba pueden ser diseñados utilizando diferentes métodos.</a:t>
            </a:r>
            <a:endParaRPr lang="es-PE" dirty="0">
              <a:solidFill>
                <a:schemeClr val="tx1"/>
              </a:solidFill>
            </a:endParaRPr>
          </a:p>
          <a:p>
            <a:pPr marL="117475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Si la funcionalidad especificada es el objetivo de las pruebas, los métodos utilizados se denominan métodos basados en la especificación o métodos de caja negra (black box).</a:t>
            </a:r>
            <a:endParaRPr lang="es-PE" dirty="0">
              <a:solidFill>
                <a:schemeClr val="tx1"/>
              </a:solidFill>
            </a:endParaRPr>
          </a:p>
          <a:p>
            <a:pPr marL="117475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Si la estructura interna de un objeto es Investigada, los métodos utilizados se denominan métodos basados en la estructura o métodos de caja blanca (white box).</a:t>
            </a:r>
            <a:endParaRPr lang="es-PE" dirty="0">
              <a:solidFill>
                <a:schemeClr val="tx1"/>
              </a:solidFill>
            </a:endParaRPr>
          </a:p>
          <a:p>
            <a:pPr marL="117475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525"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Los métodos basados en la experiencia utilizan el conocimiento y la habilidad del personal involucrado en el diseño de casos de prueba.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44F1A2C3-C107-D449-A5F2-BB82CB7E6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6F8B1289-28E7-4244-A685-900CEDCC3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239910"/>
            <a:ext cx="114138" cy="11754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3B911B0-07CD-FB43-8A3E-73C96E86AB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28" name="Rectangle 5">
            <a:extLst>
              <a:ext uri="{FF2B5EF4-FFF2-40B4-BE49-F238E27FC236}">
                <a16:creationId xmlns:a16="http://schemas.microsoft.com/office/drawing/2014/main" id="{78211D91-0898-EF4A-BF82-0F0A9CBD5DC7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83639AD7-D75A-2B49-8EF0-C65DC16E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370480"/>
            <a:ext cx="114138" cy="1175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4088E972-08F8-4247-8478-1B142A7F6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086855"/>
            <a:ext cx="114138" cy="1175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906CCE7-3616-2D46-8146-4EEE1979E311}"/>
              </a:ext>
            </a:extLst>
          </p:cNvPr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3F5DF1A9-CEFE-BB4E-8FB3-3BF29A5B884E}"/>
              </a:ext>
            </a:extLst>
          </p:cNvPr>
          <p:cNvSpPr txBox="1"/>
          <p:nvPr/>
        </p:nvSpPr>
        <p:spPr>
          <a:xfrm>
            <a:off x="1279545" y="912813"/>
            <a:ext cx="5705454" cy="12926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Métodos de caja negra (black box):</a:t>
            </a:r>
            <a:endParaRPr lang="es-PE" dirty="0">
              <a:solidFill>
                <a:schemeClr val="tx1"/>
              </a:solidFill>
            </a:endParaRPr>
          </a:p>
          <a:p>
            <a:pPr marL="177800" lvl="1" indent="-165100">
              <a:buClr>
                <a:srgbClr val="7150A0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Partición de equivalencias o clases de equivalencia.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7150A0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Análisis de valores límite.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7150A0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Tablas de decisión y gráficos causa y efecto.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7150A0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Pruebas de transición de estado.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  <a:p>
            <a:pPr marL="177800" lvl="1" indent="-165100">
              <a:buClr>
                <a:srgbClr val="7150A0"/>
              </a:buClr>
              <a:buSzPct val="100000"/>
              <a:buFont typeface="Arial" charset="0"/>
              <a:buChar char="•"/>
              <a:tabLst>
                <a:tab pos="120650" algn="l"/>
              </a:tabLst>
            </a:pPr>
            <a:r>
              <a:rPr lang="es-PE" spc="-10" dirty="0">
                <a:solidFill>
                  <a:srgbClr val="262626"/>
                </a:solidFill>
                <a:latin typeface="Calibri" charset="0"/>
                <a:cs typeface="Calibri" charset="0"/>
                <a:sym typeface="Calibri"/>
              </a:rPr>
              <a:t>Pruebas de caso de uso.</a:t>
            </a:r>
            <a:endParaRPr lang="es-PE" spc="-10" dirty="0">
              <a:solidFill>
                <a:srgbClr val="262626"/>
              </a:solidFill>
              <a:latin typeface="Calibri" charset="0"/>
              <a:cs typeface="Calibri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54DB57B-14A0-A449-A8FE-3A1A903F1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0E6CC68-9F57-2B46-92E2-28C97E42B72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E53F4089-869B-4342-ABB1-89B89339E834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F830D53-ED19-3141-8717-962317E721B6}"/>
              </a:ext>
            </a:extLst>
          </p:cNvPr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Calibr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1B93D7-CF0E-E147-A23B-DB7640B75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48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3287</Words>
  <Application>Microsoft Office PowerPoint</Application>
  <PresentationFormat>Presentación en pantalla (16:10)</PresentationFormat>
  <Paragraphs>486</Paragraphs>
  <Slides>31</Slides>
  <Notes>28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8" baseType="lpstr">
      <vt:lpstr>Graphik Bold</vt:lpstr>
      <vt:lpstr>Graphik Regular</vt:lpstr>
      <vt:lpstr>Graphik-Medium</vt:lpstr>
      <vt:lpstr>Arial</vt:lpstr>
      <vt:lpstr>Calibri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ISIL</dc:creator>
  <cp:lastModifiedBy>Elva Zoraida Hamada Doshi</cp:lastModifiedBy>
  <cp:revision>95</cp:revision>
  <dcterms:created xsi:type="dcterms:W3CDTF">2016-10-06T14:52:02Z</dcterms:created>
  <dcterms:modified xsi:type="dcterms:W3CDTF">2024-12-03T16:54:00Z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