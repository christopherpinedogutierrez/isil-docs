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4" r:id="rId22"/>
    <p:sldId id="277" r:id="rId23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80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oUzuB1vyhekB4odAKRWWIX5oY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697E"/>
    <a:srgbClr val="7150A0"/>
    <a:srgbClr val="E3DCED"/>
    <a:srgbClr val="00B1C2"/>
    <a:srgbClr val="D1EFF4"/>
    <a:srgbClr val="FE7828"/>
    <a:srgbClr val="FFD7C1"/>
    <a:srgbClr val="FDC212"/>
    <a:srgbClr val="808799"/>
    <a:srgbClr val="EE4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89"/>
    <p:restoredTop sz="94674"/>
  </p:normalViewPr>
  <p:slideViewPr>
    <p:cSldViewPr snapToGrid="0">
      <p:cViewPr varScale="1">
        <p:scale>
          <a:sx n="143" d="100"/>
          <a:sy n="143" d="100"/>
        </p:scale>
        <p:origin x="1784" y="192"/>
      </p:cViewPr>
      <p:guideLst>
        <p:guide pos="2880"/>
        <p:guide orient="horz" pos="18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Prueba exploratoria es un enfoque práctico en el que los probadores están involucrados en la planificación y ejecución mínimo de prueba máxima.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Las actividades de diseño de pruebas y ejecución de pruebas se realizan en paralelo normalmente sin documentar formalmente las condiciones de prueba, casos de prueba o scripts de prueba. 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 sz="1200"/>
              <a:t>Sirve para complementar otras pruebas, ayudando a establecer una mayor confianza en el software.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error guessing = predicción de errores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rough model = modelo preliminar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003EFC92-8A6F-BF45-A378-52F480869C39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0E38EF7-2D3F-EB4D-8009-DC9618718B7D}"/>
              </a:ext>
            </a:extLst>
          </p:cNvPr>
          <p:cNvSpPr txBox="1"/>
          <p:nvPr userDrawn="1"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10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AB6FBC2-9B61-AA4D-A084-983CBE4FB86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81256B4-D64C-A743-982A-CE4A55D0DB37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BB3D21-D7B6-1449-A906-112E5F79F606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DC02C6D-DC22-8045-8252-F733C798B1AE}"/>
              </a:ext>
            </a:extLst>
          </p:cNvPr>
          <p:cNvSpPr/>
          <p:nvPr/>
        </p:nvSpPr>
        <p:spPr>
          <a:xfrm>
            <a:off x="503239" y="2177570"/>
            <a:ext cx="3056852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000" dirty="0">
                <a:latin typeface="Graphik-Medium" charset="0"/>
                <a:ea typeface="Graphik-Medium" charset="0"/>
                <a:cs typeface="Graphik-Medium" charset="0"/>
              </a:rPr>
              <a:t>TÉCNICAS </a:t>
            </a:r>
            <a:br>
              <a:rPr lang="es-PE" sz="3000" dirty="0">
                <a:latin typeface="Graphik-Medium" charset="0"/>
                <a:ea typeface="Graphik-Medium" charset="0"/>
                <a:cs typeface="Graphik-Medium" charset="0"/>
              </a:rPr>
            </a:br>
            <a:r>
              <a:rPr lang="es-PE" sz="3000" b="1" dirty="0">
                <a:latin typeface="Graphik Bold" charset="0"/>
                <a:ea typeface="Graphik Bold" charset="0"/>
                <a:cs typeface="Graphik Bold" charset="0"/>
              </a:rPr>
              <a:t>DINÁMICAS - III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DA232D1-AAD2-FB49-8544-8797C2B3E7BA}"/>
              </a:ext>
            </a:extLst>
          </p:cNvPr>
          <p:cNvSpPr/>
          <p:nvPr/>
        </p:nvSpPr>
        <p:spPr>
          <a:xfrm>
            <a:off x="503238" y="3219842"/>
            <a:ext cx="2845526" cy="19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  <a:sym typeface="Calibri"/>
              </a:rPr>
              <a:t>Técnicas basadas en la experiencia</a:t>
            </a:r>
            <a:endParaRPr lang="es-PE" sz="1200" dirty="0">
              <a:latin typeface="Graphik-Medium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3F21D1E-82CF-CF4C-A114-4C400113813D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10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9C12587A-7B7F-D148-812A-7DDAEA51D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84FEF4D-7301-B548-9876-0DD989251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7B5956A-DC3D-C34F-9B5B-99AB620B78FB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9EB626-F638-FA41-9FDF-4D08B736D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A453890-5FFC-1E4E-A5A8-7D429EF6AC49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E57D93-8931-C64B-B494-976BA492DDBD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C3392A-35F3-A24F-9A71-2C6ACDBDB8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74DCA6F-D6C4-4C49-AE5B-12038ABC3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6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61B525C-9168-C04F-ADBC-AE9930DF7573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E7FE7430-4297-5B43-8C91-F55C30141DBA}"/>
              </a:ext>
            </a:extLst>
          </p:cNvPr>
          <p:cNvSpPr txBox="1"/>
          <p:nvPr/>
        </p:nvSpPr>
        <p:spPr>
          <a:xfrm>
            <a:off x="1282299" y="918372"/>
            <a:ext cx="5200798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dirty="0"/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Aplicarás</a:t>
            </a: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 las técnicas basadas en la experiencia como complemento de las técnicas sistemáticas de pruebas.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4F0924-3BDC-1B48-B944-958762CF5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13D2239-E224-114A-B88B-44E30FF943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680BC90-3244-3B4F-807F-CFB1C31F7C40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BDD8384-F3F6-CE4D-86CA-FD1CE4F2AD02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45184A7-290D-574A-94E3-FE5151FC089D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C28379-CD59-8341-BAC0-18BB5C02D2E9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TÉCNICAS BASADAS</a:t>
            </a:r>
            <a:b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EN LA EXPERIENCIA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A3B11B-8487-0849-BA98-49C8B412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5">
            <a:extLst>
              <a:ext uri="{FF2B5EF4-FFF2-40B4-BE49-F238E27FC236}">
                <a16:creationId xmlns:a16="http://schemas.microsoft.com/office/drawing/2014/main" id="{873A1896-E228-4548-85C4-C1DD4DD60FD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9F4229E-5E69-DF4C-9F93-4DE6DD996931}"/>
              </a:ext>
            </a:extLst>
          </p:cNvPr>
          <p:cNvGrpSpPr/>
          <p:nvPr/>
        </p:nvGrpSpPr>
        <p:grpSpPr>
          <a:xfrm>
            <a:off x="825305" y="1010991"/>
            <a:ext cx="7493390" cy="4088087"/>
            <a:chOff x="757268" y="1145901"/>
            <a:chExt cx="7493390" cy="4088087"/>
          </a:xfrm>
        </p:grpSpPr>
        <p:cxnSp>
          <p:nvCxnSpPr>
            <p:cNvPr id="50" name="Google Shape;92;p4">
              <a:extLst>
                <a:ext uri="{FF2B5EF4-FFF2-40B4-BE49-F238E27FC236}">
                  <a16:creationId xmlns:a16="http://schemas.microsoft.com/office/drawing/2014/main" id="{D9C30061-0EFA-4D40-9CAE-00509D020204}"/>
                </a:ext>
              </a:extLst>
            </p:cNvPr>
            <p:cNvCxnSpPr/>
            <p:nvPr/>
          </p:nvCxnSpPr>
          <p:spPr>
            <a:xfrm>
              <a:off x="6602251" y="2680113"/>
              <a:ext cx="0" cy="2359698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93;p4">
              <a:extLst>
                <a:ext uri="{FF2B5EF4-FFF2-40B4-BE49-F238E27FC236}">
                  <a16:creationId xmlns:a16="http://schemas.microsoft.com/office/drawing/2014/main" id="{B61A4301-44C8-BE43-8B0A-E331F80C06C2}"/>
                </a:ext>
              </a:extLst>
            </p:cNvPr>
            <p:cNvCxnSpPr/>
            <p:nvPr/>
          </p:nvCxnSpPr>
          <p:spPr>
            <a:xfrm>
              <a:off x="6602251" y="300156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94;p4">
              <a:extLst>
                <a:ext uri="{FF2B5EF4-FFF2-40B4-BE49-F238E27FC236}">
                  <a16:creationId xmlns:a16="http://schemas.microsoft.com/office/drawing/2014/main" id="{860D4E49-7171-3D47-9467-5B40AA051CB2}"/>
                </a:ext>
              </a:extLst>
            </p:cNvPr>
            <p:cNvCxnSpPr/>
            <p:nvPr/>
          </p:nvCxnSpPr>
          <p:spPr>
            <a:xfrm>
              <a:off x="6602251" y="3511332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95;p4">
              <a:extLst>
                <a:ext uri="{FF2B5EF4-FFF2-40B4-BE49-F238E27FC236}">
                  <a16:creationId xmlns:a16="http://schemas.microsoft.com/office/drawing/2014/main" id="{18FF1BEB-13E1-E647-B5FB-3FE4F64F390A}"/>
                </a:ext>
              </a:extLst>
            </p:cNvPr>
            <p:cNvCxnSpPr/>
            <p:nvPr/>
          </p:nvCxnSpPr>
          <p:spPr>
            <a:xfrm>
              <a:off x="6602251" y="402439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96;p4">
              <a:extLst>
                <a:ext uri="{FF2B5EF4-FFF2-40B4-BE49-F238E27FC236}">
                  <a16:creationId xmlns:a16="http://schemas.microsoft.com/office/drawing/2014/main" id="{F876BCD1-EB58-A347-8BEC-1FA4913C378C}"/>
                </a:ext>
              </a:extLst>
            </p:cNvPr>
            <p:cNvCxnSpPr/>
            <p:nvPr/>
          </p:nvCxnSpPr>
          <p:spPr>
            <a:xfrm>
              <a:off x="6602251" y="4538155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97;p4">
              <a:extLst>
                <a:ext uri="{FF2B5EF4-FFF2-40B4-BE49-F238E27FC236}">
                  <a16:creationId xmlns:a16="http://schemas.microsoft.com/office/drawing/2014/main" id="{91FADD54-C609-D343-AFEF-0BEACE6E2600}"/>
                </a:ext>
              </a:extLst>
            </p:cNvPr>
            <p:cNvCxnSpPr/>
            <p:nvPr/>
          </p:nvCxnSpPr>
          <p:spPr>
            <a:xfrm>
              <a:off x="6602251" y="5028983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84;p4">
              <a:extLst>
                <a:ext uri="{FF2B5EF4-FFF2-40B4-BE49-F238E27FC236}">
                  <a16:creationId xmlns:a16="http://schemas.microsoft.com/office/drawing/2014/main" id="{30795D87-DB5B-C240-B2B9-E66EB2C7DEC2}"/>
                </a:ext>
              </a:extLst>
            </p:cNvPr>
            <p:cNvCxnSpPr/>
            <p:nvPr/>
          </p:nvCxnSpPr>
          <p:spPr>
            <a:xfrm>
              <a:off x="3055198" y="2668404"/>
              <a:ext cx="0" cy="1881775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85;p4">
              <a:extLst>
                <a:ext uri="{FF2B5EF4-FFF2-40B4-BE49-F238E27FC236}">
                  <a16:creationId xmlns:a16="http://schemas.microsoft.com/office/drawing/2014/main" id="{B33FBE7C-CF8C-A948-B60F-B65EA6F8070D}"/>
                </a:ext>
              </a:extLst>
            </p:cNvPr>
            <p:cNvCxnSpPr/>
            <p:nvPr/>
          </p:nvCxnSpPr>
          <p:spPr>
            <a:xfrm>
              <a:off x="3055198" y="3514047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86;p4">
              <a:extLst>
                <a:ext uri="{FF2B5EF4-FFF2-40B4-BE49-F238E27FC236}">
                  <a16:creationId xmlns:a16="http://schemas.microsoft.com/office/drawing/2014/main" id="{FA3F57ED-5507-2C41-B9D8-ABC1BC036611}"/>
                </a:ext>
              </a:extLst>
            </p:cNvPr>
            <p:cNvCxnSpPr/>
            <p:nvPr/>
          </p:nvCxnSpPr>
          <p:spPr>
            <a:xfrm>
              <a:off x="3055198" y="300156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87;p4">
              <a:extLst>
                <a:ext uri="{FF2B5EF4-FFF2-40B4-BE49-F238E27FC236}">
                  <a16:creationId xmlns:a16="http://schemas.microsoft.com/office/drawing/2014/main" id="{62107BA3-4903-F24A-85BF-6459092595AF}"/>
                </a:ext>
              </a:extLst>
            </p:cNvPr>
            <p:cNvCxnSpPr/>
            <p:nvPr/>
          </p:nvCxnSpPr>
          <p:spPr>
            <a:xfrm>
              <a:off x="3055198" y="4021103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88;p4">
              <a:extLst>
                <a:ext uri="{FF2B5EF4-FFF2-40B4-BE49-F238E27FC236}">
                  <a16:creationId xmlns:a16="http://schemas.microsoft.com/office/drawing/2014/main" id="{42DF1AC9-113F-0D43-880F-7BF674709C3B}"/>
                </a:ext>
              </a:extLst>
            </p:cNvPr>
            <p:cNvCxnSpPr/>
            <p:nvPr/>
          </p:nvCxnSpPr>
          <p:spPr>
            <a:xfrm>
              <a:off x="3055198" y="4540300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55;p4">
              <a:extLst>
                <a:ext uri="{FF2B5EF4-FFF2-40B4-BE49-F238E27FC236}">
                  <a16:creationId xmlns:a16="http://schemas.microsoft.com/office/drawing/2014/main" id="{68E65C95-FA08-FC4A-B0F7-7E596CE93FA5}"/>
                </a:ext>
              </a:extLst>
            </p:cNvPr>
            <p:cNvCxnSpPr/>
            <p:nvPr/>
          </p:nvCxnSpPr>
          <p:spPr>
            <a:xfrm>
              <a:off x="4812071" y="2680113"/>
              <a:ext cx="0" cy="842928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90;p4">
              <a:extLst>
                <a:ext uri="{FF2B5EF4-FFF2-40B4-BE49-F238E27FC236}">
                  <a16:creationId xmlns:a16="http://schemas.microsoft.com/office/drawing/2014/main" id="{E5CA8C66-46E6-A44B-8CE3-91D797412B1C}"/>
                </a:ext>
              </a:extLst>
            </p:cNvPr>
            <p:cNvCxnSpPr/>
            <p:nvPr/>
          </p:nvCxnSpPr>
          <p:spPr>
            <a:xfrm>
              <a:off x="4812071" y="3001561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91;p4">
              <a:extLst>
                <a:ext uri="{FF2B5EF4-FFF2-40B4-BE49-F238E27FC236}">
                  <a16:creationId xmlns:a16="http://schemas.microsoft.com/office/drawing/2014/main" id="{54ECA83B-C91E-B94C-B5F3-05D88BFCD7DA}"/>
                </a:ext>
              </a:extLst>
            </p:cNvPr>
            <p:cNvCxnSpPr/>
            <p:nvPr/>
          </p:nvCxnSpPr>
          <p:spPr>
            <a:xfrm>
              <a:off x="4812071" y="3511332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Forma libre 110">
              <a:extLst>
                <a:ext uri="{FF2B5EF4-FFF2-40B4-BE49-F238E27FC236}">
                  <a16:creationId xmlns:a16="http://schemas.microsoft.com/office/drawing/2014/main" id="{F5BE3CEE-B33F-8648-AF3C-2D1CBCE7EE94}"/>
                </a:ext>
              </a:extLst>
            </p:cNvPr>
            <p:cNvSpPr/>
            <p:nvPr/>
          </p:nvSpPr>
          <p:spPr>
            <a:xfrm>
              <a:off x="796798" y="1976717"/>
              <a:ext cx="218455" cy="2573461"/>
            </a:xfrm>
            <a:custGeom>
              <a:avLst/>
              <a:gdLst>
                <a:gd name="connsiteX0" fmla="*/ 0 w 141194"/>
                <a:gd name="connsiteY0" fmla="*/ 0 h 2447364"/>
                <a:gd name="connsiteX1" fmla="*/ 0 w 141194"/>
                <a:gd name="connsiteY1" fmla="*/ 2447364 h 2447364"/>
                <a:gd name="connsiteX2" fmla="*/ 141194 w 141194"/>
                <a:gd name="connsiteY2" fmla="*/ 2447364 h 244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194" h="2447364">
                  <a:moveTo>
                    <a:pt x="0" y="0"/>
                  </a:moveTo>
                  <a:lnTo>
                    <a:pt x="0" y="2447364"/>
                  </a:lnTo>
                  <a:lnTo>
                    <a:pt x="141194" y="2447364"/>
                  </a:lnTo>
                </a:path>
              </a:pathLst>
            </a:custGeom>
            <a:noFill/>
            <a:ln>
              <a:solidFill>
                <a:srgbClr val="92C1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12" name="Google Shape;77;p4">
              <a:extLst>
                <a:ext uri="{FF2B5EF4-FFF2-40B4-BE49-F238E27FC236}">
                  <a16:creationId xmlns:a16="http://schemas.microsoft.com/office/drawing/2014/main" id="{683B3C34-93C0-7847-BBBB-A10AE3970580}"/>
                </a:ext>
              </a:extLst>
            </p:cNvPr>
            <p:cNvCxnSpPr/>
            <p:nvPr/>
          </p:nvCxnSpPr>
          <p:spPr>
            <a:xfrm rot="10800000">
              <a:off x="3643823" y="1458924"/>
              <a:ext cx="0" cy="165383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3" name="Google Shape;57;p4">
              <a:extLst>
                <a:ext uri="{FF2B5EF4-FFF2-40B4-BE49-F238E27FC236}">
                  <a16:creationId xmlns:a16="http://schemas.microsoft.com/office/drawing/2014/main" id="{D49DD1A8-3EF4-A440-8CEF-15A1468994ED}"/>
                </a:ext>
              </a:extLst>
            </p:cNvPr>
            <p:cNvSpPr/>
            <p:nvPr/>
          </p:nvSpPr>
          <p:spPr>
            <a:xfrm>
              <a:off x="757268" y="1720700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Estáticas</a:t>
              </a:r>
              <a:endParaRPr sz="1500"/>
            </a:p>
          </p:txBody>
        </p:sp>
        <p:sp>
          <p:nvSpPr>
            <p:cNvPr id="114" name="Google Shape;58;p4">
              <a:extLst>
                <a:ext uri="{FF2B5EF4-FFF2-40B4-BE49-F238E27FC236}">
                  <a16:creationId xmlns:a16="http://schemas.microsoft.com/office/drawing/2014/main" id="{3430348B-9FA2-C243-8ADB-115727C0B85D}"/>
                </a:ext>
              </a:extLst>
            </p:cNvPr>
            <p:cNvSpPr/>
            <p:nvPr/>
          </p:nvSpPr>
          <p:spPr>
            <a:xfrm>
              <a:off x="1017054" y="2297615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Revisiones</a:t>
              </a:r>
              <a:endParaRPr sz="1200"/>
            </a:p>
          </p:txBody>
        </p:sp>
        <p:sp>
          <p:nvSpPr>
            <p:cNvPr id="115" name="Google Shape;59;p4">
              <a:extLst>
                <a:ext uri="{FF2B5EF4-FFF2-40B4-BE49-F238E27FC236}">
                  <a16:creationId xmlns:a16="http://schemas.microsoft.com/office/drawing/2014/main" id="{4A674C37-FF67-F848-B0C3-A5E430317208}"/>
                </a:ext>
              </a:extLst>
            </p:cNvPr>
            <p:cNvSpPr/>
            <p:nvPr/>
          </p:nvSpPr>
          <p:spPr>
            <a:xfrm>
              <a:off x="1017054" y="2807386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Walkthoughs</a:t>
              </a:r>
              <a:endParaRPr sz="1200"/>
            </a:p>
          </p:txBody>
        </p:sp>
        <p:sp>
          <p:nvSpPr>
            <p:cNvPr id="116" name="Google Shape;60;p4">
              <a:extLst>
                <a:ext uri="{FF2B5EF4-FFF2-40B4-BE49-F238E27FC236}">
                  <a16:creationId xmlns:a16="http://schemas.microsoft.com/office/drawing/2014/main" id="{2628CCBD-EC9E-6B4F-A032-10F61DB86B75}"/>
                </a:ext>
              </a:extLst>
            </p:cNvPr>
            <p:cNvSpPr/>
            <p:nvPr/>
          </p:nvSpPr>
          <p:spPr>
            <a:xfrm>
              <a:off x="1017054" y="3317157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Revisión Técnica</a:t>
              </a:r>
              <a:endParaRPr sz="1200"/>
            </a:p>
          </p:txBody>
        </p:sp>
        <p:sp>
          <p:nvSpPr>
            <p:cNvPr id="117" name="Google Shape;61;p4">
              <a:extLst>
                <a:ext uri="{FF2B5EF4-FFF2-40B4-BE49-F238E27FC236}">
                  <a16:creationId xmlns:a16="http://schemas.microsoft.com/office/drawing/2014/main" id="{12AA00B6-9911-7549-B6AD-0BADBEE29DA2}"/>
                </a:ext>
              </a:extLst>
            </p:cNvPr>
            <p:cNvSpPr/>
            <p:nvPr/>
          </p:nvSpPr>
          <p:spPr>
            <a:xfrm>
              <a:off x="1017054" y="3826928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Inspección</a:t>
              </a:r>
              <a:endParaRPr sz="1200"/>
            </a:p>
          </p:txBody>
        </p:sp>
        <p:sp>
          <p:nvSpPr>
            <p:cNvPr id="118" name="Google Shape;62;p4">
              <a:extLst>
                <a:ext uri="{FF2B5EF4-FFF2-40B4-BE49-F238E27FC236}">
                  <a16:creationId xmlns:a16="http://schemas.microsoft.com/office/drawing/2014/main" id="{82E75F86-5997-A24C-B3F1-307F3C09A75B}"/>
                </a:ext>
              </a:extLst>
            </p:cNvPr>
            <p:cNvSpPr/>
            <p:nvPr/>
          </p:nvSpPr>
          <p:spPr>
            <a:xfrm>
              <a:off x="1017054" y="4336698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92C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Análisis Estático</a:t>
              </a:r>
              <a:endParaRPr sz="1200"/>
            </a:p>
          </p:txBody>
        </p:sp>
        <p:sp>
          <p:nvSpPr>
            <p:cNvPr id="119" name="Google Shape;63;p4">
              <a:extLst>
                <a:ext uri="{FF2B5EF4-FFF2-40B4-BE49-F238E27FC236}">
                  <a16:creationId xmlns:a16="http://schemas.microsoft.com/office/drawing/2014/main" id="{322678A2-F3E7-F146-9371-D5B12F185459}"/>
                </a:ext>
              </a:extLst>
            </p:cNvPr>
            <p:cNvSpPr/>
            <p:nvPr/>
          </p:nvSpPr>
          <p:spPr>
            <a:xfrm>
              <a:off x="4768014" y="2297614"/>
              <a:ext cx="1398713" cy="388353"/>
            </a:xfrm>
            <a:prstGeom prst="roundRect">
              <a:avLst>
                <a:gd name="adj" fmla="val 16667"/>
              </a:avLst>
            </a:prstGeom>
            <a:solidFill>
              <a:srgbClr val="7150A0"/>
            </a:solidFill>
            <a:ln w="28575" cap="flat" cmpd="sng">
              <a:solidFill>
                <a:srgbClr val="6752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Experiencia</a:t>
              </a:r>
              <a:endParaRPr sz="1500"/>
            </a:p>
          </p:txBody>
        </p:sp>
        <p:sp>
          <p:nvSpPr>
            <p:cNvPr id="120" name="Google Shape;65;p4">
              <a:extLst>
                <a:ext uri="{FF2B5EF4-FFF2-40B4-BE49-F238E27FC236}">
                  <a16:creationId xmlns:a16="http://schemas.microsoft.com/office/drawing/2014/main" id="{BF997967-8114-D14B-89B3-461D440DD2B2}"/>
                </a:ext>
              </a:extLst>
            </p:cNvPr>
            <p:cNvSpPr/>
            <p:nvPr/>
          </p:nvSpPr>
          <p:spPr>
            <a:xfrm>
              <a:off x="3174844" y="280738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Sentencias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1" name="Google Shape;66;p4">
              <a:extLst>
                <a:ext uri="{FF2B5EF4-FFF2-40B4-BE49-F238E27FC236}">
                  <a16:creationId xmlns:a16="http://schemas.microsoft.com/office/drawing/2014/main" id="{86E84B88-C2BB-2D4D-87B3-0684879E43E6}"/>
                </a:ext>
              </a:extLst>
            </p:cNvPr>
            <p:cNvSpPr/>
            <p:nvPr/>
          </p:nvSpPr>
          <p:spPr>
            <a:xfrm>
              <a:off x="3174844" y="331715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Decisión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2" name="Google Shape;67;p4">
              <a:extLst>
                <a:ext uri="{FF2B5EF4-FFF2-40B4-BE49-F238E27FC236}">
                  <a16:creationId xmlns:a16="http://schemas.microsoft.com/office/drawing/2014/main" id="{D9727293-F5AF-B647-9109-3E58133C872F}"/>
                </a:ext>
              </a:extLst>
            </p:cNvPr>
            <p:cNvSpPr/>
            <p:nvPr/>
          </p:nvSpPr>
          <p:spPr>
            <a:xfrm>
              <a:off x="3174844" y="3826927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Condición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3" name="Google Shape;68;p4">
              <a:extLst>
                <a:ext uri="{FF2B5EF4-FFF2-40B4-BE49-F238E27FC236}">
                  <a16:creationId xmlns:a16="http://schemas.microsoft.com/office/drawing/2014/main" id="{FBB843D3-ED22-804B-B42F-2CDF41396474}"/>
                </a:ext>
              </a:extLst>
            </p:cNvPr>
            <p:cNvSpPr/>
            <p:nvPr/>
          </p:nvSpPr>
          <p:spPr>
            <a:xfrm>
              <a:off x="3174843" y="4336281"/>
              <a:ext cx="1476378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Múltiple Condición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4" name="Google Shape;69;p4">
              <a:extLst>
                <a:ext uri="{FF2B5EF4-FFF2-40B4-BE49-F238E27FC236}">
                  <a16:creationId xmlns:a16="http://schemas.microsoft.com/office/drawing/2014/main" id="{0429D9E4-8CCA-CB47-88FA-822B1C4BC516}"/>
                </a:ext>
              </a:extLst>
            </p:cNvPr>
            <p:cNvSpPr/>
            <p:nvPr/>
          </p:nvSpPr>
          <p:spPr>
            <a:xfrm>
              <a:off x="4953846" y="280738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Adivinar Errores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5" name="Google Shape;70;p4">
              <a:extLst>
                <a:ext uri="{FF2B5EF4-FFF2-40B4-BE49-F238E27FC236}">
                  <a16:creationId xmlns:a16="http://schemas.microsoft.com/office/drawing/2014/main" id="{0B143049-97C4-5A48-B648-D5E9C0E9C7CA}"/>
                </a:ext>
              </a:extLst>
            </p:cNvPr>
            <p:cNvSpPr/>
            <p:nvPr/>
          </p:nvSpPr>
          <p:spPr>
            <a:xfrm>
              <a:off x="4953846" y="3317156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Prueba Exploratoria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6" name="Google Shape;71;p4">
              <a:extLst>
                <a:ext uri="{FF2B5EF4-FFF2-40B4-BE49-F238E27FC236}">
                  <a16:creationId xmlns:a16="http://schemas.microsoft.com/office/drawing/2014/main" id="{5181CD88-AC5F-6243-9D19-5E95D861F387}"/>
                </a:ext>
              </a:extLst>
            </p:cNvPr>
            <p:cNvSpPr/>
            <p:nvPr/>
          </p:nvSpPr>
          <p:spPr>
            <a:xfrm>
              <a:off x="6774281" y="2806969"/>
              <a:ext cx="1476377" cy="388770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Participación de Equivalencia</a:t>
              </a:r>
              <a:endParaRPr sz="1200" dirty="0">
                <a:solidFill>
                  <a:schemeClr val="tx1"/>
                </a:solidFill>
              </a:endParaRPr>
            </a:p>
          </p:txBody>
        </p:sp>
        <p:sp>
          <p:nvSpPr>
            <p:cNvPr id="127" name="Google Shape;72;p4">
              <a:extLst>
                <a:ext uri="{FF2B5EF4-FFF2-40B4-BE49-F238E27FC236}">
                  <a16:creationId xmlns:a16="http://schemas.microsoft.com/office/drawing/2014/main" id="{17184DA8-A4A9-6643-8BCA-EC37B782DC12}"/>
                </a:ext>
              </a:extLst>
            </p:cNvPr>
            <p:cNvSpPr/>
            <p:nvPr/>
          </p:nvSpPr>
          <p:spPr>
            <a:xfrm>
              <a:off x="6774281" y="3305912"/>
              <a:ext cx="1476377" cy="399597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Valores de Frontera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8" name="Google Shape;73;p4">
              <a:extLst>
                <a:ext uri="{FF2B5EF4-FFF2-40B4-BE49-F238E27FC236}">
                  <a16:creationId xmlns:a16="http://schemas.microsoft.com/office/drawing/2014/main" id="{84F32C48-0A61-7D46-9AE1-96FFC84EEB6A}"/>
                </a:ext>
              </a:extLst>
            </p:cNvPr>
            <p:cNvSpPr/>
            <p:nvPr/>
          </p:nvSpPr>
          <p:spPr>
            <a:xfrm>
              <a:off x="6774281" y="3826927"/>
              <a:ext cx="1476377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Tablas de Decisión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29" name="Google Shape;74;p4">
              <a:extLst>
                <a:ext uri="{FF2B5EF4-FFF2-40B4-BE49-F238E27FC236}">
                  <a16:creationId xmlns:a16="http://schemas.microsoft.com/office/drawing/2014/main" id="{A8FEC7B1-78AF-584B-9735-E06B2AC1F65E}"/>
                </a:ext>
              </a:extLst>
            </p:cNvPr>
            <p:cNvSpPr/>
            <p:nvPr/>
          </p:nvSpPr>
          <p:spPr>
            <a:xfrm>
              <a:off x="6774280" y="4336281"/>
              <a:ext cx="1476378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Estados de Transición</a:t>
              </a:r>
              <a:endParaRPr sz="1200">
                <a:solidFill>
                  <a:schemeClr val="tx1"/>
                </a:solidFill>
              </a:endParaRPr>
            </a:p>
          </p:txBody>
        </p:sp>
        <p:sp>
          <p:nvSpPr>
            <p:cNvPr id="130" name="Google Shape;75;p4">
              <a:extLst>
                <a:ext uri="{FF2B5EF4-FFF2-40B4-BE49-F238E27FC236}">
                  <a16:creationId xmlns:a16="http://schemas.microsoft.com/office/drawing/2014/main" id="{D4AC4099-7A40-1940-AC9D-BB56781D8FEC}"/>
                </a:ext>
              </a:extLst>
            </p:cNvPr>
            <p:cNvSpPr/>
            <p:nvPr/>
          </p:nvSpPr>
          <p:spPr>
            <a:xfrm>
              <a:off x="6774280" y="4845635"/>
              <a:ext cx="1476378" cy="388353"/>
            </a:xfrm>
            <a:prstGeom prst="roundRect">
              <a:avLst>
                <a:gd name="adj" fmla="val 16667"/>
              </a:avLst>
            </a:prstGeom>
            <a:solidFill>
              <a:srgbClr val="FFD8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Casos de Usos</a:t>
              </a:r>
              <a:endParaRPr sz="1200">
                <a:solidFill>
                  <a:schemeClr val="tx1"/>
                </a:solidFill>
              </a:endParaRPr>
            </a:p>
          </p:txBody>
        </p:sp>
        <p:cxnSp>
          <p:nvCxnSpPr>
            <p:cNvPr id="131" name="Google Shape;80;p4">
              <a:extLst>
                <a:ext uri="{FF2B5EF4-FFF2-40B4-BE49-F238E27FC236}">
                  <a16:creationId xmlns:a16="http://schemas.microsoft.com/office/drawing/2014/main" id="{D575803A-6775-1B49-8FC3-7F2F55A92F52}"/>
                </a:ext>
              </a:extLst>
            </p:cNvPr>
            <p:cNvCxnSpPr/>
            <p:nvPr/>
          </p:nvCxnSpPr>
          <p:spPr>
            <a:xfrm>
              <a:off x="796798" y="4021103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81;p4">
              <a:extLst>
                <a:ext uri="{FF2B5EF4-FFF2-40B4-BE49-F238E27FC236}">
                  <a16:creationId xmlns:a16="http://schemas.microsoft.com/office/drawing/2014/main" id="{048BE10A-90BD-3241-B4CC-7772E973A685}"/>
                </a:ext>
              </a:extLst>
            </p:cNvPr>
            <p:cNvCxnSpPr/>
            <p:nvPr/>
          </p:nvCxnSpPr>
          <p:spPr>
            <a:xfrm>
              <a:off x="796798" y="3511332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82;p4">
              <a:extLst>
                <a:ext uri="{FF2B5EF4-FFF2-40B4-BE49-F238E27FC236}">
                  <a16:creationId xmlns:a16="http://schemas.microsoft.com/office/drawing/2014/main" id="{63074D2E-2E9F-2942-B377-31658BC26949}"/>
                </a:ext>
              </a:extLst>
            </p:cNvPr>
            <p:cNvCxnSpPr/>
            <p:nvPr/>
          </p:nvCxnSpPr>
          <p:spPr>
            <a:xfrm>
              <a:off x="796798" y="3004276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83;p4">
              <a:extLst>
                <a:ext uri="{FF2B5EF4-FFF2-40B4-BE49-F238E27FC236}">
                  <a16:creationId xmlns:a16="http://schemas.microsoft.com/office/drawing/2014/main" id="{C332B1A4-1186-BB40-8193-0438B0C8C7FD}"/>
                </a:ext>
              </a:extLst>
            </p:cNvPr>
            <p:cNvCxnSpPr/>
            <p:nvPr/>
          </p:nvCxnSpPr>
          <p:spPr>
            <a:xfrm>
              <a:off x="796798" y="2491790"/>
              <a:ext cx="227451" cy="0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" name="Google Shape;99;p4">
              <a:extLst>
                <a:ext uri="{FF2B5EF4-FFF2-40B4-BE49-F238E27FC236}">
                  <a16:creationId xmlns:a16="http://schemas.microsoft.com/office/drawing/2014/main" id="{E2B43238-1427-CD4A-AF50-997F16412962}"/>
                </a:ext>
              </a:extLst>
            </p:cNvPr>
            <p:cNvCxnSpPr/>
            <p:nvPr/>
          </p:nvCxnSpPr>
          <p:spPr>
            <a:xfrm rot="10800000">
              <a:off x="5519112" y="2048081"/>
              <a:ext cx="0" cy="152477"/>
            </a:xfrm>
            <a:prstGeom prst="straightConnector1">
              <a:avLst/>
            </a:prstGeom>
            <a:noFill/>
            <a:ln w="25400" cap="flat" cmpd="sng">
              <a:solidFill>
                <a:srgbClr val="92C14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6" name="Google Shape;100;p4">
              <a:extLst>
                <a:ext uri="{FF2B5EF4-FFF2-40B4-BE49-F238E27FC236}">
                  <a16:creationId xmlns:a16="http://schemas.microsoft.com/office/drawing/2014/main" id="{1E3D4D11-3609-D749-965C-8E265058F41D}"/>
                </a:ext>
              </a:extLst>
            </p:cNvPr>
            <p:cNvSpPr/>
            <p:nvPr/>
          </p:nvSpPr>
          <p:spPr>
            <a:xfrm>
              <a:off x="4839520" y="1726176"/>
              <a:ext cx="1359182" cy="388353"/>
            </a:xfrm>
            <a:prstGeom prst="roundRect">
              <a:avLst>
                <a:gd name="adj" fmla="val 16667"/>
              </a:avLst>
            </a:prstGeom>
            <a:solidFill>
              <a:srgbClr val="EE463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Dinámicas</a:t>
              </a:r>
              <a:endParaRPr sz="1500"/>
            </a:p>
          </p:txBody>
        </p:sp>
        <p:grpSp>
          <p:nvGrpSpPr>
            <p:cNvPr id="137" name="Grupo 136">
              <a:extLst>
                <a:ext uri="{FF2B5EF4-FFF2-40B4-BE49-F238E27FC236}">
                  <a16:creationId xmlns:a16="http://schemas.microsoft.com/office/drawing/2014/main" id="{F2FCB925-C7B6-7B4D-803E-5D03C80A4763}"/>
                </a:ext>
              </a:extLst>
            </p:cNvPr>
            <p:cNvGrpSpPr/>
            <p:nvPr/>
          </p:nvGrpSpPr>
          <p:grpSpPr>
            <a:xfrm>
              <a:off x="2415767" y="1145901"/>
              <a:ext cx="2438589" cy="379672"/>
              <a:chOff x="287221" y="917244"/>
              <a:chExt cx="2980979" cy="500394"/>
            </a:xfrm>
          </p:grpSpPr>
          <p:sp>
            <p:nvSpPr>
              <p:cNvPr id="138" name="Rectángulo redondeado 137">
                <a:extLst>
                  <a:ext uri="{FF2B5EF4-FFF2-40B4-BE49-F238E27FC236}">
                    <a16:creationId xmlns:a16="http://schemas.microsoft.com/office/drawing/2014/main" id="{56930C80-14F2-D640-8572-EABF02DCF293}"/>
                  </a:ext>
                </a:extLst>
              </p:cNvPr>
              <p:cNvSpPr/>
              <p:nvPr/>
            </p:nvSpPr>
            <p:spPr>
              <a:xfrm>
                <a:off x="503237" y="917244"/>
                <a:ext cx="2764963" cy="500394"/>
              </a:xfrm>
              <a:prstGeom prst="roundRect">
                <a:avLst>
                  <a:gd name="adj" fmla="val 24841"/>
                </a:avLst>
              </a:prstGeom>
              <a:solidFill>
                <a:srgbClr val="00B1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300" b="1" dirty="0">
                    <a:solidFill>
                      <a:schemeClr val="lt1"/>
                    </a:solidFill>
                    <a:latin typeface="Calibri" charset="0"/>
                    <a:ea typeface="+mn-ea"/>
                    <a:cs typeface="Calibri" charset="0"/>
                    <a:sym typeface="Calibri"/>
                  </a:rPr>
                  <a:t>Técnicas de Pruebas</a:t>
                </a:r>
                <a:endParaRPr lang="es-PE" sz="1300" b="1" dirty="0">
                  <a:solidFill>
                    <a:schemeClr val="lt1"/>
                  </a:solidFill>
                  <a:latin typeface="Calibri" charset="0"/>
                  <a:ea typeface="+mn-ea"/>
                  <a:cs typeface="Calibri" charset="0"/>
                </a:endParaRPr>
              </a:p>
            </p:txBody>
          </p:sp>
          <p:grpSp>
            <p:nvGrpSpPr>
              <p:cNvPr id="139" name="Agrupar 14">
                <a:extLst>
                  <a:ext uri="{FF2B5EF4-FFF2-40B4-BE49-F238E27FC236}">
                    <a16:creationId xmlns:a16="http://schemas.microsoft.com/office/drawing/2014/main" id="{F6FEB6D9-E8A4-254B-9063-F5932164328F}"/>
                  </a:ext>
                </a:extLst>
              </p:cNvPr>
              <p:cNvGrpSpPr/>
              <p:nvPr/>
            </p:nvGrpSpPr>
            <p:grpSpPr>
              <a:xfrm>
                <a:off x="287221" y="965530"/>
                <a:ext cx="459474" cy="403823"/>
                <a:chOff x="5892512" y="2805541"/>
                <a:chExt cx="459474" cy="403823"/>
              </a:xfrm>
            </p:grpSpPr>
            <p:sp>
              <p:nvSpPr>
                <p:cNvPr id="140" name="Elipse 139">
                  <a:extLst>
                    <a:ext uri="{FF2B5EF4-FFF2-40B4-BE49-F238E27FC236}">
                      <a16:creationId xmlns:a16="http://schemas.microsoft.com/office/drawing/2014/main" id="{06BDCED5-20C6-B44F-9CAB-FC39CC5E7741}"/>
                    </a:ext>
                  </a:extLst>
                </p:cNvPr>
                <p:cNvSpPr/>
                <p:nvPr/>
              </p:nvSpPr>
              <p:spPr>
                <a:xfrm>
                  <a:off x="5956277" y="2824919"/>
                  <a:ext cx="395709" cy="376075"/>
                </a:xfrm>
                <a:prstGeom prst="ellipse">
                  <a:avLst/>
                </a:prstGeom>
                <a:solidFill>
                  <a:srgbClr val="0792A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1" name="Elipse 140">
                  <a:extLst>
                    <a:ext uri="{FF2B5EF4-FFF2-40B4-BE49-F238E27FC236}">
                      <a16:creationId xmlns:a16="http://schemas.microsoft.com/office/drawing/2014/main" id="{C319C4F3-4798-3B43-91A9-55066E52AB6D}"/>
                    </a:ext>
                  </a:extLst>
                </p:cNvPr>
                <p:cNvSpPr/>
                <p:nvPr/>
              </p:nvSpPr>
              <p:spPr>
                <a:xfrm>
                  <a:off x="5892512" y="2805541"/>
                  <a:ext cx="424906" cy="40382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42" name="Triángulo 141">
                  <a:extLst>
                    <a:ext uri="{FF2B5EF4-FFF2-40B4-BE49-F238E27FC236}">
                      <a16:creationId xmlns:a16="http://schemas.microsoft.com/office/drawing/2014/main" id="{605F3FE9-1B4C-4543-B5FC-0F45E5B374D8}"/>
                    </a:ext>
                  </a:extLst>
                </p:cNvPr>
                <p:cNvSpPr/>
                <p:nvPr/>
              </p:nvSpPr>
              <p:spPr>
                <a:xfrm rot="5400000">
                  <a:off x="6076285" y="2946262"/>
                  <a:ext cx="186870" cy="122381"/>
                </a:xfrm>
                <a:prstGeom prst="triangle">
                  <a:avLst/>
                </a:prstGeom>
                <a:solidFill>
                  <a:srgbClr val="00B1C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_tradnl" sz="1300" dirty="0">
                    <a:latin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6D0C36C4-7091-8641-8235-EAEC9F249C00}"/>
                </a:ext>
              </a:extLst>
            </p:cNvPr>
            <p:cNvSpPr/>
            <p:nvPr/>
          </p:nvSpPr>
          <p:spPr>
            <a:xfrm>
              <a:off x="1387744" y="1624480"/>
              <a:ext cx="4191165" cy="110258"/>
            </a:xfrm>
            <a:custGeom>
              <a:avLst/>
              <a:gdLst>
                <a:gd name="connsiteX0" fmla="*/ 0 w 4229100"/>
                <a:gd name="connsiteY0" fmla="*/ 121023 h 134470"/>
                <a:gd name="connsiteX1" fmla="*/ 0 w 4229100"/>
                <a:gd name="connsiteY1" fmla="*/ 0 h 134470"/>
                <a:gd name="connsiteX2" fmla="*/ 4229100 w 4229100"/>
                <a:gd name="connsiteY2" fmla="*/ 0 h 134470"/>
                <a:gd name="connsiteX3" fmla="*/ 4229100 w 4229100"/>
                <a:gd name="connsiteY3" fmla="*/ 134470 h 13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9100" h="134470">
                  <a:moveTo>
                    <a:pt x="0" y="121023"/>
                  </a:moveTo>
                  <a:lnTo>
                    <a:pt x="0" y="0"/>
                  </a:lnTo>
                  <a:lnTo>
                    <a:pt x="4229100" y="0"/>
                  </a:lnTo>
                  <a:lnTo>
                    <a:pt x="4229100" y="134470"/>
                  </a:lnTo>
                </a:path>
              </a:pathLst>
            </a:custGeom>
            <a:noFill/>
            <a:ln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4" name="Forma libre 143">
              <a:extLst>
                <a:ext uri="{FF2B5EF4-FFF2-40B4-BE49-F238E27FC236}">
                  <a16:creationId xmlns:a16="http://schemas.microsoft.com/office/drawing/2014/main" id="{83E2CA04-87FD-7B48-8646-361AD4310101}"/>
                </a:ext>
              </a:extLst>
            </p:cNvPr>
            <p:cNvSpPr/>
            <p:nvPr/>
          </p:nvSpPr>
          <p:spPr>
            <a:xfrm>
              <a:off x="3622945" y="2200212"/>
              <a:ext cx="3641456" cy="115929"/>
            </a:xfrm>
            <a:custGeom>
              <a:avLst/>
              <a:gdLst>
                <a:gd name="connsiteX0" fmla="*/ 0 w 4229100"/>
                <a:gd name="connsiteY0" fmla="*/ 121023 h 134470"/>
                <a:gd name="connsiteX1" fmla="*/ 0 w 4229100"/>
                <a:gd name="connsiteY1" fmla="*/ 0 h 134470"/>
                <a:gd name="connsiteX2" fmla="*/ 4229100 w 4229100"/>
                <a:gd name="connsiteY2" fmla="*/ 0 h 134470"/>
                <a:gd name="connsiteX3" fmla="*/ 4229100 w 4229100"/>
                <a:gd name="connsiteY3" fmla="*/ 134470 h 13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9100" h="134470">
                  <a:moveTo>
                    <a:pt x="0" y="121023"/>
                  </a:moveTo>
                  <a:lnTo>
                    <a:pt x="0" y="0"/>
                  </a:lnTo>
                  <a:lnTo>
                    <a:pt x="4229100" y="0"/>
                  </a:lnTo>
                  <a:lnTo>
                    <a:pt x="4229100" y="134470"/>
                  </a:lnTo>
                </a:path>
              </a:pathLst>
            </a:custGeom>
            <a:noFill/>
            <a:ln>
              <a:solidFill>
                <a:srgbClr val="92C1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5" name="Google Shape;64;p4">
              <a:extLst>
                <a:ext uri="{FF2B5EF4-FFF2-40B4-BE49-F238E27FC236}">
                  <a16:creationId xmlns:a16="http://schemas.microsoft.com/office/drawing/2014/main" id="{70651456-70CE-CA4D-9527-BDB974A5F420}"/>
                </a:ext>
              </a:extLst>
            </p:cNvPr>
            <p:cNvSpPr/>
            <p:nvPr/>
          </p:nvSpPr>
          <p:spPr>
            <a:xfrm>
              <a:off x="6561162" y="2297615"/>
              <a:ext cx="1565765" cy="388353"/>
            </a:xfrm>
            <a:prstGeom prst="roundRect">
              <a:avLst>
                <a:gd name="adj" fmla="val 16667"/>
              </a:avLst>
            </a:prstGeom>
            <a:solidFill>
              <a:srgbClr val="808799"/>
            </a:solidFill>
            <a:ln w="28575" cap="flat" cmpd="sng">
              <a:solidFill>
                <a:srgbClr val="8087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Especificaciones</a:t>
              </a:r>
              <a:endParaRPr sz="1500" dirty="0"/>
            </a:p>
          </p:txBody>
        </p:sp>
        <p:sp>
          <p:nvSpPr>
            <p:cNvPr id="146" name="Google Shape;89;p4">
              <a:extLst>
                <a:ext uri="{FF2B5EF4-FFF2-40B4-BE49-F238E27FC236}">
                  <a16:creationId xmlns:a16="http://schemas.microsoft.com/office/drawing/2014/main" id="{1500F0E0-2338-E34A-959F-770BE42E7A24}"/>
                </a:ext>
              </a:extLst>
            </p:cNvPr>
            <p:cNvSpPr/>
            <p:nvPr/>
          </p:nvSpPr>
          <p:spPr>
            <a:xfrm>
              <a:off x="3018921" y="2297614"/>
              <a:ext cx="1398713" cy="388353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B1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Estructura</a:t>
              </a:r>
              <a:endParaRPr sz="15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503238" y="913471"/>
            <a:ext cx="35646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BASADAS EN LA EXPERIENCIA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77723CCE-2602-F84B-8E21-429B88490C4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4126C6DC-0660-ED47-9897-F28F9D16E793}"/>
              </a:ext>
            </a:extLst>
          </p:cNvPr>
          <p:cNvSpPr/>
          <p:nvPr/>
        </p:nvSpPr>
        <p:spPr>
          <a:xfrm>
            <a:off x="3941289" y="3085554"/>
            <a:ext cx="2617034" cy="944388"/>
          </a:xfrm>
          <a:prstGeom prst="roundRect">
            <a:avLst>
              <a:gd name="adj" fmla="val 995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sentencia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rama 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condición 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camino</a:t>
            </a:r>
            <a:endParaRPr lang="es-PE" sz="12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840E4670-5D78-1546-B846-F2052FF9D416}"/>
              </a:ext>
            </a:extLst>
          </p:cNvPr>
          <p:cNvSpPr/>
          <p:nvPr/>
        </p:nvSpPr>
        <p:spPr>
          <a:xfrm rot="16200000">
            <a:off x="3028468" y="1809669"/>
            <a:ext cx="1232708" cy="335122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lang="es-PE" sz="1200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6947E1EF-C083-1044-8DFC-0A46395B89D4}"/>
              </a:ext>
            </a:extLst>
          </p:cNvPr>
          <p:cNvSpPr/>
          <p:nvPr/>
        </p:nvSpPr>
        <p:spPr>
          <a:xfrm>
            <a:off x="3941289" y="1361053"/>
            <a:ext cx="2617034" cy="1232708"/>
          </a:xfrm>
          <a:prstGeom prst="roundRect">
            <a:avLst>
              <a:gd name="adj" fmla="val 995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Clases de equivalencia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valores límite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transición de estado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basadas en el caso de uso</a:t>
            </a:r>
            <a:endParaRPr lang="es-PE" sz="12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7AC6312C-11AF-914E-A078-018BDF3A9EC8}"/>
              </a:ext>
            </a:extLst>
          </p:cNvPr>
          <p:cNvSpPr/>
          <p:nvPr/>
        </p:nvSpPr>
        <p:spPr>
          <a:xfrm rot="16200000">
            <a:off x="3161889" y="3381121"/>
            <a:ext cx="965868" cy="335122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lang="es-PE" sz="1200" dirty="0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F6F39CE1-3E0A-FA46-AF4A-47DAE2419548}"/>
              </a:ext>
            </a:extLst>
          </p:cNvPr>
          <p:cNvSpPr/>
          <p:nvPr/>
        </p:nvSpPr>
        <p:spPr>
          <a:xfrm>
            <a:off x="3485479" y="2669472"/>
            <a:ext cx="3072843" cy="335122"/>
          </a:xfrm>
          <a:prstGeom prst="roundRect">
            <a:avLst>
              <a:gd name="adj" fmla="val 18663"/>
            </a:avLst>
          </a:prstGeom>
          <a:solidFill>
            <a:srgbClr val="FDC212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basadas en la experiencia</a:t>
            </a:r>
            <a:endParaRPr lang="es-PE" sz="1200" dirty="0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D6A75307-9353-EF45-A3C2-8B031A422E18}"/>
              </a:ext>
            </a:extLst>
          </p:cNvPr>
          <p:cNvSpPr/>
          <p:nvPr/>
        </p:nvSpPr>
        <p:spPr>
          <a:xfrm>
            <a:off x="3485566" y="4113719"/>
            <a:ext cx="3072843" cy="1060333"/>
          </a:xfrm>
          <a:prstGeom prst="roundRect">
            <a:avLst>
              <a:gd name="adj" fmla="val 10888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Revisiones / ensayo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flujo de control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flujo de datos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de compilador / analizador</a:t>
            </a:r>
          </a:p>
        </p:txBody>
      </p:sp>
      <p:sp>
        <p:nvSpPr>
          <p:cNvPr id="34" name="Rectángulo redondeado 33">
            <a:extLst>
              <a:ext uri="{FF2B5EF4-FFF2-40B4-BE49-F238E27FC236}">
                <a16:creationId xmlns:a16="http://schemas.microsoft.com/office/drawing/2014/main" id="{D7BBE0C0-6CD3-8B41-BCF0-7533A167DE5B}"/>
              </a:ext>
            </a:extLst>
          </p:cNvPr>
          <p:cNvSpPr/>
          <p:nvPr/>
        </p:nvSpPr>
        <p:spPr>
          <a:xfrm rot="16200000">
            <a:off x="1800723" y="2484686"/>
            <a:ext cx="2669066" cy="421446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Dinámico</a:t>
            </a:r>
            <a:endParaRPr lang="es-PE" sz="1200" dirty="0"/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DC8158F8-7F98-4645-9B4A-F6C853E89CCE}"/>
              </a:ext>
            </a:extLst>
          </p:cNvPr>
          <p:cNvSpPr/>
          <p:nvPr/>
        </p:nvSpPr>
        <p:spPr>
          <a:xfrm rot="16200000">
            <a:off x="2599030" y="4433162"/>
            <a:ext cx="1072452" cy="421446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Estático</a:t>
            </a:r>
            <a:endParaRPr lang="es-PE" sz="1200" dirty="0"/>
          </a:p>
        </p:txBody>
      </p:sp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49D3468A-3F48-C847-83AE-B6D96329B768}"/>
              </a:ext>
            </a:extLst>
          </p:cNvPr>
          <p:cNvSpPr/>
          <p:nvPr/>
        </p:nvSpPr>
        <p:spPr>
          <a:xfrm rot="16200000">
            <a:off x="682198" y="3056740"/>
            <a:ext cx="3813176" cy="421446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 Analítico</a:t>
            </a:r>
            <a:endParaRPr lang="es-PE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503238" y="916327"/>
            <a:ext cx="7868769" cy="37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BASADAS EN LA EXPERIENCIA</a:t>
            </a:r>
            <a:endParaRPr dirty="0"/>
          </a:p>
          <a:p>
            <a:pPr marL="1778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aplica con el objeto de </a:t>
            </a: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complementar</a:t>
            </a: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otros casos de prueba generados con mayor formalismo.</a:t>
            </a:r>
            <a:endParaRPr sz="16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cumple los criterios de un proceso de pruebas sistemático</a:t>
            </a: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Frecuentemente produce </a:t>
            </a:r>
            <a:r>
              <a:rPr lang="es-PE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prueba adicionales </a:t>
            </a: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no podrían ser creados con otras prácticas, por ejemplo:</a:t>
            </a:r>
            <a:endParaRPr sz="1600" dirty="0"/>
          </a:p>
          <a:p>
            <a:pPr marL="552450" marR="0" lvl="2" indent="-1952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se han acumulado defectos en el pasado?</a:t>
            </a:r>
            <a:endParaRPr sz="1600" dirty="0"/>
          </a:p>
          <a:p>
            <a:pPr marL="552450" marR="0" lvl="2" indent="-1952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¿Dónde falla el software con frecuencia?</a:t>
            </a:r>
            <a:endParaRPr sz="1600" dirty="0"/>
          </a:p>
          <a:p>
            <a:pPr marL="2984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de dos tipos: </a:t>
            </a:r>
            <a:endParaRPr sz="1600" dirty="0"/>
          </a:p>
          <a:p>
            <a:pPr marL="2984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84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84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84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certificador debe tener </a:t>
            </a: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conocimientos </a:t>
            </a: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aplicables. </a:t>
            </a:r>
            <a:endParaRPr sz="1600" dirty="0"/>
          </a:p>
        </p:txBody>
      </p:sp>
      <p:sp>
        <p:nvSpPr>
          <p:cNvPr id="133" name="Google Shape;133;p6"/>
          <p:cNvSpPr txBox="1"/>
          <p:nvPr/>
        </p:nvSpPr>
        <p:spPr>
          <a:xfrm>
            <a:off x="7304088" y="4934298"/>
            <a:ext cx="13716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F1AAA8-2045-A249-9043-86B650702166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380D4A3F-BF67-034D-85D0-C8B575E19E66}"/>
              </a:ext>
            </a:extLst>
          </p:cNvPr>
          <p:cNvSpPr/>
          <p:nvPr/>
        </p:nvSpPr>
        <p:spPr>
          <a:xfrm>
            <a:off x="4751388" y="3587211"/>
            <a:ext cx="2330476" cy="500394"/>
          </a:xfrm>
          <a:prstGeom prst="roundRect">
            <a:avLst>
              <a:gd name="adj" fmla="val 26745"/>
            </a:avLst>
          </a:prstGeom>
          <a:solidFill>
            <a:srgbClr val="92C2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62" lvl="1" algn="ctr">
              <a:buSzPts val="1600"/>
              <a:tabLst>
                <a:tab pos="569913" algn="l"/>
              </a:tabLst>
            </a:pPr>
            <a:r>
              <a:rPr lang="es-PE" b="1" dirty="0">
                <a:solidFill>
                  <a:schemeClr val="lt1"/>
                </a:solidFill>
                <a:latin typeface="Calibri" charset="0"/>
                <a:cs typeface="Calibri" charset="0"/>
                <a:sym typeface="Calibri"/>
              </a:rPr>
              <a:t>Predicción de errores</a:t>
            </a:r>
            <a:endParaRPr lang="es-PE" b="1" dirty="0">
              <a:solidFill>
                <a:schemeClr val="lt1"/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9" name="Agrupar 9">
            <a:extLst>
              <a:ext uri="{FF2B5EF4-FFF2-40B4-BE49-F238E27FC236}">
                <a16:creationId xmlns:a16="http://schemas.microsoft.com/office/drawing/2014/main" id="{E718627F-9D85-3943-924E-C44755791758}"/>
              </a:ext>
            </a:extLst>
          </p:cNvPr>
          <p:cNvGrpSpPr/>
          <p:nvPr/>
        </p:nvGrpSpPr>
        <p:grpSpPr>
          <a:xfrm>
            <a:off x="4535371" y="3635497"/>
            <a:ext cx="459474" cy="403823"/>
            <a:chOff x="5892512" y="2805541"/>
            <a:chExt cx="459474" cy="403823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18D99656-B898-5749-B6F6-EBE25E8B921D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6A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5E41A3E-C4C8-0C43-B4D5-37C23B08C900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2" name="Triángulo 11">
              <a:extLst>
                <a:ext uri="{FF2B5EF4-FFF2-40B4-BE49-F238E27FC236}">
                  <a16:creationId xmlns:a16="http://schemas.microsoft.com/office/drawing/2014/main" id="{15548056-93C2-234E-9FA6-38DED4914CE3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92C2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D344BF4-F78F-0640-BC60-A83288D9907D}"/>
              </a:ext>
            </a:extLst>
          </p:cNvPr>
          <p:cNvSpPr/>
          <p:nvPr/>
        </p:nvSpPr>
        <p:spPr>
          <a:xfrm>
            <a:off x="2175792" y="3587211"/>
            <a:ext cx="2207327" cy="500394"/>
          </a:xfrm>
          <a:prstGeom prst="roundRect">
            <a:avLst>
              <a:gd name="adj" fmla="val 24841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62" lvl="1" algn="ctr">
              <a:buSzPts val="1600"/>
              <a:tabLst>
                <a:tab pos="569913" algn="l"/>
              </a:tabLst>
            </a:pPr>
            <a:r>
              <a:rPr lang="es-PE" b="1" dirty="0">
                <a:solidFill>
                  <a:schemeClr val="lt1"/>
                </a:solidFill>
                <a:latin typeface="Calibri" charset="0"/>
                <a:cs typeface="Calibri" charset="0"/>
                <a:sym typeface="Calibri"/>
              </a:rPr>
              <a:t>Pruebas exploratorias</a:t>
            </a:r>
            <a:endParaRPr lang="es-PE" b="1" dirty="0">
              <a:solidFill>
                <a:schemeClr val="lt1"/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14" name="Agrupar 14">
            <a:extLst>
              <a:ext uri="{FF2B5EF4-FFF2-40B4-BE49-F238E27FC236}">
                <a16:creationId xmlns:a16="http://schemas.microsoft.com/office/drawing/2014/main" id="{22E4C062-638A-1A47-B3BB-B5F69A76C84D}"/>
              </a:ext>
            </a:extLst>
          </p:cNvPr>
          <p:cNvGrpSpPr/>
          <p:nvPr/>
        </p:nvGrpSpPr>
        <p:grpSpPr>
          <a:xfrm>
            <a:off x="1959775" y="3635497"/>
            <a:ext cx="459474" cy="403823"/>
            <a:chOff x="5892512" y="2805541"/>
            <a:chExt cx="459474" cy="403823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7BEE4B68-D987-EB4F-AC55-42EB428B46C3}"/>
                </a:ext>
              </a:extLst>
            </p:cNvPr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C73A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C0B918E5-B78C-AE4F-AC13-AA2F3BD230B3}"/>
                </a:ext>
              </a:extLst>
            </p:cNvPr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  <p:sp>
          <p:nvSpPr>
            <p:cNvPr id="17" name="Triángulo 16">
              <a:extLst>
                <a:ext uri="{FF2B5EF4-FFF2-40B4-BE49-F238E27FC236}">
                  <a16:creationId xmlns:a16="http://schemas.microsoft.com/office/drawing/2014/main" id="{D4E23AF2-5D98-AC49-8325-97945ED6011D}"/>
                </a:ext>
              </a:extLst>
            </p:cNvPr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3201380" y="1528510"/>
            <a:ext cx="2273498" cy="1694087"/>
          </a:xfrm>
          <a:prstGeom prst="roundRect">
            <a:avLst>
              <a:gd name="adj" fmla="val 8261"/>
            </a:avLst>
          </a:prstGeom>
          <a:solidFill>
            <a:srgbClr val="00B1C2"/>
          </a:solidFill>
          <a:ln w="28575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185484" y="3226293"/>
            <a:ext cx="2273498" cy="1694087"/>
          </a:xfrm>
          <a:prstGeom prst="roundRect">
            <a:avLst>
              <a:gd name="adj" fmla="val 9588"/>
            </a:avLst>
          </a:prstGeom>
          <a:solidFill>
            <a:srgbClr val="EE4639"/>
          </a:solidFill>
          <a:ln w="28575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71521" y="1542558"/>
            <a:ext cx="2273498" cy="1694087"/>
          </a:xfrm>
          <a:prstGeom prst="roundRect">
            <a:avLst>
              <a:gd name="adj" fmla="val 10031"/>
            </a:avLst>
          </a:prstGeom>
          <a:solidFill>
            <a:srgbClr val="FE7828"/>
          </a:solidFill>
          <a:ln w="28575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71521" y="3231589"/>
            <a:ext cx="2273498" cy="1694087"/>
          </a:xfrm>
          <a:prstGeom prst="roundRect">
            <a:avLst>
              <a:gd name="adj" fmla="val 11800"/>
            </a:avLst>
          </a:prstGeom>
          <a:solidFill>
            <a:srgbClr val="7150A0"/>
          </a:solidFill>
          <a:ln w="28575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512739" y="1857500"/>
            <a:ext cx="2142638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PRUEBAS EXPLORATORIAS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630560" y="2197678"/>
            <a:ext cx="1891864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 Usabilidad, Escenarios 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UAT 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58982" y="2912274"/>
            <a:ext cx="50240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71521" y="3236101"/>
            <a:ext cx="4478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958763" y="2904492"/>
            <a:ext cx="4469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929190" y="3236101"/>
            <a:ext cx="47351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357062" y="1863973"/>
            <a:ext cx="197682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PRUEBAS FUNCIONALES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09756" y="2208672"/>
            <a:ext cx="219688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¿Construimos lo correcto? 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Automatizado</a:t>
            </a: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(Cucumber, Selenium, etc.)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565087" y="3544867"/>
            <a:ext cx="2142638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PRUEBAS EXPLORATORIAS</a:t>
            </a:r>
            <a:endParaRPr sz="1300">
              <a:solidFill>
                <a:schemeClr val="bg1"/>
              </a:solidFill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644412" y="3926014"/>
            <a:ext cx="19447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Tiempo de respuesta;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Escalabilidad; seguridad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437112" y="3581802"/>
            <a:ext cx="173041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PRUEBAS UNITARIAS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358745" y="3926014"/>
            <a:ext cx="1861151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¿Lo construimos bien? 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Automatizado</a:t>
            </a: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(frameworks xUnit)</a:t>
            </a:r>
            <a:endParaRPr sz="1300" dirty="0">
              <a:solidFill>
                <a:schemeClr val="bg1"/>
              </a:solidFill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453804" y="1231697"/>
            <a:ext cx="205620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Orientadas al Negocio</a:t>
            </a:r>
            <a:endParaRPr dirty="0"/>
          </a:p>
        </p:txBody>
      </p:sp>
      <p:sp>
        <p:nvSpPr>
          <p:cNvPr id="157" name="Google Shape;157;p7"/>
          <p:cNvSpPr/>
          <p:nvPr/>
        </p:nvSpPr>
        <p:spPr>
          <a:xfrm>
            <a:off x="4251215" y="5003402"/>
            <a:ext cx="241553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Orientadas a la Tecnología</a:t>
            </a:r>
            <a:endParaRPr dirty="0"/>
          </a:p>
        </p:txBody>
      </p:sp>
      <p:sp>
        <p:nvSpPr>
          <p:cNvPr id="158" name="Google Shape;158;p7"/>
          <p:cNvSpPr/>
          <p:nvPr/>
        </p:nvSpPr>
        <p:spPr>
          <a:xfrm rot="5400000">
            <a:off x="7025680" y="3133121"/>
            <a:ext cx="19069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Crítica del Producto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 rot="-5400000">
            <a:off x="1601391" y="3117366"/>
            <a:ext cx="271779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Apoyado por la programación</a:t>
            </a:r>
            <a:endParaRPr dirty="0"/>
          </a:p>
        </p:txBody>
      </p:sp>
      <p:sp>
        <p:nvSpPr>
          <p:cNvPr id="160" name="Google Shape;160;p7"/>
          <p:cNvSpPr/>
          <p:nvPr/>
        </p:nvSpPr>
        <p:spPr>
          <a:xfrm>
            <a:off x="684213" y="2904492"/>
            <a:ext cx="190810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Cuadrante de </a:t>
            </a:r>
            <a:br>
              <a:rPr lang="es-P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Pruebas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ECD22529-79F3-EC41-87D9-73A2A4272BAC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94A6380-F2EF-E64C-A09D-61DFDF5B789E}"/>
              </a:ext>
            </a:extLst>
          </p:cNvPr>
          <p:cNvSpPr/>
          <p:nvPr/>
        </p:nvSpPr>
        <p:spPr>
          <a:xfrm>
            <a:off x="503238" y="916472"/>
            <a:ext cx="316865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  <a:t>PRUEBAS EXPLORATORIAS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31C6CAD-871B-4C40-8D1A-6E3C9E02E05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DAA438-02CD-0B4F-B54F-7B022D51DC7B}"/>
              </a:ext>
            </a:extLst>
          </p:cNvPr>
          <p:cNvSpPr/>
          <p:nvPr/>
        </p:nvSpPr>
        <p:spPr>
          <a:xfrm>
            <a:off x="503237" y="916472"/>
            <a:ext cx="7861274" cy="23544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PRUEBAS EXPLORATORIAS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PE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aprendizaje</a:t>
            </a: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PE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diseño </a:t>
            </a: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y la </a:t>
            </a:r>
            <a:r>
              <a:rPr lang="es-PE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ejecución </a:t>
            </a: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 pruebas en forma </a:t>
            </a:r>
            <a:r>
              <a:rPr lang="es-PE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simultánea</a:t>
            </a: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PE" sz="1600" dirty="0">
              <a:solidFill>
                <a:schemeClr val="tx1"/>
              </a:solidFill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Pruebas iterativas basadas en el conocimiento adquirido sobre el sistema. </a:t>
            </a:r>
            <a:endParaRPr lang="es-PE" sz="1600" dirty="0">
              <a:solidFill>
                <a:schemeClr val="tx1"/>
              </a:solidFill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 un procedimiento apropiado cuando la información base se encuentra poco estructurada.</a:t>
            </a:r>
            <a:endParaRPr lang="es-PE" sz="1600" dirty="0">
              <a:solidFill>
                <a:schemeClr val="tx1"/>
              </a:solidFill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Además, útil cuando el tiempo disponible para pruebas es escaso.</a:t>
            </a:r>
            <a:endParaRPr lang="es-PE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/>
        </p:nvSpPr>
        <p:spPr>
          <a:xfrm>
            <a:off x="684213" y="4082781"/>
            <a:ext cx="37084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B38979-AC6B-1347-92FB-0739379D718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363DD4-CA23-6141-A9E7-2FD75B13B3BD}"/>
              </a:ext>
            </a:extLst>
          </p:cNvPr>
          <p:cNvSpPr/>
          <p:nvPr/>
        </p:nvSpPr>
        <p:spPr>
          <a:xfrm>
            <a:off x="503237" y="916472"/>
            <a:ext cx="7861274" cy="29392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buSzPts val="1600"/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PRUEBAS EXPLORATORIAS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841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Procedimiento:</a:t>
            </a:r>
            <a:endParaRPr lang="es-PE" sz="1500" dirty="0"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Revisar las partes constituyentes (individuales / identificables) del objeto de prueba.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un número reducido de casos de prueba, exclusivamente sobre aquellas partes que deben ser probadas, aplicando predicción de errores.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los resultados, desarrollar un modelo preliminar de cómo funciona el objeto de prueba.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Iteración: Diseñar nuevos objetos de prueba aplicando el conocimiento adquirido recientemente.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Concentrarse en las áreas relevantes y explorar características adicionales del objeto de prueba.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herramientas de captura pueden ser útiles para registrar las actividades de pruebas.</a:t>
            </a:r>
            <a:endParaRPr lang="es-PE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503238" y="912813"/>
            <a:ext cx="272029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HABILIDADES DE LOS TESTERS</a:t>
            </a:r>
            <a:endParaRPr dirty="0"/>
          </a:p>
          <a:p>
            <a:pPr marL="134938" marR="0" lvl="0" indent="-1095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endParaRPr sz="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 l="14796" r="17310"/>
          <a:stretch/>
        </p:blipFill>
        <p:spPr>
          <a:xfrm>
            <a:off x="4751388" y="912812"/>
            <a:ext cx="4398522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5EFC119F-A05B-CC44-B2EE-88FAFF9C9C04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6E944E-9462-0749-AF23-29DC95B9FE02}"/>
              </a:ext>
            </a:extLst>
          </p:cNvPr>
          <p:cNvSpPr/>
          <p:nvPr/>
        </p:nvSpPr>
        <p:spPr>
          <a:xfrm>
            <a:off x="974956" y="1325037"/>
            <a:ext cx="3417657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Mente abierta</a:t>
            </a:r>
            <a:endParaRPr lang="es-PE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4CBFA21-3A52-074B-B154-378538439FD3}"/>
              </a:ext>
            </a:extLst>
          </p:cNvPr>
          <p:cNvCxnSpPr>
            <a:cxnSpLocks/>
          </p:cNvCxnSpPr>
          <p:nvPr/>
        </p:nvCxnSpPr>
        <p:spPr>
          <a:xfrm>
            <a:off x="760555" y="1527907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A955681C-AC28-BA4C-B513-EA735E238B71}"/>
              </a:ext>
            </a:extLst>
          </p:cNvPr>
          <p:cNvSpPr/>
          <p:nvPr/>
        </p:nvSpPr>
        <p:spPr>
          <a:xfrm>
            <a:off x="974957" y="1783830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Pensamiento crítico</a:t>
            </a:r>
            <a:endParaRPr lang="es-PE" dirty="0"/>
          </a:p>
        </p:txBody>
      </p:sp>
      <p:sp>
        <p:nvSpPr>
          <p:cNvPr id="12" name="Más 11">
            <a:extLst>
              <a:ext uri="{FF2B5EF4-FFF2-40B4-BE49-F238E27FC236}">
                <a16:creationId xmlns:a16="http://schemas.microsoft.com/office/drawing/2014/main" id="{068ADDCE-B167-A044-A8F9-FE73A80F9ECB}"/>
              </a:ext>
            </a:extLst>
          </p:cNvPr>
          <p:cNvSpPr/>
          <p:nvPr/>
        </p:nvSpPr>
        <p:spPr>
          <a:xfrm>
            <a:off x="684213" y="1334809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4" name="Más 13">
            <a:extLst>
              <a:ext uri="{FF2B5EF4-FFF2-40B4-BE49-F238E27FC236}">
                <a16:creationId xmlns:a16="http://schemas.microsoft.com/office/drawing/2014/main" id="{8BE5C85F-EAB9-F14C-8C21-1ABFF7BC6D12}"/>
              </a:ext>
            </a:extLst>
          </p:cNvPr>
          <p:cNvSpPr/>
          <p:nvPr/>
        </p:nvSpPr>
        <p:spPr>
          <a:xfrm>
            <a:off x="684213" y="179471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FCED6DB-EB5B-FB46-94D1-573A4D6677C7}"/>
              </a:ext>
            </a:extLst>
          </p:cNvPr>
          <p:cNvCxnSpPr>
            <a:cxnSpLocks/>
          </p:cNvCxnSpPr>
          <p:nvPr/>
        </p:nvCxnSpPr>
        <p:spPr>
          <a:xfrm>
            <a:off x="760555" y="1952187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1AD6ABD-B4DF-AC4B-B1FC-10CA0CE4F8AD}"/>
              </a:ext>
            </a:extLst>
          </p:cNvPr>
          <p:cNvSpPr/>
          <p:nvPr/>
        </p:nvSpPr>
        <p:spPr>
          <a:xfrm>
            <a:off x="974957" y="2208110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Observador</a:t>
            </a:r>
            <a:endParaRPr lang="es-PE" dirty="0"/>
          </a:p>
        </p:txBody>
      </p:sp>
      <p:sp>
        <p:nvSpPr>
          <p:cNvPr id="19" name="Más 18">
            <a:extLst>
              <a:ext uri="{FF2B5EF4-FFF2-40B4-BE49-F238E27FC236}">
                <a16:creationId xmlns:a16="http://schemas.microsoft.com/office/drawing/2014/main" id="{D282ADBA-3F4F-DF4B-AD04-8C899BD82AF0}"/>
              </a:ext>
            </a:extLst>
          </p:cNvPr>
          <p:cNvSpPr/>
          <p:nvPr/>
        </p:nvSpPr>
        <p:spPr>
          <a:xfrm>
            <a:off x="684213" y="221899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BF3F741-C544-ED49-9E12-C0D6F4FB5ED9}"/>
              </a:ext>
            </a:extLst>
          </p:cNvPr>
          <p:cNvCxnSpPr>
            <a:cxnSpLocks/>
          </p:cNvCxnSpPr>
          <p:nvPr/>
        </p:nvCxnSpPr>
        <p:spPr>
          <a:xfrm>
            <a:off x="760555" y="2371912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23502DE-8508-D24D-B7F0-901DE555CD4C}"/>
              </a:ext>
            </a:extLst>
          </p:cNvPr>
          <p:cNvSpPr/>
          <p:nvPr/>
        </p:nvSpPr>
        <p:spPr>
          <a:xfrm>
            <a:off x="974957" y="2627835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endParaRPr lang="es-PE" dirty="0"/>
          </a:p>
        </p:txBody>
      </p:sp>
      <p:sp>
        <p:nvSpPr>
          <p:cNvPr id="22" name="Más 21">
            <a:extLst>
              <a:ext uri="{FF2B5EF4-FFF2-40B4-BE49-F238E27FC236}">
                <a16:creationId xmlns:a16="http://schemas.microsoft.com/office/drawing/2014/main" id="{264B0A62-E0CF-A243-B3B2-B6AE0DF69445}"/>
              </a:ext>
            </a:extLst>
          </p:cNvPr>
          <p:cNvSpPr/>
          <p:nvPr/>
        </p:nvSpPr>
        <p:spPr>
          <a:xfrm>
            <a:off x="684213" y="2638723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E8AB3E3-6A40-334F-B37B-7AEB456CEAA6}"/>
              </a:ext>
            </a:extLst>
          </p:cNvPr>
          <p:cNvCxnSpPr>
            <a:cxnSpLocks/>
          </p:cNvCxnSpPr>
          <p:nvPr/>
        </p:nvCxnSpPr>
        <p:spPr>
          <a:xfrm>
            <a:off x="760555" y="2791636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61F2860-3AE5-2641-9C7F-2B9E2302D3CF}"/>
              </a:ext>
            </a:extLst>
          </p:cNvPr>
          <p:cNvSpPr/>
          <p:nvPr/>
        </p:nvSpPr>
        <p:spPr>
          <a:xfrm>
            <a:off x="974957" y="3047559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riesgos</a:t>
            </a:r>
            <a:endParaRPr lang="es-PE" dirty="0"/>
          </a:p>
        </p:txBody>
      </p:sp>
      <p:sp>
        <p:nvSpPr>
          <p:cNvPr id="25" name="Más 24">
            <a:extLst>
              <a:ext uri="{FF2B5EF4-FFF2-40B4-BE49-F238E27FC236}">
                <a16:creationId xmlns:a16="http://schemas.microsoft.com/office/drawing/2014/main" id="{9198A6BA-5995-2C4A-B412-ED98D4C1B67F}"/>
              </a:ext>
            </a:extLst>
          </p:cNvPr>
          <p:cNvSpPr/>
          <p:nvPr/>
        </p:nvSpPr>
        <p:spPr>
          <a:xfrm>
            <a:off x="684213" y="305844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2BCF86B-7440-1C4D-9965-46EDF79D7AAC}"/>
              </a:ext>
            </a:extLst>
          </p:cNvPr>
          <p:cNvCxnSpPr>
            <a:cxnSpLocks/>
          </p:cNvCxnSpPr>
          <p:nvPr/>
        </p:nvCxnSpPr>
        <p:spPr>
          <a:xfrm>
            <a:off x="760555" y="3218856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A10A697-2561-514F-96EB-4673DD61C9AD}"/>
              </a:ext>
            </a:extLst>
          </p:cNvPr>
          <p:cNvSpPr/>
          <p:nvPr/>
        </p:nvSpPr>
        <p:spPr>
          <a:xfrm>
            <a:off x="974957" y="3474779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Ideas variadas</a:t>
            </a:r>
            <a:endParaRPr lang="es-PE" dirty="0"/>
          </a:p>
        </p:txBody>
      </p:sp>
      <p:sp>
        <p:nvSpPr>
          <p:cNvPr id="28" name="Más 27">
            <a:extLst>
              <a:ext uri="{FF2B5EF4-FFF2-40B4-BE49-F238E27FC236}">
                <a16:creationId xmlns:a16="http://schemas.microsoft.com/office/drawing/2014/main" id="{18C6109B-90E2-224C-9F1A-CE62430C0AA2}"/>
              </a:ext>
            </a:extLst>
          </p:cNvPr>
          <p:cNvSpPr/>
          <p:nvPr/>
        </p:nvSpPr>
        <p:spPr>
          <a:xfrm>
            <a:off x="684213" y="348566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F7EE3CD-538D-CA46-B0C7-0532D030A9AF}"/>
              </a:ext>
            </a:extLst>
          </p:cNvPr>
          <p:cNvCxnSpPr>
            <a:cxnSpLocks/>
          </p:cNvCxnSpPr>
          <p:nvPr/>
        </p:nvCxnSpPr>
        <p:spPr>
          <a:xfrm>
            <a:off x="760555" y="3646076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67C5188-24FE-A040-9D07-DE99A00FB3F0}"/>
              </a:ext>
            </a:extLst>
          </p:cNvPr>
          <p:cNvSpPr/>
          <p:nvPr/>
        </p:nvSpPr>
        <p:spPr>
          <a:xfrm>
            <a:off x="974957" y="3901999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Patrones heurísticos</a:t>
            </a:r>
            <a:endParaRPr lang="es-PE" dirty="0"/>
          </a:p>
        </p:txBody>
      </p:sp>
      <p:sp>
        <p:nvSpPr>
          <p:cNvPr id="31" name="Más 30">
            <a:extLst>
              <a:ext uri="{FF2B5EF4-FFF2-40B4-BE49-F238E27FC236}">
                <a16:creationId xmlns:a16="http://schemas.microsoft.com/office/drawing/2014/main" id="{C33FD6EF-DB87-9047-B912-FAB903F5C871}"/>
              </a:ext>
            </a:extLst>
          </p:cNvPr>
          <p:cNvSpPr/>
          <p:nvPr/>
        </p:nvSpPr>
        <p:spPr>
          <a:xfrm>
            <a:off x="684213" y="3912887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43138DE3-2FF3-8740-8271-21A60408EE61}"/>
              </a:ext>
            </a:extLst>
          </p:cNvPr>
          <p:cNvCxnSpPr>
            <a:cxnSpLocks/>
          </p:cNvCxnSpPr>
          <p:nvPr/>
        </p:nvCxnSpPr>
        <p:spPr>
          <a:xfrm>
            <a:off x="760555" y="4065800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D0C119A-E4E8-A64A-A849-39785F9668FE}"/>
              </a:ext>
            </a:extLst>
          </p:cNvPr>
          <p:cNvSpPr/>
          <p:nvPr/>
        </p:nvSpPr>
        <p:spPr>
          <a:xfrm>
            <a:off x="974957" y="4321723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Curioso</a:t>
            </a:r>
            <a:endParaRPr lang="es-PE" dirty="0"/>
          </a:p>
        </p:txBody>
      </p:sp>
      <p:sp>
        <p:nvSpPr>
          <p:cNvPr id="34" name="Más 33">
            <a:extLst>
              <a:ext uri="{FF2B5EF4-FFF2-40B4-BE49-F238E27FC236}">
                <a16:creationId xmlns:a16="http://schemas.microsoft.com/office/drawing/2014/main" id="{75A8ADA2-16C6-FC42-864A-3104FA3BE57A}"/>
              </a:ext>
            </a:extLst>
          </p:cNvPr>
          <p:cNvSpPr/>
          <p:nvPr/>
        </p:nvSpPr>
        <p:spPr>
          <a:xfrm>
            <a:off x="684213" y="4332611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3A074611-C5DA-234F-8CE7-AA6E72D6FF07}"/>
              </a:ext>
            </a:extLst>
          </p:cNvPr>
          <p:cNvCxnSpPr>
            <a:cxnSpLocks/>
          </p:cNvCxnSpPr>
          <p:nvPr/>
        </p:nvCxnSpPr>
        <p:spPr>
          <a:xfrm>
            <a:off x="760555" y="4493019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57EB29D-6630-A948-8758-9B275BE46205}"/>
              </a:ext>
            </a:extLst>
          </p:cNvPr>
          <p:cNvSpPr/>
          <p:nvPr/>
        </p:nvSpPr>
        <p:spPr>
          <a:xfrm>
            <a:off x="974957" y="4748942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Detectar incidentes</a:t>
            </a:r>
            <a:endParaRPr lang="es-PE" dirty="0"/>
          </a:p>
        </p:txBody>
      </p:sp>
      <p:sp>
        <p:nvSpPr>
          <p:cNvPr id="37" name="Más 36">
            <a:extLst>
              <a:ext uri="{FF2B5EF4-FFF2-40B4-BE49-F238E27FC236}">
                <a16:creationId xmlns:a16="http://schemas.microsoft.com/office/drawing/2014/main" id="{46DBED70-1367-BB42-9B95-EA58F9711C12}"/>
              </a:ext>
            </a:extLst>
          </p:cNvPr>
          <p:cNvSpPr/>
          <p:nvPr/>
        </p:nvSpPr>
        <p:spPr>
          <a:xfrm>
            <a:off x="684213" y="4759830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l="25555" r="13872"/>
          <a:stretch/>
        </p:blipFill>
        <p:spPr>
          <a:xfrm>
            <a:off x="468313" y="912814"/>
            <a:ext cx="3924297" cy="43211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3261BD58-CED4-494F-BBDC-8449C62E202D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181;p10">
            <a:extLst>
              <a:ext uri="{FF2B5EF4-FFF2-40B4-BE49-F238E27FC236}">
                <a16:creationId xmlns:a16="http://schemas.microsoft.com/office/drawing/2014/main" id="{C10E9A04-D3B6-1E40-9393-B6AEE3DBDF8B}"/>
              </a:ext>
            </a:extLst>
          </p:cNvPr>
          <p:cNvSpPr/>
          <p:nvPr/>
        </p:nvSpPr>
        <p:spPr>
          <a:xfrm>
            <a:off x="4751389" y="912813"/>
            <a:ext cx="272029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HABILIDADES DE LOS TESTERS</a:t>
            </a:r>
            <a:endParaRPr dirty="0"/>
          </a:p>
          <a:p>
            <a:pPr marL="134938" marR="0" lvl="0" indent="-10953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endParaRPr sz="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9347ED-A1A0-FC42-9AC8-E43E241F4F22}"/>
              </a:ext>
            </a:extLst>
          </p:cNvPr>
          <p:cNvSpPr/>
          <p:nvPr/>
        </p:nvSpPr>
        <p:spPr>
          <a:xfrm>
            <a:off x="5223107" y="1325037"/>
            <a:ext cx="3417657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Estudiar las entradas.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4E2C15D-898A-BB42-A91F-93DF9AA134BE}"/>
              </a:ext>
            </a:extLst>
          </p:cNvPr>
          <p:cNvCxnSpPr>
            <a:cxnSpLocks/>
          </p:cNvCxnSpPr>
          <p:nvPr/>
        </p:nvCxnSpPr>
        <p:spPr>
          <a:xfrm>
            <a:off x="5008706" y="1527907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94F10929-FCD3-F640-A5FB-39633D66867E}"/>
              </a:ext>
            </a:extLst>
          </p:cNvPr>
          <p:cNvSpPr/>
          <p:nvPr/>
        </p:nvSpPr>
        <p:spPr>
          <a:xfrm>
            <a:off x="5223108" y="1783830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Estudiar las salidas.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10" name="Más 9">
            <a:extLst>
              <a:ext uri="{FF2B5EF4-FFF2-40B4-BE49-F238E27FC236}">
                <a16:creationId xmlns:a16="http://schemas.microsoft.com/office/drawing/2014/main" id="{218613F8-0C7A-3846-A851-D43C1902ABDE}"/>
              </a:ext>
            </a:extLst>
          </p:cNvPr>
          <p:cNvSpPr/>
          <p:nvPr/>
        </p:nvSpPr>
        <p:spPr>
          <a:xfrm>
            <a:off x="4932364" y="1334809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1" name="Más 10">
            <a:extLst>
              <a:ext uri="{FF2B5EF4-FFF2-40B4-BE49-F238E27FC236}">
                <a16:creationId xmlns:a16="http://schemas.microsoft.com/office/drawing/2014/main" id="{2E3F67C0-DC4D-A440-939D-ED13226DBCEB}"/>
              </a:ext>
            </a:extLst>
          </p:cNvPr>
          <p:cNvSpPr/>
          <p:nvPr/>
        </p:nvSpPr>
        <p:spPr>
          <a:xfrm>
            <a:off x="4932364" y="179471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FB1C1F0-4DCE-D245-80AA-D298337C9944}"/>
              </a:ext>
            </a:extLst>
          </p:cNvPr>
          <p:cNvCxnSpPr>
            <a:cxnSpLocks/>
          </p:cNvCxnSpPr>
          <p:nvPr/>
        </p:nvCxnSpPr>
        <p:spPr>
          <a:xfrm>
            <a:off x="5008706" y="1952187"/>
            <a:ext cx="0" cy="25592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F9A17DA-FDC0-D248-B397-12BA8300E00E}"/>
              </a:ext>
            </a:extLst>
          </p:cNvPr>
          <p:cNvSpPr/>
          <p:nvPr/>
        </p:nvSpPr>
        <p:spPr>
          <a:xfrm>
            <a:off x="5223108" y="2208110"/>
            <a:ext cx="3417656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Estudiar la forma en que el software almacena los datos.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14" name="Más 13">
            <a:extLst>
              <a:ext uri="{FF2B5EF4-FFF2-40B4-BE49-F238E27FC236}">
                <a16:creationId xmlns:a16="http://schemas.microsoft.com/office/drawing/2014/main" id="{60A76B90-21CA-CE46-8307-14A436C1AE59}"/>
              </a:ext>
            </a:extLst>
          </p:cNvPr>
          <p:cNvSpPr/>
          <p:nvPr/>
        </p:nvSpPr>
        <p:spPr>
          <a:xfrm>
            <a:off x="4932364" y="2218998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C1AC19E-83DA-7543-8D42-64A95E546704}"/>
              </a:ext>
            </a:extLst>
          </p:cNvPr>
          <p:cNvCxnSpPr>
            <a:cxnSpLocks/>
          </p:cNvCxnSpPr>
          <p:nvPr/>
        </p:nvCxnSpPr>
        <p:spPr>
          <a:xfrm>
            <a:off x="5008706" y="2371912"/>
            <a:ext cx="0" cy="398643"/>
          </a:xfrm>
          <a:prstGeom prst="line">
            <a:avLst/>
          </a:prstGeom>
          <a:ln w="12700">
            <a:solidFill>
              <a:srgbClr val="EE46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2761AF9-FC99-4F46-A4B0-613D79AF8738}"/>
              </a:ext>
            </a:extLst>
          </p:cNvPr>
          <p:cNvSpPr/>
          <p:nvPr/>
        </p:nvSpPr>
        <p:spPr>
          <a:xfrm>
            <a:off x="5223108" y="2770555"/>
            <a:ext cx="341765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600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Estudiar cómo se realizan los cálculos.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17" name="Más 16">
            <a:extLst>
              <a:ext uri="{FF2B5EF4-FFF2-40B4-BE49-F238E27FC236}">
                <a16:creationId xmlns:a16="http://schemas.microsoft.com/office/drawing/2014/main" id="{CAD6D36B-37EF-8C47-97DA-9ABDA8EBE4FC}"/>
              </a:ext>
            </a:extLst>
          </p:cNvPr>
          <p:cNvSpPr/>
          <p:nvPr/>
        </p:nvSpPr>
        <p:spPr>
          <a:xfrm>
            <a:off x="4932364" y="2781443"/>
            <a:ext cx="152683" cy="152683"/>
          </a:xfrm>
          <a:prstGeom prst="mathPlus">
            <a:avLst>
              <a:gd name="adj1" fmla="val 15202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/>
          <p:nvPr/>
        </p:nvSpPr>
        <p:spPr>
          <a:xfrm>
            <a:off x="503238" y="920308"/>
            <a:ext cx="823288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PREDICCIÓN DE ERRORES</a:t>
            </a:r>
            <a:endParaRPr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8DD8715-FC42-EB4B-8401-3DB2E05761D1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DEA2FE2-7226-514E-92F3-DD27EC1BDBD0}"/>
              </a:ext>
            </a:extLst>
          </p:cNvPr>
          <p:cNvSpPr/>
          <p:nvPr/>
        </p:nvSpPr>
        <p:spPr>
          <a:xfrm>
            <a:off x="576262" y="1410920"/>
            <a:ext cx="7991475" cy="729320"/>
          </a:xfrm>
          <a:prstGeom prst="roundRect">
            <a:avLst>
              <a:gd name="adj" fmla="val 12445"/>
            </a:avLst>
          </a:prstGeom>
          <a:solidFill>
            <a:srgbClr val="FFD8D4"/>
          </a:solidFill>
          <a:ln w="38100">
            <a:solidFill>
              <a:srgbClr val="EE46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técnica en la que se anima a los probadores </a:t>
            </a: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experimentados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buenos para pensar en </a:t>
            </a: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situaciones 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las que el software puede no ser capaz de hacer frente. </a:t>
            </a:r>
            <a:endParaRPr lang="es-PE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955F793-BF0C-484C-A076-951CDD475004}"/>
              </a:ext>
            </a:extLst>
          </p:cNvPr>
          <p:cNvSpPr/>
          <p:nvPr/>
        </p:nvSpPr>
        <p:spPr>
          <a:xfrm>
            <a:off x="576262" y="2317825"/>
            <a:ext cx="7991475" cy="729320"/>
          </a:xfrm>
          <a:prstGeom prst="roundRect">
            <a:avLst>
              <a:gd name="adj" fmla="val 12445"/>
            </a:avLst>
          </a:prstGeom>
          <a:solidFill>
            <a:srgbClr val="FFD8D4"/>
          </a:solidFill>
          <a:ln w="38100">
            <a:solidFill>
              <a:srgbClr val="EE46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individuos parecen ser naturalmente buenos en las pruebas y otros son buenos probadores porque tienen mucha experiencia.</a:t>
            </a:r>
            <a:endParaRPr lang="es-PE" dirty="0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65C4D7C4-5F41-4F44-8DA5-B9BB1A9E9D00}"/>
              </a:ext>
            </a:extLst>
          </p:cNvPr>
          <p:cNvSpPr/>
          <p:nvPr/>
        </p:nvSpPr>
        <p:spPr>
          <a:xfrm>
            <a:off x="576262" y="3224730"/>
            <a:ext cx="7991475" cy="552791"/>
          </a:xfrm>
          <a:prstGeom prst="roundRect">
            <a:avLst>
              <a:gd name="adj" fmla="val 19224"/>
            </a:avLst>
          </a:prstGeom>
          <a:solidFill>
            <a:srgbClr val="FFD8D4"/>
          </a:solidFill>
          <a:ln w="38100">
            <a:solidFill>
              <a:srgbClr val="EE46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34938" marR="0" lvl="0" indent="-134938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enfoque utilizado después de las técnicas más formales.</a:t>
            </a:r>
            <a:endParaRPr lang="es-PE" dirty="0"/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4D713D15-2169-1D46-AE10-B04A6F739916}"/>
              </a:ext>
            </a:extLst>
          </p:cNvPr>
          <p:cNvSpPr/>
          <p:nvPr/>
        </p:nvSpPr>
        <p:spPr>
          <a:xfrm>
            <a:off x="576262" y="4004219"/>
            <a:ext cx="7991475" cy="729320"/>
          </a:xfrm>
          <a:prstGeom prst="roundRect">
            <a:avLst>
              <a:gd name="adj" fmla="val 12445"/>
            </a:avLst>
          </a:prstGeom>
          <a:solidFill>
            <a:srgbClr val="FFD8D4"/>
          </a:solidFill>
          <a:ln w="38100">
            <a:solidFill>
              <a:srgbClr val="EE46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34938" marR="0" lvl="0" indent="-134938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muy dependiente tanto de la </a:t>
            </a: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 del probador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como de los buenos probadores que saben dónde es más probable que sean los defectos.</a:t>
            </a:r>
            <a:endParaRPr lang="es-P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2828285" y="923269"/>
            <a:ext cx="34874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EXPLORATORIAS - PLANTILLA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4188151" y="1530037"/>
            <a:ext cx="4255128" cy="669956"/>
          </a:xfrm>
          <a:prstGeom prst="roundRect">
            <a:avLst>
              <a:gd name="adj" fmla="val 1666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PE" sz="1500" b="1" dirty="0">
                <a:solidFill>
                  <a:srgbClr val="FDC212"/>
                </a:solidFill>
                <a:latin typeface="Calibri"/>
                <a:ea typeface="Calibri"/>
                <a:cs typeface="Calibri"/>
                <a:sym typeface="Calibri"/>
              </a:rPr>
              <a:t>Dónde</a:t>
            </a: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está explorando? </a:t>
            </a:r>
            <a:endParaRPr sz="15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Característica, un requisito, o un módulo.</a:t>
            </a:r>
            <a:endParaRPr sz="1500" dirty="0"/>
          </a:p>
        </p:txBody>
      </p:sp>
      <p:sp>
        <p:nvSpPr>
          <p:cNvPr id="203" name="Google Shape;203;p13"/>
          <p:cNvSpPr/>
          <p:nvPr/>
        </p:nvSpPr>
        <p:spPr>
          <a:xfrm>
            <a:off x="4188151" y="2362955"/>
            <a:ext cx="4255128" cy="968719"/>
          </a:xfrm>
          <a:prstGeom prst="roundRect">
            <a:avLst>
              <a:gd name="adj" fmla="val 1666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</a:t>
            </a:r>
            <a:r>
              <a:rPr lang="es-PE" sz="1500" b="1" dirty="0">
                <a:solidFill>
                  <a:srgbClr val="FDC212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utilizan?</a:t>
            </a:r>
            <a:endParaRPr sz="15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Herramienta, Datos, Técnica, Configuración, Característica interdependientes.</a:t>
            </a:r>
            <a:endParaRPr sz="1500" dirty="0"/>
          </a:p>
        </p:txBody>
      </p:sp>
      <p:sp>
        <p:nvSpPr>
          <p:cNvPr id="204" name="Google Shape;204;p13"/>
          <p:cNvSpPr/>
          <p:nvPr/>
        </p:nvSpPr>
        <p:spPr>
          <a:xfrm>
            <a:off x="4188151" y="3494636"/>
            <a:ext cx="4255128" cy="1297095"/>
          </a:xfrm>
          <a:prstGeom prst="roundRect">
            <a:avLst>
              <a:gd name="adj" fmla="val 11035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tipo de </a:t>
            </a:r>
            <a:r>
              <a:rPr lang="es-PE" sz="1500" b="1" dirty="0">
                <a:solidFill>
                  <a:srgbClr val="FDC212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espera encontrar?</a:t>
            </a:r>
            <a:endParaRPr sz="15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5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Seguridad, Rendimiento, Confiabilidad, Capacidad, Usabilidad, Coherencia, Normativa, etc.</a:t>
            </a:r>
            <a:endParaRPr sz="1500" dirty="0"/>
          </a:p>
        </p:txBody>
      </p:sp>
      <p:grpSp>
        <p:nvGrpSpPr>
          <p:cNvPr id="205" name="Google Shape;205;p13"/>
          <p:cNvGrpSpPr/>
          <p:nvPr/>
        </p:nvGrpSpPr>
        <p:grpSpPr>
          <a:xfrm>
            <a:off x="711077" y="1647732"/>
            <a:ext cx="2702082" cy="2900449"/>
            <a:chOff x="774450" y="1647732"/>
            <a:chExt cx="2702082" cy="2900449"/>
          </a:xfrm>
        </p:grpSpPr>
        <p:pic>
          <p:nvPicPr>
            <p:cNvPr id="206" name="Google Shape;206;p13"/>
            <p:cNvPicPr preferRelativeResize="0"/>
            <p:nvPr/>
          </p:nvPicPr>
          <p:blipFill rotWithShape="1">
            <a:blip r:embed="rId3">
              <a:alphaModFix/>
            </a:blip>
            <a:srcRect l="18514" r="19347"/>
            <a:stretch/>
          </p:blipFill>
          <p:spPr>
            <a:xfrm>
              <a:off x="774450" y="1647732"/>
              <a:ext cx="2702082" cy="2900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3"/>
            <p:cNvSpPr txBox="1"/>
            <p:nvPr/>
          </p:nvSpPr>
          <p:spPr>
            <a:xfrm>
              <a:off x="1174953" y="2719105"/>
              <a:ext cx="1874067" cy="1006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2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Explorar con… para descubrir...</a:t>
              </a:r>
              <a:endParaRPr dirty="0"/>
            </a:p>
          </p:txBody>
        </p:sp>
      </p:grpSp>
      <p:cxnSp>
        <p:nvCxnSpPr>
          <p:cNvPr id="208" name="Google Shape;208;p13"/>
          <p:cNvCxnSpPr>
            <a:cxnSpLocks/>
          </p:cNvCxnSpPr>
          <p:nvPr/>
        </p:nvCxnSpPr>
        <p:spPr>
          <a:xfrm flipH="1">
            <a:off x="3467300" y="1827618"/>
            <a:ext cx="774900" cy="498000"/>
          </a:xfrm>
          <a:prstGeom prst="straightConnector1">
            <a:avLst/>
          </a:prstGeom>
          <a:noFill/>
          <a:ln w="28575" cap="flat" cmpd="sng">
            <a:solidFill>
              <a:srgbClr val="00B1C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3"/>
          <p:cNvCxnSpPr/>
          <p:nvPr/>
        </p:nvCxnSpPr>
        <p:spPr>
          <a:xfrm rot="10800000">
            <a:off x="3413159" y="2858121"/>
            <a:ext cx="829041" cy="2516"/>
          </a:xfrm>
          <a:prstGeom prst="straightConnector1">
            <a:avLst/>
          </a:prstGeom>
          <a:noFill/>
          <a:ln w="28575" cap="flat" cmpd="sng">
            <a:solidFill>
              <a:srgbClr val="00B1C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0" name="Google Shape;210;p13"/>
          <p:cNvCxnSpPr>
            <a:cxnSpLocks/>
          </p:cNvCxnSpPr>
          <p:nvPr/>
        </p:nvCxnSpPr>
        <p:spPr>
          <a:xfrm flipH="1" flipV="1">
            <a:off x="3426729" y="3605724"/>
            <a:ext cx="801900" cy="565800"/>
          </a:xfrm>
          <a:prstGeom prst="straightConnector1">
            <a:avLst/>
          </a:prstGeom>
          <a:noFill/>
          <a:ln w="28575" cap="flat" cmpd="sng">
            <a:solidFill>
              <a:srgbClr val="00B1C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Rectangle 5">
            <a:extLst>
              <a:ext uri="{FF2B5EF4-FFF2-40B4-BE49-F238E27FC236}">
                <a16:creationId xmlns:a16="http://schemas.microsoft.com/office/drawing/2014/main" id="{D6BCE0B9-BE81-F040-8D40-3C0898FDBF51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/>
          <p:nvPr/>
        </p:nvSpPr>
        <p:spPr>
          <a:xfrm>
            <a:off x="2347513" y="929208"/>
            <a:ext cx="44489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EXPLORATORIAS – EJEMPLOS PLANTILLA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14"/>
          <p:cNvGrpSpPr/>
          <p:nvPr/>
        </p:nvGrpSpPr>
        <p:grpSpPr>
          <a:xfrm>
            <a:off x="647700" y="1358336"/>
            <a:ext cx="7738627" cy="3539905"/>
            <a:chOff x="1032095" y="1530036"/>
            <a:chExt cx="7125077" cy="3259247"/>
          </a:xfrm>
        </p:grpSpPr>
        <p:pic>
          <p:nvPicPr>
            <p:cNvPr id="218" name="Google Shape;218;p14"/>
            <p:cNvPicPr preferRelativeResize="0"/>
            <p:nvPr/>
          </p:nvPicPr>
          <p:blipFill rotWithShape="1">
            <a:blip r:embed="rId3">
              <a:alphaModFix/>
            </a:blip>
            <a:srcRect l="6230" t="8158" r="9460" b="7062"/>
            <a:stretch/>
          </p:blipFill>
          <p:spPr>
            <a:xfrm>
              <a:off x="1032095" y="1530036"/>
              <a:ext cx="3321417" cy="32592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14"/>
            <p:cNvPicPr preferRelativeResize="0"/>
            <p:nvPr/>
          </p:nvPicPr>
          <p:blipFill rotWithShape="1">
            <a:blip r:embed="rId3">
              <a:alphaModFix/>
            </a:blip>
            <a:srcRect l="6320" t="8156" r="8429" b="8710"/>
            <a:stretch/>
          </p:blipFill>
          <p:spPr>
            <a:xfrm>
              <a:off x="4748133" y="1561723"/>
              <a:ext cx="3409039" cy="31958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14"/>
          <p:cNvSpPr/>
          <p:nvPr/>
        </p:nvSpPr>
        <p:spPr>
          <a:xfrm>
            <a:off x="1226863" y="2044902"/>
            <a:ext cx="271139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rPr>
              <a:t>Explorar</a:t>
            </a: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edición de perfiles </a:t>
            </a:r>
            <a:r>
              <a:rPr lang="es-PE" sz="1600" b="1" dirty="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rPr>
              <a:t>con</a:t>
            </a:r>
            <a:r>
              <a:rPr lang="es-PE" sz="1600" b="1" dirty="0">
                <a:solidFill>
                  <a:srgbClr val="0197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inyección de ataques </a:t>
            </a:r>
            <a:r>
              <a:rPr lang="es-PE" sz="1600" b="1" dirty="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rPr>
              <a:t>para descubrir</a:t>
            </a:r>
            <a:r>
              <a:rPr lang="es-PE" sz="1600" b="1" dirty="0">
                <a:solidFill>
                  <a:srgbClr val="0197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vulnerabilidades </a:t>
            </a:r>
            <a:b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seguridad.</a:t>
            </a:r>
            <a:endParaRPr dirty="0"/>
          </a:p>
        </p:txBody>
      </p:sp>
      <p:sp>
        <p:nvSpPr>
          <p:cNvPr id="221" name="Google Shape;221;p14"/>
          <p:cNvSpPr/>
          <p:nvPr/>
        </p:nvSpPr>
        <p:spPr>
          <a:xfrm>
            <a:off x="5260063" y="1953440"/>
            <a:ext cx="277035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Explorar la página de histogramas con varios conjuntos de datos y diferentes configuraciones de intervalo para descubrir errores en la visualización de histogramas.</a:t>
            </a:r>
            <a:endParaRPr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C975F24-7EED-0545-92AB-BC4BC314D049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136127" y="912813"/>
            <a:ext cx="6871746" cy="4321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1247458" y="1030640"/>
            <a:ext cx="3249592" cy="13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</a:t>
            </a:r>
            <a:endParaRPr dirty="0"/>
          </a:p>
          <a:p>
            <a:pPr marL="134938" marR="0" lvl="0" indent="-1349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Pensemos en el último Proyecto en el que hemos participado, y creemos dos Cartas Exploratorias aplicables a la exploración del producto.</a:t>
            </a:r>
            <a:endParaRPr dirty="0"/>
          </a:p>
        </p:txBody>
      </p:sp>
      <p:sp>
        <p:nvSpPr>
          <p:cNvPr id="228" name="Google Shape;228;p15"/>
          <p:cNvSpPr/>
          <p:nvPr/>
        </p:nvSpPr>
        <p:spPr>
          <a:xfrm>
            <a:off x="4825603" y="1043393"/>
            <a:ext cx="3070939" cy="40173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" name="Google Shape;229;p15"/>
          <p:cNvGrpSpPr/>
          <p:nvPr/>
        </p:nvGrpSpPr>
        <p:grpSpPr>
          <a:xfrm>
            <a:off x="4952153" y="1607546"/>
            <a:ext cx="2835705" cy="2889041"/>
            <a:chOff x="5604094" y="1575796"/>
            <a:chExt cx="2835705" cy="2889041"/>
          </a:xfrm>
        </p:grpSpPr>
        <p:pic>
          <p:nvPicPr>
            <p:cNvPr id="230" name="Google Shape;230;p15"/>
            <p:cNvPicPr preferRelativeResize="0"/>
            <p:nvPr/>
          </p:nvPicPr>
          <p:blipFill rotWithShape="1">
            <a:blip r:embed="rId3">
              <a:alphaModFix/>
            </a:blip>
            <a:srcRect l="9335" t="8158" r="9460" b="7062"/>
            <a:stretch/>
          </p:blipFill>
          <p:spPr>
            <a:xfrm>
              <a:off x="5604094" y="1575796"/>
              <a:ext cx="2835705" cy="28890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15"/>
            <p:cNvSpPr txBox="1"/>
            <p:nvPr/>
          </p:nvSpPr>
          <p:spPr>
            <a:xfrm>
              <a:off x="5980893" y="2236206"/>
              <a:ext cx="219074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Explore____________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con_______________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descubrir______</a:t>
              </a:r>
              <a:endParaRPr/>
            </a:p>
          </p:txBody>
        </p:sp>
      </p:grpSp>
      <p:sp>
        <p:nvSpPr>
          <p:cNvPr id="9" name="Rectangle 5">
            <a:extLst>
              <a:ext uri="{FF2B5EF4-FFF2-40B4-BE49-F238E27FC236}">
                <a16:creationId xmlns:a16="http://schemas.microsoft.com/office/drawing/2014/main" id="{C97CB0CB-9BEF-E940-A598-69A66C0B17C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855BEDB0-F107-E943-80E7-C85EEE05FAF0}"/>
              </a:ext>
            </a:extLst>
          </p:cNvPr>
          <p:cNvSpPr/>
          <p:nvPr/>
        </p:nvSpPr>
        <p:spPr>
          <a:xfrm>
            <a:off x="6702669" y="1869069"/>
            <a:ext cx="1973019" cy="2575515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1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INTERFACES: </a:t>
            </a:r>
          </a:p>
          <a:p>
            <a:pPr marL="138113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Cada conducto por el cual el producto es accesado o expresado (Interfaz de Usuario/</a:t>
            </a:r>
            <a:b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</a:b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Sistema, API, Importación/Exportación, etc.).</a:t>
            </a:r>
            <a:endParaRPr lang="es-PE" dirty="0">
              <a:solidFill>
                <a:schemeClr val="bg1"/>
              </a:solidFill>
              <a:latin typeface="Calibri" charset="0"/>
              <a:cs typeface="Calibri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173D1BC-2A49-C54A-9313-7E1CA7B5E2CB}"/>
              </a:ext>
            </a:extLst>
          </p:cNvPr>
          <p:cNvSpPr/>
          <p:nvPr/>
        </p:nvSpPr>
        <p:spPr>
          <a:xfrm>
            <a:off x="6548856" y="2963039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747104F-2E17-C945-BBC6-638C850B979B}"/>
              </a:ext>
            </a:extLst>
          </p:cNvPr>
          <p:cNvSpPr/>
          <p:nvPr/>
        </p:nvSpPr>
        <p:spPr>
          <a:xfrm>
            <a:off x="6485091" y="2949165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9" name="Triángulo 18">
            <a:extLst>
              <a:ext uri="{FF2B5EF4-FFF2-40B4-BE49-F238E27FC236}">
                <a16:creationId xmlns:a16="http://schemas.microsoft.com/office/drawing/2014/main" id="{EC71BAA2-608E-D046-8F10-104F969E4798}"/>
              </a:ext>
            </a:extLst>
          </p:cNvPr>
          <p:cNvSpPr/>
          <p:nvPr/>
        </p:nvSpPr>
        <p:spPr>
          <a:xfrm rot="5400000">
            <a:off x="6668863" y="3089886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71FAEC54-DD53-9B4C-BA66-F4B3C0B02D6A}"/>
              </a:ext>
            </a:extLst>
          </p:cNvPr>
          <p:cNvSpPr/>
          <p:nvPr/>
        </p:nvSpPr>
        <p:spPr>
          <a:xfrm>
            <a:off x="4640985" y="1869069"/>
            <a:ext cx="1973019" cy="2575515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DATOS: </a:t>
            </a:r>
          </a:p>
          <a:p>
            <a:pPr marL="138113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Todo lo que el producto procesa (Datos de Entradas </a:t>
            </a:r>
            <a:b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</a:b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y Salidas, </a:t>
            </a:r>
            <a:b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</a:b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Persistencia, etc.).</a:t>
            </a:r>
            <a:endParaRPr lang="es-PE" dirty="0">
              <a:solidFill>
                <a:schemeClr val="bg1"/>
              </a:solidFill>
              <a:latin typeface="Calibri" charset="0"/>
              <a:cs typeface="Calibri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6EBCE3B-7E0E-224A-9EC6-CABDF7CAECF7}"/>
              </a:ext>
            </a:extLst>
          </p:cNvPr>
          <p:cNvSpPr/>
          <p:nvPr/>
        </p:nvSpPr>
        <p:spPr>
          <a:xfrm>
            <a:off x="4491557" y="2963039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6280040-D8A0-504A-86BE-1B15A793C1DD}"/>
              </a:ext>
            </a:extLst>
          </p:cNvPr>
          <p:cNvSpPr/>
          <p:nvPr/>
        </p:nvSpPr>
        <p:spPr>
          <a:xfrm>
            <a:off x="4427791" y="2949165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23" name="Triángulo 22">
            <a:extLst>
              <a:ext uri="{FF2B5EF4-FFF2-40B4-BE49-F238E27FC236}">
                <a16:creationId xmlns:a16="http://schemas.microsoft.com/office/drawing/2014/main" id="{8D4EE1B8-8C1A-9A4D-8BA7-FFEFACF38CAA}"/>
              </a:ext>
            </a:extLst>
          </p:cNvPr>
          <p:cNvSpPr/>
          <p:nvPr/>
        </p:nvSpPr>
        <p:spPr>
          <a:xfrm rot="5400000">
            <a:off x="4611564" y="3089886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98708" y="912813"/>
            <a:ext cx="81769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DE UN PRODUCTO</a:t>
            </a:r>
            <a:endParaRPr dirty="0"/>
          </a:p>
          <a:p>
            <a:pPr marL="1111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66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probar bien hay que examinar varias dimensiones de un producto de software:</a:t>
            </a:r>
            <a:endParaRPr dirty="0"/>
          </a:p>
        </p:txBody>
      </p:sp>
      <p:sp>
        <p:nvSpPr>
          <p:cNvPr id="239" name="Google Shape;239;p16"/>
          <p:cNvSpPr txBox="1"/>
          <p:nvPr/>
        </p:nvSpPr>
        <p:spPr>
          <a:xfrm>
            <a:off x="506523" y="4539186"/>
            <a:ext cx="116533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vdocuments.es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D23CFB-BE5E-0D45-AE02-EEDF04DD9769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5285D3C1-2DBE-DE44-90B2-03E5A145DAB5}"/>
              </a:ext>
            </a:extLst>
          </p:cNvPr>
          <p:cNvSpPr/>
          <p:nvPr/>
        </p:nvSpPr>
        <p:spPr>
          <a:xfrm>
            <a:off x="2565384" y="1869069"/>
            <a:ext cx="1973019" cy="2575515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FUNCIÓN: </a:t>
            </a:r>
          </a:p>
          <a:p>
            <a:pPr marL="138113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Todo lo que el producto hace (Funcionalidad, Cálculos, Manejo de errores, etc.).</a:t>
            </a:r>
            <a:endParaRPr lang="es-PE" dirty="0">
              <a:solidFill>
                <a:schemeClr val="bg1"/>
              </a:solidFill>
              <a:latin typeface="Calibri" charset="0"/>
              <a:cs typeface="Calibri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98C2975-E90F-234B-A1B5-B35334E7C7C5}"/>
              </a:ext>
            </a:extLst>
          </p:cNvPr>
          <p:cNvSpPr/>
          <p:nvPr/>
        </p:nvSpPr>
        <p:spPr>
          <a:xfrm>
            <a:off x="2411571" y="2963039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D657F62-4B33-6347-9C7D-DF71938BF718}"/>
              </a:ext>
            </a:extLst>
          </p:cNvPr>
          <p:cNvSpPr/>
          <p:nvPr/>
        </p:nvSpPr>
        <p:spPr>
          <a:xfrm>
            <a:off x="2347806" y="2949165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1" name="Triángulo 10">
            <a:extLst>
              <a:ext uri="{FF2B5EF4-FFF2-40B4-BE49-F238E27FC236}">
                <a16:creationId xmlns:a16="http://schemas.microsoft.com/office/drawing/2014/main" id="{547D0792-9905-E04D-A84A-AB1578A7B216}"/>
              </a:ext>
            </a:extLst>
          </p:cNvPr>
          <p:cNvSpPr/>
          <p:nvPr/>
        </p:nvSpPr>
        <p:spPr>
          <a:xfrm rot="5400000">
            <a:off x="2531578" y="3089886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803F6159-BBEE-0C40-9802-F597EDCA8ED0}"/>
              </a:ext>
            </a:extLst>
          </p:cNvPr>
          <p:cNvSpPr/>
          <p:nvPr/>
        </p:nvSpPr>
        <p:spPr>
          <a:xfrm>
            <a:off x="503700" y="1869069"/>
            <a:ext cx="1973019" cy="2575515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ESTRUCTURA: </a:t>
            </a:r>
          </a:p>
          <a:p>
            <a:pPr marL="138113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cs typeface="Calibri" charset="0"/>
                <a:sym typeface="Calibri"/>
              </a:rPr>
              <a:t>Todo lo que comprende el producto físico (código, hardware, etc.).</a:t>
            </a:r>
            <a:endParaRPr lang="es-PE" dirty="0">
              <a:solidFill>
                <a:schemeClr val="bg1"/>
              </a:solidFill>
              <a:latin typeface="Calibri" charset="0"/>
              <a:cs typeface="Calibri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385AA8F-C23F-C341-A9C7-17D1870D8FBB}"/>
              </a:ext>
            </a:extLst>
          </p:cNvPr>
          <p:cNvSpPr/>
          <p:nvPr/>
        </p:nvSpPr>
        <p:spPr>
          <a:xfrm>
            <a:off x="354272" y="2963039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71194E3-AD32-8340-86D2-8DC61144DF51}"/>
              </a:ext>
            </a:extLst>
          </p:cNvPr>
          <p:cNvSpPr/>
          <p:nvPr/>
        </p:nvSpPr>
        <p:spPr>
          <a:xfrm>
            <a:off x="290506" y="2949165"/>
            <a:ext cx="424906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5" name="Triángulo 14">
            <a:extLst>
              <a:ext uri="{FF2B5EF4-FFF2-40B4-BE49-F238E27FC236}">
                <a16:creationId xmlns:a16="http://schemas.microsoft.com/office/drawing/2014/main" id="{BAE292C3-D06A-E040-8745-7063C35BFACC}"/>
              </a:ext>
            </a:extLst>
          </p:cNvPr>
          <p:cNvSpPr/>
          <p:nvPr/>
        </p:nvSpPr>
        <p:spPr>
          <a:xfrm rot="5400000">
            <a:off x="474279" y="3089886"/>
            <a:ext cx="186870" cy="122381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DDD5D066-D159-B847-AA9C-78DBF0EEFF4B}"/>
              </a:ext>
            </a:extLst>
          </p:cNvPr>
          <p:cNvSpPr/>
          <p:nvPr/>
        </p:nvSpPr>
        <p:spPr>
          <a:xfrm>
            <a:off x="5785523" y="1864893"/>
            <a:ext cx="1973019" cy="2140799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11112" marR="0" lvl="1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TIEMPO:</a:t>
            </a:r>
            <a:r>
              <a:rPr lang="es-PE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38113" lvl="1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Cualquier relación entre producto y tiempo (Rápido/Lento, concurrencia, etc.).</a:t>
            </a:r>
            <a:endParaRPr lang="es-PE" dirty="0">
              <a:solidFill>
                <a:schemeClr val="bg1"/>
              </a:solidFill>
              <a:latin typeface="Calibri" charset="0"/>
              <a:cs typeface="Calibri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957EFA8-B79D-A847-B002-982267A78F4F}"/>
              </a:ext>
            </a:extLst>
          </p:cNvPr>
          <p:cNvSpPr/>
          <p:nvPr/>
        </p:nvSpPr>
        <p:spPr>
          <a:xfrm>
            <a:off x="5626965" y="2762723"/>
            <a:ext cx="404840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401240E-8D4D-2C48-B20D-F54247A600E7}"/>
              </a:ext>
            </a:extLst>
          </p:cNvPr>
          <p:cNvSpPr/>
          <p:nvPr/>
        </p:nvSpPr>
        <p:spPr>
          <a:xfrm>
            <a:off x="5562524" y="2748849"/>
            <a:ext cx="434711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7" name="Triángulo 16">
            <a:extLst>
              <a:ext uri="{FF2B5EF4-FFF2-40B4-BE49-F238E27FC236}">
                <a16:creationId xmlns:a16="http://schemas.microsoft.com/office/drawing/2014/main" id="{321620C8-194E-BF4F-80CD-49E0FDC2945E}"/>
              </a:ext>
            </a:extLst>
          </p:cNvPr>
          <p:cNvSpPr/>
          <p:nvPr/>
        </p:nvSpPr>
        <p:spPr>
          <a:xfrm rot="5400000">
            <a:off x="5754690" y="2888158"/>
            <a:ext cx="186870" cy="125205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1642594" y="4100294"/>
            <a:ext cx="116533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vdocuments.es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B45BA2-415D-6641-9E48-23834CA31CBD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79F2943E-6C8C-9C46-886C-CB29E3940A6A}"/>
              </a:ext>
            </a:extLst>
          </p:cNvPr>
          <p:cNvSpPr/>
          <p:nvPr/>
        </p:nvSpPr>
        <p:spPr>
          <a:xfrm>
            <a:off x="3709922" y="1864893"/>
            <a:ext cx="1973019" cy="2140799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1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OPERACIONES: </a:t>
            </a:r>
          </a:p>
          <a:p>
            <a:pPr marL="138113" lvl="1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Como el producto será utilizado (tipos de usuario, uso extremo, etc.).</a:t>
            </a:r>
            <a:endParaRPr lang="es-PE" dirty="0">
              <a:solidFill>
                <a:schemeClr val="bg1"/>
              </a:solidFill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64054D5-F525-5541-8AB8-B12BA48F1A9E}"/>
              </a:ext>
            </a:extLst>
          </p:cNvPr>
          <p:cNvSpPr/>
          <p:nvPr/>
        </p:nvSpPr>
        <p:spPr>
          <a:xfrm>
            <a:off x="3546979" y="2762723"/>
            <a:ext cx="404840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1EC3F0E-F272-4B42-B313-A0A1247C1A28}"/>
              </a:ext>
            </a:extLst>
          </p:cNvPr>
          <p:cNvSpPr/>
          <p:nvPr/>
        </p:nvSpPr>
        <p:spPr>
          <a:xfrm>
            <a:off x="3482539" y="2748849"/>
            <a:ext cx="434711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9" name="Triángulo 8">
            <a:extLst>
              <a:ext uri="{FF2B5EF4-FFF2-40B4-BE49-F238E27FC236}">
                <a16:creationId xmlns:a16="http://schemas.microsoft.com/office/drawing/2014/main" id="{99504BBD-4185-3147-A6C4-E336A1CD0CEA}"/>
              </a:ext>
            </a:extLst>
          </p:cNvPr>
          <p:cNvSpPr/>
          <p:nvPr/>
        </p:nvSpPr>
        <p:spPr>
          <a:xfrm rot="5400000">
            <a:off x="3674704" y="2888158"/>
            <a:ext cx="186870" cy="125205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0014657C-61D8-5E4F-8A84-F2B23CD9D97C}"/>
              </a:ext>
            </a:extLst>
          </p:cNvPr>
          <p:cNvSpPr/>
          <p:nvPr/>
        </p:nvSpPr>
        <p:spPr>
          <a:xfrm>
            <a:off x="1648238" y="1864893"/>
            <a:ext cx="1973019" cy="2140799"/>
          </a:xfrm>
          <a:prstGeom prst="roundRect">
            <a:avLst>
              <a:gd name="adj" fmla="val 6436"/>
            </a:avLst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144000" rIns="0" rtlCol="0" anchor="t"/>
          <a:lstStyle/>
          <a:p>
            <a:pPr marL="4763" lvl="1" defTabSz="666750">
              <a:lnSpc>
                <a:spcPct val="90000"/>
              </a:lnSpc>
              <a:spcAft>
                <a:spcPts val="1200"/>
              </a:spcAft>
              <a:buClr>
                <a:schemeClr val="bg1"/>
              </a:buClr>
              <a:buSzPts val="1600"/>
            </a:pPr>
            <a:r>
              <a:rPr lang="es-PE" b="1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PLATAFORMA: </a:t>
            </a:r>
          </a:p>
          <a:p>
            <a:pPr marL="138113" lvl="1" indent="-133350" defTabSz="57785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dirty="0">
                <a:solidFill>
                  <a:schemeClr val="bg1"/>
                </a:solidFill>
                <a:latin typeface="Calibri" charset="0"/>
                <a:ea typeface="+mn-ea"/>
                <a:cs typeface="Calibri" charset="0"/>
                <a:sym typeface="Calibri"/>
              </a:rPr>
              <a:t>Todo sobre lo cual depende el producto (Cloud, Sistema externo, librerías, etc.).</a:t>
            </a:r>
            <a:endParaRPr lang="es-PE" dirty="0">
              <a:solidFill>
                <a:schemeClr val="bg1"/>
              </a:solidFill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B49188C-4093-5641-A638-6C30B26A1333}"/>
              </a:ext>
            </a:extLst>
          </p:cNvPr>
          <p:cNvSpPr/>
          <p:nvPr/>
        </p:nvSpPr>
        <p:spPr>
          <a:xfrm>
            <a:off x="1489680" y="2762723"/>
            <a:ext cx="404840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44A62E5-E2AB-E64B-8A12-AE5FD213A0B9}"/>
              </a:ext>
            </a:extLst>
          </p:cNvPr>
          <p:cNvSpPr/>
          <p:nvPr/>
        </p:nvSpPr>
        <p:spPr>
          <a:xfrm>
            <a:off x="1425239" y="2748849"/>
            <a:ext cx="434711" cy="4038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3" name="Triángulo 12">
            <a:extLst>
              <a:ext uri="{FF2B5EF4-FFF2-40B4-BE49-F238E27FC236}">
                <a16:creationId xmlns:a16="http://schemas.microsoft.com/office/drawing/2014/main" id="{AAC8A5A5-16DC-F044-8978-3E7219E245D8}"/>
              </a:ext>
            </a:extLst>
          </p:cNvPr>
          <p:cNvSpPr/>
          <p:nvPr/>
        </p:nvSpPr>
        <p:spPr>
          <a:xfrm rot="5400000">
            <a:off x="1617405" y="2888158"/>
            <a:ext cx="186870" cy="125205"/>
          </a:xfrm>
          <a:prstGeom prst="triangle">
            <a:avLst/>
          </a:prstGeom>
          <a:solidFill>
            <a:srgbClr val="EE46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00" dirty="0">
              <a:latin typeface="Calibri" panose="020F0502020204030204" pitchFamily="34" charset="0"/>
            </a:endParaRPr>
          </a:p>
        </p:txBody>
      </p:sp>
      <p:sp>
        <p:nvSpPr>
          <p:cNvPr id="18" name="Google Shape;238;p16">
            <a:extLst>
              <a:ext uri="{FF2B5EF4-FFF2-40B4-BE49-F238E27FC236}">
                <a16:creationId xmlns:a16="http://schemas.microsoft.com/office/drawing/2014/main" id="{AB2A3AEE-3828-2840-85CE-7ACCEC7E09F3}"/>
              </a:ext>
            </a:extLst>
          </p:cNvPr>
          <p:cNvSpPr/>
          <p:nvPr/>
        </p:nvSpPr>
        <p:spPr>
          <a:xfrm>
            <a:off x="498708" y="912813"/>
            <a:ext cx="81769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11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DE UN PRODUCTO</a:t>
            </a:r>
            <a:endParaRPr dirty="0"/>
          </a:p>
          <a:p>
            <a:pPr marL="11112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66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probar bien hay que examinar varias dimensiones de un producto de software: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503238" y="912813"/>
            <a:ext cx="38893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DE UN PRODUCTO</a:t>
            </a:r>
            <a:endParaRPr dirty="0"/>
          </a:p>
        </p:txBody>
      </p:sp>
      <p:sp>
        <p:nvSpPr>
          <p:cNvPr id="253" name="Google Shape;253;p18"/>
          <p:cNvSpPr txBox="1"/>
          <p:nvPr/>
        </p:nvSpPr>
        <p:spPr>
          <a:xfrm>
            <a:off x="7510353" y="5042999"/>
            <a:ext cx="116533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vdocuments.es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80D118-5313-A348-BF41-2A2E599C2682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BASADAS EN LA EXPERIENCIA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EB901D13-C30D-204B-BCFC-7B100D676A9C}"/>
              </a:ext>
            </a:extLst>
          </p:cNvPr>
          <p:cNvSpPr/>
          <p:nvPr/>
        </p:nvSpPr>
        <p:spPr>
          <a:xfrm>
            <a:off x="1833406" y="1329191"/>
            <a:ext cx="5477187" cy="765631"/>
          </a:xfrm>
          <a:prstGeom prst="roundRect">
            <a:avLst>
              <a:gd name="adj" fmla="val 12491"/>
            </a:avLst>
          </a:prstGeom>
          <a:solidFill>
            <a:srgbClr val="FFD7C1"/>
          </a:solidFill>
          <a:ln w="38100">
            <a:solidFill>
              <a:srgbClr val="FE7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0" lvl="0" indent="0">
              <a:buClr>
                <a:schemeClr val="accent5"/>
              </a:buClr>
              <a:buFont typeface="Arial"/>
              <a:buNone/>
            </a:pPr>
            <a:r>
              <a:rPr lang="es-PE" sz="1500" b="1" dirty="0">
                <a:solidFill>
                  <a:srgbClr val="FE7828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ATAQUES DE TIPOS DE DATOS</a:t>
            </a:r>
            <a:endParaRPr lang="es-PE" sz="1500" b="1" dirty="0">
              <a:solidFill>
                <a:srgbClr val="FE7828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77800" marR="0" lvl="1" indent="-177800" algn="l" rtl="0">
              <a:spcBef>
                <a:spcPts val="0"/>
              </a:spcBef>
              <a:spcAft>
                <a:spcPts val="0"/>
              </a:spcAft>
              <a:buClr>
                <a:srgbClr val="FE7828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Rutas/Archivos, Fechas/Horas, </a:t>
            </a: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Números</a:t>
            </a: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Cadenas.</a:t>
            </a:r>
            <a:endParaRPr lang="es-PE" dirty="0"/>
          </a:p>
          <a:p>
            <a:pPr marL="180975" indent="-174625" defTabSz="663575">
              <a:spcAft>
                <a:spcPts val="600"/>
              </a:spcAft>
              <a:buClr>
                <a:schemeClr val="accent5"/>
              </a:buClr>
              <a:buFont typeface="Arial" panose="020B0604020202020204" pitchFamily="34" charset="0"/>
              <a:buChar char="•"/>
              <a:tabLst>
                <a:tab pos="3228975" algn="l"/>
              </a:tabLst>
            </a:pPr>
            <a:endParaRPr lang="es-PE" sz="1600" b="1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0E3C2A3-CBB0-BB4B-904F-6DB23C7F149B}"/>
              </a:ext>
            </a:extLst>
          </p:cNvPr>
          <p:cNvSpPr/>
          <p:nvPr/>
        </p:nvSpPr>
        <p:spPr>
          <a:xfrm>
            <a:off x="1833406" y="2234400"/>
            <a:ext cx="5477187" cy="979945"/>
          </a:xfrm>
          <a:prstGeom prst="roundRect">
            <a:avLst>
              <a:gd name="adj" fmla="val 12491"/>
            </a:avLst>
          </a:prstGeom>
          <a:solidFill>
            <a:srgbClr val="E3DCED"/>
          </a:solidFill>
          <a:ln w="38100">
            <a:solidFill>
              <a:srgbClr val="715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>
              <a:buClr>
                <a:schemeClr val="accent5"/>
              </a:buClr>
            </a:pPr>
            <a:r>
              <a:rPr lang="es-PE" sz="1500" b="1" dirty="0">
                <a:solidFill>
                  <a:srgbClr val="7150A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PRUEBAS WEB</a:t>
            </a:r>
            <a:endParaRPr lang="es-PE" sz="1500" b="1" dirty="0">
              <a:solidFill>
                <a:srgbClr val="7150A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77800" lvl="1" indent="-177800"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Navegación (Back/Forward), Cross-site Scripting, SQL Injection,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1" indent="-177800">
              <a:buClr>
                <a:srgbClr val="7150A0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HTML/CSS syntax checker, etc.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A4CA006D-4B53-1943-9180-F4680B9C34B9}"/>
              </a:ext>
            </a:extLst>
          </p:cNvPr>
          <p:cNvSpPr/>
          <p:nvPr/>
        </p:nvSpPr>
        <p:spPr>
          <a:xfrm>
            <a:off x="1833406" y="3353923"/>
            <a:ext cx="5477187" cy="1766020"/>
          </a:xfrm>
          <a:prstGeom prst="roundRect">
            <a:avLst>
              <a:gd name="adj" fmla="val 7681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0" lvl="0" indent="0">
              <a:buClr>
                <a:schemeClr val="accent5"/>
              </a:buClr>
              <a:buFont typeface="Arial"/>
              <a:buNone/>
            </a:pPr>
            <a:r>
              <a:rPr lang="es-PE" sz="1500" b="1" dirty="0">
                <a:solidFill>
                  <a:srgbClr val="00B1C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HEURÍSTICAS (HALLAZGOS)</a:t>
            </a:r>
            <a:endParaRPr lang="es-PE" sz="1500" b="1" dirty="0">
              <a:solidFill>
                <a:srgbClr val="00B1C2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177800" lvl="1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+mn-ea"/>
                <a:cs typeface="Calibri"/>
                <a:sym typeface="Calibri"/>
              </a:rPr>
              <a:t>Límites.</a:t>
            </a:r>
            <a:endParaRPr lang="es-PE" dirty="0">
              <a:solidFill>
                <a:schemeClr val="dk1"/>
              </a:solidFill>
              <a:latin typeface="Calibri"/>
              <a:ea typeface="+mn-ea"/>
              <a:cs typeface="Calibri"/>
            </a:endParaRPr>
          </a:p>
          <a:p>
            <a:pPr marL="177800" lvl="1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+mn-ea"/>
                <a:cs typeface="Calibri"/>
                <a:sym typeface="Calibri"/>
              </a:rPr>
              <a:t>CRUD.</a:t>
            </a:r>
            <a:endParaRPr lang="es-PE" dirty="0">
              <a:solidFill>
                <a:schemeClr val="dk1"/>
              </a:solidFill>
              <a:latin typeface="Calibri"/>
              <a:ea typeface="+mn-ea"/>
              <a:cs typeface="Calibri"/>
            </a:endParaRPr>
          </a:p>
          <a:p>
            <a:pPr marL="177800" lvl="1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+mn-ea"/>
                <a:cs typeface="Calibri"/>
                <a:sym typeface="Calibri"/>
              </a:rPr>
              <a:t>Configuraciones (pantalla, red, disco, etc.).</a:t>
            </a:r>
            <a:endParaRPr lang="es-PE" dirty="0">
              <a:solidFill>
                <a:schemeClr val="dk1"/>
              </a:solidFill>
              <a:latin typeface="Calibri"/>
              <a:ea typeface="+mn-ea"/>
              <a:cs typeface="Calibri"/>
            </a:endParaRPr>
          </a:p>
          <a:p>
            <a:pPr marL="177800" lvl="1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+mn-ea"/>
                <a:cs typeface="Calibri"/>
                <a:sym typeface="Calibri"/>
              </a:rPr>
              <a:t>Interrupciones (LogOff, Shutdown, Reboot, etc.).</a:t>
            </a:r>
            <a:endParaRPr lang="es-PE" dirty="0">
              <a:solidFill>
                <a:schemeClr val="dk1"/>
              </a:solidFill>
              <a:latin typeface="Calibri"/>
              <a:ea typeface="+mn-ea"/>
              <a:cs typeface="Calibri"/>
            </a:endParaRPr>
          </a:p>
          <a:p>
            <a:pPr marL="177800" lvl="1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+mn-ea"/>
                <a:cs typeface="Calibri"/>
                <a:sym typeface="Calibri"/>
              </a:rPr>
              <a:t>Multiusuario.</a:t>
            </a:r>
            <a:endParaRPr lang="es-PE" dirty="0">
              <a:solidFill>
                <a:schemeClr val="dk1"/>
              </a:solidFill>
              <a:latin typeface="Calibri"/>
              <a:ea typeface="+mn-ea"/>
              <a:cs typeface="Calibri"/>
            </a:endParaRPr>
          </a:p>
          <a:p>
            <a:pPr marL="177800" lvl="1" indent="-17780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+mn-ea"/>
                <a:cs typeface="Calibri"/>
                <a:sym typeface="Calibri"/>
              </a:rPr>
              <a:t>Máxima capacidad (CPU, Memoria, Red, Disco).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E9087FA-AD26-F443-9389-DC146EE95E69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5DA5583-3111-BB4E-B853-46BF648EAA5D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5905FE94-9C51-3543-ABEA-B01CDA325FE3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A0E351A-AE29-D845-8FD8-7060C1749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D1F30874-1D76-3446-9BFD-E53B14987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75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F6025B3D-EB62-F745-9667-EEADD3CA476A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AD312CDC-B79E-2A4A-A5B8-147F7D3FBA04}"/>
              </a:ext>
            </a:extLst>
          </p:cNvPr>
          <p:cNvSpPr txBox="1"/>
          <p:nvPr/>
        </p:nvSpPr>
        <p:spPr>
          <a:xfrm>
            <a:off x="1279545" y="912813"/>
            <a:ext cx="5705454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Las técnicas basadas en la experiencia complementan las técnicas sistemáticas para determinar casos de prueba.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Las técnicas basadas en la experiencia dependen en gran medida de la habilidad individual del probador. </a:t>
            </a:r>
            <a:endParaRPr lang="es-PE" dirty="0">
              <a:solidFill>
                <a:schemeClr val="tx1"/>
              </a:solidFill>
            </a:endParaRPr>
          </a:p>
          <a:p>
            <a:pPr marL="107950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predicción de errores y las pruebas exploratorias son dos de las técnicas más utilizadas de las pruebas basadas en la experiencia.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030B8DC5-4439-804B-9918-4BD524F2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E9847C6-7372-384D-898F-5270B140D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239910"/>
            <a:ext cx="114138" cy="11754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D371C1F-FB75-EC42-92D0-98FFAB60A3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28" name="Rectangle 5">
            <a:extLst>
              <a:ext uri="{FF2B5EF4-FFF2-40B4-BE49-F238E27FC236}">
                <a16:creationId xmlns:a16="http://schemas.microsoft.com/office/drawing/2014/main" id="{39556012-7723-784F-B3DA-5E3DBC0021AD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FC6C64C-35E8-4645-9C22-D79568E9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595333"/>
            <a:ext cx="114138" cy="117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FFDEBE8-9925-8748-AD73-08BC9030895D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F2F5A7-5F04-924C-9978-E0C3F546D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43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1273</Words>
  <Application>Microsoft Macintosh PowerPoint</Application>
  <PresentationFormat>Presentación en pantalla (16:10)</PresentationFormat>
  <Paragraphs>217</Paragraphs>
  <Slides>22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Graphik Bold</vt:lpstr>
      <vt:lpstr>Graphik Regular</vt:lpstr>
      <vt:lpstr>Graphik-Medium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Microsoft Office User</cp:lastModifiedBy>
  <cp:revision>63</cp:revision>
  <dcterms:created xsi:type="dcterms:W3CDTF">2016-10-06T14:52:02Z</dcterms:created>
  <dcterms:modified xsi:type="dcterms:W3CDTF">2024-10-28T16:31:26Z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